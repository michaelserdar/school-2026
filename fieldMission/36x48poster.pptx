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media/media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7"/>
  </p:notesMasterIdLst>
  <p:sldIdLst>
    <p:sldId id="256" r:id="rId4"/>
  </p:sldIdLst>
  <p:sldSz cx="43891200" cy="32918400"/>
  <p:notesSz cx="6858000" cy="9144000"/>
  <p:defaultTextStyle>
    <a:defPPr>
      <a:defRPr lang="en-US"/>
    </a:defPPr>
    <a:lvl1pPr marL="0" algn="l" defTabSz="2194560" rtl="0">
      <a:defRPr sz="8600">
        <a:solidFill>
          <a:schemeClr val="tx1"/>
        </a:solidFill>
        <a:latin typeface="+mn-lt"/>
        <a:ea typeface="+mn-ea"/>
        <a:cs typeface="+mn-cs"/>
      </a:defRPr>
    </a:lvl1pPr>
    <a:lvl2pPr marL="2194560" algn="l" defTabSz="2194560" rtl="0">
      <a:defRPr sz="8600">
        <a:solidFill>
          <a:schemeClr val="tx1"/>
        </a:solidFill>
        <a:latin typeface="+mn-lt"/>
        <a:ea typeface="+mn-ea"/>
        <a:cs typeface="+mn-cs"/>
      </a:defRPr>
    </a:lvl2pPr>
    <a:lvl3pPr marL="4389120" algn="l" defTabSz="2194560" rtl="0">
      <a:defRPr sz="8600">
        <a:solidFill>
          <a:schemeClr val="tx1"/>
        </a:solidFill>
        <a:latin typeface="+mn-lt"/>
        <a:ea typeface="+mn-ea"/>
        <a:cs typeface="+mn-cs"/>
      </a:defRPr>
    </a:lvl3pPr>
    <a:lvl4pPr marL="6583680" algn="l" defTabSz="2194560" rtl="0">
      <a:defRPr sz="8600">
        <a:solidFill>
          <a:schemeClr val="tx1"/>
        </a:solidFill>
        <a:latin typeface="+mn-lt"/>
        <a:ea typeface="+mn-ea"/>
        <a:cs typeface="+mn-cs"/>
      </a:defRPr>
    </a:lvl4pPr>
    <a:lvl5pPr marL="8778240" algn="l" defTabSz="2194560" rtl="0">
      <a:defRPr sz="8600">
        <a:solidFill>
          <a:schemeClr val="tx1"/>
        </a:solidFill>
        <a:latin typeface="+mn-lt"/>
        <a:ea typeface="+mn-ea"/>
        <a:cs typeface="+mn-cs"/>
      </a:defRPr>
    </a:lvl5pPr>
    <a:lvl6pPr marL="10972800" algn="l" defTabSz="2194560" rtl="0">
      <a:defRPr sz="8600">
        <a:solidFill>
          <a:schemeClr val="tx1"/>
        </a:solidFill>
        <a:latin typeface="+mn-lt"/>
        <a:ea typeface="+mn-ea"/>
        <a:cs typeface="+mn-cs"/>
      </a:defRPr>
    </a:lvl6pPr>
    <a:lvl7pPr marL="13167360" algn="l" defTabSz="2194560" rtl="0">
      <a:defRPr sz="8600">
        <a:solidFill>
          <a:schemeClr val="tx1"/>
        </a:solidFill>
        <a:latin typeface="+mn-lt"/>
        <a:ea typeface="+mn-ea"/>
        <a:cs typeface="+mn-cs"/>
      </a:defRPr>
    </a:lvl7pPr>
    <a:lvl8pPr marL="15361920" algn="l" defTabSz="2194560" rtl="0">
      <a:defRPr sz="8600">
        <a:solidFill>
          <a:schemeClr val="tx1"/>
        </a:solidFill>
        <a:latin typeface="+mn-lt"/>
        <a:ea typeface="+mn-ea"/>
        <a:cs typeface="+mn-cs"/>
      </a:defRPr>
    </a:lvl8pPr>
    <a:lvl9pPr marL="17556480" algn="l" defTabSz="2194560" rtl="0">
      <a:defRPr sz="86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 snapToObjects="1">
      <p:cViewPr varScale="1">
        <p:scale>
          <a:sx n="63" d="100"/>
          <a:sy n="63" d="100"/>
        </p:scale>
        <p:origin x="-80" y="-80"/>
      </p:cViewPr>
      <p:guideLst>
        <p:guide pos="19873" orient="horz"/>
        <p:guide pos="2161" orient="horz"/>
        <p:guide pos="10368" orient="horz"/>
        <p:guide pos="20160" orient="horz"/>
        <p:guide pos="576" orient="horz"/>
        <p:guide pos="576"/>
        <p:guide pos="27072"/>
        <p:guide pos="6912"/>
        <p:guide pos="13824"/>
        <p:guide pos="21024"/>
        <p:guide pos="6624"/>
        <p:guide pos="7200"/>
        <p:guide pos="20448"/>
        <p:guide pos="20736"/>
        <p:guide pos="13536"/>
        <p:guide pos="14112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tableStyles" Target="tableStyles.xml"/><Relationship Id="rId10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4A1C8-354D-61C8-4129-50E8B63CBE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182649" name="Title 1"/>
          <p:cNvSpPr>
            <a:spLocks noGrp="1"/>
          </p:cNvSpPr>
          <p:nvPr>
            <p:ph type="ctrTitle"/>
          </p:nvPr>
        </p:nvSpPr>
        <p:spPr bwMode="auto">
          <a:xfrm>
            <a:off x="3291840" y="10226042"/>
            <a:ext cx="37307520" cy="705612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5089477" name="Subtitle 2"/>
          <p:cNvSpPr>
            <a:spLocks noGrp="1"/>
          </p:cNvSpPr>
          <p:nvPr>
            <p:ph type="subTitle" idx="1"/>
          </p:nvPr>
        </p:nvSpPr>
        <p:spPr bwMode="auto"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877103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8FA891-EA14-E241-A437-93B1B2556271}" type="datetimeFigureOut">
              <a:rPr lang="en-US"/>
              <a:t>3/4/16</a:t>
            </a:fld>
            <a:endParaRPr lang="en-US"/>
          </a:p>
        </p:txBody>
      </p:sp>
      <p:sp>
        <p:nvSpPr>
          <p:cNvPr id="18428562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09361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ECF1C03-2CE3-1940-9926-98CA194062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8586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5005492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52950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8FA891-EA14-E241-A437-93B1B2556271}" type="datetimeFigureOut">
              <a:rPr lang="en-US"/>
              <a:t>3/4/16</a:t>
            </a:fld>
            <a:endParaRPr lang="en-US"/>
          </a:p>
        </p:txBody>
      </p:sp>
      <p:sp>
        <p:nvSpPr>
          <p:cNvPr id="12398089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62866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ECF1C03-2CE3-1940-9926-98CA194062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06102" name="Title 1"/>
          <p:cNvSpPr>
            <a:spLocks noGrp="1"/>
          </p:cNvSpPr>
          <p:nvPr>
            <p:ph type="title"/>
          </p:nvPr>
        </p:nvSpPr>
        <p:spPr bwMode="auto">
          <a:xfrm>
            <a:off x="3467102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875858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467102" y="13952225"/>
            <a:ext cx="37307520" cy="7200898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6988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8FA891-EA14-E241-A437-93B1B2556271}" type="datetimeFigureOut">
              <a:rPr lang="en-US"/>
              <a:t>3/4/16</a:t>
            </a:fld>
            <a:endParaRPr lang="en-US"/>
          </a:p>
        </p:txBody>
      </p:sp>
      <p:sp>
        <p:nvSpPr>
          <p:cNvPr id="21045570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92485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ECF1C03-2CE3-1940-9926-98CA194062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3244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401782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05308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677320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057046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037139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8FA891-EA14-E241-A437-93B1B2556271}" type="datetimeFigureOut">
              <a:rPr lang="en-US"/>
              <a:t>3/4/16</a:t>
            </a:fld>
            <a:endParaRPr lang="en-US"/>
          </a:p>
        </p:txBody>
      </p:sp>
      <p:sp>
        <p:nvSpPr>
          <p:cNvPr id="200632115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13734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ECF1C03-2CE3-1940-9926-98CA194062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915085" name="Title 1"/>
          <p:cNvSpPr>
            <a:spLocks noGrp="1"/>
          </p:cNvSpPr>
          <p:nvPr>
            <p:ph type="title"/>
          </p:nvPr>
        </p:nvSpPr>
        <p:spPr bwMode="auto">
          <a:xfrm>
            <a:off x="2194560" y="1318262"/>
            <a:ext cx="39502080" cy="54864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88794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194560" y="7368542"/>
            <a:ext cx="19392902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176251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2194560" y="10439400"/>
            <a:ext cx="19392902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26434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22296122" y="7368542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3610573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22296122" y="10439400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490558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8FA891-EA14-E241-A437-93B1B2556271}" type="datetimeFigureOut">
              <a:rPr lang="en-US"/>
              <a:t>3/4/16</a:t>
            </a:fld>
            <a:endParaRPr lang="en-US"/>
          </a:p>
        </p:txBody>
      </p:sp>
      <p:sp>
        <p:nvSpPr>
          <p:cNvPr id="109176412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200944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ECF1C03-2CE3-1940-9926-98CA194062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4003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7113988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8FA891-EA14-E241-A437-93B1B2556271}" type="datetimeFigureOut">
              <a:rPr lang="en-US"/>
              <a:t>3/4/16</a:t>
            </a:fld>
            <a:endParaRPr lang="en-US"/>
          </a:p>
        </p:txBody>
      </p:sp>
      <p:sp>
        <p:nvSpPr>
          <p:cNvPr id="54681945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329763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ECF1C03-2CE3-1940-9926-98CA194062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51948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8FA891-EA14-E241-A437-93B1B2556271}" type="datetimeFigureOut">
              <a:rPr lang="en-US"/>
              <a:t>3/4/16</a:t>
            </a:fld>
            <a:endParaRPr lang="en-US"/>
          </a:p>
        </p:txBody>
      </p:sp>
      <p:sp>
        <p:nvSpPr>
          <p:cNvPr id="187510513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320046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ECF1C03-2CE3-1940-9926-98CA194062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635382" name="Title 1"/>
          <p:cNvSpPr>
            <a:spLocks noGrp="1"/>
          </p:cNvSpPr>
          <p:nvPr>
            <p:ph type="title"/>
          </p:nvPr>
        </p:nvSpPr>
        <p:spPr bwMode="auto">
          <a:xfrm>
            <a:off x="2194563" y="1310640"/>
            <a:ext cx="14439902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0284326" name="Content Placeholder 2"/>
          <p:cNvSpPr>
            <a:spLocks noGrp="1"/>
          </p:cNvSpPr>
          <p:nvPr>
            <p:ph idx="1"/>
          </p:nvPr>
        </p:nvSpPr>
        <p:spPr bwMode="auto">
          <a:xfrm>
            <a:off x="17160240" y="1310643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9019822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194563" y="6888482"/>
            <a:ext cx="14439902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33679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8FA891-EA14-E241-A437-93B1B2556271}" type="datetimeFigureOut">
              <a:rPr lang="en-US"/>
              <a:t>3/4/16</a:t>
            </a:fld>
            <a:endParaRPr lang="en-US"/>
          </a:p>
        </p:txBody>
      </p:sp>
      <p:sp>
        <p:nvSpPr>
          <p:cNvPr id="62317195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9341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ECF1C03-2CE3-1940-9926-98CA194062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004755" name="Title 1"/>
          <p:cNvSpPr>
            <a:spLocks noGrp="1"/>
          </p:cNvSpPr>
          <p:nvPr>
            <p:ph type="title"/>
          </p:nvPr>
        </p:nvSpPr>
        <p:spPr bwMode="auto">
          <a:xfrm>
            <a:off x="8602982" y="23042880"/>
            <a:ext cx="26334720" cy="2720342"/>
          </a:xfrm>
        </p:spPr>
        <p:txBody>
          <a:bodyPr anchor="b"/>
          <a:lstStyle>
            <a:lvl1pPr algn="l">
              <a:defRPr sz="96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65589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8602982" y="2941320"/>
            <a:ext cx="26334720" cy="19751040"/>
          </a:xfrm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92653498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602982" y="25763222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7053597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8FA891-EA14-E241-A437-93B1B2556271}" type="datetimeFigureOut">
              <a:rPr lang="en-US"/>
              <a:t>3/4/16</a:t>
            </a:fld>
            <a:endParaRPr lang="en-US"/>
          </a:p>
        </p:txBody>
      </p:sp>
      <p:sp>
        <p:nvSpPr>
          <p:cNvPr id="96044955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54152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ECF1C03-2CE3-1940-9926-98CA194062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667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526609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795888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8FA891-EA14-E241-A437-93B1B2556271}" type="datetimeFigureOut">
              <a:rPr lang="en-US"/>
              <a:t>3/4/16</a:t>
            </a:fld>
            <a:endParaRPr lang="en-US"/>
          </a:p>
        </p:txBody>
      </p:sp>
      <p:sp>
        <p:nvSpPr>
          <p:cNvPr id="8960255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62199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ECF1C03-2CE3-1940-9926-98CA194062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48976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152742905" y="6324600"/>
            <a:ext cx="47404018" cy="134820662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4330276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0530843" y="6324600"/>
            <a:ext cx="141480542" cy="134820662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11807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8FA891-EA14-E241-A437-93B1B2556271}" type="datetimeFigureOut">
              <a:rPr lang="en-US"/>
              <a:t>3/4/16</a:t>
            </a:fld>
            <a:endParaRPr lang="en-US"/>
          </a:p>
        </p:txBody>
      </p:sp>
      <p:sp>
        <p:nvSpPr>
          <p:cNvPr id="1592966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23057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ECF1C03-2CE3-1940-9926-98CA194062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937210" name="Title Placeholder 1"/>
          <p:cNvSpPr>
            <a:spLocks noGrp="1"/>
          </p:cNvSpPr>
          <p:nvPr>
            <p:ph type="title"/>
          </p:nvPr>
        </p:nvSpPr>
        <p:spPr bwMode="auto">
          <a:xfrm>
            <a:off x="2194560" y="1318262"/>
            <a:ext cx="39502080" cy="54864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70181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194560" y="7680963"/>
            <a:ext cx="39502080" cy="21724622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9572155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2194560" y="30510482"/>
            <a:ext cx="10241280" cy="1752599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78FA891-EA14-E241-A437-93B1B2556271}" type="datetimeFigureOut">
              <a:rPr lang="en-US"/>
              <a:t>3/4/16</a:t>
            </a:fld>
            <a:endParaRPr lang="en-US"/>
          </a:p>
        </p:txBody>
      </p:sp>
      <p:sp>
        <p:nvSpPr>
          <p:cNvPr id="197530634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14996160" y="30510482"/>
            <a:ext cx="13898880" cy="1752599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5741231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31455360" y="30510482"/>
            <a:ext cx="10241280" cy="1752599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ECF1C03-2CE3-1940-9926-98CA1940629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194560" rtl="0">
        <a:spcBef>
          <a:spcPts val="0"/>
        </a:spcBef>
        <a:buNone/>
        <a:defRPr sz="211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2194560" rtl="0">
        <a:spcBef>
          <a:spcPts val="0"/>
        </a:spcBef>
        <a:buFont typeface="Arial"/>
        <a:buChar char="•"/>
        <a:defRPr sz="154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2194560" rtl="0">
        <a:spcBef>
          <a:spcPts val="0"/>
        </a:spcBef>
        <a:buFont typeface="Arial"/>
        <a:buChar char="–"/>
        <a:defRPr sz="134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2194560" rtl="0">
        <a:spcBef>
          <a:spcPts val="0"/>
        </a:spcBef>
        <a:buFont typeface="Arial"/>
        <a:buChar char="•"/>
        <a:defRPr sz="115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2194560" rtl="0">
        <a:spcBef>
          <a:spcPts val="0"/>
        </a:spcBef>
        <a:buFont typeface="Arial"/>
        <a:buChar char="–"/>
        <a:defRPr sz="96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2194560" rtl="0">
        <a:spcBef>
          <a:spcPts val="0"/>
        </a:spcBef>
        <a:buFont typeface="Arial"/>
        <a:buChar char="»"/>
        <a:defRPr sz="9600">
          <a:solidFill>
            <a:schemeClr val="tx1"/>
          </a:solidFill>
          <a:latin typeface="+mn-lt"/>
          <a:ea typeface="+mn-ea"/>
          <a:cs typeface="+mn-cs"/>
        </a:defRPr>
      </a:lvl5pPr>
      <a:lvl6pPr marL="12070079" indent="-1097280" algn="l" defTabSz="2194560" rtl="0">
        <a:spcBef>
          <a:spcPts val="0"/>
        </a:spcBef>
        <a:buFont typeface="Arial"/>
        <a:buChar char="•"/>
        <a:defRPr sz="96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2194560" rtl="0">
        <a:spcBef>
          <a:spcPts val="0"/>
        </a:spcBef>
        <a:buFont typeface="Arial"/>
        <a:buChar char="•"/>
        <a:defRPr sz="96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2194560" rtl="0">
        <a:spcBef>
          <a:spcPts val="0"/>
        </a:spcBef>
        <a:buFont typeface="Arial"/>
        <a:buChar char="•"/>
        <a:defRPr sz="96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2194560" rtl="0">
        <a:spcBef>
          <a:spcPts val="0"/>
        </a:spcBef>
        <a:buFont typeface="Arial"/>
        <a:buChar char="•"/>
        <a:defRPr sz="9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>
        <a:defRPr sz="86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2194560" rtl="0">
        <a:defRPr sz="86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2194560" rtl="0">
        <a:defRPr sz="86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2194560" rtl="0">
        <a:defRPr sz="86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2194560" rtl="0">
        <a:defRPr sz="86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2194560" rtl="0">
        <a:defRPr sz="86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2194560" rtl="0">
        <a:defRPr sz="86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2194560" rtl="0">
        <a:defRPr sz="86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2194560" rtl="0">
        <a:defRPr sz="86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6" Type="http://schemas.openxmlformats.org/officeDocument/2006/relationships/image" Target="../media/image3.png"/><Relationship Id="rId7" Type="http://schemas.openxmlformats.org/officeDocument/2006/relationships/image" Target="../media/media2.svg"/><Relationship Id="rId8" Type="http://schemas.openxmlformats.org/officeDocument/2006/relationships/image" Target="../media/image4.png"/><Relationship Id="rId9" Type="http://schemas.openxmlformats.org/officeDocument/2006/relationships/image" Target="../media/image5.jpg"/><Relationship Id="rId10" Type="http://schemas.openxmlformats.org/officeDocument/2006/relationships/image" Target="../media/image6.jpg"/><Relationship Id="rId11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508706" name="Rectangle 2"/>
          <p:cNvSpPr txBox="1">
            <a:spLocks noChangeArrowheads="1"/>
          </p:cNvSpPr>
          <p:nvPr/>
        </p:nvSpPr>
        <p:spPr bwMode="auto">
          <a:xfrm>
            <a:off x="12902184" y="914400"/>
            <a:ext cx="30074616" cy="2516188"/>
          </a:xfrm>
          <a:prstGeom prst="rect">
            <a:avLst/>
          </a:prstGeom>
          <a:noFill/>
          <a:ln/>
        </p:spPr>
        <p:txBody>
          <a:bodyPr vert="horz" lIns="438912" tIns="219456" rIns="438912" bIns="219456" rtlCol="0" anchor="ctr">
            <a:normAutofit/>
          </a:bodyPr>
          <a:lstStyle>
            <a:lvl1pPr algn="ctr" defTabSz="2194560" rtl="0">
              <a:spcBef>
                <a:spcPts val="0"/>
              </a:spcBef>
              <a:buNone/>
              <a:defRPr sz="211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t>Field Missions of Tennessee: Sustaining and Expanding a Digital Platform for Pop-Up Free Medical Clinics</a:t>
            </a:r>
            <a:endParaRPr/>
          </a:p>
          <a:p>
            <a:r>
              <a:t>Design Expo Project | Tennessee Tech | Team: [Add Names] | Advisor: [Add Advisor]</a:t>
            </a:r>
          </a:p>
        </p:txBody>
      </p:sp>
      <p:sp>
        <p:nvSpPr>
          <p:cNvPr id="1836745662" name="Text Box 91"/>
          <p:cNvSpPr txBox="1">
            <a:spLocks noChangeArrowheads="1"/>
          </p:cNvSpPr>
          <p:nvPr/>
        </p:nvSpPr>
        <p:spPr bwMode="auto">
          <a:xfrm>
            <a:off x="917575" y="3429000"/>
            <a:ext cx="9598025" cy="62230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1pPr>
            <a:lvl2pPr marL="841375" indent="-43973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2pPr>
            <a:lvl3pPr marL="25288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3pPr>
            <a:lvl4pPr marL="26431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4pPr>
            <a:lvl5pPr marL="27574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5pPr>
            <a:lvl6pPr marL="32146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6pPr>
            <a:lvl7pPr marL="36718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7pPr>
            <a:lvl8pPr marL="41290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8pPr>
            <a:lvl9pPr marL="45862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t>Who We Serve and Why It Matters</a:t>
            </a:r>
            <a:endParaRPr/>
          </a:p>
          <a:p>
            <a:r>
              <a:t>Field Missions of Tennessee provides pop-up style free medical clinics across Tennessee, with emphasis on distressed counties.</a:t>
            </a:r>
          </a:p>
          <a:p>
            <a:r>
              <a:t>Many residents face barriers including transportation limits, cost constraints, and reduced access to regular care.</a:t>
            </a:r>
          </a:p>
          <a:p>
            <a:r>
              <a:t>Reliable digital coordination is critical to connect host organizations, volunteers, and participants before, during, and after each clinic.</a:t>
            </a:r>
          </a:p>
        </p:txBody>
      </p:sp>
      <p:sp>
        <p:nvSpPr>
          <p:cNvPr id="1726513396" name="Text Box 89"/>
          <p:cNvSpPr txBox="1">
            <a:spLocks noChangeArrowheads="1"/>
          </p:cNvSpPr>
          <p:nvPr/>
        </p:nvSpPr>
        <p:spPr bwMode="auto">
          <a:xfrm>
            <a:off x="917575" y="9652000"/>
            <a:ext cx="9598025" cy="127000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1pPr>
            <a:lvl2pPr marL="841375" indent="-43973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2pPr>
            <a:lvl3pPr marL="25288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3pPr>
            <a:lvl4pPr marL="26431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4pPr>
            <a:lvl5pPr marL="27574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5pPr>
            <a:lvl6pPr marL="32146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6pPr>
            <a:lvl7pPr marL="36718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7pPr>
            <a:lvl8pPr marL="41290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8pPr>
            <a:lvl9pPr marL="45862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t>Project Origin and Need for Continuity</a:t>
            </a:r>
            <a:endParaRPr/>
          </a:p>
          <a:p>
            <a:r>
              <a:t>- This project builds on a student-developed solution originally created by Tennessee Tech students.</a:t>
            </a:r>
          </a:p>
          <a:p>
            <a:r>
              <a:t>- Our team enhanced that foundation to preserve operational continuity across semesters and team transitions.</a:t>
            </a:r>
          </a:p>
          <a:p>
            <a:r>
              <a:t>- We focused on maintainability, reliability, and support for ongoing clinic operations statewide.</a:t>
            </a:r>
          </a:p>
        </p:txBody>
      </p:sp>
      <p:sp>
        <p:nvSpPr>
          <p:cNvPr id="1073663259" name="Text Box 92"/>
          <p:cNvSpPr txBox="1">
            <a:spLocks noChangeArrowheads="1"/>
          </p:cNvSpPr>
          <p:nvPr/>
        </p:nvSpPr>
        <p:spPr bwMode="auto">
          <a:xfrm>
            <a:off x="914400" y="24053800"/>
            <a:ext cx="9601200" cy="74930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1pPr>
            <a:lvl2pPr marL="841375" indent="-43973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2pPr>
            <a:lvl3pPr marL="25288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3pPr>
            <a:lvl4pPr marL="26431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4pPr>
            <a:lvl5pPr marL="27574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5pPr>
            <a:lvl6pPr marL="32146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6pPr>
            <a:lvl7pPr marL="36718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7pPr>
            <a:lvl8pPr marL="41290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8pPr>
            <a:lvl9pPr marL="45862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t>Operational Continuity Strategy</a:t>
            </a:r>
            <a:endParaRPr/>
          </a:p>
          <a:p>
            <a:r>
              <a:t>- Standardized key workflows to reduce handoff friction between student teams.</a:t>
            </a:r>
          </a:p>
          <a:p>
            <a:r>
              <a:t>- Prioritized stable behavior in mission-critical coordination features.</a:t>
            </a:r>
          </a:p>
          <a:p>
            <a:r>
              <a:t>- Kept the platform adaptable for evolving needs of Field Missions and host organizations.</a:t>
            </a:r>
          </a:p>
          <a:p/>
          <a:p>
            <a:r>
              <a:t>This continuity focus helps ensure the software remains useful beyond a single development cycle.</a:t>
            </a:r>
          </a:p>
        </p:txBody>
      </p:sp>
      <p:sp>
        <p:nvSpPr>
          <p:cNvPr id="301624269" name="Text Box 92"/>
          <p:cNvSpPr txBox="1">
            <a:spLocks noChangeArrowheads="1"/>
          </p:cNvSpPr>
          <p:nvPr/>
        </p:nvSpPr>
        <p:spPr bwMode="auto">
          <a:xfrm>
            <a:off x="11430000" y="3430588"/>
            <a:ext cx="10058400" cy="313192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1pPr>
            <a:lvl2pPr marL="841375" indent="-43973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2pPr>
            <a:lvl3pPr marL="25288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3pPr>
            <a:lvl4pPr marL="26431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4pPr>
            <a:lvl5pPr marL="27574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5pPr>
            <a:lvl6pPr marL="32146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6pPr>
            <a:lvl7pPr marL="36718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7pPr>
            <a:lvl8pPr marL="41290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8pPr>
            <a:lvl9pPr marL="45862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9pPr>
          </a:lstStyle>
          <a:p>
            <a:pPr lvl="1">
              <a:spcBef>
                <a:spcPts val="0"/>
              </a:spcBef>
              <a:buFontTx/>
              <a:buChar char="•"/>
              <a:defRPr/>
            </a:pPr>
            <a:r>
              <a:t>System Overview</a:t>
            </a:r>
            <a:endParaRPr/>
          </a:p>
          <a:p>
            <a:r>
              <a:t>The platform supports clinic planning, participant coordination, and communication between Field Missions and host organizations.</a:t>
            </a:r>
          </a:p>
          <a:p>
            <a:r>
              <a:t>Design emphasis: stability, clarity of workflows, and support for long-term handoff across student teams.</a:t>
            </a:r>
          </a:p>
        </p:txBody>
      </p:sp>
      <p:sp>
        <p:nvSpPr>
          <p:cNvPr id="456214803" name="Text Box 96"/>
          <p:cNvSpPr txBox="1">
            <a:spLocks noChangeArrowheads="1"/>
          </p:cNvSpPr>
          <p:nvPr/>
        </p:nvSpPr>
        <p:spPr bwMode="auto">
          <a:xfrm>
            <a:off x="11430000" y="6475230"/>
            <a:ext cx="10058400" cy="162306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1pPr>
            <a:lvl2pPr marL="841375" indent="-43973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2pPr>
            <a:lvl3pPr marL="25288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3pPr>
            <a:lvl4pPr marL="26431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4pPr>
            <a:lvl5pPr marL="27574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5pPr>
            <a:lvl6pPr marL="32146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6pPr>
            <a:lvl7pPr marL="36718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7pPr>
            <a:lvl8pPr marL="41290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8pPr>
            <a:lvl9pPr marL="45862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t>Enhancements Implemented</a:t>
            </a:r>
            <a:endParaRPr/>
          </a:p>
          <a:p>
            <a:r>
              <a:t>- Strengthened operational continuity by refining existing workflows and reducing failure points.</a:t>
            </a:r>
          </a:p>
          <a:p>
            <a:r>
              <a:t>- Improved maintainability for future contributors through cleaner organization and consistent behavior.</a:t>
            </a:r>
          </a:p>
          <a:p>
            <a:r>
              <a:t>- Added a communication platform to enable bi-directional digital communication with individuals using services.</a:t>
            </a:r>
          </a:p>
          <a:p/>
          <a:p>
            <a:r>
              <a:t>Figure A Placeholder: Platform workflow diagram</a:t>
            </a:r>
          </a:p>
          <a:p>
            <a:r>
              <a:t>Figure B Placeholder: Communication interface screenshot</a:t>
            </a:r>
          </a:p>
          <a:p>
            <a:r>
              <a:t>Figure C Placeholder: Message flow example</a:t>
            </a:r>
          </a:p>
        </p:txBody>
      </p:sp>
      <p:sp>
        <p:nvSpPr>
          <p:cNvPr id="981722650" name="TextBox 32"/>
          <p:cNvSpPr txBox="1"/>
          <p:nvPr/>
        </p:nvSpPr>
        <p:spPr bwMode="auto">
          <a:xfrm>
            <a:off x="33381950" y="3517887"/>
            <a:ext cx="9598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t>Communication Platform</a:t>
            </a:r>
            <a:endParaRPr lang="en-US" sz="3600" b="1">
              <a:latin typeface="Arial"/>
              <a:cs typeface="Arial"/>
            </a:endParaRPr>
          </a:p>
        </p:txBody>
      </p:sp>
      <p:sp>
        <p:nvSpPr>
          <p:cNvPr id="14751438" name="TextBox 39"/>
          <p:cNvSpPr txBox="1"/>
          <p:nvPr/>
        </p:nvSpPr>
        <p:spPr bwMode="auto">
          <a:xfrm>
            <a:off x="33962975" y="25675265"/>
            <a:ext cx="84327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t>Bi-Directional Digital Communication</a:t>
            </a:r>
            <a:endParaRPr lang="en-US" sz="3200">
              <a:latin typeface="Arial"/>
              <a:cs typeface="Arial"/>
            </a:endParaRPr>
          </a:p>
          <a:p>
            <a:r>
              <a:t>- Field Missions and host organizations can send timely updates to participants.</a:t>
            </a:r>
          </a:p>
          <a:p>
            <a:r>
              <a:t>- Participants can receive and respond with information needed for clinic coordination.</a:t>
            </a:r>
          </a:p>
          <a:p>
            <a:r>
              <a:t>- Communication supports both clinic preparation and post-clinic follow-up.</a:t>
            </a:r>
          </a:p>
          <a:p/>
          <a:p>
            <a:r>
              <a:t>Expected and Observed Benefits</a:t>
            </a:r>
          </a:p>
          <a:p>
            <a:r>
              <a:t>- Better coordination across organizations and community members.</a:t>
            </a:r>
          </a:p>
          <a:p>
            <a:r>
              <a:t>- Faster information flow for schedule, logistics, and service updates.</a:t>
            </a:r>
          </a:p>
          <a:p>
            <a:r>
              <a:t>- Stronger service continuity across repeated clinic events.</a:t>
            </a:r>
          </a:p>
          <a:p/>
          <a:p>
            <a:r>
              <a:t>Future Work</a:t>
            </a:r>
          </a:p>
          <a:p>
            <a:r>
              <a:t>- Add outcome metrics dashboards for engagement and communication performance.</a:t>
            </a:r>
          </a:p>
          <a:p>
            <a:r>
              <a:t>- Expand deployment support for additional regions and host partners.</a:t>
            </a:r>
          </a:p>
          <a:p>
            <a:r>
              <a:t>- Continue iterative UX refinements based on stakeholder feedback.</a:t>
            </a:r>
          </a:p>
        </p:txBody>
      </p:sp>
      <p:sp>
        <p:nvSpPr>
          <p:cNvPr id="1589125152" name="TextBox 40"/>
          <p:cNvSpPr txBox="1"/>
          <p:nvPr/>
        </p:nvSpPr>
        <p:spPr bwMode="auto">
          <a:xfrm>
            <a:off x="22402800" y="3519475"/>
            <a:ext cx="9598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t>Community and Technical Impact</a:t>
            </a:r>
            <a:endParaRPr lang="en-US" sz="3600" b="1">
              <a:latin typeface="Arial"/>
              <a:cs typeface="Arial"/>
            </a:endParaRPr>
          </a:p>
          <a:p>
            <a:r>
              <a:t>- Connects mission organizers, host organizations, and participants through clearer digital coordination.</a:t>
            </a:r>
          </a:p>
          <a:p>
            <a:r>
              <a:t>- Supports faster updates for logistics, scheduling, and follow-up communication.</a:t>
            </a:r>
          </a:p>
          <a:p>
            <a:r>
              <a:t>- Strengthens long-term sustainability of a student-supported civic technology project.</a:t>
            </a:r>
          </a:p>
          <a:p/>
          <a:p>
            <a:r>
              <a:t>Scalability and Future Work</a:t>
            </a:r>
          </a:p>
          <a:p>
            <a:r>
              <a:t>- Add measurable performance indicators for outreach and communication effectiveness.</a:t>
            </a:r>
          </a:p>
          <a:p>
            <a:r>
              <a:t>- Expand support patterns for wider county and partner coverage.</a:t>
            </a:r>
          </a:p>
          <a:p>
            <a:r>
              <a:t>- Continue iterative improvements from real-world stakeholder feedback.</a:t>
            </a:r>
          </a:p>
        </p:txBody>
      </p:sp>
      <p:sp>
        <p:nvSpPr>
          <p:cNvPr id="173495385" name="Text Box 92"/>
          <p:cNvSpPr txBox="1">
            <a:spLocks noChangeArrowheads="1"/>
          </p:cNvSpPr>
          <p:nvPr/>
        </p:nvSpPr>
        <p:spPr bwMode="auto">
          <a:xfrm>
            <a:off x="11430000" y="22498254"/>
            <a:ext cx="10058400" cy="904854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1pPr>
            <a:lvl2pPr marL="841375" indent="-43973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2pPr>
            <a:lvl3pPr marL="25288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3pPr>
            <a:lvl4pPr marL="26431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4pPr>
            <a:lvl5pPr marL="2757488" defTabSz="987425"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5pPr>
            <a:lvl6pPr marL="32146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6pPr>
            <a:lvl7pPr marL="36718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7pPr>
            <a:lvl8pPr marL="41290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8pPr>
            <a:lvl9pPr marL="4586288" defTabSz="987425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 New Roman"/>
                <a:ea typeface="ＭＳ Ｐゴシック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t>Implementation Notes</a:t>
            </a:r>
            <a:endParaRPr lang="en-US" sz="3600" b="1">
              <a:latin typeface="Arial"/>
              <a:cs typeface="Arial"/>
            </a:endParaRPr>
          </a:p>
          <a:p>
            <a:r>
              <a:t>Poster currently uses text-first placeholders for visuals. Replace Figure A/B/C placeholders with project assets when available.</a:t>
            </a:r>
          </a:p>
          <a:p>
            <a:r>
              <a:t>Recommended assets: system workflow graphic, communication UI screenshot, and message lifecycle diagram.</a:t>
            </a:r>
          </a:p>
        </p:txBody>
      </p:sp>
      <p:sp>
        <p:nvSpPr>
          <p:cNvPr id="967112165" name="Text Box 61"/>
          <p:cNvSpPr txBox="1">
            <a:spLocks noChangeArrowheads="1"/>
          </p:cNvSpPr>
          <p:nvPr/>
        </p:nvSpPr>
        <p:spPr bwMode="auto">
          <a:xfrm>
            <a:off x="917574" y="31546800"/>
            <a:ext cx="4205922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t>Acknowledgments</a:t>
            </a:r>
            <a:endParaRPr/>
          </a:p>
          <a:p>
            <a:r>
              <a:t>Field Missions of Tennessee, partner host organizations, Tennessee Tech faculty mentors, and student contributors.</a:t>
            </a:r>
          </a:p>
          <a:p>
            <a:r>
              <a:t>Optional QR Placeholder: [Repository or Demo Link]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Company>Tennessee Tech University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Renfro</dc:creator>
  <cp:lastModifiedBy/>
  <cp:revision>21</cp:revision>
  <dcterms:created xsi:type="dcterms:W3CDTF">2014-03-28T10:29:27Z</dcterms:created>
  <dcterms:modified xsi:type="dcterms:W3CDTF">2026-04-07T20:55:42Z</dcterms:modified>
</cp:coreProperties>
</file>