
<file path=[Content_Types].xml><?xml version="1.0" encoding="utf-8"?>
<Types xmlns="http://schemas.openxmlformats.org/package/2006/content-types">
  <Default Extension="xml" ContentType="application/xml"/>
  <Default Extension="jpg" ContentType="image/jpeg"/>
  <Default Extension="svg" ContentType="image/svg+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docProps/core.xml" ContentType="application/vnd.openxmlformats-package.core-properties+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7"/>
  </p:notesMasterIdLst>
  <p:sldIdLst>
    <p:sldId id="256" r:id="rId4"/>
    <p:sldId id="257" r:id="rId5"/>
    <p:sldId id="258" r:id="rId6"/>
  </p:sldIdLst>
  <p:sldSz cx="43891200" cy="32918400"/>
  <p:notesSz cx="6858000" cy="9144000"/>
  <p:defaultTextStyle>
    <a:defPPr>
      <a:defRPr lang="en-US"/>
    </a:defPPr>
    <a:lvl1pPr marL="0" algn="l" defTabSz="2194560" rtl="0">
      <a:defRPr sz="8600">
        <a:solidFill>
          <a:schemeClr val="tx1"/>
        </a:solidFill>
        <a:latin typeface="+mn-lt"/>
        <a:ea typeface="+mn-ea"/>
        <a:cs typeface="+mn-cs"/>
      </a:defRPr>
    </a:lvl1pPr>
    <a:lvl2pPr marL="2194560" algn="l" defTabSz="2194560" rtl="0">
      <a:defRPr sz="8600">
        <a:solidFill>
          <a:schemeClr val="tx1"/>
        </a:solidFill>
        <a:latin typeface="+mn-lt"/>
        <a:ea typeface="+mn-ea"/>
        <a:cs typeface="+mn-cs"/>
      </a:defRPr>
    </a:lvl2pPr>
    <a:lvl3pPr marL="4389120" algn="l" defTabSz="2194560" rtl="0">
      <a:defRPr sz="8600">
        <a:solidFill>
          <a:schemeClr val="tx1"/>
        </a:solidFill>
        <a:latin typeface="+mn-lt"/>
        <a:ea typeface="+mn-ea"/>
        <a:cs typeface="+mn-cs"/>
      </a:defRPr>
    </a:lvl3pPr>
    <a:lvl4pPr marL="6583680" algn="l" defTabSz="2194560" rtl="0">
      <a:defRPr sz="8600">
        <a:solidFill>
          <a:schemeClr val="tx1"/>
        </a:solidFill>
        <a:latin typeface="+mn-lt"/>
        <a:ea typeface="+mn-ea"/>
        <a:cs typeface="+mn-cs"/>
      </a:defRPr>
    </a:lvl4pPr>
    <a:lvl5pPr marL="8778240" algn="l" defTabSz="2194560" rtl="0">
      <a:defRPr sz="8600">
        <a:solidFill>
          <a:schemeClr val="tx1"/>
        </a:solidFill>
        <a:latin typeface="+mn-lt"/>
        <a:ea typeface="+mn-ea"/>
        <a:cs typeface="+mn-cs"/>
      </a:defRPr>
    </a:lvl5pPr>
    <a:lvl6pPr marL="10972800" algn="l" defTabSz="2194560" rtl="0">
      <a:defRPr sz="8600">
        <a:solidFill>
          <a:schemeClr val="tx1"/>
        </a:solidFill>
        <a:latin typeface="+mn-lt"/>
        <a:ea typeface="+mn-ea"/>
        <a:cs typeface="+mn-cs"/>
      </a:defRPr>
    </a:lvl6pPr>
    <a:lvl7pPr marL="13167360" algn="l" defTabSz="2194560" rtl="0">
      <a:defRPr sz="8600">
        <a:solidFill>
          <a:schemeClr val="tx1"/>
        </a:solidFill>
        <a:latin typeface="+mn-lt"/>
        <a:ea typeface="+mn-ea"/>
        <a:cs typeface="+mn-cs"/>
      </a:defRPr>
    </a:lvl7pPr>
    <a:lvl8pPr marL="15361920" algn="l" defTabSz="2194560" rtl="0">
      <a:defRPr sz="8600">
        <a:solidFill>
          <a:schemeClr val="tx1"/>
        </a:solidFill>
        <a:latin typeface="+mn-lt"/>
        <a:ea typeface="+mn-ea"/>
        <a:cs typeface="+mn-cs"/>
      </a:defRPr>
    </a:lvl8pPr>
    <a:lvl9pPr marL="17556480" algn="l" defTabSz="2194560" rtl="0">
      <a:defRPr sz="86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howGuides="1" snapToGrid="0" snapToObjects="1">
      <p:cViewPr varScale="1">
        <p:scale>
          <a:sx n="63" d="100"/>
          <a:sy n="63" d="100"/>
        </p:scale>
        <p:origin x="-80" y="-80"/>
      </p:cViewPr>
      <p:guideLst>
        <p:guide pos="19873" orient="horz"/>
        <p:guide pos="2161" orient="horz"/>
        <p:guide pos="10368" orient="horz"/>
        <p:guide pos="20160" orient="horz"/>
        <p:guide pos="576" orient="horz"/>
        <p:guide pos="576"/>
        <p:guide pos="27072"/>
        <p:guide pos="6912"/>
        <p:guide pos="13824"/>
        <p:guide pos="21024"/>
        <p:guide pos="6624"/>
        <p:guide pos="7200"/>
        <p:guide pos="20448"/>
        <p:guide pos="20736"/>
        <p:guide pos="13536"/>
        <p:guide pos="14112"/>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notesMaster" Target="notesMasters/notesMaster1.xml"/><Relationship Id="rId8" Type="http://schemas.openxmlformats.org/officeDocument/2006/relationships/presProps" Target="presProps.xml" /><Relationship Id="rId9" Type="http://schemas.openxmlformats.org/officeDocument/2006/relationships/tableStyles" Target="tableStyles.xml" /><Relationship Id="rId10"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19681886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592960256"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1707195778"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1323176288"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1916131690"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1922950333"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14616331" name="Slide Image Placeholder 1"/>
          <p:cNvSpPr>
            <a:spLocks noChangeAspect="1" noGrp="1" noRot="1"/>
          </p:cNvSpPr>
          <p:nvPr>
            <p:ph type="sldImg"/>
          </p:nvPr>
        </p:nvSpPr>
        <p:spPr bwMode="auto"/>
      </p:sp>
      <p:sp>
        <p:nvSpPr>
          <p:cNvPr id="1897460005" name="Notes Placeholder 2"/>
          <p:cNvSpPr>
            <a:spLocks noGrp="1"/>
          </p:cNvSpPr>
          <p:nvPr>
            <p:ph type="body" idx="1"/>
          </p:nvPr>
        </p:nvSpPr>
        <p:spPr bwMode="auto"/>
        <p:txBody>
          <a:bodyPr/>
          <a:lstStyle/>
          <a:p>
            <a:pPr>
              <a:defRPr/>
            </a:pPr>
            <a:endParaRPr/>
          </a:p>
        </p:txBody>
      </p:sp>
      <p:sp>
        <p:nvSpPr>
          <p:cNvPr id="538913445" name="Slide Number Placeholder 3"/>
          <p:cNvSpPr>
            <a:spLocks noGrp="1"/>
          </p:cNvSpPr>
          <p:nvPr>
            <p:ph type="sldNum" sz="quarter" idx="10"/>
          </p:nvPr>
        </p:nvSpPr>
        <p:spPr bwMode="auto"/>
        <p:txBody>
          <a:bodyPr/>
          <a:lstStyle/>
          <a:p>
            <a:pPr>
              <a:defRPr/>
            </a:pPr>
            <a:fld id="{7AB4A1C8-354D-61C8-4129-50E8B63CBEA6}"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8603147" name="Slide Image Placeholder 1"/>
          <p:cNvSpPr>
            <a:spLocks noChangeAspect="1" noGrp="1" noRot="1"/>
          </p:cNvSpPr>
          <p:nvPr>
            <p:ph type="sldImg"/>
          </p:nvPr>
        </p:nvSpPr>
        <p:spPr bwMode="auto"/>
      </p:sp>
      <p:sp>
        <p:nvSpPr>
          <p:cNvPr id="635819206" name="Notes Placeholder 2"/>
          <p:cNvSpPr>
            <a:spLocks noGrp="1"/>
          </p:cNvSpPr>
          <p:nvPr>
            <p:ph type="body" idx="1"/>
          </p:nvPr>
        </p:nvSpPr>
        <p:spPr bwMode="auto"/>
        <p:txBody>
          <a:bodyPr/>
          <a:lstStyle/>
          <a:p>
            <a:pPr>
              <a:defRPr/>
            </a:pPr>
            <a:endParaRPr/>
          </a:p>
        </p:txBody>
      </p:sp>
      <p:sp>
        <p:nvSpPr>
          <p:cNvPr id="519884029" name="Slide Number Placeholder 3"/>
          <p:cNvSpPr>
            <a:spLocks noGrp="1"/>
          </p:cNvSpPr>
          <p:nvPr>
            <p:ph type="sldNum" sz="quarter" idx="10"/>
          </p:nvPr>
        </p:nvSpPr>
        <p:spPr bwMode="auto"/>
        <p:txBody>
          <a:bodyPr/>
          <a:lstStyle/>
          <a:p>
            <a:pPr>
              <a:defRPr/>
            </a:pPr>
            <a:fld id="{158DF6BD-57DD-CAF1-7114-4523F5B83D5C}"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52664884" name="Slide Image Placeholder 1"/>
          <p:cNvSpPr>
            <a:spLocks noChangeAspect="1" noGrp="1" noRot="1"/>
          </p:cNvSpPr>
          <p:nvPr>
            <p:ph type="sldImg"/>
          </p:nvPr>
        </p:nvSpPr>
        <p:spPr bwMode="auto"/>
      </p:sp>
      <p:sp>
        <p:nvSpPr>
          <p:cNvPr id="593036549" name="Notes Placeholder 2"/>
          <p:cNvSpPr>
            <a:spLocks noGrp="1"/>
          </p:cNvSpPr>
          <p:nvPr>
            <p:ph type="body" idx="1"/>
          </p:nvPr>
        </p:nvSpPr>
        <p:spPr bwMode="auto"/>
        <p:txBody>
          <a:bodyPr/>
          <a:lstStyle/>
          <a:p>
            <a:pPr>
              <a:defRPr/>
            </a:pPr>
            <a:endParaRPr/>
          </a:p>
        </p:txBody>
      </p:sp>
      <p:sp>
        <p:nvSpPr>
          <p:cNvPr id="1033018324" name="Slide Number Placeholder 3"/>
          <p:cNvSpPr>
            <a:spLocks noGrp="1"/>
          </p:cNvSpPr>
          <p:nvPr>
            <p:ph type="sldNum" sz="quarter" idx="10"/>
          </p:nvPr>
        </p:nvSpPr>
        <p:spPr bwMode="auto"/>
        <p:txBody>
          <a:bodyPr/>
          <a:lstStyle/>
          <a:p>
            <a:pPr>
              <a:defRPr/>
            </a:pPr>
            <a:fld id="{E267E1DB-42AD-D397-FA8F-96C37360057B}"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607741541" name="Title 1"/>
          <p:cNvSpPr>
            <a:spLocks noGrp="1"/>
          </p:cNvSpPr>
          <p:nvPr>
            <p:ph type="ctrTitle"/>
          </p:nvPr>
        </p:nvSpPr>
        <p:spPr bwMode="auto">
          <a:xfrm>
            <a:off x="3291840" y="10226042"/>
            <a:ext cx="37307520" cy="7056120"/>
          </a:xfrm>
        </p:spPr>
        <p:txBody>
          <a:bodyPr/>
          <a:lstStyle/>
          <a:p>
            <a:pPr>
              <a:defRPr/>
            </a:pPr>
            <a:r>
              <a:rPr lang="en-US"/>
              <a:t>Click to edit Master title style</a:t>
            </a:r>
            <a:endParaRPr lang="en-US"/>
          </a:p>
        </p:txBody>
      </p:sp>
      <p:sp>
        <p:nvSpPr>
          <p:cNvPr id="1775225388" name="Subtitle 2"/>
          <p:cNvSpPr>
            <a:spLocks noGrp="1"/>
          </p:cNvSpPr>
          <p:nvPr>
            <p:ph type="subTitle" idx="1"/>
          </p:nvPr>
        </p:nvSpPr>
        <p:spPr bwMode="auto">
          <a:xfrm>
            <a:off x="6583680" y="18653760"/>
            <a:ext cx="30723840" cy="8412480"/>
          </a:xfrm>
        </p:spPr>
        <p:txBody>
          <a:bodyPr/>
          <a:lstStyle>
            <a:lvl1pPr marL="0" indent="0" algn="ctr">
              <a:buNone/>
              <a:defRPr>
                <a:solidFill>
                  <a:schemeClr val="tx1">
                    <a:tint val="75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pPr>
              <a:defRPr/>
            </a:pPr>
            <a:r>
              <a:rPr lang="en-US"/>
              <a:t>Click to edit Master subtitle style</a:t>
            </a:r>
            <a:endParaRPr lang="en-US"/>
          </a:p>
        </p:txBody>
      </p:sp>
      <p:sp>
        <p:nvSpPr>
          <p:cNvPr id="1193731981" name="Date Placeholder 3"/>
          <p:cNvSpPr>
            <a:spLocks noGrp="1"/>
          </p:cNvSpPr>
          <p:nvPr>
            <p:ph type="dt" sz="half" idx="10"/>
          </p:nvPr>
        </p:nvSpPr>
        <p:spPr bwMode="auto"/>
        <p:txBody>
          <a:bodyPr/>
          <a:lstStyle/>
          <a:p>
            <a:pPr>
              <a:defRPr/>
            </a:pPr>
            <a:fld id="{578FA891-EA14-E241-A437-93B1B2556271}" type="datetimeFigureOut">
              <a:rPr lang="en-US"/>
              <a:t>3/4/16</a:t>
            </a:fld>
            <a:endParaRPr lang="en-US"/>
          </a:p>
        </p:txBody>
      </p:sp>
      <p:sp>
        <p:nvSpPr>
          <p:cNvPr id="1814890636" name="Footer Placeholder 4"/>
          <p:cNvSpPr>
            <a:spLocks noGrp="1"/>
          </p:cNvSpPr>
          <p:nvPr>
            <p:ph type="ftr" sz="quarter" idx="11"/>
          </p:nvPr>
        </p:nvSpPr>
        <p:spPr bwMode="auto"/>
        <p:txBody>
          <a:bodyPr/>
          <a:lstStyle/>
          <a:p>
            <a:pPr>
              <a:defRPr/>
            </a:pPr>
            <a:endParaRPr lang="en-US"/>
          </a:p>
        </p:txBody>
      </p:sp>
      <p:sp>
        <p:nvSpPr>
          <p:cNvPr id="417302879" name="Slide Number Placeholder 5"/>
          <p:cNvSpPr>
            <a:spLocks noGrp="1"/>
          </p:cNvSpPr>
          <p:nvPr>
            <p:ph type="sldNum" sz="quarter" idx="12"/>
          </p:nvPr>
        </p:nvSpPr>
        <p:spPr bwMode="auto"/>
        <p:txBody>
          <a:bodyPr/>
          <a:lstStyle/>
          <a:p>
            <a:pPr>
              <a:defRPr/>
            </a:pPr>
            <a:fld id="{EECF1C03-2CE3-1940-9926-98CA1940629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973492888" name="Title 1"/>
          <p:cNvSpPr>
            <a:spLocks noGrp="1"/>
          </p:cNvSpPr>
          <p:nvPr>
            <p:ph type="title"/>
          </p:nvPr>
        </p:nvSpPr>
        <p:spPr bwMode="auto"/>
        <p:txBody>
          <a:bodyPr/>
          <a:lstStyle/>
          <a:p>
            <a:pPr>
              <a:defRPr/>
            </a:pPr>
            <a:r>
              <a:rPr lang="en-US"/>
              <a:t>Click to edit Master title style</a:t>
            </a:r>
            <a:endParaRPr lang="en-US"/>
          </a:p>
        </p:txBody>
      </p:sp>
      <p:sp>
        <p:nvSpPr>
          <p:cNvPr id="1042827793"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70348218" name="Date Placeholder 3"/>
          <p:cNvSpPr>
            <a:spLocks noGrp="1"/>
          </p:cNvSpPr>
          <p:nvPr>
            <p:ph type="dt" sz="half" idx="10"/>
          </p:nvPr>
        </p:nvSpPr>
        <p:spPr bwMode="auto"/>
        <p:txBody>
          <a:bodyPr/>
          <a:lstStyle/>
          <a:p>
            <a:pPr>
              <a:defRPr/>
            </a:pPr>
            <a:fld id="{578FA891-EA14-E241-A437-93B1B2556271}" type="datetimeFigureOut">
              <a:rPr lang="en-US"/>
              <a:t>3/4/16</a:t>
            </a:fld>
            <a:endParaRPr lang="en-US"/>
          </a:p>
        </p:txBody>
      </p:sp>
      <p:sp>
        <p:nvSpPr>
          <p:cNvPr id="301812293" name="Footer Placeholder 4"/>
          <p:cNvSpPr>
            <a:spLocks noGrp="1"/>
          </p:cNvSpPr>
          <p:nvPr>
            <p:ph type="ftr" sz="quarter" idx="11"/>
          </p:nvPr>
        </p:nvSpPr>
        <p:spPr bwMode="auto"/>
        <p:txBody>
          <a:bodyPr/>
          <a:lstStyle/>
          <a:p>
            <a:pPr>
              <a:defRPr/>
            </a:pPr>
            <a:endParaRPr lang="en-US"/>
          </a:p>
        </p:txBody>
      </p:sp>
      <p:sp>
        <p:nvSpPr>
          <p:cNvPr id="1992351401" name="Slide Number Placeholder 5"/>
          <p:cNvSpPr>
            <a:spLocks noGrp="1"/>
          </p:cNvSpPr>
          <p:nvPr>
            <p:ph type="sldNum" sz="quarter" idx="12"/>
          </p:nvPr>
        </p:nvSpPr>
        <p:spPr bwMode="auto"/>
        <p:txBody>
          <a:bodyPr/>
          <a:lstStyle/>
          <a:p>
            <a:pPr>
              <a:defRPr/>
            </a:pPr>
            <a:fld id="{EECF1C03-2CE3-1940-9926-98CA1940629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315662984" name="Title 1"/>
          <p:cNvSpPr>
            <a:spLocks noGrp="1"/>
          </p:cNvSpPr>
          <p:nvPr>
            <p:ph type="title"/>
          </p:nvPr>
        </p:nvSpPr>
        <p:spPr bwMode="auto">
          <a:xfrm>
            <a:off x="3467102" y="21153122"/>
            <a:ext cx="37307520" cy="6537960"/>
          </a:xfrm>
        </p:spPr>
        <p:txBody>
          <a:bodyPr anchor="t"/>
          <a:lstStyle>
            <a:lvl1pPr algn="l">
              <a:defRPr sz="19200" b="1" cap="all"/>
            </a:lvl1pPr>
          </a:lstStyle>
          <a:p>
            <a:pPr>
              <a:defRPr/>
            </a:pPr>
            <a:r>
              <a:rPr lang="en-US"/>
              <a:t>Click to edit Master title style</a:t>
            </a:r>
            <a:endParaRPr lang="en-US"/>
          </a:p>
        </p:txBody>
      </p:sp>
      <p:sp>
        <p:nvSpPr>
          <p:cNvPr id="216403378" name="Text Placeholder 2"/>
          <p:cNvSpPr>
            <a:spLocks noGrp="1"/>
          </p:cNvSpPr>
          <p:nvPr>
            <p:ph type="body" idx="1"/>
          </p:nvPr>
        </p:nvSpPr>
        <p:spPr bwMode="auto">
          <a:xfrm>
            <a:off x="3467102" y="13952225"/>
            <a:ext cx="37307520" cy="7200898"/>
          </a:xfrm>
        </p:spPr>
        <p:txBody>
          <a:bodyPr anchor="b"/>
          <a:lstStyle>
            <a:lvl1pPr marL="0" indent="0">
              <a:buNone/>
              <a:defRPr sz="9600">
                <a:solidFill>
                  <a:schemeClr val="tx1">
                    <a:tint val="75000"/>
                  </a:schemeClr>
                </a:solidFill>
              </a:defRPr>
            </a:lvl1pPr>
            <a:lvl2pPr marL="2194560" indent="0">
              <a:buNone/>
              <a:defRPr sz="8600">
                <a:solidFill>
                  <a:schemeClr val="tx1">
                    <a:tint val="75000"/>
                  </a:schemeClr>
                </a:solidFill>
              </a:defRPr>
            </a:lvl2pPr>
            <a:lvl3pPr marL="4389120" indent="0">
              <a:buNone/>
              <a:defRPr sz="7700">
                <a:solidFill>
                  <a:schemeClr val="tx1">
                    <a:tint val="75000"/>
                  </a:schemeClr>
                </a:solidFill>
              </a:defRPr>
            </a:lvl3pPr>
            <a:lvl4pPr marL="6583680" indent="0">
              <a:buNone/>
              <a:defRPr sz="6700">
                <a:solidFill>
                  <a:schemeClr val="tx1">
                    <a:tint val="75000"/>
                  </a:schemeClr>
                </a:solidFill>
              </a:defRPr>
            </a:lvl4pPr>
            <a:lvl5pPr marL="8778240" indent="0">
              <a:buNone/>
              <a:defRPr sz="6700">
                <a:solidFill>
                  <a:schemeClr val="tx1">
                    <a:tint val="75000"/>
                  </a:schemeClr>
                </a:solidFill>
              </a:defRPr>
            </a:lvl5pPr>
            <a:lvl6pPr marL="10972800" indent="0">
              <a:buNone/>
              <a:defRPr sz="6700">
                <a:solidFill>
                  <a:schemeClr val="tx1">
                    <a:tint val="75000"/>
                  </a:schemeClr>
                </a:solidFill>
              </a:defRPr>
            </a:lvl6pPr>
            <a:lvl7pPr marL="13167360" indent="0">
              <a:buNone/>
              <a:defRPr sz="6700">
                <a:solidFill>
                  <a:schemeClr val="tx1">
                    <a:tint val="75000"/>
                  </a:schemeClr>
                </a:solidFill>
              </a:defRPr>
            </a:lvl7pPr>
            <a:lvl8pPr marL="15361920" indent="0">
              <a:buNone/>
              <a:defRPr sz="6700">
                <a:solidFill>
                  <a:schemeClr val="tx1">
                    <a:tint val="75000"/>
                  </a:schemeClr>
                </a:solidFill>
              </a:defRPr>
            </a:lvl8pPr>
            <a:lvl9pPr marL="17556480" indent="0">
              <a:buNone/>
              <a:defRPr sz="6700">
                <a:solidFill>
                  <a:schemeClr val="tx1">
                    <a:tint val="75000"/>
                  </a:schemeClr>
                </a:solidFill>
              </a:defRPr>
            </a:lvl9pPr>
          </a:lstStyle>
          <a:p>
            <a:pPr lvl="0">
              <a:defRPr/>
            </a:pPr>
            <a:r>
              <a:rPr lang="en-US"/>
              <a:t>Click to edit Master text styles</a:t>
            </a:r>
            <a:endParaRPr/>
          </a:p>
        </p:txBody>
      </p:sp>
      <p:sp>
        <p:nvSpPr>
          <p:cNvPr id="994926178" name="Date Placeholder 3"/>
          <p:cNvSpPr>
            <a:spLocks noGrp="1"/>
          </p:cNvSpPr>
          <p:nvPr>
            <p:ph type="dt" sz="half" idx="10"/>
          </p:nvPr>
        </p:nvSpPr>
        <p:spPr bwMode="auto"/>
        <p:txBody>
          <a:bodyPr/>
          <a:lstStyle/>
          <a:p>
            <a:pPr>
              <a:defRPr/>
            </a:pPr>
            <a:fld id="{578FA891-EA14-E241-A437-93B1B2556271}" type="datetimeFigureOut">
              <a:rPr lang="en-US"/>
              <a:t>3/4/16</a:t>
            </a:fld>
            <a:endParaRPr lang="en-US"/>
          </a:p>
        </p:txBody>
      </p:sp>
      <p:sp>
        <p:nvSpPr>
          <p:cNvPr id="1633976850" name="Footer Placeholder 4"/>
          <p:cNvSpPr>
            <a:spLocks noGrp="1"/>
          </p:cNvSpPr>
          <p:nvPr>
            <p:ph type="ftr" sz="quarter" idx="11"/>
          </p:nvPr>
        </p:nvSpPr>
        <p:spPr bwMode="auto"/>
        <p:txBody>
          <a:bodyPr/>
          <a:lstStyle/>
          <a:p>
            <a:pPr>
              <a:defRPr/>
            </a:pPr>
            <a:endParaRPr lang="en-US"/>
          </a:p>
        </p:txBody>
      </p:sp>
      <p:sp>
        <p:nvSpPr>
          <p:cNvPr id="560253833" name="Slide Number Placeholder 5"/>
          <p:cNvSpPr>
            <a:spLocks noGrp="1"/>
          </p:cNvSpPr>
          <p:nvPr>
            <p:ph type="sldNum" sz="quarter" idx="12"/>
          </p:nvPr>
        </p:nvSpPr>
        <p:spPr bwMode="auto"/>
        <p:txBody>
          <a:bodyPr/>
          <a:lstStyle/>
          <a:p>
            <a:pPr>
              <a:defRPr/>
            </a:pPr>
            <a:fld id="{EECF1C03-2CE3-1940-9926-98CA1940629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74712016" name="Title 1"/>
          <p:cNvSpPr>
            <a:spLocks noGrp="1"/>
          </p:cNvSpPr>
          <p:nvPr>
            <p:ph type="title"/>
          </p:nvPr>
        </p:nvSpPr>
        <p:spPr bwMode="auto"/>
        <p:txBody>
          <a:bodyPr/>
          <a:lstStyle/>
          <a:p>
            <a:pPr>
              <a:defRPr/>
            </a:pPr>
            <a:r>
              <a:rPr lang="en-US"/>
              <a:t>Click to edit Master title style</a:t>
            </a:r>
            <a:endParaRPr lang="en-US"/>
          </a:p>
        </p:txBody>
      </p:sp>
      <p:sp>
        <p:nvSpPr>
          <p:cNvPr id="568450912" name="Content Placeholder 2"/>
          <p:cNvSpPr>
            <a:spLocks noGrp="1"/>
          </p:cNvSpPr>
          <p:nvPr>
            <p:ph sz="half" idx="1"/>
          </p:nvPr>
        </p:nvSpPr>
        <p:spPr bwMode="auto">
          <a:xfrm>
            <a:off x="10530842" y="36865560"/>
            <a:ext cx="94442280" cy="10427970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49118783" name="Content Placeholder 3"/>
          <p:cNvSpPr>
            <a:spLocks noGrp="1"/>
          </p:cNvSpPr>
          <p:nvPr>
            <p:ph sz="half" idx="2"/>
          </p:nvPr>
        </p:nvSpPr>
        <p:spPr bwMode="auto">
          <a:xfrm>
            <a:off x="105704642" y="36865560"/>
            <a:ext cx="94442280" cy="10427970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23663408" name="Date Placeholder 4"/>
          <p:cNvSpPr>
            <a:spLocks noGrp="1"/>
          </p:cNvSpPr>
          <p:nvPr>
            <p:ph type="dt" sz="half" idx="10"/>
          </p:nvPr>
        </p:nvSpPr>
        <p:spPr bwMode="auto"/>
        <p:txBody>
          <a:bodyPr/>
          <a:lstStyle/>
          <a:p>
            <a:pPr>
              <a:defRPr/>
            </a:pPr>
            <a:fld id="{578FA891-EA14-E241-A437-93B1B2556271}" type="datetimeFigureOut">
              <a:rPr lang="en-US"/>
              <a:t>3/4/16</a:t>
            </a:fld>
            <a:endParaRPr lang="en-US"/>
          </a:p>
        </p:txBody>
      </p:sp>
      <p:sp>
        <p:nvSpPr>
          <p:cNvPr id="2080235928" name="Footer Placeholder 5"/>
          <p:cNvSpPr>
            <a:spLocks noGrp="1"/>
          </p:cNvSpPr>
          <p:nvPr>
            <p:ph type="ftr" sz="quarter" idx="11"/>
          </p:nvPr>
        </p:nvSpPr>
        <p:spPr bwMode="auto"/>
        <p:txBody>
          <a:bodyPr/>
          <a:lstStyle/>
          <a:p>
            <a:pPr>
              <a:defRPr/>
            </a:pPr>
            <a:endParaRPr lang="en-US"/>
          </a:p>
        </p:txBody>
      </p:sp>
      <p:sp>
        <p:nvSpPr>
          <p:cNvPr id="961677037" name="Slide Number Placeholder 6"/>
          <p:cNvSpPr>
            <a:spLocks noGrp="1"/>
          </p:cNvSpPr>
          <p:nvPr>
            <p:ph type="sldNum" sz="quarter" idx="12"/>
          </p:nvPr>
        </p:nvSpPr>
        <p:spPr bwMode="auto"/>
        <p:txBody>
          <a:bodyPr/>
          <a:lstStyle/>
          <a:p>
            <a:pPr>
              <a:defRPr/>
            </a:pPr>
            <a:fld id="{EECF1C03-2CE3-1940-9926-98CA1940629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098085078" name="Title 1"/>
          <p:cNvSpPr>
            <a:spLocks noGrp="1"/>
          </p:cNvSpPr>
          <p:nvPr>
            <p:ph type="title"/>
          </p:nvPr>
        </p:nvSpPr>
        <p:spPr bwMode="auto">
          <a:xfrm>
            <a:off x="2194560" y="1318262"/>
            <a:ext cx="39502080" cy="5486400"/>
          </a:xfrm>
        </p:spPr>
        <p:txBody>
          <a:bodyPr/>
          <a:lstStyle>
            <a:lvl1pPr>
              <a:defRPr/>
            </a:lvl1pPr>
          </a:lstStyle>
          <a:p>
            <a:pPr>
              <a:defRPr/>
            </a:pPr>
            <a:r>
              <a:rPr lang="en-US"/>
              <a:t>Click to edit Master title style</a:t>
            </a:r>
            <a:endParaRPr lang="en-US"/>
          </a:p>
        </p:txBody>
      </p:sp>
      <p:sp>
        <p:nvSpPr>
          <p:cNvPr id="1738556116" name="Text Placeholder 2"/>
          <p:cNvSpPr>
            <a:spLocks noGrp="1"/>
          </p:cNvSpPr>
          <p:nvPr>
            <p:ph type="body" idx="1"/>
          </p:nvPr>
        </p:nvSpPr>
        <p:spPr bwMode="auto">
          <a:xfrm>
            <a:off x="2194560" y="7368542"/>
            <a:ext cx="19392902"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defRPr/>
            </a:pPr>
            <a:r>
              <a:rPr lang="en-US"/>
              <a:t>Click to edit Master text styles</a:t>
            </a:r>
            <a:endParaRPr/>
          </a:p>
        </p:txBody>
      </p:sp>
      <p:sp>
        <p:nvSpPr>
          <p:cNvPr id="583095719" name="Content Placeholder 3"/>
          <p:cNvSpPr>
            <a:spLocks noGrp="1"/>
          </p:cNvSpPr>
          <p:nvPr>
            <p:ph sz="half" idx="2"/>
          </p:nvPr>
        </p:nvSpPr>
        <p:spPr bwMode="auto">
          <a:xfrm>
            <a:off x="2194560" y="10439400"/>
            <a:ext cx="19392902"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67123766" name="Text Placeholder 4"/>
          <p:cNvSpPr>
            <a:spLocks noGrp="1"/>
          </p:cNvSpPr>
          <p:nvPr>
            <p:ph type="body" sz="quarter" idx="3"/>
          </p:nvPr>
        </p:nvSpPr>
        <p:spPr bwMode="auto">
          <a:xfrm>
            <a:off x="22296122" y="7368542"/>
            <a:ext cx="19400520"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defRPr/>
            </a:pPr>
            <a:r>
              <a:rPr lang="en-US"/>
              <a:t>Click to edit Master text styles</a:t>
            </a:r>
            <a:endParaRPr/>
          </a:p>
        </p:txBody>
      </p:sp>
      <p:sp>
        <p:nvSpPr>
          <p:cNvPr id="822921128" name="Content Placeholder 5"/>
          <p:cNvSpPr>
            <a:spLocks noGrp="1"/>
          </p:cNvSpPr>
          <p:nvPr>
            <p:ph sz="quarter" idx="4"/>
          </p:nvPr>
        </p:nvSpPr>
        <p:spPr bwMode="auto">
          <a:xfrm>
            <a:off x="22296122" y="10439400"/>
            <a:ext cx="19400520"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27261327" name="Date Placeholder 6"/>
          <p:cNvSpPr>
            <a:spLocks noGrp="1"/>
          </p:cNvSpPr>
          <p:nvPr>
            <p:ph type="dt" sz="half" idx="10"/>
          </p:nvPr>
        </p:nvSpPr>
        <p:spPr bwMode="auto"/>
        <p:txBody>
          <a:bodyPr/>
          <a:lstStyle/>
          <a:p>
            <a:pPr>
              <a:defRPr/>
            </a:pPr>
            <a:fld id="{578FA891-EA14-E241-A437-93B1B2556271}" type="datetimeFigureOut">
              <a:rPr lang="en-US"/>
              <a:t>3/4/16</a:t>
            </a:fld>
            <a:endParaRPr lang="en-US"/>
          </a:p>
        </p:txBody>
      </p:sp>
      <p:sp>
        <p:nvSpPr>
          <p:cNvPr id="338752265" name="Footer Placeholder 7"/>
          <p:cNvSpPr>
            <a:spLocks noGrp="1"/>
          </p:cNvSpPr>
          <p:nvPr>
            <p:ph type="ftr" sz="quarter" idx="11"/>
          </p:nvPr>
        </p:nvSpPr>
        <p:spPr bwMode="auto"/>
        <p:txBody>
          <a:bodyPr/>
          <a:lstStyle/>
          <a:p>
            <a:pPr>
              <a:defRPr/>
            </a:pPr>
            <a:endParaRPr lang="en-US"/>
          </a:p>
        </p:txBody>
      </p:sp>
      <p:sp>
        <p:nvSpPr>
          <p:cNvPr id="1581707093" name="Slide Number Placeholder 8"/>
          <p:cNvSpPr>
            <a:spLocks noGrp="1"/>
          </p:cNvSpPr>
          <p:nvPr>
            <p:ph type="sldNum" sz="quarter" idx="12"/>
          </p:nvPr>
        </p:nvSpPr>
        <p:spPr bwMode="auto"/>
        <p:txBody>
          <a:bodyPr/>
          <a:lstStyle/>
          <a:p>
            <a:pPr>
              <a:defRPr/>
            </a:pPr>
            <a:fld id="{EECF1C03-2CE3-1940-9926-98CA1940629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419341590" name="Title 1"/>
          <p:cNvSpPr>
            <a:spLocks noGrp="1"/>
          </p:cNvSpPr>
          <p:nvPr>
            <p:ph type="title"/>
          </p:nvPr>
        </p:nvSpPr>
        <p:spPr bwMode="auto"/>
        <p:txBody>
          <a:bodyPr/>
          <a:lstStyle/>
          <a:p>
            <a:pPr>
              <a:defRPr/>
            </a:pPr>
            <a:r>
              <a:rPr lang="en-US"/>
              <a:t>Click to edit Master title style</a:t>
            </a:r>
            <a:endParaRPr lang="en-US"/>
          </a:p>
        </p:txBody>
      </p:sp>
      <p:sp>
        <p:nvSpPr>
          <p:cNvPr id="702965274" name="Date Placeholder 2"/>
          <p:cNvSpPr>
            <a:spLocks noGrp="1"/>
          </p:cNvSpPr>
          <p:nvPr>
            <p:ph type="dt" sz="half" idx="10"/>
          </p:nvPr>
        </p:nvSpPr>
        <p:spPr bwMode="auto"/>
        <p:txBody>
          <a:bodyPr/>
          <a:lstStyle/>
          <a:p>
            <a:pPr>
              <a:defRPr/>
            </a:pPr>
            <a:fld id="{578FA891-EA14-E241-A437-93B1B2556271}" type="datetimeFigureOut">
              <a:rPr lang="en-US"/>
              <a:t>3/4/16</a:t>
            </a:fld>
            <a:endParaRPr lang="en-US"/>
          </a:p>
        </p:txBody>
      </p:sp>
      <p:sp>
        <p:nvSpPr>
          <p:cNvPr id="420366084" name="Footer Placeholder 3"/>
          <p:cNvSpPr>
            <a:spLocks noGrp="1"/>
          </p:cNvSpPr>
          <p:nvPr>
            <p:ph type="ftr" sz="quarter" idx="11"/>
          </p:nvPr>
        </p:nvSpPr>
        <p:spPr bwMode="auto"/>
        <p:txBody>
          <a:bodyPr/>
          <a:lstStyle/>
          <a:p>
            <a:pPr>
              <a:defRPr/>
            </a:pPr>
            <a:endParaRPr lang="en-US"/>
          </a:p>
        </p:txBody>
      </p:sp>
      <p:sp>
        <p:nvSpPr>
          <p:cNvPr id="947760314" name="Slide Number Placeholder 4"/>
          <p:cNvSpPr>
            <a:spLocks noGrp="1"/>
          </p:cNvSpPr>
          <p:nvPr>
            <p:ph type="sldNum" sz="quarter" idx="12"/>
          </p:nvPr>
        </p:nvSpPr>
        <p:spPr bwMode="auto"/>
        <p:txBody>
          <a:bodyPr/>
          <a:lstStyle/>
          <a:p>
            <a:pPr>
              <a:defRPr/>
            </a:pPr>
            <a:fld id="{EECF1C03-2CE3-1940-9926-98CA1940629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123700048" name="Date Placeholder 1"/>
          <p:cNvSpPr>
            <a:spLocks noGrp="1"/>
          </p:cNvSpPr>
          <p:nvPr>
            <p:ph type="dt" sz="half" idx="10"/>
          </p:nvPr>
        </p:nvSpPr>
        <p:spPr bwMode="auto"/>
        <p:txBody>
          <a:bodyPr/>
          <a:lstStyle/>
          <a:p>
            <a:pPr>
              <a:defRPr/>
            </a:pPr>
            <a:fld id="{578FA891-EA14-E241-A437-93B1B2556271}" type="datetimeFigureOut">
              <a:rPr lang="en-US"/>
              <a:t>3/4/16</a:t>
            </a:fld>
            <a:endParaRPr lang="en-US"/>
          </a:p>
        </p:txBody>
      </p:sp>
      <p:sp>
        <p:nvSpPr>
          <p:cNvPr id="1880394325" name="Footer Placeholder 2"/>
          <p:cNvSpPr>
            <a:spLocks noGrp="1"/>
          </p:cNvSpPr>
          <p:nvPr>
            <p:ph type="ftr" sz="quarter" idx="11"/>
          </p:nvPr>
        </p:nvSpPr>
        <p:spPr bwMode="auto"/>
        <p:txBody>
          <a:bodyPr/>
          <a:lstStyle/>
          <a:p>
            <a:pPr>
              <a:defRPr/>
            </a:pPr>
            <a:endParaRPr lang="en-US"/>
          </a:p>
        </p:txBody>
      </p:sp>
      <p:sp>
        <p:nvSpPr>
          <p:cNvPr id="1083901484" name="Slide Number Placeholder 3"/>
          <p:cNvSpPr>
            <a:spLocks noGrp="1"/>
          </p:cNvSpPr>
          <p:nvPr>
            <p:ph type="sldNum" sz="quarter" idx="12"/>
          </p:nvPr>
        </p:nvSpPr>
        <p:spPr bwMode="auto"/>
        <p:txBody>
          <a:bodyPr/>
          <a:lstStyle/>
          <a:p>
            <a:pPr>
              <a:defRPr/>
            </a:pPr>
            <a:fld id="{EECF1C03-2CE3-1940-9926-98CA1940629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331602152" name="Title 1"/>
          <p:cNvSpPr>
            <a:spLocks noGrp="1"/>
          </p:cNvSpPr>
          <p:nvPr>
            <p:ph type="title"/>
          </p:nvPr>
        </p:nvSpPr>
        <p:spPr bwMode="auto">
          <a:xfrm>
            <a:off x="2194563" y="1310640"/>
            <a:ext cx="14439902" cy="5577840"/>
          </a:xfrm>
        </p:spPr>
        <p:txBody>
          <a:bodyPr anchor="b"/>
          <a:lstStyle>
            <a:lvl1pPr algn="l">
              <a:defRPr sz="9600" b="1"/>
            </a:lvl1pPr>
          </a:lstStyle>
          <a:p>
            <a:pPr>
              <a:defRPr/>
            </a:pPr>
            <a:r>
              <a:rPr lang="en-US"/>
              <a:t>Click to edit Master title style</a:t>
            </a:r>
            <a:endParaRPr lang="en-US"/>
          </a:p>
        </p:txBody>
      </p:sp>
      <p:sp>
        <p:nvSpPr>
          <p:cNvPr id="1395427039" name="Content Placeholder 2"/>
          <p:cNvSpPr>
            <a:spLocks noGrp="1"/>
          </p:cNvSpPr>
          <p:nvPr>
            <p:ph idx="1"/>
          </p:nvPr>
        </p:nvSpPr>
        <p:spPr bwMode="auto">
          <a:xfrm>
            <a:off x="17160240" y="1310643"/>
            <a:ext cx="24536400" cy="28094942"/>
          </a:xfrm>
        </p:spPr>
        <p:txBody>
          <a:bodyPr/>
          <a:lstStyle>
            <a:lvl1pPr>
              <a:defRPr sz="15400"/>
            </a:lvl1pPr>
            <a:lvl2pPr>
              <a:defRPr sz="13400"/>
            </a:lvl2pPr>
            <a:lvl3pPr>
              <a:defRPr sz="11500"/>
            </a:lvl3pPr>
            <a:lvl4pPr>
              <a:defRPr sz="9600"/>
            </a:lvl4pPr>
            <a:lvl5pPr>
              <a:defRPr sz="9600"/>
            </a:lvl5pPr>
            <a:lvl6pPr>
              <a:defRPr sz="9600"/>
            </a:lvl6pPr>
            <a:lvl7pPr>
              <a:defRPr sz="9600"/>
            </a:lvl7pPr>
            <a:lvl8pPr>
              <a:defRPr sz="9600"/>
            </a:lvl8pPr>
            <a:lvl9pPr>
              <a:defRPr sz="9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61926882" name="Text Placeholder 3"/>
          <p:cNvSpPr>
            <a:spLocks noGrp="1"/>
          </p:cNvSpPr>
          <p:nvPr>
            <p:ph type="body" sz="half" idx="2"/>
          </p:nvPr>
        </p:nvSpPr>
        <p:spPr bwMode="auto">
          <a:xfrm>
            <a:off x="2194563" y="6888482"/>
            <a:ext cx="14439902" cy="22517102"/>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defRPr/>
            </a:pPr>
            <a:r>
              <a:rPr lang="en-US"/>
              <a:t>Click to edit Master text styles</a:t>
            </a:r>
            <a:endParaRPr/>
          </a:p>
        </p:txBody>
      </p:sp>
      <p:sp>
        <p:nvSpPr>
          <p:cNvPr id="458478203" name="Date Placeholder 4"/>
          <p:cNvSpPr>
            <a:spLocks noGrp="1"/>
          </p:cNvSpPr>
          <p:nvPr>
            <p:ph type="dt" sz="half" idx="10"/>
          </p:nvPr>
        </p:nvSpPr>
        <p:spPr bwMode="auto"/>
        <p:txBody>
          <a:bodyPr/>
          <a:lstStyle/>
          <a:p>
            <a:pPr>
              <a:defRPr/>
            </a:pPr>
            <a:fld id="{578FA891-EA14-E241-A437-93B1B2556271}" type="datetimeFigureOut">
              <a:rPr lang="en-US"/>
              <a:t>3/4/16</a:t>
            </a:fld>
            <a:endParaRPr lang="en-US"/>
          </a:p>
        </p:txBody>
      </p:sp>
      <p:sp>
        <p:nvSpPr>
          <p:cNvPr id="985431233" name="Footer Placeholder 5"/>
          <p:cNvSpPr>
            <a:spLocks noGrp="1"/>
          </p:cNvSpPr>
          <p:nvPr>
            <p:ph type="ftr" sz="quarter" idx="11"/>
          </p:nvPr>
        </p:nvSpPr>
        <p:spPr bwMode="auto"/>
        <p:txBody>
          <a:bodyPr/>
          <a:lstStyle/>
          <a:p>
            <a:pPr>
              <a:defRPr/>
            </a:pPr>
            <a:endParaRPr lang="en-US"/>
          </a:p>
        </p:txBody>
      </p:sp>
      <p:sp>
        <p:nvSpPr>
          <p:cNvPr id="132605677" name="Slide Number Placeholder 6"/>
          <p:cNvSpPr>
            <a:spLocks noGrp="1"/>
          </p:cNvSpPr>
          <p:nvPr>
            <p:ph type="sldNum" sz="quarter" idx="12"/>
          </p:nvPr>
        </p:nvSpPr>
        <p:spPr bwMode="auto"/>
        <p:txBody>
          <a:bodyPr/>
          <a:lstStyle/>
          <a:p>
            <a:pPr>
              <a:defRPr/>
            </a:pPr>
            <a:fld id="{EECF1C03-2CE3-1940-9926-98CA1940629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626369491" name="Title 1"/>
          <p:cNvSpPr>
            <a:spLocks noGrp="1"/>
          </p:cNvSpPr>
          <p:nvPr>
            <p:ph type="title"/>
          </p:nvPr>
        </p:nvSpPr>
        <p:spPr bwMode="auto">
          <a:xfrm>
            <a:off x="8602982" y="23042880"/>
            <a:ext cx="26334720" cy="2720342"/>
          </a:xfrm>
        </p:spPr>
        <p:txBody>
          <a:bodyPr anchor="b"/>
          <a:lstStyle>
            <a:lvl1pPr algn="l">
              <a:defRPr sz="9600" b="1"/>
            </a:lvl1pPr>
          </a:lstStyle>
          <a:p>
            <a:pPr>
              <a:defRPr/>
            </a:pPr>
            <a:r>
              <a:rPr lang="en-US"/>
              <a:t>Click to edit Master title style</a:t>
            </a:r>
            <a:endParaRPr lang="en-US"/>
          </a:p>
        </p:txBody>
      </p:sp>
      <p:sp>
        <p:nvSpPr>
          <p:cNvPr id="1853326886" name="Picture Placeholder 2"/>
          <p:cNvSpPr>
            <a:spLocks noGrp="1"/>
          </p:cNvSpPr>
          <p:nvPr>
            <p:ph type="pic" idx="1"/>
          </p:nvPr>
        </p:nvSpPr>
        <p:spPr bwMode="auto">
          <a:xfrm>
            <a:off x="8602982" y="2941320"/>
            <a:ext cx="26334720" cy="19751040"/>
          </a:xfrm>
        </p:spPr>
        <p:txBody>
          <a:bodyPr/>
          <a:lstStyle>
            <a:lvl1pPr marL="0" indent="0">
              <a:buNone/>
              <a:defRPr sz="15400"/>
            </a:lvl1pPr>
            <a:lvl2pPr marL="2194560" indent="0">
              <a:buNone/>
              <a:defRPr sz="13400"/>
            </a:lvl2pPr>
            <a:lvl3pPr marL="4389120" indent="0">
              <a:buNone/>
              <a:defRPr sz="115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pPr>
              <a:defRPr/>
            </a:pPr>
            <a:endParaRPr lang="en-US"/>
          </a:p>
        </p:txBody>
      </p:sp>
      <p:sp>
        <p:nvSpPr>
          <p:cNvPr id="803108976" name="Text Placeholder 3"/>
          <p:cNvSpPr>
            <a:spLocks noGrp="1"/>
          </p:cNvSpPr>
          <p:nvPr>
            <p:ph type="body" sz="half" idx="2"/>
          </p:nvPr>
        </p:nvSpPr>
        <p:spPr bwMode="auto">
          <a:xfrm>
            <a:off x="8602982" y="25763222"/>
            <a:ext cx="26334720" cy="3863338"/>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defRPr/>
            </a:pPr>
            <a:r>
              <a:rPr lang="en-US"/>
              <a:t>Click to edit Master text styles</a:t>
            </a:r>
            <a:endParaRPr/>
          </a:p>
        </p:txBody>
      </p:sp>
      <p:sp>
        <p:nvSpPr>
          <p:cNvPr id="1487443685" name="Date Placeholder 4"/>
          <p:cNvSpPr>
            <a:spLocks noGrp="1"/>
          </p:cNvSpPr>
          <p:nvPr>
            <p:ph type="dt" sz="half" idx="10"/>
          </p:nvPr>
        </p:nvSpPr>
        <p:spPr bwMode="auto"/>
        <p:txBody>
          <a:bodyPr/>
          <a:lstStyle/>
          <a:p>
            <a:pPr>
              <a:defRPr/>
            </a:pPr>
            <a:fld id="{578FA891-EA14-E241-A437-93B1B2556271}" type="datetimeFigureOut">
              <a:rPr lang="en-US"/>
              <a:t>3/4/16</a:t>
            </a:fld>
            <a:endParaRPr lang="en-US"/>
          </a:p>
        </p:txBody>
      </p:sp>
      <p:sp>
        <p:nvSpPr>
          <p:cNvPr id="1156533069" name="Footer Placeholder 5"/>
          <p:cNvSpPr>
            <a:spLocks noGrp="1"/>
          </p:cNvSpPr>
          <p:nvPr>
            <p:ph type="ftr" sz="quarter" idx="11"/>
          </p:nvPr>
        </p:nvSpPr>
        <p:spPr bwMode="auto"/>
        <p:txBody>
          <a:bodyPr/>
          <a:lstStyle/>
          <a:p>
            <a:pPr>
              <a:defRPr/>
            </a:pPr>
            <a:endParaRPr lang="en-US"/>
          </a:p>
        </p:txBody>
      </p:sp>
      <p:sp>
        <p:nvSpPr>
          <p:cNvPr id="1701571609" name="Slide Number Placeholder 6"/>
          <p:cNvSpPr>
            <a:spLocks noGrp="1"/>
          </p:cNvSpPr>
          <p:nvPr>
            <p:ph type="sldNum" sz="quarter" idx="12"/>
          </p:nvPr>
        </p:nvSpPr>
        <p:spPr bwMode="auto"/>
        <p:txBody>
          <a:bodyPr/>
          <a:lstStyle/>
          <a:p>
            <a:pPr>
              <a:defRPr/>
            </a:pPr>
            <a:fld id="{EECF1C03-2CE3-1940-9926-98CA1940629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990676003" name="Title 1"/>
          <p:cNvSpPr>
            <a:spLocks noGrp="1"/>
          </p:cNvSpPr>
          <p:nvPr>
            <p:ph type="title"/>
          </p:nvPr>
        </p:nvSpPr>
        <p:spPr bwMode="auto"/>
        <p:txBody>
          <a:bodyPr/>
          <a:lstStyle/>
          <a:p>
            <a:pPr>
              <a:defRPr/>
            </a:pPr>
            <a:r>
              <a:rPr lang="en-US"/>
              <a:t>Click to edit Master title style</a:t>
            </a:r>
            <a:endParaRPr lang="en-US"/>
          </a:p>
        </p:txBody>
      </p:sp>
      <p:sp>
        <p:nvSpPr>
          <p:cNvPr id="1831929274"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98880833" name="Date Placeholder 3"/>
          <p:cNvSpPr>
            <a:spLocks noGrp="1"/>
          </p:cNvSpPr>
          <p:nvPr>
            <p:ph type="dt" sz="half" idx="10"/>
          </p:nvPr>
        </p:nvSpPr>
        <p:spPr bwMode="auto"/>
        <p:txBody>
          <a:bodyPr/>
          <a:lstStyle/>
          <a:p>
            <a:pPr>
              <a:defRPr/>
            </a:pPr>
            <a:fld id="{578FA891-EA14-E241-A437-93B1B2556271}" type="datetimeFigureOut">
              <a:rPr lang="en-US"/>
              <a:t>3/4/16</a:t>
            </a:fld>
            <a:endParaRPr lang="en-US"/>
          </a:p>
        </p:txBody>
      </p:sp>
      <p:sp>
        <p:nvSpPr>
          <p:cNvPr id="1786465934" name="Footer Placeholder 4"/>
          <p:cNvSpPr>
            <a:spLocks noGrp="1"/>
          </p:cNvSpPr>
          <p:nvPr>
            <p:ph type="ftr" sz="quarter" idx="11"/>
          </p:nvPr>
        </p:nvSpPr>
        <p:spPr bwMode="auto"/>
        <p:txBody>
          <a:bodyPr/>
          <a:lstStyle/>
          <a:p>
            <a:pPr>
              <a:defRPr/>
            </a:pPr>
            <a:endParaRPr lang="en-US"/>
          </a:p>
        </p:txBody>
      </p:sp>
      <p:sp>
        <p:nvSpPr>
          <p:cNvPr id="967322044" name="Slide Number Placeholder 5"/>
          <p:cNvSpPr>
            <a:spLocks noGrp="1"/>
          </p:cNvSpPr>
          <p:nvPr>
            <p:ph type="sldNum" sz="quarter" idx="12"/>
          </p:nvPr>
        </p:nvSpPr>
        <p:spPr bwMode="auto"/>
        <p:txBody>
          <a:bodyPr/>
          <a:lstStyle/>
          <a:p>
            <a:pPr>
              <a:defRPr/>
            </a:pPr>
            <a:fld id="{EECF1C03-2CE3-1940-9926-98CA1940629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818585931" name="Vertical Title 1"/>
          <p:cNvSpPr>
            <a:spLocks noGrp="1"/>
          </p:cNvSpPr>
          <p:nvPr>
            <p:ph type="title" orient="vert"/>
          </p:nvPr>
        </p:nvSpPr>
        <p:spPr bwMode="auto">
          <a:xfrm>
            <a:off x="152742905" y="6324600"/>
            <a:ext cx="47404018" cy="134820662"/>
          </a:xfrm>
        </p:spPr>
        <p:txBody>
          <a:bodyPr vert="eaVert"/>
          <a:lstStyle/>
          <a:p>
            <a:pPr>
              <a:defRPr/>
            </a:pPr>
            <a:r>
              <a:rPr lang="en-US"/>
              <a:t>Click to edit Master title style</a:t>
            </a:r>
            <a:endParaRPr lang="en-US"/>
          </a:p>
        </p:txBody>
      </p:sp>
      <p:sp>
        <p:nvSpPr>
          <p:cNvPr id="922713595" name="Vertical Text Placeholder 2"/>
          <p:cNvSpPr>
            <a:spLocks noGrp="1"/>
          </p:cNvSpPr>
          <p:nvPr>
            <p:ph type="body" orient="vert" idx="1"/>
          </p:nvPr>
        </p:nvSpPr>
        <p:spPr bwMode="auto">
          <a:xfrm>
            <a:off x="10530843" y="6324600"/>
            <a:ext cx="141480542" cy="134820662"/>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15834046" name="Date Placeholder 3"/>
          <p:cNvSpPr>
            <a:spLocks noGrp="1"/>
          </p:cNvSpPr>
          <p:nvPr>
            <p:ph type="dt" sz="half" idx="10"/>
          </p:nvPr>
        </p:nvSpPr>
        <p:spPr bwMode="auto"/>
        <p:txBody>
          <a:bodyPr/>
          <a:lstStyle/>
          <a:p>
            <a:pPr>
              <a:defRPr/>
            </a:pPr>
            <a:fld id="{578FA891-EA14-E241-A437-93B1B2556271}" type="datetimeFigureOut">
              <a:rPr lang="en-US"/>
              <a:t>3/4/16</a:t>
            </a:fld>
            <a:endParaRPr lang="en-US"/>
          </a:p>
        </p:txBody>
      </p:sp>
      <p:sp>
        <p:nvSpPr>
          <p:cNvPr id="668413452" name="Footer Placeholder 4"/>
          <p:cNvSpPr>
            <a:spLocks noGrp="1"/>
          </p:cNvSpPr>
          <p:nvPr>
            <p:ph type="ftr" sz="quarter" idx="11"/>
          </p:nvPr>
        </p:nvSpPr>
        <p:spPr bwMode="auto"/>
        <p:txBody>
          <a:bodyPr/>
          <a:lstStyle/>
          <a:p>
            <a:pPr>
              <a:defRPr/>
            </a:pPr>
            <a:endParaRPr lang="en-US"/>
          </a:p>
        </p:txBody>
      </p:sp>
      <p:sp>
        <p:nvSpPr>
          <p:cNvPr id="1909123771" name="Slide Number Placeholder 5"/>
          <p:cNvSpPr>
            <a:spLocks noGrp="1"/>
          </p:cNvSpPr>
          <p:nvPr>
            <p:ph type="sldNum" sz="quarter" idx="12"/>
          </p:nvPr>
        </p:nvSpPr>
        <p:spPr bwMode="auto"/>
        <p:txBody>
          <a:bodyPr/>
          <a:lstStyle/>
          <a:p>
            <a:pPr>
              <a:defRPr/>
            </a:pPr>
            <a:fld id="{EECF1C03-2CE3-1940-9926-98CA19406295}"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198953037" name="Title Placeholder 1"/>
          <p:cNvSpPr>
            <a:spLocks noGrp="1"/>
          </p:cNvSpPr>
          <p:nvPr>
            <p:ph type="title"/>
          </p:nvPr>
        </p:nvSpPr>
        <p:spPr bwMode="auto">
          <a:xfrm>
            <a:off x="2194560" y="1318262"/>
            <a:ext cx="39502080" cy="5486400"/>
          </a:xfrm>
          <a:prstGeom prst="rect">
            <a:avLst/>
          </a:prstGeom>
        </p:spPr>
        <p:txBody>
          <a:bodyPr vert="horz" lIns="438912" tIns="219456" rIns="438912" bIns="219456" rtlCol="0" anchor="ctr">
            <a:normAutofit/>
          </a:bodyPr>
          <a:lstStyle/>
          <a:p>
            <a:pPr>
              <a:defRPr/>
            </a:pPr>
            <a:r>
              <a:rPr lang="en-US"/>
              <a:t>Click to edit Master title style</a:t>
            </a:r>
            <a:endParaRPr lang="en-US"/>
          </a:p>
        </p:txBody>
      </p:sp>
      <p:sp>
        <p:nvSpPr>
          <p:cNvPr id="441141458" name="Text Placeholder 2"/>
          <p:cNvSpPr>
            <a:spLocks noGrp="1"/>
          </p:cNvSpPr>
          <p:nvPr>
            <p:ph type="body" idx="1"/>
          </p:nvPr>
        </p:nvSpPr>
        <p:spPr bwMode="auto">
          <a:xfrm>
            <a:off x="2194560" y="7680963"/>
            <a:ext cx="39502080" cy="21724622"/>
          </a:xfrm>
          <a:prstGeom prst="rect">
            <a:avLst/>
          </a:prstGeom>
        </p:spPr>
        <p:txBody>
          <a:bodyPr vert="horz" lIns="438912" tIns="219456" rIns="438912" bIns="219456"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25704266" name="Date Placeholder 3"/>
          <p:cNvSpPr>
            <a:spLocks noGrp="1"/>
          </p:cNvSpPr>
          <p:nvPr>
            <p:ph type="dt" sz="half" idx="2"/>
          </p:nvPr>
        </p:nvSpPr>
        <p:spPr bwMode="auto">
          <a:xfrm>
            <a:off x="2194560" y="30510482"/>
            <a:ext cx="10241280" cy="1752599"/>
          </a:xfrm>
          <a:prstGeom prst="rect">
            <a:avLst/>
          </a:prstGeom>
        </p:spPr>
        <p:txBody>
          <a:bodyPr vert="horz" lIns="438912" tIns="219456" rIns="438912" bIns="219456" rtlCol="0" anchor="ctr"/>
          <a:lstStyle>
            <a:lvl1pPr algn="l">
              <a:defRPr sz="5800">
                <a:solidFill>
                  <a:schemeClr val="tx1">
                    <a:tint val="75000"/>
                  </a:schemeClr>
                </a:solidFill>
              </a:defRPr>
            </a:lvl1pPr>
          </a:lstStyle>
          <a:p>
            <a:pPr>
              <a:defRPr/>
            </a:pPr>
            <a:fld id="{578FA891-EA14-E241-A437-93B1B2556271}" type="datetimeFigureOut">
              <a:rPr lang="en-US"/>
              <a:t>3/4/16</a:t>
            </a:fld>
            <a:endParaRPr lang="en-US"/>
          </a:p>
        </p:txBody>
      </p:sp>
      <p:sp>
        <p:nvSpPr>
          <p:cNvPr id="1027233981" name="Footer Placeholder 4"/>
          <p:cNvSpPr>
            <a:spLocks noGrp="1"/>
          </p:cNvSpPr>
          <p:nvPr>
            <p:ph type="ftr" sz="quarter" idx="3"/>
          </p:nvPr>
        </p:nvSpPr>
        <p:spPr bwMode="auto">
          <a:xfrm>
            <a:off x="14996160" y="30510482"/>
            <a:ext cx="13898880" cy="1752599"/>
          </a:xfrm>
          <a:prstGeom prst="rect">
            <a:avLst/>
          </a:prstGeom>
        </p:spPr>
        <p:txBody>
          <a:bodyPr vert="horz" lIns="438912" tIns="219456" rIns="438912" bIns="219456" rtlCol="0" anchor="ctr"/>
          <a:lstStyle>
            <a:lvl1pPr algn="ctr">
              <a:defRPr sz="5800">
                <a:solidFill>
                  <a:schemeClr val="tx1">
                    <a:tint val="75000"/>
                  </a:schemeClr>
                </a:solidFill>
              </a:defRPr>
            </a:lvl1pPr>
          </a:lstStyle>
          <a:p>
            <a:pPr>
              <a:defRPr/>
            </a:pPr>
            <a:endParaRPr lang="en-US"/>
          </a:p>
        </p:txBody>
      </p:sp>
      <p:sp>
        <p:nvSpPr>
          <p:cNvPr id="1043177245" name="Slide Number Placeholder 5"/>
          <p:cNvSpPr>
            <a:spLocks noGrp="1"/>
          </p:cNvSpPr>
          <p:nvPr>
            <p:ph type="sldNum" sz="quarter" idx="4"/>
          </p:nvPr>
        </p:nvSpPr>
        <p:spPr bwMode="auto">
          <a:xfrm>
            <a:off x="31455360" y="30510482"/>
            <a:ext cx="10241280" cy="1752599"/>
          </a:xfrm>
          <a:prstGeom prst="rect">
            <a:avLst/>
          </a:prstGeom>
        </p:spPr>
        <p:txBody>
          <a:bodyPr vert="horz" lIns="438912" tIns="219456" rIns="438912" bIns="219456" rtlCol="0" anchor="ctr"/>
          <a:lstStyle>
            <a:lvl1pPr algn="r">
              <a:defRPr sz="5800">
                <a:solidFill>
                  <a:schemeClr val="tx1">
                    <a:tint val="75000"/>
                  </a:schemeClr>
                </a:solidFill>
              </a:defRPr>
            </a:lvl1pPr>
          </a:lstStyle>
          <a:p>
            <a:pPr>
              <a:defRPr/>
            </a:pPr>
            <a:fld id="{EECF1C03-2CE3-1940-9926-98CA1940629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194560" rtl="0">
        <a:spcBef>
          <a:spcPts val="0"/>
        </a:spcBef>
        <a:buNone/>
        <a:defRPr sz="21100">
          <a:solidFill>
            <a:schemeClr val="tx1"/>
          </a:solidFill>
          <a:latin typeface="+mj-lt"/>
          <a:ea typeface="+mj-ea"/>
          <a:cs typeface="+mj-cs"/>
        </a:defRPr>
      </a:lvl1pPr>
    </p:titleStyle>
    <p:bodyStyle>
      <a:lvl1pPr marL="1645920" indent="-1645920" algn="l" defTabSz="2194560" rtl="0">
        <a:spcBef>
          <a:spcPts val="0"/>
        </a:spcBef>
        <a:buFont typeface="Arial"/>
        <a:buChar char="•"/>
        <a:defRPr sz="15400">
          <a:solidFill>
            <a:schemeClr val="tx1"/>
          </a:solidFill>
          <a:latin typeface="+mn-lt"/>
          <a:ea typeface="+mn-ea"/>
          <a:cs typeface="+mn-cs"/>
        </a:defRPr>
      </a:lvl1pPr>
      <a:lvl2pPr marL="3566160" indent="-1371600" algn="l" defTabSz="2194560" rtl="0">
        <a:spcBef>
          <a:spcPts val="0"/>
        </a:spcBef>
        <a:buFont typeface="Arial"/>
        <a:buChar char="–"/>
        <a:defRPr sz="13400">
          <a:solidFill>
            <a:schemeClr val="tx1"/>
          </a:solidFill>
          <a:latin typeface="+mn-lt"/>
          <a:ea typeface="+mn-ea"/>
          <a:cs typeface="+mn-cs"/>
        </a:defRPr>
      </a:lvl2pPr>
      <a:lvl3pPr marL="5486400" indent="-1097280" algn="l" defTabSz="2194560" rtl="0">
        <a:spcBef>
          <a:spcPts val="0"/>
        </a:spcBef>
        <a:buFont typeface="Arial"/>
        <a:buChar char="•"/>
        <a:defRPr sz="11500">
          <a:solidFill>
            <a:schemeClr val="tx1"/>
          </a:solidFill>
          <a:latin typeface="+mn-lt"/>
          <a:ea typeface="+mn-ea"/>
          <a:cs typeface="+mn-cs"/>
        </a:defRPr>
      </a:lvl3pPr>
      <a:lvl4pPr marL="7680960" indent="-1097280" algn="l" defTabSz="2194560" rtl="0">
        <a:spcBef>
          <a:spcPts val="0"/>
        </a:spcBef>
        <a:buFont typeface="Arial"/>
        <a:buChar char="–"/>
        <a:defRPr sz="9600">
          <a:solidFill>
            <a:schemeClr val="tx1"/>
          </a:solidFill>
          <a:latin typeface="+mn-lt"/>
          <a:ea typeface="+mn-ea"/>
          <a:cs typeface="+mn-cs"/>
        </a:defRPr>
      </a:lvl4pPr>
      <a:lvl5pPr marL="9875520" indent="-1097280" algn="l" defTabSz="2194560" rtl="0">
        <a:spcBef>
          <a:spcPts val="0"/>
        </a:spcBef>
        <a:buFont typeface="Arial"/>
        <a:buChar char="»"/>
        <a:defRPr sz="9600">
          <a:solidFill>
            <a:schemeClr val="tx1"/>
          </a:solidFill>
          <a:latin typeface="+mn-lt"/>
          <a:ea typeface="+mn-ea"/>
          <a:cs typeface="+mn-cs"/>
        </a:defRPr>
      </a:lvl5pPr>
      <a:lvl6pPr marL="12070079" indent="-1097280" algn="l" defTabSz="2194560" rtl="0">
        <a:spcBef>
          <a:spcPts val="0"/>
        </a:spcBef>
        <a:buFont typeface="Arial"/>
        <a:buChar char="•"/>
        <a:defRPr sz="9600">
          <a:solidFill>
            <a:schemeClr val="tx1"/>
          </a:solidFill>
          <a:latin typeface="+mn-lt"/>
          <a:ea typeface="+mn-ea"/>
          <a:cs typeface="+mn-cs"/>
        </a:defRPr>
      </a:lvl6pPr>
      <a:lvl7pPr marL="14264640" indent="-1097280" algn="l" defTabSz="2194560" rtl="0">
        <a:spcBef>
          <a:spcPts val="0"/>
        </a:spcBef>
        <a:buFont typeface="Arial"/>
        <a:buChar char="•"/>
        <a:defRPr sz="9600">
          <a:solidFill>
            <a:schemeClr val="tx1"/>
          </a:solidFill>
          <a:latin typeface="+mn-lt"/>
          <a:ea typeface="+mn-ea"/>
          <a:cs typeface="+mn-cs"/>
        </a:defRPr>
      </a:lvl7pPr>
      <a:lvl8pPr marL="16459200" indent="-1097280" algn="l" defTabSz="2194560" rtl="0">
        <a:spcBef>
          <a:spcPts val="0"/>
        </a:spcBef>
        <a:buFont typeface="Arial"/>
        <a:buChar char="•"/>
        <a:defRPr sz="9600">
          <a:solidFill>
            <a:schemeClr val="tx1"/>
          </a:solidFill>
          <a:latin typeface="+mn-lt"/>
          <a:ea typeface="+mn-ea"/>
          <a:cs typeface="+mn-cs"/>
        </a:defRPr>
      </a:lvl8pPr>
      <a:lvl9pPr marL="18653760" indent="-1097280" algn="l" defTabSz="2194560" rtl="0">
        <a:spcBef>
          <a:spcPts val="0"/>
        </a:spcBef>
        <a:buFont typeface="Arial"/>
        <a:buChar char="•"/>
        <a:defRPr sz="9600">
          <a:solidFill>
            <a:schemeClr val="tx1"/>
          </a:solidFill>
          <a:latin typeface="+mn-lt"/>
          <a:ea typeface="+mn-ea"/>
          <a:cs typeface="+mn-cs"/>
        </a:defRPr>
      </a:lvl9pPr>
    </p:bodyStyle>
    <p:otherStyle>
      <a:defPPr>
        <a:defRPr lang="en-US"/>
      </a:defPPr>
      <a:lvl1pPr marL="0" algn="l" defTabSz="2194560" rtl="0">
        <a:defRPr sz="8600">
          <a:solidFill>
            <a:schemeClr val="tx1"/>
          </a:solidFill>
          <a:latin typeface="+mn-lt"/>
          <a:ea typeface="+mn-ea"/>
          <a:cs typeface="+mn-cs"/>
        </a:defRPr>
      </a:lvl1pPr>
      <a:lvl2pPr marL="2194560" algn="l" defTabSz="2194560" rtl="0">
        <a:defRPr sz="8600">
          <a:solidFill>
            <a:schemeClr val="tx1"/>
          </a:solidFill>
          <a:latin typeface="+mn-lt"/>
          <a:ea typeface="+mn-ea"/>
          <a:cs typeface="+mn-cs"/>
        </a:defRPr>
      </a:lvl2pPr>
      <a:lvl3pPr marL="4389120" algn="l" defTabSz="2194560" rtl="0">
        <a:defRPr sz="8600">
          <a:solidFill>
            <a:schemeClr val="tx1"/>
          </a:solidFill>
          <a:latin typeface="+mn-lt"/>
          <a:ea typeface="+mn-ea"/>
          <a:cs typeface="+mn-cs"/>
        </a:defRPr>
      </a:lvl3pPr>
      <a:lvl4pPr marL="6583680" algn="l" defTabSz="2194560" rtl="0">
        <a:defRPr sz="8600">
          <a:solidFill>
            <a:schemeClr val="tx1"/>
          </a:solidFill>
          <a:latin typeface="+mn-lt"/>
          <a:ea typeface="+mn-ea"/>
          <a:cs typeface="+mn-cs"/>
        </a:defRPr>
      </a:lvl4pPr>
      <a:lvl5pPr marL="8778240" algn="l" defTabSz="2194560" rtl="0">
        <a:defRPr sz="8600">
          <a:solidFill>
            <a:schemeClr val="tx1"/>
          </a:solidFill>
          <a:latin typeface="+mn-lt"/>
          <a:ea typeface="+mn-ea"/>
          <a:cs typeface="+mn-cs"/>
        </a:defRPr>
      </a:lvl5pPr>
      <a:lvl6pPr marL="10972800" algn="l" defTabSz="2194560" rtl="0">
        <a:defRPr sz="8600">
          <a:solidFill>
            <a:schemeClr val="tx1"/>
          </a:solidFill>
          <a:latin typeface="+mn-lt"/>
          <a:ea typeface="+mn-ea"/>
          <a:cs typeface="+mn-cs"/>
        </a:defRPr>
      </a:lvl6pPr>
      <a:lvl7pPr marL="13167360" algn="l" defTabSz="2194560" rtl="0">
        <a:defRPr sz="8600">
          <a:solidFill>
            <a:schemeClr val="tx1"/>
          </a:solidFill>
          <a:latin typeface="+mn-lt"/>
          <a:ea typeface="+mn-ea"/>
          <a:cs typeface="+mn-cs"/>
        </a:defRPr>
      </a:lvl7pPr>
      <a:lvl8pPr marL="15361920" algn="l" defTabSz="2194560" rtl="0">
        <a:defRPr sz="8600">
          <a:solidFill>
            <a:schemeClr val="tx1"/>
          </a:solidFill>
          <a:latin typeface="+mn-lt"/>
          <a:ea typeface="+mn-ea"/>
          <a:cs typeface="+mn-cs"/>
        </a:defRPr>
      </a:lvl8pPr>
      <a:lvl9pPr marL="17556480" algn="l" defTabSz="2194560" rtl="0">
        <a:defRPr sz="86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media1.svg"/><Relationship Id="rId6" Type="http://schemas.openxmlformats.org/officeDocument/2006/relationships/image" Target="../media/image3.png"/><Relationship Id="rId7" Type="http://schemas.openxmlformats.org/officeDocument/2006/relationships/image" Target="../media/image4.jpg"/><Relationship Id="rId8" Type="http://schemas.openxmlformats.org/officeDocument/2006/relationships/image" Target="../media/image5.jpg"/><Relationship Id="rId9" Type="http://schemas.openxmlformats.org/officeDocument/2006/relationships/image" Target="../media/image6.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7.wmf"/><Relationship Id="rId5" Type="http://schemas.openxmlformats.org/officeDocument/2006/relationships/oleObject" Target="../embeddings/oleObject2.bin"/><Relationship Id="rId6" Type="http://schemas.openxmlformats.org/officeDocument/2006/relationships/image" Target="../media/image8.png"/><Relationship Id="rId7" Type="http://schemas.openxmlformats.org/officeDocument/2006/relationships/image" Target="../media/image3.png"/><Relationship Id="rId8" Type="http://schemas.openxmlformats.org/officeDocument/2006/relationships/image" Target="../media/image4.jpg"/><Relationship Id="rId9" Type="http://schemas.openxmlformats.org/officeDocument/2006/relationships/image" Target="../media/image5.jpg"/><Relationship Id="rId10" Type="http://schemas.openxmlformats.org/officeDocument/2006/relationships/image" Target="../media/image6.jp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9.wmf"/><Relationship Id="rId5" Type="http://schemas.openxmlformats.org/officeDocument/2006/relationships/oleObject" Target="../embeddings/oleObject3.bin"/><Relationship Id="rId6" Type="http://schemas.openxmlformats.org/officeDocument/2006/relationships/image" Target="../media/image8.png"/><Relationship Id="rId7" Type="http://schemas.openxmlformats.org/officeDocument/2006/relationships/image" Target="../media/image3.png"/><Relationship Id="rId8" Type="http://schemas.openxmlformats.org/officeDocument/2006/relationships/image" Target="../media/image4.jpg"/><Relationship Id="rId9" Type="http://schemas.openxmlformats.org/officeDocument/2006/relationships/image" Target="../media/image5.jpg"/><Relationship Id="rId10"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45111379" name="Picture 28" descr="TECH_Logo_Horizontal_TransparentBkgd_Purple.png"/>
          <p:cNvPicPr>
            <a:picLocks noChangeAspect="1"/>
          </p:cNvPicPr>
          <p:nvPr/>
        </p:nvPicPr>
        <p:blipFill rotWithShape="1">
          <a:blip r:embed="rId3"/>
          <a:stretch/>
        </p:blipFill>
        <p:spPr bwMode="auto">
          <a:xfrm>
            <a:off x="917575" y="0"/>
            <a:ext cx="11987784" cy="4282696"/>
          </a:xfrm>
          <a:prstGeom prst="rect">
            <a:avLst/>
          </a:prstGeom>
        </p:spPr>
      </p:pic>
      <p:sp>
        <p:nvSpPr>
          <p:cNvPr id="1720314018" name="Rectangle 2"/>
          <p:cNvSpPr txBox="1">
            <a:spLocks noChangeArrowheads="1"/>
          </p:cNvSpPr>
          <p:nvPr/>
        </p:nvSpPr>
        <p:spPr bwMode="auto">
          <a:xfrm>
            <a:off x="12902184" y="914400"/>
            <a:ext cx="30074616" cy="2516188"/>
          </a:xfrm>
          <a:prstGeom prst="rect">
            <a:avLst/>
          </a:prstGeom>
          <a:noFill/>
          <a:ln/>
        </p:spPr>
        <p:txBody>
          <a:bodyPr vertOverflow="overflow" horzOverflow="overflow" vert="horz" wrap="square" lIns="438912" tIns="219456" rIns="438912" bIns="219456" numCol="1" spcCol="0" rtlCol="0" fromWordArt="0" anchor="ctr" anchorCtr="0" forceAA="0" upright="0" compatLnSpc="0">
            <a:normAutofit/>
          </a:bodyPr>
          <a:lstStyle>
            <a:lvl1pPr algn="ctr" defTabSz="2194560" rtl="0">
              <a:spcBef>
                <a:spcPts val="0"/>
              </a:spcBef>
              <a:buNone/>
              <a:defRPr sz="21100">
                <a:solidFill>
                  <a:schemeClr val="tx1"/>
                </a:solidFill>
                <a:latin typeface="+mj-lt"/>
                <a:ea typeface="+mj-ea"/>
                <a:cs typeface="+mj-cs"/>
              </a:defRPr>
            </a:lvl1pPr>
          </a:lstStyle>
          <a:p>
            <a:pPr>
              <a:defRPr/>
            </a:pPr>
            <a:r>
              <a:rPr lang="en-US" sz="9600" b="1">
                <a:latin typeface="Arial"/>
                <a:cs typeface="Arial"/>
              </a:rPr>
              <a:t>Field Missions of Tennessee</a:t>
            </a:r>
            <a:endParaRPr/>
          </a:p>
          <a:p>
            <a:pPr>
              <a:defRPr/>
            </a:pPr>
            <a:r>
              <a:rPr lang="en-US" sz="3600" b="1">
                <a:latin typeface="Arial"/>
                <a:cs typeface="Arial"/>
              </a:rPr>
              <a:t>Team: </a:t>
            </a:r>
            <a:r>
              <a:rPr lang="en-US" sz="3600" b="1">
                <a:latin typeface="Arial"/>
                <a:cs typeface="Arial"/>
              </a:rPr>
              <a:t>Mia Guzman, Gianni Matosich, Kristian Obrusanszki, Corbyn Thomas, Michael Serdar       Advisor: Ben Burchfield</a:t>
            </a:r>
            <a:endParaRPr lang="en-US" sz="3600" b="1">
              <a:latin typeface="Arial"/>
              <a:cs typeface="Arial"/>
            </a:endParaRPr>
          </a:p>
        </p:txBody>
      </p:sp>
      <p:sp>
        <p:nvSpPr>
          <p:cNvPr id="310626437" name="Text Box 91"/>
          <p:cNvSpPr txBox="1">
            <a:spLocks noChangeArrowheads="1"/>
          </p:cNvSpPr>
          <p:nvPr/>
        </p:nvSpPr>
        <p:spPr bwMode="auto">
          <a:xfrm>
            <a:off x="917575" y="3429000"/>
            <a:ext cx="9598025" cy="6223000"/>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Who We Serve and Why it Matters </a:t>
            </a:r>
            <a:endParaRPr/>
          </a:p>
          <a:p>
            <a:pPr>
              <a:spcBef>
                <a:spcPts val="0"/>
              </a:spcBef>
              <a:defRPr/>
            </a:pPr>
            <a:r>
              <a:rPr lang="en-US" sz="3200">
                <a:latin typeface="Arial"/>
                <a:cs typeface="Arial"/>
              </a:rPr>
              <a:t>Field Missions of Tennessee operates free pop-up medical clinics across the state with emphasis on distressed counties. Many residents face transportation, cost, and access barriers. Effective digital coordination is essential to connect organizers, host partners, and participants before, during, and after each event  </a:t>
            </a:r>
            <a:endParaRPr lang="en-US" sz="3200">
              <a:latin typeface="Arial"/>
              <a:cs typeface="Arial"/>
            </a:endParaRPr>
          </a:p>
        </p:txBody>
      </p:sp>
      <p:sp>
        <p:nvSpPr>
          <p:cNvPr id="1226544823" name="Text Box 89"/>
          <p:cNvSpPr txBox="1">
            <a:spLocks noChangeArrowheads="1"/>
          </p:cNvSpPr>
          <p:nvPr/>
        </p:nvSpPr>
        <p:spPr bwMode="auto">
          <a:xfrm>
            <a:off x="917574" y="9728199"/>
            <a:ext cx="9598025" cy="12700000"/>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Project Origin and the need for Continuity</a:t>
            </a:r>
            <a:endParaRPr lang="en-US" sz="3600" b="1">
              <a:latin typeface="Arial"/>
              <a:cs typeface="Arial"/>
            </a:endParaRPr>
          </a:p>
          <a:p>
            <a:pPr>
              <a:spcBef>
                <a:spcPts val="0"/>
              </a:spcBef>
              <a:defRPr/>
            </a:pPr>
            <a:r>
              <a:rPr lang="en-US" sz="3200" b="0" i="0" u="none" strike="noStrike" cap="none" spc="0">
                <a:solidFill>
                  <a:schemeClr val="tx1"/>
                </a:solidFill>
                <a:latin typeface="Arial"/>
                <a:ea typeface="Arial"/>
                <a:cs typeface="Arial"/>
              </a:rPr>
              <a:t>This project builds on the work completed by a previous semester’s team, leveraging their strong foundation while ensuring continuity in development. Our team prioritized maintaining the platform’s stability, reliability, and usability, while expanding its functionality. </a:t>
            </a:r>
            <a:endParaRPr sz="3200" b="0" i="0" u="none" strike="noStrike" cap="none" spc="0">
              <a:solidFill>
                <a:schemeClr val="tx1"/>
              </a:solidFill>
              <a:latin typeface="Times New Roman"/>
              <a:cs typeface="Times New Roman"/>
            </a:endParaRPr>
          </a:p>
          <a:p>
            <a:pPr>
              <a:spcBef>
                <a:spcPts val="0"/>
              </a:spcBef>
              <a:defRPr/>
            </a:pPr>
            <a:endParaRPr sz="3200" b="0" i="0" u="none" strike="noStrike" cap="none" spc="0">
              <a:solidFill>
                <a:schemeClr val="tx1"/>
              </a:solidFill>
              <a:latin typeface="Times New Roman"/>
              <a:cs typeface="Times New Roman"/>
            </a:endParaRPr>
          </a:p>
          <a:p>
            <a:pPr>
              <a:spcBef>
                <a:spcPts val="0"/>
              </a:spcBef>
              <a:defRPr/>
            </a:pPr>
            <a:r>
              <a:rPr lang="en-US" sz="3200" b="0" i="0" u="none" strike="noStrike" cap="none" spc="0">
                <a:solidFill>
                  <a:schemeClr val="tx1"/>
                </a:solidFill>
                <a:latin typeface="Arial"/>
                <a:ea typeface="Arial"/>
                <a:cs typeface="Arial"/>
              </a:rPr>
              <a:t>A primary objective of this phase was to implement a robust communication platform identified by the client as being a critical missing component. Although medical care resources exist throughout Middle Tennessee, there remains a significant gap in ongoing patient communication and community support.</a:t>
            </a:r>
            <a:endParaRPr sz="3200" b="0" i="0" u="none" strike="noStrike" cap="none" spc="0">
              <a:solidFill>
                <a:schemeClr val="tx1"/>
              </a:solidFill>
              <a:latin typeface="Times New Roman"/>
              <a:cs typeface="Times New Roman"/>
            </a:endParaRPr>
          </a:p>
          <a:p>
            <a:pPr>
              <a:spcBef>
                <a:spcPts val="0"/>
              </a:spcBef>
              <a:defRPr/>
            </a:pPr>
            <a:endParaRPr sz="3200" b="0" i="0" u="none" strike="noStrike" cap="none" spc="0">
              <a:solidFill>
                <a:schemeClr val="tx1"/>
              </a:solidFill>
              <a:latin typeface="Times New Roman"/>
              <a:cs typeface="Times New Roman"/>
            </a:endParaRPr>
          </a:p>
          <a:p>
            <a:pPr>
              <a:spcBef>
                <a:spcPts val="0"/>
              </a:spcBef>
              <a:defRPr/>
            </a:pPr>
            <a:r>
              <a:rPr lang="en-US" sz="3200" b="0" i="0" u="none" strike="noStrike" cap="none" spc="0">
                <a:solidFill>
                  <a:schemeClr val="tx1"/>
                </a:solidFill>
                <a:latin typeface="Arial"/>
                <a:ea typeface="Arial"/>
                <a:cs typeface="Arial"/>
              </a:rPr>
              <a:t>By introducing a system that enables multiple channels of communication, Field Missions is better equipped to maintain consistent contact with patients, strengthen relationships, and increase its impact with the community. </a:t>
            </a:r>
            <a:endParaRPr sz="3200" b="0" i="0" u="none" strike="noStrike" cap="none" spc="0">
              <a:solidFill>
                <a:schemeClr val="tx1"/>
              </a:solidFill>
              <a:latin typeface="Times New Roman"/>
              <a:cs typeface="Times New Roman"/>
            </a:endParaRPr>
          </a:p>
          <a:p>
            <a:pPr>
              <a:spcBef>
                <a:spcPts val="0"/>
              </a:spcBef>
              <a:defRPr/>
            </a:pPr>
            <a:endParaRPr/>
          </a:p>
          <a:p>
            <a:pPr>
              <a:spcBef>
                <a:spcPts val="0"/>
              </a:spcBef>
              <a:defRPr/>
            </a:pPr>
            <a:endParaRPr lang="en-US" sz="3600" b="1">
              <a:latin typeface="Arial"/>
              <a:cs typeface="Arial"/>
            </a:endParaRPr>
          </a:p>
          <a:p>
            <a:pPr>
              <a:spcBef>
                <a:spcPts val="0"/>
              </a:spcBef>
              <a:defRPr/>
            </a:pPr>
            <a:endParaRPr/>
          </a:p>
        </p:txBody>
      </p:sp>
      <p:sp>
        <p:nvSpPr>
          <p:cNvPr id="886832599" name="Text Box 92"/>
          <p:cNvSpPr txBox="1">
            <a:spLocks noChangeArrowheads="1"/>
          </p:cNvSpPr>
          <p:nvPr/>
        </p:nvSpPr>
        <p:spPr bwMode="auto">
          <a:xfrm>
            <a:off x="914400" y="24053800"/>
            <a:ext cx="9601200" cy="7493000"/>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System Overview </a:t>
            </a:r>
            <a:endParaRPr lang="en-US" sz="3600" b="1">
              <a:latin typeface="Arial"/>
              <a:cs typeface="Arial"/>
            </a:endParaRPr>
          </a:p>
          <a:p>
            <a:pPr>
              <a:spcBef>
                <a:spcPts val="0"/>
              </a:spcBef>
              <a:defRPr/>
            </a:pPr>
            <a:r>
              <a:rPr lang="en-US" sz="3200" b="0">
                <a:latin typeface="Arial"/>
                <a:cs typeface="Arial"/>
              </a:rPr>
              <a:t>The platform supports the core workflow of planning and coordinating community clinic events. It helps connect Field Missions staff, host organizations, and service participants through clearer information flow and organized operational steps. Our approach prioritized stability, practical usability, and maintainability so the system can adapt to changing needs while remaining dependable in real world conditions. This creates a stronger base for both current and future users.</a:t>
            </a:r>
            <a:endParaRPr sz="3200" b="0"/>
          </a:p>
        </p:txBody>
      </p:sp>
      <p:sp>
        <p:nvSpPr>
          <p:cNvPr id="609879162" name="Text Box 96"/>
          <p:cNvSpPr txBox="1">
            <a:spLocks noChangeArrowheads="1"/>
          </p:cNvSpPr>
          <p:nvPr/>
        </p:nvSpPr>
        <p:spPr bwMode="auto">
          <a:xfrm flipH="0" flipV="0">
            <a:off x="11430000" y="3314700"/>
            <a:ext cx="10058399" cy="19811999"/>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Core Features</a:t>
            </a:r>
            <a:endParaRPr/>
          </a:p>
          <a:p>
            <a:pPr lvl="1">
              <a:spcBef>
                <a:spcPts val="0"/>
              </a:spcBef>
              <a:buFontTx/>
              <a:buChar char="•"/>
              <a:defRPr/>
            </a:pPr>
            <a:r>
              <a:rPr lang="en-US" sz="3200" b="1">
                <a:latin typeface="Arial"/>
                <a:cs typeface="Arial"/>
              </a:rPr>
              <a:t>One place for staff to manage outreach: </a:t>
            </a:r>
            <a:r>
              <a:rPr lang="en-US" sz="3200" b="0">
                <a:latin typeface="Arial"/>
                <a:cs typeface="Arial"/>
              </a:rPr>
              <a:t>Admins use a single dashboard to share news and send updates to the community and partners. </a:t>
            </a:r>
            <a:endParaRPr lang="en-US" sz="3200" b="0">
              <a:latin typeface="Arial"/>
              <a:cs typeface="Arial"/>
            </a:endParaRPr>
          </a:p>
          <a:p>
            <a:pPr lvl="1">
              <a:spcBef>
                <a:spcPts val="0"/>
              </a:spcBef>
              <a:buFontTx/>
              <a:buChar char="•"/>
              <a:defRPr/>
            </a:pPr>
            <a:endParaRPr lang="en-US" sz="3200" b="0">
              <a:latin typeface="Arial"/>
              <a:cs typeface="Arial"/>
            </a:endParaRPr>
          </a:p>
          <a:p>
            <a:pPr lvl="1">
              <a:spcBef>
                <a:spcPts val="0"/>
              </a:spcBef>
              <a:buFontTx/>
              <a:buChar char="•"/>
              <a:defRPr/>
            </a:pPr>
            <a:r>
              <a:rPr lang="en-US" sz="3200" b="1">
                <a:latin typeface="Arial"/>
                <a:cs typeface="Arial"/>
              </a:rPr>
              <a:t>Blog: </a:t>
            </a:r>
            <a:r>
              <a:rPr lang="en-US" sz="3200" b="0">
                <a:latin typeface="Arial"/>
                <a:cs typeface="Arial"/>
              </a:rPr>
              <a:t>Write stories or updates with photos, save a draft if it’s not ready, and either publish right away or pick a date and time to go live automatically. </a:t>
            </a:r>
            <a:endParaRPr lang="en-US" sz="3200" b="0">
              <a:latin typeface="Arial"/>
              <a:cs typeface="Arial"/>
            </a:endParaRPr>
          </a:p>
          <a:p>
            <a:pPr lvl="1">
              <a:spcBef>
                <a:spcPts val="0"/>
              </a:spcBef>
              <a:buFontTx/>
              <a:buChar char="•"/>
              <a:defRPr/>
            </a:pPr>
            <a:endParaRPr lang="en-US" sz="3200" b="0">
              <a:latin typeface="Arial"/>
              <a:cs typeface="Arial"/>
            </a:endParaRPr>
          </a:p>
          <a:p>
            <a:pPr lvl="1">
              <a:spcBef>
                <a:spcPts val="0"/>
              </a:spcBef>
              <a:buFontTx/>
              <a:buChar char="•"/>
              <a:defRPr/>
            </a:pPr>
            <a:r>
              <a:rPr lang="en-US" sz="3200" b="1">
                <a:latin typeface="Arial"/>
                <a:cs typeface="Arial"/>
              </a:rPr>
              <a:t>Personal Messages by email: </a:t>
            </a:r>
            <a:r>
              <a:rPr lang="en-US" sz="3200" b="0">
                <a:latin typeface="Arial"/>
                <a:cs typeface="Arial"/>
              </a:rPr>
              <a:t>Send a formatted message to specific people by entering their email addresses. You can send now or schedule it for later as well as save it as a draft. </a:t>
            </a:r>
            <a:endParaRPr lang="en-US" sz="3200" b="0">
              <a:latin typeface="Arial"/>
              <a:cs typeface="Arial"/>
            </a:endParaRPr>
          </a:p>
          <a:p>
            <a:pPr lvl="1">
              <a:spcBef>
                <a:spcPts val="0"/>
              </a:spcBef>
              <a:buFontTx/>
              <a:buChar char="•"/>
              <a:defRPr/>
            </a:pPr>
            <a:endParaRPr lang="en-US" sz="3200" b="0">
              <a:latin typeface="Arial"/>
              <a:cs typeface="Arial"/>
            </a:endParaRPr>
          </a:p>
          <a:p>
            <a:pPr lvl="1">
              <a:spcBef>
                <a:spcPts val="0"/>
              </a:spcBef>
              <a:buFontTx/>
              <a:buChar char="•"/>
              <a:defRPr/>
            </a:pPr>
            <a:r>
              <a:rPr lang="en-US" sz="3200" b="1">
                <a:latin typeface="Arial"/>
                <a:cs typeface="Arial"/>
              </a:rPr>
              <a:t>Broadcast announcements to groups: </a:t>
            </a:r>
            <a:r>
              <a:rPr lang="en-US" sz="3200" b="0">
                <a:latin typeface="Arial"/>
                <a:cs typeface="Arial"/>
              </a:rPr>
              <a:t>Reach broad audiences (volunteers, patients, all users) without having to type every address by hand. </a:t>
            </a:r>
            <a:endParaRPr lang="en-US" sz="3200" b="0">
              <a:latin typeface="Arial"/>
              <a:cs typeface="Arial"/>
            </a:endParaRPr>
          </a:p>
          <a:p>
            <a:pPr lvl="1">
              <a:spcBef>
                <a:spcPts val="0"/>
              </a:spcBef>
              <a:buFontTx/>
              <a:buChar char="•"/>
              <a:defRPr/>
            </a:pPr>
            <a:endParaRPr lang="en-US" sz="3200" b="0">
              <a:latin typeface="Arial"/>
              <a:cs typeface="Arial"/>
            </a:endParaRPr>
          </a:p>
          <a:p>
            <a:pPr lvl="1">
              <a:spcBef>
                <a:spcPts val="0"/>
              </a:spcBef>
              <a:buFontTx/>
              <a:buChar char="•"/>
              <a:defRPr/>
            </a:pPr>
            <a:r>
              <a:rPr lang="en-US" sz="3200" b="1">
                <a:latin typeface="Arial"/>
                <a:cs typeface="Arial"/>
              </a:rPr>
              <a:t>Fine tune who receives what: </a:t>
            </a:r>
            <a:r>
              <a:rPr lang="en-US" sz="3200" b="0">
                <a:latin typeface="Arial"/>
                <a:cs typeface="Arial"/>
              </a:rPr>
              <a:t>Choose who should get an announcement based on how they are connected to Field Missions. See how many people will receive the message and track sent and scheduled emails. </a:t>
            </a:r>
            <a:endParaRPr lang="en-US" sz="3200" b="0">
              <a:latin typeface="Arial"/>
              <a:cs typeface="Arial"/>
            </a:endParaRPr>
          </a:p>
          <a:p>
            <a:pPr lvl="1">
              <a:spcBef>
                <a:spcPts val="0"/>
              </a:spcBef>
              <a:buFontTx/>
              <a:buChar char="•"/>
              <a:defRPr/>
            </a:pPr>
            <a:endParaRPr lang="en-US" sz="3200" b="0">
              <a:latin typeface="Arial"/>
              <a:cs typeface="Arial"/>
            </a:endParaRPr>
          </a:p>
          <a:p>
            <a:pPr lvl="1">
              <a:spcBef>
                <a:spcPts val="0"/>
              </a:spcBef>
              <a:buFontTx/>
              <a:buChar char="•"/>
              <a:defRPr/>
            </a:pPr>
            <a:r>
              <a:rPr lang="en-US" sz="3200" b="1">
                <a:latin typeface="Arial"/>
                <a:cs typeface="Arial"/>
              </a:rPr>
              <a:t>Password resets: </a:t>
            </a:r>
            <a:r>
              <a:rPr lang="en-US" sz="3200" b="0">
                <a:latin typeface="Arial"/>
                <a:cs typeface="Arial"/>
              </a:rPr>
              <a:t>Admin controlled password resets for users when requested or a forgot password tool on login. </a:t>
            </a:r>
            <a:endParaRPr lang="en-US" sz="3200" b="0">
              <a:latin typeface="Arial"/>
              <a:cs typeface="Arial"/>
            </a:endParaRPr>
          </a:p>
          <a:p>
            <a:pPr lvl="1">
              <a:spcBef>
                <a:spcPts val="0"/>
              </a:spcBef>
              <a:buFontTx/>
              <a:buChar char="•"/>
              <a:defRPr/>
            </a:pPr>
            <a:endParaRPr sz="3200" b="0">
              <a:latin typeface="Arial"/>
              <a:cs typeface="Arial"/>
            </a:endParaRPr>
          </a:p>
          <a:p>
            <a:pPr lvl="1">
              <a:spcBef>
                <a:spcPts val="0"/>
              </a:spcBef>
              <a:buFontTx/>
              <a:buChar char="•"/>
              <a:defRPr/>
            </a:pPr>
            <a:r>
              <a:rPr sz="3200" b="1">
                <a:latin typeface="Arial"/>
                <a:cs typeface="Arial"/>
              </a:rPr>
              <a:t>Patient Lookup: </a:t>
            </a:r>
            <a:r>
              <a:rPr sz="3200" b="0">
                <a:latin typeface="Arial"/>
                <a:cs typeface="Arial"/>
              </a:rPr>
              <a:t>Ability to search through all patients registered on the platform for easier look-ups</a:t>
            </a:r>
            <a:endParaRPr sz="3200" b="0">
              <a:latin typeface="Arial"/>
              <a:cs typeface="Arial"/>
            </a:endParaRPr>
          </a:p>
          <a:p>
            <a:pPr lvl="1">
              <a:spcBef>
                <a:spcPts val="0"/>
              </a:spcBef>
              <a:buFontTx/>
              <a:buChar char="•"/>
              <a:defRPr/>
            </a:pPr>
            <a:endParaRPr sz="3200" b="0">
              <a:latin typeface="Arial"/>
              <a:cs typeface="Arial"/>
            </a:endParaRPr>
          </a:p>
          <a:p>
            <a:pPr lvl="1">
              <a:spcBef>
                <a:spcPts val="0"/>
              </a:spcBef>
              <a:buFontTx/>
              <a:buChar char="•"/>
              <a:defRPr/>
            </a:pPr>
            <a:r>
              <a:rPr sz="3200" b="1">
                <a:latin typeface="Arial"/>
                <a:cs typeface="Arial"/>
              </a:rPr>
              <a:t>Event History: </a:t>
            </a:r>
            <a:r>
              <a:rPr sz="3200" b="0">
                <a:latin typeface="Arial"/>
                <a:cs typeface="Arial"/>
              </a:rPr>
              <a:t>Ability to track all past events and find all associated volunteers and patients with their paperwork. </a:t>
            </a:r>
            <a:endParaRPr sz="3200" b="0">
              <a:latin typeface="Arial"/>
              <a:cs typeface="Arial"/>
            </a:endParaRPr>
          </a:p>
          <a:p>
            <a:pPr lvl="1">
              <a:spcBef>
                <a:spcPts val="0"/>
              </a:spcBef>
              <a:buFontTx/>
              <a:buChar char="•"/>
              <a:defRPr/>
            </a:pPr>
            <a:endParaRPr sz="3200" b="0">
              <a:latin typeface="Arial"/>
              <a:cs typeface="Arial"/>
            </a:endParaRPr>
          </a:p>
          <a:p>
            <a:pPr lvl="1">
              <a:spcBef>
                <a:spcPts val="0"/>
              </a:spcBef>
              <a:buFontTx/>
              <a:buChar char="•"/>
              <a:defRPr/>
            </a:pPr>
            <a:r>
              <a:rPr sz="3200" b="1">
                <a:latin typeface="Arial"/>
                <a:cs typeface="Arial"/>
              </a:rPr>
              <a:t>Set Volunteer Limits: </a:t>
            </a:r>
            <a:r>
              <a:rPr sz="3200" b="0">
                <a:latin typeface="Arial"/>
                <a:cs typeface="Arial"/>
              </a:rPr>
              <a:t>When creating or editing events the admin is able to set limits on the number and type of volunteers needed for a specific pop up. </a:t>
            </a:r>
            <a:endParaRPr sz="3200" b="0">
              <a:latin typeface="Arial"/>
              <a:cs typeface="Arial"/>
            </a:endParaRPr>
          </a:p>
          <a:p>
            <a:pPr lvl="1">
              <a:spcBef>
                <a:spcPts val="0"/>
              </a:spcBef>
              <a:buFontTx/>
              <a:buChar char="•"/>
              <a:defRPr/>
            </a:pPr>
            <a:endParaRPr sz="3200" b="0">
              <a:latin typeface="Arial"/>
              <a:cs typeface="Arial"/>
            </a:endParaRPr>
          </a:p>
        </p:txBody>
      </p:sp>
      <p:grpSp>
        <p:nvGrpSpPr>
          <p:cNvPr id="6659100" name="Group 255"/>
          <p:cNvGrpSpPr/>
          <p:nvPr/>
        </p:nvGrpSpPr>
        <p:grpSpPr bwMode="auto">
          <a:xfrm>
            <a:off x="22963187" y="4666130"/>
            <a:ext cx="8990013" cy="7086600"/>
            <a:chOff x="19104" y="2256"/>
            <a:chExt cx="5663" cy="4464"/>
          </a:xfrm>
        </p:grpSpPr>
        <p:pic>
          <p:nvPicPr>
            <p:cNvPr id="17" name="Picture 73" descr="samplefig"/>
            <p:cNvPicPr>
              <a:picLocks noChangeAspect="1" noChangeArrowheads="1"/>
            </p:cNvPicPr>
            <p:nvPr/>
          </p:nvPicPr>
          <p:blipFill rotWithShape="1">
            <a:blip r:embed="rId4">
              <a:extLst>
                <a:ext uri="{96DAC541-7B7A-43D3-8B79-37D633B846F1}">
                  <asvg:svgBlip xmlns:asvg="http://schemas.microsoft.com/office/drawing/2016/SVG/main" r:embed="rId5"/>
                </a:ext>
              </a:extLst>
            </a:blip>
            <a:stretch/>
          </p:blipFill>
          <p:spPr bwMode="auto">
            <a:xfrm>
              <a:off x="19104" y="2256"/>
              <a:ext cx="5663" cy="3987"/>
            </a:xfrm>
            <a:prstGeom prst="rect">
              <a:avLst/>
            </a:prstGeom>
            <a:noFill/>
            <a:ln w="9525">
              <a:solidFill>
                <a:schemeClr val="tx1"/>
              </a:solidFill>
              <a:miter lim="800000"/>
              <a:headEnd/>
              <a:tailEnd/>
            </a:ln>
          </p:spPr>
        </p:pic>
        <p:sp>
          <p:nvSpPr>
            <p:cNvPr id="18" name="Text Box 231"/>
            <p:cNvSpPr txBox="1">
              <a:spLocks noChangeArrowheads="1"/>
            </p:cNvSpPr>
            <p:nvPr/>
          </p:nvSpPr>
          <p:spPr bwMode="auto">
            <a:xfrm>
              <a:off x="19104" y="6383"/>
              <a:ext cx="5663" cy="337"/>
            </a:xfrm>
            <a:prstGeom prst="rect">
              <a:avLst/>
            </a:prstGeom>
            <a:noFill/>
            <a:ln>
              <a:noFill/>
            </a:ln>
            <a:effectLst/>
          </p:spPr>
          <p:txBody>
            <a:bodyPr anchor="ctr" anchorCtr="1"/>
            <a:lstStyle/>
            <a:p>
              <a:pPr algn="ctr">
                <a:spcBef>
                  <a:spcPts val="0"/>
                </a:spcBef>
                <a:defRPr/>
              </a:pPr>
              <a:r>
                <a:rPr lang="en-US" sz="3200">
                  <a:latin typeface="Arial"/>
                  <a:cs typeface="Arial"/>
                </a:rPr>
                <a:t>MATLAB </a:t>
              </a:r>
              <a:r>
                <a:rPr lang="en-US" sz="3200">
                  <a:latin typeface="Arial"/>
                  <a:cs typeface="Arial"/>
                </a:rPr>
                <a:t>Vectorized</a:t>
              </a:r>
              <a:r>
                <a:rPr lang="en-US" sz="3200">
                  <a:latin typeface="Arial"/>
                  <a:cs typeface="Arial"/>
                </a:rPr>
                <a:t> Plot </a:t>
              </a:r>
              <a:r>
                <a:rPr lang="en-US" sz="3200">
                  <a:latin typeface="Arial"/>
                  <a:cs typeface="Arial"/>
                </a:rPr>
                <a:t>(use print –depsc2 </a:t>
              </a:r>
              <a:r>
                <a:rPr lang="en-US" sz="3200">
                  <a:latin typeface="Arial"/>
                  <a:cs typeface="Arial"/>
                </a:rPr>
                <a:t>filename.eps</a:t>
              </a:r>
              <a:r>
                <a:rPr lang="en-US" sz="3200">
                  <a:latin typeface="Arial"/>
                  <a:cs typeface="Arial"/>
                </a:rPr>
                <a:t> to generate)</a:t>
              </a:r>
              <a:endParaRPr/>
            </a:p>
          </p:txBody>
        </p:sp>
      </p:grpSp>
      <p:grpSp>
        <p:nvGrpSpPr>
          <p:cNvPr id="772236323" name="Group 21"/>
          <p:cNvGrpSpPr/>
          <p:nvPr/>
        </p:nvGrpSpPr>
        <p:grpSpPr bwMode="auto">
          <a:xfrm>
            <a:off x="33378775" y="4639301"/>
            <a:ext cx="9601200" cy="3448685"/>
            <a:chOff x="33375601" y="21056600"/>
            <a:chExt cx="9601200" cy="3448685"/>
          </a:xfrm>
        </p:grpSpPr>
        <p:pic>
          <p:nvPicPr>
            <p:cNvPr id="20" name="Picture 19" descr="ttu_logo.png"/>
            <p:cNvPicPr>
              <a:picLocks noChangeAspect="1"/>
            </p:cNvPicPr>
            <p:nvPr/>
          </p:nvPicPr>
          <p:blipFill rotWithShape="1">
            <a:blip r:embed="rId6"/>
            <a:stretch/>
          </p:blipFill>
          <p:spPr bwMode="auto">
            <a:xfrm>
              <a:off x="33375601" y="21056600"/>
              <a:ext cx="9601200" cy="1220962"/>
            </a:xfrm>
            <a:prstGeom prst="rect">
              <a:avLst/>
            </a:prstGeom>
          </p:spPr>
        </p:pic>
        <p:sp>
          <p:nvSpPr>
            <p:cNvPr id="21" name="TextBox 20"/>
            <p:cNvSpPr txBox="1"/>
            <p:nvPr/>
          </p:nvSpPr>
          <p:spPr bwMode="auto">
            <a:xfrm>
              <a:off x="33959802" y="22443182"/>
              <a:ext cx="8432799" cy="2062103"/>
            </a:xfrm>
            <a:prstGeom prst="rect">
              <a:avLst/>
            </a:prstGeom>
            <a:noFill/>
          </p:spPr>
          <p:txBody>
            <a:bodyPr wrap="square" rtlCol="0">
              <a:spAutoFit/>
            </a:bodyPr>
            <a:lstStyle/>
            <a:p>
              <a:pPr>
                <a:defRPr/>
              </a:pPr>
              <a:r>
                <a:rPr lang="en-US" sz="3200">
                  <a:latin typeface="Arial"/>
                  <a:cs typeface="Arial"/>
                </a:rPr>
                <a:t>Logo downloaded from website and scaled up: </a:t>
              </a:r>
              <a:r>
                <a:rPr lang="en-US" sz="3200" b="1">
                  <a:latin typeface="Arial"/>
                  <a:cs typeface="Arial"/>
                </a:rPr>
                <a:t>don’t do this!</a:t>
              </a:r>
              <a:r>
                <a:rPr lang="en-US" sz="3200">
                  <a:latin typeface="Arial"/>
                  <a:cs typeface="Arial"/>
                </a:rPr>
                <a:t> It may look ok on your monitor, but it won’t look good on the real poster.</a:t>
              </a:r>
              <a:endParaRPr lang="en-US" sz="3200">
                <a:latin typeface="Arial"/>
                <a:cs typeface="Arial"/>
              </a:endParaRPr>
            </a:p>
          </p:txBody>
        </p:sp>
      </p:grpSp>
      <p:sp>
        <p:nvSpPr>
          <p:cNvPr id="95701267" name="TextBox 32"/>
          <p:cNvSpPr txBox="1"/>
          <p:nvPr/>
        </p:nvSpPr>
        <p:spPr bwMode="auto">
          <a:xfrm>
            <a:off x="33381950" y="3517887"/>
            <a:ext cx="9598025" cy="646331"/>
          </a:xfrm>
          <a:prstGeom prst="rect">
            <a:avLst/>
          </a:prstGeom>
          <a:noFill/>
        </p:spPr>
        <p:txBody>
          <a:bodyPr wrap="square" rtlCol="0">
            <a:spAutoFit/>
          </a:bodyPr>
          <a:lstStyle/>
          <a:p>
            <a:pPr>
              <a:spcBef>
                <a:spcPts val="0"/>
              </a:spcBef>
              <a:defRPr/>
            </a:pPr>
            <a:r>
              <a:rPr lang="en-US" sz="3600" b="1">
                <a:latin typeface="Arial"/>
                <a:cs typeface="Arial"/>
              </a:rPr>
              <a:t>What Not To Do (With Graphics)</a:t>
            </a:r>
            <a:endParaRPr lang="en-US" sz="3600" b="1">
              <a:latin typeface="Arial"/>
              <a:cs typeface="Arial"/>
            </a:endParaRPr>
          </a:p>
        </p:txBody>
      </p:sp>
      <p:grpSp>
        <p:nvGrpSpPr>
          <p:cNvPr id="1234946199" name="Group 35"/>
          <p:cNvGrpSpPr/>
          <p:nvPr/>
        </p:nvGrpSpPr>
        <p:grpSpPr bwMode="auto">
          <a:xfrm>
            <a:off x="33381950" y="8209431"/>
            <a:ext cx="9594848" cy="10571188"/>
            <a:chOff x="33381950" y="8209431"/>
            <a:chExt cx="9594848" cy="10571188"/>
          </a:xfrm>
        </p:grpSpPr>
        <p:pic>
          <p:nvPicPr>
            <p:cNvPr id="32" name="Picture 31" descr="matlab-figure.jpg"/>
            <p:cNvPicPr>
              <a:picLocks noChangeAspect="1"/>
            </p:cNvPicPr>
            <p:nvPr/>
          </p:nvPicPr>
          <p:blipFill rotWithShape="1">
            <a:blip r:embed="rId7"/>
            <a:stretch/>
          </p:blipFill>
          <p:spPr bwMode="auto">
            <a:xfrm>
              <a:off x="33381950" y="8209431"/>
              <a:ext cx="9594848" cy="7196136"/>
            </a:xfrm>
            <a:prstGeom prst="rect">
              <a:avLst/>
            </a:prstGeom>
          </p:spPr>
        </p:pic>
        <p:sp>
          <p:nvSpPr>
            <p:cNvPr id="34" name="TextBox 33"/>
            <p:cNvSpPr txBox="1"/>
            <p:nvPr/>
          </p:nvSpPr>
          <p:spPr bwMode="auto">
            <a:xfrm>
              <a:off x="33962975" y="15241189"/>
              <a:ext cx="8432799" cy="3539430"/>
            </a:xfrm>
            <a:prstGeom prst="rect">
              <a:avLst/>
            </a:prstGeom>
            <a:noFill/>
          </p:spPr>
          <p:txBody>
            <a:bodyPr wrap="square" rtlCol="0">
              <a:spAutoFit/>
            </a:bodyPr>
            <a:lstStyle/>
            <a:p>
              <a:pPr>
                <a:defRPr/>
              </a:pPr>
              <a:r>
                <a:rPr lang="en-US" sz="3200">
                  <a:latin typeface="Arial"/>
                  <a:cs typeface="Arial"/>
                </a:rPr>
                <a:t>The same thing can happen with screenshots or graphs you make. Use vector formats (EPS, WMF) whenever possible for graphs. For screenshots, use PNG files. Only use JPEG files as a last resort – you’ll end up with graphic artifacts like the light-colored dots near the curve shown above.</a:t>
              </a:r>
              <a:endParaRPr/>
            </a:p>
          </p:txBody>
        </p:sp>
      </p:grpSp>
      <p:grpSp>
        <p:nvGrpSpPr>
          <p:cNvPr id="1780815879" name="Group 37"/>
          <p:cNvGrpSpPr/>
          <p:nvPr/>
        </p:nvGrpSpPr>
        <p:grpSpPr bwMode="auto">
          <a:xfrm>
            <a:off x="22656800" y="13017078"/>
            <a:ext cx="9601200" cy="9936095"/>
            <a:chOff x="33375600" y="19168435"/>
            <a:chExt cx="9601200" cy="9936095"/>
          </a:xfrm>
        </p:grpSpPr>
        <p:pic>
          <p:nvPicPr>
            <p:cNvPr id="35" name="Picture 34" descr="2198734823_98f5e611c8_o.jpg"/>
            <p:cNvPicPr>
              <a:picLocks noChangeAspect="1"/>
            </p:cNvPicPr>
            <p:nvPr/>
          </p:nvPicPr>
          <p:blipFill rotWithShape="1">
            <a:blip r:embed="rId8"/>
            <a:stretch/>
          </p:blipFill>
          <p:spPr bwMode="auto">
            <a:xfrm>
              <a:off x="33375600" y="19168435"/>
              <a:ext cx="9601200" cy="6376917"/>
            </a:xfrm>
            <a:prstGeom prst="rect">
              <a:avLst/>
            </a:prstGeom>
          </p:spPr>
        </p:pic>
        <p:sp>
          <p:nvSpPr>
            <p:cNvPr id="37" name="TextBox 36"/>
            <p:cNvSpPr txBox="1"/>
            <p:nvPr/>
          </p:nvSpPr>
          <p:spPr bwMode="auto">
            <a:xfrm>
              <a:off x="33962975" y="25565100"/>
              <a:ext cx="8432799" cy="3539430"/>
            </a:xfrm>
            <a:prstGeom prst="rect">
              <a:avLst/>
            </a:prstGeom>
            <a:noFill/>
          </p:spPr>
          <p:txBody>
            <a:bodyPr wrap="square" rtlCol="0">
              <a:spAutoFit/>
            </a:bodyPr>
            <a:lstStyle/>
            <a:p>
              <a:pPr>
                <a:defRPr/>
              </a:pPr>
              <a:r>
                <a:rPr lang="en-US" sz="3200">
                  <a:latin typeface="Arial"/>
                  <a:cs typeface="Arial"/>
                </a:rPr>
                <a:t>This 6 megapixel (3216 × 2136 pixels) image is sized to 10.5” × 6.97” on paper. There are approximately 300 pixels in each inch, and this will look good. Making the picture larger on the poster won’t look as good. (CC image courtesy of International Rice Research Institute).</a:t>
              </a:r>
              <a:endParaRPr lang="en-US" sz="3200">
                <a:latin typeface="Arial"/>
                <a:cs typeface="Arial"/>
              </a:endParaRPr>
            </a:p>
          </p:txBody>
        </p:sp>
      </p:grpSp>
      <p:pic>
        <p:nvPicPr>
          <p:cNvPr id="2078181783" name="Picture 38" descr="2198734823_8a198d1707_b.jpg"/>
          <p:cNvPicPr>
            <a:picLocks noChangeAspect="1"/>
          </p:cNvPicPr>
          <p:nvPr/>
        </p:nvPicPr>
        <p:blipFill rotWithShape="1">
          <a:blip r:embed="rId9"/>
          <a:stretch/>
        </p:blipFill>
        <p:spPr bwMode="auto">
          <a:xfrm>
            <a:off x="33381949" y="19105879"/>
            <a:ext cx="9594848" cy="6371578"/>
          </a:xfrm>
          <a:prstGeom prst="rect">
            <a:avLst/>
          </a:prstGeom>
        </p:spPr>
      </p:pic>
      <p:sp>
        <p:nvSpPr>
          <p:cNvPr id="1125326972" name="TextBox 39"/>
          <p:cNvSpPr txBox="1"/>
          <p:nvPr/>
        </p:nvSpPr>
        <p:spPr bwMode="auto">
          <a:xfrm>
            <a:off x="33962975" y="25675265"/>
            <a:ext cx="8432799" cy="2554545"/>
          </a:xfrm>
          <a:prstGeom prst="rect">
            <a:avLst/>
          </a:prstGeom>
          <a:noFill/>
        </p:spPr>
        <p:txBody>
          <a:bodyPr wrap="square" rtlCol="0">
            <a:spAutoFit/>
          </a:bodyPr>
          <a:lstStyle/>
          <a:p>
            <a:pPr>
              <a:defRPr/>
            </a:pPr>
            <a:r>
              <a:rPr lang="en-US" sz="3200">
                <a:latin typeface="Arial"/>
                <a:cs typeface="Arial"/>
              </a:rPr>
              <a:t>This 0.7 megapixel (1024 × 680 pixels) image is sized to 10.5” × 6.97” on paper. There are approximately 100 pixels in each inch, and this doesn’t look as good as the original photo at left.</a:t>
            </a:r>
            <a:endParaRPr lang="en-US" sz="3200">
              <a:latin typeface="Arial"/>
              <a:cs typeface="Arial"/>
            </a:endParaRPr>
          </a:p>
        </p:txBody>
      </p:sp>
      <p:sp>
        <p:nvSpPr>
          <p:cNvPr id="141711951" name="TextBox 40"/>
          <p:cNvSpPr txBox="1"/>
          <p:nvPr/>
        </p:nvSpPr>
        <p:spPr bwMode="auto">
          <a:xfrm>
            <a:off x="22402800" y="3519475"/>
            <a:ext cx="9598025" cy="646331"/>
          </a:xfrm>
          <a:prstGeom prst="rect">
            <a:avLst/>
          </a:prstGeom>
          <a:noFill/>
        </p:spPr>
        <p:txBody>
          <a:bodyPr wrap="square" rtlCol="0">
            <a:spAutoFit/>
          </a:bodyPr>
          <a:lstStyle/>
          <a:p>
            <a:pPr>
              <a:spcBef>
                <a:spcPts val="0"/>
              </a:spcBef>
              <a:defRPr/>
            </a:pPr>
            <a:r>
              <a:rPr lang="en-US" sz="3600" b="1">
                <a:latin typeface="Arial"/>
                <a:cs typeface="Arial"/>
              </a:rPr>
              <a:t>What To Do (With Graphics)</a:t>
            </a:r>
            <a:endParaRPr lang="en-US" sz="3600" b="1">
              <a:latin typeface="Arial"/>
              <a:cs typeface="Arial"/>
            </a:endParaRPr>
          </a:p>
        </p:txBody>
      </p:sp>
      <p:sp>
        <p:nvSpPr>
          <p:cNvPr id="576999685" name="Text Box 92"/>
          <p:cNvSpPr txBox="1">
            <a:spLocks noChangeArrowheads="1"/>
          </p:cNvSpPr>
          <p:nvPr/>
        </p:nvSpPr>
        <p:spPr bwMode="auto">
          <a:xfrm flipH="0" flipV="0">
            <a:off x="11430000" y="24117299"/>
            <a:ext cx="10058399" cy="7429498"/>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Impact</a:t>
            </a:r>
            <a:endParaRPr lang="en-US" sz="3600" b="1">
              <a:latin typeface="Arial"/>
              <a:cs typeface="Arial"/>
            </a:endParaRPr>
          </a:p>
          <a:p>
            <a:pPr>
              <a:spcBef>
                <a:spcPts val="0"/>
              </a:spcBef>
              <a:defRPr/>
            </a:pPr>
            <a:r>
              <a:rPr lang="en-US" sz="3200" b="0">
                <a:latin typeface="Arial"/>
                <a:cs typeface="Arial"/>
              </a:rPr>
              <a:t>Field Missions of Tennessee reaches people where they are, especially in communities with fewer healthcare resources. Stronger digital coordination and clearer communication help clinics run more smothly, reduce confusion about schedules and logistics, and make it easier for participants to stay informed before and after an event. For Field Missions and host partners, the platform reduces the administrative burden, improves consistency across deployments, and supports ongoing relationships with the communities they serve. </a:t>
            </a:r>
            <a:endParaRPr sz="3200" b="0">
              <a:latin typeface="Arial"/>
              <a:cs typeface="Arial"/>
            </a:endParaRPr>
          </a:p>
        </p:txBody>
      </p:sp>
      <p:sp>
        <p:nvSpPr>
          <p:cNvPr id="1905754795" name="Text Box 61"/>
          <p:cNvSpPr txBox="1">
            <a:spLocks noChangeArrowheads="1"/>
          </p:cNvSpPr>
          <p:nvPr/>
        </p:nvSpPr>
        <p:spPr bwMode="auto">
          <a:xfrm>
            <a:off x="917574" y="31546800"/>
            <a:ext cx="42059223" cy="457200"/>
          </a:xfrm>
          <a:prstGeom prst="rect">
            <a:avLst/>
          </a:prstGeom>
          <a:noFill/>
          <a:ln>
            <a:noFill/>
          </a:ln>
          <a:effectLst/>
        </p:spPr>
        <p:txBody>
          <a:bodyPr wrap="square">
            <a:spAutoFit/>
          </a:bodyPr>
          <a:lstStyle/>
          <a:p>
            <a:pPr algn="ctr">
              <a:spcBef>
                <a:spcPts val="0"/>
              </a:spcBef>
              <a:defRPr/>
            </a:pPr>
            <a:r>
              <a:rPr lang="en-US" sz="2400" i="1"/>
              <a:t>Acknowledgments such as state, federal, industry, university, or other support go here.</a:t>
            </a:r>
            <a:endParaRPr/>
          </a:p>
        </p:txBody>
      </p:sp>
      <p:sp>
        <p:nvSpPr>
          <p:cNvPr id="562825542" name=""/>
          <p:cNvSpPr txBox="1"/>
          <p:nvPr/>
        </p:nvSpPr>
        <p:spPr bwMode="auto">
          <a:xfrm rot="0" flipH="0" flipV="0">
            <a:off x="22821899" y="23126699"/>
            <a:ext cx="9391739" cy="795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spcBef>
                <a:spcPts val="0"/>
              </a:spcBef>
              <a:defRPr/>
            </a:pPr>
            <a:r>
              <a:rPr lang="en-US" sz="3600" b="1" i="0" u="none" strike="noStrike" cap="none" spc="0">
                <a:solidFill>
                  <a:schemeClr val="tx1"/>
                </a:solidFill>
                <a:latin typeface="+mn-lt"/>
                <a:ea typeface="+mn-ea"/>
                <a:cs typeface="+mn-cs"/>
              </a:rPr>
              <a:t>Acknowledgments</a:t>
            </a:r>
            <a:endParaRPr sz="3200"/>
          </a:p>
          <a:p>
            <a:pPr>
              <a:spcBef>
                <a:spcPts val="0"/>
              </a:spcBef>
              <a:defRPr/>
            </a:pPr>
            <a:r>
              <a:rPr lang="en-US" sz="3200" b="0" i="0" u="none" strike="noStrike" cap="none" spc="0">
                <a:solidFill>
                  <a:schemeClr val="tx1"/>
                </a:solidFill>
                <a:latin typeface="+mn-lt"/>
                <a:ea typeface="+mn-ea"/>
                <a:cs typeface="+mn-cs"/>
              </a:rPr>
              <a:t>We would like to express our gratitude to our project sponsor, Sam LeFave and Field Missions of Tennessee, for their collaboration, guidance, and commitment to improving community and healthcare services. Their insight into real wold challenges was invaluable in shaping the direction and impact of this project.</a:t>
            </a:r>
            <a:endParaRPr lang="en-US" sz="3200" b="0" i="0" u="none" strike="noStrike" cap="none" spc="0">
              <a:solidFill>
                <a:schemeClr val="tx1"/>
              </a:solidFill>
              <a:latin typeface="Times New Roman"/>
              <a:cs typeface="Times New Roman"/>
            </a:endParaRPr>
          </a:p>
          <a:p>
            <a:pPr>
              <a:spcBef>
                <a:spcPts val="0"/>
              </a:spcBef>
              <a:defRPr/>
            </a:pPr>
            <a:endParaRPr lang="en-US" sz="3200" b="0" i="0" u="none" strike="noStrike" cap="none" spc="0">
              <a:solidFill>
                <a:schemeClr val="tx1"/>
              </a:solidFill>
              <a:latin typeface="Times New Roman"/>
              <a:cs typeface="Times New Roman"/>
            </a:endParaRPr>
          </a:p>
          <a:p>
            <a:pPr>
              <a:spcBef>
                <a:spcPts val="0"/>
              </a:spcBef>
              <a:defRPr/>
            </a:pPr>
            <a:r>
              <a:rPr lang="en-US" sz="3200" b="0" i="0" u="none" strike="noStrike" cap="none" spc="0">
                <a:solidFill>
                  <a:schemeClr val="tx1"/>
                </a:solidFill>
                <a:latin typeface="Calibri"/>
                <a:ea typeface="Arial"/>
                <a:cs typeface="Arial"/>
              </a:rPr>
              <a:t>We would also like to thank our faculty advisor Ben Burchfield for his mentorship, technical guidance, and continued support throughout the development process.   </a:t>
            </a:r>
            <a:endParaRPr sz="3200"/>
          </a:p>
          <a:p>
            <a:pPr>
              <a:spcBef>
                <a:spcPts val="0"/>
              </a:spcBef>
              <a:defRPr/>
            </a:pPr>
            <a:endParaRPr lang="en-US" sz="3200" b="0" i="0" u="none" strike="noStrike" cap="none" spc="0">
              <a:solidFill>
                <a:schemeClr val="tx1"/>
              </a:solidFill>
              <a:latin typeface="Times New Roman"/>
              <a:cs typeface="Times New Roman"/>
            </a:endParaRPr>
          </a:p>
          <a:p>
            <a:pPr>
              <a:spcBef>
                <a:spcPts val="0"/>
              </a:spcBef>
              <a:defRPr/>
            </a:pPr>
            <a:r>
              <a:rPr lang="en-US" sz="3200"/>
              <a:t>We would also like to acknowledge the contributions of the previous development team, whose foundational work made this project possible. </a:t>
            </a:r>
            <a:endParaRPr lang="en-US" sz="3200" b="0" i="0" u="none" strike="noStrike" cap="none" spc="0">
              <a:solidFill>
                <a:schemeClr val="tx1"/>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07403797" name="Picture 1" descr="TECH_Logo_Horizontal_TransparentBkgd_Purple.png"/>
          <p:cNvPicPr>
            <a:picLocks noChangeAspect="1"/>
          </p:cNvPicPr>
          <p:nvPr/>
        </p:nvPicPr>
        <p:blipFill rotWithShape="1">
          <a:blip r:embed="rId3"/>
          <a:stretch/>
        </p:blipFill>
        <p:spPr bwMode="auto">
          <a:xfrm>
            <a:off x="917575" y="0"/>
            <a:ext cx="11987784" cy="4282696"/>
          </a:xfrm>
          <a:prstGeom prst="rect">
            <a:avLst/>
          </a:prstGeom>
        </p:spPr>
      </p:pic>
      <p:sp>
        <p:nvSpPr>
          <p:cNvPr id="1568836222" name="Rectangle 2"/>
          <p:cNvSpPr txBox="1">
            <a:spLocks noChangeArrowheads="1"/>
          </p:cNvSpPr>
          <p:nvPr/>
        </p:nvSpPr>
        <p:spPr bwMode="auto">
          <a:xfrm>
            <a:off x="12902184" y="914400"/>
            <a:ext cx="30074616" cy="2516188"/>
          </a:xfrm>
          <a:prstGeom prst="rect">
            <a:avLst/>
          </a:prstGeom>
          <a:noFill/>
          <a:ln/>
        </p:spPr>
        <p:txBody>
          <a:bodyPr vert="horz" lIns="438912" tIns="219456" rIns="438912" bIns="219456" rtlCol="0" anchor="ctr">
            <a:normAutofit/>
          </a:bodyPr>
          <a:lstStyle>
            <a:lvl1pPr algn="ctr" defTabSz="2194560" rtl="0">
              <a:spcBef>
                <a:spcPts val="0"/>
              </a:spcBef>
              <a:buNone/>
              <a:defRPr sz="21100">
                <a:solidFill>
                  <a:schemeClr val="tx1"/>
                </a:solidFill>
                <a:latin typeface="+mj-lt"/>
                <a:ea typeface="+mj-ea"/>
                <a:cs typeface="+mj-cs"/>
              </a:defRPr>
            </a:lvl1pPr>
          </a:lstStyle>
          <a:p>
            <a:pPr>
              <a:defRPr/>
            </a:pPr>
            <a:r>
              <a:rPr lang="en-US" sz="9600" b="1">
                <a:latin typeface="Arial"/>
                <a:cs typeface="Arial"/>
              </a:rPr>
              <a:t>Making a Poster in PowerPoint 2013 (Windows)</a:t>
            </a:r>
            <a:endParaRPr/>
          </a:p>
          <a:p>
            <a:pPr>
              <a:defRPr/>
            </a:pPr>
            <a:r>
              <a:rPr lang="en-US" sz="3600" b="1">
                <a:latin typeface="Arial"/>
                <a:cs typeface="Arial"/>
              </a:rPr>
              <a:t>Mike Renfro, Center for Manufacturing Research</a:t>
            </a:r>
            <a:endParaRPr lang="en-US" sz="3600" b="1">
              <a:latin typeface="Arial"/>
              <a:cs typeface="Arial"/>
            </a:endParaRPr>
          </a:p>
        </p:txBody>
      </p:sp>
      <p:sp>
        <p:nvSpPr>
          <p:cNvPr id="1447602879" name="Text Box 91"/>
          <p:cNvSpPr txBox="1">
            <a:spLocks noChangeArrowheads="1"/>
          </p:cNvSpPr>
          <p:nvPr/>
        </p:nvSpPr>
        <p:spPr bwMode="auto">
          <a:xfrm>
            <a:off x="917575" y="3429000"/>
            <a:ext cx="9598025" cy="6223000"/>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Goal of This Poster Template</a:t>
            </a:r>
            <a:endParaRPr/>
          </a:p>
          <a:p>
            <a:pPr>
              <a:spcBef>
                <a:spcPts val="0"/>
              </a:spcBef>
              <a:defRPr/>
            </a:pPr>
            <a:r>
              <a:rPr lang="en-US" sz="3200">
                <a:latin typeface="Arial"/>
                <a:cs typeface="Arial"/>
              </a:rPr>
              <a:t>The basic idea with this poster template is to make it easier for TTU faculty, staff, and students to create legible, higher-quality posters, and to avoid the most common mistakes faculty, staff, and students have previously made.</a:t>
            </a:r>
            <a:endParaRPr/>
          </a:p>
          <a:p>
            <a:pPr>
              <a:spcBef>
                <a:spcPts val="0"/>
              </a:spcBef>
              <a:defRPr/>
            </a:pPr>
            <a:r>
              <a:rPr lang="en-US" sz="3200">
                <a:latin typeface="Arial"/>
                <a:cs typeface="Arial"/>
              </a:rPr>
              <a:t>Several templates are available using different page orientations, number of columns, and other layout elements. Select the template most suitable for your purpose, and let us know if there are any problems with them.</a:t>
            </a:r>
            <a:endParaRPr/>
          </a:p>
        </p:txBody>
      </p:sp>
      <p:sp>
        <p:nvSpPr>
          <p:cNvPr id="25889975" name="Text Box 89"/>
          <p:cNvSpPr txBox="1">
            <a:spLocks noChangeArrowheads="1"/>
          </p:cNvSpPr>
          <p:nvPr/>
        </p:nvSpPr>
        <p:spPr bwMode="auto">
          <a:xfrm>
            <a:off x="917575" y="9652000"/>
            <a:ext cx="9598025" cy="12700000"/>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Basic Instructions</a:t>
            </a:r>
            <a:endParaRPr/>
          </a:p>
          <a:p>
            <a:pPr lvl="1">
              <a:spcBef>
                <a:spcPts val="0"/>
              </a:spcBef>
              <a:buFontTx/>
              <a:buChar char="•"/>
              <a:defRPr/>
            </a:pPr>
            <a:r>
              <a:rPr lang="en-US" sz="3200">
                <a:latin typeface="Arial"/>
                <a:cs typeface="Arial"/>
              </a:rPr>
              <a:t>Do not modify font sizes or the positions of standard poster elements (titles, authors, acknowledgments, etc.)</a:t>
            </a:r>
            <a:endParaRPr/>
          </a:p>
          <a:p>
            <a:pPr lvl="1">
              <a:spcBef>
                <a:spcPts val="0"/>
              </a:spcBef>
              <a:buFontTx/>
              <a:buChar char="•"/>
              <a:defRPr/>
            </a:pPr>
            <a:r>
              <a:rPr lang="en-US" sz="3200">
                <a:latin typeface="Arial"/>
                <a:cs typeface="Arial"/>
              </a:rPr>
              <a:t>Copy and paste this text box if you need a bulleted list, or the previous text box if you need paragraph text.</a:t>
            </a:r>
            <a:endParaRPr/>
          </a:p>
          <a:p>
            <a:pPr lvl="1">
              <a:spcBef>
                <a:spcPts val="0"/>
              </a:spcBef>
              <a:buFontTx/>
              <a:buChar char="•"/>
              <a:defRPr/>
            </a:pPr>
            <a:r>
              <a:rPr lang="en-US" sz="3200">
                <a:latin typeface="Arial"/>
                <a:cs typeface="Arial"/>
              </a:rPr>
              <a:t>Don’t mix </a:t>
            </a:r>
            <a:r>
              <a:rPr lang="en-US" sz="3200">
                <a:latin typeface="Arial"/>
                <a:cs typeface="Arial"/>
              </a:rPr>
              <a:t>bulleted text and paragraph text in a single text box. PowerPoint </a:t>
            </a:r>
            <a:r>
              <a:rPr lang="en-US" sz="3200">
                <a:latin typeface="Arial"/>
                <a:cs typeface="Arial"/>
              </a:rPr>
              <a:t>doesn</a:t>
            </a:r>
            <a:r>
              <a:rPr lang="ja-JP" sz="3200">
                <a:latin typeface="Arial"/>
                <a:cs typeface="Arial"/>
              </a:rPr>
              <a:t>’</a:t>
            </a:r>
            <a:r>
              <a:rPr lang="en-US" sz="3200">
                <a:latin typeface="Arial"/>
                <a:cs typeface="Arial"/>
              </a:rPr>
              <a:t>t handle mixed text formats very well.</a:t>
            </a:r>
            <a:endParaRPr/>
          </a:p>
          <a:p>
            <a:pPr lvl="1">
              <a:spcBef>
                <a:spcPts val="0"/>
              </a:spcBef>
              <a:buFontTx/>
              <a:buChar char="•"/>
              <a:defRPr/>
            </a:pPr>
            <a:r>
              <a:rPr lang="en-US" sz="3200">
                <a:latin typeface="Arial"/>
                <a:cs typeface="Arial"/>
              </a:rPr>
              <a:t>Don</a:t>
            </a:r>
            <a:r>
              <a:rPr lang="ja-JP" sz="3200">
                <a:latin typeface="Arial"/>
                <a:cs typeface="Arial"/>
              </a:rPr>
              <a:t>’</a:t>
            </a:r>
            <a:r>
              <a:rPr lang="en-US" sz="3200">
                <a:latin typeface="Arial"/>
                <a:cs typeface="Arial"/>
              </a:rPr>
              <a:t>t go nuts with drop shadows, 3D effects, or other poster noise. Focus on the clarity of your message.</a:t>
            </a:r>
            <a:endParaRPr/>
          </a:p>
          <a:p>
            <a:pPr lvl="1">
              <a:spcBef>
                <a:spcPts val="0"/>
              </a:spcBef>
              <a:buFontTx/>
              <a:buChar char="•"/>
              <a:defRPr/>
            </a:pPr>
            <a:r>
              <a:rPr lang="en-US" sz="3200" b="1">
                <a:latin typeface="Arial"/>
                <a:cs typeface="Arial"/>
              </a:rPr>
              <a:t>Don</a:t>
            </a:r>
            <a:r>
              <a:rPr lang="ja-JP" sz="3200" b="1">
                <a:latin typeface="Arial"/>
                <a:cs typeface="Arial"/>
              </a:rPr>
              <a:t>’</a:t>
            </a:r>
            <a:r>
              <a:rPr lang="en-US" sz="3200" b="1">
                <a:latin typeface="Arial"/>
                <a:cs typeface="Arial"/>
              </a:rPr>
              <a:t>t use Insert / Object</a:t>
            </a:r>
            <a:r>
              <a:rPr lang="en-US" sz="3200">
                <a:latin typeface="Arial"/>
                <a:cs typeface="Arial"/>
              </a:rPr>
              <a:t> to include content. This bloats up the poster file, and is likely to not work on other systems. Use </a:t>
            </a:r>
            <a:r>
              <a:rPr lang="en-US" sz="3200" b="1">
                <a:latin typeface="Arial"/>
                <a:cs typeface="Arial"/>
              </a:rPr>
              <a:t>Insert / </a:t>
            </a:r>
            <a:r>
              <a:rPr lang="en-US" sz="3200" b="1">
                <a:latin typeface="Arial"/>
                <a:cs typeface="Arial"/>
              </a:rPr>
              <a:t>Picture </a:t>
            </a:r>
            <a:r>
              <a:rPr lang="en-US" sz="3200">
                <a:latin typeface="Arial"/>
                <a:cs typeface="Arial"/>
              </a:rPr>
              <a:t>to </a:t>
            </a:r>
            <a:r>
              <a:rPr lang="en-US" sz="3200">
                <a:latin typeface="Arial"/>
                <a:cs typeface="Arial"/>
              </a:rPr>
              <a:t>include outside graphics.</a:t>
            </a:r>
            <a:endParaRPr/>
          </a:p>
          <a:p>
            <a:pPr lvl="1">
              <a:spcBef>
                <a:spcPts val="0"/>
              </a:spcBef>
              <a:buFontTx/>
              <a:buChar char="•"/>
              <a:defRPr/>
            </a:pPr>
            <a:r>
              <a:rPr lang="en-US" sz="3200">
                <a:latin typeface="Arial"/>
                <a:cs typeface="Arial"/>
              </a:rPr>
              <a:t>Copy and paste the equation below if you need a readable equation, and keep in mind that your audience might not be that interested in the details of the equations rather than the basics of the research.</a:t>
            </a:r>
            <a:endParaRPr/>
          </a:p>
        </p:txBody>
      </p:sp>
      <p:graphicFrame>
        <p:nvGraphicFramePr>
          <p:cNvPr id="245300266" name="Object 88"/>
          <p:cNvGraphicFramePr>
            <a:graphicFrameLocks xmlns:a="http://schemas.openxmlformats.org/drawingml/2006/main" noChangeAspect="1"/>
          </p:cNvGraphicFramePr>
          <p:nvPr/>
        </p:nvGraphicFramePr>
        <p:xfrm>
          <a:off x="3403600" y="22352000"/>
          <a:ext cx="4570413" cy="1187450"/>
        </p:xfrm>
        <a:graphic>
          <a:graphicData uri="http://schemas.openxmlformats.org/presentationml/2006/ole">
            <p:oleObj name="oleObj" r:id="rId5" imgW="1612265" imgH="418465" progId="Equation.3">
              <p:embed/>
              <p:pic>
                <p:nvPicPr>
                  <p:cNvPr id="245300266" name="Object 88"/>
                  <p:cNvPicPr/>
                  <p:nvPr/>
                </p:nvPicPr>
                <p:blipFill rotWithShape="1">
                  <a:blip r:embed="rId4"/>
                  <a:stretch/>
                </p:blipFill>
                <p:spPr bwMode="auto">
                  <a:xfrm>
                    <a:off x="3403600" y="22352000"/>
                    <a:ext cx="4570413" cy="1187450"/>
                  </a:xfrm>
                  <a:prstGeom prst="rect">
                    <a:avLst/>
                  </a:prstGeom>
                </p:spPr>
              </p:pic>
            </p:oleObj>
          </a:graphicData>
        </a:graphic>
      </p:graphicFrame>
      <p:sp>
        <p:nvSpPr>
          <p:cNvPr id="1018792235" name="Text Box 92"/>
          <p:cNvSpPr txBox="1">
            <a:spLocks noChangeArrowheads="1"/>
          </p:cNvSpPr>
          <p:nvPr/>
        </p:nvSpPr>
        <p:spPr bwMode="auto">
          <a:xfrm>
            <a:off x="914400" y="24053800"/>
            <a:ext cx="9601200" cy="7493000"/>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Advanced Layout Instructions</a:t>
            </a:r>
            <a:endParaRPr/>
          </a:p>
          <a:p>
            <a:pPr lvl="1">
              <a:spcBef>
                <a:spcPts val="0"/>
              </a:spcBef>
              <a:buFontTx/>
              <a:buChar char="•"/>
              <a:defRPr/>
            </a:pPr>
            <a:r>
              <a:rPr lang="en-US" sz="3200">
                <a:latin typeface="Arial"/>
                <a:cs typeface="Arial"/>
              </a:rPr>
              <a:t>PowerPoint has </a:t>
            </a:r>
            <a:r>
              <a:rPr lang="en-US" sz="3200">
                <a:latin typeface="Arial"/>
                <a:cs typeface="Arial"/>
              </a:rPr>
              <a:t>the basic tools required to properly align and space out text boxes, equations, figures, and any other poster elements. You</a:t>
            </a:r>
            <a:r>
              <a:rPr lang="ja-JP" sz="3200">
                <a:latin typeface="Arial"/>
                <a:cs typeface="Arial"/>
              </a:rPr>
              <a:t>’</a:t>
            </a:r>
            <a:r>
              <a:rPr lang="en-US" sz="3200">
                <a:latin typeface="Arial"/>
                <a:cs typeface="Arial"/>
              </a:rPr>
              <a:t>ll</a:t>
            </a:r>
            <a:r>
              <a:rPr lang="en-US" sz="3200">
                <a:latin typeface="Arial"/>
                <a:cs typeface="Arial"/>
              </a:rPr>
              <a:t> find these tools in the </a:t>
            </a:r>
            <a:r>
              <a:rPr lang="en-US" sz="3200" b="1">
                <a:latin typeface="Arial"/>
                <a:cs typeface="Arial"/>
              </a:rPr>
              <a:t>Arrange / </a:t>
            </a:r>
            <a:r>
              <a:rPr lang="en-US" sz="3200" b="1">
                <a:latin typeface="Arial"/>
                <a:cs typeface="Arial"/>
              </a:rPr>
              <a:t>Group</a:t>
            </a:r>
            <a:r>
              <a:rPr lang="en-US" sz="3200">
                <a:latin typeface="Arial"/>
                <a:cs typeface="Arial"/>
              </a:rPr>
              <a:t> and </a:t>
            </a:r>
            <a:r>
              <a:rPr lang="en-US" sz="3200" b="1">
                <a:latin typeface="Arial"/>
                <a:cs typeface="Arial"/>
              </a:rPr>
              <a:t>Arrange / Align </a:t>
            </a:r>
            <a:r>
              <a:rPr lang="en-US" sz="3200">
                <a:latin typeface="Arial"/>
                <a:cs typeface="Arial"/>
              </a:rPr>
              <a:t>menus on the Home tab. Use</a:t>
            </a:r>
            <a:r>
              <a:rPr lang="en-US" sz="3200">
                <a:latin typeface="Arial"/>
                <a:cs typeface="Arial"/>
              </a:rPr>
              <a:t> </a:t>
            </a:r>
            <a:r>
              <a:rPr lang="en-US" sz="3200">
                <a:latin typeface="Arial"/>
                <a:cs typeface="Arial"/>
              </a:rPr>
              <a:t>them </a:t>
            </a:r>
            <a:r>
              <a:rPr lang="en-US" sz="3200">
                <a:latin typeface="Arial"/>
                <a:cs typeface="Arial"/>
              </a:rPr>
              <a:t>rather than </a:t>
            </a:r>
            <a:r>
              <a:rPr lang="ja-JP" sz="3200">
                <a:latin typeface="Arial"/>
                <a:cs typeface="Arial"/>
              </a:rPr>
              <a:t>“</a:t>
            </a:r>
            <a:r>
              <a:rPr lang="en-US" sz="3200">
                <a:latin typeface="Arial"/>
                <a:cs typeface="Arial"/>
              </a:rPr>
              <a:t>eyeballing</a:t>
            </a:r>
            <a:r>
              <a:rPr lang="ja-JP" sz="3200">
                <a:latin typeface="Arial"/>
                <a:cs typeface="Arial"/>
              </a:rPr>
              <a:t>”</a:t>
            </a:r>
            <a:r>
              <a:rPr lang="en-US" sz="3200">
                <a:latin typeface="Arial"/>
                <a:cs typeface="Arial"/>
              </a:rPr>
              <a:t> positions</a:t>
            </a:r>
            <a:r>
              <a:rPr lang="en-US" sz="3200">
                <a:latin typeface="Arial"/>
                <a:cs typeface="Arial"/>
              </a:rPr>
              <a:t>.</a:t>
            </a:r>
            <a:endParaRPr/>
          </a:p>
          <a:p>
            <a:pPr lvl="1">
              <a:spcBef>
                <a:spcPts val="0"/>
              </a:spcBef>
              <a:buFontTx/>
              <a:buChar char="•"/>
              <a:defRPr/>
            </a:pPr>
            <a:r>
              <a:rPr lang="en-US" sz="3200">
                <a:latin typeface="Arial"/>
                <a:cs typeface="Arial"/>
              </a:rPr>
              <a:t>This particular template has a four-column layout suitable for a 36” × 48” tri-fold board, with 1” margins and 1” between each column. Central columns are 11” wide, and outer columns are 10.5” wide</a:t>
            </a:r>
            <a:r>
              <a:rPr lang="en-US" sz="3200">
                <a:latin typeface="Arial"/>
                <a:cs typeface="Arial"/>
              </a:rPr>
              <a:t>.</a:t>
            </a:r>
            <a:endParaRPr lang="en-US" sz="3200">
              <a:latin typeface="Arial"/>
              <a:cs typeface="Arial"/>
            </a:endParaRPr>
          </a:p>
        </p:txBody>
      </p:sp>
      <p:sp>
        <p:nvSpPr>
          <p:cNvPr id="60501728" name="Text Box 92"/>
          <p:cNvSpPr txBox="1">
            <a:spLocks noChangeArrowheads="1"/>
          </p:cNvSpPr>
          <p:nvPr/>
        </p:nvSpPr>
        <p:spPr bwMode="auto">
          <a:xfrm>
            <a:off x="11430000" y="3430588"/>
            <a:ext cx="10058400" cy="3131923"/>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lvl="1">
              <a:spcBef>
                <a:spcPts val="0"/>
              </a:spcBef>
              <a:buFontTx/>
              <a:buChar char="•"/>
              <a:defRPr/>
            </a:pPr>
            <a:r>
              <a:rPr lang="en-US" sz="3200">
                <a:latin typeface="Arial"/>
                <a:cs typeface="Arial"/>
              </a:rPr>
              <a:t>Guidelines </a:t>
            </a:r>
            <a:r>
              <a:rPr lang="en-US" sz="3200">
                <a:latin typeface="Arial"/>
                <a:cs typeface="Arial"/>
              </a:rPr>
              <a:t>have been placed at the </a:t>
            </a:r>
            <a:r>
              <a:rPr lang="en-US" sz="3200">
                <a:latin typeface="Arial"/>
                <a:cs typeface="Arial"/>
              </a:rPr>
              <a:t>margins of </a:t>
            </a:r>
            <a:r>
              <a:rPr lang="en-US" sz="3200">
                <a:latin typeface="Arial"/>
                <a:cs typeface="Arial"/>
              </a:rPr>
              <a:t>each </a:t>
            </a:r>
            <a:r>
              <a:rPr lang="en-US" sz="3200">
                <a:latin typeface="Arial"/>
                <a:cs typeface="Arial"/>
              </a:rPr>
              <a:t>of the columns. </a:t>
            </a:r>
            <a:r>
              <a:rPr lang="en-US" sz="3200">
                <a:latin typeface="Arial"/>
                <a:cs typeface="Arial"/>
              </a:rPr>
              <a:t>Use </a:t>
            </a:r>
            <a:r>
              <a:rPr lang="en-US" sz="3200">
                <a:latin typeface="Arial"/>
                <a:cs typeface="Arial"/>
              </a:rPr>
              <a:t>them to </a:t>
            </a:r>
            <a:r>
              <a:rPr lang="en-US" sz="3200">
                <a:latin typeface="Arial"/>
                <a:cs typeface="Arial"/>
              </a:rPr>
              <a:t>quickly position objects in a column.</a:t>
            </a:r>
            <a:endParaRPr/>
          </a:p>
          <a:p>
            <a:pPr lvl="1">
              <a:spcBef>
                <a:spcPts val="0"/>
              </a:spcBef>
              <a:buFontTx/>
              <a:buChar char="•"/>
              <a:defRPr/>
            </a:pPr>
            <a:r>
              <a:rPr lang="en-US" sz="3200">
                <a:latin typeface="Arial"/>
                <a:cs typeface="Arial"/>
              </a:rPr>
              <a:t>Keep </a:t>
            </a:r>
            <a:r>
              <a:rPr lang="en-US" sz="3200">
                <a:latin typeface="Arial"/>
                <a:cs typeface="Arial"/>
              </a:rPr>
              <a:t>your text boxes </a:t>
            </a:r>
            <a:r>
              <a:rPr lang="en-US" sz="3200">
                <a:latin typeface="Arial"/>
                <a:cs typeface="Arial"/>
              </a:rPr>
              <a:t>10.5 or 11 inches </a:t>
            </a:r>
            <a:r>
              <a:rPr lang="en-US" sz="3200">
                <a:latin typeface="Arial"/>
                <a:cs typeface="Arial"/>
              </a:rPr>
              <a:t>wide to ensure that they fill up the entire column.</a:t>
            </a:r>
            <a:endParaRPr/>
          </a:p>
        </p:txBody>
      </p:sp>
      <p:sp>
        <p:nvSpPr>
          <p:cNvPr id="1095133344" name="Text Box 96"/>
          <p:cNvSpPr txBox="1">
            <a:spLocks noChangeArrowheads="1"/>
          </p:cNvSpPr>
          <p:nvPr/>
        </p:nvSpPr>
        <p:spPr bwMode="auto">
          <a:xfrm>
            <a:off x="11430000" y="6475230"/>
            <a:ext cx="10058400" cy="16230600"/>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Advanced Figures/Graphics Instructions</a:t>
            </a:r>
            <a:endParaRPr/>
          </a:p>
          <a:p>
            <a:pPr lvl="1">
              <a:spcBef>
                <a:spcPts val="0"/>
              </a:spcBef>
              <a:buFontTx/>
              <a:buChar char="•"/>
              <a:defRPr/>
            </a:pPr>
            <a:r>
              <a:rPr lang="en-US" sz="3200">
                <a:latin typeface="Arial"/>
                <a:cs typeface="Arial"/>
              </a:rPr>
              <a:t>Use vector graphics formats (preferably EPS or WMF) rather than raster graphics formats (PNG, JPG, BMP, etc.) when inserting charts or other non-photographic figures.</a:t>
            </a:r>
            <a:endParaRPr/>
          </a:p>
          <a:p>
            <a:pPr lvl="1">
              <a:spcBef>
                <a:spcPts val="0"/>
              </a:spcBef>
              <a:buFontTx/>
              <a:buChar char="•"/>
              <a:defRPr/>
            </a:pPr>
            <a:r>
              <a:rPr lang="en-US" sz="3200">
                <a:latin typeface="Arial"/>
                <a:cs typeface="Arial"/>
              </a:rPr>
              <a:t>Keep your figures to </a:t>
            </a:r>
            <a:r>
              <a:rPr lang="en-US" sz="3200">
                <a:latin typeface="Arial"/>
                <a:cs typeface="Arial"/>
              </a:rPr>
              <a:t>10.5 inches </a:t>
            </a:r>
            <a:r>
              <a:rPr lang="en-US" sz="3200">
                <a:latin typeface="Arial"/>
                <a:cs typeface="Arial"/>
              </a:rPr>
              <a:t>wide or smaller to avoid them crossing over more than one column.</a:t>
            </a:r>
            <a:endParaRPr/>
          </a:p>
          <a:p>
            <a:pPr lvl="1">
              <a:spcBef>
                <a:spcPts val="0"/>
              </a:spcBef>
              <a:buFontTx/>
              <a:buChar char="•"/>
              <a:defRPr/>
            </a:pPr>
            <a:r>
              <a:rPr lang="en-US" sz="3200">
                <a:latin typeface="Arial"/>
                <a:cs typeface="Arial"/>
              </a:rPr>
              <a:t>Be careful with digital camera photos: a 3.2 megapixel image should be sized no larger than 6.82x5.12 inches on the poster to avoid loss of image quality. Clip art or images found on web pages are generally much too low-resolution to be useful. Remember that your monitor probably has a resolution of 100 pixels per inch, while the oldest plotters on campus have resolutions of 300 pixels per inch. There</a:t>
            </a:r>
            <a:r>
              <a:rPr lang="ja-JP" sz="3200">
                <a:latin typeface="Arial"/>
                <a:cs typeface="Arial"/>
              </a:rPr>
              <a:t>’</a:t>
            </a:r>
            <a:r>
              <a:rPr lang="en-US" sz="3200">
                <a:latin typeface="Arial"/>
                <a:cs typeface="Arial"/>
              </a:rPr>
              <a:t>s nothing inherently wrong with increasing the size of the picture if you need to, just realize that if you increase it too much, then the image quality will suffer.</a:t>
            </a:r>
            <a:endParaRPr/>
          </a:p>
          <a:p>
            <a:pPr lvl="1">
              <a:spcBef>
                <a:spcPts val="0"/>
              </a:spcBef>
              <a:buFontTx/>
              <a:buChar char="•"/>
              <a:defRPr/>
            </a:pPr>
            <a:r>
              <a:rPr lang="en-US" sz="3200">
                <a:latin typeface="Arial"/>
                <a:cs typeface="Arial"/>
              </a:rPr>
              <a:t>If you need a caption on a figure, insert a text box below the figure, resize the text box to no wider than </a:t>
            </a:r>
            <a:r>
              <a:rPr lang="en-US" sz="3200">
                <a:latin typeface="Arial"/>
                <a:cs typeface="Arial"/>
              </a:rPr>
              <a:t>the column width, </a:t>
            </a:r>
            <a:r>
              <a:rPr lang="en-US" sz="3200">
                <a:latin typeface="Arial"/>
                <a:cs typeface="Arial"/>
              </a:rPr>
              <a:t>and use </a:t>
            </a:r>
            <a:r>
              <a:rPr lang="en-US" sz="3200">
                <a:latin typeface="Arial"/>
                <a:cs typeface="Arial"/>
              </a:rPr>
              <a:t>PowerPoint’s </a:t>
            </a:r>
            <a:r>
              <a:rPr lang="en-US" sz="3200" b="1">
                <a:latin typeface="Arial"/>
                <a:cs typeface="Arial"/>
              </a:rPr>
              <a:t>Arrange / </a:t>
            </a:r>
            <a:r>
              <a:rPr lang="en-US" sz="3200" b="1">
                <a:latin typeface="Arial"/>
                <a:cs typeface="Arial"/>
              </a:rPr>
              <a:t>Align </a:t>
            </a:r>
            <a:r>
              <a:rPr lang="en-US" sz="3200" b="1">
                <a:latin typeface="Arial"/>
                <a:cs typeface="Arial"/>
              </a:rPr>
              <a:t>/ </a:t>
            </a:r>
            <a:r>
              <a:rPr lang="en-US" sz="3200" b="1">
                <a:latin typeface="Arial"/>
                <a:cs typeface="Arial"/>
              </a:rPr>
              <a:t>Align Center</a:t>
            </a:r>
            <a:r>
              <a:rPr lang="en-US" sz="3200">
                <a:latin typeface="Arial"/>
                <a:cs typeface="Arial"/>
              </a:rPr>
              <a:t> menu </a:t>
            </a:r>
            <a:r>
              <a:rPr lang="en-US" sz="3200">
                <a:latin typeface="Arial"/>
                <a:cs typeface="Arial"/>
              </a:rPr>
              <a:t>on the Home tab to </a:t>
            </a:r>
            <a:r>
              <a:rPr lang="en-US" sz="3200">
                <a:latin typeface="Arial"/>
                <a:cs typeface="Arial"/>
              </a:rPr>
              <a:t>ensure that the caption is centered under the image. Then use the </a:t>
            </a:r>
            <a:r>
              <a:rPr lang="en-US" sz="3200" b="1">
                <a:latin typeface="Arial"/>
                <a:cs typeface="Arial"/>
              </a:rPr>
              <a:t>Arrange / </a:t>
            </a:r>
            <a:r>
              <a:rPr lang="en-US" sz="3200" b="1">
                <a:latin typeface="Arial"/>
                <a:cs typeface="Arial"/>
              </a:rPr>
              <a:t>Group</a:t>
            </a:r>
            <a:r>
              <a:rPr lang="en-US" sz="3200">
                <a:latin typeface="Arial"/>
                <a:cs typeface="Arial"/>
              </a:rPr>
              <a:t> menu to treat the figure and caption as a single entity. All the captions on this sample poster were created this way, and you can use them as examples if needed.</a:t>
            </a:r>
            <a:endParaRPr lang="en-US" sz="3200" b="1">
              <a:latin typeface="Arial"/>
              <a:cs typeface="Arial"/>
            </a:endParaRPr>
          </a:p>
        </p:txBody>
      </p:sp>
      <p:grpSp>
        <p:nvGrpSpPr>
          <p:cNvPr id="200490300" name="Group 255"/>
          <p:cNvGrpSpPr/>
          <p:nvPr/>
        </p:nvGrpSpPr>
        <p:grpSpPr bwMode="auto">
          <a:xfrm>
            <a:off x="22963187" y="4666130"/>
            <a:ext cx="8990013" cy="7086600"/>
            <a:chOff x="19104" y="2256"/>
            <a:chExt cx="5663" cy="4464"/>
          </a:xfrm>
        </p:grpSpPr>
        <p:pic>
          <p:nvPicPr>
            <p:cNvPr id="17" name="Picture 73" descr="samplefig"/>
            <p:cNvPicPr>
              <a:picLocks noChangeAspect="1" noChangeArrowheads="1"/>
            </p:cNvPicPr>
            <p:nvPr/>
          </p:nvPicPr>
          <p:blipFill rotWithShape="1">
            <a:blip r:embed="rId6"/>
            <a:stretch/>
          </p:blipFill>
          <p:spPr bwMode="auto">
            <a:xfrm>
              <a:off x="19104" y="2256"/>
              <a:ext cx="5663" cy="3987"/>
            </a:xfrm>
            <a:prstGeom prst="rect">
              <a:avLst/>
            </a:prstGeom>
            <a:noFill/>
            <a:ln w="9525">
              <a:solidFill>
                <a:schemeClr val="tx1"/>
              </a:solidFill>
              <a:miter lim="800000"/>
              <a:headEnd/>
              <a:tailEnd/>
            </a:ln>
          </p:spPr>
        </p:pic>
        <p:sp>
          <p:nvSpPr>
            <p:cNvPr id="18" name="Text Box 231"/>
            <p:cNvSpPr txBox="1">
              <a:spLocks noChangeArrowheads="1"/>
            </p:cNvSpPr>
            <p:nvPr/>
          </p:nvSpPr>
          <p:spPr bwMode="auto">
            <a:xfrm>
              <a:off x="19104" y="6383"/>
              <a:ext cx="5663" cy="337"/>
            </a:xfrm>
            <a:prstGeom prst="rect">
              <a:avLst/>
            </a:prstGeom>
            <a:noFill/>
            <a:ln>
              <a:noFill/>
            </a:ln>
            <a:effectLst/>
          </p:spPr>
          <p:txBody>
            <a:bodyPr anchor="ctr" anchorCtr="1"/>
            <a:lstStyle/>
            <a:p>
              <a:pPr algn="ctr">
                <a:spcBef>
                  <a:spcPts val="0"/>
                </a:spcBef>
                <a:defRPr/>
              </a:pPr>
              <a:r>
                <a:rPr lang="en-US" sz="3200">
                  <a:latin typeface="Arial"/>
                  <a:cs typeface="Arial"/>
                </a:rPr>
                <a:t>MATLAB </a:t>
              </a:r>
              <a:r>
                <a:rPr lang="en-US" sz="3200">
                  <a:latin typeface="Arial"/>
                  <a:cs typeface="Arial"/>
                </a:rPr>
                <a:t>Vectorized</a:t>
              </a:r>
              <a:r>
                <a:rPr lang="en-US" sz="3200">
                  <a:latin typeface="Arial"/>
                  <a:cs typeface="Arial"/>
                </a:rPr>
                <a:t> Plot </a:t>
              </a:r>
              <a:r>
                <a:rPr lang="en-US" sz="3200">
                  <a:latin typeface="Arial"/>
                  <a:cs typeface="Arial"/>
                </a:rPr>
                <a:t>(use print –depsc2 </a:t>
              </a:r>
              <a:r>
                <a:rPr lang="en-US" sz="3200">
                  <a:latin typeface="Arial"/>
                  <a:cs typeface="Arial"/>
                </a:rPr>
                <a:t>filename.eps</a:t>
              </a:r>
              <a:r>
                <a:rPr lang="en-US" sz="3200">
                  <a:latin typeface="Arial"/>
                  <a:cs typeface="Arial"/>
                </a:rPr>
                <a:t> to generate)</a:t>
              </a:r>
              <a:endParaRPr/>
            </a:p>
          </p:txBody>
        </p:sp>
      </p:grpSp>
      <p:graphicFrame>
        <p:nvGraphicFramePr>
          <p:cNvPr id="1863708173" name="Group 248"/>
          <p:cNvGraphicFramePr>
            <a:graphicFrameLocks xmlns:a="http://schemas.openxmlformats.org/drawingml/2006/main" noGrp="1"/>
          </p:cNvGraphicFramePr>
          <p:nvPr/>
        </p:nvGraphicFramePr>
        <p:xfrm rot="0">
          <a:off x="22402800" y="27715464"/>
          <a:ext cx="10058401" cy="3831336"/>
        </p:xfrm>
        <a:graphic>
          <a:graphicData uri="http://schemas.openxmlformats.org/drawingml/2006/table">
            <a:tbl>
              <a:tblPr firstRow="0" firstCol="0" lastRow="0" lastCol="0" bandRow="0" bandCol="0"/>
              <a:tblGrid>
                <a:gridCol w="2802113"/>
                <a:gridCol w="2561306"/>
                <a:gridCol w="2255696"/>
                <a:gridCol w="2439286"/>
              </a:tblGrid>
              <a:tr h="666750">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Sample</a:t>
                      </a:r>
                      <a:endParaRPr/>
                    </a:p>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Number</a:t>
                      </a:r>
                      <a:endParaRPr lang="en-US" sz="3200" b="0" i="0" u="none" strike="noStrike" cap="none">
                        <a:ln>
                          <a:noFill/>
                        </a:ln>
                        <a:solidFill>
                          <a:schemeClr val="tx1"/>
                        </a:solidFill>
                        <a:latin typeface="Arial"/>
                        <a:ea typeface="ＭＳ Ｐゴシック"/>
                      </a:endParaRPr>
                    </a:p>
                  </a:txBody>
                  <a:tcPr anchor="b">
                    <a:lnL w="28575"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Expected Result</a:t>
                      </a:r>
                      <a:endParaRPr/>
                    </a:p>
                  </a:txBody>
                  <a:tcPr anchor="b">
                    <a:lnL w="12700"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Actual Result</a:t>
                      </a:r>
                      <a:endParaRPr/>
                    </a:p>
                  </a:txBody>
                  <a:tcPr anchor="b">
                    <a:lnL w="12700"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Percent Difference</a:t>
                      </a:r>
                      <a:endParaRPr/>
                    </a:p>
                  </a:txBody>
                  <a:tcPr anchor="b">
                    <a:lnL w="12700" algn="ctr">
                      <a:solidFill>
                        <a:schemeClr val="tx1"/>
                      </a:solidFill>
                    </a:lnL>
                    <a:lnR w="28575" algn="ctr">
                      <a:solidFill>
                        <a:schemeClr val="tx1"/>
                      </a:solidFill>
                    </a:lnR>
                    <a:lnT w="28575" algn="ctr">
                      <a:solidFill>
                        <a:schemeClr val="tx1"/>
                      </a:solidFill>
                    </a:lnT>
                    <a:lnB w="12700" algn="ctr">
                      <a:solidFill>
                        <a:schemeClr val="tx1"/>
                      </a:solidFill>
                    </a:lnB>
                    <a:noFill/>
                  </a:tcPr>
                </a:tc>
              </a:tr>
              <a:tr h="666750">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a:t>
                      </a:r>
                      <a:endParaRPr/>
                    </a:p>
                  </a:txBody>
                  <a:tcPr anchor="b">
                    <a:lnL w="28575"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98</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103</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+5%</a:t>
                      </a:r>
                      <a:endParaRPr/>
                    </a:p>
                  </a:txBody>
                  <a:tcPr anchor="b">
                    <a:lnL w="12700" algn="ctr">
                      <a:solidFill>
                        <a:schemeClr val="tx1"/>
                      </a:solidFill>
                    </a:lnL>
                    <a:lnR w="28575" algn="ctr">
                      <a:solidFill>
                        <a:schemeClr val="tx1"/>
                      </a:solidFill>
                    </a:lnR>
                    <a:lnT w="12700" algn="ctr">
                      <a:solidFill>
                        <a:schemeClr val="tx1"/>
                      </a:solidFill>
                    </a:lnT>
                    <a:lnB w="12700" algn="ctr">
                      <a:solidFill>
                        <a:schemeClr val="tx1"/>
                      </a:solidFill>
                    </a:lnB>
                    <a:noFill/>
                  </a:tcPr>
                </a:tc>
              </a:tr>
              <a:tr h="666750">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2</a:t>
                      </a:r>
                      <a:endParaRPr/>
                    </a:p>
                  </a:txBody>
                  <a:tcPr anchor="b">
                    <a:lnL w="28575"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110</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112</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+2%</a:t>
                      </a:r>
                      <a:endParaRPr/>
                    </a:p>
                  </a:txBody>
                  <a:tcPr anchor="b">
                    <a:lnL w="12700" algn="ctr">
                      <a:solidFill>
                        <a:schemeClr val="tx1"/>
                      </a:solidFill>
                    </a:lnL>
                    <a:lnR w="28575" algn="ctr">
                      <a:solidFill>
                        <a:schemeClr val="tx1"/>
                      </a:solidFill>
                    </a:lnR>
                    <a:lnT w="12700" algn="ctr">
                      <a:solidFill>
                        <a:schemeClr val="tx1"/>
                      </a:solidFill>
                    </a:lnT>
                    <a:lnB w="12700" algn="ctr">
                      <a:solidFill>
                        <a:schemeClr val="tx1"/>
                      </a:solidFill>
                    </a:lnB>
                    <a:noFill/>
                  </a:tcPr>
                </a:tc>
              </a:tr>
              <a:tr h="666750">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3</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130</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125</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-4%</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r>
              <a:tr h="666750">
                <a:tc gridSpan="4">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Caption for a Example Table</a:t>
                      </a:r>
                      <a:endParaRPr/>
                    </a:p>
                  </a:txBody>
                  <a:tcPr anchor="b">
                    <a:lnL w="12700" algn="ctr">
                      <a:noFill/>
                    </a:lnL>
                    <a:lnR w="12700" algn="ctr">
                      <a:noFill/>
                    </a:lnR>
                    <a:lnT w="12700" algn="ctr">
                      <a:solidFill>
                        <a:schemeClr val="tx1"/>
                      </a:solidFill>
                    </a:lnT>
                    <a:lnB w="12700" algn="ctr">
                      <a:noFill/>
                    </a:lnB>
                    <a:noFill/>
                  </a:tcPr>
                </a:tc>
                <a:tc hMerge="1">
                  <a:txBody>
                    <a:bodyPr/>
                    <a:p>
                      <a:endParaRPr/>
                    </a:p>
                  </a:txBody>
                </a:tc>
                <a:tc hMerge="1">
                  <a:txBody>
                    <a:bodyPr/>
                    <a:p>
                      <a:endParaRPr/>
                    </a:p>
                  </a:txBody>
                </a:tc>
                <a:tc hMerge="1">
                  <a:txBody>
                    <a:bodyPr/>
                    <a:p>
                      <a:endParaRPr/>
                    </a:p>
                  </a:txBody>
                </a:tc>
              </a:tr>
            </a:tbl>
          </a:graphicData>
        </a:graphic>
      </p:graphicFrame>
      <p:grpSp>
        <p:nvGrpSpPr>
          <p:cNvPr id="2143151900" name="Group 21"/>
          <p:cNvGrpSpPr/>
          <p:nvPr/>
        </p:nvGrpSpPr>
        <p:grpSpPr bwMode="auto">
          <a:xfrm>
            <a:off x="33378775" y="4639301"/>
            <a:ext cx="9601200" cy="3448685"/>
            <a:chOff x="33375601" y="21056600"/>
            <a:chExt cx="9601200" cy="3448685"/>
          </a:xfrm>
        </p:grpSpPr>
        <p:pic>
          <p:nvPicPr>
            <p:cNvPr id="20" name="Picture 19" descr="ttu_logo.png"/>
            <p:cNvPicPr>
              <a:picLocks noChangeAspect="1"/>
            </p:cNvPicPr>
            <p:nvPr/>
          </p:nvPicPr>
          <p:blipFill rotWithShape="1">
            <a:blip r:embed="rId7"/>
            <a:stretch/>
          </p:blipFill>
          <p:spPr bwMode="auto">
            <a:xfrm>
              <a:off x="33375601" y="21056600"/>
              <a:ext cx="9601200" cy="1220962"/>
            </a:xfrm>
            <a:prstGeom prst="rect">
              <a:avLst/>
            </a:prstGeom>
          </p:spPr>
        </p:pic>
        <p:sp>
          <p:nvSpPr>
            <p:cNvPr id="21" name="TextBox 20"/>
            <p:cNvSpPr txBox="1"/>
            <p:nvPr/>
          </p:nvSpPr>
          <p:spPr bwMode="auto">
            <a:xfrm>
              <a:off x="33959802" y="22443182"/>
              <a:ext cx="8432799" cy="2062103"/>
            </a:xfrm>
            <a:prstGeom prst="rect">
              <a:avLst/>
            </a:prstGeom>
            <a:noFill/>
          </p:spPr>
          <p:txBody>
            <a:bodyPr wrap="square" rtlCol="0">
              <a:spAutoFit/>
            </a:bodyPr>
            <a:lstStyle/>
            <a:p>
              <a:pPr>
                <a:defRPr/>
              </a:pPr>
              <a:r>
                <a:rPr lang="en-US" sz="3200">
                  <a:latin typeface="Arial"/>
                  <a:cs typeface="Arial"/>
                </a:rPr>
                <a:t>Logo downloaded from website and scaled up: </a:t>
              </a:r>
              <a:r>
                <a:rPr lang="en-US" sz="3200" b="1">
                  <a:latin typeface="Arial"/>
                  <a:cs typeface="Arial"/>
                </a:rPr>
                <a:t>don’t do this!</a:t>
              </a:r>
              <a:r>
                <a:rPr lang="en-US" sz="3200">
                  <a:latin typeface="Arial"/>
                  <a:cs typeface="Arial"/>
                </a:rPr>
                <a:t> It may look ok on your monitor, but it won’t look good on the real poster.</a:t>
              </a:r>
              <a:endParaRPr lang="en-US" sz="3200">
                <a:latin typeface="Arial"/>
                <a:cs typeface="Arial"/>
              </a:endParaRPr>
            </a:p>
          </p:txBody>
        </p:sp>
      </p:grpSp>
      <p:sp>
        <p:nvSpPr>
          <p:cNvPr id="2010256904" name="TextBox 32"/>
          <p:cNvSpPr txBox="1"/>
          <p:nvPr/>
        </p:nvSpPr>
        <p:spPr bwMode="auto">
          <a:xfrm>
            <a:off x="33381950" y="3517887"/>
            <a:ext cx="9598025" cy="646331"/>
          </a:xfrm>
          <a:prstGeom prst="rect">
            <a:avLst/>
          </a:prstGeom>
          <a:noFill/>
        </p:spPr>
        <p:txBody>
          <a:bodyPr wrap="square" rtlCol="0">
            <a:spAutoFit/>
          </a:bodyPr>
          <a:lstStyle/>
          <a:p>
            <a:pPr>
              <a:spcBef>
                <a:spcPts val="0"/>
              </a:spcBef>
              <a:defRPr/>
            </a:pPr>
            <a:r>
              <a:rPr lang="en-US" sz="3600" b="1">
                <a:latin typeface="Arial"/>
                <a:cs typeface="Arial"/>
              </a:rPr>
              <a:t>What Not To Do (With Graphics)</a:t>
            </a:r>
            <a:endParaRPr lang="en-US" sz="3600" b="1">
              <a:latin typeface="Arial"/>
              <a:cs typeface="Arial"/>
            </a:endParaRPr>
          </a:p>
        </p:txBody>
      </p:sp>
      <p:grpSp>
        <p:nvGrpSpPr>
          <p:cNvPr id="1689591116" name="Group 35"/>
          <p:cNvGrpSpPr/>
          <p:nvPr/>
        </p:nvGrpSpPr>
        <p:grpSpPr bwMode="auto">
          <a:xfrm>
            <a:off x="33381950" y="8209431"/>
            <a:ext cx="9594848" cy="10571188"/>
            <a:chOff x="33381950" y="8209431"/>
            <a:chExt cx="9594848" cy="10571188"/>
          </a:xfrm>
        </p:grpSpPr>
        <p:pic>
          <p:nvPicPr>
            <p:cNvPr id="32" name="Picture 31" descr="matlab-figure.jpg"/>
            <p:cNvPicPr>
              <a:picLocks noChangeAspect="1"/>
            </p:cNvPicPr>
            <p:nvPr/>
          </p:nvPicPr>
          <p:blipFill rotWithShape="1">
            <a:blip r:embed="rId8"/>
            <a:stretch/>
          </p:blipFill>
          <p:spPr bwMode="auto">
            <a:xfrm>
              <a:off x="33381950" y="8209431"/>
              <a:ext cx="9594848" cy="7196136"/>
            </a:xfrm>
            <a:prstGeom prst="rect">
              <a:avLst/>
            </a:prstGeom>
          </p:spPr>
        </p:pic>
        <p:sp>
          <p:nvSpPr>
            <p:cNvPr id="34" name="TextBox 33"/>
            <p:cNvSpPr txBox="1"/>
            <p:nvPr/>
          </p:nvSpPr>
          <p:spPr bwMode="auto">
            <a:xfrm>
              <a:off x="33962975" y="15241189"/>
              <a:ext cx="8432799" cy="3539430"/>
            </a:xfrm>
            <a:prstGeom prst="rect">
              <a:avLst/>
            </a:prstGeom>
            <a:noFill/>
          </p:spPr>
          <p:txBody>
            <a:bodyPr wrap="square" rtlCol="0">
              <a:spAutoFit/>
            </a:bodyPr>
            <a:lstStyle/>
            <a:p>
              <a:pPr>
                <a:defRPr/>
              </a:pPr>
              <a:r>
                <a:rPr lang="en-US" sz="3200">
                  <a:latin typeface="Arial"/>
                  <a:cs typeface="Arial"/>
                </a:rPr>
                <a:t>The same thing can happen with screenshots or graphs you make. Use vector formats (EPS, WMF) whenever possible for graphs. For screenshots, use PNG files. Only use JPEG files as a last resort – you’ll end up with graphic artifacts like the light-colored dots near the curve shown above.</a:t>
              </a:r>
              <a:endParaRPr/>
            </a:p>
          </p:txBody>
        </p:sp>
      </p:grpSp>
      <p:grpSp>
        <p:nvGrpSpPr>
          <p:cNvPr id="1612838449" name="Group 37"/>
          <p:cNvGrpSpPr/>
          <p:nvPr/>
        </p:nvGrpSpPr>
        <p:grpSpPr bwMode="auto">
          <a:xfrm>
            <a:off x="22656800" y="13017078"/>
            <a:ext cx="9601200" cy="9936095"/>
            <a:chOff x="33375600" y="19168435"/>
            <a:chExt cx="9601200" cy="9936095"/>
          </a:xfrm>
        </p:grpSpPr>
        <p:pic>
          <p:nvPicPr>
            <p:cNvPr id="35" name="Picture 34" descr="2198734823_98f5e611c8_o.jpg"/>
            <p:cNvPicPr>
              <a:picLocks noChangeAspect="1"/>
            </p:cNvPicPr>
            <p:nvPr/>
          </p:nvPicPr>
          <p:blipFill rotWithShape="1">
            <a:blip r:embed="rId9"/>
            <a:stretch/>
          </p:blipFill>
          <p:spPr bwMode="auto">
            <a:xfrm>
              <a:off x="33375600" y="19168435"/>
              <a:ext cx="9601200" cy="6376917"/>
            </a:xfrm>
            <a:prstGeom prst="rect">
              <a:avLst/>
            </a:prstGeom>
          </p:spPr>
        </p:pic>
        <p:sp>
          <p:nvSpPr>
            <p:cNvPr id="37" name="TextBox 36"/>
            <p:cNvSpPr txBox="1"/>
            <p:nvPr/>
          </p:nvSpPr>
          <p:spPr bwMode="auto">
            <a:xfrm>
              <a:off x="33962975" y="25565100"/>
              <a:ext cx="8432799" cy="3539430"/>
            </a:xfrm>
            <a:prstGeom prst="rect">
              <a:avLst/>
            </a:prstGeom>
            <a:noFill/>
          </p:spPr>
          <p:txBody>
            <a:bodyPr wrap="square" rtlCol="0">
              <a:spAutoFit/>
            </a:bodyPr>
            <a:lstStyle/>
            <a:p>
              <a:pPr>
                <a:defRPr/>
              </a:pPr>
              <a:r>
                <a:rPr lang="en-US" sz="3200">
                  <a:latin typeface="Arial"/>
                  <a:cs typeface="Arial"/>
                </a:rPr>
                <a:t>This 6 megapixel (3216 × 2136 pixels) image is sized to 10.5” × 6.97” on paper. There are approximately 300 pixels in each inch, and this will look good. Making the picture larger on the poster won’t look as good. (CC image courtesy of International Rice Research Institute).</a:t>
              </a:r>
              <a:endParaRPr lang="en-US" sz="3200">
                <a:latin typeface="Arial"/>
                <a:cs typeface="Arial"/>
              </a:endParaRPr>
            </a:p>
          </p:txBody>
        </p:sp>
      </p:grpSp>
      <p:pic>
        <p:nvPicPr>
          <p:cNvPr id="1315254544" name="Picture 38" descr="2198734823_8a198d1707_b.jpg"/>
          <p:cNvPicPr>
            <a:picLocks noChangeAspect="1"/>
          </p:cNvPicPr>
          <p:nvPr/>
        </p:nvPicPr>
        <p:blipFill rotWithShape="1">
          <a:blip r:embed="rId10"/>
          <a:stretch/>
        </p:blipFill>
        <p:spPr bwMode="auto">
          <a:xfrm>
            <a:off x="33381949" y="19105879"/>
            <a:ext cx="9594848" cy="6371578"/>
          </a:xfrm>
          <a:prstGeom prst="rect">
            <a:avLst/>
          </a:prstGeom>
        </p:spPr>
      </p:pic>
      <p:sp>
        <p:nvSpPr>
          <p:cNvPr id="217950757" name="TextBox 39"/>
          <p:cNvSpPr txBox="1"/>
          <p:nvPr/>
        </p:nvSpPr>
        <p:spPr bwMode="auto">
          <a:xfrm>
            <a:off x="33962975" y="25675265"/>
            <a:ext cx="8432799" cy="2554545"/>
          </a:xfrm>
          <a:prstGeom prst="rect">
            <a:avLst/>
          </a:prstGeom>
          <a:noFill/>
        </p:spPr>
        <p:txBody>
          <a:bodyPr wrap="square" rtlCol="0">
            <a:spAutoFit/>
          </a:bodyPr>
          <a:lstStyle/>
          <a:p>
            <a:pPr>
              <a:defRPr/>
            </a:pPr>
            <a:r>
              <a:rPr lang="en-US" sz="3200">
                <a:latin typeface="Arial"/>
                <a:cs typeface="Arial"/>
              </a:rPr>
              <a:t>This 0.7 megapixel (1024 × 680 pixels) image is sized to 10.5” × 6.97” on paper. There are approximately 100 pixels in each inch, and this doesn’t look as good as the original photo at left.</a:t>
            </a:r>
            <a:endParaRPr lang="en-US" sz="3200">
              <a:latin typeface="Arial"/>
              <a:cs typeface="Arial"/>
            </a:endParaRPr>
          </a:p>
        </p:txBody>
      </p:sp>
      <p:sp>
        <p:nvSpPr>
          <p:cNvPr id="929671564" name="TextBox 40"/>
          <p:cNvSpPr txBox="1"/>
          <p:nvPr/>
        </p:nvSpPr>
        <p:spPr bwMode="auto">
          <a:xfrm>
            <a:off x="22402800" y="3519475"/>
            <a:ext cx="9598025" cy="646331"/>
          </a:xfrm>
          <a:prstGeom prst="rect">
            <a:avLst/>
          </a:prstGeom>
          <a:noFill/>
        </p:spPr>
        <p:txBody>
          <a:bodyPr wrap="square" rtlCol="0">
            <a:spAutoFit/>
          </a:bodyPr>
          <a:lstStyle/>
          <a:p>
            <a:pPr>
              <a:spcBef>
                <a:spcPts val="0"/>
              </a:spcBef>
              <a:defRPr/>
            </a:pPr>
            <a:r>
              <a:rPr lang="en-US" sz="3600" b="1">
                <a:latin typeface="Arial"/>
                <a:cs typeface="Arial"/>
              </a:rPr>
              <a:t>What To Do (With Graphics)</a:t>
            </a:r>
            <a:endParaRPr lang="en-US" sz="3600" b="1">
              <a:latin typeface="Arial"/>
              <a:cs typeface="Arial"/>
            </a:endParaRPr>
          </a:p>
        </p:txBody>
      </p:sp>
      <p:sp>
        <p:nvSpPr>
          <p:cNvPr id="1566522088" name="Text Box 92"/>
          <p:cNvSpPr txBox="1">
            <a:spLocks noChangeArrowheads="1"/>
          </p:cNvSpPr>
          <p:nvPr/>
        </p:nvSpPr>
        <p:spPr bwMode="auto">
          <a:xfrm>
            <a:off x="11430000" y="22498254"/>
            <a:ext cx="10058400" cy="9048545"/>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Getting a Plot of Your Poster</a:t>
            </a:r>
            <a:endParaRPr lang="en-US" sz="3600" b="1">
              <a:latin typeface="Arial"/>
              <a:cs typeface="Arial"/>
            </a:endParaRPr>
          </a:p>
          <a:p>
            <a:pPr lvl="1">
              <a:spcBef>
                <a:spcPts val="0"/>
              </a:spcBef>
              <a:buFontTx/>
              <a:buChar char="•"/>
              <a:defRPr/>
            </a:pPr>
            <a:r>
              <a:rPr lang="en-US" sz="3200">
                <a:latin typeface="Arial"/>
                <a:cs typeface="Arial"/>
              </a:rPr>
              <a:t>Save a PDF of the poster using the File / Save As menu.</a:t>
            </a:r>
            <a:endParaRPr/>
          </a:p>
          <a:p>
            <a:pPr lvl="1">
              <a:spcBef>
                <a:spcPts val="0"/>
              </a:spcBef>
              <a:buFontTx/>
              <a:buChar char="•"/>
              <a:defRPr/>
            </a:pPr>
            <a:r>
              <a:rPr lang="en-US" sz="3200">
                <a:latin typeface="Arial"/>
                <a:cs typeface="Arial"/>
              </a:rPr>
              <a:t>Take the PDF to wherever you’ll </a:t>
            </a:r>
            <a:r>
              <a:rPr lang="en-US" sz="3200">
                <a:latin typeface="Arial"/>
                <a:cs typeface="Arial"/>
              </a:rPr>
              <a:t>br</a:t>
            </a:r>
            <a:r>
              <a:rPr lang="en-US" sz="3200">
                <a:latin typeface="Arial"/>
                <a:cs typeface="Arial"/>
              </a:rPr>
              <a:t> printing the poster.</a:t>
            </a:r>
            <a:endParaRPr lang="en-US" sz="3200">
              <a:latin typeface="Arial"/>
              <a:cs typeface="Arial"/>
            </a:endParaRPr>
          </a:p>
          <a:p>
            <a:pPr lvl="1">
              <a:spcBef>
                <a:spcPts val="0"/>
              </a:spcBef>
              <a:buFontTx/>
              <a:buChar char="•"/>
              <a:defRPr/>
            </a:pPr>
            <a:r>
              <a:rPr lang="en-US" sz="3200">
                <a:latin typeface="Arial"/>
                <a:cs typeface="Arial"/>
              </a:rPr>
              <a:t>If you’re using the labs in Clement Hall 405, bring your Tech ID,  your PDF file, and your PowerPoint file to the helpdesk during normal lab hours (Fall and Spring: 2p-12a Sunday, 12p-12a Monday-Thursday, 10a-5p Friday. Summer: 7p-11p Sunday-Thursday).</a:t>
            </a:r>
            <a:endParaRPr/>
          </a:p>
          <a:p>
            <a:pPr lvl="1">
              <a:spcBef>
                <a:spcPts val="0"/>
              </a:spcBef>
              <a:buFontTx/>
              <a:buChar char="•"/>
              <a:defRPr/>
            </a:pPr>
            <a:r>
              <a:rPr lang="en-US" sz="3200">
                <a:latin typeface="Arial"/>
                <a:cs typeface="Arial"/>
              </a:rPr>
              <a:t>In some cases,  you may be directed to the lab manager.</a:t>
            </a:r>
            <a:endParaRPr/>
          </a:p>
          <a:p>
            <a:pPr lvl="1">
              <a:spcBef>
                <a:spcPts val="0"/>
              </a:spcBef>
              <a:buFontTx/>
              <a:buChar char="•"/>
              <a:defRPr/>
            </a:pPr>
            <a:r>
              <a:rPr lang="en-US" sz="3200">
                <a:latin typeface="Arial"/>
                <a:cs typeface="Arial"/>
              </a:rPr>
              <a:t>You’ll receive an email when the poster has been printed.</a:t>
            </a:r>
            <a:endParaRPr/>
          </a:p>
        </p:txBody>
      </p:sp>
      <p:sp>
        <p:nvSpPr>
          <p:cNvPr id="1176216317" name="Text Box 61"/>
          <p:cNvSpPr txBox="1">
            <a:spLocks noChangeArrowheads="1"/>
          </p:cNvSpPr>
          <p:nvPr/>
        </p:nvSpPr>
        <p:spPr bwMode="auto">
          <a:xfrm>
            <a:off x="917574" y="31546800"/>
            <a:ext cx="42059223" cy="457200"/>
          </a:xfrm>
          <a:prstGeom prst="rect">
            <a:avLst/>
          </a:prstGeom>
          <a:noFill/>
          <a:ln>
            <a:noFill/>
          </a:ln>
          <a:effectLst/>
        </p:spPr>
        <p:txBody>
          <a:bodyPr wrap="square">
            <a:spAutoFit/>
          </a:bodyPr>
          <a:lstStyle/>
          <a:p>
            <a:pPr algn="ctr">
              <a:spcBef>
                <a:spcPts val="0"/>
              </a:spcBef>
              <a:defRPr/>
            </a:pPr>
            <a:r>
              <a:rPr lang="en-US" sz="2400" i="1"/>
              <a:t>Acknowledgments such as state, federal, industry, university, or other support go here.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53683436" name="Picture 28" descr="TECH_Logo_Horizontal_TransparentBkgd_Purple.png"/>
          <p:cNvPicPr>
            <a:picLocks noChangeAspect="1"/>
          </p:cNvPicPr>
          <p:nvPr/>
        </p:nvPicPr>
        <p:blipFill rotWithShape="1">
          <a:blip r:embed="rId3"/>
          <a:stretch/>
        </p:blipFill>
        <p:spPr bwMode="auto">
          <a:xfrm>
            <a:off x="917575" y="0"/>
            <a:ext cx="11987784" cy="4282696"/>
          </a:xfrm>
          <a:prstGeom prst="rect">
            <a:avLst/>
          </a:prstGeom>
        </p:spPr>
      </p:pic>
      <p:sp>
        <p:nvSpPr>
          <p:cNvPr id="1602965630" name="Rectangle 2"/>
          <p:cNvSpPr txBox="1">
            <a:spLocks noChangeArrowheads="1"/>
          </p:cNvSpPr>
          <p:nvPr/>
        </p:nvSpPr>
        <p:spPr bwMode="auto">
          <a:xfrm>
            <a:off x="12902184" y="914400"/>
            <a:ext cx="30074616" cy="2516188"/>
          </a:xfrm>
          <a:prstGeom prst="rect">
            <a:avLst/>
          </a:prstGeom>
          <a:noFill/>
          <a:ln/>
        </p:spPr>
        <p:txBody>
          <a:bodyPr vert="horz" lIns="438912" tIns="219456" rIns="438912" bIns="219456" rtlCol="0" anchor="ctr">
            <a:normAutofit/>
          </a:bodyPr>
          <a:lstStyle>
            <a:lvl1pPr algn="ctr" defTabSz="2194560" rtl="0">
              <a:spcBef>
                <a:spcPts val="0"/>
              </a:spcBef>
              <a:buNone/>
              <a:defRPr sz="21100">
                <a:solidFill>
                  <a:schemeClr val="tx1"/>
                </a:solidFill>
                <a:latin typeface="+mj-lt"/>
                <a:ea typeface="+mj-ea"/>
                <a:cs typeface="+mj-cs"/>
              </a:defRPr>
            </a:lvl1pPr>
          </a:lstStyle>
          <a:p>
            <a:pPr>
              <a:defRPr/>
            </a:pPr>
            <a:r>
              <a:rPr lang="en-US" sz="9600" b="1">
                <a:latin typeface="Arial"/>
                <a:cs typeface="Arial"/>
              </a:rPr>
              <a:t>Making a Poster in PowerPoint 2011 (Mac)</a:t>
            </a:r>
            <a:endParaRPr/>
          </a:p>
          <a:p>
            <a:pPr>
              <a:defRPr/>
            </a:pPr>
            <a:r>
              <a:rPr lang="en-US" sz="3600" b="1">
                <a:latin typeface="Arial"/>
                <a:cs typeface="Arial"/>
              </a:rPr>
              <a:t>Mike Renfro, Center for Manufacturing Research</a:t>
            </a:r>
            <a:endParaRPr lang="en-US" sz="3600" b="1">
              <a:latin typeface="Arial"/>
              <a:cs typeface="Arial"/>
            </a:endParaRPr>
          </a:p>
        </p:txBody>
      </p:sp>
      <p:sp>
        <p:nvSpPr>
          <p:cNvPr id="361124903" name="Text Box 91"/>
          <p:cNvSpPr txBox="1">
            <a:spLocks noChangeArrowheads="1"/>
          </p:cNvSpPr>
          <p:nvPr/>
        </p:nvSpPr>
        <p:spPr bwMode="auto">
          <a:xfrm>
            <a:off x="917575" y="3429000"/>
            <a:ext cx="9598025" cy="6223000"/>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Goal of This Poster Template</a:t>
            </a:r>
            <a:endParaRPr/>
          </a:p>
          <a:p>
            <a:pPr>
              <a:spcBef>
                <a:spcPts val="0"/>
              </a:spcBef>
              <a:defRPr/>
            </a:pPr>
            <a:r>
              <a:rPr lang="en-US" sz="3200">
                <a:latin typeface="Arial"/>
                <a:cs typeface="Arial"/>
              </a:rPr>
              <a:t>The basic idea with this poster template is to make it easier for TTU faculty, staff, and students to create legible, higher-quality posters, and to avoid the most common mistakes faculty, staff, and students have previously made.</a:t>
            </a:r>
            <a:endParaRPr/>
          </a:p>
          <a:p>
            <a:pPr>
              <a:spcBef>
                <a:spcPts val="0"/>
              </a:spcBef>
              <a:defRPr/>
            </a:pPr>
            <a:r>
              <a:rPr lang="en-US" sz="3200">
                <a:latin typeface="Arial"/>
                <a:cs typeface="Arial"/>
              </a:rPr>
              <a:t>Several templates are available using different page orientations, number of columns, and other layout elements. Select the template most suitable for your purpose, and let us know if there are any problems with them.</a:t>
            </a:r>
            <a:endParaRPr/>
          </a:p>
        </p:txBody>
      </p:sp>
      <p:sp>
        <p:nvSpPr>
          <p:cNvPr id="194155480" name="Text Box 89"/>
          <p:cNvSpPr txBox="1">
            <a:spLocks noChangeArrowheads="1"/>
          </p:cNvSpPr>
          <p:nvPr/>
        </p:nvSpPr>
        <p:spPr bwMode="auto">
          <a:xfrm>
            <a:off x="917575" y="9652000"/>
            <a:ext cx="9598025" cy="12700000"/>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Basic Instructions</a:t>
            </a:r>
            <a:endParaRPr/>
          </a:p>
          <a:p>
            <a:pPr lvl="1">
              <a:spcBef>
                <a:spcPts val="0"/>
              </a:spcBef>
              <a:buFontTx/>
              <a:buChar char="•"/>
              <a:defRPr/>
            </a:pPr>
            <a:r>
              <a:rPr lang="en-US" sz="3200">
                <a:latin typeface="Arial"/>
                <a:cs typeface="Arial"/>
              </a:rPr>
              <a:t>Do not modify font sizes or the positions of standard poster elements (titles, authors, acknowledgments, etc.)</a:t>
            </a:r>
            <a:endParaRPr/>
          </a:p>
          <a:p>
            <a:pPr lvl="1">
              <a:spcBef>
                <a:spcPts val="0"/>
              </a:spcBef>
              <a:buFontTx/>
              <a:buChar char="•"/>
              <a:defRPr/>
            </a:pPr>
            <a:r>
              <a:rPr lang="en-US" sz="3200">
                <a:latin typeface="Arial"/>
                <a:cs typeface="Arial"/>
              </a:rPr>
              <a:t>Copy and paste this text box if you need a bulleted list, or the previous text box if you need paragraph text.</a:t>
            </a:r>
            <a:endParaRPr/>
          </a:p>
          <a:p>
            <a:pPr lvl="1">
              <a:spcBef>
                <a:spcPts val="0"/>
              </a:spcBef>
              <a:buFontTx/>
              <a:buChar char="•"/>
              <a:defRPr/>
            </a:pPr>
            <a:r>
              <a:rPr lang="en-US" sz="3200">
                <a:latin typeface="Arial"/>
                <a:cs typeface="Arial"/>
              </a:rPr>
              <a:t>Don’t mix </a:t>
            </a:r>
            <a:r>
              <a:rPr lang="en-US" sz="3200">
                <a:latin typeface="Arial"/>
                <a:cs typeface="Arial"/>
              </a:rPr>
              <a:t>bulleted text and paragraph text in a single text box. PowerPoint </a:t>
            </a:r>
            <a:r>
              <a:rPr lang="en-US" sz="3200">
                <a:latin typeface="Arial"/>
                <a:cs typeface="Arial"/>
              </a:rPr>
              <a:t>doesn</a:t>
            </a:r>
            <a:r>
              <a:rPr lang="ja-JP" sz="3200">
                <a:latin typeface="Arial"/>
                <a:cs typeface="Arial"/>
              </a:rPr>
              <a:t>’</a:t>
            </a:r>
            <a:r>
              <a:rPr lang="en-US" sz="3200">
                <a:latin typeface="Arial"/>
                <a:cs typeface="Arial"/>
              </a:rPr>
              <a:t>t handle mixed text formats very well.</a:t>
            </a:r>
            <a:endParaRPr/>
          </a:p>
          <a:p>
            <a:pPr lvl="1">
              <a:spcBef>
                <a:spcPts val="0"/>
              </a:spcBef>
              <a:buFontTx/>
              <a:buChar char="•"/>
              <a:defRPr/>
            </a:pPr>
            <a:r>
              <a:rPr lang="en-US" sz="3200">
                <a:latin typeface="Arial"/>
                <a:cs typeface="Arial"/>
              </a:rPr>
              <a:t>Don</a:t>
            </a:r>
            <a:r>
              <a:rPr lang="ja-JP" sz="3200">
                <a:latin typeface="Arial"/>
                <a:cs typeface="Arial"/>
              </a:rPr>
              <a:t>’</a:t>
            </a:r>
            <a:r>
              <a:rPr lang="en-US" sz="3200">
                <a:latin typeface="Arial"/>
                <a:cs typeface="Arial"/>
              </a:rPr>
              <a:t>t go nuts with drop shadows, 3D effects, or other poster noise. Focus on the clarity of your message.</a:t>
            </a:r>
            <a:endParaRPr/>
          </a:p>
          <a:p>
            <a:pPr lvl="1">
              <a:spcBef>
                <a:spcPts val="0"/>
              </a:spcBef>
              <a:buFontTx/>
              <a:buChar char="•"/>
              <a:defRPr/>
            </a:pPr>
            <a:r>
              <a:rPr lang="en-US" sz="3200" b="1">
                <a:latin typeface="Arial"/>
                <a:cs typeface="Arial"/>
              </a:rPr>
              <a:t>Don</a:t>
            </a:r>
            <a:r>
              <a:rPr lang="ja-JP" sz="3200" b="1">
                <a:latin typeface="Arial"/>
                <a:cs typeface="Arial"/>
              </a:rPr>
              <a:t>’</a:t>
            </a:r>
            <a:r>
              <a:rPr lang="en-US" sz="3200" b="1">
                <a:latin typeface="Arial"/>
                <a:cs typeface="Arial"/>
              </a:rPr>
              <a:t>t use Insert / Object</a:t>
            </a:r>
            <a:r>
              <a:rPr lang="en-US" sz="3200">
                <a:latin typeface="Arial"/>
                <a:cs typeface="Arial"/>
              </a:rPr>
              <a:t> to include content. This bloats up the poster file, and is likely to not work on other systems. Use </a:t>
            </a:r>
            <a:r>
              <a:rPr lang="en-US" sz="3200" b="1">
                <a:latin typeface="Arial"/>
                <a:cs typeface="Arial"/>
              </a:rPr>
              <a:t>Insert / </a:t>
            </a:r>
            <a:r>
              <a:rPr lang="en-US" sz="3200" b="1">
                <a:latin typeface="Arial"/>
                <a:cs typeface="Arial"/>
              </a:rPr>
              <a:t>Photo / Picture from </a:t>
            </a:r>
            <a:r>
              <a:rPr lang="en-US" sz="3200" b="1">
                <a:latin typeface="Arial"/>
                <a:cs typeface="Arial"/>
              </a:rPr>
              <a:t>File</a:t>
            </a:r>
            <a:r>
              <a:rPr lang="en-US" sz="3200">
                <a:latin typeface="Arial"/>
                <a:cs typeface="Arial"/>
              </a:rPr>
              <a:t> to include outside graphics.</a:t>
            </a:r>
            <a:endParaRPr/>
          </a:p>
          <a:p>
            <a:pPr lvl="1">
              <a:spcBef>
                <a:spcPts val="0"/>
              </a:spcBef>
              <a:buFontTx/>
              <a:buChar char="•"/>
              <a:defRPr/>
            </a:pPr>
            <a:r>
              <a:rPr lang="en-US" sz="3200">
                <a:latin typeface="Arial"/>
                <a:cs typeface="Arial"/>
              </a:rPr>
              <a:t>Copy and paste the equation below if you need a readable equation, and keep in mind that your audience might not be that interested in the details of the equations rather than the basics of the research.</a:t>
            </a:r>
            <a:endParaRPr/>
          </a:p>
        </p:txBody>
      </p:sp>
      <p:graphicFrame>
        <p:nvGraphicFramePr>
          <p:cNvPr id="1668588328" name="Object 88"/>
          <p:cNvGraphicFramePr>
            <a:graphicFrameLocks xmlns:a="http://schemas.openxmlformats.org/drawingml/2006/main" noChangeAspect="1"/>
          </p:cNvGraphicFramePr>
          <p:nvPr/>
        </p:nvGraphicFramePr>
        <p:xfrm>
          <a:off x="3403600" y="22352000"/>
          <a:ext cx="4570413" cy="1187450"/>
        </p:xfrm>
        <a:graphic>
          <a:graphicData uri="http://schemas.openxmlformats.org/presentationml/2006/ole">
            <p:oleObj name="oleObj" r:id="rId5" imgW="1612265" imgH="418465" progId="Equation.3">
              <p:embed/>
              <p:pic>
                <p:nvPicPr>
                  <p:cNvPr id="1668588328" name="Object 88"/>
                  <p:cNvPicPr/>
                  <p:nvPr/>
                </p:nvPicPr>
                <p:blipFill rotWithShape="1">
                  <a:blip r:embed="rId4"/>
                  <a:stretch/>
                </p:blipFill>
                <p:spPr bwMode="auto">
                  <a:xfrm>
                    <a:off x="3403600" y="22352000"/>
                    <a:ext cx="4570413" cy="1187450"/>
                  </a:xfrm>
                  <a:prstGeom prst="rect">
                    <a:avLst/>
                  </a:prstGeom>
                </p:spPr>
              </p:pic>
            </p:oleObj>
          </a:graphicData>
        </a:graphic>
      </p:graphicFrame>
      <p:sp>
        <p:nvSpPr>
          <p:cNvPr id="568285930" name="Text Box 92"/>
          <p:cNvSpPr txBox="1">
            <a:spLocks noChangeArrowheads="1"/>
          </p:cNvSpPr>
          <p:nvPr/>
        </p:nvSpPr>
        <p:spPr bwMode="auto">
          <a:xfrm>
            <a:off x="914400" y="24053800"/>
            <a:ext cx="9601200" cy="7493000"/>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Advanced Layout Instructions</a:t>
            </a:r>
            <a:endParaRPr/>
          </a:p>
          <a:p>
            <a:pPr lvl="1">
              <a:spcBef>
                <a:spcPts val="0"/>
              </a:spcBef>
              <a:buFontTx/>
              <a:buChar char="•"/>
              <a:defRPr/>
            </a:pPr>
            <a:r>
              <a:rPr lang="en-US" sz="3200">
                <a:latin typeface="Arial"/>
                <a:cs typeface="Arial"/>
              </a:rPr>
              <a:t>PowerPoint has </a:t>
            </a:r>
            <a:r>
              <a:rPr lang="en-US" sz="3200">
                <a:latin typeface="Arial"/>
                <a:cs typeface="Arial"/>
              </a:rPr>
              <a:t>the basic tools required to properly align and space out text boxes, equations, figures, and any other poster elements. You</a:t>
            </a:r>
            <a:r>
              <a:rPr lang="ja-JP" sz="3200">
                <a:latin typeface="Arial"/>
                <a:cs typeface="Arial"/>
              </a:rPr>
              <a:t>’</a:t>
            </a:r>
            <a:r>
              <a:rPr lang="en-US" sz="3200">
                <a:latin typeface="Arial"/>
                <a:cs typeface="Arial"/>
              </a:rPr>
              <a:t>ll</a:t>
            </a:r>
            <a:r>
              <a:rPr lang="en-US" sz="3200">
                <a:latin typeface="Arial"/>
                <a:cs typeface="Arial"/>
              </a:rPr>
              <a:t> find these tools in the </a:t>
            </a:r>
            <a:r>
              <a:rPr lang="en-US" sz="3200" b="1">
                <a:latin typeface="Arial"/>
                <a:cs typeface="Arial"/>
              </a:rPr>
              <a:t>Arrange / </a:t>
            </a:r>
            <a:r>
              <a:rPr lang="en-US" sz="3200" b="1">
                <a:latin typeface="Arial"/>
                <a:cs typeface="Arial"/>
              </a:rPr>
              <a:t>Group</a:t>
            </a:r>
            <a:r>
              <a:rPr lang="en-US" sz="3200">
                <a:latin typeface="Arial"/>
                <a:cs typeface="Arial"/>
              </a:rPr>
              <a:t> and </a:t>
            </a:r>
            <a:r>
              <a:rPr lang="en-US" sz="3200" b="1">
                <a:latin typeface="Arial"/>
                <a:cs typeface="Arial"/>
              </a:rPr>
              <a:t>Arrange / </a:t>
            </a:r>
            <a:r>
              <a:rPr lang="en-US" sz="3200" b="1">
                <a:latin typeface="Arial"/>
                <a:cs typeface="Arial"/>
              </a:rPr>
              <a:t>Align </a:t>
            </a:r>
            <a:r>
              <a:rPr lang="en-US" sz="3200" b="1">
                <a:latin typeface="Arial"/>
                <a:cs typeface="Arial"/>
              </a:rPr>
              <a:t>or </a:t>
            </a:r>
            <a:r>
              <a:rPr lang="en-US" sz="3200" b="1">
                <a:latin typeface="Arial"/>
                <a:cs typeface="Arial"/>
              </a:rPr>
              <a:t>Distribute</a:t>
            </a:r>
            <a:r>
              <a:rPr lang="en-US" sz="3200">
                <a:latin typeface="Arial"/>
                <a:cs typeface="Arial"/>
              </a:rPr>
              <a:t> menus at the </a:t>
            </a:r>
            <a:r>
              <a:rPr lang="en-US" sz="3200">
                <a:latin typeface="Arial"/>
                <a:cs typeface="Arial"/>
              </a:rPr>
              <a:t>top of </a:t>
            </a:r>
            <a:r>
              <a:rPr lang="en-US" sz="3200">
                <a:latin typeface="Arial"/>
                <a:cs typeface="Arial"/>
              </a:rPr>
              <a:t>the screen</a:t>
            </a:r>
            <a:r>
              <a:rPr lang="en-US" sz="3200">
                <a:latin typeface="Arial"/>
                <a:cs typeface="Arial"/>
              </a:rPr>
              <a:t>. Use</a:t>
            </a:r>
            <a:r>
              <a:rPr lang="en-US" sz="3200">
                <a:latin typeface="Arial"/>
                <a:cs typeface="Arial"/>
              </a:rPr>
              <a:t> </a:t>
            </a:r>
            <a:r>
              <a:rPr lang="en-US" sz="3200">
                <a:latin typeface="Arial"/>
                <a:cs typeface="Arial"/>
              </a:rPr>
              <a:t>them </a:t>
            </a:r>
            <a:r>
              <a:rPr lang="en-US" sz="3200">
                <a:latin typeface="Arial"/>
                <a:cs typeface="Arial"/>
              </a:rPr>
              <a:t>rather than </a:t>
            </a:r>
            <a:r>
              <a:rPr lang="ja-JP" sz="3200">
                <a:latin typeface="Arial"/>
                <a:cs typeface="Arial"/>
              </a:rPr>
              <a:t>“</a:t>
            </a:r>
            <a:r>
              <a:rPr lang="en-US" sz="3200">
                <a:latin typeface="Arial"/>
                <a:cs typeface="Arial"/>
              </a:rPr>
              <a:t>eyeballing</a:t>
            </a:r>
            <a:r>
              <a:rPr lang="ja-JP" sz="3200">
                <a:latin typeface="Arial"/>
                <a:cs typeface="Arial"/>
              </a:rPr>
              <a:t>”</a:t>
            </a:r>
            <a:r>
              <a:rPr lang="en-US" sz="3200">
                <a:latin typeface="Arial"/>
                <a:cs typeface="Arial"/>
              </a:rPr>
              <a:t> positions</a:t>
            </a:r>
            <a:r>
              <a:rPr lang="en-US" sz="3200">
                <a:latin typeface="Arial"/>
                <a:cs typeface="Arial"/>
              </a:rPr>
              <a:t>.</a:t>
            </a:r>
            <a:endParaRPr/>
          </a:p>
          <a:p>
            <a:pPr lvl="1">
              <a:spcBef>
                <a:spcPts val="0"/>
              </a:spcBef>
              <a:buFontTx/>
              <a:buChar char="•"/>
              <a:defRPr/>
            </a:pPr>
            <a:r>
              <a:rPr lang="en-US" sz="3200">
                <a:latin typeface="Arial"/>
                <a:cs typeface="Arial"/>
              </a:rPr>
              <a:t>This particular template has a four-column layout suitable for a 36” × 48” tri-fold board, with 1” margins and 1” between each column. Central columns are 11” wide, and outer columns are 10.5” wide</a:t>
            </a:r>
            <a:r>
              <a:rPr lang="en-US" sz="3200">
                <a:latin typeface="Arial"/>
                <a:cs typeface="Arial"/>
              </a:rPr>
              <a:t>.</a:t>
            </a:r>
            <a:endParaRPr lang="en-US" sz="3200">
              <a:latin typeface="Arial"/>
              <a:cs typeface="Arial"/>
            </a:endParaRPr>
          </a:p>
        </p:txBody>
      </p:sp>
      <p:sp>
        <p:nvSpPr>
          <p:cNvPr id="791092899" name="Text Box 92"/>
          <p:cNvSpPr txBox="1">
            <a:spLocks noChangeArrowheads="1"/>
          </p:cNvSpPr>
          <p:nvPr/>
        </p:nvSpPr>
        <p:spPr bwMode="auto">
          <a:xfrm>
            <a:off x="11430000" y="3430588"/>
            <a:ext cx="10058400" cy="3131923"/>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lvl="1">
              <a:spcBef>
                <a:spcPts val="0"/>
              </a:spcBef>
              <a:buFontTx/>
              <a:buChar char="•"/>
              <a:defRPr/>
            </a:pPr>
            <a:r>
              <a:rPr lang="en-US" sz="3200">
                <a:latin typeface="Arial"/>
                <a:cs typeface="Arial"/>
              </a:rPr>
              <a:t>Guidelines </a:t>
            </a:r>
            <a:r>
              <a:rPr lang="en-US" sz="3200">
                <a:latin typeface="Arial"/>
                <a:cs typeface="Arial"/>
              </a:rPr>
              <a:t>have been placed at the </a:t>
            </a:r>
            <a:r>
              <a:rPr lang="en-US" sz="3200">
                <a:latin typeface="Arial"/>
                <a:cs typeface="Arial"/>
              </a:rPr>
              <a:t>margins of </a:t>
            </a:r>
            <a:r>
              <a:rPr lang="en-US" sz="3200">
                <a:latin typeface="Arial"/>
                <a:cs typeface="Arial"/>
              </a:rPr>
              <a:t>each </a:t>
            </a:r>
            <a:r>
              <a:rPr lang="en-US" sz="3200">
                <a:latin typeface="Arial"/>
                <a:cs typeface="Arial"/>
              </a:rPr>
              <a:t>of the columns. </a:t>
            </a:r>
            <a:r>
              <a:rPr lang="en-US" sz="3200">
                <a:latin typeface="Arial"/>
                <a:cs typeface="Arial"/>
              </a:rPr>
              <a:t>Use </a:t>
            </a:r>
            <a:r>
              <a:rPr lang="en-US" sz="3200">
                <a:latin typeface="Arial"/>
                <a:cs typeface="Arial"/>
              </a:rPr>
              <a:t>them to </a:t>
            </a:r>
            <a:r>
              <a:rPr lang="en-US" sz="3200">
                <a:latin typeface="Arial"/>
                <a:cs typeface="Arial"/>
              </a:rPr>
              <a:t>quickly position objects in a column.</a:t>
            </a:r>
            <a:endParaRPr/>
          </a:p>
          <a:p>
            <a:pPr lvl="1">
              <a:spcBef>
                <a:spcPts val="0"/>
              </a:spcBef>
              <a:buFontTx/>
              <a:buChar char="•"/>
              <a:defRPr/>
            </a:pPr>
            <a:r>
              <a:rPr lang="en-US" sz="3200">
                <a:latin typeface="Arial"/>
                <a:cs typeface="Arial"/>
              </a:rPr>
              <a:t>Keep your text boxes 10.5 or 11 inches wide to ensure that they fill up the entire column.</a:t>
            </a:r>
            <a:endParaRPr lang="en-US" sz="3200">
              <a:latin typeface="Arial"/>
              <a:cs typeface="Arial"/>
            </a:endParaRPr>
          </a:p>
        </p:txBody>
      </p:sp>
      <p:sp>
        <p:nvSpPr>
          <p:cNvPr id="133390483" name="Text Box 96"/>
          <p:cNvSpPr txBox="1">
            <a:spLocks noChangeArrowheads="1"/>
          </p:cNvSpPr>
          <p:nvPr/>
        </p:nvSpPr>
        <p:spPr bwMode="auto">
          <a:xfrm>
            <a:off x="11430000" y="6475230"/>
            <a:ext cx="10058400" cy="16230600"/>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Advanced Figures/Graphics Instructions</a:t>
            </a:r>
            <a:endParaRPr/>
          </a:p>
          <a:p>
            <a:pPr lvl="1">
              <a:spcBef>
                <a:spcPts val="0"/>
              </a:spcBef>
              <a:buFontTx/>
              <a:buChar char="•"/>
              <a:defRPr/>
            </a:pPr>
            <a:r>
              <a:rPr lang="en-US" sz="3200">
                <a:latin typeface="Arial"/>
                <a:cs typeface="Arial"/>
              </a:rPr>
              <a:t>Use vector graphics formats </a:t>
            </a:r>
            <a:r>
              <a:rPr lang="en-US" sz="3200">
                <a:latin typeface="Arial"/>
                <a:cs typeface="Arial"/>
              </a:rPr>
              <a:t>(EPS, PDF, </a:t>
            </a:r>
            <a:r>
              <a:rPr lang="en-US" sz="3200">
                <a:latin typeface="Arial"/>
                <a:cs typeface="Arial"/>
              </a:rPr>
              <a:t>or WMF) rather than raster graphics formats (PNG, JPG, BMP, etc.) when inserting charts or other non-photographic figures.</a:t>
            </a:r>
            <a:endParaRPr/>
          </a:p>
          <a:p>
            <a:pPr lvl="1">
              <a:spcBef>
                <a:spcPts val="0"/>
              </a:spcBef>
              <a:buFontTx/>
              <a:buChar char="•"/>
              <a:defRPr/>
            </a:pPr>
            <a:r>
              <a:rPr lang="en-US" sz="3200">
                <a:latin typeface="Arial"/>
                <a:cs typeface="Arial"/>
              </a:rPr>
              <a:t>Keep your figures to </a:t>
            </a:r>
            <a:r>
              <a:rPr lang="en-US" sz="3200">
                <a:latin typeface="Arial"/>
                <a:cs typeface="Arial"/>
              </a:rPr>
              <a:t>10.5 inches </a:t>
            </a:r>
            <a:r>
              <a:rPr lang="en-US" sz="3200">
                <a:latin typeface="Arial"/>
                <a:cs typeface="Arial"/>
              </a:rPr>
              <a:t>wide or smaller to avoid them crossing over more than one column.</a:t>
            </a:r>
            <a:endParaRPr/>
          </a:p>
          <a:p>
            <a:pPr lvl="1">
              <a:spcBef>
                <a:spcPts val="0"/>
              </a:spcBef>
              <a:buFontTx/>
              <a:buChar char="•"/>
              <a:defRPr/>
            </a:pPr>
            <a:r>
              <a:rPr lang="en-US" sz="3200">
                <a:latin typeface="Arial"/>
                <a:cs typeface="Arial"/>
              </a:rPr>
              <a:t>Be careful with digital camera photos: a 3.2 megapixel image should be sized no larger than 6.82x5.12 inches on the poster to avoid loss of image quality. Clip art or images found on web pages are generally much too low-resolution to be useful. Remember that your monitor probably has a resolution of 100 pixels per inch, while the oldest plotters on campus have resolutions of 300 pixels per inch. There</a:t>
            </a:r>
            <a:r>
              <a:rPr lang="ja-JP" sz="3200">
                <a:latin typeface="Arial"/>
                <a:cs typeface="Arial"/>
              </a:rPr>
              <a:t>’</a:t>
            </a:r>
            <a:r>
              <a:rPr lang="en-US" sz="3200">
                <a:latin typeface="Arial"/>
                <a:cs typeface="Arial"/>
              </a:rPr>
              <a:t>s nothing inherently wrong with increasing the size of the picture if you need to, just realize that if you increase it too much, then the image quality will suffer.</a:t>
            </a:r>
            <a:endParaRPr/>
          </a:p>
          <a:p>
            <a:pPr lvl="1">
              <a:spcBef>
                <a:spcPts val="0"/>
              </a:spcBef>
              <a:buFontTx/>
              <a:buChar char="•"/>
              <a:defRPr/>
            </a:pPr>
            <a:r>
              <a:rPr lang="en-US" sz="3200">
                <a:latin typeface="Arial"/>
                <a:cs typeface="Arial"/>
              </a:rPr>
              <a:t>If you need a caption on a figure, insert a text box below the figure, resize the text box to no wider than </a:t>
            </a:r>
            <a:r>
              <a:rPr lang="en-US" sz="3200">
                <a:latin typeface="Arial"/>
                <a:cs typeface="Arial"/>
              </a:rPr>
              <a:t>the column width, </a:t>
            </a:r>
            <a:r>
              <a:rPr lang="en-US" sz="3200">
                <a:latin typeface="Arial"/>
                <a:cs typeface="Arial"/>
              </a:rPr>
              <a:t>and use </a:t>
            </a:r>
            <a:r>
              <a:rPr lang="en-US" sz="3200">
                <a:latin typeface="Arial"/>
                <a:cs typeface="Arial"/>
              </a:rPr>
              <a:t>PowerPoint’s </a:t>
            </a:r>
            <a:r>
              <a:rPr lang="en-US" sz="3200" b="1">
                <a:latin typeface="Arial"/>
                <a:cs typeface="Arial"/>
              </a:rPr>
              <a:t>Arrange / </a:t>
            </a:r>
            <a:r>
              <a:rPr lang="en-US" sz="3200" b="1">
                <a:latin typeface="Arial"/>
                <a:cs typeface="Arial"/>
              </a:rPr>
              <a:t>Align or Distribute / Align Center</a:t>
            </a:r>
            <a:r>
              <a:rPr lang="en-US" sz="3200">
                <a:latin typeface="Arial"/>
                <a:cs typeface="Arial"/>
              </a:rPr>
              <a:t> menu at the bottom of the screen to ensure that the caption is centered under the image. Then use the </a:t>
            </a:r>
            <a:r>
              <a:rPr lang="en-US" sz="3200" b="1">
                <a:latin typeface="Arial"/>
                <a:cs typeface="Arial"/>
              </a:rPr>
              <a:t>Arrange / </a:t>
            </a:r>
            <a:r>
              <a:rPr lang="en-US" sz="3200" b="1">
                <a:latin typeface="Arial"/>
                <a:cs typeface="Arial"/>
              </a:rPr>
              <a:t>Group</a:t>
            </a:r>
            <a:r>
              <a:rPr lang="en-US" sz="3200">
                <a:latin typeface="Arial"/>
                <a:cs typeface="Arial"/>
              </a:rPr>
              <a:t> menu to treat the figure and caption as a single entity. All the captions on this sample poster were created this way, and you can use them as examples if needed.</a:t>
            </a:r>
            <a:endParaRPr lang="en-US" sz="3200" b="1">
              <a:latin typeface="Arial"/>
              <a:cs typeface="Arial"/>
            </a:endParaRPr>
          </a:p>
        </p:txBody>
      </p:sp>
      <p:grpSp>
        <p:nvGrpSpPr>
          <p:cNvPr id="1188198175" name="Group 255"/>
          <p:cNvGrpSpPr/>
          <p:nvPr/>
        </p:nvGrpSpPr>
        <p:grpSpPr bwMode="auto">
          <a:xfrm>
            <a:off x="22963187" y="4666130"/>
            <a:ext cx="8990013" cy="7086600"/>
            <a:chOff x="19104" y="2256"/>
            <a:chExt cx="5663" cy="4464"/>
          </a:xfrm>
        </p:grpSpPr>
        <p:pic>
          <p:nvPicPr>
            <p:cNvPr id="17" name="Picture 73" descr="samplefig"/>
            <p:cNvPicPr>
              <a:picLocks noChangeAspect="1" noChangeArrowheads="1"/>
            </p:cNvPicPr>
            <p:nvPr/>
          </p:nvPicPr>
          <p:blipFill rotWithShape="1">
            <a:blip r:embed="rId6"/>
            <a:stretch/>
          </p:blipFill>
          <p:spPr bwMode="auto">
            <a:xfrm>
              <a:off x="19104" y="2256"/>
              <a:ext cx="5663" cy="3987"/>
            </a:xfrm>
            <a:prstGeom prst="rect">
              <a:avLst/>
            </a:prstGeom>
            <a:noFill/>
            <a:ln w="9525">
              <a:solidFill>
                <a:schemeClr val="tx1"/>
              </a:solidFill>
              <a:miter lim="800000"/>
              <a:headEnd/>
              <a:tailEnd/>
            </a:ln>
          </p:spPr>
        </p:pic>
        <p:sp>
          <p:nvSpPr>
            <p:cNvPr id="18" name="Text Box 231"/>
            <p:cNvSpPr txBox="1">
              <a:spLocks noChangeArrowheads="1"/>
            </p:cNvSpPr>
            <p:nvPr/>
          </p:nvSpPr>
          <p:spPr bwMode="auto">
            <a:xfrm>
              <a:off x="19104" y="6383"/>
              <a:ext cx="5663" cy="337"/>
            </a:xfrm>
            <a:prstGeom prst="rect">
              <a:avLst/>
            </a:prstGeom>
            <a:noFill/>
            <a:ln>
              <a:noFill/>
            </a:ln>
            <a:effectLst/>
          </p:spPr>
          <p:txBody>
            <a:bodyPr anchor="ctr" anchorCtr="1"/>
            <a:lstStyle/>
            <a:p>
              <a:pPr algn="ctr">
                <a:spcBef>
                  <a:spcPts val="0"/>
                </a:spcBef>
                <a:defRPr/>
              </a:pPr>
              <a:r>
                <a:rPr lang="en-US" sz="3200">
                  <a:latin typeface="Arial"/>
                  <a:cs typeface="Arial"/>
                </a:rPr>
                <a:t>MATLAB </a:t>
              </a:r>
              <a:r>
                <a:rPr lang="en-US" sz="3200">
                  <a:latin typeface="Arial"/>
                  <a:cs typeface="Arial"/>
                </a:rPr>
                <a:t>Vectorized</a:t>
              </a:r>
              <a:r>
                <a:rPr lang="en-US" sz="3200">
                  <a:latin typeface="Arial"/>
                  <a:cs typeface="Arial"/>
                </a:rPr>
                <a:t> Plot </a:t>
              </a:r>
              <a:r>
                <a:rPr lang="en-US" sz="3200">
                  <a:latin typeface="Arial"/>
                  <a:cs typeface="Arial"/>
                </a:rPr>
                <a:t>(use print –depsc2 </a:t>
              </a:r>
              <a:r>
                <a:rPr lang="en-US" sz="3200">
                  <a:latin typeface="Arial"/>
                  <a:cs typeface="Arial"/>
                </a:rPr>
                <a:t>filename.eps</a:t>
              </a:r>
              <a:r>
                <a:rPr lang="en-US" sz="3200">
                  <a:latin typeface="Arial"/>
                  <a:cs typeface="Arial"/>
                </a:rPr>
                <a:t> to generate)</a:t>
              </a:r>
              <a:endParaRPr/>
            </a:p>
          </p:txBody>
        </p:sp>
      </p:grpSp>
      <p:graphicFrame>
        <p:nvGraphicFramePr>
          <p:cNvPr id="133338991" name="Group 248"/>
          <p:cNvGraphicFramePr>
            <a:graphicFrameLocks xmlns:a="http://schemas.openxmlformats.org/drawingml/2006/main" noGrp="1"/>
          </p:cNvGraphicFramePr>
          <p:nvPr/>
        </p:nvGraphicFramePr>
        <p:xfrm rot="0">
          <a:off x="22402800" y="27715464"/>
          <a:ext cx="10058401" cy="3831336"/>
        </p:xfrm>
        <a:graphic>
          <a:graphicData uri="http://schemas.openxmlformats.org/drawingml/2006/table">
            <a:tbl>
              <a:tblPr firstRow="0" firstCol="0" lastRow="0" lastCol="0" bandRow="0" bandCol="0"/>
              <a:tblGrid>
                <a:gridCol w="2802113"/>
                <a:gridCol w="2561306"/>
                <a:gridCol w="2255696"/>
                <a:gridCol w="2439286"/>
              </a:tblGrid>
              <a:tr h="666750">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Sample</a:t>
                      </a:r>
                      <a:endParaRPr/>
                    </a:p>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Number</a:t>
                      </a:r>
                      <a:endParaRPr lang="en-US" sz="3200" b="0" i="0" u="none" strike="noStrike" cap="none">
                        <a:ln>
                          <a:noFill/>
                        </a:ln>
                        <a:solidFill>
                          <a:schemeClr val="tx1"/>
                        </a:solidFill>
                        <a:latin typeface="Arial"/>
                        <a:ea typeface="ＭＳ Ｐゴシック"/>
                      </a:endParaRPr>
                    </a:p>
                  </a:txBody>
                  <a:tcPr anchor="b">
                    <a:lnL w="28575"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Expected Result</a:t>
                      </a:r>
                      <a:endParaRPr/>
                    </a:p>
                  </a:txBody>
                  <a:tcPr anchor="b">
                    <a:lnL w="12700"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Actual Result</a:t>
                      </a:r>
                      <a:endParaRPr/>
                    </a:p>
                  </a:txBody>
                  <a:tcPr anchor="b">
                    <a:lnL w="12700"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Percent Difference</a:t>
                      </a:r>
                      <a:endParaRPr/>
                    </a:p>
                  </a:txBody>
                  <a:tcPr anchor="b">
                    <a:lnL w="12700" algn="ctr">
                      <a:solidFill>
                        <a:schemeClr val="tx1"/>
                      </a:solidFill>
                    </a:lnL>
                    <a:lnR w="28575" algn="ctr">
                      <a:solidFill>
                        <a:schemeClr val="tx1"/>
                      </a:solidFill>
                    </a:lnR>
                    <a:lnT w="28575" algn="ctr">
                      <a:solidFill>
                        <a:schemeClr val="tx1"/>
                      </a:solidFill>
                    </a:lnT>
                    <a:lnB w="12700" algn="ctr">
                      <a:solidFill>
                        <a:schemeClr val="tx1"/>
                      </a:solidFill>
                    </a:lnB>
                    <a:noFill/>
                  </a:tcPr>
                </a:tc>
              </a:tr>
              <a:tr h="666750">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a:t>
                      </a:r>
                      <a:endParaRPr/>
                    </a:p>
                  </a:txBody>
                  <a:tcPr anchor="b">
                    <a:lnL w="28575"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98</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103</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+5%</a:t>
                      </a:r>
                      <a:endParaRPr/>
                    </a:p>
                  </a:txBody>
                  <a:tcPr anchor="b">
                    <a:lnL w="12700" algn="ctr">
                      <a:solidFill>
                        <a:schemeClr val="tx1"/>
                      </a:solidFill>
                    </a:lnL>
                    <a:lnR w="28575" algn="ctr">
                      <a:solidFill>
                        <a:schemeClr val="tx1"/>
                      </a:solidFill>
                    </a:lnR>
                    <a:lnT w="12700" algn="ctr">
                      <a:solidFill>
                        <a:schemeClr val="tx1"/>
                      </a:solidFill>
                    </a:lnT>
                    <a:lnB w="12700" algn="ctr">
                      <a:solidFill>
                        <a:schemeClr val="tx1"/>
                      </a:solidFill>
                    </a:lnB>
                    <a:noFill/>
                  </a:tcPr>
                </a:tc>
              </a:tr>
              <a:tr h="666750">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2</a:t>
                      </a:r>
                      <a:endParaRPr/>
                    </a:p>
                  </a:txBody>
                  <a:tcPr anchor="b">
                    <a:lnL w="28575"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110</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112</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+2%</a:t>
                      </a:r>
                      <a:endParaRPr/>
                    </a:p>
                  </a:txBody>
                  <a:tcPr anchor="b">
                    <a:lnL w="12700" algn="ctr">
                      <a:solidFill>
                        <a:schemeClr val="tx1"/>
                      </a:solidFill>
                    </a:lnL>
                    <a:lnR w="28575" algn="ctr">
                      <a:solidFill>
                        <a:schemeClr val="tx1"/>
                      </a:solidFill>
                    </a:lnR>
                    <a:lnT w="12700" algn="ctr">
                      <a:solidFill>
                        <a:schemeClr val="tx1"/>
                      </a:solidFill>
                    </a:lnT>
                    <a:lnB w="12700" algn="ctr">
                      <a:solidFill>
                        <a:schemeClr val="tx1"/>
                      </a:solidFill>
                    </a:lnB>
                    <a:noFill/>
                  </a:tcPr>
                </a:tc>
              </a:tr>
              <a:tr h="666750">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3</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130</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125</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-4%</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r>
              <a:tr h="666750">
                <a:tc gridSpan="4">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Caption for a Example Table</a:t>
                      </a:r>
                      <a:endParaRPr/>
                    </a:p>
                  </a:txBody>
                  <a:tcPr anchor="b">
                    <a:lnL w="12700" algn="ctr">
                      <a:noFill/>
                    </a:lnL>
                    <a:lnR w="12700" algn="ctr">
                      <a:noFill/>
                    </a:lnR>
                    <a:lnT w="12700" algn="ctr">
                      <a:solidFill>
                        <a:schemeClr val="tx1"/>
                      </a:solidFill>
                    </a:lnT>
                    <a:lnB w="12700" algn="ctr">
                      <a:noFill/>
                    </a:lnB>
                    <a:noFill/>
                  </a:tcPr>
                </a:tc>
                <a:tc hMerge="1">
                  <a:txBody>
                    <a:bodyPr/>
                    <a:p>
                      <a:endParaRPr/>
                    </a:p>
                  </a:txBody>
                </a:tc>
                <a:tc hMerge="1">
                  <a:txBody>
                    <a:bodyPr/>
                    <a:p>
                      <a:endParaRPr/>
                    </a:p>
                  </a:txBody>
                </a:tc>
                <a:tc hMerge="1">
                  <a:txBody>
                    <a:bodyPr/>
                    <a:p>
                      <a:endParaRPr/>
                    </a:p>
                  </a:txBody>
                </a:tc>
              </a:tr>
            </a:tbl>
          </a:graphicData>
        </a:graphic>
      </p:graphicFrame>
      <p:grpSp>
        <p:nvGrpSpPr>
          <p:cNvPr id="31569907" name="Group 21"/>
          <p:cNvGrpSpPr/>
          <p:nvPr/>
        </p:nvGrpSpPr>
        <p:grpSpPr bwMode="auto">
          <a:xfrm>
            <a:off x="33378775" y="4639301"/>
            <a:ext cx="9601200" cy="3448685"/>
            <a:chOff x="33375601" y="21056600"/>
            <a:chExt cx="9601200" cy="3448685"/>
          </a:xfrm>
        </p:grpSpPr>
        <p:pic>
          <p:nvPicPr>
            <p:cNvPr id="20" name="Picture 19" descr="ttu_logo.png"/>
            <p:cNvPicPr>
              <a:picLocks noChangeAspect="1"/>
            </p:cNvPicPr>
            <p:nvPr/>
          </p:nvPicPr>
          <p:blipFill rotWithShape="1">
            <a:blip r:embed="rId7"/>
            <a:stretch/>
          </p:blipFill>
          <p:spPr bwMode="auto">
            <a:xfrm>
              <a:off x="33375601" y="21056600"/>
              <a:ext cx="9601200" cy="1220962"/>
            </a:xfrm>
            <a:prstGeom prst="rect">
              <a:avLst/>
            </a:prstGeom>
          </p:spPr>
        </p:pic>
        <p:sp>
          <p:nvSpPr>
            <p:cNvPr id="21" name="TextBox 20"/>
            <p:cNvSpPr txBox="1"/>
            <p:nvPr/>
          </p:nvSpPr>
          <p:spPr bwMode="auto">
            <a:xfrm>
              <a:off x="33959802" y="22443182"/>
              <a:ext cx="8432799" cy="2062103"/>
            </a:xfrm>
            <a:prstGeom prst="rect">
              <a:avLst/>
            </a:prstGeom>
            <a:noFill/>
          </p:spPr>
          <p:txBody>
            <a:bodyPr wrap="square" rtlCol="0">
              <a:spAutoFit/>
            </a:bodyPr>
            <a:lstStyle/>
            <a:p>
              <a:pPr>
                <a:defRPr/>
              </a:pPr>
              <a:r>
                <a:rPr lang="en-US" sz="3200">
                  <a:latin typeface="Arial"/>
                  <a:cs typeface="Arial"/>
                </a:rPr>
                <a:t>Logo downloaded from website and scaled up: </a:t>
              </a:r>
              <a:r>
                <a:rPr lang="en-US" sz="3200" b="1">
                  <a:latin typeface="Arial"/>
                  <a:cs typeface="Arial"/>
                </a:rPr>
                <a:t>don’t do this!</a:t>
              </a:r>
              <a:r>
                <a:rPr lang="en-US" sz="3200">
                  <a:latin typeface="Arial"/>
                  <a:cs typeface="Arial"/>
                </a:rPr>
                <a:t> It may look ok on your monitor, but it won’t look good on the real poster.</a:t>
              </a:r>
              <a:endParaRPr lang="en-US" sz="3200">
                <a:latin typeface="Arial"/>
                <a:cs typeface="Arial"/>
              </a:endParaRPr>
            </a:p>
          </p:txBody>
        </p:sp>
      </p:grpSp>
      <p:sp>
        <p:nvSpPr>
          <p:cNvPr id="1281133828" name="TextBox 32"/>
          <p:cNvSpPr txBox="1"/>
          <p:nvPr/>
        </p:nvSpPr>
        <p:spPr bwMode="auto">
          <a:xfrm>
            <a:off x="33381950" y="3517887"/>
            <a:ext cx="9598025" cy="646331"/>
          </a:xfrm>
          <a:prstGeom prst="rect">
            <a:avLst/>
          </a:prstGeom>
          <a:noFill/>
        </p:spPr>
        <p:txBody>
          <a:bodyPr wrap="square" rtlCol="0">
            <a:spAutoFit/>
          </a:bodyPr>
          <a:lstStyle/>
          <a:p>
            <a:pPr>
              <a:spcBef>
                <a:spcPts val="0"/>
              </a:spcBef>
              <a:defRPr/>
            </a:pPr>
            <a:r>
              <a:rPr lang="en-US" sz="3600" b="1">
                <a:latin typeface="Arial"/>
                <a:cs typeface="Arial"/>
              </a:rPr>
              <a:t>What Not To Do (With Graphics)</a:t>
            </a:r>
            <a:endParaRPr lang="en-US" sz="3600" b="1">
              <a:latin typeface="Arial"/>
              <a:cs typeface="Arial"/>
            </a:endParaRPr>
          </a:p>
        </p:txBody>
      </p:sp>
      <p:grpSp>
        <p:nvGrpSpPr>
          <p:cNvPr id="1346847887" name="Group 35"/>
          <p:cNvGrpSpPr/>
          <p:nvPr/>
        </p:nvGrpSpPr>
        <p:grpSpPr bwMode="auto">
          <a:xfrm>
            <a:off x="33381950" y="8209431"/>
            <a:ext cx="9594848" cy="10571188"/>
            <a:chOff x="33381950" y="8209431"/>
            <a:chExt cx="9594848" cy="10571188"/>
          </a:xfrm>
        </p:grpSpPr>
        <p:pic>
          <p:nvPicPr>
            <p:cNvPr id="32" name="Picture 31" descr="matlab-figure.jpg"/>
            <p:cNvPicPr>
              <a:picLocks noChangeAspect="1"/>
            </p:cNvPicPr>
            <p:nvPr/>
          </p:nvPicPr>
          <p:blipFill rotWithShape="1">
            <a:blip r:embed="rId8"/>
            <a:stretch/>
          </p:blipFill>
          <p:spPr bwMode="auto">
            <a:xfrm>
              <a:off x="33381950" y="8209431"/>
              <a:ext cx="9594848" cy="7196136"/>
            </a:xfrm>
            <a:prstGeom prst="rect">
              <a:avLst/>
            </a:prstGeom>
          </p:spPr>
        </p:pic>
        <p:sp>
          <p:nvSpPr>
            <p:cNvPr id="34" name="TextBox 33"/>
            <p:cNvSpPr txBox="1"/>
            <p:nvPr/>
          </p:nvSpPr>
          <p:spPr bwMode="auto">
            <a:xfrm>
              <a:off x="33962975" y="15241189"/>
              <a:ext cx="8432799" cy="3539430"/>
            </a:xfrm>
            <a:prstGeom prst="rect">
              <a:avLst/>
            </a:prstGeom>
            <a:noFill/>
          </p:spPr>
          <p:txBody>
            <a:bodyPr wrap="square" rtlCol="0">
              <a:spAutoFit/>
            </a:bodyPr>
            <a:lstStyle/>
            <a:p>
              <a:pPr>
                <a:defRPr/>
              </a:pPr>
              <a:r>
                <a:rPr lang="en-US" sz="3200">
                  <a:latin typeface="Arial"/>
                  <a:cs typeface="Arial"/>
                </a:rPr>
                <a:t>The same thing can happen with screenshots or graphs you make. Use vector formats (EPS, WMF) whenever possible for graphs. For screenshots, use PNG files. Only use JPEG </a:t>
              </a:r>
              <a:r>
                <a:rPr lang="en-US" sz="3200">
                  <a:latin typeface="Arial"/>
                  <a:cs typeface="Arial"/>
                </a:rPr>
                <a:t>files as </a:t>
              </a:r>
              <a:r>
                <a:rPr lang="en-US" sz="3200">
                  <a:latin typeface="Arial"/>
                  <a:cs typeface="Arial"/>
                </a:rPr>
                <a:t>a last resort – you’ll end up with graphic artifacts like the light-colored dots near the curve shown above.</a:t>
              </a:r>
              <a:endParaRPr/>
            </a:p>
          </p:txBody>
        </p:sp>
      </p:grpSp>
      <p:grpSp>
        <p:nvGrpSpPr>
          <p:cNvPr id="24610964" name="Group 37"/>
          <p:cNvGrpSpPr/>
          <p:nvPr/>
        </p:nvGrpSpPr>
        <p:grpSpPr bwMode="auto">
          <a:xfrm>
            <a:off x="22656800" y="13017078"/>
            <a:ext cx="9601200" cy="9936095"/>
            <a:chOff x="33375600" y="19168435"/>
            <a:chExt cx="9601200" cy="9936095"/>
          </a:xfrm>
        </p:grpSpPr>
        <p:pic>
          <p:nvPicPr>
            <p:cNvPr id="35" name="Picture 34" descr="2198734823_98f5e611c8_o.jpg"/>
            <p:cNvPicPr>
              <a:picLocks noChangeAspect="1"/>
            </p:cNvPicPr>
            <p:nvPr/>
          </p:nvPicPr>
          <p:blipFill rotWithShape="1">
            <a:blip r:embed="rId9"/>
            <a:stretch/>
          </p:blipFill>
          <p:spPr bwMode="auto">
            <a:xfrm>
              <a:off x="33375600" y="19168435"/>
              <a:ext cx="9601200" cy="6376917"/>
            </a:xfrm>
            <a:prstGeom prst="rect">
              <a:avLst/>
            </a:prstGeom>
          </p:spPr>
        </p:pic>
        <p:sp>
          <p:nvSpPr>
            <p:cNvPr id="37" name="TextBox 36"/>
            <p:cNvSpPr txBox="1"/>
            <p:nvPr/>
          </p:nvSpPr>
          <p:spPr bwMode="auto">
            <a:xfrm>
              <a:off x="33962975" y="25565100"/>
              <a:ext cx="8432799" cy="3539430"/>
            </a:xfrm>
            <a:prstGeom prst="rect">
              <a:avLst/>
            </a:prstGeom>
            <a:noFill/>
          </p:spPr>
          <p:txBody>
            <a:bodyPr wrap="square" rtlCol="0">
              <a:spAutoFit/>
            </a:bodyPr>
            <a:lstStyle/>
            <a:p>
              <a:pPr>
                <a:defRPr/>
              </a:pPr>
              <a:r>
                <a:rPr lang="en-US" sz="3200">
                  <a:latin typeface="Arial"/>
                  <a:cs typeface="Arial"/>
                </a:rPr>
                <a:t>This 6 megapixel (3216 × 2136 pixels) image is sized to 10.5” × 6.97” on paper. There are approximately 300 pixels in each inch, and this will look good. Making the picture larger on the poster won’t look as good. (CC image courtesy of International Rice Research Institute).</a:t>
              </a:r>
              <a:endParaRPr lang="en-US" sz="3200">
                <a:latin typeface="Arial"/>
                <a:cs typeface="Arial"/>
              </a:endParaRPr>
            </a:p>
          </p:txBody>
        </p:sp>
      </p:grpSp>
      <p:pic>
        <p:nvPicPr>
          <p:cNvPr id="874804651" name="Picture 38" descr="2198734823_8a198d1707_b.jpg"/>
          <p:cNvPicPr>
            <a:picLocks noChangeAspect="1"/>
          </p:cNvPicPr>
          <p:nvPr/>
        </p:nvPicPr>
        <p:blipFill rotWithShape="1">
          <a:blip r:embed="rId10"/>
          <a:stretch/>
        </p:blipFill>
        <p:spPr bwMode="auto">
          <a:xfrm>
            <a:off x="33381949" y="19105879"/>
            <a:ext cx="9594848" cy="6371578"/>
          </a:xfrm>
          <a:prstGeom prst="rect">
            <a:avLst/>
          </a:prstGeom>
        </p:spPr>
      </p:pic>
      <p:sp>
        <p:nvSpPr>
          <p:cNvPr id="63467797" name="TextBox 39"/>
          <p:cNvSpPr txBox="1"/>
          <p:nvPr/>
        </p:nvSpPr>
        <p:spPr bwMode="auto">
          <a:xfrm>
            <a:off x="33962975" y="25675265"/>
            <a:ext cx="8432799" cy="2554545"/>
          </a:xfrm>
          <a:prstGeom prst="rect">
            <a:avLst/>
          </a:prstGeom>
          <a:noFill/>
        </p:spPr>
        <p:txBody>
          <a:bodyPr wrap="square" rtlCol="0">
            <a:spAutoFit/>
          </a:bodyPr>
          <a:lstStyle/>
          <a:p>
            <a:pPr>
              <a:defRPr/>
            </a:pPr>
            <a:r>
              <a:rPr lang="en-US" sz="3200">
                <a:latin typeface="Arial"/>
                <a:cs typeface="Arial"/>
              </a:rPr>
              <a:t>This 0.7 megapixel (1024 × 680 pixels) image is sized to 10.5” × 6.97” on paper. There are approximately 100 pixels in each inch, and this doesn’t look as good as the original photo at left.</a:t>
            </a:r>
            <a:endParaRPr lang="en-US" sz="3200">
              <a:latin typeface="Arial"/>
              <a:cs typeface="Arial"/>
            </a:endParaRPr>
          </a:p>
        </p:txBody>
      </p:sp>
      <p:sp>
        <p:nvSpPr>
          <p:cNvPr id="650711707" name="TextBox 40"/>
          <p:cNvSpPr txBox="1"/>
          <p:nvPr/>
        </p:nvSpPr>
        <p:spPr bwMode="auto">
          <a:xfrm>
            <a:off x="22402800" y="3519475"/>
            <a:ext cx="9598025" cy="646331"/>
          </a:xfrm>
          <a:prstGeom prst="rect">
            <a:avLst/>
          </a:prstGeom>
          <a:noFill/>
        </p:spPr>
        <p:txBody>
          <a:bodyPr wrap="square" rtlCol="0">
            <a:spAutoFit/>
          </a:bodyPr>
          <a:lstStyle/>
          <a:p>
            <a:pPr>
              <a:spcBef>
                <a:spcPts val="0"/>
              </a:spcBef>
              <a:defRPr/>
            </a:pPr>
            <a:r>
              <a:rPr lang="en-US" sz="3600" b="1">
                <a:latin typeface="Arial"/>
                <a:cs typeface="Arial"/>
              </a:rPr>
              <a:t>What To Do (With Graphics)</a:t>
            </a:r>
            <a:endParaRPr lang="en-US" sz="3600" b="1">
              <a:latin typeface="Arial"/>
              <a:cs typeface="Arial"/>
            </a:endParaRPr>
          </a:p>
        </p:txBody>
      </p:sp>
      <p:sp>
        <p:nvSpPr>
          <p:cNvPr id="2079665379" name="Text Box 92"/>
          <p:cNvSpPr txBox="1">
            <a:spLocks noChangeArrowheads="1"/>
          </p:cNvSpPr>
          <p:nvPr/>
        </p:nvSpPr>
        <p:spPr bwMode="auto">
          <a:xfrm>
            <a:off x="11430000" y="22498254"/>
            <a:ext cx="10058400" cy="9048545"/>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Getting a Plot of Your Poster</a:t>
            </a:r>
            <a:endParaRPr lang="en-US" sz="3600" b="1">
              <a:latin typeface="Arial"/>
              <a:cs typeface="Arial"/>
            </a:endParaRPr>
          </a:p>
          <a:p>
            <a:pPr lvl="1">
              <a:spcBef>
                <a:spcPts val="0"/>
              </a:spcBef>
              <a:buFontTx/>
              <a:buChar char="•"/>
              <a:defRPr/>
            </a:pPr>
            <a:r>
              <a:rPr lang="en-US" sz="3200">
                <a:latin typeface="Arial"/>
                <a:cs typeface="Arial"/>
              </a:rPr>
              <a:t>Save a PDF of the poster using the File / Save As menu.</a:t>
            </a:r>
            <a:endParaRPr/>
          </a:p>
          <a:p>
            <a:pPr lvl="1">
              <a:spcBef>
                <a:spcPts val="0"/>
              </a:spcBef>
              <a:buFontTx/>
              <a:buChar char="•"/>
              <a:defRPr/>
            </a:pPr>
            <a:r>
              <a:rPr lang="en-US" sz="3200">
                <a:latin typeface="Arial"/>
                <a:cs typeface="Arial"/>
              </a:rPr>
              <a:t>Take the PDF to wherever you’ll </a:t>
            </a:r>
            <a:r>
              <a:rPr lang="en-US" sz="3200">
                <a:latin typeface="Arial"/>
                <a:cs typeface="Arial"/>
              </a:rPr>
              <a:t>br</a:t>
            </a:r>
            <a:r>
              <a:rPr lang="en-US" sz="3200">
                <a:latin typeface="Arial"/>
                <a:cs typeface="Arial"/>
              </a:rPr>
              <a:t> printing the poster.</a:t>
            </a:r>
            <a:endParaRPr lang="en-US" sz="3200">
              <a:latin typeface="Arial"/>
              <a:cs typeface="Arial"/>
            </a:endParaRPr>
          </a:p>
          <a:p>
            <a:pPr lvl="1">
              <a:spcBef>
                <a:spcPts val="0"/>
              </a:spcBef>
              <a:buFontTx/>
              <a:buChar char="•"/>
              <a:defRPr/>
            </a:pPr>
            <a:r>
              <a:rPr lang="en-US" sz="3200">
                <a:latin typeface="Arial"/>
                <a:cs typeface="Arial"/>
              </a:rPr>
              <a:t>If you’re using the labs in Clement Hall 405, bring your Tech ID,  your PDF file, and your PowerPoint file to the helpdesk during normal lab hours (Fall and Spring: 2p-12a Sunday, 12p-12a Monday-Thursday, 10a-5p Friday. Summer: 7p-11p Sunday-Thursday).</a:t>
            </a:r>
            <a:endParaRPr/>
          </a:p>
          <a:p>
            <a:pPr lvl="1">
              <a:spcBef>
                <a:spcPts val="0"/>
              </a:spcBef>
              <a:buFontTx/>
              <a:buChar char="•"/>
              <a:defRPr/>
            </a:pPr>
            <a:r>
              <a:rPr lang="en-US" sz="3200">
                <a:latin typeface="Arial"/>
                <a:cs typeface="Arial"/>
              </a:rPr>
              <a:t>In some cases,  you may be directed to the lab manager.</a:t>
            </a:r>
            <a:endParaRPr/>
          </a:p>
          <a:p>
            <a:pPr lvl="1">
              <a:spcBef>
                <a:spcPts val="0"/>
              </a:spcBef>
              <a:buFontTx/>
              <a:buChar char="•"/>
              <a:defRPr/>
            </a:pPr>
            <a:r>
              <a:rPr lang="en-US" sz="3200">
                <a:latin typeface="Arial"/>
                <a:cs typeface="Arial"/>
              </a:rPr>
              <a:t>You’ll receive an email when the poster has been printed.</a:t>
            </a:r>
            <a:endParaRPr/>
          </a:p>
        </p:txBody>
      </p:sp>
      <p:sp>
        <p:nvSpPr>
          <p:cNvPr id="1843036613" name="Text Box 61"/>
          <p:cNvSpPr txBox="1">
            <a:spLocks noChangeArrowheads="1"/>
          </p:cNvSpPr>
          <p:nvPr/>
        </p:nvSpPr>
        <p:spPr bwMode="auto">
          <a:xfrm>
            <a:off x="917574" y="31546800"/>
            <a:ext cx="42059223" cy="457200"/>
          </a:xfrm>
          <a:prstGeom prst="rect">
            <a:avLst/>
          </a:prstGeom>
          <a:noFill/>
          <a:ln>
            <a:noFill/>
          </a:ln>
          <a:effectLst/>
        </p:spPr>
        <p:txBody>
          <a:bodyPr wrap="square">
            <a:spAutoFit/>
          </a:bodyPr>
          <a:lstStyle/>
          <a:p>
            <a:pPr algn="ctr">
              <a:spcBef>
                <a:spcPts val="0"/>
              </a:spcBef>
              <a:defRPr/>
            </a:pPr>
            <a:r>
              <a:rPr lang="en-US" sz="2400" i="1"/>
              <a:t>Acknowledgments such as state, federal, industry, university, or other support go here.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ONLYOFFICE/9.3.1.8</Application>
  <PresentationFormat>On-screen Show (4:3)</PresentationFormat>
  <Paragraphs>0</Paragraphs>
  <Slides>3</Slides>
  <Notes>3</Notes>
  <HiddenSlides>0</HiddenSlides>
  <MMClips>2</MMClips>
  <ScaleCrop>0</ScaleCrop>
  <HeadingPairs>
    <vt:vector size="4" baseType="variant">
      <vt:variant>
        <vt:lpstr>Theme</vt:lpstr>
      </vt:variant>
      <vt:variant>
        <vt:i4>1</vt:i4>
      </vt:variant>
      <vt:variant>
        <vt:lpstr>Slide Titles</vt:lpstr>
      </vt:variant>
      <vt:variant>
        <vt:i4>3</vt:i4>
      </vt:variant>
    </vt:vector>
  </HeadingPairs>
  <TitlesOfParts>
    <vt:vector size="4" baseType="lpstr">
      <vt:lpstr>Theme 1</vt:lpstr>
      <vt:lpstr>Slide 1</vt:lpstr>
      <vt:lpstr>Slide 2</vt:lpstr>
      <vt:lpstr>Slide 3</vt:lpstr>
    </vt:vector>
  </TitlesOfParts>
  <Company>Tennessee Tech University</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Mike Renfro</dc:creator>
  <cp:lastModifiedBy/>
  <cp:revision>22</cp:revision>
  <dcterms:created xsi:type="dcterms:W3CDTF">2014-03-28T10:29:27Z</dcterms:created>
  <dcterms:modified xsi:type="dcterms:W3CDTF">2026-04-19T21:22:25Z</dcterms:modified>
</cp:coreProperties>
</file>