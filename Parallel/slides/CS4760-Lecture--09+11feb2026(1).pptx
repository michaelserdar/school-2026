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369" r:id="rId4"/>
    <p:sldId id="414" r:id="rId5"/>
    <p:sldId id="314" r:id="rId6"/>
    <p:sldId id="397" r:id="rId7"/>
    <p:sldId id="398" r:id="rId8"/>
    <p:sldId id="399" r:id="rId9"/>
    <p:sldId id="402" r:id="rId10"/>
    <p:sldId id="403" r:id="rId11"/>
    <p:sldId id="405" r:id="rId12"/>
    <p:sldId id="410" r:id="rId13"/>
    <p:sldId id="368" r:id="rId14"/>
    <p:sldId id="408" r:id="rId15"/>
    <p:sldId id="409" r:id="rId16"/>
    <p:sldId id="413" r:id="rId17"/>
    <p:sldId id="362" r:id="rId18"/>
    <p:sldId id="367" r:id="rId19"/>
    <p:sldId id="363" r:id="rId20"/>
    <p:sldId id="364" r:id="rId21"/>
    <p:sldId id="365" r:id="rId22"/>
    <p:sldId id="415" r:id="rId23"/>
    <p:sldId id="263" r:id="rId24"/>
    <p:sldId id="272" r:id="rId25"/>
    <p:sldId id="264" r:id="rId26"/>
    <p:sldId id="269" r:id="rId27"/>
    <p:sldId id="271" r:id="rId28"/>
    <p:sldId id="366" r:id="rId29"/>
    <p:sldId id="361" r:id="rId30"/>
    <p:sldId id="26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370"/>
  </p:normalViewPr>
  <p:slideViewPr>
    <p:cSldViewPr snapToGrid="0" snapToObjects="1" showGuides="1">
      <p:cViewPr varScale="1">
        <p:scale>
          <a:sx n="102" d="100"/>
          <a:sy n="102" d="100"/>
        </p:scale>
        <p:origin x="246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025C3-DACA-AF44-BCA7-9399F9BE29C7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9D01D-EA20-D448-B920-75DA026FB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9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22363"/>
            <a:ext cx="821944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75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05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9"/>
            <a:ext cx="8219440" cy="2852737"/>
          </a:xfrm>
        </p:spPr>
        <p:txBody>
          <a:bodyPr anchor="b">
            <a:normAutofit/>
          </a:bodyPr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5"/>
            <a:ext cx="8219440" cy="105949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090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825625"/>
            <a:ext cx="4057651" cy="3782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57650" cy="3782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36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0" y="365126"/>
            <a:ext cx="818896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520" y="1681163"/>
            <a:ext cx="4020662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520" y="2505075"/>
            <a:ext cx="4020662" cy="31337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03733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037330" cy="31337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397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85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55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31218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0" y="987427"/>
            <a:ext cx="4799409" cy="46716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3121819" cy="36017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429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0" y="457200"/>
            <a:ext cx="310149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0" y="987426"/>
            <a:ext cx="4779090" cy="46615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7520" y="2057400"/>
            <a:ext cx="3101499" cy="35915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6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62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2132965" cy="529399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360" y="365125"/>
            <a:ext cx="5962015" cy="52939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99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718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365126"/>
            <a:ext cx="82296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825625"/>
            <a:ext cx="8229601" cy="3833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8786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416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angkun/modern-cpp-tutoria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mpi-forum.org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hpc-tutorials.llnl.gov/mpi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0145-FEAF-3E49-B446-C974DE04EB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CS4760/5760 Lecture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February 9 &amp; 11, 2026</a:t>
            </a:r>
          </a:p>
        </p:txBody>
      </p:sp>
    </p:spTree>
    <p:extLst>
      <p:ext uri="{BB962C8B-B14F-4D97-AF65-F5344CB8AC3E}">
        <p14:creationId xmlns:p14="http://schemas.microsoft.com/office/powerpoint/2010/main" val="29437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009"/>
            <a:ext cx="8229601" cy="4108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Recap on Concepts</a:t>
            </a:r>
          </a:p>
          <a:p>
            <a:r>
              <a:rPr lang="en-US" dirty="0"/>
              <a:t>More on Amdahl’s law vs. Practical Performance</a:t>
            </a:r>
          </a:p>
          <a:p>
            <a:r>
              <a:rPr lang="en-US" dirty="0"/>
              <a:t>Network Nomenclature </a:t>
            </a:r>
          </a:p>
          <a:p>
            <a:r>
              <a:rPr lang="en-US" dirty="0"/>
              <a:t>Quiz #1 (Easy, online, by Friday) – Explanation</a:t>
            </a:r>
          </a:p>
          <a:p>
            <a:r>
              <a:rPr lang="en-US" dirty="0"/>
              <a:t>Quiz #2 preview</a:t>
            </a:r>
          </a:p>
          <a:p>
            <a:r>
              <a:rPr lang="en-US" dirty="0"/>
              <a:t>HW #1 preview (plus more info)</a:t>
            </a:r>
          </a:p>
          <a:p>
            <a:r>
              <a:rPr lang="en-US" dirty="0"/>
              <a:t>C++20 Tutorial Info</a:t>
            </a:r>
          </a:p>
          <a:p>
            <a:r>
              <a:rPr lang="en-US" dirty="0"/>
              <a:t>Introducing MPI today and next few lectures</a:t>
            </a:r>
          </a:p>
          <a:p>
            <a:r>
              <a:rPr lang="en-US" dirty="0"/>
              <a:t>Then </a:t>
            </a:r>
            <a:r>
              <a:rPr lang="en-US" dirty="0" err="1"/>
              <a:t>Kokkos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27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6259-0E06-34A3-C1AA-6409E7B16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C1EF1-C705-B271-2215-5F2BD27D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on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06394-AB20-3851-2349-CDC41041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009"/>
            <a:ext cx="8229601" cy="41081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will explain</a:t>
            </a:r>
          </a:p>
          <a:p>
            <a:pPr lvl="1"/>
            <a:r>
              <a:rPr lang="en-US" dirty="0"/>
              <a:t>Scheduler (</a:t>
            </a:r>
            <a:r>
              <a:rPr lang="en-US" dirty="0" err="1"/>
              <a:t>slurm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MPI </a:t>
            </a:r>
          </a:p>
          <a:p>
            <a:pPr lvl="1"/>
            <a:r>
              <a:rPr lang="en-US" dirty="0"/>
              <a:t>OpenMP</a:t>
            </a:r>
          </a:p>
          <a:p>
            <a:pPr lvl="1"/>
            <a:r>
              <a:rPr lang="en-US" dirty="0" err="1"/>
              <a:t>Kokkos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lot more on these concepts coming over the next several lectures with examples</a:t>
            </a:r>
          </a:p>
          <a:p>
            <a:r>
              <a:rPr lang="en-US" dirty="0"/>
              <a:t>We will be running as much as possible on NCSA Delta system</a:t>
            </a:r>
          </a:p>
          <a:p>
            <a:r>
              <a:rPr lang="en-US" dirty="0"/>
              <a:t>We will do HW#1 on the local Warp-1 system</a:t>
            </a:r>
          </a:p>
          <a:p>
            <a:r>
              <a:rPr lang="en-US" dirty="0"/>
              <a:t>You can also do some HW#1 on your local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57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BD536-B7A3-973A-9058-D39C58563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7BEE-F0E7-0A9C-6430-C507F792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BEC95-965C-AD09-772F-6CB659DA8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009"/>
            <a:ext cx="8229601" cy="410811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MPI – inter-node programming model that can also be used intra-node</a:t>
            </a:r>
          </a:p>
          <a:p>
            <a:r>
              <a:rPr lang="en-US" dirty="0" err="1"/>
              <a:t>Kokkos</a:t>
            </a:r>
            <a:r>
              <a:rPr lang="en-US" dirty="0"/>
              <a:t> – intra-node programming model only</a:t>
            </a:r>
          </a:p>
          <a:p>
            <a:pPr lvl="1"/>
            <a:r>
              <a:rPr lang="en-US" dirty="0"/>
              <a:t>Targets multicore (using </a:t>
            </a:r>
            <a:r>
              <a:rPr lang="en-US" dirty="0" err="1"/>
              <a:t>OpenMPI</a:t>
            </a:r>
            <a:r>
              <a:rPr lang="en-US" dirty="0"/>
              <a:t> inside)</a:t>
            </a:r>
          </a:p>
          <a:p>
            <a:pPr lvl="1"/>
            <a:r>
              <a:rPr lang="en-US" dirty="0"/>
              <a:t>Targets GPUs (using CUDA or ROCM inside)</a:t>
            </a:r>
          </a:p>
          <a:p>
            <a:r>
              <a:rPr lang="en-US" dirty="0"/>
              <a:t>We are not learning OpenMP in this class directly</a:t>
            </a:r>
          </a:p>
          <a:p>
            <a:r>
              <a:rPr lang="en-US" dirty="0"/>
              <a:t>You will learn to do some CUDA, as it is an important baseline skill, then focus on </a:t>
            </a:r>
            <a:r>
              <a:rPr lang="en-US" dirty="0" err="1"/>
              <a:t>Kokkos</a:t>
            </a:r>
            <a:endParaRPr lang="en-US" dirty="0"/>
          </a:p>
          <a:p>
            <a:r>
              <a:rPr lang="en-US" dirty="0"/>
              <a:t>Together </a:t>
            </a:r>
            <a:r>
              <a:rPr lang="en-US" dirty="0" err="1"/>
              <a:t>MPI+Kokkos</a:t>
            </a:r>
            <a:r>
              <a:rPr lang="en-US" dirty="0"/>
              <a:t> is a form of MPI+X, dealing with heterogeneous, multi-level parallelism</a:t>
            </a:r>
          </a:p>
          <a:p>
            <a:r>
              <a:rPr lang="en-US" dirty="0"/>
              <a:t>Scheduler technology enables you to co-exist in a shared environment</a:t>
            </a:r>
          </a:p>
          <a:p>
            <a:r>
              <a:rPr lang="en-US" dirty="0"/>
              <a:t>We prefer systems where “whole nodes” and “dedicated GPUs” are available for experimentation and benchmarking.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16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D132CA51-9578-C2D8-C261-D9FB79C11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95109"/>
            <a:ext cx="8281987" cy="707886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Strong Scaling: Real-world Overheads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F95B0499-07F1-DAE0-E369-58457CF3D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z="2800" dirty="0"/>
              <a:t>Amdahl’s law is an ”upper bound” normally</a:t>
            </a:r>
          </a:p>
          <a:p>
            <a:r>
              <a:rPr lang="en-US" altLang="en-US" sz="2800" dirty="0"/>
              <a:t>Kinds of real-world effects</a:t>
            </a:r>
          </a:p>
          <a:p>
            <a:pPr lvl="1"/>
            <a:r>
              <a:rPr lang="en-US" altLang="en-US" sz="2400" dirty="0"/>
              <a:t>Load imbalance (static and dynamic)</a:t>
            </a:r>
          </a:p>
          <a:p>
            <a:pPr lvl="1"/>
            <a:r>
              <a:rPr lang="en-US" altLang="en-US" sz="2400" dirty="0"/>
              <a:t>Communication overheads</a:t>
            </a:r>
          </a:p>
          <a:p>
            <a:pPr lvl="1"/>
            <a:r>
              <a:rPr lang="en-US" altLang="en-US" sz="2400" dirty="0"/>
              <a:t>Indexing costs</a:t>
            </a:r>
          </a:p>
          <a:p>
            <a:pPr lvl="1"/>
            <a:r>
              <a:rPr lang="en-US" altLang="en-US" sz="2400" dirty="0"/>
              <a:t>I/O</a:t>
            </a:r>
          </a:p>
          <a:p>
            <a:pPr lvl="1"/>
            <a:r>
              <a:rPr lang="en-US" altLang="en-US" sz="2400" dirty="0"/>
              <a:t>Imperfect performance of each processing element (different speeds, memory correction)</a:t>
            </a:r>
          </a:p>
          <a:p>
            <a:pPr lvl="1"/>
            <a:r>
              <a:rPr lang="en-US" altLang="en-US" sz="2400" dirty="0"/>
              <a:t>Caching effects (not in simple SISD model)</a:t>
            </a:r>
          </a:p>
          <a:p>
            <a:pPr lvl="1"/>
            <a:r>
              <a:rPr lang="en-US" altLang="en-US" sz="2400" dirty="0"/>
              <a:t>Scaling effects (not in simple SISD model, network complexities)</a:t>
            </a:r>
          </a:p>
          <a:p>
            <a:pPr lvl="1"/>
            <a:endParaRPr lang="en-US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FAFEA-6093-53E5-3392-3ECDF863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CAD96FD9-AACD-D049-B39C-7129C7A2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Load Imbalance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E003822E-114F-5A28-2C3F-2F895653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Static</a:t>
            </a:r>
          </a:p>
          <a:p>
            <a:r>
              <a:rPr lang="en-US" altLang="en-US" dirty="0"/>
              <a:t>Dynamic</a:t>
            </a:r>
          </a:p>
          <a:p>
            <a:r>
              <a:rPr lang="en-US" altLang="en-US" dirty="0"/>
              <a:t>Computation-induced</a:t>
            </a:r>
          </a:p>
          <a:p>
            <a:r>
              <a:rPr lang="en-US" altLang="en-US" dirty="0"/>
              <a:t>Communication-induced</a:t>
            </a:r>
          </a:p>
          <a:p>
            <a:r>
              <a:rPr lang="en-US" altLang="en-US" dirty="0"/>
              <a:t>Communication bottlenecks</a:t>
            </a:r>
          </a:p>
          <a:p>
            <a:r>
              <a:rPr lang="en-US" altLang="en-US" dirty="0"/>
              <a:t>Some problems can be “load balanced” by moving data sets around</a:t>
            </a:r>
          </a:p>
          <a:p>
            <a:pPr lvl="1"/>
            <a:r>
              <a:rPr lang="en-US" altLang="en-US" dirty="0"/>
              <a:t>Understanding idea of “owner computes”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2396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9373F-A6D5-6419-3EBC-52F59F04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190E98E0-55C8-3E56-4ADF-473788CC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Communication Overheads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19853EA2-B079-3E31-65C6-783F17359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Data movement</a:t>
            </a:r>
          </a:p>
          <a:p>
            <a:r>
              <a:rPr lang="en-US" altLang="en-US" dirty="0"/>
              <a:t>Synchronization</a:t>
            </a:r>
          </a:p>
          <a:p>
            <a:r>
              <a:rPr lang="en-US" altLang="en-US" dirty="0"/>
              <a:t>In strong scaling, message costs go down as message shrink and effects become more latency sensitive, but synchronization and collective communication scale grows with the number of processing elements linearly or </a:t>
            </a:r>
            <a:r>
              <a:rPr lang="en-US" altLang="en-US" dirty="0" err="1"/>
              <a:t>superlinearly</a:t>
            </a:r>
            <a:endParaRPr lang="en-US" altLang="en-US" dirty="0"/>
          </a:p>
          <a:p>
            <a:r>
              <a:rPr lang="en-US" altLang="en-US" dirty="0"/>
              <a:t>Load balancing</a:t>
            </a:r>
          </a:p>
        </p:txBody>
      </p:sp>
    </p:spTree>
    <p:extLst>
      <p:ext uri="{BB962C8B-B14F-4D97-AF65-F5344CB8AC3E}">
        <p14:creationId xmlns:p14="http://schemas.microsoft.com/office/powerpoint/2010/main" val="3891051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5FF38-F70B-AC0F-862C-EB96B963B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B28CBCC0-992A-0AAB-FC73-A77654A6E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Indexing Costs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5B8B3D0C-DB96-761C-A24B-64B41D066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Indexing, like communication, is part of parallel programming overhead</a:t>
            </a:r>
          </a:p>
          <a:p>
            <a:r>
              <a:rPr lang="en-US" altLang="en-US" dirty="0"/>
              <a:t>Partially partitioning data means it is necessary to find items</a:t>
            </a:r>
          </a:p>
          <a:p>
            <a:pPr lvl="1"/>
            <a:r>
              <a:rPr lang="en-US" altLang="en-US" dirty="0"/>
              <a:t>Local computation</a:t>
            </a:r>
          </a:p>
          <a:p>
            <a:pPr lvl="1"/>
            <a:r>
              <a:rPr lang="en-US" altLang="en-US" dirty="0"/>
              <a:t>Communication may be needed</a:t>
            </a:r>
          </a:p>
          <a:p>
            <a:r>
              <a:rPr lang="en-US" altLang="en-US" dirty="0"/>
              <a:t>Load balancing – fixed imbalance, can induce new indexing communication (finding where data now resides)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38123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C633A-EAB7-F2FE-D2A4-A431AEEC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66B168C4-1549-DB8D-8A2F-C45FAF850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Input-Output (I/O)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CEDF038D-74AA-1287-B0FC-BCF330C49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Startup/cleanup of parallel program</a:t>
            </a:r>
          </a:p>
          <a:p>
            <a:r>
              <a:rPr lang="en-US" altLang="en-US" dirty="0"/>
              <a:t>Loading and storing data sets</a:t>
            </a:r>
          </a:p>
          <a:p>
            <a:r>
              <a:rPr lang="en-US" altLang="en-US" dirty="0"/>
              <a:t>Pre-staging of data long before program runs (post-staging after)</a:t>
            </a:r>
          </a:p>
          <a:p>
            <a:r>
              <a:rPr lang="en-US" altLang="en-US" dirty="0"/>
              <a:t>I/O during computations</a:t>
            </a:r>
          </a:p>
          <a:p>
            <a:r>
              <a:rPr lang="en-US" altLang="en-US" dirty="0"/>
              <a:t>“Defensive I/O” – fault tolerance, checkpoints</a:t>
            </a:r>
          </a:p>
          <a:p>
            <a:r>
              <a:rPr lang="en-US" altLang="en-US" dirty="0"/>
              <a:t>What scales and what doesn’t?</a:t>
            </a:r>
          </a:p>
        </p:txBody>
      </p:sp>
    </p:spTree>
    <p:extLst>
      <p:ext uri="{BB962C8B-B14F-4D97-AF65-F5344CB8AC3E}">
        <p14:creationId xmlns:p14="http://schemas.microsoft.com/office/powerpoint/2010/main" val="3968756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FEAAF-305B-71BA-3000-F4F6212BD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A54C3623-7475-F1AB-E1DA-A1EB1CF58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109677"/>
            <a:ext cx="8281987" cy="707886"/>
          </a:xfrm>
        </p:spPr>
        <p:txBody>
          <a:bodyPr/>
          <a:lstStyle/>
          <a:p>
            <a:r>
              <a:rPr lang="en-US" altLang="en-US" dirty="0"/>
              <a:t>Imperfect Performance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FE0BA9EF-E696-BA61-7E3E-C3821BE5A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Clock speed differences (temperature induced?)</a:t>
            </a:r>
          </a:p>
          <a:p>
            <a:r>
              <a:rPr lang="en-US" altLang="en-US" dirty="0"/>
              <a:t>Memory correction effects</a:t>
            </a:r>
          </a:p>
          <a:p>
            <a:r>
              <a:rPr lang="en-US" altLang="en-US" dirty="0"/>
              <a:t>Hysteresis (operating system status over time?)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95248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81124-FC7F-B0D2-3930-37924844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E14E662B-BCC0-B10B-1CEA-4CF272C69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Caching and Scaling Effects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88F3A88D-F086-094B-2D03-1433971DB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Smaller problems fit in cache better</a:t>
            </a:r>
          </a:p>
          <a:p>
            <a:r>
              <a:rPr lang="en-US" altLang="en-US" dirty="0"/>
              <a:t>Smaller problems can be represented with smaller integers </a:t>
            </a:r>
          </a:p>
          <a:p>
            <a:r>
              <a:rPr lang="en-US" altLang="en-US" dirty="0"/>
              <a:t>What impacts?</a:t>
            </a:r>
          </a:p>
          <a:p>
            <a:r>
              <a:rPr lang="en-US" altLang="en-US" dirty="0" err="1"/>
              <a:t>Superlinear</a:t>
            </a:r>
            <a:r>
              <a:rPr lang="en-US" altLang="en-US" dirty="0"/>
              <a:t> speedup effects possible, but limited</a:t>
            </a:r>
          </a:p>
        </p:txBody>
      </p:sp>
    </p:spTree>
    <p:extLst>
      <p:ext uri="{BB962C8B-B14F-4D97-AF65-F5344CB8AC3E}">
        <p14:creationId xmlns:p14="http://schemas.microsoft.com/office/powerpoint/2010/main" val="3969817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B1E0-B8A9-5634-9DE3-C4CBEF918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4224B3BB-D76B-6162-C069-CB65868FB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Looking ahead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75E5DDF7-5E99-DF7E-CDBC-89ECE20FB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Modeling message passing costs</a:t>
            </a:r>
          </a:p>
          <a:p>
            <a:pPr lvl="1"/>
            <a:r>
              <a:rPr lang="en-US" altLang="en-US" dirty="0"/>
              <a:t>Log GP and related models</a:t>
            </a:r>
          </a:p>
          <a:p>
            <a:pPr lvl="1"/>
            <a:r>
              <a:rPr lang="en-US" altLang="en-US" dirty="0"/>
              <a:t>Modeling collective communication costs</a:t>
            </a:r>
          </a:p>
          <a:p>
            <a:r>
              <a:rPr lang="en-US" altLang="en-US" dirty="0"/>
              <a:t>Weak scalability and its uses (B-G law)… overcoming Amdahl’s law bounds for some problems</a:t>
            </a:r>
          </a:p>
          <a:p>
            <a:r>
              <a:rPr lang="en-US" altLang="en-US" dirty="0"/>
              <a:t>Little’s law</a:t>
            </a:r>
          </a:p>
        </p:txBody>
      </p:sp>
    </p:spTree>
    <p:extLst>
      <p:ext uri="{BB962C8B-B14F-4D97-AF65-F5344CB8AC3E}">
        <p14:creationId xmlns:p14="http://schemas.microsoft.com/office/powerpoint/2010/main" val="3777249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16D1-EA63-25A0-4E11-38C006B0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66458-7BCA-C78A-B234-F6FD0DE67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Network Nomenclature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BEE2-25A2-BA85-A6BD-8A2A5C4F1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Network</a:t>
            </a:r>
          </a:p>
          <a:p>
            <a:pPr lvl="1"/>
            <a:r>
              <a:rPr lang="en-US" sz="2000" dirty="0"/>
              <a:t>Bandwidth</a:t>
            </a:r>
          </a:p>
          <a:p>
            <a:pPr lvl="1"/>
            <a:r>
              <a:rPr lang="en-US" sz="2000" dirty="0"/>
              <a:t>Latency</a:t>
            </a:r>
          </a:p>
          <a:p>
            <a:pPr lvl="1"/>
            <a:r>
              <a:rPr lang="en-US" sz="2000" dirty="0"/>
              <a:t>Bisection bandwidth</a:t>
            </a:r>
          </a:p>
          <a:p>
            <a:r>
              <a:rPr lang="en-US" sz="2400" dirty="0"/>
              <a:t>Latency (two interpretations)</a:t>
            </a:r>
          </a:p>
          <a:p>
            <a:pPr lvl="1"/>
            <a:r>
              <a:rPr lang="en-US" sz="2000" dirty="0"/>
              <a:t>Streaming</a:t>
            </a:r>
          </a:p>
          <a:p>
            <a:pPr lvl="1"/>
            <a:r>
              <a:rPr lang="en-US" sz="2000" dirty="0"/>
              <a:t>Half roundtrip  (RTT/2)</a:t>
            </a:r>
          </a:p>
          <a:p>
            <a:r>
              <a:rPr lang="en-US" sz="2400" dirty="0"/>
              <a:t>Hockney model : T(L) = LAT</a:t>
            </a:r>
            <a:r>
              <a:rPr lang="en-US" sz="2400" baseline="-25000" dirty="0"/>
              <a:t>0</a:t>
            </a:r>
            <a:r>
              <a:rPr lang="en-US" sz="2400" dirty="0"/>
              <a:t> + L/BW</a:t>
            </a:r>
            <a:r>
              <a:rPr lang="en-US" sz="4400" baseline="-25000" dirty="0"/>
              <a:t>∞</a:t>
            </a:r>
          </a:p>
          <a:p>
            <a:r>
              <a:rPr lang="en-US" sz="2400" dirty="0"/>
              <a:t>N</a:t>
            </a:r>
            <a:r>
              <a:rPr lang="en-US" sz="2400" baseline="-25000" dirty="0"/>
              <a:t>1/2</a:t>
            </a:r>
            <a:r>
              <a:rPr lang="en-US" sz="2400" dirty="0"/>
              <a:t>  = LAT</a:t>
            </a:r>
            <a:r>
              <a:rPr lang="en-US" sz="2400" baseline="-25000" dirty="0"/>
              <a:t>0</a:t>
            </a:r>
            <a:r>
              <a:rPr lang="en-US" sz="2400" dirty="0"/>
              <a:t>*BW</a:t>
            </a:r>
            <a:r>
              <a:rPr lang="en-US" sz="4400" baseline="-25000" dirty="0"/>
              <a:t>∞</a:t>
            </a:r>
          </a:p>
          <a:p>
            <a:pPr marL="0" indent="0">
              <a:buNone/>
            </a:pPr>
            <a:endParaRPr lang="en-US" sz="4400" baseline="-25000" dirty="0"/>
          </a:p>
          <a:p>
            <a:endParaRPr lang="en-US" sz="2400" baseline="-250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42147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B2279-1211-4C5B-4499-E085DA54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4EC020E7-B07F-1EC1-5C41-7B4E30E31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02287"/>
            <a:ext cx="8229601" cy="1325563"/>
          </a:xfrm>
        </p:spPr>
        <p:txBody>
          <a:bodyPr/>
          <a:lstStyle/>
          <a:p>
            <a:r>
              <a:rPr lang="en-US" altLang="en-US" dirty="0"/>
              <a:t>More Nomenclature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32E1C0C9-766C-EADA-7C5F-A8AC1872A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718" y="1270000"/>
            <a:ext cx="8270875" cy="5111750"/>
          </a:xfrm>
        </p:spPr>
        <p:txBody>
          <a:bodyPr/>
          <a:lstStyle/>
          <a:p>
            <a:r>
              <a:rPr lang="en-US" altLang="en-US" dirty="0"/>
              <a:t>Latency – dead time or fixed cost of starting an operation (e.g., moving data) – [time] </a:t>
            </a:r>
          </a:p>
          <a:p>
            <a:r>
              <a:rPr lang="en-US" altLang="en-US" dirty="0"/>
              <a:t>Bandwidth – cost per unit (e.g., byte) of performing an operation – [words/time]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T(N) = </a:t>
            </a:r>
            <a:r>
              <a:rPr lang="en-US" sz="3200" kern="0" dirty="0" err="1">
                <a:solidFill>
                  <a:srgbClr val="0070C0"/>
                </a:solidFill>
                <a:latin typeface="Arial"/>
              </a:rPr>
              <a:t>T</a:t>
            </a:r>
            <a:r>
              <a:rPr lang="en-US" baseline="-25000" dirty="0" err="1">
                <a:solidFill>
                  <a:srgbClr val="0070C0"/>
                </a:solidFill>
                <a:latin typeface="Arial"/>
              </a:rPr>
              <a:t>fixed</a:t>
            </a:r>
            <a:r>
              <a:rPr lang="en-US" sz="3200" kern="0" baseline="-25000" dirty="0">
                <a:solidFill>
                  <a:srgbClr val="0070C0"/>
                </a:solidFill>
                <a:latin typeface="Arial"/>
              </a:rPr>
              <a:t> </a:t>
            </a:r>
            <a:r>
              <a:rPr lang="en-US" altLang="en-US" dirty="0">
                <a:solidFill>
                  <a:srgbClr val="0070C0"/>
                </a:solidFill>
              </a:rPr>
              <a:t>+ N*</a:t>
            </a:r>
            <a:r>
              <a:rPr lang="en-US" sz="3200" kern="0" dirty="0">
                <a:solidFill>
                  <a:srgbClr val="0070C0"/>
                </a:solidFill>
                <a:latin typeface="Arial"/>
              </a:rPr>
              <a:t> </a:t>
            </a:r>
            <a:r>
              <a:rPr lang="en-US" sz="3200" kern="0" dirty="0" err="1">
                <a:solidFill>
                  <a:srgbClr val="0070C0"/>
                </a:solidFill>
                <a:latin typeface="Arial"/>
              </a:rPr>
              <a:t>T</a:t>
            </a:r>
            <a:r>
              <a:rPr lang="en-US" baseline="-25000" dirty="0" err="1">
                <a:solidFill>
                  <a:srgbClr val="0070C0"/>
                </a:solidFill>
                <a:latin typeface="Arial"/>
              </a:rPr>
              <a:t>variable</a:t>
            </a:r>
            <a:endParaRPr lang="en-US" baseline="-25000" dirty="0">
              <a:solidFill>
                <a:srgbClr val="0070C0"/>
              </a:solidFill>
              <a:latin typeface="Arial"/>
            </a:endParaRPr>
          </a:p>
          <a:p>
            <a:r>
              <a:rPr lang="en-US" altLang="en-US" dirty="0">
                <a:solidFill>
                  <a:srgbClr val="0070C0"/>
                </a:solidFill>
              </a:rPr>
              <a:t>T(N) = </a:t>
            </a:r>
            <a:r>
              <a:rPr lang="en-US" sz="3200" kern="0" dirty="0">
                <a:solidFill>
                  <a:srgbClr val="0070C0"/>
                </a:solidFill>
                <a:latin typeface="Arial"/>
              </a:rPr>
              <a:t>Latency</a:t>
            </a:r>
            <a:r>
              <a:rPr lang="en-US" sz="3200" kern="0" baseline="-25000" dirty="0">
                <a:solidFill>
                  <a:srgbClr val="0070C0"/>
                </a:solidFill>
                <a:latin typeface="Arial"/>
              </a:rPr>
              <a:t> </a:t>
            </a:r>
            <a:r>
              <a:rPr lang="en-US" altLang="en-US" dirty="0">
                <a:solidFill>
                  <a:srgbClr val="0070C0"/>
                </a:solidFill>
              </a:rPr>
              <a:t>+ N/Bandwidth</a:t>
            </a:r>
          </a:p>
          <a:p>
            <a:pPr lvl="1"/>
            <a:r>
              <a:rPr lang="en-US" altLang="en-US" dirty="0"/>
              <a:t>simple cost model of </a:t>
            </a:r>
            <a:r>
              <a:rPr lang="en-US" altLang="en-US" dirty="0" err="1"/>
              <a:t>sending+receiving</a:t>
            </a:r>
            <a:r>
              <a:rPr lang="en-US" altLang="en-US" dirty="0"/>
              <a:t> data, N represents bytes transmitted</a:t>
            </a:r>
            <a:endParaRPr lang="en-US" baseline="-25000" dirty="0">
              <a:solidFill>
                <a:srgbClr val="0070C0"/>
              </a:solidFill>
              <a:latin typeface="Arial"/>
            </a:endParaRPr>
          </a:p>
          <a:p>
            <a:r>
              <a:rPr lang="en-US" sz="3200" kern="0" dirty="0">
                <a:solidFill>
                  <a:srgbClr val="0070C0"/>
                </a:solidFill>
                <a:latin typeface="Arial"/>
              </a:rPr>
              <a:t>N</a:t>
            </a:r>
            <a:r>
              <a:rPr lang="en-US" baseline="-25000" dirty="0">
                <a:solidFill>
                  <a:srgbClr val="0070C0"/>
                </a:solidFill>
                <a:latin typeface="Arial"/>
              </a:rPr>
              <a:t>1/2 </a:t>
            </a:r>
            <a:r>
              <a:rPr lang="en-US" altLang="en-US" dirty="0">
                <a:solidFill>
                  <a:srgbClr val="0070C0"/>
                </a:solidFill>
              </a:rPr>
              <a:t>= </a:t>
            </a:r>
            <a:r>
              <a:rPr lang="en-US" sz="3200" kern="0" dirty="0">
                <a:solidFill>
                  <a:srgbClr val="0070C0"/>
                </a:solidFill>
                <a:latin typeface="Arial"/>
              </a:rPr>
              <a:t>Latency*Bandwidth</a:t>
            </a:r>
          </a:p>
          <a:p>
            <a:r>
              <a:rPr lang="en-US" altLang="en-US" sz="3200" kern="0" dirty="0">
                <a:solidFill>
                  <a:srgbClr val="0070C0"/>
                </a:solidFill>
                <a:latin typeface="Arial"/>
              </a:rPr>
              <a:t>Why is </a:t>
            </a:r>
            <a:r>
              <a:rPr lang="en-US" sz="3200" kern="0" dirty="0">
                <a:solidFill>
                  <a:srgbClr val="0070C0"/>
                </a:solidFill>
                <a:latin typeface="Arial"/>
              </a:rPr>
              <a:t>N</a:t>
            </a:r>
            <a:r>
              <a:rPr lang="en-US" baseline="-25000" dirty="0">
                <a:solidFill>
                  <a:srgbClr val="0070C0"/>
                </a:solidFill>
                <a:latin typeface="Arial"/>
              </a:rPr>
              <a:t>1/2 </a:t>
            </a:r>
            <a:r>
              <a:rPr lang="en-US" kern="0" dirty="0">
                <a:solidFill>
                  <a:srgbClr val="0070C0"/>
                </a:solidFill>
                <a:latin typeface="Arial"/>
              </a:rPr>
              <a:t>important, and how derived?</a:t>
            </a:r>
            <a:endParaRPr lang="en-US" altLang="en-US" dirty="0">
              <a:solidFill>
                <a:srgbClr val="0070C0"/>
              </a:solidFill>
            </a:endParaRPr>
          </a:p>
          <a:p>
            <a:endParaRPr lang="en-US" baseline="-25000" dirty="0">
              <a:solidFill>
                <a:srgbClr val="0070C0"/>
              </a:solidFill>
              <a:latin typeface="Arial"/>
            </a:endParaRPr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7623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913A-30CF-2BE4-EDB3-E955FF381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D4E2DF4F-DFF1-1871-AE09-9A2C1A11B71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1188" y="109677"/>
            <a:ext cx="8281987" cy="707886"/>
          </a:xfrm>
        </p:spPr>
        <p:txBody>
          <a:bodyPr/>
          <a:lstStyle/>
          <a:p>
            <a:r>
              <a:rPr lang="en-US" altLang="en-US" dirty="0"/>
              <a:t>Simple Model Used Many Ways</a:t>
            </a:r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38E04E27-F352-5592-9C0E-A6FABEAF7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980728"/>
            <a:ext cx="8270875" cy="5111750"/>
          </a:xfrm>
        </p:spPr>
        <p:txBody>
          <a:bodyPr/>
          <a:lstStyle/>
          <a:p>
            <a:r>
              <a:rPr lang="en-US" altLang="en-US" sz="2800" dirty="0">
                <a:solidFill>
                  <a:srgbClr val="0070C0"/>
                </a:solidFill>
              </a:rPr>
              <a:t>Fixed + Variable cost economics (“Hockney model”) </a:t>
            </a:r>
          </a:p>
          <a:p>
            <a:r>
              <a:rPr lang="en-US" altLang="en-US" sz="2800" dirty="0">
                <a:solidFill>
                  <a:srgbClr val="0070C0"/>
                </a:solidFill>
              </a:rPr>
              <a:t>T(N) = </a:t>
            </a:r>
            <a:r>
              <a:rPr lang="en-US" sz="2800" kern="0" dirty="0" err="1">
                <a:solidFill>
                  <a:srgbClr val="0070C0"/>
                </a:solidFill>
                <a:latin typeface="Arial"/>
              </a:rPr>
              <a:t>T</a:t>
            </a:r>
            <a:r>
              <a:rPr lang="en-US" sz="2800" baseline="-25000" dirty="0" err="1">
                <a:solidFill>
                  <a:srgbClr val="0070C0"/>
                </a:solidFill>
                <a:latin typeface="Arial"/>
              </a:rPr>
              <a:t>fixed</a:t>
            </a:r>
            <a:r>
              <a:rPr lang="en-US" sz="2800" kern="0" baseline="-25000" dirty="0">
                <a:solidFill>
                  <a:srgbClr val="0070C0"/>
                </a:solidFill>
                <a:latin typeface="Arial"/>
              </a:rPr>
              <a:t> </a:t>
            </a:r>
            <a:r>
              <a:rPr lang="en-US" altLang="en-US" sz="2800" dirty="0">
                <a:solidFill>
                  <a:srgbClr val="0070C0"/>
                </a:solidFill>
              </a:rPr>
              <a:t>+ N*</a:t>
            </a:r>
            <a:r>
              <a:rPr lang="en-US" sz="2800" kern="0" dirty="0">
                <a:solidFill>
                  <a:srgbClr val="0070C0"/>
                </a:solidFill>
                <a:latin typeface="Arial"/>
              </a:rPr>
              <a:t> </a:t>
            </a:r>
            <a:r>
              <a:rPr lang="en-US" sz="2800" kern="0" dirty="0" err="1">
                <a:solidFill>
                  <a:srgbClr val="0070C0"/>
                </a:solidFill>
                <a:latin typeface="Arial"/>
              </a:rPr>
              <a:t>T</a:t>
            </a:r>
            <a:r>
              <a:rPr lang="en-US" sz="2800" baseline="-25000" dirty="0" err="1">
                <a:solidFill>
                  <a:srgbClr val="0070C0"/>
                </a:solidFill>
                <a:latin typeface="Arial"/>
              </a:rPr>
              <a:t>variable</a:t>
            </a:r>
            <a:r>
              <a:rPr lang="en-US" sz="2800" baseline="-25000" dirty="0">
                <a:solidFill>
                  <a:srgbClr val="0070C0"/>
                </a:solidFill>
                <a:latin typeface="Arial"/>
              </a:rPr>
              <a:t> </a:t>
            </a:r>
            <a:r>
              <a:rPr lang="en-US" altLang="en-US" sz="2800" dirty="0">
                <a:solidFill>
                  <a:srgbClr val="0070C0"/>
                </a:solidFill>
              </a:rPr>
              <a:t>(units of time)</a:t>
            </a:r>
            <a:endParaRPr lang="en-US" sz="2800" baseline="-25000" dirty="0">
              <a:solidFill>
                <a:srgbClr val="0070C0"/>
              </a:solidFill>
              <a:latin typeface="Arial"/>
            </a:endParaRPr>
          </a:p>
          <a:p>
            <a:r>
              <a:rPr lang="en-US" altLang="en-US" sz="2800" dirty="0">
                <a:solidFill>
                  <a:srgbClr val="0070C0"/>
                </a:solidFill>
              </a:rPr>
              <a:t>Model is that there is a  fixed entry cost</a:t>
            </a:r>
          </a:p>
          <a:p>
            <a:r>
              <a:rPr lang="en-US" altLang="en-US" sz="2800" dirty="0">
                <a:solidFill>
                  <a:srgbClr val="0070C0"/>
                </a:solidFill>
              </a:rPr>
              <a:t>Then each additional increment of work adds a variable cost (N items)</a:t>
            </a:r>
          </a:p>
          <a:p>
            <a:r>
              <a:rPr lang="en-US" altLang="en-US" sz="2800" dirty="0">
                <a:solidFill>
                  <a:srgbClr val="0070C0"/>
                </a:solidFill>
              </a:rPr>
              <a:t>We will see this model over and over again</a:t>
            </a:r>
          </a:p>
          <a:p>
            <a:pPr lvl="1"/>
            <a:r>
              <a:rPr lang="en-US" altLang="en-US" sz="2400" dirty="0">
                <a:solidFill>
                  <a:srgbClr val="0070C0"/>
                </a:solidFill>
              </a:rPr>
              <a:t>Model vector performance</a:t>
            </a:r>
          </a:p>
          <a:p>
            <a:pPr lvl="1"/>
            <a:r>
              <a:rPr lang="en-US" altLang="en-US" sz="2400" dirty="0">
                <a:solidFill>
                  <a:srgbClr val="0070C0"/>
                </a:solidFill>
              </a:rPr>
              <a:t>Model simple message passing performance</a:t>
            </a:r>
          </a:p>
          <a:p>
            <a:r>
              <a:rPr lang="en-US" sz="2800" kern="0" dirty="0">
                <a:solidFill>
                  <a:srgbClr val="0070C0"/>
                </a:solidFill>
                <a:latin typeface="Arial"/>
              </a:rPr>
              <a:t>N</a:t>
            </a:r>
            <a:r>
              <a:rPr lang="en-US" sz="2800" baseline="-25000" dirty="0">
                <a:solidFill>
                  <a:srgbClr val="0070C0"/>
                </a:solidFill>
                <a:latin typeface="Arial"/>
              </a:rPr>
              <a:t>1/2 </a:t>
            </a:r>
            <a:r>
              <a:rPr lang="en-US" altLang="en-US" sz="2800" dirty="0">
                <a:solidFill>
                  <a:srgbClr val="0070C0"/>
                </a:solidFill>
              </a:rPr>
              <a:t>= </a:t>
            </a:r>
            <a:r>
              <a:rPr lang="en-US" sz="2800" kern="0" dirty="0" err="1">
                <a:solidFill>
                  <a:srgbClr val="0070C0"/>
                </a:solidFill>
                <a:latin typeface="Arial"/>
              </a:rPr>
              <a:t>T</a:t>
            </a:r>
            <a:r>
              <a:rPr lang="en-US" sz="2800" baseline="-25000" dirty="0" err="1">
                <a:solidFill>
                  <a:srgbClr val="0070C0"/>
                </a:solidFill>
                <a:latin typeface="Arial"/>
              </a:rPr>
              <a:t>fixed</a:t>
            </a:r>
            <a:r>
              <a:rPr lang="en-US" sz="2800" baseline="-25000" dirty="0">
                <a:solidFill>
                  <a:srgbClr val="0070C0"/>
                </a:solidFill>
                <a:latin typeface="Arial"/>
              </a:rPr>
              <a:t> </a:t>
            </a:r>
            <a:r>
              <a:rPr lang="en-US" altLang="en-US" sz="2800" dirty="0">
                <a:solidFill>
                  <a:srgbClr val="0070C0"/>
                </a:solidFill>
              </a:rPr>
              <a:t>/ </a:t>
            </a:r>
            <a:r>
              <a:rPr lang="en-US" sz="2800" kern="0" dirty="0" err="1">
                <a:solidFill>
                  <a:srgbClr val="0070C0"/>
                </a:solidFill>
                <a:latin typeface="Arial"/>
              </a:rPr>
              <a:t>T</a:t>
            </a:r>
            <a:r>
              <a:rPr lang="en-US" sz="2800" baseline="-25000" dirty="0" err="1">
                <a:solidFill>
                  <a:srgbClr val="0070C0"/>
                </a:solidFill>
                <a:latin typeface="Arial"/>
              </a:rPr>
              <a:t>variable</a:t>
            </a:r>
            <a:endParaRPr lang="en-US" altLang="en-US" sz="2800" dirty="0">
              <a:solidFill>
                <a:srgbClr val="0070C0"/>
              </a:solidFill>
            </a:endParaRPr>
          </a:p>
          <a:p>
            <a:endParaRPr lang="en-US" altLang="en-US" sz="2800" dirty="0">
              <a:solidFill>
                <a:srgbClr val="0070C0"/>
              </a:solidFill>
            </a:endParaRPr>
          </a:p>
          <a:p>
            <a:endParaRPr lang="en-US" alt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111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B3C1-D897-8568-17D5-99FDFAC9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E0785147-8E63-9575-B844-BB99B398A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561"/>
            <a:ext cx="8229601" cy="1325563"/>
          </a:xfrm>
        </p:spPr>
        <p:txBody>
          <a:bodyPr/>
          <a:lstStyle/>
          <a:p>
            <a:r>
              <a:rPr lang="en-US" altLang="en-US" dirty="0"/>
              <a:t>Supercomputer Networks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D5AF838A-FC40-6F0C-3CD4-3EBF96451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22" y="1381124"/>
            <a:ext cx="8270875" cy="5111750"/>
          </a:xfrm>
        </p:spPr>
        <p:txBody>
          <a:bodyPr/>
          <a:lstStyle/>
          <a:p>
            <a:r>
              <a:rPr lang="en-US" altLang="en-US" dirty="0"/>
              <a:t>Smaller networks can have lower latency</a:t>
            </a:r>
          </a:p>
          <a:p>
            <a:r>
              <a:rPr lang="en-US" altLang="en-US" dirty="0"/>
              <a:t>Bigger networks can have show bigger hop distance between given processes on given nodes across the system</a:t>
            </a:r>
          </a:p>
          <a:p>
            <a:r>
              <a:rPr lang="en-US" altLang="en-US" dirty="0"/>
              <a:t>Complexity of routing and avoiding self-interference from applications in a network grow with the complexity of the network</a:t>
            </a:r>
          </a:p>
          <a:p>
            <a:r>
              <a:rPr lang="en-US" altLang="en-US" dirty="0"/>
              <a:t>Adaptive routing or other features can add “noise” (jitter) that’s significant</a:t>
            </a:r>
          </a:p>
          <a:p>
            <a:r>
              <a:rPr lang="en-US" altLang="en-US" dirty="0"/>
              <a:t>The “Hockney model” is too simple!</a:t>
            </a:r>
          </a:p>
        </p:txBody>
      </p:sp>
    </p:spTree>
    <p:extLst>
      <p:ext uri="{BB962C8B-B14F-4D97-AF65-F5344CB8AC3E}">
        <p14:creationId xmlns:p14="http://schemas.microsoft.com/office/powerpoint/2010/main" val="1669063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#1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009"/>
            <a:ext cx="8229601" cy="4108112"/>
          </a:xfrm>
        </p:spPr>
        <p:txBody>
          <a:bodyPr>
            <a:normAutofit/>
          </a:bodyPr>
          <a:lstStyle/>
          <a:p>
            <a:r>
              <a:rPr lang="en-US" dirty="0"/>
              <a:t>This is an assignment to create your account on ACCESS-CI</a:t>
            </a:r>
          </a:p>
          <a:p>
            <a:r>
              <a:rPr lang="en-US" dirty="0"/>
              <a:t>Everyone should get 100% on this quiz</a:t>
            </a:r>
          </a:p>
          <a:p>
            <a:r>
              <a:rPr lang="en-US" dirty="0"/>
              <a:t>Once you do the quiz, we will activate accounts</a:t>
            </a:r>
          </a:p>
          <a:p>
            <a:r>
              <a:rPr lang="en-US" dirty="0"/>
              <a:t>Due by Friday night of this week (2/13/26)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759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4462-6B53-3A49-F228-B5BAB26E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6B8A-B4CB-62B9-6D1A-1376F984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Pre-Quiz #2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E9A2-2C05-744E-6F05-18A9F68C3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009"/>
            <a:ext cx="8229601" cy="4108112"/>
          </a:xfrm>
        </p:spPr>
        <p:txBody>
          <a:bodyPr>
            <a:normAutofit/>
          </a:bodyPr>
          <a:lstStyle/>
          <a:p>
            <a:r>
              <a:rPr lang="en-US" dirty="0"/>
              <a:t>First three chapters of the book have been assigned</a:t>
            </a:r>
          </a:p>
          <a:p>
            <a:r>
              <a:rPr lang="en-US" dirty="0"/>
              <a:t>Let me give you main points I will cover on quiz</a:t>
            </a:r>
          </a:p>
          <a:p>
            <a:r>
              <a:rPr lang="en-US" dirty="0"/>
              <a:t>CS5760 will have extra questions !</a:t>
            </a:r>
          </a:p>
          <a:p>
            <a:r>
              <a:rPr lang="en-US" dirty="0"/>
              <a:t>Fill in the blank model</a:t>
            </a:r>
          </a:p>
          <a:p>
            <a:r>
              <a:rPr lang="en-US" dirty="0"/>
              <a:t>Quiz #2 will be out on February 16, due Feb 20 (online)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49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Pre-Quiz #2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009"/>
            <a:ext cx="8229601" cy="41081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Why do we do parallel computing ?</a:t>
            </a:r>
          </a:p>
          <a:p>
            <a:r>
              <a:rPr lang="en-US" dirty="0"/>
              <a:t>What is serial vs. parallel processing?</a:t>
            </a:r>
          </a:p>
          <a:p>
            <a:r>
              <a:rPr lang="en-US" dirty="0"/>
              <a:t>Explain Amdahl’s law [and speedup]</a:t>
            </a:r>
          </a:p>
          <a:p>
            <a:r>
              <a:rPr lang="en-US" dirty="0"/>
              <a:t>What does data parallel mean?</a:t>
            </a:r>
          </a:p>
          <a:p>
            <a:r>
              <a:rPr lang="en-US" dirty="0"/>
              <a:t>What is a GPU?</a:t>
            </a:r>
          </a:p>
          <a:p>
            <a:r>
              <a:rPr lang="en-US" dirty="0"/>
              <a:t>What is a multiprocessor?</a:t>
            </a:r>
          </a:p>
          <a:p>
            <a:r>
              <a:rPr lang="en-US" dirty="0"/>
              <a:t>What is performance, portability, and performance + portability ?</a:t>
            </a:r>
          </a:p>
          <a:p>
            <a:r>
              <a:rPr lang="en-US" dirty="0"/>
              <a:t>What effects of real parallel systems make behavior even worse than Amdahl’s law would predict?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945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009"/>
            <a:ext cx="8229601" cy="4108112"/>
          </a:xfrm>
        </p:spPr>
        <p:txBody>
          <a:bodyPr>
            <a:normAutofit/>
          </a:bodyPr>
          <a:lstStyle/>
          <a:p>
            <a:r>
              <a:rPr lang="en-US" dirty="0"/>
              <a:t>Thinking about weekly time for meeting on zoom to discuss C++ “Discussion / Recitation” -- </a:t>
            </a:r>
          </a:p>
          <a:p>
            <a:pPr lvl="1"/>
            <a:r>
              <a:rPr lang="en-US" dirty="0"/>
              <a:t>is that useful? We need to find a time if so!!! </a:t>
            </a:r>
          </a:p>
          <a:p>
            <a:pPr lvl="1"/>
            <a:r>
              <a:rPr lang="en-US" dirty="0"/>
              <a:t>“Vote”</a:t>
            </a:r>
          </a:p>
          <a:p>
            <a:r>
              <a:rPr lang="en-US" dirty="0"/>
              <a:t>Here is the “advanced” C++20 tutorial:</a:t>
            </a:r>
          </a:p>
          <a:p>
            <a:pPr lvl="1"/>
            <a:r>
              <a:rPr lang="en-US" dirty="0">
                <a:hlinkClick r:id="rId2"/>
              </a:rPr>
              <a:t>https://github.com/changkun/modern-cpp-tutorial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Download PDF book</a:t>
            </a:r>
          </a:p>
          <a:p>
            <a:r>
              <a:rPr lang="en-US" dirty="0"/>
              <a:t>This doesn’t cover C++ vs. MPI or </a:t>
            </a:r>
            <a:r>
              <a:rPr lang="en-US" dirty="0" err="1"/>
              <a:t>Kokkos</a:t>
            </a:r>
            <a:r>
              <a:rPr lang="en-US" dirty="0"/>
              <a:t> use cases, we will do separately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925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HW#1 Preview +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009"/>
            <a:ext cx="8229601" cy="41081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be assigned 2/11/2026, due 2/23/2026</a:t>
            </a:r>
          </a:p>
          <a:p>
            <a:r>
              <a:rPr lang="en-US" dirty="0"/>
              <a:t>All about MPI</a:t>
            </a:r>
          </a:p>
          <a:p>
            <a:r>
              <a:rPr lang="en-US" dirty="0"/>
              <a:t>Work doable on The Warp-1 Cluster</a:t>
            </a:r>
          </a:p>
          <a:p>
            <a:r>
              <a:rPr lang="en-US" dirty="0"/>
              <a:t>Work to be done on your own</a:t>
            </a:r>
          </a:p>
          <a:p>
            <a:r>
              <a:rPr lang="en-US" dirty="0"/>
              <a:t>No LLMs/Vibe coding allowed except where noted</a:t>
            </a:r>
          </a:p>
          <a:p>
            <a:r>
              <a:rPr lang="en-US" dirty="0"/>
              <a:t>First submission is 2/25/2026; any update one week after you get grades back for partial extra credit </a:t>
            </a:r>
          </a:p>
          <a:p>
            <a:r>
              <a:rPr lang="en-US" dirty="0"/>
              <a:t>You will get HW#2 assigned on 2/23/2026, due before Spring Break (MPI, </a:t>
            </a:r>
            <a:r>
              <a:rPr lang="en-US" dirty="0" err="1"/>
              <a:t>Kokkos</a:t>
            </a:r>
            <a:r>
              <a:rPr lang="en-US" dirty="0"/>
              <a:t>)</a:t>
            </a:r>
          </a:p>
          <a:p>
            <a:r>
              <a:rPr lang="en-US" dirty="0"/>
              <a:t>We will have Midterm #1 week of March 9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835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8E4A-6F57-DFA8-02C8-DC61FEFE0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D1E7-824F-9766-A2D2-36DE5615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Flop Nomenclature (Start of 2/11/26 Lecture)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E7A63-7964-2C57-1CB2-8203C98E0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001946"/>
            <a:ext cx="8229601" cy="41081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Flop – Floating point operation per second (rate)</a:t>
            </a:r>
          </a:p>
          <a:p>
            <a:r>
              <a:rPr lang="en-US" dirty="0"/>
              <a:t>Flops – Flop * seconds = # of operations</a:t>
            </a:r>
          </a:p>
          <a:p>
            <a:r>
              <a:rPr lang="en-US" dirty="0"/>
              <a:t>Can be</a:t>
            </a:r>
          </a:p>
          <a:p>
            <a:pPr lvl="1"/>
            <a:r>
              <a:rPr lang="en-US" dirty="0"/>
              <a:t>Single precision or double precision (classical)</a:t>
            </a:r>
          </a:p>
          <a:p>
            <a:pPr lvl="1"/>
            <a:r>
              <a:rPr lang="en-US" dirty="0"/>
              <a:t>Now can be 4, 8, 16 bit also</a:t>
            </a:r>
          </a:p>
          <a:p>
            <a:r>
              <a:rPr lang="en-US" dirty="0"/>
              <a:t>C/C++ understand float, double</a:t>
            </a:r>
          </a:p>
          <a:p>
            <a:r>
              <a:rPr lang="en-US" dirty="0"/>
              <a:t>CUDA and other languages do tiny precisions</a:t>
            </a:r>
          </a:p>
          <a:p>
            <a:r>
              <a:rPr lang="en-US" dirty="0"/>
              <a:t>Lower precisions also use “block floating point”</a:t>
            </a:r>
          </a:p>
          <a:p>
            <a:r>
              <a:rPr lang="en-US" dirty="0"/>
              <a:t>Today, focus on the idea: float, double, or int</a:t>
            </a:r>
          </a:p>
        </p:txBody>
      </p:sp>
    </p:spTree>
    <p:extLst>
      <p:ext uri="{BB962C8B-B14F-4D97-AF65-F5344CB8AC3E}">
        <p14:creationId xmlns:p14="http://schemas.microsoft.com/office/powerpoint/2010/main" val="2278958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Simplest Form</a:t>
            </a:r>
          </a:p>
          <a:p>
            <a:pPr lvl="1"/>
            <a:r>
              <a:rPr lang="en-US" sz="2000" dirty="0"/>
              <a:t>Identical </a:t>
            </a:r>
            <a:r>
              <a:rPr lang="en-US" sz="2000" dirty="0" err="1"/>
              <a:t>uni</a:t>
            </a:r>
            <a:r>
              <a:rPr lang="en-US" sz="2000" dirty="0"/>
              <a:t>- or multi-processor servers, each networked</a:t>
            </a:r>
          </a:p>
          <a:p>
            <a:pPr lvl="1"/>
            <a:r>
              <a:rPr lang="en-US" sz="2000" dirty="0"/>
              <a:t>Communication Sequential Processes</a:t>
            </a:r>
          </a:p>
          <a:p>
            <a:pPr lvl="2"/>
            <a:r>
              <a:rPr lang="en-US" sz="1600" dirty="0"/>
              <a:t>Processes exchange messages</a:t>
            </a:r>
          </a:p>
          <a:p>
            <a:pPr lvl="2"/>
            <a:r>
              <a:rPr lang="en-US" sz="1600" dirty="0"/>
              <a:t>No shared memory</a:t>
            </a:r>
            <a:endParaRPr lang="en-US" sz="2000" dirty="0"/>
          </a:p>
          <a:p>
            <a:r>
              <a:rPr lang="en-US" sz="2400" dirty="0"/>
              <a:t>Current Form</a:t>
            </a:r>
          </a:p>
          <a:p>
            <a:pPr lvl="1"/>
            <a:r>
              <a:rPr lang="en-US" sz="2000" dirty="0"/>
              <a:t>Identical Multiprocessor server, with GPUs added, each networked</a:t>
            </a:r>
          </a:p>
          <a:p>
            <a:pPr lvl="1"/>
            <a:r>
              <a:rPr lang="en-US" sz="2000" dirty="0"/>
              <a:t>Multiple processes per multiprocessor work within and across network</a:t>
            </a:r>
          </a:p>
          <a:p>
            <a:pPr lvl="1"/>
            <a:r>
              <a:rPr lang="en-US" sz="2000" dirty="0"/>
              <a:t>Shared nothing outside a server, shared memory between CPUs and GPUs within a server</a:t>
            </a:r>
          </a:p>
          <a:p>
            <a:pPr lvl="1"/>
            <a:r>
              <a:rPr lang="en-US" sz="2000" dirty="0"/>
              <a:t>Message Passing Everywhere, </a:t>
            </a:r>
            <a:r>
              <a:rPr lang="en-US" sz="2000" b="1" dirty="0"/>
              <a:t>or</a:t>
            </a:r>
            <a:r>
              <a:rPr lang="en-US" sz="2000" dirty="0"/>
              <a:t> only between processes in different </a:t>
            </a:r>
            <a:r>
              <a:rPr lang="en-US" sz="2000" dirty="0" err="1"/>
              <a:t>srevers</a:t>
            </a:r>
            <a:endParaRPr lang="en-US" sz="2000" dirty="0"/>
          </a:p>
          <a:p>
            <a:r>
              <a:rPr lang="en-US" sz="2400" dirty="0"/>
              <a:t>Node = Server = Multiprocessor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85885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Interface (MPI)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825625"/>
            <a:ext cx="8229601" cy="4537597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A standard specification: MPI-1 (1994) … MPI-4 (2022)… MPI-5 (2025)</a:t>
            </a:r>
          </a:p>
          <a:p>
            <a:r>
              <a:rPr lang="en-US" sz="2400" dirty="0"/>
              <a:t>I started working on the MPI Forum in 1993 </a:t>
            </a:r>
            <a:r>
              <a:rPr lang="en-US" sz="2400" dirty="0">
                <a:sym typeface="Wingdings" pitchFamily="2" charset="2"/>
              </a:rPr>
              <a:t> </a:t>
            </a:r>
            <a:endParaRPr lang="en-US" sz="2400" dirty="0"/>
          </a:p>
          <a:p>
            <a:r>
              <a:rPr lang="en-US" sz="2400" dirty="0">
                <a:hlinkClick r:id="rId2"/>
              </a:rPr>
              <a:t>https://mpi-forum.org</a:t>
            </a:r>
            <a:r>
              <a:rPr lang="en-US" sz="2400" dirty="0"/>
              <a:t> </a:t>
            </a:r>
          </a:p>
          <a:p>
            <a:r>
              <a:rPr lang="en-US" sz="2400" dirty="0"/>
              <a:t>Implementations</a:t>
            </a:r>
          </a:p>
          <a:p>
            <a:pPr lvl="1"/>
            <a:r>
              <a:rPr lang="en-US" sz="2000" dirty="0"/>
              <a:t>Open MPI</a:t>
            </a:r>
          </a:p>
          <a:p>
            <a:pPr lvl="1"/>
            <a:r>
              <a:rPr lang="en-US" sz="2000" dirty="0"/>
              <a:t>MPICH </a:t>
            </a:r>
            <a:r>
              <a:rPr lang="en-US" sz="2000" i="1" dirty="0"/>
              <a:t>– originally Argonne/MSU model implementation + from my group</a:t>
            </a:r>
          </a:p>
          <a:p>
            <a:pPr lvl="1"/>
            <a:r>
              <a:rPr lang="en-US" sz="2000" dirty="0"/>
              <a:t>Vendor-specific</a:t>
            </a:r>
          </a:p>
          <a:p>
            <a:r>
              <a:rPr lang="en-US" sz="2400" dirty="0"/>
              <a:t>A library, runtime components, and scripting infrastructure</a:t>
            </a:r>
          </a:p>
          <a:p>
            <a:r>
              <a:rPr lang="en-US" sz="2400" dirty="0"/>
              <a:t>Implementations can reach O(800K) SLOC</a:t>
            </a:r>
          </a:p>
          <a:p>
            <a:r>
              <a:rPr lang="en-US" sz="2400" dirty="0"/>
              <a:t>Well over 500 APIs in MPI-5, few used in most programs</a:t>
            </a:r>
          </a:p>
          <a:p>
            <a:r>
              <a:rPr lang="en-US" sz="2400" dirty="0"/>
              <a:t>C and Fortran strong support </a:t>
            </a:r>
          </a:p>
          <a:p>
            <a:r>
              <a:rPr lang="en-US" sz="2400" dirty="0"/>
              <a:t>Informal Python and Rust support by 3</a:t>
            </a:r>
            <a:r>
              <a:rPr lang="en-US" sz="2400" baseline="30000" dirty="0"/>
              <a:t>rd</a:t>
            </a:r>
            <a:r>
              <a:rPr lang="en-US" sz="2400" dirty="0"/>
              <a:t> parties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9195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Interface (MPI)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Supports the message passing model (and much more)</a:t>
            </a:r>
          </a:p>
          <a:p>
            <a:r>
              <a:rPr lang="en-US" sz="2400" dirty="0"/>
              <a:t>Basic session and scope control</a:t>
            </a:r>
          </a:p>
          <a:p>
            <a:pPr lvl="1"/>
            <a:r>
              <a:rPr lang="en-US" sz="2000" dirty="0" err="1"/>
              <a:t>MPI_Init</a:t>
            </a:r>
            <a:r>
              <a:rPr lang="en-US" sz="2000" dirty="0"/>
              <a:t>, </a:t>
            </a:r>
            <a:r>
              <a:rPr lang="en-US" sz="2000" dirty="0" err="1"/>
              <a:t>MPI_Finalize</a:t>
            </a:r>
            <a:r>
              <a:rPr lang="en-US" sz="2000" dirty="0"/>
              <a:t>, </a:t>
            </a:r>
            <a:r>
              <a:rPr lang="en-US" sz="2000" dirty="0" err="1"/>
              <a:t>MPI_Comm_size</a:t>
            </a:r>
            <a:r>
              <a:rPr lang="en-US" sz="2000" dirty="0"/>
              <a:t>, </a:t>
            </a:r>
            <a:r>
              <a:rPr lang="en-US" sz="2000" dirty="0" err="1"/>
              <a:t>MPI_Comm_rank</a:t>
            </a:r>
            <a:r>
              <a:rPr lang="en-US" sz="2000" dirty="0"/>
              <a:t>, </a:t>
            </a:r>
            <a:r>
              <a:rPr lang="en-US" sz="2000" dirty="0" err="1"/>
              <a:t>MPI_Comm_split</a:t>
            </a:r>
            <a:r>
              <a:rPr lang="en-US" sz="2000" dirty="0"/>
              <a:t>, </a:t>
            </a:r>
            <a:r>
              <a:rPr lang="en-US" sz="2000" dirty="0" err="1"/>
              <a:t>MPI_Comm_free</a:t>
            </a:r>
            <a:endParaRPr lang="en-US" sz="2000" dirty="0"/>
          </a:p>
          <a:p>
            <a:r>
              <a:rPr lang="en-US" sz="2400" dirty="0"/>
              <a:t>Basic transfers</a:t>
            </a:r>
          </a:p>
          <a:p>
            <a:pPr lvl="1"/>
            <a:r>
              <a:rPr lang="en-US" sz="2000" dirty="0" err="1"/>
              <a:t>MPI_Send</a:t>
            </a:r>
            <a:r>
              <a:rPr lang="en-US" sz="2000" dirty="0"/>
              <a:t>, </a:t>
            </a:r>
            <a:r>
              <a:rPr lang="en-US" sz="2000" dirty="0" err="1"/>
              <a:t>MPI_Recv</a:t>
            </a:r>
            <a:r>
              <a:rPr lang="en-US" sz="2000" dirty="0"/>
              <a:t>, </a:t>
            </a:r>
            <a:r>
              <a:rPr lang="en-US" sz="2000" dirty="0" err="1"/>
              <a:t>MPI_Reduce</a:t>
            </a:r>
            <a:r>
              <a:rPr lang="en-US" sz="2000" dirty="0"/>
              <a:t>, </a:t>
            </a:r>
            <a:r>
              <a:rPr lang="en-US" sz="2000" dirty="0" err="1"/>
              <a:t>MPI_Allreduce</a:t>
            </a:r>
            <a:r>
              <a:rPr lang="en-US" sz="2000" dirty="0"/>
              <a:t>, </a:t>
            </a:r>
            <a:r>
              <a:rPr lang="en-US" sz="2000" dirty="0" err="1"/>
              <a:t>MPI_Barrier</a:t>
            </a:r>
            <a:endParaRPr lang="en-US" sz="2000" dirty="0"/>
          </a:p>
          <a:p>
            <a:pPr lvl="1"/>
            <a:r>
              <a:rPr lang="en-US" sz="2000" dirty="0"/>
              <a:t>Blocking/nonblocking/persistent versions</a:t>
            </a:r>
          </a:p>
          <a:p>
            <a:pPr lvl="1"/>
            <a:r>
              <a:rPr lang="en-US" sz="2000" dirty="0"/>
              <a:t>Collective and point-to-point</a:t>
            </a:r>
          </a:p>
          <a:p>
            <a:r>
              <a:rPr lang="en-US" sz="2400" dirty="0"/>
              <a:t>Parallel programs can be written with </a:t>
            </a:r>
            <a:r>
              <a:rPr lang="en-US" sz="2400" dirty="0" err="1"/>
              <a:t>MPI_Send</a:t>
            </a:r>
            <a:r>
              <a:rPr lang="en-US" sz="2400" dirty="0"/>
              <a:t>/</a:t>
            </a:r>
            <a:r>
              <a:rPr lang="en-US" sz="2400" dirty="0" err="1"/>
              <a:t>Recv</a:t>
            </a:r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11576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MPI Everywhere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Easier to build algorithms and no hidden sharing effects</a:t>
            </a:r>
          </a:p>
          <a:p>
            <a:r>
              <a:rPr lang="en-US" sz="2400" dirty="0"/>
              <a:t>Works on a wide-variety of architectures over the past thirty years</a:t>
            </a:r>
          </a:p>
          <a:p>
            <a:r>
              <a:rPr lang="en-US" sz="2400" dirty="0"/>
              <a:t>Programs have proven to be portable and performant</a:t>
            </a:r>
          </a:p>
          <a:p>
            <a:r>
              <a:rPr lang="en-US" sz="2400" dirty="0"/>
              <a:t>Sometimes MPI programs work faster than shared memory even on “NUMA machines”</a:t>
            </a:r>
          </a:p>
          <a:p>
            <a:r>
              <a:rPr lang="en-US" sz="2400" dirty="0"/>
              <a:t>MPI has been the dominant model for message passing and scalable parallel programs for 30 years… </a:t>
            </a:r>
          </a:p>
        </p:txBody>
      </p:sp>
    </p:spTree>
    <p:extLst>
      <p:ext uri="{BB962C8B-B14F-4D97-AF65-F5344CB8AC3E}">
        <p14:creationId xmlns:p14="http://schemas.microsoft.com/office/powerpoint/2010/main" val="1835382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MPI Everywhere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MPI+X makes sense when</a:t>
            </a:r>
          </a:p>
          <a:p>
            <a:pPr lvl="1"/>
            <a:r>
              <a:rPr lang="en-US" sz="2000" dirty="0"/>
              <a:t>X=GPU programming such as CUDA</a:t>
            </a:r>
          </a:p>
          <a:p>
            <a:pPr lvl="1"/>
            <a:r>
              <a:rPr lang="en-US" sz="2000" dirty="0"/>
              <a:t>Each communicating process also has concurrent offload</a:t>
            </a:r>
          </a:p>
          <a:p>
            <a:pPr lvl="1"/>
            <a:r>
              <a:rPr lang="en-US" sz="2000" dirty="0"/>
              <a:t>GPUs may be shared or not by processes on a server</a:t>
            </a:r>
          </a:p>
          <a:p>
            <a:pPr lvl="1"/>
            <a:r>
              <a:rPr lang="en-US" sz="2000" dirty="0"/>
              <a:t>MPI+CUDA is a dominant </a:t>
            </a:r>
            <a:r>
              <a:rPr lang="en-US" sz="2000" dirty="0" err="1"/>
              <a:t>exascale</a:t>
            </a:r>
            <a:r>
              <a:rPr lang="en-US" sz="2000" dirty="0"/>
              <a:t> model now</a:t>
            </a:r>
          </a:p>
          <a:p>
            <a:r>
              <a:rPr lang="en-US" sz="2400" dirty="0"/>
              <a:t>X=threads or OpenMP introduce more complexity</a:t>
            </a:r>
          </a:p>
          <a:p>
            <a:pPr lvl="1"/>
            <a:r>
              <a:rPr lang="en-US" sz="2000" dirty="0"/>
              <a:t>False sharing</a:t>
            </a:r>
          </a:p>
          <a:p>
            <a:pPr lvl="1"/>
            <a:r>
              <a:rPr lang="en-US" sz="2000" dirty="0"/>
              <a:t>Competition for the network resource</a:t>
            </a:r>
          </a:p>
          <a:p>
            <a:pPr lvl="1"/>
            <a:r>
              <a:rPr lang="en-US" sz="2000" dirty="0"/>
              <a:t>Unexpected performance and correctness bugs</a:t>
            </a:r>
          </a:p>
          <a:p>
            <a:pPr lvl="1"/>
            <a:r>
              <a:rPr lang="en-US" sz="2000" dirty="0"/>
              <a:t>Implied overheads in an MPI implementation</a:t>
            </a:r>
          </a:p>
          <a:p>
            <a:pPr lvl="1"/>
            <a:r>
              <a:rPr lang="en-US" sz="2000" dirty="0"/>
              <a:t>This is controversial </a:t>
            </a:r>
            <a:r>
              <a:rPr lang="en-US" sz="2000" dirty="0">
                <a:sym typeface="Wingdings" pitchFamily="2" charset="2"/>
              </a:rPr>
              <a:t> with the OpenMP community</a:t>
            </a: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0208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coding examples follow…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Doing with MPI on my Mac</a:t>
            </a:r>
          </a:p>
          <a:p>
            <a:r>
              <a:rPr lang="en-US" sz="2400" dirty="0"/>
              <a:t>Will show how to run on HPC systems in future lectures</a:t>
            </a:r>
          </a:p>
          <a:p>
            <a:r>
              <a:rPr lang="en-US" sz="2400" dirty="0"/>
              <a:t>Showing basic syntax and ideas</a:t>
            </a:r>
          </a:p>
          <a:p>
            <a:r>
              <a:rPr lang="en-US" sz="2400" dirty="0"/>
              <a:t>We will formalize these more in next lectures</a:t>
            </a:r>
          </a:p>
          <a:p>
            <a:r>
              <a:rPr lang="en-US" sz="2400" dirty="0"/>
              <a:t>Start with “Hello World” and move forward</a:t>
            </a:r>
          </a:p>
          <a:p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78140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/>
          </a:bodyPr>
          <a:lstStyle/>
          <a:p>
            <a:r>
              <a:rPr lang="en-US" sz="3200" dirty="0"/>
              <a:t>Be prepared for Quiz #2 for next week</a:t>
            </a:r>
          </a:p>
          <a:p>
            <a:r>
              <a:rPr lang="en-US" sz="3200" dirty="0"/>
              <a:t>Start learning about MPI</a:t>
            </a:r>
          </a:p>
          <a:p>
            <a:pPr lvl="1"/>
            <a:r>
              <a:rPr lang="en-US" dirty="0"/>
              <a:t>Book Chapter 8</a:t>
            </a:r>
          </a:p>
          <a:p>
            <a:pPr lvl="1"/>
            <a:r>
              <a:rPr lang="en-US" dirty="0"/>
              <a:t>LLNL Tutorial: </a:t>
            </a:r>
            <a:r>
              <a:rPr lang="en-US" dirty="0">
                <a:hlinkClick r:id="rId2"/>
              </a:rPr>
              <a:t>https://hpc-tutorials.llnl.gov/mpi/</a:t>
            </a:r>
            <a:r>
              <a:rPr lang="en-US" dirty="0"/>
              <a:t> </a:t>
            </a:r>
          </a:p>
          <a:p>
            <a:r>
              <a:rPr lang="en-US" sz="3200" dirty="0"/>
              <a:t>We will discuss and handout HW#1 on Wednesday</a:t>
            </a:r>
          </a:p>
        </p:txBody>
      </p:sp>
    </p:spTree>
    <p:extLst>
      <p:ext uri="{BB962C8B-B14F-4D97-AF65-F5344CB8AC3E}">
        <p14:creationId xmlns:p14="http://schemas.microsoft.com/office/powerpoint/2010/main" val="2606358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0145-FEAF-3E49-B446-C974DE04EB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970357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10844</TotalTime>
  <Words>1724</Words>
  <Application>Microsoft Macintosh PowerPoint</Application>
  <PresentationFormat>On-screen Show (4:3)</PresentationFormat>
  <Paragraphs>243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Wingdings</vt:lpstr>
      <vt:lpstr>Office Theme</vt:lpstr>
      <vt:lpstr>CS4760/5760 Lecture  February 9 &amp; 11, 2026</vt:lpstr>
      <vt:lpstr>Overview</vt:lpstr>
      <vt:lpstr>Recap on concepts</vt:lpstr>
      <vt:lpstr>Big Picture</vt:lpstr>
      <vt:lpstr>Strong Scaling: Real-world Overheads</vt:lpstr>
      <vt:lpstr>Load Imbalance</vt:lpstr>
      <vt:lpstr>Communication Overheads</vt:lpstr>
      <vt:lpstr>Indexing Costs</vt:lpstr>
      <vt:lpstr>Input-Output (I/O)</vt:lpstr>
      <vt:lpstr>Imperfect Performance</vt:lpstr>
      <vt:lpstr>Caching and Scaling Effects</vt:lpstr>
      <vt:lpstr>Looking ahead</vt:lpstr>
      <vt:lpstr>Some Network Nomenclature</vt:lpstr>
      <vt:lpstr>More Nomenclature</vt:lpstr>
      <vt:lpstr>Simple Model Used Many Ways</vt:lpstr>
      <vt:lpstr>Supercomputer Networks</vt:lpstr>
      <vt:lpstr>Quiz #1 Info</vt:lpstr>
      <vt:lpstr>Pre-Quiz #2 Info</vt:lpstr>
      <vt:lpstr>Pre-Quiz #2 Info</vt:lpstr>
      <vt:lpstr>C++ Tutorial</vt:lpstr>
      <vt:lpstr>HW#1 Preview + Info</vt:lpstr>
      <vt:lpstr>Flop Nomenclature (Start of 2/11/26 Lecture)</vt:lpstr>
      <vt:lpstr>Message Passing Model</vt:lpstr>
      <vt:lpstr>Message Passing Interface (MPI)</vt:lpstr>
      <vt:lpstr>Message Passing Interface (MPI)</vt:lpstr>
      <vt:lpstr>Why MPI Everywhere</vt:lpstr>
      <vt:lpstr>Why not MPI Everywhere</vt:lpstr>
      <vt:lpstr>Some coding examples follow…</vt:lpstr>
      <vt:lpstr>Summary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Beeland, Holley</dc:creator>
  <cp:lastModifiedBy>Anthony Skjellum</cp:lastModifiedBy>
  <cp:revision>437</cp:revision>
  <dcterms:created xsi:type="dcterms:W3CDTF">2020-08-26T18:23:46Z</dcterms:created>
  <dcterms:modified xsi:type="dcterms:W3CDTF">2026-02-11T22:10:53Z</dcterms:modified>
</cp:coreProperties>
</file>