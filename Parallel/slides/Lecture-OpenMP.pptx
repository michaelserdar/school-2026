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4" r:id="rId12"/>
    <p:sldId id="266" r:id="rId13"/>
    <p:sldId id="269" r:id="rId14"/>
    <p:sldId id="275" r:id="rId15"/>
    <p:sldId id="271" r:id="rId16"/>
    <p:sldId id="272" r:id="rId17"/>
    <p:sldId id="273" r:id="rId18"/>
    <p:sldId id="274" r:id="rId19"/>
    <p:sldId id="270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3" r:id="rId37"/>
    <p:sldId id="294" r:id="rId38"/>
    <p:sldId id="296" r:id="rId39"/>
    <p:sldId id="291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60"/>
    <p:restoredTop sz="94704"/>
  </p:normalViewPr>
  <p:slideViewPr>
    <p:cSldViewPr snapToGrid="0">
      <p:cViewPr varScale="1">
        <p:scale>
          <a:sx n="172" d="100"/>
          <a:sy n="172" d="100"/>
        </p:scale>
        <p:origin x="920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FF71E-0FD5-5C48-9AA3-A7CB4D85480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C64E1-7ECC-DE42-A058-01908D19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33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64E1-7ECC-DE42-A058-01908D196D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72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64E1-7ECC-DE42-A058-01908D196DA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23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AAE5-5473-7376-145B-C5E0C4386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36B1F-CE18-910A-1D3E-1C1ED53A7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35DA6-C733-3C61-34AE-9299858D1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5BA5F-080D-3CA2-ED18-62F94A1C9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64E1-7ECC-DE42-A058-01908D196DA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47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B914-4397-9E10-A1A2-23C884A48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492F4-BD29-8A74-EBEE-2273F24A1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090A8-912D-7761-B540-0991776EB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A994A-9A67-FEA6-7A85-671EDCE08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64E1-7ECC-DE42-A058-01908D196DA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4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6B7F-D0BF-CCEB-4BBD-191445E35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59466-4DB6-DAE9-CE38-66C264B1D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398A0-CF98-ABF1-238F-38BE1512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775FA-43EA-E94A-BD24-75F767EC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525FB-FAEA-E80C-79FC-B2425D0E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4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926E-B437-6F75-F9BF-821AF26B3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45C5-83D1-8F95-1433-828B17C6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4CCA9-EFE7-769E-DEB7-676D822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78AE5-6DCB-2DDB-2E92-0069254EA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4CAD2-462B-4C12-F25F-7E288537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1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5123-ADA1-B908-83B8-20A04137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FCC7A-229A-9F49-6C3C-44BBE10AF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3284-FCBC-3011-EF1F-07116CF6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FF2FE-7E84-C2C5-A25D-0EAA9B24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DCDD-F8B2-44A7-BC22-2E005EBD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41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8C13-2FF9-E7F5-5E06-F60655A0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AC66D-1AEC-7E3C-B09C-63DB0BFD2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484C3-A66E-A83D-152A-F88BAD72E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D50C0-C8D0-3E56-9AD4-DCDD54B7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13D20-5F44-CC12-ACCC-96B9DCA9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E6D9F-6895-B988-F8CB-730700A40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56C0-8EA8-47AE-CB0A-2FBD436AE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0F716-89B1-EE87-FF99-8B45C5DCB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494F9-B25C-6FFF-5D81-57842FEBE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0F930-92F1-FE6C-99D5-84D3E52E0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5BF6A-5285-E926-E01B-74768AC60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AD1B8-36BE-B80F-F618-F348B4F1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1E2C04-0B05-6AAD-3EE1-76D95DC4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8CE3D-6BB1-2D31-D972-1AD60736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1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396F-B670-9767-AB80-4D07E7DC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8C607-E2FB-9A5F-4081-2849CBED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A8E45-FA6D-5E07-1650-4AB0505A6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22501-985B-06CB-C371-DAFB70F4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2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BB603-5CDE-3425-E0C5-B3ED95B1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4A8350-E76D-C473-41AB-56342462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0FE93-DDEE-837E-0D95-5C863391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1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B853-552A-A37E-1DCB-1A4564AA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C0481-8DC4-37AB-D545-2386E2D96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FEC99-10AF-396A-A53A-E7334A0C3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EE47F-82F1-D664-D021-305338D4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89549-E905-7857-3E8C-A8E65EA1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4F4E9-E7A7-72E3-F259-2ED0D68B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3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6434-798C-D11C-5C56-A8D2AD0A1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CC661-4942-94D6-E756-B5F57B4E80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235A0-8468-2F90-3F93-94503E8EB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534B6-AF40-4EA8-32A9-A601E00D2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F182C-7DDA-7866-C0C5-5B1A3A78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DE60C-D5BF-42B8-1E6A-C88D7F3B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6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E330A-D2F0-B95A-8603-431EC8F9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B103E-D2D1-6845-CD8C-6F8E39335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F9C66-CCC9-22AB-C518-85095DC8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35416-DEEE-3404-BDA5-4D1B8F49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1F14D-D8F1-75D4-77EE-ED910ECA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6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3E6219-63FA-190D-0D04-3EB1E08E53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1647A-008F-02B3-0092-4F1347535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8FEBC-634D-4A52-54F3-349F21A51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0BAE5-D6CB-D571-3D2C-C2BFE543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84304-2C3E-A118-9625-6D1042CB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6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730EA-3CA5-2133-9882-3B2C07720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68F93-3327-396C-F3C8-B8FEEE487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866BC-8E90-0E6B-80F3-863886181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4656A-D866-CC4A-9B01-1E050BE7EB5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D86EE-C1F8-0C9F-C277-27DD277B7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734CB-83CA-A06F-D2EF-7F1784FB8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4AD75-7004-FA40-9C6B-27FA6786F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9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o/jaucq9eo39vwiptg9lsjt/AHanHneKWkec2vlvVIKL2yA?rlkey=pjj99j5zlfpden6rxfvfhssad&amp;st=0ryo9hnx&amp;dl=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4038-E621-312B-3F43-24A13AF6E9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OpenMP</a:t>
            </a:r>
            <a:br>
              <a:rPr lang="en-US" dirty="0"/>
            </a:br>
            <a:r>
              <a:rPr lang="en-US" dirty="0"/>
              <a:t>CSC 4760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D24D3-BC5C-C04F-86AC-5ACC40DE05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Dr. Zulkar Nine</a:t>
            </a:r>
          </a:p>
          <a:p>
            <a:r>
              <a:rPr lang="en-US" dirty="0"/>
              <a:t>Codes: </a:t>
            </a:r>
            <a:r>
              <a:rPr lang="en-US" dirty="0">
                <a:hlinkClick r:id="rId3"/>
              </a:rPr>
              <a:t>https://www.dropbox.com/scl/fo/jaucq9eo39vwiptg9lsjt/AHanHneKWkec2vlvVIKL2yA?rlkey=pjj99j5zlfpden6rxfvfhssad&amp;st=0ryo9hnx&amp;dl=0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0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1CA1-8D4B-51AA-EDA5-1E8ABF42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CC6D-A47F-E9A1-C3B5-EC907AAAE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All processors/cores can access all memory in a single address space</a:t>
            </a:r>
          </a:p>
        </p:txBody>
      </p:sp>
      <p:pic>
        <p:nvPicPr>
          <p:cNvPr id="5" name="Picture 4" descr="A diagram of a computer processor&#10;&#10;AI-generated content may be incorrect.">
            <a:extLst>
              <a:ext uri="{FF2B5EF4-FFF2-40B4-BE49-F238E27FC236}">
                <a16:creationId xmlns:a16="http://schemas.microsoft.com/office/drawing/2014/main" id="{151EE52F-2C6B-EEC5-DBD1-F57EE91BD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4" t="3650" r="1606" b="5243"/>
          <a:stretch>
            <a:fillRect/>
          </a:stretch>
        </p:blipFill>
        <p:spPr>
          <a:xfrm>
            <a:off x="1168399" y="2849126"/>
            <a:ext cx="4086809" cy="29298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5A5CCF-0543-900C-134C-19D3A07A68D9}"/>
              </a:ext>
            </a:extLst>
          </p:cNvPr>
          <p:cNvSpPr txBox="1"/>
          <p:nvPr/>
        </p:nvSpPr>
        <p:spPr>
          <a:xfrm>
            <a:off x="1670180" y="5938676"/>
            <a:ext cx="3461657" cy="373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Uniform memory Access</a:t>
            </a:r>
          </a:p>
        </p:txBody>
      </p:sp>
      <p:pic>
        <p:nvPicPr>
          <p:cNvPr id="7" name="Picture 6" descr="A diagram of a bus interconnect&#10;&#10;AI-generated content may be incorrect.">
            <a:extLst>
              <a:ext uri="{FF2B5EF4-FFF2-40B4-BE49-F238E27FC236}">
                <a16:creationId xmlns:a16="http://schemas.microsoft.com/office/drawing/2014/main" id="{875495AE-2269-EBB1-4935-83DB6A41F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453" y="3348832"/>
            <a:ext cx="4368800" cy="1930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F98649-6F0B-2DFF-9185-043995FBC37F}"/>
              </a:ext>
            </a:extLst>
          </p:cNvPr>
          <p:cNvSpPr txBox="1"/>
          <p:nvPr/>
        </p:nvSpPr>
        <p:spPr>
          <a:xfrm>
            <a:off x="7155024" y="5938676"/>
            <a:ext cx="4086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Non-Uniform memory Access (NUMA)</a:t>
            </a:r>
          </a:p>
        </p:txBody>
      </p:sp>
    </p:spTree>
    <p:extLst>
      <p:ext uri="{BB962C8B-B14F-4D97-AF65-F5344CB8AC3E}">
        <p14:creationId xmlns:p14="http://schemas.microsoft.com/office/powerpoint/2010/main" val="268580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20C8-BA72-506E-49E0-7E35F930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OpenMP?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F60F-C46F-8D69-0792-26E349561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Specification for Multi-processing</a:t>
            </a:r>
          </a:p>
          <a:p>
            <a:r>
              <a:rPr lang="en-US" dirty="0"/>
              <a:t>”Standard” API for defining multi-threaded shared-memory programs</a:t>
            </a:r>
          </a:p>
          <a:p>
            <a:r>
              <a:rPr lang="en-US" dirty="0"/>
              <a:t>Within Node parallelism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D087-0623-6971-941D-DF571A3DC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3D9F-3D74-7630-2090-287B6ECF6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achieve modest parallelism</a:t>
            </a:r>
          </a:p>
          <a:p>
            <a:r>
              <a:rPr lang="en-US" dirty="0"/>
              <a:t>Use relax memory model </a:t>
            </a:r>
          </a:p>
        </p:txBody>
      </p:sp>
    </p:spTree>
    <p:extLst>
      <p:ext uri="{BB962C8B-B14F-4D97-AF65-F5344CB8AC3E}">
        <p14:creationId xmlns:p14="http://schemas.microsoft.com/office/powerpoint/2010/main" val="1926674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74E5-3C0A-3A5C-6765-F54BEEFF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Memory Model</a:t>
            </a:r>
          </a:p>
        </p:txBody>
      </p:sp>
      <p:pic>
        <p:nvPicPr>
          <p:cNvPr id="5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AC34CD5E-E4DE-836A-6E1A-C6C8B56A6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7936" y="2319420"/>
            <a:ext cx="1091749" cy="1018423"/>
          </a:xfrm>
          <a:prstGeom prst="rect">
            <a:avLst/>
          </a:prstGeom>
        </p:spPr>
      </p:pic>
      <p:pic>
        <p:nvPicPr>
          <p:cNvPr id="7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82D1D175-51E8-F0EF-3F25-B0A995A54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368" y="2319420"/>
            <a:ext cx="1091749" cy="10184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1BFDCF-26C9-B20E-55BC-BD469436755A}"/>
              </a:ext>
            </a:extLst>
          </p:cNvPr>
          <p:cNvSpPr/>
          <p:nvPr/>
        </p:nvSpPr>
        <p:spPr>
          <a:xfrm>
            <a:off x="6716111" y="3563007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9004E-5F02-05B2-6528-047B960C20E4}"/>
              </a:ext>
            </a:extLst>
          </p:cNvPr>
          <p:cNvSpPr/>
          <p:nvPr/>
        </p:nvSpPr>
        <p:spPr>
          <a:xfrm>
            <a:off x="6712734" y="4114800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7A1A52-3C2B-8963-6043-B6974A691131}"/>
              </a:ext>
            </a:extLst>
          </p:cNvPr>
          <p:cNvSpPr/>
          <p:nvPr/>
        </p:nvSpPr>
        <p:spPr>
          <a:xfrm>
            <a:off x="10335166" y="3563006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3DA0A2-5DDF-15F4-9E1A-2282205D03E7}"/>
              </a:ext>
            </a:extLst>
          </p:cNvPr>
          <p:cNvSpPr/>
          <p:nvPr/>
        </p:nvSpPr>
        <p:spPr>
          <a:xfrm>
            <a:off x="10335165" y="4114799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A81B96-B1B7-ACF6-8622-7E297C85C8C7}"/>
              </a:ext>
            </a:extLst>
          </p:cNvPr>
          <p:cNvSpPr/>
          <p:nvPr/>
        </p:nvSpPr>
        <p:spPr>
          <a:xfrm>
            <a:off x="6712733" y="4630312"/>
            <a:ext cx="4284583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LLC/L3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E9EC2B9-9057-C1CC-CF04-454E561B0803}"/>
              </a:ext>
            </a:extLst>
          </p:cNvPr>
          <p:cNvSpPr/>
          <p:nvPr/>
        </p:nvSpPr>
        <p:spPr>
          <a:xfrm>
            <a:off x="6712733" y="5433849"/>
            <a:ext cx="4284583" cy="88286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 = 0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Main Memory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B3F163-4838-4137-179A-987C03D3BD73}"/>
              </a:ext>
            </a:extLst>
          </p:cNvPr>
          <p:cNvSpPr/>
          <p:nvPr/>
        </p:nvSpPr>
        <p:spPr>
          <a:xfrm>
            <a:off x="6712733" y="1690688"/>
            <a:ext cx="662152" cy="628732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5CB510-18DF-8B90-9054-C2ACAAA2351D}"/>
              </a:ext>
            </a:extLst>
          </p:cNvPr>
          <p:cNvSpPr/>
          <p:nvPr/>
        </p:nvSpPr>
        <p:spPr>
          <a:xfrm>
            <a:off x="10335164" y="1690688"/>
            <a:ext cx="662152" cy="6287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</a:t>
            </a:r>
          </a:p>
        </p:txBody>
      </p:sp>
    </p:spTree>
    <p:extLst>
      <p:ext uri="{BB962C8B-B14F-4D97-AF65-F5344CB8AC3E}">
        <p14:creationId xmlns:p14="http://schemas.microsoft.com/office/powerpoint/2010/main" val="59790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3E7D-141B-4C1F-FFFF-415D405C3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42F5-1F83-2060-422F-05127DE1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Memory Model</a:t>
            </a:r>
          </a:p>
        </p:txBody>
      </p:sp>
      <p:pic>
        <p:nvPicPr>
          <p:cNvPr id="5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7E9AF622-8A20-D9B4-4F0A-78243CC3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7936" y="2319420"/>
            <a:ext cx="1091749" cy="1018423"/>
          </a:xfrm>
          <a:prstGeom prst="rect">
            <a:avLst/>
          </a:prstGeom>
        </p:spPr>
      </p:pic>
      <p:pic>
        <p:nvPicPr>
          <p:cNvPr id="7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418D7FF2-EBF4-7BED-3302-511E857C6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368" y="2319420"/>
            <a:ext cx="1091749" cy="10184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D27B31-60C9-5024-72E8-7A84F4AE8A40}"/>
              </a:ext>
            </a:extLst>
          </p:cNvPr>
          <p:cNvSpPr/>
          <p:nvPr/>
        </p:nvSpPr>
        <p:spPr>
          <a:xfrm>
            <a:off x="6716111" y="3563007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0A3DCE-6C3C-CC07-6633-83B26DA9F09A}"/>
              </a:ext>
            </a:extLst>
          </p:cNvPr>
          <p:cNvSpPr/>
          <p:nvPr/>
        </p:nvSpPr>
        <p:spPr>
          <a:xfrm>
            <a:off x="6712734" y="4114800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649A12-1AE0-63CA-4BD0-21BD9F78B0BC}"/>
              </a:ext>
            </a:extLst>
          </p:cNvPr>
          <p:cNvSpPr/>
          <p:nvPr/>
        </p:nvSpPr>
        <p:spPr>
          <a:xfrm>
            <a:off x="10335166" y="3563006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6ABB68-70A6-2A96-8E2E-ABC43C5FBEA9}"/>
              </a:ext>
            </a:extLst>
          </p:cNvPr>
          <p:cNvSpPr/>
          <p:nvPr/>
        </p:nvSpPr>
        <p:spPr>
          <a:xfrm>
            <a:off x="10335165" y="4114799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598E63-64A4-35D4-1EC9-EF3D6E9B644A}"/>
              </a:ext>
            </a:extLst>
          </p:cNvPr>
          <p:cNvSpPr/>
          <p:nvPr/>
        </p:nvSpPr>
        <p:spPr>
          <a:xfrm>
            <a:off x="6712733" y="4630312"/>
            <a:ext cx="4284583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LLC/L3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CEFD1E-33B5-3406-9B8E-43522A8238B7}"/>
              </a:ext>
            </a:extLst>
          </p:cNvPr>
          <p:cNvSpPr/>
          <p:nvPr/>
        </p:nvSpPr>
        <p:spPr>
          <a:xfrm>
            <a:off x="6712733" y="5433849"/>
            <a:ext cx="4284583" cy="88286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 = 0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Main Memory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F21E38-3510-9EF3-175B-CD6AF4580434}"/>
              </a:ext>
            </a:extLst>
          </p:cNvPr>
          <p:cNvSpPr/>
          <p:nvPr/>
        </p:nvSpPr>
        <p:spPr>
          <a:xfrm>
            <a:off x="6712733" y="1690688"/>
            <a:ext cx="662152" cy="628732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5D5C51-602F-C42A-3E33-B675122E7517}"/>
              </a:ext>
            </a:extLst>
          </p:cNvPr>
          <p:cNvSpPr/>
          <p:nvPr/>
        </p:nvSpPr>
        <p:spPr>
          <a:xfrm>
            <a:off x="10335164" y="1690688"/>
            <a:ext cx="662152" cy="6287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242378-51A5-DA79-5484-8AC11CE215C7}"/>
              </a:ext>
            </a:extLst>
          </p:cNvPr>
          <p:cNvSpPr/>
          <p:nvPr/>
        </p:nvSpPr>
        <p:spPr>
          <a:xfrm>
            <a:off x="5316853" y="3452381"/>
            <a:ext cx="1286591" cy="54891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 =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7A38-DF84-68FF-9A89-CFC824C2FF7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Too expensive to update main memory every time value updates. </a:t>
            </a:r>
          </a:p>
        </p:txBody>
      </p:sp>
    </p:spTree>
    <p:extLst>
      <p:ext uri="{BB962C8B-B14F-4D97-AF65-F5344CB8AC3E}">
        <p14:creationId xmlns:p14="http://schemas.microsoft.com/office/powerpoint/2010/main" val="276403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8E1E-92C3-68BB-8A2D-5F0132BC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7DC4-4A2A-43E0-2BF4-A0F03426F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Memory Model</a:t>
            </a:r>
          </a:p>
        </p:txBody>
      </p:sp>
      <p:pic>
        <p:nvPicPr>
          <p:cNvPr id="5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B8A2EC41-9D86-FD59-F1E3-0789A21B2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7936" y="2319420"/>
            <a:ext cx="1091749" cy="1018423"/>
          </a:xfrm>
          <a:prstGeom prst="rect">
            <a:avLst/>
          </a:prstGeom>
        </p:spPr>
      </p:pic>
      <p:pic>
        <p:nvPicPr>
          <p:cNvPr id="7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94A92702-8837-E10A-1E68-943279CB0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368" y="2319420"/>
            <a:ext cx="1091749" cy="10184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AE7C25-537E-B381-3DEC-0E54437F00D1}"/>
              </a:ext>
            </a:extLst>
          </p:cNvPr>
          <p:cNvSpPr/>
          <p:nvPr/>
        </p:nvSpPr>
        <p:spPr>
          <a:xfrm>
            <a:off x="6716111" y="3563007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0BA5A-CD06-36A8-B2C0-7940015D010C}"/>
              </a:ext>
            </a:extLst>
          </p:cNvPr>
          <p:cNvSpPr/>
          <p:nvPr/>
        </p:nvSpPr>
        <p:spPr>
          <a:xfrm>
            <a:off x="6712734" y="4114800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879EB-D5AA-3A01-A041-DFAD32EEB887}"/>
              </a:ext>
            </a:extLst>
          </p:cNvPr>
          <p:cNvSpPr/>
          <p:nvPr/>
        </p:nvSpPr>
        <p:spPr>
          <a:xfrm>
            <a:off x="10335166" y="3563006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31470B-F1FB-4E38-CA0F-C12F1669A728}"/>
              </a:ext>
            </a:extLst>
          </p:cNvPr>
          <p:cNvSpPr/>
          <p:nvPr/>
        </p:nvSpPr>
        <p:spPr>
          <a:xfrm>
            <a:off x="10335165" y="4114799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9F7CC7-9D8B-D0AF-A8D7-F07B4F3E7A79}"/>
              </a:ext>
            </a:extLst>
          </p:cNvPr>
          <p:cNvSpPr/>
          <p:nvPr/>
        </p:nvSpPr>
        <p:spPr>
          <a:xfrm>
            <a:off x="6712733" y="4630312"/>
            <a:ext cx="4284583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LLC/L3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D66C2F4-FD9D-DB3D-1C43-ED7E32E461B2}"/>
              </a:ext>
            </a:extLst>
          </p:cNvPr>
          <p:cNvSpPr/>
          <p:nvPr/>
        </p:nvSpPr>
        <p:spPr>
          <a:xfrm>
            <a:off x="6712733" y="5433849"/>
            <a:ext cx="4284583" cy="88286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 = 0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Main Memory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1E90F60-8861-0295-0E17-4D9ED3527C57}"/>
              </a:ext>
            </a:extLst>
          </p:cNvPr>
          <p:cNvSpPr/>
          <p:nvPr/>
        </p:nvSpPr>
        <p:spPr>
          <a:xfrm>
            <a:off x="6712733" y="1690688"/>
            <a:ext cx="662152" cy="628732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3E2CAB1-584B-C380-026D-A7DA769AE941}"/>
              </a:ext>
            </a:extLst>
          </p:cNvPr>
          <p:cNvSpPr/>
          <p:nvPr/>
        </p:nvSpPr>
        <p:spPr>
          <a:xfrm>
            <a:off x="10335164" y="1690688"/>
            <a:ext cx="662152" cy="6287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90CEE3-F5AE-233E-0D68-5D3436883F4F}"/>
              </a:ext>
            </a:extLst>
          </p:cNvPr>
          <p:cNvSpPr/>
          <p:nvPr/>
        </p:nvSpPr>
        <p:spPr>
          <a:xfrm>
            <a:off x="5211345" y="3520158"/>
            <a:ext cx="1286591" cy="54891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 = 10</a:t>
            </a:r>
          </a:p>
        </p:txBody>
      </p:sp>
      <p:sp>
        <p:nvSpPr>
          <p:cNvPr id="3" name="Oval Callout 2">
            <a:extLst>
              <a:ext uri="{FF2B5EF4-FFF2-40B4-BE49-F238E27FC236}">
                <a16:creationId xmlns:a16="http://schemas.microsoft.com/office/drawing/2014/main" id="{1174DB32-8352-403B-C669-527F9BD9603A}"/>
              </a:ext>
            </a:extLst>
          </p:cNvPr>
          <p:cNvSpPr/>
          <p:nvPr/>
        </p:nvSpPr>
        <p:spPr>
          <a:xfrm>
            <a:off x="3505200" y="4242896"/>
            <a:ext cx="2450123" cy="636482"/>
          </a:xfrm>
          <a:prstGeom prst="wedgeEllipseCallout">
            <a:avLst>
              <a:gd name="adj1" fmla="val 32755"/>
              <a:gd name="adj2" fmla="val -81164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Temporary view</a:t>
            </a:r>
          </a:p>
        </p:txBody>
      </p:sp>
      <p:sp>
        <p:nvSpPr>
          <p:cNvPr id="4" name="Oval Callout 3">
            <a:extLst>
              <a:ext uri="{FF2B5EF4-FFF2-40B4-BE49-F238E27FC236}">
                <a16:creationId xmlns:a16="http://schemas.microsoft.com/office/drawing/2014/main" id="{7671D259-A433-CE30-EEFA-8658EAEDF312}"/>
              </a:ext>
            </a:extLst>
          </p:cNvPr>
          <p:cNvSpPr/>
          <p:nvPr/>
        </p:nvSpPr>
        <p:spPr>
          <a:xfrm>
            <a:off x="5272874" y="5809290"/>
            <a:ext cx="2450123" cy="636482"/>
          </a:xfrm>
          <a:prstGeom prst="wedgeEllipseCallout">
            <a:avLst>
              <a:gd name="adj1" fmla="val 75339"/>
              <a:gd name="adj2" fmla="val -8484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Shared view</a:t>
            </a:r>
          </a:p>
        </p:txBody>
      </p:sp>
    </p:spTree>
    <p:extLst>
      <p:ext uri="{BB962C8B-B14F-4D97-AF65-F5344CB8AC3E}">
        <p14:creationId xmlns:p14="http://schemas.microsoft.com/office/powerpoint/2010/main" val="2095555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34A-A344-3102-D307-2FAE008F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411E-C214-6417-EAB3-A3763D5D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Memory Model</a:t>
            </a:r>
          </a:p>
        </p:txBody>
      </p:sp>
      <p:pic>
        <p:nvPicPr>
          <p:cNvPr id="5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1F937D38-9ACD-4917-D6DC-EA9A00C9B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7936" y="2319420"/>
            <a:ext cx="1091749" cy="1018423"/>
          </a:xfrm>
          <a:prstGeom prst="rect">
            <a:avLst/>
          </a:prstGeom>
        </p:spPr>
      </p:pic>
      <p:pic>
        <p:nvPicPr>
          <p:cNvPr id="7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D979BD45-B62D-77B8-E6A6-017593924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368" y="2319420"/>
            <a:ext cx="1091749" cy="10184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A3AEF6-3A14-01BF-08EC-FB9179BBDDE8}"/>
              </a:ext>
            </a:extLst>
          </p:cNvPr>
          <p:cNvSpPr/>
          <p:nvPr/>
        </p:nvSpPr>
        <p:spPr>
          <a:xfrm>
            <a:off x="6716111" y="3563007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176E6-1C1B-23D6-6314-39E1098A9BEB}"/>
              </a:ext>
            </a:extLst>
          </p:cNvPr>
          <p:cNvSpPr/>
          <p:nvPr/>
        </p:nvSpPr>
        <p:spPr>
          <a:xfrm>
            <a:off x="6712734" y="4114800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03C94D-7DB0-F636-1D16-4E936DF8EAA2}"/>
              </a:ext>
            </a:extLst>
          </p:cNvPr>
          <p:cNvSpPr/>
          <p:nvPr/>
        </p:nvSpPr>
        <p:spPr>
          <a:xfrm>
            <a:off x="10335166" y="3563006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39F81E-C074-92C5-A4BE-BA124944E23E}"/>
              </a:ext>
            </a:extLst>
          </p:cNvPr>
          <p:cNvSpPr/>
          <p:nvPr/>
        </p:nvSpPr>
        <p:spPr>
          <a:xfrm>
            <a:off x="10335165" y="4114799"/>
            <a:ext cx="662151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3D893-4BC3-E22A-7883-7788B2581E8B}"/>
              </a:ext>
            </a:extLst>
          </p:cNvPr>
          <p:cNvSpPr/>
          <p:nvPr/>
        </p:nvSpPr>
        <p:spPr>
          <a:xfrm>
            <a:off x="6712733" y="4630312"/>
            <a:ext cx="4284583" cy="402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LLC/L3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6C99292-4A48-0A1C-F6C0-A8DB1B8F3CF7}"/>
              </a:ext>
            </a:extLst>
          </p:cNvPr>
          <p:cNvSpPr/>
          <p:nvPr/>
        </p:nvSpPr>
        <p:spPr>
          <a:xfrm>
            <a:off x="6712733" y="5433849"/>
            <a:ext cx="4284583" cy="88286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 = 10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Main Memory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649EB80-2F1F-A192-8EAD-D69A81DB008A}"/>
              </a:ext>
            </a:extLst>
          </p:cNvPr>
          <p:cNvSpPr/>
          <p:nvPr/>
        </p:nvSpPr>
        <p:spPr>
          <a:xfrm>
            <a:off x="6712733" y="1690688"/>
            <a:ext cx="662152" cy="628732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9285B8-99B6-5033-0582-B3138DC918A1}"/>
              </a:ext>
            </a:extLst>
          </p:cNvPr>
          <p:cNvSpPr/>
          <p:nvPr/>
        </p:nvSpPr>
        <p:spPr>
          <a:xfrm>
            <a:off x="10335164" y="1690688"/>
            <a:ext cx="662152" cy="6287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6B41B-3C82-FDB9-5505-178F9D72AECE}"/>
              </a:ext>
            </a:extLst>
          </p:cNvPr>
          <p:cNvSpPr/>
          <p:nvPr/>
        </p:nvSpPr>
        <p:spPr>
          <a:xfrm>
            <a:off x="5211345" y="3520158"/>
            <a:ext cx="1286591" cy="54891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 = 10</a:t>
            </a:r>
          </a:p>
        </p:txBody>
      </p:sp>
      <p:sp>
        <p:nvSpPr>
          <p:cNvPr id="3" name="Oval Callout 2">
            <a:extLst>
              <a:ext uri="{FF2B5EF4-FFF2-40B4-BE49-F238E27FC236}">
                <a16:creationId xmlns:a16="http://schemas.microsoft.com/office/drawing/2014/main" id="{E51271E0-533C-C5EB-939D-239AF375893B}"/>
              </a:ext>
            </a:extLst>
          </p:cNvPr>
          <p:cNvSpPr/>
          <p:nvPr/>
        </p:nvSpPr>
        <p:spPr>
          <a:xfrm>
            <a:off x="3432729" y="2883676"/>
            <a:ext cx="2450123" cy="636482"/>
          </a:xfrm>
          <a:prstGeom prst="wedgeEllipseCallout">
            <a:avLst>
              <a:gd name="adj1" fmla="val 46702"/>
              <a:gd name="adj2" fmla="val 77156"/>
            </a:avLst>
          </a:prstGeom>
          <a:solidFill>
            <a:schemeClr val="accent2">
              <a:alpha val="46069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Temporary view</a:t>
            </a:r>
          </a:p>
        </p:txBody>
      </p:sp>
      <p:sp>
        <p:nvSpPr>
          <p:cNvPr id="4" name="Oval Callout 3">
            <a:extLst>
              <a:ext uri="{FF2B5EF4-FFF2-40B4-BE49-F238E27FC236}">
                <a16:creationId xmlns:a16="http://schemas.microsoft.com/office/drawing/2014/main" id="{689D19AF-59E9-DCC4-ED08-40C43C55B732}"/>
              </a:ext>
            </a:extLst>
          </p:cNvPr>
          <p:cNvSpPr/>
          <p:nvPr/>
        </p:nvSpPr>
        <p:spPr>
          <a:xfrm>
            <a:off x="7557891" y="3408080"/>
            <a:ext cx="2450123" cy="636482"/>
          </a:xfrm>
          <a:prstGeom prst="wedgeEllipseCallout">
            <a:avLst>
              <a:gd name="adj1" fmla="val 16454"/>
              <a:gd name="adj2" fmla="val 269615"/>
            </a:avLst>
          </a:prstGeom>
          <a:solidFill>
            <a:schemeClr val="accent2">
              <a:alpha val="51168"/>
            </a:schemeClr>
          </a:solidFill>
          <a:ln>
            <a:solidFill>
              <a:schemeClr val="lt1">
                <a:alpha val="34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Shared 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B51BD3-57C8-4C59-3068-F62B5F9EA6C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8558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Barrier or Flush needed</a:t>
            </a:r>
          </a:p>
        </p:txBody>
      </p:sp>
      <p:sp>
        <p:nvSpPr>
          <p:cNvPr id="18" name="Bent Arrow 17">
            <a:extLst>
              <a:ext uri="{FF2B5EF4-FFF2-40B4-BE49-F238E27FC236}">
                <a16:creationId xmlns:a16="http://schemas.microsoft.com/office/drawing/2014/main" id="{D6B55A19-A156-7804-7438-D8FD90C300C2}"/>
              </a:ext>
            </a:extLst>
          </p:cNvPr>
          <p:cNvSpPr/>
          <p:nvPr/>
        </p:nvSpPr>
        <p:spPr>
          <a:xfrm rot="10800000" flipH="1">
            <a:off x="5633544" y="4071290"/>
            <a:ext cx="2643007" cy="1690663"/>
          </a:xfrm>
          <a:prstGeom prst="bentArrow">
            <a:avLst>
              <a:gd name="adj1" fmla="val 6033"/>
              <a:gd name="adj2" fmla="val 7780"/>
              <a:gd name="adj3" fmla="val 23003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75384AD-1F37-B74D-76BB-60D517ACC4E4}"/>
              </a:ext>
            </a:extLst>
          </p:cNvPr>
          <p:cNvSpPr/>
          <p:nvPr/>
        </p:nvSpPr>
        <p:spPr>
          <a:xfrm>
            <a:off x="4402941" y="4516820"/>
            <a:ext cx="2039007" cy="41253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Barrier/flush</a:t>
            </a:r>
          </a:p>
        </p:txBody>
      </p:sp>
    </p:spTree>
    <p:extLst>
      <p:ext uri="{BB962C8B-B14F-4D97-AF65-F5344CB8AC3E}">
        <p14:creationId xmlns:p14="http://schemas.microsoft.com/office/powerpoint/2010/main" val="2114324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F9214-C8DD-615B-EC36-B6D95129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52A2E-EDBB-AB05-126A-E8C818DE8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addresses a single node parallelism</a:t>
            </a:r>
          </a:p>
          <a:p>
            <a:pPr lvl="1"/>
            <a:r>
              <a:rPr lang="en-US" dirty="0"/>
              <a:t>Memory scalability is limited </a:t>
            </a:r>
          </a:p>
          <a:p>
            <a:r>
              <a:rPr lang="en-US" dirty="0"/>
              <a:t>Parallel Applications  with Larger memory requirements</a:t>
            </a:r>
          </a:p>
          <a:p>
            <a:pPr lvl="1"/>
            <a:r>
              <a:rPr lang="en-US" dirty="0"/>
              <a:t>Multi-node distributed Memory architecture</a:t>
            </a:r>
          </a:p>
          <a:p>
            <a:pPr lvl="1"/>
            <a:r>
              <a:rPr lang="en-US" dirty="0"/>
              <a:t>OpenMP needs to be used with Techniques - MPI</a:t>
            </a:r>
          </a:p>
          <a:p>
            <a:pPr lvl="1"/>
            <a:endParaRPr lang="en-US" dirty="0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29594221-4806-1CE9-8C84-7259CAF3C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03" y="4320355"/>
            <a:ext cx="4533412" cy="1807204"/>
          </a:xfrm>
          <a:prstGeom prst="rect">
            <a:avLst/>
          </a:prstGeom>
        </p:spPr>
      </p:pic>
      <p:pic>
        <p:nvPicPr>
          <p:cNvPr id="7" name="Picture 6" descr="A diagram of a bus interconnect&#10;&#10;AI-generated content may be incorrect.">
            <a:extLst>
              <a:ext uri="{FF2B5EF4-FFF2-40B4-BE49-F238E27FC236}">
                <a16:creationId xmlns:a16="http://schemas.microsoft.com/office/drawing/2014/main" id="{984907E8-17DF-B641-A6BD-45FC91BF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5" y="4320355"/>
            <a:ext cx="4161204" cy="185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1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85C6-E8D5-B62C-734A-D877AA61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BA246-39A9-E3E5-6221-912D9547F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5731" cy="4351338"/>
          </a:xfrm>
        </p:spPr>
        <p:txBody>
          <a:bodyPr/>
          <a:lstStyle/>
          <a:p>
            <a:r>
              <a:rPr lang="en-US" dirty="0"/>
              <a:t>OpenMP is a language extension enables parallelizing C/C+/Fortran code. </a:t>
            </a:r>
          </a:p>
          <a:p>
            <a:endParaRPr lang="en-US" dirty="0"/>
          </a:p>
          <a:p>
            <a:r>
              <a:rPr lang="en-US" dirty="0"/>
              <a:t>Programmer uses compiler directives and library routines</a:t>
            </a:r>
          </a:p>
          <a:p>
            <a:pPr lvl="1"/>
            <a:r>
              <a:rPr lang="en-US" dirty="0"/>
              <a:t>Indicate parallel regions</a:t>
            </a:r>
          </a:p>
          <a:p>
            <a:pPr lvl="1"/>
            <a:r>
              <a:rPr lang="en-US" dirty="0"/>
              <a:t>How to parallelize them</a:t>
            </a:r>
          </a:p>
          <a:p>
            <a:r>
              <a:rPr lang="en-US" dirty="0"/>
              <a:t>Compiler converts code to multi-threaded code</a:t>
            </a:r>
          </a:p>
          <a:p>
            <a:endParaRPr lang="en-US" dirty="0"/>
          </a:p>
          <a:p>
            <a:r>
              <a:rPr lang="en-US" dirty="0"/>
              <a:t>OpenMP uses fork/join model of parallelism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621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365F-3892-24F9-4DCE-BEA50E51D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Join Approach</a:t>
            </a:r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15D6D0B-13B9-B040-C709-2995AE643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90" y="2900366"/>
            <a:ext cx="8897412" cy="359250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107906-29D3-9697-8A02-495EA982A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5731" cy="4351338"/>
          </a:xfrm>
        </p:spPr>
        <p:txBody>
          <a:bodyPr/>
          <a:lstStyle/>
          <a:p>
            <a:r>
              <a:rPr lang="en-US" dirty="0"/>
              <a:t>Primary Thread spawn worker threads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3286CA-AF0A-206D-9886-30A990D567E9}"/>
              </a:ext>
            </a:extLst>
          </p:cNvPr>
          <p:cNvSpPr/>
          <p:nvPr/>
        </p:nvSpPr>
        <p:spPr>
          <a:xfrm>
            <a:off x="2180493" y="3848894"/>
            <a:ext cx="1934307" cy="304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Primary Thread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3457E-3DC8-9A0B-0336-823A3551B391}"/>
              </a:ext>
            </a:extLst>
          </p:cNvPr>
          <p:cNvSpPr/>
          <p:nvPr/>
        </p:nvSpPr>
        <p:spPr>
          <a:xfrm>
            <a:off x="1415562" y="4923636"/>
            <a:ext cx="1529861" cy="304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Primary Thread</a:t>
            </a:r>
          </a:p>
        </p:txBody>
      </p:sp>
    </p:spTree>
    <p:extLst>
      <p:ext uri="{BB962C8B-B14F-4D97-AF65-F5344CB8AC3E}">
        <p14:creationId xmlns:p14="http://schemas.microsoft.com/office/powerpoint/2010/main" val="240374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0BF3-C112-7080-349E-473EA5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pragmas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0D8B2-78C7-BD65-188C-8BF72CE98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Pragma (Greek: </a:t>
            </a:r>
            <a:r>
              <a:rPr lang="el-GR" dirty="0"/>
              <a:t>πράγμα)</a:t>
            </a:r>
            <a:r>
              <a:rPr lang="en-US" dirty="0"/>
              <a:t> – action, deed</a:t>
            </a:r>
          </a:p>
          <a:p>
            <a:r>
              <a:rPr lang="en-US" dirty="0"/>
              <a:t>Compiler directives</a:t>
            </a:r>
          </a:p>
          <a:p>
            <a:pPr lvl="1"/>
            <a:r>
              <a:rPr lang="en-US" dirty="0"/>
              <a:t>Mechanism to communicate with the compiler</a:t>
            </a:r>
          </a:p>
          <a:p>
            <a:pPr lvl="1"/>
            <a:r>
              <a:rPr lang="en-US" dirty="0"/>
              <a:t>Enable high-level parallelism</a:t>
            </a:r>
          </a:p>
          <a:p>
            <a:r>
              <a:rPr lang="en-US" dirty="0"/>
              <a:t>Compiler may ignore pragmas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#pragma omp construct [clause [clause] … ]</a:t>
            </a:r>
          </a:p>
        </p:txBody>
      </p:sp>
    </p:spTree>
    <p:extLst>
      <p:ext uri="{BB962C8B-B14F-4D97-AF65-F5344CB8AC3E}">
        <p14:creationId xmlns:p14="http://schemas.microsoft.com/office/powerpoint/2010/main" val="415157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0B42-C1B5-266E-316C-8ABB324F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in OpenMP in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579BC-A6CE-B407-72AE-265487CA6BFE}"/>
              </a:ext>
            </a:extLst>
          </p:cNvPr>
          <p:cNvSpPr txBox="1"/>
          <p:nvPr/>
        </p:nvSpPr>
        <p:spPr>
          <a:xfrm>
            <a:off x="3226676" y="6123543"/>
            <a:ext cx="598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  <a:cs typeface="Courier New" panose="02070309020205020404" pitchFamily="49" charset="0"/>
              </a:rPr>
              <a:t>Compile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–o hello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103103-517D-9351-6044-53C7110CDE9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687613" cy="4138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  <a:cs typeface="Courier New" panose="02070309020205020404" pitchFamily="49" charset="0"/>
              </a:rPr>
              <a:t>Thread creation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ptos" panose="020B0004020202020204" pitchFamily="34" charset="0"/>
                <a:cs typeface="Courier New" panose="02070309020205020404" pitchFamily="49" charset="0"/>
              </a:rPr>
              <a:t>Each thread executes a Copy of the code in the structured block  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5568A65-5A65-080F-D74F-044BD9144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5813" y="1347635"/>
            <a:ext cx="6228504" cy="461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16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7C91-06CC-4B6E-1D25-D09F6DF7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Thead Creation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7506F-B5E5-9EB4-0538-810BC3F51CE9}"/>
              </a:ext>
            </a:extLst>
          </p:cNvPr>
          <p:cNvSpPr/>
          <p:nvPr/>
        </p:nvSpPr>
        <p:spPr>
          <a:xfrm>
            <a:off x="4456386" y="1606113"/>
            <a:ext cx="3268717" cy="578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Print(Max thread)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E855B-F5C3-35C6-2D9C-BD05A148C313}"/>
              </a:ext>
            </a:extLst>
          </p:cNvPr>
          <p:cNvSpPr/>
          <p:nvPr/>
        </p:nvSpPr>
        <p:spPr>
          <a:xfrm>
            <a:off x="678322" y="3139965"/>
            <a:ext cx="2285596" cy="601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 from Th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61DB8-2716-F435-4DD3-95091D594826}"/>
              </a:ext>
            </a:extLst>
          </p:cNvPr>
          <p:cNvSpPr/>
          <p:nvPr/>
        </p:nvSpPr>
        <p:spPr>
          <a:xfrm>
            <a:off x="3463158" y="3139965"/>
            <a:ext cx="2338956" cy="601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 from Th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F5B2C3-AB61-2137-998D-FD540F74D002}"/>
              </a:ext>
            </a:extLst>
          </p:cNvPr>
          <p:cNvSpPr/>
          <p:nvPr/>
        </p:nvSpPr>
        <p:spPr>
          <a:xfrm>
            <a:off x="8586950" y="3139965"/>
            <a:ext cx="2338957" cy="601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 from Th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78D0E1-A786-4CFE-8766-6CA88543D4D8}"/>
              </a:ext>
            </a:extLst>
          </p:cNvPr>
          <p:cNvSpPr/>
          <p:nvPr/>
        </p:nvSpPr>
        <p:spPr>
          <a:xfrm>
            <a:off x="6090745" y="3128141"/>
            <a:ext cx="1996966" cy="60171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06BD64-B0CB-174F-CCA7-417E80C5E950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922585" y="2184181"/>
            <a:ext cx="4168160" cy="932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151EB8-7D84-AE16-8EE7-5A3485A6CAC0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4632636" y="2184181"/>
            <a:ext cx="1458109" cy="955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E4C8FC-9F4E-1265-1602-1FB473D930D8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0745" y="2184181"/>
            <a:ext cx="3665684" cy="955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81E828-619A-DD68-11C8-C1BDB938BB7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821120" y="3741682"/>
            <a:ext cx="4269625" cy="1135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FB10C4-6AC8-33C0-2057-AC69063818B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632636" y="3741682"/>
            <a:ext cx="1458109" cy="1135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D6205B-7197-6E4C-817C-4BA61FC3FC51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090745" y="3741682"/>
            <a:ext cx="3665684" cy="1135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5CC4838-C027-40B1-1D7A-2FC41784AD10}"/>
              </a:ext>
            </a:extLst>
          </p:cNvPr>
          <p:cNvSpPr/>
          <p:nvPr/>
        </p:nvSpPr>
        <p:spPr>
          <a:xfrm>
            <a:off x="4456386" y="4900449"/>
            <a:ext cx="3268717" cy="578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print(end)</a:t>
            </a:r>
          </a:p>
        </p:txBody>
      </p:sp>
    </p:spTree>
    <p:extLst>
      <p:ext uri="{BB962C8B-B14F-4D97-AF65-F5344CB8AC3E}">
        <p14:creationId xmlns:p14="http://schemas.microsoft.com/office/powerpoint/2010/main" val="162720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318BB-68B5-8A5F-C827-6A544E0B7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5AA1-8B7B-5776-1F49-D620CC10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in OpenMP in C++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34197-A863-8475-90A0-0DFA0CF9B08E}"/>
              </a:ext>
            </a:extLst>
          </p:cNvPr>
          <p:cNvSpPr txBox="1"/>
          <p:nvPr/>
        </p:nvSpPr>
        <p:spPr>
          <a:xfrm>
            <a:off x="3226676" y="6123543"/>
            <a:ext cx="598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  <a:cs typeface="Courier New" panose="02070309020205020404" pitchFamily="49" charset="0"/>
              </a:rPr>
              <a:t>Compile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g++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–o hello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CCE5D8B-1FDD-FF28-39D9-201C0334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47799"/>
            <a:ext cx="7027985" cy="409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63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BB3B-7485-DE48-5AE2-84F8B692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F8F3-D64F-2C11-148C-7DAC6CA3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in OpenMP in C++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D318E6-248A-6088-65AC-0ED731BF8848}"/>
              </a:ext>
            </a:extLst>
          </p:cNvPr>
          <p:cNvSpPr txBox="1"/>
          <p:nvPr/>
        </p:nvSpPr>
        <p:spPr>
          <a:xfrm>
            <a:off x="3226676" y="6123543"/>
            <a:ext cx="598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  <a:cs typeface="Courier New" panose="02070309020205020404" pitchFamily="49" charset="0"/>
              </a:rPr>
              <a:t>Compile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g++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–o hello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D0E6F86-C159-8CD9-BBF1-80CCE40F0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47799"/>
            <a:ext cx="7027985" cy="4098563"/>
          </a:xfrm>
          <a:prstGeom prst="rect">
            <a:avLst/>
          </a:prstGeom>
        </p:spPr>
      </p:pic>
      <p:sp>
        <p:nvSpPr>
          <p:cNvPr id="3" name="Oval Callout 2">
            <a:extLst>
              <a:ext uri="{FF2B5EF4-FFF2-40B4-BE49-F238E27FC236}">
                <a16:creationId xmlns:a16="http://schemas.microsoft.com/office/drawing/2014/main" id="{8E1F9CEE-699C-2475-3A3A-DF41090D28F9}"/>
              </a:ext>
            </a:extLst>
          </p:cNvPr>
          <p:cNvSpPr/>
          <p:nvPr/>
        </p:nvSpPr>
        <p:spPr>
          <a:xfrm>
            <a:off x="8313683" y="2267869"/>
            <a:ext cx="3258207" cy="1715552"/>
          </a:xfrm>
          <a:prstGeom prst="wedgeEllipseCallout">
            <a:avLst>
              <a:gd name="adj1" fmla="val -178575"/>
              <a:gd name="adj2" fmla="val 43508"/>
            </a:avLst>
          </a:prstGeom>
          <a:gradFill>
            <a:gsLst>
              <a:gs pos="0">
                <a:schemeClr val="accent2">
                  <a:satMod val="103000"/>
                  <a:lumMod val="102000"/>
                  <a:tint val="94000"/>
                  <a:alpha val="31932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Print faces race condition</a:t>
            </a:r>
          </a:p>
        </p:txBody>
      </p:sp>
    </p:spTree>
    <p:extLst>
      <p:ext uri="{BB962C8B-B14F-4D97-AF65-F5344CB8AC3E}">
        <p14:creationId xmlns:p14="http://schemas.microsoft.com/office/powerpoint/2010/main" val="2890155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C7812-5FF9-4519-E3C0-685ED080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0477-F98E-D577-86B0-80E19A13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in OpenMP in C++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E45F7-7DFF-3D12-6555-CA91FED49E1B}"/>
              </a:ext>
            </a:extLst>
          </p:cNvPr>
          <p:cNvSpPr txBox="1"/>
          <p:nvPr/>
        </p:nvSpPr>
        <p:spPr>
          <a:xfrm>
            <a:off x="1303285" y="6123543"/>
            <a:ext cx="598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  <a:cs typeface="Courier New" panose="02070309020205020404" pitchFamily="49" charset="0"/>
              </a:rPr>
              <a:t>Compile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g++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–o hello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89E8620-C7D6-896C-2652-9DBD5DECF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07" y="1420884"/>
            <a:ext cx="6832600" cy="4546600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2A79189-A0D4-5A2E-F547-FC38C5E4B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594" y="2047752"/>
            <a:ext cx="2933919" cy="221273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7AE669-5C1F-3DF0-2015-B23066725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594" y="4496422"/>
            <a:ext cx="2933918" cy="1996453"/>
          </a:xfrm>
          <a:prstGeom prst="rect">
            <a:avLst/>
          </a:prstGeom>
        </p:spPr>
      </p:pic>
      <p:sp>
        <p:nvSpPr>
          <p:cNvPr id="3" name="Oval Callout 2">
            <a:extLst>
              <a:ext uri="{FF2B5EF4-FFF2-40B4-BE49-F238E27FC236}">
                <a16:creationId xmlns:a16="http://schemas.microsoft.com/office/drawing/2014/main" id="{FF5575BC-DF40-D245-1AEB-FA04722F981C}"/>
              </a:ext>
            </a:extLst>
          </p:cNvPr>
          <p:cNvSpPr/>
          <p:nvPr/>
        </p:nvSpPr>
        <p:spPr>
          <a:xfrm>
            <a:off x="9665576" y="734608"/>
            <a:ext cx="2004847" cy="956080"/>
          </a:xfrm>
          <a:prstGeom prst="wedgeEllipseCallout">
            <a:avLst>
              <a:gd name="adj1" fmla="val -39200"/>
              <a:gd name="adj2" fmla="val 171015"/>
            </a:avLst>
          </a:prstGeom>
          <a:solidFill>
            <a:schemeClr val="accent2">
              <a:lumMod val="75000"/>
              <a:alpha val="56000"/>
            </a:schemeClr>
          </a:solidFill>
          <a:ln>
            <a:solidFill>
              <a:schemeClr val="accent4">
                <a:alpha val="48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All threads showing same id!</a:t>
            </a:r>
          </a:p>
        </p:txBody>
      </p:sp>
      <p:sp>
        <p:nvSpPr>
          <p:cNvPr id="12" name="Oval Callout 11">
            <a:extLst>
              <a:ext uri="{FF2B5EF4-FFF2-40B4-BE49-F238E27FC236}">
                <a16:creationId xmlns:a16="http://schemas.microsoft.com/office/drawing/2014/main" id="{061F738F-A347-9B9F-32FD-9B6E7CB7431E}"/>
              </a:ext>
            </a:extLst>
          </p:cNvPr>
          <p:cNvSpPr/>
          <p:nvPr/>
        </p:nvSpPr>
        <p:spPr>
          <a:xfrm>
            <a:off x="5507860" y="3216144"/>
            <a:ext cx="2004847" cy="956080"/>
          </a:xfrm>
          <a:prstGeom prst="wedgeEllipseCallout">
            <a:avLst>
              <a:gd name="adj1" fmla="val -173932"/>
              <a:gd name="adj2" fmla="val -20266"/>
            </a:avLst>
          </a:prstGeom>
          <a:solidFill>
            <a:schemeClr val="bg2">
              <a:alpha val="98000"/>
            </a:schemeClr>
          </a:solidFill>
          <a:ln>
            <a:solidFill>
              <a:schemeClr val="accent4">
                <a:alpha val="48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Solves race condition</a:t>
            </a:r>
          </a:p>
        </p:txBody>
      </p:sp>
    </p:spTree>
    <p:extLst>
      <p:ext uri="{BB962C8B-B14F-4D97-AF65-F5344CB8AC3E}">
        <p14:creationId xmlns:p14="http://schemas.microsoft.com/office/powerpoint/2010/main" val="138071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B03C-C6EB-E6E2-B135-116377F1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BD07-778B-0C62-8FCF-11308493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in OpenMP in C++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0692D-BB95-F4EF-43D8-CFE3B2E0200F}"/>
              </a:ext>
            </a:extLst>
          </p:cNvPr>
          <p:cNvSpPr txBox="1"/>
          <p:nvPr/>
        </p:nvSpPr>
        <p:spPr>
          <a:xfrm>
            <a:off x="1303285" y="6123543"/>
            <a:ext cx="598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  <a:cs typeface="Courier New" panose="02070309020205020404" pitchFamily="49" charset="0"/>
              </a:rPr>
              <a:t>Compile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g++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–o hello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B117D3D-1300-98CA-F232-5C899B584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33" y="1362403"/>
            <a:ext cx="6870700" cy="4343400"/>
          </a:xfrm>
          <a:prstGeom prst="rect">
            <a:avLst/>
          </a:prstGeom>
        </p:spPr>
      </p:pic>
      <p:sp>
        <p:nvSpPr>
          <p:cNvPr id="12" name="Oval Callout 11">
            <a:extLst>
              <a:ext uri="{FF2B5EF4-FFF2-40B4-BE49-F238E27FC236}">
                <a16:creationId xmlns:a16="http://schemas.microsoft.com/office/drawing/2014/main" id="{4640917B-A18D-6EE0-2C19-FAC32423A6C7}"/>
              </a:ext>
            </a:extLst>
          </p:cNvPr>
          <p:cNvSpPr/>
          <p:nvPr/>
        </p:nvSpPr>
        <p:spPr>
          <a:xfrm>
            <a:off x="5528880" y="2867497"/>
            <a:ext cx="2004847" cy="956080"/>
          </a:xfrm>
          <a:prstGeom prst="wedgeEllipseCallout">
            <a:avLst>
              <a:gd name="adj1" fmla="val -237891"/>
              <a:gd name="adj2" fmla="val -48849"/>
            </a:avLst>
          </a:prstGeom>
          <a:solidFill>
            <a:schemeClr val="bg2">
              <a:alpha val="49000"/>
            </a:schemeClr>
          </a:solidFill>
          <a:ln>
            <a:solidFill>
              <a:schemeClr val="accent4">
                <a:alpha val="48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Variable scope!</a:t>
            </a:r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E9F0245-6C32-C9E5-DB2D-AB6356CFA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645" y="1362403"/>
            <a:ext cx="3131333" cy="3440825"/>
          </a:xfrm>
          <a:prstGeom prst="rect">
            <a:avLst/>
          </a:prstGeom>
        </p:spPr>
      </p:pic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0B8877D-8879-325F-9681-102F3A850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645" y="4892947"/>
            <a:ext cx="3131333" cy="172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29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891A-FD9A-E96B-F3AA-C188F59E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19A88-4EB9-EFDC-8AA3-55BA541F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compiler that immediate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should be parallel</a:t>
            </a:r>
          </a:p>
          <a:p>
            <a:r>
              <a:rPr lang="en-US" dirty="0"/>
              <a:t>Only works on immediate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</a:t>
            </a:r>
          </a:p>
          <a:p>
            <a:pPr lvl="1"/>
            <a:r>
              <a:rPr lang="en-US" dirty="0"/>
              <a:t>Not even the nested ones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 [clause [clause] … 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init; condition; increment){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// do work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1657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1EDD-9233-CB06-F9F7-873F2866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Sharing defaults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7F0C5-5658-CF77-4236-393B0D1BF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variables in an OpenMP program are shared by default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Global variables are shared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Exception: loop index variables are private by default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Exception: Stack variables in function calls from parallel regions are also private to each thread (thread-private)</a:t>
            </a:r>
          </a:p>
        </p:txBody>
      </p:sp>
    </p:spTree>
    <p:extLst>
      <p:ext uri="{BB962C8B-B14F-4D97-AF65-F5344CB8AC3E}">
        <p14:creationId xmlns:p14="http://schemas.microsoft.com/office/powerpoint/2010/main" val="4191385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7EC7-99E8-2395-28CC-034E6BBB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using OpenMP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79BE2-F8A6-A4F7-7F77-AE3223A99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compute intensive regions/loops</a:t>
            </a:r>
          </a:p>
          <a:p>
            <a:r>
              <a:rPr lang="en-US" dirty="0"/>
              <a:t>Make loop iteration independent</a:t>
            </a:r>
          </a:p>
          <a:p>
            <a:r>
              <a:rPr lang="en-US" dirty="0"/>
              <a:t>Add the appropriate OpenMP directives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saxpy</a:t>
            </a:r>
            <a:r>
              <a:rPr lang="en-US" dirty="0"/>
              <a:t> (single precision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a*x+y</a:t>
            </a:r>
            <a:r>
              <a:rPr lang="en-US" dirty="0"/>
              <a:t>) example: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for (int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&lt; n ;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z[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] = a * x[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] + y[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457200" lvl="1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</p:txBody>
      </p:sp>
    </p:spTree>
    <p:extLst>
      <p:ext uri="{BB962C8B-B14F-4D97-AF65-F5344CB8AC3E}">
        <p14:creationId xmlns:p14="http://schemas.microsoft.com/office/powerpoint/2010/main" val="2287329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9AB5-6C65-1BBC-6A6A-DF51EA7A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CE84-CAAF-1F82-65FC-6F339F1E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using OpenMP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8EF34-8DA3-B008-7CB6-E6B9DF938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compute intensive regions/loops</a:t>
            </a:r>
          </a:p>
          <a:p>
            <a:r>
              <a:rPr lang="en-US" dirty="0"/>
              <a:t>Make loop iteration independent</a:t>
            </a:r>
          </a:p>
          <a:p>
            <a:r>
              <a:rPr lang="en-US" dirty="0"/>
              <a:t>Add the appropriate OpenMP directives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saxpy</a:t>
            </a:r>
            <a:r>
              <a:rPr lang="en-US" dirty="0"/>
              <a:t> (single precision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a*x+y</a:t>
            </a:r>
            <a:r>
              <a:rPr lang="en-US" dirty="0"/>
              <a:t>) 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</a:t>
            </a:r>
          </a:p>
          <a:p>
            <a:pPr marL="457200" lvl="1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for (int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&lt; n ;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z[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] = a * x[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] + y[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457200" lvl="1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</p:txBody>
      </p:sp>
    </p:spTree>
    <p:extLst>
      <p:ext uri="{BB962C8B-B14F-4D97-AF65-F5344CB8AC3E}">
        <p14:creationId xmlns:p14="http://schemas.microsoft.com/office/powerpoint/2010/main" val="3289666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8C9E-5B27-09CB-7F8D-FE8F77B1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Overriding Defaults using clauses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917C1-4F04-5E6A-A06F-13D11B660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 how data is shared between threads executing a parallel region.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private (</a:t>
            </a:r>
            <a:r>
              <a:rPr lang="en-US" sz="25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shared (</a:t>
            </a:r>
            <a:r>
              <a:rPr lang="en-US" sz="25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default(</a:t>
            </a:r>
            <a:r>
              <a:rPr lang="en-US" sz="25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shared | none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Reduction(</a:t>
            </a:r>
            <a:r>
              <a:rPr lang="en-US" sz="25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operator: list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firstprivate(</a:t>
            </a:r>
            <a:r>
              <a:rPr lang="en-US" sz="25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lastprivate(</a:t>
            </a:r>
            <a:r>
              <a:rPr lang="en-US" sz="25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3643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F4C2-EF45-C55B-1BF1-9F4B56A53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06D0-9322-A041-B7F1-6BA8C649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thread has its own copy of variable</a:t>
            </a:r>
          </a:p>
          <a:p>
            <a:r>
              <a:rPr lang="en-US" dirty="0"/>
              <a:t>Private variables are uninitialized when thread starts</a:t>
            </a:r>
          </a:p>
          <a:p>
            <a:r>
              <a:rPr lang="en-US" dirty="0"/>
              <a:t>The value of a private variable is unavailable to primary thread</a:t>
            </a:r>
          </a:p>
          <a:p>
            <a:pPr lvl="1"/>
            <a:r>
              <a:rPr lang="en-US" dirty="0"/>
              <a:t>After parallel region is done.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 private(val)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For( int i = 0 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val = val + 1;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7694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B729-7B00-0EBA-21BC-F7A3831F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wrong with the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8BC8-906F-41D0-472E-2A186521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 = 5;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 private(val)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for(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 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val = val + 1;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val;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989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BDE2B-A217-95CF-B27D-24013392C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48C3-C7D9-B028-75CB-B69ADF75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wrong with the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97CA-CF57-0643-076C-A93D1D9BE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val = 5;</a:t>
            </a:r>
          </a:p>
          <a:p>
            <a:pPr marL="457200" lvl="1" indent="0">
              <a:buNone/>
            </a:pP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 private(val)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For( int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0 ;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val = val + 1;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val;</a:t>
            </a:r>
            <a:endParaRPr lang="en-US" sz="2800" dirty="0"/>
          </a:p>
          <a:p>
            <a:pPr marL="457200" lvl="1" indent="0">
              <a:buNone/>
            </a:pPr>
            <a:endParaRPr lang="en-US" sz="2600" dirty="0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459EEFA4-C24E-204D-5CE7-0BAD71A946E9}"/>
              </a:ext>
            </a:extLst>
          </p:cNvPr>
          <p:cNvSpPr/>
          <p:nvPr/>
        </p:nvSpPr>
        <p:spPr>
          <a:xfrm>
            <a:off x="6474371" y="3520966"/>
            <a:ext cx="4879429" cy="1975944"/>
          </a:xfrm>
          <a:prstGeom prst="wedgeRoundRectCallout">
            <a:avLst>
              <a:gd name="adj1" fmla="val -70551"/>
              <a:gd name="adj2" fmla="val -6890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value of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800" dirty="0"/>
              <a:t> is not available to threads inside the loop</a:t>
            </a:r>
          </a:p>
        </p:txBody>
      </p:sp>
    </p:spTree>
    <p:extLst>
      <p:ext uri="{BB962C8B-B14F-4D97-AF65-F5344CB8AC3E}">
        <p14:creationId xmlns:p14="http://schemas.microsoft.com/office/powerpoint/2010/main" val="460225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C8C9-4CB7-9C7E-9773-C197ADD0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3734C-050B-5440-F690-84F1ABB8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wrong with the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539AD-B7D9-7073-A634-748406642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val = 5;</a:t>
            </a:r>
          </a:p>
          <a:p>
            <a:pPr marL="457200" lvl="1" indent="0">
              <a:buNone/>
            </a:pP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 private(val)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For( int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0 ;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val = val + 1;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val;</a:t>
            </a:r>
            <a:endParaRPr lang="en-US" sz="2800" dirty="0"/>
          </a:p>
          <a:p>
            <a:pPr marL="457200" lvl="1" indent="0">
              <a:buNone/>
            </a:pPr>
            <a:endParaRPr lang="en-US" sz="2600" dirty="0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7CA74F1-C62A-3C55-922D-8971C16B0EFD}"/>
              </a:ext>
            </a:extLst>
          </p:cNvPr>
          <p:cNvSpPr/>
          <p:nvPr/>
        </p:nvSpPr>
        <p:spPr>
          <a:xfrm>
            <a:off x="6474371" y="3541986"/>
            <a:ext cx="4879429" cy="1975944"/>
          </a:xfrm>
          <a:prstGeom prst="wedgeRoundRectCallout">
            <a:avLst>
              <a:gd name="adj1" fmla="val -100492"/>
              <a:gd name="adj2" fmla="val -1996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value of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800" dirty="0"/>
              <a:t> will not available to  primary threads after parallel execution</a:t>
            </a:r>
          </a:p>
        </p:txBody>
      </p:sp>
    </p:spTree>
    <p:extLst>
      <p:ext uri="{BB962C8B-B14F-4D97-AF65-F5344CB8AC3E}">
        <p14:creationId xmlns:p14="http://schemas.microsoft.com/office/powerpoint/2010/main" val="620300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9171-4A29-A8C5-5572-406D216F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2F519-F1FB-1335-B47C-AAD68BA9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8283" cy="4351338"/>
          </a:xfrm>
        </p:spPr>
        <p:txBody>
          <a:bodyPr>
            <a:normAutofit/>
          </a:bodyPr>
          <a:lstStyle/>
          <a:p>
            <a:r>
              <a:rPr lang="en-US" dirty="0"/>
              <a:t>Determines the data sharing attributes for variables inside a parallel region</a:t>
            </a:r>
          </a:p>
          <a:p>
            <a:r>
              <a:rPr lang="en-US" i="1" dirty="0"/>
              <a:t>For variable I didn’t mention – what should OpenMP assume?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default(shared)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// All unspecified vars are shared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default(none)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// Every var must be explicit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default(private)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Fortran only — not valid in C/C++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default(firstprivate)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// OpenMP 5.0+ — C/C++ and Fortran</a:t>
            </a:r>
          </a:p>
          <a:p>
            <a:pPr marL="0" indent="0">
              <a:buNone/>
            </a:pPr>
            <a:endParaRPr lang="en-US" sz="18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default(shared) is ? </a:t>
            </a:r>
          </a:p>
        </p:txBody>
      </p:sp>
    </p:spTree>
    <p:extLst>
      <p:ext uri="{BB962C8B-B14F-4D97-AF65-F5344CB8AC3E}">
        <p14:creationId xmlns:p14="http://schemas.microsoft.com/office/powerpoint/2010/main" val="694018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3EEC-ED8F-5688-588F-31D8B89C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firstprivate</a:t>
            </a:r>
            <a:r>
              <a:rPr lang="en-US" dirty="0"/>
              <a:t>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3F134-8B3E-9CDA-48F3-6094DE4E8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 – gives each thread it own copy of var, throws away the original value. </a:t>
            </a:r>
          </a:p>
          <a:p>
            <a:r>
              <a:rPr lang="en-US" dirty="0"/>
              <a:t>Firstprivate – solves this. Each thread gets its own copy of pre-initialized value from (before the parallel region)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C4985-2829-DC9C-5741-24965CFF35BD}"/>
              </a:ext>
            </a:extLst>
          </p:cNvPr>
          <p:cNvSpPr txBox="1"/>
          <p:nvPr/>
        </p:nvSpPr>
        <p:spPr>
          <a:xfrm>
            <a:off x="1376855" y="3843639"/>
            <a:ext cx="834521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val = 5;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 firstprivate(val)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For( 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0 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val = val + 1;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val;</a:t>
            </a:r>
            <a:endParaRPr lang="en-US" sz="2200" dirty="0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49E892EB-8F4B-0FF9-1CC0-265B3FFE282D}"/>
              </a:ext>
            </a:extLst>
          </p:cNvPr>
          <p:cNvSpPr/>
          <p:nvPr/>
        </p:nvSpPr>
        <p:spPr>
          <a:xfrm>
            <a:off x="5803023" y="5161966"/>
            <a:ext cx="4801915" cy="1610661"/>
          </a:xfrm>
          <a:prstGeom prst="wedgeRoundRectCallout">
            <a:avLst>
              <a:gd name="adj1" fmla="val -90338"/>
              <a:gd name="adj2" fmla="val -4801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value of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 is initialized to 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7400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E1B1-3ED4-4F51-6391-A40CC26B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lastprivate</a:t>
            </a:r>
            <a:r>
              <a:rPr lang="en-US" dirty="0"/>
              <a:t>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2583F-82DD-9755-AB4A-03E71724E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Writes the value belonging to the thread that executes last iteration of the loop to the primary thread’s copy.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236D2-2315-1A8F-BC13-601B5AC1DFBE}"/>
              </a:ext>
            </a:extLst>
          </p:cNvPr>
          <p:cNvSpPr txBox="1"/>
          <p:nvPr/>
        </p:nvSpPr>
        <p:spPr>
          <a:xfrm>
            <a:off x="567558" y="3429000"/>
            <a:ext cx="1141423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val = 5;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 firstprivate(val) lastprivate(val)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For( 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0 ;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val = val + 1;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cout &lt;&lt; val;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3627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C0E-D2EB-2261-92FA-C69D5EB1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reduction(operator: list) </a:t>
            </a:r>
            <a:r>
              <a:rPr lang="en-US" dirty="0"/>
              <a:t>clause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CCF390-64D1-108C-C0AF-495AF292E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8033" y="3851275"/>
            <a:ext cx="3568700" cy="26416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A2322A-A9F6-1DC2-554C-47D4EBA1E63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Reduce values across private copies of a variable</a:t>
            </a:r>
          </a:p>
          <a:p>
            <a:r>
              <a:rPr lang="en-US" dirty="0"/>
              <a:t>Operators: +. -, *, &amp;, |, &amp;&amp;, ||, max, min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omp parallel for reduction(+:val)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for (int i = 0;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&lt; n ;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val +=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ED564-E360-2944-5477-F5890A980EBE}"/>
              </a:ext>
            </a:extLst>
          </p:cNvPr>
          <p:cNvSpPr txBox="1"/>
          <p:nvPr/>
        </p:nvSpPr>
        <p:spPr>
          <a:xfrm>
            <a:off x="1362269" y="5738327"/>
            <a:ext cx="2118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See: </a:t>
            </a:r>
            <a:r>
              <a:rPr lang="en-US" dirty="0" err="1"/>
              <a:t>reduction.cpp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382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9DEBB-C49F-3210-A132-8ECF3FBF2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4C81-CC51-4D40-51C0-28A09B9CA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Scheduling decides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which thread gets which iterations</a:t>
            </a:r>
            <a:r>
              <a:rPr lang="en-US" dirty="0"/>
              <a:t> of a parallel loop 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that assignment happens (compile time vs runtime).</a:t>
            </a:r>
          </a:p>
          <a:p>
            <a:r>
              <a:rPr lang="en-US" dirty="0"/>
              <a:t>Types: static, dynamic, guided, runtime</a:t>
            </a:r>
          </a:p>
        </p:txBody>
      </p:sp>
    </p:spTree>
    <p:extLst>
      <p:ext uri="{BB962C8B-B14F-4D97-AF65-F5344CB8AC3E}">
        <p14:creationId xmlns:p14="http://schemas.microsoft.com/office/powerpoint/2010/main" val="444670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B6B6-BC03-E3E5-7DA3-73691B9A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schedule(static) </a:t>
            </a:r>
            <a:r>
              <a:rPr lang="en-US" dirty="0"/>
              <a:t>– no chunk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A6E9B-CDEF-D6F4-D55D-80E64002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10" y="1610035"/>
            <a:ext cx="10515600" cy="4351338"/>
          </a:xfrm>
        </p:spPr>
        <p:txBody>
          <a:bodyPr/>
          <a:lstStyle/>
          <a:p>
            <a:r>
              <a:rPr lang="en-US" dirty="0"/>
              <a:t>The iteration space is split into</a:t>
            </a:r>
          </a:p>
          <a:p>
            <a:pPr lvl="1"/>
            <a:r>
              <a:rPr lang="en-US" b="1" dirty="0"/>
              <a:t>T equal contiguous blocks</a:t>
            </a:r>
            <a:endParaRPr lang="en-US" dirty="0"/>
          </a:p>
          <a:p>
            <a:pPr lvl="1"/>
            <a:r>
              <a:rPr lang="en-US" dirty="0"/>
              <a:t>Pre-assigned before the loop starts </a:t>
            </a:r>
          </a:p>
          <a:p>
            <a:pPr lvl="1"/>
            <a:r>
              <a:rPr lang="en-US" dirty="0"/>
              <a:t>Zero runtime overhead</a:t>
            </a:r>
          </a:p>
          <a:p>
            <a:pPr lvl="1"/>
            <a:r>
              <a:rPr lang="en-US" dirty="0"/>
              <a:t>Best for uniform workloads.</a:t>
            </a:r>
          </a:p>
        </p:txBody>
      </p:sp>
      <p:pic>
        <p:nvPicPr>
          <p:cNvPr id="5" name="Picture 4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60A05903-5390-63A9-D0C1-5F6E9C7BA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10" y="3681138"/>
            <a:ext cx="7772400" cy="29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224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9685-FD02-A572-55FE-34EDFEDC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A1C8-506F-2BC8-85DC-4D584044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schedule(static) </a:t>
            </a:r>
            <a:r>
              <a:rPr lang="en-US" dirty="0"/>
              <a:t>– chunk =2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3A1DC-AFEC-0894-0901-C74AFFB22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10" y="1610035"/>
            <a:ext cx="10515600" cy="4351338"/>
          </a:xfrm>
        </p:spPr>
        <p:txBody>
          <a:bodyPr/>
          <a:lstStyle/>
          <a:p>
            <a:r>
              <a:rPr lang="en-US" dirty="0"/>
              <a:t>Chunk of 2 distributed in a round-robin fashion.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8AD187-B245-3D31-5890-969FB06C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015" y="2935598"/>
            <a:ext cx="7772400" cy="309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83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ED0B-E33C-B812-F5D0-F7EA30C7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Schedule(dynamic,2)</a:t>
            </a:r>
            <a:r>
              <a:rPr lang="en-US" sz="4000" dirty="0"/>
              <a:t>– Dynamic Chunk =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80DBA-8A13-55AC-4078-9C3DD9B30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pre-assignment</a:t>
            </a:r>
          </a:p>
          <a:p>
            <a:r>
              <a:rPr lang="en-US" dirty="0"/>
              <a:t>There is a shared work queue</a:t>
            </a:r>
          </a:p>
          <a:p>
            <a:r>
              <a:rPr lang="en-US" dirty="0"/>
              <a:t>Each thread grabs a chunk of 2 iterations.</a:t>
            </a:r>
          </a:p>
          <a:p>
            <a:r>
              <a:rPr lang="en-US" dirty="0"/>
              <a:t>Then comes back for more chunks. </a:t>
            </a:r>
          </a:p>
          <a:p>
            <a:r>
              <a:rPr lang="en-US" dirty="0"/>
              <a:t>Faster threads get more work. </a:t>
            </a:r>
          </a:p>
        </p:txBody>
      </p:sp>
      <p:pic>
        <p:nvPicPr>
          <p:cNvPr id="5" name="Picture 4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AB37C223-8005-F164-BC62-2CC1D152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831" y="4300477"/>
            <a:ext cx="7772400" cy="245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16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74AA-68BD-F9C2-1E03-F8682BE9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3AC72-79B0-4FAE-54BB-9D0A2CDA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Schedule(dynamic,2)</a:t>
            </a:r>
            <a:r>
              <a:rPr lang="en-US" sz="4000" dirty="0"/>
              <a:t>– Dynamic Chunk =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C9B5E-5645-FA1F-0EF5-AF63D4D72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 : for irregular workloads</a:t>
            </a:r>
          </a:p>
          <a:p>
            <a:r>
              <a:rPr lang="en-US" dirty="0"/>
              <a:t>Cost: High synchronization overhead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C545F186-5999-9346-B1C5-F4266D09B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904" y="3429000"/>
            <a:ext cx="7772400" cy="245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89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0DC2-6EDA-CB7A-4E85-C4848513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AAF2-7705-31EA-3FC5-E4F4A4C99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Schedule(guided, 2)</a:t>
            </a:r>
            <a:r>
              <a:rPr lang="en-US" sz="4000" dirty="0"/>
              <a:t>–Chunk =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6D7D-4123-0424-6078-18BA8F6D9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dynamic </a:t>
            </a:r>
          </a:p>
          <a:p>
            <a:r>
              <a:rPr lang="en-US" dirty="0"/>
              <a:t>However, chunks start large and shrinks as loop progresses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41B28-D715-D40D-4E72-4A31DE09F682}"/>
              </a:ext>
            </a:extLst>
          </p:cNvPr>
          <p:cNvSpPr txBox="1"/>
          <p:nvPr/>
        </p:nvSpPr>
        <p:spPr>
          <a:xfrm>
            <a:off x="1240971" y="552372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See: </a:t>
            </a:r>
            <a:r>
              <a:rPr lang="en-US" dirty="0" err="1"/>
              <a:t>guided.cpp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425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98E7-8CF7-6D2A-F3D7-BBAD5E8E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schedule (runtime)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635C7-6029-97D1-84EC-F7CD4767E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decide schedule at compile time</a:t>
            </a:r>
          </a:p>
          <a:p>
            <a:r>
              <a:rPr lang="en-US" dirty="0"/>
              <a:t>Read it at runtime from environment or API call.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39B38-FB8A-5E28-3A37-36254EB939C7}"/>
              </a:ext>
            </a:extLst>
          </p:cNvPr>
          <p:cNvSpPr txBox="1"/>
          <p:nvPr/>
        </p:nvSpPr>
        <p:spPr>
          <a:xfrm>
            <a:off x="1231641" y="4982547"/>
            <a:ext cx="3321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See: </a:t>
            </a:r>
            <a:r>
              <a:rPr lang="en-US" dirty="0" err="1"/>
              <a:t>runtime.cpp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30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CD34-45EE-9032-82C1-9775BCEC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Decision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29DA0-EB53-F596-EAAA-C20AB6D05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11047" cy="4351338"/>
          </a:xfrm>
        </p:spPr>
        <p:txBody>
          <a:bodyPr>
            <a:normAutofit/>
          </a:bodyPr>
          <a:lstStyle/>
          <a:p>
            <a:r>
              <a:rPr lang="en-US" dirty="0"/>
              <a:t>All iterations take roughly the same time? </a:t>
            </a:r>
          </a:p>
          <a:p>
            <a:pPr marL="0" indent="0">
              <a:buNone/>
            </a:pPr>
            <a:r>
              <a:rPr lang="en-US" dirty="0"/>
              <a:t>	→ </a:t>
            </a:r>
            <a:r>
              <a:rPr lang="en-US" b="1" dirty="0">
                <a:solidFill>
                  <a:srgbClr val="FF0000"/>
                </a:solidFill>
              </a:rPr>
              <a:t>schedule(static)    </a:t>
            </a:r>
            <a:r>
              <a:rPr lang="en-US" dirty="0"/>
              <a:t>-  zero overhead, cache-friendly ✅</a:t>
            </a:r>
          </a:p>
          <a:p>
            <a:r>
              <a:rPr lang="en-US" dirty="0"/>
              <a:t>Iterations have unpredictable, wildly varying cost? </a:t>
            </a:r>
          </a:p>
          <a:p>
            <a:pPr marL="0" indent="0">
              <a:buNone/>
            </a:pPr>
            <a:r>
              <a:rPr lang="en-US" dirty="0"/>
              <a:t>	 → </a:t>
            </a:r>
            <a:r>
              <a:rPr lang="en-US" b="1" dirty="0">
                <a:solidFill>
                  <a:srgbClr val="FF0000"/>
                </a:solidFill>
              </a:rPr>
              <a:t>schedule(dynamic) </a:t>
            </a:r>
            <a:r>
              <a:rPr lang="en-US" dirty="0"/>
              <a:t>best load balance, highest overhead ✅</a:t>
            </a:r>
          </a:p>
          <a:p>
            <a:r>
              <a:rPr lang="en-US" dirty="0"/>
              <a:t>Imbalanced but you want lower overhead than pure dynamic? </a:t>
            </a:r>
          </a:p>
          <a:p>
            <a:pPr marL="0" indent="0">
              <a:buNone/>
            </a:pPr>
            <a:r>
              <a:rPr lang="en-US" dirty="0"/>
              <a:t>             → </a:t>
            </a:r>
            <a:r>
              <a:rPr lang="en-US" b="1" dirty="0">
                <a:solidFill>
                  <a:srgbClr val="FF0000"/>
                </a:solidFill>
              </a:rPr>
              <a:t>schedule(guided) </a:t>
            </a:r>
            <a:r>
              <a:rPr lang="en-US" dirty="0" err="1"/>
              <a:t>large→small</a:t>
            </a:r>
            <a:r>
              <a:rPr lang="en-US" dirty="0"/>
              <a:t> chunks, good middle ground ✅ </a:t>
            </a:r>
          </a:p>
          <a:p>
            <a:r>
              <a:rPr lang="en-US" dirty="0"/>
              <a:t>First-touch / NUMA correctness matters? </a:t>
            </a:r>
          </a:p>
          <a:p>
            <a:pPr marL="0" indent="0">
              <a:buNone/>
            </a:pPr>
            <a:r>
              <a:rPr lang="en-US" dirty="0"/>
              <a:t>	→ </a:t>
            </a:r>
            <a:r>
              <a:rPr lang="en-US" b="1" dirty="0">
                <a:solidFill>
                  <a:srgbClr val="FF0000"/>
                </a:solidFill>
              </a:rPr>
              <a:t>schedule(static) </a:t>
            </a:r>
            <a:r>
              <a:rPr lang="en-US" dirty="0"/>
              <a:t>— MUST match init and compute loops ✅ </a:t>
            </a:r>
          </a:p>
        </p:txBody>
      </p:sp>
    </p:spTree>
    <p:extLst>
      <p:ext uri="{BB962C8B-B14F-4D97-AF65-F5344CB8AC3E}">
        <p14:creationId xmlns:p14="http://schemas.microsoft.com/office/powerpoint/2010/main" val="16662570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31502-5252-AB38-49A1-479335A5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complete example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B1AEC-95CD-F189-3E2B-8A89E91E9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 multiplication and dot product. </a:t>
            </a:r>
          </a:p>
        </p:txBody>
      </p:sp>
    </p:spTree>
    <p:extLst>
      <p:ext uri="{BB962C8B-B14F-4D97-AF65-F5344CB8AC3E}">
        <p14:creationId xmlns:p14="http://schemas.microsoft.com/office/powerpoint/2010/main" val="385356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1567</Words>
  <Application>Microsoft Macintosh PowerPoint</Application>
  <PresentationFormat>Widescreen</PresentationFormat>
  <Paragraphs>281</Paragraphs>
  <Slides>40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Courier New</vt:lpstr>
      <vt:lpstr>Office Theme</vt:lpstr>
      <vt:lpstr>OpenMP CSC 4760</vt:lpstr>
      <vt:lpstr>Shared Memory </vt:lpstr>
      <vt:lpstr>What is OpenMP?</vt:lpstr>
      <vt:lpstr>Parallelism </vt:lpstr>
      <vt:lpstr>Relaxed Memory Model</vt:lpstr>
      <vt:lpstr>Relaxed Memory Model</vt:lpstr>
      <vt:lpstr>Relaxed Memory Model</vt:lpstr>
      <vt:lpstr>Relaxed Memory Model</vt:lpstr>
      <vt:lpstr>OpenMP scope</vt:lpstr>
      <vt:lpstr>OpenMP Programming </vt:lpstr>
      <vt:lpstr>Fork Join Approach</vt:lpstr>
      <vt:lpstr>OpenMP pragmas</vt:lpstr>
      <vt:lpstr>Hello world in OpenMP in C</vt:lpstr>
      <vt:lpstr>Thead Creation</vt:lpstr>
      <vt:lpstr>Hello world in OpenMP in C++</vt:lpstr>
      <vt:lpstr>Hello world in OpenMP in C++</vt:lpstr>
      <vt:lpstr>Hello world in OpenMP in C++</vt:lpstr>
      <vt:lpstr>Hello world in OpenMP in C++</vt:lpstr>
      <vt:lpstr>Parallel for</vt:lpstr>
      <vt:lpstr>Data Sharing defaults</vt:lpstr>
      <vt:lpstr>Parallelizing using OpenMP</vt:lpstr>
      <vt:lpstr>Parallelizing using OpenMP</vt:lpstr>
      <vt:lpstr>Overriding Defaults using clauses</vt:lpstr>
      <vt:lpstr>Private clause</vt:lpstr>
      <vt:lpstr>What’s wrong with the code?</vt:lpstr>
      <vt:lpstr>What’s wrong with the code?</vt:lpstr>
      <vt:lpstr>What’s wrong with the code?</vt:lpstr>
      <vt:lpstr>Default clause</vt:lpstr>
      <vt:lpstr>firstprivate clause</vt:lpstr>
      <vt:lpstr>lastprivate clause</vt:lpstr>
      <vt:lpstr>reduction(operator: list) clause</vt:lpstr>
      <vt:lpstr>Loop Scheduling</vt:lpstr>
      <vt:lpstr>schedule(static) – no chunk</vt:lpstr>
      <vt:lpstr>schedule(static) – chunk =2</vt:lpstr>
      <vt:lpstr>Schedule(dynamic,2)– Dynamic Chunk = 2</vt:lpstr>
      <vt:lpstr>Schedule(dynamic,2)– Dynamic Chunk = 2</vt:lpstr>
      <vt:lpstr>Schedule(guided, 2)–Chunk = 2</vt:lpstr>
      <vt:lpstr>schedule (runtime)</vt:lpstr>
      <vt:lpstr>Scheduling Decision Guide</vt:lpstr>
      <vt:lpstr>A complete example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Nine, MD S Zulkar</dc:creator>
  <cp:lastModifiedBy>Nine, MD S Zulkar</cp:lastModifiedBy>
  <cp:revision>9</cp:revision>
  <dcterms:created xsi:type="dcterms:W3CDTF">2026-03-09T04:26:58Z</dcterms:created>
  <dcterms:modified xsi:type="dcterms:W3CDTF">2026-03-12T00:43:48Z</dcterms:modified>
</cp:coreProperties>
</file>