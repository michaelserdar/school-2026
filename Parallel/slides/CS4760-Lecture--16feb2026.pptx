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1"/>
  </p:notesMasterIdLst>
  <p:sldIdLst>
    <p:sldId id="256" r:id="rId2"/>
    <p:sldId id="257" r:id="rId3"/>
    <p:sldId id="367" r:id="rId4"/>
    <p:sldId id="363" r:id="rId5"/>
    <p:sldId id="361" r:id="rId6"/>
    <p:sldId id="369" r:id="rId7"/>
    <p:sldId id="370" r:id="rId8"/>
    <p:sldId id="397" r:id="rId9"/>
    <p:sldId id="371" r:id="rId10"/>
    <p:sldId id="372" r:id="rId11"/>
    <p:sldId id="373" r:id="rId12"/>
    <p:sldId id="375" r:id="rId13"/>
    <p:sldId id="376" r:id="rId14"/>
    <p:sldId id="377" r:id="rId15"/>
    <p:sldId id="378" r:id="rId16"/>
    <p:sldId id="379" r:id="rId17"/>
    <p:sldId id="380" r:id="rId18"/>
    <p:sldId id="381" r:id="rId19"/>
    <p:sldId id="382" r:id="rId20"/>
    <p:sldId id="383" r:id="rId21"/>
    <p:sldId id="384" r:id="rId22"/>
    <p:sldId id="385" r:id="rId23"/>
    <p:sldId id="374" r:id="rId24"/>
    <p:sldId id="398" r:id="rId25"/>
    <p:sldId id="386" r:id="rId26"/>
    <p:sldId id="387" r:id="rId27"/>
    <p:sldId id="368" r:id="rId28"/>
    <p:sldId id="265" r:id="rId29"/>
    <p:sldId id="268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1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329"/>
  </p:normalViewPr>
  <p:slideViewPr>
    <p:cSldViewPr snapToGrid="0" snapToObjects="1" showGuides="1">
      <p:cViewPr>
        <p:scale>
          <a:sx n="132" d="100"/>
          <a:sy n="132" d="100"/>
        </p:scale>
        <p:origin x="1584" y="-168"/>
      </p:cViewPr>
      <p:guideLst>
        <p:guide orient="horz" pos="2160"/>
        <p:guide pos="2880"/>
      </p:guideLst>
    </p:cSldViewPr>
  </p:slideViewPr>
  <p:notesTextViewPr>
    <p:cViewPr>
      <p:scale>
        <a:sx n="40" d="100"/>
        <a:sy n="4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A025C3-DACA-AF44-BCA7-9399F9BE29C7}" type="datetimeFigureOut">
              <a:rPr lang="en-US" smtClean="0"/>
              <a:t>2/11/26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F9D01D-EA20-D448-B920-75DA026FB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790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122363"/>
            <a:ext cx="821944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75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057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09739"/>
            <a:ext cx="8219440" cy="2852737"/>
          </a:xfrm>
        </p:spPr>
        <p:txBody>
          <a:bodyPr anchor="b">
            <a:normAutofit/>
          </a:bodyPr>
          <a:lstStyle>
            <a:lvl1pPr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589465"/>
            <a:ext cx="8219440" cy="105949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0908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199" y="1825625"/>
            <a:ext cx="4057651" cy="3782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4057650" cy="3782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363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520" y="365126"/>
            <a:ext cx="818896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7520" y="1681163"/>
            <a:ext cx="4020662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520" y="2505075"/>
            <a:ext cx="4020662" cy="31337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403733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4037330" cy="31337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0397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085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5555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312181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0" y="987427"/>
            <a:ext cx="4799409" cy="46716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057400"/>
            <a:ext cx="3121819" cy="360172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9429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520" y="457200"/>
            <a:ext cx="310149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0" y="987426"/>
            <a:ext cx="4779090" cy="466153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7520" y="2057400"/>
            <a:ext cx="3101499" cy="35915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7268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624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2132965" cy="529399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7360" y="365125"/>
            <a:ext cx="5962015" cy="529399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99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199" y="365126"/>
            <a:ext cx="822960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9" y="1825625"/>
            <a:ext cx="8229601" cy="38334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8786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00416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pi-forum.org/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20145-FEAF-3E49-B446-C974DE04EB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CSC4760/5760 Lecture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February 16, 2026</a:t>
            </a:r>
          </a:p>
        </p:txBody>
      </p:sp>
    </p:spTree>
    <p:extLst>
      <p:ext uri="{BB962C8B-B14F-4D97-AF65-F5344CB8AC3E}">
        <p14:creationId xmlns:p14="http://schemas.microsoft.com/office/powerpoint/2010/main" val="294371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81A7E-0082-BD4F-A23F-6195C67EF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8020F-CAA5-9C4B-A4AB-1F602F67B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51009"/>
            <a:ext cx="8229601" cy="4108112"/>
          </a:xfrm>
        </p:spPr>
        <p:txBody>
          <a:bodyPr>
            <a:normAutofit/>
          </a:bodyPr>
          <a:lstStyle/>
          <a:p>
            <a:r>
              <a:rPr lang="en-US" dirty="0"/>
              <a:t>More MPI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278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C4462-6B53-3A49-F228-B5BAB26E0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A6B8A-B4CB-62B9-6D1A-1376F9846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Pre-Quiz #2 Info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9E9A2-2C05-744E-6F05-18A9F68C3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51009"/>
            <a:ext cx="8229601" cy="4108112"/>
          </a:xfrm>
        </p:spPr>
        <p:txBody>
          <a:bodyPr>
            <a:normAutofit/>
          </a:bodyPr>
          <a:lstStyle/>
          <a:p>
            <a:r>
              <a:rPr lang="en-US" dirty="0"/>
              <a:t>First three chapters of the book have been assigned</a:t>
            </a:r>
          </a:p>
          <a:p>
            <a:r>
              <a:rPr lang="en-US" dirty="0"/>
              <a:t>Let me give you main points I will cover on quiz</a:t>
            </a:r>
          </a:p>
          <a:p>
            <a:r>
              <a:rPr lang="en-US" dirty="0"/>
              <a:t>CS5760 will have extra questions !</a:t>
            </a:r>
          </a:p>
          <a:p>
            <a:r>
              <a:rPr lang="en-US" dirty="0"/>
              <a:t>Fill in the blank model</a:t>
            </a:r>
          </a:p>
          <a:p>
            <a:r>
              <a:rPr lang="en-US" dirty="0"/>
              <a:t>Quiz #2 will be out on February 16, due Feb 20 (online)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649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81A7E-0082-BD4F-A23F-6195C67EF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Pre-Quiz #2 Info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8020F-CAA5-9C4B-A4AB-1F602F67B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51009"/>
            <a:ext cx="8229601" cy="410811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Why do we do parallel computing ?</a:t>
            </a:r>
          </a:p>
          <a:p>
            <a:r>
              <a:rPr lang="en-US" dirty="0"/>
              <a:t>What is serial vs. parallel processing?</a:t>
            </a:r>
          </a:p>
          <a:p>
            <a:r>
              <a:rPr lang="en-US" dirty="0"/>
              <a:t>Explain Amdahl’s law [and speedup]</a:t>
            </a:r>
          </a:p>
          <a:p>
            <a:r>
              <a:rPr lang="en-US" dirty="0"/>
              <a:t>What does data parallel mean?</a:t>
            </a:r>
          </a:p>
          <a:p>
            <a:r>
              <a:rPr lang="en-US" dirty="0"/>
              <a:t>What is a GPU?</a:t>
            </a:r>
          </a:p>
          <a:p>
            <a:r>
              <a:rPr lang="en-US" dirty="0"/>
              <a:t>What is a multiprocessor?</a:t>
            </a:r>
          </a:p>
          <a:p>
            <a:r>
              <a:rPr lang="en-US" dirty="0"/>
              <a:t>What is performance, portability, and performance + portability ?</a:t>
            </a:r>
          </a:p>
          <a:p>
            <a:r>
              <a:rPr lang="en-US" dirty="0"/>
              <a:t>What effects of real parallel systems make behavior even worse than Amdahl’s law would predict?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945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81A7E-0082-BD4F-A23F-6195C67EF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CSP?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8020F-CAA5-9C4B-A4AB-1F602F67B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80280"/>
            <a:ext cx="8346832" cy="4279115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Communicating Sequential Processes (CSP): A formal language for describing patterns of interaction in concurrent systems.</a:t>
            </a:r>
          </a:p>
          <a:p>
            <a:r>
              <a:rPr lang="en-US" dirty="0"/>
              <a:t> Developed by Tony Hoare in 1978; evolved into a theoretical framework for process algebras.</a:t>
            </a:r>
          </a:p>
          <a:p>
            <a:r>
              <a:rPr lang="en-US" dirty="0"/>
              <a:t> Key concepts: Processes (independent entities), channels (for message passing), events (communications), algebraic operators (prefix, choice: deterministic/external and nondeterministic/internal, interleaving, interface parallel, hiding).</a:t>
            </a:r>
          </a:p>
          <a:p>
            <a:r>
              <a:rPr lang="en-US" dirty="0"/>
              <a:t> Based on synchronous message passing (rendezvous: sender and receiver must synchronize).</a:t>
            </a:r>
          </a:p>
          <a:p>
            <a:r>
              <a:rPr lang="en-US" dirty="0"/>
              <a:t>Semantics: Defined via traces, failures, and divergences models for verification.</a:t>
            </a:r>
          </a:p>
          <a:p>
            <a:r>
              <a:rPr lang="en-US" dirty="0"/>
              <a:t>Relation to MPI: CSP inspired message-passing paradigms in parallel computing, but MPI emphasizes asynchronous communication for performance, while CSP focuses on formal verification of interactions.</a:t>
            </a:r>
          </a:p>
          <a:p>
            <a:pPr marL="0" indent="0">
              <a:buNone/>
            </a:pPr>
            <a:endParaRPr lang="en-US" sz="3200" dirty="0"/>
          </a:p>
          <a:p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606358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7D565-1DD0-1A40-E39B-EAA477EDB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AF577-4ACD-94F1-6C20-0C1EA394D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MPI Standard?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33589-3A39-3868-45DE-42E6288A8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80280"/>
            <a:ext cx="8346832" cy="427911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Message Passing Interface (MPI): A standardized, portable specification for message-passing in parallel programming.</a:t>
            </a:r>
          </a:p>
          <a:p>
            <a:r>
              <a:rPr lang="en-US" dirty="0"/>
              <a:t>Designed for high-performance computing on distributed-memory systems.</a:t>
            </a:r>
          </a:p>
          <a:p>
            <a:r>
              <a:rPr lang="en-US" dirty="0"/>
              <a:t>Defines library routines for languages like C, C++, and Fortran; portable across platforms.</a:t>
            </a:r>
          </a:p>
          <a:p>
            <a:r>
              <a:rPr lang="en-US" dirty="0"/>
              <a:t>Maintained by the MPI Forum (consortium of vendors, researchers, and users).</a:t>
            </a:r>
          </a:p>
          <a:p>
            <a:r>
              <a:rPr lang="en-US" dirty="0"/>
              <a:t>Enables processes to communicate via explicit send/receive operations.</a:t>
            </a:r>
          </a:p>
          <a:p>
            <a:r>
              <a:rPr lang="en-US" dirty="0"/>
              <a:t>Focuses on scalability, efficiency, and interoperability in cluster and supercomputing environments.</a:t>
            </a:r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266081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5CF2C-5A78-3D5E-7FD1-742B55554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AAD28-BB3D-2AA0-3D42-9FB5E8314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MPI Versions (History)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57246-B9EA-3EE3-6B5A-2A1BE2427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80280"/>
            <a:ext cx="8346832" cy="463550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MPI-1 (June 1994): Introduced basic point-to-point (blocking/non-blocking), collective communications, derived datatypes, and communicators.</a:t>
            </a:r>
          </a:p>
          <a:p>
            <a:r>
              <a:rPr lang="en-US" dirty="0"/>
              <a:t>MPI-2 (1997): Added extensions like dynamic processes (left for follow-on topics).</a:t>
            </a:r>
          </a:p>
          <a:p>
            <a:r>
              <a:rPr lang="en-US" dirty="0"/>
              <a:t>MPI-3 (September 2012, with 3.1 in 2015): Non-blocking collectives, shared-memory support in communicators.</a:t>
            </a:r>
          </a:p>
          <a:p>
            <a:r>
              <a:rPr lang="en-US" dirty="0"/>
              <a:t> MPI-4 (June 2021, with 4.1 in November 2023): Large-count routines, persistent collectives.</a:t>
            </a:r>
          </a:p>
          <a:p>
            <a:r>
              <a:rPr lang="en-US" dirty="0"/>
              <a:t>MPI-5 (June 5, 2025): Major update with standardized Application Binary Interface (ABI) for interoperability between MPI implementations.</a:t>
            </a:r>
          </a:p>
          <a:p>
            <a:r>
              <a:rPr lang="en-US" dirty="0"/>
              <a:t>MPI-6 (In Progress): We are just getting started…</a:t>
            </a:r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875670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AE2F9-9338-EA6B-464E-161C0342B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0535E-2102-25B5-0622-2D5E05C11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Nomenclature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9E584-53A3-08E7-5870-83DC18370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80280"/>
            <a:ext cx="8346832" cy="4279115"/>
          </a:xfrm>
        </p:spPr>
        <p:txBody>
          <a:bodyPr>
            <a:normAutofit fontScale="85000" lnSpcReduction="20000"/>
          </a:bodyPr>
          <a:lstStyle/>
          <a:p>
            <a:r>
              <a:rPr lang="en-US" sz="3200" dirty="0"/>
              <a:t>MPI Process</a:t>
            </a:r>
          </a:p>
          <a:p>
            <a:r>
              <a:rPr lang="en-US" sz="3200" dirty="0"/>
              <a:t>Rank of an MPI Process</a:t>
            </a:r>
          </a:p>
          <a:p>
            <a:r>
              <a:rPr lang="en-US" sz="3200" dirty="0"/>
              <a:t>Process Group</a:t>
            </a:r>
          </a:p>
          <a:p>
            <a:r>
              <a:rPr lang="en-US" sz="3200" dirty="0"/>
              <a:t>Communicator = Group + Context	</a:t>
            </a:r>
          </a:p>
          <a:p>
            <a:pPr lvl="1"/>
            <a:r>
              <a:rPr lang="en-US" sz="2800" dirty="0"/>
              <a:t>MPI_COMM_WORLD </a:t>
            </a:r>
          </a:p>
          <a:p>
            <a:r>
              <a:rPr lang="en-US" sz="3200" dirty="0"/>
              <a:t>Types of operations</a:t>
            </a:r>
          </a:p>
          <a:p>
            <a:pPr lvl="1"/>
            <a:r>
              <a:rPr lang="en-US" sz="2800" dirty="0"/>
              <a:t>Point-to-point, Collective, I/O, RMA, …</a:t>
            </a:r>
          </a:p>
          <a:p>
            <a:r>
              <a:rPr lang="en-US" sz="3200" dirty="0"/>
              <a:t>Phases: </a:t>
            </a:r>
          </a:p>
          <a:p>
            <a:pPr lvl="1"/>
            <a:r>
              <a:rPr lang="en-US" sz="2800" dirty="0"/>
              <a:t>Initialize, Initiate(Start), Complete, Free</a:t>
            </a:r>
          </a:p>
          <a:p>
            <a:r>
              <a:rPr lang="en-US" sz="3200" dirty="0"/>
              <a:t>Progress</a:t>
            </a:r>
          </a:p>
          <a:p>
            <a:r>
              <a:rPr lang="en-US" sz="3200" dirty="0"/>
              <a:t>Erroneous and Unsafe Programs</a:t>
            </a:r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913660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40484-C642-B9D0-86A0-A4E18DA13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A0F05-DCE1-EE0B-C56C-429D39DA2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Point-to-Point Communication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87BD9-7FEA-B13C-43A9-CCA68BA9C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80280"/>
            <a:ext cx="8346832" cy="4279115"/>
          </a:xfrm>
        </p:spPr>
        <p:txBody>
          <a:bodyPr>
            <a:normAutofit fontScale="70000" lnSpcReduction="20000"/>
          </a:bodyPr>
          <a:lstStyle/>
          <a:p>
            <a:r>
              <a:rPr lang="en-US" sz="3200" dirty="0"/>
              <a:t>Pairwise (two processes in same communicator, self OK)</a:t>
            </a:r>
          </a:p>
          <a:p>
            <a:r>
              <a:rPr lang="en-US" sz="3200" dirty="0"/>
              <a:t>Pairwise order (FIFO guaranteed), can be </a:t>
            </a:r>
            <a:r>
              <a:rPr lang="en-US" sz="3200" dirty="0" err="1"/>
              <a:t>overriden</a:t>
            </a:r>
            <a:endParaRPr lang="en-US" sz="3200" dirty="0"/>
          </a:p>
          <a:p>
            <a:r>
              <a:rPr lang="en-US" dirty="0"/>
              <a:t>Direct communication between two specific processes (sender and receiver).</a:t>
            </a:r>
          </a:p>
          <a:p>
            <a:r>
              <a:rPr lang="en-US" dirty="0"/>
              <a:t>Messages include data buffer, count, datatype, destination/source rank, tag (for matching), and communicator.</a:t>
            </a:r>
          </a:p>
          <a:p>
            <a:r>
              <a:rPr lang="en-US" dirty="0"/>
              <a:t>Matching: Based on source, tag, and communicator; ensures correct delivery.</a:t>
            </a:r>
          </a:p>
          <a:p>
            <a:r>
              <a:rPr lang="en-US" dirty="0"/>
              <a:t>Core functions: </a:t>
            </a:r>
            <a:r>
              <a:rPr lang="en-US" dirty="0" err="1"/>
              <a:t>MPI_Send</a:t>
            </a:r>
            <a:r>
              <a:rPr lang="en-US" dirty="0"/>
              <a:t> (send), </a:t>
            </a:r>
            <a:r>
              <a:rPr lang="en-US" dirty="0" err="1"/>
              <a:t>MPI_Recv</a:t>
            </a:r>
            <a:r>
              <a:rPr lang="en-US" dirty="0"/>
              <a:t> (receive).</a:t>
            </a:r>
          </a:p>
          <a:p>
            <a:r>
              <a:rPr lang="en-US" dirty="0"/>
              <a:t>Supports modes -- standard, buffered, synchronous, ready, persistent (for optimization).</a:t>
            </a:r>
          </a:p>
          <a:p>
            <a:r>
              <a:rPr lang="en-US" dirty="0"/>
              <a:t>Foundation for more complex patterns; can be blocking or non-blocking.</a:t>
            </a:r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242862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8082A-0BC8-86D3-028B-3106ABDDB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BD8D2-5D00-4718-544A-A53D6003C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Blocking Point-to-Point Communication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77310-34CC-F0F8-5364-65C5F8053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92036"/>
            <a:ext cx="8346832" cy="427911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Operations wait until completion before returning control.</a:t>
            </a:r>
          </a:p>
          <a:p>
            <a:r>
              <a:rPr lang="en-US" dirty="0" err="1"/>
              <a:t>MPI_Send</a:t>
            </a:r>
            <a:r>
              <a:rPr lang="en-US" dirty="0"/>
              <a:t>: Blocks until the send buffer can be safely reused (message is "sent" - may be copied or delivered).</a:t>
            </a:r>
          </a:p>
          <a:p>
            <a:r>
              <a:rPr lang="en-US" dirty="0" err="1"/>
              <a:t>MPI_Recv</a:t>
            </a:r>
            <a:r>
              <a:rPr lang="en-US" dirty="0"/>
              <a:t>: Blocks until the message is received and data is available in the receive buffer.</a:t>
            </a:r>
          </a:p>
          <a:p>
            <a:r>
              <a:rPr lang="en-US" dirty="0"/>
              <a:t> Advantages: Simple, ensures data safety.</a:t>
            </a:r>
          </a:p>
          <a:p>
            <a:r>
              <a:rPr lang="en-US" dirty="0"/>
              <a:t>Disadvantages: </a:t>
            </a:r>
          </a:p>
          <a:p>
            <a:pPr lvl="1"/>
            <a:r>
              <a:rPr lang="en-US" dirty="0"/>
              <a:t>Potential for deadlock (e.g., circular waits) and reduced overlap with computation.</a:t>
            </a:r>
          </a:p>
          <a:p>
            <a:pPr lvl="1"/>
            <a:r>
              <a:rPr lang="en-US" dirty="0"/>
              <a:t>Unsafe: Send/Send, </a:t>
            </a:r>
            <a:r>
              <a:rPr lang="en-US" dirty="0" err="1"/>
              <a:t>Recv</a:t>
            </a:r>
            <a:r>
              <a:rPr lang="en-US" dirty="0"/>
              <a:t>/</a:t>
            </a:r>
            <a:r>
              <a:rPr lang="en-US" dirty="0" err="1"/>
              <a:t>Recv</a:t>
            </a:r>
            <a:r>
              <a:rPr lang="en-US" dirty="0"/>
              <a:t> deadlocks </a:t>
            </a:r>
          </a:p>
          <a:p>
            <a:r>
              <a:rPr lang="en-US" dirty="0"/>
              <a:t>Part of MPI-1; widely used for straightforward communication.</a:t>
            </a:r>
          </a:p>
          <a:p>
            <a:r>
              <a:rPr lang="en-US" dirty="0"/>
              <a:t>When is control returned in an </a:t>
            </a:r>
            <a:r>
              <a:rPr lang="en-US" dirty="0" err="1"/>
              <a:t>MPI_Send</a:t>
            </a:r>
            <a:r>
              <a:rPr lang="en-US" dirty="0"/>
              <a:t>?</a:t>
            </a:r>
          </a:p>
          <a:p>
            <a:r>
              <a:rPr lang="en-US" dirty="0"/>
              <a:t>Modern codes prefer: </a:t>
            </a:r>
            <a:r>
              <a:rPr lang="en-US" dirty="0" err="1"/>
              <a:t>MPI_Isend</a:t>
            </a:r>
            <a:r>
              <a:rPr lang="en-US" dirty="0"/>
              <a:t>, </a:t>
            </a:r>
            <a:r>
              <a:rPr lang="en-US" dirty="0" err="1"/>
              <a:t>MPI_Irecv</a:t>
            </a:r>
            <a:endParaRPr lang="en-US" dirty="0"/>
          </a:p>
          <a:p>
            <a:endParaRPr lang="en-US" dirty="0"/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902226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58D88-8F4A-82BC-B805-7B14F2480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8560D-29C2-C1B2-7D55-E4E14DB36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Non-Blocking Point-to-Point Communication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12C50-74A7-F63A-6C57-B9C57BDE1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80280"/>
            <a:ext cx="8346832" cy="427911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Initiates operation and returns immediately, allowing computation to continue.</a:t>
            </a:r>
          </a:p>
          <a:p>
            <a:r>
              <a:rPr lang="en-US" dirty="0" err="1"/>
              <a:t>MPI_Isend</a:t>
            </a:r>
            <a:r>
              <a:rPr lang="en-US" dirty="0"/>
              <a:t>: Starts a non-blocking send; returns a request handle.</a:t>
            </a:r>
          </a:p>
          <a:p>
            <a:r>
              <a:rPr lang="en-US" dirty="0" err="1"/>
              <a:t>MPI_Irecv</a:t>
            </a:r>
            <a:r>
              <a:rPr lang="en-US" dirty="0"/>
              <a:t>: Starts a non-blocking receive; returns a request handle.</a:t>
            </a:r>
          </a:p>
          <a:p>
            <a:r>
              <a:rPr lang="en-US" dirty="0"/>
              <a:t> Completion: Use </a:t>
            </a:r>
            <a:r>
              <a:rPr lang="en-US" dirty="0" err="1"/>
              <a:t>MPI_Wait</a:t>
            </a:r>
            <a:r>
              <a:rPr lang="en-US" dirty="0"/>
              <a:t> (blocks until done), </a:t>
            </a:r>
            <a:r>
              <a:rPr lang="en-US" dirty="0" err="1"/>
              <a:t>MPI_Test</a:t>
            </a:r>
            <a:r>
              <a:rPr lang="en-US" dirty="0"/>
              <a:t> (checks without blocking), or </a:t>
            </a:r>
            <a:r>
              <a:rPr lang="en-US" dirty="0" err="1"/>
              <a:t>MPI_Waitall</a:t>
            </a:r>
            <a:r>
              <a:rPr lang="en-US" dirty="0"/>
              <a:t> for multiple.</a:t>
            </a:r>
          </a:p>
          <a:p>
            <a:r>
              <a:rPr lang="en-US" dirty="0"/>
              <a:t>Benefits: Overlaps communication with computation, simpler scheduling of communication, supports task parallelism better than blocking</a:t>
            </a:r>
          </a:p>
          <a:p>
            <a:r>
              <a:rPr lang="en-US" sz="3200" dirty="0"/>
              <a:t>What is the expectation of progress of nonblocking communication?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663314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E1960-F88C-AB52-221D-9579EAC9C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9BCA7-79EE-0659-627E-541571D1E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Collective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FBD07-5BDD-8ECF-F22B-EACE96347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80280"/>
            <a:ext cx="8346832" cy="427911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Coordinated operations involving all processes in a communicator.</a:t>
            </a:r>
          </a:p>
          <a:p>
            <a:r>
              <a:rPr lang="en-US" dirty="0"/>
              <a:t>Types: Broadcast (one-to-all), scatter (root to all), gather (all to root), reduce (all to root with operation), all-to-all, barrier.</a:t>
            </a:r>
          </a:p>
          <a:p>
            <a:r>
              <a:rPr lang="en-US" dirty="0"/>
              <a:t>Examples: </a:t>
            </a:r>
            <a:r>
              <a:rPr lang="en-US" dirty="0" err="1"/>
              <a:t>MPI_Bcast</a:t>
            </a:r>
            <a:r>
              <a:rPr lang="en-US" dirty="0"/>
              <a:t>, </a:t>
            </a:r>
            <a:r>
              <a:rPr lang="en-US" dirty="0" err="1"/>
              <a:t>MPI_Scatter</a:t>
            </a:r>
            <a:r>
              <a:rPr lang="en-US" dirty="0"/>
              <a:t>, </a:t>
            </a:r>
            <a:r>
              <a:rPr lang="en-US" dirty="0" err="1"/>
              <a:t>MPI_Gather</a:t>
            </a:r>
            <a:r>
              <a:rPr lang="en-US" dirty="0"/>
              <a:t>, </a:t>
            </a:r>
            <a:r>
              <a:rPr lang="en-US" dirty="0" err="1"/>
              <a:t>MPI_Reduce</a:t>
            </a:r>
            <a:r>
              <a:rPr lang="en-US" dirty="0"/>
              <a:t>, </a:t>
            </a:r>
            <a:r>
              <a:rPr lang="en-US" dirty="0" err="1"/>
              <a:t>MPI_Allreduce</a:t>
            </a:r>
            <a:r>
              <a:rPr lang="en-US" dirty="0"/>
              <a:t>.</a:t>
            </a:r>
          </a:p>
          <a:p>
            <a:r>
              <a:rPr lang="en-US" dirty="0"/>
              <a:t>Must be called by every process in the group; acts as implicit synchronization.</a:t>
            </a:r>
          </a:p>
          <a:p>
            <a:r>
              <a:rPr lang="en-US" dirty="0"/>
              <a:t>Optimized by implementations for hardware (e.g., tree-based algorithms).</a:t>
            </a:r>
          </a:p>
          <a:p>
            <a:r>
              <a:rPr lang="en-US" dirty="0"/>
              <a:t>Introduced in MPI-1; non-blocking and persistent variants added later.</a:t>
            </a:r>
          </a:p>
          <a:p>
            <a:r>
              <a:rPr lang="en-US" dirty="0"/>
              <a:t>Variations include topologies and neighbor models, added later.</a:t>
            </a:r>
          </a:p>
          <a:p>
            <a:r>
              <a:rPr lang="en-US" dirty="0"/>
              <a:t>Non-blocking and persistent have significant advantages</a:t>
            </a:r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593581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D416B-6C0C-E0F0-A210-C59AE5180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4E5C3-0222-05AB-9A85-38A5792AE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004" y="365126"/>
            <a:ext cx="8874493" cy="1325563"/>
          </a:xfrm>
        </p:spPr>
        <p:txBody>
          <a:bodyPr>
            <a:normAutofit/>
          </a:bodyPr>
          <a:lstStyle/>
          <a:p>
            <a:r>
              <a:rPr lang="en-US" dirty="0"/>
              <a:t>Blocking Collective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D980F-D472-56F5-4036-AAC608882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80280"/>
            <a:ext cx="8346832" cy="427911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Standard form; returns only after local completion (buffers reusable on sender and buffers filled on receiver).</a:t>
            </a:r>
          </a:p>
          <a:p>
            <a:r>
              <a:rPr lang="en-US" dirty="0"/>
              <a:t>No additional waits needed; simplifies code.</a:t>
            </a:r>
          </a:p>
          <a:p>
            <a:r>
              <a:rPr lang="en-US" dirty="0"/>
              <a:t>“Some” serve a synchronization point, ensuring all processes reach the call.</a:t>
            </a:r>
          </a:p>
          <a:p>
            <a:r>
              <a:rPr lang="en-US" dirty="0"/>
              <a:t>Part of MPI-1; suitable for applications where overlap isn't critical.</a:t>
            </a:r>
          </a:p>
          <a:p>
            <a:r>
              <a:rPr lang="en-US" dirty="0"/>
              <a:t>Potential performance bottleneck in unbalanced workloads.</a:t>
            </a:r>
          </a:p>
          <a:p>
            <a:r>
              <a:rPr lang="en-US" dirty="0"/>
              <a:t>Must be invoked in same order across all processes in the communicator with no other blocking or nonblocking collectives intervening.</a:t>
            </a:r>
          </a:p>
          <a:p>
            <a:r>
              <a:rPr lang="en-US" dirty="0"/>
              <a:t>Intersperse with nonblocking operations</a:t>
            </a:r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381163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2E432-5D69-C9CE-2365-621E415DF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4DE82-83A0-93AE-F51A-1DCF7CE52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255" y="365126"/>
            <a:ext cx="8787865" cy="1325563"/>
          </a:xfrm>
        </p:spPr>
        <p:txBody>
          <a:bodyPr>
            <a:normAutofit/>
          </a:bodyPr>
          <a:lstStyle/>
          <a:p>
            <a:r>
              <a:rPr lang="en-US" sz="3200" dirty="0"/>
              <a:t>Non-Blocking Collective Communication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2DABA-E460-7EF7-C124-1C6618E9E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80280"/>
            <a:ext cx="8346832" cy="4279115"/>
          </a:xfrm>
        </p:spPr>
        <p:txBody>
          <a:bodyPr>
            <a:normAutofit/>
          </a:bodyPr>
          <a:lstStyle/>
          <a:p>
            <a:r>
              <a:rPr lang="en-US" dirty="0"/>
              <a:t> </a:t>
            </a:r>
            <a:r>
              <a:rPr lang="en-US" dirty="0" err="1"/>
              <a:t>Initializes+Initiates</a:t>
            </a:r>
            <a:r>
              <a:rPr lang="en-US" dirty="0"/>
              <a:t> collective and returns “immediately” (e.g., </a:t>
            </a:r>
            <a:r>
              <a:rPr lang="en-US" dirty="0" err="1"/>
              <a:t>MPI_Ibcast</a:t>
            </a:r>
            <a:r>
              <a:rPr lang="en-US" dirty="0"/>
              <a:t>, </a:t>
            </a:r>
            <a:r>
              <a:rPr lang="en-US" dirty="0" err="1"/>
              <a:t>MPI_Ireduce</a:t>
            </a:r>
            <a:r>
              <a:rPr lang="en-US" dirty="0"/>
              <a:t>).</a:t>
            </a:r>
          </a:p>
          <a:p>
            <a:r>
              <a:rPr lang="en-US" dirty="0"/>
              <a:t> Allows overlapping with other work and other collectives.</a:t>
            </a:r>
          </a:p>
          <a:p>
            <a:r>
              <a:rPr lang="en-US" dirty="0"/>
              <a:t>Complete with </a:t>
            </a:r>
            <a:r>
              <a:rPr lang="en-US" dirty="0" err="1"/>
              <a:t>MPI_Wait</a:t>
            </a:r>
            <a:r>
              <a:rPr lang="en-US" dirty="0"/>
              <a:t> or </a:t>
            </a:r>
            <a:r>
              <a:rPr lang="en-US" dirty="0" err="1"/>
              <a:t>MPI_Test</a:t>
            </a:r>
            <a:r>
              <a:rPr lang="en-US" dirty="0"/>
              <a:t> on the request.</a:t>
            </a:r>
          </a:p>
          <a:p>
            <a:r>
              <a:rPr lang="en-US" dirty="0"/>
              <a:t>Introduced in MPI-3; enables better pipelining in complex algorithms.</a:t>
            </a:r>
          </a:p>
          <a:p>
            <a:r>
              <a:rPr lang="en-US" dirty="0"/>
              <a:t>Requires careful design to handle dependencies.</a:t>
            </a:r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1687106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8E359-CEFD-A9CB-2A8A-FB642894A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85BE3-F073-2851-DA8C-776572E53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Persistent Collective Communication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9B5DA-FBA7-1C9F-76B5-10A1E608C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80280"/>
            <a:ext cx="8346832" cy="427911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Reusable setups for repeated collectives (e.g., </a:t>
            </a:r>
            <a:r>
              <a:rPr lang="en-US" dirty="0" err="1"/>
              <a:t>MPI_Bcast_init</a:t>
            </a:r>
            <a:r>
              <a:rPr lang="en-US" dirty="0"/>
              <a:t>).</a:t>
            </a:r>
          </a:p>
          <a:p>
            <a:r>
              <a:rPr lang="en-US" dirty="0"/>
              <a:t>Reduces per-call overhead in iterative codes.</a:t>
            </a:r>
          </a:p>
          <a:p>
            <a:r>
              <a:rPr lang="en-US" dirty="0"/>
              <a:t>Usage: Initialize once, start/complete multiple times.</a:t>
            </a:r>
          </a:p>
          <a:p>
            <a:r>
              <a:rPr lang="en-US" dirty="0"/>
              <a:t>Introduced in MPI-4; builds on but is more optimizable than persistent point-to-point.</a:t>
            </a:r>
          </a:p>
          <a:p>
            <a:r>
              <a:rPr lang="en-US" dirty="0"/>
              <a:t>Persistent initialization can do complex algorithmic selection.</a:t>
            </a:r>
          </a:p>
          <a:p>
            <a:r>
              <a:rPr lang="en-US" dirty="0"/>
              <a:t>Support flexible rules for invocations across groups of the communicator (may be out of order compared to other collectives)</a:t>
            </a:r>
          </a:p>
          <a:p>
            <a:r>
              <a:rPr lang="en-US" dirty="0"/>
              <a:t>Arguments fixed, only buffers change.</a:t>
            </a:r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4574329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7F4DF-F248-C757-3457-6CB3127DF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E5605-BEED-9B17-1E6D-54156E6A4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Transfer: Contiguous Data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3C3B3-B806-C03C-ADD6-7067754A9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80280"/>
            <a:ext cx="8346832" cy="4279115"/>
          </a:xfrm>
        </p:spPr>
        <p:txBody>
          <a:bodyPr>
            <a:normAutofit/>
          </a:bodyPr>
          <a:lstStyle/>
          <a:p>
            <a:r>
              <a:rPr lang="en-US" dirty="0"/>
              <a:t>Simplest form: Consecutive memory locations.</a:t>
            </a:r>
          </a:p>
          <a:p>
            <a:r>
              <a:rPr lang="en-US" dirty="0"/>
              <a:t>Specified by buffer pointer, count, and predefined datatype (e.g., MPI_INT, MPI_DOUBLE).</a:t>
            </a:r>
          </a:p>
          <a:p>
            <a:r>
              <a:rPr lang="en-US" dirty="0"/>
              <a:t>Ensures type safety and portability across heterogeneous systems.</a:t>
            </a:r>
          </a:p>
          <a:p>
            <a:r>
              <a:rPr lang="en-US" dirty="0"/>
              <a:t>Handles endianness and size differences automatically.</a:t>
            </a:r>
          </a:p>
          <a:p>
            <a:r>
              <a:rPr lang="en-US" dirty="0"/>
              <a:t>(No prevalent heterogeneous use cases anymore)</a:t>
            </a:r>
          </a:p>
          <a:p>
            <a:r>
              <a:rPr lang="en-US" dirty="0"/>
              <a:t>Core to all communications in MPI-1.</a:t>
            </a:r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2553119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10489-476C-AC70-FCE9-99210DA7C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54C2D-80BF-207C-9E64-DABDCE299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Transfer: Derived Datatypes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350CC-0523-2D6D-FEF8-2C9835861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80280"/>
            <a:ext cx="8346832" cy="427911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Custom types for non-contiguous or mixed data layouts.</a:t>
            </a:r>
          </a:p>
          <a:p>
            <a:r>
              <a:rPr lang="en-US" dirty="0"/>
              <a:t>Built from basic types using constructors (e.g., </a:t>
            </a:r>
            <a:r>
              <a:rPr lang="en-US" dirty="0" err="1"/>
              <a:t>MPI_Type_vector</a:t>
            </a:r>
            <a:r>
              <a:rPr lang="en-US" dirty="0"/>
              <a:t> for </a:t>
            </a:r>
            <a:r>
              <a:rPr lang="en-US" dirty="0" err="1"/>
              <a:t>strided</a:t>
            </a:r>
            <a:r>
              <a:rPr lang="en-US" dirty="0"/>
              <a:t>, </a:t>
            </a:r>
            <a:r>
              <a:rPr lang="en-US" dirty="0" err="1"/>
              <a:t>MPI_Type_indexed</a:t>
            </a:r>
            <a:r>
              <a:rPr lang="en-US" dirty="0"/>
              <a:t> for arbitrary, </a:t>
            </a:r>
            <a:r>
              <a:rPr lang="en-US" dirty="0" err="1"/>
              <a:t>MPI_Type_struct</a:t>
            </a:r>
            <a:r>
              <a:rPr lang="en-US" dirty="0"/>
              <a:t> for heterogeneous).</a:t>
            </a:r>
          </a:p>
          <a:p>
            <a:r>
              <a:rPr lang="en-US" dirty="0"/>
              <a:t>Used in send/</a:t>
            </a:r>
            <a:r>
              <a:rPr lang="en-US" dirty="0" err="1"/>
              <a:t>recv</a:t>
            </a:r>
            <a:r>
              <a:rPr lang="en-US" dirty="0"/>
              <a:t> to pack/unpack data transparently.</a:t>
            </a:r>
          </a:p>
          <a:p>
            <a:r>
              <a:rPr lang="en-US" dirty="0"/>
              <a:t>Used in collective communications also for data reorganization.</a:t>
            </a:r>
          </a:p>
          <a:p>
            <a:r>
              <a:rPr lang="en-US" dirty="0"/>
              <a:t> Improves efficiency by avoiding packing (</a:t>
            </a:r>
            <a:r>
              <a:rPr lang="en-US" dirty="0" err="1"/>
              <a:t>MPI_Pack</a:t>
            </a:r>
            <a:r>
              <a:rPr lang="en-US" dirty="0"/>
              <a:t>), but typically SLOWER than user-driven pack/unpack.</a:t>
            </a:r>
          </a:p>
          <a:p>
            <a:r>
              <a:rPr lang="en-US" dirty="0"/>
              <a:t>Introduced in MPI-1; essential for complex data structures like matrices or particles.</a:t>
            </a:r>
          </a:p>
          <a:p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6122449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9D9BB-516D-95DF-2192-FFF9714E8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B0810-C4FB-5925-DD1E-430FBFFE2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04348-6863-527B-B345-61F2F3928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80280"/>
            <a:ext cx="8346832" cy="4279115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MPI_COMM_WORLD - Predefined global communicator including all MPI processes.</a:t>
            </a:r>
          </a:p>
          <a:p>
            <a:r>
              <a:rPr lang="en-US" dirty="0"/>
              <a:t>Ranks: Unique IDs from 0 to (size-1); query with </a:t>
            </a:r>
            <a:r>
              <a:rPr lang="en-US" dirty="0" err="1"/>
              <a:t>MPI_Comm_rank</a:t>
            </a:r>
            <a:r>
              <a:rPr lang="en-US" dirty="0"/>
              <a:t>.</a:t>
            </a:r>
          </a:p>
          <a:p>
            <a:r>
              <a:rPr lang="en-US" dirty="0"/>
              <a:t>Size: Number of processes; query with </a:t>
            </a:r>
            <a:r>
              <a:rPr lang="en-US" dirty="0" err="1"/>
              <a:t>MPI_Comm_size</a:t>
            </a:r>
            <a:r>
              <a:rPr lang="en-US" dirty="0"/>
              <a:t>.</a:t>
            </a:r>
          </a:p>
          <a:p>
            <a:r>
              <a:rPr lang="en-US" dirty="0"/>
              <a:t>Starting point for all communications after </a:t>
            </a:r>
            <a:r>
              <a:rPr lang="en-US" dirty="0" err="1"/>
              <a:t>MPI_Init</a:t>
            </a:r>
            <a:r>
              <a:rPr lang="en-US" dirty="0"/>
              <a:t>.</a:t>
            </a:r>
          </a:p>
          <a:p>
            <a:r>
              <a:rPr lang="en-US" dirty="0"/>
              <a:t>Basis for creating custom communicating sub worlds.</a:t>
            </a:r>
          </a:p>
          <a:p>
            <a:r>
              <a:rPr lang="en-US" dirty="0" err="1"/>
              <a:t>MPI_Comm_split</a:t>
            </a:r>
            <a:r>
              <a:rPr lang="en-US" dirty="0"/>
              <a:t> – workhorse function for sub worlds.</a:t>
            </a:r>
          </a:p>
          <a:p>
            <a:r>
              <a:rPr lang="en-US" dirty="0"/>
              <a:t>Communicator := Group + Context</a:t>
            </a:r>
          </a:p>
          <a:p>
            <a:r>
              <a:rPr lang="en-US" dirty="0"/>
              <a:t>Supports separation of concerns between composed software levels and libraries</a:t>
            </a:r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904780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CE67C-1962-E3D3-46A8-07149E6A8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A3BC5-B7F8-F021-A97A-108D0CA64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</a:t>
            </a:r>
            <a:r>
              <a:rPr lang="en-US" dirty="0" err="1"/>
              <a:t>Subcommunicators</a:t>
            </a:r>
            <a:r>
              <a:rPr lang="en-US" dirty="0"/>
              <a:t> with MPI_COMM_SPLIT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B4D86-357E-D6D0-2276-AD1B9FD26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90689"/>
            <a:ext cx="8346832" cy="427911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Divides an existing communicator into disjoint </a:t>
            </a:r>
            <a:r>
              <a:rPr lang="en-US" dirty="0" err="1"/>
              <a:t>subcommunicators</a:t>
            </a:r>
            <a:r>
              <a:rPr lang="en-US" dirty="0"/>
              <a:t>.</a:t>
            </a:r>
          </a:p>
          <a:p>
            <a:r>
              <a:rPr lang="en-US" dirty="0"/>
              <a:t>Call: </a:t>
            </a:r>
            <a:r>
              <a:rPr lang="en-US" dirty="0" err="1"/>
              <a:t>MPI_Comm_split</a:t>
            </a:r>
            <a:r>
              <a:rPr lang="en-US" dirty="0"/>
              <a:t>(comm, color, key, </a:t>
            </a:r>
            <a:r>
              <a:rPr lang="en-US" dirty="0" err="1"/>
              <a:t>newcomm</a:t>
            </a:r>
            <a:r>
              <a:rPr lang="en-US" dirty="0"/>
              <a:t>).</a:t>
            </a:r>
          </a:p>
          <a:p>
            <a:r>
              <a:rPr lang="en-US" dirty="0"/>
              <a:t>  - Color: Assigns processes to groups (same color = same subgroup).</a:t>
            </a:r>
          </a:p>
          <a:p>
            <a:r>
              <a:rPr lang="en-US" dirty="0"/>
              <a:t>  - Key: Determines rank order in new communicator.</a:t>
            </a:r>
          </a:p>
          <a:p>
            <a:r>
              <a:rPr lang="en-US" dirty="0"/>
              <a:t>  - Efficient for creating row/column communicators in grids.</a:t>
            </a:r>
          </a:p>
          <a:p>
            <a:r>
              <a:rPr lang="en-US" dirty="0"/>
              <a:t>Introduced in MPI-1; supports non-overlapping output communicators.  Use more than one split.</a:t>
            </a:r>
          </a:p>
          <a:p>
            <a:r>
              <a:rPr lang="en-US" dirty="0"/>
              <a:t>Variants of MPI_COMM_SPLIT for “characteristics of MPI processes” added later.</a:t>
            </a:r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3318276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1764D-0590-A734-3EED-64523A4A4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42227-B3B6-91B3-709C-7DC761BF0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Communicators Support Isolation of Message Traffic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2A41D-776F-0A0A-94D5-CF8F31D85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583" y="1690689"/>
            <a:ext cx="8346832" cy="427911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Messages are confined to a specific communicator.</a:t>
            </a:r>
          </a:p>
          <a:p>
            <a:r>
              <a:rPr lang="en-US" dirty="0"/>
              <a:t>Matching uses communicator context, preventing cross-talk.</a:t>
            </a:r>
          </a:p>
          <a:p>
            <a:r>
              <a:rPr lang="en-US" dirty="0"/>
              <a:t>Enables modular code (e.g., libraries use private communicators).</a:t>
            </a:r>
          </a:p>
          <a:p>
            <a:r>
              <a:rPr lang="en-US" dirty="0"/>
              <a:t>Supports safe, independent communication domains… each is a virtual all-to-all topology</a:t>
            </a:r>
          </a:p>
          <a:p>
            <a:r>
              <a:rPr lang="en-US" dirty="0"/>
              <a:t>Key to scalability in large applications.</a:t>
            </a:r>
          </a:p>
          <a:p>
            <a:r>
              <a:rPr lang="en-US" dirty="0"/>
              <a:t>Limitation: </a:t>
            </a:r>
            <a:r>
              <a:rPr lang="en-US" dirty="0" err="1"/>
              <a:t>MPI_Wait</a:t>
            </a:r>
            <a:r>
              <a:rPr lang="en-US" dirty="0"/>
              <a:t>/</a:t>
            </a:r>
            <a:r>
              <a:rPr lang="en-US" dirty="0" err="1"/>
              <a:t>MPI_Test</a:t>
            </a:r>
            <a:r>
              <a:rPr lang="en-US" dirty="0"/>
              <a:t> progress work across all communicators’ outstanding operations; there is coupling.</a:t>
            </a:r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2776277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B97D6-AC84-EA47-D8F5-C0C3F6FBC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191F2-76BD-0AE6-4F3B-688043BB7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Weak and Strong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5EA75-6D93-D7FE-AA0C-A4E0F8758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80280"/>
            <a:ext cx="8346832" cy="427911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Progress: Advancement of pending communications.</a:t>
            </a:r>
          </a:p>
          <a:p>
            <a:r>
              <a:rPr lang="en-US" dirty="0"/>
              <a:t>Weak Progress: Occurs only during MPI calls (e.g., in </a:t>
            </a:r>
            <a:r>
              <a:rPr lang="en-US" dirty="0" err="1"/>
              <a:t>MPI_Wait</a:t>
            </a:r>
            <a:r>
              <a:rPr lang="en-US" dirty="0"/>
              <a:t> or other blocking ops); common in many implementations.</a:t>
            </a:r>
          </a:p>
          <a:p>
            <a:r>
              <a:rPr lang="en-US" dirty="0"/>
              <a:t>Strong Progress: Can occur asynchronously (e.g., via threads or hardware); allows background completion.</a:t>
            </a:r>
          </a:p>
          <a:p>
            <a:r>
              <a:rPr lang="en-US" dirty="0"/>
              <a:t>Impacts non-blocking ops: Strong enables true overlap without polling.</a:t>
            </a:r>
          </a:p>
          <a:p>
            <a:r>
              <a:rPr lang="en-US" dirty="0"/>
              <a:t> Query implementation support via environment variables or MPI attributes.</a:t>
            </a:r>
          </a:p>
          <a:p>
            <a:r>
              <a:rPr lang="en-US" dirty="0"/>
              <a:t> Trade-offs: Strong may consume more resources. Strong progress better for predictability.</a:t>
            </a:r>
          </a:p>
          <a:p>
            <a:r>
              <a:rPr lang="en-US" dirty="0"/>
              <a:t>Strong progress + smart notification (completion) key to overlapping communication and computation.</a:t>
            </a:r>
          </a:p>
          <a:p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6384462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CCC14-8637-16E6-9D1D-9463B205D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41909-4BD5-1F4B-E325-336E797AE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do we care about overlapping communication and computation?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D7071-0A10-BAA6-F8ED-47C85D518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90689"/>
            <a:ext cx="8346832" cy="4279115"/>
          </a:xfrm>
        </p:spPr>
        <p:txBody>
          <a:bodyPr>
            <a:normAutofit fontScale="85000" lnSpcReduction="10000"/>
          </a:bodyPr>
          <a:lstStyle/>
          <a:p>
            <a:r>
              <a:rPr lang="en-US" sz="3200" dirty="0"/>
              <a:t>Sufficient memory bandwidth for compute and communication in modern architectures</a:t>
            </a:r>
          </a:p>
          <a:p>
            <a:r>
              <a:rPr lang="en-US" sz="3200" dirty="0"/>
              <a:t>Communication is an inherent cost of parallelism</a:t>
            </a:r>
          </a:p>
          <a:p>
            <a:r>
              <a:rPr lang="en-US" sz="3200" dirty="0"/>
              <a:t>Hiding it is a good thing if possible</a:t>
            </a:r>
          </a:p>
          <a:p>
            <a:r>
              <a:rPr lang="en-US" sz="3200" dirty="0"/>
              <a:t>Impacts: scalability when messages are big enough</a:t>
            </a:r>
          </a:p>
          <a:p>
            <a:r>
              <a:rPr lang="en-US" sz="3200" dirty="0"/>
              <a:t>Doesn’t help latency-bound computations (small message applications, or applications that strong scale to fine grain below key </a:t>
            </a:r>
            <a:r>
              <a:rPr lang="en-US" sz="3200" dirty="0" err="1"/>
              <a:t>threshholds</a:t>
            </a:r>
            <a:r>
              <a:rPr lang="en-US" sz="3200" dirty="0"/>
              <a:t>)</a:t>
            </a:r>
          </a:p>
          <a:p>
            <a:r>
              <a:rPr lang="en-US" sz="3200" dirty="0"/>
              <a:t>How much could overlap improve a computation (perfect hiding of communication)?</a:t>
            </a:r>
          </a:p>
          <a:p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3953586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98462-6F91-DD29-DA0D-C989E383A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2A772-D372-E4ED-5179-0300D18AE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65126"/>
            <a:ext cx="8346832" cy="1325563"/>
          </a:xfrm>
        </p:spPr>
        <p:txBody>
          <a:bodyPr/>
          <a:lstStyle/>
          <a:p>
            <a:r>
              <a:rPr lang="en-US" dirty="0"/>
              <a:t>Persistent Communication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76C55-FFD7-B06B-AD6E-9433B2790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80280"/>
            <a:ext cx="8346832" cy="427911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Sets up reusable communication requests for repeated operations with identical parameters.</a:t>
            </a:r>
          </a:p>
          <a:p>
            <a:r>
              <a:rPr lang="en-US" dirty="0" err="1"/>
              <a:t>MPI_Send_init</a:t>
            </a:r>
            <a:r>
              <a:rPr lang="en-US" dirty="0"/>
              <a:t> / </a:t>
            </a:r>
            <a:r>
              <a:rPr lang="en-US" dirty="0" err="1"/>
              <a:t>MPI_Recv_init</a:t>
            </a:r>
            <a:r>
              <a:rPr lang="en-US" dirty="0"/>
              <a:t>: Create persistent send/receive requests.</a:t>
            </a:r>
          </a:p>
          <a:p>
            <a:r>
              <a:rPr lang="en-US" dirty="0"/>
              <a:t>Usage: </a:t>
            </a:r>
            <a:r>
              <a:rPr lang="en-US" dirty="0" err="1"/>
              <a:t>MPI_Start</a:t>
            </a:r>
            <a:r>
              <a:rPr lang="en-US" dirty="0"/>
              <a:t> to initiate, </a:t>
            </a:r>
            <a:r>
              <a:rPr lang="en-US" dirty="0" err="1"/>
              <a:t>MPI_Wait</a:t>
            </a:r>
            <a:r>
              <a:rPr lang="en-US" dirty="0"/>
              <a:t> to complete; can be started multiple times.</a:t>
            </a:r>
          </a:p>
          <a:p>
            <a:r>
              <a:rPr lang="en-US" dirty="0"/>
              <a:t>Reduces overhead (e.g., argument checking, setup) in loops or iterative algorithms.</a:t>
            </a:r>
          </a:p>
          <a:p>
            <a:r>
              <a:rPr lang="en-US" dirty="0"/>
              <a:t>Introduced in MPI-1 for point-to-point; extended to collectives in MPI-4.</a:t>
            </a:r>
          </a:p>
          <a:p>
            <a:r>
              <a:rPr lang="en-US" dirty="0"/>
              <a:t>Ideal for stencil computations or fixed-pattern exchanges.</a:t>
            </a:r>
          </a:p>
          <a:p>
            <a:r>
              <a:rPr lang="en-US" dirty="0"/>
              <a:t>For collective, enables better optimizations; for pt2pt, limited.</a:t>
            </a:r>
          </a:p>
          <a:p>
            <a:r>
              <a:rPr lang="en-US" dirty="0"/>
              <a:t>Matching is very general for point-to-point, fixed for collective.</a:t>
            </a:r>
          </a:p>
          <a:p>
            <a:endParaRPr lang="en-US" dirty="0"/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8944345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3F3E4-BB78-77C7-F7F6-71AB5ADE6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6513B-03B5-2A8B-4628-BEB91EC99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65126"/>
            <a:ext cx="8346832" cy="1325563"/>
          </a:xfrm>
        </p:spPr>
        <p:txBody>
          <a:bodyPr/>
          <a:lstStyle/>
          <a:p>
            <a:r>
              <a:rPr lang="en-US" dirty="0" err="1"/>
              <a:t>MPI_Wtime</a:t>
            </a:r>
            <a:r>
              <a:rPr lang="en-US" dirty="0"/>
              <a:t>()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2F744-4F87-EF6A-B20A-0D6BDC67E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80280"/>
            <a:ext cx="8346832" cy="4279115"/>
          </a:xfrm>
        </p:spPr>
        <p:txBody>
          <a:bodyPr>
            <a:normAutofit fontScale="55000" lnSpcReduction="20000"/>
          </a:bodyPr>
          <a:lstStyle/>
          <a:p>
            <a:r>
              <a:rPr lang="en-US" sz="5800" dirty="0"/>
              <a:t>Primitive performance information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double a = </a:t>
            </a:r>
            <a:r>
              <a:rPr lang="en-US" sz="3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MPI_Wtime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(), b, </a:t>
            </a:r>
            <a:r>
              <a:rPr lang="en-US" sz="3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local_t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3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max_t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MPI_operation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(…);</a:t>
            </a:r>
            <a:b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b = </a:t>
            </a:r>
            <a:r>
              <a:rPr lang="en-US" sz="3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MPI_Wtime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b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local_t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 = b-a;</a:t>
            </a:r>
            <a:b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// b-a is a measure of the local time spent in [s]</a:t>
            </a:r>
            <a:b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// compute the maximum using </a:t>
            </a:r>
            <a:b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3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sz="3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MPI_Allreduce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(const void *</a:t>
            </a:r>
            <a:r>
              <a:rPr lang="en-US" sz="3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sendbuf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, void *</a:t>
            </a:r>
            <a:r>
              <a:rPr lang="en-US" sz="3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recvbuf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, int count, </a:t>
            </a:r>
            <a:r>
              <a:rPr lang="en-US" sz="3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MPI_Datatype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 datatype, </a:t>
            </a:r>
            <a:r>
              <a:rPr lang="en-US" sz="3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MPI_Op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 op, </a:t>
            </a:r>
            <a:r>
              <a:rPr lang="en-US" sz="3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MPI_Comm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 comm;</a:t>
            </a:r>
          </a:p>
          <a:p>
            <a:pPr marL="0" indent="0">
              <a:buNone/>
            </a:pPr>
            <a:b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MPI_Allreduce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sz="3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local_t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, &amp;</a:t>
            </a:r>
            <a:r>
              <a:rPr lang="en-US" sz="3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max_t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, 1, MPI_DOUBLE, MPI_MAX, MPI_COMM_WORLD);</a:t>
            </a:r>
          </a:p>
          <a:p>
            <a:pPr marL="0" indent="0">
              <a:buNone/>
            </a:pP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8050958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0C7AE-698E-B925-7057-1EF38731E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38BD5-5B0E-0136-793D-C34F6B437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Follow-up lecture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2A397-B2D1-4C82-7B85-241AFA32E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80280"/>
            <a:ext cx="8346832" cy="4279115"/>
          </a:xfrm>
        </p:spPr>
        <p:txBody>
          <a:bodyPr>
            <a:normAutofit fontScale="85000" lnSpcReduction="20000"/>
          </a:bodyPr>
          <a:lstStyle/>
          <a:p>
            <a:r>
              <a:rPr lang="en-US" sz="3200" dirty="0"/>
              <a:t>First, we have to work lots of examples for all these ideas</a:t>
            </a:r>
          </a:p>
          <a:p>
            <a:r>
              <a:rPr lang="en-US" sz="3200" dirty="0"/>
              <a:t>Other topics for MPI-1…MPI-5:</a:t>
            </a:r>
          </a:p>
          <a:p>
            <a:pPr lvl="1"/>
            <a:r>
              <a:rPr lang="en-US" dirty="0"/>
              <a:t>Many standard collective operations (one lecture)</a:t>
            </a:r>
          </a:p>
          <a:p>
            <a:pPr lvl="1"/>
            <a:r>
              <a:rPr lang="en-US" dirty="0"/>
              <a:t>Topologies and Neighbor Collectives</a:t>
            </a:r>
          </a:p>
          <a:p>
            <a:pPr lvl="1"/>
            <a:r>
              <a:rPr lang="en-US" dirty="0"/>
              <a:t> I/O</a:t>
            </a:r>
          </a:p>
          <a:p>
            <a:pPr lvl="1"/>
            <a:r>
              <a:rPr lang="en-US" dirty="0"/>
              <a:t> Partitioned Communication</a:t>
            </a:r>
          </a:p>
          <a:p>
            <a:pPr lvl="1"/>
            <a:r>
              <a:rPr lang="en-US" dirty="0"/>
              <a:t>RMA (Remote Memory Access)</a:t>
            </a:r>
          </a:p>
          <a:p>
            <a:r>
              <a:rPr lang="en-US" dirty="0"/>
              <a:t>Experimental MPI concepts (e.g., fault tolerance, augmentation of MPI with new features outside standard)</a:t>
            </a:r>
          </a:p>
          <a:p>
            <a:r>
              <a:rPr lang="en-US" dirty="0"/>
              <a:t>How MPI interacts with GPUs</a:t>
            </a:r>
          </a:p>
          <a:p>
            <a:pPr lvl="1"/>
            <a:r>
              <a:rPr lang="en-US" dirty="0"/>
              <a:t>MPI Awareness</a:t>
            </a:r>
          </a:p>
          <a:p>
            <a:pPr lvl="1"/>
            <a:r>
              <a:rPr lang="en-US" dirty="0"/>
              <a:t>Experimental streaming operations</a:t>
            </a:r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1711311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199B6-F531-BFE5-6912-CEA0CD64B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A1EBF-8B81-B4AF-AE19-FEAB07FCC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to read more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2D9CD-8C6D-13FB-6791-E52C25ECC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80280"/>
            <a:ext cx="8346832" cy="4279115"/>
          </a:xfrm>
        </p:spPr>
        <p:txBody>
          <a:bodyPr>
            <a:normAutofit/>
          </a:bodyPr>
          <a:lstStyle/>
          <a:p>
            <a:r>
              <a:rPr lang="en-US" dirty="0"/>
              <a:t>MPI-5.0 Document (June 2025)</a:t>
            </a:r>
          </a:p>
          <a:p>
            <a:r>
              <a:rPr lang="en-US" dirty="0">
                <a:hlinkClick r:id="rId2"/>
              </a:rPr>
              <a:t>https://www.mpi-forum.org/</a:t>
            </a:r>
            <a:r>
              <a:rPr lang="en-US" dirty="0"/>
              <a:t> </a:t>
            </a:r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3734352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88C9C-3C14-3AAF-5F01-AD4C513A1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3DD6F-AB0B-CA9E-CA25-905EED543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BD063-7916-8B44-A56F-31C7C86C1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80280"/>
            <a:ext cx="8346832" cy="4279115"/>
          </a:xfrm>
        </p:spPr>
        <p:txBody>
          <a:bodyPr>
            <a:normAutofit/>
          </a:bodyPr>
          <a:lstStyle/>
          <a:p>
            <a:r>
              <a:rPr lang="en-US" sz="3200" dirty="0"/>
              <a:t>MPI parallel programming covered</a:t>
            </a:r>
          </a:p>
          <a:p>
            <a:r>
              <a:rPr lang="en-US" sz="3200" dirty="0"/>
              <a:t>Quiz #2 still coming out soon.</a:t>
            </a:r>
          </a:p>
          <a:p>
            <a:r>
              <a:rPr lang="en-US" sz="3200" dirty="0"/>
              <a:t>More MPI on Wednesday, 2/18, and 2/23 and 2/25</a:t>
            </a:r>
          </a:p>
          <a:p>
            <a:r>
              <a:rPr lang="en-US" sz="3200" dirty="0"/>
              <a:t>Midterms dates planned: March 11 and April 15</a:t>
            </a:r>
          </a:p>
          <a:p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5588553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20145-FEAF-3E49-B446-C974DE04EB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9703575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3B4C4D-484E-5941-BE38-37525576CA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791217" y="6196334"/>
            <a:ext cx="1777429" cy="217590"/>
          </a:xfrm>
          <a:prstGeom prst="rect">
            <a:avLst/>
          </a:prstGeom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2AD56F1C-5F52-3A93-8A1B-F3AC98DB0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2871" y="820554"/>
            <a:ext cx="4338257" cy="5216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0154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18980</TotalTime>
  <Words>2223</Words>
  <Application>Microsoft Macintosh PowerPoint</Application>
  <PresentationFormat>On-screen Show (4:3)</PresentationFormat>
  <Paragraphs>222</Paragraphs>
  <Slides>29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Courier New</vt:lpstr>
      <vt:lpstr>Office Theme</vt:lpstr>
      <vt:lpstr>CSC4760/5760 Lecture  February 16, 2026</vt:lpstr>
      <vt:lpstr>Overview</vt:lpstr>
      <vt:lpstr>Pre-Quiz #2 Info</vt:lpstr>
      <vt:lpstr>Pre-Quiz #2 Info</vt:lpstr>
      <vt:lpstr>What is CSP? </vt:lpstr>
      <vt:lpstr>What is the MPI Standard? </vt:lpstr>
      <vt:lpstr>MPI Versions (History)</vt:lpstr>
      <vt:lpstr>Basic Nomenclature</vt:lpstr>
      <vt:lpstr>Point-to-Point Communication </vt:lpstr>
      <vt:lpstr>Blocking Point-to-Point Communication </vt:lpstr>
      <vt:lpstr>Non-Blocking Point-to-Point Communication </vt:lpstr>
      <vt:lpstr>Collective Communication</vt:lpstr>
      <vt:lpstr>Blocking Collective Communication</vt:lpstr>
      <vt:lpstr>Non-Blocking Collective Communication </vt:lpstr>
      <vt:lpstr>Persistent Collective Communication </vt:lpstr>
      <vt:lpstr>Data Transfer: Contiguous Data </vt:lpstr>
      <vt:lpstr>Data Transfer: Derived Datatypes </vt:lpstr>
      <vt:lpstr>Communicators</vt:lpstr>
      <vt:lpstr>Creating Subcommunicators with MPI_COMM_SPLIT</vt:lpstr>
      <vt:lpstr>How Communicators Support Isolation of Message Traffic</vt:lpstr>
      <vt:lpstr>Weak and Strong Progress</vt:lpstr>
      <vt:lpstr>Why do we care about overlapping communication and computation?</vt:lpstr>
      <vt:lpstr>Persistent Communication </vt:lpstr>
      <vt:lpstr>MPI_Wtime() function</vt:lpstr>
      <vt:lpstr>Follow-up lecture topics</vt:lpstr>
      <vt:lpstr>Where to read more</vt:lpstr>
      <vt:lpstr>Summary</vt:lpstr>
      <vt:lpstr>Questions?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Beeland, Holley</dc:creator>
  <cp:lastModifiedBy>Anthony Skjellum</cp:lastModifiedBy>
  <cp:revision>480</cp:revision>
  <dcterms:created xsi:type="dcterms:W3CDTF">2020-08-26T18:23:46Z</dcterms:created>
  <dcterms:modified xsi:type="dcterms:W3CDTF">2026-02-17T13:47:39Z</dcterms:modified>
</cp:coreProperties>
</file>