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xml" ContentType="application/vnd.openxmlformats-officedocument.presentationml.notesSlide+xml"/>
  <Override PartName="/ppt/slides/slide36.xml" ContentType="application/vnd.openxmlformats-officedocument.presentationml.slide+xml"/>
  <Override PartName="/ppt/slides/slide3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presentation.xml" ContentType="application/vnd.openxmlformats-officedocument.presentationml.presentation.main+xml"/>
  <Override PartName="/ppt/slides/slide7.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theme/theme1.xml" ContentType="application/vnd.openxmlformats-officedocument.theme+xml"/>
  <Override PartName="/ppt/slides/slide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3.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6.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5.xml" ContentType="application/vnd.openxmlformats-officedocument.presentationml.slide+xml"/>
  <Override PartName="/ppt/slides/slide29.xml" ContentType="application/vnd.openxmlformats-officedocument.presentationml.slide+xml"/>
  <Override PartName="/ppt/slideLayouts/slideLayout2.xml" ContentType="application/vnd.openxmlformats-officedocument.presentationml.slideLayout+xml"/>
  <Override PartName="/ppt/slides/slide32.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4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0639" marR="40639"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1pPr>
    <a:lvl2pPr marL="40639" marR="40639" indent="2667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2pPr>
    <a:lvl3pPr marL="40639" marR="40639" indent="533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3pPr>
    <a:lvl4pPr marL="40639" marR="40639" indent="800099"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4pPr>
    <a:lvl5pPr marL="40639" marR="40639" indent="1066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5pPr>
    <a:lvl6pPr marL="40639" marR="40639" indent="13335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6pPr>
    <a:lvl7pPr marL="40639" marR="40639" indent="16129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7pPr>
    <a:lvl8pPr marL="40639" marR="40639" indent="1879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8pPr>
    <a:lvl9pPr marL="40639" marR="40639" indent="21463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showPr>
</p:presentationPr>
</file>

<file path=ppt/tableStyles.xml><?xml version="1.0" encoding="utf-8"?>
<a:tblStyleLst xmlns:a="http://schemas.openxmlformats.org/drawingml/2006/main" def="{5940675A-B579-460E-94D1-54222C63F5DA}">
  <a:tblStyle styleId="{2708684C-4D16-4618-839F-0558EEFCDFE6}" styleName="">
    <a:tblBg/>
    <a:wholeTbl>
      <a:tcTxStyle>
        <a:srgbClr val="000000"/>
      </a:tcTxStyle>
      <a:tcStyle>
        <a:tcBdr>
          <a:left>
            <a:ln w="12700" cap="flat">
              <a:solidFill>
                <a:srgbClr val="000000"/>
              </a:solidFill>
              <a:miter lim="400000"/>
            </a:ln>
          </a:left>
          <a:right>
            <a:ln w="12700" cap="flat">
              <a:solidFill>
                <a:srgbClr val="000000"/>
              </a:solidFill>
              <a:miter lim="400000"/>
            </a:ln>
          </a:right>
          <a:top>
            <a:ln w="12700" cap="flat">
              <a:solidFill>
                <a:srgbClr val="000000"/>
              </a:solidFill>
              <a:miter lim="400000"/>
            </a:ln>
          </a:top>
          <a:bottom>
            <a:ln w="12700" cap="flat">
              <a:solidFill>
                <a:srgbClr val="000000"/>
              </a:solidFill>
              <a:miter lim="400000"/>
            </a:ln>
          </a:bottom>
          <a:insideH>
            <a:ln w="12700" cap="flat">
              <a:solidFill>
                <a:srgbClr val="000000"/>
              </a:solidFill>
              <a:miter lim="400000"/>
            </a:ln>
          </a:insideH>
          <a:insideV>
            <a:ln w="12700" cap="flat">
              <a:solidFill>
                <a:srgbClr val="000000"/>
              </a:solidFill>
              <a:miter lim="400000"/>
            </a:ln>
          </a:insideV>
        </a:tcBdr>
        <a:fill>
          <a:noFill/>
        </a:fill>
      </a:tcStyle>
    </a:wholeTbl>
    <a:band2H>
      <a:tcTxStyle/>
      <a:tcStyle>
        <a:tcBdr/>
        <a:fill>
          <a:solidFill>
            <a:srgbClr val="EDEEEE"/>
          </a:solidFill>
        </a:fill>
      </a:tcStyle>
    </a:band2H>
    <a:firstCol>
      <a:tcTxStyle b="on">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miter lim="400000"/>
            </a:ln>
          </a:top>
          <a:bottom>
            <a:ln w="12700" cap="flat">
              <a:solidFill>
                <a:srgbClr val="000000"/>
              </a:solidFill>
              <a:miter lim="400000"/>
            </a:ln>
          </a:bottom>
          <a:insideH>
            <a:ln w="12700" cap="flat">
              <a:solidFill>
                <a:srgbClr val="000000"/>
              </a:solidFill>
              <a:miter lim="400000"/>
            </a:ln>
          </a:insideH>
          <a:insideV>
            <a:ln w="12700" cap="flat">
              <a:solidFill>
                <a:srgbClr val="000000"/>
              </a:solidFill>
              <a:miter lim="400000"/>
            </a:ln>
          </a:insideV>
        </a:tcBdr>
        <a:fill>
          <a:noFill/>
        </a:fill>
      </a:tcStyle>
    </a:firstCol>
    <a:lastRow>
      <a:tcTxStyle b="on">
        <a:srgbClr val="000000"/>
      </a:tcTxStyle>
      <a:tcStyle>
        <a:tcBdr>
          <a:left>
            <a:ln w="12700" cap="flat">
              <a:solidFill>
                <a:srgbClr val="000000"/>
              </a:solidFill>
              <a:miter lim="400000"/>
            </a:ln>
          </a:left>
          <a:right>
            <a:ln w="12700" cap="flat">
              <a:solidFill>
                <a:srgbClr val="000000"/>
              </a:solidFill>
              <a:miter lim="400000"/>
            </a:ln>
          </a:right>
          <a:top>
            <a:ln w="12700" cap="flat">
              <a:solidFill>
                <a:srgbClr val="000000"/>
              </a:solidFill>
              <a:prstDash val="solid"/>
              <a:miter lim="400000"/>
            </a:ln>
          </a:top>
          <a:bottom>
            <a:ln w="12700" cap="flat">
              <a:noFill/>
              <a:miter lim="400000"/>
            </a:ln>
          </a:bottom>
          <a:insideH>
            <a:ln w="12700" cap="flat">
              <a:solidFill>
                <a:srgbClr val="000000"/>
              </a:solidFill>
              <a:miter lim="400000"/>
            </a:ln>
          </a:insideH>
          <a:insideV>
            <a:ln w="12700" cap="flat">
              <a:solidFill>
                <a:srgbClr val="000000"/>
              </a:solidFill>
              <a:miter lim="400000"/>
            </a:ln>
          </a:insideV>
        </a:tcBdr>
        <a:fill>
          <a:noFill/>
        </a:fill>
      </a:tcStyle>
    </a:lastRow>
    <a:firstRow>
      <a:tcTxStyle b="on">
        <a:srgbClr val="000000"/>
      </a:tcTxStyle>
      <a:tcStyle>
        <a:tcBdr>
          <a:left>
            <a:ln w="12700" cap="flat">
              <a:solidFill>
                <a:srgbClr val="000000"/>
              </a:solidFill>
              <a:miter lim="400000"/>
            </a:ln>
          </a:left>
          <a:right>
            <a:ln w="12700" cap="flat">
              <a:solidFill>
                <a:srgbClr val="000000"/>
              </a:solidFill>
              <a:miter lim="400000"/>
            </a:ln>
          </a:right>
          <a:top>
            <a:ln w="12700" cap="flat">
              <a:noFill/>
              <a:miter lim="400000"/>
            </a:ln>
          </a:top>
          <a:bottom>
            <a:ln w="12700" cap="flat">
              <a:solidFill>
                <a:srgbClr val="000000"/>
              </a:solidFill>
              <a:prstDash val="solid"/>
              <a:miter lim="400000"/>
            </a:ln>
          </a:bottom>
          <a:insideH>
            <a:ln w="12700" cap="flat">
              <a:solidFill>
                <a:srgbClr val="000000"/>
              </a:solidFill>
              <a:miter lim="400000"/>
            </a:ln>
          </a:insideH>
          <a:insideV>
            <a:ln w="12700" cap="flat">
              <a:solidFill>
                <a:srgbClr val="000000"/>
              </a:solidFill>
              <a:miter lim="400000"/>
            </a:ln>
          </a:insideV>
        </a:tcBdr>
        <a:fill>
          <a:noFill/>
        </a:fill>
      </a:tcStyle>
    </a:firstRow>
  </a:tblStyle>
  <a:tblStyle styleId="{33BA23B1-9221-436E-865A-0063620EA4FD}" styleName="">
    <a:tblBg/>
    <a:wholeTbl>
      <a:tcTxStyle>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4C3C2611-4C71-4FC5-86AE-919BDF0F9419}" styleName="">
    <a:tblBg/>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8F44A2F1-9E1F-4B54-A3A2-5F16C0AD49E2}" styleName="">
    <a:tblBg/>
    <a:wholeTbl>
      <a:tcTxStyle i="off" b="off">
        <a:fontRef idx="minor">
          <a:srgbClr val="727272"/>
        </a:fontRef>
        <a:srgbClr val="727272"/>
      </a:tcTxStyle>
      <a:tcStyle>
        <a:tcBdr>
          <a:left>
            <a:ln w="12700" cap="flat">
              <a:solidFill>
                <a:srgbClr val="727272"/>
              </a:solidFill>
              <a:prstDash val="solid"/>
              <a:miter lim="400000"/>
            </a:ln>
          </a:left>
          <a:right>
            <a:ln w="12700" cap="flat">
              <a:solidFill>
                <a:srgbClr val="727272"/>
              </a:solidFill>
              <a:prstDash val="solid"/>
              <a:miter lim="400000"/>
            </a:ln>
          </a:right>
          <a:top>
            <a:ln w="12700" cap="flat">
              <a:solidFill>
                <a:srgbClr val="727272"/>
              </a:solidFill>
              <a:prstDash val="solid"/>
              <a:miter lim="400000"/>
            </a:ln>
          </a:top>
          <a:bottom>
            <a:ln w="12700"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noFill/>
        </a:fill>
      </a:tcStyle>
    </a:wholeTbl>
    <a:band2H>
      <a:tcTxStyle/>
      <a:tcStyle>
        <a:tcBdr/>
        <a:fill>
          <a:solidFill>
            <a:srgbClr val="EFF1F3"/>
          </a:solidFill>
        </a:fill>
      </a:tcStyle>
    </a:band2H>
    <a:firstCol>
      <a:tcTxStyle i="off" b="off">
        <a:fontRef idx="minor">
          <a:srgbClr val="727272"/>
        </a:fontRef>
        <a:srgbClr val="727272"/>
      </a:tcTxStyle>
      <a:tcStyle>
        <a:tcBdr>
          <a:left>
            <a:ln w="28575" cap="flat">
              <a:solidFill>
                <a:srgbClr val="727272"/>
              </a:solidFill>
              <a:prstDash val="solid"/>
              <a:miter lim="400000"/>
            </a:ln>
          </a:left>
          <a:right>
            <a:ln w="12700" cap="flat">
              <a:solidFill>
                <a:srgbClr val="727272"/>
              </a:solidFill>
              <a:prstDash val="solid"/>
              <a:miter lim="400000"/>
            </a:ln>
          </a:right>
          <a:top>
            <a:ln w="12700" cap="flat">
              <a:solidFill>
                <a:srgbClr val="727272"/>
              </a:solidFill>
              <a:prstDash val="solid"/>
              <a:miter lim="400000"/>
            </a:ln>
          </a:top>
          <a:bottom>
            <a:ln w="12700"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solidFill>
            <a:srgbClr val="000000">
              <a:alpha val="25000"/>
            </a:srgbClr>
          </a:solidFill>
        </a:fill>
      </a:tcStyle>
    </a:firstCol>
    <a:lastRow>
      <a:tcTxStyle i="off" b="off">
        <a:fontRef idx="minor">
          <a:srgbClr val="727272"/>
        </a:fontRef>
        <a:srgbClr val="727272"/>
      </a:tcTxStyle>
      <a:tcStyle>
        <a:tcBdr>
          <a:left>
            <a:ln w="12700" cap="flat">
              <a:solidFill>
                <a:srgbClr val="727272"/>
              </a:solidFill>
              <a:prstDash val="solid"/>
              <a:miter lim="400000"/>
            </a:ln>
          </a:left>
          <a:right>
            <a:ln w="12700" cap="flat">
              <a:solidFill>
                <a:srgbClr val="727272"/>
              </a:solidFill>
              <a:prstDash val="solid"/>
              <a:miter lim="400000"/>
            </a:ln>
          </a:right>
          <a:top>
            <a:ln w="12700" cap="flat">
              <a:solidFill>
                <a:srgbClr val="727272"/>
              </a:solidFill>
              <a:prstDash val="solid"/>
              <a:miter lim="400000"/>
            </a:ln>
          </a:top>
          <a:bottom>
            <a:ln w="28575"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solidFill>
            <a:srgbClr val="000000">
              <a:alpha val="25000"/>
            </a:srgbClr>
          </a:solidFill>
        </a:fill>
      </a:tcStyle>
    </a:lastRow>
    <a:firstRow>
      <a:tcTxStyle i="off" b="off">
        <a:fontRef idx="minor">
          <a:srgbClr val="727272"/>
        </a:fontRef>
        <a:srgbClr val="727272"/>
      </a:tcTxStyle>
      <a:tcStyle>
        <a:tcBdr>
          <a:left>
            <a:ln w="12700" cap="flat">
              <a:solidFill>
                <a:srgbClr val="727272"/>
              </a:solidFill>
              <a:prstDash val="solid"/>
              <a:miter lim="400000"/>
            </a:ln>
          </a:left>
          <a:right>
            <a:ln w="12700" cap="flat">
              <a:solidFill>
                <a:srgbClr val="727272"/>
              </a:solidFill>
              <a:prstDash val="solid"/>
              <a:miter lim="400000"/>
            </a:ln>
          </a:right>
          <a:top>
            <a:ln w="28575" cap="flat">
              <a:solidFill>
                <a:srgbClr val="727272"/>
              </a:solidFill>
              <a:prstDash val="solid"/>
              <a:miter lim="400000"/>
            </a:ln>
          </a:top>
          <a:bottom>
            <a:ln w="12700" cap="flat">
              <a:solidFill>
                <a:srgbClr val="727272"/>
              </a:solidFill>
              <a:prstDash val="solid"/>
              <a:miter lim="400000"/>
            </a:ln>
          </a:bottom>
          <a:insideH>
            <a:ln w="12700" cap="flat">
              <a:solidFill>
                <a:srgbClr val="727272"/>
              </a:solidFill>
              <a:prstDash val="solid"/>
              <a:miter lim="400000"/>
            </a:ln>
          </a:insideH>
          <a:insideV>
            <a:ln w="12700" cap="flat">
              <a:solidFill>
                <a:srgbClr val="727272"/>
              </a:solidFill>
              <a:prstDash val="solid"/>
              <a:miter lim="400000"/>
            </a:ln>
          </a:insideV>
        </a:tcBdr>
        <a:fill>
          <a:solidFill>
            <a:srgbClr val="000000">
              <a:alpha val="25000"/>
            </a:srgbClr>
          </a:solidFill>
        </a:fill>
      </a:tcStyle>
    </a:firstRow>
  </a:tblStyle>
  <a:tblStyle styleId="{C7B018BB-80A7-4F77-B60F-C8B233D01FF8}" styleName="">
    <a:tblBg/>
    <a:wholeTbl>
      <a:tcTxStyle>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CF821DB8-F4EB-4A41-A1BA-3FCAFE7338EE}" styleName="">
    <a:tblBg/>
    <a:wholeTbl>
      <a:tcTxStyle>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EEE7283C-3CF3-47DC-8721-378D4A62B228}" styleName="">
    <a:tblBg/>
    <a:wholeTbl>
      <a:tcTxStyle>
        <a:srgbClr val="000000"/>
      </a:tcTxStyle>
      <a:tcStyle>
        <a:tcBdr>
          <a:left>
            <a:ln w="12700" cap="flat">
              <a:solidFill>
                <a:srgbClr val="5D5D5D"/>
              </a:solidFill>
              <a:miter lim="400000"/>
            </a:ln>
          </a:left>
          <a:right>
            <a:ln w="12700" cap="flat">
              <a:solidFill>
                <a:srgbClr val="5D5D5D"/>
              </a:solidFill>
              <a:miter lim="400000"/>
            </a:ln>
          </a:right>
          <a:top>
            <a:ln w="12700" cap="flat">
              <a:solidFill>
                <a:srgbClr val="5D5D5D"/>
              </a:solidFill>
              <a:miter lim="400000"/>
            </a:ln>
          </a:top>
          <a:bottom>
            <a:ln w="12700" cap="flat">
              <a:solidFill>
                <a:srgbClr val="5D5D5D"/>
              </a:solidFill>
              <a:miter lim="400000"/>
            </a:ln>
          </a:bottom>
          <a:insideH>
            <a:ln w="12700" cap="flat">
              <a:solidFill>
                <a:srgbClr val="5D5D5D"/>
              </a:solidFill>
              <a:miter lim="400000"/>
            </a:ln>
          </a:insideH>
          <a:insideV>
            <a:ln w="12700" cap="flat">
              <a:solidFill>
                <a:srgbClr val="5D5D5D"/>
              </a:solidFill>
              <a:miter lim="400000"/>
            </a:ln>
          </a:insideV>
        </a:tcBdr>
        <a:fill>
          <a:solidFill>
            <a:srgbClr val="FAF7E9"/>
          </a:solidFill>
        </a:fill>
      </a:tcStyle>
    </a:wholeTbl>
    <a:band2H>
      <a:tcTxStyle/>
      <a:tcStyle>
        <a:tcBdr/>
        <a:fill>
          <a:solidFill>
            <a:srgbClr val="EDEADD"/>
          </a:solidFill>
        </a:fill>
      </a:tcStyle>
    </a:band2H>
    <a:firstCol>
      <a:tcTxStyle>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92"/>
    <p:restoredTop sz="94490"/>
  </p:normalViewPr>
  <p:slideViewPr>
    <p:cSldViewPr snapToGrid="0">
      <p:cViewPr varScale="1">
        <p:scale>
          <a:sx n="121" d="100"/>
          <a:sy n="121" d="100"/>
        </p:scale>
        <p:origin x="2112" y="168"/>
      </p:cViewPr>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notesMaster" Target="notesMasters/notesMaster1.xml"/><Relationship Id="rId41" Type="http://schemas.openxmlformats.org/officeDocument/2006/relationships/presProps" Target="presProps.xml" /><Relationship Id="rId42" Type="http://schemas.openxmlformats.org/officeDocument/2006/relationships/tableStyles" Target="tableStyles.xml" /><Relationship Id="rId43" Type="http://schemas.openxmlformats.org/officeDocument/2006/relationships/viewProps" Target="viewProps.xml" /></Relationships>
</file>

<file path=ppt/handoutMasters/_rels/handoutMaster1.xml.rels><?xml version="1.0" encoding="UTF-8" standalone="yes"?>								<Relationships xmlns="http://schemas.openxmlformats.org/package/2006/relationships">								<Relationship Id="rId1" Type="http://schemas.openxmlformats.org/officeDocument/2006/relationships/theme" Target="../theme/theme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 name="Shape 37"/>
          <p:cNvSpPr>
            <a:spLocks noChangeAspect="1" noGrp="1" noRot="1"/>
          </p:cNvSpPr>
          <p:nvPr>
            <p:ph type="sldImg"/>
          </p:nvPr>
        </p:nvSpPr>
        <p:spPr>
          <a:xfrm>
            <a:off x="1143000" y="685800"/>
            <a:ext cx="4572000" cy="3429000"/>
          </a:xfrm>
          <a:prstGeom prst="rect">
            <a:avLst/>
          </a:prstGeom>
        </p:spPr>
        <p:txBody>
          <a:bodyPr/>
          <a:lstStyle/>
          <a:p>
            <a:endParaRPr/>
          </a:p>
        </p:txBody>
      </p:sp>
      <p:sp>
        <p:nvSpPr>
          <p:cNvPr id="38" name="Shape 3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
        <p:cNvGrpSpPr/>
        <p:nvPr/>
      </p:nvGrpSpPr>
      <p:grpSpPr>
        <a:xfrm>
          <a:off x="0" y="0"/>
          <a:ext cx="0" cy="0"/>
          <a:chOff x="0" y="0"/>
          <a:chExt cx="0" cy="0"/>
        </a:xfrm>
      </p:grpSpPr>
      <p:sp>
        <p:nvSpPr>
          <p:cNvPr id="2" name="Slide Image Placeholder 1"/>
          <p:cNvSpPr>
            <a:spLocks noChangeAspect="1" noGrp="1" noRo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2550317"/>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type="tx">
  <p:cSld name="Title &amp; Bullets">
    <p:spTree>
      <p:nvGrpSpPr>
        <p:cNvPr id="1" name=""/>
        <p:cNvGrpSpPr/>
        <p:nvPr/>
      </p:nvGrpSpPr>
      <p:grpSpPr>
        <a:xfrm>
          <a:off x="0" y="0"/>
          <a:ext cx="0" cy="0"/>
          <a:chOff x="0" y="0"/>
          <a:chExt cx="0" cy="0"/>
        </a:xfrm>
      </p:grpSpPr>
      <p:sp>
        <p:nvSpPr>
          <p:cNvPr id="11" name="Title Text"/>
          <p:cNvSpPr txBox="1">
            <a:spLocks noGrp="1"/>
          </p:cNvSpPr>
          <p:nvPr>
            <p:ph type="title"/>
          </p:nvPr>
        </p:nvSpPr>
        <p:spPr>
          <a:prstGeom prst="rect">
            <a:avLst/>
          </a:prstGeom>
        </p:spPr>
        <p:txBody>
          <a:bodyPr/>
          <a:lstStyle/>
          <a:p>
            <a:r>
              <a:t>Title Text</a:t>
            </a:r>
          </a:p>
        </p:txBody>
      </p:sp>
      <p:sp>
        <p:nvSpPr>
          <p:cNvPr id="1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type="tx">
  <p:cSld name="Title &amp; Bullets copy 4">
    <p:spTree>
      <p:nvGrpSpPr>
        <p:cNvPr id="1" name=""/>
        <p:cNvGrpSpPr/>
        <p:nvPr/>
      </p:nvGrpSpPr>
      <p:grpSpPr>
        <a:xfrm>
          <a:off x="0" y="0"/>
          <a:ext cx="0" cy="0"/>
          <a:chOff x="0" y="0"/>
          <a:chExt cx="0" cy="0"/>
        </a:xfrm>
      </p:grpSpPr>
      <p:sp>
        <p:nvSpPr>
          <p:cNvPr id="29" name="Title Text"/>
          <p:cNvSpPr txBox="1">
            <a:spLocks noGrp="1"/>
          </p:cNvSpPr>
          <p:nvPr>
            <p:ph type="title"/>
          </p:nvPr>
        </p:nvSpPr>
        <p:spPr>
          <a:xfrm>
            <a:off x="457200" y="0"/>
            <a:ext cx="8229600" cy="1692275"/>
          </a:xfrm>
          <a:prstGeom prst="rect">
            <a:avLst/>
          </a:prstGeom>
        </p:spPr>
        <p:txBody>
          <a:bodyPr/>
          <a:lstStyle/>
          <a:p>
            <a:r>
              <a:t>Title Text</a:t>
            </a:r>
          </a:p>
        </p:txBody>
      </p:sp>
      <p:sp>
        <p:nvSpPr>
          <p:cNvPr id="30"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92074"/>
            <a:ext cx="8229600" cy="1508126"/>
          </a:xfrm>
          <a:prstGeom prst="rect">
            <a:avLst/>
          </a:prstGeom>
          <a:ln w="12700">
            <a:miter lim="400000"/>
          </a:ln>
        </p:spPr>
        <p:txBody>
          <a:bodyPr lIns="50800" tIns="50800" rIns="50800" bIns="50800" anchor="ctr"/>
          <a:lstStyle/>
          <a:p>
            <a:r>
              <a:t>Title Text</a:t>
            </a:r>
          </a:p>
        </p:txBody>
      </p:sp>
      <p:sp>
        <p:nvSpPr>
          <p:cNvPr id="3" name="Body Level One…"/>
          <p:cNvSpPr txBox="1">
            <a:spLocks noGrp="1"/>
          </p:cNvSpPr>
          <p:nvPr>
            <p:ph type="body" idx="1"/>
          </p:nvPr>
        </p:nvSpPr>
        <p:spPr>
          <a:xfrm>
            <a:off x="457200" y="1600200"/>
            <a:ext cx="8229600" cy="5257800"/>
          </a:xfrm>
          <a:prstGeom prst="rect">
            <a:avLst/>
          </a:prstGeom>
          <a:ln w="12700">
            <a:miter lim="400000"/>
          </a:ln>
        </p:spPr>
        <p:txBody>
          <a:bodyPr lIns="50800" tIns="50800" rIns="50800" bIns="50800"/>
          <a:lstStyle>
            <a:lvl2pPr marL="783590" indent="-285750">
              <a:spcBef>
                <a:spcPts val="400"/>
              </a:spcBef>
              <a:buChar char="–"/>
              <a:defRPr sz="2000"/>
            </a:lvl2pPr>
            <a:lvl3pPr marL="1183639" indent="-228600">
              <a:spcBef>
                <a:spcPts val="400"/>
              </a:spcBef>
              <a:defRPr sz="1800"/>
            </a:lvl3pPr>
            <a:lvl4pPr marL="1640839" indent="-228600">
              <a:spcBef>
                <a:spcPts val="300"/>
              </a:spcBef>
              <a:buChar char="–"/>
              <a:defRPr sz="1600"/>
            </a:lvl4pPr>
            <a:lvl5pPr marL="2098039" indent="-228600">
              <a:spcBef>
                <a:spcPts val="300"/>
              </a:spcBef>
              <a:buChar char="»"/>
              <a:defRPr sz="1600"/>
            </a:lvl5p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737016" y="6381750"/>
            <a:ext cx="312068" cy="298984"/>
          </a:xfrm>
          <a:prstGeom prst="rect">
            <a:avLst/>
          </a:prstGeom>
          <a:ln w="12700">
            <a:miter lim="400000"/>
          </a:ln>
        </p:spPr>
        <p:txBody>
          <a:bodyPr wrap="none" lIns="50800" tIns="50800" rIns="50800" bIns="50800">
            <a:spAutoFit/>
          </a:bodyPr>
          <a:lstStyle>
            <a:lvl1pPr marL="0" marR="0" algn="ctr" defTabSz="457200">
              <a:defRPr sz="14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marL="40639" marR="40639" indent="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1pPr>
      <a:lvl2pPr marL="40639" marR="40639" indent="2286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2pPr>
      <a:lvl3pPr marL="40639" marR="40639" indent="4572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3pPr>
      <a:lvl4pPr marL="40639" marR="40639" indent="6858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4pPr>
      <a:lvl5pPr marL="40639" marR="40639" indent="9144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5pPr>
      <a:lvl6pPr marL="40639" marR="40639" indent="11430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6pPr>
      <a:lvl7pPr marL="40639" marR="40639" indent="13716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7pPr>
      <a:lvl8pPr marL="40639" marR="40639" indent="16002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8pPr>
      <a:lvl9pPr marL="40639" marR="40639" indent="1828800" algn="ctr" defTabSz="914400" rtl="0" latinLnBrk="0">
        <a:lnSpc>
          <a:spcPct val="100000"/>
        </a:lnSpc>
        <a:spcBef>
          <a:spcPts val="0"/>
        </a:spcBef>
        <a:spcAft>
          <a:spcPts val="0"/>
        </a:spcAft>
        <a:buClrTx/>
        <a:buSzTx/>
        <a:buFontTx/>
        <a:buNone/>
        <a:defRPr sz="3200" b="0" i="0" u="none" strike="noStrike" cap="none" spc="0" baseline="0">
          <a:solidFill>
            <a:srgbClr val="4180FF"/>
          </a:solidFill>
          <a:uFill>
            <a:solidFill>
              <a:srgbClr val="4180FF"/>
            </a:solidFill>
          </a:uFill>
          <a:latin typeface="+mn-lt"/>
          <a:ea typeface="+mn-ea"/>
          <a:cs typeface="+mn-cs"/>
          <a:sym typeface="Trebuchet MS"/>
        </a:defRPr>
      </a:lvl9pPr>
    </p:titleStyle>
    <p:bodyStyle>
      <a:lvl1pPr marL="383540"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1pPr>
      <a:lvl2pPr marL="840739" marR="40639" indent="-342899"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2pPr>
      <a:lvl3pPr marL="1259839" marR="40639" indent="-3048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3pPr>
      <a:lvl4pPr marL="17551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4pPr>
      <a:lvl5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5pPr>
      <a:lvl6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6pPr>
      <a:lvl7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7pPr>
      <a:lvl8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8pPr>
      <a:lvl9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9pPr>
    </p:bodyStyle>
    <p:otherStyle>
      <a:lvl1pPr marL="0" marR="0" indent="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1pPr>
      <a:lvl2pPr marL="0" marR="0" indent="2286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2pPr>
      <a:lvl3pPr marL="0" marR="0" indent="4572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3pPr>
      <a:lvl4pPr marL="0" marR="0" indent="6858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4pPr>
      <a:lvl5pPr marL="0" marR="0" indent="9144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5pPr>
      <a:lvl6pPr marL="0" marR="0" indent="11430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6pPr>
      <a:lvl7pPr marL="0" marR="0" indent="13716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7pPr>
      <a:lvl8pPr marL="0" marR="0" indent="16002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8pPr>
      <a:lvl9pPr marL="0" marR="0" indent="1828800" algn="ctr" defTabSz="457200" latinLnBrk="0">
        <a:lnSpc>
          <a:spcPct val="100000"/>
        </a:lnSpc>
        <a:spcBef>
          <a:spcPts val="0"/>
        </a:spcBef>
        <a:spcAft>
          <a:spcPts val="0"/>
        </a:spcAft>
        <a:buClrTx/>
        <a:buSzTx/>
        <a:buFontTx/>
        <a:buNone/>
        <a:defRPr sz="1400" b="0" i="0" u="none" strike="noStrike" cap="none" spc="0" baseline="0">
          <a:solidFill>
            <a:schemeClr val="tx1"/>
          </a:solidFill>
          <a:uFill>
            <a:solidFill>
              <a:srgbClr val="727272"/>
            </a:solidFill>
          </a:uFill>
          <a:latin typeface="+mn-lt"/>
          <a:ea typeface="+mn-ea"/>
          <a:cs typeface="+mn-cs"/>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image" Target="../media/image9.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8.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8.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8.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9.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8.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9.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3.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9.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9.jpg"/><Relationship Id="rId6" Type="http://schemas.openxmlformats.org/officeDocument/2006/relationships/image" Target="../media/image14.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10.jpg"/><Relationship Id="rId5" Type="http://schemas.openxmlformats.org/officeDocument/2006/relationships/image" Target="../media/image9.jpg"/><Relationship Id="rId6"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40"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a:t>
            </a:fld>
            <a:endParaRPr/>
          </a:p>
        </p:txBody>
      </p:sp>
      <p:sp>
        <p:nvSpPr>
          <p:cNvPr id="41" name="CSE 521 - Operating Systems Fall 2022"/>
          <p:cNvSpPr txBox="1">
            <a:spLocks noGrp="1"/>
          </p:cNvSpPr>
          <p:nvPr>
            <p:ph type="title"/>
          </p:nvPr>
        </p:nvSpPr>
        <p:spPr>
          <a:xfrm>
            <a:off x="762000" y="0"/>
            <a:ext cx="7772400" cy="1822450"/>
          </a:xfrm>
          <a:prstGeom prst="rect">
            <a:avLst/>
          </a:prstGeom>
        </p:spPr>
        <p:txBody>
          <a:bodyPr/>
          <a:lstStyle/>
          <a:p>
            <a:pPr>
              <a:defRPr sz="2400">
                <a:solidFill>
                  <a:srgbClr val="000000"/>
                </a:solidFill>
                <a:uFill>
                  <a:solidFill>
                    <a:srgbClr val="000000"/>
                  </a:solidFill>
                </a:uFill>
              </a:defRPr>
            </a:pPr>
            <a:r>
              <a:rPr dirty="0"/>
              <a:t>CSE 521 - Operating Systems</a:t>
            </a:r>
            <a:br>
              <a:rPr dirty="0"/>
            </a:br>
            <a:r>
              <a:rPr dirty="0"/>
              <a:t>Fall 202</a:t>
            </a:r>
            <a:r>
              <a:rPr lang="en-US" dirty="0"/>
              <a:t>6</a:t>
            </a:r>
            <a:endParaRPr dirty="0"/>
          </a:p>
        </p:txBody>
      </p:sp>
      <p:sp>
        <p:nvSpPr>
          <p:cNvPr id="42" name="Tevfik Koşar"/>
          <p:cNvSpPr txBox="1">
            <a:spLocks noGrp="1"/>
          </p:cNvSpPr>
          <p:nvPr>
            <p:ph type="body" sz="half" idx="1"/>
          </p:nvPr>
        </p:nvSpPr>
        <p:spPr>
          <a:xfrm>
            <a:off x="1379537" y="3108325"/>
            <a:ext cx="6400801" cy="2425700"/>
          </a:xfrm>
          <a:prstGeom prst="rect">
            <a:avLst/>
          </a:prstGeom>
        </p:spPr>
        <p:txBody>
          <a:bodyPr/>
          <a:lstStyle>
            <a:lvl1pPr marL="40639" indent="0" algn="ctr">
              <a:buClr>
                <a:srgbClr val="727272"/>
              </a:buClr>
              <a:buSzTx/>
              <a:buFont typeface="Trebuchet MS"/>
              <a:buNone/>
              <a:defRPr sz="3000"/>
            </a:lvl1pPr>
          </a:lstStyle>
          <a:p>
            <a:r>
              <a:rPr lang="en-US" sz="1700" dirty="0"/>
              <a:t>Created by Dr. </a:t>
            </a:r>
            <a:r>
              <a:rPr sz="1700" dirty="0" err="1"/>
              <a:t>Tevf</a:t>
            </a:r>
            <a:r>
              <a:rPr lang="en-US" sz="1700" dirty="0" err="1"/>
              <a:t>i</a:t>
            </a:r>
            <a:r>
              <a:rPr sz="1700" dirty="0" err="1"/>
              <a:t>k</a:t>
            </a:r>
            <a:r>
              <a:rPr sz="1700" dirty="0"/>
              <a:t> </a:t>
            </a:r>
            <a:r>
              <a:rPr sz="1700" dirty="0" err="1"/>
              <a:t>Koşar</a:t>
            </a:r>
            <a:endParaRPr lang="en-US" sz="1700" dirty="0"/>
          </a:p>
          <a:p>
            <a:endParaRPr lang="en-US" sz="1700" dirty="0"/>
          </a:p>
          <a:p>
            <a:r>
              <a:rPr lang="en-US" dirty="0"/>
              <a:t>Presented By </a:t>
            </a:r>
          </a:p>
          <a:p>
            <a:r>
              <a:rPr lang="en-US" dirty="0"/>
              <a:t>Dr. </a:t>
            </a:r>
            <a:r>
              <a:rPr lang="en-US" dirty="0" err="1"/>
              <a:t>Zulkar</a:t>
            </a:r>
            <a:r>
              <a:rPr lang="en-US" dirty="0"/>
              <a:t> Nine</a:t>
            </a:r>
            <a:endParaRPr dirty="0"/>
          </a:p>
        </p:txBody>
      </p:sp>
      <p:sp>
        <p:nvSpPr>
          <p:cNvPr id="43" name="Rectangle"/>
          <p:cNvSpPr/>
          <p:nvPr/>
        </p:nvSpPr>
        <p:spPr>
          <a:xfrm>
            <a:off x="7472362" y="6307137"/>
            <a:ext cx="1671638" cy="550863"/>
          </a:xfrm>
          <a:prstGeom prst="rect">
            <a:avLst/>
          </a:prstGeom>
          <a:solidFill>
            <a:srgbClr val="FFFFFF"/>
          </a:solidFill>
          <a:ln w="12700">
            <a:miter lim="400000"/>
          </a:ln>
        </p:spPr>
        <p:txBody>
          <a:bodyPr lIns="50800" tIns="50800" rIns="50800" bIns="50800" anchor="ctr"/>
          <a:lstStyle/>
          <a:p>
            <a:endParaRPr/>
          </a:p>
        </p:txBody>
      </p:sp>
      <p:sp>
        <p:nvSpPr>
          <p:cNvPr id="44" name="University at Buffalo…"/>
          <p:cNvSpPr txBox="1"/>
          <p:nvPr/>
        </p:nvSpPr>
        <p:spPr>
          <a:xfrm>
            <a:off x="1379537" y="5789612"/>
            <a:ext cx="6400801" cy="410369"/>
          </a:xfrm>
          <a:prstGeom prst="rect">
            <a:avLst/>
          </a:prstGeom>
          <a:ln w="12700">
            <a:miter lim="400000"/>
          </a:ln>
        </p:spPr>
        <p:txBody>
          <a:bodyPr lIns="50800" tIns="50800" rIns="50800" bIns="50800">
            <a:spAutoFit/>
          </a:bodyPr>
          <a:lstStyle/>
          <a:p>
            <a:pPr algn="ctr">
              <a:spcBef>
                <a:spcPts val="500"/>
              </a:spcBef>
              <a:buClr>
                <a:srgbClr val="00A8AA"/>
              </a:buClr>
              <a:buFont typeface="Trebuchet MS"/>
              <a:defRPr sz="2400">
                <a:solidFill>
                  <a:srgbClr val="00A8AA"/>
                </a:solidFill>
                <a:uFill>
                  <a:solidFill>
                    <a:srgbClr val="00A8AA"/>
                  </a:solidFill>
                </a:uFill>
                <a:latin typeface="+mn-lt"/>
                <a:ea typeface="+mn-ea"/>
                <a:cs typeface="+mn-cs"/>
                <a:sym typeface="Trebuchet MS"/>
              </a:defRPr>
            </a:pPr>
            <a:endParaRPr sz="2000" dirty="0">
              <a:solidFill>
                <a:srgbClr val="00A8AA"/>
              </a:solidFill>
              <a:uFill>
                <a:solidFill>
                  <a:srgbClr val="00A8AA"/>
                </a:solidFill>
              </a:uFill>
              <a:latin typeface="+mn-lt"/>
              <a:ea typeface="+mn-ea"/>
              <a:cs typeface="+mn-cs"/>
              <a:sym typeface="Trebuchet MS"/>
            </a:endParaRPr>
          </a:p>
        </p:txBody>
      </p:sp>
      <p:sp>
        <p:nvSpPr>
          <p:cNvPr id="45" name="Lecture - VIII Process Synchronization - I"/>
          <p:cNvSpPr txBox="1"/>
          <p:nvPr/>
        </p:nvSpPr>
        <p:spPr>
          <a:xfrm>
            <a:off x="760412" y="2123877"/>
            <a:ext cx="7772401" cy="1025922"/>
          </a:xfrm>
          <a:prstGeom prst="rect">
            <a:avLst/>
          </a:prstGeom>
          <a:ln w="12700">
            <a:miter lim="400000"/>
          </a:ln>
        </p:spPr>
        <p:txBody>
          <a:bodyPr lIns="50800" tIns="50800" rIns="50800" bIns="50800" anchor="ctr">
            <a:spAutoFit/>
          </a:bodyPr>
          <a:lstStyle/>
          <a:p>
            <a:pPr algn="ctr">
              <a:buClr>
                <a:srgbClr val="4180FF"/>
              </a:buClr>
              <a:buFont typeface="Copperplate Gothic Light"/>
            </a:pPr>
            <a:r>
              <a:rPr sz="2400" dirty="0">
                <a:solidFill>
                  <a:srgbClr val="4180FF"/>
                </a:solidFill>
                <a:uFill>
                  <a:solidFill>
                    <a:srgbClr val="4180FF"/>
                  </a:solidFill>
                </a:uFill>
                <a:latin typeface="Copperplate Gothic Light"/>
                <a:ea typeface="Copperplate Gothic Light"/>
                <a:cs typeface="Copperplate Gothic Light"/>
                <a:sym typeface="Copperplate Gothic Light"/>
              </a:rPr>
              <a:t>Lecture - </a:t>
            </a:r>
            <a:r>
              <a:rPr lang="en-US" sz="2400" dirty="0">
                <a:solidFill>
                  <a:srgbClr val="4180FF"/>
                </a:solidFill>
                <a:uFill>
                  <a:solidFill>
                    <a:srgbClr val="4180FF"/>
                  </a:solidFill>
                </a:uFill>
                <a:latin typeface="Copperplate Gothic Light"/>
                <a:ea typeface="Copperplate Gothic Light"/>
                <a:cs typeface="Copperplate Gothic Light"/>
                <a:sym typeface="Copperplate Gothic Light"/>
              </a:rPr>
              <a:t>11</a:t>
            </a:r>
            <a:br>
              <a:rPr sz="2400" dirty="0">
                <a:solidFill>
                  <a:srgbClr val="4180FF"/>
                </a:solidFill>
                <a:uFill>
                  <a:solidFill>
                    <a:srgbClr val="4180FF"/>
                  </a:solidFill>
                </a:uFill>
                <a:latin typeface="Copperplate Gothic Light"/>
                <a:ea typeface="Copperplate Gothic Light"/>
                <a:cs typeface="Copperplate Gothic Light"/>
                <a:sym typeface="Copperplate Gothic Light"/>
              </a:rPr>
            </a:br>
            <a:r>
              <a:rPr sz="3600" dirty="0">
                <a:solidFill>
                  <a:srgbClr val="4180FF"/>
                </a:solidFill>
                <a:uFill>
                  <a:solidFill>
                    <a:srgbClr val="4180FF"/>
                  </a:solidFill>
                </a:uFill>
                <a:latin typeface="Copperplate Gothic Light"/>
                <a:ea typeface="Copperplate Gothic Light"/>
                <a:cs typeface="Copperplate Gothic Light"/>
                <a:sym typeface="Copperplate Gothic Light"/>
              </a:rPr>
              <a:t>Process Synchronization - I</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a:t>
            </a:fld>
            <a:endParaRPr/>
          </a:p>
        </p:txBody>
      </p:sp>
      <p:sp>
        <p:nvSpPr>
          <p:cNvPr id="48" name="Roadmap"/>
          <p:cNvSpPr txBox="1">
            <a:spLocks noGrp="1"/>
          </p:cNvSpPr>
          <p:nvPr>
            <p:ph type="title"/>
          </p:nvPr>
        </p:nvSpPr>
        <p:spPr>
          <a:prstGeom prst="rect">
            <a:avLst/>
          </a:prstGeom>
        </p:spPr>
        <p:txBody>
          <a:bodyPr/>
          <a:lstStyle/>
          <a:p>
            <a:r>
              <a:t>Roadmap</a:t>
            </a:r>
          </a:p>
        </p:txBody>
      </p:sp>
      <p:sp>
        <p:nvSpPr>
          <p:cNvPr id="49" name="Process Synchronization…"/>
          <p:cNvSpPr txBox="1">
            <a:spLocks noGrp="1"/>
          </p:cNvSpPr>
          <p:nvPr>
            <p:ph type="body" idx="1"/>
          </p:nvPr>
        </p:nvSpPr>
        <p:spPr>
          <a:xfrm>
            <a:off x="457200" y="1562100"/>
            <a:ext cx="8229600" cy="5257800"/>
          </a:xfrm>
          <a:prstGeom prst="rect">
            <a:avLst/>
          </a:prstGeom>
        </p:spPr>
        <p:txBody>
          <a:bodyPr/>
          <a:lstStyle/>
          <a:p>
            <a:pPr>
              <a:defRPr>
                <a:solidFill>
                  <a:srgbClr val="000000"/>
                </a:solidFill>
                <a:uFill>
                  <a:solidFill>
                    <a:srgbClr val="000000"/>
                  </a:solidFill>
                </a:uFill>
              </a:defRPr>
            </a:pPr>
            <a:r>
              <a:t>Process Synchronization</a:t>
            </a:r>
          </a:p>
          <a:p>
            <a:pPr>
              <a:defRPr>
                <a:solidFill>
                  <a:srgbClr val="000000"/>
                </a:solidFill>
                <a:uFill>
                  <a:solidFill>
                    <a:srgbClr val="000000"/>
                  </a:solidFill>
                </a:uFill>
              </a:defRPr>
            </a:pPr>
            <a:r>
              <a:t>Race Conditions</a:t>
            </a:r>
          </a:p>
          <a:p>
            <a:pPr>
              <a:defRPr>
                <a:solidFill>
                  <a:srgbClr val="000000"/>
                </a:solidFill>
                <a:uFill>
                  <a:solidFill>
                    <a:srgbClr val="000000"/>
                  </a:solidFill>
                </a:uFill>
              </a:defRPr>
            </a:pPr>
            <a:r>
              <a:t>Critical-Section Problem</a:t>
            </a:r>
          </a:p>
          <a:p>
            <a:pPr lvl="1">
              <a:defRPr>
                <a:solidFill>
                  <a:srgbClr val="000000"/>
                </a:solidFill>
                <a:uFill>
                  <a:solidFill>
                    <a:srgbClr val="000000"/>
                  </a:solidFill>
                </a:uFill>
              </a:defRPr>
            </a:pPr>
            <a:r>
              <a:t>Solutions to Critical Section</a:t>
            </a:r>
          </a:p>
          <a:p>
            <a:pPr lvl="1">
              <a:defRPr>
                <a:solidFill>
                  <a:srgbClr val="000000"/>
                </a:solidFill>
                <a:uFill>
                  <a:solidFill>
                    <a:srgbClr val="000000"/>
                  </a:solidFill>
                </a:uFill>
              </a:defRPr>
            </a:pPr>
            <a:r>
              <a:t>Different Implementations</a:t>
            </a:r>
          </a:p>
        </p:txBody>
      </p:sp>
      <p:pic>
        <p:nvPicPr>
          <p:cNvPr id="50" name="roadmap.jpg" descr="roadmap.jpg"/>
          <p:cNvPicPr/>
          <p:nvPr/>
        </p:nvPicPr>
        <p:blipFill>
          <a:blip r:embed="rId2"/>
          <a:stretch>
            <a:fillRect/>
          </a:stretch>
        </p:blipFill>
        <p:spPr>
          <a:xfrm>
            <a:off x="6573837" y="4533900"/>
            <a:ext cx="2259013" cy="1779588"/>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2"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a:t>
            </a:fld>
            <a:endParaRPr/>
          </a:p>
        </p:txBody>
      </p:sp>
      <p:sp>
        <p:nvSpPr>
          <p:cNvPr id="53" name="Background"/>
          <p:cNvSpPr txBox="1">
            <a:spLocks noGrp="1"/>
          </p:cNvSpPr>
          <p:nvPr>
            <p:ph type="title"/>
          </p:nvPr>
        </p:nvSpPr>
        <p:spPr>
          <a:xfrm>
            <a:off x="457200" y="274637"/>
            <a:ext cx="8229600" cy="1143001"/>
          </a:xfrm>
          <a:prstGeom prst="rect">
            <a:avLst/>
          </a:prstGeom>
        </p:spPr>
        <p:txBody>
          <a:bodyPr/>
          <a:lstStyle/>
          <a:p>
            <a:r>
              <a:rPr dirty="0"/>
              <a:t>Background</a:t>
            </a:r>
          </a:p>
        </p:txBody>
      </p:sp>
      <p:sp>
        <p:nvSpPr>
          <p:cNvPr id="54" name="Concurrent access to shared data may result in data inconsistency…"/>
          <p:cNvSpPr txBox="1">
            <a:spLocks noGrp="1"/>
          </p:cNvSpPr>
          <p:nvPr>
            <p:ph type="body" idx="1"/>
          </p:nvPr>
        </p:nvSpPr>
        <p:spPr>
          <a:xfrm>
            <a:off x="827087" y="1365250"/>
            <a:ext cx="7742238" cy="4860925"/>
          </a:xfrm>
          <a:prstGeom prst="rect">
            <a:avLst/>
          </a:prstGeom>
        </p:spPr>
        <p:txBody>
          <a:bodyPr/>
          <a:lstStyle/>
          <a:p>
            <a:r>
              <a:rPr>
                <a:solidFill>
                  <a:srgbClr val="000000"/>
                </a:solidFill>
                <a:uFill>
                  <a:solidFill>
                    <a:srgbClr val="000000"/>
                  </a:solidFill>
                </a:uFill>
              </a:rPr>
              <a:t>Concurrent access to shared data may result in</a:t>
            </a:r>
            <a:r>
              <a:t> </a:t>
            </a:r>
            <a:r>
              <a:rPr>
                <a:solidFill>
                  <a:srgbClr val="FF4C00"/>
                </a:solidFill>
                <a:uFill>
                  <a:solidFill>
                    <a:srgbClr val="FF4C00"/>
                  </a:solidFill>
                </a:uFill>
              </a:rPr>
              <a:t>data inconsistency</a:t>
            </a:r>
          </a:p>
          <a:p>
            <a:r>
              <a:rPr>
                <a:solidFill>
                  <a:srgbClr val="000000"/>
                </a:solidFill>
                <a:uFill>
                  <a:solidFill>
                    <a:srgbClr val="000000"/>
                  </a:solidFill>
                </a:uFill>
              </a:rPr>
              <a:t>Maintaining </a:t>
            </a:r>
            <a:r>
              <a:rPr>
                <a:solidFill>
                  <a:srgbClr val="FF4C00"/>
                </a:solidFill>
                <a:uFill>
                  <a:solidFill>
                    <a:srgbClr val="FF4C00"/>
                  </a:solidFill>
                </a:uFill>
              </a:rPr>
              <a:t>data consistency</a:t>
            </a:r>
            <a:r>
              <a:t> </a:t>
            </a:r>
            <a:r>
              <a:rPr>
                <a:solidFill>
                  <a:srgbClr val="000000"/>
                </a:solidFill>
                <a:uFill>
                  <a:solidFill>
                    <a:srgbClr val="000000"/>
                  </a:solidFill>
                </a:uFill>
              </a:rPr>
              <a:t>requires mechanisms to ensure the </a:t>
            </a:r>
            <a:r>
              <a:rPr>
                <a:solidFill>
                  <a:srgbClr val="4180FF"/>
                </a:solidFill>
                <a:uFill>
                  <a:solidFill>
                    <a:srgbClr val="4180FF"/>
                  </a:solidFill>
                </a:uFill>
              </a:rPr>
              <a:t>orderly execution of cooperating processes</a:t>
            </a:r>
          </a:p>
          <a:p>
            <a:r>
              <a:rPr>
                <a:solidFill>
                  <a:srgbClr val="000000"/>
                </a:solidFill>
                <a:uFill>
                  <a:solidFill>
                    <a:srgbClr val="000000"/>
                  </a:solidFill>
                </a:uFill>
              </a:rPr>
              <a:t>Consider</a:t>
            </a:r>
            <a:r>
              <a:t> </a:t>
            </a:r>
            <a:r>
              <a:rPr>
                <a:solidFill>
                  <a:srgbClr val="B51A00"/>
                </a:solidFill>
                <a:uFill>
                  <a:solidFill>
                    <a:srgbClr val="B51A00"/>
                  </a:solidFill>
                </a:uFill>
              </a:rPr>
              <a:t>consumer-producer</a:t>
            </a:r>
            <a:r>
              <a:t> </a:t>
            </a:r>
            <a:r>
              <a:rPr>
                <a:solidFill>
                  <a:srgbClr val="000000"/>
                </a:solidFill>
                <a:uFill>
                  <a:solidFill>
                    <a:srgbClr val="000000"/>
                  </a:solidFill>
                </a:uFill>
              </a:rPr>
              <a:t>problem: </a:t>
            </a:r>
          </a:p>
          <a:p>
            <a:pPr lvl="1"/>
            <a:r>
              <a:rPr>
                <a:solidFill>
                  <a:srgbClr val="000000"/>
                </a:solidFill>
                <a:uFill>
                  <a:solidFill>
                    <a:srgbClr val="000000"/>
                  </a:solidFill>
                </a:uFill>
              </a:rPr>
              <a:t>Initially, count is set to 0</a:t>
            </a:r>
          </a:p>
          <a:p>
            <a:pPr lvl="1"/>
            <a:r>
              <a:rPr>
                <a:solidFill>
                  <a:srgbClr val="000000"/>
                </a:solidFill>
                <a:uFill>
                  <a:solidFill>
                    <a:srgbClr val="000000"/>
                  </a:solidFill>
                </a:uFill>
              </a:rPr>
              <a:t>It is incremented by the producer after it produces a new buffer </a:t>
            </a:r>
          </a:p>
          <a:p>
            <a:pPr lvl="1"/>
            <a:r>
              <a:rPr>
                <a:solidFill>
                  <a:srgbClr val="000000"/>
                </a:solidFill>
                <a:uFill>
                  <a:solidFill>
                    <a:srgbClr val="000000"/>
                  </a:solidFill>
                </a:uFill>
              </a:rPr>
              <a:t>and is decremented by the consumer after it consumes a buffer.</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 name="Background">
            <a:extLst>
              <a:ext uri="{FF2B5EF4-FFF2-40B4-BE49-F238E27FC236}">
                <a16:creationId xmlns:a16="http://schemas.microsoft.com/office/drawing/2014/main" id="{42B198C6-9168-208E-2112-CC88AF31400C}"/>
              </a:ext>
            </a:extLst>
          </p:cNvPr>
          <p:cNvSpPr txBox="1">
            <a:spLocks noGrp="1"/>
          </p:cNvSpPr>
          <p:nvPr>
            <p:ph type="title"/>
          </p:nvPr>
        </p:nvSpPr>
        <p:spPr>
          <a:xfrm>
            <a:off x="457200" y="274637"/>
            <a:ext cx="8229600" cy="1143001"/>
          </a:xfrm>
          <a:prstGeom prst="rect">
            <a:avLst/>
          </a:prstGeom>
        </p:spPr>
        <p:txBody>
          <a:bodyPr/>
          <a:lstStyle/>
          <a:p>
            <a:r>
              <a:rPr lang="en-US" dirty="0"/>
              <a:t>Issues with Concurrent Execution</a:t>
            </a:r>
            <a:endParaRPr dirty="0"/>
          </a:p>
        </p:txBody>
      </p:sp>
    </p:spTree>
    <p:extLst>
      <p:ext uri="{BB962C8B-B14F-4D97-AF65-F5344CB8AC3E}">
        <p14:creationId xmlns:p14="http://schemas.microsoft.com/office/powerpoint/2010/main" val="2842756491"/>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6" name="Slide Number"/>
          <p:cNvSpPr txBox="1">
            <a:spLocks noGrp="1"/>
          </p:cNvSpPr>
          <p:nvPr>
            <p:ph type="sldNum" sz="quarter" idx="2"/>
          </p:nvPr>
        </p:nvSpPr>
        <p:spPr>
          <a:xfrm>
            <a:off x="7727622" y="6460365"/>
            <a:ext cx="312068" cy="304801"/>
          </a:xfrm>
          <a:prstGeom prst="rect">
            <a:avLst/>
          </a:prstGeom>
        </p:spPr>
        <p:txBody>
          <a:bodyPr/>
          <a:lstStyle/>
          <a:p>
            <a:fld id="{86CB4B4D-7CA3-9044-876B-883B54F8677D}" type="slidenum">
              <a:rPr/>
              <a:t>5</a:t>
            </a:fld>
            <a:endParaRPr/>
          </a:p>
        </p:txBody>
      </p:sp>
      <p:sp>
        <p:nvSpPr>
          <p:cNvPr id="57" name="Producer:"/>
          <p:cNvSpPr txBox="1">
            <a:spLocks noGrp="1"/>
          </p:cNvSpPr>
          <p:nvPr>
            <p:ph type="title"/>
          </p:nvPr>
        </p:nvSpPr>
        <p:spPr>
          <a:xfrm>
            <a:off x="196305" y="490536"/>
            <a:ext cx="2520769" cy="838201"/>
          </a:xfrm>
          <a:prstGeom prst="rect">
            <a:avLst/>
          </a:prstGeom>
        </p:spPr>
        <p:txBody>
          <a:bodyPr/>
          <a:lstStyle/>
          <a:p>
            <a:r>
              <a:rPr dirty="0"/>
              <a:t>Producer: </a:t>
            </a:r>
          </a:p>
        </p:txBody>
      </p:sp>
      <p:sp>
        <p:nvSpPr>
          <p:cNvPr id="58" name="while (true){  /* produce an item and put in nextProduced…"/>
          <p:cNvSpPr txBox="1">
            <a:spLocks noGrp="1"/>
          </p:cNvSpPr>
          <p:nvPr>
            <p:ph type="body" sz="half" idx="1"/>
          </p:nvPr>
        </p:nvSpPr>
        <p:spPr>
          <a:xfrm>
            <a:off x="382587" y="1103312"/>
            <a:ext cx="6362701" cy="2425701"/>
          </a:xfrm>
          <a:prstGeom prst="rect">
            <a:avLst/>
          </a:prstGeom>
          <a:ln>
            <a:solidFill>
              <a:srgbClr val="000000"/>
            </a:solidFill>
          </a:ln>
        </p:spPr>
        <p:txBody>
          <a:bodyPr/>
          <a:lstStyle/>
          <a:p>
            <a:pPr>
              <a:buSzTx/>
              <a:buNone/>
              <a:defRPr sz="1800">
                <a:solidFill>
                  <a:srgbClr val="000000"/>
                </a:solidFill>
                <a:uFill>
                  <a:solidFill>
                    <a:srgbClr val="000000"/>
                  </a:solidFill>
                </a:uFill>
              </a:defRPr>
            </a:pPr>
            <a:r>
              <a:rPr dirty="0"/>
              <a:t>while (true){  /* produce an item and put in </a:t>
            </a:r>
            <a:r>
              <a:rPr dirty="0" err="1"/>
              <a:t>nextProduced</a:t>
            </a:r>
            <a:endParaRPr dirty="0"/>
          </a:p>
          <a:p>
            <a:pPr>
              <a:buSzTx/>
              <a:buNone/>
              <a:defRPr sz="1800">
                <a:solidFill>
                  <a:srgbClr val="000000"/>
                </a:solidFill>
                <a:uFill>
                  <a:solidFill>
                    <a:srgbClr val="000000"/>
                  </a:solidFill>
                </a:uFill>
              </a:defRPr>
            </a:pPr>
            <a:r>
              <a:rPr dirty="0"/>
              <a:t>			while (count == BUFFER_SIZE)</a:t>
            </a:r>
          </a:p>
          <a:p>
            <a:pPr>
              <a:buSzTx/>
              <a:buNone/>
              <a:defRPr sz="1800">
                <a:solidFill>
                  <a:srgbClr val="000000"/>
                </a:solidFill>
                <a:uFill>
                  <a:solidFill>
                    <a:srgbClr val="000000"/>
                  </a:solidFill>
                </a:uFill>
              </a:defRPr>
            </a:pPr>
            <a:r>
              <a:rPr dirty="0"/>
              <a:t>				; // do nothing</a:t>
            </a:r>
          </a:p>
          <a:p>
            <a:pPr>
              <a:buSzTx/>
              <a:buNone/>
              <a:defRPr sz="1800">
                <a:solidFill>
                  <a:srgbClr val="000000"/>
                </a:solidFill>
                <a:uFill>
                  <a:solidFill>
                    <a:srgbClr val="000000"/>
                  </a:solidFill>
                </a:uFill>
              </a:defRPr>
            </a:pPr>
            <a:r>
              <a:rPr dirty="0"/>
              <a:t>			buffer [in] = </a:t>
            </a:r>
            <a:r>
              <a:rPr dirty="0" err="1"/>
              <a:t>nextProduced</a:t>
            </a:r>
            <a:r>
              <a:rPr dirty="0"/>
              <a:t>;</a:t>
            </a:r>
          </a:p>
          <a:p>
            <a:pPr>
              <a:buSzTx/>
              <a:buNone/>
              <a:defRPr sz="1800">
                <a:solidFill>
                  <a:srgbClr val="000000"/>
                </a:solidFill>
                <a:uFill>
                  <a:solidFill>
                    <a:srgbClr val="000000"/>
                  </a:solidFill>
                </a:uFill>
              </a:defRPr>
            </a:pPr>
            <a:r>
              <a:rPr dirty="0"/>
              <a:t>			in = (in + 1) % BUFFER_SIZE;</a:t>
            </a:r>
          </a:p>
          <a:p>
            <a:pPr>
              <a:buSzTx/>
              <a:buNone/>
              <a:defRPr sz="1800">
                <a:solidFill>
                  <a:srgbClr val="000000"/>
                </a:solidFill>
                <a:uFill>
                  <a:solidFill>
                    <a:srgbClr val="000000"/>
                  </a:solidFill>
                </a:uFill>
              </a:defRPr>
            </a:pPr>
            <a:r>
              <a:rPr dirty="0"/>
              <a:t>			count++;</a:t>
            </a:r>
          </a:p>
          <a:p>
            <a:pPr>
              <a:buSzTx/>
              <a:buNone/>
              <a:defRPr sz="1800">
                <a:solidFill>
                  <a:srgbClr val="000000"/>
                </a:solidFill>
                <a:uFill>
                  <a:solidFill>
                    <a:srgbClr val="000000"/>
                  </a:solidFill>
                </a:uFill>
              </a:defRPr>
            </a:pPr>
            <a:r>
              <a:rPr dirty="0"/>
              <a:t>	}   </a:t>
            </a:r>
          </a:p>
        </p:txBody>
      </p:sp>
      <p:sp>
        <p:nvSpPr>
          <p:cNvPr id="59" name="while (1) {…"/>
          <p:cNvSpPr txBox="1"/>
          <p:nvPr/>
        </p:nvSpPr>
        <p:spPr>
          <a:xfrm>
            <a:off x="395287" y="4070350"/>
            <a:ext cx="6362701" cy="2565400"/>
          </a:xfrm>
          <a:prstGeom prst="rect">
            <a:avLst/>
          </a:prstGeom>
          <a:ln w="12700">
            <a:solidFill>
              <a:srgbClr val="000000"/>
            </a:solidFill>
            <a:miter lim="400000"/>
          </a:ln>
        </p:spPr>
        <p:txBody>
          <a:bodyPr lIns="50800" tIns="50800" rIns="50800" bIns="50800"/>
          <a:lstStyle/>
          <a:p>
            <a:pPr marL="383540" indent="-342900">
              <a:spcBef>
                <a:spcPts val="500"/>
              </a:spcBef>
              <a:defRPr>
                <a:solidFill>
                  <a:srgbClr val="000000"/>
                </a:solidFill>
                <a:uFill>
                  <a:solidFill>
                    <a:srgbClr val="000000"/>
                  </a:solidFill>
                </a:uFill>
                <a:latin typeface="+mn-lt"/>
                <a:ea typeface="+mn-ea"/>
                <a:cs typeface="+mn-cs"/>
                <a:sym typeface="Trebuchet MS"/>
              </a:defRPr>
            </a:pPr>
            <a:r>
              <a:t>      while (1) {</a:t>
            </a:r>
          </a:p>
          <a:p>
            <a:pPr marL="383540" indent="-342900">
              <a:spcBef>
                <a:spcPts val="500"/>
              </a:spcBef>
              <a:defRPr>
                <a:solidFill>
                  <a:srgbClr val="000000"/>
                </a:solidFill>
                <a:uFill>
                  <a:solidFill>
                    <a:srgbClr val="000000"/>
                  </a:solidFill>
                </a:uFill>
                <a:latin typeface="+mn-lt"/>
                <a:ea typeface="+mn-ea"/>
                <a:cs typeface="+mn-cs"/>
                <a:sym typeface="Trebuchet MS"/>
              </a:defRPr>
            </a:pPr>
            <a:r>
              <a:t>			while (count == 0)</a:t>
            </a:r>
          </a:p>
          <a:p>
            <a:pPr marL="383540" indent="-342900">
              <a:spcBef>
                <a:spcPts val="500"/>
              </a:spcBef>
              <a:defRPr>
                <a:solidFill>
                  <a:srgbClr val="000000"/>
                </a:solidFill>
                <a:uFill>
                  <a:solidFill>
                    <a:srgbClr val="000000"/>
                  </a:solidFill>
                </a:uFill>
                <a:latin typeface="+mn-lt"/>
                <a:ea typeface="+mn-ea"/>
                <a:cs typeface="+mn-cs"/>
                <a:sym typeface="Trebuchet MS"/>
              </a:defRPr>
            </a:pPr>
            <a:r>
              <a:t>				; // do nothing</a:t>
            </a:r>
          </a:p>
          <a:p>
            <a:pPr marL="383540" indent="-342900">
              <a:spcBef>
                <a:spcPts val="500"/>
              </a:spcBef>
              <a:defRPr>
                <a:solidFill>
                  <a:srgbClr val="000000"/>
                </a:solidFill>
                <a:uFill>
                  <a:solidFill>
                    <a:srgbClr val="000000"/>
                  </a:solidFill>
                </a:uFill>
                <a:latin typeface="+mn-lt"/>
                <a:ea typeface="+mn-ea"/>
                <a:cs typeface="+mn-cs"/>
                <a:sym typeface="Trebuchet MS"/>
              </a:defRPr>
            </a:pPr>
            <a:r>
              <a:t>			nextConsumed =  buffer[out];</a:t>
            </a:r>
          </a:p>
          <a:p>
            <a:pPr marL="383540" indent="-342900">
              <a:spcBef>
                <a:spcPts val="500"/>
              </a:spcBef>
              <a:defRPr>
                <a:solidFill>
                  <a:srgbClr val="000000"/>
                </a:solidFill>
                <a:uFill>
                  <a:solidFill>
                    <a:srgbClr val="000000"/>
                  </a:solidFill>
                </a:uFill>
                <a:latin typeface="+mn-lt"/>
                <a:ea typeface="+mn-ea"/>
                <a:cs typeface="+mn-cs"/>
                <a:sym typeface="Trebuchet MS"/>
              </a:defRPr>
            </a:pPr>
            <a:r>
              <a:t>			out = (out + 1) % BUFFER_SIZE;</a:t>
            </a:r>
          </a:p>
          <a:p>
            <a:pPr marL="383540" indent="-342900">
              <a:spcBef>
                <a:spcPts val="500"/>
              </a:spcBef>
              <a:defRPr>
                <a:solidFill>
                  <a:srgbClr val="000000"/>
                </a:solidFill>
                <a:uFill>
                  <a:solidFill>
                    <a:srgbClr val="000000"/>
                  </a:solidFill>
                </a:uFill>
                <a:latin typeface="+mn-lt"/>
                <a:ea typeface="+mn-ea"/>
                <a:cs typeface="+mn-cs"/>
                <a:sym typeface="Trebuchet MS"/>
              </a:defRPr>
            </a:pPr>
            <a:r>
              <a:t>			count--;</a:t>
            </a:r>
          </a:p>
          <a:p>
            <a:pPr marL="383540" indent="-342900">
              <a:spcBef>
                <a:spcPts val="500"/>
              </a:spcBef>
              <a:defRPr>
                <a:solidFill>
                  <a:srgbClr val="000000"/>
                </a:solidFill>
                <a:uFill>
                  <a:solidFill>
                    <a:srgbClr val="000000"/>
                  </a:solidFill>
                </a:uFill>
                <a:latin typeface="+mn-lt"/>
                <a:ea typeface="+mn-ea"/>
                <a:cs typeface="+mn-cs"/>
                <a:sym typeface="Trebuchet MS"/>
              </a:defRPr>
            </a:pPr>
            <a:r>
              <a:t>      }	/*  consume the item in nextConsumed</a:t>
            </a:r>
          </a:p>
          <a:p>
            <a:pPr marL="383540" indent="-342900">
              <a:spcBef>
                <a:spcPts val="500"/>
              </a:spcBef>
              <a:defRPr>
                <a:solidFill>
                  <a:srgbClr val="000000"/>
                </a:solidFill>
                <a:uFill>
                  <a:solidFill>
                    <a:srgbClr val="000000"/>
                  </a:solidFill>
                </a:uFill>
                <a:latin typeface="+mn-lt"/>
                <a:ea typeface="+mn-ea"/>
                <a:cs typeface="+mn-cs"/>
                <a:sym typeface="Trebuchet MS"/>
              </a:defRPr>
            </a:pPr>
            <a:r>
              <a:t>	</a:t>
            </a:r>
          </a:p>
        </p:txBody>
      </p:sp>
      <p:sp>
        <p:nvSpPr>
          <p:cNvPr id="60" name="Consumer:"/>
          <p:cNvSpPr txBox="1"/>
          <p:nvPr/>
        </p:nvSpPr>
        <p:spPr>
          <a:xfrm>
            <a:off x="101600" y="3441700"/>
            <a:ext cx="2425700" cy="838200"/>
          </a:xfrm>
          <a:prstGeom prst="rect">
            <a:avLst/>
          </a:prstGeom>
          <a:ln w="12700">
            <a:miter lim="400000"/>
          </a:ln>
        </p:spPr>
        <p:txBody>
          <a:bodyPr lIns="50800" tIns="50800" rIns="50800" bIns="50800" anchor="ctr"/>
          <a:lstStyle>
            <a:lvl1pPr algn="ctr">
              <a:defRPr sz="3200">
                <a:solidFill>
                  <a:srgbClr val="4180FF"/>
                </a:solidFill>
                <a:uFill>
                  <a:solidFill>
                    <a:srgbClr val="4180FF"/>
                  </a:solidFill>
                </a:uFill>
                <a:latin typeface="+mn-lt"/>
                <a:ea typeface="+mn-ea"/>
                <a:cs typeface="+mn-cs"/>
                <a:sym typeface="Trebuchet MS"/>
              </a:defRPr>
            </a:lvl1pPr>
          </a:lstStyle>
          <a:p>
            <a:r>
              <a:t>Consumer: </a:t>
            </a:r>
          </a:p>
        </p:txBody>
      </p:sp>
      <p:sp>
        <p:nvSpPr>
          <p:cNvPr id="61" name="Shared Variables: count=0, buffer[]"/>
          <p:cNvSpPr txBox="1"/>
          <p:nvPr/>
        </p:nvSpPr>
        <p:spPr>
          <a:xfrm>
            <a:off x="292100" y="-50800"/>
            <a:ext cx="6832600" cy="838200"/>
          </a:xfrm>
          <a:prstGeom prst="rect">
            <a:avLst/>
          </a:prstGeom>
          <a:ln w="12700">
            <a:miter lim="400000"/>
          </a:ln>
        </p:spPr>
        <p:txBody>
          <a:bodyPr lIns="50800" tIns="50800" rIns="50800" bIns="50800" anchor="ctr"/>
          <a:lstStyle>
            <a:lvl1pPr>
              <a:defRPr sz="3200">
                <a:solidFill>
                  <a:srgbClr val="9A244F"/>
                </a:solidFill>
                <a:uFill>
                  <a:solidFill>
                    <a:srgbClr val="9A244F"/>
                  </a:solidFill>
                </a:uFill>
                <a:latin typeface="+mn-lt"/>
                <a:ea typeface="+mn-ea"/>
                <a:cs typeface="+mn-cs"/>
                <a:sym typeface="Trebuchet MS"/>
              </a:defRPr>
            </a:lvl1pPr>
          </a:lstStyle>
          <a:p>
            <a:r>
              <a:t>Shared Variables: count=0, buffer[] </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a:extLst>
            <a:ext uri="{FF2B5EF4-FFF2-40B4-BE49-F238E27FC236}">
              <a16:creationId xmlns:a16="http://schemas.microsoft.com/office/drawing/2014/main" id="{C2A2F43A-5AAC-27ED-091D-8275B3FD2F87}"/>
            </a:ext>
          </a:extLst>
        </p:cNvPr>
        <p:cNvGrpSpPr/>
        <p:nvPr/>
      </p:nvGrpSpPr>
      <p:grpSpPr>
        <a:xfrm>
          <a:off x="0" y="0"/>
          <a:ext cx="0" cy="0"/>
          <a:chOff x="0" y="0"/>
          <a:chExt cx="0" cy="0"/>
        </a:xfrm>
      </p:grpSpPr>
      <p:sp>
        <p:nvSpPr>
          <p:cNvPr id="56" name="Slide Number">
            <a:extLst>
              <a:ext uri="{FF2B5EF4-FFF2-40B4-BE49-F238E27FC236}">
                <a16:creationId xmlns:a16="http://schemas.microsoft.com/office/drawing/2014/main" id="{2A4CBCC8-9FBD-3F7B-741A-8173408D1490}"/>
              </a:ext>
            </a:extLst>
          </p:cNvPr>
          <p:cNvSpPr txBox="1">
            <a:spLocks noGrp="1"/>
          </p:cNvSpPr>
          <p:nvPr>
            <p:ph type="sldNum" sz="quarter" idx="2"/>
          </p:nvPr>
        </p:nvSpPr>
        <p:spPr>
          <a:xfrm>
            <a:off x="7727622" y="6460365"/>
            <a:ext cx="312068" cy="304801"/>
          </a:xfrm>
          <a:prstGeom prst="rect">
            <a:avLst/>
          </a:prstGeom>
        </p:spPr>
        <p:txBody>
          <a:bodyPr/>
          <a:lstStyle/>
          <a:p>
            <a:fld id="{86CB4B4D-7CA3-9044-876B-883B54F8677D}" type="slidenum">
              <a:rPr/>
              <a:t>6</a:t>
            </a:fld>
            <a:endParaRPr/>
          </a:p>
        </p:txBody>
      </p:sp>
      <p:sp>
        <p:nvSpPr>
          <p:cNvPr id="61" name="Shared Variables: count=0, buffer[]">
            <a:extLst>
              <a:ext uri="{FF2B5EF4-FFF2-40B4-BE49-F238E27FC236}">
                <a16:creationId xmlns:a16="http://schemas.microsoft.com/office/drawing/2014/main" id="{D074C671-A0EE-A1CF-FC6B-6BF24D2AA591}"/>
              </a:ext>
            </a:extLst>
          </p:cNvPr>
          <p:cNvSpPr txBox="1"/>
          <p:nvPr/>
        </p:nvSpPr>
        <p:spPr>
          <a:xfrm>
            <a:off x="292100" y="-50800"/>
            <a:ext cx="6832600" cy="838200"/>
          </a:xfrm>
          <a:prstGeom prst="rect">
            <a:avLst/>
          </a:prstGeom>
          <a:ln w="12700">
            <a:miter lim="400000"/>
          </a:ln>
        </p:spPr>
        <p:txBody>
          <a:bodyPr lIns="50800" tIns="50800" rIns="50800" bIns="50800" anchor="ctr"/>
          <a:lstStyle>
            <a:lvl1pPr>
              <a:defRPr sz="3200">
                <a:solidFill>
                  <a:srgbClr val="9A244F"/>
                </a:solidFill>
                <a:uFill>
                  <a:solidFill>
                    <a:srgbClr val="9A244F"/>
                  </a:solidFill>
                </a:uFill>
                <a:latin typeface="+mn-lt"/>
                <a:ea typeface="+mn-ea"/>
                <a:cs typeface="+mn-cs"/>
                <a:sym typeface="Trebuchet MS"/>
              </a:defRPr>
            </a:lvl1pPr>
          </a:lstStyle>
          <a:p>
            <a:r>
              <a:t>Shared Variables: count=0, buffer[] </a:t>
            </a:r>
          </a:p>
        </p:txBody>
      </p:sp>
      <p:pic>
        <p:nvPicPr>
          <p:cNvPr id="5" name="Picture 4" descr="A black text with black text&#10;&#10;AI-generated content may be incorrect.">
            <a:extLst>
              <a:ext uri="{FF2B5EF4-FFF2-40B4-BE49-F238E27FC236}">
                <a16:creationId xmlns:a16="http://schemas.microsoft.com/office/drawing/2014/main" id="{CFFA7E44-C84F-D2C3-3357-AC729A1703C5}"/>
              </a:ext>
            </a:extLst>
          </p:cNvPr>
          <p:cNvPicPr>
            <a:picLocks noChangeAspect="1"/>
          </p:cNvPicPr>
          <p:nvPr/>
        </p:nvPicPr>
        <p:blipFill>
          <a:blip r:embed="rId2"/>
          <a:stretch>
            <a:fillRect/>
          </a:stretch>
        </p:blipFill>
        <p:spPr>
          <a:xfrm>
            <a:off x="147683" y="901115"/>
            <a:ext cx="3678326" cy="1692421"/>
          </a:xfrm>
          <a:prstGeom prst="rect">
            <a:avLst/>
          </a:prstGeom>
        </p:spPr>
      </p:pic>
      <p:pic>
        <p:nvPicPr>
          <p:cNvPr id="7" name="Picture 6" descr="A computer code with black text&#10;&#10;AI-generated content may be incorrect.">
            <a:extLst>
              <a:ext uri="{FF2B5EF4-FFF2-40B4-BE49-F238E27FC236}">
                <a16:creationId xmlns:a16="http://schemas.microsoft.com/office/drawing/2014/main" id="{C79FAEC9-5F61-F967-C2CA-EAA0B74F7EEB}"/>
              </a:ext>
            </a:extLst>
          </p:cNvPr>
          <p:cNvPicPr>
            <a:picLocks noChangeAspect="1"/>
          </p:cNvPicPr>
          <p:nvPr/>
        </p:nvPicPr>
        <p:blipFill>
          <a:blip r:embed="rId3"/>
          <a:stretch>
            <a:fillRect/>
          </a:stretch>
        </p:blipFill>
        <p:spPr>
          <a:xfrm>
            <a:off x="147683" y="4767944"/>
            <a:ext cx="3553148" cy="1692421"/>
          </a:xfrm>
          <a:prstGeom prst="rect">
            <a:avLst/>
          </a:prstGeom>
        </p:spPr>
      </p:pic>
      <p:sp>
        <p:nvSpPr>
          <p:cNvPr id="12" name="Rectangle 11">
            <a:extLst>
              <a:ext uri="{FF2B5EF4-FFF2-40B4-BE49-F238E27FC236}">
                <a16:creationId xmlns:a16="http://schemas.microsoft.com/office/drawing/2014/main" id="{347BC71A-C696-D826-192C-A0EEA1FFF560}"/>
              </a:ext>
            </a:extLst>
          </p:cNvPr>
          <p:cNvSpPr/>
          <p:nvPr/>
        </p:nvSpPr>
        <p:spPr>
          <a:xfrm>
            <a:off x="4101737"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3" name="Rectangle 12">
            <a:extLst>
              <a:ext uri="{FF2B5EF4-FFF2-40B4-BE49-F238E27FC236}">
                <a16:creationId xmlns:a16="http://schemas.microsoft.com/office/drawing/2014/main" id="{5A94AF5E-C4C5-CC09-809B-589C98E9FBAA}"/>
              </a:ext>
            </a:extLst>
          </p:cNvPr>
          <p:cNvSpPr/>
          <p:nvPr/>
        </p:nvSpPr>
        <p:spPr>
          <a:xfrm>
            <a:off x="4572000"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4" name="Rectangle 13">
            <a:extLst>
              <a:ext uri="{FF2B5EF4-FFF2-40B4-BE49-F238E27FC236}">
                <a16:creationId xmlns:a16="http://schemas.microsoft.com/office/drawing/2014/main" id="{9E254E41-0E29-4DB1-FF1B-A2654289778A}"/>
              </a:ext>
            </a:extLst>
          </p:cNvPr>
          <p:cNvSpPr/>
          <p:nvPr/>
        </p:nvSpPr>
        <p:spPr>
          <a:xfrm>
            <a:off x="5042263"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5" name="Rectangle 14">
            <a:extLst>
              <a:ext uri="{FF2B5EF4-FFF2-40B4-BE49-F238E27FC236}">
                <a16:creationId xmlns:a16="http://schemas.microsoft.com/office/drawing/2014/main" id="{5D39A6FA-7320-1463-0431-B72D5DDD1D9E}"/>
              </a:ext>
            </a:extLst>
          </p:cNvPr>
          <p:cNvSpPr/>
          <p:nvPr/>
        </p:nvSpPr>
        <p:spPr>
          <a:xfrm>
            <a:off x="5512526"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6" name="Rectangle 15">
            <a:extLst>
              <a:ext uri="{FF2B5EF4-FFF2-40B4-BE49-F238E27FC236}">
                <a16:creationId xmlns:a16="http://schemas.microsoft.com/office/drawing/2014/main" id="{A3D141DC-DCFA-0B1B-E41F-38772F93E0D0}"/>
              </a:ext>
            </a:extLst>
          </p:cNvPr>
          <p:cNvSpPr/>
          <p:nvPr/>
        </p:nvSpPr>
        <p:spPr>
          <a:xfrm>
            <a:off x="5982789" y="2830286"/>
            <a:ext cx="470263" cy="426720"/>
          </a:xfrm>
          <a:prstGeom prst="rect">
            <a:avLst/>
          </a:prstGeom>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a:ln>
                <a:noFill/>
              </a:ln>
              <a:solidFill>
                <a:srgbClr val="727272"/>
              </a:solidFill>
              <a:effectLst/>
              <a:uFill>
                <a:solidFill>
                  <a:srgbClr val="727272"/>
                </a:solidFill>
              </a:uFill>
              <a:latin typeface="Arial"/>
              <a:ea typeface="Arial"/>
              <a:cs typeface="Arial"/>
              <a:sym typeface="Arial"/>
            </a:endParaRPr>
          </a:p>
        </p:txBody>
      </p:sp>
      <p:sp>
        <p:nvSpPr>
          <p:cNvPr id="18" name="Rectangle 17">
            <a:extLst>
              <a:ext uri="{FF2B5EF4-FFF2-40B4-BE49-F238E27FC236}">
                <a16:creationId xmlns:a16="http://schemas.microsoft.com/office/drawing/2014/main" id="{C6C962AC-EE04-3AB3-3BD0-C0EC84DD4AA7}"/>
              </a:ext>
            </a:extLst>
          </p:cNvPr>
          <p:cNvSpPr/>
          <p:nvPr/>
        </p:nvSpPr>
        <p:spPr>
          <a:xfrm>
            <a:off x="4426905" y="1161576"/>
            <a:ext cx="470263" cy="379591"/>
          </a:xfrm>
          <a:prstGeom prst="rect">
            <a:avLst/>
          </a:prstGeom>
          <a:gradFill flip="none" rotWithShape="1">
            <a:gsLst>
              <a:gs pos="100000">
                <a:schemeClr val="bg2">
                  <a:lumMod val="10000"/>
                </a:schemeClr>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1</a:t>
            </a:r>
            <a:r>
              <a:rPr kumimoji="0" 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uFill>
                  <a:solidFill>
                    <a:srgbClr val="727272"/>
                  </a:solidFill>
                </a:uFill>
                <a:latin typeface="Arial"/>
                <a:ea typeface="Arial"/>
                <a:cs typeface="Arial"/>
                <a:sym typeface="Arial"/>
              </a:rPr>
              <a:t>1</a:t>
            </a:r>
          </a:p>
        </p:txBody>
      </p:sp>
      <p:sp>
        <p:nvSpPr>
          <p:cNvPr id="2" name="Rectangle 1">
            <a:extLst>
              <a:ext uri="{FF2B5EF4-FFF2-40B4-BE49-F238E27FC236}">
                <a16:creationId xmlns:a16="http://schemas.microsoft.com/office/drawing/2014/main" id="{01843B2C-F179-9E43-7CE6-DDA3E180153B}"/>
              </a:ext>
            </a:extLst>
          </p:cNvPr>
          <p:cNvSpPr/>
          <p:nvPr/>
        </p:nvSpPr>
        <p:spPr>
          <a:xfrm>
            <a:off x="3826009" y="1187138"/>
            <a:ext cx="470263" cy="379591"/>
          </a:xfrm>
          <a:prstGeom prst="rect">
            <a:avLst/>
          </a:prstGeom>
          <a:gradFill flip="none" rotWithShape="1">
            <a:gsLst>
              <a:gs pos="100000">
                <a:schemeClr val="bg2">
                  <a:lumMod val="10000"/>
                </a:schemeClr>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uFill>
                  <a:solidFill>
                    <a:srgbClr val="727272"/>
                  </a:solidFill>
                </a:uFill>
                <a:latin typeface="Arial"/>
                <a:ea typeface="Arial"/>
                <a:cs typeface="Arial"/>
                <a:sym typeface="Arial"/>
              </a:rPr>
              <a:t>10</a:t>
            </a:r>
          </a:p>
        </p:txBody>
      </p:sp>
      <p:sp>
        <p:nvSpPr>
          <p:cNvPr id="3" name="Rectangle 2">
            <a:extLst>
              <a:ext uri="{FF2B5EF4-FFF2-40B4-BE49-F238E27FC236}">
                <a16:creationId xmlns:a16="http://schemas.microsoft.com/office/drawing/2014/main" id="{3C3E4618-40E5-5C7C-1DA9-358FE36065F3}"/>
              </a:ext>
            </a:extLst>
          </p:cNvPr>
          <p:cNvSpPr/>
          <p:nvPr/>
        </p:nvSpPr>
        <p:spPr>
          <a:xfrm>
            <a:off x="4786686" y="3479244"/>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0</a:t>
            </a:r>
          </a:p>
        </p:txBody>
      </p:sp>
      <p:sp>
        <p:nvSpPr>
          <p:cNvPr id="4" name="TextBox 3">
            <a:extLst>
              <a:ext uri="{FF2B5EF4-FFF2-40B4-BE49-F238E27FC236}">
                <a16:creationId xmlns:a16="http://schemas.microsoft.com/office/drawing/2014/main" id="{18B9D3D8-C056-6606-D63B-7C7AD798584D}"/>
              </a:ext>
            </a:extLst>
          </p:cNvPr>
          <p:cNvSpPr txBox="1"/>
          <p:nvPr/>
        </p:nvSpPr>
        <p:spPr>
          <a:xfrm>
            <a:off x="3975461" y="3443519"/>
            <a:ext cx="831670" cy="379591"/>
          </a:xfrm>
          <a:prstGeom prst="rect">
            <a:avLst/>
          </a:prstGeom>
          <a:noFill/>
          <a:ln w="12700" cap="flat">
            <a:noFill/>
            <a:miter lim="400000"/>
          </a:ln>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0" i="0" u="none" strike="noStrike" cap="none" spc="0" normalizeH="0" baseline="0" dirty="0">
                <a:ln>
                  <a:noFill/>
                </a:ln>
                <a:solidFill>
                  <a:srgbClr val="727272"/>
                </a:solidFill>
                <a:effectLst/>
                <a:uFill>
                  <a:solidFill>
                    <a:srgbClr val="727272"/>
                  </a:solidFill>
                </a:uFill>
                <a:latin typeface="Arial"/>
                <a:ea typeface="Arial"/>
                <a:cs typeface="Arial"/>
                <a:sym typeface="Arial"/>
              </a:rPr>
              <a:t>Count</a:t>
            </a:r>
          </a:p>
        </p:txBody>
      </p:sp>
      <p:pic>
        <p:nvPicPr>
          <p:cNvPr id="21" name="Picture 20" descr="A close-up of a sign&#10;&#10;AI-generated content may be incorrect.">
            <a:extLst>
              <a:ext uri="{FF2B5EF4-FFF2-40B4-BE49-F238E27FC236}">
                <a16:creationId xmlns:a16="http://schemas.microsoft.com/office/drawing/2014/main" id="{3541F1A6-4C9A-27E6-130D-326F55FB8B5A}"/>
              </a:ext>
            </a:extLst>
          </p:cNvPr>
          <p:cNvPicPr>
            <a:picLocks noChangeAspect="1"/>
          </p:cNvPicPr>
          <p:nvPr/>
        </p:nvPicPr>
        <p:blipFill>
          <a:blip r:embed="rId4"/>
          <a:stretch>
            <a:fillRect/>
          </a:stretch>
        </p:blipFill>
        <p:spPr>
          <a:xfrm>
            <a:off x="2137590" y="2090056"/>
            <a:ext cx="1819662" cy="617195"/>
          </a:xfrm>
          <a:prstGeom prst="rect">
            <a:avLst/>
          </a:prstGeom>
        </p:spPr>
      </p:pic>
      <p:pic>
        <p:nvPicPr>
          <p:cNvPr id="23" name="Picture 22" descr="A blue text with blue letters&#10;&#10;AI-generated content may be incorrect.">
            <a:extLst>
              <a:ext uri="{FF2B5EF4-FFF2-40B4-BE49-F238E27FC236}">
                <a16:creationId xmlns:a16="http://schemas.microsoft.com/office/drawing/2014/main" id="{9E4E7002-96E6-E5C1-CC89-AFAD0864E578}"/>
              </a:ext>
            </a:extLst>
          </p:cNvPr>
          <p:cNvPicPr>
            <a:picLocks noChangeAspect="1"/>
          </p:cNvPicPr>
          <p:nvPr/>
        </p:nvPicPr>
        <p:blipFill>
          <a:blip r:embed="rId5"/>
          <a:stretch>
            <a:fillRect/>
          </a:stretch>
        </p:blipFill>
        <p:spPr>
          <a:xfrm>
            <a:off x="3156856" y="6109810"/>
            <a:ext cx="2002971" cy="603305"/>
          </a:xfrm>
          <a:prstGeom prst="rect">
            <a:avLst/>
          </a:prstGeom>
        </p:spPr>
      </p:pic>
      <p:sp>
        <p:nvSpPr>
          <p:cNvPr id="25" name="TextBox 24">
            <a:extLst>
              <a:ext uri="{FF2B5EF4-FFF2-40B4-BE49-F238E27FC236}">
                <a16:creationId xmlns:a16="http://schemas.microsoft.com/office/drawing/2014/main" id="{321C66A1-52C5-7B79-C529-498EFA65F232}"/>
              </a:ext>
            </a:extLst>
          </p:cNvPr>
          <p:cNvSpPr txBox="1"/>
          <p:nvPr/>
        </p:nvSpPr>
        <p:spPr>
          <a:xfrm>
            <a:off x="6536665" y="3427975"/>
            <a:ext cx="1190957" cy="379591"/>
          </a:xfrm>
          <a:prstGeom prst="rect">
            <a:avLst/>
          </a:prstGeom>
          <a:noFill/>
          <a:ln w="12700" cap="flat">
            <a:noFill/>
            <a:miter lim="400000"/>
          </a:ln>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0" i="0" u="none" strike="noStrike" cap="none" spc="0" normalizeH="0" baseline="0" dirty="0">
                <a:ln>
                  <a:noFill/>
                </a:ln>
                <a:solidFill>
                  <a:srgbClr val="727272"/>
                </a:solidFill>
                <a:effectLst/>
                <a:uFill>
                  <a:solidFill>
                    <a:srgbClr val="727272"/>
                  </a:solidFill>
                </a:uFill>
                <a:latin typeface="Arial"/>
                <a:ea typeface="Arial"/>
                <a:cs typeface="Arial"/>
                <a:sym typeface="Arial"/>
              </a:rPr>
              <a:t>Register</a:t>
            </a:r>
          </a:p>
        </p:txBody>
      </p:sp>
      <p:sp>
        <p:nvSpPr>
          <p:cNvPr id="27" name="Rectangle 26">
            <a:extLst>
              <a:ext uri="{FF2B5EF4-FFF2-40B4-BE49-F238E27FC236}">
                <a16:creationId xmlns:a16="http://schemas.microsoft.com/office/drawing/2014/main" id="{ABFE68FF-7B49-A303-F9EB-E364D69B182E}"/>
              </a:ext>
            </a:extLst>
          </p:cNvPr>
          <p:cNvSpPr/>
          <p:nvPr/>
        </p:nvSpPr>
        <p:spPr>
          <a:xfrm>
            <a:off x="7686992" y="3427974"/>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28" name="Rectangle 27">
            <a:extLst>
              <a:ext uri="{FF2B5EF4-FFF2-40B4-BE49-F238E27FC236}">
                <a16:creationId xmlns:a16="http://schemas.microsoft.com/office/drawing/2014/main" id="{D14B67C2-98F4-E202-CAAF-122966BD3D2F}"/>
              </a:ext>
            </a:extLst>
          </p:cNvPr>
          <p:cNvSpPr/>
          <p:nvPr/>
        </p:nvSpPr>
        <p:spPr>
          <a:xfrm>
            <a:off x="7686732" y="3434217"/>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solidFill>
                  <a:srgbClr val="FF0000"/>
                </a:solidFill>
              </a:rPr>
              <a:t>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29" name="Rectangle 28">
            <a:extLst>
              <a:ext uri="{FF2B5EF4-FFF2-40B4-BE49-F238E27FC236}">
                <a16:creationId xmlns:a16="http://schemas.microsoft.com/office/drawing/2014/main" id="{DCAEAA0F-CA30-49C4-755A-38EFC98C5469}"/>
              </a:ext>
            </a:extLst>
          </p:cNvPr>
          <p:cNvSpPr/>
          <p:nvPr/>
        </p:nvSpPr>
        <p:spPr>
          <a:xfrm>
            <a:off x="4792719" y="346757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0</a:t>
            </a:r>
          </a:p>
        </p:txBody>
      </p:sp>
      <p:sp>
        <p:nvSpPr>
          <p:cNvPr id="30" name="Rectangle 29">
            <a:extLst>
              <a:ext uri="{FF2B5EF4-FFF2-40B4-BE49-F238E27FC236}">
                <a16:creationId xmlns:a16="http://schemas.microsoft.com/office/drawing/2014/main" id="{490AEFE5-C5CC-34FE-CCB0-C8FBB05D0C28}"/>
              </a:ext>
            </a:extLst>
          </p:cNvPr>
          <p:cNvSpPr/>
          <p:nvPr/>
        </p:nvSpPr>
        <p:spPr>
          <a:xfrm>
            <a:off x="7680699" y="3437386"/>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solidFill>
                  <a:srgbClr val="FF0000"/>
                </a:solidFill>
              </a:rPr>
              <a:t>0+1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pic>
        <p:nvPicPr>
          <p:cNvPr id="33" name="Picture 32">
            <a:extLst>
              <a:ext uri="{FF2B5EF4-FFF2-40B4-BE49-F238E27FC236}">
                <a16:creationId xmlns:a16="http://schemas.microsoft.com/office/drawing/2014/main" id="{DDE250C5-87E0-EC46-7C0F-7AF2223947F0}"/>
              </a:ext>
            </a:extLst>
          </p:cNvPr>
          <p:cNvPicPr>
            <a:picLocks noChangeAspect="1"/>
          </p:cNvPicPr>
          <p:nvPr/>
        </p:nvPicPr>
        <p:blipFill>
          <a:blip r:embed="rId6"/>
          <a:stretch>
            <a:fillRect/>
          </a:stretch>
        </p:blipFill>
        <p:spPr>
          <a:xfrm>
            <a:off x="1919293" y="2066775"/>
            <a:ext cx="228600" cy="241300"/>
          </a:xfrm>
          <a:prstGeom prst="rect">
            <a:avLst/>
          </a:prstGeom>
        </p:spPr>
      </p:pic>
      <p:pic>
        <p:nvPicPr>
          <p:cNvPr id="34" name="Picture 33">
            <a:extLst>
              <a:ext uri="{FF2B5EF4-FFF2-40B4-BE49-F238E27FC236}">
                <a16:creationId xmlns:a16="http://schemas.microsoft.com/office/drawing/2014/main" id="{5E61B2B1-4D1F-13E8-02FF-EF438C143C21}"/>
              </a:ext>
            </a:extLst>
          </p:cNvPr>
          <p:cNvPicPr>
            <a:picLocks noChangeAspect="1"/>
          </p:cNvPicPr>
          <p:nvPr/>
        </p:nvPicPr>
        <p:blipFill>
          <a:blip r:embed="rId6"/>
          <a:stretch>
            <a:fillRect/>
          </a:stretch>
        </p:blipFill>
        <p:spPr>
          <a:xfrm>
            <a:off x="1009106" y="1703857"/>
            <a:ext cx="228600" cy="241300"/>
          </a:xfrm>
          <a:prstGeom prst="rect">
            <a:avLst/>
          </a:prstGeom>
        </p:spPr>
      </p:pic>
      <p:pic>
        <p:nvPicPr>
          <p:cNvPr id="35" name="Picture 34">
            <a:extLst>
              <a:ext uri="{FF2B5EF4-FFF2-40B4-BE49-F238E27FC236}">
                <a16:creationId xmlns:a16="http://schemas.microsoft.com/office/drawing/2014/main" id="{CF3310E4-CDB6-6AA0-C3DF-04E117367A02}"/>
              </a:ext>
            </a:extLst>
          </p:cNvPr>
          <p:cNvPicPr>
            <a:picLocks noChangeAspect="1"/>
          </p:cNvPicPr>
          <p:nvPr/>
        </p:nvPicPr>
        <p:blipFill>
          <a:blip r:embed="rId6"/>
          <a:stretch>
            <a:fillRect/>
          </a:stretch>
        </p:blipFill>
        <p:spPr>
          <a:xfrm>
            <a:off x="1923789" y="2251377"/>
            <a:ext cx="228600" cy="241300"/>
          </a:xfrm>
          <a:prstGeom prst="rect">
            <a:avLst/>
          </a:prstGeom>
        </p:spPr>
      </p:pic>
      <p:pic>
        <p:nvPicPr>
          <p:cNvPr id="36" name="Picture 35">
            <a:extLst>
              <a:ext uri="{FF2B5EF4-FFF2-40B4-BE49-F238E27FC236}">
                <a16:creationId xmlns:a16="http://schemas.microsoft.com/office/drawing/2014/main" id="{A96DDD79-811D-4910-F6B5-471611B9919F}"/>
              </a:ext>
            </a:extLst>
          </p:cNvPr>
          <p:cNvPicPr>
            <a:picLocks noChangeAspect="1"/>
          </p:cNvPicPr>
          <p:nvPr/>
        </p:nvPicPr>
        <p:blipFill>
          <a:blip r:embed="rId6"/>
          <a:stretch>
            <a:fillRect/>
          </a:stretch>
        </p:blipFill>
        <p:spPr>
          <a:xfrm>
            <a:off x="1928285" y="2439006"/>
            <a:ext cx="228600" cy="241300"/>
          </a:xfrm>
          <a:prstGeom prst="rect">
            <a:avLst/>
          </a:prstGeom>
        </p:spPr>
      </p:pic>
      <p:pic>
        <p:nvPicPr>
          <p:cNvPr id="37" name="Picture 36">
            <a:extLst>
              <a:ext uri="{FF2B5EF4-FFF2-40B4-BE49-F238E27FC236}">
                <a16:creationId xmlns:a16="http://schemas.microsoft.com/office/drawing/2014/main" id="{585E5ACE-CD61-3866-E073-3D5ED2643635}"/>
              </a:ext>
            </a:extLst>
          </p:cNvPr>
          <p:cNvPicPr>
            <a:picLocks noChangeAspect="1"/>
          </p:cNvPicPr>
          <p:nvPr/>
        </p:nvPicPr>
        <p:blipFill>
          <a:blip r:embed="rId6"/>
          <a:stretch>
            <a:fillRect/>
          </a:stretch>
        </p:blipFill>
        <p:spPr>
          <a:xfrm>
            <a:off x="980140" y="5493504"/>
            <a:ext cx="228600" cy="241300"/>
          </a:xfrm>
          <a:prstGeom prst="rect">
            <a:avLst/>
          </a:prstGeom>
        </p:spPr>
      </p:pic>
      <p:pic>
        <p:nvPicPr>
          <p:cNvPr id="38" name="Picture 37">
            <a:extLst>
              <a:ext uri="{FF2B5EF4-FFF2-40B4-BE49-F238E27FC236}">
                <a16:creationId xmlns:a16="http://schemas.microsoft.com/office/drawing/2014/main" id="{CE9AB35E-7B40-9F52-A8FA-DE4CAE28BB52}"/>
              </a:ext>
            </a:extLst>
          </p:cNvPr>
          <p:cNvPicPr>
            <a:picLocks noChangeAspect="1"/>
          </p:cNvPicPr>
          <p:nvPr/>
        </p:nvPicPr>
        <p:blipFill>
          <a:blip r:embed="rId6"/>
          <a:stretch>
            <a:fillRect/>
          </a:stretch>
        </p:blipFill>
        <p:spPr>
          <a:xfrm>
            <a:off x="2935213" y="6096957"/>
            <a:ext cx="228600" cy="241300"/>
          </a:xfrm>
          <a:prstGeom prst="rect">
            <a:avLst/>
          </a:prstGeom>
        </p:spPr>
      </p:pic>
      <p:pic>
        <p:nvPicPr>
          <p:cNvPr id="39" name="Picture 38">
            <a:extLst>
              <a:ext uri="{FF2B5EF4-FFF2-40B4-BE49-F238E27FC236}">
                <a16:creationId xmlns:a16="http://schemas.microsoft.com/office/drawing/2014/main" id="{F6E23323-D248-E9E3-A033-BEE7DBA73ECF}"/>
              </a:ext>
            </a:extLst>
          </p:cNvPr>
          <p:cNvPicPr>
            <a:picLocks noChangeAspect="1"/>
          </p:cNvPicPr>
          <p:nvPr/>
        </p:nvPicPr>
        <p:blipFill>
          <a:blip r:embed="rId6"/>
          <a:stretch>
            <a:fillRect/>
          </a:stretch>
        </p:blipFill>
        <p:spPr>
          <a:xfrm>
            <a:off x="2935213" y="6290812"/>
            <a:ext cx="228600" cy="241300"/>
          </a:xfrm>
          <a:prstGeom prst="rect">
            <a:avLst/>
          </a:prstGeom>
        </p:spPr>
      </p:pic>
      <p:sp>
        <p:nvSpPr>
          <p:cNvPr id="42" name="Rectangle 41">
            <a:extLst>
              <a:ext uri="{FF2B5EF4-FFF2-40B4-BE49-F238E27FC236}">
                <a16:creationId xmlns:a16="http://schemas.microsoft.com/office/drawing/2014/main" id="{7A5B248E-3C23-F6FC-3CB9-D232E356EF40}"/>
              </a:ext>
            </a:extLst>
          </p:cNvPr>
          <p:cNvSpPr/>
          <p:nvPr/>
        </p:nvSpPr>
        <p:spPr>
          <a:xfrm>
            <a:off x="4795735" y="345867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solidFill>
                  <a:srgbClr val="FF0000"/>
                </a:solidFill>
              </a:rPr>
              <a:t>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44" name="Rectangle 43">
            <a:extLst>
              <a:ext uri="{FF2B5EF4-FFF2-40B4-BE49-F238E27FC236}">
                <a16:creationId xmlns:a16="http://schemas.microsoft.com/office/drawing/2014/main" id="{B72D32A1-D1E9-7F10-F40B-9D5C2959C941}"/>
              </a:ext>
            </a:extLst>
          </p:cNvPr>
          <p:cNvSpPr/>
          <p:nvPr/>
        </p:nvSpPr>
        <p:spPr>
          <a:xfrm>
            <a:off x="7674406" y="344351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solidFill>
                  <a:srgbClr val="FF0000"/>
                </a:solidFill>
              </a:rPr>
              <a:t>1 + 1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45" name="Rectangle 44">
            <a:extLst>
              <a:ext uri="{FF2B5EF4-FFF2-40B4-BE49-F238E27FC236}">
                <a16:creationId xmlns:a16="http://schemas.microsoft.com/office/drawing/2014/main" id="{A46AE058-6158-370C-B13D-EEC247FB8F0D}"/>
              </a:ext>
            </a:extLst>
          </p:cNvPr>
          <p:cNvSpPr/>
          <p:nvPr/>
        </p:nvSpPr>
        <p:spPr>
          <a:xfrm>
            <a:off x="7654360" y="3426317"/>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47" name="Rectangle 46">
            <a:extLst>
              <a:ext uri="{FF2B5EF4-FFF2-40B4-BE49-F238E27FC236}">
                <a16:creationId xmlns:a16="http://schemas.microsoft.com/office/drawing/2014/main" id="{40CCE40C-7DDC-8285-8B4A-F13D5E8A611A}"/>
              </a:ext>
            </a:extLst>
          </p:cNvPr>
          <p:cNvSpPr/>
          <p:nvPr/>
        </p:nvSpPr>
        <p:spPr>
          <a:xfrm>
            <a:off x="4800834" y="3499810"/>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48" name="Rectangle 47">
            <a:extLst>
              <a:ext uri="{FF2B5EF4-FFF2-40B4-BE49-F238E27FC236}">
                <a16:creationId xmlns:a16="http://schemas.microsoft.com/office/drawing/2014/main" id="{8F619DD3-7511-70D1-23CF-8250E0B0BEBC}"/>
              </a:ext>
            </a:extLst>
          </p:cNvPr>
          <p:cNvSpPr/>
          <p:nvPr/>
        </p:nvSpPr>
        <p:spPr>
          <a:xfrm>
            <a:off x="7727622" y="3434106"/>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solidFill>
                  <a:srgbClr val="FF0000"/>
                </a:solidFill>
              </a:rPr>
              <a:t>1 - 1 </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49" name="Rectangle 48">
            <a:extLst>
              <a:ext uri="{FF2B5EF4-FFF2-40B4-BE49-F238E27FC236}">
                <a16:creationId xmlns:a16="http://schemas.microsoft.com/office/drawing/2014/main" id="{F9EE51CD-53F4-3FC8-4EBC-BCD6227CFD51}"/>
              </a:ext>
            </a:extLst>
          </p:cNvPr>
          <p:cNvSpPr/>
          <p:nvPr/>
        </p:nvSpPr>
        <p:spPr>
          <a:xfrm>
            <a:off x="7768252" y="3493456"/>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solidFill>
                  <a:srgbClr val="FF0000"/>
                </a:solidFill>
              </a:rPr>
              <a:t>1</a:t>
            </a:r>
            <a:endPar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endParaRPr>
          </a:p>
        </p:txBody>
      </p:sp>
      <p:sp>
        <p:nvSpPr>
          <p:cNvPr id="50" name="Rectangle 49">
            <a:extLst>
              <a:ext uri="{FF2B5EF4-FFF2-40B4-BE49-F238E27FC236}">
                <a16:creationId xmlns:a16="http://schemas.microsoft.com/office/drawing/2014/main" id="{6B9F5B8A-ABD9-B307-652C-3F1E5720F644}"/>
              </a:ext>
            </a:extLst>
          </p:cNvPr>
          <p:cNvSpPr/>
          <p:nvPr/>
        </p:nvSpPr>
        <p:spPr>
          <a:xfrm>
            <a:off x="5159827" y="1175521"/>
            <a:ext cx="470263" cy="379591"/>
          </a:xfrm>
          <a:prstGeom prst="rect">
            <a:avLst/>
          </a:prstGeom>
          <a:gradFill flip="none" rotWithShape="1">
            <a:gsLst>
              <a:gs pos="100000">
                <a:schemeClr val="bg2">
                  <a:lumMod val="10000"/>
                </a:schemeClr>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lang="en-US"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12</a:t>
            </a:r>
            <a:endParaRPr kumimoji="0" lang="en-US" sz="1800" b="1" i="0" u="none" strike="noStrike" normalizeH="0" baseline="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uFill>
                <a:solidFill>
                  <a:srgbClr val="727272"/>
                </a:solidFill>
              </a:uFill>
              <a:latin typeface="Arial"/>
              <a:ea typeface="Arial"/>
              <a:cs typeface="Arial"/>
              <a:sym typeface="Arial"/>
            </a:endParaRPr>
          </a:p>
        </p:txBody>
      </p:sp>
      <p:sp>
        <p:nvSpPr>
          <p:cNvPr id="52" name="Rectangle 51">
            <a:extLst>
              <a:ext uri="{FF2B5EF4-FFF2-40B4-BE49-F238E27FC236}">
                <a16:creationId xmlns:a16="http://schemas.microsoft.com/office/drawing/2014/main" id="{6B61DD85-D9BB-C4CD-F243-84AD4E75A180}"/>
              </a:ext>
            </a:extLst>
          </p:cNvPr>
          <p:cNvSpPr/>
          <p:nvPr/>
        </p:nvSpPr>
        <p:spPr>
          <a:xfrm>
            <a:off x="7713331" y="3493558"/>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46" name="Rectangle 45">
            <a:extLst>
              <a:ext uri="{FF2B5EF4-FFF2-40B4-BE49-F238E27FC236}">
                <a16:creationId xmlns:a16="http://schemas.microsoft.com/office/drawing/2014/main" id="{0CD1BD26-3892-8136-5B57-FD92A958E1C9}"/>
              </a:ext>
            </a:extLst>
          </p:cNvPr>
          <p:cNvSpPr/>
          <p:nvPr/>
        </p:nvSpPr>
        <p:spPr>
          <a:xfrm>
            <a:off x="4815781" y="3525231"/>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a:t>
            </a:r>
          </a:p>
        </p:txBody>
      </p:sp>
      <p:sp>
        <p:nvSpPr>
          <p:cNvPr id="53" name="Rectangle 52">
            <a:extLst>
              <a:ext uri="{FF2B5EF4-FFF2-40B4-BE49-F238E27FC236}">
                <a16:creationId xmlns:a16="http://schemas.microsoft.com/office/drawing/2014/main" id="{DDC70801-3524-B23F-43DE-69679235E3A3}"/>
              </a:ext>
            </a:extLst>
          </p:cNvPr>
          <p:cNvSpPr/>
          <p:nvPr/>
        </p:nvSpPr>
        <p:spPr>
          <a:xfrm>
            <a:off x="7708516" y="3525231"/>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2+1</a:t>
            </a:r>
          </a:p>
        </p:txBody>
      </p:sp>
      <p:sp>
        <p:nvSpPr>
          <p:cNvPr id="54" name="Rectangle 53">
            <a:extLst>
              <a:ext uri="{FF2B5EF4-FFF2-40B4-BE49-F238E27FC236}">
                <a16:creationId xmlns:a16="http://schemas.microsoft.com/office/drawing/2014/main" id="{EAF2623C-E0F5-A4BD-A2EF-8C46C33AEF83}"/>
              </a:ext>
            </a:extLst>
          </p:cNvPr>
          <p:cNvSpPr/>
          <p:nvPr/>
        </p:nvSpPr>
        <p:spPr>
          <a:xfrm>
            <a:off x="7713000" y="3561204"/>
            <a:ext cx="705395" cy="379591"/>
          </a:xfrm>
          <a:prstGeom prst="rect">
            <a:avLst/>
          </a:prstGeom>
          <a:solidFill>
            <a:schemeClr val="accent2"/>
          </a:solidFill>
          <a:ln w="12700" cap="flat">
            <a:solidFill>
              <a:srgbClr val="000000"/>
            </a:solidFill>
            <a:prstDash val="solid"/>
            <a:round/>
          </a:ln>
          <a:effectLst>
            <a:outerShdw blurRad="63500" dist="101600" dir="2700000" rotWithShape="0">
              <a:srgbClr val="929292"/>
            </a:outerShdw>
          </a:effectLst>
          <a:sp3d/>
        </p:spPr>
        <p:style>
          <a:lnRef idx="0">
            <a:srgbClr val="000000"/>
          </a:lnRef>
          <a:fillRef idx="0">
            <a:srgbClr val="000000"/>
          </a:fillRef>
          <a:effectRef idx="0">
            <a:srgbClr val="000000"/>
          </a:effectRef>
          <a:fontRef idx="none"/>
        </p:style>
        <p:txBody>
          <a:bodyPr rot="0" spcFirstLastPara="1" vertOverflow="overflow" horzOverflow="overflow" vert="horz" wrap="square" lIns="50800" tIns="50800" rIns="50800" bIns="50800" numCol="1" spcCol="38100" rtlCol="0" anchor="ctr">
            <a:spAutoFit/>
          </a:bodyPr>
          <a:lstStyle/>
          <a:p>
            <a:pPr marL="40639" marR="40639" indent="0" algn="l" defTabSz="914400" rtl="0" fontAlgn="auto" latinLnBrk="0" hangingPunct="0">
              <a:lnSpc>
                <a:spcPct val="100000"/>
              </a:lnSpc>
              <a:spcBef>
                <a:spcPts val="0"/>
              </a:spcBef>
              <a:spcAft>
                <a:spcPts val="0"/>
              </a:spcAft>
              <a:buClrTx/>
              <a:buSzTx/>
              <a:buFontTx/>
              <a:buNone/>
            </a:pPr>
            <a:r>
              <a:rPr kumimoji="0" lang="en-US" sz="1800" b="1" i="0" u="none" strike="noStrike" normalizeH="0" baseline="0" dirty="0">
                <a:ln w="12700" cmpd="sng">
                  <a:solidFill>
                    <a:schemeClr val="accent4"/>
                  </a:solidFill>
                  <a:prstDash val="solid"/>
                </a:ln>
                <a:solidFill>
                  <a:srgbClr val="FF0000"/>
                </a:solidFill>
                <a:uFill>
                  <a:solidFill>
                    <a:srgbClr val="727272"/>
                  </a:solidFill>
                </a:uFill>
                <a:latin typeface="Arial"/>
                <a:ea typeface="Arial"/>
                <a:cs typeface="Arial"/>
                <a:sym typeface="Arial"/>
              </a:rPr>
              <a:t>3</a:t>
            </a:r>
          </a:p>
        </p:txBody>
      </p:sp>
    </p:spTree>
    <p:extLst>
      <p:ext uri="{BB962C8B-B14F-4D97-AF65-F5344CB8AC3E}">
        <p14:creationId xmlns:p14="http://schemas.microsoft.com/office/powerpoint/2010/main" val="4180343886"/>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1" nodeType="clickEffect">
                                  <p:stCondLst>
                                    <p:cond delay="0"/>
                                  </p:stCondLst>
                                  <p:childTnLst>
                                    <p:animMotion origin="layout" path="M 2.77778E-6 -4.44444E-6 C 0.00868 0.04769 0.01736 0.09537 0.02239 0.13612 C 0.02743 0.17709 0.0283 0.21112 0.02951 0.24537 " pathEditMode="relative" rAng="0" ptsTypes="AAA">
                                      <p:cBhvr>
                                        <p:cTn id="10" dur="2000" fill="hold"/>
                                        <p:tgtEl>
                                          <p:spTgt spid="2"/>
                                        </p:tgtEl>
                                        <p:attrNameLst>
                                          <p:attrName>ppt_x</p:attrName>
                                          <p:attrName>ppt_y</p:attrName>
                                        </p:attrNameLst>
                                      </p:cBhvr>
                                      <p:rCtr x="1476" y="12269"/>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0" presetClass="path" presetSubtype="0" accel="50000" decel="50000" fill="hold" grpId="1" nodeType="withEffect">
                                  <p:stCondLst>
                                    <p:cond delay="0"/>
                                  </p:stCondLst>
                                  <p:childTnLst>
                                    <p:animMotion origin="layout" path="M -0.00173 0.02847 C 0.04861 0.03773 0.09931 0.04676 0.15174 0.0419 C 0.20417 0.03681 0.25868 0.01783 0.3132 -0.00116 " pathEditMode="relative" rAng="0" ptsTypes="AAA">
                                      <p:cBhvr>
                                        <p:cTn id="20" dur="2000" fill="hold"/>
                                        <p:tgtEl>
                                          <p:spTgt spid="29"/>
                                        </p:tgtEl>
                                        <p:attrNameLst>
                                          <p:attrName>ppt_x</p:attrName>
                                          <p:attrName>ppt_y</p:attrName>
                                        </p:attrNameLst>
                                      </p:cBhvr>
                                      <p:rCtr x="15747" y="-764"/>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0" presetClass="path" presetSubtype="0" accel="50000" decel="50000" fill="hold" grpId="0" nodeType="withEffect">
                                  <p:stCondLst>
                                    <p:cond delay="0"/>
                                  </p:stCondLst>
                                  <p:childTnLst>
                                    <p:animMotion origin="layout" path="M -5.55556E-7 4.44444E-6 C -0.05521 0.00023 -0.11007 0.00069 -0.16233 -0.00024 C -0.21458 -0.00139 -0.31319 -0.00625 -0.31319 -0.00625 L -0.31319 -0.00625 " pathEditMode="relative" rAng="0" ptsTypes="AAAA">
                                      <p:cBhvr>
                                        <p:cTn id="38" dur="2000" fill="hold"/>
                                        <p:tgtEl>
                                          <p:spTgt spid="28"/>
                                        </p:tgtEl>
                                        <p:attrNameLst>
                                          <p:attrName>ppt_x</p:attrName>
                                          <p:attrName>ppt_y</p:attrName>
                                        </p:attrNameLst>
                                      </p:cBhvr>
                                      <p:rCtr x="-15660" y="-301"/>
                                    </p:animMotion>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3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34"/>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35"/>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36"/>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1" nodeType="clickEffect">
                                  <p:stCondLst>
                                    <p:cond delay="0"/>
                                  </p:stCondLst>
                                  <p:childTnLst>
                                    <p:animMotion origin="layout" path="M 0.02326 -7.40741E-7 C 0.02691 0.03125 0.03055 0.06273 0.02916 0.1037 C 0.02795 0.14491 0.02187 0.19537 0.01579 0.24607 " pathEditMode="relative" rAng="0" ptsTypes="AAA">
                                      <p:cBhvr>
                                        <p:cTn id="60" dur="2000" fill="hold"/>
                                        <p:tgtEl>
                                          <p:spTgt spid="18"/>
                                        </p:tgtEl>
                                        <p:attrNameLst>
                                          <p:attrName>ppt_x</p:attrName>
                                          <p:attrName>ppt_y</p:attrName>
                                        </p:attrNameLst>
                                      </p:cBhvr>
                                      <p:rCtr x="-69" y="12292"/>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1" nodeType="clickEffect">
                                  <p:stCondLst>
                                    <p:cond delay="0"/>
                                  </p:stCondLst>
                                  <p:childTnLst>
                                    <p:set>
                                      <p:cBhvr>
                                        <p:cTn id="68" dur="1" fill="hold">
                                          <p:stCondLst>
                                            <p:cond delay="0"/>
                                          </p:stCondLst>
                                        </p:cTn>
                                        <p:tgtEl>
                                          <p:spTgt spid="42"/>
                                        </p:tgtEl>
                                        <p:attrNameLst>
                                          <p:attrName>style.visibility</p:attrName>
                                        </p:attrNameLst>
                                      </p:cBhvr>
                                      <p:to>
                                        <p:strVal val="visible"/>
                                      </p:to>
                                    </p:set>
                                  </p:childTnLst>
                                </p:cTn>
                              </p:par>
                              <p:par>
                                <p:cTn id="69" presetID="0" presetClass="path" presetSubtype="0" accel="50000" decel="50000" fill="hold" grpId="0" nodeType="withEffect">
                                  <p:stCondLst>
                                    <p:cond delay="0"/>
                                  </p:stCondLst>
                                  <p:childTnLst>
                                    <p:animMotion origin="layout" path="M -8.33333E-7 -4.44444E-6 C 0.07465 0.00255 0.14965 0.0051 0.20347 0.0007 C 0.25729 -0.00347 0.29011 -0.01481 0.32292 -0.02592 " pathEditMode="relative" rAng="0" ptsTypes="AAA">
                                      <p:cBhvr>
                                        <p:cTn id="70" dur="2000" fill="hold"/>
                                        <p:tgtEl>
                                          <p:spTgt spid="42"/>
                                        </p:tgtEl>
                                        <p:attrNameLst>
                                          <p:attrName>ppt_x</p:attrName>
                                          <p:attrName>ppt_y</p:attrName>
                                        </p:attrNameLst>
                                      </p:cBhvr>
                                      <p:rCtr x="16146" y="-1157"/>
                                    </p:animMotion>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0" presetClass="path" presetSubtype="0" accel="50000" decel="50000" fill="hold" grpId="1" nodeType="clickEffect">
                                  <p:stCondLst>
                                    <p:cond delay="0"/>
                                  </p:stCondLst>
                                  <p:childTnLst>
                                    <p:animMotion origin="layout" path="M -0.00191 0.00232 C -0.06788 0.00371 -0.13368 0.0051 -0.18593 0.00301 C -0.23819 0.00093 -0.27691 -0.00486 -0.31545 -0.01041 " pathEditMode="relative" rAng="0" ptsTypes="AAA">
                                      <p:cBhvr>
                                        <p:cTn id="90" dur="2000" fill="hold"/>
                                        <p:tgtEl>
                                          <p:spTgt spid="45"/>
                                        </p:tgtEl>
                                        <p:attrNameLst>
                                          <p:attrName>ppt_x</p:attrName>
                                          <p:attrName>ppt_y</p:attrName>
                                        </p:attrNameLst>
                                      </p:cBhvr>
                                      <p:rCtr x="-15677" y="-556"/>
                                    </p:animMotion>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0" presetClass="path" presetSubtype="0" accel="50000" decel="50000" fill="hold" grpId="2" nodeType="clickEffect">
                                  <p:stCondLst>
                                    <p:cond delay="0"/>
                                  </p:stCondLst>
                                  <p:childTnLst>
                                    <p:animMotion origin="layout" path="M 0.02951 0.24537 C 0.02274 0.39421 0.01632 0.54328 0.00347 0.60069 C -0.0092 0.65787 -0.02848 0.62384 -0.04757 0.58981 " pathEditMode="relative" rAng="0" ptsTypes="AAA">
                                      <p:cBhvr>
                                        <p:cTn id="98" dur="2000" fill="hold"/>
                                        <p:tgtEl>
                                          <p:spTgt spid="2"/>
                                        </p:tgtEl>
                                        <p:attrNameLst>
                                          <p:attrName>ppt_x</p:attrName>
                                          <p:attrName>ppt_y</p:attrName>
                                        </p:attrNameLst>
                                      </p:cBhvr>
                                      <p:rCtr x="-3854" y="19306"/>
                                    </p:animMotion>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0" presetClass="path" presetSubtype="0" accel="50000" decel="50000" fill="hold" grpId="1" nodeType="clickEffect">
                                  <p:stCondLst>
                                    <p:cond delay="0"/>
                                  </p:stCondLst>
                                  <p:childTnLst>
                                    <p:animMotion origin="layout" path="M -1.66667E-6 0.03287 C 0.06441 0.04468 0.12917 0.05672 0.18143 0.0507 C 0.23403 0.04468 0.27431 0.02084 0.31459 -0.00301 " pathEditMode="relative" rAng="0" ptsTypes="AAA">
                                      <p:cBhvr>
                                        <p:cTn id="110" dur="2000" fill="hold"/>
                                        <p:tgtEl>
                                          <p:spTgt spid="47"/>
                                        </p:tgtEl>
                                        <p:attrNameLst>
                                          <p:attrName>ppt_x</p:attrName>
                                          <p:attrName>ppt_y</p:attrName>
                                        </p:attrNameLst>
                                      </p:cBhvr>
                                      <p:rCtr x="15729" y="-833"/>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nodeType="clickEffect">
                                  <p:stCondLst>
                                    <p:cond delay="0"/>
                                  </p:stCondLst>
                                  <p:childTnLst>
                                    <p:set>
                                      <p:cBhvr>
                                        <p:cTn id="126" dur="1" fill="hold">
                                          <p:stCondLst>
                                            <p:cond delay="0"/>
                                          </p:stCondLst>
                                        </p:cTn>
                                        <p:tgtEl>
                                          <p:spTgt spid="33"/>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34"/>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35"/>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36"/>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37"/>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38"/>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0"/>
                                          </p:stCondLst>
                                        </p:cTn>
                                        <p:tgtEl>
                                          <p:spTgt spid="39"/>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34"/>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0" presetClass="path" presetSubtype="0" accel="50000" decel="50000" fill="hold" grpId="1" nodeType="clickEffect">
                                  <p:stCondLst>
                                    <p:cond delay="0"/>
                                  </p:stCondLst>
                                  <p:childTnLst>
                                    <p:animMotion origin="layout" path="M 0 0 C 0.01198 0.03495 0.02396 0.07014 0.0217 0.11064 C 0.01945 0.15115 -0.01319 0.24282 -0.01319 0.24282 L -0.01319 0.24282 " pathEditMode="relative" ptsTypes="AAAA">
                                      <p:cBhvr>
                                        <p:cTn id="150" dur="2000" fill="hold"/>
                                        <p:tgtEl>
                                          <p:spTgt spid="50"/>
                                        </p:tgtEl>
                                        <p:attrNameLst>
                                          <p:attrName>ppt_x</p:attrName>
                                          <p:attrName>ppt_y</p:attrName>
                                        </p:attrNameLst>
                                      </p:cBhvr>
                                    </p:animMotion>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46"/>
                                        </p:tgtEl>
                                        <p:attrNameLst>
                                          <p:attrName>style.visibility</p:attrName>
                                        </p:attrNameLst>
                                      </p:cBhvr>
                                      <p:to>
                                        <p:strVal val="visible"/>
                                      </p:to>
                                    </p:set>
                                  </p:childTnLst>
                                </p:cTn>
                              </p:par>
                              <p:par>
                                <p:cTn id="159" presetID="0" presetClass="path" presetSubtype="0" accel="50000" decel="50000" fill="hold" grpId="1" nodeType="withEffect">
                                  <p:stCondLst>
                                    <p:cond delay="0"/>
                                  </p:stCondLst>
                                  <p:childTnLst>
                                    <p:animMotion origin="layout" path="M 2.22222E-6 3.33333E-6 C 0.0401 0.02338 0.08021 0.04676 0.13385 0.04027 C 0.1875 0.03379 0.25451 -0.00255 0.3217 -0.03889 " pathEditMode="relative" rAng="0" ptsTypes="AAA">
                                      <p:cBhvr>
                                        <p:cTn id="160" dur="2000" fill="hold"/>
                                        <p:tgtEl>
                                          <p:spTgt spid="46"/>
                                        </p:tgtEl>
                                        <p:attrNameLst>
                                          <p:attrName>ppt_x</p:attrName>
                                          <p:attrName>ppt_y</p:attrName>
                                        </p:attrNameLst>
                                      </p:cBhvr>
                                      <p:rCtr x="16076" y="116"/>
                                    </p:animMotion>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52"/>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nodeType="clickEffect">
                                  <p:stCondLst>
                                    <p:cond delay="0"/>
                                  </p:stCondLst>
                                  <p:childTnLst>
                                    <p:set>
                                      <p:cBhvr>
                                        <p:cTn id="168" dur="1" fill="hold">
                                          <p:stCondLst>
                                            <p:cond delay="0"/>
                                          </p:stCondLst>
                                        </p:cTn>
                                        <p:tgtEl>
                                          <p:spTgt spid="35"/>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53"/>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36"/>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54"/>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0" presetClass="path" presetSubtype="0" accel="50000" decel="50000" fill="hold" grpId="1" nodeType="clickEffect">
                                  <p:stCondLst>
                                    <p:cond delay="0"/>
                                  </p:stCondLst>
                                  <p:childTnLst>
                                    <p:animMotion origin="layout" path="M 1.94444E-6 7.40741E-7 C -0.05452 -0.00208 -0.10886 -0.00417 -0.16077 -0.00347 C -0.21268 -0.00301 -0.26233 7.40741E-7 -0.31163 0.00324 " pathEditMode="relative" rAng="0" ptsTypes="AAA">
                                      <p:cBhvr>
                                        <p:cTn id="184" dur="2000" fill="hold"/>
                                        <p:tgtEl>
                                          <p:spTgt spid="54"/>
                                        </p:tgtEl>
                                        <p:attrNameLst>
                                          <p:attrName>ppt_x</p:attrName>
                                          <p:attrName>ppt_y</p:attrName>
                                        </p:attrNameLst>
                                      </p:cBhvr>
                                      <p:rCtr x="-15590"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 grpId="0" animBg="1"/>
      <p:bldP spid="2" grpId="1" animBg="1"/>
      <p:bldP spid="2" grpId="2" animBg="1"/>
      <p:bldP spid="28" grpId="0" animBg="1"/>
      <p:bldP spid="28" grpId="1" animBg="1"/>
      <p:bldP spid="29" grpId="0" animBg="1"/>
      <p:bldP spid="29" grpId="1" animBg="1"/>
      <p:bldP spid="30" grpId="0" animBg="1"/>
      <p:bldP spid="42" grpId="0" animBg="1"/>
      <p:bldP spid="42" grpId="1" animBg="1"/>
      <p:bldP spid="44" grpId="0" animBg="1"/>
      <p:bldP spid="45" grpId="0" animBg="1"/>
      <p:bldP spid="45" grpId="1" animBg="1"/>
      <p:bldP spid="47" grpId="0" animBg="1"/>
      <p:bldP spid="47" grpId="1" animBg="1"/>
      <p:bldP spid="48" grpId="0" animBg="1"/>
      <p:bldP spid="49" grpId="0" animBg="1"/>
      <p:bldP spid="50" grpId="0" animBg="1"/>
      <p:bldP spid="50" grpId="1" animBg="1"/>
      <p:bldP spid="52" grpId="0" animBg="1"/>
      <p:bldP spid="46" grpId="0" animBg="1"/>
      <p:bldP spid="46" grpId="1" animBg="1"/>
      <p:bldP spid="53" grpId="0" animBg="1"/>
      <p:bldP spid="54" grpId="0" animBg="1"/>
      <p:bldP spid="54" grpId="1" animBg="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63"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7</a:t>
            </a:fld>
            <a:endParaRPr/>
          </a:p>
        </p:txBody>
      </p:sp>
      <p:sp>
        <p:nvSpPr>
          <p:cNvPr id="64" name="Race Condition"/>
          <p:cNvSpPr txBox="1">
            <a:spLocks noGrp="1"/>
          </p:cNvSpPr>
          <p:nvPr>
            <p:ph type="title"/>
          </p:nvPr>
        </p:nvSpPr>
        <p:spPr>
          <a:xfrm>
            <a:off x="457200" y="274637"/>
            <a:ext cx="8229600" cy="1143001"/>
          </a:xfrm>
          <a:prstGeom prst="rect">
            <a:avLst/>
          </a:prstGeom>
        </p:spPr>
        <p:txBody>
          <a:bodyPr/>
          <a:lstStyle/>
          <a:p>
            <a:r>
              <a:t>Race Condition</a:t>
            </a:r>
          </a:p>
        </p:txBody>
      </p:sp>
      <p:sp>
        <p:nvSpPr>
          <p:cNvPr id="65" name="count++ could be implemented as      register1 = count      register1 = register1 + 1      count = register1…"/>
          <p:cNvSpPr txBox="1">
            <a:spLocks noGrp="1"/>
          </p:cNvSpPr>
          <p:nvPr>
            <p:ph type="body" sz="half" idx="1"/>
          </p:nvPr>
        </p:nvSpPr>
        <p:spPr>
          <a:xfrm>
            <a:off x="160855" y="1270000"/>
            <a:ext cx="4411145" cy="2266950"/>
          </a:xfrm>
          <a:prstGeom prst="rect">
            <a:avLst/>
          </a:prstGeom>
        </p:spPr>
        <p:txBody>
          <a:bodyPr/>
          <a:lstStyle/>
          <a:p>
            <a:pPr>
              <a:lnSpc>
                <a:spcPct val="90000"/>
              </a:lnSpc>
              <a:buClr>
                <a:srgbClr val="0433FF"/>
              </a:buClr>
              <a:buFont typeface="Trebuchet MS"/>
            </a:pPr>
            <a:r>
              <a:rPr sz="2000" dirty="0">
                <a:solidFill>
                  <a:srgbClr val="0433FF"/>
                </a:solidFill>
                <a:uFill>
                  <a:solidFill>
                    <a:srgbClr val="0433FF"/>
                  </a:solidFill>
                </a:uFill>
              </a:rPr>
              <a:t>count++</a:t>
            </a:r>
            <a:r>
              <a:rPr sz="2000" dirty="0"/>
              <a:t> </a:t>
            </a:r>
            <a:r>
              <a:rPr sz="2000" dirty="0">
                <a:solidFill>
                  <a:srgbClr val="000000"/>
                </a:solidFill>
                <a:uFill>
                  <a:solidFill>
                    <a:srgbClr val="000000"/>
                  </a:solidFill>
                </a:uFill>
              </a:rPr>
              <a:t>could be implemented as</a:t>
            </a:r>
            <a:br>
              <a:rPr sz="2000" dirty="0"/>
            </a:br>
            <a:r>
              <a:rPr sz="2000" dirty="0"/>
              <a:t>     </a:t>
            </a:r>
            <a:r>
              <a:rPr sz="2000" dirty="0">
                <a:solidFill>
                  <a:srgbClr val="0433FF"/>
                </a:solidFill>
                <a:uFill>
                  <a:solidFill>
                    <a:srgbClr val="0433FF"/>
                  </a:solidFill>
                </a:uFill>
              </a:rPr>
              <a:t>register1 = count</a:t>
            </a:r>
            <a:br>
              <a:rPr sz="2000" dirty="0">
                <a:solidFill>
                  <a:srgbClr val="0433FF"/>
                </a:solidFill>
                <a:uFill>
                  <a:solidFill>
                    <a:srgbClr val="0433FF"/>
                  </a:solidFill>
                </a:uFill>
              </a:rPr>
            </a:br>
            <a:r>
              <a:rPr sz="2000" dirty="0">
                <a:solidFill>
                  <a:srgbClr val="0433FF"/>
                </a:solidFill>
                <a:uFill>
                  <a:solidFill>
                    <a:srgbClr val="0433FF"/>
                  </a:solidFill>
                </a:uFill>
              </a:rPr>
              <a:t>     register1 = register1 + 1</a:t>
            </a:r>
            <a:br>
              <a:rPr sz="2000" dirty="0">
                <a:solidFill>
                  <a:srgbClr val="0433FF"/>
                </a:solidFill>
                <a:uFill>
                  <a:solidFill>
                    <a:srgbClr val="0433FF"/>
                  </a:solidFill>
                </a:uFill>
              </a:rPr>
            </a:br>
            <a:r>
              <a:rPr sz="2000" dirty="0">
                <a:solidFill>
                  <a:srgbClr val="0433FF"/>
                </a:solidFill>
                <a:uFill>
                  <a:solidFill>
                    <a:srgbClr val="0433FF"/>
                  </a:solidFill>
                </a:uFill>
              </a:rPr>
              <a:t>     count = register1</a:t>
            </a:r>
          </a:p>
          <a:p>
            <a:pPr>
              <a:lnSpc>
                <a:spcPct val="90000"/>
              </a:lnSpc>
              <a:buClr>
                <a:srgbClr val="4180FF"/>
              </a:buClr>
              <a:buSzTx/>
              <a:buFont typeface="Trebuchet MS"/>
              <a:buNone/>
              <a:defRPr sz="2000">
                <a:solidFill>
                  <a:srgbClr val="4180FF"/>
                </a:solidFill>
                <a:uFill>
                  <a:solidFill>
                    <a:srgbClr val="4180FF"/>
                  </a:solidFill>
                </a:uFill>
              </a:defRPr>
            </a:pPr>
            <a:endParaRPr sz="2000" dirty="0">
              <a:solidFill>
                <a:srgbClr val="0042AA"/>
              </a:solidFill>
              <a:uFill>
                <a:solidFill>
                  <a:srgbClr val="0042AA"/>
                </a:solidFill>
              </a:uFill>
            </a:endParaRPr>
          </a:p>
        </p:txBody>
      </p:sp>
      <p:sp>
        <p:nvSpPr>
          <p:cNvPr id="2" name="count++ could be implemented as      register1 = count      register1 = register1 + 1      count = register1…">
            <a:extLst>
              <a:ext uri="{FF2B5EF4-FFF2-40B4-BE49-F238E27FC236}">
                <a16:creationId xmlns:a16="http://schemas.microsoft.com/office/drawing/2014/main" id="{2BBE153C-8B3C-E74A-2C70-27835DF650E5}"/>
              </a:ext>
            </a:extLst>
          </p:cNvPr>
          <p:cNvSpPr txBox="1"/>
          <p:nvPr/>
        </p:nvSpPr>
        <p:spPr>
          <a:xfrm>
            <a:off x="4572000" y="1270000"/>
            <a:ext cx="4411145" cy="2049338"/>
          </a:xfrm>
          <a:prstGeom prst="rect">
            <a:avLst/>
          </a:prstGeom>
          <a:ln w="12700">
            <a:miter lim="400000"/>
          </a:ln>
        </p:spPr>
        <p:txBody>
          <a:bodyPr lIns="50800" tIns="50800" rIns="50800" bIns="50800"/>
          <a:lstStyle>
            <a:lvl1pPr marL="383540"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1pPr>
            <a:lvl2pPr marL="783590" marR="40639" indent="-285750" algn="l" defTabSz="914400" rtl="0" latinLnBrk="0">
              <a:lnSpc>
                <a:spcPct val="100000"/>
              </a:lnSpc>
              <a:spcBef>
                <a:spcPts val="400"/>
              </a:spcBef>
              <a:spcAft>
                <a:spcPts val="0"/>
              </a:spcAft>
              <a:buClrTx/>
              <a:buSzPct val="100000"/>
              <a:buFontTx/>
              <a:buChar char="–"/>
              <a:defRPr sz="2000" b="0" i="0" u="none" strike="noStrike" cap="none" spc="0" baseline="0">
                <a:solidFill>
                  <a:srgbClr val="727272"/>
                </a:solidFill>
                <a:uFill>
                  <a:solidFill>
                    <a:srgbClr val="727272"/>
                  </a:solidFill>
                </a:uFill>
                <a:latin typeface="+mn-lt"/>
                <a:ea typeface="+mn-ea"/>
                <a:cs typeface="+mn-cs"/>
                <a:sym typeface="Trebuchet MS"/>
              </a:defRPr>
            </a:lvl2pPr>
            <a:lvl3pPr marL="1183639" marR="40639" indent="-228600" algn="l" defTabSz="914400" rtl="0" latinLnBrk="0">
              <a:lnSpc>
                <a:spcPct val="100000"/>
              </a:lnSpc>
              <a:spcBef>
                <a:spcPts val="400"/>
              </a:spcBef>
              <a:spcAft>
                <a:spcPts val="0"/>
              </a:spcAft>
              <a:buClrTx/>
              <a:buSzPct val="100000"/>
              <a:buFontTx/>
              <a:buChar char="•"/>
              <a:defRPr sz="1800" b="0" i="0" u="none" strike="noStrike" cap="none" spc="0" baseline="0">
                <a:solidFill>
                  <a:srgbClr val="727272"/>
                </a:solidFill>
                <a:uFill>
                  <a:solidFill>
                    <a:srgbClr val="727272"/>
                  </a:solidFill>
                </a:uFill>
                <a:latin typeface="+mn-lt"/>
                <a:ea typeface="+mn-ea"/>
                <a:cs typeface="+mn-cs"/>
                <a:sym typeface="Trebuchet MS"/>
              </a:defRPr>
            </a:lvl3pPr>
            <a:lvl4pPr marL="1640839" marR="40639" indent="-228600" algn="l" defTabSz="914400" rtl="0" latinLnBrk="0">
              <a:lnSpc>
                <a:spcPct val="100000"/>
              </a:lnSpc>
              <a:spcBef>
                <a:spcPts val="300"/>
              </a:spcBef>
              <a:spcAft>
                <a:spcPts val="0"/>
              </a:spcAft>
              <a:buClrTx/>
              <a:buSzPct val="100000"/>
              <a:buFontTx/>
              <a:buChar char="–"/>
              <a:defRPr sz="1600" b="0" i="0" u="none" strike="noStrike" cap="none" spc="0" baseline="0">
                <a:solidFill>
                  <a:srgbClr val="727272"/>
                </a:solidFill>
                <a:uFill>
                  <a:solidFill>
                    <a:srgbClr val="727272"/>
                  </a:solidFill>
                </a:uFill>
                <a:latin typeface="+mn-lt"/>
                <a:ea typeface="+mn-ea"/>
                <a:cs typeface="+mn-cs"/>
                <a:sym typeface="Trebuchet MS"/>
              </a:defRPr>
            </a:lvl4pPr>
            <a:lvl5pPr marL="2098039" marR="40639" indent="-228600" algn="l" defTabSz="914400" rtl="0" latinLnBrk="0">
              <a:lnSpc>
                <a:spcPct val="100000"/>
              </a:lnSpc>
              <a:spcBef>
                <a:spcPts val="300"/>
              </a:spcBef>
              <a:spcAft>
                <a:spcPts val="0"/>
              </a:spcAft>
              <a:buClrTx/>
              <a:buSzPct val="100000"/>
              <a:buFontTx/>
              <a:buChar char="»"/>
              <a:defRPr sz="1600" b="0" i="0" u="none" strike="noStrike" cap="none" spc="0" baseline="0">
                <a:solidFill>
                  <a:srgbClr val="727272"/>
                </a:solidFill>
                <a:uFill>
                  <a:solidFill>
                    <a:srgbClr val="727272"/>
                  </a:solidFill>
                </a:uFill>
                <a:latin typeface="+mn-lt"/>
                <a:ea typeface="+mn-ea"/>
                <a:cs typeface="+mn-cs"/>
                <a:sym typeface="Trebuchet MS"/>
              </a:defRPr>
            </a:lvl5pPr>
            <a:lvl6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6pPr>
            <a:lvl7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7pPr>
            <a:lvl8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8pPr>
            <a:lvl9pPr marL="2212339" marR="40639" indent="-342900" algn="l" defTabSz="914400" rtl="0" latinLnBrk="0">
              <a:lnSpc>
                <a:spcPct val="100000"/>
              </a:lnSpc>
              <a:spcBef>
                <a:spcPts val="500"/>
              </a:spcBef>
              <a:spcAft>
                <a:spcPts val="0"/>
              </a:spcAft>
              <a:buClrTx/>
              <a:buSzPct val="100000"/>
              <a:buFontTx/>
              <a:buChar char="•"/>
              <a:defRPr sz="2400" b="0" i="0" u="none" strike="noStrike" cap="none" spc="0" baseline="0">
                <a:solidFill>
                  <a:srgbClr val="727272"/>
                </a:solidFill>
                <a:uFill>
                  <a:solidFill>
                    <a:srgbClr val="727272"/>
                  </a:solidFill>
                </a:uFill>
                <a:latin typeface="+mn-lt"/>
                <a:ea typeface="+mn-ea"/>
                <a:cs typeface="+mn-cs"/>
                <a:sym typeface="Trebuchet MS"/>
              </a:defRPr>
            </a:lvl9pPr>
          </a:lstStyle>
          <a:p>
            <a:pPr hangingPunct="1">
              <a:lnSpc>
                <a:spcPct val="90000"/>
              </a:lnSpc>
              <a:buClr>
                <a:srgbClr val="4180FF"/>
              </a:buClr>
              <a:buFont typeface="Trebuchet MS"/>
              <a:buChar char="•"/>
            </a:pPr>
            <a:r>
              <a:rPr lang="en-US" sz="2000" dirty="0">
                <a:solidFill>
                  <a:srgbClr val="0056D6"/>
                </a:solidFill>
                <a:uFill>
                  <a:solidFill>
                    <a:srgbClr val="0056D6"/>
                  </a:solidFill>
                </a:uFill>
              </a:rPr>
              <a:t>count--</a:t>
            </a:r>
            <a:r>
              <a:rPr lang="en-US" sz="2000" dirty="0"/>
              <a:t> </a:t>
            </a:r>
            <a:r>
              <a:rPr lang="en-US" sz="2000" dirty="0">
                <a:solidFill>
                  <a:srgbClr val="000000"/>
                </a:solidFill>
                <a:uFill>
                  <a:solidFill>
                    <a:srgbClr val="000000"/>
                  </a:solidFill>
                </a:uFill>
              </a:rPr>
              <a:t>could be implemented as</a:t>
            </a:r>
            <a:br>
              <a:rPr lang="en-US" sz="2000" dirty="0"/>
            </a:br>
            <a:r>
              <a:rPr lang="en-US" sz="2000" dirty="0"/>
              <a:t>    </a:t>
            </a:r>
            <a:r>
              <a:rPr lang="en-US" sz="2000" dirty="0">
                <a:solidFill>
                  <a:srgbClr val="0056D6"/>
                </a:solidFill>
                <a:uFill>
                  <a:solidFill>
                    <a:srgbClr val="0056D6"/>
                  </a:solidFill>
                </a:uFill>
              </a:rPr>
              <a:t> register2 = count</a:t>
            </a:r>
            <a:br>
              <a:rPr lang="en-US" sz="2000" dirty="0">
                <a:solidFill>
                  <a:srgbClr val="0056D6"/>
                </a:solidFill>
                <a:uFill>
                  <a:solidFill>
                    <a:srgbClr val="0056D6"/>
                  </a:solidFill>
                </a:uFill>
              </a:rPr>
            </a:br>
            <a:r>
              <a:rPr lang="en-US" sz="2000" dirty="0">
                <a:solidFill>
                  <a:srgbClr val="0056D6"/>
                </a:solidFill>
                <a:uFill>
                  <a:solidFill>
                    <a:srgbClr val="0056D6"/>
                  </a:solidFill>
                </a:uFill>
              </a:rPr>
              <a:t>     register2 = register2 - 1</a:t>
            </a:r>
            <a:br>
              <a:rPr lang="en-US" sz="2000" dirty="0">
                <a:solidFill>
                  <a:srgbClr val="0056D6"/>
                </a:solidFill>
                <a:uFill>
                  <a:solidFill>
                    <a:srgbClr val="0056D6"/>
                  </a:solidFill>
                </a:uFill>
              </a:rPr>
            </a:br>
            <a:r>
              <a:rPr lang="en-US" sz="2000" dirty="0">
                <a:solidFill>
                  <a:srgbClr val="0056D6"/>
                </a:solidFill>
                <a:uFill>
                  <a:solidFill>
                    <a:srgbClr val="0056D6"/>
                  </a:solidFill>
                </a:uFill>
              </a:rPr>
              <a:t>     count = register2</a:t>
            </a:r>
            <a:endParaRPr lang="en-US" sz="2000" dirty="0">
              <a:solidFill>
                <a:srgbClr val="0042AA"/>
              </a:solidFill>
              <a:uFill>
                <a:solidFill>
                  <a:srgbClr val="0042AA"/>
                </a:solidFill>
              </a:uFill>
            </a:endParaRPr>
          </a:p>
          <a:p>
            <a:pPr hangingPunct="1">
              <a:lnSpc>
                <a:spcPct val="90000"/>
              </a:lnSpc>
              <a:buClr>
                <a:srgbClr val="4180FF"/>
              </a:buClr>
              <a:buSzTx/>
              <a:buFont typeface="Trebuchet MS"/>
              <a:buNone/>
              <a:defRPr sz="2000">
                <a:solidFill>
                  <a:srgbClr val="4180FF"/>
                </a:solidFill>
                <a:uFill>
                  <a:solidFill>
                    <a:srgbClr val="4180FF"/>
                  </a:solidFill>
                </a:uFill>
              </a:defRPr>
            </a:pPr>
            <a:endParaRPr lang="en-US" sz="2000" dirty="0">
              <a:solidFill>
                <a:srgbClr val="0042AA"/>
              </a:solidFill>
              <a:uFill>
                <a:solidFill>
                  <a:srgbClr val="0042AA"/>
                </a:solidFill>
              </a:uFill>
            </a:endParaRPr>
          </a:p>
        </p:txBody>
      </p:sp>
    </p:spTree>
    <p:extLst>
      <p:ext uri="{BB962C8B-B14F-4D97-AF65-F5344CB8AC3E}">
        <p14:creationId xmlns:p14="http://schemas.microsoft.com/office/powerpoint/2010/main" val="2370569100"/>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63"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8</a:t>
            </a:fld>
            <a:endParaRPr/>
          </a:p>
        </p:txBody>
      </p:sp>
      <p:sp>
        <p:nvSpPr>
          <p:cNvPr id="64" name="Race Condition"/>
          <p:cNvSpPr txBox="1">
            <a:spLocks noGrp="1"/>
          </p:cNvSpPr>
          <p:nvPr>
            <p:ph type="title"/>
          </p:nvPr>
        </p:nvSpPr>
        <p:spPr>
          <a:xfrm>
            <a:off x="457200" y="274637"/>
            <a:ext cx="8229600" cy="1143001"/>
          </a:xfrm>
          <a:prstGeom prst="rect">
            <a:avLst/>
          </a:prstGeom>
        </p:spPr>
        <p:txBody>
          <a:bodyPr/>
          <a:lstStyle/>
          <a:p>
            <a:r>
              <a:t>Race Condition</a:t>
            </a:r>
          </a:p>
        </p:txBody>
      </p:sp>
      <p:sp>
        <p:nvSpPr>
          <p:cNvPr id="65" name="count++ could be implemented as      register1 = count      register1 = register1 + 1      count = register1…"/>
          <p:cNvSpPr txBox="1">
            <a:spLocks noGrp="1"/>
          </p:cNvSpPr>
          <p:nvPr>
            <p:ph type="body" sz="half" idx="1"/>
          </p:nvPr>
        </p:nvSpPr>
        <p:spPr>
          <a:xfrm>
            <a:off x="828675" y="1279525"/>
            <a:ext cx="8064500" cy="2374900"/>
          </a:xfrm>
          <a:prstGeom prst="rect">
            <a:avLst/>
          </a:prstGeom>
        </p:spPr>
        <p:txBody>
          <a:bodyPr/>
          <a:lstStyle/>
          <a:p>
            <a:pPr>
              <a:lnSpc>
                <a:spcPct val="90000"/>
              </a:lnSpc>
              <a:buClr>
                <a:srgbClr val="0433FF"/>
              </a:buClr>
              <a:buFont typeface="Trebuchet MS"/>
            </a:pPr>
            <a:r>
              <a:rPr sz="2000">
                <a:solidFill>
                  <a:srgbClr val="0433FF"/>
                </a:solidFill>
                <a:uFill>
                  <a:solidFill>
                    <a:srgbClr val="0433FF"/>
                  </a:solidFill>
                </a:uFill>
              </a:rPr>
              <a:t>count++</a:t>
            </a:r>
            <a:r>
              <a:rPr sz="2000"/>
              <a:t> </a:t>
            </a:r>
            <a:r>
              <a:rPr sz="2000">
                <a:solidFill>
                  <a:srgbClr val="000000"/>
                </a:solidFill>
                <a:uFill>
                  <a:solidFill>
                    <a:srgbClr val="000000"/>
                  </a:solidFill>
                </a:uFill>
              </a:rPr>
              <a:t>could be implemented as</a:t>
            </a:r>
            <a:br>
              <a:rPr sz="2000"/>
            </a:br>
            <a:r>
              <a:rPr sz="2000"/>
              <a:t>     </a:t>
            </a:r>
            <a:r>
              <a:rPr sz="2000">
                <a:solidFill>
                  <a:srgbClr val="0433FF"/>
                </a:solidFill>
                <a:uFill>
                  <a:solidFill>
                    <a:srgbClr val="0433FF"/>
                  </a:solidFill>
                </a:uFill>
              </a:rPr>
              <a:t>register1 = count</a:t>
            </a:r>
            <a:br>
              <a:rPr sz="2000">
                <a:solidFill>
                  <a:srgbClr val="0433FF"/>
                </a:solidFill>
                <a:uFill>
                  <a:solidFill>
                    <a:srgbClr val="0433FF"/>
                  </a:solidFill>
                </a:uFill>
              </a:rPr>
            </a:br>
            <a:r>
              <a:rPr sz="2000">
                <a:solidFill>
                  <a:srgbClr val="0433FF"/>
                </a:solidFill>
                <a:uFill>
                  <a:solidFill>
                    <a:srgbClr val="0433FF"/>
                  </a:solidFill>
                </a:uFill>
              </a:rPr>
              <a:t>     register1 = register1 + 1</a:t>
            </a:r>
            <a:br>
              <a:rPr sz="2000">
                <a:solidFill>
                  <a:srgbClr val="0433FF"/>
                </a:solidFill>
                <a:uFill>
                  <a:solidFill>
                    <a:srgbClr val="0433FF"/>
                  </a:solidFill>
                </a:uFill>
              </a:rPr>
            </a:br>
            <a:r>
              <a:rPr sz="2000">
                <a:solidFill>
                  <a:srgbClr val="0433FF"/>
                </a:solidFill>
                <a:uFill>
                  <a:solidFill>
                    <a:srgbClr val="0433FF"/>
                  </a:solidFill>
                </a:uFill>
              </a:rPr>
              <a:t>     count = register1</a:t>
            </a:r>
          </a:p>
          <a:p>
            <a:pPr>
              <a:lnSpc>
                <a:spcPct val="90000"/>
              </a:lnSpc>
              <a:buClr>
                <a:srgbClr val="4180FF"/>
              </a:buClr>
              <a:buFont typeface="Trebuchet MS"/>
            </a:pPr>
            <a:r>
              <a:rPr sz="2000">
                <a:solidFill>
                  <a:srgbClr val="0056D6"/>
                </a:solidFill>
                <a:uFill>
                  <a:solidFill>
                    <a:srgbClr val="0056D6"/>
                  </a:solidFill>
                </a:uFill>
              </a:rPr>
              <a:t>count--</a:t>
            </a:r>
            <a:r>
              <a:rPr sz="2000"/>
              <a:t> </a:t>
            </a:r>
            <a:r>
              <a:rPr sz="2000">
                <a:solidFill>
                  <a:srgbClr val="000000"/>
                </a:solidFill>
                <a:uFill>
                  <a:solidFill>
                    <a:srgbClr val="000000"/>
                  </a:solidFill>
                </a:uFill>
              </a:rPr>
              <a:t>could be implemented as</a:t>
            </a:r>
            <a:br>
              <a:rPr sz="2000"/>
            </a:br>
            <a:r>
              <a:rPr sz="2000"/>
              <a:t>    </a:t>
            </a:r>
            <a:r>
              <a:rPr sz="2000">
                <a:solidFill>
                  <a:srgbClr val="0056D6"/>
                </a:solidFill>
                <a:uFill>
                  <a:solidFill>
                    <a:srgbClr val="0056D6"/>
                  </a:solidFill>
                </a:uFill>
              </a:rPr>
              <a:t> register2 = count</a:t>
            </a:r>
            <a:br>
              <a:rPr sz="2000">
                <a:solidFill>
                  <a:srgbClr val="0056D6"/>
                </a:solidFill>
                <a:uFill>
                  <a:solidFill>
                    <a:srgbClr val="0056D6"/>
                  </a:solidFill>
                </a:uFill>
              </a:rPr>
            </a:br>
            <a:r>
              <a:rPr sz="2000">
                <a:solidFill>
                  <a:srgbClr val="0056D6"/>
                </a:solidFill>
                <a:uFill>
                  <a:solidFill>
                    <a:srgbClr val="0056D6"/>
                  </a:solidFill>
                </a:uFill>
              </a:rPr>
              <a:t>     register2 = register2 - 1</a:t>
            </a:r>
            <a:br>
              <a:rPr sz="2000">
                <a:solidFill>
                  <a:srgbClr val="0056D6"/>
                </a:solidFill>
                <a:uFill>
                  <a:solidFill>
                    <a:srgbClr val="0056D6"/>
                  </a:solidFill>
                </a:uFill>
              </a:rPr>
            </a:br>
            <a:r>
              <a:rPr sz="2000">
                <a:solidFill>
                  <a:srgbClr val="0056D6"/>
                </a:solidFill>
                <a:uFill>
                  <a:solidFill>
                    <a:srgbClr val="0056D6"/>
                  </a:solidFill>
                </a:uFill>
              </a:rPr>
              <a:t>     count = register2</a:t>
            </a:r>
            <a:endParaRPr sz="2000">
              <a:solidFill>
                <a:srgbClr val="0042AA"/>
              </a:solidFill>
              <a:uFill>
                <a:solidFill>
                  <a:srgbClr val="0042AA"/>
                </a:solidFill>
              </a:uFill>
            </a:endParaRPr>
          </a:p>
          <a:p>
            <a:pPr>
              <a:lnSpc>
                <a:spcPct val="90000"/>
              </a:lnSpc>
              <a:buClr>
                <a:srgbClr val="4180FF"/>
              </a:buClr>
              <a:buSzTx/>
              <a:buFont typeface="Trebuchet MS"/>
              <a:buNone/>
              <a:defRPr sz="2000">
                <a:solidFill>
                  <a:srgbClr val="4180FF"/>
                </a:solidFill>
                <a:uFill>
                  <a:solidFill>
                    <a:srgbClr val="4180FF"/>
                  </a:solidFill>
                </a:uFill>
              </a:defRPr>
            </a:pPr>
            <a:endParaRPr sz="2000">
              <a:solidFill>
                <a:srgbClr val="0042AA"/>
              </a:solidFill>
              <a:uFill>
                <a:solidFill>
                  <a:srgbClr val="0042AA"/>
                </a:solidFill>
              </a:uFill>
            </a:endParaRPr>
          </a:p>
        </p:txBody>
      </p:sp>
      <p:sp>
        <p:nvSpPr>
          <p:cNvPr id="66" name="Consider this execution interleaving with “count = 5” initially:…"/>
          <p:cNvSpPr txBox="1"/>
          <p:nvPr/>
        </p:nvSpPr>
        <p:spPr>
          <a:xfrm>
            <a:off x="827087" y="3835400"/>
            <a:ext cx="8064501" cy="2552700"/>
          </a:xfrm>
          <a:prstGeom prst="rect">
            <a:avLst/>
          </a:prstGeom>
          <a:ln w="12700">
            <a:miter lim="400000"/>
          </a:ln>
        </p:spPr>
        <p:txBody>
          <a:bodyPr lIns="50800" tIns="50800" rIns="50800" bIns="50800"/>
          <a:lstStyle/>
          <a:p>
            <a:pPr marL="342900" indent="-342900">
              <a:lnSpc>
                <a:spcPct val="90000"/>
              </a:lnSpc>
              <a:spcBef>
                <a:spcPts val="500"/>
              </a:spcBef>
              <a:buSzPct val="100000"/>
              <a:buChar char="•"/>
              <a:defRPr sz="2000">
                <a:latin typeface="+mn-lt"/>
                <a:ea typeface="+mn-ea"/>
                <a:cs typeface="+mn-cs"/>
                <a:sym typeface="Trebuchet MS"/>
              </a:defRPr>
            </a:pPr>
            <a:r>
              <a:rPr>
                <a:solidFill>
                  <a:srgbClr val="000000"/>
                </a:solidFill>
                <a:uFill>
                  <a:solidFill>
                    <a:srgbClr val="000000"/>
                  </a:solidFill>
                </a:uFill>
              </a:rPr>
              <a:t>Consider this execution interleaving with “count = 5” initially:</a:t>
            </a:r>
          </a:p>
          <a:p>
            <a:pPr marL="783590" lvl="1" indent="-245109">
              <a:lnSpc>
                <a:spcPct val="90000"/>
              </a:lnSpc>
              <a:spcBef>
                <a:spcPts val="400"/>
              </a:spcBef>
              <a:buClr>
                <a:srgbClr val="727272"/>
              </a:buClr>
              <a:buFont typeface="Trebuchet MS"/>
              <a:defRPr sz="2000">
                <a:latin typeface="+mn-lt"/>
                <a:ea typeface="+mn-ea"/>
                <a:cs typeface="+mn-cs"/>
                <a:sym typeface="Trebuchet MS"/>
              </a:defRPr>
            </a:pPr>
            <a:r>
              <a:rPr sz="1800">
                <a:solidFill>
                  <a:srgbClr val="000000"/>
                </a:solidFill>
                <a:uFill>
                  <a:solidFill>
                    <a:srgbClr val="000000"/>
                  </a:solidFill>
                </a:uFill>
              </a:rPr>
              <a:t>	</a:t>
            </a:r>
            <a:r>
              <a:rPr>
                <a:solidFill>
                  <a:srgbClr val="000000"/>
                </a:solidFill>
                <a:uFill>
                  <a:solidFill>
                    <a:srgbClr val="000000"/>
                  </a:solidFill>
                </a:uFill>
              </a:rPr>
              <a:t>S0: producer execute</a:t>
            </a:r>
            <a:r>
              <a:t> </a:t>
            </a:r>
            <a:r>
              <a:rPr>
                <a:solidFill>
                  <a:srgbClr val="0433FF"/>
                </a:solidFill>
                <a:uFill>
                  <a:solidFill>
                    <a:srgbClr val="0433FF"/>
                  </a:solidFill>
                </a:uFill>
              </a:rPr>
              <a:t>register1 = count</a:t>
            </a:r>
            <a:r>
              <a:rPr>
                <a:solidFill>
                  <a:srgbClr val="000000"/>
                </a:solidFill>
                <a:uFill>
                  <a:solidFill>
                    <a:srgbClr val="000000"/>
                  </a:solidFill>
                </a:uFill>
              </a:rPr>
              <a:t>   {register1 = 5}</a:t>
            </a:r>
            <a:br/>
            <a:r>
              <a:rPr>
                <a:solidFill>
                  <a:srgbClr val="000000"/>
                </a:solidFill>
                <a:uFill>
                  <a:solidFill>
                    <a:srgbClr val="000000"/>
                  </a:solidFill>
                </a:uFill>
              </a:rPr>
              <a:t>S1: producer execute</a:t>
            </a:r>
            <a:r>
              <a:t> </a:t>
            </a:r>
            <a:r>
              <a:rPr>
                <a:solidFill>
                  <a:srgbClr val="0433FF"/>
                </a:solidFill>
                <a:uFill>
                  <a:solidFill>
                    <a:srgbClr val="0433FF"/>
                  </a:solidFill>
                </a:uFill>
              </a:rPr>
              <a:t>register1 = register1 + 1  </a:t>
            </a:r>
            <a:r>
              <a:rPr>
                <a:solidFill>
                  <a:srgbClr val="000000"/>
                </a:solidFill>
                <a:uFill>
                  <a:solidFill>
                    <a:srgbClr val="000000"/>
                  </a:solidFill>
                </a:uFill>
              </a:rPr>
              <a:t> {register1 = 6} </a:t>
            </a:r>
            <a:br/>
            <a:r>
              <a:rPr>
                <a:solidFill>
                  <a:srgbClr val="000000"/>
                </a:solidFill>
                <a:uFill>
                  <a:solidFill>
                    <a:srgbClr val="000000"/>
                  </a:solidFill>
                </a:uFill>
              </a:rPr>
              <a:t>S2: consumer execute</a:t>
            </a:r>
            <a:r>
              <a:t> </a:t>
            </a:r>
            <a:r>
              <a:rPr>
                <a:solidFill>
                  <a:srgbClr val="0056D6"/>
                </a:solidFill>
                <a:uFill>
                  <a:solidFill>
                    <a:srgbClr val="0056D6"/>
                  </a:solidFill>
                </a:uFill>
              </a:rPr>
              <a:t>register2 = count </a:t>
            </a:r>
            <a:r>
              <a:t> </a:t>
            </a:r>
            <a:r>
              <a:rPr>
                <a:solidFill>
                  <a:srgbClr val="000000"/>
                </a:solidFill>
                <a:uFill>
                  <a:solidFill>
                    <a:srgbClr val="000000"/>
                  </a:solidFill>
                </a:uFill>
              </a:rPr>
              <a:t> {register2 = 5} </a:t>
            </a:r>
            <a:br/>
            <a:r>
              <a:rPr>
                <a:solidFill>
                  <a:srgbClr val="000000"/>
                </a:solidFill>
                <a:uFill>
                  <a:solidFill>
                    <a:srgbClr val="000000"/>
                  </a:solidFill>
                </a:uFill>
              </a:rPr>
              <a:t>S3: consumer execute </a:t>
            </a:r>
            <a:r>
              <a:rPr>
                <a:solidFill>
                  <a:srgbClr val="0056D6"/>
                </a:solidFill>
                <a:uFill>
                  <a:solidFill>
                    <a:srgbClr val="0056D6"/>
                  </a:solidFill>
                </a:uFill>
              </a:rPr>
              <a:t>register2 = register2 - 1 </a:t>
            </a:r>
            <a:r>
              <a:t>  </a:t>
            </a:r>
            <a:r>
              <a:rPr>
                <a:solidFill>
                  <a:srgbClr val="000000"/>
                </a:solidFill>
                <a:uFill>
                  <a:solidFill>
                    <a:srgbClr val="000000"/>
                  </a:solidFill>
                </a:uFill>
              </a:rPr>
              <a:t>{register2 = 4} </a:t>
            </a:r>
            <a:br/>
            <a:r>
              <a:rPr>
                <a:solidFill>
                  <a:srgbClr val="000000"/>
                </a:solidFill>
                <a:uFill>
                  <a:solidFill>
                    <a:srgbClr val="000000"/>
                  </a:solidFill>
                </a:uFill>
              </a:rPr>
              <a:t>S4: producer execute</a:t>
            </a:r>
            <a:r>
              <a:t> </a:t>
            </a:r>
            <a:r>
              <a:rPr>
                <a:solidFill>
                  <a:srgbClr val="0433FF"/>
                </a:solidFill>
                <a:uFill>
                  <a:solidFill>
                    <a:srgbClr val="0433FF"/>
                  </a:solidFill>
                </a:uFill>
              </a:rPr>
              <a:t>count = register1</a:t>
            </a:r>
            <a:r>
              <a:t> </a:t>
            </a:r>
            <a:r>
              <a:rPr>
                <a:solidFill>
                  <a:srgbClr val="000000"/>
                </a:solidFill>
                <a:uFill>
                  <a:solidFill>
                    <a:srgbClr val="000000"/>
                  </a:solidFill>
                </a:uFill>
              </a:rPr>
              <a:t>  {count = 6 } </a:t>
            </a:r>
            <a:br/>
            <a:r>
              <a:rPr>
                <a:solidFill>
                  <a:srgbClr val="000000"/>
                </a:solidFill>
                <a:uFill>
                  <a:solidFill>
                    <a:srgbClr val="000000"/>
                  </a:solidFill>
                </a:uFill>
              </a:rPr>
              <a:t>S5: consumer execute</a:t>
            </a:r>
            <a:r>
              <a:t> </a:t>
            </a:r>
            <a:r>
              <a:rPr>
                <a:solidFill>
                  <a:srgbClr val="0056D6"/>
                </a:solidFill>
                <a:uFill>
                  <a:solidFill>
                    <a:srgbClr val="0056D6"/>
                  </a:solidFill>
                </a:uFill>
              </a:rPr>
              <a:t>count = register2 </a:t>
            </a:r>
            <a:r>
              <a:rPr>
                <a:solidFill>
                  <a:srgbClr val="000000"/>
                </a:solidFill>
                <a:uFill>
                  <a:solidFill>
                    <a:srgbClr val="000000"/>
                  </a:solidFill>
                </a:uFill>
              </a:rPr>
              <a:t>  {count = 4}</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1" animBg="1" advAuto="0"/>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68" name="Race Condition"/>
          <p:cNvSpPr txBox="1">
            <a:spLocks noGrp="1"/>
          </p:cNvSpPr>
          <p:nvPr>
            <p:ph type="title"/>
          </p:nvPr>
        </p:nvSpPr>
        <p:spPr>
          <a:prstGeom prst="rect">
            <a:avLst/>
          </a:prstGeom>
        </p:spPr>
        <p:txBody>
          <a:bodyPr/>
          <a:lstStyle/>
          <a:p>
            <a:r>
              <a:t>Race Condition</a:t>
            </a:r>
          </a:p>
        </p:txBody>
      </p:sp>
      <p:sp>
        <p:nvSpPr>
          <p:cNvPr id="69" name="Race condition: The situation where several processes access and manipulate shared data concurrently. The final value of the shared data depends upon which process finishes last.…"/>
          <p:cNvSpPr txBox="1">
            <a:spLocks noGrp="1"/>
          </p:cNvSpPr>
          <p:nvPr>
            <p:ph type="body" idx="1"/>
          </p:nvPr>
        </p:nvSpPr>
        <p:spPr>
          <a:xfrm>
            <a:off x="457200" y="1193800"/>
            <a:ext cx="8229600" cy="5257800"/>
          </a:xfrm>
          <a:prstGeom prst="rect">
            <a:avLst/>
          </a:prstGeom>
        </p:spPr>
        <p:txBody>
          <a:bodyPr/>
          <a:lstStyle/>
          <a:p>
            <a:pPr>
              <a:buFont typeface="Zapf Dingbats"/>
              <a:buChar char="✦"/>
              <a:defRPr sz="2000"/>
            </a:pPr>
            <a:r>
              <a:rPr b="1">
                <a:solidFill>
                  <a:srgbClr val="B51A00"/>
                </a:solidFill>
                <a:uFill>
                  <a:solidFill>
                    <a:srgbClr val="B51A00"/>
                  </a:solidFill>
                </a:uFill>
                <a:latin typeface="Helvetica"/>
                <a:ea typeface="Helvetica"/>
                <a:cs typeface="Helvetica"/>
                <a:sym typeface="Helvetica"/>
              </a:rPr>
              <a:t>Race condition</a:t>
            </a:r>
            <a:r>
              <a:rPr>
                <a:solidFill>
                  <a:srgbClr val="000000"/>
                </a:solidFill>
                <a:latin typeface="Helvetica"/>
                <a:ea typeface="Helvetica"/>
                <a:cs typeface="Helvetica"/>
                <a:sym typeface="Helvetica"/>
              </a:rPr>
              <a:t>: The situation where several processes access and </a:t>
            </a:r>
            <a:r>
              <a:rPr>
                <a:solidFill>
                  <a:srgbClr val="000000"/>
                </a:solidFill>
                <a:uFill>
                  <a:solidFill>
                    <a:srgbClr val="000000"/>
                  </a:solidFill>
                </a:uFill>
              </a:rPr>
              <a:t>manipulate shared data concurrently. The final value of the shared data depends upon which process finishes last. </a:t>
            </a:r>
          </a:p>
          <a:p>
            <a:pPr marL="0" marR="0" indent="40640" defTabSz="4572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endParaRPr>
              <a:solidFill>
                <a:srgbClr val="000000"/>
              </a:solidFill>
              <a:uFill>
                <a:solidFill>
                  <a:srgbClr val="000000"/>
                </a:solidFill>
              </a:uFill>
            </a:endParaRPr>
          </a:p>
          <a:p>
            <a:pPr>
              <a:buFont typeface="Zapf Dingbats"/>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
                  <a:solidFill>
                    <a:srgbClr val="000000"/>
                  </a:solidFill>
                </a:uFill>
              </a:defRPr>
            </a:pPr>
            <a:r>
              <a:t>To prevent race conditions, concurrent processes must be </a:t>
            </a:r>
            <a:r>
              <a:rPr b="1">
                <a:solidFill>
                  <a:srgbClr val="B51A00"/>
                </a:solidFill>
                <a:uFill>
                  <a:solidFill>
                    <a:srgbClr val="B51A00"/>
                  </a:solidFill>
                </a:uFill>
              </a:rPr>
              <a:t>synchronized. </a:t>
            </a:r>
          </a:p>
          <a:p>
            <a:pPr lvl="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a:solidFill>
                  <a:srgbClr val="000000"/>
                </a:solidFill>
                <a:uFill>
                  <a:solidFill>
                    <a:srgbClr val="000000"/>
                  </a:solidFill>
                </a:uFill>
              </a:rPr>
              <a:t>Ensure that only one process at a time is manipulating the variable counter</a:t>
            </a:r>
            <a:r>
              <a:rPr>
                <a:solidFill>
                  <a:srgbClr val="000000"/>
                </a:solidFill>
                <a:uFill>
                  <a:solidFill>
                    <a:srgbClr val="000000"/>
                  </a:solidFill>
                </a:uFill>
                <a:latin typeface="Helvetica"/>
                <a:ea typeface="Helvetica"/>
                <a:cs typeface="Helvetica"/>
                <a:sym typeface="Helvetica"/>
              </a:rPr>
              <a:t>. </a:t>
            </a:r>
            <a:endParaRPr>
              <a:latin typeface="Helvetica"/>
              <a:ea typeface="Helvetica"/>
              <a:cs typeface="Helvetica"/>
              <a:sym typeface="Helvetica"/>
            </a:endParaRPr>
          </a:p>
          <a:p>
            <a:pPr marL="0" marR="0" indent="40640" defTabSz="457200">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endParaRPr>
              <a:latin typeface="Monotype Sorts"/>
              <a:ea typeface="Monotype Sorts"/>
              <a:cs typeface="Monotype Sorts"/>
              <a:sym typeface="Monotype Sorts"/>
            </a:endParaRPr>
          </a:p>
          <a:p>
            <a:pPr marL="0" marR="0" indent="40640" defTabSz="457200">
              <a:spcBef>
                <a:spcPts val="0"/>
              </a:spcBef>
              <a:buSzTx/>
              <a:buFont typeface="Zapf Dingbats"/>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r>
              <a:rPr>
                <a:latin typeface="Monotype Sorts"/>
                <a:ea typeface="Monotype Sorts"/>
                <a:cs typeface="Monotype Sorts"/>
                <a:sym typeface="Monotype Sorts"/>
              </a:rPr>
              <a:t>   </a:t>
            </a:r>
            <a:r>
              <a:t>The statements </a:t>
            </a:r>
          </a:p>
          <a:p>
            <a:pPr marL="546100" lvl="2" indent="-2540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b="1">
                <a:solidFill>
                  <a:srgbClr val="000000"/>
                </a:solidFill>
                <a:uFill>
                  <a:solidFill>
                    <a:srgbClr val="000000"/>
                  </a:solidFill>
                </a:uFill>
                <a:latin typeface="Courier New"/>
                <a:ea typeface="Courier New"/>
                <a:cs typeface="Courier New"/>
                <a:sym typeface="Courier New"/>
              </a:defRPr>
            </a:pPr>
            <a:r>
              <a:t>count++;</a:t>
            </a:r>
            <a:r>
              <a:rPr b="0">
                <a:latin typeface="Helvetica"/>
                <a:ea typeface="Helvetica"/>
                <a:cs typeface="Helvetica"/>
                <a:sym typeface="Helvetica"/>
              </a:rPr>
              <a:t> </a:t>
            </a:r>
          </a:p>
          <a:p>
            <a:pPr marL="546100" lvl="2" indent="-2540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b="1">
                <a:solidFill>
                  <a:srgbClr val="000000"/>
                </a:solidFill>
                <a:uFill>
                  <a:solidFill>
                    <a:srgbClr val="000000"/>
                  </a:solidFill>
                </a:uFill>
                <a:latin typeface="Courier New"/>
                <a:ea typeface="Courier New"/>
                <a:cs typeface="Courier New"/>
                <a:sym typeface="Courier New"/>
              </a:defRPr>
            </a:pPr>
            <a:r>
              <a:t>count--;</a:t>
            </a:r>
            <a:r>
              <a:rPr b="0">
                <a:latin typeface="Helvetica"/>
                <a:ea typeface="Helvetica"/>
                <a:cs typeface="Helvetica"/>
                <a:sym typeface="Helvetica"/>
              </a:rPr>
              <a:t> </a:t>
            </a:r>
          </a:p>
          <a:p>
            <a:pPr marL="0" lvl="2" indent="292100">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
                  <a:solidFill>
                    <a:srgbClr val="000000"/>
                  </a:solidFill>
                </a:uFill>
              </a:defRPr>
            </a:pPr>
            <a:r>
              <a:t>must be performed </a:t>
            </a:r>
            <a:r>
              <a:rPr>
                <a:solidFill>
                  <a:srgbClr val="B51A00"/>
                </a:solidFill>
                <a:uFill>
                  <a:solidFill>
                    <a:srgbClr val="B51A00"/>
                  </a:solidFill>
                </a:uFill>
              </a:rPr>
              <a:t>atomically</a:t>
            </a:r>
            <a:r>
              <a:t>. </a:t>
            </a:r>
          </a:p>
          <a:p>
            <a:pPr marL="0" lvl="2" indent="292100">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
                  <a:solidFill>
                    <a:srgbClr val="000000"/>
                  </a:solidFill>
                </a:uFill>
              </a:defRPr>
            </a:pPr>
            <a:r>
              <a:rPr>
                <a:latin typeface="Monotype Sorts"/>
                <a:ea typeface="Monotype Sorts"/>
                <a:cs typeface="Monotype Sorts"/>
                <a:sym typeface="Monotype Sorts"/>
              </a:rPr>
              <a:t> </a:t>
            </a:r>
          </a:p>
          <a:p>
            <a:pPr marL="0" marR="0" indent="40640" defTabSz="457200">
              <a:spcBef>
                <a:spcPts val="0"/>
              </a:spcBef>
              <a:buSzTx/>
              <a:buFont typeface="Zapf Dingbats"/>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000">
                <a:solidFill>
                  <a:srgbClr val="000000"/>
                </a:solidFill>
                <a:uFillTx/>
                <a:latin typeface="Helvetica"/>
                <a:ea typeface="Helvetica"/>
                <a:cs typeface="Helvetica"/>
                <a:sym typeface="Helvetica"/>
              </a:defRPr>
            </a:pPr>
            <a:r>
              <a:t> Atomic operation means an operation without interruption.</a:t>
            </a:r>
          </a:p>
        </p:txBody>
      </p:sp>
      <p:sp>
        <p:nvSpPr>
          <p:cNvPr id="70"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9</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a:extLst>
            <a:ext uri="{FF2B5EF4-FFF2-40B4-BE49-F238E27FC236}">
              <a16:creationId xmlns:a16="http://schemas.microsoft.com/office/drawing/2014/main" id="{472EF495-1B08-33E2-3E9A-A16F1CF73557}"/>
            </a:ext>
          </a:extLst>
        </p:cNvPr>
        <p:cNvGrpSpPr/>
        <p:nvPr/>
      </p:nvGrpSpPr>
      <p:grpSpPr>
        <a:xfrm>
          <a:off x="0" y="0"/>
          <a:ext cx="0" cy="0"/>
          <a:chOff x="0" y="0"/>
          <a:chExt cx="0" cy="0"/>
        </a:xfrm>
      </p:grpSpPr>
      <p:sp>
        <p:nvSpPr>
          <p:cNvPr id="72" name="Race Condition">
            <a:extLst>
              <a:ext uri="{FF2B5EF4-FFF2-40B4-BE49-F238E27FC236}">
                <a16:creationId xmlns:a16="http://schemas.microsoft.com/office/drawing/2014/main" id="{EFD08BE7-DC30-AC91-B134-D2546E10396F}"/>
              </a:ext>
            </a:extLst>
          </p:cNvPr>
          <p:cNvSpPr txBox="1">
            <a:spLocks noGrp="1"/>
          </p:cNvSpPr>
          <p:nvPr>
            <p:ph type="title"/>
          </p:nvPr>
        </p:nvSpPr>
        <p:spPr>
          <a:prstGeom prst="rect">
            <a:avLst/>
          </a:prstGeom>
        </p:spPr>
        <p:txBody>
          <a:bodyPr/>
          <a:lstStyle/>
          <a:p>
            <a:r>
              <a:t>Race Condition</a:t>
            </a:r>
          </a:p>
        </p:txBody>
      </p:sp>
      <p:sp>
        <p:nvSpPr>
          <p:cNvPr id="73" name="Slide Number">
            <a:extLst>
              <a:ext uri="{FF2B5EF4-FFF2-40B4-BE49-F238E27FC236}">
                <a16:creationId xmlns:a16="http://schemas.microsoft.com/office/drawing/2014/main" id="{60BA6A63-8A69-613A-EFE2-37FB50DCB824}"/>
              </a:ext>
            </a:extLst>
          </p:cNvP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10</a:t>
            </a:fld>
            <a:endParaRPr/>
          </a:p>
        </p:txBody>
      </p:sp>
      <p:grpSp>
        <p:nvGrpSpPr>
          <p:cNvPr id="80" name="Group">
            <a:extLst>
              <a:ext uri="{FF2B5EF4-FFF2-40B4-BE49-F238E27FC236}">
                <a16:creationId xmlns:a16="http://schemas.microsoft.com/office/drawing/2014/main" id="{8C365E9A-976A-19C5-25EE-E5C63C5DDCC5}"/>
              </a:ext>
            </a:extLst>
          </p:cNvPr>
          <p:cNvGrpSpPr/>
          <p:nvPr/>
        </p:nvGrpSpPr>
        <p:grpSpPr>
          <a:xfrm>
            <a:off x="914399" y="1752600"/>
            <a:ext cx="3573147" cy="3048000"/>
            <a:chOff x="0" y="0"/>
            <a:chExt cx="3573144" cy="3048000"/>
          </a:xfrm>
        </p:grpSpPr>
        <p:grpSp>
          <p:nvGrpSpPr>
            <p:cNvPr id="76" name="Group">
              <a:extLst>
                <a:ext uri="{FF2B5EF4-FFF2-40B4-BE49-F238E27FC236}">
                  <a16:creationId xmlns:a16="http://schemas.microsoft.com/office/drawing/2014/main" id="{BC78613E-8321-F3D5-E659-A946363B4B64}"/>
                </a:ext>
              </a:extLst>
            </p:cNvPr>
            <p:cNvGrpSpPr/>
            <p:nvPr/>
          </p:nvGrpSpPr>
          <p:grpSpPr>
            <a:xfrm>
              <a:off x="0" y="0"/>
              <a:ext cx="3276600" cy="3048000"/>
              <a:chOff x="0" y="0"/>
              <a:chExt cx="3276600" cy="3048000"/>
            </a:xfrm>
          </p:grpSpPr>
          <p:sp>
            <p:nvSpPr>
              <p:cNvPr id="74" name="Rectangle">
                <a:extLst>
                  <a:ext uri="{FF2B5EF4-FFF2-40B4-BE49-F238E27FC236}">
                    <a16:creationId xmlns:a16="http://schemas.microsoft.com/office/drawing/2014/main" id="{D04839EA-F307-F2C0-3FC9-423C94EB79D0}"/>
                  </a:ext>
                </a:extLst>
              </p:cNvPr>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5" name="char chin, chout;//shared…">
                <a:extLst>
                  <a:ext uri="{FF2B5EF4-FFF2-40B4-BE49-F238E27FC236}">
                    <a16:creationId xmlns:a16="http://schemas.microsoft.com/office/drawing/2014/main" id="{8744C905-49E1-42FC-63FE-82E9F6BD4C1D}"/>
                  </a:ext>
                </a:extLst>
              </p:cNvPr>
              <p:cNvSpPr txBox="1"/>
              <p:nvPr/>
            </p:nvSpPr>
            <p:spPr>
              <a:xfrm>
                <a:off x="0" y="0"/>
                <a:ext cx="3276600" cy="28194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79" name="Group">
              <a:extLst>
                <a:ext uri="{FF2B5EF4-FFF2-40B4-BE49-F238E27FC236}">
                  <a16:creationId xmlns:a16="http://schemas.microsoft.com/office/drawing/2014/main" id="{6A56B5B4-9989-5C18-1A22-12C08E9B0730}"/>
                </a:ext>
              </a:extLst>
            </p:cNvPr>
            <p:cNvGrpSpPr/>
            <p:nvPr/>
          </p:nvGrpSpPr>
          <p:grpSpPr>
            <a:xfrm>
              <a:off x="3124199" y="609600"/>
              <a:ext cx="448946" cy="2133600"/>
              <a:chOff x="0" y="0"/>
              <a:chExt cx="448944" cy="2133600"/>
            </a:xfrm>
          </p:grpSpPr>
          <p:sp>
            <p:nvSpPr>
              <p:cNvPr id="77" name="A">
                <a:extLst>
                  <a:ext uri="{FF2B5EF4-FFF2-40B4-BE49-F238E27FC236}">
                    <a16:creationId xmlns:a16="http://schemas.microsoft.com/office/drawing/2014/main" id="{779DF03E-5DEA-FC30-0673-F633D8E19914}"/>
                  </a:ext>
                </a:extLst>
              </p:cNvPr>
              <p:cNvSpPr txBox="1"/>
              <p:nvPr/>
            </p:nvSpPr>
            <p:spPr>
              <a:xfrm>
                <a:off x="127317"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rPr dirty="0"/>
                  <a:t>A</a:t>
                </a:r>
              </a:p>
            </p:txBody>
          </p:sp>
          <p:sp>
            <p:nvSpPr>
              <p:cNvPr id="78" name="Line">
                <a:extLst>
                  <a:ext uri="{FF2B5EF4-FFF2-40B4-BE49-F238E27FC236}">
                    <a16:creationId xmlns:a16="http://schemas.microsoft.com/office/drawing/2014/main" id="{B173D495-20F8-065C-F4E1-7F2775F657DC}"/>
                  </a:ext>
                </a:extLst>
              </p:cNvPr>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90" name="Group">
            <a:extLst>
              <a:ext uri="{FF2B5EF4-FFF2-40B4-BE49-F238E27FC236}">
                <a16:creationId xmlns:a16="http://schemas.microsoft.com/office/drawing/2014/main" id="{7D5B3A5F-A286-6849-33BF-4AF853F788C5}"/>
              </a:ext>
            </a:extLst>
          </p:cNvPr>
          <p:cNvGrpSpPr/>
          <p:nvPr/>
        </p:nvGrpSpPr>
        <p:grpSpPr>
          <a:xfrm>
            <a:off x="914400" y="4953000"/>
            <a:ext cx="3276600" cy="990600"/>
            <a:chOff x="0" y="0"/>
            <a:chExt cx="3276600" cy="990600"/>
          </a:xfrm>
        </p:grpSpPr>
        <p:sp>
          <p:nvSpPr>
            <p:cNvPr id="88" name="Rectangle">
              <a:extLst>
                <a:ext uri="{FF2B5EF4-FFF2-40B4-BE49-F238E27FC236}">
                  <a16:creationId xmlns:a16="http://schemas.microsoft.com/office/drawing/2014/main" id="{8E3AEBCE-0004-6900-B445-6DAED145DEF2}"/>
                </a:ext>
              </a:extLst>
            </p:cNvPr>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9" name="&gt; ./echo…">
              <a:extLst>
                <a:ext uri="{FF2B5EF4-FFF2-40B4-BE49-F238E27FC236}">
                  <a16:creationId xmlns:a16="http://schemas.microsoft.com/office/drawing/2014/main" id="{78546B01-608B-720C-3734-99E2D290DC74}"/>
                </a:ext>
              </a:extLst>
            </p:cNvPr>
            <p:cNvSpPr txBox="1"/>
            <p:nvPr/>
          </p:nvSpPr>
          <p:spPr>
            <a:xfrm>
              <a:off x="0" y="0"/>
              <a:ext cx="3276600" cy="863600"/>
            </a:xfrm>
            <a:prstGeom prst="rect">
              <a:avLst/>
            </a:prstGeom>
            <a:noFill/>
            <a:ln w="12700" cap="flat">
              <a:noFill/>
              <a:miter lim="400000"/>
            </a:ln>
            <a:effec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91" name="Single-threaded echo">
            <a:extLst>
              <a:ext uri="{FF2B5EF4-FFF2-40B4-BE49-F238E27FC236}">
                <a16:creationId xmlns:a16="http://schemas.microsoft.com/office/drawing/2014/main" id="{6D15A3BB-F1B4-834E-BB57-C0816A23F73A}"/>
              </a:ext>
            </a:extLst>
          </p:cNvPr>
          <p:cNvSpPr txBox="1"/>
          <p:nvPr/>
        </p:nvSpPr>
        <p:spPr>
          <a:xfrm>
            <a:off x="1515747" y="5943600"/>
            <a:ext cx="2061206" cy="368300"/>
          </a:xfrm>
          <a:prstGeom prst="rect">
            <a:avLst/>
          </a:prstGeom>
          <a:ln w="12700">
            <a:miter lim="400000"/>
          </a:ln>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sp>
        <p:nvSpPr>
          <p:cNvPr id="126" name="Significant race conditions in I/O &amp; variable sharing">
            <a:extLst>
              <a:ext uri="{FF2B5EF4-FFF2-40B4-BE49-F238E27FC236}">
                <a16:creationId xmlns:a16="http://schemas.microsoft.com/office/drawing/2014/main" id="{955DC7E9-4824-6161-DCD6-A0D8B80496B0}"/>
              </a:ext>
            </a:extLst>
          </p:cNvPr>
          <p:cNvSpPr txBox="1"/>
          <p:nvPr/>
        </p:nvSpPr>
        <p:spPr>
          <a:xfrm>
            <a:off x="457200" y="1143000"/>
            <a:ext cx="83185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spTree>
    <p:extLst>
      <p:ext uri="{BB962C8B-B14F-4D97-AF65-F5344CB8AC3E}">
        <p14:creationId xmlns:p14="http://schemas.microsoft.com/office/powerpoint/2010/main" val="1359669182"/>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72" name="Race Condition"/>
          <p:cNvSpPr txBox="1">
            <a:spLocks noGrp="1"/>
          </p:cNvSpPr>
          <p:nvPr>
            <p:ph type="title"/>
          </p:nvPr>
        </p:nvSpPr>
        <p:spPr>
          <a:prstGeom prst="rect">
            <a:avLst/>
          </a:prstGeom>
        </p:spPr>
        <p:txBody>
          <a:bodyPr/>
          <a:lstStyle/>
          <a:p>
            <a:r>
              <a:t>Race Condition</a:t>
            </a:r>
          </a:p>
        </p:txBody>
      </p:sp>
      <p:sp>
        <p:nvSpPr>
          <p:cNvPr id="73"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11</a:t>
            </a:fld>
            <a:endParaRPr/>
          </a:p>
        </p:txBody>
      </p:sp>
      <p:grpSp>
        <p:nvGrpSpPr>
          <p:cNvPr id="80" name="Group"/>
          <p:cNvGrpSpPr/>
          <p:nvPr/>
        </p:nvGrpSpPr>
        <p:grpSpPr>
          <a:xfrm>
            <a:off x="914399" y="1752600"/>
            <a:ext cx="3573147" cy="3048000"/>
            <a:chOff x="0" y="0"/>
            <a:chExt cx="3573144" cy="3048000"/>
          </a:xfrm>
        </p:grpSpPr>
        <p:grpSp>
          <p:nvGrpSpPr>
            <p:cNvPr id="76" name="Group"/>
            <p:cNvGrpSpPr/>
            <p:nvPr/>
          </p:nvGrpSpPr>
          <p:grpSpPr>
            <a:xfrm>
              <a:off x="0" y="0"/>
              <a:ext cx="3276600" cy="3048000"/>
              <a:chOff x="0" y="0"/>
              <a:chExt cx="3276600" cy="3048000"/>
            </a:xfrm>
          </p:grpSpPr>
          <p:sp>
            <p:nvSpPr>
              <p:cNvPr id="74"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5" name="char chin, chout;//shared…"/>
              <p:cNvSpPr txBox="1"/>
              <p:nvPr/>
            </p:nvSpPr>
            <p:spPr>
              <a:xfrm>
                <a:off x="0" y="0"/>
                <a:ext cx="3276600" cy="28194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79" name="Group"/>
            <p:cNvGrpSpPr/>
            <p:nvPr/>
          </p:nvGrpSpPr>
          <p:grpSpPr>
            <a:xfrm>
              <a:off x="3124199" y="609600"/>
              <a:ext cx="448946" cy="2133600"/>
              <a:chOff x="0" y="0"/>
              <a:chExt cx="448944" cy="2133600"/>
            </a:xfrm>
          </p:grpSpPr>
          <p:sp>
            <p:nvSpPr>
              <p:cNvPr id="77" name="A"/>
              <p:cNvSpPr txBox="1"/>
              <p:nvPr/>
            </p:nvSpPr>
            <p:spPr>
              <a:xfrm>
                <a:off x="127317"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78"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87" name="Group"/>
          <p:cNvGrpSpPr/>
          <p:nvPr/>
        </p:nvGrpSpPr>
        <p:grpSpPr>
          <a:xfrm>
            <a:off x="4745354" y="1752600"/>
            <a:ext cx="3683002" cy="3048000"/>
            <a:chOff x="0" y="0"/>
            <a:chExt cx="3683000" cy="3048000"/>
          </a:xfrm>
        </p:grpSpPr>
        <p:grpSp>
          <p:nvGrpSpPr>
            <p:cNvPr id="83" name="Group"/>
            <p:cNvGrpSpPr/>
            <p:nvPr/>
          </p:nvGrpSpPr>
          <p:grpSpPr>
            <a:xfrm>
              <a:off x="293615" y="0"/>
              <a:ext cx="3389386" cy="3048000"/>
              <a:chOff x="0" y="0"/>
              <a:chExt cx="3389385" cy="3048000"/>
            </a:xfrm>
          </p:grpSpPr>
          <p:sp>
            <p:nvSpPr>
              <p:cNvPr id="81" name="Rectangle"/>
              <p:cNvSpPr/>
              <p:nvPr/>
            </p:nvSpPr>
            <p:spPr>
              <a:xfrm>
                <a:off x="0" y="0"/>
                <a:ext cx="3389386"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2" name="char chin, chout; //shared…"/>
              <p:cNvSpPr txBox="1"/>
              <p:nvPr/>
            </p:nvSpPr>
            <p:spPr>
              <a:xfrm>
                <a:off x="0" y="0"/>
                <a:ext cx="3389386" cy="2997200"/>
              </a:xfrm>
              <a:prstGeom prst="rect">
                <a:avLst/>
              </a:prstGeom>
              <a:noFill/>
              <a:ln w="12700" cap="flat">
                <a:noFill/>
                <a:miter lim="400000"/>
              </a:ln>
              <a:effectLst/>
            </p:spPr>
            <p:txBody>
              <a:bodyPr wrap="square" lIns="50800" tIns="50800" rIns="50800" bIns="50800" numCol="1" anchor="t">
                <a:no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 //shared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86" name="Group"/>
            <p:cNvGrpSpPr/>
            <p:nvPr/>
          </p:nvGrpSpPr>
          <p:grpSpPr>
            <a:xfrm>
              <a:off x="-1" y="609599"/>
              <a:ext cx="451263" cy="2133601"/>
              <a:chOff x="0" y="0"/>
              <a:chExt cx="451261" cy="2133599"/>
            </a:xfrm>
          </p:grpSpPr>
          <p:sp>
            <p:nvSpPr>
              <p:cNvPr id="84" name="B"/>
              <p:cNvSpPr txBox="1"/>
              <p:nvPr/>
            </p:nvSpPr>
            <p:spPr>
              <a:xfrm>
                <a:off x="0" y="0"/>
                <a:ext cx="332699" cy="444500"/>
              </a:xfrm>
              <a:prstGeom prst="rect">
                <a:avLst/>
              </a:prstGeom>
              <a:noFill/>
              <a:ln w="12700" cap="flat">
                <a:noFill/>
                <a:miter lim="400000"/>
              </a:ln>
              <a:effectLst/>
            </p:spPr>
            <p:txBody>
              <a:bodyPr wrap="square" lIns="50800" tIns="50800" rIns="50800" bIns="50800" numCol="1" anchor="t">
                <a:no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85" name="Line"/>
              <p:cNvSpPr/>
              <p:nvPr/>
            </p:nvSpPr>
            <p:spPr>
              <a:xfrm rot="5400000">
                <a:off x="-502551" y="1179788"/>
                <a:ext cx="1828801" cy="7882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90" name="Group"/>
          <p:cNvGrpSpPr/>
          <p:nvPr/>
        </p:nvGrpSpPr>
        <p:grpSpPr>
          <a:xfrm>
            <a:off x="914400" y="4953000"/>
            <a:ext cx="3276600" cy="990600"/>
            <a:chOff x="0" y="0"/>
            <a:chExt cx="3276600" cy="990600"/>
          </a:xfrm>
        </p:grpSpPr>
        <p:sp>
          <p:nvSpPr>
            <p:cNvPr id="88"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9" name="&gt; ./echo…"/>
            <p:cNvSpPr txBox="1"/>
            <p:nvPr/>
          </p:nvSpPr>
          <p:spPr>
            <a:xfrm>
              <a:off x="0" y="0"/>
              <a:ext cx="3276600" cy="863600"/>
            </a:xfrm>
            <a:prstGeom prst="rect">
              <a:avLst/>
            </a:prstGeom>
            <a:noFill/>
            <a:ln w="12700" cap="flat">
              <a:noFill/>
              <a:miter lim="400000"/>
            </a:ln>
            <a:effec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91" name="Single-threaded echo"/>
          <p:cNvSpPr txBox="1"/>
          <p:nvPr/>
        </p:nvSpPr>
        <p:spPr>
          <a:xfrm>
            <a:off x="1515747" y="5943600"/>
            <a:ext cx="2061206" cy="368300"/>
          </a:xfrm>
          <a:prstGeom prst="rect">
            <a:avLst/>
          </a:prstGeom>
          <a:ln w="12700">
            <a:miter lim="400000"/>
          </a:ln>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grpSp>
        <p:nvGrpSpPr>
          <p:cNvPr id="96" name="Group"/>
          <p:cNvGrpSpPr/>
          <p:nvPr/>
        </p:nvGrpSpPr>
        <p:grpSpPr>
          <a:xfrm>
            <a:off x="5029200" y="4953000"/>
            <a:ext cx="3378200" cy="1358900"/>
            <a:chOff x="0" y="0"/>
            <a:chExt cx="3378200" cy="1358900"/>
          </a:xfrm>
        </p:grpSpPr>
        <p:sp>
          <p:nvSpPr>
            <p:cNvPr id="92" name="Multithreaded echo (lucky)"/>
            <p:cNvSpPr txBox="1"/>
            <p:nvPr/>
          </p:nvSpPr>
          <p:spPr>
            <a:xfrm>
              <a:off x="384107" y="990600"/>
              <a:ext cx="2608350" cy="368300"/>
            </a:xfrm>
            <a:prstGeom prst="rect">
              <a:avLst/>
            </a:prstGeom>
            <a:noFill/>
            <a:ln w="12700" cap="flat">
              <a:noFill/>
              <a:miter lim="400000"/>
            </a:ln>
            <a:effectLst/>
          </p:spPr>
          <p:txBody>
            <a:bodyPr wrap="square" lIns="50800" tIns="50800" rIns="50800" bIns="50800" numCol="1" anchor="t">
              <a:no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Multithreaded echo (lucky)</a:t>
              </a:r>
            </a:p>
          </p:txBody>
        </p:sp>
        <p:grpSp>
          <p:nvGrpSpPr>
            <p:cNvPr id="95" name="Group"/>
            <p:cNvGrpSpPr/>
            <p:nvPr/>
          </p:nvGrpSpPr>
          <p:grpSpPr>
            <a:xfrm>
              <a:off x="0" y="0"/>
              <a:ext cx="3378200" cy="990600"/>
              <a:chOff x="0" y="0"/>
              <a:chExt cx="3378200" cy="990600"/>
            </a:xfrm>
          </p:grpSpPr>
          <p:sp>
            <p:nvSpPr>
              <p:cNvPr id="93" name="Rectangle"/>
              <p:cNvSpPr/>
              <p:nvPr/>
            </p:nvSpPr>
            <p:spPr>
              <a:xfrm>
                <a:off x="0" y="0"/>
                <a:ext cx="33782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94" name="&gt; ./echo…"/>
              <p:cNvSpPr txBox="1"/>
              <p:nvPr/>
            </p:nvSpPr>
            <p:spPr>
              <a:xfrm>
                <a:off x="0" y="0"/>
                <a:ext cx="3378200" cy="863600"/>
              </a:xfrm>
              <a:prstGeom prst="rect">
                <a:avLst/>
              </a:prstGeom>
              <a:noFill/>
              <a:ln w="12700" cap="flat">
                <a:noFill/>
                <a:miter lim="400000"/>
              </a:ln>
              <a:effectLst/>
            </p:spPr>
            <p:txBody>
              <a:bodyPr wrap="square" lIns="50800" tIns="50800" rIns="50800" bIns="50800" numCol="1" anchor="t">
                <a:no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sz="2400">
                    <a:solidFill>
                      <a:srgbClr val="7B1142"/>
                    </a:solidFill>
                    <a:uFill>
                      <a:solidFill>
                        <a:srgbClr val="7B1142"/>
                      </a:solidFill>
                    </a:uFill>
                    <a:latin typeface="Times New Roman"/>
                    <a:ea typeface="Times New Roman"/>
                    <a:cs typeface="Times New Roman"/>
                    <a:sym typeface="Times New Roman"/>
                  </a:defRPr>
                </a:pPr>
                <a:r>
                  <a:rPr sz="1800" b="1">
                    <a:solidFill>
                      <a:srgbClr val="0433FF"/>
                    </a:solidFill>
                    <a:uFill>
                      <a:solidFill>
                        <a:srgbClr val="0433FF"/>
                      </a:solidFill>
                    </a:uFill>
                    <a:latin typeface="Courier New"/>
                    <a:ea typeface="Courier New"/>
                    <a:cs typeface="Courier New"/>
                    <a:sym typeface="Courier New"/>
                  </a:rPr>
                  <a:t>H</a:t>
                </a:r>
                <a:r>
                  <a:rPr sz="1800" b="1">
                    <a:solidFill>
                      <a:srgbClr val="FF2600"/>
                    </a:solidFill>
                    <a:uFill>
                      <a:solidFill>
                        <a:srgbClr val="FF2600"/>
                      </a:solidFill>
                    </a:uFill>
                    <a:latin typeface="Courier New"/>
                    <a:ea typeface="Courier New"/>
                    <a:cs typeface="Courier New"/>
                    <a:sym typeface="Courier New"/>
                  </a:rPr>
                  <a:t>e</a:t>
                </a:r>
                <a:r>
                  <a:rPr sz="1800" b="1">
                    <a:solidFill>
                      <a:srgbClr val="0433FF"/>
                    </a:solidFill>
                    <a:uFill>
                      <a:solidFill>
                        <a:srgbClr val="0433FF"/>
                      </a:solidFill>
                    </a:uFill>
                    <a:latin typeface="Courier New"/>
                    <a:ea typeface="Courier New"/>
                    <a:cs typeface="Courier New"/>
                    <a:sym typeface="Courier New"/>
                  </a:rPr>
                  <a:t>l</a:t>
                </a:r>
                <a:r>
                  <a:rPr sz="1800" b="1">
                    <a:solidFill>
                      <a:srgbClr val="FF2600"/>
                    </a:solidFill>
                    <a:uFill>
                      <a:solidFill>
                        <a:srgbClr val="FF2600"/>
                      </a:solidFill>
                    </a:uFill>
                    <a:latin typeface="Courier New"/>
                    <a:ea typeface="Courier New"/>
                    <a:cs typeface="Courier New"/>
                    <a:sym typeface="Courier New"/>
                  </a:rPr>
                  <a:t>lo</a:t>
                </a:r>
                <a:r>
                  <a:rPr sz="1800" b="1">
                    <a:solidFill>
                      <a:srgbClr val="E6ADC8"/>
                    </a:solidFill>
                    <a:uFill>
                      <a:solidFill>
                        <a:srgbClr val="E6ADC8"/>
                      </a:solidFill>
                    </a:uFill>
                    <a:latin typeface="Courier New"/>
                    <a:ea typeface="Courier New"/>
                    <a:cs typeface="Courier New"/>
                    <a:sym typeface="Courier New"/>
                  </a:rPr>
                  <a:t> </a:t>
                </a:r>
                <a:r>
                  <a:rPr sz="1800" b="1">
                    <a:solidFill>
                      <a:srgbClr val="0433FF"/>
                    </a:solidFill>
                    <a:uFill>
                      <a:solidFill>
                        <a:srgbClr val="0433FF"/>
                      </a:solidFill>
                    </a:uFill>
                    <a:latin typeface="Courier New"/>
                    <a:ea typeface="Courier New"/>
                    <a:cs typeface="Courier New"/>
                    <a:sym typeface="Courier New"/>
                  </a:rPr>
                  <a:t>wor</a:t>
                </a:r>
                <a:r>
                  <a:rPr sz="1800" b="1">
                    <a:solidFill>
                      <a:srgbClr val="FF2600"/>
                    </a:solidFill>
                    <a:uFill>
                      <a:solidFill>
                        <a:srgbClr val="FF2600"/>
                      </a:solidFill>
                    </a:uFill>
                    <a:latin typeface="Courier New"/>
                    <a:ea typeface="Courier New"/>
                    <a:cs typeface="Courier New"/>
                    <a:sym typeface="Courier New"/>
                  </a:rPr>
                  <a:t>l</a:t>
                </a:r>
                <a:r>
                  <a:rPr sz="1800" b="1">
                    <a:solidFill>
                      <a:srgbClr val="0433FF"/>
                    </a:solidFill>
                    <a:uFill>
                      <a:solidFill>
                        <a:srgbClr val="0433FF"/>
                      </a:solidFill>
                    </a:uFill>
                    <a:latin typeface="Courier New"/>
                    <a:ea typeface="Courier New"/>
                    <a:cs typeface="Courier New"/>
                    <a:sym typeface="Courier New"/>
                  </a:rPr>
                  <a:t>d</a:t>
                </a:r>
                <a:r>
                  <a:rPr sz="1800" b="1">
                    <a:solidFill>
                      <a:srgbClr val="FF2600"/>
                    </a:solidFill>
                    <a:uFill>
                      <a:solidFill>
                        <a:srgbClr val="FF2600"/>
                      </a:solidFill>
                    </a:uFill>
                    <a:latin typeface="Courier New"/>
                    <a:ea typeface="Courier New"/>
                    <a:cs typeface="Courier New"/>
                    <a:sym typeface="Courier New"/>
                  </a:rPr>
                  <a:t>!</a:t>
                </a:r>
              </a:p>
            </p:txBody>
          </p:sp>
        </p:grpSp>
      </p:grpSp>
      <p:grpSp>
        <p:nvGrpSpPr>
          <p:cNvPr id="125" name="Group"/>
          <p:cNvGrpSpPr/>
          <p:nvPr/>
        </p:nvGrpSpPr>
        <p:grpSpPr>
          <a:xfrm>
            <a:off x="1295400" y="3089275"/>
            <a:ext cx="4343400" cy="2136458"/>
            <a:chOff x="0" y="0"/>
            <a:chExt cx="4343400" cy="2136457"/>
          </a:xfrm>
        </p:grpSpPr>
        <p:grpSp>
          <p:nvGrpSpPr>
            <p:cNvPr id="106" name="Group"/>
            <p:cNvGrpSpPr/>
            <p:nvPr/>
          </p:nvGrpSpPr>
          <p:grpSpPr>
            <a:xfrm>
              <a:off x="0" y="0"/>
              <a:ext cx="228600" cy="796925"/>
              <a:chOff x="0" y="0"/>
              <a:chExt cx="228600" cy="796925"/>
            </a:xfrm>
          </p:grpSpPr>
          <p:grpSp>
            <p:nvGrpSpPr>
              <p:cNvPr id="99" name="Group"/>
              <p:cNvGrpSpPr/>
              <p:nvPr/>
            </p:nvGrpSpPr>
            <p:grpSpPr>
              <a:xfrm>
                <a:off x="0" y="0"/>
                <a:ext cx="228600" cy="228600"/>
                <a:chOff x="0" y="0"/>
                <a:chExt cx="228600" cy="228600"/>
              </a:xfrm>
            </p:grpSpPr>
            <p:sp>
              <p:nvSpPr>
                <p:cNvPr id="97"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98" name="1"/>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1</a:t>
                  </a:r>
                </a:p>
              </p:txBody>
            </p:sp>
          </p:grpSp>
          <p:grpSp>
            <p:nvGrpSpPr>
              <p:cNvPr id="102" name="Group"/>
              <p:cNvGrpSpPr/>
              <p:nvPr/>
            </p:nvGrpSpPr>
            <p:grpSpPr>
              <a:xfrm>
                <a:off x="0" y="290512"/>
                <a:ext cx="228600" cy="228601"/>
                <a:chOff x="0" y="0"/>
                <a:chExt cx="228600" cy="228600"/>
              </a:xfrm>
            </p:grpSpPr>
            <p:sp>
              <p:nvSpPr>
                <p:cNvPr id="100"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01" name="2"/>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2</a:t>
                  </a:r>
                </a:p>
              </p:txBody>
            </p:sp>
          </p:grpSp>
          <p:grpSp>
            <p:nvGrpSpPr>
              <p:cNvPr id="105" name="Group"/>
              <p:cNvGrpSpPr/>
              <p:nvPr/>
            </p:nvGrpSpPr>
            <p:grpSpPr>
              <a:xfrm>
                <a:off x="0" y="568325"/>
                <a:ext cx="228600" cy="228600"/>
                <a:chOff x="0" y="0"/>
                <a:chExt cx="228600" cy="228600"/>
              </a:xfrm>
            </p:grpSpPr>
            <p:sp>
              <p:nvSpPr>
                <p:cNvPr id="103"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04" name="3"/>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3</a:t>
                  </a:r>
                </a:p>
              </p:txBody>
            </p:sp>
          </p:grpSp>
        </p:grpSp>
        <p:grpSp>
          <p:nvGrpSpPr>
            <p:cNvPr id="116" name="Group"/>
            <p:cNvGrpSpPr/>
            <p:nvPr/>
          </p:nvGrpSpPr>
          <p:grpSpPr>
            <a:xfrm>
              <a:off x="4114800" y="0"/>
              <a:ext cx="228600" cy="796925"/>
              <a:chOff x="0" y="0"/>
              <a:chExt cx="228600" cy="796925"/>
            </a:xfrm>
          </p:grpSpPr>
          <p:grpSp>
            <p:nvGrpSpPr>
              <p:cNvPr id="109" name="Group"/>
              <p:cNvGrpSpPr/>
              <p:nvPr/>
            </p:nvGrpSpPr>
            <p:grpSpPr>
              <a:xfrm>
                <a:off x="0" y="0"/>
                <a:ext cx="228600" cy="228600"/>
                <a:chOff x="0" y="0"/>
                <a:chExt cx="228600" cy="228600"/>
              </a:xfrm>
            </p:grpSpPr>
            <p:sp>
              <p:nvSpPr>
                <p:cNvPr id="107"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08" name="4"/>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4</a:t>
                  </a:r>
                </a:p>
              </p:txBody>
            </p:sp>
          </p:grpSp>
          <p:grpSp>
            <p:nvGrpSpPr>
              <p:cNvPr id="112" name="Group"/>
              <p:cNvGrpSpPr/>
              <p:nvPr/>
            </p:nvGrpSpPr>
            <p:grpSpPr>
              <a:xfrm>
                <a:off x="0" y="290512"/>
                <a:ext cx="228600" cy="228601"/>
                <a:chOff x="0" y="0"/>
                <a:chExt cx="228600" cy="228600"/>
              </a:xfrm>
            </p:grpSpPr>
            <p:sp>
              <p:nvSpPr>
                <p:cNvPr id="110"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1" name="5"/>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5</a:t>
                  </a:r>
                </a:p>
              </p:txBody>
            </p:sp>
          </p:grpSp>
          <p:grpSp>
            <p:nvGrpSpPr>
              <p:cNvPr id="115" name="Group"/>
              <p:cNvGrpSpPr/>
              <p:nvPr/>
            </p:nvGrpSpPr>
            <p:grpSpPr>
              <a:xfrm>
                <a:off x="0" y="568325"/>
                <a:ext cx="228600" cy="228600"/>
                <a:chOff x="0" y="0"/>
                <a:chExt cx="228600" cy="228600"/>
              </a:xfrm>
            </p:grpSpPr>
            <p:sp>
              <p:nvSpPr>
                <p:cNvPr id="113"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4" name="6"/>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6</a:t>
                  </a:r>
                </a:p>
              </p:txBody>
            </p:sp>
          </p:grpSp>
        </p:grpSp>
        <p:grpSp>
          <p:nvGrpSpPr>
            <p:cNvPr id="124" name="Group"/>
            <p:cNvGrpSpPr/>
            <p:nvPr/>
          </p:nvGrpSpPr>
          <p:grpSpPr>
            <a:xfrm>
              <a:off x="2743200" y="111125"/>
              <a:ext cx="1143000" cy="2025333"/>
              <a:chOff x="0" y="0"/>
              <a:chExt cx="1142999" cy="2025332"/>
            </a:xfrm>
          </p:grpSpPr>
          <p:grpSp>
            <p:nvGrpSpPr>
              <p:cNvPr id="119" name="Group"/>
              <p:cNvGrpSpPr/>
              <p:nvPr/>
            </p:nvGrpSpPr>
            <p:grpSpPr>
              <a:xfrm>
                <a:off x="76199" y="0"/>
                <a:ext cx="1066801" cy="838201"/>
                <a:chOff x="0" y="0"/>
                <a:chExt cx="1066800" cy="838200"/>
              </a:xfrm>
            </p:grpSpPr>
            <p:sp>
              <p:nvSpPr>
                <p:cNvPr id="117" name="Line"/>
                <p:cNvSpPr/>
                <p:nvPr/>
              </p:nvSpPr>
              <p:spPr>
                <a:xfrm rot="10800000" flipH="1">
                  <a:off x="0" y="419100"/>
                  <a:ext cx="5334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8" name="Line"/>
                <p:cNvSpPr/>
                <p:nvPr/>
              </p:nvSpPr>
              <p:spPr>
                <a:xfrm flipH="1">
                  <a:off x="533400" y="0"/>
                  <a:ext cx="5334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122" name="Group"/>
              <p:cNvGrpSpPr/>
              <p:nvPr/>
            </p:nvGrpSpPr>
            <p:grpSpPr>
              <a:xfrm>
                <a:off x="0" y="0"/>
                <a:ext cx="1066801" cy="838201"/>
                <a:chOff x="0" y="0"/>
                <a:chExt cx="1066800" cy="838200"/>
              </a:xfrm>
            </p:grpSpPr>
            <p:sp>
              <p:nvSpPr>
                <p:cNvPr id="120" name="Line"/>
                <p:cNvSpPr/>
                <p:nvPr/>
              </p:nvSpPr>
              <p:spPr>
                <a:xfrm rot="10800000">
                  <a:off x="380999" y="419100"/>
                  <a:ext cx="685801"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21" name="Line"/>
                <p:cNvSpPr/>
                <p:nvPr/>
              </p:nvSpPr>
              <p:spPr>
                <a:xfrm>
                  <a:off x="0" y="0"/>
                  <a:ext cx="381000" cy="4191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123" name="lucky…"/>
              <p:cNvSpPr txBox="1"/>
              <p:nvPr/>
            </p:nvSpPr>
            <p:spPr>
              <a:xfrm>
                <a:off x="105204" y="760412"/>
                <a:ext cx="924655" cy="1264921"/>
              </a:xfrm>
              <a:prstGeom prst="rect">
                <a:avLst/>
              </a:prstGeom>
              <a:noFill/>
              <a:ln w="12700" cap="flat">
                <a:noFill/>
                <a:miter lim="400000"/>
              </a:ln>
              <a:effectLst/>
            </p:spPr>
            <p:txBody>
              <a:bodyPr wrap="none" lIns="50800" tIns="50800" rIns="50800" bIns="50800" numCol="1" anchor="t">
                <a:spAutoFit/>
              </a:bodyPr>
              <a:lstStyle/>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lucky</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CPU</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scheduling</a:t>
                </a:r>
              </a:p>
              <a:p>
                <a:pPr algn="ctr">
                  <a:spcBef>
                    <a:spcPts val="600"/>
                  </a:spcBef>
                  <a:buClr>
                    <a:srgbClr val="D83CFF"/>
                  </a:buClr>
                  <a:buFont typeface="Wingdings"/>
                  <a:defRPr sz="2800">
                    <a:solidFill>
                      <a:srgbClr val="D83CFF"/>
                    </a:solidFill>
                    <a:uFill>
                      <a:solidFill>
                        <a:srgbClr val="D83CFF"/>
                      </a:solidFill>
                    </a:uFill>
                    <a:latin typeface="Wingdings"/>
                    <a:ea typeface="Wingdings"/>
                    <a:cs typeface="Wingdings"/>
                    <a:sym typeface="Wingdings"/>
                  </a:defRPr>
                </a:pPr>
                <a:r>
                  <a:t></a:t>
                </a:r>
              </a:p>
            </p:txBody>
          </p:sp>
        </p:grpSp>
      </p:grpSp>
      <p:sp>
        <p:nvSpPr>
          <p:cNvPr id="126" name="Significant race conditions in I/O &amp; variable sharing"/>
          <p:cNvSpPr txBox="1"/>
          <p:nvPr/>
        </p:nvSpPr>
        <p:spPr>
          <a:xfrm>
            <a:off x="457200" y="1143000"/>
            <a:ext cx="83185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advAuto="0"/>
      <p:bldP spid="96" grpId="3" animBg="1" advAuto="0"/>
      <p:bldP spid="125" grpId="2" animBg="1" advAuto="0"/>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128" name="Race Condition"/>
          <p:cNvSpPr txBox="1">
            <a:spLocks noGrp="1"/>
          </p:cNvSpPr>
          <p:nvPr>
            <p:ph type="title"/>
          </p:nvPr>
        </p:nvSpPr>
        <p:spPr>
          <a:prstGeom prst="rect">
            <a:avLst/>
          </a:prstGeom>
        </p:spPr>
        <p:txBody>
          <a:bodyPr/>
          <a:lstStyle/>
          <a:p>
            <a:r>
              <a:t>Race Condition</a:t>
            </a:r>
          </a:p>
        </p:txBody>
      </p:sp>
      <p:sp>
        <p:nvSpPr>
          <p:cNvPr id="129"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12</a:t>
            </a:fld>
            <a:endParaRPr/>
          </a:p>
        </p:txBody>
      </p:sp>
      <p:grpSp>
        <p:nvGrpSpPr>
          <p:cNvPr id="136" name="Group"/>
          <p:cNvGrpSpPr/>
          <p:nvPr/>
        </p:nvGrpSpPr>
        <p:grpSpPr>
          <a:xfrm>
            <a:off x="914399" y="1752600"/>
            <a:ext cx="3573147" cy="3048000"/>
            <a:chOff x="0" y="0"/>
            <a:chExt cx="3573144" cy="3048000"/>
          </a:xfrm>
        </p:grpSpPr>
        <p:grpSp>
          <p:nvGrpSpPr>
            <p:cNvPr id="132" name="Group"/>
            <p:cNvGrpSpPr/>
            <p:nvPr/>
          </p:nvGrpSpPr>
          <p:grpSpPr>
            <a:xfrm>
              <a:off x="0" y="0"/>
              <a:ext cx="3276600" cy="3048000"/>
              <a:chOff x="0" y="0"/>
              <a:chExt cx="3276600" cy="3048000"/>
            </a:xfrm>
          </p:grpSpPr>
          <p:sp>
            <p:nvSpPr>
              <p:cNvPr id="130"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31" name="char chin, chout;//shared…"/>
              <p:cNvSpPr txBox="1"/>
              <p:nvPr/>
            </p:nvSpPr>
            <p:spPr>
              <a:xfrm>
                <a:off x="0" y="0"/>
                <a:ext cx="3276600" cy="28194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35" name="Group"/>
            <p:cNvGrpSpPr/>
            <p:nvPr/>
          </p:nvGrpSpPr>
          <p:grpSpPr>
            <a:xfrm>
              <a:off x="3124199" y="609600"/>
              <a:ext cx="448946" cy="2133600"/>
              <a:chOff x="0" y="0"/>
              <a:chExt cx="448944" cy="2133600"/>
            </a:xfrm>
          </p:grpSpPr>
          <p:sp>
            <p:nvSpPr>
              <p:cNvPr id="133" name="A"/>
              <p:cNvSpPr txBox="1"/>
              <p:nvPr/>
            </p:nvSpPr>
            <p:spPr>
              <a:xfrm>
                <a:off x="127317"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134"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139" name="Group"/>
          <p:cNvGrpSpPr/>
          <p:nvPr/>
        </p:nvGrpSpPr>
        <p:grpSpPr>
          <a:xfrm>
            <a:off x="914400" y="4953000"/>
            <a:ext cx="3276600" cy="990600"/>
            <a:chOff x="0" y="0"/>
            <a:chExt cx="3276600" cy="990600"/>
          </a:xfrm>
        </p:grpSpPr>
        <p:sp>
          <p:nvSpPr>
            <p:cNvPr id="137"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38" name="&gt; ./echo…"/>
            <p:cNvSpPr txBox="1"/>
            <p:nvPr/>
          </p:nvSpPr>
          <p:spPr>
            <a:xfrm>
              <a:off x="0" y="0"/>
              <a:ext cx="3276600" cy="863600"/>
            </a:xfrm>
            <a:prstGeom prst="rect">
              <a:avLst/>
            </a:prstGeom>
            <a:noFill/>
            <a:ln w="12700" cap="flat">
              <a:noFill/>
              <a:miter lim="400000"/>
            </a:ln>
            <a:effec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140" name="Single-threaded echo"/>
          <p:cNvSpPr txBox="1"/>
          <p:nvPr/>
        </p:nvSpPr>
        <p:spPr>
          <a:xfrm>
            <a:off x="1515747" y="5943600"/>
            <a:ext cx="2061206" cy="368300"/>
          </a:xfrm>
          <a:prstGeom prst="rect">
            <a:avLst/>
          </a:prstGeom>
          <a:ln w="12700">
            <a:miter lim="400000"/>
          </a:ln>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grpSp>
        <p:nvGrpSpPr>
          <p:cNvPr id="147" name="Group"/>
          <p:cNvGrpSpPr/>
          <p:nvPr/>
        </p:nvGrpSpPr>
        <p:grpSpPr>
          <a:xfrm>
            <a:off x="4745354" y="1752600"/>
            <a:ext cx="3708401" cy="3048000"/>
            <a:chOff x="0" y="0"/>
            <a:chExt cx="3708399" cy="3048000"/>
          </a:xfrm>
        </p:grpSpPr>
        <p:grpSp>
          <p:nvGrpSpPr>
            <p:cNvPr id="143" name="Group"/>
            <p:cNvGrpSpPr/>
            <p:nvPr/>
          </p:nvGrpSpPr>
          <p:grpSpPr>
            <a:xfrm>
              <a:off x="295640" y="0"/>
              <a:ext cx="3412760" cy="3048000"/>
              <a:chOff x="0" y="0"/>
              <a:chExt cx="3412759" cy="3048000"/>
            </a:xfrm>
          </p:grpSpPr>
          <p:sp>
            <p:nvSpPr>
              <p:cNvPr id="141" name="Rectangle"/>
              <p:cNvSpPr/>
              <p:nvPr/>
            </p:nvSpPr>
            <p:spPr>
              <a:xfrm>
                <a:off x="0" y="0"/>
                <a:ext cx="341276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42" name="char chin, chout; //shared…"/>
              <p:cNvSpPr txBox="1"/>
              <p:nvPr/>
            </p:nvSpPr>
            <p:spPr>
              <a:xfrm>
                <a:off x="0" y="0"/>
                <a:ext cx="3412760" cy="2997200"/>
              </a:xfrm>
              <a:prstGeom prst="rect">
                <a:avLst/>
              </a:prstGeom>
              <a:noFill/>
              <a:ln w="12700" cap="flat">
                <a:noFill/>
                <a:miter lim="400000"/>
              </a:ln>
              <a:effectLst/>
            </p:spPr>
            <p:txBody>
              <a:bodyPr wrap="square" lIns="50800" tIns="50800" rIns="50800" bIns="50800" numCol="1" anchor="t">
                <a:no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 //shared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46" name="Group"/>
            <p:cNvGrpSpPr/>
            <p:nvPr/>
          </p:nvGrpSpPr>
          <p:grpSpPr>
            <a:xfrm>
              <a:off x="0" y="609600"/>
              <a:ext cx="454374" cy="2133601"/>
              <a:chOff x="0" y="0"/>
              <a:chExt cx="454373" cy="2133600"/>
            </a:xfrm>
          </p:grpSpPr>
          <p:sp>
            <p:nvSpPr>
              <p:cNvPr id="144" name="B"/>
              <p:cNvSpPr txBox="1"/>
              <p:nvPr/>
            </p:nvSpPr>
            <p:spPr>
              <a:xfrm>
                <a:off x="0" y="0"/>
                <a:ext cx="334993" cy="444500"/>
              </a:xfrm>
              <a:prstGeom prst="rect">
                <a:avLst/>
              </a:prstGeom>
              <a:noFill/>
              <a:ln w="12700" cap="flat">
                <a:noFill/>
                <a:miter lim="400000"/>
              </a:ln>
              <a:effectLst/>
            </p:spPr>
            <p:txBody>
              <a:bodyPr wrap="square" lIns="50800" tIns="50800" rIns="50800" bIns="50800" numCol="1" anchor="t">
                <a:no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145" name="Line"/>
              <p:cNvSpPr/>
              <p:nvPr/>
            </p:nvSpPr>
            <p:spPr>
              <a:xfrm rot="5400000">
                <a:off x="-499710" y="1179516"/>
                <a:ext cx="1828801" cy="7936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
        <p:nvSpPr>
          <p:cNvPr id="148" name="Significant race conditions in I/O &amp; variable sharing"/>
          <p:cNvSpPr txBox="1"/>
          <p:nvPr/>
        </p:nvSpPr>
        <p:spPr>
          <a:xfrm>
            <a:off x="457200" y="1143000"/>
            <a:ext cx="83185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grpSp>
        <p:nvGrpSpPr>
          <p:cNvPr id="175" name="Group"/>
          <p:cNvGrpSpPr/>
          <p:nvPr/>
        </p:nvGrpSpPr>
        <p:grpSpPr>
          <a:xfrm>
            <a:off x="1295400" y="3089274"/>
            <a:ext cx="4343400" cy="2136459"/>
            <a:chOff x="0" y="0"/>
            <a:chExt cx="4343400" cy="2136457"/>
          </a:xfrm>
        </p:grpSpPr>
        <p:grpSp>
          <p:nvGrpSpPr>
            <p:cNvPr id="158" name="Group"/>
            <p:cNvGrpSpPr/>
            <p:nvPr/>
          </p:nvGrpSpPr>
          <p:grpSpPr>
            <a:xfrm>
              <a:off x="0" y="0"/>
              <a:ext cx="228600" cy="796925"/>
              <a:chOff x="0" y="0"/>
              <a:chExt cx="228600" cy="796925"/>
            </a:xfrm>
          </p:grpSpPr>
          <p:grpSp>
            <p:nvGrpSpPr>
              <p:cNvPr id="151" name="Group"/>
              <p:cNvGrpSpPr/>
              <p:nvPr/>
            </p:nvGrpSpPr>
            <p:grpSpPr>
              <a:xfrm>
                <a:off x="0" y="0"/>
                <a:ext cx="228600" cy="228600"/>
                <a:chOff x="0" y="0"/>
                <a:chExt cx="228600" cy="228600"/>
              </a:xfrm>
            </p:grpSpPr>
            <p:sp>
              <p:nvSpPr>
                <p:cNvPr id="149"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50" name="1"/>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1</a:t>
                  </a:r>
                </a:p>
              </p:txBody>
            </p:sp>
          </p:grpSp>
          <p:grpSp>
            <p:nvGrpSpPr>
              <p:cNvPr id="154" name="Group"/>
              <p:cNvGrpSpPr/>
              <p:nvPr/>
            </p:nvGrpSpPr>
            <p:grpSpPr>
              <a:xfrm>
                <a:off x="0" y="290512"/>
                <a:ext cx="228600" cy="228601"/>
                <a:chOff x="0" y="0"/>
                <a:chExt cx="228600" cy="228600"/>
              </a:xfrm>
            </p:grpSpPr>
            <p:sp>
              <p:nvSpPr>
                <p:cNvPr id="152"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53" name="5"/>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5</a:t>
                  </a:r>
                </a:p>
              </p:txBody>
            </p:sp>
          </p:grpSp>
          <p:grpSp>
            <p:nvGrpSpPr>
              <p:cNvPr id="157" name="Group"/>
              <p:cNvGrpSpPr/>
              <p:nvPr/>
            </p:nvGrpSpPr>
            <p:grpSpPr>
              <a:xfrm>
                <a:off x="0" y="568325"/>
                <a:ext cx="228600" cy="228600"/>
                <a:chOff x="0" y="0"/>
                <a:chExt cx="228600" cy="228600"/>
              </a:xfrm>
            </p:grpSpPr>
            <p:sp>
              <p:nvSpPr>
                <p:cNvPr id="155"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56" name="6"/>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6</a:t>
                  </a:r>
                </a:p>
              </p:txBody>
            </p:sp>
          </p:grpSp>
        </p:grpSp>
        <p:grpSp>
          <p:nvGrpSpPr>
            <p:cNvPr id="168" name="Group"/>
            <p:cNvGrpSpPr/>
            <p:nvPr/>
          </p:nvGrpSpPr>
          <p:grpSpPr>
            <a:xfrm>
              <a:off x="4114800" y="0"/>
              <a:ext cx="228600" cy="796925"/>
              <a:chOff x="0" y="0"/>
              <a:chExt cx="228600" cy="796925"/>
            </a:xfrm>
          </p:grpSpPr>
          <p:grpSp>
            <p:nvGrpSpPr>
              <p:cNvPr id="161" name="Group"/>
              <p:cNvGrpSpPr/>
              <p:nvPr/>
            </p:nvGrpSpPr>
            <p:grpSpPr>
              <a:xfrm>
                <a:off x="0" y="0"/>
                <a:ext cx="228600" cy="228600"/>
                <a:chOff x="0" y="0"/>
                <a:chExt cx="228600" cy="228600"/>
              </a:xfrm>
            </p:grpSpPr>
            <p:sp>
              <p:nvSpPr>
                <p:cNvPr id="159"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60" name="2"/>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2</a:t>
                  </a:r>
                </a:p>
              </p:txBody>
            </p:sp>
          </p:grpSp>
          <p:grpSp>
            <p:nvGrpSpPr>
              <p:cNvPr id="164" name="Group"/>
              <p:cNvGrpSpPr/>
              <p:nvPr/>
            </p:nvGrpSpPr>
            <p:grpSpPr>
              <a:xfrm>
                <a:off x="0" y="290512"/>
                <a:ext cx="228600" cy="228601"/>
                <a:chOff x="0" y="0"/>
                <a:chExt cx="228600" cy="228600"/>
              </a:xfrm>
            </p:grpSpPr>
            <p:sp>
              <p:nvSpPr>
                <p:cNvPr id="162"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63" name="3"/>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3</a:t>
                  </a:r>
                </a:p>
              </p:txBody>
            </p:sp>
          </p:grpSp>
          <p:grpSp>
            <p:nvGrpSpPr>
              <p:cNvPr id="167" name="Group"/>
              <p:cNvGrpSpPr/>
              <p:nvPr/>
            </p:nvGrpSpPr>
            <p:grpSpPr>
              <a:xfrm>
                <a:off x="0" y="568325"/>
                <a:ext cx="228600" cy="228600"/>
                <a:chOff x="0" y="0"/>
                <a:chExt cx="228600" cy="228600"/>
              </a:xfrm>
            </p:grpSpPr>
            <p:sp>
              <p:nvSpPr>
                <p:cNvPr id="165"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66" name="4"/>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4</a:t>
                  </a:r>
                </a:p>
              </p:txBody>
            </p:sp>
          </p:grpSp>
        </p:grpSp>
        <p:grpSp>
          <p:nvGrpSpPr>
            <p:cNvPr id="174" name="Group"/>
            <p:cNvGrpSpPr/>
            <p:nvPr/>
          </p:nvGrpSpPr>
          <p:grpSpPr>
            <a:xfrm>
              <a:off x="2819400" y="111124"/>
              <a:ext cx="1066800" cy="2025334"/>
              <a:chOff x="0" y="0"/>
              <a:chExt cx="1066800" cy="2025332"/>
            </a:xfrm>
          </p:grpSpPr>
          <p:sp>
            <p:nvSpPr>
              <p:cNvPr id="169" name="Line"/>
              <p:cNvSpPr/>
              <p:nvPr/>
            </p:nvSpPr>
            <p:spPr>
              <a:xfrm>
                <a:off x="0" y="0"/>
                <a:ext cx="1066800" cy="1588"/>
              </a:xfrm>
              <a:prstGeom prst="line">
                <a:avLst/>
              </a:prstGeom>
              <a:noFill/>
              <a:ln w="12700" cap="flat">
                <a:solidFill>
                  <a:srgbClr val="D83CFF"/>
                </a:solidFill>
                <a:prstDash val="sysDot"/>
                <a:round/>
                <a:tailEnd type="triangle" w="med" len="me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172" name="Group"/>
              <p:cNvGrpSpPr/>
              <p:nvPr/>
            </p:nvGrpSpPr>
            <p:grpSpPr>
              <a:xfrm>
                <a:off x="0" y="152400"/>
                <a:ext cx="990600" cy="685801"/>
                <a:chOff x="0" y="0"/>
                <a:chExt cx="990599" cy="685800"/>
              </a:xfrm>
            </p:grpSpPr>
            <p:sp>
              <p:nvSpPr>
                <p:cNvPr id="170" name="Line"/>
                <p:cNvSpPr/>
                <p:nvPr/>
              </p:nvSpPr>
              <p:spPr>
                <a:xfrm rot="10800000">
                  <a:off x="353785" y="342900"/>
                  <a:ext cx="636815"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71" name="Line"/>
                <p:cNvSpPr/>
                <p:nvPr/>
              </p:nvSpPr>
              <p:spPr>
                <a:xfrm>
                  <a:off x="0" y="0"/>
                  <a:ext cx="353786"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173" name="unlucky…"/>
              <p:cNvSpPr txBox="1"/>
              <p:nvPr/>
            </p:nvSpPr>
            <p:spPr>
              <a:xfrm>
                <a:off x="27416" y="760412"/>
                <a:ext cx="924655" cy="1264921"/>
              </a:xfrm>
              <a:prstGeom prst="rect">
                <a:avLst/>
              </a:prstGeom>
              <a:noFill/>
              <a:ln w="12700" cap="flat">
                <a:noFill/>
                <a:miter lim="400000"/>
              </a:ln>
              <a:effectLst/>
            </p:spPr>
            <p:txBody>
              <a:bodyPr wrap="none" lIns="50800" tIns="50800" rIns="50800" bIns="50800" numCol="1" anchor="t">
                <a:spAutoFit/>
              </a:bodyPr>
              <a:lstStyle/>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unlucky</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CPU</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scheduling</a:t>
                </a:r>
              </a:p>
              <a:p>
                <a:pPr algn="ctr">
                  <a:spcBef>
                    <a:spcPts val="600"/>
                  </a:spcBef>
                  <a:buClr>
                    <a:srgbClr val="D83CFF"/>
                  </a:buClr>
                  <a:buFont typeface="Wingdings"/>
                  <a:defRPr sz="2800">
                    <a:solidFill>
                      <a:srgbClr val="D83CFF"/>
                    </a:solidFill>
                    <a:uFill>
                      <a:solidFill>
                        <a:srgbClr val="D83CFF"/>
                      </a:solidFill>
                    </a:uFill>
                    <a:latin typeface="Wingdings"/>
                    <a:ea typeface="Wingdings"/>
                    <a:cs typeface="Wingdings"/>
                    <a:sym typeface="Wingdings"/>
                  </a:defRPr>
                </a:pPr>
                <a:r>
                  <a:t></a:t>
                </a: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1" animBg="1" advAuto="0"/>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183" name="Race Condition"/>
          <p:cNvSpPr txBox="1">
            <a:spLocks noGrp="1"/>
          </p:cNvSpPr>
          <p:nvPr>
            <p:ph type="title"/>
          </p:nvPr>
        </p:nvSpPr>
        <p:spPr>
          <a:prstGeom prst="rect">
            <a:avLst/>
          </a:prstGeom>
        </p:spPr>
        <p:txBody>
          <a:bodyPr/>
          <a:lstStyle/>
          <a:p>
            <a:r>
              <a:t>Race Condition</a:t>
            </a:r>
          </a:p>
        </p:txBody>
      </p:sp>
      <p:sp>
        <p:nvSpPr>
          <p:cNvPr id="184"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13</a:t>
            </a:fld>
            <a:endParaRPr/>
          </a:p>
        </p:txBody>
      </p:sp>
      <p:grpSp>
        <p:nvGrpSpPr>
          <p:cNvPr id="191" name="Group"/>
          <p:cNvGrpSpPr/>
          <p:nvPr/>
        </p:nvGrpSpPr>
        <p:grpSpPr>
          <a:xfrm>
            <a:off x="4745354" y="1752600"/>
            <a:ext cx="3560446" cy="3048000"/>
            <a:chOff x="0" y="0"/>
            <a:chExt cx="3560445" cy="3048000"/>
          </a:xfrm>
        </p:grpSpPr>
        <p:grpSp>
          <p:nvGrpSpPr>
            <p:cNvPr id="187" name="Group"/>
            <p:cNvGrpSpPr/>
            <p:nvPr/>
          </p:nvGrpSpPr>
          <p:grpSpPr>
            <a:xfrm>
              <a:off x="283845" y="0"/>
              <a:ext cx="3276601" cy="3048000"/>
              <a:chOff x="0" y="0"/>
              <a:chExt cx="3276600" cy="3048000"/>
            </a:xfrm>
          </p:grpSpPr>
          <p:sp>
            <p:nvSpPr>
              <p:cNvPr id="185"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86" name="void echo()…"/>
              <p:cNvSpPr txBox="1"/>
              <p:nvPr/>
            </p:nvSpPr>
            <p:spPr>
              <a:xfrm>
                <a:off x="0" y="0"/>
                <a:ext cx="3276600" cy="28194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B51A00"/>
                    </a:solidFill>
                    <a:uFill>
                      <a:solidFill>
                        <a:srgbClr val="B51A00"/>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90" name="Group"/>
            <p:cNvGrpSpPr/>
            <p:nvPr/>
          </p:nvGrpSpPr>
          <p:grpSpPr>
            <a:xfrm>
              <a:off x="-1" y="609600"/>
              <a:ext cx="436247" cy="2133600"/>
              <a:chOff x="0" y="0"/>
              <a:chExt cx="436245" cy="2133600"/>
            </a:xfrm>
          </p:grpSpPr>
          <p:sp>
            <p:nvSpPr>
              <p:cNvPr id="188" name="B"/>
              <p:cNvSpPr txBox="1"/>
              <p:nvPr/>
            </p:nvSpPr>
            <p:spPr>
              <a:xfrm>
                <a:off x="0"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189" name="Line"/>
              <p:cNvSpPr/>
              <p:nvPr/>
            </p:nvSpPr>
            <p:spPr>
              <a:xfrm rot="5400000">
                <a:off x="-516255" y="11811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198" name="Group"/>
          <p:cNvGrpSpPr/>
          <p:nvPr/>
        </p:nvGrpSpPr>
        <p:grpSpPr>
          <a:xfrm>
            <a:off x="914399" y="1752600"/>
            <a:ext cx="3573147" cy="3048000"/>
            <a:chOff x="0" y="0"/>
            <a:chExt cx="3573144" cy="3048000"/>
          </a:xfrm>
        </p:grpSpPr>
        <p:grpSp>
          <p:nvGrpSpPr>
            <p:cNvPr id="194" name="Group"/>
            <p:cNvGrpSpPr/>
            <p:nvPr/>
          </p:nvGrpSpPr>
          <p:grpSpPr>
            <a:xfrm>
              <a:off x="0" y="0"/>
              <a:ext cx="3276600" cy="3048000"/>
              <a:chOff x="0" y="0"/>
              <a:chExt cx="3276600" cy="3048000"/>
            </a:xfrm>
          </p:grpSpPr>
          <p:sp>
            <p:nvSpPr>
              <p:cNvPr id="192"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93" name="void echo()…"/>
              <p:cNvSpPr txBox="1"/>
              <p:nvPr/>
            </p:nvSpPr>
            <p:spPr>
              <a:xfrm>
                <a:off x="0" y="0"/>
                <a:ext cx="3276600" cy="28194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E32400"/>
                    </a:solidFill>
                    <a:uFill>
                      <a:solidFill>
                        <a:srgbClr val="E32400"/>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197" name="Group"/>
            <p:cNvGrpSpPr/>
            <p:nvPr/>
          </p:nvGrpSpPr>
          <p:grpSpPr>
            <a:xfrm>
              <a:off x="3124199" y="609600"/>
              <a:ext cx="448946" cy="2133600"/>
              <a:chOff x="0" y="0"/>
              <a:chExt cx="448944" cy="2133600"/>
            </a:xfrm>
          </p:grpSpPr>
          <p:sp>
            <p:nvSpPr>
              <p:cNvPr id="195" name="A"/>
              <p:cNvSpPr txBox="1"/>
              <p:nvPr/>
            </p:nvSpPr>
            <p:spPr>
              <a:xfrm>
                <a:off x="127317"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196"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201" name="Group"/>
          <p:cNvGrpSpPr/>
          <p:nvPr/>
        </p:nvGrpSpPr>
        <p:grpSpPr>
          <a:xfrm>
            <a:off x="914400" y="4953000"/>
            <a:ext cx="3276600" cy="990600"/>
            <a:chOff x="0" y="0"/>
            <a:chExt cx="3276600" cy="990600"/>
          </a:xfrm>
        </p:grpSpPr>
        <p:sp>
          <p:nvSpPr>
            <p:cNvPr id="199"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00" name="&gt; ./echo…"/>
            <p:cNvSpPr txBox="1"/>
            <p:nvPr/>
          </p:nvSpPr>
          <p:spPr>
            <a:xfrm>
              <a:off x="0" y="0"/>
              <a:ext cx="3276600" cy="863600"/>
            </a:xfrm>
            <a:prstGeom prst="rect">
              <a:avLst/>
            </a:prstGeom>
            <a:noFill/>
            <a:ln w="12700" cap="flat">
              <a:noFill/>
              <a:miter lim="400000"/>
            </a:ln>
            <a:effec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202" name="Single-threaded echo"/>
          <p:cNvSpPr txBox="1"/>
          <p:nvPr/>
        </p:nvSpPr>
        <p:spPr>
          <a:xfrm>
            <a:off x="1515747" y="5943600"/>
            <a:ext cx="2061206" cy="368300"/>
          </a:xfrm>
          <a:prstGeom prst="rect">
            <a:avLst/>
          </a:prstGeom>
          <a:ln w="12700">
            <a:miter lim="400000"/>
          </a:ln>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sp>
        <p:nvSpPr>
          <p:cNvPr id="203" name="Significant race conditions in I/O &amp; variable sharing"/>
          <p:cNvSpPr txBox="1"/>
          <p:nvPr/>
        </p:nvSpPr>
        <p:spPr>
          <a:xfrm>
            <a:off x="457200" y="1143000"/>
            <a:ext cx="83185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t>Significant race conditions in I/O &amp; variable sharing</a:t>
            </a:r>
          </a:p>
        </p:txBody>
      </p:sp>
      <p:grpSp>
        <p:nvGrpSpPr>
          <p:cNvPr id="230" name="Group"/>
          <p:cNvGrpSpPr/>
          <p:nvPr/>
        </p:nvGrpSpPr>
        <p:grpSpPr>
          <a:xfrm>
            <a:off x="1295400" y="3089274"/>
            <a:ext cx="4343400" cy="2136459"/>
            <a:chOff x="0" y="0"/>
            <a:chExt cx="4343400" cy="2136457"/>
          </a:xfrm>
        </p:grpSpPr>
        <p:grpSp>
          <p:nvGrpSpPr>
            <p:cNvPr id="213" name="Group"/>
            <p:cNvGrpSpPr/>
            <p:nvPr/>
          </p:nvGrpSpPr>
          <p:grpSpPr>
            <a:xfrm>
              <a:off x="0" y="0"/>
              <a:ext cx="228600" cy="796925"/>
              <a:chOff x="0" y="0"/>
              <a:chExt cx="228600" cy="796925"/>
            </a:xfrm>
          </p:grpSpPr>
          <p:grpSp>
            <p:nvGrpSpPr>
              <p:cNvPr id="206" name="Group"/>
              <p:cNvGrpSpPr/>
              <p:nvPr/>
            </p:nvGrpSpPr>
            <p:grpSpPr>
              <a:xfrm>
                <a:off x="0" y="0"/>
                <a:ext cx="228600" cy="228600"/>
                <a:chOff x="0" y="0"/>
                <a:chExt cx="228600" cy="228600"/>
              </a:xfrm>
            </p:grpSpPr>
            <p:sp>
              <p:nvSpPr>
                <p:cNvPr id="204"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05" name="1"/>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1</a:t>
                  </a:r>
                </a:p>
              </p:txBody>
            </p:sp>
          </p:grpSp>
          <p:grpSp>
            <p:nvGrpSpPr>
              <p:cNvPr id="209" name="Group"/>
              <p:cNvGrpSpPr/>
              <p:nvPr/>
            </p:nvGrpSpPr>
            <p:grpSpPr>
              <a:xfrm>
                <a:off x="0" y="290512"/>
                <a:ext cx="228600" cy="228601"/>
                <a:chOff x="0" y="0"/>
                <a:chExt cx="228600" cy="228600"/>
              </a:xfrm>
            </p:grpSpPr>
            <p:sp>
              <p:nvSpPr>
                <p:cNvPr id="207"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08" name="5"/>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5</a:t>
                  </a:r>
                </a:p>
              </p:txBody>
            </p:sp>
          </p:grpSp>
          <p:grpSp>
            <p:nvGrpSpPr>
              <p:cNvPr id="212" name="Group"/>
              <p:cNvGrpSpPr/>
              <p:nvPr/>
            </p:nvGrpSpPr>
            <p:grpSpPr>
              <a:xfrm>
                <a:off x="0" y="568325"/>
                <a:ext cx="228600" cy="228600"/>
                <a:chOff x="0" y="0"/>
                <a:chExt cx="228600" cy="228600"/>
              </a:xfrm>
            </p:grpSpPr>
            <p:sp>
              <p:nvSpPr>
                <p:cNvPr id="210" name="Square"/>
                <p:cNvSpPr/>
                <p:nvPr/>
              </p:nvSpPr>
              <p:spPr>
                <a:xfrm>
                  <a:off x="0" y="0"/>
                  <a:ext cx="228600" cy="2286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11" name="6"/>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0433FF"/>
                    </a:buClr>
                    <a:buFont typeface="Wingdings"/>
                    <a:defRPr sz="1600">
                      <a:solidFill>
                        <a:srgbClr val="0433FF"/>
                      </a:solidFill>
                      <a:uFill>
                        <a:solidFill>
                          <a:srgbClr val="0433FF"/>
                        </a:solidFill>
                      </a:uFill>
                    </a:defRPr>
                  </a:lvl1pPr>
                </a:lstStyle>
                <a:p>
                  <a:r>
                    <a:t>6</a:t>
                  </a:r>
                </a:p>
              </p:txBody>
            </p:sp>
          </p:grpSp>
        </p:grpSp>
        <p:grpSp>
          <p:nvGrpSpPr>
            <p:cNvPr id="223" name="Group"/>
            <p:cNvGrpSpPr/>
            <p:nvPr/>
          </p:nvGrpSpPr>
          <p:grpSpPr>
            <a:xfrm>
              <a:off x="4114800" y="0"/>
              <a:ext cx="228600" cy="796925"/>
              <a:chOff x="0" y="0"/>
              <a:chExt cx="228600" cy="796925"/>
            </a:xfrm>
          </p:grpSpPr>
          <p:grpSp>
            <p:nvGrpSpPr>
              <p:cNvPr id="216" name="Group"/>
              <p:cNvGrpSpPr/>
              <p:nvPr/>
            </p:nvGrpSpPr>
            <p:grpSpPr>
              <a:xfrm>
                <a:off x="0" y="0"/>
                <a:ext cx="228600" cy="228600"/>
                <a:chOff x="0" y="0"/>
                <a:chExt cx="228600" cy="228600"/>
              </a:xfrm>
            </p:grpSpPr>
            <p:sp>
              <p:nvSpPr>
                <p:cNvPr id="214"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15" name="2"/>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2</a:t>
                  </a:r>
                </a:p>
              </p:txBody>
            </p:sp>
          </p:grpSp>
          <p:grpSp>
            <p:nvGrpSpPr>
              <p:cNvPr id="219" name="Group"/>
              <p:cNvGrpSpPr/>
              <p:nvPr/>
            </p:nvGrpSpPr>
            <p:grpSpPr>
              <a:xfrm>
                <a:off x="0" y="290512"/>
                <a:ext cx="228600" cy="228601"/>
                <a:chOff x="0" y="0"/>
                <a:chExt cx="228600" cy="228600"/>
              </a:xfrm>
            </p:grpSpPr>
            <p:sp>
              <p:nvSpPr>
                <p:cNvPr id="217"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18" name="3"/>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3</a:t>
                  </a:r>
                </a:p>
              </p:txBody>
            </p:sp>
          </p:grpSp>
          <p:grpSp>
            <p:nvGrpSpPr>
              <p:cNvPr id="222" name="Group"/>
              <p:cNvGrpSpPr/>
              <p:nvPr/>
            </p:nvGrpSpPr>
            <p:grpSpPr>
              <a:xfrm>
                <a:off x="0" y="568325"/>
                <a:ext cx="228600" cy="228600"/>
                <a:chOff x="0" y="0"/>
                <a:chExt cx="228600" cy="228600"/>
              </a:xfrm>
            </p:grpSpPr>
            <p:sp>
              <p:nvSpPr>
                <p:cNvPr id="220" name="Square"/>
                <p:cNvSpPr/>
                <p:nvPr/>
              </p:nvSpPr>
              <p:spPr>
                <a:xfrm>
                  <a:off x="0" y="0"/>
                  <a:ext cx="228600" cy="228600"/>
                </a:xfrm>
                <a:prstGeom prst="rect">
                  <a:avLst/>
                </a:prstGeom>
                <a:solidFill>
                  <a:srgbClr val="FFC1B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21" name="4"/>
                <p:cNvSpPr txBox="1"/>
                <p:nvPr/>
              </p:nvSpPr>
              <p:spPr>
                <a:xfrm>
                  <a:off x="0" y="3323"/>
                  <a:ext cx="228600" cy="221954"/>
                </a:xfrm>
                <a:prstGeom prst="rect">
                  <a:avLst/>
                </a:prstGeom>
                <a:noFill/>
                <a:ln w="12700" cap="flat">
                  <a:noFill/>
                  <a:miter lim="400000"/>
                </a:ln>
                <a:effectLst/>
              </p:spPr>
              <p:txBody>
                <a:bodyPr wrap="square" lIns="0" tIns="0" rIns="0" bIns="0" numCol="1" anchor="ctr">
                  <a:spAutoFit/>
                </a:bodyPr>
                <a:lstStyle>
                  <a:lvl1pPr marL="0" marR="0" algn="ctr">
                    <a:spcBef>
                      <a:spcPts val="300"/>
                    </a:spcBef>
                    <a:buClr>
                      <a:srgbClr val="FF2600"/>
                    </a:buClr>
                    <a:buFont typeface="Wingdings"/>
                    <a:defRPr sz="1600">
                      <a:solidFill>
                        <a:srgbClr val="FF2600"/>
                      </a:solidFill>
                      <a:uFill>
                        <a:solidFill>
                          <a:srgbClr val="FF2600"/>
                        </a:solidFill>
                      </a:uFill>
                    </a:defRPr>
                  </a:lvl1pPr>
                </a:lstStyle>
                <a:p>
                  <a:r>
                    <a:t>4</a:t>
                  </a:r>
                </a:p>
              </p:txBody>
            </p:sp>
          </p:grpSp>
        </p:grpSp>
        <p:grpSp>
          <p:nvGrpSpPr>
            <p:cNvPr id="229" name="Group"/>
            <p:cNvGrpSpPr/>
            <p:nvPr/>
          </p:nvGrpSpPr>
          <p:grpSpPr>
            <a:xfrm>
              <a:off x="2819400" y="111124"/>
              <a:ext cx="1066800" cy="2025334"/>
              <a:chOff x="0" y="0"/>
              <a:chExt cx="1066800" cy="2025332"/>
            </a:xfrm>
          </p:grpSpPr>
          <p:sp>
            <p:nvSpPr>
              <p:cNvPr id="224" name="Line"/>
              <p:cNvSpPr/>
              <p:nvPr/>
            </p:nvSpPr>
            <p:spPr>
              <a:xfrm>
                <a:off x="0" y="0"/>
                <a:ext cx="1066800" cy="1588"/>
              </a:xfrm>
              <a:prstGeom prst="line">
                <a:avLst/>
              </a:prstGeom>
              <a:noFill/>
              <a:ln w="12700" cap="flat">
                <a:solidFill>
                  <a:srgbClr val="D83CFF"/>
                </a:solidFill>
                <a:prstDash val="sysDot"/>
                <a:round/>
                <a:tailEnd type="triangle" w="med" len="me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227" name="Group"/>
              <p:cNvGrpSpPr/>
              <p:nvPr/>
            </p:nvGrpSpPr>
            <p:grpSpPr>
              <a:xfrm>
                <a:off x="0" y="152400"/>
                <a:ext cx="990600" cy="685801"/>
                <a:chOff x="0" y="0"/>
                <a:chExt cx="990599" cy="685800"/>
              </a:xfrm>
            </p:grpSpPr>
            <p:sp>
              <p:nvSpPr>
                <p:cNvPr id="225" name="Line"/>
                <p:cNvSpPr/>
                <p:nvPr/>
              </p:nvSpPr>
              <p:spPr>
                <a:xfrm rot="10800000">
                  <a:off x="353785" y="342900"/>
                  <a:ext cx="636815"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26" name="Line"/>
                <p:cNvSpPr/>
                <p:nvPr/>
              </p:nvSpPr>
              <p:spPr>
                <a:xfrm>
                  <a:off x="0" y="0"/>
                  <a:ext cx="353786" cy="3429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noFill/>
                <a:ln w="12700" cap="flat">
                  <a:solidFill>
                    <a:srgbClr val="D83CFF"/>
                  </a:solidFill>
                  <a:prstDash val="sysDot"/>
                  <a:round/>
                  <a:head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228" name="unlucky…"/>
              <p:cNvSpPr txBox="1"/>
              <p:nvPr/>
            </p:nvSpPr>
            <p:spPr>
              <a:xfrm>
                <a:off x="27416" y="760412"/>
                <a:ext cx="924655" cy="1264921"/>
              </a:xfrm>
              <a:prstGeom prst="rect">
                <a:avLst/>
              </a:prstGeom>
              <a:noFill/>
              <a:ln w="12700" cap="flat">
                <a:noFill/>
                <a:miter lim="400000"/>
              </a:ln>
              <a:effectLst/>
            </p:spPr>
            <p:txBody>
              <a:bodyPr wrap="none" lIns="50800" tIns="50800" rIns="50800" bIns="50800" numCol="1" anchor="t">
                <a:spAutoFit/>
              </a:bodyPr>
              <a:lstStyle/>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unlucky</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CPU</a:t>
                </a:r>
              </a:p>
              <a:p>
                <a:pPr algn="ctr">
                  <a:spcBef>
                    <a:spcPts val="300"/>
                  </a:spcBef>
                  <a:buClr>
                    <a:srgbClr val="D83CFF"/>
                  </a:buClr>
                  <a:buFont typeface="Wingdings"/>
                  <a:defRPr sz="1400" b="1">
                    <a:solidFill>
                      <a:srgbClr val="D83CFF"/>
                    </a:solidFill>
                    <a:uFill>
                      <a:solidFill>
                        <a:srgbClr val="D83CFF"/>
                      </a:solidFill>
                    </a:uFill>
                    <a:latin typeface="Arial Narrow"/>
                    <a:ea typeface="Arial Narrow"/>
                    <a:cs typeface="Arial Narrow"/>
                    <a:sym typeface="Arial Narrow"/>
                  </a:defRPr>
                </a:pPr>
                <a:r>
                  <a:t>scheduling</a:t>
                </a:r>
              </a:p>
              <a:p>
                <a:pPr algn="ctr">
                  <a:spcBef>
                    <a:spcPts val="600"/>
                  </a:spcBef>
                  <a:buClr>
                    <a:srgbClr val="D83CFF"/>
                  </a:buClr>
                  <a:buFont typeface="Wingdings"/>
                  <a:defRPr sz="2800">
                    <a:solidFill>
                      <a:srgbClr val="D83CFF"/>
                    </a:solidFill>
                    <a:uFill>
                      <a:solidFill>
                        <a:srgbClr val="D83CFF"/>
                      </a:solidFill>
                    </a:uFill>
                    <a:latin typeface="Wingdings"/>
                    <a:ea typeface="Wingdings"/>
                    <a:cs typeface="Wingdings"/>
                    <a:sym typeface="Wingdings"/>
                  </a:defRPr>
                </a:pPr>
                <a:r>
                  <a:t></a:t>
                </a:r>
              </a:p>
            </p:txBody>
          </p:sp>
        </p:grpSp>
      </p:grpSp>
      <p:pic>
        <p:nvPicPr>
          <p:cNvPr id="237" name="Line Line" descr="Line Line"/>
          <p:cNvPicPr/>
          <p:nvPr/>
        </p:nvPicPr>
        <p:blipFill>
          <a:blip r:embed="rId2"/>
          <a:stretch>
            <a:fillRect/>
          </a:stretch>
        </p:blipFill>
        <p:spPr>
          <a:xfrm>
            <a:off x="488974" y="2333441"/>
            <a:ext cx="839401" cy="2588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2" nodeType="afterEffect">
                                  <p:stCondLst>
                                    <p:cond delay="0"/>
                                  </p:stCondLst>
                                  <p:iterate>
                                    <p:tmAbs val="0"/>
                                  </p:iterate>
                                  <p:childTnLst>
                                    <p:set>
                                      <p:cBhvr>
                                        <p:cTn id="6" fill="hold"/>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2" animBg="1" advAuto="0"/>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40" name="Race Condition"/>
          <p:cNvSpPr txBox="1">
            <a:spLocks noGrp="1"/>
          </p:cNvSpPr>
          <p:nvPr>
            <p:ph type="title"/>
          </p:nvPr>
        </p:nvSpPr>
        <p:spPr>
          <a:prstGeom prst="rect">
            <a:avLst/>
          </a:prstGeom>
        </p:spPr>
        <p:txBody>
          <a:bodyPr/>
          <a:lstStyle/>
          <a:p>
            <a:r>
              <a:t>Race Condition</a:t>
            </a:r>
          </a:p>
        </p:txBody>
      </p:sp>
      <p:sp>
        <p:nvSpPr>
          <p:cNvPr id="24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14</a:t>
            </a:fld>
            <a:endParaRPr/>
          </a:p>
        </p:txBody>
      </p:sp>
      <p:sp>
        <p:nvSpPr>
          <p:cNvPr id="242" name="Significant race conditions in I/O &amp; variable sharing…"/>
          <p:cNvSpPr txBox="1"/>
          <p:nvPr/>
        </p:nvSpPr>
        <p:spPr>
          <a:xfrm>
            <a:off x="457200" y="1358900"/>
            <a:ext cx="8318500" cy="1282700"/>
          </a:xfrm>
          <a:prstGeom prst="rect">
            <a:avLst/>
          </a:prstGeom>
          <a:ln w="12700">
            <a:miter lim="400000"/>
          </a:ln>
        </p:spPr>
        <p:txBody>
          <a:bodyPr lIns="50800" tIns="50800" rIns="50800" bIns="50800">
            <a:spAutoFit/>
          </a:bodyPr>
          <a:lstStyle/>
          <a:p>
            <a:pPr marL="496252" indent="-455612">
              <a:spcBef>
                <a:spcPts val="1600"/>
              </a:spcBef>
              <a:buClr>
                <a:srgbClr val="7B1142"/>
              </a:buClr>
              <a:buSzPct val="10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pPr>
            <a:r>
              <a:t>Significant race conditions in I/O &amp; variable sharing</a:t>
            </a:r>
          </a:p>
          <a:p>
            <a:pPr marL="1067752" indent="-457199">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Arial Narrow"/>
                <a:ea typeface="Arial Narrow"/>
                <a:cs typeface="Arial Narrow"/>
                <a:sym typeface="Arial Narrow"/>
              </a:defRPr>
            </a:pPr>
            <a:r>
              <a:t>in this case, replacing the global variables with local variables did not solve the problem</a:t>
            </a:r>
          </a:p>
        </p:txBody>
      </p:sp>
      <p:sp>
        <p:nvSpPr>
          <p:cNvPr id="243" name="we actually had two race conditions here:…"/>
          <p:cNvSpPr txBox="1"/>
          <p:nvPr/>
        </p:nvSpPr>
        <p:spPr>
          <a:xfrm>
            <a:off x="457200" y="2667000"/>
            <a:ext cx="8318500" cy="2472472"/>
          </a:xfrm>
          <a:prstGeom prst="rect">
            <a:avLst/>
          </a:prstGeom>
          <a:ln w="12700">
            <a:miter lim="400000"/>
          </a:ln>
        </p:spPr>
        <p:txBody>
          <a:bodyPr lIns="50800" tIns="50800" rIns="50800" bIns="50800">
            <a:spAutoFit/>
          </a:bodyPr>
          <a:lstStyle/>
          <a:p>
            <a:pPr marL="1067752" indent="-457199">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Times New Roman"/>
                <a:ea typeface="Times New Roman"/>
                <a:cs typeface="Times New Roman"/>
                <a:sym typeface="Times New Roman"/>
              </a:defRPr>
            </a:pPr>
            <a:r>
              <a:rPr dirty="0">
                <a:latin typeface="Arial Narrow"/>
                <a:ea typeface="Arial Narrow"/>
                <a:cs typeface="Arial Narrow"/>
                <a:sym typeface="Arial Narrow"/>
              </a:rPr>
              <a:t>we actually had </a:t>
            </a:r>
            <a:r>
              <a:rPr u="sng" dirty="0">
                <a:latin typeface="Arial Narrow"/>
                <a:ea typeface="Arial Narrow"/>
                <a:cs typeface="Arial Narrow"/>
                <a:sym typeface="Arial Narrow"/>
              </a:rPr>
              <a:t>two</a:t>
            </a:r>
            <a:r>
              <a:rPr dirty="0">
                <a:latin typeface="Arial Narrow"/>
                <a:ea typeface="Arial Narrow"/>
                <a:cs typeface="Arial Narrow"/>
                <a:sym typeface="Arial Narrow"/>
              </a:rPr>
              <a:t> race conditions here:</a:t>
            </a:r>
          </a:p>
          <a:p>
            <a:pPr marL="1639252" indent="-455612">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Times New Roman"/>
                <a:ea typeface="Times New Roman"/>
                <a:cs typeface="Times New Roman"/>
                <a:sym typeface="Times New Roman"/>
              </a:defRPr>
            </a:pPr>
            <a:r>
              <a:rPr dirty="0">
                <a:latin typeface="Arial Narrow"/>
                <a:ea typeface="Arial Narrow"/>
                <a:cs typeface="Arial Narrow"/>
                <a:sym typeface="Arial Narrow"/>
              </a:rPr>
              <a:t>one race condition in the </a:t>
            </a:r>
            <a:r>
              <a:rPr u="sng" dirty="0">
                <a:solidFill>
                  <a:srgbClr val="FF0000"/>
                </a:solidFill>
                <a:latin typeface="Arial Narrow"/>
                <a:ea typeface="Arial Narrow"/>
                <a:cs typeface="Arial Narrow"/>
                <a:sym typeface="Arial Narrow"/>
              </a:rPr>
              <a:t>shared variables</a:t>
            </a:r>
            <a:r>
              <a:rPr dirty="0">
                <a:solidFill>
                  <a:srgbClr val="FF0000"/>
                </a:solidFill>
                <a:latin typeface="Arial Narrow"/>
                <a:ea typeface="Arial Narrow"/>
                <a:cs typeface="Arial Narrow"/>
                <a:sym typeface="Arial Narrow"/>
              </a:rPr>
              <a:t> </a:t>
            </a:r>
            <a:r>
              <a:rPr dirty="0">
                <a:latin typeface="Arial Narrow"/>
                <a:ea typeface="Arial Narrow"/>
                <a:cs typeface="Arial Narrow"/>
                <a:sym typeface="Arial Narrow"/>
              </a:rPr>
              <a:t>and the order of value assignment</a:t>
            </a:r>
          </a:p>
          <a:p>
            <a:pPr marL="1639252" indent="-455612">
              <a:spcBef>
                <a:spcPts val="600"/>
              </a:spcBef>
              <a:buClr>
                <a:srgbClr val="7B1142"/>
              </a:buClr>
              <a:buSzPct val="100000"/>
              <a:buChar char=""/>
              <a:tabLst>
                <a:tab pos="495300" algn="l"/>
                <a:tab pos="1066800" algn="l"/>
                <a:tab pos="1866900" algn="l"/>
              </a:tabLst>
              <a:defRPr sz="2400">
                <a:solidFill>
                  <a:srgbClr val="000000"/>
                </a:solidFill>
                <a:uFill>
                  <a:solidFill>
                    <a:srgbClr val="000000"/>
                  </a:solidFill>
                </a:uFill>
                <a:latin typeface="Times New Roman"/>
                <a:ea typeface="Times New Roman"/>
                <a:cs typeface="Times New Roman"/>
                <a:sym typeface="Times New Roman"/>
              </a:defRPr>
            </a:pPr>
            <a:r>
              <a:rPr dirty="0">
                <a:latin typeface="Arial Narrow"/>
                <a:ea typeface="Arial Narrow"/>
                <a:cs typeface="Arial Narrow"/>
                <a:sym typeface="Arial Narrow"/>
              </a:rPr>
              <a:t>another race condition in the </a:t>
            </a:r>
            <a:r>
              <a:rPr u="sng" dirty="0">
                <a:solidFill>
                  <a:srgbClr val="FF0000"/>
                </a:solidFill>
                <a:latin typeface="Arial Narrow"/>
                <a:ea typeface="Arial Narrow"/>
                <a:cs typeface="Arial Narrow"/>
                <a:sym typeface="Arial Narrow"/>
              </a:rPr>
              <a:t>shared output stream</a:t>
            </a:r>
            <a:r>
              <a:rPr dirty="0">
                <a:latin typeface="Arial Narrow"/>
                <a:ea typeface="Arial Narrow"/>
                <a:cs typeface="Arial Narrow"/>
                <a:sym typeface="Arial Narrow"/>
              </a:rPr>
              <a:t>: which thread is going to write to output first (this race persisted even after making the variables local to each thread)</a:t>
            </a:r>
          </a:p>
        </p:txBody>
      </p:sp>
      <p:sp>
        <p:nvSpPr>
          <p:cNvPr id="244" name="==&gt; generally, problematic race conditions may occur whenever resources and/or data are shared (by processes unaware of each other or processes indirectly aware of each other)"/>
          <p:cNvSpPr txBox="1"/>
          <p:nvPr/>
        </p:nvSpPr>
        <p:spPr>
          <a:xfrm>
            <a:off x="457200" y="5105400"/>
            <a:ext cx="8318500" cy="1130300"/>
          </a:xfrm>
          <a:prstGeom prst="rect">
            <a:avLst/>
          </a:prstGeom>
          <a:ln w="12700">
            <a:miter lim="400000"/>
          </a:ln>
        </p:spPr>
        <p:txBody>
          <a:bodyPr lIns="50800" tIns="50800" rIns="50800" bIns="50800">
            <a:spAutoFit/>
          </a:bodyPr>
          <a:lstStyle/>
          <a:p>
            <a:pPr marL="0" lvl="1" indent="0">
              <a:spcBef>
                <a:spcPts val="600"/>
              </a:spcBef>
              <a:tabLst>
                <a:tab pos="495300" algn="l"/>
                <a:tab pos="1066800" algn="l"/>
                <a:tab pos="1866900" algn="l"/>
              </a:tabLst>
              <a:defRPr sz="2400" i="1">
                <a:solidFill>
                  <a:srgbClr val="000000"/>
                </a:solidFill>
                <a:uFill>
                  <a:solidFill>
                    <a:srgbClr val="000000"/>
                  </a:solidFill>
                </a:uFill>
                <a:latin typeface="Arial Narrow"/>
                <a:ea typeface="Arial Narrow"/>
                <a:cs typeface="Arial Narrow"/>
                <a:sym typeface="Arial Narrow"/>
              </a:defRPr>
            </a:pPr>
            <a:r>
              <a:t>==&gt; generally, problematic race conditions may occur whenever resources and/or data are shared (by processes unaware of each other or processes indirectly aware of each other) </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1" animBg="1" advAuto="0"/>
      <p:bldP spid="244" grpId="2" animBg="1" advAuto="0"/>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46"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15</a:t>
            </a:fld>
            <a:endParaRPr/>
          </a:p>
        </p:txBody>
      </p:sp>
      <p:sp>
        <p:nvSpPr>
          <p:cNvPr id="247" name="Critical Section/Region"/>
          <p:cNvSpPr txBox="1">
            <a:spLocks noGrp="1"/>
          </p:cNvSpPr>
          <p:nvPr>
            <p:ph type="title"/>
          </p:nvPr>
        </p:nvSpPr>
        <p:spPr>
          <a:prstGeom prst="rect">
            <a:avLst/>
          </a:prstGeom>
        </p:spPr>
        <p:txBody>
          <a:bodyPr/>
          <a:lstStyle/>
          <a:p>
            <a:r>
              <a:t>Critical Section/Region</a:t>
            </a:r>
          </a:p>
        </p:txBody>
      </p:sp>
      <p:sp>
        <p:nvSpPr>
          <p:cNvPr id="248" name="Critical section/region: segment of code in which the process may be changing shared data (eg. common variables)…"/>
          <p:cNvSpPr txBox="1">
            <a:spLocks noGrp="1"/>
          </p:cNvSpPr>
          <p:nvPr>
            <p:ph type="body" idx="1"/>
          </p:nvPr>
        </p:nvSpPr>
        <p:spPr>
          <a:prstGeom prst="rect">
            <a:avLst/>
          </a:prstGeom>
        </p:spPr>
        <p:txBody>
          <a:bodyPr/>
          <a:lstStyle/>
          <a:p>
            <a:pPr>
              <a:buClr>
                <a:srgbClr val="FF4C00"/>
              </a:buClr>
              <a:buFont typeface="Trebuchet MS"/>
            </a:pPr>
            <a:r>
              <a:rPr>
                <a:solidFill>
                  <a:srgbClr val="FF4C00"/>
                </a:solidFill>
                <a:uFill>
                  <a:solidFill>
                    <a:srgbClr val="FF4C00"/>
                  </a:solidFill>
                </a:uFill>
              </a:rPr>
              <a:t>Critical section/region:</a:t>
            </a:r>
            <a:r>
              <a:t> </a:t>
            </a:r>
            <a:r>
              <a:rPr>
                <a:solidFill>
                  <a:srgbClr val="000000"/>
                </a:solidFill>
                <a:uFill>
                  <a:solidFill>
                    <a:srgbClr val="000000"/>
                  </a:solidFill>
                </a:uFill>
              </a:rPr>
              <a:t>segment of code in which the process may be changing shared data (eg. common variables)</a:t>
            </a:r>
          </a:p>
          <a:p>
            <a:r>
              <a:rPr>
                <a:solidFill>
                  <a:srgbClr val="000000"/>
                </a:solidFill>
                <a:uFill>
                  <a:solidFill>
                    <a:srgbClr val="000000"/>
                  </a:solidFill>
                </a:uFill>
              </a:rPr>
              <a:t>No two processes should be executing in their critical sections at the same time --&gt;</a:t>
            </a:r>
            <a:r>
              <a:t> </a:t>
            </a:r>
            <a:r>
              <a:rPr>
                <a:solidFill>
                  <a:srgbClr val="0056D6"/>
                </a:solidFill>
                <a:uFill>
                  <a:solidFill>
                    <a:srgbClr val="0056D6"/>
                  </a:solidFill>
                </a:uFill>
              </a:rPr>
              <a:t>prevents race conditions</a:t>
            </a:r>
          </a:p>
          <a:p>
            <a:pPr>
              <a:buClr>
                <a:srgbClr val="FF4C00"/>
              </a:buClr>
              <a:buFont typeface="Trebuchet MS"/>
            </a:pPr>
            <a:r>
              <a:rPr>
                <a:solidFill>
                  <a:srgbClr val="FF4C00"/>
                </a:solidFill>
                <a:uFill>
                  <a:solidFill>
                    <a:srgbClr val="FF4C00"/>
                  </a:solidFill>
                </a:uFill>
              </a:rPr>
              <a:t>Critical section problem:</a:t>
            </a:r>
            <a:r>
              <a:t> </a:t>
            </a:r>
            <a:r>
              <a:rPr>
                <a:solidFill>
                  <a:srgbClr val="000000"/>
                </a:solidFill>
                <a:uFill>
                  <a:solidFill>
                    <a:srgbClr val="000000"/>
                  </a:solidFill>
                </a:uFill>
              </a:rPr>
              <a:t>design a protocol that the processes use to cooperate</a:t>
            </a:r>
          </a:p>
        </p:txBody>
      </p:sp>
    </p:spTree>
    <p:extLst>
      <p:ext uri="{BB962C8B-B14F-4D97-AF65-F5344CB8AC3E}">
        <p14:creationId xmlns:p14="http://schemas.microsoft.com/office/powerpoint/2010/main" val="1048667931"/>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50" name="Critical Section"/>
          <p:cNvSpPr txBox="1">
            <a:spLocks noGrp="1"/>
          </p:cNvSpPr>
          <p:nvPr>
            <p:ph type="title"/>
          </p:nvPr>
        </p:nvSpPr>
        <p:spPr>
          <a:prstGeom prst="rect">
            <a:avLst/>
          </a:prstGeom>
        </p:spPr>
        <p:txBody>
          <a:bodyPr/>
          <a:lstStyle/>
          <a:p>
            <a:r>
              <a:t>Critical Section</a:t>
            </a:r>
          </a:p>
        </p:txBody>
      </p:sp>
      <p:sp>
        <p:nvSpPr>
          <p:cNvPr id="25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16</a:t>
            </a:fld>
            <a:endParaRPr/>
          </a:p>
        </p:txBody>
      </p:sp>
      <p:sp>
        <p:nvSpPr>
          <p:cNvPr id="252" name="The “indivisible” execution blocks are critical regions…"/>
          <p:cNvSpPr txBox="1"/>
          <p:nvPr/>
        </p:nvSpPr>
        <p:spPr>
          <a:xfrm>
            <a:off x="457200" y="1143000"/>
            <a:ext cx="8242300" cy="1282700"/>
          </a:xfrm>
          <a:prstGeom prst="rect">
            <a:avLst/>
          </a:prstGeom>
          <a:ln w="12700">
            <a:miter lim="400000"/>
          </a:ln>
        </p:spPr>
        <p:txBody>
          <a:bodyPr lIns="50800" tIns="50800" rIns="50800" bIns="50800">
            <a:spAutoFit/>
          </a:bodyPr>
          <a:lstStyle/>
          <a:p>
            <a:pPr marL="496252" indent="-455612">
              <a:spcBef>
                <a:spcPts val="1600"/>
              </a:spcBef>
              <a:buClr>
                <a:srgbClr val="7B1142"/>
              </a:buClr>
              <a:buSzPct val="10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pPr>
            <a:r>
              <a:t>The “indivisible” execution blocks are critical regions</a:t>
            </a:r>
          </a:p>
          <a:p>
            <a:pPr marL="1067752" indent="-457199">
              <a:spcBef>
                <a:spcPts val="600"/>
              </a:spcBef>
              <a:buClr>
                <a:srgbClr val="7B1142"/>
              </a:buClr>
              <a:buSzPct val="100000"/>
              <a:buChar char=""/>
              <a:tabLst>
                <a:tab pos="495300" algn="l"/>
                <a:tab pos="1066800" algn="l"/>
                <a:tab pos="1866900" algn="l"/>
              </a:tabLst>
              <a:defRPr sz="2400">
                <a:solidFill>
                  <a:srgbClr val="7B1142"/>
                </a:solidFill>
                <a:uFill>
                  <a:solidFill>
                    <a:srgbClr val="7B1142"/>
                  </a:solidFill>
                </a:uFill>
                <a:latin typeface="Arial Narrow"/>
                <a:ea typeface="Arial Narrow"/>
                <a:cs typeface="Arial Narrow"/>
                <a:sym typeface="Arial Narrow"/>
              </a:defRPr>
            </a:pPr>
            <a:r>
              <a:t>a critical region is a section of code that should be executed by only one process or thread at a time</a:t>
            </a:r>
          </a:p>
        </p:txBody>
      </p:sp>
      <p:grpSp>
        <p:nvGrpSpPr>
          <p:cNvPr id="265" name="Group"/>
          <p:cNvGrpSpPr/>
          <p:nvPr/>
        </p:nvGrpSpPr>
        <p:grpSpPr>
          <a:xfrm>
            <a:off x="2459354" y="2518568"/>
            <a:ext cx="6503818" cy="1024732"/>
            <a:chOff x="0" y="-110332"/>
            <a:chExt cx="6503817" cy="1024732"/>
          </a:xfrm>
        </p:grpSpPr>
        <p:sp>
          <p:nvSpPr>
            <p:cNvPr id="253" name="Rectangle"/>
            <p:cNvSpPr/>
            <p:nvPr/>
          </p:nvSpPr>
          <p:spPr>
            <a:xfrm>
              <a:off x="2112645" y="0"/>
              <a:ext cx="1828801"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54" name="Line"/>
            <p:cNvSpPr/>
            <p:nvPr/>
          </p:nvSpPr>
          <p:spPr>
            <a:xfrm>
              <a:off x="283845" y="228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55" name="Line"/>
            <p:cNvSpPr/>
            <p:nvPr/>
          </p:nvSpPr>
          <p:spPr>
            <a:xfrm>
              <a:off x="283845" y="609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256" name="pedredstand.jpg" descr="pedredstand.jpg"/>
            <p:cNvPicPr/>
            <p:nvPr/>
          </p:nvPicPr>
          <p:blipFill>
            <a:blip r:embed="rId2"/>
            <a:stretch>
              <a:fillRect/>
            </a:stretch>
          </p:blipFill>
          <p:spPr>
            <a:xfrm>
              <a:off x="2499052" y="390427"/>
              <a:ext cx="179389" cy="457200"/>
            </a:xfrm>
            <a:prstGeom prst="rect">
              <a:avLst/>
            </a:prstGeom>
            <a:ln w="12700" cap="flat">
              <a:noFill/>
              <a:miter lim="400000"/>
            </a:ln>
            <a:effectLst/>
          </p:spPr>
        </p:pic>
        <p:pic>
          <p:nvPicPr>
            <p:cNvPr id="257" name="pedbluegray.jpg" descr="pedbluegray.jpg"/>
            <p:cNvPicPr/>
            <p:nvPr/>
          </p:nvPicPr>
          <p:blipFill>
            <a:blip r:embed="rId3"/>
            <a:stretch>
              <a:fillRect/>
            </a:stretch>
          </p:blipFill>
          <p:spPr>
            <a:xfrm>
              <a:off x="4185132" y="-110332"/>
              <a:ext cx="274638" cy="461963"/>
            </a:xfrm>
            <a:prstGeom prst="rect">
              <a:avLst/>
            </a:prstGeom>
            <a:ln w="12700" cap="flat">
              <a:noFill/>
              <a:miter lim="400000"/>
            </a:ln>
            <a:effectLst/>
          </p:spPr>
        </p:pic>
        <p:sp>
          <p:nvSpPr>
            <p:cNvPr id="258" name="Line"/>
            <p:cNvSpPr/>
            <p:nvPr/>
          </p:nvSpPr>
          <p:spPr>
            <a:xfrm>
              <a:off x="2112645" y="228600"/>
              <a:ext cx="11430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59" name="B"/>
            <p:cNvSpPr txBox="1"/>
            <p:nvPr/>
          </p:nvSpPr>
          <p:spPr>
            <a:xfrm>
              <a:off x="0" y="38100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7B1142"/>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260" name="A"/>
            <p:cNvSpPr txBox="1"/>
            <p:nvPr/>
          </p:nvSpPr>
          <p:spPr>
            <a:xfrm>
              <a:off x="0"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7B1142"/>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261" name="Line"/>
            <p:cNvSpPr/>
            <p:nvPr/>
          </p:nvSpPr>
          <p:spPr>
            <a:xfrm>
              <a:off x="3941445" y="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62" name="Line"/>
            <p:cNvSpPr/>
            <p:nvPr/>
          </p:nvSpPr>
          <p:spPr>
            <a:xfrm>
              <a:off x="2112645" y="0"/>
              <a:ext cx="1588" cy="914400"/>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63" name="common critical region"/>
            <p:cNvSpPr txBox="1"/>
            <p:nvPr/>
          </p:nvSpPr>
          <p:spPr>
            <a:xfrm>
              <a:off x="4062095" y="228600"/>
              <a:ext cx="2441722" cy="360822"/>
            </a:xfrm>
            <a:prstGeom prst="rect">
              <a:avLst/>
            </a:prstGeom>
            <a:noFill/>
            <a:ln w="12700" cap="flat">
              <a:noFill/>
              <a:miter lim="400000"/>
            </a:ln>
            <a:effectLst/>
          </p:spPr>
          <p:txBody>
            <a:bodyPr wrap="none" lIns="50800" tIns="50800" rIns="50800" bIns="50800" numCol="1" anchor="t">
              <a:spAutoFit/>
            </a:bodyPr>
            <a:lstStyle>
              <a:lvl1pPr>
                <a:spcBef>
                  <a:spcPts val="400"/>
                </a:spcBef>
                <a:buClr>
                  <a:srgbClr val="7B1142"/>
                </a:buClr>
                <a:buFont typeface="Wingdings"/>
                <a:defRPr>
                  <a:solidFill>
                    <a:srgbClr val="7B1142"/>
                  </a:solidFill>
                  <a:uFill>
                    <a:solidFill>
                      <a:srgbClr val="7B1142"/>
                    </a:solidFill>
                  </a:uFill>
                </a:defRPr>
              </a:lvl1pPr>
            </a:lstStyle>
            <a:p>
              <a:r>
                <a:rPr dirty="0"/>
                <a:t>common critical region</a:t>
              </a:r>
            </a:p>
          </p:txBody>
        </p:sp>
        <p:sp>
          <p:nvSpPr>
            <p:cNvPr id="264" name="Line"/>
            <p:cNvSpPr/>
            <p:nvPr/>
          </p:nvSpPr>
          <p:spPr>
            <a:xfrm rot="5400000">
              <a:off x="3716642" y="276902"/>
              <a:ext cx="176562" cy="641338"/>
            </a:xfrm>
            <a:custGeom>
              <a:avLst/>
              <a:gdLst/>
              <a:ahLst/>
              <a:cxnLst>
                <a:cxn ang="0">
                  <a:pos x="wd2" y="hd2"/>
                </a:cxn>
                <a:cxn ang="5400000">
                  <a:pos x="wd2" y="hd2"/>
                </a:cxn>
                <a:cxn ang="10800000">
                  <a:pos x="wd2" y="hd2"/>
                </a:cxn>
                <a:cxn ang="16200000">
                  <a:pos x="wd2" y="hd2"/>
                </a:cxn>
              </a:cxnLst>
              <a:rect l="0" t="0" r="r" b="b"/>
              <a:pathLst>
                <a:path w="19139" h="21600" extrusionOk="0">
                  <a:moveTo>
                    <a:pt x="0" y="0"/>
                  </a:moveTo>
                  <a:cubicBezTo>
                    <a:pt x="13326" y="1617"/>
                    <a:pt x="21600" y="8531"/>
                    <a:pt x="18481" y="15441"/>
                  </a:cubicBezTo>
                  <a:cubicBezTo>
                    <a:pt x="17429" y="17773"/>
                    <a:pt x="15141" y="19906"/>
                    <a:pt x="11876" y="21600"/>
                  </a:cubicBezTo>
                </a:path>
              </a:pathLst>
            </a:custGeom>
            <a:noFill/>
            <a:ln w="12700" cap="flat">
              <a:solidFill>
                <a:srgbClr val="7B1142"/>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290" name="Group"/>
          <p:cNvGrpSpPr/>
          <p:nvPr/>
        </p:nvGrpSpPr>
        <p:grpSpPr>
          <a:xfrm>
            <a:off x="457199" y="3657600"/>
            <a:ext cx="8577844" cy="1828800"/>
            <a:chOff x="0" y="0"/>
            <a:chExt cx="8577842" cy="1828800"/>
          </a:xfrm>
        </p:grpSpPr>
        <p:grpSp>
          <p:nvGrpSpPr>
            <p:cNvPr id="288" name="Group"/>
            <p:cNvGrpSpPr/>
            <p:nvPr/>
          </p:nvGrpSpPr>
          <p:grpSpPr>
            <a:xfrm>
              <a:off x="2002155" y="914400"/>
              <a:ext cx="6575688" cy="914400"/>
              <a:chOff x="0" y="0"/>
              <a:chExt cx="6575687" cy="914400"/>
            </a:xfrm>
          </p:grpSpPr>
          <p:sp>
            <p:nvSpPr>
              <p:cNvPr id="266" name="Line"/>
              <p:cNvSpPr/>
              <p:nvPr/>
            </p:nvSpPr>
            <p:spPr>
              <a:xfrm>
                <a:off x="2112645" y="609600"/>
                <a:ext cx="9906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00" y="10800"/>
                      <a:pt x="1800" y="0"/>
                      <a:pt x="2700" y="0"/>
                    </a:cubicBezTo>
                    <a:cubicBezTo>
                      <a:pt x="3600" y="0"/>
                      <a:pt x="4500" y="21600"/>
                      <a:pt x="5400" y="21600"/>
                    </a:cubicBezTo>
                    <a:cubicBezTo>
                      <a:pt x="6300" y="21600"/>
                      <a:pt x="7200" y="0"/>
                      <a:pt x="8100" y="0"/>
                    </a:cubicBezTo>
                    <a:cubicBezTo>
                      <a:pt x="9000" y="0"/>
                      <a:pt x="9900" y="21600"/>
                      <a:pt x="10800" y="21600"/>
                    </a:cubicBezTo>
                    <a:cubicBezTo>
                      <a:pt x="11700" y="21600"/>
                      <a:pt x="12600" y="0"/>
                      <a:pt x="13500" y="0"/>
                    </a:cubicBezTo>
                    <a:cubicBezTo>
                      <a:pt x="14400" y="0"/>
                      <a:pt x="15300" y="21600"/>
                      <a:pt x="16200" y="21600"/>
                    </a:cubicBezTo>
                    <a:cubicBezTo>
                      <a:pt x="17100" y="21600"/>
                      <a:pt x="18000" y="0"/>
                      <a:pt x="18900" y="0"/>
                    </a:cubicBezTo>
                    <a:cubicBezTo>
                      <a:pt x="19800" y="0"/>
                      <a:pt x="21150" y="180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269" name="Group"/>
              <p:cNvGrpSpPr/>
              <p:nvPr/>
            </p:nvGrpSpPr>
            <p:grpSpPr>
              <a:xfrm>
                <a:off x="2112645" y="0"/>
                <a:ext cx="1828801" cy="457200"/>
                <a:chOff x="0" y="0"/>
                <a:chExt cx="1828800" cy="457200"/>
              </a:xfrm>
            </p:grpSpPr>
            <p:sp>
              <p:nvSpPr>
                <p:cNvPr id="267" name="Rectangle"/>
                <p:cNvSpPr/>
                <p:nvPr/>
              </p:nvSpPr>
              <p:spPr>
                <a:xfrm>
                  <a:off x="0" y="0"/>
                  <a:ext cx="1828800" cy="457200"/>
                </a:xfrm>
                <a:prstGeom prst="rect">
                  <a:avLst/>
                </a:prstGeom>
                <a:solidFill>
                  <a:srgbClr val="E9E9E9"/>
                </a:solidFill>
                <a:ln w="12700"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68" name="Text"/>
                <p:cNvSpPr txBox="1"/>
                <p:nvPr/>
              </p:nvSpPr>
              <p:spPr>
                <a:xfrm>
                  <a:off x="0" y="481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 </a:t>
                  </a:r>
                </a:p>
              </p:txBody>
            </p:sp>
          </p:grpSp>
          <p:sp>
            <p:nvSpPr>
              <p:cNvPr id="270" name="Line"/>
              <p:cNvSpPr/>
              <p:nvPr/>
            </p:nvSpPr>
            <p:spPr>
              <a:xfrm>
                <a:off x="283845" y="228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71" name="Line"/>
              <p:cNvSpPr/>
              <p:nvPr/>
            </p:nvSpPr>
            <p:spPr>
              <a:xfrm>
                <a:off x="283845" y="609600"/>
                <a:ext cx="18288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272" name="pedredstand.jpg" descr="pedredstand.jpg"/>
              <p:cNvPicPr/>
              <p:nvPr/>
            </p:nvPicPr>
            <p:blipFill>
              <a:blip r:embed="rId2"/>
              <a:stretch>
                <a:fillRect/>
              </a:stretch>
            </p:blipFill>
            <p:spPr>
              <a:xfrm>
                <a:off x="2603182" y="457200"/>
                <a:ext cx="179389" cy="457200"/>
              </a:xfrm>
              <a:prstGeom prst="rect">
                <a:avLst/>
              </a:prstGeom>
              <a:ln w="12700" cap="flat">
                <a:noFill/>
                <a:miter lim="400000"/>
              </a:ln>
              <a:effectLst/>
            </p:spPr>
          </p:pic>
          <p:pic>
            <p:nvPicPr>
              <p:cNvPr id="273" name="pedbluegray.jpg" descr="pedbluegray.jpg"/>
              <p:cNvPicPr/>
              <p:nvPr/>
            </p:nvPicPr>
            <p:blipFill>
              <a:blip r:embed="rId3"/>
              <a:stretch>
                <a:fillRect/>
              </a:stretch>
            </p:blipFill>
            <p:spPr>
              <a:xfrm>
                <a:off x="3255645" y="0"/>
                <a:ext cx="274638" cy="461963"/>
              </a:xfrm>
              <a:prstGeom prst="rect">
                <a:avLst/>
              </a:prstGeom>
              <a:ln w="12700" cap="flat">
                <a:noFill/>
                <a:miter lim="400000"/>
              </a:ln>
              <a:effectLst/>
            </p:spPr>
          </p:pic>
          <p:sp>
            <p:nvSpPr>
              <p:cNvPr id="274" name="Line"/>
              <p:cNvSpPr/>
              <p:nvPr/>
            </p:nvSpPr>
            <p:spPr>
              <a:xfrm>
                <a:off x="2112645" y="228600"/>
                <a:ext cx="1143001"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75" name="B"/>
              <p:cNvSpPr txBox="1"/>
              <p:nvPr/>
            </p:nvSpPr>
            <p:spPr>
              <a:xfrm>
                <a:off x="0" y="38100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7B1142"/>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276" name="A"/>
              <p:cNvSpPr txBox="1"/>
              <p:nvPr/>
            </p:nvSpPr>
            <p:spPr>
              <a:xfrm>
                <a:off x="0"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7B1142"/>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grpSp>
            <p:nvGrpSpPr>
              <p:cNvPr id="279" name="Group"/>
              <p:cNvGrpSpPr/>
              <p:nvPr/>
            </p:nvGrpSpPr>
            <p:grpSpPr>
              <a:xfrm>
                <a:off x="2798445" y="457200"/>
                <a:ext cx="1828801" cy="457200"/>
                <a:chOff x="0" y="0"/>
                <a:chExt cx="1828800" cy="457200"/>
              </a:xfrm>
            </p:grpSpPr>
            <p:sp>
              <p:nvSpPr>
                <p:cNvPr id="277" name="Rectangle"/>
                <p:cNvSpPr/>
                <p:nvPr/>
              </p:nvSpPr>
              <p:spPr>
                <a:xfrm>
                  <a:off x="0" y="0"/>
                  <a:ext cx="1828800" cy="457200"/>
                </a:xfrm>
                <a:prstGeom prst="rect">
                  <a:avLst/>
                </a:prstGeom>
                <a:solidFill>
                  <a:srgbClr val="E9E9E9"/>
                </a:solidFill>
                <a:ln w="12700"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78" name="Text"/>
                <p:cNvSpPr txBox="1"/>
                <p:nvPr/>
              </p:nvSpPr>
              <p:spPr>
                <a:xfrm>
                  <a:off x="0" y="481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 </a:t>
                  </a:r>
                </a:p>
              </p:txBody>
            </p:sp>
          </p:grpSp>
          <p:sp>
            <p:nvSpPr>
              <p:cNvPr id="280" name="Line"/>
              <p:cNvSpPr/>
              <p:nvPr/>
            </p:nvSpPr>
            <p:spPr>
              <a:xfrm>
                <a:off x="2798445" y="457200"/>
                <a:ext cx="1588" cy="457200"/>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1" name="Line"/>
              <p:cNvSpPr/>
              <p:nvPr/>
            </p:nvSpPr>
            <p:spPr>
              <a:xfrm>
                <a:off x="2112645" y="0"/>
                <a:ext cx="1588" cy="4572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2" name="Line"/>
              <p:cNvSpPr/>
              <p:nvPr/>
            </p:nvSpPr>
            <p:spPr>
              <a:xfrm>
                <a:off x="3941445" y="0"/>
                <a:ext cx="1588" cy="4572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3" name="Line"/>
              <p:cNvSpPr/>
              <p:nvPr/>
            </p:nvSpPr>
            <p:spPr>
              <a:xfrm>
                <a:off x="4627245" y="457200"/>
                <a:ext cx="1588" cy="4572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284" name="A’s critical region"/>
              <p:cNvSpPr txBox="1"/>
              <p:nvPr/>
            </p:nvSpPr>
            <p:spPr>
              <a:xfrm>
                <a:off x="4087495" y="14287"/>
                <a:ext cx="1861627" cy="360822"/>
              </a:xfrm>
              <a:prstGeom prst="rect">
                <a:avLst/>
              </a:prstGeom>
              <a:noFill/>
              <a:ln w="12700" cap="flat">
                <a:noFill/>
                <a:miter lim="400000"/>
              </a:ln>
              <a:effectLst/>
            </p:spPr>
            <p:txBody>
              <a:bodyPr wrap="none" lIns="50800" tIns="50800" rIns="50800" bIns="50800" numCol="1" anchor="t">
                <a:spAutoFit/>
              </a:bodyPr>
              <a:lstStyle>
                <a:lvl1pPr>
                  <a:spcBef>
                    <a:spcPts val="400"/>
                  </a:spcBef>
                  <a:buClr>
                    <a:srgbClr val="7B1142"/>
                  </a:buClr>
                  <a:buFont typeface="Wingdings"/>
                  <a:defRPr>
                    <a:solidFill>
                      <a:srgbClr val="7B1142"/>
                    </a:solidFill>
                    <a:uFill>
                      <a:solidFill>
                        <a:srgbClr val="7B1142"/>
                      </a:solidFill>
                    </a:uFill>
                  </a:defRPr>
                </a:lvl1pPr>
              </a:lstStyle>
              <a:p>
                <a:r>
                  <a:t>A’s critical region</a:t>
                </a:r>
              </a:p>
            </p:txBody>
          </p:sp>
          <p:sp>
            <p:nvSpPr>
              <p:cNvPr id="285" name="B’s critical region"/>
              <p:cNvSpPr txBox="1"/>
              <p:nvPr/>
            </p:nvSpPr>
            <p:spPr>
              <a:xfrm>
                <a:off x="4697095" y="471487"/>
                <a:ext cx="1878594" cy="360822"/>
              </a:xfrm>
              <a:prstGeom prst="rect">
                <a:avLst/>
              </a:prstGeom>
              <a:noFill/>
              <a:ln w="12700" cap="flat">
                <a:noFill/>
                <a:miter lim="400000"/>
              </a:ln>
              <a:effectLst/>
            </p:spPr>
            <p:txBody>
              <a:bodyPr wrap="none" lIns="50800" tIns="50800" rIns="50800" bIns="50800" numCol="1" anchor="t">
                <a:spAutoFit/>
              </a:bodyPr>
              <a:lstStyle>
                <a:lvl1pPr>
                  <a:spcBef>
                    <a:spcPts val="400"/>
                  </a:spcBef>
                  <a:buClr>
                    <a:srgbClr val="7B1142"/>
                  </a:buClr>
                  <a:buFont typeface="Wingdings"/>
                  <a:defRPr>
                    <a:solidFill>
                      <a:srgbClr val="7B1142"/>
                    </a:solidFill>
                    <a:uFill>
                      <a:solidFill>
                        <a:srgbClr val="7B1142"/>
                      </a:solidFill>
                    </a:uFill>
                  </a:defRPr>
                </a:lvl1pPr>
              </a:lstStyle>
              <a:p>
                <a:r>
                  <a:t>B’s critical region</a:t>
                </a:r>
              </a:p>
            </p:txBody>
          </p:sp>
          <p:sp>
            <p:nvSpPr>
              <p:cNvPr id="286" name="Line"/>
              <p:cNvSpPr/>
              <p:nvPr/>
            </p:nvSpPr>
            <p:spPr>
              <a:xfrm rot="5400000">
                <a:off x="3866717" y="109459"/>
                <a:ext cx="117708" cy="425443"/>
              </a:xfrm>
              <a:custGeom>
                <a:avLst/>
                <a:gdLst/>
                <a:ahLst/>
                <a:cxnLst>
                  <a:cxn ang="0">
                    <a:pos x="wd2" y="hd2"/>
                  </a:cxn>
                  <a:cxn ang="5400000">
                    <a:pos x="wd2" y="hd2"/>
                  </a:cxn>
                  <a:cxn ang="10800000">
                    <a:pos x="wd2" y="hd2"/>
                  </a:cxn>
                  <a:cxn ang="16200000">
                    <a:pos x="wd2" y="hd2"/>
                  </a:cxn>
                </a:cxnLst>
                <a:rect l="0" t="0" r="r" b="b"/>
                <a:pathLst>
                  <a:path w="19139" h="21600" extrusionOk="0">
                    <a:moveTo>
                      <a:pt x="0" y="0"/>
                    </a:moveTo>
                    <a:cubicBezTo>
                      <a:pt x="13326" y="1617"/>
                      <a:pt x="21600" y="8531"/>
                      <a:pt x="18481" y="15441"/>
                    </a:cubicBezTo>
                    <a:cubicBezTo>
                      <a:pt x="17429" y="17773"/>
                      <a:pt x="15141" y="19906"/>
                      <a:pt x="11876" y="21600"/>
                    </a:cubicBezTo>
                  </a:path>
                </a:pathLst>
              </a:custGeom>
              <a:noFill/>
              <a:ln w="12700" cap="flat">
                <a:solidFill>
                  <a:srgbClr val="7B1142"/>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287" name="Line"/>
              <p:cNvSpPr/>
              <p:nvPr/>
            </p:nvSpPr>
            <p:spPr>
              <a:xfrm rot="5400000">
                <a:off x="4476318" y="566659"/>
                <a:ext cx="117708" cy="425443"/>
              </a:xfrm>
              <a:custGeom>
                <a:avLst/>
                <a:gdLst/>
                <a:ahLst/>
                <a:cxnLst>
                  <a:cxn ang="0">
                    <a:pos x="wd2" y="hd2"/>
                  </a:cxn>
                  <a:cxn ang="5400000">
                    <a:pos x="wd2" y="hd2"/>
                  </a:cxn>
                  <a:cxn ang="10800000">
                    <a:pos x="wd2" y="hd2"/>
                  </a:cxn>
                  <a:cxn ang="16200000">
                    <a:pos x="wd2" y="hd2"/>
                  </a:cxn>
                </a:cxnLst>
                <a:rect l="0" t="0" r="r" b="b"/>
                <a:pathLst>
                  <a:path w="19139" h="21600" extrusionOk="0">
                    <a:moveTo>
                      <a:pt x="0" y="0"/>
                    </a:moveTo>
                    <a:cubicBezTo>
                      <a:pt x="13326" y="1617"/>
                      <a:pt x="21600" y="8531"/>
                      <a:pt x="18481" y="15441"/>
                    </a:cubicBezTo>
                    <a:cubicBezTo>
                      <a:pt x="17429" y="17773"/>
                      <a:pt x="15141" y="19906"/>
                      <a:pt x="11876" y="21600"/>
                    </a:cubicBezTo>
                  </a:path>
                </a:pathLst>
              </a:custGeom>
              <a:noFill/>
              <a:ln w="12700" cap="flat">
                <a:solidFill>
                  <a:srgbClr val="7B1142"/>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289" name="although it is not necessarily the same region of memory or section of program in both processes"/>
            <p:cNvSpPr txBox="1"/>
            <p:nvPr/>
          </p:nvSpPr>
          <p:spPr>
            <a:xfrm>
              <a:off x="0" y="0"/>
              <a:ext cx="8242300" cy="787400"/>
            </a:xfrm>
            <a:prstGeom prst="rect">
              <a:avLst/>
            </a:prstGeom>
            <a:noFill/>
            <a:ln w="12700" cap="flat">
              <a:noFill/>
              <a:miter lim="400000"/>
            </a:ln>
            <a:effectLst/>
          </p:spPr>
          <p:txBody>
            <a:bodyPr wrap="square" lIns="50800" tIns="50800" rIns="50800" bIns="50800" numCol="1" anchor="t">
              <a:spAutoFit/>
            </a:bodyPr>
            <a:lstStyle>
              <a:lvl1pPr marL="1067752" indent="-457199">
                <a:spcBef>
                  <a:spcPts val="600"/>
                </a:spcBef>
                <a:buClr>
                  <a:srgbClr val="7B1142"/>
                </a:buClr>
                <a:buSzPct val="100000"/>
                <a:buChar char=""/>
                <a:tabLst>
                  <a:tab pos="495300" algn="l"/>
                  <a:tab pos="1066800" algn="l"/>
                  <a:tab pos="1866900" algn="l"/>
                </a:tabLst>
                <a:defRPr sz="2400">
                  <a:solidFill>
                    <a:srgbClr val="7B1142"/>
                  </a:solidFill>
                  <a:uFill>
                    <a:solidFill>
                      <a:srgbClr val="7B1142"/>
                    </a:solidFill>
                  </a:uFill>
                  <a:latin typeface="Arial Narrow"/>
                  <a:ea typeface="Arial Narrow"/>
                  <a:cs typeface="Arial Narrow"/>
                  <a:sym typeface="Arial Narrow"/>
                </a:defRPr>
              </a:lvl1pPr>
            </a:lstStyle>
            <a:p>
              <a:r>
                <a:t>although it is not necessarily the same region of memory or section of program in both processes</a:t>
              </a:r>
            </a:p>
          </p:txBody>
        </p:sp>
      </p:grpSp>
      <p:sp>
        <p:nvSpPr>
          <p:cNvPr id="291" name="==&gt; but physically different or not, what matters is that these regions cannot be interleaved or executed in parallel (pseudo or real)"/>
          <p:cNvSpPr txBox="1"/>
          <p:nvPr/>
        </p:nvSpPr>
        <p:spPr>
          <a:xfrm>
            <a:off x="457200" y="5486400"/>
            <a:ext cx="8318500" cy="787400"/>
          </a:xfrm>
          <a:prstGeom prst="rect">
            <a:avLst/>
          </a:prstGeom>
          <a:ln w="12700">
            <a:miter lim="400000"/>
          </a:ln>
        </p:spPr>
        <p:txBody>
          <a:bodyPr lIns="50800" tIns="50800" rIns="50800" bIns="50800">
            <a:spAutoFit/>
          </a:bodyPr>
          <a:lstStyle>
            <a:lvl1pPr marL="0">
              <a:spcBef>
                <a:spcPts val="600"/>
              </a:spcBef>
              <a:tabLst>
                <a:tab pos="495300" algn="l"/>
                <a:tab pos="1066800" algn="l"/>
                <a:tab pos="1866900" algn="l"/>
              </a:tabLst>
              <a:defRPr sz="2400" i="1">
                <a:solidFill>
                  <a:srgbClr val="7B1142"/>
                </a:solidFill>
                <a:uFill>
                  <a:solidFill>
                    <a:srgbClr val="7B1142"/>
                  </a:solidFill>
                </a:uFill>
                <a:latin typeface="Arial Narrow"/>
                <a:ea typeface="Arial Narrow"/>
                <a:cs typeface="Arial Narrow"/>
                <a:sym typeface="Arial Narrow"/>
              </a:defRPr>
            </a:lvl1pPr>
          </a:lstStyle>
          <a:p>
            <a:r>
              <a:t>==&gt; but physically different or not, what matters is that these regions cannot be interleaved or executed in parallel (pseudo or real)</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2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 grpId="1" animBg="1" advAuto="0"/>
      <p:bldP spid="291" grpId="2" animBg="1" advAuto="0"/>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93"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17</a:t>
            </a:fld>
            <a:endParaRPr/>
          </a:p>
        </p:txBody>
      </p:sp>
      <p:sp>
        <p:nvSpPr>
          <p:cNvPr id="294" name="Solution to Critical-Section Problem"/>
          <p:cNvSpPr txBox="1">
            <a:spLocks noGrp="1"/>
          </p:cNvSpPr>
          <p:nvPr>
            <p:ph type="title"/>
          </p:nvPr>
        </p:nvSpPr>
        <p:spPr>
          <a:xfrm>
            <a:off x="457200" y="274637"/>
            <a:ext cx="8229600" cy="1143001"/>
          </a:xfrm>
          <a:prstGeom prst="rect">
            <a:avLst/>
          </a:prstGeom>
        </p:spPr>
        <p:txBody>
          <a:bodyPr/>
          <a:lstStyle/>
          <a:p>
            <a:r>
              <a:t>Solution to Critical-Section Problem</a:t>
            </a:r>
          </a:p>
        </p:txBody>
      </p:sp>
      <p:sp>
        <p:nvSpPr>
          <p:cNvPr id="295" name="A solution to the critical-section problem must satisfy the following requirements:…"/>
          <p:cNvSpPr txBox="1">
            <a:spLocks noGrp="1"/>
          </p:cNvSpPr>
          <p:nvPr>
            <p:ph type="body" idx="1"/>
          </p:nvPr>
        </p:nvSpPr>
        <p:spPr>
          <a:xfrm>
            <a:off x="457200" y="1166812"/>
            <a:ext cx="8069263" cy="4525963"/>
          </a:xfrm>
          <a:prstGeom prst="rect">
            <a:avLst/>
          </a:prstGeom>
        </p:spPr>
        <p:txBody>
          <a:bodyPr/>
          <a:lstStyle/>
          <a:p>
            <a:pPr>
              <a:buClr>
                <a:srgbClr val="727272"/>
              </a:buClr>
              <a:buSzTx/>
              <a:buFont typeface="Trebuchet MS"/>
              <a:buNone/>
              <a:defRPr>
                <a:solidFill>
                  <a:srgbClr val="000000"/>
                </a:solidFill>
                <a:uFill>
                  <a:solidFill>
                    <a:srgbClr val="000000"/>
                  </a:solidFill>
                </a:uFill>
              </a:defRPr>
            </a:pPr>
            <a:r>
              <a:rPr dirty="0"/>
              <a:t>A solution to the critical-section problem must satisfy the following requirements:</a:t>
            </a:r>
          </a:p>
          <a:p>
            <a:pPr>
              <a:buClr>
                <a:srgbClr val="727272"/>
              </a:buClr>
              <a:buSzTx/>
              <a:buFont typeface="Trebuchet MS"/>
              <a:buNone/>
            </a:pPr>
            <a:r>
              <a:rPr dirty="0"/>
              <a:t>1.	</a:t>
            </a:r>
            <a:r>
              <a:rPr dirty="0">
                <a:solidFill>
                  <a:srgbClr val="4180FF"/>
                </a:solidFill>
                <a:uFill>
                  <a:solidFill>
                    <a:srgbClr val="4180FF"/>
                  </a:solidFill>
                </a:uFill>
              </a:rPr>
              <a:t>Mutual Exclusion</a:t>
            </a:r>
            <a:r>
              <a:rPr dirty="0"/>
              <a:t> </a:t>
            </a:r>
            <a:r>
              <a:rPr lang="en-US" dirty="0"/>
              <a:t>–</a:t>
            </a:r>
          </a:p>
          <a:p>
            <a:pPr>
              <a:buClr>
                <a:srgbClr val="727272"/>
              </a:buClr>
              <a:buSzTx/>
              <a:buFont typeface="Trebuchet MS"/>
              <a:buNone/>
            </a:pPr>
            <a:endParaRPr lang="en-US" dirty="0">
              <a:solidFill>
                <a:srgbClr val="000000"/>
              </a:solidFill>
              <a:uFill>
                <a:solidFill>
                  <a:srgbClr val="000000"/>
                </a:solidFill>
              </a:uFill>
            </a:endParaRPr>
          </a:p>
          <a:p>
            <a:pPr>
              <a:buClr>
                <a:srgbClr val="727272"/>
              </a:buClr>
              <a:buSzTx/>
              <a:buFont typeface="Trebuchet MS"/>
              <a:buNone/>
            </a:pPr>
            <a:endParaRPr dirty="0">
              <a:solidFill>
                <a:srgbClr val="000000"/>
              </a:solidFill>
              <a:uFill>
                <a:solidFill>
                  <a:srgbClr val="000000"/>
                </a:solidFill>
              </a:uFill>
            </a:endParaRPr>
          </a:p>
          <a:p>
            <a:pPr>
              <a:buClr>
                <a:srgbClr val="727272"/>
              </a:buClr>
              <a:buSzTx/>
              <a:buFont typeface="Trebuchet MS"/>
              <a:buNone/>
            </a:pPr>
            <a:r>
              <a:rPr dirty="0"/>
              <a:t>2.	</a:t>
            </a:r>
            <a:r>
              <a:rPr dirty="0">
                <a:solidFill>
                  <a:srgbClr val="4180FF"/>
                </a:solidFill>
                <a:uFill>
                  <a:solidFill>
                    <a:srgbClr val="4180FF"/>
                  </a:solidFill>
                </a:uFill>
              </a:rPr>
              <a:t>Progress</a:t>
            </a:r>
            <a:r>
              <a:rPr dirty="0"/>
              <a:t> -</a:t>
            </a:r>
            <a:endParaRPr dirty="0">
              <a:solidFill>
                <a:srgbClr val="000000"/>
              </a:solidFill>
              <a:uFill>
                <a:solidFill>
                  <a:srgbClr val="000000"/>
                </a:solidFill>
              </a:u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93"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18</a:t>
            </a:fld>
            <a:endParaRPr/>
          </a:p>
        </p:txBody>
      </p:sp>
      <p:sp>
        <p:nvSpPr>
          <p:cNvPr id="294" name="Solution to Critical-Section Problem"/>
          <p:cNvSpPr txBox="1">
            <a:spLocks noGrp="1"/>
          </p:cNvSpPr>
          <p:nvPr>
            <p:ph type="title"/>
          </p:nvPr>
        </p:nvSpPr>
        <p:spPr>
          <a:xfrm>
            <a:off x="457200" y="274637"/>
            <a:ext cx="8229600" cy="1143001"/>
          </a:xfrm>
          <a:prstGeom prst="rect">
            <a:avLst/>
          </a:prstGeom>
        </p:spPr>
        <p:txBody>
          <a:bodyPr/>
          <a:lstStyle/>
          <a:p>
            <a:r>
              <a:t>Solution to Critical-Section Problem</a:t>
            </a:r>
          </a:p>
        </p:txBody>
      </p:sp>
      <p:sp>
        <p:nvSpPr>
          <p:cNvPr id="295" name="A solution to the critical-section problem must satisfy the following requirements:…"/>
          <p:cNvSpPr txBox="1">
            <a:spLocks noGrp="1"/>
          </p:cNvSpPr>
          <p:nvPr>
            <p:ph type="body" idx="1"/>
          </p:nvPr>
        </p:nvSpPr>
        <p:spPr>
          <a:xfrm>
            <a:off x="457200" y="1166812"/>
            <a:ext cx="8069263" cy="4525963"/>
          </a:xfrm>
          <a:prstGeom prst="rect">
            <a:avLst/>
          </a:prstGeom>
        </p:spPr>
        <p:txBody>
          <a:bodyPr/>
          <a:lstStyle/>
          <a:p>
            <a:pPr>
              <a:buClr>
                <a:srgbClr val="727272"/>
              </a:buClr>
              <a:buSzTx/>
              <a:buFont typeface="Trebuchet MS"/>
              <a:buNone/>
              <a:defRPr>
                <a:solidFill>
                  <a:srgbClr val="000000"/>
                </a:solidFill>
                <a:uFill>
                  <a:solidFill>
                    <a:srgbClr val="000000"/>
                  </a:solidFill>
                </a:uFill>
              </a:defRPr>
            </a:pPr>
            <a:r>
              <a:t>A solution to the critical-section problem must satisfy the following requirements:</a:t>
            </a:r>
          </a:p>
          <a:p>
            <a:pPr>
              <a:buClr>
                <a:srgbClr val="727272"/>
              </a:buClr>
              <a:buSzTx/>
              <a:buFont typeface="Trebuchet MS"/>
              <a:buNone/>
            </a:pPr>
            <a:r>
              <a:t>1.	</a:t>
            </a:r>
            <a:r>
              <a:rPr>
                <a:solidFill>
                  <a:srgbClr val="4180FF"/>
                </a:solidFill>
                <a:uFill>
                  <a:solidFill>
                    <a:srgbClr val="4180FF"/>
                  </a:solidFill>
                </a:uFill>
              </a:rPr>
              <a:t>Mutual Exclusion</a:t>
            </a:r>
            <a:r>
              <a:t> - </a:t>
            </a:r>
            <a:r>
              <a:rPr>
                <a:solidFill>
                  <a:srgbClr val="000000"/>
                </a:solidFill>
                <a:uFill>
                  <a:solidFill>
                    <a:srgbClr val="000000"/>
                  </a:solidFill>
                </a:uFill>
              </a:rPr>
              <a:t>If process</a:t>
            </a:r>
            <a:r>
              <a:t> </a:t>
            </a:r>
            <a:r>
              <a:rPr>
                <a:solidFill>
                  <a:srgbClr val="0433FF"/>
                </a:solidFill>
                <a:uFill>
                  <a:solidFill>
                    <a:srgbClr val="0433FF"/>
                  </a:solidFill>
                </a:uFill>
              </a:rPr>
              <a:t>P</a:t>
            </a:r>
            <a:r>
              <a:rPr baseline="-25000">
                <a:solidFill>
                  <a:srgbClr val="0433FF"/>
                </a:solidFill>
                <a:uFill>
                  <a:solidFill>
                    <a:srgbClr val="0433FF"/>
                  </a:solidFill>
                </a:uFill>
              </a:rPr>
              <a:t>i</a:t>
            </a:r>
            <a:r>
              <a:t> </a:t>
            </a:r>
            <a:r>
              <a:rPr>
                <a:solidFill>
                  <a:srgbClr val="000000"/>
                </a:solidFill>
                <a:uFill>
                  <a:solidFill>
                    <a:srgbClr val="000000"/>
                  </a:solidFill>
                </a:uFill>
              </a:rPr>
              <a:t>is executing in its critical section, then no other processes can be executing in their critical sections</a:t>
            </a:r>
          </a:p>
          <a:p>
            <a:pPr>
              <a:buClr>
                <a:srgbClr val="727272"/>
              </a:buClr>
              <a:buSzTx/>
              <a:buFont typeface="Trebuchet MS"/>
              <a:buNone/>
            </a:pPr>
            <a:r>
              <a:t>2.	</a:t>
            </a:r>
            <a:r>
              <a:rPr>
                <a:solidFill>
                  <a:srgbClr val="4180FF"/>
                </a:solidFill>
                <a:uFill>
                  <a:solidFill>
                    <a:srgbClr val="4180FF"/>
                  </a:solidFill>
                </a:uFill>
              </a:rPr>
              <a:t>Progress</a:t>
            </a:r>
            <a:r>
              <a:t> -</a:t>
            </a:r>
            <a:r>
              <a:rPr>
                <a:solidFill>
                  <a:srgbClr val="000000"/>
                </a:solidFill>
                <a:uFill>
                  <a:solidFill>
                    <a:srgbClr val="000000"/>
                  </a:solidFill>
                </a:uFill>
              </a:rPr>
              <a:t> If no process is executing in its critical section and there exist some processes that wish to enter their critical section, then the selection of the processes that will enter the critical section next cannot be postponed indefinitely</a:t>
            </a:r>
          </a:p>
        </p:txBody>
      </p:sp>
    </p:spTree>
    <p:extLst>
      <p:ext uri="{BB962C8B-B14F-4D97-AF65-F5344CB8AC3E}">
        <p14:creationId xmlns:p14="http://schemas.microsoft.com/office/powerpoint/2010/main" val="3031482364"/>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297"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19</a:t>
            </a:fld>
            <a:endParaRPr/>
          </a:p>
        </p:txBody>
      </p:sp>
      <p:sp>
        <p:nvSpPr>
          <p:cNvPr id="298" name="Solution to Critical-Section Problem"/>
          <p:cNvSpPr txBox="1">
            <a:spLocks noGrp="1"/>
          </p:cNvSpPr>
          <p:nvPr>
            <p:ph type="title"/>
          </p:nvPr>
        </p:nvSpPr>
        <p:spPr>
          <a:prstGeom prst="rect">
            <a:avLst/>
          </a:prstGeom>
        </p:spPr>
        <p:txBody>
          <a:bodyPr/>
          <a:lstStyle/>
          <a:p>
            <a:r>
              <a:t>Solution to Critical-Section Problem</a:t>
            </a:r>
          </a:p>
        </p:txBody>
      </p:sp>
      <p:sp>
        <p:nvSpPr>
          <p:cNvPr id="299" name="3. Bounded Waiting -  A bound must exist on the number of times that other processes are allowed to enter their critical sections after a process has made a request to enter its critical section and before that request is granted…"/>
          <p:cNvSpPr txBox="1">
            <a:spLocks noGrp="1"/>
          </p:cNvSpPr>
          <p:nvPr>
            <p:ph type="body" idx="1"/>
          </p:nvPr>
        </p:nvSpPr>
        <p:spPr>
          <a:prstGeom prst="rect">
            <a:avLst/>
          </a:prstGeom>
        </p:spPr>
        <p:txBody>
          <a:bodyPr/>
          <a:lstStyle/>
          <a:p>
            <a:pPr>
              <a:buClr>
                <a:srgbClr val="727272"/>
              </a:buClr>
              <a:buSzTx/>
              <a:buFont typeface="Trebuchet MS"/>
              <a:buNone/>
            </a:pPr>
            <a:r>
              <a:t>3.</a:t>
            </a:r>
            <a:r>
              <a:rPr>
                <a:solidFill>
                  <a:srgbClr val="4180FF"/>
                </a:solidFill>
                <a:uFill>
                  <a:solidFill>
                    <a:srgbClr val="4180FF"/>
                  </a:solidFill>
                </a:uFill>
              </a:rPr>
              <a:t> Bounded Waiting</a:t>
            </a:r>
            <a:r>
              <a:t> </a:t>
            </a:r>
            <a:r>
              <a:rPr>
                <a:solidFill>
                  <a:srgbClr val="000000"/>
                </a:solidFill>
                <a:uFill>
                  <a:solidFill>
                    <a:srgbClr val="000000"/>
                  </a:solidFill>
                </a:uFill>
              </a:rPr>
              <a:t>-  A bound must exist on the number of times that other processes are allowed to enter their critical sections after a process has made a request to enter its critical section and before that request is granted</a:t>
            </a:r>
          </a:p>
          <a:p>
            <a:pPr lvl="1">
              <a:buClr>
                <a:srgbClr val="727272"/>
              </a:buClr>
              <a:buSzPct val="125000"/>
              <a:buChar char=""/>
            </a:pPr>
            <a:r>
              <a:rPr>
                <a:solidFill>
                  <a:srgbClr val="000000"/>
                </a:solidFill>
                <a:uFill>
                  <a:solidFill>
                    <a:srgbClr val="000000"/>
                  </a:solidFill>
                </a:uFill>
              </a:rPr>
              <a:t>Assume that each process executes at a nonzero speed </a:t>
            </a:r>
          </a:p>
          <a:p>
            <a:pPr lvl="1">
              <a:buClr>
                <a:srgbClr val="727272"/>
              </a:buClr>
              <a:buSzPct val="125000"/>
              <a:buChar char=""/>
            </a:pPr>
            <a:r>
              <a:rPr>
                <a:solidFill>
                  <a:srgbClr val="000000"/>
                </a:solidFill>
                <a:uFill>
                  <a:solidFill>
                    <a:srgbClr val="000000"/>
                  </a:solidFill>
                </a:uFill>
              </a:rPr>
              <a:t>No assumption concerning relative speed of the</a:t>
            </a:r>
            <a:r>
              <a:t> </a:t>
            </a:r>
            <a:r>
              <a:rPr>
                <a:solidFill>
                  <a:srgbClr val="0433FF"/>
                </a:solidFill>
                <a:uFill>
                  <a:solidFill>
                    <a:srgbClr val="0433FF"/>
                  </a:solidFill>
                </a:uFill>
              </a:rPr>
              <a:t>N</a:t>
            </a:r>
            <a:r>
              <a:t> </a:t>
            </a:r>
            <a:r>
              <a:rPr>
                <a:solidFill>
                  <a:srgbClr val="000000"/>
                </a:solidFill>
                <a:uFill>
                  <a:solidFill>
                    <a:srgbClr val="000000"/>
                  </a:solidFill>
                </a:uFill>
              </a:rPr>
              <a:t>processes</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72" name="Race Condition"/>
          <p:cNvSpPr txBox="1">
            <a:spLocks noGrp="1"/>
          </p:cNvSpPr>
          <p:nvPr>
            <p:ph type="title"/>
          </p:nvPr>
        </p:nvSpPr>
        <p:spPr>
          <a:prstGeom prst="rect">
            <a:avLst/>
          </a:prstGeom>
        </p:spPr>
        <p:txBody>
          <a:bodyPr/>
          <a:lstStyle/>
          <a:p>
            <a:r>
              <a:rPr lang="en-US" dirty="0"/>
              <a:t>Mutual Exclusion</a:t>
            </a:r>
            <a:endParaRPr dirty="0"/>
          </a:p>
        </p:txBody>
      </p:sp>
      <p:sp>
        <p:nvSpPr>
          <p:cNvPr id="73"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20</a:t>
            </a:fld>
            <a:endParaRPr/>
          </a:p>
        </p:txBody>
      </p:sp>
      <p:grpSp>
        <p:nvGrpSpPr>
          <p:cNvPr id="80" name="Group"/>
          <p:cNvGrpSpPr/>
          <p:nvPr/>
        </p:nvGrpSpPr>
        <p:grpSpPr>
          <a:xfrm>
            <a:off x="914399" y="1752600"/>
            <a:ext cx="3573147" cy="3048000"/>
            <a:chOff x="0" y="0"/>
            <a:chExt cx="3573144" cy="3048000"/>
          </a:xfrm>
        </p:grpSpPr>
        <p:grpSp>
          <p:nvGrpSpPr>
            <p:cNvPr id="76" name="Group"/>
            <p:cNvGrpSpPr/>
            <p:nvPr/>
          </p:nvGrpSpPr>
          <p:grpSpPr>
            <a:xfrm>
              <a:off x="0" y="0"/>
              <a:ext cx="3276600" cy="3048000"/>
              <a:chOff x="0" y="0"/>
              <a:chExt cx="3276600" cy="3048000"/>
            </a:xfrm>
          </p:grpSpPr>
          <p:sp>
            <p:nvSpPr>
              <p:cNvPr id="74" name="Rectangle"/>
              <p:cNvSpPr/>
              <p:nvPr/>
            </p:nvSpPr>
            <p:spPr>
              <a:xfrm>
                <a:off x="0" y="0"/>
                <a:ext cx="3276600"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5" name="char chin, chout;//shared…"/>
              <p:cNvSpPr txBox="1"/>
              <p:nvPr/>
            </p:nvSpPr>
            <p:spPr>
              <a:xfrm>
                <a:off x="0" y="0"/>
                <a:ext cx="3276600" cy="28194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79" name="Group"/>
            <p:cNvGrpSpPr/>
            <p:nvPr/>
          </p:nvGrpSpPr>
          <p:grpSpPr>
            <a:xfrm>
              <a:off x="3124199" y="609600"/>
              <a:ext cx="448946" cy="2133600"/>
              <a:chOff x="0" y="0"/>
              <a:chExt cx="448944" cy="2133600"/>
            </a:xfrm>
          </p:grpSpPr>
          <p:sp>
            <p:nvSpPr>
              <p:cNvPr id="77" name="A"/>
              <p:cNvSpPr txBox="1"/>
              <p:nvPr/>
            </p:nvSpPr>
            <p:spPr>
              <a:xfrm>
                <a:off x="127317" y="0"/>
                <a:ext cx="321628"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rPr dirty="0"/>
                  <a:t>A</a:t>
                </a:r>
              </a:p>
            </p:txBody>
          </p:sp>
          <p:sp>
            <p:nvSpPr>
              <p:cNvPr id="78" name="Line"/>
              <p:cNvSpPr/>
              <p:nvPr/>
            </p:nvSpPr>
            <p:spPr>
              <a:xfrm rot="16200000" flipH="1">
                <a:off x="-876300" y="11811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87" name="Group"/>
          <p:cNvGrpSpPr/>
          <p:nvPr/>
        </p:nvGrpSpPr>
        <p:grpSpPr>
          <a:xfrm>
            <a:off x="4745354" y="1752600"/>
            <a:ext cx="3683002" cy="3048000"/>
            <a:chOff x="0" y="0"/>
            <a:chExt cx="3683000" cy="3048000"/>
          </a:xfrm>
        </p:grpSpPr>
        <p:grpSp>
          <p:nvGrpSpPr>
            <p:cNvPr id="83" name="Group"/>
            <p:cNvGrpSpPr/>
            <p:nvPr/>
          </p:nvGrpSpPr>
          <p:grpSpPr>
            <a:xfrm>
              <a:off x="293615" y="0"/>
              <a:ext cx="3389386" cy="3048000"/>
              <a:chOff x="0" y="0"/>
              <a:chExt cx="3389385" cy="3048000"/>
            </a:xfrm>
          </p:grpSpPr>
          <p:sp>
            <p:nvSpPr>
              <p:cNvPr id="81" name="Rectangle"/>
              <p:cNvSpPr/>
              <p:nvPr/>
            </p:nvSpPr>
            <p:spPr>
              <a:xfrm>
                <a:off x="0" y="0"/>
                <a:ext cx="3389386" cy="3048000"/>
              </a:xfrm>
              <a:prstGeom prst="rect">
                <a:avLst/>
              </a:prstGeom>
              <a:solidFill>
                <a:srgbClr val="FFFFFF"/>
              </a:solid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2" name="char chin, chout; //shared…"/>
              <p:cNvSpPr txBox="1"/>
              <p:nvPr/>
            </p:nvSpPr>
            <p:spPr>
              <a:xfrm>
                <a:off x="0" y="0"/>
                <a:ext cx="3389386" cy="2997200"/>
              </a:xfrm>
              <a:prstGeom prst="rect">
                <a:avLst/>
              </a:prstGeom>
              <a:noFill/>
              <a:ln w="12700" cap="flat">
                <a:noFill/>
                <a:miter lim="400000"/>
              </a:ln>
              <a:effectLst/>
            </p:spPr>
            <p:txBody>
              <a:bodyPr wrap="square" lIns="50800" tIns="50800" rIns="50800" bIns="50800" numCol="1" anchor="t">
                <a:no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4F7A28"/>
                    </a:solidFill>
                    <a:uFill>
                      <a:solidFill>
                        <a:srgbClr val="4F7A28"/>
                      </a:solidFill>
                    </a:uFill>
                    <a:latin typeface="Courier New"/>
                    <a:ea typeface="Courier New"/>
                    <a:cs typeface="Courier New"/>
                    <a:sym typeface="Courier New"/>
                  </a:defRPr>
                </a:pPr>
                <a:r>
                  <a:t>char chin, chout;</a:t>
                </a:r>
                <a:r>
                  <a:rPr sz="1200"/>
                  <a:t> //shared</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1200" b="1">
                    <a:solidFill>
                      <a:srgbClr val="7B1142"/>
                    </a:solidFill>
                    <a:uFill>
                      <a:solidFill>
                        <a:srgbClr val="7B1142"/>
                      </a:solidFill>
                    </a:uFill>
                    <a:latin typeface="Courier New"/>
                    <a:ea typeface="Courier New"/>
                    <a:cs typeface="Courier New"/>
                    <a:sym typeface="Courier New"/>
                  </a:defRPr>
                </a:pPr>
                <a:endParaRPr sz="1200"/>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86" name="Group"/>
            <p:cNvGrpSpPr/>
            <p:nvPr/>
          </p:nvGrpSpPr>
          <p:grpSpPr>
            <a:xfrm>
              <a:off x="-1" y="609599"/>
              <a:ext cx="451263" cy="2133601"/>
              <a:chOff x="0" y="0"/>
              <a:chExt cx="451261" cy="2133599"/>
            </a:xfrm>
          </p:grpSpPr>
          <p:sp>
            <p:nvSpPr>
              <p:cNvPr id="84" name="B"/>
              <p:cNvSpPr txBox="1"/>
              <p:nvPr/>
            </p:nvSpPr>
            <p:spPr>
              <a:xfrm>
                <a:off x="0" y="0"/>
                <a:ext cx="332699" cy="444500"/>
              </a:xfrm>
              <a:prstGeom prst="rect">
                <a:avLst/>
              </a:prstGeom>
              <a:noFill/>
              <a:ln w="12700" cap="flat">
                <a:noFill/>
                <a:miter lim="400000"/>
              </a:ln>
              <a:effectLst/>
            </p:spPr>
            <p:txBody>
              <a:bodyPr wrap="square" lIns="50800" tIns="50800" rIns="50800" bIns="50800" numCol="1" anchor="t">
                <a:no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85" name="Line"/>
              <p:cNvSpPr/>
              <p:nvPr/>
            </p:nvSpPr>
            <p:spPr>
              <a:xfrm rot="5400000">
                <a:off x="-502551" y="1179788"/>
                <a:ext cx="1828801" cy="7882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tailEnd type="triangle" w="med" len="me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90" name="Group"/>
          <p:cNvGrpSpPr/>
          <p:nvPr/>
        </p:nvGrpSpPr>
        <p:grpSpPr>
          <a:xfrm>
            <a:off x="914400" y="4953000"/>
            <a:ext cx="3276600" cy="990600"/>
            <a:chOff x="0" y="0"/>
            <a:chExt cx="3276600" cy="990600"/>
          </a:xfrm>
        </p:grpSpPr>
        <p:sp>
          <p:nvSpPr>
            <p:cNvPr id="88" name="Rectangle"/>
            <p:cNvSpPr/>
            <p:nvPr/>
          </p:nvSpPr>
          <p:spPr>
            <a:xfrm>
              <a:off x="0" y="0"/>
              <a:ext cx="32766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89" name="&gt; ./echo…"/>
            <p:cNvSpPr txBox="1"/>
            <p:nvPr/>
          </p:nvSpPr>
          <p:spPr>
            <a:xfrm>
              <a:off x="0" y="0"/>
              <a:ext cx="3276600" cy="863600"/>
            </a:xfrm>
            <a:prstGeom prst="rect">
              <a:avLst/>
            </a:prstGeom>
            <a:noFill/>
            <a:ln w="12700" cap="flat">
              <a:noFill/>
              <a:miter lim="400000"/>
            </a:ln>
            <a:effectLst/>
          </p:spPr>
          <p:txBody>
            <a:bodyPr wrap="square" lIns="50800" tIns="50800" rIns="50800" bIns="50800" numCol="1" anchor="t">
              <a:sp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0433FF"/>
                  </a:solidFill>
                  <a:uFill>
                    <a:solidFill>
                      <a:srgbClr val="0433FF"/>
                    </a:solidFill>
                  </a:uFill>
                  <a:latin typeface="Courier New"/>
                  <a:ea typeface="Courier New"/>
                  <a:cs typeface="Courier New"/>
                  <a:sym typeface="Courier New"/>
                </a:defRPr>
              </a:pPr>
              <a:r>
                <a:t>Hello world!</a:t>
              </a:r>
            </a:p>
          </p:txBody>
        </p:sp>
      </p:grpSp>
      <p:sp>
        <p:nvSpPr>
          <p:cNvPr id="91" name="Single-threaded echo"/>
          <p:cNvSpPr txBox="1"/>
          <p:nvPr/>
        </p:nvSpPr>
        <p:spPr>
          <a:xfrm>
            <a:off x="1515747" y="5943600"/>
            <a:ext cx="2061206" cy="368300"/>
          </a:xfrm>
          <a:prstGeom prst="rect">
            <a:avLst/>
          </a:prstGeom>
          <a:ln w="12700">
            <a:miter lim="400000"/>
          </a:ln>
        </p:spPr>
        <p:txBody>
          <a:bodyPr wrap="none" lIns="50800" tIns="50800" rIns="50800" bIns="50800">
            <a:sp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Single-threaded echo</a:t>
            </a:r>
          </a:p>
        </p:txBody>
      </p:sp>
      <p:grpSp>
        <p:nvGrpSpPr>
          <p:cNvPr id="96" name="Group"/>
          <p:cNvGrpSpPr/>
          <p:nvPr/>
        </p:nvGrpSpPr>
        <p:grpSpPr>
          <a:xfrm>
            <a:off x="5029200" y="4953000"/>
            <a:ext cx="3378200" cy="1358900"/>
            <a:chOff x="0" y="0"/>
            <a:chExt cx="3378200" cy="1358900"/>
          </a:xfrm>
        </p:grpSpPr>
        <p:sp>
          <p:nvSpPr>
            <p:cNvPr id="92" name="Multithreaded echo (lucky)"/>
            <p:cNvSpPr txBox="1"/>
            <p:nvPr/>
          </p:nvSpPr>
          <p:spPr>
            <a:xfrm>
              <a:off x="384107" y="990600"/>
              <a:ext cx="2608350" cy="368300"/>
            </a:xfrm>
            <a:prstGeom prst="rect">
              <a:avLst/>
            </a:prstGeom>
            <a:noFill/>
            <a:ln w="12700" cap="flat">
              <a:noFill/>
              <a:miter lim="400000"/>
            </a:ln>
            <a:effectLst/>
          </p:spPr>
          <p:txBody>
            <a:bodyPr wrap="square" lIns="50800" tIns="50800" rIns="50800" bIns="50800" numCol="1" anchor="t">
              <a:noAutofit/>
            </a:bodyPr>
            <a:lstStyle>
              <a:lvl1pPr algn="ctr">
                <a:buClr>
                  <a:srgbClr val="C51B05"/>
                </a:buClr>
                <a:buFont typeface="Arial Narrow"/>
                <a:defRPr b="1">
                  <a:solidFill>
                    <a:srgbClr val="C51B05"/>
                  </a:solidFill>
                  <a:uFill>
                    <a:solidFill>
                      <a:srgbClr val="C51B05"/>
                    </a:solidFill>
                  </a:uFill>
                  <a:latin typeface="Arial Narrow"/>
                  <a:ea typeface="Arial Narrow"/>
                  <a:cs typeface="Arial Narrow"/>
                  <a:sym typeface="Arial Narrow"/>
                </a:defRPr>
              </a:lvl1pPr>
            </a:lstStyle>
            <a:p>
              <a:r>
                <a:t>Multithreaded echo (lucky)</a:t>
              </a:r>
            </a:p>
          </p:txBody>
        </p:sp>
        <p:grpSp>
          <p:nvGrpSpPr>
            <p:cNvPr id="95" name="Group"/>
            <p:cNvGrpSpPr/>
            <p:nvPr/>
          </p:nvGrpSpPr>
          <p:grpSpPr>
            <a:xfrm>
              <a:off x="0" y="0"/>
              <a:ext cx="3378200" cy="990600"/>
              <a:chOff x="0" y="0"/>
              <a:chExt cx="3378200" cy="990600"/>
            </a:xfrm>
          </p:grpSpPr>
          <p:sp>
            <p:nvSpPr>
              <p:cNvPr id="93" name="Rectangle"/>
              <p:cNvSpPr/>
              <p:nvPr/>
            </p:nvSpPr>
            <p:spPr>
              <a:xfrm>
                <a:off x="0" y="0"/>
                <a:ext cx="3378200" cy="990600"/>
              </a:xfrm>
              <a:prstGeom prst="rect">
                <a:avLst/>
              </a:prstGeom>
              <a:solidFill>
                <a:srgbClr val="A7A7A7"/>
              </a:solidFill>
              <a:ln w="12700" cap="flat">
                <a:solidFill>
                  <a:srgbClr val="A7A7A7"/>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94" name="&gt; ./echo…"/>
              <p:cNvSpPr txBox="1"/>
              <p:nvPr/>
            </p:nvSpPr>
            <p:spPr>
              <a:xfrm>
                <a:off x="0" y="0"/>
                <a:ext cx="3378200" cy="863600"/>
              </a:xfrm>
              <a:prstGeom prst="rect">
                <a:avLst/>
              </a:prstGeom>
              <a:noFill/>
              <a:ln w="12700" cap="flat">
                <a:noFill/>
                <a:miter lim="400000"/>
              </a:ln>
              <a:effectLst/>
            </p:spPr>
            <p:txBody>
              <a:bodyPr wrap="square" lIns="50800" tIns="50800" rIns="50800" bIns="50800" numCol="1" anchor="t">
                <a:noAutofit/>
              </a:bodyPr>
              <a:lstStyle/>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rPr dirty="0"/>
                  <a:t>&gt; ./echo</a:t>
                </a:r>
              </a:p>
              <a:p>
                <a:pPr marL="156527">
                  <a:buClr>
                    <a:srgbClr val="FFFF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b="1">
                    <a:solidFill>
                      <a:srgbClr val="FFFFFF"/>
                    </a:solidFill>
                    <a:uFill>
                      <a:solidFill>
                        <a:srgbClr val="FFFFFF"/>
                      </a:solidFill>
                    </a:uFill>
                    <a:latin typeface="Courier New"/>
                    <a:ea typeface="Courier New"/>
                    <a:cs typeface="Courier New"/>
                    <a:sym typeface="Courier New"/>
                  </a:defRPr>
                </a:pPr>
                <a:r>
                  <a:rPr dirty="0"/>
                  <a:t>Hello world!</a:t>
                </a:r>
              </a:p>
              <a:p>
                <a:pPr marL="156527">
                  <a:buClr>
                    <a:srgbClr val="0433FF"/>
                  </a:buClr>
                  <a:buFont typeface="Courier New"/>
                  <a:tabLst>
                    <a:tab pos="495300" algn="l"/>
                    <a:tab pos="952500" algn="l"/>
                    <a:tab pos="1409700" algn="l"/>
                    <a:tab pos="1866900" algn="l"/>
                    <a:tab pos="2324100" algn="l"/>
                    <a:tab pos="2781300" algn="l"/>
                    <a:tab pos="3238500" algn="l"/>
                    <a:tab pos="3695700" algn="l"/>
                    <a:tab pos="4152900" algn="l"/>
                    <a:tab pos="4610100" algn="l"/>
                    <a:tab pos="5067300" algn="l"/>
                    <a:tab pos="5524500" algn="l"/>
                    <a:tab pos="5981700" algn="l"/>
                    <a:tab pos="6438900" algn="l"/>
                    <a:tab pos="7353300" algn="l"/>
                  </a:tabLst>
                  <a:defRPr sz="2400">
                    <a:solidFill>
                      <a:srgbClr val="7B1142"/>
                    </a:solidFill>
                    <a:uFill>
                      <a:solidFill>
                        <a:srgbClr val="7B1142"/>
                      </a:solidFill>
                    </a:uFill>
                    <a:latin typeface="Times New Roman"/>
                    <a:ea typeface="Times New Roman"/>
                    <a:cs typeface="Times New Roman"/>
                    <a:sym typeface="Times New Roman"/>
                  </a:defRPr>
                </a:pPr>
                <a:r>
                  <a:rPr sz="1800" b="1" dirty="0">
                    <a:solidFill>
                      <a:srgbClr val="0433FF"/>
                    </a:solidFill>
                    <a:uFill>
                      <a:solidFill>
                        <a:srgbClr val="0433FF"/>
                      </a:solidFill>
                    </a:uFill>
                    <a:latin typeface="Courier New"/>
                    <a:ea typeface="Courier New"/>
                    <a:cs typeface="Courier New"/>
                    <a:sym typeface="Courier New"/>
                  </a:rPr>
                  <a:t>H</a:t>
                </a:r>
                <a:r>
                  <a:rPr sz="1800" b="1" dirty="0">
                    <a:solidFill>
                      <a:srgbClr val="FF2600"/>
                    </a:solidFill>
                    <a:uFill>
                      <a:solidFill>
                        <a:srgbClr val="FF2600"/>
                      </a:solidFill>
                    </a:uFill>
                    <a:latin typeface="Courier New"/>
                    <a:ea typeface="Courier New"/>
                    <a:cs typeface="Courier New"/>
                    <a:sym typeface="Courier New"/>
                  </a:rPr>
                  <a:t>e</a:t>
                </a:r>
                <a:r>
                  <a:rPr sz="1800" b="1" dirty="0">
                    <a:solidFill>
                      <a:srgbClr val="0433FF"/>
                    </a:solidFill>
                    <a:uFill>
                      <a:solidFill>
                        <a:srgbClr val="0433FF"/>
                      </a:solidFill>
                    </a:uFill>
                    <a:latin typeface="Courier New"/>
                    <a:ea typeface="Courier New"/>
                    <a:cs typeface="Courier New"/>
                    <a:sym typeface="Courier New"/>
                  </a:rPr>
                  <a:t>l</a:t>
                </a:r>
                <a:r>
                  <a:rPr sz="1800" b="1" dirty="0">
                    <a:solidFill>
                      <a:srgbClr val="FF2600"/>
                    </a:solidFill>
                    <a:uFill>
                      <a:solidFill>
                        <a:srgbClr val="FF2600"/>
                      </a:solidFill>
                    </a:uFill>
                    <a:latin typeface="Courier New"/>
                    <a:ea typeface="Courier New"/>
                    <a:cs typeface="Courier New"/>
                    <a:sym typeface="Courier New"/>
                  </a:rPr>
                  <a:t>lo</a:t>
                </a:r>
                <a:r>
                  <a:rPr sz="1800" b="1" dirty="0">
                    <a:solidFill>
                      <a:srgbClr val="E6ADC8"/>
                    </a:solidFill>
                    <a:uFill>
                      <a:solidFill>
                        <a:srgbClr val="E6ADC8"/>
                      </a:solidFill>
                    </a:uFill>
                    <a:latin typeface="Courier New"/>
                    <a:ea typeface="Courier New"/>
                    <a:cs typeface="Courier New"/>
                    <a:sym typeface="Courier New"/>
                  </a:rPr>
                  <a:t> </a:t>
                </a:r>
                <a:r>
                  <a:rPr sz="1800" b="1" dirty="0">
                    <a:solidFill>
                      <a:srgbClr val="0433FF"/>
                    </a:solidFill>
                    <a:uFill>
                      <a:solidFill>
                        <a:srgbClr val="0433FF"/>
                      </a:solidFill>
                    </a:uFill>
                    <a:latin typeface="Courier New"/>
                    <a:ea typeface="Courier New"/>
                    <a:cs typeface="Courier New"/>
                    <a:sym typeface="Courier New"/>
                  </a:rPr>
                  <a:t>wor</a:t>
                </a:r>
                <a:r>
                  <a:rPr sz="1800" b="1" dirty="0">
                    <a:solidFill>
                      <a:srgbClr val="FF2600"/>
                    </a:solidFill>
                    <a:uFill>
                      <a:solidFill>
                        <a:srgbClr val="FF2600"/>
                      </a:solidFill>
                    </a:uFill>
                    <a:latin typeface="Courier New"/>
                    <a:ea typeface="Courier New"/>
                    <a:cs typeface="Courier New"/>
                    <a:sym typeface="Courier New"/>
                  </a:rPr>
                  <a:t>l</a:t>
                </a:r>
                <a:r>
                  <a:rPr sz="1800" b="1" dirty="0">
                    <a:solidFill>
                      <a:srgbClr val="0433FF"/>
                    </a:solidFill>
                    <a:uFill>
                      <a:solidFill>
                        <a:srgbClr val="0433FF"/>
                      </a:solidFill>
                    </a:uFill>
                    <a:latin typeface="Courier New"/>
                    <a:ea typeface="Courier New"/>
                    <a:cs typeface="Courier New"/>
                    <a:sym typeface="Courier New"/>
                  </a:rPr>
                  <a:t>d</a:t>
                </a:r>
                <a:r>
                  <a:rPr sz="1800" b="1" dirty="0">
                    <a:solidFill>
                      <a:srgbClr val="FF2600"/>
                    </a:solidFill>
                    <a:uFill>
                      <a:solidFill>
                        <a:srgbClr val="FF2600"/>
                      </a:solidFill>
                    </a:uFill>
                    <a:latin typeface="Courier New"/>
                    <a:ea typeface="Courier New"/>
                    <a:cs typeface="Courier New"/>
                    <a:sym typeface="Courier New"/>
                  </a:rPr>
                  <a:t>!</a:t>
                </a:r>
              </a:p>
            </p:txBody>
          </p:sp>
        </p:grpSp>
      </p:grpSp>
      <p:sp>
        <p:nvSpPr>
          <p:cNvPr id="126" name="Significant race conditions in I/O &amp; variable sharing"/>
          <p:cNvSpPr txBox="1"/>
          <p:nvPr/>
        </p:nvSpPr>
        <p:spPr>
          <a:xfrm>
            <a:off x="457200" y="1143000"/>
            <a:ext cx="8318500" cy="533479"/>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000000"/>
                </a:solidFill>
                <a:uFill>
                  <a:solidFill>
                    <a:srgbClr val="000000"/>
                  </a:solidFill>
                </a:uFill>
                <a:latin typeface="Arial Narrow"/>
                <a:ea typeface="Arial Narrow"/>
                <a:cs typeface="Arial Narrow"/>
                <a:sym typeface="Arial Narrow"/>
              </a:defRPr>
            </a:lvl1pPr>
          </a:lstStyle>
          <a:p>
            <a:r>
              <a:rPr lang="en-US" u="none" dirty="0"/>
              <a:t>Critical Sections</a:t>
            </a:r>
            <a:endParaRPr u="none" dirty="0"/>
          </a:p>
        </p:txBody>
      </p:sp>
    </p:spTree>
    <p:extLst>
      <p:ext uri="{BB962C8B-B14F-4D97-AF65-F5344CB8AC3E}">
        <p14:creationId xmlns:p14="http://schemas.microsoft.com/office/powerpoint/2010/main" val="1691908522"/>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advAuto="0"/>
      <p:bldP spid="96"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301" name="Mutual Exclusion"/>
          <p:cNvSpPr txBox="1">
            <a:spLocks noGrp="1"/>
          </p:cNvSpPr>
          <p:nvPr>
            <p:ph type="title"/>
          </p:nvPr>
        </p:nvSpPr>
        <p:spPr>
          <a:prstGeom prst="rect">
            <a:avLst/>
          </a:prstGeom>
        </p:spPr>
        <p:txBody>
          <a:bodyPr/>
          <a:lstStyle/>
          <a:p>
            <a:r>
              <a:t>Mutual Exclusion</a:t>
            </a:r>
          </a:p>
        </p:txBody>
      </p:sp>
      <p:sp>
        <p:nvSpPr>
          <p:cNvPr id="302"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21</a:t>
            </a:fld>
            <a:endParaRPr/>
          </a:p>
        </p:txBody>
      </p:sp>
      <p:pic>
        <p:nvPicPr>
          <p:cNvPr id="303" name="pedblue.jpg" descr="pedblue.jpg"/>
          <p:cNvPicPr/>
          <p:nvPr/>
        </p:nvPicPr>
        <p:blipFill>
          <a:blip r:embed="rId2"/>
          <a:stretch>
            <a:fillRect/>
          </a:stretch>
        </p:blipFill>
        <p:spPr>
          <a:xfrm>
            <a:off x="4297362" y="5207319"/>
            <a:ext cx="274638" cy="461963"/>
          </a:xfrm>
          <a:prstGeom prst="rect">
            <a:avLst/>
          </a:prstGeom>
          <a:ln w="12700">
            <a:miter lim="400000"/>
          </a:ln>
        </p:spPr>
      </p:pic>
      <p:grpSp>
        <p:nvGrpSpPr>
          <p:cNvPr id="311" name="Group"/>
          <p:cNvGrpSpPr/>
          <p:nvPr/>
        </p:nvGrpSpPr>
        <p:grpSpPr>
          <a:xfrm>
            <a:off x="457200" y="1523999"/>
            <a:ext cx="8318500" cy="3790951"/>
            <a:chOff x="0" y="0"/>
            <a:chExt cx="8318500" cy="3790949"/>
          </a:xfrm>
        </p:grpSpPr>
        <p:grpSp>
          <p:nvGrpSpPr>
            <p:cNvPr id="306" name="Group"/>
            <p:cNvGrpSpPr/>
            <p:nvPr/>
          </p:nvGrpSpPr>
          <p:grpSpPr>
            <a:xfrm>
              <a:off x="4572000" y="2378074"/>
              <a:ext cx="3276600" cy="1395414"/>
              <a:chOff x="0" y="0"/>
              <a:chExt cx="3276600" cy="1395412"/>
            </a:xfrm>
          </p:grpSpPr>
          <p:sp>
            <p:nvSpPr>
              <p:cNvPr id="304"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05" name="enter critical region?…"/>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enter critical region?</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exit critical region</a:t>
                </a:r>
              </a:p>
            </p:txBody>
          </p:sp>
        </p:grpSp>
        <p:grpSp>
          <p:nvGrpSpPr>
            <p:cNvPr id="309" name="Group"/>
            <p:cNvGrpSpPr/>
            <p:nvPr/>
          </p:nvGrpSpPr>
          <p:grpSpPr>
            <a:xfrm>
              <a:off x="457200" y="2395537"/>
              <a:ext cx="3276600" cy="1395413"/>
              <a:chOff x="0" y="0"/>
              <a:chExt cx="3276600" cy="1395412"/>
            </a:xfrm>
          </p:grpSpPr>
          <p:sp>
            <p:nvSpPr>
              <p:cNvPr id="307"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08" name="enter critical region?…"/>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enter critical region?</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7B1142"/>
                  </a:buClr>
                  <a:buFont typeface="Wingdings"/>
                  <a:defRPr i="1">
                    <a:solidFill>
                      <a:srgbClr val="7B1142"/>
                    </a:solidFill>
                    <a:uFill>
                      <a:solidFill>
                        <a:srgbClr val="7B1142"/>
                      </a:solidFill>
                    </a:uFill>
                    <a:latin typeface="Arial Narrow"/>
                    <a:ea typeface="Arial Narrow"/>
                    <a:cs typeface="Arial Narrow"/>
                    <a:sym typeface="Arial Narrow"/>
                  </a:defRPr>
                </a:pPr>
                <a:r>
                  <a:t>            exit critical region</a:t>
                </a:r>
              </a:p>
            </p:txBody>
          </p:sp>
        </p:grpSp>
        <p:sp>
          <p:nvSpPr>
            <p:cNvPr id="310" name="critical regions can be protected from concurrent access by padding them with entrance and exit gates (we’ll see how later): a thread must try to check in, then it must check out"/>
            <p:cNvSpPr txBox="1"/>
            <p:nvPr/>
          </p:nvSpPr>
          <p:spPr>
            <a:xfrm>
              <a:off x="0" y="0"/>
              <a:ext cx="8318500" cy="1130300"/>
            </a:xfrm>
            <a:prstGeom prst="rect">
              <a:avLst/>
            </a:prstGeom>
            <a:noFill/>
            <a:ln w="12700" cap="flat">
              <a:noFill/>
              <a:miter lim="400000"/>
            </a:ln>
            <a:effectLst/>
          </p:spPr>
          <p:txBody>
            <a:bodyPr wrap="square" lIns="50800" tIns="50800" rIns="50800" bIns="50800" numCol="1" anchor="t">
              <a:spAutoFit/>
            </a:bodyPr>
            <a:lstStyle>
              <a:lvl1pPr marL="1067752" indent="-457199">
                <a:spcBef>
                  <a:spcPts val="600"/>
                </a:spcBef>
                <a:buClr>
                  <a:srgbClr val="7B1142"/>
                </a:buClr>
                <a:buSzPct val="65000"/>
                <a:buChar char=""/>
                <a:tabLst>
                  <a:tab pos="495300" algn="l"/>
                  <a:tab pos="1066800" algn="l"/>
                  <a:tab pos="1866900" algn="l"/>
                </a:tabLst>
                <a:defRPr sz="2400">
                  <a:solidFill>
                    <a:srgbClr val="7B1142"/>
                  </a:solidFill>
                  <a:uFill>
                    <a:solidFill>
                      <a:srgbClr val="7B1142"/>
                    </a:solidFill>
                  </a:uFill>
                  <a:latin typeface="Arial Narrow"/>
                  <a:ea typeface="Arial Narrow"/>
                  <a:cs typeface="Arial Narrow"/>
                  <a:sym typeface="Arial Narrow"/>
                </a:defRPr>
              </a:lvl1pPr>
            </a:lstStyle>
            <a:p>
              <a:r>
                <a:t>critical regions can be protected from concurrent access by padding them with entrance and exit gates (we’ll see how later): a thread must try to check in, then it must check out </a:t>
              </a:r>
            </a:p>
          </p:txBody>
        </p:sp>
      </p:grpSp>
      <p:sp>
        <p:nvSpPr>
          <p:cNvPr id="312" name="Rectangle"/>
          <p:cNvSpPr/>
          <p:nvPr/>
        </p:nvSpPr>
        <p:spPr>
          <a:xfrm>
            <a:off x="5029200" y="4191000"/>
            <a:ext cx="3289300" cy="838200"/>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13" name="Rectangle"/>
          <p:cNvSpPr/>
          <p:nvPr/>
        </p:nvSpPr>
        <p:spPr>
          <a:xfrm>
            <a:off x="912812" y="4191000"/>
            <a:ext cx="3289301" cy="838200"/>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14" name="We need mutual exclusion from critical regions"/>
          <p:cNvSpPr txBox="1"/>
          <p:nvPr/>
        </p:nvSpPr>
        <p:spPr>
          <a:xfrm>
            <a:off x="457200" y="1143000"/>
            <a:ext cx="83185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u="sng">
                <a:latin typeface="Arial Narrow"/>
                <a:ea typeface="Arial Narrow"/>
                <a:cs typeface="Arial Narrow"/>
                <a:sym typeface="Arial Narrow"/>
              </a:rPr>
              <a:t>We need </a:t>
            </a:r>
            <a:r>
              <a:rPr sz="2800" b="1" u="sng">
                <a:solidFill>
                  <a:srgbClr val="C51B05"/>
                </a:solidFill>
                <a:uFill>
                  <a:solidFill>
                    <a:srgbClr val="C51B05"/>
                  </a:solidFill>
                </a:uFill>
                <a:latin typeface="Arial Narrow"/>
                <a:ea typeface="Arial Narrow"/>
                <a:cs typeface="Arial Narrow"/>
                <a:sym typeface="Arial Narrow"/>
              </a:rPr>
              <a:t>mutual exclusion</a:t>
            </a:r>
            <a:r>
              <a:rPr sz="2800" u="sng">
                <a:latin typeface="Arial Narrow"/>
                <a:ea typeface="Arial Narrow"/>
                <a:cs typeface="Arial Narrow"/>
                <a:sym typeface="Arial Narrow"/>
              </a:rPr>
              <a:t> from critical regions</a:t>
            </a:r>
          </a:p>
        </p:txBody>
      </p:sp>
      <p:grpSp>
        <p:nvGrpSpPr>
          <p:cNvPr id="317" name="Group"/>
          <p:cNvGrpSpPr/>
          <p:nvPr/>
        </p:nvGrpSpPr>
        <p:grpSpPr>
          <a:xfrm>
            <a:off x="5029200" y="2852737"/>
            <a:ext cx="3276600" cy="3408363"/>
            <a:chOff x="0" y="0"/>
            <a:chExt cx="3276600" cy="3408362"/>
          </a:xfrm>
        </p:grpSpPr>
        <p:sp>
          <p:nvSpPr>
            <p:cNvPr id="315"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16" name="void echo()…"/>
            <p:cNvSpPr txBox="1"/>
            <p:nvPr/>
          </p:nvSpPr>
          <p:spPr>
            <a:xfrm>
              <a:off x="0" y="0"/>
              <a:ext cx="3276600" cy="31496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sp>
        <p:nvSpPr>
          <p:cNvPr id="318" name="B"/>
          <p:cNvSpPr txBox="1"/>
          <p:nvPr/>
        </p:nvSpPr>
        <p:spPr>
          <a:xfrm>
            <a:off x="4745354" y="3309937"/>
            <a:ext cx="321629" cy="444501"/>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19" name="A"/>
          <p:cNvSpPr txBox="1"/>
          <p:nvPr/>
        </p:nvSpPr>
        <p:spPr>
          <a:xfrm>
            <a:off x="4165917" y="3309937"/>
            <a:ext cx="321629" cy="444501"/>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20" name="Line"/>
          <p:cNvSpPr/>
          <p:nvPr/>
        </p:nvSpPr>
        <p:spPr>
          <a:xfrm>
            <a:off x="5082558" y="3024186"/>
            <a:ext cx="76200" cy="571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0800" y="1440"/>
                  <a:pt x="21600" y="2880"/>
                  <a:pt x="21600" y="4320"/>
                </a:cubicBezTo>
                <a:cubicBezTo>
                  <a:pt x="21600" y="5760"/>
                  <a:pt x="0" y="7200"/>
                  <a:pt x="0" y="8640"/>
                </a:cubicBezTo>
                <a:cubicBezTo>
                  <a:pt x="0" y="10080"/>
                  <a:pt x="21600" y="11520"/>
                  <a:pt x="21600" y="12960"/>
                </a:cubicBezTo>
                <a:cubicBezTo>
                  <a:pt x="21600" y="14400"/>
                  <a:pt x="0" y="15840"/>
                  <a:pt x="0" y="17280"/>
                </a:cubicBezTo>
                <a:cubicBezTo>
                  <a:pt x="0" y="18720"/>
                  <a:pt x="18000" y="20880"/>
                  <a:pt x="21600" y="21600"/>
                </a:cubicBezTo>
              </a:path>
            </a:pathLst>
          </a:custGeom>
          <a:ln w="19050">
            <a:solidFill>
              <a:srgbClr val="FF2600"/>
            </a:solidFill>
            <a:tailEnd type="triangle"/>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21" name="Line"/>
          <p:cNvSpPr/>
          <p:nvPr/>
        </p:nvSpPr>
        <p:spPr>
          <a:xfrm>
            <a:off x="5027612" y="4191000"/>
            <a:ext cx="3276601" cy="1588"/>
          </a:xfrm>
          <a:prstGeom prst="line">
            <a:avLst/>
          </a:prstGeom>
          <a:ln w="38100">
            <a:solidFill>
              <a:srgbClr val="7B1142"/>
            </a:solidFill>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22" name="Line"/>
          <p:cNvSpPr/>
          <p:nvPr/>
        </p:nvSpPr>
        <p:spPr>
          <a:xfrm>
            <a:off x="4038600" y="3614737"/>
            <a:ext cx="76200" cy="114300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0800" y="720"/>
                  <a:pt x="0" y="1440"/>
                  <a:pt x="0" y="2160"/>
                </a:cubicBezTo>
                <a:cubicBezTo>
                  <a:pt x="0" y="2880"/>
                  <a:pt x="21600" y="3600"/>
                  <a:pt x="21600" y="4320"/>
                </a:cubicBezTo>
                <a:cubicBezTo>
                  <a:pt x="21600" y="5040"/>
                  <a:pt x="0" y="5760"/>
                  <a:pt x="0" y="6480"/>
                </a:cubicBezTo>
                <a:cubicBezTo>
                  <a:pt x="0" y="7200"/>
                  <a:pt x="21600" y="7920"/>
                  <a:pt x="21600" y="8640"/>
                </a:cubicBezTo>
                <a:cubicBezTo>
                  <a:pt x="21600" y="9360"/>
                  <a:pt x="0" y="10080"/>
                  <a:pt x="0" y="10800"/>
                </a:cubicBezTo>
                <a:cubicBezTo>
                  <a:pt x="0" y="11520"/>
                  <a:pt x="21600" y="12240"/>
                  <a:pt x="21600" y="12960"/>
                </a:cubicBezTo>
                <a:cubicBezTo>
                  <a:pt x="21600" y="13680"/>
                  <a:pt x="0" y="14400"/>
                  <a:pt x="0" y="15120"/>
                </a:cubicBezTo>
                <a:cubicBezTo>
                  <a:pt x="0" y="15840"/>
                  <a:pt x="21600" y="16560"/>
                  <a:pt x="21600" y="17280"/>
                </a:cubicBezTo>
                <a:cubicBezTo>
                  <a:pt x="21600" y="18000"/>
                  <a:pt x="0" y="18720"/>
                  <a:pt x="0" y="19440"/>
                </a:cubicBezTo>
                <a:cubicBezTo>
                  <a:pt x="0" y="20160"/>
                  <a:pt x="18000" y="21240"/>
                  <a:pt x="21600" y="21600"/>
                </a:cubicBezTo>
              </a:path>
            </a:pathLst>
          </a:custGeom>
          <a:ln w="19050">
            <a:solidFill>
              <a:srgbClr val="0433FF"/>
            </a:solidFill>
            <a:tailEnd type="triangle"/>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25" name="Group"/>
          <p:cNvGrpSpPr/>
          <p:nvPr/>
        </p:nvGrpSpPr>
        <p:grpSpPr>
          <a:xfrm>
            <a:off x="914400" y="2865437"/>
            <a:ext cx="3276600" cy="3408363"/>
            <a:chOff x="0" y="0"/>
            <a:chExt cx="3276600" cy="3408362"/>
          </a:xfrm>
        </p:grpSpPr>
        <p:sp>
          <p:nvSpPr>
            <p:cNvPr id="323"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24" name="void echo()…"/>
            <p:cNvSpPr txBox="1"/>
            <p:nvPr/>
          </p:nvSpPr>
          <p:spPr>
            <a:xfrm>
              <a:off x="0" y="0"/>
              <a:ext cx="3276600" cy="31496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pic>
        <p:nvPicPr>
          <p:cNvPr id="326" name="pedredstand.jpg" descr="pedredstand.jpg"/>
          <p:cNvPicPr/>
          <p:nvPr/>
        </p:nvPicPr>
        <p:blipFill>
          <a:blip r:embed="rId3"/>
          <a:stretch>
            <a:fillRect/>
          </a:stretch>
        </p:blipFill>
        <p:spPr>
          <a:xfrm>
            <a:off x="4887595" y="4198937"/>
            <a:ext cx="179388" cy="457200"/>
          </a:xfrm>
          <a:prstGeom prst="rect">
            <a:avLst/>
          </a:prstGeom>
          <a:ln w="12700">
            <a:miter lim="400000"/>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 grpId="1" animBg="1" advAuto="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328" name="Mutual Exclusion"/>
          <p:cNvSpPr txBox="1">
            <a:spLocks noGrp="1"/>
          </p:cNvSpPr>
          <p:nvPr>
            <p:ph type="title"/>
          </p:nvPr>
        </p:nvSpPr>
        <p:spPr>
          <a:prstGeom prst="rect">
            <a:avLst/>
          </a:prstGeom>
        </p:spPr>
        <p:txBody>
          <a:bodyPr/>
          <a:lstStyle/>
          <a:p>
            <a:r>
              <a:t>Mutual Exclusion</a:t>
            </a:r>
          </a:p>
        </p:txBody>
      </p:sp>
      <p:sp>
        <p:nvSpPr>
          <p:cNvPr id="329"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22</a:t>
            </a:fld>
            <a:endParaRPr/>
          </a:p>
        </p:txBody>
      </p:sp>
      <p:grpSp>
        <p:nvGrpSpPr>
          <p:cNvPr id="332" name="Group"/>
          <p:cNvGrpSpPr/>
          <p:nvPr/>
        </p:nvGrpSpPr>
        <p:grpSpPr>
          <a:xfrm>
            <a:off x="6629400" y="1828800"/>
            <a:ext cx="1828800" cy="914400"/>
            <a:chOff x="0" y="0"/>
            <a:chExt cx="1828800" cy="914400"/>
          </a:xfrm>
        </p:grpSpPr>
        <p:sp>
          <p:nvSpPr>
            <p:cNvPr id="330"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1"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333" name="thread A reaches the gate to the critical region (CR) before B…"/>
          <p:cNvSpPr txBox="1"/>
          <p:nvPr/>
        </p:nvSpPr>
        <p:spPr>
          <a:xfrm>
            <a:off x="457200" y="1828800"/>
            <a:ext cx="4127500" cy="1631216"/>
          </a:xfrm>
          <a:prstGeom prst="rect">
            <a:avLst/>
          </a:prstGeom>
          <a:ln w="12700">
            <a:miter lim="400000"/>
          </a:ln>
        </p:spPr>
        <p:txBody>
          <a:bodyPr lIns="50800" tIns="50800" rIns="50800" bIns="50800">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the gate to the critical region (CR) before B</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dirty="0"/>
          </a:p>
        </p:txBody>
      </p:sp>
      <p:sp>
        <p:nvSpPr>
          <p:cNvPr id="334" name="Desired effect: mutual exclusion from the critical region"/>
          <p:cNvSpPr txBox="1"/>
          <p:nvPr/>
        </p:nvSpPr>
        <p:spPr>
          <a:xfrm>
            <a:off x="457200" y="1219200"/>
            <a:ext cx="83947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lvl1pPr>
          </a:lstStyle>
          <a:p>
            <a:r>
              <a:rPr dirty="0"/>
              <a:t>Desired effect: mutual exclusion from the critical region</a:t>
            </a:r>
          </a:p>
        </p:txBody>
      </p:sp>
      <p:sp>
        <p:nvSpPr>
          <p:cNvPr id="338" name="Line"/>
          <p:cNvSpPr/>
          <p:nvPr/>
        </p:nvSpPr>
        <p:spPr>
          <a:xfrm>
            <a:off x="4800600" y="205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9" name="Line"/>
          <p:cNvSpPr/>
          <p:nvPr/>
        </p:nvSpPr>
        <p:spPr>
          <a:xfrm>
            <a:off x="4800600" y="2438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48" name="Group"/>
          <p:cNvGrpSpPr/>
          <p:nvPr/>
        </p:nvGrpSpPr>
        <p:grpSpPr>
          <a:xfrm>
            <a:off x="6324600" y="1828800"/>
            <a:ext cx="274638" cy="461963"/>
            <a:chOff x="0" y="0"/>
            <a:chExt cx="274637" cy="461962"/>
          </a:xfrm>
        </p:grpSpPr>
        <p:sp>
          <p:nvSpPr>
            <p:cNvPr id="346"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47" name="pedblue.jpg" descr="pedblue.jpg"/>
            <p:cNvPicPr/>
            <p:nvPr/>
          </p:nvPicPr>
          <p:blipFill>
            <a:blip r:embed="rId2"/>
            <a:stretch>
              <a:fillRect/>
            </a:stretch>
          </p:blipFill>
          <p:spPr>
            <a:xfrm>
              <a:off x="0" y="0"/>
              <a:ext cx="274638" cy="461963"/>
            </a:xfrm>
            <a:prstGeom prst="rect">
              <a:avLst/>
            </a:prstGeom>
            <a:ln w="12700" cap="flat">
              <a:noFill/>
              <a:miter lim="400000"/>
            </a:ln>
            <a:effectLst/>
          </p:spPr>
        </p:pic>
      </p:grpSp>
      <p:sp>
        <p:nvSpPr>
          <p:cNvPr id="350" name="Rectangle"/>
          <p:cNvSpPr/>
          <p:nvPr/>
        </p:nvSpPr>
        <p:spPr>
          <a:xfrm>
            <a:off x="5791200" y="2286000"/>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51" name="Line"/>
          <p:cNvSpPr/>
          <p:nvPr/>
        </p:nvSpPr>
        <p:spPr>
          <a:xfrm>
            <a:off x="66294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52" name="Line"/>
          <p:cNvSpPr/>
          <p:nvPr/>
        </p:nvSpPr>
        <p:spPr>
          <a:xfrm>
            <a:off x="84582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353" name="pedred.jpg" descr="pedred.jpg"/>
          <p:cNvPicPr/>
          <p:nvPr/>
        </p:nvPicPr>
        <p:blipFill>
          <a:blip r:embed="rId3"/>
          <a:stretch>
            <a:fillRect/>
          </a:stretch>
        </p:blipFill>
        <p:spPr>
          <a:xfrm>
            <a:off x="6324600" y="2314011"/>
            <a:ext cx="265113" cy="446088"/>
          </a:xfrm>
          <a:prstGeom prst="rect">
            <a:avLst/>
          </a:prstGeom>
          <a:ln w="12700">
            <a:miter lim="400000"/>
          </a:ln>
        </p:spPr>
      </p:pic>
      <p:sp>
        <p:nvSpPr>
          <p:cNvPr id="367" name="B"/>
          <p:cNvSpPr txBox="1"/>
          <p:nvPr/>
        </p:nvSpPr>
        <p:spPr>
          <a:xfrm>
            <a:off x="4516754" y="2209800"/>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68" name="A"/>
          <p:cNvSpPr txBox="1"/>
          <p:nvPr/>
        </p:nvSpPr>
        <p:spPr>
          <a:xfrm>
            <a:off x="4516754" y="1828800"/>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81" name="HOW is this…"/>
          <p:cNvSpPr txBox="1"/>
          <p:nvPr/>
        </p:nvSpPr>
        <p:spPr>
          <a:xfrm rot="16200000">
            <a:off x="-354844" y="3693504"/>
            <a:ext cx="1437978" cy="575892"/>
          </a:xfrm>
          <a:prstGeom prst="rect">
            <a:avLst/>
          </a:prstGeom>
          <a:ln w="12700">
            <a:miter lim="400000"/>
          </a:ln>
        </p:spPr>
        <p:txBody>
          <a:bodyPr wrap="none" lIns="0" tIns="0" rIns="0" bIns="0">
            <a:spAutoFit/>
          </a:bodyPr>
          <a:lstStyle/>
          <a:p>
            <a:pPr marL="0" marR="0" algn="ctr">
              <a:buClr>
                <a:srgbClr val="C51B05"/>
              </a:buClr>
              <a:buFont typeface="Wingdings"/>
              <a:defRPr sz="2000" b="1">
                <a:solidFill>
                  <a:srgbClr val="C51B05"/>
                </a:solidFill>
                <a:uFill>
                  <a:solidFill>
                    <a:srgbClr val="C51B05"/>
                  </a:solidFill>
                </a:uFill>
              </a:defRPr>
            </a:pPr>
            <a:r>
              <a:t>HOW is this</a:t>
            </a:r>
          </a:p>
          <a:p>
            <a:pPr marL="0" marR="0" algn="ctr">
              <a:buClr>
                <a:srgbClr val="C51B05"/>
              </a:buClr>
              <a:buFont typeface="Wingdings"/>
              <a:defRPr sz="2000" b="1">
                <a:solidFill>
                  <a:srgbClr val="C51B05"/>
                </a:solidFill>
                <a:uFill>
                  <a:solidFill>
                    <a:srgbClr val="C51B05"/>
                  </a:solidFill>
                </a:uFill>
              </a:defRPr>
            </a:pPr>
            <a:r>
              <a:t>achieved??</a:t>
            </a:r>
          </a:p>
        </p:txBody>
      </p:sp>
      <p:sp>
        <p:nvSpPr>
          <p:cNvPr id="382" name="Line"/>
          <p:cNvSpPr/>
          <p:nvPr/>
        </p:nvSpPr>
        <p:spPr>
          <a:xfrm>
            <a:off x="762000" y="2895600"/>
            <a:ext cx="304800" cy="22098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ln w="12700">
            <a:solidFill>
              <a:srgbClr val="C51B05"/>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2" name="Group">
            <a:extLst>
              <a:ext uri="{FF2B5EF4-FFF2-40B4-BE49-F238E27FC236}">
                <a16:creationId xmlns:a16="http://schemas.microsoft.com/office/drawing/2014/main" id="{EA9F37B8-72B5-998B-2788-1F4CBA1F771B}"/>
              </a:ext>
            </a:extLst>
          </p:cNvPr>
          <p:cNvGrpSpPr/>
          <p:nvPr/>
        </p:nvGrpSpPr>
        <p:grpSpPr>
          <a:xfrm>
            <a:off x="6697346" y="3085366"/>
            <a:ext cx="1828800" cy="914400"/>
            <a:chOff x="0" y="0"/>
            <a:chExt cx="1828800" cy="914400"/>
          </a:xfrm>
        </p:grpSpPr>
        <p:sp>
          <p:nvSpPr>
            <p:cNvPr id="3" name="Rectangle">
              <a:extLst>
                <a:ext uri="{FF2B5EF4-FFF2-40B4-BE49-F238E27FC236}">
                  <a16:creationId xmlns:a16="http://schemas.microsoft.com/office/drawing/2014/main" id="{52A4A4D8-5D0A-CEA4-88E3-92E98DB3754F}"/>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 name="critical region">
              <a:extLst>
                <a:ext uri="{FF2B5EF4-FFF2-40B4-BE49-F238E27FC236}">
                  <a16:creationId xmlns:a16="http://schemas.microsoft.com/office/drawing/2014/main" id="{728FA281-D2D3-0297-7768-B6B15248C319}"/>
                </a:ext>
              </a:extLst>
            </p:cNvPr>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 name="Line">
            <a:extLst>
              <a:ext uri="{FF2B5EF4-FFF2-40B4-BE49-F238E27FC236}">
                <a16:creationId xmlns:a16="http://schemas.microsoft.com/office/drawing/2014/main" id="{B953C868-C8F0-B319-1AC5-360C60E98E35}"/>
              </a:ext>
            </a:extLst>
          </p:cNvPr>
          <p:cNvSpPr/>
          <p:nvPr/>
        </p:nvSpPr>
        <p:spPr>
          <a:xfrm>
            <a:off x="4868546" y="3313966"/>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 name="Line">
            <a:extLst>
              <a:ext uri="{FF2B5EF4-FFF2-40B4-BE49-F238E27FC236}">
                <a16:creationId xmlns:a16="http://schemas.microsoft.com/office/drawing/2014/main" id="{9941B168-A7AC-3208-9602-8458ABBAD727}"/>
              </a:ext>
            </a:extLst>
          </p:cNvPr>
          <p:cNvSpPr/>
          <p:nvPr/>
        </p:nvSpPr>
        <p:spPr>
          <a:xfrm>
            <a:off x="4868546" y="3694966"/>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7" name="Group">
            <a:extLst>
              <a:ext uri="{FF2B5EF4-FFF2-40B4-BE49-F238E27FC236}">
                <a16:creationId xmlns:a16="http://schemas.microsoft.com/office/drawing/2014/main" id="{EA965080-7A97-FC54-D81D-20FB7EF9D99A}"/>
              </a:ext>
            </a:extLst>
          </p:cNvPr>
          <p:cNvGrpSpPr/>
          <p:nvPr/>
        </p:nvGrpSpPr>
        <p:grpSpPr>
          <a:xfrm rot="20552651">
            <a:off x="6447883" y="3261264"/>
            <a:ext cx="735204" cy="228563"/>
            <a:chOff x="0" y="0"/>
            <a:chExt cx="274637" cy="461962"/>
          </a:xfrm>
        </p:grpSpPr>
        <p:sp>
          <p:nvSpPr>
            <p:cNvPr id="8" name="Rectangle">
              <a:extLst>
                <a:ext uri="{FF2B5EF4-FFF2-40B4-BE49-F238E27FC236}">
                  <a16:creationId xmlns:a16="http://schemas.microsoft.com/office/drawing/2014/main" id="{D3EF2EE0-2582-11BB-10D8-70876411DE3C}"/>
                </a:ext>
              </a:extLst>
            </p:cNvPr>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9" name="pedblue.jpg" descr="pedblue.jpg">
              <a:extLst>
                <a:ext uri="{FF2B5EF4-FFF2-40B4-BE49-F238E27FC236}">
                  <a16:creationId xmlns:a16="http://schemas.microsoft.com/office/drawing/2014/main" id="{6987679F-F2BC-88C7-B6CB-3BD0FD28DB94}"/>
                </a:ext>
              </a:extLst>
            </p:cNvPr>
            <p:cNvPicPr/>
            <p:nvPr/>
          </p:nvPicPr>
          <p:blipFill>
            <a:blip r:embed="rId2"/>
            <a:stretch>
              <a:fillRect/>
            </a:stretch>
          </p:blipFill>
          <p:spPr>
            <a:xfrm>
              <a:off x="0" y="0"/>
              <a:ext cx="274638" cy="461963"/>
            </a:xfrm>
            <a:prstGeom prst="rect">
              <a:avLst/>
            </a:prstGeom>
            <a:ln w="12700" cap="flat">
              <a:noFill/>
              <a:miter lim="400000"/>
            </a:ln>
            <a:effectLst/>
          </p:spPr>
        </p:pic>
      </p:grpSp>
      <p:sp>
        <p:nvSpPr>
          <p:cNvPr id="10" name="Rectangle">
            <a:extLst>
              <a:ext uri="{FF2B5EF4-FFF2-40B4-BE49-F238E27FC236}">
                <a16:creationId xmlns:a16="http://schemas.microsoft.com/office/drawing/2014/main" id="{FD90F1CE-8455-FE9B-4A34-976613E87555}"/>
              </a:ext>
            </a:extLst>
          </p:cNvPr>
          <p:cNvSpPr/>
          <p:nvPr/>
        </p:nvSpPr>
        <p:spPr>
          <a:xfrm>
            <a:off x="5859146" y="3542566"/>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11" name="Line">
            <a:extLst>
              <a:ext uri="{FF2B5EF4-FFF2-40B4-BE49-F238E27FC236}">
                <a16:creationId xmlns:a16="http://schemas.microsoft.com/office/drawing/2014/main" id="{6F43A0A8-17C3-B7B2-0E01-996C288215E7}"/>
              </a:ext>
            </a:extLst>
          </p:cNvPr>
          <p:cNvSpPr/>
          <p:nvPr/>
        </p:nvSpPr>
        <p:spPr>
          <a:xfrm>
            <a:off x="6697346" y="3085366"/>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12" name="Line">
            <a:extLst>
              <a:ext uri="{FF2B5EF4-FFF2-40B4-BE49-F238E27FC236}">
                <a16:creationId xmlns:a16="http://schemas.microsoft.com/office/drawing/2014/main" id="{B12B0734-9A8D-3DE0-DC72-5E9CC0EB141F}"/>
              </a:ext>
            </a:extLst>
          </p:cNvPr>
          <p:cNvSpPr/>
          <p:nvPr/>
        </p:nvSpPr>
        <p:spPr>
          <a:xfrm>
            <a:off x="8526146" y="3085366"/>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13" name="pedred.jpg" descr="pedred.jpg">
            <a:extLst>
              <a:ext uri="{FF2B5EF4-FFF2-40B4-BE49-F238E27FC236}">
                <a16:creationId xmlns:a16="http://schemas.microsoft.com/office/drawing/2014/main" id="{ABB2E1D2-B47E-606E-4E6A-4F2778BFEDBA}"/>
              </a:ext>
            </a:extLst>
          </p:cNvPr>
          <p:cNvPicPr/>
          <p:nvPr/>
        </p:nvPicPr>
        <p:blipFill>
          <a:blip r:embed="rId3"/>
          <a:stretch>
            <a:fillRect/>
          </a:stretch>
        </p:blipFill>
        <p:spPr>
          <a:xfrm rot="20552651">
            <a:off x="6447048" y="3769882"/>
            <a:ext cx="709706" cy="220709"/>
          </a:xfrm>
          <a:prstGeom prst="rect">
            <a:avLst/>
          </a:prstGeom>
          <a:ln w="12700">
            <a:miter lim="400000"/>
          </a:ln>
        </p:spPr>
      </p:pic>
      <p:sp>
        <p:nvSpPr>
          <p:cNvPr id="14" name="B">
            <a:extLst>
              <a:ext uri="{FF2B5EF4-FFF2-40B4-BE49-F238E27FC236}">
                <a16:creationId xmlns:a16="http://schemas.microsoft.com/office/drawing/2014/main" id="{3113D8EC-3FA0-8D50-6E1F-FA88CE2D3693}"/>
              </a:ext>
            </a:extLst>
          </p:cNvPr>
          <p:cNvSpPr txBox="1"/>
          <p:nvPr/>
        </p:nvSpPr>
        <p:spPr>
          <a:xfrm>
            <a:off x="4584700" y="3466366"/>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15" name="A">
            <a:extLst>
              <a:ext uri="{FF2B5EF4-FFF2-40B4-BE49-F238E27FC236}">
                <a16:creationId xmlns:a16="http://schemas.microsoft.com/office/drawing/2014/main" id="{63B4F03D-BD16-027A-145A-EF814A112DEE}"/>
              </a:ext>
            </a:extLst>
          </p:cNvPr>
          <p:cNvSpPr txBox="1"/>
          <p:nvPr/>
        </p:nvSpPr>
        <p:spPr>
          <a:xfrm>
            <a:off x="4584700" y="3085366"/>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a:extLst>
            <a:ext uri="{FF2B5EF4-FFF2-40B4-BE49-F238E27FC236}">
              <a16:creationId xmlns:a16="http://schemas.microsoft.com/office/drawing/2014/main" id="{CCA06CF7-59AD-3CC1-22A2-4FF4688C9F00}"/>
            </a:ext>
          </a:extLst>
        </p:cNvPr>
        <p:cNvGrpSpPr/>
        <p:nvPr/>
      </p:nvGrpSpPr>
      <p:grpSpPr>
        <a:xfrm>
          <a:off x="0" y="0"/>
          <a:ext cx="0" cy="0"/>
          <a:chOff x="0" y="0"/>
          <a:chExt cx="0" cy="0"/>
        </a:xfrm>
      </p:grpSpPr>
      <p:sp>
        <p:nvSpPr>
          <p:cNvPr id="328" name="Mutual Exclusion">
            <a:extLst>
              <a:ext uri="{FF2B5EF4-FFF2-40B4-BE49-F238E27FC236}">
                <a16:creationId xmlns:a16="http://schemas.microsoft.com/office/drawing/2014/main" id="{A86BC9ED-5499-180E-C7A7-43B67E1A88AD}"/>
              </a:ext>
            </a:extLst>
          </p:cNvPr>
          <p:cNvSpPr txBox="1">
            <a:spLocks noGrp="1"/>
          </p:cNvSpPr>
          <p:nvPr>
            <p:ph type="title"/>
          </p:nvPr>
        </p:nvSpPr>
        <p:spPr>
          <a:prstGeom prst="rect">
            <a:avLst/>
          </a:prstGeom>
        </p:spPr>
        <p:txBody>
          <a:bodyPr/>
          <a:lstStyle/>
          <a:p>
            <a:r>
              <a:t>Mutual Exclusion</a:t>
            </a:r>
          </a:p>
        </p:txBody>
      </p:sp>
      <p:sp>
        <p:nvSpPr>
          <p:cNvPr id="329" name="Slide Number">
            <a:extLst>
              <a:ext uri="{FF2B5EF4-FFF2-40B4-BE49-F238E27FC236}">
                <a16:creationId xmlns:a16="http://schemas.microsoft.com/office/drawing/2014/main" id="{D7F1D2CB-560F-8E3D-98C2-BE184335413F}"/>
              </a:ext>
            </a:extLst>
          </p:cNvP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23</a:t>
            </a:fld>
            <a:endParaRPr/>
          </a:p>
        </p:txBody>
      </p:sp>
      <p:grpSp>
        <p:nvGrpSpPr>
          <p:cNvPr id="332" name="Group">
            <a:extLst>
              <a:ext uri="{FF2B5EF4-FFF2-40B4-BE49-F238E27FC236}">
                <a16:creationId xmlns:a16="http://schemas.microsoft.com/office/drawing/2014/main" id="{E402711B-58C4-D220-E425-6811A647120C}"/>
              </a:ext>
            </a:extLst>
          </p:cNvPr>
          <p:cNvGrpSpPr/>
          <p:nvPr/>
        </p:nvGrpSpPr>
        <p:grpSpPr>
          <a:xfrm>
            <a:off x="6629400" y="1828800"/>
            <a:ext cx="1828800" cy="914400"/>
            <a:chOff x="0" y="0"/>
            <a:chExt cx="1828800" cy="914400"/>
          </a:xfrm>
        </p:grpSpPr>
        <p:sp>
          <p:nvSpPr>
            <p:cNvPr id="330" name="Rectangle">
              <a:extLst>
                <a:ext uri="{FF2B5EF4-FFF2-40B4-BE49-F238E27FC236}">
                  <a16:creationId xmlns:a16="http://schemas.microsoft.com/office/drawing/2014/main" id="{A7607D91-AC3C-541C-925E-7FED450086D9}"/>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1" name="critical region">
              <a:extLst>
                <a:ext uri="{FF2B5EF4-FFF2-40B4-BE49-F238E27FC236}">
                  <a16:creationId xmlns:a16="http://schemas.microsoft.com/office/drawing/2014/main" id="{5A63482E-78AE-BA24-B0F1-3722273B3D4B}"/>
                </a:ext>
              </a:extLst>
            </p:cNvPr>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333" name="thread A reaches the gate to the critical region (CR) before B…">
            <a:extLst>
              <a:ext uri="{FF2B5EF4-FFF2-40B4-BE49-F238E27FC236}">
                <a16:creationId xmlns:a16="http://schemas.microsoft.com/office/drawing/2014/main" id="{2E4E1F01-A8D5-B513-AECA-64C4E46CE7A1}"/>
              </a:ext>
            </a:extLst>
          </p:cNvPr>
          <p:cNvSpPr txBox="1"/>
          <p:nvPr/>
        </p:nvSpPr>
        <p:spPr>
          <a:xfrm>
            <a:off x="457200" y="1828800"/>
            <a:ext cx="4127500" cy="1631216"/>
          </a:xfrm>
          <a:prstGeom prst="rect">
            <a:avLst/>
          </a:prstGeom>
          <a:ln w="12700">
            <a:miter lim="400000"/>
          </a:ln>
        </p:spPr>
        <p:txBody>
          <a:bodyPr lIns="50800" tIns="50800" rIns="50800" bIns="50800">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the gate to the critical region (CR) before B</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dirty="0"/>
          </a:p>
        </p:txBody>
      </p:sp>
      <p:sp>
        <p:nvSpPr>
          <p:cNvPr id="334" name="Desired effect: mutual exclusion from the critical region">
            <a:extLst>
              <a:ext uri="{FF2B5EF4-FFF2-40B4-BE49-F238E27FC236}">
                <a16:creationId xmlns:a16="http://schemas.microsoft.com/office/drawing/2014/main" id="{5C28B3A8-2AA7-8833-86BA-9910158389BE}"/>
              </a:ext>
            </a:extLst>
          </p:cNvPr>
          <p:cNvSpPr txBox="1"/>
          <p:nvPr/>
        </p:nvSpPr>
        <p:spPr>
          <a:xfrm>
            <a:off x="457200" y="1219200"/>
            <a:ext cx="83947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lvl1pPr>
          </a:lstStyle>
          <a:p>
            <a:r>
              <a:rPr dirty="0"/>
              <a:t>Desired effect: mutual exclusion from the critical region</a:t>
            </a:r>
          </a:p>
        </p:txBody>
      </p:sp>
      <p:sp>
        <p:nvSpPr>
          <p:cNvPr id="338" name="Line">
            <a:extLst>
              <a:ext uri="{FF2B5EF4-FFF2-40B4-BE49-F238E27FC236}">
                <a16:creationId xmlns:a16="http://schemas.microsoft.com/office/drawing/2014/main" id="{C06FC795-1325-5236-C0E3-A5FA6880FDF5}"/>
              </a:ext>
            </a:extLst>
          </p:cNvPr>
          <p:cNvSpPr/>
          <p:nvPr/>
        </p:nvSpPr>
        <p:spPr>
          <a:xfrm>
            <a:off x="4800600" y="205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9" name="Line">
            <a:extLst>
              <a:ext uri="{FF2B5EF4-FFF2-40B4-BE49-F238E27FC236}">
                <a16:creationId xmlns:a16="http://schemas.microsoft.com/office/drawing/2014/main" id="{4886F0DF-5978-44AA-18CD-AD5B9A27ECC5}"/>
              </a:ext>
            </a:extLst>
          </p:cNvPr>
          <p:cNvSpPr/>
          <p:nvPr/>
        </p:nvSpPr>
        <p:spPr>
          <a:xfrm>
            <a:off x="4800600" y="2438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48" name="Group">
            <a:extLst>
              <a:ext uri="{FF2B5EF4-FFF2-40B4-BE49-F238E27FC236}">
                <a16:creationId xmlns:a16="http://schemas.microsoft.com/office/drawing/2014/main" id="{469D2A9E-99E4-8756-E46D-B8A3465446DA}"/>
              </a:ext>
            </a:extLst>
          </p:cNvPr>
          <p:cNvGrpSpPr/>
          <p:nvPr/>
        </p:nvGrpSpPr>
        <p:grpSpPr>
          <a:xfrm>
            <a:off x="6324600" y="1828800"/>
            <a:ext cx="274638" cy="461963"/>
            <a:chOff x="0" y="0"/>
            <a:chExt cx="274637" cy="461962"/>
          </a:xfrm>
        </p:grpSpPr>
        <p:sp>
          <p:nvSpPr>
            <p:cNvPr id="346" name="Rectangle">
              <a:extLst>
                <a:ext uri="{FF2B5EF4-FFF2-40B4-BE49-F238E27FC236}">
                  <a16:creationId xmlns:a16="http://schemas.microsoft.com/office/drawing/2014/main" id="{AC2A4130-813D-EDA2-9E68-4F1CE7399C37}"/>
                </a:ext>
              </a:extLst>
            </p:cNvPr>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47" name="pedblue.jpg" descr="pedblue.jpg">
              <a:extLst>
                <a:ext uri="{FF2B5EF4-FFF2-40B4-BE49-F238E27FC236}">
                  <a16:creationId xmlns:a16="http://schemas.microsoft.com/office/drawing/2014/main" id="{72B0D116-9D0B-CB4D-B386-33874A21BF9F}"/>
                </a:ext>
              </a:extLst>
            </p:cNvPr>
            <p:cNvPicPr/>
            <p:nvPr/>
          </p:nvPicPr>
          <p:blipFill>
            <a:blip r:embed="rId2"/>
            <a:stretch>
              <a:fillRect/>
            </a:stretch>
          </p:blipFill>
          <p:spPr>
            <a:xfrm>
              <a:off x="0" y="0"/>
              <a:ext cx="274638" cy="461963"/>
            </a:xfrm>
            <a:prstGeom prst="rect">
              <a:avLst/>
            </a:prstGeom>
            <a:ln w="12700" cap="flat">
              <a:noFill/>
              <a:miter lim="400000"/>
            </a:ln>
            <a:effectLst/>
          </p:spPr>
        </p:pic>
      </p:grpSp>
      <p:sp>
        <p:nvSpPr>
          <p:cNvPr id="350" name="Rectangle">
            <a:extLst>
              <a:ext uri="{FF2B5EF4-FFF2-40B4-BE49-F238E27FC236}">
                <a16:creationId xmlns:a16="http://schemas.microsoft.com/office/drawing/2014/main" id="{FB89C97E-B11B-AFE2-7BA7-3115A4912C1C}"/>
              </a:ext>
            </a:extLst>
          </p:cNvPr>
          <p:cNvSpPr/>
          <p:nvPr/>
        </p:nvSpPr>
        <p:spPr>
          <a:xfrm>
            <a:off x="5791200" y="2286000"/>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51" name="Line">
            <a:extLst>
              <a:ext uri="{FF2B5EF4-FFF2-40B4-BE49-F238E27FC236}">
                <a16:creationId xmlns:a16="http://schemas.microsoft.com/office/drawing/2014/main" id="{8B05B61E-CFA9-B80B-E93E-C678CC71F673}"/>
              </a:ext>
            </a:extLst>
          </p:cNvPr>
          <p:cNvSpPr/>
          <p:nvPr/>
        </p:nvSpPr>
        <p:spPr>
          <a:xfrm>
            <a:off x="66294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52" name="Line">
            <a:extLst>
              <a:ext uri="{FF2B5EF4-FFF2-40B4-BE49-F238E27FC236}">
                <a16:creationId xmlns:a16="http://schemas.microsoft.com/office/drawing/2014/main" id="{6B718A28-98AF-D390-95AE-2AFF2AF0F031}"/>
              </a:ext>
            </a:extLst>
          </p:cNvPr>
          <p:cNvSpPr/>
          <p:nvPr/>
        </p:nvSpPr>
        <p:spPr>
          <a:xfrm>
            <a:off x="84582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353" name="pedred.jpg" descr="pedred.jpg">
            <a:extLst>
              <a:ext uri="{FF2B5EF4-FFF2-40B4-BE49-F238E27FC236}">
                <a16:creationId xmlns:a16="http://schemas.microsoft.com/office/drawing/2014/main" id="{016811EF-437F-79C7-25FA-54CA297F6350}"/>
              </a:ext>
            </a:extLst>
          </p:cNvPr>
          <p:cNvPicPr/>
          <p:nvPr/>
        </p:nvPicPr>
        <p:blipFill>
          <a:blip r:embed="rId3"/>
          <a:stretch>
            <a:fillRect/>
          </a:stretch>
        </p:blipFill>
        <p:spPr>
          <a:xfrm>
            <a:off x="5866711" y="2240756"/>
            <a:ext cx="265113" cy="446088"/>
          </a:xfrm>
          <a:prstGeom prst="rect">
            <a:avLst/>
          </a:prstGeom>
          <a:ln w="12700">
            <a:miter lim="400000"/>
          </a:ln>
        </p:spPr>
      </p:pic>
      <p:sp>
        <p:nvSpPr>
          <p:cNvPr id="367" name="B">
            <a:extLst>
              <a:ext uri="{FF2B5EF4-FFF2-40B4-BE49-F238E27FC236}">
                <a16:creationId xmlns:a16="http://schemas.microsoft.com/office/drawing/2014/main" id="{AA3CA5CF-752E-CD68-6A01-577A87145BCA}"/>
              </a:ext>
            </a:extLst>
          </p:cNvPr>
          <p:cNvSpPr txBox="1"/>
          <p:nvPr/>
        </p:nvSpPr>
        <p:spPr>
          <a:xfrm>
            <a:off x="4516754" y="2209800"/>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68" name="A">
            <a:extLst>
              <a:ext uri="{FF2B5EF4-FFF2-40B4-BE49-F238E27FC236}">
                <a16:creationId xmlns:a16="http://schemas.microsoft.com/office/drawing/2014/main" id="{31A0EA63-B686-69FC-22CA-113F28F6025F}"/>
              </a:ext>
            </a:extLst>
          </p:cNvPr>
          <p:cNvSpPr txBox="1"/>
          <p:nvPr/>
        </p:nvSpPr>
        <p:spPr>
          <a:xfrm>
            <a:off x="4516754" y="1828800"/>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pic>
        <p:nvPicPr>
          <p:cNvPr id="16" name="pedredstand.jpg" descr="pedredstand.jpg">
            <a:extLst>
              <a:ext uri="{FF2B5EF4-FFF2-40B4-BE49-F238E27FC236}">
                <a16:creationId xmlns:a16="http://schemas.microsoft.com/office/drawing/2014/main" id="{8AEDEC50-D345-66D3-6DC4-331C6B0B9251}"/>
              </a:ext>
            </a:extLst>
          </p:cNvPr>
          <p:cNvPicPr/>
          <p:nvPr/>
        </p:nvPicPr>
        <p:blipFill>
          <a:blip r:embed="rId4"/>
          <a:stretch>
            <a:fillRect/>
          </a:stretch>
        </p:blipFill>
        <p:spPr>
          <a:xfrm>
            <a:off x="2742032" y="635000"/>
            <a:ext cx="179388" cy="457200"/>
          </a:xfrm>
          <a:prstGeom prst="rect">
            <a:avLst/>
          </a:prstGeom>
          <a:ln w="12700">
            <a:miter lim="400000"/>
          </a:ln>
        </p:spPr>
      </p:pic>
    </p:spTree>
    <p:extLst>
      <p:ext uri="{BB962C8B-B14F-4D97-AF65-F5344CB8AC3E}">
        <p14:creationId xmlns:p14="http://schemas.microsoft.com/office/powerpoint/2010/main" val="3127243242"/>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328" name="Mutual Exclusion"/>
          <p:cNvSpPr txBox="1">
            <a:spLocks noGrp="1"/>
          </p:cNvSpPr>
          <p:nvPr>
            <p:ph type="title"/>
          </p:nvPr>
        </p:nvSpPr>
        <p:spPr>
          <a:prstGeom prst="rect">
            <a:avLst/>
          </a:prstGeom>
        </p:spPr>
        <p:txBody>
          <a:bodyPr/>
          <a:lstStyle/>
          <a:p>
            <a:r>
              <a:t>Mutual Exclusion</a:t>
            </a:r>
          </a:p>
        </p:txBody>
      </p:sp>
      <p:sp>
        <p:nvSpPr>
          <p:cNvPr id="329"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24</a:t>
            </a:fld>
            <a:endParaRPr/>
          </a:p>
        </p:txBody>
      </p:sp>
      <p:grpSp>
        <p:nvGrpSpPr>
          <p:cNvPr id="332" name="Group"/>
          <p:cNvGrpSpPr/>
          <p:nvPr/>
        </p:nvGrpSpPr>
        <p:grpSpPr>
          <a:xfrm>
            <a:off x="6629400" y="1828800"/>
            <a:ext cx="1828800" cy="914400"/>
            <a:chOff x="0" y="0"/>
            <a:chExt cx="1828800" cy="914400"/>
          </a:xfrm>
        </p:grpSpPr>
        <p:sp>
          <p:nvSpPr>
            <p:cNvPr id="330"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1"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333" name="thread A reaches the gate to the critical region (CR) before B…"/>
          <p:cNvSpPr txBox="1"/>
          <p:nvPr/>
        </p:nvSpPr>
        <p:spPr>
          <a:xfrm>
            <a:off x="457200" y="1828800"/>
            <a:ext cx="4127500" cy="3695700"/>
          </a:xfrm>
          <a:prstGeom prst="rect">
            <a:avLst/>
          </a:prstGeom>
          <a:ln w="12700">
            <a:miter lim="400000"/>
          </a:ln>
        </p:spPr>
        <p:txBody>
          <a:bodyPr lIns="50800" tIns="50800" rIns="50800" bIns="50800">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the gate to the critical region (CR) before B</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enters CR first, preventing B from entering (B is waiting or is blocked)</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exits CR; thread B can now enter</a:t>
            </a:r>
          </a:p>
          <a:p>
            <a:pPr marL="1029652" indent="-533399">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dirty="0"/>
          </a:p>
          <a:p>
            <a:pPr marL="1029652" indent="-533399">
              <a:spcBef>
                <a:spcPts val="400"/>
              </a:spcBef>
              <a:buClr>
                <a:srgbClr val="7B1142"/>
              </a:buClr>
              <a:buSzPct val="65000"/>
              <a:buFont typeface="Arial Narrow"/>
              <a:buAutoNum type="arabicPeriod" startAt="4"/>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B enters CR</a:t>
            </a:r>
          </a:p>
        </p:txBody>
      </p:sp>
      <p:sp>
        <p:nvSpPr>
          <p:cNvPr id="334" name="Desired effect: mutual exclusion from the critical region"/>
          <p:cNvSpPr txBox="1"/>
          <p:nvPr/>
        </p:nvSpPr>
        <p:spPr>
          <a:xfrm>
            <a:off x="457200" y="1219200"/>
            <a:ext cx="8394700" cy="508000"/>
          </a:xfrm>
          <a:prstGeom prst="rect">
            <a:avLst/>
          </a:prstGeom>
          <a:ln w="12700">
            <a:miter lim="400000"/>
          </a:ln>
        </p:spPr>
        <p:txBody>
          <a:bodyPr lIns="50800" tIns="50800" rIns="50800" bIns="50800">
            <a:spAutoFit/>
          </a:bodyPr>
          <a:lstStyle>
            <a:lvl1pPr marL="496252" indent="-455612">
              <a:spcBef>
                <a:spcPts val="1600"/>
              </a:spcBef>
              <a:buClr>
                <a:srgbClr val="7B1142"/>
              </a:buClr>
              <a:buSzPct val="70000"/>
              <a:buChar char=""/>
              <a:tabLst>
                <a:tab pos="495300" algn="l"/>
                <a:tab pos="1066800" algn="l"/>
                <a:tab pos="1866900" algn="l"/>
              </a:tabLst>
              <a:defRPr sz="2800" u="sng">
                <a:solidFill>
                  <a:srgbClr val="7B1142"/>
                </a:solidFill>
                <a:uFill>
                  <a:solidFill>
                    <a:srgbClr val="7B1142"/>
                  </a:solidFill>
                </a:uFill>
                <a:latin typeface="Arial Narrow"/>
                <a:ea typeface="Arial Narrow"/>
                <a:cs typeface="Arial Narrow"/>
                <a:sym typeface="Arial Narrow"/>
              </a:defRPr>
            </a:lvl1pPr>
          </a:lstStyle>
          <a:p>
            <a:r>
              <a:t>Desired effect: mutual exclusion from the critical region</a:t>
            </a:r>
          </a:p>
        </p:txBody>
      </p:sp>
      <p:sp>
        <p:nvSpPr>
          <p:cNvPr id="335" name="Rectangle"/>
          <p:cNvSpPr/>
          <p:nvPr/>
        </p:nvSpPr>
        <p:spPr>
          <a:xfrm>
            <a:off x="6629400" y="2971800"/>
            <a:ext cx="1841500" cy="914400"/>
          </a:xfrm>
          <a:prstGeom prst="rect">
            <a:avLst/>
          </a:prstGeom>
          <a:solidFill>
            <a:srgbClr val="E9E9E9"/>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6" name="Rectangle"/>
          <p:cNvSpPr/>
          <p:nvPr/>
        </p:nvSpPr>
        <p:spPr>
          <a:xfrm>
            <a:off x="6629400" y="4114800"/>
            <a:ext cx="1841500" cy="914400"/>
          </a:xfrm>
          <a:prstGeom prst="rect">
            <a:avLst/>
          </a:prstGeom>
          <a:solidFill>
            <a:srgbClr val="E9E9E9"/>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7" name="Rectangle"/>
          <p:cNvSpPr/>
          <p:nvPr/>
        </p:nvSpPr>
        <p:spPr>
          <a:xfrm>
            <a:off x="6629400" y="5257800"/>
            <a:ext cx="1841500" cy="914400"/>
          </a:xfrm>
          <a:prstGeom prst="rect">
            <a:avLst/>
          </a:prstGeom>
          <a:solidFill>
            <a:srgbClr val="E9E9E9"/>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8" name="Line"/>
          <p:cNvSpPr/>
          <p:nvPr/>
        </p:nvSpPr>
        <p:spPr>
          <a:xfrm>
            <a:off x="4800600" y="205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39" name="Line"/>
          <p:cNvSpPr/>
          <p:nvPr/>
        </p:nvSpPr>
        <p:spPr>
          <a:xfrm>
            <a:off x="4800600" y="2438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0" name="Line"/>
          <p:cNvSpPr/>
          <p:nvPr/>
        </p:nvSpPr>
        <p:spPr>
          <a:xfrm>
            <a:off x="4800600" y="3200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1" name="Line"/>
          <p:cNvSpPr/>
          <p:nvPr/>
        </p:nvSpPr>
        <p:spPr>
          <a:xfrm>
            <a:off x="4800600" y="3581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2" name="Line"/>
          <p:cNvSpPr/>
          <p:nvPr/>
        </p:nvSpPr>
        <p:spPr>
          <a:xfrm>
            <a:off x="4800600" y="4343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3" name="Line"/>
          <p:cNvSpPr/>
          <p:nvPr/>
        </p:nvSpPr>
        <p:spPr>
          <a:xfrm>
            <a:off x="4800600" y="4724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4" name="Line"/>
          <p:cNvSpPr/>
          <p:nvPr/>
        </p:nvSpPr>
        <p:spPr>
          <a:xfrm>
            <a:off x="4800600" y="5486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45" name="Line"/>
          <p:cNvSpPr/>
          <p:nvPr/>
        </p:nvSpPr>
        <p:spPr>
          <a:xfrm>
            <a:off x="4800600" y="5867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48" name="Group"/>
          <p:cNvGrpSpPr/>
          <p:nvPr/>
        </p:nvGrpSpPr>
        <p:grpSpPr>
          <a:xfrm>
            <a:off x="6324600" y="1828800"/>
            <a:ext cx="274638" cy="461963"/>
            <a:chOff x="0" y="0"/>
            <a:chExt cx="274637" cy="461962"/>
          </a:xfrm>
        </p:grpSpPr>
        <p:sp>
          <p:nvSpPr>
            <p:cNvPr id="346"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47" name="pedblue.jpg" descr="pedblue.jpg"/>
            <p:cNvPicPr/>
            <p:nvPr/>
          </p:nvPicPr>
          <p:blipFill>
            <a:blip r:embed="rId2"/>
            <a:stretch>
              <a:fillRect/>
            </a:stretch>
          </p:blipFill>
          <p:spPr>
            <a:xfrm>
              <a:off x="0" y="0"/>
              <a:ext cx="274638" cy="461963"/>
            </a:xfrm>
            <a:prstGeom prst="rect">
              <a:avLst/>
            </a:prstGeom>
            <a:ln w="12700" cap="flat">
              <a:noFill/>
              <a:miter lim="400000"/>
            </a:ln>
            <a:effectLst/>
          </p:spPr>
        </p:pic>
      </p:grpSp>
      <p:pic>
        <p:nvPicPr>
          <p:cNvPr id="349" name="pedredstand.jpg" descr="pedredstand.jpg"/>
          <p:cNvPicPr/>
          <p:nvPr/>
        </p:nvPicPr>
        <p:blipFill>
          <a:blip r:embed="rId3"/>
          <a:stretch>
            <a:fillRect/>
          </a:stretch>
        </p:blipFill>
        <p:spPr>
          <a:xfrm>
            <a:off x="6434137" y="3429000"/>
            <a:ext cx="179388" cy="457200"/>
          </a:xfrm>
          <a:prstGeom prst="rect">
            <a:avLst/>
          </a:prstGeom>
          <a:ln w="12700">
            <a:miter lim="400000"/>
          </a:ln>
        </p:spPr>
      </p:pic>
      <p:sp>
        <p:nvSpPr>
          <p:cNvPr id="350" name="Rectangle"/>
          <p:cNvSpPr/>
          <p:nvPr/>
        </p:nvSpPr>
        <p:spPr>
          <a:xfrm>
            <a:off x="5791200" y="2286000"/>
            <a:ext cx="850900" cy="457200"/>
          </a:xfrm>
          <a:prstGeom prst="rect">
            <a:avLst/>
          </a:prstGeom>
          <a:solidFill>
            <a:srgbClr val="FFFFFF"/>
          </a:solidFill>
          <a:ln>
            <a:solidFill>
              <a:srgbClr val="FFFFFF"/>
            </a:solidFill>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51" name="Line"/>
          <p:cNvSpPr/>
          <p:nvPr/>
        </p:nvSpPr>
        <p:spPr>
          <a:xfrm>
            <a:off x="66294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52" name="Line"/>
          <p:cNvSpPr/>
          <p:nvPr/>
        </p:nvSpPr>
        <p:spPr>
          <a:xfrm>
            <a:off x="8458200" y="1828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pic>
        <p:nvPicPr>
          <p:cNvPr id="353" name="pedred.jpg" descr="pedred.jpg"/>
          <p:cNvPicPr/>
          <p:nvPr/>
        </p:nvPicPr>
        <p:blipFill>
          <a:blip r:embed="rId4"/>
          <a:stretch>
            <a:fillRect/>
          </a:stretch>
        </p:blipFill>
        <p:spPr>
          <a:xfrm>
            <a:off x="5562600" y="2286000"/>
            <a:ext cx="265113" cy="446088"/>
          </a:xfrm>
          <a:prstGeom prst="rect">
            <a:avLst/>
          </a:prstGeom>
          <a:ln w="12700">
            <a:miter lim="400000"/>
          </a:ln>
        </p:spPr>
      </p:pic>
      <p:sp>
        <p:nvSpPr>
          <p:cNvPr id="354" name="Line"/>
          <p:cNvSpPr/>
          <p:nvPr/>
        </p:nvSpPr>
        <p:spPr>
          <a:xfrm>
            <a:off x="6629400" y="5867400"/>
            <a:ext cx="685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200" y="10800"/>
                  <a:pt x="2400" y="0"/>
                  <a:pt x="3600" y="0"/>
                </a:cubicBezTo>
                <a:cubicBezTo>
                  <a:pt x="4800" y="0"/>
                  <a:pt x="6000" y="21600"/>
                  <a:pt x="7200" y="21600"/>
                </a:cubicBezTo>
                <a:cubicBezTo>
                  <a:pt x="8400" y="21600"/>
                  <a:pt x="9600" y="0"/>
                  <a:pt x="10800" y="0"/>
                </a:cubicBezTo>
                <a:cubicBezTo>
                  <a:pt x="12000" y="0"/>
                  <a:pt x="13200" y="21600"/>
                  <a:pt x="14400" y="21600"/>
                </a:cubicBezTo>
                <a:cubicBezTo>
                  <a:pt x="15600" y="21600"/>
                  <a:pt x="16800" y="0"/>
                  <a:pt x="18000" y="0"/>
                </a:cubicBezTo>
                <a:cubicBezTo>
                  <a:pt x="19200" y="0"/>
                  <a:pt x="21000" y="18000"/>
                  <a:pt x="21600" y="21600"/>
                </a:cubicBezTo>
              </a:path>
            </a:pathLst>
          </a:custGeom>
          <a:ln w="19050">
            <a:solidFill>
              <a:srgbClr val="FF2600"/>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355" name="pedredgray.jpg" descr="pedredgray.jpg"/>
          <p:cNvPicPr/>
          <p:nvPr/>
        </p:nvPicPr>
        <p:blipFill>
          <a:blip r:embed="rId5"/>
          <a:stretch>
            <a:fillRect/>
          </a:stretch>
        </p:blipFill>
        <p:spPr>
          <a:xfrm>
            <a:off x="7239000" y="5715000"/>
            <a:ext cx="274638" cy="461963"/>
          </a:xfrm>
          <a:prstGeom prst="rect">
            <a:avLst/>
          </a:prstGeom>
          <a:ln w="12700">
            <a:miter lim="400000"/>
          </a:ln>
        </p:spPr>
      </p:pic>
      <p:pic>
        <p:nvPicPr>
          <p:cNvPr id="356" name="pedredstand.jpg" descr="pedredstand.jpg"/>
          <p:cNvPicPr/>
          <p:nvPr/>
        </p:nvPicPr>
        <p:blipFill>
          <a:blip r:embed="rId3"/>
          <a:stretch>
            <a:fillRect/>
          </a:stretch>
        </p:blipFill>
        <p:spPr>
          <a:xfrm>
            <a:off x="6434137" y="4572000"/>
            <a:ext cx="179388" cy="457200"/>
          </a:xfrm>
          <a:prstGeom prst="rect">
            <a:avLst/>
          </a:prstGeom>
          <a:ln w="12700">
            <a:miter lim="400000"/>
          </a:ln>
        </p:spPr>
      </p:pic>
      <p:sp>
        <p:nvSpPr>
          <p:cNvPr id="357" name="Line"/>
          <p:cNvSpPr/>
          <p:nvPr/>
        </p:nvSpPr>
        <p:spPr>
          <a:xfrm>
            <a:off x="6629400" y="4343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360" name="Group"/>
          <p:cNvGrpSpPr/>
          <p:nvPr/>
        </p:nvGrpSpPr>
        <p:grpSpPr>
          <a:xfrm>
            <a:off x="8458200" y="4114800"/>
            <a:ext cx="274638" cy="461963"/>
            <a:chOff x="0" y="0"/>
            <a:chExt cx="274637" cy="461962"/>
          </a:xfrm>
        </p:grpSpPr>
        <p:sp>
          <p:nvSpPr>
            <p:cNvPr id="358"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59" name="pedblue.jpg" descr="pedblue.jpg"/>
            <p:cNvPicPr/>
            <p:nvPr/>
          </p:nvPicPr>
          <p:blipFill>
            <a:blip r:embed="rId2"/>
            <a:stretch>
              <a:fillRect/>
            </a:stretch>
          </p:blipFill>
          <p:spPr>
            <a:xfrm>
              <a:off x="0" y="0"/>
              <a:ext cx="274638" cy="461963"/>
            </a:xfrm>
            <a:prstGeom prst="rect">
              <a:avLst/>
            </a:prstGeom>
            <a:ln w="12700" cap="flat">
              <a:noFill/>
              <a:miter lim="400000"/>
            </a:ln>
            <a:effectLst/>
          </p:spPr>
        </p:pic>
      </p:grpSp>
      <p:grpSp>
        <p:nvGrpSpPr>
          <p:cNvPr id="363" name="Group"/>
          <p:cNvGrpSpPr/>
          <p:nvPr/>
        </p:nvGrpSpPr>
        <p:grpSpPr>
          <a:xfrm>
            <a:off x="7772400" y="2971800"/>
            <a:ext cx="274638" cy="461963"/>
            <a:chOff x="0" y="0"/>
            <a:chExt cx="274637" cy="461962"/>
          </a:xfrm>
        </p:grpSpPr>
        <p:sp>
          <p:nvSpPr>
            <p:cNvPr id="361" name="Rectangle"/>
            <p:cNvSpPr/>
            <p:nvPr/>
          </p:nvSpPr>
          <p:spPr>
            <a:xfrm>
              <a:off x="0" y="0"/>
              <a:ext cx="274638" cy="461963"/>
            </a:xfrm>
            <a:prstGeom prst="rect">
              <a:avLst/>
            </a:prstGeom>
            <a:solidFill>
              <a:srgbClr val="E6ADC8"/>
            </a:solidFill>
            <a:ln w="12700" cap="flat">
              <a:noFill/>
              <a:miter lim="400000"/>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362" name="pedbluegray.jpg" descr="pedbluegray.jpg"/>
            <p:cNvPicPr/>
            <p:nvPr/>
          </p:nvPicPr>
          <p:blipFill>
            <a:blip r:embed="rId6"/>
            <a:stretch>
              <a:fillRect/>
            </a:stretch>
          </p:blipFill>
          <p:spPr>
            <a:xfrm>
              <a:off x="0" y="0"/>
              <a:ext cx="274638" cy="461963"/>
            </a:xfrm>
            <a:prstGeom prst="rect">
              <a:avLst/>
            </a:prstGeom>
            <a:ln w="12700" cap="flat">
              <a:noFill/>
              <a:miter lim="400000"/>
            </a:ln>
            <a:effectLst/>
          </p:spPr>
        </p:pic>
      </p:grpSp>
      <p:sp>
        <p:nvSpPr>
          <p:cNvPr id="364" name="Line"/>
          <p:cNvSpPr/>
          <p:nvPr/>
        </p:nvSpPr>
        <p:spPr>
          <a:xfrm>
            <a:off x="6629400" y="54864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65" name="Line"/>
          <p:cNvSpPr/>
          <p:nvPr/>
        </p:nvSpPr>
        <p:spPr>
          <a:xfrm>
            <a:off x="8458200" y="5486400"/>
            <a:ext cx="5715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440" y="10800"/>
                  <a:pt x="2880" y="0"/>
                  <a:pt x="4320" y="0"/>
                </a:cubicBezTo>
                <a:cubicBezTo>
                  <a:pt x="5760" y="0"/>
                  <a:pt x="7200" y="21600"/>
                  <a:pt x="8640" y="21600"/>
                </a:cubicBezTo>
                <a:cubicBezTo>
                  <a:pt x="10080" y="21600"/>
                  <a:pt x="11520" y="0"/>
                  <a:pt x="12960" y="0"/>
                </a:cubicBezTo>
                <a:cubicBezTo>
                  <a:pt x="14400" y="0"/>
                  <a:pt x="15840" y="21600"/>
                  <a:pt x="17280" y="21600"/>
                </a:cubicBezTo>
                <a:cubicBezTo>
                  <a:pt x="18720" y="21600"/>
                  <a:pt x="20880" y="3600"/>
                  <a:pt x="21600" y="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66" name="Line"/>
          <p:cNvSpPr/>
          <p:nvPr/>
        </p:nvSpPr>
        <p:spPr>
          <a:xfrm>
            <a:off x="6629400" y="3200400"/>
            <a:ext cx="11430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ln w="19050">
            <a:solidFill>
              <a:srgbClr val="0433FF"/>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367" name="B"/>
          <p:cNvSpPr txBox="1"/>
          <p:nvPr/>
        </p:nvSpPr>
        <p:spPr>
          <a:xfrm>
            <a:off x="4516754" y="2209800"/>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68" name="A"/>
          <p:cNvSpPr txBox="1"/>
          <p:nvPr/>
        </p:nvSpPr>
        <p:spPr>
          <a:xfrm>
            <a:off x="4516754" y="1828800"/>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69" name="B"/>
          <p:cNvSpPr txBox="1"/>
          <p:nvPr/>
        </p:nvSpPr>
        <p:spPr>
          <a:xfrm>
            <a:off x="4516754" y="3352800"/>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70" name="A"/>
          <p:cNvSpPr txBox="1"/>
          <p:nvPr/>
        </p:nvSpPr>
        <p:spPr>
          <a:xfrm>
            <a:off x="4516754" y="2971800"/>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rPr dirty="0"/>
              <a:t>A</a:t>
            </a:r>
          </a:p>
        </p:txBody>
      </p:sp>
      <p:sp>
        <p:nvSpPr>
          <p:cNvPr id="371" name="B"/>
          <p:cNvSpPr txBox="1"/>
          <p:nvPr/>
        </p:nvSpPr>
        <p:spPr>
          <a:xfrm>
            <a:off x="4516754" y="4495800"/>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72" name="A"/>
          <p:cNvSpPr txBox="1"/>
          <p:nvPr/>
        </p:nvSpPr>
        <p:spPr>
          <a:xfrm>
            <a:off x="4516754" y="4114800"/>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73" name="B"/>
          <p:cNvSpPr txBox="1"/>
          <p:nvPr/>
        </p:nvSpPr>
        <p:spPr>
          <a:xfrm>
            <a:off x="4516754" y="5638800"/>
            <a:ext cx="321629" cy="444500"/>
          </a:xfrm>
          <a:prstGeom prst="rect">
            <a:avLst/>
          </a:prstGeom>
          <a:ln w="12700">
            <a:miter lim="400000"/>
          </a:ln>
        </p:spPr>
        <p:txBody>
          <a:bodyPr wrap="none" lIns="50800" tIns="50800" rIns="50800" bIns="50800">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374" name="A"/>
          <p:cNvSpPr txBox="1"/>
          <p:nvPr/>
        </p:nvSpPr>
        <p:spPr>
          <a:xfrm>
            <a:off x="4516754" y="5257800"/>
            <a:ext cx="321629" cy="444500"/>
          </a:xfrm>
          <a:prstGeom prst="rect">
            <a:avLst/>
          </a:prstGeom>
          <a:ln w="12700">
            <a:miter lim="400000"/>
          </a:ln>
        </p:spPr>
        <p:txBody>
          <a:bodyPr wrap="none" lIns="50800" tIns="50800" rIns="50800" bIns="50800">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375" name="Line"/>
          <p:cNvSpPr/>
          <p:nvPr/>
        </p:nvSpPr>
        <p:spPr>
          <a:xfrm>
            <a:off x="8458200" y="4114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6" name="Line"/>
          <p:cNvSpPr/>
          <p:nvPr/>
        </p:nvSpPr>
        <p:spPr>
          <a:xfrm>
            <a:off x="8458200" y="2971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7" name="Line"/>
          <p:cNvSpPr/>
          <p:nvPr/>
        </p:nvSpPr>
        <p:spPr>
          <a:xfrm>
            <a:off x="6629400" y="4114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8" name="Line"/>
          <p:cNvSpPr/>
          <p:nvPr/>
        </p:nvSpPr>
        <p:spPr>
          <a:xfrm>
            <a:off x="8458200" y="5257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79" name="Line"/>
          <p:cNvSpPr/>
          <p:nvPr/>
        </p:nvSpPr>
        <p:spPr>
          <a:xfrm>
            <a:off x="6629400" y="5257800"/>
            <a:ext cx="1588" cy="914400"/>
          </a:xfrm>
          <a:prstGeom prst="line">
            <a:avLst/>
          </a:prstGeom>
          <a:ln w="28575">
            <a:solidFill>
              <a:srgbClr val="7B1142"/>
            </a:solidFill>
            <a:prstDash val="sysDot"/>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80" name="Line"/>
          <p:cNvSpPr/>
          <p:nvPr/>
        </p:nvSpPr>
        <p:spPr>
          <a:xfrm>
            <a:off x="6629400" y="2971800"/>
            <a:ext cx="1588" cy="914400"/>
          </a:xfrm>
          <a:prstGeom prst="line">
            <a:avLst/>
          </a:prstGeom>
          <a:ln w="38100">
            <a:solidFill>
              <a:srgbClr val="7B1142"/>
            </a:solidFill>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381" name="HOW is this…"/>
          <p:cNvSpPr txBox="1"/>
          <p:nvPr/>
        </p:nvSpPr>
        <p:spPr>
          <a:xfrm rot="16200000">
            <a:off x="-354844" y="3693504"/>
            <a:ext cx="1437978" cy="575892"/>
          </a:xfrm>
          <a:prstGeom prst="rect">
            <a:avLst/>
          </a:prstGeom>
          <a:ln w="12700">
            <a:miter lim="400000"/>
          </a:ln>
        </p:spPr>
        <p:txBody>
          <a:bodyPr wrap="none" lIns="0" tIns="0" rIns="0" bIns="0">
            <a:spAutoFit/>
          </a:bodyPr>
          <a:lstStyle/>
          <a:p>
            <a:pPr marL="0" marR="0" algn="ctr">
              <a:buClr>
                <a:srgbClr val="C51B05"/>
              </a:buClr>
              <a:buFont typeface="Wingdings"/>
              <a:defRPr sz="2000" b="1">
                <a:solidFill>
                  <a:srgbClr val="C51B05"/>
                </a:solidFill>
                <a:uFill>
                  <a:solidFill>
                    <a:srgbClr val="C51B05"/>
                  </a:solidFill>
                </a:uFill>
              </a:defRPr>
            </a:pPr>
            <a:r>
              <a:t>HOW is this</a:t>
            </a:r>
          </a:p>
          <a:p>
            <a:pPr marL="0" marR="0" algn="ctr">
              <a:buClr>
                <a:srgbClr val="C51B05"/>
              </a:buClr>
              <a:buFont typeface="Wingdings"/>
              <a:defRPr sz="2000" b="1">
                <a:solidFill>
                  <a:srgbClr val="C51B05"/>
                </a:solidFill>
                <a:uFill>
                  <a:solidFill>
                    <a:srgbClr val="C51B05"/>
                  </a:solidFill>
                </a:uFill>
              </a:defRPr>
            </a:pPr>
            <a:r>
              <a:t>achieved??</a:t>
            </a:r>
          </a:p>
        </p:txBody>
      </p:sp>
      <p:sp>
        <p:nvSpPr>
          <p:cNvPr id="382" name="Line"/>
          <p:cNvSpPr/>
          <p:nvPr/>
        </p:nvSpPr>
        <p:spPr>
          <a:xfrm>
            <a:off x="762000" y="2895600"/>
            <a:ext cx="304800" cy="22098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ln w="12700">
            <a:solidFill>
              <a:srgbClr val="C51B05"/>
            </a:solidFill>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Tree>
    <p:extLst>
      <p:ext uri="{BB962C8B-B14F-4D97-AF65-F5344CB8AC3E}">
        <p14:creationId xmlns:p14="http://schemas.microsoft.com/office/powerpoint/2010/main" val="1184843683"/>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436" name="Mutual Exclusion"/>
          <p:cNvSpPr txBox="1">
            <a:spLocks noGrp="1"/>
          </p:cNvSpPr>
          <p:nvPr>
            <p:ph type="title"/>
          </p:nvPr>
        </p:nvSpPr>
        <p:spPr>
          <a:prstGeom prst="rect">
            <a:avLst/>
          </a:prstGeom>
        </p:spPr>
        <p:txBody>
          <a:bodyPr/>
          <a:lstStyle/>
          <a:p>
            <a:r>
              <a:t>Mutual Exclusion</a:t>
            </a:r>
          </a:p>
        </p:txBody>
      </p:sp>
      <p:sp>
        <p:nvSpPr>
          <p:cNvPr id="437"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25</a:t>
            </a:fld>
            <a:endParaRPr/>
          </a:p>
        </p:txBody>
      </p:sp>
      <p:sp>
        <p:nvSpPr>
          <p:cNvPr id="438" name="Implementation 1 — disabling hardware interrupts  "/>
          <p:cNvSpPr txBox="1"/>
          <p:nvPr/>
        </p:nvSpPr>
        <p:spPr>
          <a:xfrm>
            <a:off x="457200" y="12192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1</a:t>
            </a:r>
            <a:r>
              <a:rPr sz="2800" u="sng">
                <a:latin typeface="Arial Narrow"/>
                <a:ea typeface="Arial Narrow"/>
                <a:cs typeface="Arial Narrow"/>
                <a:sym typeface="Arial Narrow"/>
              </a:rPr>
              <a:t> — disabling hardware interrupts  </a:t>
            </a:r>
            <a:r>
              <a:rPr sz="2800" u="sng">
                <a:latin typeface="Wingdings"/>
                <a:ea typeface="Wingdings"/>
                <a:cs typeface="Wingdings"/>
                <a:sym typeface="Wingdings"/>
              </a:rPr>
              <a:t></a:t>
            </a:r>
          </a:p>
        </p:txBody>
      </p:sp>
      <p:grpSp>
        <p:nvGrpSpPr>
          <p:cNvPr id="441" name="Group"/>
          <p:cNvGrpSpPr/>
          <p:nvPr/>
        </p:nvGrpSpPr>
        <p:grpSpPr>
          <a:xfrm>
            <a:off x="457200" y="1523999"/>
            <a:ext cx="7543800" cy="1146799"/>
            <a:chOff x="0" y="0"/>
            <a:chExt cx="7543800" cy="1146799"/>
          </a:xfrm>
        </p:grpSpPr>
        <p:sp>
          <p:nvSpPr>
            <p:cNvPr id="439" name="Line"/>
            <p:cNvSpPr/>
            <p:nvPr/>
          </p:nvSpPr>
          <p:spPr>
            <a:xfrm>
              <a:off x="3352800" y="0"/>
              <a:ext cx="41910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40" name="it works, but not reasonable!…"/>
            <p:cNvSpPr txBox="1"/>
            <p:nvPr/>
          </p:nvSpPr>
          <p:spPr>
            <a:xfrm>
              <a:off x="0" y="228599"/>
              <a:ext cx="4889500" cy="918200"/>
            </a:xfrm>
            <a:prstGeom prst="rect">
              <a:avLst/>
            </a:prstGeom>
            <a:noFill/>
            <a:ln w="12700" cap="flat">
              <a:noFill/>
              <a:miter lim="400000"/>
            </a:ln>
            <a:effectLst/>
          </p:spPr>
          <p:txBody>
            <a:bodyPr wrap="square" lIns="50800" tIns="50800" rIns="50800" bIns="50800" numCol="1" anchor="t">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dirty="0">
                  <a:latin typeface="Arial Narrow"/>
                  <a:ea typeface="Arial Narrow"/>
                  <a:cs typeface="Arial Narrow"/>
                  <a:sym typeface="Arial Narrow"/>
                </a:rPr>
                <a:t>it works, but not reasonable!</a:t>
              </a:r>
              <a:endParaRPr lang="en-US" dirty="0">
                <a:latin typeface="Arial Narrow"/>
                <a:ea typeface="Arial Narrow"/>
                <a:cs typeface="Arial Narrow"/>
                <a:sym typeface="Arial Narrow"/>
              </a:endParaRP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lang="en-US" dirty="0">
                  <a:latin typeface="Arial Narrow"/>
                  <a:ea typeface="Arial Narrow"/>
                  <a:cs typeface="Arial Narrow"/>
                  <a:sym typeface="Arial Narrow"/>
                </a:rPr>
                <a:t>What are the issues?</a:t>
              </a:r>
              <a:endParaRPr dirty="0">
                <a:latin typeface="Arial Narrow"/>
                <a:ea typeface="Arial Narrow"/>
                <a:cs typeface="Arial Narrow"/>
                <a:sym typeface="Arial Narrow"/>
              </a:endParaRPr>
            </a:p>
          </p:txBody>
        </p:sp>
      </p:grpSp>
      <p:grpSp>
        <p:nvGrpSpPr>
          <p:cNvPr id="444" name="Group"/>
          <p:cNvGrpSpPr/>
          <p:nvPr/>
        </p:nvGrpSpPr>
        <p:grpSpPr>
          <a:xfrm>
            <a:off x="5410200" y="3424237"/>
            <a:ext cx="3276600" cy="1395413"/>
            <a:chOff x="0" y="0"/>
            <a:chExt cx="3276600" cy="1395412"/>
          </a:xfrm>
        </p:grpSpPr>
        <p:sp>
          <p:nvSpPr>
            <p:cNvPr id="442"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43" name="disable hardware interrupts…"/>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disable hardware interrupts</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enable hardware interrupts</a:t>
              </a:r>
            </a:p>
          </p:txBody>
        </p:sp>
      </p:grpSp>
      <p:sp>
        <p:nvSpPr>
          <p:cNvPr id="445" name="Rectangle"/>
          <p:cNvSpPr/>
          <p:nvPr/>
        </p:nvSpPr>
        <p:spPr>
          <a:xfrm>
            <a:off x="5410200" y="37131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448" name="Group"/>
          <p:cNvGrpSpPr/>
          <p:nvPr/>
        </p:nvGrpSpPr>
        <p:grpSpPr>
          <a:xfrm>
            <a:off x="5410200" y="2374900"/>
            <a:ext cx="3276600" cy="3408363"/>
            <a:chOff x="0" y="0"/>
            <a:chExt cx="3276600" cy="3408362"/>
          </a:xfrm>
        </p:grpSpPr>
        <p:sp>
          <p:nvSpPr>
            <p:cNvPr id="446"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47" name="void echo()…"/>
            <p:cNvSpPr txBox="1"/>
            <p:nvPr/>
          </p:nvSpPr>
          <p:spPr>
            <a:xfrm>
              <a:off x="0" y="0"/>
              <a:ext cx="3276600" cy="31496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spTree>
    <p:extLst>
      <p:ext uri="{BB962C8B-B14F-4D97-AF65-F5344CB8AC3E}">
        <p14:creationId xmlns:p14="http://schemas.microsoft.com/office/powerpoint/2010/main" val="3485090846"/>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animBg="1" advAuto="0"/>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436" name="Mutual Exclusion"/>
          <p:cNvSpPr txBox="1">
            <a:spLocks noGrp="1"/>
          </p:cNvSpPr>
          <p:nvPr>
            <p:ph type="title"/>
          </p:nvPr>
        </p:nvSpPr>
        <p:spPr>
          <a:prstGeom prst="rect">
            <a:avLst/>
          </a:prstGeom>
        </p:spPr>
        <p:txBody>
          <a:bodyPr/>
          <a:lstStyle/>
          <a:p>
            <a:r>
              <a:t>Mutual Exclusion</a:t>
            </a:r>
          </a:p>
        </p:txBody>
      </p:sp>
      <p:sp>
        <p:nvSpPr>
          <p:cNvPr id="437"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26</a:t>
            </a:fld>
            <a:endParaRPr/>
          </a:p>
        </p:txBody>
      </p:sp>
      <p:sp>
        <p:nvSpPr>
          <p:cNvPr id="438" name="Implementation 1 — disabling hardware interrupts  "/>
          <p:cNvSpPr txBox="1"/>
          <p:nvPr/>
        </p:nvSpPr>
        <p:spPr>
          <a:xfrm>
            <a:off x="457200" y="12192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1</a:t>
            </a:r>
            <a:r>
              <a:rPr sz="2800" u="sng">
                <a:latin typeface="Arial Narrow"/>
                <a:ea typeface="Arial Narrow"/>
                <a:cs typeface="Arial Narrow"/>
                <a:sym typeface="Arial Narrow"/>
              </a:rPr>
              <a:t> — disabling hardware interrupts  </a:t>
            </a:r>
            <a:r>
              <a:rPr sz="2800" u="sng">
                <a:latin typeface="Wingdings"/>
                <a:ea typeface="Wingdings"/>
                <a:cs typeface="Wingdings"/>
                <a:sym typeface="Wingdings"/>
              </a:rPr>
              <a:t></a:t>
            </a:r>
          </a:p>
        </p:txBody>
      </p:sp>
      <p:grpSp>
        <p:nvGrpSpPr>
          <p:cNvPr id="441" name="Group"/>
          <p:cNvGrpSpPr/>
          <p:nvPr/>
        </p:nvGrpSpPr>
        <p:grpSpPr>
          <a:xfrm>
            <a:off x="457200" y="1523999"/>
            <a:ext cx="7543800" cy="4787901"/>
            <a:chOff x="0" y="0"/>
            <a:chExt cx="7543800" cy="4787899"/>
          </a:xfrm>
        </p:grpSpPr>
        <p:sp>
          <p:nvSpPr>
            <p:cNvPr id="439" name="Line"/>
            <p:cNvSpPr/>
            <p:nvPr/>
          </p:nvSpPr>
          <p:spPr>
            <a:xfrm>
              <a:off x="3352800" y="0"/>
              <a:ext cx="41910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40" name="it works, but not reasonable!…"/>
            <p:cNvSpPr txBox="1"/>
            <p:nvPr/>
          </p:nvSpPr>
          <p:spPr>
            <a:xfrm>
              <a:off x="0" y="228599"/>
              <a:ext cx="4889500" cy="4559301"/>
            </a:xfrm>
            <a:prstGeom prst="rect">
              <a:avLst/>
            </a:prstGeom>
            <a:noFill/>
            <a:ln w="12700" cap="flat">
              <a:noFill/>
              <a:miter lim="400000"/>
            </a:ln>
            <a:effectLst/>
          </p:spPr>
          <p:txBody>
            <a:bodyPr wrap="square" lIns="50800" tIns="50800" rIns="50800" bIns="50800" numCol="1" anchor="t">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dirty="0">
                  <a:latin typeface="Arial Narrow"/>
                  <a:ea typeface="Arial Narrow"/>
                  <a:cs typeface="Arial Narrow"/>
                  <a:sym typeface="Arial Narrow"/>
                </a:rPr>
                <a:t>it works, but not reasonable!</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dirty="0">
                  <a:latin typeface="Arial Narrow"/>
                  <a:ea typeface="Arial Narrow"/>
                  <a:cs typeface="Arial Narrow"/>
                  <a:sym typeface="Arial Narrow"/>
                </a:rPr>
                <a:t>what guarantees that the user process is going to ever exit the critical region?</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dirty="0">
                  <a:latin typeface="Arial Narrow"/>
                  <a:ea typeface="Arial Narrow"/>
                  <a:cs typeface="Arial Narrow"/>
                  <a:sym typeface="Arial Narrow"/>
                </a:rPr>
                <a:t>meanwhile, the CPU cannot interleave any other task, even unrelated to this race condition</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dirty="0">
                  <a:latin typeface="Arial Narrow"/>
                  <a:ea typeface="Arial Narrow"/>
                  <a:cs typeface="Arial Narrow"/>
                  <a:sym typeface="Arial Narrow"/>
                </a:rPr>
                <a:t>the critical region becomes one </a:t>
              </a:r>
              <a:r>
                <a:rPr i="1" u="sng" dirty="0">
                  <a:latin typeface="Arial Narrow"/>
                  <a:ea typeface="Arial Narrow"/>
                  <a:cs typeface="Arial Narrow"/>
                  <a:sym typeface="Arial Narrow"/>
                </a:rPr>
                <a:t>physically</a:t>
              </a:r>
              <a:r>
                <a:rPr dirty="0">
                  <a:latin typeface="Arial Narrow"/>
                  <a:ea typeface="Arial Narrow"/>
                  <a:cs typeface="Arial Narrow"/>
                  <a:sym typeface="Arial Narrow"/>
                </a:rPr>
                <a:t> indivisible block, not logically</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also, this is not working in multi-processors</a:t>
              </a:r>
            </a:p>
          </p:txBody>
        </p:sp>
      </p:grpSp>
      <p:grpSp>
        <p:nvGrpSpPr>
          <p:cNvPr id="444" name="Group"/>
          <p:cNvGrpSpPr/>
          <p:nvPr/>
        </p:nvGrpSpPr>
        <p:grpSpPr>
          <a:xfrm>
            <a:off x="5410200" y="3424237"/>
            <a:ext cx="3276600" cy="1395413"/>
            <a:chOff x="0" y="0"/>
            <a:chExt cx="3276600" cy="1395412"/>
          </a:xfrm>
        </p:grpSpPr>
        <p:sp>
          <p:nvSpPr>
            <p:cNvPr id="442"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43" name="disable hardware interrupts…"/>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disable hardware interrupts</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enable hardware interrupts</a:t>
              </a:r>
            </a:p>
          </p:txBody>
        </p:sp>
      </p:grpSp>
      <p:sp>
        <p:nvSpPr>
          <p:cNvPr id="445" name="Rectangle"/>
          <p:cNvSpPr/>
          <p:nvPr/>
        </p:nvSpPr>
        <p:spPr>
          <a:xfrm>
            <a:off x="5410200" y="37131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448" name="Group"/>
          <p:cNvGrpSpPr/>
          <p:nvPr/>
        </p:nvGrpSpPr>
        <p:grpSpPr>
          <a:xfrm>
            <a:off x="5410200" y="2374900"/>
            <a:ext cx="3276600" cy="3408363"/>
            <a:chOff x="0" y="0"/>
            <a:chExt cx="3276600" cy="3408362"/>
          </a:xfrm>
        </p:grpSpPr>
        <p:sp>
          <p:nvSpPr>
            <p:cNvPr id="446"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47" name="void echo()…"/>
            <p:cNvSpPr txBox="1"/>
            <p:nvPr/>
          </p:nvSpPr>
          <p:spPr>
            <a:xfrm>
              <a:off x="0" y="0"/>
              <a:ext cx="3276600" cy="31496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450" name="Mutual Exclusion"/>
          <p:cNvSpPr txBox="1">
            <a:spLocks noGrp="1"/>
          </p:cNvSpPr>
          <p:nvPr>
            <p:ph type="title"/>
          </p:nvPr>
        </p:nvSpPr>
        <p:spPr>
          <a:prstGeom prst="rect">
            <a:avLst/>
          </a:prstGeom>
        </p:spPr>
        <p:txBody>
          <a:bodyPr/>
          <a:lstStyle/>
          <a:p>
            <a:r>
              <a:t>Mutual Exclusion</a:t>
            </a:r>
          </a:p>
        </p:txBody>
      </p:sp>
      <p:sp>
        <p:nvSpPr>
          <p:cNvPr id="45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27</a:t>
            </a:fld>
            <a:endParaRPr/>
          </a:p>
        </p:txBody>
      </p:sp>
      <p:sp>
        <p:nvSpPr>
          <p:cNvPr id="452" name="Implementation 2 — simple lock variable"/>
          <p:cNvSpPr txBox="1"/>
          <p:nvPr/>
        </p:nvSpPr>
        <p:spPr>
          <a:xfrm>
            <a:off x="457200" y="11430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a:t>
            </a:r>
          </a:p>
        </p:txBody>
      </p:sp>
      <p:grpSp>
        <p:nvGrpSpPr>
          <p:cNvPr id="455" name="Group"/>
          <p:cNvGrpSpPr/>
          <p:nvPr/>
        </p:nvGrpSpPr>
        <p:grpSpPr>
          <a:xfrm>
            <a:off x="6299200" y="1897066"/>
            <a:ext cx="1828800" cy="914401"/>
            <a:chOff x="0" y="0"/>
            <a:chExt cx="1828800" cy="914400"/>
          </a:xfrm>
        </p:grpSpPr>
        <p:sp>
          <p:nvSpPr>
            <p:cNvPr id="453"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4"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461" name="Line"/>
          <p:cNvSpPr/>
          <p:nvPr/>
        </p:nvSpPr>
        <p:spPr>
          <a:xfrm>
            <a:off x="4470400" y="2125666"/>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2" name="Line"/>
          <p:cNvSpPr/>
          <p:nvPr/>
        </p:nvSpPr>
        <p:spPr>
          <a:xfrm>
            <a:off x="4470400" y="2506666"/>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69" name="pedblue.jpg" descr="pedblue.jpg"/>
          <p:cNvPicPr/>
          <p:nvPr/>
        </p:nvPicPr>
        <p:blipFill>
          <a:blip r:embed="rId2"/>
          <a:stretch>
            <a:fillRect/>
          </a:stretch>
        </p:blipFill>
        <p:spPr>
          <a:xfrm>
            <a:off x="5983522" y="1978786"/>
            <a:ext cx="274638" cy="461963"/>
          </a:xfrm>
          <a:prstGeom prst="rect">
            <a:avLst/>
          </a:prstGeom>
          <a:ln w="12700" cap="flat">
            <a:noFill/>
            <a:miter lim="400000"/>
          </a:ln>
          <a:effectLst/>
        </p:spPr>
      </p:pic>
      <p:sp>
        <p:nvSpPr>
          <p:cNvPr id="471" name="Rectangle"/>
          <p:cNvSpPr/>
          <p:nvPr/>
        </p:nvSpPr>
        <p:spPr>
          <a:xfrm>
            <a:off x="5461000" y="2354266"/>
            <a:ext cx="850900"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72" name="Line"/>
          <p:cNvSpPr/>
          <p:nvPr/>
        </p:nvSpPr>
        <p:spPr>
          <a:xfrm>
            <a:off x="6299200" y="1897066"/>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73" name="Line"/>
          <p:cNvSpPr/>
          <p:nvPr/>
        </p:nvSpPr>
        <p:spPr>
          <a:xfrm>
            <a:off x="8128000" y="1897066"/>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474" name="pedred.jpg" descr="pedred.jpg"/>
          <p:cNvPicPr/>
          <p:nvPr/>
        </p:nvPicPr>
        <p:blipFill>
          <a:blip r:embed="rId3"/>
          <a:stretch>
            <a:fillRect/>
          </a:stretch>
        </p:blipFill>
        <p:spPr>
          <a:xfrm>
            <a:off x="5461000" y="2321722"/>
            <a:ext cx="265113" cy="446088"/>
          </a:xfrm>
          <a:prstGeom prst="rect">
            <a:avLst/>
          </a:prstGeom>
          <a:ln w="12700" cap="flat">
            <a:noFill/>
            <a:miter lim="400000"/>
          </a:ln>
          <a:effectLst/>
        </p:spPr>
      </p:pic>
      <p:sp>
        <p:nvSpPr>
          <p:cNvPr id="484" name="B"/>
          <p:cNvSpPr txBox="1"/>
          <p:nvPr/>
        </p:nvSpPr>
        <p:spPr>
          <a:xfrm>
            <a:off x="4186554" y="2278066"/>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5" name="A"/>
          <p:cNvSpPr txBox="1"/>
          <p:nvPr/>
        </p:nvSpPr>
        <p:spPr>
          <a:xfrm>
            <a:off x="4186554" y="1897066"/>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grpSp>
        <p:nvGrpSpPr>
          <p:cNvPr id="499" name="Group"/>
          <p:cNvGrpSpPr/>
          <p:nvPr/>
        </p:nvGrpSpPr>
        <p:grpSpPr>
          <a:xfrm>
            <a:off x="6223542" y="1744846"/>
            <a:ext cx="151858" cy="229722"/>
            <a:chOff x="0" y="0"/>
            <a:chExt cx="151856" cy="229721"/>
          </a:xfrm>
        </p:grpSpPr>
        <p:sp>
          <p:nvSpPr>
            <p:cNvPr id="497"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98"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a:extLst>
            <a:ext uri="{FF2B5EF4-FFF2-40B4-BE49-F238E27FC236}">
              <a16:creationId xmlns:a16="http://schemas.microsoft.com/office/drawing/2014/main" id="{6315D3A3-759C-078C-FB3B-7C97ABDF6A64}"/>
            </a:ext>
          </a:extLst>
        </p:cNvPr>
        <p:cNvGrpSpPr/>
        <p:nvPr/>
      </p:nvGrpSpPr>
      <p:grpSpPr>
        <a:xfrm>
          <a:off x="0" y="0"/>
          <a:ext cx="0" cy="0"/>
          <a:chOff x="0" y="0"/>
          <a:chExt cx="0" cy="0"/>
        </a:xfrm>
      </p:grpSpPr>
      <p:sp>
        <p:nvSpPr>
          <p:cNvPr id="450" name="Mutual Exclusion">
            <a:extLst>
              <a:ext uri="{FF2B5EF4-FFF2-40B4-BE49-F238E27FC236}">
                <a16:creationId xmlns:a16="http://schemas.microsoft.com/office/drawing/2014/main" id="{BE0DAC8E-BDEB-23A9-8B44-7374615B15ED}"/>
              </a:ext>
            </a:extLst>
          </p:cNvPr>
          <p:cNvSpPr txBox="1">
            <a:spLocks noGrp="1"/>
          </p:cNvSpPr>
          <p:nvPr>
            <p:ph type="title"/>
          </p:nvPr>
        </p:nvSpPr>
        <p:spPr>
          <a:prstGeom prst="rect">
            <a:avLst/>
          </a:prstGeom>
        </p:spPr>
        <p:txBody>
          <a:bodyPr/>
          <a:lstStyle/>
          <a:p>
            <a:r>
              <a:t>Mutual Exclusion</a:t>
            </a:r>
          </a:p>
        </p:txBody>
      </p:sp>
      <p:sp>
        <p:nvSpPr>
          <p:cNvPr id="451" name="Slide Number">
            <a:extLst>
              <a:ext uri="{FF2B5EF4-FFF2-40B4-BE49-F238E27FC236}">
                <a16:creationId xmlns:a16="http://schemas.microsoft.com/office/drawing/2014/main" id="{86CD05F2-CFAE-5F0B-EDF4-7E5E728058D2}"/>
              </a:ext>
            </a:extLst>
          </p:cNvP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28</a:t>
            </a:fld>
            <a:endParaRPr/>
          </a:p>
        </p:txBody>
      </p:sp>
      <p:sp>
        <p:nvSpPr>
          <p:cNvPr id="452" name="Implementation 2 — simple lock variable">
            <a:extLst>
              <a:ext uri="{FF2B5EF4-FFF2-40B4-BE49-F238E27FC236}">
                <a16:creationId xmlns:a16="http://schemas.microsoft.com/office/drawing/2014/main" id="{2737BC17-CBA9-0F71-2E77-D47F1AD50FA5}"/>
              </a:ext>
            </a:extLst>
          </p:cNvPr>
          <p:cNvSpPr txBox="1"/>
          <p:nvPr/>
        </p:nvSpPr>
        <p:spPr>
          <a:xfrm>
            <a:off x="457200" y="11430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a:t>
            </a:r>
          </a:p>
        </p:txBody>
      </p:sp>
      <p:grpSp>
        <p:nvGrpSpPr>
          <p:cNvPr id="514" name="Group">
            <a:extLst>
              <a:ext uri="{FF2B5EF4-FFF2-40B4-BE49-F238E27FC236}">
                <a16:creationId xmlns:a16="http://schemas.microsoft.com/office/drawing/2014/main" id="{CF877956-597F-9C87-2A10-5D5BEB48F1BF}"/>
              </a:ext>
            </a:extLst>
          </p:cNvPr>
          <p:cNvGrpSpPr/>
          <p:nvPr/>
        </p:nvGrpSpPr>
        <p:grpSpPr>
          <a:xfrm>
            <a:off x="457200" y="1600379"/>
            <a:ext cx="8572500" cy="4500384"/>
            <a:chOff x="0" y="0"/>
            <a:chExt cx="8572500" cy="4500382"/>
          </a:xfrm>
        </p:grpSpPr>
        <p:grpSp>
          <p:nvGrpSpPr>
            <p:cNvPr id="455" name="Group">
              <a:extLst>
                <a:ext uri="{FF2B5EF4-FFF2-40B4-BE49-F238E27FC236}">
                  <a16:creationId xmlns:a16="http://schemas.microsoft.com/office/drawing/2014/main" id="{CE887B4E-13D2-66A4-11EC-DEE1CAB58543}"/>
                </a:ext>
              </a:extLst>
            </p:cNvPr>
            <p:cNvGrpSpPr/>
            <p:nvPr/>
          </p:nvGrpSpPr>
          <p:grpSpPr>
            <a:xfrm>
              <a:off x="6172200" y="152220"/>
              <a:ext cx="1828800" cy="914401"/>
              <a:chOff x="0" y="0"/>
              <a:chExt cx="1828800" cy="914400"/>
            </a:xfrm>
          </p:grpSpPr>
          <p:sp>
            <p:nvSpPr>
              <p:cNvPr id="453" name="Rectangle">
                <a:extLst>
                  <a:ext uri="{FF2B5EF4-FFF2-40B4-BE49-F238E27FC236}">
                    <a16:creationId xmlns:a16="http://schemas.microsoft.com/office/drawing/2014/main" id="{3261F107-0216-F573-F820-B02D0B88CB88}"/>
                  </a:ext>
                </a:extLst>
              </p:cNvPr>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4" name="critical region">
                <a:extLst>
                  <a:ext uri="{FF2B5EF4-FFF2-40B4-BE49-F238E27FC236}">
                    <a16:creationId xmlns:a16="http://schemas.microsoft.com/office/drawing/2014/main" id="{6D9A9427-A814-F985-868B-07A68A9E18B3}"/>
                  </a:ext>
                </a:extLst>
              </p:cNvPr>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456" name="Rectangle">
              <a:extLst>
                <a:ext uri="{FF2B5EF4-FFF2-40B4-BE49-F238E27FC236}">
                  <a16:creationId xmlns:a16="http://schemas.microsoft.com/office/drawing/2014/main" id="{D6C44B8C-F677-4BE6-1419-4B54DAED76A0}"/>
                </a:ext>
              </a:extLst>
            </p:cNvPr>
            <p:cNvSpPr/>
            <p:nvPr/>
          </p:nvSpPr>
          <p:spPr>
            <a:xfrm>
              <a:off x="381000" y="609420"/>
              <a:ext cx="3670300" cy="3429001"/>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7" name="thread A reaches CR and finds a lock at 0, which means that A can enter…">
              <a:extLst>
                <a:ext uri="{FF2B5EF4-FFF2-40B4-BE49-F238E27FC236}">
                  <a16:creationId xmlns:a16="http://schemas.microsoft.com/office/drawing/2014/main" id="{3286FBC4-FF3D-4744-A0C9-50A7FFECC988}"/>
                </a:ext>
              </a:extLst>
            </p:cNvPr>
            <p:cNvSpPr txBox="1"/>
            <p:nvPr/>
          </p:nvSpPr>
          <p:spPr>
            <a:xfrm>
              <a:off x="0" y="152220"/>
              <a:ext cx="4127500" cy="4027806"/>
            </a:xfrm>
            <a:prstGeom prst="rect">
              <a:avLst/>
            </a:prstGeom>
            <a:noFill/>
            <a:ln w="12700" cap="flat">
              <a:noFill/>
              <a:miter lim="400000"/>
            </a:ln>
            <a:effectLst/>
          </p:spPr>
          <p:txBody>
            <a:bodyPr wrap="square" lIns="50800" tIns="50800" rIns="50800" bIns="50800" numCol="1" anchor="t">
              <a:spAutoFit/>
            </a:bodyPr>
            <a:lstStyle/>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reaches CR and finds a lock at 0, which means that A can enter</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sets the lock to 1 and enters CR, which prevents B from entering</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exits CR and resets lock to 0; thread B can now enter</a:t>
              </a:r>
            </a:p>
            <a:p>
              <a:pPr marL="1029652" indent="-533399">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B sets the lock to 1 and enters CR</a:t>
              </a:r>
            </a:p>
          </p:txBody>
        </p:sp>
        <p:sp>
          <p:nvSpPr>
            <p:cNvPr id="458" name="Rectangle">
              <a:extLst>
                <a:ext uri="{FF2B5EF4-FFF2-40B4-BE49-F238E27FC236}">
                  <a16:creationId xmlns:a16="http://schemas.microsoft.com/office/drawing/2014/main" id="{336D2A1E-D902-9329-C110-6347FA64666E}"/>
                </a:ext>
              </a:extLst>
            </p:cNvPr>
            <p:cNvSpPr/>
            <p:nvPr/>
          </p:nvSpPr>
          <p:spPr>
            <a:xfrm>
              <a:off x="6172200" y="1295220"/>
              <a:ext cx="1841500"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59" name="Rectangle">
              <a:extLst>
                <a:ext uri="{FF2B5EF4-FFF2-40B4-BE49-F238E27FC236}">
                  <a16:creationId xmlns:a16="http://schemas.microsoft.com/office/drawing/2014/main" id="{BC4BE05A-6B67-F455-943B-BC0D2895741C}"/>
                </a:ext>
              </a:extLst>
            </p:cNvPr>
            <p:cNvSpPr/>
            <p:nvPr/>
          </p:nvSpPr>
          <p:spPr>
            <a:xfrm>
              <a:off x="6172200" y="2438220"/>
              <a:ext cx="1841500"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0" name="Rectangle">
              <a:extLst>
                <a:ext uri="{FF2B5EF4-FFF2-40B4-BE49-F238E27FC236}">
                  <a16:creationId xmlns:a16="http://schemas.microsoft.com/office/drawing/2014/main" id="{331F1E99-38B4-B025-95B1-0B2E9F0DAA5B}"/>
                </a:ext>
              </a:extLst>
            </p:cNvPr>
            <p:cNvSpPr/>
            <p:nvPr/>
          </p:nvSpPr>
          <p:spPr>
            <a:xfrm>
              <a:off x="6172200" y="3581220"/>
              <a:ext cx="1841500"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1" name="Line">
              <a:extLst>
                <a:ext uri="{FF2B5EF4-FFF2-40B4-BE49-F238E27FC236}">
                  <a16:creationId xmlns:a16="http://schemas.microsoft.com/office/drawing/2014/main" id="{28DEC6D0-5040-02FC-31E5-AE22D1319F09}"/>
                </a:ext>
              </a:extLst>
            </p:cNvPr>
            <p:cNvSpPr/>
            <p:nvPr/>
          </p:nvSpPr>
          <p:spPr>
            <a:xfrm>
              <a:off x="4343400" y="380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2" name="Line">
              <a:extLst>
                <a:ext uri="{FF2B5EF4-FFF2-40B4-BE49-F238E27FC236}">
                  <a16:creationId xmlns:a16="http://schemas.microsoft.com/office/drawing/2014/main" id="{0F464C7B-0B6C-ECB8-108E-9B8D078052AE}"/>
                </a:ext>
              </a:extLst>
            </p:cNvPr>
            <p:cNvSpPr/>
            <p:nvPr/>
          </p:nvSpPr>
          <p:spPr>
            <a:xfrm>
              <a:off x="4343400" y="761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3" name="Line">
              <a:extLst>
                <a:ext uri="{FF2B5EF4-FFF2-40B4-BE49-F238E27FC236}">
                  <a16:creationId xmlns:a16="http://schemas.microsoft.com/office/drawing/2014/main" id="{86F6106D-46B1-393A-B5A8-F1DF25EDF36C}"/>
                </a:ext>
              </a:extLst>
            </p:cNvPr>
            <p:cNvSpPr/>
            <p:nvPr/>
          </p:nvSpPr>
          <p:spPr>
            <a:xfrm>
              <a:off x="4343400" y="1523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4" name="Line">
              <a:extLst>
                <a:ext uri="{FF2B5EF4-FFF2-40B4-BE49-F238E27FC236}">
                  <a16:creationId xmlns:a16="http://schemas.microsoft.com/office/drawing/2014/main" id="{654D32B2-A4AB-FEB2-E6C8-68E259AD7A5F}"/>
                </a:ext>
              </a:extLst>
            </p:cNvPr>
            <p:cNvSpPr/>
            <p:nvPr/>
          </p:nvSpPr>
          <p:spPr>
            <a:xfrm>
              <a:off x="4343400" y="1904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5" name="Line">
              <a:extLst>
                <a:ext uri="{FF2B5EF4-FFF2-40B4-BE49-F238E27FC236}">
                  <a16:creationId xmlns:a16="http://schemas.microsoft.com/office/drawing/2014/main" id="{53095D6C-2ED8-A1A8-8550-90DDC7F08442}"/>
                </a:ext>
              </a:extLst>
            </p:cNvPr>
            <p:cNvSpPr/>
            <p:nvPr/>
          </p:nvSpPr>
          <p:spPr>
            <a:xfrm>
              <a:off x="4343400" y="2666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6" name="Line">
              <a:extLst>
                <a:ext uri="{FF2B5EF4-FFF2-40B4-BE49-F238E27FC236}">
                  <a16:creationId xmlns:a16="http://schemas.microsoft.com/office/drawing/2014/main" id="{8FF2305F-BB42-D707-A8BF-08C5DE6E5CF4}"/>
                </a:ext>
              </a:extLst>
            </p:cNvPr>
            <p:cNvSpPr/>
            <p:nvPr/>
          </p:nvSpPr>
          <p:spPr>
            <a:xfrm>
              <a:off x="4343400" y="3047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7" name="Line">
              <a:extLst>
                <a:ext uri="{FF2B5EF4-FFF2-40B4-BE49-F238E27FC236}">
                  <a16:creationId xmlns:a16="http://schemas.microsoft.com/office/drawing/2014/main" id="{E76259E1-2C72-3F18-E442-4DD28D88747C}"/>
                </a:ext>
              </a:extLst>
            </p:cNvPr>
            <p:cNvSpPr/>
            <p:nvPr/>
          </p:nvSpPr>
          <p:spPr>
            <a:xfrm>
              <a:off x="4343400" y="3809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68" name="Line">
              <a:extLst>
                <a:ext uri="{FF2B5EF4-FFF2-40B4-BE49-F238E27FC236}">
                  <a16:creationId xmlns:a16="http://schemas.microsoft.com/office/drawing/2014/main" id="{6CBF584F-411A-6AF2-6A8D-011258C67E3E}"/>
                </a:ext>
              </a:extLst>
            </p:cNvPr>
            <p:cNvSpPr/>
            <p:nvPr/>
          </p:nvSpPr>
          <p:spPr>
            <a:xfrm>
              <a:off x="4343400" y="4190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69" name="pedblue.jpg" descr="pedblue.jpg">
              <a:extLst>
                <a:ext uri="{FF2B5EF4-FFF2-40B4-BE49-F238E27FC236}">
                  <a16:creationId xmlns:a16="http://schemas.microsoft.com/office/drawing/2014/main" id="{F7D0B0FA-5AE6-95F2-91F3-8470D91C3A69}"/>
                </a:ext>
              </a:extLst>
            </p:cNvPr>
            <p:cNvPicPr/>
            <p:nvPr/>
          </p:nvPicPr>
          <p:blipFill>
            <a:blip r:embed="rId2"/>
            <a:stretch>
              <a:fillRect/>
            </a:stretch>
          </p:blipFill>
          <p:spPr>
            <a:xfrm>
              <a:off x="5867400" y="152220"/>
              <a:ext cx="274638" cy="461963"/>
            </a:xfrm>
            <a:prstGeom prst="rect">
              <a:avLst/>
            </a:prstGeom>
            <a:ln w="12700" cap="flat">
              <a:noFill/>
              <a:miter lim="400000"/>
            </a:ln>
            <a:effectLst/>
          </p:spPr>
        </p:pic>
        <p:pic>
          <p:nvPicPr>
            <p:cNvPr id="470" name="pedredstand.jpg" descr="pedredstand.jpg">
              <a:extLst>
                <a:ext uri="{FF2B5EF4-FFF2-40B4-BE49-F238E27FC236}">
                  <a16:creationId xmlns:a16="http://schemas.microsoft.com/office/drawing/2014/main" id="{9CE77EAD-D156-6649-A9EF-48A3D78F1BD1}"/>
                </a:ext>
              </a:extLst>
            </p:cNvPr>
            <p:cNvPicPr/>
            <p:nvPr/>
          </p:nvPicPr>
          <p:blipFill>
            <a:blip r:embed="rId3"/>
            <a:stretch>
              <a:fillRect/>
            </a:stretch>
          </p:blipFill>
          <p:spPr>
            <a:xfrm>
              <a:off x="5976937" y="1752420"/>
              <a:ext cx="179388" cy="457201"/>
            </a:xfrm>
            <a:prstGeom prst="rect">
              <a:avLst/>
            </a:prstGeom>
            <a:ln w="12700" cap="flat">
              <a:noFill/>
              <a:miter lim="400000"/>
            </a:ln>
            <a:effectLst/>
          </p:spPr>
        </p:pic>
        <p:sp>
          <p:nvSpPr>
            <p:cNvPr id="471" name="Rectangle">
              <a:extLst>
                <a:ext uri="{FF2B5EF4-FFF2-40B4-BE49-F238E27FC236}">
                  <a16:creationId xmlns:a16="http://schemas.microsoft.com/office/drawing/2014/main" id="{DEDE098B-EE1A-CE6E-31E2-707D3CBC1DF0}"/>
                </a:ext>
              </a:extLst>
            </p:cNvPr>
            <p:cNvSpPr/>
            <p:nvPr/>
          </p:nvSpPr>
          <p:spPr>
            <a:xfrm>
              <a:off x="5334000" y="609420"/>
              <a:ext cx="850900"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72" name="Line">
              <a:extLst>
                <a:ext uri="{FF2B5EF4-FFF2-40B4-BE49-F238E27FC236}">
                  <a16:creationId xmlns:a16="http://schemas.microsoft.com/office/drawing/2014/main" id="{C4F26364-F6AA-37EF-1FE3-77B070E4EA1E}"/>
                </a:ext>
              </a:extLst>
            </p:cNvPr>
            <p:cNvSpPr/>
            <p:nvPr/>
          </p:nvSpPr>
          <p:spPr>
            <a:xfrm>
              <a:off x="6172200"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73" name="Line">
              <a:extLst>
                <a:ext uri="{FF2B5EF4-FFF2-40B4-BE49-F238E27FC236}">
                  <a16:creationId xmlns:a16="http://schemas.microsoft.com/office/drawing/2014/main" id="{EFF84276-1B14-5E63-CB8B-619B0935FF11}"/>
                </a:ext>
              </a:extLst>
            </p:cNvPr>
            <p:cNvSpPr/>
            <p:nvPr/>
          </p:nvSpPr>
          <p:spPr>
            <a:xfrm>
              <a:off x="8001000"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474" name="pedred.jpg" descr="pedred.jpg">
              <a:extLst>
                <a:ext uri="{FF2B5EF4-FFF2-40B4-BE49-F238E27FC236}">
                  <a16:creationId xmlns:a16="http://schemas.microsoft.com/office/drawing/2014/main" id="{0A273F62-5A51-CE62-BA94-928035B95639}"/>
                </a:ext>
              </a:extLst>
            </p:cNvPr>
            <p:cNvPicPr/>
            <p:nvPr/>
          </p:nvPicPr>
          <p:blipFill>
            <a:blip r:embed="rId4"/>
            <a:stretch>
              <a:fillRect/>
            </a:stretch>
          </p:blipFill>
          <p:spPr>
            <a:xfrm>
              <a:off x="5105400" y="609420"/>
              <a:ext cx="265113" cy="446088"/>
            </a:xfrm>
            <a:prstGeom prst="rect">
              <a:avLst/>
            </a:prstGeom>
            <a:ln w="12700" cap="flat">
              <a:noFill/>
              <a:miter lim="400000"/>
            </a:ln>
            <a:effectLst/>
          </p:spPr>
        </p:pic>
        <p:sp>
          <p:nvSpPr>
            <p:cNvPr id="475" name="Line">
              <a:extLst>
                <a:ext uri="{FF2B5EF4-FFF2-40B4-BE49-F238E27FC236}">
                  <a16:creationId xmlns:a16="http://schemas.microsoft.com/office/drawing/2014/main" id="{F2C0E80D-8454-3549-81C0-C060580D049E}"/>
                </a:ext>
              </a:extLst>
            </p:cNvPr>
            <p:cNvSpPr/>
            <p:nvPr/>
          </p:nvSpPr>
          <p:spPr>
            <a:xfrm>
              <a:off x="6172200" y="4190820"/>
              <a:ext cx="685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200" y="10800"/>
                    <a:pt x="2400" y="0"/>
                    <a:pt x="3600" y="0"/>
                  </a:cubicBezTo>
                  <a:cubicBezTo>
                    <a:pt x="4800" y="0"/>
                    <a:pt x="6000" y="21600"/>
                    <a:pt x="7200" y="21600"/>
                  </a:cubicBezTo>
                  <a:cubicBezTo>
                    <a:pt x="8400" y="21600"/>
                    <a:pt x="9600" y="0"/>
                    <a:pt x="10800" y="0"/>
                  </a:cubicBezTo>
                  <a:cubicBezTo>
                    <a:pt x="12000" y="0"/>
                    <a:pt x="13200" y="21600"/>
                    <a:pt x="14400" y="21600"/>
                  </a:cubicBezTo>
                  <a:cubicBezTo>
                    <a:pt x="15600" y="21600"/>
                    <a:pt x="16800" y="0"/>
                    <a:pt x="18000" y="0"/>
                  </a:cubicBezTo>
                  <a:cubicBezTo>
                    <a:pt x="19200" y="0"/>
                    <a:pt x="21000" y="180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76" name="pedredgray.jpg" descr="pedredgray.jpg">
              <a:extLst>
                <a:ext uri="{FF2B5EF4-FFF2-40B4-BE49-F238E27FC236}">
                  <a16:creationId xmlns:a16="http://schemas.microsoft.com/office/drawing/2014/main" id="{5EB83D5A-A620-5AE0-E068-103392B63B64}"/>
                </a:ext>
              </a:extLst>
            </p:cNvPr>
            <p:cNvPicPr/>
            <p:nvPr/>
          </p:nvPicPr>
          <p:blipFill>
            <a:blip r:embed="rId5"/>
            <a:stretch>
              <a:fillRect/>
            </a:stretch>
          </p:blipFill>
          <p:spPr>
            <a:xfrm>
              <a:off x="6781800" y="4038420"/>
              <a:ext cx="274638" cy="461963"/>
            </a:xfrm>
            <a:prstGeom prst="rect">
              <a:avLst/>
            </a:prstGeom>
            <a:ln w="12700" cap="flat">
              <a:noFill/>
              <a:miter lim="400000"/>
            </a:ln>
            <a:effectLst/>
          </p:spPr>
        </p:pic>
        <p:pic>
          <p:nvPicPr>
            <p:cNvPr id="477" name="pedredstand.jpg" descr="pedredstand.jpg">
              <a:extLst>
                <a:ext uri="{FF2B5EF4-FFF2-40B4-BE49-F238E27FC236}">
                  <a16:creationId xmlns:a16="http://schemas.microsoft.com/office/drawing/2014/main" id="{50D4B616-8D81-09D3-5A23-F3BC87C2FB87}"/>
                </a:ext>
              </a:extLst>
            </p:cNvPr>
            <p:cNvPicPr/>
            <p:nvPr/>
          </p:nvPicPr>
          <p:blipFill>
            <a:blip r:embed="rId3"/>
            <a:stretch>
              <a:fillRect/>
            </a:stretch>
          </p:blipFill>
          <p:spPr>
            <a:xfrm>
              <a:off x="5976937" y="2895420"/>
              <a:ext cx="179388" cy="457201"/>
            </a:xfrm>
            <a:prstGeom prst="rect">
              <a:avLst/>
            </a:prstGeom>
            <a:ln w="12700" cap="flat">
              <a:noFill/>
              <a:miter lim="400000"/>
            </a:ln>
            <a:effectLst/>
          </p:spPr>
        </p:pic>
        <p:sp>
          <p:nvSpPr>
            <p:cNvPr id="478" name="Line">
              <a:extLst>
                <a:ext uri="{FF2B5EF4-FFF2-40B4-BE49-F238E27FC236}">
                  <a16:creationId xmlns:a16="http://schemas.microsoft.com/office/drawing/2014/main" id="{C02032CC-EB8B-1C4F-28EF-1AB796DB3B19}"/>
                </a:ext>
              </a:extLst>
            </p:cNvPr>
            <p:cNvSpPr/>
            <p:nvPr/>
          </p:nvSpPr>
          <p:spPr>
            <a:xfrm>
              <a:off x="6172200" y="2666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479" name="pedblue.jpg" descr="pedblue.jpg">
              <a:extLst>
                <a:ext uri="{FF2B5EF4-FFF2-40B4-BE49-F238E27FC236}">
                  <a16:creationId xmlns:a16="http://schemas.microsoft.com/office/drawing/2014/main" id="{73DBA644-9620-09A1-2FBE-6F423C64E82B}"/>
                </a:ext>
              </a:extLst>
            </p:cNvPr>
            <p:cNvPicPr/>
            <p:nvPr/>
          </p:nvPicPr>
          <p:blipFill>
            <a:blip r:embed="rId2"/>
            <a:stretch>
              <a:fillRect/>
            </a:stretch>
          </p:blipFill>
          <p:spPr>
            <a:xfrm>
              <a:off x="8001000" y="2438220"/>
              <a:ext cx="274638" cy="461963"/>
            </a:xfrm>
            <a:prstGeom prst="rect">
              <a:avLst/>
            </a:prstGeom>
            <a:ln w="12700" cap="flat">
              <a:noFill/>
              <a:miter lim="400000"/>
            </a:ln>
            <a:effectLst/>
          </p:spPr>
        </p:pic>
        <p:pic>
          <p:nvPicPr>
            <p:cNvPr id="480" name="pedbluegray.jpg" descr="pedbluegray.jpg">
              <a:extLst>
                <a:ext uri="{FF2B5EF4-FFF2-40B4-BE49-F238E27FC236}">
                  <a16:creationId xmlns:a16="http://schemas.microsoft.com/office/drawing/2014/main" id="{F9788D20-8248-C303-FCB1-1B3B3404ECC9}"/>
                </a:ext>
              </a:extLst>
            </p:cNvPr>
            <p:cNvPicPr/>
            <p:nvPr/>
          </p:nvPicPr>
          <p:blipFill>
            <a:blip r:embed="rId6"/>
            <a:stretch>
              <a:fillRect/>
            </a:stretch>
          </p:blipFill>
          <p:spPr>
            <a:xfrm>
              <a:off x="7315200" y="1295220"/>
              <a:ext cx="274638" cy="461963"/>
            </a:xfrm>
            <a:prstGeom prst="rect">
              <a:avLst/>
            </a:prstGeom>
            <a:ln w="12700" cap="flat">
              <a:noFill/>
              <a:miter lim="400000"/>
            </a:ln>
            <a:effectLst/>
          </p:spPr>
        </p:pic>
        <p:sp>
          <p:nvSpPr>
            <p:cNvPr id="481" name="Line">
              <a:extLst>
                <a:ext uri="{FF2B5EF4-FFF2-40B4-BE49-F238E27FC236}">
                  <a16:creationId xmlns:a16="http://schemas.microsoft.com/office/drawing/2014/main" id="{E24060B4-CB04-AEC0-2FAA-86D1BA0793C5}"/>
                </a:ext>
              </a:extLst>
            </p:cNvPr>
            <p:cNvSpPr/>
            <p:nvPr/>
          </p:nvSpPr>
          <p:spPr>
            <a:xfrm>
              <a:off x="6172200" y="3809820"/>
              <a:ext cx="18288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82" name="Line">
              <a:extLst>
                <a:ext uri="{FF2B5EF4-FFF2-40B4-BE49-F238E27FC236}">
                  <a16:creationId xmlns:a16="http://schemas.microsoft.com/office/drawing/2014/main" id="{6D966C40-6440-3DE6-A3D7-FB7810891F98}"/>
                </a:ext>
              </a:extLst>
            </p:cNvPr>
            <p:cNvSpPr/>
            <p:nvPr/>
          </p:nvSpPr>
          <p:spPr>
            <a:xfrm>
              <a:off x="8001000" y="3809820"/>
              <a:ext cx="5715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440" y="10800"/>
                    <a:pt x="2880" y="0"/>
                    <a:pt x="4320" y="0"/>
                  </a:cubicBezTo>
                  <a:cubicBezTo>
                    <a:pt x="5760" y="0"/>
                    <a:pt x="7200" y="21600"/>
                    <a:pt x="8640" y="21600"/>
                  </a:cubicBezTo>
                  <a:cubicBezTo>
                    <a:pt x="10080" y="21600"/>
                    <a:pt x="11520" y="0"/>
                    <a:pt x="12960" y="0"/>
                  </a:cubicBezTo>
                  <a:cubicBezTo>
                    <a:pt x="14400" y="0"/>
                    <a:pt x="15840" y="21600"/>
                    <a:pt x="17280" y="21600"/>
                  </a:cubicBezTo>
                  <a:cubicBezTo>
                    <a:pt x="18720" y="21600"/>
                    <a:pt x="20880" y="3600"/>
                    <a:pt x="21600" y="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83" name="Line">
              <a:extLst>
                <a:ext uri="{FF2B5EF4-FFF2-40B4-BE49-F238E27FC236}">
                  <a16:creationId xmlns:a16="http://schemas.microsoft.com/office/drawing/2014/main" id="{DED96640-EADD-D068-8CA5-76C8B3B7BEFE}"/>
                </a:ext>
              </a:extLst>
            </p:cNvPr>
            <p:cNvSpPr/>
            <p:nvPr/>
          </p:nvSpPr>
          <p:spPr>
            <a:xfrm>
              <a:off x="6172200" y="1523820"/>
              <a:ext cx="1143000"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20" y="10800"/>
                    <a:pt x="1440" y="0"/>
                    <a:pt x="2160" y="0"/>
                  </a:cubicBezTo>
                  <a:cubicBezTo>
                    <a:pt x="2880" y="0"/>
                    <a:pt x="3600" y="21600"/>
                    <a:pt x="4320" y="21600"/>
                  </a:cubicBezTo>
                  <a:cubicBezTo>
                    <a:pt x="5040" y="21600"/>
                    <a:pt x="5760" y="0"/>
                    <a:pt x="6480" y="0"/>
                  </a:cubicBezTo>
                  <a:cubicBezTo>
                    <a:pt x="7200" y="0"/>
                    <a:pt x="7920" y="21600"/>
                    <a:pt x="8640" y="21600"/>
                  </a:cubicBezTo>
                  <a:cubicBezTo>
                    <a:pt x="9360" y="21600"/>
                    <a:pt x="10080" y="0"/>
                    <a:pt x="10800" y="0"/>
                  </a:cubicBezTo>
                  <a:cubicBezTo>
                    <a:pt x="11520" y="0"/>
                    <a:pt x="12240" y="21600"/>
                    <a:pt x="12960" y="21600"/>
                  </a:cubicBezTo>
                  <a:cubicBezTo>
                    <a:pt x="13680" y="21600"/>
                    <a:pt x="14400" y="0"/>
                    <a:pt x="15120" y="0"/>
                  </a:cubicBezTo>
                  <a:cubicBezTo>
                    <a:pt x="15840" y="0"/>
                    <a:pt x="16560" y="21600"/>
                    <a:pt x="17280" y="21600"/>
                  </a:cubicBezTo>
                  <a:cubicBezTo>
                    <a:pt x="18000" y="21600"/>
                    <a:pt x="18720" y="0"/>
                    <a:pt x="19440" y="0"/>
                  </a:cubicBezTo>
                  <a:cubicBezTo>
                    <a:pt x="20160" y="0"/>
                    <a:pt x="21240" y="180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84" name="B">
              <a:extLst>
                <a:ext uri="{FF2B5EF4-FFF2-40B4-BE49-F238E27FC236}">
                  <a16:creationId xmlns:a16="http://schemas.microsoft.com/office/drawing/2014/main" id="{31859EF6-5772-7C07-8B98-53F40EFB31EF}"/>
                </a:ext>
              </a:extLst>
            </p:cNvPr>
            <p:cNvSpPr txBox="1"/>
            <p:nvPr/>
          </p:nvSpPr>
          <p:spPr>
            <a:xfrm>
              <a:off x="4059554" y="533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5" name="A">
              <a:extLst>
                <a:ext uri="{FF2B5EF4-FFF2-40B4-BE49-F238E27FC236}">
                  <a16:creationId xmlns:a16="http://schemas.microsoft.com/office/drawing/2014/main" id="{0D47A7CC-8C0B-99F2-C4E2-3D4A91FD86CA}"/>
                </a:ext>
              </a:extLst>
            </p:cNvPr>
            <p:cNvSpPr txBox="1"/>
            <p:nvPr/>
          </p:nvSpPr>
          <p:spPr>
            <a:xfrm>
              <a:off x="4059554" y="152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86" name="B">
              <a:extLst>
                <a:ext uri="{FF2B5EF4-FFF2-40B4-BE49-F238E27FC236}">
                  <a16:creationId xmlns:a16="http://schemas.microsoft.com/office/drawing/2014/main" id="{6CB6CFBF-3F2D-59E1-32D9-7F961E5BEC03}"/>
                </a:ext>
              </a:extLst>
            </p:cNvPr>
            <p:cNvSpPr txBox="1"/>
            <p:nvPr/>
          </p:nvSpPr>
          <p:spPr>
            <a:xfrm>
              <a:off x="4059554" y="1676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7" name="A">
              <a:extLst>
                <a:ext uri="{FF2B5EF4-FFF2-40B4-BE49-F238E27FC236}">
                  <a16:creationId xmlns:a16="http://schemas.microsoft.com/office/drawing/2014/main" id="{029C6748-B015-2045-D4BE-CC4E4EEB4BB3}"/>
                </a:ext>
              </a:extLst>
            </p:cNvPr>
            <p:cNvSpPr txBox="1"/>
            <p:nvPr/>
          </p:nvSpPr>
          <p:spPr>
            <a:xfrm>
              <a:off x="4059554" y="1295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88" name="B">
              <a:extLst>
                <a:ext uri="{FF2B5EF4-FFF2-40B4-BE49-F238E27FC236}">
                  <a16:creationId xmlns:a16="http://schemas.microsoft.com/office/drawing/2014/main" id="{044BE8A2-4260-574B-D327-CE764F409723}"/>
                </a:ext>
              </a:extLst>
            </p:cNvPr>
            <p:cNvSpPr txBox="1"/>
            <p:nvPr/>
          </p:nvSpPr>
          <p:spPr>
            <a:xfrm>
              <a:off x="4059554" y="2819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89" name="A">
              <a:extLst>
                <a:ext uri="{FF2B5EF4-FFF2-40B4-BE49-F238E27FC236}">
                  <a16:creationId xmlns:a16="http://schemas.microsoft.com/office/drawing/2014/main" id="{3DC12B97-3DAD-9E99-F7DE-3AA39D9A23AC}"/>
                </a:ext>
              </a:extLst>
            </p:cNvPr>
            <p:cNvSpPr txBox="1"/>
            <p:nvPr/>
          </p:nvSpPr>
          <p:spPr>
            <a:xfrm>
              <a:off x="4059554" y="2438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90" name="B">
              <a:extLst>
                <a:ext uri="{FF2B5EF4-FFF2-40B4-BE49-F238E27FC236}">
                  <a16:creationId xmlns:a16="http://schemas.microsoft.com/office/drawing/2014/main" id="{2B3C8FD1-65E4-A63D-A3B5-1DA8EDBAC176}"/>
                </a:ext>
              </a:extLst>
            </p:cNvPr>
            <p:cNvSpPr txBox="1"/>
            <p:nvPr/>
          </p:nvSpPr>
          <p:spPr>
            <a:xfrm>
              <a:off x="4059554" y="3962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491" name="A">
              <a:extLst>
                <a:ext uri="{FF2B5EF4-FFF2-40B4-BE49-F238E27FC236}">
                  <a16:creationId xmlns:a16="http://schemas.microsoft.com/office/drawing/2014/main" id="{48C69669-D749-68C1-76A4-BA90E5D30C1C}"/>
                </a:ext>
              </a:extLst>
            </p:cNvPr>
            <p:cNvSpPr txBox="1"/>
            <p:nvPr/>
          </p:nvSpPr>
          <p:spPr>
            <a:xfrm>
              <a:off x="4059554" y="3581220"/>
              <a:ext cx="321629"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492" name="Line">
              <a:extLst>
                <a:ext uri="{FF2B5EF4-FFF2-40B4-BE49-F238E27FC236}">
                  <a16:creationId xmlns:a16="http://schemas.microsoft.com/office/drawing/2014/main" id="{F5612E44-8859-6A60-B902-78313B30846C}"/>
                </a:ext>
              </a:extLst>
            </p:cNvPr>
            <p:cNvSpPr/>
            <p:nvPr/>
          </p:nvSpPr>
          <p:spPr>
            <a:xfrm>
              <a:off x="8001000"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3" name="Line">
              <a:extLst>
                <a:ext uri="{FF2B5EF4-FFF2-40B4-BE49-F238E27FC236}">
                  <a16:creationId xmlns:a16="http://schemas.microsoft.com/office/drawing/2014/main" id="{F2970C80-293A-4E3F-CEDD-A0D37FAE21CC}"/>
                </a:ext>
              </a:extLst>
            </p:cNvPr>
            <p:cNvSpPr/>
            <p:nvPr/>
          </p:nvSpPr>
          <p:spPr>
            <a:xfrm>
              <a:off x="8001000"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4" name="Line">
              <a:extLst>
                <a:ext uri="{FF2B5EF4-FFF2-40B4-BE49-F238E27FC236}">
                  <a16:creationId xmlns:a16="http://schemas.microsoft.com/office/drawing/2014/main" id="{5DFD5053-C757-C341-A298-6BDB09F002D5}"/>
                </a:ext>
              </a:extLst>
            </p:cNvPr>
            <p:cNvSpPr/>
            <p:nvPr/>
          </p:nvSpPr>
          <p:spPr>
            <a:xfrm>
              <a:off x="6172200"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5" name="Line">
              <a:extLst>
                <a:ext uri="{FF2B5EF4-FFF2-40B4-BE49-F238E27FC236}">
                  <a16:creationId xmlns:a16="http://schemas.microsoft.com/office/drawing/2014/main" id="{440ACE8D-416C-E175-8ECB-BC7E4C6BA029}"/>
                </a:ext>
              </a:extLst>
            </p:cNvPr>
            <p:cNvSpPr/>
            <p:nvPr/>
          </p:nvSpPr>
          <p:spPr>
            <a:xfrm>
              <a:off x="8001000"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496" name="Line">
              <a:extLst>
                <a:ext uri="{FF2B5EF4-FFF2-40B4-BE49-F238E27FC236}">
                  <a16:creationId xmlns:a16="http://schemas.microsoft.com/office/drawing/2014/main" id="{C3A895F7-B318-FF2A-5669-B0CDF797154C}"/>
                </a:ext>
              </a:extLst>
            </p:cNvPr>
            <p:cNvSpPr/>
            <p:nvPr/>
          </p:nvSpPr>
          <p:spPr>
            <a:xfrm>
              <a:off x="6172200" y="1295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499" name="Group">
              <a:extLst>
                <a:ext uri="{FF2B5EF4-FFF2-40B4-BE49-F238E27FC236}">
                  <a16:creationId xmlns:a16="http://schemas.microsoft.com/office/drawing/2014/main" id="{F86E1D0F-A208-374B-881B-88D02572DEEC}"/>
                </a:ext>
              </a:extLst>
            </p:cNvPr>
            <p:cNvGrpSpPr/>
            <p:nvPr/>
          </p:nvGrpSpPr>
          <p:grpSpPr>
            <a:xfrm>
              <a:off x="6096542" y="0"/>
              <a:ext cx="151858" cy="229722"/>
              <a:chOff x="0" y="0"/>
              <a:chExt cx="151856" cy="229721"/>
            </a:xfrm>
          </p:grpSpPr>
          <p:sp>
            <p:nvSpPr>
              <p:cNvPr id="497" name="Shape">
                <a:extLst>
                  <a:ext uri="{FF2B5EF4-FFF2-40B4-BE49-F238E27FC236}">
                    <a16:creationId xmlns:a16="http://schemas.microsoft.com/office/drawing/2014/main" id="{D93051E9-8087-1BA6-021C-BF121BDE178A}"/>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498" name="Shape">
                <a:extLst>
                  <a:ext uri="{FF2B5EF4-FFF2-40B4-BE49-F238E27FC236}">
                    <a16:creationId xmlns:a16="http://schemas.microsoft.com/office/drawing/2014/main" id="{5476EDE8-4126-53FF-70EF-36120FDA5C55}"/>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502" name="Group">
              <a:extLst>
                <a:ext uri="{FF2B5EF4-FFF2-40B4-BE49-F238E27FC236}">
                  <a16:creationId xmlns:a16="http://schemas.microsoft.com/office/drawing/2014/main" id="{A7B01FDD-D7EB-8B31-D020-7B596ECCAFCD}"/>
                </a:ext>
              </a:extLst>
            </p:cNvPr>
            <p:cNvGrpSpPr/>
            <p:nvPr/>
          </p:nvGrpSpPr>
          <p:grpSpPr>
            <a:xfrm>
              <a:off x="6096542" y="2286000"/>
              <a:ext cx="151858" cy="229722"/>
              <a:chOff x="0" y="0"/>
              <a:chExt cx="151856" cy="229721"/>
            </a:xfrm>
          </p:grpSpPr>
          <p:sp>
            <p:nvSpPr>
              <p:cNvPr id="500" name="Shape">
                <a:extLst>
                  <a:ext uri="{FF2B5EF4-FFF2-40B4-BE49-F238E27FC236}">
                    <a16:creationId xmlns:a16="http://schemas.microsoft.com/office/drawing/2014/main" id="{137F1E9C-523E-B53E-ED43-1F53118BD33F}"/>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01" name="Shape">
                <a:extLst>
                  <a:ext uri="{FF2B5EF4-FFF2-40B4-BE49-F238E27FC236}">
                    <a16:creationId xmlns:a16="http://schemas.microsoft.com/office/drawing/2014/main" id="{0C948DBD-C17A-2A26-42C9-D7B6E70E7E30}"/>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03" name="Line">
              <a:extLst>
                <a:ext uri="{FF2B5EF4-FFF2-40B4-BE49-F238E27FC236}">
                  <a16:creationId xmlns:a16="http://schemas.microsoft.com/office/drawing/2014/main" id="{F3581CF0-0E89-0440-C0A5-ECA79892CDAB}"/>
                </a:ext>
              </a:extLst>
            </p:cNvPr>
            <p:cNvSpPr/>
            <p:nvPr/>
          </p:nvSpPr>
          <p:spPr>
            <a:xfrm>
              <a:off x="6172200"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08" name="Group">
              <a:extLst>
                <a:ext uri="{FF2B5EF4-FFF2-40B4-BE49-F238E27FC236}">
                  <a16:creationId xmlns:a16="http://schemas.microsoft.com/office/drawing/2014/main" id="{D53EE63E-C14D-BE0F-B608-E2555A042BF3}"/>
                </a:ext>
              </a:extLst>
            </p:cNvPr>
            <p:cNvGrpSpPr/>
            <p:nvPr/>
          </p:nvGrpSpPr>
          <p:grpSpPr>
            <a:xfrm>
              <a:off x="6037262" y="1066620"/>
              <a:ext cx="269876" cy="306102"/>
              <a:chOff x="0" y="0"/>
              <a:chExt cx="269875" cy="306101"/>
            </a:xfrm>
          </p:grpSpPr>
          <p:sp>
            <p:nvSpPr>
              <p:cNvPr id="504" name="Shape">
                <a:extLst>
                  <a:ext uri="{FF2B5EF4-FFF2-40B4-BE49-F238E27FC236}">
                    <a16:creationId xmlns:a16="http://schemas.microsoft.com/office/drawing/2014/main" id="{1401ECAA-ECD4-20F4-334E-8CFB3A2A732D}"/>
                  </a:ext>
                </a:extLst>
              </p:cNvPr>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07" name="Group">
                <a:extLst>
                  <a:ext uri="{FF2B5EF4-FFF2-40B4-BE49-F238E27FC236}">
                    <a16:creationId xmlns:a16="http://schemas.microsoft.com/office/drawing/2014/main" id="{C5B007E1-B569-4779-4E59-01F866BED17C}"/>
                  </a:ext>
                </a:extLst>
              </p:cNvPr>
              <p:cNvGrpSpPr/>
              <p:nvPr/>
            </p:nvGrpSpPr>
            <p:grpSpPr>
              <a:xfrm>
                <a:off x="59280" y="76379"/>
                <a:ext cx="151857" cy="229723"/>
                <a:chOff x="0" y="0"/>
                <a:chExt cx="151856" cy="229721"/>
              </a:xfrm>
            </p:grpSpPr>
            <p:sp>
              <p:nvSpPr>
                <p:cNvPr id="505" name="Shape">
                  <a:extLst>
                    <a:ext uri="{FF2B5EF4-FFF2-40B4-BE49-F238E27FC236}">
                      <a16:creationId xmlns:a16="http://schemas.microsoft.com/office/drawing/2014/main" id="{35A3BCA8-B788-4E46-E547-4D4E2A8648D5}"/>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06" name="Shape">
                  <a:extLst>
                    <a:ext uri="{FF2B5EF4-FFF2-40B4-BE49-F238E27FC236}">
                      <a16:creationId xmlns:a16="http://schemas.microsoft.com/office/drawing/2014/main" id="{43662620-07DB-76CB-70B9-C113783876DC}"/>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nvGrpSpPr>
            <p:cNvPr id="513" name="Group">
              <a:extLst>
                <a:ext uri="{FF2B5EF4-FFF2-40B4-BE49-F238E27FC236}">
                  <a16:creationId xmlns:a16="http://schemas.microsoft.com/office/drawing/2014/main" id="{6ABFC4A7-03DF-BE8F-F6F0-2FCE47FB63D4}"/>
                </a:ext>
              </a:extLst>
            </p:cNvPr>
            <p:cNvGrpSpPr/>
            <p:nvPr/>
          </p:nvGrpSpPr>
          <p:grpSpPr>
            <a:xfrm>
              <a:off x="6037262" y="3352620"/>
              <a:ext cx="269876" cy="306102"/>
              <a:chOff x="0" y="0"/>
              <a:chExt cx="269875" cy="306101"/>
            </a:xfrm>
          </p:grpSpPr>
          <p:sp>
            <p:nvSpPr>
              <p:cNvPr id="509" name="Shape">
                <a:extLst>
                  <a:ext uri="{FF2B5EF4-FFF2-40B4-BE49-F238E27FC236}">
                    <a16:creationId xmlns:a16="http://schemas.microsoft.com/office/drawing/2014/main" id="{A064D3FA-BC9E-393C-D183-41AA8D564A88}"/>
                  </a:ext>
                </a:extLst>
              </p:cNvPr>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12" name="Group">
                <a:extLst>
                  <a:ext uri="{FF2B5EF4-FFF2-40B4-BE49-F238E27FC236}">
                    <a16:creationId xmlns:a16="http://schemas.microsoft.com/office/drawing/2014/main" id="{4446BC43-35BB-C17D-3581-CD9F82C3B767}"/>
                  </a:ext>
                </a:extLst>
              </p:cNvPr>
              <p:cNvGrpSpPr/>
              <p:nvPr/>
            </p:nvGrpSpPr>
            <p:grpSpPr>
              <a:xfrm>
                <a:off x="59280" y="76379"/>
                <a:ext cx="151857" cy="229723"/>
                <a:chOff x="0" y="0"/>
                <a:chExt cx="151856" cy="229721"/>
              </a:xfrm>
            </p:grpSpPr>
            <p:sp>
              <p:nvSpPr>
                <p:cNvPr id="510" name="Shape">
                  <a:extLst>
                    <a:ext uri="{FF2B5EF4-FFF2-40B4-BE49-F238E27FC236}">
                      <a16:creationId xmlns:a16="http://schemas.microsoft.com/office/drawing/2014/main" id="{E899ABA0-3EDB-FB1A-F636-35D7843F8D1F}"/>
                    </a:ext>
                  </a:extLst>
                </p:cNvPr>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11" name="Shape">
                  <a:extLst>
                    <a:ext uri="{FF2B5EF4-FFF2-40B4-BE49-F238E27FC236}">
                      <a16:creationId xmlns:a16="http://schemas.microsoft.com/office/drawing/2014/main" id="{FAF1CB44-FBE4-5291-D6B6-F99FB61FACF1}"/>
                    </a:ext>
                  </a:extLst>
                </p:cNvPr>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spTree>
    <p:extLst>
      <p:ext uri="{BB962C8B-B14F-4D97-AF65-F5344CB8AC3E}">
        <p14:creationId xmlns:p14="http://schemas.microsoft.com/office/powerpoint/2010/main" val="3892588277"/>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 grpId="0" animBg="1" advAuto="0"/>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16" name="Mutual Exclusion"/>
          <p:cNvSpPr txBox="1">
            <a:spLocks noGrp="1"/>
          </p:cNvSpPr>
          <p:nvPr>
            <p:ph type="title"/>
          </p:nvPr>
        </p:nvSpPr>
        <p:spPr>
          <a:prstGeom prst="rect">
            <a:avLst/>
          </a:prstGeom>
        </p:spPr>
        <p:txBody>
          <a:bodyPr/>
          <a:lstStyle/>
          <a:p>
            <a:r>
              <a:t>Mutual Exclusion</a:t>
            </a:r>
          </a:p>
        </p:txBody>
      </p:sp>
      <p:sp>
        <p:nvSpPr>
          <p:cNvPr id="517"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29</a:t>
            </a:fld>
            <a:endParaRPr/>
          </a:p>
        </p:txBody>
      </p:sp>
      <p:grpSp>
        <p:nvGrpSpPr>
          <p:cNvPr id="520" name="Group"/>
          <p:cNvGrpSpPr/>
          <p:nvPr/>
        </p:nvGrpSpPr>
        <p:grpSpPr>
          <a:xfrm>
            <a:off x="5410200" y="3500437"/>
            <a:ext cx="3276600" cy="1395413"/>
            <a:chOff x="0" y="0"/>
            <a:chExt cx="3276600" cy="1395412"/>
          </a:xfrm>
        </p:grpSpPr>
        <p:sp>
          <p:nvSpPr>
            <p:cNvPr id="518"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19" name="test lock,  then set lock…"/>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test lock,  then set lock</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reset lock</a:t>
              </a:r>
            </a:p>
          </p:txBody>
        </p:sp>
      </p:grpSp>
      <p:sp>
        <p:nvSpPr>
          <p:cNvPr id="521" name="Rectangle"/>
          <p:cNvSpPr/>
          <p:nvPr/>
        </p:nvSpPr>
        <p:spPr>
          <a:xfrm>
            <a:off x="5410200" y="37893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22" name="Implementation 2 — simple lock variable"/>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a:t>
            </a:r>
          </a:p>
        </p:txBody>
      </p:sp>
      <p:sp>
        <p:nvSpPr>
          <p:cNvPr id="523" name="the “lock” is a shared variable…"/>
          <p:cNvSpPr txBox="1"/>
          <p:nvPr/>
        </p:nvSpPr>
        <p:spPr>
          <a:xfrm>
            <a:off x="457200" y="1828799"/>
            <a:ext cx="4889500" cy="1651001"/>
          </a:xfrm>
          <a:prstGeom prst="rect">
            <a:avLst/>
          </a:prstGeom>
          <a:ln w="12700">
            <a:miter lim="400000"/>
          </a:ln>
        </p:spPr>
        <p:txBody>
          <a:bodyPr lIns="50800" tIns="50800" rIns="50800" bIns="50800">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the “lock” is a shared variable</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entering the critical region means testing and then setting the lock</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exiting means resetting the lock</a:t>
            </a:r>
          </a:p>
        </p:txBody>
      </p:sp>
      <p:grpSp>
        <p:nvGrpSpPr>
          <p:cNvPr id="526" name="Group"/>
          <p:cNvGrpSpPr/>
          <p:nvPr/>
        </p:nvGrpSpPr>
        <p:grpSpPr>
          <a:xfrm>
            <a:off x="5410200" y="1819275"/>
            <a:ext cx="3276600" cy="3951288"/>
            <a:chOff x="0" y="0"/>
            <a:chExt cx="3276600" cy="3951287"/>
          </a:xfrm>
        </p:grpSpPr>
        <p:sp>
          <p:nvSpPr>
            <p:cNvPr id="524" name="Rectangle"/>
            <p:cNvSpPr/>
            <p:nvPr/>
          </p:nvSpPr>
          <p:spPr>
            <a:xfrm>
              <a:off x="0" y="0"/>
              <a:ext cx="3276600" cy="3951288"/>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25" name="bool lock = FALSE;…"/>
            <p:cNvSpPr txBox="1"/>
            <p:nvPr/>
          </p:nvSpPr>
          <p:spPr>
            <a:xfrm>
              <a:off x="0" y="0"/>
              <a:ext cx="3276600" cy="3657600"/>
            </a:xfrm>
            <a:prstGeom prst="rect">
              <a:avLst/>
            </a:prstGeom>
            <a:noFill/>
            <a:ln w="12700" cap="flat">
              <a:noFill/>
              <a:miter lim="400000"/>
            </a:ln>
            <a:effectLst/>
          </p:spPr>
          <p:txBody>
            <a:bodyPr wrap="square" lIns="50800" tIns="50800" rIns="50800" bIns="50800" numCol="1" anchor="t">
              <a:spAutoFit/>
            </a:bodyPr>
            <a:lstStyle/>
            <a:p>
              <a:pPr marL="110807" marR="0">
                <a:buClr>
                  <a:srgbClr val="FF2600"/>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FF2600"/>
                  </a:solidFill>
                  <a:uFill>
                    <a:solidFill>
                      <a:srgbClr val="FF2600"/>
                    </a:solidFill>
                  </a:uFill>
                  <a:latin typeface="Courier New"/>
                  <a:ea typeface="Courier New"/>
                  <a:cs typeface="Courier New"/>
                  <a:sym typeface="Courier New"/>
                </a:defRPr>
              </a:pPr>
              <a:r>
                <a:t>bool lock = FALSE;</a:t>
              </a:r>
            </a:p>
            <a:p>
              <a:pPr marL="110807" marR="0">
                <a:buClr>
                  <a:srgbClr val="FF2600"/>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FF2600"/>
                  </a:solidFill>
                  <a:uFill>
                    <a:solidFill>
                      <a:srgbClr val="FF2600"/>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532" name="Group"/>
          <p:cNvGrpSpPr/>
          <p:nvPr/>
        </p:nvGrpSpPr>
        <p:grpSpPr>
          <a:xfrm>
            <a:off x="1219200" y="3505200"/>
            <a:ext cx="4191000" cy="1220788"/>
            <a:chOff x="0" y="0"/>
            <a:chExt cx="4191000" cy="1220787"/>
          </a:xfrm>
        </p:grpSpPr>
        <p:sp>
          <p:nvSpPr>
            <p:cNvPr id="527" name="while (lock);…"/>
            <p:cNvSpPr txBox="1"/>
            <p:nvPr/>
          </p:nvSpPr>
          <p:spPr>
            <a:xfrm>
              <a:off x="76200" y="304800"/>
              <a:ext cx="3594100" cy="8636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while (lock);</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 do nothing: loop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lock = TRUE;</a:t>
              </a:r>
            </a:p>
          </p:txBody>
        </p:sp>
        <p:sp>
          <p:nvSpPr>
            <p:cNvPr id="528" name="Line"/>
            <p:cNvSpPr/>
            <p:nvPr/>
          </p:nvSpPr>
          <p:spPr>
            <a:xfrm flipH="1">
              <a:off x="3657600" y="0"/>
              <a:ext cx="533400" cy="3048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29" name="Line"/>
            <p:cNvSpPr/>
            <p:nvPr/>
          </p:nvSpPr>
          <p:spPr>
            <a:xfrm flipH="1">
              <a:off x="3657600" y="304800"/>
              <a:ext cx="533400" cy="9144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0" name="Line"/>
            <p:cNvSpPr/>
            <p:nvPr/>
          </p:nvSpPr>
          <p:spPr>
            <a:xfrm>
              <a:off x="0" y="12192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1" name="Line"/>
            <p:cNvSpPr/>
            <p:nvPr/>
          </p:nvSpPr>
          <p:spPr>
            <a:xfrm>
              <a:off x="0" y="3048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grpSp>
        <p:nvGrpSpPr>
          <p:cNvPr id="538" name="Group"/>
          <p:cNvGrpSpPr/>
          <p:nvPr/>
        </p:nvGrpSpPr>
        <p:grpSpPr>
          <a:xfrm>
            <a:off x="1219200" y="4648200"/>
            <a:ext cx="4191000" cy="1068388"/>
            <a:chOff x="0" y="0"/>
            <a:chExt cx="4191000" cy="1068387"/>
          </a:xfrm>
        </p:grpSpPr>
        <p:sp>
          <p:nvSpPr>
            <p:cNvPr id="533" name="lock = FALSE;"/>
            <p:cNvSpPr txBox="1"/>
            <p:nvPr/>
          </p:nvSpPr>
          <p:spPr>
            <a:xfrm>
              <a:off x="76200" y="685800"/>
              <a:ext cx="3594100" cy="355600"/>
            </a:xfrm>
            <a:prstGeom prst="rect">
              <a:avLst/>
            </a:prstGeom>
            <a:noFill/>
            <a:ln w="12700" cap="flat">
              <a:noFill/>
              <a:miter lim="400000"/>
            </a:ln>
            <a:effectLst/>
          </p:spPr>
          <p:txBody>
            <a:bodyPr wrap="square" lIns="50800" tIns="50800" rIns="50800" bIns="50800" numCol="1" anchor="t">
              <a:spAutoFit/>
            </a:bodyPr>
            <a:lstStyle>
              <a:lvl1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lvl1pPr>
            </a:lstStyle>
            <a:p>
              <a:r>
                <a:t>lock = FALSE;</a:t>
              </a:r>
            </a:p>
          </p:txBody>
        </p:sp>
        <p:sp>
          <p:nvSpPr>
            <p:cNvPr id="534" name="Line"/>
            <p:cNvSpPr/>
            <p:nvPr/>
          </p:nvSpPr>
          <p:spPr>
            <a:xfrm>
              <a:off x="0" y="10668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5" name="Line"/>
            <p:cNvSpPr/>
            <p:nvPr/>
          </p:nvSpPr>
          <p:spPr>
            <a:xfrm>
              <a:off x="0" y="685800"/>
              <a:ext cx="36576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6" name="Line"/>
            <p:cNvSpPr/>
            <p:nvPr/>
          </p:nvSpPr>
          <p:spPr>
            <a:xfrm flipH="1">
              <a:off x="3657600" y="228600"/>
              <a:ext cx="533400" cy="8382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37" name="Line"/>
            <p:cNvSpPr/>
            <p:nvPr/>
          </p:nvSpPr>
          <p:spPr>
            <a:xfrm flipH="1">
              <a:off x="3657600" y="0"/>
              <a:ext cx="533400" cy="6858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532"/>
                                        </p:tgtEl>
                                        <p:attrNameLst>
                                          <p:attrName>style.visibility</p:attrName>
                                        </p:attrNameLst>
                                      </p:cBhvr>
                                      <p:to>
                                        <p:strVal val="visible"/>
                                      </p:to>
                                    </p:set>
                                    <p:anim calcmode="lin" valueType="num">
                                      <p:cBhvr>
                                        <p:cTn id="7" dur="500" fill="hold"/>
                                        <p:tgtEl>
                                          <p:spTgt spid="532"/>
                                        </p:tgtEl>
                                        <p:attrNameLst>
                                          <p:attrName>ppt_w</p:attrName>
                                        </p:attrNameLst>
                                      </p:cBhvr>
                                      <p:tavLst>
                                        <p:tav tm="0">
                                          <p:val>
                                            <p:fltVal val="0"/>
                                          </p:val>
                                        </p:tav>
                                        <p:tav tm="100000">
                                          <p:val>
                                            <p:strVal val="#ppt_w"/>
                                          </p:val>
                                        </p:tav>
                                      </p:tavLst>
                                    </p:anim>
                                    <p:anim calcmode="lin" valueType="num">
                                      <p:cBhvr>
                                        <p:cTn id="8" dur="500" fill="hold"/>
                                        <p:tgtEl>
                                          <p:spTgt spid="53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538"/>
                                        </p:tgtEl>
                                        <p:attrNameLst>
                                          <p:attrName>style.visibility</p:attrName>
                                        </p:attrNameLst>
                                      </p:cBhvr>
                                      <p:to>
                                        <p:strVal val="visible"/>
                                      </p:to>
                                    </p:set>
                                    <p:anim calcmode="lin" valueType="num">
                                      <p:cBhvr>
                                        <p:cTn id="13" dur="500" fill="hold"/>
                                        <p:tgtEl>
                                          <p:spTgt spid="538"/>
                                        </p:tgtEl>
                                        <p:attrNameLst>
                                          <p:attrName>ppt_w</p:attrName>
                                        </p:attrNameLst>
                                      </p:cBhvr>
                                      <p:tavLst>
                                        <p:tav tm="0">
                                          <p:val>
                                            <p:fltVal val="0"/>
                                          </p:val>
                                        </p:tav>
                                        <p:tav tm="100000">
                                          <p:val>
                                            <p:strVal val="#ppt_w"/>
                                          </p:val>
                                        </p:tav>
                                      </p:tavLst>
                                    </p:anim>
                                    <p:anim calcmode="lin" valueType="num">
                                      <p:cBhvr>
                                        <p:cTn id="14" dur="500" fill="hold"/>
                                        <p:tgtEl>
                                          <p:spTgt spid="5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 grpId="0" animBg="1" advAuto="0"/>
      <p:bldP spid="538" grpId="0" animBg="1" advAuto="0"/>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40" name="Mutual Exclusion"/>
          <p:cNvSpPr txBox="1">
            <a:spLocks noGrp="1"/>
          </p:cNvSpPr>
          <p:nvPr>
            <p:ph type="title"/>
          </p:nvPr>
        </p:nvSpPr>
        <p:spPr>
          <a:prstGeom prst="rect">
            <a:avLst/>
          </a:prstGeom>
        </p:spPr>
        <p:txBody>
          <a:bodyPr/>
          <a:lstStyle/>
          <a:p>
            <a:r>
              <a:t>Mutual Exclusion</a:t>
            </a:r>
          </a:p>
        </p:txBody>
      </p:sp>
      <p:sp>
        <p:nvSpPr>
          <p:cNvPr id="54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30</a:t>
            </a:fld>
            <a:endParaRPr/>
          </a:p>
        </p:txBody>
      </p:sp>
      <p:sp>
        <p:nvSpPr>
          <p:cNvPr id="542" name="Implementation 2 — simple lock variable  "/>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grpSp>
        <p:nvGrpSpPr>
          <p:cNvPr id="609" name="Group"/>
          <p:cNvGrpSpPr/>
          <p:nvPr/>
        </p:nvGrpSpPr>
        <p:grpSpPr>
          <a:xfrm>
            <a:off x="472394" y="1640339"/>
            <a:ext cx="8028486" cy="1919724"/>
            <a:chOff x="0" y="0"/>
            <a:chExt cx="8028484" cy="1919724"/>
          </a:xfrm>
        </p:grpSpPr>
        <p:grpSp>
          <p:nvGrpSpPr>
            <p:cNvPr id="546" name="Group"/>
            <p:cNvGrpSpPr/>
            <p:nvPr/>
          </p:nvGrpSpPr>
          <p:grpSpPr>
            <a:xfrm>
              <a:off x="0" y="304800"/>
              <a:ext cx="4127500" cy="1219201"/>
              <a:chOff x="0" y="0"/>
              <a:chExt cx="4127500" cy="1219200"/>
            </a:xfrm>
          </p:grpSpPr>
          <p:sp>
            <p:nvSpPr>
              <p:cNvPr id="544" name="Rectangle"/>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p:cNvSpPr txBox="1"/>
              <p:nvPr/>
            </p:nvSpPr>
            <p:spPr>
              <a:xfrm>
                <a:off x="0" y="0"/>
                <a:ext cx="4127500" cy="1210587"/>
              </a:xfrm>
              <a:prstGeom prst="rect">
                <a:avLst/>
              </a:prstGeom>
              <a:noFill/>
              <a:ln w="12700" cap="flat">
                <a:noFill/>
                <a:miter lim="400000"/>
              </a:ln>
              <a:effec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p:txBody>
          </p:sp>
        </p:grpSp>
        <p:sp>
          <p:nvSpPr>
            <p:cNvPr id="547" name="Line"/>
            <p:cNvSpPr/>
            <p:nvPr/>
          </p:nvSpPr>
          <p:spPr>
            <a:xfrm>
              <a:off x="3352800" y="0"/>
              <a:ext cx="28956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608" name="Group"/>
            <p:cNvGrpSpPr/>
            <p:nvPr/>
          </p:nvGrpSpPr>
          <p:grpSpPr>
            <a:xfrm>
              <a:off x="4059554" y="109536"/>
              <a:ext cx="3968930" cy="1810188"/>
              <a:chOff x="0" y="-43043"/>
              <a:chExt cx="3968929" cy="1810187"/>
            </a:xfrm>
          </p:grpSpPr>
          <p:sp>
            <p:nvSpPr>
              <p:cNvPr id="549" name="Line"/>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57" name="pedblue.jpg" descr="pedblue.jpg"/>
              <p:cNvPicPr/>
              <p:nvPr/>
            </p:nvPicPr>
            <p:blipFill>
              <a:blip r:embed="rId2"/>
              <a:stretch>
                <a:fillRect/>
              </a:stretch>
            </p:blipFill>
            <p:spPr>
              <a:xfrm>
                <a:off x="2393810" y="-43043"/>
                <a:ext cx="274638" cy="461963"/>
              </a:xfrm>
              <a:prstGeom prst="rect">
                <a:avLst/>
              </a:prstGeom>
              <a:ln w="12700" cap="flat">
                <a:noFill/>
                <a:miter lim="400000"/>
              </a:ln>
              <a:effectLst/>
            </p:spPr>
          </p:pic>
          <p:sp>
            <p:nvSpPr>
              <p:cNvPr id="558" name="Rectangle"/>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p:cNvGrpSpPr/>
              <p:nvPr/>
            </p:nvGrpSpPr>
            <p:grpSpPr>
              <a:xfrm>
                <a:off x="2112645" y="371482"/>
                <a:ext cx="1856284" cy="914401"/>
                <a:chOff x="0" y="219262"/>
                <a:chExt cx="1856283" cy="914400"/>
              </a:xfrm>
            </p:grpSpPr>
            <p:sp>
              <p:nvSpPr>
                <p:cNvPr id="559" name="Rectangle"/>
                <p:cNvSpPr/>
                <p:nvPr/>
              </p:nvSpPr>
              <p:spPr>
                <a:xfrm>
                  <a:off x="27483" y="219262"/>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p:cNvPicPr/>
              <p:nvPr/>
            </p:nvPicPr>
            <p:blipFill>
              <a:blip r:embed="rId3"/>
              <a:stretch>
                <a:fillRect/>
              </a:stretch>
            </p:blipFill>
            <p:spPr>
              <a:xfrm>
                <a:off x="2480918" y="624315"/>
                <a:ext cx="265113" cy="446088"/>
              </a:xfrm>
              <a:prstGeom prst="rect">
                <a:avLst/>
              </a:prstGeom>
              <a:ln w="12700" cap="flat">
                <a:noFill/>
                <a:miter lim="400000"/>
              </a:ln>
              <a:effectLst/>
            </p:spPr>
          </p:pic>
          <p:sp>
            <p:nvSpPr>
              <p:cNvPr id="566" name="B"/>
              <p:cNvSpPr txBox="1"/>
              <p:nvPr/>
            </p:nvSpPr>
            <p:spPr>
              <a:xfrm>
                <a:off x="0" y="533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p:cNvSpPr txBox="1"/>
              <p:nvPr/>
            </p:nvSpPr>
            <p:spPr>
              <a:xfrm>
                <a:off x="0" y="152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9" name="A"/>
              <p:cNvSpPr txBox="1"/>
              <p:nvPr/>
            </p:nvSpPr>
            <p:spPr>
              <a:xfrm>
                <a:off x="68481" y="1295220"/>
                <a:ext cx="184666" cy="471924"/>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endParaRPr dirty="0"/>
              </a:p>
            </p:txBody>
          </p:sp>
          <p:grpSp>
            <p:nvGrpSpPr>
              <p:cNvPr id="577" name="Group"/>
              <p:cNvGrpSpPr/>
              <p:nvPr/>
            </p:nvGrpSpPr>
            <p:grpSpPr>
              <a:xfrm>
                <a:off x="2036987" y="0"/>
                <a:ext cx="151858" cy="229722"/>
                <a:chOff x="0" y="0"/>
                <a:chExt cx="151856" cy="229721"/>
              </a:xfrm>
            </p:grpSpPr>
            <p:sp>
              <p:nvSpPr>
                <p:cNvPr id="57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pic>
        <p:nvPicPr>
          <p:cNvPr id="3" name="Picture 2" descr="A computer code on a white background&#10;&#10;AI-generated content may be incorrect.">
            <a:extLst>
              <a:ext uri="{FF2B5EF4-FFF2-40B4-BE49-F238E27FC236}">
                <a16:creationId xmlns:a16="http://schemas.microsoft.com/office/drawing/2014/main" id="{E4A600E7-D806-3B9B-C5DA-87B4295053DC}"/>
              </a:ext>
            </a:extLst>
          </p:cNvPr>
          <p:cNvPicPr>
            <a:picLocks noChangeAspect="1"/>
          </p:cNvPicPr>
          <p:nvPr/>
        </p:nvPicPr>
        <p:blipFill>
          <a:blip r:embed="rId4"/>
          <a:stretch>
            <a:fillRect/>
          </a:stretch>
        </p:blipFill>
        <p:spPr>
          <a:xfrm>
            <a:off x="-1016059" y="3257799"/>
            <a:ext cx="5588059" cy="3352835"/>
          </a:xfrm>
          <a:prstGeom prst="rect">
            <a:avLst/>
          </a:prstGeom>
        </p:spPr>
      </p:pic>
      <p:pic>
        <p:nvPicPr>
          <p:cNvPr id="4" name="Picture 3" descr="A computer code on a white background&#10;&#10;AI-generated content may be incorrect.">
            <a:extLst>
              <a:ext uri="{FF2B5EF4-FFF2-40B4-BE49-F238E27FC236}">
                <a16:creationId xmlns:a16="http://schemas.microsoft.com/office/drawing/2014/main" id="{97EF1816-4409-63E4-EAE9-F341402BFE05}"/>
              </a:ext>
            </a:extLst>
          </p:cNvPr>
          <p:cNvPicPr>
            <a:picLocks noChangeAspect="1"/>
          </p:cNvPicPr>
          <p:nvPr/>
        </p:nvPicPr>
        <p:blipFill>
          <a:blip r:embed="rId4"/>
          <a:stretch>
            <a:fillRect/>
          </a:stretch>
        </p:blipFill>
        <p:spPr>
          <a:xfrm>
            <a:off x="4704504" y="3429000"/>
            <a:ext cx="5281556" cy="31689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40" name="Mutual Exclusion"/>
          <p:cNvSpPr txBox="1">
            <a:spLocks noGrp="1"/>
          </p:cNvSpPr>
          <p:nvPr>
            <p:ph type="title"/>
          </p:nvPr>
        </p:nvSpPr>
        <p:spPr>
          <a:prstGeom prst="rect">
            <a:avLst/>
          </a:prstGeom>
        </p:spPr>
        <p:txBody>
          <a:bodyPr/>
          <a:lstStyle/>
          <a:p>
            <a:r>
              <a:t>Mutual Exclusion</a:t>
            </a:r>
          </a:p>
        </p:txBody>
      </p:sp>
      <p:sp>
        <p:nvSpPr>
          <p:cNvPr id="54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31</a:t>
            </a:fld>
            <a:endParaRPr/>
          </a:p>
        </p:txBody>
      </p:sp>
      <p:sp>
        <p:nvSpPr>
          <p:cNvPr id="542" name="Implementation 2 — simple lock variable  "/>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grpSp>
        <p:nvGrpSpPr>
          <p:cNvPr id="609" name="Group"/>
          <p:cNvGrpSpPr/>
          <p:nvPr/>
        </p:nvGrpSpPr>
        <p:grpSpPr>
          <a:xfrm>
            <a:off x="457199" y="1600200"/>
            <a:ext cx="8013703" cy="4648203"/>
            <a:chOff x="0" y="0"/>
            <a:chExt cx="8013701" cy="4648202"/>
          </a:xfrm>
        </p:grpSpPr>
        <p:grpSp>
          <p:nvGrpSpPr>
            <p:cNvPr id="546" name="Group"/>
            <p:cNvGrpSpPr/>
            <p:nvPr/>
          </p:nvGrpSpPr>
          <p:grpSpPr>
            <a:xfrm>
              <a:off x="0" y="304800"/>
              <a:ext cx="4127500" cy="2471479"/>
              <a:chOff x="0" y="0"/>
              <a:chExt cx="4127500" cy="2471478"/>
            </a:xfrm>
          </p:grpSpPr>
          <p:sp>
            <p:nvSpPr>
              <p:cNvPr id="543" name="Rectangle"/>
              <p:cNvSpPr/>
              <p:nvPr/>
            </p:nvSpPr>
            <p:spPr>
              <a:xfrm>
                <a:off x="381000" y="1219200"/>
                <a:ext cx="3629342" cy="1252278"/>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4" name="Rectangle"/>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p:cNvSpPr txBox="1"/>
              <p:nvPr/>
            </p:nvSpPr>
            <p:spPr>
              <a:xfrm>
                <a:off x="0" y="0"/>
                <a:ext cx="4127500" cy="2369878"/>
              </a:xfrm>
              <a:prstGeom prst="rect">
                <a:avLst/>
              </a:prstGeom>
              <a:noFill/>
              <a:ln w="12700" cap="flat">
                <a:noFill/>
                <a:miter lim="400000"/>
              </a:ln>
              <a:effec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1.1	but before A can set the lock to 1, B reaches CR and finds the lock is 0, too</a:t>
                </a:r>
              </a:p>
            </p:txBody>
          </p:sp>
        </p:grpSp>
        <p:sp>
          <p:nvSpPr>
            <p:cNvPr id="547" name="Line"/>
            <p:cNvSpPr/>
            <p:nvPr/>
          </p:nvSpPr>
          <p:spPr>
            <a:xfrm>
              <a:off x="3352800" y="0"/>
              <a:ext cx="28956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608" name="Group"/>
            <p:cNvGrpSpPr/>
            <p:nvPr/>
          </p:nvGrpSpPr>
          <p:grpSpPr>
            <a:xfrm>
              <a:off x="4059554" y="152579"/>
              <a:ext cx="3954147" cy="4495623"/>
              <a:chOff x="0" y="0"/>
              <a:chExt cx="3954146" cy="4495621"/>
            </a:xfrm>
          </p:grpSpPr>
          <p:sp>
            <p:nvSpPr>
              <p:cNvPr id="549" name="Line"/>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1" name="Line"/>
              <p:cNvSpPr/>
              <p:nvPr/>
            </p:nvSpPr>
            <p:spPr>
              <a:xfrm>
                <a:off x="283845" y="1523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2" name="Line"/>
              <p:cNvSpPr/>
              <p:nvPr/>
            </p:nvSpPr>
            <p:spPr>
              <a:xfrm>
                <a:off x="283845" y="1904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57" name="pedblue.jpg" descr="pedblue.jpg"/>
              <p:cNvPicPr/>
              <p:nvPr/>
            </p:nvPicPr>
            <p:blipFill>
              <a:blip r:embed="rId2"/>
              <a:stretch>
                <a:fillRect/>
              </a:stretch>
            </p:blipFill>
            <p:spPr>
              <a:xfrm>
                <a:off x="1807845" y="152220"/>
                <a:ext cx="274638" cy="461963"/>
              </a:xfrm>
              <a:prstGeom prst="rect">
                <a:avLst/>
              </a:prstGeom>
              <a:ln w="12700" cap="flat">
                <a:noFill/>
                <a:miter lim="400000"/>
              </a:ln>
              <a:effectLst/>
            </p:spPr>
          </p:pic>
          <p:sp>
            <p:nvSpPr>
              <p:cNvPr id="558" name="Rectangle"/>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p:cNvGrpSpPr/>
              <p:nvPr/>
            </p:nvGrpSpPr>
            <p:grpSpPr>
              <a:xfrm>
                <a:off x="2112645" y="152220"/>
                <a:ext cx="1828801" cy="914401"/>
                <a:chOff x="0" y="0"/>
                <a:chExt cx="1828800" cy="914400"/>
              </a:xfrm>
            </p:grpSpPr>
            <p:sp>
              <p:nvSpPr>
                <p:cNvPr id="559"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p:cNvPicPr/>
              <p:nvPr/>
            </p:nvPicPr>
            <p:blipFill>
              <a:blip r:embed="rId3"/>
              <a:stretch>
                <a:fillRect/>
              </a:stretch>
            </p:blipFill>
            <p:spPr>
              <a:xfrm>
                <a:off x="1045845" y="609420"/>
                <a:ext cx="265113" cy="446088"/>
              </a:xfrm>
              <a:prstGeom prst="rect">
                <a:avLst/>
              </a:prstGeom>
              <a:ln w="12700" cap="flat">
                <a:noFill/>
                <a:miter lim="400000"/>
              </a:ln>
              <a:effectLst/>
            </p:spPr>
          </p:pic>
          <p:sp>
            <p:nvSpPr>
              <p:cNvPr id="566" name="B"/>
              <p:cNvSpPr txBox="1"/>
              <p:nvPr/>
            </p:nvSpPr>
            <p:spPr>
              <a:xfrm>
                <a:off x="0" y="533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p:cNvSpPr txBox="1"/>
              <p:nvPr/>
            </p:nvSpPr>
            <p:spPr>
              <a:xfrm>
                <a:off x="0" y="152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8" name="B"/>
              <p:cNvSpPr txBox="1"/>
              <p:nvPr/>
            </p:nvSpPr>
            <p:spPr>
              <a:xfrm>
                <a:off x="0" y="1676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9" name="A"/>
              <p:cNvSpPr txBox="1"/>
              <p:nvPr/>
            </p:nvSpPr>
            <p:spPr>
              <a:xfrm>
                <a:off x="0" y="1295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4" name="Line"/>
              <p:cNvSpPr/>
              <p:nvPr/>
            </p:nvSpPr>
            <p:spPr>
              <a:xfrm>
                <a:off x="3941445"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77" name="Group"/>
              <p:cNvGrpSpPr/>
              <p:nvPr/>
            </p:nvGrpSpPr>
            <p:grpSpPr>
              <a:xfrm>
                <a:off x="2036987" y="0"/>
                <a:ext cx="151858" cy="229722"/>
                <a:chOff x="0" y="0"/>
                <a:chExt cx="151856" cy="229721"/>
              </a:xfrm>
            </p:grpSpPr>
            <p:sp>
              <p:nvSpPr>
                <p:cNvPr id="57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pic>
            <p:nvPicPr>
              <p:cNvPr id="578" name="pedblue.jpg" descr="pedblue.jpg"/>
              <p:cNvPicPr/>
              <p:nvPr/>
            </p:nvPicPr>
            <p:blipFill>
              <a:blip r:embed="rId2"/>
              <a:stretch>
                <a:fillRect/>
              </a:stretch>
            </p:blipFill>
            <p:spPr>
              <a:xfrm>
                <a:off x="1914207" y="1295220"/>
                <a:ext cx="274639" cy="461963"/>
              </a:xfrm>
              <a:prstGeom prst="rect">
                <a:avLst/>
              </a:prstGeom>
              <a:ln w="12700" cap="flat">
                <a:noFill/>
                <a:miter lim="400000"/>
              </a:ln>
              <a:effectLst/>
            </p:spPr>
          </p:pic>
          <p:pic>
            <p:nvPicPr>
              <p:cNvPr id="579" name="pedred.jpg" descr="pedred.jpg"/>
              <p:cNvPicPr/>
              <p:nvPr/>
            </p:nvPicPr>
            <p:blipFill>
              <a:blip r:embed="rId3"/>
              <a:stretch>
                <a:fillRect/>
              </a:stretch>
            </p:blipFill>
            <p:spPr>
              <a:xfrm>
                <a:off x="1807845" y="1752420"/>
                <a:ext cx="265113" cy="446088"/>
              </a:xfrm>
              <a:prstGeom prst="rect">
                <a:avLst/>
              </a:prstGeom>
              <a:ln w="12700" cap="flat">
                <a:noFill/>
                <a:miter lim="400000"/>
              </a:ln>
              <a:effectLst/>
            </p:spPr>
          </p:pic>
          <p:grpSp>
            <p:nvGrpSpPr>
              <p:cNvPr id="583" name="Group"/>
              <p:cNvGrpSpPr/>
              <p:nvPr/>
            </p:nvGrpSpPr>
            <p:grpSpPr>
              <a:xfrm>
                <a:off x="2036987" y="2286000"/>
                <a:ext cx="151858" cy="229722"/>
                <a:chOff x="0" y="0"/>
                <a:chExt cx="151856" cy="229721"/>
              </a:xfrm>
            </p:grpSpPr>
            <p:sp>
              <p:nvSpPr>
                <p:cNvPr id="58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84" name="Line"/>
              <p:cNvSpPr/>
              <p:nvPr/>
            </p:nvSpPr>
            <p:spPr>
              <a:xfrm>
                <a:off x="2112645"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0" name="Rectangle"/>
              <p:cNvSpPr/>
              <p:nvPr/>
            </p:nvSpPr>
            <p:spPr>
              <a:xfrm>
                <a:off x="2112645" y="1295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1" name="Line"/>
              <p:cNvSpPr/>
              <p:nvPr/>
            </p:nvSpPr>
            <p:spPr>
              <a:xfrm>
                <a:off x="21126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4" name="Line"/>
              <p:cNvSpPr/>
              <p:nvPr/>
            </p:nvSpPr>
            <p:spPr>
              <a:xfrm>
                <a:off x="21126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5" name="Line"/>
              <p:cNvSpPr/>
              <p:nvPr/>
            </p:nvSpPr>
            <p:spPr>
              <a:xfrm>
                <a:off x="39414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6" name="Line"/>
              <p:cNvSpPr/>
              <p:nvPr/>
            </p:nvSpPr>
            <p:spPr>
              <a:xfrm>
                <a:off x="39414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99" name="Group"/>
              <p:cNvGrpSpPr/>
              <p:nvPr/>
            </p:nvGrpSpPr>
            <p:grpSpPr>
              <a:xfrm>
                <a:off x="2036987" y="1143000"/>
                <a:ext cx="151858" cy="229722"/>
                <a:chOff x="0" y="0"/>
                <a:chExt cx="151856" cy="229721"/>
              </a:xfrm>
            </p:grpSpPr>
            <p:sp>
              <p:nvSpPr>
                <p:cNvPr id="597"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8"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602" name="Shape"/>
              <p:cNvSpPr/>
              <p:nvPr/>
            </p:nvSpPr>
            <p:spPr>
              <a:xfrm>
                <a:off x="2083576" y="2386858"/>
                <a:ext cx="56058" cy="101972"/>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Tree>
    <p:extLst>
      <p:ext uri="{BB962C8B-B14F-4D97-AF65-F5344CB8AC3E}">
        <p14:creationId xmlns:p14="http://schemas.microsoft.com/office/powerpoint/2010/main" val="447755451"/>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40" name="Mutual Exclusion"/>
          <p:cNvSpPr txBox="1">
            <a:spLocks noGrp="1"/>
          </p:cNvSpPr>
          <p:nvPr>
            <p:ph type="title"/>
          </p:nvPr>
        </p:nvSpPr>
        <p:spPr>
          <a:prstGeom prst="rect">
            <a:avLst/>
          </a:prstGeom>
        </p:spPr>
        <p:txBody>
          <a:bodyPr/>
          <a:lstStyle/>
          <a:p>
            <a:r>
              <a:t>Mutual Exclusion</a:t>
            </a:r>
          </a:p>
        </p:txBody>
      </p:sp>
      <p:sp>
        <p:nvSpPr>
          <p:cNvPr id="54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32</a:t>
            </a:fld>
            <a:endParaRPr/>
          </a:p>
        </p:txBody>
      </p:sp>
      <p:sp>
        <p:nvSpPr>
          <p:cNvPr id="542" name="Implementation 2 — simple lock variable  "/>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grpSp>
        <p:nvGrpSpPr>
          <p:cNvPr id="609" name="Group"/>
          <p:cNvGrpSpPr/>
          <p:nvPr/>
        </p:nvGrpSpPr>
        <p:grpSpPr>
          <a:xfrm>
            <a:off x="457199" y="1600200"/>
            <a:ext cx="8013703" cy="4648203"/>
            <a:chOff x="0" y="0"/>
            <a:chExt cx="8013701" cy="4648202"/>
          </a:xfrm>
        </p:grpSpPr>
        <p:grpSp>
          <p:nvGrpSpPr>
            <p:cNvPr id="546" name="Group"/>
            <p:cNvGrpSpPr/>
            <p:nvPr/>
          </p:nvGrpSpPr>
          <p:grpSpPr>
            <a:xfrm>
              <a:off x="0" y="304800"/>
              <a:ext cx="4127500" cy="3529171"/>
              <a:chOff x="0" y="0"/>
              <a:chExt cx="4127500" cy="3529169"/>
            </a:xfrm>
          </p:grpSpPr>
          <p:sp>
            <p:nvSpPr>
              <p:cNvPr id="543" name="Rectangle"/>
              <p:cNvSpPr/>
              <p:nvPr/>
            </p:nvSpPr>
            <p:spPr>
              <a:xfrm>
                <a:off x="381000" y="1219200"/>
                <a:ext cx="3670300" cy="2260409"/>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4" name="Rectangle"/>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p:cNvSpPr txBox="1"/>
              <p:nvPr/>
            </p:nvSpPr>
            <p:spPr>
              <a:xfrm>
                <a:off x="0" y="0"/>
                <a:ext cx="4127500" cy="3529169"/>
              </a:xfrm>
              <a:prstGeom prst="rect">
                <a:avLst/>
              </a:prstGeom>
              <a:noFill/>
              <a:ln w="12700" cap="flat">
                <a:noFill/>
                <a:miter lim="400000"/>
              </a:ln>
              <a:effec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1.1	but before A can set the lock to 1, B reaches CR and finds the lock is 0, too</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1.2	A sets the lock to 1 and enters CR but cannot prevent the fact that . . .</a:t>
                </a:r>
              </a:p>
            </p:txBody>
          </p:sp>
        </p:grpSp>
        <p:sp>
          <p:nvSpPr>
            <p:cNvPr id="547" name="Line"/>
            <p:cNvSpPr/>
            <p:nvPr/>
          </p:nvSpPr>
          <p:spPr>
            <a:xfrm>
              <a:off x="3352800" y="0"/>
              <a:ext cx="28956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608" name="Group"/>
            <p:cNvGrpSpPr/>
            <p:nvPr/>
          </p:nvGrpSpPr>
          <p:grpSpPr>
            <a:xfrm>
              <a:off x="4059554" y="152579"/>
              <a:ext cx="3954147" cy="4495623"/>
              <a:chOff x="0" y="0"/>
              <a:chExt cx="3954146" cy="4495621"/>
            </a:xfrm>
          </p:grpSpPr>
          <p:sp>
            <p:nvSpPr>
              <p:cNvPr id="548" name="Rectangle"/>
              <p:cNvSpPr/>
              <p:nvPr/>
            </p:nvSpPr>
            <p:spPr>
              <a:xfrm>
                <a:off x="2112645" y="3581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9" name="Line"/>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1" name="Line"/>
              <p:cNvSpPr/>
              <p:nvPr/>
            </p:nvSpPr>
            <p:spPr>
              <a:xfrm>
                <a:off x="283845" y="1523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2" name="Line"/>
              <p:cNvSpPr/>
              <p:nvPr/>
            </p:nvSpPr>
            <p:spPr>
              <a:xfrm>
                <a:off x="283845" y="1904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3" name="Line"/>
              <p:cNvSpPr/>
              <p:nvPr/>
            </p:nvSpPr>
            <p:spPr>
              <a:xfrm>
                <a:off x="283845" y="2666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4" name="Line"/>
              <p:cNvSpPr/>
              <p:nvPr/>
            </p:nvSpPr>
            <p:spPr>
              <a:xfrm>
                <a:off x="283845" y="3047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57" name="pedblue.jpg" descr="pedblue.jpg"/>
              <p:cNvPicPr/>
              <p:nvPr/>
            </p:nvPicPr>
            <p:blipFill>
              <a:blip r:embed="rId2"/>
              <a:stretch>
                <a:fillRect/>
              </a:stretch>
            </p:blipFill>
            <p:spPr>
              <a:xfrm>
                <a:off x="1807845" y="152220"/>
                <a:ext cx="274638" cy="461963"/>
              </a:xfrm>
              <a:prstGeom prst="rect">
                <a:avLst/>
              </a:prstGeom>
              <a:ln w="12700" cap="flat">
                <a:noFill/>
                <a:miter lim="400000"/>
              </a:ln>
              <a:effectLst/>
            </p:spPr>
          </p:pic>
          <p:sp>
            <p:nvSpPr>
              <p:cNvPr id="558" name="Rectangle"/>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p:cNvGrpSpPr/>
              <p:nvPr/>
            </p:nvGrpSpPr>
            <p:grpSpPr>
              <a:xfrm>
                <a:off x="2112645" y="152220"/>
                <a:ext cx="1828801" cy="914401"/>
                <a:chOff x="0" y="0"/>
                <a:chExt cx="1828800" cy="914400"/>
              </a:xfrm>
            </p:grpSpPr>
            <p:sp>
              <p:nvSpPr>
                <p:cNvPr id="559"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p:cNvPicPr/>
              <p:nvPr/>
            </p:nvPicPr>
            <p:blipFill>
              <a:blip r:embed="rId3"/>
              <a:stretch>
                <a:fillRect/>
              </a:stretch>
            </p:blipFill>
            <p:spPr>
              <a:xfrm>
                <a:off x="1045845" y="609420"/>
                <a:ext cx="265113" cy="446088"/>
              </a:xfrm>
              <a:prstGeom prst="rect">
                <a:avLst/>
              </a:prstGeom>
              <a:ln w="12700" cap="flat">
                <a:noFill/>
                <a:miter lim="400000"/>
              </a:ln>
              <a:effectLst/>
            </p:spPr>
          </p:pic>
          <p:sp>
            <p:nvSpPr>
              <p:cNvPr id="566" name="B"/>
              <p:cNvSpPr txBox="1"/>
              <p:nvPr/>
            </p:nvSpPr>
            <p:spPr>
              <a:xfrm>
                <a:off x="0" y="533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p:cNvSpPr txBox="1"/>
              <p:nvPr/>
            </p:nvSpPr>
            <p:spPr>
              <a:xfrm>
                <a:off x="0" y="152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8" name="B"/>
              <p:cNvSpPr txBox="1"/>
              <p:nvPr/>
            </p:nvSpPr>
            <p:spPr>
              <a:xfrm>
                <a:off x="0" y="1676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9" name="A"/>
              <p:cNvSpPr txBox="1"/>
              <p:nvPr/>
            </p:nvSpPr>
            <p:spPr>
              <a:xfrm>
                <a:off x="0" y="1295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0" name="B"/>
              <p:cNvSpPr txBox="1"/>
              <p:nvPr/>
            </p:nvSpPr>
            <p:spPr>
              <a:xfrm>
                <a:off x="0" y="2819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71" name="A"/>
              <p:cNvSpPr txBox="1"/>
              <p:nvPr/>
            </p:nvSpPr>
            <p:spPr>
              <a:xfrm>
                <a:off x="0" y="2438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4" name="Line"/>
              <p:cNvSpPr/>
              <p:nvPr/>
            </p:nvSpPr>
            <p:spPr>
              <a:xfrm>
                <a:off x="3941445"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77" name="Group"/>
              <p:cNvGrpSpPr/>
              <p:nvPr/>
            </p:nvGrpSpPr>
            <p:grpSpPr>
              <a:xfrm>
                <a:off x="2036987" y="0"/>
                <a:ext cx="151858" cy="229722"/>
                <a:chOff x="0" y="0"/>
                <a:chExt cx="151856" cy="229721"/>
              </a:xfrm>
            </p:grpSpPr>
            <p:sp>
              <p:nvSpPr>
                <p:cNvPr id="57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pic>
            <p:nvPicPr>
              <p:cNvPr id="578" name="pedblue.jpg" descr="pedblue.jpg"/>
              <p:cNvPicPr/>
              <p:nvPr/>
            </p:nvPicPr>
            <p:blipFill>
              <a:blip r:embed="rId2"/>
              <a:stretch>
                <a:fillRect/>
              </a:stretch>
            </p:blipFill>
            <p:spPr>
              <a:xfrm>
                <a:off x="1914207" y="1295220"/>
                <a:ext cx="274639" cy="461963"/>
              </a:xfrm>
              <a:prstGeom prst="rect">
                <a:avLst/>
              </a:prstGeom>
              <a:ln w="12700" cap="flat">
                <a:noFill/>
                <a:miter lim="400000"/>
              </a:ln>
              <a:effectLst/>
            </p:spPr>
          </p:pic>
          <p:pic>
            <p:nvPicPr>
              <p:cNvPr id="579" name="pedred.jpg" descr="pedred.jpg"/>
              <p:cNvPicPr/>
              <p:nvPr/>
            </p:nvPicPr>
            <p:blipFill>
              <a:blip r:embed="rId3"/>
              <a:stretch>
                <a:fillRect/>
              </a:stretch>
            </p:blipFill>
            <p:spPr>
              <a:xfrm>
                <a:off x="1807845" y="1752420"/>
                <a:ext cx="265113" cy="446088"/>
              </a:xfrm>
              <a:prstGeom prst="rect">
                <a:avLst/>
              </a:prstGeom>
              <a:ln w="12700" cap="flat">
                <a:noFill/>
                <a:miter lim="400000"/>
              </a:ln>
              <a:effectLst/>
            </p:spPr>
          </p:pic>
          <p:pic>
            <p:nvPicPr>
              <p:cNvPr id="580" name="pedred.jpg" descr="pedred.jpg"/>
              <p:cNvPicPr/>
              <p:nvPr/>
            </p:nvPicPr>
            <p:blipFill>
              <a:blip r:embed="rId3"/>
              <a:stretch>
                <a:fillRect/>
              </a:stretch>
            </p:blipFill>
            <p:spPr>
              <a:xfrm>
                <a:off x="1923732" y="2895420"/>
                <a:ext cx="265114" cy="446088"/>
              </a:xfrm>
              <a:prstGeom prst="rect">
                <a:avLst/>
              </a:prstGeom>
              <a:ln w="12700" cap="flat">
                <a:noFill/>
                <a:miter lim="400000"/>
              </a:ln>
              <a:effectLst/>
            </p:spPr>
          </p:pic>
          <p:grpSp>
            <p:nvGrpSpPr>
              <p:cNvPr id="583" name="Group"/>
              <p:cNvGrpSpPr/>
              <p:nvPr/>
            </p:nvGrpSpPr>
            <p:grpSpPr>
              <a:xfrm>
                <a:off x="2036987" y="2286000"/>
                <a:ext cx="151858" cy="229722"/>
                <a:chOff x="0" y="0"/>
                <a:chExt cx="151856" cy="229721"/>
              </a:xfrm>
            </p:grpSpPr>
            <p:sp>
              <p:nvSpPr>
                <p:cNvPr id="58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84" name="Line"/>
              <p:cNvSpPr/>
              <p:nvPr/>
            </p:nvSpPr>
            <p:spPr>
              <a:xfrm>
                <a:off x="2112645"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89" name="Group"/>
              <p:cNvGrpSpPr/>
              <p:nvPr/>
            </p:nvGrpSpPr>
            <p:grpSpPr>
              <a:xfrm>
                <a:off x="1977707" y="3352620"/>
                <a:ext cx="269876" cy="304801"/>
                <a:chOff x="0" y="0"/>
                <a:chExt cx="269875" cy="304800"/>
              </a:xfrm>
            </p:grpSpPr>
            <p:sp>
              <p:nvSpPr>
                <p:cNvPr id="585"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7" name="Shape"/>
                <p:cNvSpPr/>
                <p:nvPr/>
              </p:nvSpPr>
              <p:spPr>
                <a:xfrm>
                  <a:off x="107456" y="177238"/>
                  <a:ext cx="56058" cy="101972"/>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90" name="Rectangle"/>
              <p:cNvSpPr/>
              <p:nvPr/>
            </p:nvSpPr>
            <p:spPr>
              <a:xfrm>
                <a:off x="2112645" y="1295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1" name="Line"/>
              <p:cNvSpPr/>
              <p:nvPr/>
            </p:nvSpPr>
            <p:spPr>
              <a:xfrm>
                <a:off x="21126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2" name="Rectangle"/>
              <p:cNvSpPr/>
              <p:nvPr/>
            </p:nvSpPr>
            <p:spPr>
              <a:xfrm>
                <a:off x="2112645" y="2438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93" name="pedbluegray.jpg" descr="pedbluegray.jpg"/>
              <p:cNvPicPr/>
              <p:nvPr/>
            </p:nvPicPr>
            <p:blipFill>
              <a:blip r:embed="rId4"/>
              <a:stretch>
                <a:fillRect/>
              </a:stretch>
            </p:blipFill>
            <p:spPr>
              <a:xfrm>
                <a:off x="2112645" y="2438220"/>
                <a:ext cx="274638" cy="461963"/>
              </a:xfrm>
              <a:prstGeom prst="rect">
                <a:avLst/>
              </a:prstGeom>
              <a:ln w="12700" cap="flat">
                <a:noFill/>
                <a:miter lim="400000"/>
              </a:ln>
              <a:effectLst/>
            </p:spPr>
          </p:pic>
          <p:sp>
            <p:nvSpPr>
              <p:cNvPr id="594" name="Line"/>
              <p:cNvSpPr/>
              <p:nvPr/>
            </p:nvSpPr>
            <p:spPr>
              <a:xfrm>
                <a:off x="21126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5" name="Line"/>
              <p:cNvSpPr/>
              <p:nvPr/>
            </p:nvSpPr>
            <p:spPr>
              <a:xfrm>
                <a:off x="39414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6" name="Line"/>
              <p:cNvSpPr/>
              <p:nvPr/>
            </p:nvSpPr>
            <p:spPr>
              <a:xfrm>
                <a:off x="39414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99" name="Group"/>
              <p:cNvGrpSpPr/>
              <p:nvPr/>
            </p:nvGrpSpPr>
            <p:grpSpPr>
              <a:xfrm>
                <a:off x="2036987" y="1143000"/>
                <a:ext cx="151858" cy="229722"/>
                <a:chOff x="0" y="0"/>
                <a:chExt cx="151856" cy="229721"/>
              </a:xfrm>
            </p:grpSpPr>
            <p:sp>
              <p:nvSpPr>
                <p:cNvPr id="597"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8"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604" name="Group"/>
              <p:cNvGrpSpPr/>
              <p:nvPr/>
            </p:nvGrpSpPr>
            <p:grpSpPr>
              <a:xfrm>
                <a:off x="1976120" y="2209620"/>
                <a:ext cx="269876" cy="306102"/>
                <a:chOff x="0" y="0"/>
                <a:chExt cx="269875" cy="306101"/>
              </a:xfrm>
            </p:grpSpPr>
            <p:sp>
              <p:nvSpPr>
                <p:cNvPr id="600"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603" name="Group"/>
                <p:cNvGrpSpPr/>
                <p:nvPr/>
              </p:nvGrpSpPr>
              <p:grpSpPr>
                <a:xfrm>
                  <a:off x="59280" y="76379"/>
                  <a:ext cx="151857" cy="229723"/>
                  <a:chOff x="0" y="0"/>
                  <a:chExt cx="151856" cy="229721"/>
                </a:xfrm>
              </p:grpSpPr>
              <p:sp>
                <p:nvSpPr>
                  <p:cNvPr id="60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0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grpSp>
    </p:spTree>
    <p:extLst>
      <p:ext uri="{BB962C8B-B14F-4D97-AF65-F5344CB8AC3E}">
        <p14:creationId xmlns:p14="http://schemas.microsoft.com/office/powerpoint/2010/main" val="3238972147"/>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540" name="Mutual Exclusion"/>
          <p:cNvSpPr txBox="1">
            <a:spLocks noGrp="1"/>
          </p:cNvSpPr>
          <p:nvPr>
            <p:ph type="title"/>
          </p:nvPr>
        </p:nvSpPr>
        <p:spPr>
          <a:prstGeom prst="rect">
            <a:avLst/>
          </a:prstGeom>
        </p:spPr>
        <p:txBody>
          <a:bodyPr/>
          <a:lstStyle/>
          <a:p>
            <a:r>
              <a:t>Mutual Exclusion</a:t>
            </a:r>
          </a:p>
        </p:txBody>
      </p:sp>
      <p:sp>
        <p:nvSpPr>
          <p:cNvPr id="54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33</a:t>
            </a:fld>
            <a:endParaRPr/>
          </a:p>
        </p:txBody>
      </p:sp>
      <p:sp>
        <p:nvSpPr>
          <p:cNvPr id="542" name="Implementation 2 — simple lock variable  "/>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grpSp>
        <p:nvGrpSpPr>
          <p:cNvPr id="609" name="Group"/>
          <p:cNvGrpSpPr/>
          <p:nvPr/>
        </p:nvGrpSpPr>
        <p:grpSpPr>
          <a:xfrm>
            <a:off x="457199" y="1600200"/>
            <a:ext cx="8013701" cy="4652963"/>
            <a:chOff x="0" y="0"/>
            <a:chExt cx="8013699" cy="4652962"/>
          </a:xfrm>
        </p:grpSpPr>
        <p:grpSp>
          <p:nvGrpSpPr>
            <p:cNvPr id="546" name="Group"/>
            <p:cNvGrpSpPr/>
            <p:nvPr/>
          </p:nvGrpSpPr>
          <p:grpSpPr>
            <a:xfrm>
              <a:off x="0" y="304800"/>
              <a:ext cx="4127500" cy="4343401"/>
              <a:chOff x="0" y="0"/>
              <a:chExt cx="4127500" cy="4343399"/>
            </a:xfrm>
          </p:grpSpPr>
          <p:sp>
            <p:nvSpPr>
              <p:cNvPr id="543" name="Rectangle"/>
              <p:cNvSpPr/>
              <p:nvPr/>
            </p:nvSpPr>
            <p:spPr>
              <a:xfrm>
                <a:off x="381000" y="1219200"/>
                <a:ext cx="3670300" cy="3124200"/>
              </a:xfrm>
              <a:prstGeom prst="rect">
                <a:avLst/>
              </a:prstGeom>
              <a:solidFill>
                <a:srgbClr val="FFBEBD"/>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4" name="Rectangle"/>
              <p:cNvSpPr/>
              <p:nvPr/>
            </p:nvSpPr>
            <p:spPr>
              <a:xfrm>
                <a:off x="381000" y="457200"/>
                <a:ext cx="3670300" cy="762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5" name="thread A reaches CR and finds a lock at 0, which means that A can enter…"/>
              <p:cNvSpPr txBox="1"/>
              <p:nvPr/>
            </p:nvSpPr>
            <p:spPr>
              <a:xfrm>
                <a:off x="0" y="0"/>
                <a:ext cx="4127500" cy="4027806"/>
              </a:xfrm>
              <a:prstGeom prst="rect">
                <a:avLst/>
              </a:prstGeom>
              <a:noFill/>
              <a:ln w="12700" cap="flat">
                <a:noFill/>
                <a:miter lim="400000"/>
              </a:ln>
              <a:effec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rPr dirty="0"/>
                  <a:t>thread A reaches CR and finds a lock at 0, which means that A can enter</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1.1	but before A can set the lock to 1, B reaches CR and finds the lock is 0, too</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1.2	A sets the lock to 1 and enters CR but cannot prevent the fact that . . .</a:t>
                </a:r>
              </a:p>
              <a:p>
                <a:pPr marL="951864" indent="-455612">
                  <a:spcBef>
                    <a:spcPts val="400"/>
                  </a:spcBef>
                  <a:buClr>
                    <a:srgbClr val="7B1142"/>
                  </a:buClr>
                  <a:buFont typeface="Arial Narrow"/>
                  <a:tabLst>
                    <a:tab pos="381000" algn="l"/>
                    <a:tab pos="952500" algn="l"/>
                    <a:tab pos="952500" algn="l"/>
                  </a:tabLst>
                  <a:defRPr sz="2400">
                    <a:solidFill>
                      <a:srgbClr val="FF2600"/>
                    </a:solidFill>
                    <a:uFill>
                      <a:solidFill>
                        <a:srgbClr val="FF2600"/>
                      </a:solidFill>
                    </a:uFill>
                    <a:latin typeface="Arial Narrow"/>
                    <a:ea typeface="Arial Narrow"/>
                    <a:cs typeface="Arial Narrow"/>
                    <a:sym typeface="Arial Narrow"/>
                  </a:defRPr>
                </a:pPr>
                <a:r>
                  <a:rPr dirty="0"/>
                  <a:t>1.3	. . . B is going to set the lock to 1 and enter CR, too</a:t>
                </a:r>
              </a:p>
            </p:txBody>
          </p:sp>
        </p:grpSp>
        <p:sp>
          <p:nvSpPr>
            <p:cNvPr id="547" name="Line"/>
            <p:cNvSpPr/>
            <p:nvPr/>
          </p:nvSpPr>
          <p:spPr>
            <a:xfrm>
              <a:off x="3352800" y="0"/>
              <a:ext cx="2895600" cy="1588"/>
            </a:xfrm>
            <a:prstGeom prst="line">
              <a:avLst/>
            </a:prstGeom>
            <a:noFill/>
            <a:ln w="12700" cap="flat">
              <a:solidFill>
                <a:srgbClr val="E6ADC8"/>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608" name="Group"/>
            <p:cNvGrpSpPr/>
            <p:nvPr/>
          </p:nvGrpSpPr>
          <p:grpSpPr>
            <a:xfrm>
              <a:off x="4059554" y="152579"/>
              <a:ext cx="3954146" cy="4500384"/>
              <a:chOff x="0" y="0"/>
              <a:chExt cx="3954145" cy="4500382"/>
            </a:xfrm>
          </p:grpSpPr>
          <p:sp>
            <p:nvSpPr>
              <p:cNvPr id="548" name="Rectangle"/>
              <p:cNvSpPr/>
              <p:nvPr/>
            </p:nvSpPr>
            <p:spPr>
              <a:xfrm>
                <a:off x="2112645" y="3581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49" name="Line"/>
              <p:cNvSpPr/>
              <p:nvPr/>
            </p:nvSpPr>
            <p:spPr>
              <a:xfrm>
                <a:off x="283845" y="38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0" name="Line"/>
              <p:cNvSpPr/>
              <p:nvPr/>
            </p:nvSpPr>
            <p:spPr>
              <a:xfrm>
                <a:off x="283845" y="761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1" name="Line"/>
              <p:cNvSpPr/>
              <p:nvPr/>
            </p:nvSpPr>
            <p:spPr>
              <a:xfrm>
                <a:off x="283845" y="1523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2" name="Line"/>
              <p:cNvSpPr/>
              <p:nvPr/>
            </p:nvSpPr>
            <p:spPr>
              <a:xfrm>
                <a:off x="283845" y="1904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3" name="Line"/>
              <p:cNvSpPr/>
              <p:nvPr/>
            </p:nvSpPr>
            <p:spPr>
              <a:xfrm>
                <a:off x="283845" y="2666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4" name="Line"/>
              <p:cNvSpPr/>
              <p:nvPr/>
            </p:nvSpPr>
            <p:spPr>
              <a:xfrm>
                <a:off x="283845" y="3047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5" name="Line"/>
              <p:cNvSpPr/>
              <p:nvPr/>
            </p:nvSpPr>
            <p:spPr>
              <a:xfrm>
                <a:off x="283845" y="3809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56" name="Line"/>
              <p:cNvSpPr/>
              <p:nvPr/>
            </p:nvSpPr>
            <p:spPr>
              <a:xfrm>
                <a:off x="283845" y="4190820"/>
                <a:ext cx="18288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57" name="pedblue.jpg" descr="pedblue.jpg"/>
              <p:cNvPicPr/>
              <p:nvPr/>
            </p:nvPicPr>
            <p:blipFill>
              <a:blip r:embed="rId2"/>
              <a:stretch>
                <a:fillRect/>
              </a:stretch>
            </p:blipFill>
            <p:spPr>
              <a:xfrm>
                <a:off x="1807845" y="152220"/>
                <a:ext cx="274638" cy="461963"/>
              </a:xfrm>
              <a:prstGeom prst="rect">
                <a:avLst/>
              </a:prstGeom>
              <a:ln w="12700" cap="flat">
                <a:noFill/>
                <a:miter lim="400000"/>
              </a:ln>
              <a:effectLst/>
            </p:spPr>
          </p:pic>
          <p:sp>
            <p:nvSpPr>
              <p:cNvPr id="558" name="Rectangle"/>
              <p:cNvSpPr/>
              <p:nvPr/>
            </p:nvSpPr>
            <p:spPr>
              <a:xfrm>
                <a:off x="1274445" y="609420"/>
                <a:ext cx="850901" cy="457201"/>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61" name="Group"/>
              <p:cNvGrpSpPr/>
              <p:nvPr/>
            </p:nvGrpSpPr>
            <p:grpSpPr>
              <a:xfrm>
                <a:off x="2112645" y="152220"/>
                <a:ext cx="1828801" cy="914401"/>
                <a:chOff x="0" y="0"/>
                <a:chExt cx="1828800" cy="914400"/>
              </a:xfrm>
            </p:grpSpPr>
            <p:sp>
              <p:nvSpPr>
                <p:cNvPr id="559"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60"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562" name="Line"/>
              <p:cNvSpPr/>
              <p:nvPr/>
            </p:nvSpPr>
            <p:spPr>
              <a:xfrm>
                <a:off x="21126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63" name="Line"/>
              <p:cNvSpPr/>
              <p:nvPr/>
            </p:nvSpPr>
            <p:spPr>
              <a:xfrm>
                <a:off x="3941445" y="152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564" name="pedred.jpg" descr="pedred.jpg"/>
              <p:cNvPicPr/>
              <p:nvPr/>
            </p:nvPicPr>
            <p:blipFill>
              <a:blip r:embed="rId3"/>
              <a:stretch>
                <a:fillRect/>
              </a:stretch>
            </p:blipFill>
            <p:spPr>
              <a:xfrm>
                <a:off x="1045845" y="609420"/>
                <a:ext cx="265113" cy="446088"/>
              </a:xfrm>
              <a:prstGeom prst="rect">
                <a:avLst/>
              </a:prstGeom>
              <a:ln w="12700" cap="flat">
                <a:noFill/>
                <a:miter lim="400000"/>
              </a:ln>
              <a:effectLst/>
            </p:spPr>
          </p:pic>
          <p:pic>
            <p:nvPicPr>
              <p:cNvPr id="565" name="pedredgray.jpg" descr="pedredgray.jpg"/>
              <p:cNvPicPr/>
              <p:nvPr/>
            </p:nvPicPr>
            <p:blipFill>
              <a:blip r:embed="rId4"/>
              <a:stretch>
                <a:fillRect/>
              </a:stretch>
            </p:blipFill>
            <p:spPr>
              <a:xfrm>
                <a:off x="2112645" y="4038420"/>
                <a:ext cx="274638" cy="461963"/>
              </a:xfrm>
              <a:prstGeom prst="rect">
                <a:avLst/>
              </a:prstGeom>
              <a:ln w="12700" cap="flat">
                <a:noFill/>
                <a:miter lim="400000"/>
              </a:ln>
              <a:effectLst/>
            </p:spPr>
          </p:pic>
          <p:sp>
            <p:nvSpPr>
              <p:cNvPr id="566" name="B"/>
              <p:cNvSpPr txBox="1"/>
              <p:nvPr/>
            </p:nvSpPr>
            <p:spPr>
              <a:xfrm>
                <a:off x="0" y="533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7" name="A"/>
              <p:cNvSpPr txBox="1"/>
              <p:nvPr/>
            </p:nvSpPr>
            <p:spPr>
              <a:xfrm>
                <a:off x="0" y="152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68" name="B"/>
              <p:cNvSpPr txBox="1"/>
              <p:nvPr/>
            </p:nvSpPr>
            <p:spPr>
              <a:xfrm>
                <a:off x="0" y="1676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69" name="A"/>
              <p:cNvSpPr txBox="1"/>
              <p:nvPr/>
            </p:nvSpPr>
            <p:spPr>
              <a:xfrm>
                <a:off x="0" y="1295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0" name="B"/>
              <p:cNvSpPr txBox="1"/>
              <p:nvPr/>
            </p:nvSpPr>
            <p:spPr>
              <a:xfrm>
                <a:off x="0" y="2819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71" name="A"/>
              <p:cNvSpPr txBox="1"/>
              <p:nvPr/>
            </p:nvSpPr>
            <p:spPr>
              <a:xfrm>
                <a:off x="0" y="2438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2" name="B"/>
              <p:cNvSpPr txBox="1"/>
              <p:nvPr/>
            </p:nvSpPr>
            <p:spPr>
              <a:xfrm>
                <a:off x="0" y="3962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573" name="A"/>
              <p:cNvSpPr txBox="1"/>
              <p:nvPr/>
            </p:nvSpPr>
            <p:spPr>
              <a:xfrm>
                <a:off x="0" y="3581220"/>
                <a:ext cx="321628" cy="444501"/>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574" name="Line"/>
              <p:cNvSpPr/>
              <p:nvPr/>
            </p:nvSpPr>
            <p:spPr>
              <a:xfrm>
                <a:off x="3941445" y="3581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77" name="Group"/>
              <p:cNvGrpSpPr/>
              <p:nvPr/>
            </p:nvGrpSpPr>
            <p:grpSpPr>
              <a:xfrm>
                <a:off x="2036987" y="0"/>
                <a:ext cx="151858" cy="229722"/>
                <a:chOff x="0" y="0"/>
                <a:chExt cx="151856" cy="229721"/>
              </a:xfrm>
            </p:grpSpPr>
            <p:sp>
              <p:nvSpPr>
                <p:cNvPr id="57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7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pic>
            <p:nvPicPr>
              <p:cNvPr id="578" name="pedblue.jpg" descr="pedblue.jpg"/>
              <p:cNvPicPr/>
              <p:nvPr/>
            </p:nvPicPr>
            <p:blipFill>
              <a:blip r:embed="rId2"/>
              <a:stretch>
                <a:fillRect/>
              </a:stretch>
            </p:blipFill>
            <p:spPr>
              <a:xfrm>
                <a:off x="1914207" y="1295220"/>
                <a:ext cx="274639" cy="461963"/>
              </a:xfrm>
              <a:prstGeom prst="rect">
                <a:avLst/>
              </a:prstGeom>
              <a:ln w="12700" cap="flat">
                <a:noFill/>
                <a:miter lim="400000"/>
              </a:ln>
              <a:effectLst/>
            </p:spPr>
          </p:pic>
          <p:pic>
            <p:nvPicPr>
              <p:cNvPr id="579" name="pedred.jpg" descr="pedred.jpg"/>
              <p:cNvPicPr/>
              <p:nvPr/>
            </p:nvPicPr>
            <p:blipFill>
              <a:blip r:embed="rId3"/>
              <a:stretch>
                <a:fillRect/>
              </a:stretch>
            </p:blipFill>
            <p:spPr>
              <a:xfrm>
                <a:off x="1807845" y="1752420"/>
                <a:ext cx="265113" cy="446088"/>
              </a:xfrm>
              <a:prstGeom prst="rect">
                <a:avLst/>
              </a:prstGeom>
              <a:ln w="12700" cap="flat">
                <a:noFill/>
                <a:miter lim="400000"/>
              </a:ln>
              <a:effectLst/>
            </p:spPr>
          </p:pic>
          <p:pic>
            <p:nvPicPr>
              <p:cNvPr id="580" name="pedred.jpg" descr="pedred.jpg"/>
              <p:cNvPicPr/>
              <p:nvPr/>
            </p:nvPicPr>
            <p:blipFill>
              <a:blip r:embed="rId3"/>
              <a:stretch>
                <a:fillRect/>
              </a:stretch>
            </p:blipFill>
            <p:spPr>
              <a:xfrm>
                <a:off x="1923732" y="2895420"/>
                <a:ext cx="265114" cy="446088"/>
              </a:xfrm>
              <a:prstGeom prst="rect">
                <a:avLst/>
              </a:prstGeom>
              <a:ln w="12700" cap="flat">
                <a:noFill/>
                <a:miter lim="400000"/>
              </a:ln>
              <a:effectLst/>
            </p:spPr>
          </p:pic>
          <p:grpSp>
            <p:nvGrpSpPr>
              <p:cNvPr id="583" name="Group"/>
              <p:cNvGrpSpPr/>
              <p:nvPr/>
            </p:nvGrpSpPr>
            <p:grpSpPr>
              <a:xfrm>
                <a:off x="2036987" y="2286000"/>
                <a:ext cx="151858" cy="229722"/>
                <a:chOff x="0" y="0"/>
                <a:chExt cx="151856" cy="229721"/>
              </a:xfrm>
            </p:grpSpPr>
            <p:sp>
              <p:nvSpPr>
                <p:cNvPr id="58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584" name="Line"/>
              <p:cNvSpPr/>
              <p:nvPr/>
            </p:nvSpPr>
            <p:spPr>
              <a:xfrm>
                <a:off x="2112645" y="3581220"/>
                <a:ext cx="1588" cy="914401"/>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89" name="Group"/>
              <p:cNvGrpSpPr/>
              <p:nvPr/>
            </p:nvGrpSpPr>
            <p:grpSpPr>
              <a:xfrm>
                <a:off x="1977707" y="3352620"/>
                <a:ext cx="269876" cy="306102"/>
                <a:chOff x="0" y="0"/>
                <a:chExt cx="269875" cy="306101"/>
              </a:xfrm>
            </p:grpSpPr>
            <p:sp>
              <p:nvSpPr>
                <p:cNvPr id="585"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588" name="Group"/>
                <p:cNvGrpSpPr/>
                <p:nvPr/>
              </p:nvGrpSpPr>
              <p:grpSpPr>
                <a:xfrm>
                  <a:off x="59280" y="76379"/>
                  <a:ext cx="151857" cy="229723"/>
                  <a:chOff x="0" y="0"/>
                  <a:chExt cx="151856" cy="229721"/>
                </a:xfrm>
              </p:grpSpPr>
              <p:sp>
                <p:nvSpPr>
                  <p:cNvPr id="586"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87"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
            <p:nvSpPr>
              <p:cNvPr id="590" name="Rectangle"/>
              <p:cNvSpPr/>
              <p:nvPr/>
            </p:nvSpPr>
            <p:spPr>
              <a:xfrm>
                <a:off x="2112645" y="1295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1" name="Line"/>
              <p:cNvSpPr/>
              <p:nvPr/>
            </p:nvSpPr>
            <p:spPr>
              <a:xfrm>
                <a:off x="21126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2" name="Rectangle"/>
              <p:cNvSpPr/>
              <p:nvPr/>
            </p:nvSpPr>
            <p:spPr>
              <a:xfrm>
                <a:off x="2112645" y="2438220"/>
                <a:ext cx="1841501" cy="914401"/>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593" name="pedbluegray.jpg" descr="pedbluegray.jpg"/>
              <p:cNvPicPr/>
              <p:nvPr/>
            </p:nvPicPr>
            <p:blipFill>
              <a:blip r:embed="rId5"/>
              <a:stretch>
                <a:fillRect/>
              </a:stretch>
            </p:blipFill>
            <p:spPr>
              <a:xfrm>
                <a:off x="2112645" y="2438220"/>
                <a:ext cx="274638" cy="461963"/>
              </a:xfrm>
              <a:prstGeom prst="rect">
                <a:avLst/>
              </a:prstGeom>
              <a:ln w="12700" cap="flat">
                <a:noFill/>
                <a:miter lim="400000"/>
              </a:ln>
              <a:effectLst/>
            </p:spPr>
          </p:pic>
          <p:sp>
            <p:nvSpPr>
              <p:cNvPr id="594" name="Line"/>
              <p:cNvSpPr/>
              <p:nvPr/>
            </p:nvSpPr>
            <p:spPr>
              <a:xfrm>
                <a:off x="21126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5" name="Line"/>
              <p:cNvSpPr/>
              <p:nvPr/>
            </p:nvSpPr>
            <p:spPr>
              <a:xfrm>
                <a:off x="3941445" y="2438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596" name="Line"/>
              <p:cNvSpPr/>
              <p:nvPr/>
            </p:nvSpPr>
            <p:spPr>
              <a:xfrm>
                <a:off x="3941445" y="1295220"/>
                <a:ext cx="1588" cy="914401"/>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599" name="Group"/>
              <p:cNvGrpSpPr/>
              <p:nvPr/>
            </p:nvGrpSpPr>
            <p:grpSpPr>
              <a:xfrm>
                <a:off x="2036987" y="1143000"/>
                <a:ext cx="151858" cy="229722"/>
                <a:chOff x="0" y="0"/>
                <a:chExt cx="151856" cy="229721"/>
              </a:xfrm>
            </p:grpSpPr>
            <p:sp>
              <p:nvSpPr>
                <p:cNvPr id="597"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598"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604" name="Group"/>
              <p:cNvGrpSpPr/>
              <p:nvPr/>
            </p:nvGrpSpPr>
            <p:grpSpPr>
              <a:xfrm>
                <a:off x="1976120" y="2209620"/>
                <a:ext cx="269876" cy="306102"/>
                <a:chOff x="0" y="0"/>
                <a:chExt cx="269875" cy="306101"/>
              </a:xfrm>
            </p:grpSpPr>
            <p:sp>
              <p:nvSpPr>
                <p:cNvPr id="600"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603" name="Group"/>
                <p:cNvGrpSpPr/>
                <p:nvPr/>
              </p:nvGrpSpPr>
              <p:grpSpPr>
                <a:xfrm>
                  <a:off x="59280" y="76379"/>
                  <a:ext cx="151857" cy="229723"/>
                  <a:chOff x="0" y="0"/>
                  <a:chExt cx="151856" cy="229721"/>
                </a:xfrm>
              </p:grpSpPr>
              <p:sp>
                <p:nvSpPr>
                  <p:cNvPr id="60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0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
            <p:nvSpPr>
              <p:cNvPr id="605" name="Line"/>
              <p:cNvSpPr/>
              <p:nvPr/>
            </p:nvSpPr>
            <p:spPr>
              <a:xfrm>
                <a:off x="2112645" y="3809820"/>
                <a:ext cx="342901" cy="762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400" y="10800"/>
                      <a:pt x="4800" y="0"/>
                      <a:pt x="7200" y="0"/>
                    </a:cubicBezTo>
                    <a:cubicBezTo>
                      <a:pt x="9600" y="0"/>
                      <a:pt x="12000" y="21600"/>
                      <a:pt x="14400" y="21600"/>
                    </a:cubicBezTo>
                    <a:cubicBezTo>
                      <a:pt x="16800" y="21600"/>
                      <a:pt x="20400" y="3600"/>
                      <a:pt x="21600" y="0"/>
                    </a:cubicBezTo>
                  </a:path>
                </a:pathLst>
              </a:custGeom>
              <a:noFill/>
              <a:ln w="19050" cap="flat">
                <a:solidFill>
                  <a:srgbClr val="E6ADC8"/>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606" name="pedbluegray.jpg" descr="pedbluegray.jpg"/>
              <p:cNvPicPr/>
              <p:nvPr/>
            </p:nvPicPr>
            <p:blipFill>
              <a:blip r:embed="rId5"/>
              <a:stretch>
                <a:fillRect/>
              </a:stretch>
            </p:blipFill>
            <p:spPr>
              <a:xfrm>
                <a:off x="2219007" y="3581220"/>
                <a:ext cx="274639" cy="461963"/>
              </a:xfrm>
              <a:prstGeom prst="rect">
                <a:avLst/>
              </a:prstGeom>
              <a:ln w="12700" cap="flat">
                <a:noFill/>
                <a:miter lim="400000"/>
              </a:ln>
              <a:effectLst/>
            </p:spPr>
          </p:pic>
          <p:pic>
            <p:nvPicPr>
              <p:cNvPr id="607" name="bombgray.jpg" descr="bombgray.jpg"/>
              <p:cNvPicPr/>
              <p:nvPr/>
            </p:nvPicPr>
            <p:blipFill>
              <a:blip r:embed="rId6"/>
              <a:stretch>
                <a:fillRect/>
              </a:stretch>
            </p:blipFill>
            <p:spPr>
              <a:xfrm>
                <a:off x="2722245" y="3733620"/>
                <a:ext cx="609601" cy="609601"/>
              </a:xfrm>
              <a:prstGeom prst="rect">
                <a:avLst/>
              </a:prstGeom>
              <a:ln w="12700" cap="flat">
                <a:noFill/>
                <a:miter lim="400000"/>
              </a:ln>
              <a:effectLst/>
            </p:spPr>
          </p:pic>
        </p:grpSp>
      </p:grpSp>
    </p:spTree>
    <p:extLst>
      <p:ext uri="{BB962C8B-B14F-4D97-AF65-F5344CB8AC3E}">
        <p14:creationId xmlns:p14="http://schemas.microsoft.com/office/powerpoint/2010/main" val="110793783"/>
      </p:ext>
    </p:extLst>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 grpId="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611" name="Mutual Exclusion"/>
          <p:cNvSpPr txBox="1">
            <a:spLocks noGrp="1"/>
          </p:cNvSpPr>
          <p:nvPr>
            <p:ph type="title"/>
          </p:nvPr>
        </p:nvSpPr>
        <p:spPr>
          <a:prstGeom prst="rect">
            <a:avLst/>
          </a:prstGeom>
        </p:spPr>
        <p:txBody>
          <a:bodyPr/>
          <a:lstStyle/>
          <a:p>
            <a:r>
              <a:t>Mutual Exclusion</a:t>
            </a:r>
          </a:p>
        </p:txBody>
      </p:sp>
      <p:sp>
        <p:nvSpPr>
          <p:cNvPr id="612"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34</a:t>
            </a:fld>
            <a:endParaRPr/>
          </a:p>
        </p:txBody>
      </p:sp>
      <p:grpSp>
        <p:nvGrpSpPr>
          <p:cNvPr id="617" name="Group"/>
          <p:cNvGrpSpPr/>
          <p:nvPr/>
        </p:nvGrpSpPr>
        <p:grpSpPr>
          <a:xfrm>
            <a:off x="5410200" y="3500437"/>
            <a:ext cx="3276600" cy="1395413"/>
            <a:chOff x="0" y="0"/>
            <a:chExt cx="3276600" cy="1395412"/>
          </a:xfrm>
        </p:grpSpPr>
        <p:grpSp>
          <p:nvGrpSpPr>
            <p:cNvPr id="615" name="Group"/>
            <p:cNvGrpSpPr/>
            <p:nvPr/>
          </p:nvGrpSpPr>
          <p:grpSpPr>
            <a:xfrm>
              <a:off x="0" y="-1"/>
              <a:ext cx="3276600" cy="1395414"/>
              <a:chOff x="0" y="0"/>
              <a:chExt cx="3276600" cy="1395412"/>
            </a:xfrm>
          </p:grpSpPr>
          <p:sp>
            <p:nvSpPr>
              <p:cNvPr id="613"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14" name="test lock,  then set lock…"/>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test lock,  then set lock</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reset lock</a:t>
                </a:r>
              </a:p>
            </p:txBody>
          </p:sp>
        </p:grpSp>
        <p:sp>
          <p:nvSpPr>
            <p:cNvPr id="616" name="Rectangle"/>
            <p:cNvSpPr/>
            <p:nvPr/>
          </p:nvSpPr>
          <p:spPr>
            <a:xfrm>
              <a:off x="1463675" y="4762"/>
              <a:ext cx="88900" cy="287338"/>
            </a:xfrm>
            <a:prstGeom prst="rect">
              <a:avLst/>
            </a:prstGeom>
            <a:solidFill>
              <a:srgbClr val="FFFFFF"/>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618" name="Rectangle"/>
          <p:cNvSpPr/>
          <p:nvPr/>
        </p:nvSpPr>
        <p:spPr>
          <a:xfrm>
            <a:off x="5410200" y="37893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19" name="Implementation 2 — simple lock variable  "/>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2</a:t>
            </a:r>
            <a:r>
              <a:rPr sz="2800" u="sng">
                <a:latin typeface="Arial Narrow"/>
                <a:ea typeface="Arial Narrow"/>
                <a:cs typeface="Arial Narrow"/>
                <a:sym typeface="Arial Narrow"/>
              </a:rPr>
              <a:t> — simple lock variable  </a:t>
            </a:r>
            <a:r>
              <a:rPr sz="2800" u="sng">
                <a:latin typeface="Wingdings"/>
                <a:ea typeface="Wingdings"/>
                <a:cs typeface="Wingdings"/>
                <a:sym typeface="Wingdings"/>
              </a:rPr>
              <a:t></a:t>
            </a:r>
          </a:p>
        </p:txBody>
      </p:sp>
      <p:sp>
        <p:nvSpPr>
          <p:cNvPr id="620" name="Rectangle"/>
          <p:cNvSpPr/>
          <p:nvPr/>
        </p:nvSpPr>
        <p:spPr>
          <a:xfrm>
            <a:off x="1371600" y="3886200"/>
            <a:ext cx="3746500" cy="304800"/>
          </a:xfrm>
          <a:prstGeom prst="rect">
            <a:avLst/>
          </a:prstGeom>
          <a:solidFill>
            <a:srgbClr val="A7A7A7"/>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21" name="suffers from the very flaw we want to avoid: a race condition…"/>
          <p:cNvSpPr txBox="1"/>
          <p:nvPr/>
        </p:nvSpPr>
        <p:spPr>
          <a:xfrm>
            <a:off x="495300" y="1968499"/>
            <a:ext cx="4889500" cy="4483101"/>
          </a:xfrm>
          <a:prstGeom prst="rect">
            <a:avLst/>
          </a:prstGeom>
          <a:ln w="12700">
            <a:miter lim="400000"/>
          </a:ln>
        </p:spPr>
        <p:txBody>
          <a:bodyPr lIns="50800" tIns="50800" rIns="50800" bIns="50800">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suffers from the very flaw we want to avoid: a race condition</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the problem comes from the small gap between testing that the lock is off and setting the lock</a:t>
            </a:r>
          </a:p>
          <a:p>
            <a:pPr marL="951864" indent="-341312">
              <a:buClr>
                <a:srgbClr val="7B1142"/>
              </a:buClr>
              <a:buFont typeface="Wingdings"/>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a:latin typeface="Arial Narrow"/>
                <a:ea typeface="Arial Narrow"/>
                <a:cs typeface="Arial Narrow"/>
                <a:sym typeface="Arial Narrow"/>
              </a:rPr>
              <a:t>	</a:t>
            </a:r>
            <a:r>
              <a:rPr sz="1600" b="1">
                <a:latin typeface="Courier New"/>
                <a:ea typeface="Courier New"/>
                <a:cs typeface="Courier New"/>
                <a:sym typeface="Courier New"/>
              </a:rPr>
              <a:t>while (lock);   lock = TRUE;</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it may happen that the other thread gets scheduled exactly in between these two actions (falls in the gap)</a:t>
            </a:r>
          </a:p>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so they both find the lock off and then they both set it and enter</a:t>
            </a:r>
          </a:p>
        </p:txBody>
      </p:sp>
      <p:sp>
        <p:nvSpPr>
          <p:cNvPr id="622" name="Rectangle"/>
          <p:cNvSpPr/>
          <p:nvPr/>
        </p:nvSpPr>
        <p:spPr>
          <a:xfrm>
            <a:off x="3200400" y="3886200"/>
            <a:ext cx="165100" cy="304800"/>
          </a:xfrm>
          <a:prstGeom prst="rect">
            <a:avLst/>
          </a:prstGeom>
          <a:solidFill>
            <a:srgbClr val="FFFFFF"/>
          </a:solidFill>
          <a:ln w="12700">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23" name="Line"/>
          <p:cNvSpPr/>
          <p:nvPr/>
        </p:nvSpPr>
        <p:spPr>
          <a:xfrm flipV="1">
            <a:off x="5105400" y="3505200"/>
            <a:ext cx="304800" cy="381000"/>
          </a:xfrm>
          <a:prstGeom prst="line">
            <a:avLst/>
          </a:prstGeom>
          <a:ln w="12700">
            <a:solidFill>
              <a:srgbClr val="7B1142"/>
            </a:solidFill>
            <a:prstDash val="dash"/>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
        <p:nvSpPr>
          <p:cNvPr id="624" name="Line"/>
          <p:cNvSpPr/>
          <p:nvPr/>
        </p:nvSpPr>
        <p:spPr>
          <a:xfrm flipV="1">
            <a:off x="5105400" y="3810000"/>
            <a:ext cx="304800" cy="381000"/>
          </a:xfrm>
          <a:prstGeom prst="line">
            <a:avLst/>
          </a:prstGeom>
          <a:ln w="12700">
            <a:solidFill>
              <a:srgbClr val="7B1142"/>
            </a:solidFill>
            <a:prstDash val="dash"/>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grpSp>
        <p:nvGrpSpPr>
          <p:cNvPr id="627" name="Group"/>
          <p:cNvGrpSpPr/>
          <p:nvPr/>
        </p:nvGrpSpPr>
        <p:grpSpPr>
          <a:xfrm>
            <a:off x="5410200" y="1819275"/>
            <a:ext cx="3276600" cy="3951288"/>
            <a:chOff x="0" y="0"/>
            <a:chExt cx="3276600" cy="3951287"/>
          </a:xfrm>
        </p:grpSpPr>
        <p:sp>
          <p:nvSpPr>
            <p:cNvPr id="625" name="Rectangle"/>
            <p:cNvSpPr/>
            <p:nvPr/>
          </p:nvSpPr>
          <p:spPr>
            <a:xfrm>
              <a:off x="0" y="0"/>
              <a:ext cx="3276600" cy="3951288"/>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26" name="bool lock = FALSE;…"/>
            <p:cNvSpPr txBox="1"/>
            <p:nvPr/>
          </p:nvSpPr>
          <p:spPr>
            <a:xfrm>
              <a:off x="0" y="0"/>
              <a:ext cx="3276600" cy="3657600"/>
            </a:xfrm>
            <a:prstGeom prst="rect">
              <a:avLst/>
            </a:prstGeom>
            <a:noFill/>
            <a:ln w="12700" cap="flat">
              <a:noFill/>
              <a:miter lim="400000"/>
            </a:ln>
            <a:effectLst/>
          </p:spPr>
          <p:txBody>
            <a:bodyPr wrap="square" lIns="50800" tIns="50800" rIns="50800" bIns="50800" numCol="1" anchor="t">
              <a:spAutoFit/>
            </a:bodyPr>
            <a:lstStyle/>
            <a:p>
              <a:pPr marL="110807" marR="0">
                <a:buClr>
                  <a:srgbClr val="FF2600"/>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FF2600"/>
                  </a:solidFill>
                  <a:uFill>
                    <a:solidFill>
                      <a:srgbClr val="FF2600"/>
                    </a:solidFill>
                  </a:uFill>
                  <a:latin typeface="Courier New"/>
                  <a:ea typeface="Courier New"/>
                  <a:cs typeface="Courier New"/>
                  <a:sym typeface="Courier New"/>
                </a:defRPr>
              </a:pPr>
              <a:r>
                <a:t>bool lock = FALSE;</a:t>
              </a:r>
            </a:p>
            <a:p>
              <a:pPr marL="110807" marR="0">
                <a:buClr>
                  <a:srgbClr val="FF2600"/>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FF2600"/>
                  </a:solidFill>
                  <a:uFill>
                    <a:solidFill>
                      <a:srgbClr val="FF2600"/>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sp>
        <p:nvSpPr>
          <p:cNvPr id="628" name="Line"/>
          <p:cNvSpPr/>
          <p:nvPr/>
        </p:nvSpPr>
        <p:spPr>
          <a:xfrm>
            <a:off x="3810000" y="1600200"/>
            <a:ext cx="2895600" cy="1588"/>
          </a:xfrm>
          <a:prstGeom prst="line">
            <a:avLst/>
          </a:prstGeom>
          <a:ln w="12700">
            <a:solidFill>
              <a:srgbClr val="E6ADC8"/>
            </a:solidFill>
          </a:ln>
        </p:spPr>
        <p:txBody>
          <a:bodyPr lIns="0" tIns="0" rIns="0" bIns="0"/>
          <a:lstStyle/>
          <a:p>
            <a:pPr marL="0" marR="0" defTabSz="457200">
              <a:defRPr sz="1200">
                <a:solidFill>
                  <a:srgbClr val="000000"/>
                </a:solidFill>
                <a:uFillTx/>
                <a:latin typeface="Helvetica"/>
                <a:ea typeface="Helvetica"/>
                <a:cs typeface="Helvetica"/>
                <a:sym typeface="Helvetica"/>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630" name="Mutual Exclusion"/>
          <p:cNvSpPr txBox="1">
            <a:spLocks noGrp="1"/>
          </p:cNvSpPr>
          <p:nvPr>
            <p:ph type="title"/>
          </p:nvPr>
        </p:nvSpPr>
        <p:spPr>
          <a:prstGeom prst="rect">
            <a:avLst/>
          </a:prstGeom>
        </p:spPr>
        <p:txBody>
          <a:bodyPr/>
          <a:lstStyle/>
          <a:p>
            <a:r>
              <a:t>Mutual Exclusion</a:t>
            </a:r>
          </a:p>
        </p:txBody>
      </p:sp>
      <p:sp>
        <p:nvSpPr>
          <p:cNvPr id="631"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35</a:t>
            </a:fld>
            <a:endParaRPr/>
          </a:p>
        </p:txBody>
      </p:sp>
      <p:grpSp>
        <p:nvGrpSpPr>
          <p:cNvPr id="634" name="Group"/>
          <p:cNvGrpSpPr/>
          <p:nvPr/>
        </p:nvGrpSpPr>
        <p:grpSpPr>
          <a:xfrm>
            <a:off x="5410200" y="3500437"/>
            <a:ext cx="3276600" cy="1395413"/>
            <a:chOff x="0" y="0"/>
            <a:chExt cx="3276600" cy="1395412"/>
          </a:xfrm>
        </p:grpSpPr>
        <p:sp>
          <p:nvSpPr>
            <p:cNvPr id="632" name="Rectangle"/>
            <p:cNvSpPr/>
            <p:nvPr/>
          </p:nvSpPr>
          <p:spPr>
            <a:xfrm>
              <a:off x="0" y="0"/>
              <a:ext cx="3276600" cy="1395413"/>
            </a:xfrm>
            <a:prstGeom prst="rect">
              <a:avLst/>
            </a:prstGeom>
            <a:solidFill>
              <a:srgbClr val="A7A7A7"/>
            </a:solidFill>
            <a:ln w="12700" cap="flat">
              <a:solidFill>
                <a:srgbClr val="7B1142"/>
              </a:solidFill>
              <a:prstDash val="dash"/>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33" name="test-and-set-lock…"/>
            <p:cNvSpPr txBox="1"/>
            <p:nvPr/>
          </p:nvSpPr>
          <p:spPr>
            <a:xfrm>
              <a:off x="0" y="0"/>
              <a:ext cx="3276600" cy="1287780"/>
            </a:xfrm>
            <a:prstGeom prst="rect">
              <a:avLst/>
            </a:prstGeom>
            <a:noFill/>
            <a:ln w="12700" cap="flat">
              <a:noFill/>
              <a:miter lim="400000"/>
            </a:ln>
            <a:effectLst/>
          </p:spPr>
          <p:txBody>
            <a:bodyPr wrap="square" lIns="0" tIns="0" rIns="0" bIns="0" numCol="1" anchor="t">
              <a:spAutoFit/>
            </a:bodyPr>
            <a:lstStyle/>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test-and-set-lock</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r>
                <a:t> </a:t>
              </a:r>
            </a:p>
            <a:p>
              <a:pPr marL="91439" marR="91439">
                <a:spcBef>
                  <a:spcPts val="400"/>
                </a:spcBef>
                <a:buClr>
                  <a:srgbClr val="7B1142"/>
                </a:buClr>
                <a:buFont typeface="Wingdings"/>
                <a:defRPr sz="2000" i="1">
                  <a:solidFill>
                    <a:srgbClr val="7B1142"/>
                  </a:solidFill>
                  <a:uFill>
                    <a:solidFill>
                      <a:srgbClr val="7B1142"/>
                    </a:solidFill>
                  </a:uFill>
                  <a:latin typeface="Arial Narrow"/>
                  <a:ea typeface="Arial Narrow"/>
                  <a:cs typeface="Arial Narrow"/>
                  <a:sym typeface="Arial Narrow"/>
                </a:defRPr>
              </a:pPr>
              <a:endParaRPr/>
            </a:p>
            <a:p>
              <a:pPr marL="91439" marR="91439">
                <a:spcBef>
                  <a:spcPts val="400"/>
                </a:spcBef>
                <a:buClr>
                  <a:srgbClr val="FF2600"/>
                </a:buClr>
                <a:buFont typeface="Wingdings"/>
                <a:defRPr i="1">
                  <a:solidFill>
                    <a:srgbClr val="FF2600"/>
                  </a:solidFill>
                  <a:uFill>
                    <a:solidFill>
                      <a:srgbClr val="FF2600"/>
                    </a:solidFill>
                  </a:uFill>
                  <a:latin typeface="Arial Narrow"/>
                  <a:ea typeface="Arial Narrow"/>
                  <a:cs typeface="Arial Narrow"/>
                  <a:sym typeface="Arial Narrow"/>
                </a:defRPr>
              </a:pPr>
              <a:r>
                <a:t>            set lock off</a:t>
              </a:r>
            </a:p>
          </p:txBody>
        </p:sp>
      </p:grpSp>
      <p:sp>
        <p:nvSpPr>
          <p:cNvPr id="635" name="Rectangle"/>
          <p:cNvSpPr/>
          <p:nvPr/>
        </p:nvSpPr>
        <p:spPr>
          <a:xfrm>
            <a:off x="5410200" y="3789362"/>
            <a:ext cx="3289300" cy="838201"/>
          </a:xfrm>
          <a:prstGeom prst="rect">
            <a:avLst/>
          </a:prstGeom>
          <a:solidFill>
            <a:srgbClr val="E9E9E9"/>
          </a:solidFill>
          <a:ln w="12700">
            <a:solidFill>
              <a:srgbClr val="7B1142"/>
            </a:solidFill>
            <a:prstDash val="dash"/>
            <a:miter lim="400000"/>
          </a:ln>
        </p:spPr>
        <p:txBody>
          <a:bodyPr lIns="50800" tIns="50800" rIns="50800" bIns="50800" anchor="ct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36" name="Implementation 3 — “indivisible” lock variable  "/>
          <p:cNvSpPr txBox="1"/>
          <p:nvPr/>
        </p:nvSpPr>
        <p:spPr>
          <a:xfrm>
            <a:off x="457200" y="12954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3</a:t>
            </a:r>
            <a:r>
              <a:rPr sz="2800" u="sng">
                <a:latin typeface="Arial Narrow"/>
                <a:ea typeface="Arial Narrow"/>
                <a:cs typeface="Arial Narrow"/>
                <a:sym typeface="Arial Narrow"/>
              </a:rPr>
              <a:t> — “indivisible” lock variable  </a:t>
            </a:r>
            <a:r>
              <a:rPr sz="2800" u="sng">
                <a:latin typeface="Wingdings"/>
                <a:ea typeface="Wingdings"/>
                <a:cs typeface="Wingdings"/>
                <a:sym typeface="Wingdings"/>
              </a:rPr>
              <a:t></a:t>
            </a:r>
          </a:p>
        </p:txBody>
      </p:sp>
      <p:sp>
        <p:nvSpPr>
          <p:cNvPr id="637" name="the indivisibility of the “test-lock-and-set-lock” operation can be implemented with the hardware instruction TSL"/>
          <p:cNvSpPr txBox="1"/>
          <p:nvPr/>
        </p:nvSpPr>
        <p:spPr>
          <a:xfrm>
            <a:off x="457200" y="1828799"/>
            <a:ext cx="4889500" cy="1511301"/>
          </a:xfrm>
          <a:prstGeom prst="rect">
            <a:avLst/>
          </a:prstGeom>
          <a:ln w="12700">
            <a:miter lim="400000"/>
          </a:ln>
        </p:spPr>
        <p:txBody>
          <a:bodyPr lIns="50800" tIns="50800" rIns="50800" bIns="50800">
            <a:spAutoFit/>
          </a:bodyPr>
          <a:lstStyle/>
          <a:p>
            <a:pPr marL="951864" indent="-341312">
              <a:spcBef>
                <a:spcPts val="600"/>
              </a:spcBef>
              <a:buClr>
                <a:srgbClr val="7B1142"/>
              </a:buClr>
              <a:buSzPct val="65000"/>
              <a:buChar char=""/>
              <a:tabLst>
                <a:tab pos="4953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a:latin typeface="Arial Narrow"/>
                <a:ea typeface="Arial Narrow"/>
                <a:cs typeface="Arial Narrow"/>
                <a:sym typeface="Arial Narrow"/>
              </a:rPr>
              <a:t>the indivisibility of the “test-lock-and-set-lock” operation can be implemented with the hardware instruction</a:t>
            </a:r>
            <a:r>
              <a:rPr b="1">
                <a:latin typeface="Courier New"/>
                <a:ea typeface="Courier New"/>
                <a:cs typeface="Courier New"/>
                <a:sym typeface="Courier New"/>
              </a:rPr>
              <a:t> TSL</a:t>
            </a:r>
          </a:p>
        </p:txBody>
      </p:sp>
      <p:grpSp>
        <p:nvGrpSpPr>
          <p:cNvPr id="640" name="Group"/>
          <p:cNvGrpSpPr/>
          <p:nvPr/>
        </p:nvGrpSpPr>
        <p:grpSpPr>
          <a:xfrm>
            <a:off x="5410200" y="2362200"/>
            <a:ext cx="3276600" cy="3408363"/>
            <a:chOff x="0" y="0"/>
            <a:chExt cx="3276600" cy="3408362"/>
          </a:xfrm>
        </p:grpSpPr>
        <p:sp>
          <p:nvSpPr>
            <p:cNvPr id="638" name="Rectangle"/>
            <p:cNvSpPr/>
            <p:nvPr/>
          </p:nvSpPr>
          <p:spPr>
            <a:xfrm>
              <a:off x="0" y="0"/>
              <a:ext cx="3276600" cy="3408363"/>
            </a:xfrm>
            <a:prstGeom prst="rect">
              <a:avLst/>
            </a:prstGeom>
            <a:noFill/>
            <a:ln w="12700"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39" name="void echo()…"/>
            <p:cNvSpPr txBox="1"/>
            <p:nvPr/>
          </p:nvSpPr>
          <p:spPr>
            <a:xfrm>
              <a:off x="0" y="0"/>
              <a:ext cx="3276600" cy="3149600"/>
            </a:xfrm>
            <a:prstGeom prst="rect">
              <a:avLst/>
            </a:prstGeom>
            <a:noFill/>
            <a:ln w="12700" cap="flat">
              <a:noFill/>
              <a:miter lim="400000"/>
            </a:ln>
            <a:effectLst/>
          </p:spPr>
          <p:txBody>
            <a:bodyPr wrap="square" lIns="50800" tIns="50800" rIns="50800" bIns="50800" numCol="1" anchor="t">
              <a:spAutoFit/>
            </a:bodyPr>
            <a:lstStyle/>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void echo()</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char chin, 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sz="2400">
                  <a:solidFill>
                    <a:srgbClr val="7B1142"/>
                  </a:solidFill>
                  <a:uFill>
                    <a:solidFill>
                      <a:srgbClr val="7B1142"/>
                    </a:solidFill>
                  </a:uFill>
                  <a:latin typeface="Times New Roman"/>
                  <a:ea typeface="Times New Roman"/>
                  <a:cs typeface="Times New Roman"/>
                  <a:sym typeface="Times New Roman"/>
                </a:defRPr>
              </a:pPr>
              <a:r>
                <a:rPr sz="1200" b="1">
                  <a:latin typeface="Courier New"/>
                  <a:ea typeface="Courier New"/>
                  <a:cs typeface="Courier New"/>
                  <a:sym typeface="Courier New"/>
                </a:rPr>
                <a:t> </a:t>
              </a:r>
              <a:r>
                <a:rPr sz="1800" b="1">
                  <a:latin typeface="Courier New"/>
                  <a:ea typeface="Courier New"/>
                  <a:cs typeface="Courier New"/>
                  <a:sym typeface="Courier New"/>
                </a:rPr>
                <a:t>  do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sz="1800" b="1">
                <a:latin typeface="Courier New"/>
                <a:ea typeface="Courier New"/>
                <a:cs typeface="Courier New"/>
                <a:sym typeface="Courier New"/>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chin = getchar();</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chout = chin;</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putchar(chout);</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endParaRP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  while (...);</a:t>
              </a:r>
            </a:p>
            <a:p>
              <a:pPr marL="110807" marR="0">
                <a:buClr>
                  <a:srgbClr val="7B1142"/>
                </a:buClr>
                <a:buFont typeface="Courier New"/>
                <a:tabLst>
                  <a:tab pos="444500" algn="l"/>
                  <a:tab pos="901700" algn="l"/>
                  <a:tab pos="1371600" algn="l"/>
                  <a:tab pos="1828800" algn="l"/>
                  <a:tab pos="2286000" algn="l"/>
                  <a:tab pos="2730500" algn="l"/>
                  <a:tab pos="3187700" algn="l"/>
                  <a:tab pos="3657600" algn="l"/>
                  <a:tab pos="4114800" algn="l"/>
                  <a:tab pos="4572000" algn="l"/>
                  <a:tab pos="5016500" algn="l"/>
                  <a:tab pos="5473700" algn="l"/>
                  <a:tab pos="5943600" algn="l"/>
                  <a:tab pos="6400800" algn="l"/>
                  <a:tab pos="7315200" algn="l"/>
                </a:tabLst>
                <a:defRPr b="1">
                  <a:solidFill>
                    <a:srgbClr val="7B1142"/>
                  </a:solidFill>
                  <a:uFill>
                    <a:solidFill>
                      <a:srgbClr val="7B1142"/>
                    </a:solidFill>
                  </a:uFill>
                  <a:latin typeface="Courier New"/>
                  <a:ea typeface="Courier New"/>
                  <a:cs typeface="Courier New"/>
                  <a:sym typeface="Courier New"/>
                </a:defRPr>
              </a:pPr>
              <a:r>
                <a:t>}</a:t>
              </a:r>
            </a:p>
          </p:txBody>
        </p:sp>
      </p:grpSp>
      <p:grpSp>
        <p:nvGrpSpPr>
          <p:cNvPr id="648" name="Group"/>
          <p:cNvGrpSpPr/>
          <p:nvPr/>
        </p:nvGrpSpPr>
        <p:grpSpPr>
          <a:xfrm>
            <a:off x="152400" y="4648200"/>
            <a:ext cx="5257800" cy="1296988"/>
            <a:chOff x="0" y="0"/>
            <a:chExt cx="5257800" cy="1296987"/>
          </a:xfrm>
        </p:grpSpPr>
        <p:grpSp>
          <p:nvGrpSpPr>
            <p:cNvPr id="643" name="Group"/>
            <p:cNvGrpSpPr/>
            <p:nvPr/>
          </p:nvGrpSpPr>
          <p:grpSpPr>
            <a:xfrm>
              <a:off x="361950" y="622299"/>
              <a:ext cx="2990850" cy="596901"/>
              <a:chOff x="0" y="0"/>
              <a:chExt cx="2990849" cy="596900"/>
            </a:xfrm>
          </p:grpSpPr>
          <p:pic>
            <p:nvPicPr>
              <p:cNvPr id="641" name="image.png" descr="image.png"/>
              <p:cNvPicPr/>
              <p:nvPr/>
            </p:nvPicPr>
            <p:blipFill>
              <a:blip r:embed="rId2"/>
              <a:stretch>
                <a:fillRect/>
              </a:stretch>
            </p:blipFill>
            <p:spPr>
              <a:xfrm>
                <a:off x="0" y="0"/>
                <a:ext cx="1572966" cy="595064"/>
              </a:xfrm>
              <a:prstGeom prst="rect">
                <a:avLst/>
              </a:prstGeom>
              <a:ln w="12700" cap="flat">
                <a:noFill/>
                <a:miter lim="400000"/>
              </a:ln>
              <a:effectLst/>
            </p:spPr>
          </p:pic>
          <p:pic>
            <p:nvPicPr>
              <p:cNvPr id="642" name="image.png" descr="image.png"/>
              <p:cNvPicPr/>
              <p:nvPr/>
            </p:nvPicPr>
            <p:blipFill>
              <a:blip r:embed="rId3"/>
              <a:stretch>
                <a:fillRect/>
              </a:stretch>
            </p:blipFill>
            <p:spPr>
              <a:xfrm>
                <a:off x="1683737" y="178151"/>
                <a:ext cx="1307113" cy="418750"/>
              </a:xfrm>
              <a:prstGeom prst="rect">
                <a:avLst/>
              </a:prstGeom>
              <a:ln w="12700" cap="flat">
                <a:noFill/>
                <a:miter lim="400000"/>
              </a:ln>
              <a:effectLst/>
            </p:spPr>
          </p:pic>
        </p:grpSp>
        <p:sp>
          <p:nvSpPr>
            <p:cNvPr id="644" name="Line"/>
            <p:cNvSpPr/>
            <p:nvPr/>
          </p:nvSpPr>
          <p:spPr>
            <a:xfrm>
              <a:off x="0" y="60960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45" name="Line"/>
            <p:cNvSpPr/>
            <p:nvPr/>
          </p:nvSpPr>
          <p:spPr>
            <a:xfrm>
              <a:off x="0" y="129540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46" name="Line"/>
            <p:cNvSpPr/>
            <p:nvPr/>
          </p:nvSpPr>
          <p:spPr>
            <a:xfrm flipV="1">
              <a:off x="4876800" y="0"/>
              <a:ext cx="381000" cy="6096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47" name="Line"/>
            <p:cNvSpPr/>
            <p:nvPr/>
          </p:nvSpPr>
          <p:spPr>
            <a:xfrm flipV="1">
              <a:off x="4876800" y="228600"/>
              <a:ext cx="381000" cy="10668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grpSp>
        <p:nvGrpSpPr>
          <p:cNvPr id="658" name="Group"/>
          <p:cNvGrpSpPr/>
          <p:nvPr/>
        </p:nvGrpSpPr>
        <p:grpSpPr>
          <a:xfrm>
            <a:off x="152400" y="3425444"/>
            <a:ext cx="5257800" cy="1068388"/>
            <a:chOff x="0" y="0"/>
            <a:chExt cx="5257800" cy="1068387"/>
          </a:xfrm>
        </p:grpSpPr>
        <p:grpSp>
          <p:nvGrpSpPr>
            <p:cNvPr id="651" name="Group"/>
            <p:cNvGrpSpPr/>
            <p:nvPr/>
          </p:nvGrpSpPr>
          <p:grpSpPr>
            <a:xfrm>
              <a:off x="0" y="76200"/>
              <a:ext cx="4953001" cy="923926"/>
              <a:chOff x="0" y="0"/>
              <a:chExt cx="4953000" cy="923925"/>
            </a:xfrm>
          </p:grpSpPr>
          <p:pic>
            <p:nvPicPr>
              <p:cNvPr id="649" name="image.png" descr="image.png"/>
              <p:cNvPicPr/>
              <p:nvPr/>
            </p:nvPicPr>
            <p:blipFill>
              <a:blip r:embed="rId4"/>
              <a:stretch>
                <a:fillRect/>
              </a:stretch>
            </p:blipFill>
            <p:spPr>
              <a:xfrm>
                <a:off x="0" y="0"/>
                <a:ext cx="1994065" cy="900693"/>
              </a:xfrm>
              <a:prstGeom prst="rect">
                <a:avLst/>
              </a:prstGeom>
              <a:ln w="12700" cap="flat">
                <a:noFill/>
                <a:miter lim="400000"/>
              </a:ln>
              <a:effectLst/>
            </p:spPr>
          </p:pic>
          <p:pic>
            <p:nvPicPr>
              <p:cNvPr id="650" name="image.png" descr="image.png"/>
              <p:cNvPicPr/>
              <p:nvPr/>
            </p:nvPicPr>
            <p:blipFill>
              <a:blip r:embed="rId5"/>
              <a:stretch>
                <a:fillRect/>
              </a:stretch>
            </p:blipFill>
            <p:spPr>
              <a:xfrm>
                <a:off x="2058389" y="130457"/>
                <a:ext cx="2894612" cy="793469"/>
              </a:xfrm>
              <a:prstGeom prst="rect">
                <a:avLst/>
              </a:prstGeom>
              <a:ln w="12700" cap="flat">
                <a:noFill/>
                <a:miter lim="400000"/>
              </a:ln>
              <a:effectLst/>
            </p:spPr>
          </p:pic>
        </p:grpSp>
        <p:sp>
          <p:nvSpPr>
            <p:cNvPr id="652" name="Line"/>
            <p:cNvSpPr/>
            <p:nvPr/>
          </p:nvSpPr>
          <p:spPr>
            <a:xfrm>
              <a:off x="0" y="106680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3" name="Line"/>
            <p:cNvSpPr/>
            <p:nvPr/>
          </p:nvSpPr>
          <p:spPr>
            <a:xfrm>
              <a:off x="0" y="0"/>
              <a:ext cx="4876800" cy="1588"/>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4" name="Line"/>
            <p:cNvSpPr/>
            <p:nvPr/>
          </p:nvSpPr>
          <p:spPr>
            <a:xfrm flipV="1">
              <a:off x="4876800" y="304800"/>
              <a:ext cx="381000" cy="7620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5" name="Line"/>
            <p:cNvSpPr/>
            <p:nvPr/>
          </p:nvSpPr>
          <p:spPr>
            <a:xfrm>
              <a:off x="4876800" y="0"/>
              <a:ext cx="381000" cy="76200"/>
            </a:xfrm>
            <a:prstGeom prst="line">
              <a:avLst/>
            </a:prstGeom>
            <a:noFill/>
            <a:ln w="12700" cap="flat">
              <a:solidFill>
                <a:srgbClr val="7B1142"/>
              </a:solidFill>
              <a:prstDash val="dash"/>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56" name="Oval"/>
            <p:cNvSpPr/>
            <p:nvPr/>
          </p:nvSpPr>
          <p:spPr>
            <a:xfrm>
              <a:off x="3571875" y="182562"/>
              <a:ext cx="358775" cy="274638"/>
            </a:xfrm>
            <a:prstGeom prst="ellipse">
              <a:avLst/>
            </a:prstGeom>
            <a:noFill/>
            <a:ln w="1270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57" name="TSL"/>
            <p:cNvSpPr txBox="1"/>
            <p:nvPr/>
          </p:nvSpPr>
          <p:spPr>
            <a:xfrm>
              <a:off x="248071" y="187325"/>
              <a:ext cx="388095" cy="241300"/>
            </a:xfrm>
            <a:prstGeom prst="rect">
              <a:avLst/>
            </a:prstGeom>
            <a:solidFill>
              <a:srgbClr val="FFFFFF"/>
            </a:solidFill>
            <a:ln w="12700" cap="flat">
              <a:noFill/>
              <a:miter lim="400000"/>
            </a:ln>
            <a:effectLst/>
          </p:spPr>
          <p:txBody>
            <a:bodyPr wrap="none" lIns="0" tIns="0" rIns="0" bIns="0" numCol="1" anchor="t">
              <a:spAutoFit/>
            </a:bodyPr>
            <a:lstStyle>
              <a:lvl1pPr marL="0" marR="0" algn="ctr">
                <a:spcBef>
                  <a:spcPts val="300"/>
                </a:spcBef>
                <a:buClr>
                  <a:srgbClr val="FF2600"/>
                </a:buClr>
                <a:buFont typeface="Wingdings"/>
                <a:defRPr sz="1400">
                  <a:solidFill>
                    <a:srgbClr val="FF2600"/>
                  </a:solidFill>
                  <a:uFill>
                    <a:solidFill>
                      <a:srgbClr val="FF2600"/>
                    </a:solidFill>
                  </a:uFill>
                  <a:latin typeface="Arial Black"/>
                  <a:ea typeface="Arial Black"/>
                  <a:cs typeface="Arial Black"/>
                  <a:sym typeface="Arial Black"/>
                </a:defRPr>
              </a:lvl1pPr>
            </a:lstStyle>
            <a:p>
              <a:r>
                <a:t>TSL</a:t>
              </a:r>
            </a:p>
          </p:txBody>
        </p:sp>
      </p:grpSp>
      <p:sp>
        <p:nvSpPr>
          <p:cNvPr id="659" name="Tanenbaum, A. S. (2001)…"/>
          <p:cNvSpPr txBox="1"/>
          <p:nvPr/>
        </p:nvSpPr>
        <p:spPr>
          <a:xfrm>
            <a:off x="152400" y="6096000"/>
            <a:ext cx="1711038" cy="330200"/>
          </a:xfrm>
          <a:prstGeom prst="rect">
            <a:avLst/>
          </a:prstGeom>
          <a:ln w="12700">
            <a:miter lim="400000"/>
          </a:ln>
        </p:spPr>
        <p:txBody>
          <a:bodyPr wrap="none" lIns="50800" tIns="50800" rIns="50800" bIns="50800">
            <a:spAutoFit/>
          </a:bodyPr>
          <a:lstStyle/>
          <a:p>
            <a:pPr>
              <a:buClr>
                <a:srgbClr val="A7A7A7"/>
              </a:buClr>
              <a:buFont typeface="Arial Narrow"/>
              <a:defRPr sz="800">
                <a:solidFill>
                  <a:srgbClr val="A7A7A7"/>
                </a:solidFill>
                <a:uFill>
                  <a:solidFill>
                    <a:srgbClr val="A7A7A7"/>
                  </a:solidFill>
                </a:uFill>
                <a:latin typeface="Arial Narrow"/>
                <a:ea typeface="Arial Narrow"/>
                <a:cs typeface="Arial Narrow"/>
                <a:sym typeface="Arial Narrow"/>
              </a:defRPr>
            </a:pPr>
            <a:r>
              <a:t>Tanenbaum, A. S. (2001)</a:t>
            </a:r>
          </a:p>
          <a:p>
            <a:pPr>
              <a:buClr>
                <a:srgbClr val="A7A7A7"/>
              </a:buClr>
              <a:buFont typeface="Arial Narrow"/>
              <a:defRPr sz="800" i="1">
                <a:solidFill>
                  <a:srgbClr val="A7A7A7"/>
                </a:solidFill>
                <a:uFill>
                  <a:solidFill>
                    <a:srgbClr val="A7A7A7"/>
                  </a:solidFill>
                </a:uFill>
                <a:latin typeface="Arial Narrow"/>
                <a:ea typeface="Arial Narrow"/>
                <a:cs typeface="Arial Narrow"/>
                <a:sym typeface="Arial Narrow"/>
              </a:defRPr>
            </a:pPr>
            <a:r>
              <a:t>Modern Operating Systems (2nd Edition). </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iterate>
                                    <p:tmAbs val="0"/>
                                  </p:iterate>
                                  <p:childTnLst>
                                    <p:set>
                                      <p:cBhvr>
                                        <p:cTn id="6" fill="hold"/>
                                        <p:tgtEl>
                                          <p:spTgt spid="658"/>
                                        </p:tgtEl>
                                        <p:attrNameLst>
                                          <p:attrName>style.visibility</p:attrName>
                                        </p:attrNameLst>
                                      </p:cBhvr>
                                      <p:to>
                                        <p:strVal val="visible"/>
                                      </p:to>
                                    </p:set>
                                    <p:anim calcmode="lin" valueType="num">
                                      <p:cBhvr>
                                        <p:cTn id="7" dur="500" fill="hold"/>
                                        <p:tgtEl>
                                          <p:spTgt spid="658"/>
                                        </p:tgtEl>
                                        <p:attrNameLst>
                                          <p:attrName>ppt_w</p:attrName>
                                        </p:attrNameLst>
                                      </p:cBhvr>
                                      <p:tavLst>
                                        <p:tav tm="0">
                                          <p:val>
                                            <p:fltVal val="0"/>
                                          </p:val>
                                        </p:tav>
                                        <p:tav tm="100000">
                                          <p:val>
                                            <p:strVal val="#ppt_w"/>
                                          </p:val>
                                        </p:tav>
                                      </p:tavLst>
                                    </p:anim>
                                    <p:anim calcmode="lin" valueType="num">
                                      <p:cBhvr>
                                        <p:cTn id="8" dur="500" fill="hold"/>
                                        <p:tgtEl>
                                          <p:spTgt spid="65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iterate>
                                    <p:tmAbs val="0"/>
                                  </p:iterate>
                                  <p:childTnLst>
                                    <p:set>
                                      <p:cBhvr>
                                        <p:cTn id="12" fill="hold"/>
                                        <p:tgtEl>
                                          <p:spTgt spid="648"/>
                                        </p:tgtEl>
                                        <p:attrNameLst>
                                          <p:attrName>style.visibility</p:attrName>
                                        </p:attrNameLst>
                                      </p:cBhvr>
                                      <p:to>
                                        <p:strVal val="visible"/>
                                      </p:to>
                                    </p:set>
                                    <p:anim calcmode="lin" valueType="num">
                                      <p:cBhvr>
                                        <p:cTn id="13" dur="500" fill="hold"/>
                                        <p:tgtEl>
                                          <p:spTgt spid="648"/>
                                        </p:tgtEl>
                                        <p:attrNameLst>
                                          <p:attrName>ppt_w</p:attrName>
                                        </p:attrNameLst>
                                      </p:cBhvr>
                                      <p:tavLst>
                                        <p:tav tm="0">
                                          <p:val>
                                            <p:fltVal val="0"/>
                                          </p:val>
                                        </p:tav>
                                        <p:tav tm="100000">
                                          <p:val>
                                            <p:strVal val="#ppt_w"/>
                                          </p:val>
                                        </p:tav>
                                      </p:tavLst>
                                    </p:anim>
                                    <p:anim calcmode="lin" valueType="num">
                                      <p:cBhvr>
                                        <p:cTn id="14" dur="500" fill="hold"/>
                                        <p:tgtEl>
                                          <p:spTgt spid="64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 grpId="0" animBg="1" advAuto="0"/>
      <p:bldP spid="658" grpId="0" animBg="1" advAuto="0"/>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p:cSld>
    <p:spTree>
      <p:nvGrpSpPr>
        <p:cNvPr id="1" name=""/>
        <p:cNvGrpSpPr/>
        <p:nvPr/>
      </p:nvGrpSpPr>
      <p:grpSpPr>
        <a:xfrm>
          <a:off x="0" y="0"/>
          <a:ext cx="0" cy="0"/>
          <a:chOff x="0" y="0"/>
          <a:chExt cx="0" cy="0"/>
        </a:xfrm>
      </p:grpSpPr>
      <p:sp>
        <p:nvSpPr>
          <p:cNvPr id="661" name="Mutual Exclusion"/>
          <p:cNvSpPr txBox="1">
            <a:spLocks noGrp="1"/>
          </p:cNvSpPr>
          <p:nvPr>
            <p:ph type="title"/>
          </p:nvPr>
        </p:nvSpPr>
        <p:spPr>
          <a:prstGeom prst="rect">
            <a:avLst/>
          </a:prstGeom>
        </p:spPr>
        <p:txBody>
          <a:bodyPr/>
          <a:lstStyle/>
          <a:p>
            <a:r>
              <a:t>Mutual Exclusion</a:t>
            </a:r>
          </a:p>
        </p:txBody>
      </p:sp>
      <p:sp>
        <p:nvSpPr>
          <p:cNvPr id="662" name="Slide Number"/>
          <p:cNvSpPr txBox="1">
            <a:spLocks noGrp="1"/>
          </p:cNvSpPr>
          <p:nvPr>
            <p:ph type="sldNum" sz="quarter" idx="2"/>
          </p:nvPr>
        </p:nvSpPr>
        <p:spPr>
          <a:xfrm>
            <a:off x="7737016" y="6381750"/>
            <a:ext cx="312068" cy="304800"/>
          </a:xfrm>
          <a:prstGeom prst="rect">
            <a:avLst/>
          </a:prstGeom>
        </p:spPr>
        <p:txBody>
          <a:bodyPr/>
          <a:lstStyle/>
          <a:p>
            <a:fld id="{86CB4B4D-7CA3-9044-876B-883B54F8677D}" type="slidenum">
              <a:rPr/>
              <a:t>36</a:t>
            </a:fld>
            <a:endParaRPr/>
          </a:p>
        </p:txBody>
      </p:sp>
      <p:sp>
        <p:nvSpPr>
          <p:cNvPr id="663" name="Implementation 3 — “indivisible” lock variable  "/>
          <p:cNvSpPr txBox="1"/>
          <p:nvPr/>
        </p:nvSpPr>
        <p:spPr>
          <a:xfrm>
            <a:off x="457200" y="1143000"/>
            <a:ext cx="8242300" cy="508000"/>
          </a:xfrm>
          <a:prstGeom prst="rect">
            <a:avLst/>
          </a:prstGeom>
          <a:ln w="12700">
            <a:miter lim="400000"/>
          </a:ln>
        </p:spPr>
        <p:txBody>
          <a:bodyPr lIns="50800" tIns="50800" rIns="50800" bIns="50800">
            <a:spAutoFit/>
          </a:bodyPr>
          <a:lstStyle/>
          <a:p>
            <a:pPr marL="496252" indent="-455612">
              <a:spcBef>
                <a:spcPts val="1600"/>
              </a:spcBef>
              <a:buClr>
                <a:srgbClr val="7B1142"/>
              </a:buClr>
              <a:buSzPct val="70000"/>
              <a:buChar char=""/>
              <a:tabLst>
                <a:tab pos="495300" algn="l"/>
                <a:tab pos="1066800" algn="l"/>
                <a:tab pos="1866900" algn="l"/>
              </a:tabLst>
              <a:defRPr sz="2400">
                <a:solidFill>
                  <a:srgbClr val="7B1142"/>
                </a:solidFill>
                <a:uFill>
                  <a:solidFill>
                    <a:srgbClr val="7B1142"/>
                  </a:solidFill>
                </a:uFill>
                <a:latin typeface="Times New Roman"/>
                <a:ea typeface="Times New Roman"/>
                <a:cs typeface="Times New Roman"/>
                <a:sym typeface="Times New Roman"/>
              </a:defRPr>
            </a:pPr>
            <a:r>
              <a:rPr sz="2800" b="1" u="sng">
                <a:latin typeface="Arial Narrow"/>
                <a:ea typeface="Arial Narrow"/>
                <a:cs typeface="Arial Narrow"/>
                <a:sym typeface="Arial Narrow"/>
              </a:rPr>
              <a:t>Implementation 3</a:t>
            </a:r>
            <a:r>
              <a:rPr sz="2800" u="sng">
                <a:latin typeface="Arial Narrow"/>
                <a:ea typeface="Arial Narrow"/>
                <a:cs typeface="Arial Narrow"/>
                <a:sym typeface="Arial Narrow"/>
              </a:rPr>
              <a:t> — “indivisible” lock variable  </a:t>
            </a:r>
            <a:r>
              <a:rPr sz="2800" u="sng">
                <a:latin typeface="Wingdings"/>
                <a:ea typeface="Wingdings"/>
                <a:cs typeface="Wingdings"/>
                <a:sym typeface="Wingdings"/>
              </a:rPr>
              <a:t></a:t>
            </a:r>
          </a:p>
        </p:txBody>
      </p:sp>
      <p:grpSp>
        <p:nvGrpSpPr>
          <p:cNvPr id="734" name="Group"/>
          <p:cNvGrpSpPr/>
          <p:nvPr/>
        </p:nvGrpSpPr>
        <p:grpSpPr>
          <a:xfrm>
            <a:off x="457200" y="1600200"/>
            <a:ext cx="8572500" cy="4523105"/>
            <a:chOff x="0" y="0"/>
            <a:chExt cx="8572500" cy="4523104"/>
          </a:xfrm>
        </p:grpSpPr>
        <p:sp>
          <p:nvSpPr>
            <p:cNvPr id="664" name="Line"/>
            <p:cNvSpPr/>
            <p:nvPr/>
          </p:nvSpPr>
          <p:spPr>
            <a:xfrm>
              <a:off x="4343400" y="3048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65" name="Line"/>
            <p:cNvSpPr/>
            <p:nvPr/>
          </p:nvSpPr>
          <p:spPr>
            <a:xfrm>
              <a:off x="4343400" y="381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66" name="Line"/>
            <p:cNvSpPr/>
            <p:nvPr/>
          </p:nvSpPr>
          <p:spPr>
            <a:xfrm>
              <a:off x="4343400" y="4191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667" name="pedred.jpg" descr="pedred.jpg"/>
            <p:cNvPicPr/>
            <p:nvPr/>
          </p:nvPicPr>
          <p:blipFill>
            <a:blip r:embed="rId3"/>
            <a:stretch>
              <a:fillRect/>
            </a:stretch>
          </p:blipFill>
          <p:spPr>
            <a:xfrm>
              <a:off x="5983287" y="4049712"/>
              <a:ext cx="265113" cy="446088"/>
            </a:xfrm>
            <a:prstGeom prst="rect">
              <a:avLst/>
            </a:prstGeom>
            <a:ln w="12700" cap="flat">
              <a:noFill/>
              <a:miter lim="400000"/>
            </a:ln>
            <a:effectLst/>
          </p:spPr>
        </p:pic>
        <p:pic>
          <p:nvPicPr>
            <p:cNvPr id="668" name="pedblue.jpg" descr="pedblue.jpg"/>
            <p:cNvPicPr/>
            <p:nvPr/>
          </p:nvPicPr>
          <p:blipFill>
            <a:blip r:embed="rId4"/>
            <a:stretch>
              <a:fillRect/>
            </a:stretch>
          </p:blipFill>
          <p:spPr>
            <a:xfrm>
              <a:off x="5973762" y="152400"/>
              <a:ext cx="274638" cy="461963"/>
            </a:xfrm>
            <a:prstGeom prst="rect">
              <a:avLst/>
            </a:prstGeom>
            <a:ln w="12700" cap="flat">
              <a:noFill/>
              <a:miter lim="400000"/>
            </a:ln>
            <a:effectLst/>
          </p:spPr>
        </p:pic>
        <p:sp>
          <p:nvSpPr>
            <p:cNvPr id="669" name="Rectangle"/>
            <p:cNvSpPr/>
            <p:nvPr/>
          </p:nvSpPr>
          <p:spPr>
            <a:xfrm>
              <a:off x="381000" y="609600"/>
              <a:ext cx="3670300" cy="1905000"/>
            </a:xfrm>
            <a:prstGeom prst="rect">
              <a:avLst/>
            </a:prstGeom>
            <a:solidFill>
              <a:srgbClr val="FFBEBD">
                <a:alpha val="50000"/>
              </a:srgbClr>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70" name="thread A reaches CR and finds the lock at 0 and sets it in one shot, then enters…"/>
            <p:cNvSpPr txBox="1"/>
            <p:nvPr/>
          </p:nvSpPr>
          <p:spPr>
            <a:xfrm>
              <a:off x="0" y="152400"/>
              <a:ext cx="4127500" cy="4370706"/>
            </a:xfrm>
            <a:prstGeom prst="rect">
              <a:avLst/>
            </a:prstGeom>
            <a:noFill/>
            <a:ln w="12700" cap="flat">
              <a:noFill/>
              <a:miter lim="400000"/>
            </a:ln>
            <a:effectLst/>
          </p:spPr>
          <p:txBody>
            <a:bodyPr wrap="square" lIns="50800" tIns="50800" rIns="50800" bIns="50800" numCol="1" anchor="t">
              <a:spAutoFit/>
            </a:bodyPr>
            <a:lstStyle/>
            <a:p>
              <a:pPr marL="951864" indent="-455612">
                <a:spcBef>
                  <a:spcPts val="400"/>
                </a:spcBef>
                <a:buClr>
                  <a:srgbClr val="7B1142"/>
                </a:buClr>
                <a:buSzPct val="65000"/>
                <a:buFont typeface="Arial Narrow"/>
                <a:buAutoNum type="arabicPeriod"/>
                <a:tabLst>
                  <a:tab pos="381000" algn="l"/>
                  <a:tab pos="952500" algn="l"/>
                  <a:tab pos="952500" algn="l"/>
                </a:tabLst>
                <a:defRPr sz="2400">
                  <a:solidFill>
                    <a:srgbClr val="7B1142"/>
                  </a:solidFill>
                  <a:uFill>
                    <a:solidFill>
                      <a:srgbClr val="7B1142"/>
                    </a:solidFill>
                  </a:uFill>
                  <a:latin typeface="Times New Roman"/>
                  <a:ea typeface="Times New Roman"/>
                  <a:cs typeface="Times New Roman"/>
                  <a:sym typeface="Times New Roman"/>
                </a:defRPr>
              </a:pPr>
              <a:r>
                <a:rPr>
                  <a:latin typeface="Arial Narrow"/>
                  <a:ea typeface="Arial Narrow"/>
                  <a:cs typeface="Arial Narrow"/>
                  <a:sym typeface="Arial Narrow"/>
                </a:rPr>
                <a:t>thread A reaches CR and </a:t>
              </a:r>
              <a:r>
                <a:rPr u="sng">
                  <a:solidFill>
                    <a:srgbClr val="C51B05"/>
                  </a:solidFill>
                  <a:uFill>
                    <a:solidFill>
                      <a:srgbClr val="C51B05"/>
                    </a:solidFill>
                  </a:uFill>
                  <a:latin typeface="Arial Narrow"/>
                  <a:ea typeface="Arial Narrow"/>
                  <a:cs typeface="Arial Narrow"/>
                  <a:sym typeface="Arial Narrow"/>
                </a:rPr>
                <a:t>finds the lock at 0 </a:t>
              </a:r>
              <a:r>
                <a:rPr i="1" u="sng">
                  <a:solidFill>
                    <a:srgbClr val="C51B05"/>
                  </a:solidFill>
                  <a:uFill>
                    <a:solidFill>
                      <a:srgbClr val="C51B05"/>
                    </a:solidFill>
                  </a:uFill>
                  <a:latin typeface="Arial Narrow"/>
                  <a:ea typeface="Arial Narrow"/>
                  <a:cs typeface="Arial Narrow"/>
                  <a:sym typeface="Arial Narrow"/>
                </a:rPr>
                <a:t>and</a:t>
              </a:r>
              <a:r>
                <a:rPr u="sng">
                  <a:solidFill>
                    <a:srgbClr val="C51B05"/>
                  </a:solidFill>
                  <a:uFill>
                    <a:solidFill>
                      <a:srgbClr val="C51B05"/>
                    </a:solidFill>
                  </a:uFill>
                  <a:latin typeface="Arial Narrow"/>
                  <a:ea typeface="Arial Narrow"/>
                  <a:cs typeface="Arial Narrow"/>
                  <a:sym typeface="Arial Narrow"/>
                </a:rPr>
                <a:t> sets it in one shot</a:t>
              </a:r>
              <a:r>
                <a:rPr>
                  <a:solidFill>
                    <a:srgbClr val="C51B05"/>
                  </a:solidFill>
                  <a:uFill>
                    <a:solidFill>
                      <a:srgbClr val="C51B05"/>
                    </a:solidFill>
                  </a:uFill>
                  <a:latin typeface="Arial Narrow"/>
                  <a:ea typeface="Arial Narrow"/>
                  <a:cs typeface="Arial Narrow"/>
                  <a:sym typeface="Arial Narrow"/>
                </a:rPr>
                <a:t>, then enters</a:t>
              </a:r>
            </a:p>
            <a:p>
              <a:pPr marL="951864" indent="-455612">
                <a:spcBef>
                  <a:spcPts val="400"/>
                </a:spcBef>
                <a:buClr>
                  <a:srgbClr val="7B1142"/>
                </a:buClr>
                <a:buFont typeface="Arial Narrow"/>
                <a:tabLst>
                  <a:tab pos="381000" algn="l"/>
                  <a:tab pos="952500" algn="l"/>
                  <a:tab pos="952500" algn="l"/>
                </a:tabLst>
                <a:defRPr sz="2400">
                  <a:solidFill>
                    <a:srgbClr val="C51B05"/>
                  </a:solidFill>
                  <a:uFill>
                    <a:solidFill>
                      <a:srgbClr val="C51B05"/>
                    </a:solidFill>
                  </a:uFill>
                  <a:latin typeface="Arial Narrow"/>
                  <a:ea typeface="Arial Narrow"/>
                  <a:cs typeface="Arial Narrow"/>
                  <a:sym typeface="Arial Narrow"/>
                </a:defRPr>
              </a:pPr>
              <a:r>
                <a:t>1.1’	even if B comes right behind A, it will find that the lock is already at 1</a:t>
              </a:r>
            </a:p>
            <a:p>
              <a:pPr marL="951864" indent="-455612">
                <a:spcBef>
                  <a:spcPts val="400"/>
                </a:spcBef>
                <a:buClr>
                  <a:srgbClr val="7B1142"/>
                </a:buClr>
                <a:buSzPct val="65000"/>
                <a:buFont typeface="Arial Narrow"/>
                <a:buAutoNum type="arabicPeriod" startAt="2"/>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A exits CR, then resets lock to 0</a:t>
              </a:r>
            </a:p>
            <a:p>
              <a:pPr marL="951864" indent="-455612">
                <a:buClr>
                  <a:srgbClr val="7B1142"/>
                </a:buClr>
                <a:buSzPct val="65000"/>
                <a:buFont typeface="Arial Narrow"/>
                <a:buAutoNum type="arabicPeriod" startAt="2"/>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endParaRPr/>
            </a:p>
            <a:p>
              <a:pPr marL="951864" indent="-455612">
                <a:spcBef>
                  <a:spcPts val="400"/>
                </a:spcBef>
                <a:buClr>
                  <a:srgbClr val="7B1142"/>
                </a:buClr>
                <a:buSzPct val="65000"/>
                <a:buFont typeface="Arial Narrow"/>
                <a:buAutoNum type="arabicPeriod" startAt="3"/>
                <a:tabLst>
                  <a:tab pos="381000" algn="l"/>
                  <a:tab pos="952500" algn="l"/>
                  <a:tab pos="952500" algn="l"/>
                </a:tabLst>
                <a:defRPr sz="2400">
                  <a:solidFill>
                    <a:srgbClr val="7B1142"/>
                  </a:solidFill>
                  <a:uFill>
                    <a:solidFill>
                      <a:srgbClr val="7B1142"/>
                    </a:solidFill>
                  </a:uFill>
                  <a:latin typeface="Arial Narrow"/>
                  <a:ea typeface="Arial Narrow"/>
                  <a:cs typeface="Arial Narrow"/>
                  <a:sym typeface="Arial Narrow"/>
                </a:defRPr>
              </a:pPr>
              <a:r>
                <a:t>thread B finds the lock at 0 and sets it to 1 in one shot, just before entering CR</a:t>
              </a:r>
            </a:p>
          </p:txBody>
        </p:sp>
        <p:sp>
          <p:nvSpPr>
            <p:cNvPr id="671" name="Line"/>
            <p:cNvSpPr/>
            <p:nvPr/>
          </p:nvSpPr>
          <p:spPr>
            <a:xfrm>
              <a:off x="4343400" y="762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72" name="Rectangle"/>
            <p:cNvSpPr/>
            <p:nvPr/>
          </p:nvSpPr>
          <p:spPr>
            <a:xfrm>
              <a:off x="5334000" y="609600"/>
              <a:ext cx="850900" cy="457200"/>
            </a:xfrm>
            <a:prstGeom prst="rect">
              <a:avLst/>
            </a:prstGeom>
            <a:solidFill>
              <a:srgbClr val="FFFFFF"/>
            </a:solidFill>
            <a:ln w="9525" cap="flat">
              <a:solidFill>
                <a:srgbClr val="FFFFFF"/>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675" name="Group"/>
            <p:cNvGrpSpPr/>
            <p:nvPr/>
          </p:nvGrpSpPr>
          <p:grpSpPr>
            <a:xfrm>
              <a:off x="6172200" y="152400"/>
              <a:ext cx="1828800" cy="914400"/>
              <a:chOff x="0" y="0"/>
              <a:chExt cx="1828800" cy="914400"/>
            </a:xfrm>
          </p:grpSpPr>
          <p:sp>
            <p:nvSpPr>
              <p:cNvPr id="673" name="Rectangle"/>
              <p:cNvSpPr/>
              <p:nvPr/>
            </p:nvSpPr>
            <p:spPr>
              <a:xfrm>
                <a:off x="0" y="0"/>
                <a:ext cx="18288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74" name="critical region"/>
              <p:cNvSpPr txBox="1"/>
              <p:nvPr/>
            </p:nvSpPr>
            <p:spPr>
              <a:xfrm>
                <a:off x="0" y="276789"/>
                <a:ext cx="1828800" cy="360822"/>
              </a:xfrm>
              <a:prstGeom prst="rect">
                <a:avLst/>
              </a:prstGeom>
              <a:noFill/>
              <a:ln w="12700" cap="flat">
                <a:noFill/>
                <a:miter lim="400000"/>
              </a:ln>
              <a:effectLst/>
            </p:spPr>
            <p:txBody>
              <a:bodyPr wrap="square" lIns="50800" tIns="50800" rIns="50800" bIns="50800" numCol="1" anchor="ctr">
                <a:spAutoFit/>
              </a:bodyPr>
              <a:lstStyle>
                <a:lvl1pPr algn="ctr">
                  <a:spcBef>
                    <a:spcPts val="400"/>
                  </a:spcBef>
                  <a:buClr>
                    <a:srgbClr val="7B1142"/>
                  </a:buClr>
                  <a:buFont typeface="Wingdings"/>
                  <a:defRPr>
                    <a:solidFill>
                      <a:srgbClr val="7B1142"/>
                    </a:solidFill>
                    <a:uFill>
                      <a:solidFill>
                        <a:srgbClr val="7B1142"/>
                      </a:solidFill>
                    </a:uFill>
                  </a:defRPr>
                </a:lvl1pPr>
              </a:lstStyle>
              <a:p>
                <a:r>
                  <a:t>critical region</a:t>
                </a:r>
              </a:p>
            </p:txBody>
          </p:sp>
        </p:grpSp>
        <p:sp>
          <p:nvSpPr>
            <p:cNvPr id="676" name="Line"/>
            <p:cNvSpPr/>
            <p:nvPr/>
          </p:nvSpPr>
          <p:spPr>
            <a:xfrm>
              <a:off x="6172200" y="152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677" name="Line"/>
            <p:cNvSpPr/>
            <p:nvPr/>
          </p:nvSpPr>
          <p:spPr>
            <a:xfrm>
              <a:off x="8001000" y="152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678" name="pedred.jpg" descr="pedred.jpg"/>
            <p:cNvPicPr/>
            <p:nvPr/>
          </p:nvPicPr>
          <p:blipFill>
            <a:blip r:embed="rId3"/>
            <a:stretch>
              <a:fillRect/>
            </a:stretch>
          </p:blipFill>
          <p:spPr>
            <a:xfrm>
              <a:off x="5105400" y="609600"/>
              <a:ext cx="265113" cy="446088"/>
            </a:xfrm>
            <a:prstGeom prst="rect">
              <a:avLst/>
            </a:prstGeom>
            <a:ln w="12700" cap="flat">
              <a:noFill/>
              <a:miter lim="400000"/>
            </a:ln>
            <a:effectLst/>
          </p:spPr>
        </p:pic>
        <p:sp>
          <p:nvSpPr>
            <p:cNvPr id="679" name="B"/>
            <p:cNvSpPr txBox="1"/>
            <p:nvPr/>
          </p:nvSpPr>
          <p:spPr>
            <a:xfrm>
              <a:off x="4059554" y="533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680" name="A"/>
            <p:cNvSpPr txBox="1"/>
            <p:nvPr/>
          </p:nvSpPr>
          <p:spPr>
            <a:xfrm>
              <a:off x="4059554" y="152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grpSp>
          <p:nvGrpSpPr>
            <p:cNvPr id="683" name="Group"/>
            <p:cNvGrpSpPr/>
            <p:nvPr/>
          </p:nvGrpSpPr>
          <p:grpSpPr>
            <a:xfrm>
              <a:off x="6096542" y="179"/>
              <a:ext cx="151858" cy="229723"/>
              <a:chOff x="0" y="0"/>
              <a:chExt cx="151856" cy="229721"/>
            </a:xfrm>
          </p:grpSpPr>
          <p:sp>
            <p:nvSpPr>
              <p:cNvPr id="681"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82"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688" name="Group"/>
            <p:cNvGrpSpPr/>
            <p:nvPr/>
          </p:nvGrpSpPr>
          <p:grpSpPr>
            <a:xfrm>
              <a:off x="6172200" y="0"/>
              <a:ext cx="269875" cy="306102"/>
              <a:chOff x="0" y="0"/>
              <a:chExt cx="269875" cy="306101"/>
            </a:xfrm>
          </p:grpSpPr>
          <p:sp>
            <p:nvSpPr>
              <p:cNvPr id="684"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687" name="Group"/>
              <p:cNvGrpSpPr/>
              <p:nvPr/>
            </p:nvGrpSpPr>
            <p:grpSpPr>
              <a:xfrm>
                <a:off x="59280" y="76379"/>
                <a:ext cx="151857" cy="229723"/>
                <a:chOff x="0" y="0"/>
                <a:chExt cx="151856" cy="229721"/>
              </a:xfrm>
            </p:grpSpPr>
            <p:sp>
              <p:nvSpPr>
                <p:cNvPr id="685"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86"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
          <p:nvSpPr>
            <p:cNvPr id="689" name="Line"/>
            <p:cNvSpPr/>
            <p:nvPr/>
          </p:nvSpPr>
          <p:spPr>
            <a:xfrm>
              <a:off x="4343400" y="1524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90" name="Line"/>
            <p:cNvSpPr/>
            <p:nvPr/>
          </p:nvSpPr>
          <p:spPr>
            <a:xfrm>
              <a:off x="4343400" y="1905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FF26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91" name="B"/>
            <p:cNvSpPr txBox="1"/>
            <p:nvPr/>
          </p:nvSpPr>
          <p:spPr>
            <a:xfrm>
              <a:off x="4059554" y="1676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692" name="A"/>
            <p:cNvSpPr txBox="1"/>
            <p:nvPr/>
          </p:nvSpPr>
          <p:spPr>
            <a:xfrm>
              <a:off x="4059554" y="1295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693" name="Rectangle"/>
            <p:cNvSpPr/>
            <p:nvPr/>
          </p:nvSpPr>
          <p:spPr>
            <a:xfrm>
              <a:off x="6172200" y="1295400"/>
              <a:ext cx="18415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694" name="Line"/>
            <p:cNvSpPr/>
            <p:nvPr/>
          </p:nvSpPr>
          <p:spPr>
            <a:xfrm>
              <a:off x="8001000" y="1295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pic>
          <p:nvPicPr>
            <p:cNvPr id="695" name="pedbluegray.jpg" descr="pedbluegray.jpg"/>
            <p:cNvPicPr/>
            <p:nvPr/>
          </p:nvPicPr>
          <p:blipFill>
            <a:blip r:embed="rId5"/>
            <a:stretch>
              <a:fillRect/>
            </a:stretch>
          </p:blipFill>
          <p:spPr>
            <a:xfrm>
              <a:off x="6172200" y="1295400"/>
              <a:ext cx="274638" cy="461963"/>
            </a:xfrm>
            <a:prstGeom prst="rect">
              <a:avLst/>
            </a:prstGeom>
            <a:ln w="12700" cap="flat">
              <a:noFill/>
              <a:miter lim="400000"/>
            </a:ln>
            <a:effectLst/>
          </p:spPr>
        </p:pic>
        <p:pic>
          <p:nvPicPr>
            <p:cNvPr id="696" name="pedredstand.jpg" descr="pedredstand.jpg"/>
            <p:cNvPicPr/>
            <p:nvPr/>
          </p:nvPicPr>
          <p:blipFill>
            <a:blip r:embed="rId6"/>
            <a:stretch>
              <a:fillRect/>
            </a:stretch>
          </p:blipFill>
          <p:spPr>
            <a:xfrm>
              <a:off x="5976937" y="1752600"/>
              <a:ext cx="179388" cy="457200"/>
            </a:xfrm>
            <a:prstGeom prst="rect">
              <a:avLst/>
            </a:prstGeom>
            <a:ln w="12700" cap="flat">
              <a:noFill/>
              <a:miter lim="400000"/>
            </a:ln>
            <a:effectLst/>
          </p:spPr>
        </p:pic>
        <p:sp>
          <p:nvSpPr>
            <p:cNvPr id="697" name="Line"/>
            <p:cNvSpPr/>
            <p:nvPr/>
          </p:nvSpPr>
          <p:spPr>
            <a:xfrm>
              <a:off x="6172200" y="1295400"/>
              <a:ext cx="1588" cy="914400"/>
            </a:xfrm>
            <a:prstGeom prst="line">
              <a:avLst/>
            </a:prstGeom>
            <a:noFill/>
            <a:ln w="38100" cap="flat">
              <a:solidFill>
                <a:srgbClr val="7B1142"/>
              </a:solidFill>
              <a:prstDash val="solid"/>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702" name="Group"/>
            <p:cNvGrpSpPr/>
            <p:nvPr/>
          </p:nvGrpSpPr>
          <p:grpSpPr>
            <a:xfrm>
              <a:off x="6037262" y="1066800"/>
              <a:ext cx="269876" cy="306102"/>
              <a:chOff x="0" y="0"/>
              <a:chExt cx="269875" cy="306101"/>
            </a:xfrm>
          </p:grpSpPr>
          <p:sp>
            <p:nvSpPr>
              <p:cNvPr id="698"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701" name="Group"/>
              <p:cNvGrpSpPr/>
              <p:nvPr/>
            </p:nvGrpSpPr>
            <p:grpSpPr>
              <a:xfrm>
                <a:off x="59280" y="76379"/>
                <a:ext cx="151857" cy="229723"/>
                <a:chOff x="0" y="0"/>
                <a:chExt cx="151856" cy="229721"/>
              </a:xfrm>
            </p:grpSpPr>
            <p:sp>
              <p:nvSpPr>
                <p:cNvPr id="699"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00"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sp>
          <p:nvSpPr>
            <p:cNvPr id="703" name="Rectangle"/>
            <p:cNvSpPr/>
            <p:nvPr/>
          </p:nvSpPr>
          <p:spPr>
            <a:xfrm>
              <a:off x="6172200" y="2438400"/>
              <a:ext cx="18415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04" name="Rectangle"/>
            <p:cNvSpPr/>
            <p:nvPr/>
          </p:nvSpPr>
          <p:spPr>
            <a:xfrm>
              <a:off x="6172200" y="3581400"/>
              <a:ext cx="1841500" cy="914400"/>
            </a:xfrm>
            <a:prstGeom prst="rect">
              <a:avLst/>
            </a:prstGeom>
            <a:solidFill>
              <a:srgbClr val="E9E9E9"/>
            </a:solidFill>
            <a:ln w="12700" cap="flat">
              <a:noFill/>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05" name="Line"/>
            <p:cNvSpPr/>
            <p:nvPr/>
          </p:nvSpPr>
          <p:spPr>
            <a:xfrm>
              <a:off x="4343400" y="2667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06" name="Line"/>
            <p:cNvSpPr/>
            <p:nvPr/>
          </p:nvSpPr>
          <p:spPr>
            <a:xfrm>
              <a:off x="4343400" y="3810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707" name="pedredstand.jpg" descr="pedredstand.jpg"/>
            <p:cNvPicPr/>
            <p:nvPr/>
          </p:nvPicPr>
          <p:blipFill>
            <a:blip r:embed="rId6"/>
            <a:stretch>
              <a:fillRect/>
            </a:stretch>
          </p:blipFill>
          <p:spPr>
            <a:xfrm>
              <a:off x="5976937" y="2895600"/>
              <a:ext cx="179388" cy="457200"/>
            </a:xfrm>
            <a:prstGeom prst="rect">
              <a:avLst/>
            </a:prstGeom>
            <a:ln w="12700" cap="flat">
              <a:noFill/>
              <a:miter lim="400000"/>
            </a:ln>
            <a:effectLst/>
          </p:spPr>
        </p:pic>
        <p:sp>
          <p:nvSpPr>
            <p:cNvPr id="708" name="Line"/>
            <p:cNvSpPr/>
            <p:nvPr/>
          </p:nvSpPr>
          <p:spPr>
            <a:xfrm>
              <a:off x="6172200" y="2667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pic>
          <p:nvPicPr>
            <p:cNvPr id="709" name="pedblue.jpg" descr="pedblue.jpg"/>
            <p:cNvPicPr/>
            <p:nvPr/>
          </p:nvPicPr>
          <p:blipFill>
            <a:blip r:embed="rId4"/>
            <a:stretch>
              <a:fillRect/>
            </a:stretch>
          </p:blipFill>
          <p:spPr>
            <a:xfrm>
              <a:off x="8001000" y="2438400"/>
              <a:ext cx="274638" cy="461963"/>
            </a:xfrm>
            <a:prstGeom prst="rect">
              <a:avLst/>
            </a:prstGeom>
            <a:ln w="12700" cap="flat">
              <a:noFill/>
              <a:miter lim="400000"/>
            </a:ln>
            <a:effectLst/>
          </p:spPr>
        </p:pic>
        <p:sp>
          <p:nvSpPr>
            <p:cNvPr id="710" name="Line"/>
            <p:cNvSpPr/>
            <p:nvPr/>
          </p:nvSpPr>
          <p:spPr>
            <a:xfrm>
              <a:off x="6172200" y="3810000"/>
              <a:ext cx="18288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450" y="10800"/>
                    <a:pt x="900" y="0"/>
                    <a:pt x="1350" y="0"/>
                  </a:cubicBezTo>
                  <a:cubicBezTo>
                    <a:pt x="1800" y="0"/>
                    <a:pt x="2250" y="21600"/>
                    <a:pt x="2700" y="21600"/>
                  </a:cubicBezTo>
                  <a:cubicBezTo>
                    <a:pt x="3150" y="21600"/>
                    <a:pt x="3600" y="0"/>
                    <a:pt x="4050" y="0"/>
                  </a:cubicBezTo>
                  <a:cubicBezTo>
                    <a:pt x="4500" y="0"/>
                    <a:pt x="4950" y="21600"/>
                    <a:pt x="5400" y="21600"/>
                  </a:cubicBezTo>
                  <a:cubicBezTo>
                    <a:pt x="5850" y="21600"/>
                    <a:pt x="6300" y="0"/>
                    <a:pt x="6750" y="0"/>
                  </a:cubicBezTo>
                  <a:cubicBezTo>
                    <a:pt x="7200" y="0"/>
                    <a:pt x="7650" y="21600"/>
                    <a:pt x="8100" y="21600"/>
                  </a:cubicBezTo>
                  <a:cubicBezTo>
                    <a:pt x="8550" y="21600"/>
                    <a:pt x="9000" y="0"/>
                    <a:pt x="9450" y="0"/>
                  </a:cubicBezTo>
                  <a:cubicBezTo>
                    <a:pt x="9900" y="0"/>
                    <a:pt x="10350" y="21600"/>
                    <a:pt x="10800" y="21600"/>
                  </a:cubicBezTo>
                  <a:cubicBezTo>
                    <a:pt x="11250" y="21600"/>
                    <a:pt x="11700" y="0"/>
                    <a:pt x="12150" y="0"/>
                  </a:cubicBezTo>
                  <a:cubicBezTo>
                    <a:pt x="12600" y="0"/>
                    <a:pt x="13050" y="21600"/>
                    <a:pt x="13500" y="21600"/>
                  </a:cubicBezTo>
                  <a:cubicBezTo>
                    <a:pt x="13950" y="21600"/>
                    <a:pt x="14400" y="0"/>
                    <a:pt x="14850" y="0"/>
                  </a:cubicBezTo>
                  <a:cubicBezTo>
                    <a:pt x="15300" y="0"/>
                    <a:pt x="15750" y="21600"/>
                    <a:pt x="16200" y="21600"/>
                  </a:cubicBezTo>
                  <a:cubicBezTo>
                    <a:pt x="16650" y="21600"/>
                    <a:pt x="17100" y="0"/>
                    <a:pt x="17550" y="0"/>
                  </a:cubicBezTo>
                  <a:cubicBezTo>
                    <a:pt x="18000" y="0"/>
                    <a:pt x="18450" y="21600"/>
                    <a:pt x="18900" y="21600"/>
                  </a:cubicBezTo>
                  <a:cubicBezTo>
                    <a:pt x="19350" y="21600"/>
                    <a:pt x="19800" y="0"/>
                    <a:pt x="20250" y="0"/>
                  </a:cubicBezTo>
                  <a:cubicBezTo>
                    <a:pt x="20700" y="0"/>
                    <a:pt x="21150" y="10800"/>
                    <a:pt x="21600" y="2160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11" name="Line"/>
            <p:cNvSpPr/>
            <p:nvPr/>
          </p:nvSpPr>
          <p:spPr>
            <a:xfrm>
              <a:off x="8001000" y="3810000"/>
              <a:ext cx="571500" cy="762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440" y="10800"/>
                    <a:pt x="2880" y="0"/>
                    <a:pt x="4320" y="0"/>
                  </a:cubicBezTo>
                  <a:cubicBezTo>
                    <a:pt x="5760" y="0"/>
                    <a:pt x="7200" y="21600"/>
                    <a:pt x="8640" y="21600"/>
                  </a:cubicBezTo>
                  <a:cubicBezTo>
                    <a:pt x="10080" y="21600"/>
                    <a:pt x="11520" y="0"/>
                    <a:pt x="12960" y="0"/>
                  </a:cubicBezTo>
                  <a:cubicBezTo>
                    <a:pt x="14400" y="0"/>
                    <a:pt x="15840" y="21600"/>
                    <a:pt x="17280" y="21600"/>
                  </a:cubicBezTo>
                  <a:cubicBezTo>
                    <a:pt x="18720" y="21600"/>
                    <a:pt x="20880" y="3600"/>
                    <a:pt x="21600" y="0"/>
                  </a:cubicBezTo>
                </a:path>
              </a:pathLst>
            </a:custGeom>
            <a:noFill/>
            <a:ln w="19050" cap="flat">
              <a:solidFill>
                <a:srgbClr val="0433FF"/>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12" name="B"/>
            <p:cNvSpPr txBox="1"/>
            <p:nvPr/>
          </p:nvSpPr>
          <p:spPr>
            <a:xfrm>
              <a:off x="4059554" y="2819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713" name="A"/>
            <p:cNvSpPr txBox="1"/>
            <p:nvPr/>
          </p:nvSpPr>
          <p:spPr>
            <a:xfrm>
              <a:off x="4059554" y="2438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714" name="B"/>
            <p:cNvSpPr txBox="1"/>
            <p:nvPr/>
          </p:nvSpPr>
          <p:spPr>
            <a:xfrm>
              <a:off x="4059554" y="3962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FF2600"/>
                </a:buClr>
                <a:buFont typeface="Wingdings"/>
                <a:defRPr sz="2400">
                  <a:solidFill>
                    <a:srgbClr val="FF2600"/>
                  </a:solidFill>
                  <a:uFill>
                    <a:solidFill>
                      <a:srgbClr val="FF2600"/>
                    </a:solidFill>
                  </a:uFill>
                  <a:latin typeface="Arial Narrow"/>
                  <a:ea typeface="Arial Narrow"/>
                  <a:cs typeface="Arial Narrow"/>
                  <a:sym typeface="Arial Narrow"/>
                </a:defRPr>
              </a:lvl1pPr>
            </a:lstStyle>
            <a:p>
              <a:r>
                <a:t>B</a:t>
              </a:r>
            </a:p>
          </p:txBody>
        </p:sp>
        <p:sp>
          <p:nvSpPr>
            <p:cNvPr id="715" name="A"/>
            <p:cNvSpPr txBox="1"/>
            <p:nvPr/>
          </p:nvSpPr>
          <p:spPr>
            <a:xfrm>
              <a:off x="4059554" y="3581400"/>
              <a:ext cx="321629" cy="444500"/>
            </a:xfrm>
            <a:prstGeom prst="rect">
              <a:avLst/>
            </a:prstGeom>
            <a:noFill/>
            <a:ln w="12700" cap="flat">
              <a:noFill/>
              <a:miter lim="400000"/>
            </a:ln>
            <a:effectLst/>
          </p:spPr>
          <p:txBody>
            <a:bodyPr wrap="none" lIns="50800" tIns="50800" rIns="50800" bIns="50800" numCol="1" anchor="t">
              <a:spAutoFit/>
            </a:bodyPr>
            <a:lstStyle>
              <a:lvl1pPr algn="ctr">
                <a:spcBef>
                  <a:spcPts val="500"/>
                </a:spcBef>
                <a:buClr>
                  <a:srgbClr val="0433FF"/>
                </a:buClr>
                <a:buFont typeface="Wingdings"/>
                <a:defRPr sz="2400">
                  <a:solidFill>
                    <a:srgbClr val="0433FF"/>
                  </a:solidFill>
                  <a:uFill>
                    <a:solidFill>
                      <a:srgbClr val="0433FF"/>
                    </a:solidFill>
                  </a:uFill>
                  <a:latin typeface="Arial Narrow"/>
                  <a:ea typeface="Arial Narrow"/>
                  <a:cs typeface="Arial Narrow"/>
                  <a:sym typeface="Arial Narrow"/>
                </a:defRPr>
              </a:lvl1pPr>
            </a:lstStyle>
            <a:p>
              <a:r>
                <a:t>A</a:t>
              </a:r>
            </a:p>
          </p:txBody>
        </p:sp>
        <p:sp>
          <p:nvSpPr>
            <p:cNvPr id="716" name="Line"/>
            <p:cNvSpPr/>
            <p:nvPr/>
          </p:nvSpPr>
          <p:spPr>
            <a:xfrm>
              <a:off x="8001000" y="2438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717" name="Line"/>
            <p:cNvSpPr/>
            <p:nvPr/>
          </p:nvSpPr>
          <p:spPr>
            <a:xfrm>
              <a:off x="6172200" y="2438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sp>
          <p:nvSpPr>
            <p:cNvPr id="718" name="Line"/>
            <p:cNvSpPr/>
            <p:nvPr/>
          </p:nvSpPr>
          <p:spPr>
            <a:xfrm>
              <a:off x="8001000" y="3581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721" name="Group"/>
            <p:cNvGrpSpPr/>
            <p:nvPr/>
          </p:nvGrpSpPr>
          <p:grpSpPr>
            <a:xfrm>
              <a:off x="6096542" y="3429179"/>
              <a:ext cx="151858" cy="229723"/>
              <a:chOff x="0" y="0"/>
              <a:chExt cx="151856" cy="229721"/>
            </a:xfrm>
          </p:grpSpPr>
          <p:sp>
            <p:nvSpPr>
              <p:cNvPr id="719"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20"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724" name="Group"/>
            <p:cNvGrpSpPr/>
            <p:nvPr/>
          </p:nvGrpSpPr>
          <p:grpSpPr>
            <a:xfrm>
              <a:off x="6096542" y="2286179"/>
              <a:ext cx="151858" cy="229723"/>
              <a:chOff x="0" y="0"/>
              <a:chExt cx="151856" cy="229721"/>
            </a:xfrm>
          </p:grpSpPr>
          <p:sp>
            <p:nvSpPr>
              <p:cNvPr id="722"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23"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sp>
          <p:nvSpPr>
            <p:cNvPr id="725" name="Line"/>
            <p:cNvSpPr/>
            <p:nvPr/>
          </p:nvSpPr>
          <p:spPr>
            <a:xfrm>
              <a:off x="6172200" y="3581400"/>
              <a:ext cx="1588" cy="914400"/>
            </a:xfrm>
            <a:prstGeom prst="line">
              <a:avLst/>
            </a:prstGeom>
            <a:noFill/>
            <a:ln w="28575" cap="flat">
              <a:solidFill>
                <a:srgbClr val="7B1142"/>
              </a:solidFill>
              <a:prstDash val="sysDot"/>
              <a:round/>
            </a:ln>
            <a:effectLst/>
          </p:spPr>
          <p:txBody>
            <a:bodyPr wrap="square" lIns="0" tIns="0" rIns="0" bIns="0" numCol="1" anchor="t">
              <a:noAutofit/>
            </a:bodyPr>
            <a:lstStyle/>
            <a:p>
              <a:pPr marL="0" marR="0" defTabSz="457200">
                <a:defRPr sz="1200">
                  <a:solidFill>
                    <a:srgbClr val="000000"/>
                  </a:solidFill>
                  <a:uFillTx/>
                  <a:latin typeface="Helvetica"/>
                  <a:ea typeface="Helvetica"/>
                  <a:cs typeface="Helvetica"/>
                  <a:sym typeface="Helvetica"/>
                </a:defRPr>
              </a:pPr>
              <a:endParaRPr/>
            </a:p>
          </p:txBody>
        </p:sp>
        <p:grpSp>
          <p:nvGrpSpPr>
            <p:cNvPr id="728" name="Group"/>
            <p:cNvGrpSpPr/>
            <p:nvPr/>
          </p:nvGrpSpPr>
          <p:grpSpPr>
            <a:xfrm>
              <a:off x="6096542" y="3429179"/>
              <a:ext cx="151858" cy="229723"/>
              <a:chOff x="0" y="0"/>
              <a:chExt cx="151856" cy="229721"/>
            </a:xfrm>
          </p:grpSpPr>
          <p:sp>
            <p:nvSpPr>
              <p:cNvPr id="726"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FFF"/>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27"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nvGrpSpPr>
            <p:cNvPr id="733" name="Group"/>
            <p:cNvGrpSpPr/>
            <p:nvPr/>
          </p:nvGrpSpPr>
          <p:grpSpPr>
            <a:xfrm>
              <a:off x="6172200" y="3429000"/>
              <a:ext cx="269875" cy="306102"/>
              <a:chOff x="0" y="0"/>
              <a:chExt cx="269875" cy="306101"/>
            </a:xfrm>
          </p:grpSpPr>
          <p:sp>
            <p:nvSpPr>
              <p:cNvPr id="729" name="Shape"/>
              <p:cNvSpPr/>
              <p:nvPr/>
            </p:nvSpPr>
            <p:spPr>
              <a:xfrm>
                <a:off x="0" y="0"/>
                <a:ext cx="269875" cy="304800"/>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FFFB00"/>
              </a:solidFill>
              <a:ln w="3175" cap="flat">
                <a:solidFill>
                  <a:srgbClr val="7B1142"/>
                </a:solidFill>
                <a:prstDash val="solid"/>
                <a:miter lim="400000"/>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nvGrpSpPr>
              <p:cNvPr id="732" name="Group"/>
              <p:cNvGrpSpPr/>
              <p:nvPr/>
            </p:nvGrpSpPr>
            <p:grpSpPr>
              <a:xfrm>
                <a:off x="59280" y="76379"/>
                <a:ext cx="151857" cy="229723"/>
                <a:chOff x="0" y="0"/>
                <a:chExt cx="151856" cy="229721"/>
              </a:xfrm>
            </p:grpSpPr>
            <p:sp>
              <p:nvSpPr>
                <p:cNvPr id="730" name="Shape"/>
                <p:cNvSpPr/>
                <p:nvPr/>
              </p:nvSpPr>
              <p:spPr>
                <a:xfrm>
                  <a:off x="0" y="0"/>
                  <a:ext cx="151857" cy="229722"/>
                </a:xfrm>
                <a:custGeom>
                  <a:avLst/>
                  <a:gdLst/>
                  <a:ahLst/>
                  <a:cxnLst>
                    <a:cxn ang="0">
                      <a:pos x="wd2" y="hd2"/>
                    </a:cxn>
                    <a:cxn ang="5400000">
                      <a:pos x="wd2" y="hd2"/>
                    </a:cxn>
                    <a:cxn ang="10800000">
                      <a:pos x="wd2" y="hd2"/>
                    </a:cxn>
                    <a:cxn ang="16200000">
                      <a:pos x="wd2" y="hd2"/>
                    </a:cxn>
                  </a:cxnLst>
                  <a:rect l="0" t="0" r="r" b="b"/>
                  <a:pathLst>
                    <a:path w="21600" h="21600" extrusionOk="0">
                      <a:moveTo>
                        <a:pt x="10786" y="21600"/>
                      </a:moveTo>
                      <a:lnTo>
                        <a:pt x="11178" y="21600"/>
                      </a:lnTo>
                      <a:lnTo>
                        <a:pt x="11516" y="21565"/>
                      </a:lnTo>
                      <a:lnTo>
                        <a:pt x="11881" y="21495"/>
                      </a:lnTo>
                      <a:lnTo>
                        <a:pt x="12220" y="21425"/>
                      </a:lnTo>
                      <a:lnTo>
                        <a:pt x="12585" y="21319"/>
                      </a:lnTo>
                      <a:lnTo>
                        <a:pt x="12871" y="21196"/>
                      </a:lnTo>
                      <a:lnTo>
                        <a:pt x="13132" y="21056"/>
                      </a:lnTo>
                      <a:lnTo>
                        <a:pt x="13367" y="20881"/>
                      </a:lnTo>
                      <a:lnTo>
                        <a:pt x="13627" y="20722"/>
                      </a:lnTo>
                      <a:lnTo>
                        <a:pt x="13835" y="20511"/>
                      </a:lnTo>
                      <a:lnTo>
                        <a:pt x="14018" y="20318"/>
                      </a:lnTo>
                      <a:lnTo>
                        <a:pt x="14174" y="20107"/>
                      </a:lnTo>
                      <a:lnTo>
                        <a:pt x="14330" y="19879"/>
                      </a:lnTo>
                      <a:lnTo>
                        <a:pt x="14434" y="19634"/>
                      </a:lnTo>
                      <a:lnTo>
                        <a:pt x="14487" y="19370"/>
                      </a:lnTo>
                      <a:lnTo>
                        <a:pt x="14487" y="19124"/>
                      </a:lnTo>
                      <a:lnTo>
                        <a:pt x="14487" y="19037"/>
                      </a:lnTo>
                      <a:lnTo>
                        <a:pt x="14487" y="18791"/>
                      </a:lnTo>
                      <a:lnTo>
                        <a:pt x="14487" y="18422"/>
                      </a:lnTo>
                      <a:lnTo>
                        <a:pt x="14487" y="17947"/>
                      </a:lnTo>
                      <a:lnTo>
                        <a:pt x="14487" y="17403"/>
                      </a:lnTo>
                      <a:lnTo>
                        <a:pt x="14487" y="16876"/>
                      </a:lnTo>
                      <a:lnTo>
                        <a:pt x="14487" y="16367"/>
                      </a:lnTo>
                      <a:lnTo>
                        <a:pt x="14487" y="15857"/>
                      </a:lnTo>
                      <a:lnTo>
                        <a:pt x="14487" y="15664"/>
                      </a:lnTo>
                      <a:lnTo>
                        <a:pt x="14591" y="15454"/>
                      </a:lnTo>
                      <a:lnTo>
                        <a:pt x="14669" y="15260"/>
                      </a:lnTo>
                      <a:lnTo>
                        <a:pt x="14774" y="15050"/>
                      </a:lnTo>
                      <a:lnTo>
                        <a:pt x="15138" y="14646"/>
                      </a:lnTo>
                      <a:lnTo>
                        <a:pt x="15581" y="14242"/>
                      </a:lnTo>
                      <a:lnTo>
                        <a:pt x="16728" y="13469"/>
                      </a:lnTo>
                      <a:lnTo>
                        <a:pt x="18030" y="12591"/>
                      </a:lnTo>
                      <a:lnTo>
                        <a:pt x="18734" y="12118"/>
                      </a:lnTo>
                      <a:lnTo>
                        <a:pt x="19333" y="11573"/>
                      </a:lnTo>
                      <a:lnTo>
                        <a:pt x="19932" y="11028"/>
                      </a:lnTo>
                      <a:lnTo>
                        <a:pt x="20479" y="10396"/>
                      </a:lnTo>
                      <a:lnTo>
                        <a:pt x="20740" y="10097"/>
                      </a:lnTo>
                      <a:lnTo>
                        <a:pt x="20948" y="9729"/>
                      </a:lnTo>
                      <a:lnTo>
                        <a:pt x="21130" y="9378"/>
                      </a:lnTo>
                      <a:lnTo>
                        <a:pt x="21287" y="8974"/>
                      </a:lnTo>
                      <a:lnTo>
                        <a:pt x="21443" y="8605"/>
                      </a:lnTo>
                      <a:lnTo>
                        <a:pt x="21548" y="8166"/>
                      </a:lnTo>
                      <a:lnTo>
                        <a:pt x="21600" y="7727"/>
                      </a:lnTo>
                      <a:lnTo>
                        <a:pt x="21600" y="7288"/>
                      </a:lnTo>
                      <a:lnTo>
                        <a:pt x="21600" y="6884"/>
                      </a:lnTo>
                      <a:lnTo>
                        <a:pt x="21548" y="6515"/>
                      </a:lnTo>
                      <a:lnTo>
                        <a:pt x="21496" y="6182"/>
                      </a:lnTo>
                      <a:lnTo>
                        <a:pt x="21391" y="5812"/>
                      </a:lnTo>
                      <a:lnTo>
                        <a:pt x="21287" y="5479"/>
                      </a:lnTo>
                      <a:lnTo>
                        <a:pt x="21130" y="5093"/>
                      </a:lnTo>
                      <a:lnTo>
                        <a:pt x="20948" y="4760"/>
                      </a:lnTo>
                      <a:lnTo>
                        <a:pt x="20740" y="4425"/>
                      </a:lnTo>
                      <a:lnTo>
                        <a:pt x="20531" y="4127"/>
                      </a:lnTo>
                      <a:lnTo>
                        <a:pt x="20296" y="3811"/>
                      </a:lnTo>
                      <a:lnTo>
                        <a:pt x="20036" y="3513"/>
                      </a:lnTo>
                      <a:lnTo>
                        <a:pt x="19775" y="3214"/>
                      </a:lnTo>
                      <a:lnTo>
                        <a:pt x="19124" y="2634"/>
                      </a:lnTo>
                      <a:lnTo>
                        <a:pt x="18447" y="2125"/>
                      </a:lnTo>
                      <a:lnTo>
                        <a:pt x="17691" y="1669"/>
                      </a:lnTo>
                      <a:lnTo>
                        <a:pt x="16832" y="1229"/>
                      </a:lnTo>
                      <a:lnTo>
                        <a:pt x="16388" y="1054"/>
                      </a:lnTo>
                      <a:lnTo>
                        <a:pt x="15920" y="879"/>
                      </a:lnTo>
                      <a:lnTo>
                        <a:pt x="15477" y="720"/>
                      </a:lnTo>
                      <a:lnTo>
                        <a:pt x="15034" y="580"/>
                      </a:lnTo>
                      <a:lnTo>
                        <a:pt x="14539" y="439"/>
                      </a:lnTo>
                      <a:lnTo>
                        <a:pt x="14018" y="316"/>
                      </a:lnTo>
                      <a:lnTo>
                        <a:pt x="13471" y="211"/>
                      </a:lnTo>
                      <a:lnTo>
                        <a:pt x="12975" y="140"/>
                      </a:lnTo>
                      <a:lnTo>
                        <a:pt x="12428" y="71"/>
                      </a:lnTo>
                      <a:lnTo>
                        <a:pt x="11934" y="35"/>
                      </a:lnTo>
                      <a:lnTo>
                        <a:pt x="11387" y="0"/>
                      </a:lnTo>
                      <a:lnTo>
                        <a:pt x="10786" y="0"/>
                      </a:lnTo>
                      <a:lnTo>
                        <a:pt x="10213" y="0"/>
                      </a:lnTo>
                      <a:lnTo>
                        <a:pt x="9666" y="35"/>
                      </a:lnTo>
                      <a:lnTo>
                        <a:pt x="9172" y="71"/>
                      </a:lnTo>
                      <a:lnTo>
                        <a:pt x="8625" y="140"/>
                      </a:lnTo>
                      <a:lnTo>
                        <a:pt x="8129" y="211"/>
                      </a:lnTo>
                      <a:lnTo>
                        <a:pt x="7582" y="316"/>
                      </a:lnTo>
                      <a:lnTo>
                        <a:pt x="7061" y="439"/>
                      </a:lnTo>
                      <a:lnTo>
                        <a:pt x="6566" y="580"/>
                      </a:lnTo>
                      <a:lnTo>
                        <a:pt x="6123" y="720"/>
                      </a:lnTo>
                      <a:lnTo>
                        <a:pt x="5680" y="879"/>
                      </a:lnTo>
                      <a:lnTo>
                        <a:pt x="5212" y="1054"/>
                      </a:lnTo>
                      <a:lnTo>
                        <a:pt x="4768" y="1229"/>
                      </a:lnTo>
                      <a:lnTo>
                        <a:pt x="3909" y="1669"/>
                      </a:lnTo>
                      <a:lnTo>
                        <a:pt x="3153" y="2125"/>
                      </a:lnTo>
                      <a:lnTo>
                        <a:pt x="2476" y="2634"/>
                      </a:lnTo>
                      <a:lnTo>
                        <a:pt x="1825" y="3214"/>
                      </a:lnTo>
                      <a:lnTo>
                        <a:pt x="1564" y="3513"/>
                      </a:lnTo>
                      <a:lnTo>
                        <a:pt x="1303" y="3811"/>
                      </a:lnTo>
                      <a:lnTo>
                        <a:pt x="1069" y="4127"/>
                      </a:lnTo>
                      <a:lnTo>
                        <a:pt x="860" y="4425"/>
                      </a:lnTo>
                      <a:lnTo>
                        <a:pt x="651" y="4760"/>
                      </a:lnTo>
                      <a:lnTo>
                        <a:pt x="470" y="5093"/>
                      </a:lnTo>
                      <a:lnTo>
                        <a:pt x="313" y="5479"/>
                      </a:lnTo>
                      <a:lnTo>
                        <a:pt x="209" y="5812"/>
                      </a:lnTo>
                      <a:lnTo>
                        <a:pt x="104" y="6182"/>
                      </a:lnTo>
                      <a:lnTo>
                        <a:pt x="52" y="6515"/>
                      </a:lnTo>
                      <a:lnTo>
                        <a:pt x="0" y="6884"/>
                      </a:lnTo>
                      <a:lnTo>
                        <a:pt x="0" y="7288"/>
                      </a:lnTo>
                      <a:lnTo>
                        <a:pt x="0" y="7727"/>
                      </a:lnTo>
                      <a:lnTo>
                        <a:pt x="52" y="8166"/>
                      </a:lnTo>
                      <a:lnTo>
                        <a:pt x="157" y="8605"/>
                      </a:lnTo>
                      <a:lnTo>
                        <a:pt x="313" y="8974"/>
                      </a:lnTo>
                      <a:lnTo>
                        <a:pt x="470" y="9378"/>
                      </a:lnTo>
                      <a:lnTo>
                        <a:pt x="651" y="9729"/>
                      </a:lnTo>
                      <a:lnTo>
                        <a:pt x="860" y="10097"/>
                      </a:lnTo>
                      <a:lnTo>
                        <a:pt x="1121" y="10396"/>
                      </a:lnTo>
                      <a:lnTo>
                        <a:pt x="1668" y="11028"/>
                      </a:lnTo>
                      <a:lnTo>
                        <a:pt x="2267" y="11573"/>
                      </a:lnTo>
                      <a:lnTo>
                        <a:pt x="2866" y="12118"/>
                      </a:lnTo>
                      <a:lnTo>
                        <a:pt x="3570" y="12591"/>
                      </a:lnTo>
                      <a:lnTo>
                        <a:pt x="4872" y="13469"/>
                      </a:lnTo>
                      <a:lnTo>
                        <a:pt x="6019" y="14242"/>
                      </a:lnTo>
                      <a:lnTo>
                        <a:pt x="6462" y="14646"/>
                      </a:lnTo>
                      <a:lnTo>
                        <a:pt x="6826" y="15050"/>
                      </a:lnTo>
                      <a:lnTo>
                        <a:pt x="6931" y="15260"/>
                      </a:lnTo>
                      <a:lnTo>
                        <a:pt x="7009" y="15454"/>
                      </a:lnTo>
                      <a:lnTo>
                        <a:pt x="7113" y="15664"/>
                      </a:lnTo>
                      <a:lnTo>
                        <a:pt x="7113" y="15857"/>
                      </a:lnTo>
                      <a:lnTo>
                        <a:pt x="7113" y="16367"/>
                      </a:lnTo>
                      <a:lnTo>
                        <a:pt x="7113" y="16876"/>
                      </a:lnTo>
                      <a:lnTo>
                        <a:pt x="7113" y="17403"/>
                      </a:lnTo>
                      <a:lnTo>
                        <a:pt x="7113" y="17947"/>
                      </a:lnTo>
                      <a:lnTo>
                        <a:pt x="7113" y="18422"/>
                      </a:lnTo>
                      <a:lnTo>
                        <a:pt x="7113" y="18791"/>
                      </a:lnTo>
                      <a:lnTo>
                        <a:pt x="7113" y="19037"/>
                      </a:lnTo>
                      <a:lnTo>
                        <a:pt x="7113" y="19124"/>
                      </a:lnTo>
                      <a:lnTo>
                        <a:pt x="7113" y="19370"/>
                      </a:lnTo>
                      <a:lnTo>
                        <a:pt x="7166" y="19634"/>
                      </a:lnTo>
                      <a:lnTo>
                        <a:pt x="7270" y="19879"/>
                      </a:lnTo>
                      <a:lnTo>
                        <a:pt x="7425" y="20107"/>
                      </a:lnTo>
                      <a:lnTo>
                        <a:pt x="7582" y="20318"/>
                      </a:lnTo>
                      <a:lnTo>
                        <a:pt x="7765" y="20511"/>
                      </a:lnTo>
                      <a:lnTo>
                        <a:pt x="7973" y="20722"/>
                      </a:lnTo>
                      <a:lnTo>
                        <a:pt x="8233" y="20881"/>
                      </a:lnTo>
                      <a:lnTo>
                        <a:pt x="8468" y="21056"/>
                      </a:lnTo>
                      <a:lnTo>
                        <a:pt x="8729" y="21196"/>
                      </a:lnTo>
                      <a:lnTo>
                        <a:pt x="9015" y="21319"/>
                      </a:lnTo>
                      <a:lnTo>
                        <a:pt x="9380" y="21425"/>
                      </a:lnTo>
                      <a:lnTo>
                        <a:pt x="9719" y="21495"/>
                      </a:lnTo>
                      <a:lnTo>
                        <a:pt x="10084" y="21565"/>
                      </a:lnTo>
                      <a:lnTo>
                        <a:pt x="10422" y="21600"/>
                      </a:lnTo>
                      <a:lnTo>
                        <a:pt x="10786" y="21600"/>
                      </a:lnTo>
                      <a:close/>
                    </a:path>
                  </a:pathLst>
                </a:custGeom>
                <a:solidFill>
                  <a:srgbClr val="FFFB00"/>
                </a:solid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sp>
              <p:nvSpPr>
                <p:cNvPr id="731" name="Shape"/>
                <p:cNvSpPr/>
                <p:nvPr/>
              </p:nvSpPr>
              <p:spPr>
                <a:xfrm>
                  <a:off x="48175" y="100859"/>
                  <a:ext cx="56057" cy="101971"/>
                </a:xfrm>
                <a:custGeom>
                  <a:avLst/>
                  <a:gdLst/>
                  <a:ahLst/>
                  <a:cxnLst>
                    <a:cxn ang="0">
                      <a:pos x="wd2" y="hd2"/>
                    </a:cxn>
                    <a:cxn ang="5400000">
                      <a:pos x="wd2" y="hd2"/>
                    </a:cxn>
                    <a:cxn ang="10800000">
                      <a:pos x="wd2" y="hd2"/>
                    </a:cxn>
                    <a:cxn ang="16200000">
                      <a:pos x="wd2" y="hd2"/>
                    </a:cxn>
                  </a:cxnLst>
                  <a:rect l="0" t="0" r="r" b="b"/>
                  <a:pathLst>
                    <a:path w="21600" h="21600" extrusionOk="0">
                      <a:moveTo>
                        <a:pt x="6354" y="10918"/>
                      </a:moveTo>
                      <a:lnTo>
                        <a:pt x="4448" y="5578"/>
                      </a:lnTo>
                      <a:lnTo>
                        <a:pt x="1060" y="1305"/>
                      </a:lnTo>
                      <a:lnTo>
                        <a:pt x="0" y="235"/>
                      </a:lnTo>
                      <a:lnTo>
                        <a:pt x="4448" y="1424"/>
                      </a:lnTo>
                      <a:lnTo>
                        <a:pt x="7835" y="0"/>
                      </a:lnTo>
                      <a:lnTo>
                        <a:pt x="11647" y="1305"/>
                      </a:lnTo>
                      <a:lnTo>
                        <a:pt x="14610" y="0"/>
                      </a:lnTo>
                      <a:lnTo>
                        <a:pt x="17576" y="1186"/>
                      </a:lnTo>
                      <a:lnTo>
                        <a:pt x="21600" y="235"/>
                      </a:lnTo>
                      <a:lnTo>
                        <a:pt x="16304" y="6053"/>
                      </a:lnTo>
                      <a:lnTo>
                        <a:pt x="14822" y="10918"/>
                      </a:lnTo>
                      <a:moveTo>
                        <a:pt x="778" y="14359"/>
                      </a:moveTo>
                      <a:lnTo>
                        <a:pt x="20681" y="14359"/>
                      </a:lnTo>
                      <a:lnTo>
                        <a:pt x="20681" y="16852"/>
                      </a:lnTo>
                      <a:lnTo>
                        <a:pt x="778" y="16814"/>
                      </a:lnTo>
                      <a:lnTo>
                        <a:pt x="778" y="19226"/>
                      </a:lnTo>
                      <a:lnTo>
                        <a:pt x="20681" y="19304"/>
                      </a:lnTo>
                      <a:lnTo>
                        <a:pt x="20752" y="21600"/>
                      </a:lnTo>
                      <a:lnTo>
                        <a:pt x="848" y="21600"/>
                      </a:lnTo>
                    </a:path>
                  </a:pathLst>
                </a:custGeom>
                <a:noFill/>
                <a:ln w="3175" cap="flat">
                  <a:solidFill>
                    <a:srgbClr val="000000"/>
                  </a:solidFill>
                  <a:prstDash val="solid"/>
                  <a:round/>
                </a:ln>
                <a:effectLst/>
              </p:spPr>
              <p:txBody>
                <a:bodyPr wrap="square" lIns="50800" tIns="50800" rIns="50800" bIns="50800" numCol="1" anchor="ctr">
                  <a:noAutofit/>
                </a:bodyPr>
                <a:lstStyle/>
                <a:p>
                  <a:pPr>
                    <a:defRPr sz="2400">
                      <a:solidFill>
                        <a:srgbClr val="7B1142"/>
                      </a:solidFill>
                      <a:uFill>
                        <a:solidFill>
                          <a:srgbClr val="7B1142"/>
                        </a:solidFill>
                      </a:uFill>
                      <a:latin typeface="Times New Roman"/>
                      <a:ea typeface="Times New Roman"/>
                      <a:cs typeface="Times New Roman"/>
                      <a:sym typeface="Times New Roman"/>
                    </a:defRPr>
                  </a:pPr>
                  <a:endParaRPr/>
                </a:p>
              </p:txBody>
            </p:sp>
          </p:gr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mc:Choice>
    <mc:Fallback>
      <p:transition spd="med"/>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4" grpId="0" animBg="1" advAuto="0"/>
    </p:bld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xmlns:r="http://schemas.openxmlformats.org/officeDocument/2006/relationships" xmlns:p="http://schemas.openxmlformats.org/presentationml/2006/main" name="White">
  <a:themeElements>
    <a:clrScheme name="White">
      <a:dk1>
        <a:srgbClr val="727272"/>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rebuchet MS"/>
        <a:ea typeface="Trebuchet MS"/>
        <a:cs typeface="Trebuchet MS"/>
      </a:majorFont>
      <a:minorFont>
        <a:latin typeface="Trebuchet MS"/>
        <a:ea typeface="Trebuchet MS"/>
        <a:cs typeface="Trebuchet M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101600" dir="2700000" rotWithShape="0">
              <a:srgbClr val="929292"/>
            </a:outerShdw>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000000"/>
        </a:lnRef>
        <a:fillRef idx="0">
          <a:srgbClr val="000000"/>
        </a:fillRef>
        <a:effectRef idx="0">
          <a:srgbClr val="000000"/>
        </a:effectRef>
        <a:fontRef idx="none"/>
      </a:style>
    </a:spDef>
    <a:lnDef>
      <a:spPr>
        <a:no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000000"/>
        </a:lnRef>
        <a:fillRef idx="0">
          <a:srgbClr val="000000"/>
        </a:fillRef>
        <a:effectRef idx="0">
          <a:srgbClr val="00000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000000"/>
        </a:lnRef>
        <a:fillRef idx="0">
          <a:srgbClr val="000000"/>
        </a:fillRef>
        <a:effectRef idx="0">
          <a:srgbClr val="000000"/>
        </a:effectRef>
        <a:fontRef idx="none"/>
      </a:style>
    </a:txDef>
  </a:objectDefaults>
</a:theme>
</file>

<file path=ppt/theme/theme2.xml><?xml version="1.0" encoding="utf-8"?>
<a:theme xmlns:a="http://schemas.openxmlformats.org/drawingml/2006/main" xmlns:r="http://schemas.openxmlformats.org/officeDocument/2006/relationships" xmlns:p="http://schemas.openxmlformats.org/presentation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Trebuchet MS"/>
        <a:ea typeface="Trebuchet MS"/>
        <a:cs typeface="Trebuchet MS"/>
      </a:majorFont>
      <a:minorFont>
        <a:latin typeface="Trebuchet MS"/>
        <a:ea typeface="Trebuchet MS"/>
        <a:cs typeface="Trebuchet M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101600" dir="2700000" rotWithShape="0">
              <a:srgbClr val="929292"/>
            </a:outerShdw>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0">
              <a:srgbClr val="3DA779"/>
            </a:gs>
            <a:gs pos="100000">
              <a:srgbClr val="1B573E"/>
            </a:gs>
          </a:gsLst>
          <a:lin ang="5400000" scaled="0"/>
        </a:grad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000000"/>
        </a:lnRef>
        <a:fillRef idx="0">
          <a:srgbClr val="000000"/>
        </a:fillRef>
        <a:effectRef idx="0">
          <a:srgbClr val="000000"/>
        </a:effectRef>
        <a:fontRef idx="none"/>
      </a:style>
    </a:spDef>
    <a:lnDef>
      <a:spPr>
        <a:noFill/>
        <a:ln w="12700" cap="flat">
          <a:solidFill>
            <a:srgbClr val="000000"/>
          </a:solidFill>
          <a:prstDash val="solid"/>
          <a:round/>
        </a:ln>
        <a:effectLst>
          <a:outerShdw blurRad="63500" dist="101600" dir="2700000" rotWithShape="0">
            <a:srgbClr val="929292"/>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000000"/>
        </a:lnRef>
        <a:fillRef idx="0">
          <a:srgbClr val="000000"/>
        </a:fillRef>
        <a:effectRef idx="0">
          <a:srgbClr val="00000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40639" marR="40639"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727272"/>
            </a:solidFill>
            <a:effectLst/>
            <a:uFill>
              <a:solidFill>
                <a:srgbClr val="727272"/>
              </a:solidFill>
            </a:uFill>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000000"/>
        </a:lnRef>
        <a:fillRef idx="0">
          <a:srgbClr val="000000"/>
        </a:fillRef>
        <a:effectRef idx="0">
          <a:srgbClr val="000000"/>
        </a:effectRef>
        <a:fontRef idx="none"/>
      </a:style>
    </a:txDef>
  </a:objectDefaults>
</a:theme>
</file>

<file path=docProps/app.xml><?xml version="1.0" encoding="utf-8"?>
<Properties xmlns="http://schemas.openxmlformats.org/officeDocument/2006/extended-properties" xmlns:vt="http://schemas.openxmlformats.org/officeDocument/2006/docPropsVTypes">
  <TotalTime>4382</TotalTime>
  <Words>2708</Words>
  <Application>ONLYOFFICE/9.3.1.8</Application>
  <PresentationFormat>On-screen Show (4:3)</PresentationFormat>
  <Paragraphs>595</Paragraphs>
  <Slides>36</Slides>
  <Notes>1</Notes>
  <HiddenSlides>0</HiddenSlides>
  <MMClips>0</MMClips>
  <ScaleCrop>0</ScaleCrop>
  <HeadingPairs>
    <vt:vector size="4" baseType="variant">
      <vt:variant>
        <vt:lpstr>Theme</vt:lpstr>
      </vt:variant>
      <vt:variant>
        <vt:i4>1</vt:i4>
      </vt:variant>
      <vt:variant>
        <vt:lpstr>Slide Titles</vt:lpstr>
      </vt:variant>
      <vt:variant>
        <vt:i4>36</vt:i4>
      </vt:variant>
    </vt:vector>
  </HeadingPairs>
  <TitlesOfParts>
    <vt:vector size="3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Nine, MD S Zulkar</cp:lastModifiedBy>
  <cp:revision>14</cp:revision>
  <dcterms:modified xsi:type="dcterms:W3CDTF">2026-03-04T16:24:26Z</dcterms:modified>
</cp:coreProperties>
</file>