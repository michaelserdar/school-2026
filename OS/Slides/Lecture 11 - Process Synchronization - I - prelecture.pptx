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7" r:id="rId3"/>
    <p:sldId id="258" r:id="rId4"/>
    <p:sldId id="300" r:id="rId5"/>
    <p:sldId id="259" r:id="rId6"/>
    <p:sldId id="303" r:id="rId7"/>
    <p:sldId id="291" r:id="rId8"/>
    <p:sldId id="260" r:id="rId9"/>
    <p:sldId id="261" r:id="rId10"/>
    <p:sldId id="304" r:id="rId11"/>
    <p:sldId id="262" r:id="rId12"/>
    <p:sldId id="263" r:id="rId13"/>
    <p:sldId id="264" r:id="rId14"/>
    <p:sldId id="265" r:id="rId15"/>
    <p:sldId id="292" r:id="rId16"/>
    <p:sldId id="267" r:id="rId17"/>
    <p:sldId id="268" r:id="rId18"/>
    <p:sldId id="293" r:id="rId19"/>
    <p:sldId id="269" r:id="rId20"/>
    <p:sldId id="294" r:id="rId21"/>
    <p:sldId id="270" r:id="rId22"/>
    <p:sldId id="271" r:id="rId23"/>
    <p:sldId id="305" r:id="rId24"/>
    <p:sldId id="295" r:id="rId25"/>
    <p:sldId id="296" r:id="rId26"/>
    <p:sldId id="274" r:id="rId27"/>
    <p:sldId id="306" r:id="rId28"/>
    <p:sldId id="275" r:id="rId29"/>
    <p:sldId id="276" r:id="rId30"/>
    <p:sldId id="297" r:id="rId31"/>
    <p:sldId id="278" r:id="rId32"/>
    <p:sldId id="307" r:id="rId33"/>
    <p:sldId id="279" r:id="rId34"/>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40639" marR="40639"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lvl1pPr>
    <a:lvl2pPr marL="40639" marR="40639" indent="2667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lvl2pPr>
    <a:lvl3pPr marL="40639" marR="40639" indent="533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lvl3pPr>
    <a:lvl4pPr marL="40639" marR="40639" indent="800099"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lvl4pPr>
    <a:lvl5pPr marL="40639" marR="40639" indent="1066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lvl5pPr>
    <a:lvl6pPr marL="40639" marR="40639" indent="13335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lvl6pPr>
    <a:lvl7pPr marL="40639" marR="40639" indent="16129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lvl7pPr>
    <a:lvl8pPr marL="40639" marR="40639" indent="1879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lvl8pPr>
    <a:lvl9pPr marL="40639" marR="40639" indent="21463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8F44A2F1-9E1F-4B54-A3A2-5F16C0AD49E2}" styleName="">
    <a:tblBg/>
    <a:wholeTbl>
      <a:tcTxStyle b="off" i="off">
        <a:fontRef idx="minor">
          <a:srgbClr val="727272"/>
        </a:fontRef>
        <a:srgbClr val="727272"/>
      </a:tcTxStyle>
      <a:tcStyle>
        <a:tcBdr>
          <a:left>
            <a:ln w="12700" cap="flat">
              <a:solidFill>
                <a:srgbClr val="727272"/>
              </a:solidFill>
              <a:prstDash val="solid"/>
              <a:miter lim="400000"/>
            </a:ln>
          </a:left>
          <a:right>
            <a:ln w="12700" cap="flat">
              <a:solidFill>
                <a:srgbClr val="727272"/>
              </a:solidFill>
              <a:prstDash val="solid"/>
              <a:miter lim="400000"/>
            </a:ln>
          </a:right>
          <a:top>
            <a:ln w="12700" cap="flat">
              <a:solidFill>
                <a:srgbClr val="727272"/>
              </a:solidFill>
              <a:prstDash val="solid"/>
              <a:miter lim="400000"/>
            </a:ln>
          </a:top>
          <a:bottom>
            <a:ln w="12700" cap="flat">
              <a:solidFill>
                <a:srgbClr val="727272"/>
              </a:solidFill>
              <a:prstDash val="solid"/>
              <a:miter lim="400000"/>
            </a:ln>
          </a:bottom>
          <a:insideH>
            <a:ln w="12700" cap="flat">
              <a:solidFill>
                <a:srgbClr val="727272"/>
              </a:solidFill>
              <a:prstDash val="solid"/>
              <a:miter lim="400000"/>
            </a:ln>
          </a:insideH>
          <a:insideV>
            <a:ln w="12700" cap="flat">
              <a:solidFill>
                <a:srgbClr val="727272"/>
              </a:solidFill>
              <a:prstDash val="solid"/>
              <a:miter lim="400000"/>
            </a:ln>
          </a:insideV>
        </a:tcBdr>
        <a:fill>
          <a:noFill/>
        </a:fill>
      </a:tcStyle>
    </a:wholeTbl>
    <a:band2H>
      <a:tcTxStyle/>
      <a:tcStyle>
        <a:tcBdr/>
        <a:fill>
          <a:solidFill>
            <a:srgbClr val="EFF1F3"/>
          </a:solidFill>
        </a:fill>
      </a:tcStyle>
    </a:band2H>
    <a:firstCol>
      <a:tcTxStyle b="off" i="off">
        <a:fontRef idx="minor">
          <a:srgbClr val="727272"/>
        </a:fontRef>
        <a:srgbClr val="727272"/>
      </a:tcTxStyle>
      <a:tcStyle>
        <a:tcBdr>
          <a:left>
            <a:ln w="28575" cap="flat">
              <a:solidFill>
                <a:srgbClr val="727272"/>
              </a:solidFill>
              <a:prstDash val="solid"/>
              <a:miter lim="400000"/>
            </a:ln>
          </a:left>
          <a:right>
            <a:ln w="12700" cap="flat">
              <a:solidFill>
                <a:srgbClr val="727272"/>
              </a:solidFill>
              <a:prstDash val="solid"/>
              <a:miter lim="400000"/>
            </a:ln>
          </a:right>
          <a:top>
            <a:ln w="12700" cap="flat">
              <a:solidFill>
                <a:srgbClr val="727272"/>
              </a:solidFill>
              <a:prstDash val="solid"/>
              <a:miter lim="400000"/>
            </a:ln>
          </a:top>
          <a:bottom>
            <a:ln w="12700" cap="flat">
              <a:solidFill>
                <a:srgbClr val="727272"/>
              </a:solidFill>
              <a:prstDash val="solid"/>
              <a:miter lim="400000"/>
            </a:ln>
          </a:bottom>
          <a:insideH>
            <a:ln w="12700" cap="flat">
              <a:solidFill>
                <a:srgbClr val="727272"/>
              </a:solidFill>
              <a:prstDash val="solid"/>
              <a:miter lim="400000"/>
            </a:ln>
          </a:insideH>
          <a:insideV>
            <a:ln w="12700" cap="flat">
              <a:solidFill>
                <a:srgbClr val="727272"/>
              </a:solidFill>
              <a:prstDash val="solid"/>
              <a:miter lim="400000"/>
            </a:ln>
          </a:insideV>
        </a:tcBdr>
        <a:fill>
          <a:solidFill>
            <a:srgbClr val="000000">
              <a:alpha val="25000"/>
            </a:srgbClr>
          </a:solidFill>
        </a:fill>
      </a:tcStyle>
    </a:firstCol>
    <a:lastRow>
      <a:tcTxStyle b="off" i="off">
        <a:fontRef idx="minor">
          <a:srgbClr val="727272"/>
        </a:fontRef>
        <a:srgbClr val="727272"/>
      </a:tcTxStyle>
      <a:tcStyle>
        <a:tcBdr>
          <a:left>
            <a:ln w="12700" cap="flat">
              <a:solidFill>
                <a:srgbClr val="727272"/>
              </a:solidFill>
              <a:prstDash val="solid"/>
              <a:miter lim="400000"/>
            </a:ln>
          </a:left>
          <a:right>
            <a:ln w="12700" cap="flat">
              <a:solidFill>
                <a:srgbClr val="727272"/>
              </a:solidFill>
              <a:prstDash val="solid"/>
              <a:miter lim="400000"/>
            </a:ln>
          </a:right>
          <a:top>
            <a:ln w="12700" cap="flat">
              <a:solidFill>
                <a:srgbClr val="727272"/>
              </a:solidFill>
              <a:prstDash val="solid"/>
              <a:miter lim="400000"/>
            </a:ln>
          </a:top>
          <a:bottom>
            <a:ln w="28575" cap="flat">
              <a:solidFill>
                <a:srgbClr val="727272"/>
              </a:solidFill>
              <a:prstDash val="solid"/>
              <a:miter lim="400000"/>
            </a:ln>
          </a:bottom>
          <a:insideH>
            <a:ln w="12700" cap="flat">
              <a:solidFill>
                <a:srgbClr val="727272"/>
              </a:solidFill>
              <a:prstDash val="solid"/>
              <a:miter lim="400000"/>
            </a:ln>
          </a:insideH>
          <a:insideV>
            <a:ln w="12700" cap="flat">
              <a:solidFill>
                <a:srgbClr val="727272"/>
              </a:solidFill>
              <a:prstDash val="solid"/>
              <a:miter lim="400000"/>
            </a:ln>
          </a:insideV>
        </a:tcBdr>
        <a:fill>
          <a:solidFill>
            <a:srgbClr val="000000">
              <a:alpha val="25000"/>
            </a:srgbClr>
          </a:solidFill>
        </a:fill>
      </a:tcStyle>
    </a:lastRow>
    <a:firstRow>
      <a:tcTxStyle b="off" i="off">
        <a:fontRef idx="minor">
          <a:srgbClr val="727272"/>
        </a:fontRef>
        <a:srgbClr val="727272"/>
      </a:tcTxStyle>
      <a:tcStyle>
        <a:tcBdr>
          <a:left>
            <a:ln w="12700" cap="flat">
              <a:solidFill>
                <a:srgbClr val="727272"/>
              </a:solidFill>
              <a:prstDash val="solid"/>
              <a:miter lim="400000"/>
            </a:ln>
          </a:left>
          <a:right>
            <a:ln w="12700" cap="flat">
              <a:solidFill>
                <a:srgbClr val="727272"/>
              </a:solidFill>
              <a:prstDash val="solid"/>
              <a:miter lim="400000"/>
            </a:ln>
          </a:right>
          <a:top>
            <a:ln w="28575" cap="flat">
              <a:solidFill>
                <a:srgbClr val="727272"/>
              </a:solidFill>
              <a:prstDash val="solid"/>
              <a:miter lim="400000"/>
            </a:ln>
          </a:top>
          <a:bottom>
            <a:ln w="12700" cap="flat">
              <a:solidFill>
                <a:srgbClr val="727272"/>
              </a:solidFill>
              <a:prstDash val="solid"/>
              <a:miter lim="400000"/>
            </a:ln>
          </a:bottom>
          <a:insideH>
            <a:ln w="12700" cap="flat">
              <a:solidFill>
                <a:srgbClr val="727272"/>
              </a:solidFill>
              <a:prstDash val="solid"/>
              <a:miter lim="400000"/>
            </a:ln>
          </a:insideH>
          <a:insideV>
            <a:ln w="12700" cap="flat">
              <a:solidFill>
                <a:srgbClr val="727272"/>
              </a:solidFill>
              <a:prstDash val="solid"/>
              <a:miter lim="400000"/>
            </a:ln>
          </a:insideV>
        </a:tcBdr>
        <a:fill>
          <a:solidFill>
            <a:srgbClr val="000000">
              <a:alpha val="25000"/>
            </a:srgbClr>
          </a:solidFill>
        </a:fill>
      </a:tcStyle>
    </a:firstRow>
  </a:tblStyle>
  <a:tblStyle styleId="{C7B018BB-80A7-4F77-B60F-C8B233D01FF8}" styleName="">
    <a:tblBg/>
    <a:wholeTbl>
      <a:tcTxStyle>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a:font>
          <a:latin typeface="Helvetica Neue Medium"/>
          <a:ea typeface="Helvetica Neue Medium"/>
          <a:cs typeface="Helvetica Neue Medium"/>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a:font>
          <a:latin typeface="Helvetica Neue Medium"/>
          <a:ea typeface="Helvetica Neue Medium"/>
          <a:cs typeface="Helvetica Neue Medium"/>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96"/>
    <p:restoredTop sz="94558"/>
  </p:normalViewPr>
  <p:slideViewPr>
    <p:cSldViewPr snapToGrid="0">
      <p:cViewPr varScale="1">
        <p:scale>
          <a:sx n="121" d="100"/>
          <a:sy n="121" d="100"/>
        </p:scale>
        <p:origin x="211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7" name="Shape 37"/>
          <p:cNvSpPr>
            <a:spLocks noGrp="1" noRot="1" noChangeAspect="1"/>
          </p:cNvSpPr>
          <p:nvPr>
            <p:ph type="sldImg"/>
          </p:nvPr>
        </p:nvSpPr>
        <p:spPr>
          <a:xfrm>
            <a:off x="1143000" y="685800"/>
            <a:ext cx="4572000" cy="3429000"/>
          </a:xfrm>
          <a:prstGeom prst="rect">
            <a:avLst/>
          </a:prstGeom>
        </p:spPr>
        <p:txBody>
          <a:bodyPr/>
          <a:lstStyle/>
          <a:p>
            <a:endParaRPr/>
          </a:p>
        </p:txBody>
      </p:sp>
      <p:sp>
        <p:nvSpPr>
          <p:cNvPr id="38" name="Shape 3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defRPr sz="1600">
        <a:latin typeface="Lucida Grande"/>
        <a:ea typeface="Lucida Grande"/>
        <a:cs typeface="Lucida Grande"/>
        <a:sym typeface="Lucida Grande"/>
      </a:defRPr>
    </a:lvl1pPr>
    <a:lvl2pPr indent="228600" defTabSz="457200" latinLnBrk="0">
      <a:defRPr sz="1600">
        <a:latin typeface="Lucida Grande"/>
        <a:ea typeface="Lucida Grande"/>
        <a:cs typeface="Lucida Grande"/>
        <a:sym typeface="Lucida Grande"/>
      </a:defRPr>
    </a:lvl2pPr>
    <a:lvl3pPr indent="457200" defTabSz="457200" latinLnBrk="0">
      <a:defRPr sz="1600">
        <a:latin typeface="Lucida Grande"/>
        <a:ea typeface="Lucida Grande"/>
        <a:cs typeface="Lucida Grande"/>
        <a:sym typeface="Lucida Grande"/>
      </a:defRPr>
    </a:lvl3pPr>
    <a:lvl4pPr indent="685800" defTabSz="457200" latinLnBrk="0">
      <a:defRPr sz="1600">
        <a:latin typeface="Lucida Grande"/>
        <a:ea typeface="Lucida Grande"/>
        <a:cs typeface="Lucida Grande"/>
        <a:sym typeface="Lucida Grande"/>
      </a:defRPr>
    </a:lvl4pPr>
    <a:lvl5pPr indent="914400" defTabSz="457200" latinLnBrk="0">
      <a:defRPr sz="1600">
        <a:latin typeface="Lucida Grande"/>
        <a:ea typeface="Lucida Grande"/>
        <a:cs typeface="Lucida Grande"/>
        <a:sym typeface="Lucida Grande"/>
      </a:defRPr>
    </a:lvl5pPr>
    <a:lvl6pPr indent="1143000" defTabSz="457200" latinLnBrk="0">
      <a:defRPr sz="1600">
        <a:latin typeface="Lucida Grande"/>
        <a:ea typeface="Lucida Grande"/>
        <a:cs typeface="Lucida Grande"/>
        <a:sym typeface="Lucida Grande"/>
      </a:defRPr>
    </a:lvl6pPr>
    <a:lvl7pPr indent="1371600" defTabSz="457200" latinLnBrk="0">
      <a:defRPr sz="1600">
        <a:latin typeface="Lucida Grande"/>
        <a:ea typeface="Lucida Grande"/>
        <a:cs typeface="Lucida Grande"/>
        <a:sym typeface="Lucida Grande"/>
      </a:defRPr>
    </a:lvl7pPr>
    <a:lvl8pPr indent="1600200" defTabSz="457200" latinLnBrk="0">
      <a:defRPr sz="1600">
        <a:latin typeface="Lucida Grande"/>
        <a:ea typeface="Lucida Grande"/>
        <a:cs typeface="Lucida Grande"/>
        <a:sym typeface="Lucida Grande"/>
      </a:defRPr>
    </a:lvl8pPr>
    <a:lvl9pPr indent="1828800" defTabSz="457200" latinLnBrk="0">
      <a:defRPr sz="16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22550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1" name="Title Text"/>
          <p:cNvSpPr txBox="1">
            <a:spLocks noGrp="1"/>
          </p:cNvSpPr>
          <p:nvPr>
            <p:ph type="title"/>
          </p:nvPr>
        </p:nvSpPr>
        <p:spPr>
          <a:prstGeom prst="rect">
            <a:avLst/>
          </a:prstGeom>
        </p:spPr>
        <p:txBody>
          <a:bodyPr/>
          <a:lstStyle/>
          <a:p>
            <a:r>
              <a:t>Title Text</a:t>
            </a:r>
          </a:p>
        </p:txBody>
      </p:sp>
      <p:sp>
        <p:nvSpPr>
          <p:cNvPr id="1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Bullets copy 4">
    <p:spTree>
      <p:nvGrpSpPr>
        <p:cNvPr id="1" name=""/>
        <p:cNvGrpSpPr/>
        <p:nvPr/>
      </p:nvGrpSpPr>
      <p:grpSpPr>
        <a:xfrm>
          <a:off x="0" y="0"/>
          <a:ext cx="0" cy="0"/>
          <a:chOff x="0" y="0"/>
          <a:chExt cx="0" cy="0"/>
        </a:xfrm>
      </p:grpSpPr>
      <p:sp>
        <p:nvSpPr>
          <p:cNvPr id="29" name="Title Text"/>
          <p:cNvSpPr txBox="1">
            <a:spLocks noGrp="1"/>
          </p:cNvSpPr>
          <p:nvPr>
            <p:ph type="title"/>
          </p:nvPr>
        </p:nvSpPr>
        <p:spPr>
          <a:xfrm>
            <a:off x="457200" y="0"/>
            <a:ext cx="8229600" cy="1692275"/>
          </a:xfrm>
          <a:prstGeom prst="rect">
            <a:avLst/>
          </a:prstGeom>
        </p:spPr>
        <p:txBody>
          <a:bodyPr/>
          <a:lstStyle/>
          <a:p>
            <a:r>
              <a:t>Title Text</a:t>
            </a:r>
          </a:p>
        </p:txBody>
      </p:sp>
      <p:sp>
        <p:nvSpPr>
          <p:cNvPr id="30"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57200" y="92074"/>
            <a:ext cx="8229600" cy="1508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p>
            <a:r>
              <a:t>Title Text</a:t>
            </a:r>
          </a:p>
        </p:txBody>
      </p:sp>
      <p:sp>
        <p:nvSpPr>
          <p:cNvPr id="3" name="Body Level One…"/>
          <p:cNvSpPr txBox="1">
            <a:spLocks noGrp="1"/>
          </p:cNvSpPr>
          <p:nvPr>
            <p:ph type="body" idx="1"/>
          </p:nvPr>
        </p:nvSpPr>
        <p:spPr>
          <a:xfrm>
            <a:off x="457200" y="1600200"/>
            <a:ext cx="82296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lstStyle>
            <a:lvl2pPr marL="783590" indent="-285750">
              <a:spcBef>
                <a:spcPts val="400"/>
              </a:spcBef>
              <a:buChar char="–"/>
              <a:defRPr sz="2000"/>
            </a:lvl2pPr>
            <a:lvl3pPr marL="1183639" indent="-228600">
              <a:spcBef>
                <a:spcPts val="400"/>
              </a:spcBef>
              <a:defRPr sz="1800"/>
            </a:lvl3pPr>
            <a:lvl4pPr marL="1640839" indent="-228600">
              <a:spcBef>
                <a:spcPts val="300"/>
              </a:spcBef>
              <a:buChar char="–"/>
              <a:defRPr sz="1600"/>
            </a:lvl4pPr>
            <a:lvl5pPr marL="2098039" indent="-228600">
              <a:spcBef>
                <a:spcPts val="300"/>
              </a:spcBef>
              <a:buChar char="»"/>
              <a:defRPr sz="1600"/>
            </a:lvl5p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7737016" y="6381750"/>
            <a:ext cx="312068" cy="298984"/>
          </a:xfrm>
          <a:prstGeom prst="rect">
            <a:avLst/>
          </a:prstGeom>
          <a:ln w="12700">
            <a:miter lim="400000"/>
          </a:ln>
        </p:spPr>
        <p:txBody>
          <a:bodyPr wrap="none" lIns="50800" tIns="50800" rIns="50800" bIns="50800">
            <a:spAutoFit/>
          </a:bodyPr>
          <a:lstStyle>
            <a:lvl1pPr marL="0" marR="0" algn="ctr" defTabSz="457200">
              <a:defRPr sz="14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Lst>
  <p:transition spd="med"/>
  <p:txStyles>
    <p:titleStyle>
      <a:lvl1pPr marL="40639" marR="40639" indent="0" algn="ctr" defTabSz="914400" rtl="0" latinLnBrk="0">
        <a:lnSpc>
          <a:spcPct val="100000"/>
        </a:lnSpc>
        <a:spcBef>
          <a:spcPts val="0"/>
        </a:spcBef>
        <a:spcAft>
          <a:spcPts val="0"/>
        </a:spcAft>
        <a:buClrTx/>
        <a:buSzTx/>
        <a:buFontTx/>
        <a:buNone/>
        <a:tabLst/>
        <a:defRPr sz="3200" b="0" i="0" u="none" strike="noStrike" cap="none" spc="0" baseline="0">
          <a:solidFill>
            <a:srgbClr val="4180FF"/>
          </a:solidFill>
          <a:uFill>
            <a:solidFill>
              <a:srgbClr val="4180FF"/>
            </a:solidFill>
          </a:uFill>
          <a:latin typeface="+mn-lt"/>
          <a:ea typeface="+mn-ea"/>
          <a:cs typeface="+mn-cs"/>
          <a:sym typeface="Trebuchet MS"/>
        </a:defRPr>
      </a:lvl1pPr>
      <a:lvl2pPr marL="40639" marR="40639" indent="228600" algn="ctr" defTabSz="914400" rtl="0" latinLnBrk="0">
        <a:lnSpc>
          <a:spcPct val="100000"/>
        </a:lnSpc>
        <a:spcBef>
          <a:spcPts val="0"/>
        </a:spcBef>
        <a:spcAft>
          <a:spcPts val="0"/>
        </a:spcAft>
        <a:buClrTx/>
        <a:buSzTx/>
        <a:buFontTx/>
        <a:buNone/>
        <a:tabLst/>
        <a:defRPr sz="3200" b="0" i="0" u="none" strike="noStrike" cap="none" spc="0" baseline="0">
          <a:solidFill>
            <a:srgbClr val="4180FF"/>
          </a:solidFill>
          <a:uFill>
            <a:solidFill>
              <a:srgbClr val="4180FF"/>
            </a:solidFill>
          </a:uFill>
          <a:latin typeface="+mn-lt"/>
          <a:ea typeface="+mn-ea"/>
          <a:cs typeface="+mn-cs"/>
          <a:sym typeface="Trebuchet MS"/>
        </a:defRPr>
      </a:lvl2pPr>
      <a:lvl3pPr marL="40639" marR="40639" indent="457200" algn="ctr" defTabSz="914400" rtl="0" latinLnBrk="0">
        <a:lnSpc>
          <a:spcPct val="100000"/>
        </a:lnSpc>
        <a:spcBef>
          <a:spcPts val="0"/>
        </a:spcBef>
        <a:spcAft>
          <a:spcPts val="0"/>
        </a:spcAft>
        <a:buClrTx/>
        <a:buSzTx/>
        <a:buFontTx/>
        <a:buNone/>
        <a:tabLst/>
        <a:defRPr sz="3200" b="0" i="0" u="none" strike="noStrike" cap="none" spc="0" baseline="0">
          <a:solidFill>
            <a:srgbClr val="4180FF"/>
          </a:solidFill>
          <a:uFill>
            <a:solidFill>
              <a:srgbClr val="4180FF"/>
            </a:solidFill>
          </a:uFill>
          <a:latin typeface="+mn-lt"/>
          <a:ea typeface="+mn-ea"/>
          <a:cs typeface="+mn-cs"/>
          <a:sym typeface="Trebuchet MS"/>
        </a:defRPr>
      </a:lvl3pPr>
      <a:lvl4pPr marL="40639" marR="40639" indent="685800" algn="ctr" defTabSz="914400" rtl="0" latinLnBrk="0">
        <a:lnSpc>
          <a:spcPct val="100000"/>
        </a:lnSpc>
        <a:spcBef>
          <a:spcPts val="0"/>
        </a:spcBef>
        <a:spcAft>
          <a:spcPts val="0"/>
        </a:spcAft>
        <a:buClrTx/>
        <a:buSzTx/>
        <a:buFontTx/>
        <a:buNone/>
        <a:tabLst/>
        <a:defRPr sz="3200" b="0" i="0" u="none" strike="noStrike" cap="none" spc="0" baseline="0">
          <a:solidFill>
            <a:srgbClr val="4180FF"/>
          </a:solidFill>
          <a:uFill>
            <a:solidFill>
              <a:srgbClr val="4180FF"/>
            </a:solidFill>
          </a:uFill>
          <a:latin typeface="+mn-lt"/>
          <a:ea typeface="+mn-ea"/>
          <a:cs typeface="+mn-cs"/>
          <a:sym typeface="Trebuchet MS"/>
        </a:defRPr>
      </a:lvl4pPr>
      <a:lvl5pPr marL="40639" marR="40639" indent="914400" algn="ctr" defTabSz="914400" rtl="0" latinLnBrk="0">
        <a:lnSpc>
          <a:spcPct val="100000"/>
        </a:lnSpc>
        <a:spcBef>
          <a:spcPts val="0"/>
        </a:spcBef>
        <a:spcAft>
          <a:spcPts val="0"/>
        </a:spcAft>
        <a:buClrTx/>
        <a:buSzTx/>
        <a:buFontTx/>
        <a:buNone/>
        <a:tabLst/>
        <a:defRPr sz="3200" b="0" i="0" u="none" strike="noStrike" cap="none" spc="0" baseline="0">
          <a:solidFill>
            <a:srgbClr val="4180FF"/>
          </a:solidFill>
          <a:uFill>
            <a:solidFill>
              <a:srgbClr val="4180FF"/>
            </a:solidFill>
          </a:uFill>
          <a:latin typeface="+mn-lt"/>
          <a:ea typeface="+mn-ea"/>
          <a:cs typeface="+mn-cs"/>
          <a:sym typeface="Trebuchet MS"/>
        </a:defRPr>
      </a:lvl5pPr>
      <a:lvl6pPr marL="40639" marR="40639" indent="1143000" algn="ctr" defTabSz="914400" rtl="0" latinLnBrk="0">
        <a:lnSpc>
          <a:spcPct val="100000"/>
        </a:lnSpc>
        <a:spcBef>
          <a:spcPts val="0"/>
        </a:spcBef>
        <a:spcAft>
          <a:spcPts val="0"/>
        </a:spcAft>
        <a:buClrTx/>
        <a:buSzTx/>
        <a:buFontTx/>
        <a:buNone/>
        <a:tabLst/>
        <a:defRPr sz="3200" b="0" i="0" u="none" strike="noStrike" cap="none" spc="0" baseline="0">
          <a:solidFill>
            <a:srgbClr val="4180FF"/>
          </a:solidFill>
          <a:uFill>
            <a:solidFill>
              <a:srgbClr val="4180FF"/>
            </a:solidFill>
          </a:uFill>
          <a:latin typeface="+mn-lt"/>
          <a:ea typeface="+mn-ea"/>
          <a:cs typeface="+mn-cs"/>
          <a:sym typeface="Trebuchet MS"/>
        </a:defRPr>
      </a:lvl6pPr>
      <a:lvl7pPr marL="40639" marR="40639" indent="1371600" algn="ctr" defTabSz="914400" rtl="0" latinLnBrk="0">
        <a:lnSpc>
          <a:spcPct val="100000"/>
        </a:lnSpc>
        <a:spcBef>
          <a:spcPts val="0"/>
        </a:spcBef>
        <a:spcAft>
          <a:spcPts val="0"/>
        </a:spcAft>
        <a:buClrTx/>
        <a:buSzTx/>
        <a:buFontTx/>
        <a:buNone/>
        <a:tabLst/>
        <a:defRPr sz="3200" b="0" i="0" u="none" strike="noStrike" cap="none" spc="0" baseline="0">
          <a:solidFill>
            <a:srgbClr val="4180FF"/>
          </a:solidFill>
          <a:uFill>
            <a:solidFill>
              <a:srgbClr val="4180FF"/>
            </a:solidFill>
          </a:uFill>
          <a:latin typeface="+mn-lt"/>
          <a:ea typeface="+mn-ea"/>
          <a:cs typeface="+mn-cs"/>
          <a:sym typeface="Trebuchet MS"/>
        </a:defRPr>
      </a:lvl7pPr>
      <a:lvl8pPr marL="40639" marR="40639" indent="1600200" algn="ctr" defTabSz="914400" rtl="0" latinLnBrk="0">
        <a:lnSpc>
          <a:spcPct val="100000"/>
        </a:lnSpc>
        <a:spcBef>
          <a:spcPts val="0"/>
        </a:spcBef>
        <a:spcAft>
          <a:spcPts val="0"/>
        </a:spcAft>
        <a:buClrTx/>
        <a:buSzTx/>
        <a:buFontTx/>
        <a:buNone/>
        <a:tabLst/>
        <a:defRPr sz="3200" b="0" i="0" u="none" strike="noStrike" cap="none" spc="0" baseline="0">
          <a:solidFill>
            <a:srgbClr val="4180FF"/>
          </a:solidFill>
          <a:uFill>
            <a:solidFill>
              <a:srgbClr val="4180FF"/>
            </a:solidFill>
          </a:uFill>
          <a:latin typeface="+mn-lt"/>
          <a:ea typeface="+mn-ea"/>
          <a:cs typeface="+mn-cs"/>
          <a:sym typeface="Trebuchet MS"/>
        </a:defRPr>
      </a:lvl8pPr>
      <a:lvl9pPr marL="40639" marR="40639" indent="1828800" algn="ctr" defTabSz="914400" rtl="0" latinLnBrk="0">
        <a:lnSpc>
          <a:spcPct val="100000"/>
        </a:lnSpc>
        <a:spcBef>
          <a:spcPts val="0"/>
        </a:spcBef>
        <a:spcAft>
          <a:spcPts val="0"/>
        </a:spcAft>
        <a:buClrTx/>
        <a:buSzTx/>
        <a:buFontTx/>
        <a:buNone/>
        <a:tabLst/>
        <a:defRPr sz="3200" b="0" i="0" u="none" strike="noStrike" cap="none" spc="0" baseline="0">
          <a:solidFill>
            <a:srgbClr val="4180FF"/>
          </a:solidFill>
          <a:uFill>
            <a:solidFill>
              <a:srgbClr val="4180FF"/>
            </a:solidFill>
          </a:uFill>
          <a:latin typeface="+mn-lt"/>
          <a:ea typeface="+mn-ea"/>
          <a:cs typeface="+mn-cs"/>
          <a:sym typeface="Trebuchet MS"/>
        </a:defRPr>
      </a:lvl9pPr>
    </p:titleStyle>
    <p:bodyStyle>
      <a:lvl1pPr marL="383540" marR="40639" indent="-342900" algn="l" defTabSz="914400" rtl="0" latinLnBrk="0">
        <a:lnSpc>
          <a:spcPct val="100000"/>
        </a:lnSpc>
        <a:spcBef>
          <a:spcPts val="500"/>
        </a:spcBef>
        <a:spcAft>
          <a:spcPts val="0"/>
        </a:spcAft>
        <a:buClrTx/>
        <a:buSzPct val="100000"/>
        <a:buFontTx/>
        <a:buChar char="•"/>
        <a:tabLst/>
        <a:defRPr sz="2400" b="0" i="0" u="none" strike="noStrike" cap="none" spc="0" baseline="0">
          <a:solidFill>
            <a:srgbClr val="727272"/>
          </a:solidFill>
          <a:uFill>
            <a:solidFill>
              <a:srgbClr val="727272"/>
            </a:solidFill>
          </a:uFill>
          <a:latin typeface="+mn-lt"/>
          <a:ea typeface="+mn-ea"/>
          <a:cs typeface="+mn-cs"/>
          <a:sym typeface="Trebuchet MS"/>
        </a:defRPr>
      </a:lvl1pPr>
      <a:lvl2pPr marL="840739" marR="40639" indent="-342899" algn="l" defTabSz="914400" rtl="0" latinLnBrk="0">
        <a:lnSpc>
          <a:spcPct val="100000"/>
        </a:lnSpc>
        <a:spcBef>
          <a:spcPts val="500"/>
        </a:spcBef>
        <a:spcAft>
          <a:spcPts val="0"/>
        </a:spcAft>
        <a:buClrTx/>
        <a:buSzPct val="100000"/>
        <a:buFontTx/>
        <a:buChar char="•"/>
        <a:tabLst/>
        <a:defRPr sz="2400" b="0" i="0" u="none" strike="noStrike" cap="none" spc="0" baseline="0">
          <a:solidFill>
            <a:srgbClr val="727272"/>
          </a:solidFill>
          <a:uFill>
            <a:solidFill>
              <a:srgbClr val="727272"/>
            </a:solidFill>
          </a:uFill>
          <a:latin typeface="+mn-lt"/>
          <a:ea typeface="+mn-ea"/>
          <a:cs typeface="+mn-cs"/>
          <a:sym typeface="Trebuchet MS"/>
        </a:defRPr>
      </a:lvl2pPr>
      <a:lvl3pPr marL="1259839" marR="40639" indent="-304800" algn="l" defTabSz="914400" rtl="0" latinLnBrk="0">
        <a:lnSpc>
          <a:spcPct val="100000"/>
        </a:lnSpc>
        <a:spcBef>
          <a:spcPts val="500"/>
        </a:spcBef>
        <a:spcAft>
          <a:spcPts val="0"/>
        </a:spcAft>
        <a:buClrTx/>
        <a:buSzPct val="100000"/>
        <a:buFontTx/>
        <a:buChar char="•"/>
        <a:tabLst/>
        <a:defRPr sz="2400" b="0" i="0" u="none" strike="noStrike" cap="none" spc="0" baseline="0">
          <a:solidFill>
            <a:srgbClr val="727272"/>
          </a:solidFill>
          <a:uFill>
            <a:solidFill>
              <a:srgbClr val="727272"/>
            </a:solidFill>
          </a:uFill>
          <a:latin typeface="+mn-lt"/>
          <a:ea typeface="+mn-ea"/>
          <a:cs typeface="+mn-cs"/>
          <a:sym typeface="Trebuchet MS"/>
        </a:defRPr>
      </a:lvl3pPr>
      <a:lvl4pPr marL="1755139" marR="40639" indent="-342900" algn="l" defTabSz="914400" rtl="0" latinLnBrk="0">
        <a:lnSpc>
          <a:spcPct val="100000"/>
        </a:lnSpc>
        <a:spcBef>
          <a:spcPts val="500"/>
        </a:spcBef>
        <a:spcAft>
          <a:spcPts val="0"/>
        </a:spcAft>
        <a:buClrTx/>
        <a:buSzPct val="100000"/>
        <a:buFontTx/>
        <a:buChar char="•"/>
        <a:tabLst/>
        <a:defRPr sz="2400" b="0" i="0" u="none" strike="noStrike" cap="none" spc="0" baseline="0">
          <a:solidFill>
            <a:srgbClr val="727272"/>
          </a:solidFill>
          <a:uFill>
            <a:solidFill>
              <a:srgbClr val="727272"/>
            </a:solidFill>
          </a:uFill>
          <a:latin typeface="+mn-lt"/>
          <a:ea typeface="+mn-ea"/>
          <a:cs typeface="+mn-cs"/>
          <a:sym typeface="Trebuchet MS"/>
        </a:defRPr>
      </a:lvl4pPr>
      <a:lvl5pPr marL="2212339" marR="40639" indent="-342900" algn="l" defTabSz="914400" rtl="0" latinLnBrk="0">
        <a:lnSpc>
          <a:spcPct val="100000"/>
        </a:lnSpc>
        <a:spcBef>
          <a:spcPts val="500"/>
        </a:spcBef>
        <a:spcAft>
          <a:spcPts val="0"/>
        </a:spcAft>
        <a:buClrTx/>
        <a:buSzPct val="100000"/>
        <a:buFontTx/>
        <a:buChar char="•"/>
        <a:tabLst/>
        <a:defRPr sz="2400" b="0" i="0" u="none" strike="noStrike" cap="none" spc="0" baseline="0">
          <a:solidFill>
            <a:srgbClr val="727272"/>
          </a:solidFill>
          <a:uFill>
            <a:solidFill>
              <a:srgbClr val="727272"/>
            </a:solidFill>
          </a:uFill>
          <a:latin typeface="+mn-lt"/>
          <a:ea typeface="+mn-ea"/>
          <a:cs typeface="+mn-cs"/>
          <a:sym typeface="Trebuchet MS"/>
        </a:defRPr>
      </a:lvl5pPr>
      <a:lvl6pPr marL="2212339" marR="40639" indent="-342900" algn="l" defTabSz="914400" rtl="0" latinLnBrk="0">
        <a:lnSpc>
          <a:spcPct val="100000"/>
        </a:lnSpc>
        <a:spcBef>
          <a:spcPts val="500"/>
        </a:spcBef>
        <a:spcAft>
          <a:spcPts val="0"/>
        </a:spcAft>
        <a:buClrTx/>
        <a:buSzPct val="100000"/>
        <a:buFontTx/>
        <a:buChar char="•"/>
        <a:tabLst/>
        <a:defRPr sz="2400" b="0" i="0" u="none" strike="noStrike" cap="none" spc="0" baseline="0">
          <a:solidFill>
            <a:srgbClr val="727272"/>
          </a:solidFill>
          <a:uFill>
            <a:solidFill>
              <a:srgbClr val="727272"/>
            </a:solidFill>
          </a:uFill>
          <a:latin typeface="+mn-lt"/>
          <a:ea typeface="+mn-ea"/>
          <a:cs typeface="+mn-cs"/>
          <a:sym typeface="Trebuchet MS"/>
        </a:defRPr>
      </a:lvl6pPr>
      <a:lvl7pPr marL="2212339" marR="40639" indent="-342900" algn="l" defTabSz="914400" rtl="0" latinLnBrk="0">
        <a:lnSpc>
          <a:spcPct val="100000"/>
        </a:lnSpc>
        <a:spcBef>
          <a:spcPts val="500"/>
        </a:spcBef>
        <a:spcAft>
          <a:spcPts val="0"/>
        </a:spcAft>
        <a:buClrTx/>
        <a:buSzPct val="100000"/>
        <a:buFontTx/>
        <a:buChar char="•"/>
        <a:tabLst/>
        <a:defRPr sz="2400" b="0" i="0" u="none" strike="noStrike" cap="none" spc="0" baseline="0">
          <a:solidFill>
            <a:srgbClr val="727272"/>
          </a:solidFill>
          <a:uFill>
            <a:solidFill>
              <a:srgbClr val="727272"/>
            </a:solidFill>
          </a:uFill>
          <a:latin typeface="+mn-lt"/>
          <a:ea typeface="+mn-ea"/>
          <a:cs typeface="+mn-cs"/>
          <a:sym typeface="Trebuchet MS"/>
        </a:defRPr>
      </a:lvl7pPr>
      <a:lvl8pPr marL="2212339" marR="40639" indent="-342900" algn="l" defTabSz="914400" rtl="0" latinLnBrk="0">
        <a:lnSpc>
          <a:spcPct val="100000"/>
        </a:lnSpc>
        <a:spcBef>
          <a:spcPts val="500"/>
        </a:spcBef>
        <a:spcAft>
          <a:spcPts val="0"/>
        </a:spcAft>
        <a:buClrTx/>
        <a:buSzPct val="100000"/>
        <a:buFontTx/>
        <a:buChar char="•"/>
        <a:tabLst/>
        <a:defRPr sz="2400" b="0" i="0" u="none" strike="noStrike" cap="none" spc="0" baseline="0">
          <a:solidFill>
            <a:srgbClr val="727272"/>
          </a:solidFill>
          <a:uFill>
            <a:solidFill>
              <a:srgbClr val="727272"/>
            </a:solidFill>
          </a:uFill>
          <a:latin typeface="+mn-lt"/>
          <a:ea typeface="+mn-ea"/>
          <a:cs typeface="+mn-cs"/>
          <a:sym typeface="Trebuchet MS"/>
        </a:defRPr>
      </a:lvl8pPr>
      <a:lvl9pPr marL="2212339" marR="40639" indent="-342900" algn="l" defTabSz="914400" rtl="0" latinLnBrk="0">
        <a:lnSpc>
          <a:spcPct val="100000"/>
        </a:lnSpc>
        <a:spcBef>
          <a:spcPts val="500"/>
        </a:spcBef>
        <a:spcAft>
          <a:spcPts val="0"/>
        </a:spcAft>
        <a:buClrTx/>
        <a:buSzPct val="100000"/>
        <a:buFontTx/>
        <a:buChar char="•"/>
        <a:tabLst/>
        <a:defRPr sz="2400" b="0" i="0" u="none" strike="noStrike" cap="none" spc="0" baseline="0">
          <a:solidFill>
            <a:srgbClr val="727272"/>
          </a:solidFill>
          <a:uFill>
            <a:solidFill>
              <a:srgbClr val="727272"/>
            </a:solidFill>
          </a:uFill>
          <a:latin typeface="+mn-lt"/>
          <a:ea typeface="+mn-ea"/>
          <a:cs typeface="+mn-cs"/>
          <a:sym typeface="Trebuchet MS"/>
        </a:defRPr>
      </a:lvl9pPr>
    </p:bodyStyle>
    <p:otherStyle>
      <a:lvl1pPr marL="0" marR="0" indent="0" algn="ctr" defTabSz="457200" latinLnBrk="0">
        <a:lnSpc>
          <a:spcPct val="100000"/>
        </a:lnSpc>
        <a:spcBef>
          <a:spcPts val="0"/>
        </a:spcBef>
        <a:spcAft>
          <a:spcPts val="0"/>
        </a:spcAft>
        <a:buClrTx/>
        <a:buSzTx/>
        <a:buFontTx/>
        <a:buNone/>
        <a:tabLst/>
        <a:defRPr sz="1400" b="0" i="0" u="none" strike="noStrike" cap="none" spc="0" baseline="0">
          <a:solidFill>
            <a:schemeClr val="tx1"/>
          </a:solidFill>
          <a:uFill>
            <a:solidFill>
              <a:srgbClr val="727272"/>
            </a:solidFill>
          </a:uFill>
          <a:latin typeface="+mn-lt"/>
          <a:ea typeface="+mn-ea"/>
          <a:cs typeface="+mn-cs"/>
          <a:sym typeface="Arial"/>
        </a:defRPr>
      </a:lvl1pPr>
      <a:lvl2pPr marL="0" marR="0" indent="228600" algn="ctr" defTabSz="457200" latinLnBrk="0">
        <a:lnSpc>
          <a:spcPct val="100000"/>
        </a:lnSpc>
        <a:spcBef>
          <a:spcPts val="0"/>
        </a:spcBef>
        <a:spcAft>
          <a:spcPts val="0"/>
        </a:spcAft>
        <a:buClrTx/>
        <a:buSzTx/>
        <a:buFontTx/>
        <a:buNone/>
        <a:tabLst/>
        <a:defRPr sz="1400" b="0" i="0" u="none" strike="noStrike" cap="none" spc="0" baseline="0">
          <a:solidFill>
            <a:schemeClr val="tx1"/>
          </a:solidFill>
          <a:uFill>
            <a:solidFill>
              <a:srgbClr val="727272"/>
            </a:solidFill>
          </a:uFill>
          <a:latin typeface="+mn-lt"/>
          <a:ea typeface="+mn-ea"/>
          <a:cs typeface="+mn-cs"/>
          <a:sym typeface="Arial"/>
        </a:defRPr>
      </a:lvl2pPr>
      <a:lvl3pPr marL="0" marR="0" indent="457200" algn="ctr" defTabSz="457200" latinLnBrk="0">
        <a:lnSpc>
          <a:spcPct val="100000"/>
        </a:lnSpc>
        <a:spcBef>
          <a:spcPts val="0"/>
        </a:spcBef>
        <a:spcAft>
          <a:spcPts val="0"/>
        </a:spcAft>
        <a:buClrTx/>
        <a:buSzTx/>
        <a:buFontTx/>
        <a:buNone/>
        <a:tabLst/>
        <a:defRPr sz="1400" b="0" i="0" u="none" strike="noStrike" cap="none" spc="0" baseline="0">
          <a:solidFill>
            <a:schemeClr val="tx1"/>
          </a:solidFill>
          <a:uFill>
            <a:solidFill>
              <a:srgbClr val="727272"/>
            </a:solidFill>
          </a:uFill>
          <a:latin typeface="+mn-lt"/>
          <a:ea typeface="+mn-ea"/>
          <a:cs typeface="+mn-cs"/>
          <a:sym typeface="Arial"/>
        </a:defRPr>
      </a:lvl3pPr>
      <a:lvl4pPr marL="0" marR="0" indent="685800" algn="ctr" defTabSz="457200" latinLnBrk="0">
        <a:lnSpc>
          <a:spcPct val="100000"/>
        </a:lnSpc>
        <a:spcBef>
          <a:spcPts val="0"/>
        </a:spcBef>
        <a:spcAft>
          <a:spcPts val="0"/>
        </a:spcAft>
        <a:buClrTx/>
        <a:buSzTx/>
        <a:buFontTx/>
        <a:buNone/>
        <a:tabLst/>
        <a:defRPr sz="1400" b="0" i="0" u="none" strike="noStrike" cap="none" spc="0" baseline="0">
          <a:solidFill>
            <a:schemeClr val="tx1"/>
          </a:solidFill>
          <a:uFill>
            <a:solidFill>
              <a:srgbClr val="727272"/>
            </a:solidFill>
          </a:uFill>
          <a:latin typeface="+mn-lt"/>
          <a:ea typeface="+mn-ea"/>
          <a:cs typeface="+mn-cs"/>
          <a:sym typeface="Arial"/>
        </a:defRPr>
      </a:lvl4pPr>
      <a:lvl5pPr marL="0" marR="0" indent="914400" algn="ctr" defTabSz="457200" latinLnBrk="0">
        <a:lnSpc>
          <a:spcPct val="100000"/>
        </a:lnSpc>
        <a:spcBef>
          <a:spcPts val="0"/>
        </a:spcBef>
        <a:spcAft>
          <a:spcPts val="0"/>
        </a:spcAft>
        <a:buClrTx/>
        <a:buSzTx/>
        <a:buFontTx/>
        <a:buNone/>
        <a:tabLst/>
        <a:defRPr sz="1400" b="0" i="0" u="none" strike="noStrike" cap="none" spc="0" baseline="0">
          <a:solidFill>
            <a:schemeClr val="tx1"/>
          </a:solidFill>
          <a:uFill>
            <a:solidFill>
              <a:srgbClr val="727272"/>
            </a:solidFill>
          </a:uFill>
          <a:latin typeface="+mn-lt"/>
          <a:ea typeface="+mn-ea"/>
          <a:cs typeface="+mn-cs"/>
          <a:sym typeface="Arial"/>
        </a:defRPr>
      </a:lvl5pPr>
      <a:lvl6pPr marL="0" marR="0" indent="1143000" algn="ctr" defTabSz="457200" latinLnBrk="0">
        <a:lnSpc>
          <a:spcPct val="100000"/>
        </a:lnSpc>
        <a:spcBef>
          <a:spcPts val="0"/>
        </a:spcBef>
        <a:spcAft>
          <a:spcPts val="0"/>
        </a:spcAft>
        <a:buClrTx/>
        <a:buSzTx/>
        <a:buFontTx/>
        <a:buNone/>
        <a:tabLst/>
        <a:defRPr sz="1400" b="0" i="0" u="none" strike="noStrike" cap="none" spc="0" baseline="0">
          <a:solidFill>
            <a:schemeClr val="tx1"/>
          </a:solidFill>
          <a:uFill>
            <a:solidFill>
              <a:srgbClr val="727272"/>
            </a:solidFill>
          </a:uFill>
          <a:latin typeface="+mn-lt"/>
          <a:ea typeface="+mn-ea"/>
          <a:cs typeface="+mn-cs"/>
          <a:sym typeface="Arial"/>
        </a:defRPr>
      </a:lvl6pPr>
      <a:lvl7pPr marL="0" marR="0" indent="1371600" algn="ctr" defTabSz="457200" latinLnBrk="0">
        <a:lnSpc>
          <a:spcPct val="100000"/>
        </a:lnSpc>
        <a:spcBef>
          <a:spcPts val="0"/>
        </a:spcBef>
        <a:spcAft>
          <a:spcPts val="0"/>
        </a:spcAft>
        <a:buClrTx/>
        <a:buSzTx/>
        <a:buFontTx/>
        <a:buNone/>
        <a:tabLst/>
        <a:defRPr sz="1400" b="0" i="0" u="none" strike="noStrike" cap="none" spc="0" baseline="0">
          <a:solidFill>
            <a:schemeClr val="tx1"/>
          </a:solidFill>
          <a:uFill>
            <a:solidFill>
              <a:srgbClr val="727272"/>
            </a:solidFill>
          </a:uFill>
          <a:latin typeface="+mn-lt"/>
          <a:ea typeface="+mn-ea"/>
          <a:cs typeface="+mn-cs"/>
          <a:sym typeface="Arial"/>
        </a:defRPr>
      </a:lvl7pPr>
      <a:lvl8pPr marL="0" marR="0" indent="1600200" algn="ctr" defTabSz="457200" latinLnBrk="0">
        <a:lnSpc>
          <a:spcPct val="100000"/>
        </a:lnSpc>
        <a:spcBef>
          <a:spcPts val="0"/>
        </a:spcBef>
        <a:spcAft>
          <a:spcPts val="0"/>
        </a:spcAft>
        <a:buClrTx/>
        <a:buSzTx/>
        <a:buFontTx/>
        <a:buNone/>
        <a:tabLst/>
        <a:defRPr sz="1400" b="0" i="0" u="none" strike="noStrike" cap="none" spc="0" baseline="0">
          <a:solidFill>
            <a:schemeClr val="tx1"/>
          </a:solidFill>
          <a:uFill>
            <a:solidFill>
              <a:srgbClr val="727272"/>
            </a:solidFill>
          </a:uFill>
          <a:latin typeface="+mn-lt"/>
          <a:ea typeface="+mn-ea"/>
          <a:cs typeface="+mn-cs"/>
          <a:sym typeface="Arial"/>
        </a:defRPr>
      </a:lvl8pPr>
      <a:lvl9pPr marL="0" marR="0" indent="1828800" algn="ctr" defTabSz="457200" latinLnBrk="0">
        <a:lnSpc>
          <a:spcPct val="100000"/>
        </a:lnSpc>
        <a:spcBef>
          <a:spcPts val="0"/>
        </a:spcBef>
        <a:spcAft>
          <a:spcPts val="0"/>
        </a:spcAft>
        <a:buClrTx/>
        <a:buSzTx/>
        <a:buFontTx/>
        <a:buNone/>
        <a:tabLst/>
        <a:defRPr sz="1400" b="0" i="0" u="none" strike="noStrike" cap="none" spc="0" baseline="0">
          <a:solidFill>
            <a:schemeClr val="tx1"/>
          </a:solidFill>
          <a:uFill>
            <a:solidFill>
              <a:srgbClr val="727272"/>
            </a:solidFill>
          </a:uFill>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0.jpeg"/><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12.jpeg"/><Relationship Id="rId4" Type="http://schemas.openxmlformats.org/officeDocument/2006/relationships/image" Target="../media/image11.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0.jpeg"/><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12.jpeg"/><Relationship Id="rId4" Type="http://schemas.openxmlformats.org/officeDocument/2006/relationships/image" Target="../media/image11.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jpe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a:p>
        </p:txBody>
      </p:sp>
      <p:sp>
        <p:nvSpPr>
          <p:cNvPr id="41" name="CSE 521 - Operating Systems Fall 2022"/>
          <p:cNvSpPr txBox="1">
            <a:spLocks noGrp="1"/>
          </p:cNvSpPr>
          <p:nvPr>
            <p:ph type="title"/>
          </p:nvPr>
        </p:nvSpPr>
        <p:spPr>
          <a:xfrm>
            <a:off x="762000" y="0"/>
            <a:ext cx="7772400" cy="1822450"/>
          </a:xfrm>
          <a:prstGeom prst="rect">
            <a:avLst/>
          </a:prstGeom>
        </p:spPr>
        <p:txBody>
          <a:bodyPr/>
          <a:lstStyle/>
          <a:p>
            <a:pPr>
              <a:defRPr sz="2400">
                <a:solidFill>
                  <a:srgbClr val="000000"/>
                </a:solidFill>
                <a:uFill>
                  <a:solidFill>
                    <a:srgbClr val="000000"/>
                  </a:solidFill>
                </a:uFill>
              </a:defRPr>
            </a:pPr>
            <a:r>
              <a:t>CSE 521 - Operating Systems</a:t>
            </a:r>
            <a:br/>
            <a:r>
              <a:t>Fall 2022</a:t>
            </a:r>
          </a:p>
        </p:txBody>
      </p:sp>
      <p:sp>
        <p:nvSpPr>
          <p:cNvPr id="42" name="Tevfik Koşar"/>
          <p:cNvSpPr txBox="1">
            <a:spLocks noGrp="1"/>
          </p:cNvSpPr>
          <p:nvPr>
            <p:ph type="body" sz="half" idx="1"/>
          </p:nvPr>
        </p:nvSpPr>
        <p:spPr>
          <a:xfrm>
            <a:off x="1379537" y="3108325"/>
            <a:ext cx="6400801" cy="2425700"/>
          </a:xfrm>
          <a:prstGeom prst="rect">
            <a:avLst/>
          </a:prstGeom>
        </p:spPr>
        <p:txBody>
          <a:bodyPr/>
          <a:lstStyle>
            <a:lvl1pPr marL="40639" indent="0" algn="ctr">
              <a:buClr>
                <a:srgbClr val="727272"/>
              </a:buClr>
              <a:buSzTx/>
              <a:buFont typeface="Trebuchet MS"/>
              <a:buNone/>
              <a:defRPr sz="3000"/>
            </a:lvl1pPr>
          </a:lstStyle>
          <a:p>
            <a:r>
              <a:rPr lang="en-US" sz="1700" dirty="0"/>
              <a:t>Created by Dr. </a:t>
            </a:r>
            <a:r>
              <a:rPr sz="1700" dirty="0" err="1"/>
              <a:t>Tevf</a:t>
            </a:r>
            <a:r>
              <a:rPr lang="en-US" sz="1700" dirty="0" err="1"/>
              <a:t>i</a:t>
            </a:r>
            <a:r>
              <a:rPr sz="1700" dirty="0" err="1"/>
              <a:t>k</a:t>
            </a:r>
            <a:r>
              <a:rPr sz="1700" dirty="0"/>
              <a:t> </a:t>
            </a:r>
            <a:r>
              <a:rPr sz="1700" dirty="0" err="1"/>
              <a:t>Koşar</a:t>
            </a:r>
            <a:endParaRPr lang="en-US" sz="1700" dirty="0"/>
          </a:p>
          <a:p>
            <a:endParaRPr lang="en-US" sz="1700" dirty="0"/>
          </a:p>
          <a:p>
            <a:r>
              <a:rPr lang="en-US" dirty="0"/>
              <a:t>Presented By </a:t>
            </a:r>
          </a:p>
          <a:p>
            <a:r>
              <a:rPr lang="en-US" dirty="0"/>
              <a:t>Dr. </a:t>
            </a:r>
            <a:r>
              <a:rPr lang="en-US" dirty="0" err="1"/>
              <a:t>Zulkar</a:t>
            </a:r>
            <a:r>
              <a:rPr lang="en-US" dirty="0"/>
              <a:t> Nine</a:t>
            </a:r>
            <a:endParaRPr dirty="0"/>
          </a:p>
        </p:txBody>
      </p:sp>
      <p:sp>
        <p:nvSpPr>
          <p:cNvPr id="43" name="Rectangle"/>
          <p:cNvSpPr/>
          <p:nvPr/>
        </p:nvSpPr>
        <p:spPr>
          <a:xfrm>
            <a:off x="7472362" y="6307137"/>
            <a:ext cx="1671638" cy="550863"/>
          </a:xfrm>
          <a:prstGeom prst="rect">
            <a:avLst/>
          </a:prstGeom>
          <a:solidFill>
            <a:srgbClr val="FFFFFF"/>
          </a:solidFill>
          <a:ln w="12700">
            <a:miter lim="400000"/>
          </a:ln>
        </p:spPr>
        <p:txBody>
          <a:bodyPr lIns="50800" tIns="50800" rIns="50800" bIns="50800" anchor="ctr"/>
          <a:lstStyle/>
          <a:p>
            <a:endParaRPr/>
          </a:p>
        </p:txBody>
      </p:sp>
      <p:sp>
        <p:nvSpPr>
          <p:cNvPr id="44" name="University at Buffalo…"/>
          <p:cNvSpPr txBox="1"/>
          <p:nvPr/>
        </p:nvSpPr>
        <p:spPr>
          <a:xfrm>
            <a:off x="1379537" y="5789612"/>
            <a:ext cx="6400801"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p>
            <a:pPr algn="ctr">
              <a:spcBef>
                <a:spcPts val="500"/>
              </a:spcBef>
              <a:buClr>
                <a:srgbClr val="00A8AA"/>
              </a:buClr>
              <a:buFont typeface="Trebuchet MS"/>
              <a:defRPr sz="2400">
                <a:solidFill>
                  <a:srgbClr val="00A8AA"/>
                </a:solidFill>
                <a:uFill>
                  <a:solidFill>
                    <a:srgbClr val="00A8AA"/>
                  </a:solidFill>
                </a:uFill>
                <a:latin typeface="+mn-lt"/>
                <a:ea typeface="+mn-ea"/>
                <a:cs typeface="+mn-cs"/>
                <a:sym typeface="Trebuchet MS"/>
              </a:defRPr>
            </a:pPr>
            <a:endParaRPr sz="2000" dirty="0">
              <a:solidFill>
                <a:srgbClr val="00A8AA"/>
              </a:solidFill>
              <a:uFill>
                <a:solidFill>
                  <a:srgbClr val="00A8AA"/>
                </a:solidFill>
              </a:uFill>
              <a:latin typeface="+mn-lt"/>
              <a:ea typeface="+mn-ea"/>
              <a:cs typeface="+mn-cs"/>
              <a:sym typeface="Trebuchet MS"/>
            </a:endParaRPr>
          </a:p>
        </p:txBody>
      </p:sp>
      <p:sp>
        <p:nvSpPr>
          <p:cNvPr id="45" name="Lecture - VIII Process Synchronization - I"/>
          <p:cNvSpPr txBox="1"/>
          <p:nvPr/>
        </p:nvSpPr>
        <p:spPr>
          <a:xfrm>
            <a:off x="760412" y="2173287"/>
            <a:ext cx="7772401" cy="927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ctr">
              <a:buClr>
                <a:srgbClr val="4180FF"/>
              </a:buClr>
              <a:buFont typeface="Copperplate Gothic Light"/>
            </a:pPr>
            <a:r>
              <a:rPr sz="2400">
                <a:solidFill>
                  <a:srgbClr val="4180FF"/>
                </a:solidFill>
                <a:uFill>
                  <a:solidFill>
                    <a:srgbClr val="4180FF"/>
                  </a:solidFill>
                </a:uFill>
                <a:latin typeface="Copperplate Gothic Light"/>
                <a:ea typeface="Copperplate Gothic Light"/>
                <a:cs typeface="Copperplate Gothic Light"/>
                <a:sym typeface="Copperplate Gothic Light"/>
              </a:rPr>
              <a:t>Lecture - VIII</a:t>
            </a:r>
            <a:br>
              <a:rPr sz="2400">
                <a:solidFill>
                  <a:srgbClr val="4180FF"/>
                </a:solidFill>
                <a:uFill>
                  <a:solidFill>
                    <a:srgbClr val="4180FF"/>
                  </a:solidFill>
                </a:uFill>
                <a:latin typeface="Copperplate Gothic Light"/>
                <a:ea typeface="Copperplate Gothic Light"/>
                <a:cs typeface="Copperplate Gothic Light"/>
                <a:sym typeface="Copperplate Gothic Light"/>
              </a:rPr>
            </a:br>
            <a:r>
              <a:rPr sz="3600">
                <a:solidFill>
                  <a:srgbClr val="4180FF"/>
                </a:solidFill>
                <a:uFill>
                  <a:solidFill>
                    <a:srgbClr val="4180FF"/>
                  </a:solidFill>
                </a:uFill>
                <a:latin typeface="Copperplate Gothic Light"/>
                <a:ea typeface="Copperplate Gothic Light"/>
                <a:cs typeface="Copperplate Gothic Light"/>
                <a:sym typeface="Copperplate Gothic Light"/>
              </a:rPr>
              <a:t>Process Synchronization - I</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sp>
        <p:nvSpPr>
          <p:cNvPr id="48" name="Roadmap"/>
          <p:cNvSpPr txBox="1">
            <a:spLocks noGrp="1"/>
          </p:cNvSpPr>
          <p:nvPr>
            <p:ph type="title"/>
          </p:nvPr>
        </p:nvSpPr>
        <p:spPr>
          <a:prstGeom prst="rect">
            <a:avLst/>
          </a:prstGeom>
        </p:spPr>
        <p:txBody>
          <a:bodyPr/>
          <a:lstStyle/>
          <a:p>
            <a:r>
              <a:t>Roadmap</a:t>
            </a:r>
          </a:p>
        </p:txBody>
      </p:sp>
      <p:sp>
        <p:nvSpPr>
          <p:cNvPr id="49" name="Process Synchronization…"/>
          <p:cNvSpPr txBox="1">
            <a:spLocks noGrp="1"/>
          </p:cNvSpPr>
          <p:nvPr>
            <p:ph type="body" idx="1"/>
          </p:nvPr>
        </p:nvSpPr>
        <p:spPr>
          <a:xfrm>
            <a:off x="457200" y="1562100"/>
            <a:ext cx="8229600" cy="5257800"/>
          </a:xfrm>
          <a:prstGeom prst="rect">
            <a:avLst/>
          </a:prstGeom>
        </p:spPr>
        <p:txBody>
          <a:bodyPr/>
          <a:lstStyle/>
          <a:p>
            <a:pPr>
              <a:defRPr>
                <a:solidFill>
                  <a:srgbClr val="000000"/>
                </a:solidFill>
                <a:uFill>
                  <a:solidFill>
                    <a:srgbClr val="000000"/>
                  </a:solidFill>
                </a:uFill>
              </a:defRPr>
            </a:pPr>
            <a:r>
              <a:t>Process Synchronization</a:t>
            </a:r>
          </a:p>
          <a:p>
            <a:pPr>
              <a:defRPr>
                <a:solidFill>
                  <a:srgbClr val="000000"/>
                </a:solidFill>
                <a:uFill>
                  <a:solidFill>
                    <a:srgbClr val="000000"/>
                  </a:solidFill>
                </a:uFill>
              </a:defRPr>
            </a:pPr>
            <a:r>
              <a:t>Race Conditions</a:t>
            </a:r>
          </a:p>
          <a:p>
            <a:pPr>
              <a:defRPr>
                <a:solidFill>
                  <a:srgbClr val="000000"/>
                </a:solidFill>
                <a:uFill>
                  <a:solidFill>
                    <a:srgbClr val="000000"/>
                  </a:solidFill>
                </a:uFill>
              </a:defRPr>
            </a:pPr>
            <a:r>
              <a:t>Critical-Section Problem</a:t>
            </a:r>
          </a:p>
          <a:p>
            <a:pPr lvl="1">
              <a:defRPr>
                <a:solidFill>
                  <a:srgbClr val="000000"/>
                </a:solidFill>
                <a:uFill>
                  <a:solidFill>
                    <a:srgbClr val="000000"/>
                  </a:solidFill>
                </a:uFill>
              </a:defRPr>
            </a:pPr>
            <a:r>
              <a:t>Solutions to Critical Section</a:t>
            </a:r>
          </a:p>
          <a:p>
            <a:pPr lvl="1">
              <a:defRPr>
                <a:solidFill>
                  <a:srgbClr val="000000"/>
                </a:solidFill>
                <a:uFill>
                  <a:solidFill>
                    <a:srgbClr val="000000"/>
                  </a:solidFill>
                </a:uFill>
              </a:defRPr>
            </a:pPr>
            <a:r>
              <a:t>Different Implementations</a:t>
            </a:r>
          </a:p>
        </p:txBody>
      </p:sp>
      <p:pic>
        <p:nvPicPr>
          <p:cNvPr id="50" name="roadmap.jpg" descr="roadmap.jpg"/>
          <p:cNvPicPr>
            <a:picLocks/>
          </p:cNvPicPr>
          <p:nvPr/>
        </p:nvPicPr>
        <p:blipFill>
          <a:blip r:embed="rId2"/>
          <a:stretch>
            <a:fillRect/>
          </a:stretch>
        </p:blipFill>
        <p:spPr>
          <a:xfrm>
            <a:off x="6573837" y="4533900"/>
            <a:ext cx="2259013" cy="1779588"/>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53" name="Background"/>
          <p:cNvSpPr txBox="1">
            <a:spLocks noGrp="1"/>
          </p:cNvSpPr>
          <p:nvPr>
            <p:ph type="title"/>
          </p:nvPr>
        </p:nvSpPr>
        <p:spPr>
          <a:xfrm>
            <a:off x="457200" y="274637"/>
            <a:ext cx="8229600" cy="1143001"/>
          </a:xfrm>
          <a:prstGeom prst="rect">
            <a:avLst/>
          </a:prstGeom>
        </p:spPr>
        <p:txBody>
          <a:bodyPr/>
          <a:lstStyle/>
          <a:p>
            <a:r>
              <a:rPr dirty="0"/>
              <a:t>Background</a:t>
            </a:r>
          </a:p>
        </p:txBody>
      </p:sp>
      <p:sp>
        <p:nvSpPr>
          <p:cNvPr id="54" name="Concurrent access to shared data may result in data inconsistency…"/>
          <p:cNvSpPr txBox="1">
            <a:spLocks noGrp="1"/>
          </p:cNvSpPr>
          <p:nvPr>
            <p:ph type="body" idx="1"/>
          </p:nvPr>
        </p:nvSpPr>
        <p:spPr>
          <a:xfrm>
            <a:off x="827087" y="1365250"/>
            <a:ext cx="7742238" cy="4860925"/>
          </a:xfrm>
          <a:prstGeom prst="rect">
            <a:avLst/>
          </a:prstGeom>
        </p:spPr>
        <p:txBody>
          <a:bodyPr/>
          <a:lstStyle/>
          <a:p>
            <a:r>
              <a:rPr>
                <a:solidFill>
                  <a:srgbClr val="000000"/>
                </a:solidFill>
                <a:uFill>
                  <a:solidFill>
                    <a:srgbClr val="000000"/>
                  </a:solidFill>
                </a:uFill>
              </a:rPr>
              <a:t>Concurrent access to shared data may result in</a:t>
            </a:r>
            <a:r>
              <a:t> </a:t>
            </a:r>
            <a:r>
              <a:rPr>
                <a:solidFill>
                  <a:srgbClr val="FF4C00"/>
                </a:solidFill>
                <a:uFill>
                  <a:solidFill>
                    <a:srgbClr val="FF4C00"/>
                  </a:solidFill>
                </a:uFill>
              </a:rPr>
              <a:t>data inconsistency</a:t>
            </a:r>
          </a:p>
          <a:p>
            <a:r>
              <a:rPr>
                <a:solidFill>
                  <a:srgbClr val="000000"/>
                </a:solidFill>
                <a:uFill>
                  <a:solidFill>
                    <a:srgbClr val="000000"/>
                  </a:solidFill>
                </a:uFill>
              </a:rPr>
              <a:t>Maintaining </a:t>
            </a:r>
            <a:r>
              <a:rPr>
                <a:solidFill>
                  <a:srgbClr val="FF4C00"/>
                </a:solidFill>
                <a:uFill>
                  <a:solidFill>
                    <a:srgbClr val="FF4C00"/>
                  </a:solidFill>
                </a:uFill>
              </a:rPr>
              <a:t>data consistency</a:t>
            </a:r>
            <a:r>
              <a:t> </a:t>
            </a:r>
            <a:r>
              <a:rPr>
                <a:solidFill>
                  <a:srgbClr val="000000"/>
                </a:solidFill>
                <a:uFill>
                  <a:solidFill>
                    <a:srgbClr val="000000"/>
                  </a:solidFill>
                </a:uFill>
              </a:rPr>
              <a:t>requires mechanisms to ensure the </a:t>
            </a:r>
            <a:r>
              <a:rPr>
                <a:solidFill>
                  <a:srgbClr val="4180FF"/>
                </a:solidFill>
                <a:uFill>
                  <a:solidFill>
                    <a:srgbClr val="4180FF"/>
                  </a:solidFill>
                </a:uFill>
              </a:rPr>
              <a:t>orderly execution of cooperating processes</a:t>
            </a:r>
          </a:p>
          <a:p>
            <a:r>
              <a:rPr>
                <a:solidFill>
                  <a:srgbClr val="000000"/>
                </a:solidFill>
                <a:uFill>
                  <a:solidFill>
                    <a:srgbClr val="000000"/>
                  </a:solidFill>
                </a:uFill>
              </a:rPr>
              <a:t>Consider</a:t>
            </a:r>
            <a:r>
              <a:t> </a:t>
            </a:r>
            <a:r>
              <a:rPr>
                <a:solidFill>
                  <a:srgbClr val="B51A00"/>
                </a:solidFill>
                <a:uFill>
                  <a:solidFill>
                    <a:srgbClr val="B51A00"/>
                  </a:solidFill>
                </a:uFill>
              </a:rPr>
              <a:t>consumer-producer</a:t>
            </a:r>
            <a:r>
              <a:t> </a:t>
            </a:r>
            <a:r>
              <a:rPr>
                <a:solidFill>
                  <a:srgbClr val="000000"/>
                </a:solidFill>
                <a:uFill>
                  <a:solidFill>
                    <a:srgbClr val="000000"/>
                  </a:solidFill>
                </a:uFill>
              </a:rPr>
              <a:t>problem: </a:t>
            </a:r>
          </a:p>
          <a:p>
            <a:pPr lvl="1"/>
            <a:r>
              <a:rPr>
                <a:solidFill>
                  <a:srgbClr val="000000"/>
                </a:solidFill>
                <a:uFill>
                  <a:solidFill>
                    <a:srgbClr val="000000"/>
                  </a:solidFill>
                </a:uFill>
              </a:rPr>
              <a:t>Initially, count is set to 0</a:t>
            </a:r>
          </a:p>
          <a:p>
            <a:pPr lvl="1"/>
            <a:r>
              <a:rPr>
                <a:solidFill>
                  <a:srgbClr val="000000"/>
                </a:solidFill>
                <a:uFill>
                  <a:solidFill>
                    <a:srgbClr val="000000"/>
                  </a:solidFill>
                </a:uFill>
              </a:rPr>
              <a:t>It is incremented by the producer after it produces a new buffer </a:t>
            </a:r>
          </a:p>
          <a:p>
            <a:pPr lvl="1"/>
            <a:r>
              <a:rPr>
                <a:solidFill>
                  <a:srgbClr val="000000"/>
                </a:solidFill>
                <a:uFill>
                  <a:solidFill>
                    <a:srgbClr val="000000"/>
                  </a:solidFill>
                </a:uFill>
              </a:rPr>
              <a:t>and is decremented by the consumer after it consumes a buffer.</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F7291EB9-7E5E-C816-D7B6-F6FA5A8AAA2D}"/>
              </a:ext>
            </a:extLst>
          </p:cNvPr>
          <p:cNvSpPr txBox="1">
            <a:spLocks noGrp="1"/>
          </p:cNvSpPr>
          <p:nvPr>
            <p:ph type="title"/>
          </p:nvPr>
        </p:nvSpPr>
        <p:spPr>
          <a:xfrm>
            <a:off x="457200" y="274637"/>
            <a:ext cx="8229600" cy="1143001"/>
          </a:xfrm>
          <a:prstGeom prst="rect">
            <a:avLst/>
          </a:prstGeom>
        </p:spPr>
        <p:txBody>
          <a:bodyPr/>
          <a:lstStyle/>
          <a:p>
            <a:r>
              <a:rPr lang="en-US" dirty="0"/>
              <a:t>Issues with Concurrent execution</a:t>
            </a:r>
            <a:endParaRPr dirty="0"/>
          </a:p>
        </p:txBody>
      </p:sp>
    </p:spTree>
    <p:extLst>
      <p:ext uri="{BB962C8B-B14F-4D97-AF65-F5344CB8AC3E}">
        <p14:creationId xmlns:p14="http://schemas.microsoft.com/office/powerpoint/2010/main" val="284275649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Slide Number"/>
          <p:cNvSpPr txBox="1">
            <a:spLocks noGrp="1"/>
          </p:cNvSpPr>
          <p:nvPr>
            <p:ph type="sldNum" sz="quarter" idx="2"/>
          </p:nvPr>
        </p:nvSpPr>
        <p:spPr>
          <a:xfrm>
            <a:off x="7727622" y="6460365"/>
            <a:ext cx="312068" cy="3048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a:t>
            </a:fld>
            <a:endParaRPr/>
          </a:p>
        </p:txBody>
      </p:sp>
      <p:sp>
        <p:nvSpPr>
          <p:cNvPr id="57" name="Producer:"/>
          <p:cNvSpPr txBox="1">
            <a:spLocks noGrp="1"/>
          </p:cNvSpPr>
          <p:nvPr>
            <p:ph type="title"/>
          </p:nvPr>
        </p:nvSpPr>
        <p:spPr>
          <a:xfrm>
            <a:off x="196305" y="490536"/>
            <a:ext cx="2520769" cy="838201"/>
          </a:xfrm>
          <a:prstGeom prst="rect">
            <a:avLst/>
          </a:prstGeom>
        </p:spPr>
        <p:txBody>
          <a:bodyPr/>
          <a:lstStyle/>
          <a:p>
            <a:r>
              <a:rPr dirty="0"/>
              <a:t>Producer: </a:t>
            </a:r>
          </a:p>
        </p:txBody>
      </p:sp>
      <p:sp>
        <p:nvSpPr>
          <p:cNvPr id="58" name="while (true){  /* produce an item and put in nextProduced…"/>
          <p:cNvSpPr txBox="1">
            <a:spLocks noGrp="1"/>
          </p:cNvSpPr>
          <p:nvPr>
            <p:ph type="body" sz="half" idx="1"/>
          </p:nvPr>
        </p:nvSpPr>
        <p:spPr>
          <a:xfrm>
            <a:off x="382587" y="1103312"/>
            <a:ext cx="6362701" cy="2425701"/>
          </a:xfrm>
          <a:prstGeom prst="rect">
            <a:avLst/>
          </a:prstGeom>
          <a:ln>
            <a:solidFill>
              <a:srgbClr val="000000"/>
            </a:solidFill>
          </a:ln>
        </p:spPr>
        <p:txBody>
          <a:bodyPr/>
          <a:lstStyle/>
          <a:p>
            <a:pPr>
              <a:buSzTx/>
              <a:buNone/>
              <a:defRPr sz="1800">
                <a:solidFill>
                  <a:srgbClr val="000000"/>
                </a:solidFill>
                <a:uFill>
                  <a:solidFill>
                    <a:srgbClr val="000000"/>
                  </a:solidFill>
                </a:uFill>
              </a:defRPr>
            </a:pPr>
            <a:r>
              <a:rPr dirty="0"/>
              <a:t>while (true){  /* produce an item and put in </a:t>
            </a:r>
            <a:r>
              <a:rPr dirty="0" err="1"/>
              <a:t>nextProduced</a:t>
            </a:r>
            <a:endParaRPr dirty="0"/>
          </a:p>
          <a:p>
            <a:pPr>
              <a:buSzTx/>
              <a:buNone/>
              <a:defRPr sz="1800">
                <a:solidFill>
                  <a:srgbClr val="000000"/>
                </a:solidFill>
                <a:uFill>
                  <a:solidFill>
                    <a:srgbClr val="000000"/>
                  </a:solidFill>
                </a:uFill>
              </a:defRPr>
            </a:pPr>
            <a:r>
              <a:rPr dirty="0"/>
              <a:t>			while (count == BUFFER_SIZE)</a:t>
            </a:r>
          </a:p>
          <a:p>
            <a:pPr>
              <a:buSzTx/>
              <a:buNone/>
              <a:defRPr sz="1800">
                <a:solidFill>
                  <a:srgbClr val="000000"/>
                </a:solidFill>
                <a:uFill>
                  <a:solidFill>
                    <a:srgbClr val="000000"/>
                  </a:solidFill>
                </a:uFill>
              </a:defRPr>
            </a:pPr>
            <a:r>
              <a:rPr dirty="0"/>
              <a:t>				; // do nothing</a:t>
            </a:r>
          </a:p>
          <a:p>
            <a:pPr>
              <a:buSzTx/>
              <a:buNone/>
              <a:defRPr sz="1800">
                <a:solidFill>
                  <a:srgbClr val="000000"/>
                </a:solidFill>
                <a:uFill>
                  <a:solidFill>
                    <a:srgbClr val="000000"/>
                  </a:solidFill>
                </a:uFill>
              </a:defRPr>
            </a:pPr>
            <a:r>
              <a:rPr dirty="0"/>
              <a:t>			buffer [in] = </a:t>
            </a:r>
            <a:r>
              <a:rPr dirty="0" err="1"/>
              <a:t>nextProduced</a:t>
            </a:r>
            <a:r>
              <a:rPr dirty="0"/>
              <a:t>;</a:t>
            </a:r>
          </a:p>
          <a:p>
            <a:pPr>
              <a:buSzTx/>
              <a:buNone/>
              <a:defRPr sz="1800">
                <a:solidFill>
                  <a:srgbClr val="000000"/>
                </a:solidFill>
                <a:uFill>
                  <a:solidFill>
                    <a:srgbClr val="000000"/>
                  </a:solidFill>
                </a:uFill>
              </a:defRPr>
            </a:pPr>
            <a:r>
              <a:rPr dirty="0"/>
              <a:t>			in = (in + 1) % BUFFER_SIZE;</a:t>
            </a:r>
          </a:p>
          <a:p>
            <a:pPr>
              <a:buSzTx/>
              <a:buNone/>
              <a:defRPr sz="1800">
                <a:solidFill>
                  <a:srgbClr val="000000"/>
                </a:solidFill>
                <a:uFill>
                  <a:solidFill>
                    <a:srgbClr val="000000"/>
                  </a:solidFill>
                </a:uFill>
              </a:defRPr>
            </a:pPr>
            <a:r>
              <a:rPr dirty="0"/>
              <a:t>			count++;</a:t>
            </a:r>
          </a:p>
          <a:p>
            <a:pPr>
              <a:buSzTx/>
              <a:buNone/>
              <a:defRPr sz="1800">
                <a:solidFill>
                  <a:srgbClr val="000000"/>
                </a:solidFill>
                <a:uFill>
                  <a:solidFill>
                    <a:srgbClr val="000000"/>
                  </a:solidFill>
                </a:uFill>
              </a:defRPr>
            </a:pPr>
            <a:r>
              <a:rPr dirty="0"/>
              <a:t>	}   </a:t>
            </a:r>
          </a:p>
        </p:txBody>
      </p:sp>
      <p:sp>
        <p:nvSpPr>
          <p:cNvPr id="59" name="while (1) {…"/>
          <p:cNvSpPr txBox="1"/>
          <p:nvPr/>
        </p:nvSpPr>
        <p:spPr>
          <a:xfrm>
            <a:off x="395287" y="4070350"/>
            <a:ext cx="6362701" cy="2565400"/>
          </a:xfrm>
          <a:prstGeom prst="rect">
            <a:avLst/>
          </a:prstGeom>
          <a:ln w="12700">
            <a:solidFill>
              <a:srgbClr val="000000"/>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lstStyle/>
          <a:p>
            <a:pPr marL="383540" indent="-342900">
              <a:spcBef>
                <a:spcPts val="500"/>
              </a:spcBef>
              <a:defRPr>
                <a:solidFill>
                  <a:srgbClr val="000000"/>
                </a:solidFill>
                <a:uFill>
                  <a:solidFill>
                    <a:srgbClr val="000000"/>
                  </a:solidFill>
                </a:uFill>
                <a:latin typeface="+mn-lt"/>
                <a:ea typeface="+mn-ea"/>
                <a:cs typeface="+mn-cs"/>
                <a:sym typeface="Trebuchet MS"/>
              </a:defRPr>
            </a:pPr>
            <a:r>
              <a:t>      while (1) {</a:t>
            </a:r>
          </a:p>
          <a:p>
            <a:pPr marL="383540" indent="-342900">
              <a:spcBef>
                <a:spcPts val="500"/>
              </a:spcBef>
              <a:defRPr>
                <a:solidFill>
                  <a:srgbClr val="000000"/>
                </a:solidFill>
                <a:uFill>
                  <a:solidFill>
                    <a:srgbClr val="000000"/>
                  </a:solidFill>
                </a:uFill>
                <a:latin typeface="+mn-lt"/>
                <a:ea typeface="+mn-ea"/>
                <a:cs typeface="+mn-cs"/>
                <a:sym typeface="Trebuchet MS"/>
              </a:defRPr>
            </a:pPr>
            <a:r>
              <a:t>			while (count == 0)</a:t>
            </a:r>
          </a:p>
          <a:p>
            <a:pPr marL="383540" indent="-342900">
              <a:spcBef>
                <a:spcPts val="500"/>
              </a:spcBef>
              <a:defRPr>
                <a:solidFill>
                  <a:srgbClr val="000000"/>
                </a:solidFill>
                <a:uFill>
                  <a:solidFill>
                    <a:srgbClr val="000000"/>
                  </a:solidFill>
                </a:uFill>
                <a:latin typeface="+mn-lt"/>
                <a:ea typeface="+mn-ea"/>
                <a:cs typeface="+mn-cs"/>
                <a:sym typeface="Trebuchet MS"/>
              </a:defRPr>
            </a:pPr>
            <a:r>
              <a:t>				; // do nothing</a:t>
            </a:r>
          </a:p>
          <a:p>
            <a:pPr marL="383540" indent="-342900">
              <a:spcBef>
                <a:spcPts val="500"/>
              </a:spcBef>
              <a:defRPr>
                <a:solidFill>
                  <a:srgbClr val="000000"/>
                </a:solidFill>
                <a:uFill>
                  <a:solidFill>
                    <a:srgbClr val="000000"/>
                  </a:solidFill>
                </a:uFill>
                <a:latin typeface="+mn-lt"/>
                <a:ea typeface="+mn-ea"/>
                <a:cs typeface="+mn-cs"/>
                <a:sym typeface="Trebuchet MS"/>
              </a:defRPr>
            </a:pPr>
            <a:r>
              <a:t>			nextConsumed =  buffer[out];</a:t>
            </a:r>
          </a:p>
          <a:p>
            <a:pPr marL="383540" indent="-342900">
              <a:spcBef>
                <a:spcPts val="500"/>
              </a:spcBef>
              <a:defRPr>
                <a:solidFill>
                  <a:srgbClr val="000000"/>
                </a:solidFill>
                <a:uFill>
                  <a:solidFill>
                    <a:srgbClr val="000000"/>
                  </a:solidFill>
                </a:uFill>
                <a:latin typeface="+mn-lt"/>
                <a:ea typeface="+mn-ea"/>
                <a:cs typeface="+mn-cs"/>
                <a:sym typeface="Trebuchet MS"/>
              </a:defRPr>
            </a:pPr>
            <a:r>
              <a:t>			out = (out + 1) % BUFFER_SIZE;</a:t>
            </a:r>
          </a:p>
          <a:p>
            <a:pPr marL="383540" indent="-342900">
              <a:spcBef>
                <a:spcPts val="500"/>
              </a:spcBef>
              <a:defRPr>
                <a:solidFill>
                  <a:srgbClr val="000000"/>
                </a:solidFill>
                <a:uFill>
                  <a:solidFill>
                    <a:srgbClr val="000000"/>
                  </a:solidFill>
                </a:uFill>
                <a:latin typeface="+mn-lt"/>
                <a:ea typeface="+mn-ea"/>
                <a:cs typeface="+mn-cs"/>
                <a:sym typeface="Trebuchet MS"/>
              </a:defRPr>
            </a:pPr>
            <a:r>
              <a:t>			count--;</a:t>
            </a:r>
          </a:p>
          <a:p>
            <a:pPr marL="383540" indent="-342900">
              <a:spcBef>
                <a:spcPts val="500"/>
              </a:spcBef>
              <a:defRPr>
                <a:solidFill>
                  <a:srgbClr val="000000"/>
                </a:solidFill>
                <a:uFill>
                  <a:solidFill>
                    <a:srgbClr val="000000"/>
                  </a:solidFill>
                </a:uFill>
                <a:latin typeface="+mn-lt"/>
                <a:ea typeface="+mn-ea"/>
                <a:cs typeface="+mn-cs"/>
                <a:sym typeface="Trebuchet MS"/>
              </a:defRPr>
            </a:pPr>
            <a:r>
              <a:t>      }	/*  consume the item in nextConsumed</a:t>
            </a:r>
          </a:p>
          <a:p>
            <a:pPr marL="383540" indent="-342900">
              <a:spcBef>
                <a:spcPts val="500"/>
              </a:spcBef>
              <a:defRPr>
                <a:solidFill>
                  <a:srgbClr val="000000"/>
                </a:solidFill>
                <a:uFill>
                  <a:solidFill>
                    <a:srgbClr val="000000"/>
                  </a:solidFill>
                </a:uFill>
                <a:latin typeface="+mn-lt"/>
                <a:ea typeface="+mn-ea"/>
                <a:cs typeface="+mn-cs"/>
                <a:sym typeface="Trebuchet MS"/>
              </a:defRPr>
            </a:pPr>
            <a:r>
              <a:t>	</a:t>
            </a:r>
          </a:p>
        </p:txBody>
      </p:sp>
      <p:sp>
        <p:nvSpPr>
          <p:cNvPr id="60" name="Consumer:"/>
          <p:cNvSpPr txBox="1"/>
          <p:nvPr/>
        </p:nvSpPr>
        <p:spPr>
          <a:xfrm>
            <a:off x="101600" y="3441700"/>
            <a:ext cx="2425700" cy="838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lgn="ctr">
              <a:defRPr sz="3200">
                <a:solidFill>
                  <a:srgbClr val="4180FF"/>
                </a:solidFill>
                <a:uFill>
                  <a:solidFill>
                    <a:srgbClr val="4180FF"/>
                  </a:solidFill>
                </a:uFill>
                <a:latin typeface="+mn-lt"/>
                <a:ea typeface="+mn-ea"/>
                <a:cs typeface="+mn-cs"/>
                <a:sym typeface="Trebuchet MS"/>
              </a:defRPr>
            </a:lvl1pPr>
          </a:lstStyle>
          <a:p>
            <a:r>
              <a:t>Consumer: </a:t>
            </a:r>
          </a:p>
        </p:txBody>
      </p:sp>
      <p:sp>
        <p:nvSpPr>
          <p:cNvPr id="61" name="Shared Variables: count=0, buffer[]"/>
          <p:cNvSpPr txBox="1"/>
          <p:nvPr/>
        </p:nvSpPr>
        <p:spPr>
          <a:xfrm>
            <a:off x="292100" y="-50800"/>
            <a:ext cx="6832600" cy="838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defRPr sz="3200">
                <a:solidFill>
                  <a:srgbClr val="9A244F"/>
                </a:solidFill>
                <a:uFill>
                  <a:solidFill>
                    <a:srgbClr val="9A244F"/>
                  </a:solidFill>
                </a:uFill>
                <a:latin typeface="+mn-lt"/>
                <a:ea typeface="+mn-ea"/>
                <a:cs typeface="+mn-cs"/>
                <a:sym typeface="Trebuchet MS"/>
              </a:defRPr>
            </a:lvl1pPr>
          </a:lstStyle>
          <a:p>
            <a:r>
              <a:t>Shared Variables: count=0, buffer[] </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2F43A-5AAC-27ED-091D-8275B3FD2F87}"/>
            </a:ext>
          </a:extLst>
        </p:cNvPr>
        <p:cNvGrpSpPr/>
        <p:nvPr/>
      </p:nvGrpSpPr>
      <p:grpSpPr>
        <a:xfrm>
          <a:off x="0" y="0"/>
          <a:ext cx="0" cy="0"/>
          <a:chOff x="0" y="0"/>
          <a:chExt cx="0" cy="0"/>
        </a:xfrm>
      </p:grpSpPr>
      <p:sp>
        <p:nvSpPr>
          <p:cNvPr id="56" name="Slide Number">
            <a:extLst>
              <a:ext uri="{FF2B5EF4-FFF2-40B4-BE49-F238E27FC236}">
                <a16:creationId xmlns:a16="http://schemas.microsoft.com/office/drawing/2014/main" id="{2A4CBCC8-9FBD-3F7B-741A-8173408D1490}"/>
              </a:ext>
            </a:extLst>
          </p:cNvPr>
          <p:cNvSpPr txBox="1">
            <a:spLocks noGrp="1"/>
          </p:cNvSpPr>
          <p:nvPr>
            <p:ph type="sldNum" sz="quarter" idx="2"/>
          </p:nvPr>
        </p:nvSpPr>
        <p:spPr>
          <a:xfrm>
            <a:off x="7727622" y="6460365"/>
            <a:ext cx="312068" cy="3048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a:t>
            </a:fld>
            <a:endParaRPr/>
          </a:p>
        </p:txBody>
      </p:sp>
      <p:sp>
        <p:nvSpPr>
          <p:cNvPr id="61" name="Shared Variables: count=0, buffer[]">
            <a:extLst>
              <a:ext uri="{FF2B5EF4-FFF2-40B4-BE49-F238E27FC236}">
                <a16:creationId xmlns:a16="http://schemas.microsoft.com/office/drawing/2014/main" id="{D074C671-A0EE-A1CF-FC6B-6BF24D2AA591}"/>
              </a:ext>
            </a:extLst>
          </p:cNvPr>
          <p:cNvSpPr txBox="1"/>
          <p:nvPr/>
        </p:nvSpPr>
        <p:spPr>
          <a:xfrm>
            <a:off x="292100" y="-50800"/>
            <a:ext cx="6832600" cy="838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lvl1pPr>
              <a:defRPr sz="3200">
                <a:solidFill>
                  <a:srgbClr val="9A244F"/>
                </a:solidFill>
                <a:uFill>
                  <a:solidFill>
                    <a:srgbClr val="9A244F"/>
                  </a:solidFill>
                </a:uFill>
                <a:latin typeface="+mn-lt"/>
                <a:ea typeface="+mn-ea"/>
                <a:cs typeface="+mn-cs"/>
                <a:sym typeface="Trebuchet MS"/>
              </a:defRPr>
            </a:lvl1pPr>
          </a:lstStyle>
          <a:p>
            <a:r>
              <a:t>Shared Variables: count=0, buffer[] </a:t>
            </a:r>
          </a:p>
        </p:txBody>
      </p:sp>
      <p:pic>
        <p:nvPicPr>
          <p:cNvPr id="5" name="Picture 4" descr="A black text with black text&#10;&#10;AI-generated content may be incorrect.">
            <a:extLst>
              <a:ext uri="{FF2B5EF4-FFF2-40B4-BE49-F238E27FC236}">
                <a16:creationId xmlns:a16="http://schemas.microsoft.com/office/drawing/2014/main" id="{CFFA7E44-C84F-D2C3-3357-AC729A1703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683" y="901115"/>
            <a:ext cx="3678326" cy="1692421"/>
          </a:xfrm>
          <a:prstGeom prst="rect">
            <a:avLst/>
          </a:prstGeom>
        </p:spPr>
      </p:pic>
      <p:pic>
        <p:nvPicPr>
          <p:cNvPr id="7" name="Picture 6" descr="A computer code with black text&#10;&#10;AI-generated content may be incorrect.">
            <a:extLst>
              <a:ext uri="{FF2B5EF4-FFF2-40B4-BE49-F238E27FC236}">
                <a16:creationId xmlns:a16="http://schemas.microsoft.com/office/drawing/2014/main" id="{C79FAEC9-5F61-F967-C2CA-EAA0B74F7E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683" y="4767944"/>
            <a:ext cx="3553148" cy="1692421"/>
          </a:xfrm>
          <a:prstGeom prst="rect">
            <a:avLst/>
          </a:prstGeom>
        </p:spPr>
      </p:pic>
      <p:sp>
        <p:nvSpPr>
          <p:cNvPr id="12" name="Rectangle 11">
            <a:extLst>
              <a:ext uri="{FF2B5EF4-FFF2-40B4-BE49-F238E27FC236}">
                <a16:creationId xmlns:a16="http://schemas.microsoft.com/office/drawing/2014/main" id="{347BC71A-C696-D826-192C-A0EEA1FFF560}"/>
              </a:ext>
            </a:extLst>
          </p:cNvPr>
          <p:cNvSpPr/>
          <p:nvPr/>
        </p:nvSpPr>
        <p:spPr>
          <a:xfrm>
            <a:off x="4101737" y="2830286"/>
            <a:ext cx="470263" cy="426720"/>
          </a:xfrm>
          <a:prstGeom prst="rect">
            <a:avLst/>
          </a:prstGeom>
          <a:gradFill flip="none" rotWithShape="1">
            <a:gsLst>
              <a:gs pos="0">
                <a:srgbClr val="3DA779"/>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727272"/>
              </a:solidFill>
              <a:effectLst/>
              <a:uFill>
                <a:solidFill>
                  <a:srgbClr val="727272"/>
                </a:solidFill>
              </a:uFill>
              <a:latin typeface="Arial"/>
              <a:ea typeface="Arial"/>
              <a:cs typeface="Arial"/>
              <a:sym typeface="Arial"/>
            </a:endParaRPr>
          </a:p>
        </p:txBody>
      </p:sp>
      <p:sp>
        <p:nvSpPr>
          <p:cNvPr id="13" name="Rectangle 12">
            <a:extLst>
              <a:ext uri="{FF2B5EF4-FFF2-40B4-BE49-F238E27FC236}">
                <a16:creationId xmlns:a16="http://schemas.microsoft.com/office/drawing/2014/main" id="{5A94AF5E-C4C5-CC09-809B-589C98E9FBAA}"/>
              </a:ext>
            </a:extLst>
          </p:cNvPr>
          <p:cNvSpPr/>
          <p:nvPr/>
        </p:nvSpPr>
        <p:spPr>
          <a:xfrm>
            <a:off x="4572000" y="2830286"/>
            <a:ext cx="470263" cy="426720"/>
          </a:xfrm>
          <a:prstGeom prst="rect">
            <a:avLst/>
          </a:prstGeom>
          <a:gradFill flip="none" rotWithShape="1">
            <a:gsLst>
              <a:gs pos="0">
                <a:srgbClr val="3DA779"/>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727272"/>
              </a:solidFill>
              <a:effectLst/>
              <a:uFill>
                <a:solidFill>
                  <a:srgbClr val="727272"/>
                </a:solidFill>
              </a:uFill>
              <a:latin typeface="Arial"/>
              <a:ea typeface="Arial"/>
              <a:cs typeface="Arial"/>
              <a:sym typeface="Arial"/>
            </a:endParaRPr>
          </a:p>
        </p:txBody>
      </p:sp>
      <p:sp>
        <p:nvSpPr>
          <p:cNvPr id="14" name="Rectangle 13">
            <a:extLst>
              <a:ext uri="{FF2B5EF4-FFF2-40B4-BE49-F238E27FC236}">
                <a16:creationId xmlns:a16="http://schemas.microsoft.com/office/drawing/2014/main" id="{9E254E41-0E29-4DB1-FF1B-A2654289778A}"/>
              </a:ext>
            </a:extLst>
          </p:cNvPr>
          <p:cNvSpPr/>
          <p:nvPr/>
        </p:nvSpPr>
        <p:spPr>
          <a:xfrm>
            <a:off x="5042263" y="2830286"/>
            <a:ext cx="470263" cy="426720"/>
          </a:xfrm>
          <a:prstGeom prst="rect">
            <a:avLst/>
          </a:prstGeom>
          <a:gradFill flip="none" rotWithShape="1">
            <a:gsLst>
              <a:gs pos="0">
                <a:srgbClr val="3DA779"/>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727272"/>
              </a:solidFill>
              <a:effectLst/>
              <a:uFill>
                <a:solidFill>
                  <a:srgbClr val="727272"/>
                </a:solidFill>
              </a:uFill>
              <a:latin typeface="Arial"/>
              <a:ea typeface="Arial"/>
              <a:cs typeface="Arial"/>
              <a:sym typeface="Arial"/>
            </a:endParaRPr>
          </a:p>
        </p:txBody>
      </p:sp>
      <p:sp>
        <p:nvSpPr>
          <p:cNvPr id="15" name="Rectangle 14">
            <a:extLst>
              <a:ext uri="{FF2B5EF4-FFF2-40B4-BE49-F238E27FC236}">
                <a16:creationId xmlns:a16="http://schemas.microsoft.com/office/drawing/2014/main" id="{5D39A6FA-7320-1463-0431-B72D5DDD1D9E}"/>
              </a:ext>
            </a:extLst>
          </p:cNvPr>
          <p:cNvSpPr/>
          <p:nvPr/>
        </p:nvSpPr>
        <p:spPr>
          <a:xfrm>
            <a:off x="5512526" y="2830286"/>
            <a:ext cx="470263" cy="426720"/>
          </a:xfrm>
          <a:prstGeom prst="rect">
            <a:avLst/>
          </a:prstGeom>
          <a:gradFill flip="none" rotWithShape="1">
            <a:gsLst>
              <a:gs pos="0">
                <a:srgbClr val="3DA779"/>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727272"/>
              </a:solidFill>
              <a:effectLst/>
              <a:uFill>
                <a:solidFill>
                  <a:srgbClr val="727272"/>
                </a:solidFill>
              </a:uFill>
              <a:latin typeface="Arial"/>
              <a:ea typeface="Arial"/>
              <a:cs typeface="Arial"/>
              <a:sym typeface="Arial"/>
            </a:endParaRPr>
          </a:p>
        </p:txBody>
      </p:sp>
      <p:sp>
        <p:nvSpPr>
          <p:cNvPr id="16" name="Rectangle 15">
            <a:extLst>
              <a:ext uri="{FF2B5EF4-FFF2-40B4-BE49-F238E27FC236}">
                <a16:creationId xmlns:a16="http://schemas.microsoft.com/office/drawing/2014/main" id="{A3D141DC-DCFA-0B1B-E41F-38772F93E0D0}"/>
              </a:ext>
            </a:extLst>
          </p:cNvPr>
          <p:cNvSpPr/>
          <p:nvPr/>
        </p:nvSpPr>
        <p:spPr>
          <a:xfrm>
            <a:off x="5982789" y="2830286"/>
            <a:ext cx="470263" cy="426720"/>
          </a:xfrm>
          <a:prstGeom prst="rect">
            <a:avLst/>
          </a:prstGeom>
          <a:gradFill flip="none" rotWithShape="1">
            <a:gsLst>
              <a:gs pos="0">
                <a:srgbClr val="3DA779"/>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727272"/>
              </a:solidFill>
              <a:effectLst/>
              <a:uFill>
                <a:solidFill>
                  <a:srgbClr val="727272"/>
                </a:solidFill>
              </a:uFill>
              <a:latin typeface="Arial"/>
              <a:ea typeface="Arial"/>
              <a:cs typeface="Arial"/>
              <a:sym typeface="Arial"/>
            </a:endParaRPr>
          </a:p>
        </p:txBody>
      </p:sp>
      <p:sp>
        <p:nvSpPr>
          <p:cNvPr id="18" name="Rectangle 17">
            <a:extLst>
              <a:ext uri="{FF2B5EF4-FFF2-40B4-BE49-F238E27FC236}">
                <a16:creationId xmlns:a16="http://schemas.microsoft.com/office/drawing/2014/main" id="{C6C962AC-EE04-3AB3-3BD0-C0EC84DD4AA7}"/>
              </a:ext>
            </a:extLst>
          </p:cNvPr>
          <p:cNvSpPr/>
          <p:nvPr/>
        </p:nvSpPr>
        <p:spPr>
          <a:xfrm>
            <a:off x="4426905" y="1161576"/>
            <a:ext cx="470263" cy="379591"/>
          </a:xfrm>
          <a:prstGeom prst="rect">
            <a:avLst/>
          </a:prstGeom>
          <a:gradFill flip="none" rotWithShape="1">
            <a:gsLst>
              <a:gs pos="100000">
                <a:schemeClr val="bg2">
                  <a:lumMod val="10000"/>
                </a:schemeClr>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r>
              <a:rPr lang="en-US"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1</a:t>
            </a:r>
            <a:r>
              <a:rPr kumimoji="0" lang="en-US" sz="1800" b="1" i="0" u="none" strike="noStrike" normalizeH="0" baseline="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uFill>
                  <a:solidFill>
                    <a:srgbClr val="727272"/>
                  </a:solidFill>
                </a:uFill>
                <a:latin typeface="Arial"/>
                <a:ea typeface="Arial"/>
                <a:cs typeface="Arial"/>
                <a:sym typeface="Arial"/>
              </a:rPr>
              <a:t>1</a:t>
            </a:r>
          </a:p>
        </p:txBody>
      </p:sp>
      <p:sp>
        <p:nvSpPr>
          <p:cNvPr id="2" name="Rectangle 1">
            <a:extLst>
              <a:ext uri="{FF2B5EF4-FFF2-40B4-BE49-F238E27FC236}">
                <a16:creationId xmlns:a16="http://schemas.microsoft.com/office/drawing/2014/main" id="{01843B2C-F179-9E43-7CE6-DDA3E180153B}"/>
              </a:ext>
            </a:extLst>
          </p:cNvPr>
          <p:cNvSpPr/>
          <p:nvPr/>
        </p:nvSpPr>
        <p:spPr>
          <a:xfrm>
            <a:off x="3826009" y="1187138"/>
            <a:ext cx="470263" cy="379591"/>
          </a:xfrm>
          <a:prstGeom prst="rect">
            <a:avLst/>
          </a:prstGeom>
          <a:gradFill flip="none" rotWithShape="1">
            <a:gsLst>
              <a:gs pos="100000">
                <a:schemeClr val="bg2">
                  <a:lumMod val="10000"/>
                </a:schemeClr>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r>
              <a:rPr kumimoji="0" lang="en-US" sz="1800" b="1" i="0" u="none" strike="noStrike" normalizeH="0" baseline="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uFill>
                  <a:solidFill>
                    <a:srgbClr val="727272"/>
                  </a:solidFill>
                </a:uFill>
                <a:latin typeface="Arial"/>
                <a:ea typeface="Arial"/>
                <a:cs typeface="Arial"/>
                <a:sym typeface="Arial"/>
              </a:rPr>
              <a:t>10</a:t>
            </a:r>
          </a:p>
        </p:txBody>
      </p:sp>
      <p:sp>
        <p:nvSpPr>
          <p:cNvPr id="3" name="Rectangle 2">
            <a:extLst>
              <a:ext uri="{FF2B5EF4-FFF2-40B4-BE49-F238E27FC236}">
                <a16:creationId xmlns:a16="http://schemas.microsoft.com/office/drawing/2014/main" id="{3C3E4618-40E5-5C7C-1DA9-358FE36065F3}"/>
              </a:ext>
            </a:extLst>
          </p:cNvPr>
          <p:cNvSpPr/>
          <p:nvPr/>
        </p:nvSpPr>
        <p:spPr>
          <a:xfrm>
            <a:off x="4786686" y="3479244"/>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r>
              <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rPr>
              <a:t>0</a:t>
            </a:r>
          </a:p>
        </p:txBody>
      </p:sp>
      <p:sp>
        <p:nvSpPr>
          <p:cNvPr id="4" name="TextBox 3">
            <a:extLst>
              <a:ext uri="{FF2B5EF4-FFF2-40B4-BE49-F238E27FC236}">
                <a16:creationId xmlns:a16="http://schemas.microsoft.com/office/drawing/2014/main" id="{18B9D3D8-C056-6606-D63B-7C7AD798584D}"/>
              </a:ext>
            </a:extLst>
          </p:cNvPr>
          <p:cNvSpPr txBox="1"/>
          <p:nvPr/>
        </p:nvSpPr>
        <p:spPr>
          <a:xfrm>
            <a:off x="3975461" y="3443519"/>
            <a:ext cx="831670"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727272"/>
                </a:solidFill>
                <a:effectLst/>
                <a:uFill>
                  <a:solidFill>
                    <a:srgbClr val="727272"/>
                  </a:solidFill>
                </a:uFill>
                <a:latin typeface="Arial"/>
                <a:ea typeface="Arial"/>
                <a:cs typeface="Arial"/>
                <a:sym typeface="Arial"/>
              </a:rPr>
              <a:t>Count</a:t>
            </a:r>
          </a:p>
        </p:txBody>
      </p:sp>
      <p:pic>
        <p:nvPicPr>
          <p:cNvPr id="21" name="Picture 20" descr="A close-up of a sign&#10;&#10;AI-generated content may be incorrect.">
            <a:extLst>
              <a:ext uri="{FF2B5EF4-FFF2-40B4-BE49-F238E27FC236}">
                <a16:creationId xmlns:a16="http://schemas.microsoft.com/office/drawing/2014/main" id="{3541F1A6-4C9A-27E6-130D-326F55FB8B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37590" y="2090056"/>
            <a:ext cx="1819662" cy="617195"/>
          </a:xfrm>
          <a:prstGeom prst="rect">
            <a:avLst/>
          </a:prstGeom>
        </p:spPr>
      </p:pic>
      <p:pic>
        <p:nvPicPr>
          <p:cNvPr id="23" name="Picture 22" descr="A blue text with blue letters&#10;&#10;AI-generated content may be incorrect.">
            <a:extLst>
              <a:ext uri="{FF2B5EF4-FFF2-40B4-BE49-F238E27FC236}">
                <a16:creationId xmlns:a16="http://schemas.microsoft.com/office/drawing/2014/main" id="{9E4E7002-96E6-E5C1-CC89-AFAD0864E5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56856" y="6109810"/>
            <a:ext cx="2002971" cy="603305"/>
          </a:xfrm>
          <a:prstGeom prst="rect">
            <a:avLst/>
          </a:prstGeom>
        </p:spPr>
      </p:pic>
      <p:sp>
        <p:nvSpPr>
          <p:cNvPr id="25" name="TextBox 24">
            <a:extLst>
              <a:ext uri="{FF2B5EF4-FFF2-40B4-BE49-F238E27FC236}">
                <a16:creationId xmlns:a16="http://schemas.microsoft.com/office/drawing/2014/main" id="{321C66A1-52C5-7B79-C529-498EFA65F232}"/>
              </a:ext>
            </a:extLst>
          </p:cNvPr>
          <p:cNvSpPr txBox="1"/>
          <p:nvPr/>
        </p:nvSpPr>
        <p:spPr>
          <a:xfrm>
            <a:off x="6536665" y="3427975"/>
            <a:ext cx="1190957"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727272"/>
                </a:solidFill>
                <a:effectLst/>
                <a:uFill>
                  <a:solidFill>
                    <a:srgbClr val="727272"/>
                  </a:solidFill>
                </a:uFill>
                <a:latin typeface="Arial"/>
                <a:ea typeface="Arial"/>
                <a:cs typeface="Arial"/>
                <a:sym typeface="Arial"/>
              </a:rPr>
              <a:t>Register</a:t>
            </a:r>
          </a:p>
        </p:txBody>
      </p:sp>
      <p:sp>
        <p:nvSpPr>
          <p:cNvPr id="27" name="Rectangle 26">
            <a:extLst>
              <a:ext uri="{FF2B5EF4-FFF2-40B4-BE49-F238E27FC236}">
                <a16:creationId xmlns:a16="http://schemas.microsoft.com/office/drawing/2014/main" id="{ABFE68FF-7B49-A303-F9EB-E364D69B182E}"/>
              </a:ext>
            </a:extLst>
          </p:cNvPr>
          <p:cNvSpPr/>
          <p:nvPr/>
        </p:nvSpPr>
        <p:spPr>
          <a:xfrm>
            <a:off x="7686992" y="3427974"/>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endPar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endParaRPr>
          </a:p>
        </p:txBody>
      </p:sp>
      <p:sp>
        <p:nvSpPr>
          <p:cNvPr id="28" name="Rectangle 27">
            <a:extLst>
              <a:ext uri="{FF2B5EF4-FFF2-40B4-BE49-F238E27FC236}">
                <a16:creationId xmlns:a16="http://schemas.microsoft.com/office/drawing/2014/main" id="{D14B67C2-98F4-E202-CAAF-122966BD3D2F}"/>
              </a:ext>
            </a:extLst>
          </p:cNvPr>
          <p:cNvSpPr/>
          <p:nvPr/>
        </p:nvSpPr>
        <p:spPr>
          <a:xfrm>
            <a:off x="7686732" y="3434217"/>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r>
              <a:rPr lang="en-US" b="1" dirty="0">
                <a:ln w="12700" cmpd="sng">
                  <a:solidFill>
                    <a:schemeClr val="accent4"/>
                  </a:solidFill>
                  <a:prstDash val="solid"/>
                </a:ln>
                <a:solidFill>
                  <a:srgbClr val="FF0000"/>
                </a:solidFill>
              </a:rPr>
              <a:t>1</a:t>
            </a:r>
            <a:endPar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endParaRPr>
          </a:p>
        </p:txBody>
      </p:sp>
      <p:sp>
        <p:nvSpPr>
          <p:cNvPr id="29" name="Rectangle 28">
            <a:extLst>
              <a:ext uri="{FF2B5EF4-FFF2-40B4-BE49-F238E27FC236}">
                <a16:creationId xmlns:a16="http://schemas.microsoft.com/office/drawing/2014/main" id="{DCAEAA0F-CA30-49C4-755A-38EFC98C5469}"/>
              </a:ext>
            </a:extLst>
          </p:cNvPr>
          <p:cNvSpPr/>
          <p:nvPr/>
        </p:nvSpPr>
        <p:spPr>
          <a:xfrm>
            <a:off x="4792719" y="3467578"/>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r>
              <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rPr>
              <a:t>0</a:t>
            </a:r>
          </a:p>
        </p:txBody>
      </p:sp>
      <p:sp>
        <p:nvSpPr>
          <p:cNvPr id="30" name="Rectangle 29">
            <a:extLst>
              <a:ext uri="{FF2B5EF4-FFF2-40B4-BE49-F238E27FC236}">
                <a16:creationId xmlns:a16="http://schemas.microsoft.com/office/drawing/2014/main" id="{490AEFE5-C5CC-34FE-CCB0-C8FBB05D0C28}"/>
              </a:ext>
            </a:extLst>
          </p:cNvPr>
          <p:cNvSpPr/>
          <p:nvPr/>
        </p:nvSpPr>
        <p:spPr>
          <a:xfrm>
            <a:off x="7680699" y="3437386"/>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r>
              <a:rPr lang="en-US" b="1" dirty="0">
                <a:ln w="12700" cmpd="sng">
                  <a:solidFill>
                    <a:schemeClr val="accent4"/>
                  </a:solidFill>
                  <a:prstDash val="solid"/>
                </a:ln>
                <a:solidFill>
                  <a:srgbClr val="FF0000"/>
                </a:solidFill>
              </a:rPr>
              <a:t>0+1</a:t>
            </a:r>
            <a:endPar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endParaRPr>
          </a:p>
        </p:txBody>
      </p:sp>
      <p:pic>
        <p:nvPicPr>
          <p:cNvPr id="33" name="Picture 32">
            <a:extLst>
              <a:ext uri="{FF2B5EF4-FFF2-40B4-BE49-F238E27FC236}">
                <a16:creationId xmlns:a16="http://schemas.microsoft.com/office/drawing/2014/main" id="{DDE250C5-87E0-EC46-7C0F-7AF2223947F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19293" y="2066775"/>
            <a:ext cx="228600" cy="241300"/>
          </a:xfrm>
          <a:prstGeom prst="rect">
            <a:avLst/>
          </a:prstGeom>
        </p:spPr>
      </p:pic>
      <p:pic>
        <p:nvPicPr>
          <p:cNvPr id="34" name="Picture 33">
            <a:extLst>
              <a:ext uri="{FF2B5EF4-FFF2-40B4-BE49-F238E27FC236}">
                <a16:creationId xmlns:a16="http://schemas.microsoft.com/office/drawing/2014/main" id="{5E61B2B1-4D1F-13E8-02FF-EF438C143C2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9106" y="1703857"/>
            <a:ext cx="228600" cy="241300"/>
          </a:xfrm>
          <a:prstGeom prst="rect">
            <a:avLst/>
          </a:prstGeom>
        </p:spPr>
      </p:pic>
      <p:pic>
        <p:nvPicPr>
          <p:cNvPr id="35" name="Picture 34">
            <a:extLst>
              <a:ext uri="{FF2B5EF4-FFF2-40B4-BE49-F238E27FC236}">
                <a16:creationId xmlns:a16="http://schemas.microsoft.com/office/drawing/2014/main" id="{CF3310E4-CDB6-6AA0-C3DF-04E117367A0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23789" y="2251377"/>
            <a:ext cx="228600" cy="241300"/>
          </a:xfrm>
          <a:prstGeom prst="rect">
            <a:avLst/>
          </a:prstGeom>
        </p:spPr>
      </p:pic>
      <p:pic>
        <p:nvPicPr>
          <p:cNvPr id="36" name="Picture 35">
            <a:extLst>
              <a:ext uri="{FF2B5EF4-FFF2-40B4-BE49-F238E27FC236}">
                <a16:creationId xmlns:a16="http://schemas.microsoft.com/office/drawing/2014/main" id="{A96DDD79-811D-4910-F6B5-471611B9919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28285" y="2439006"/>
            <a:ext cx="228600" cy="241300"/>
          </a:xfrm>
          <a:prstGeom prst="rect">
            <a:avLst/>
          </a:prstGeom>
        </p:spPr>
      </p:pic>
      <p:pic>
        <p:nvPicPr>
          <p:cNvPr id="37" name="Picture 36">
            <a:extLst>
              <a:ext uri="{FF2B5EF4-FFF2-40B4-BE49-F238E27FC236}">
                <a16:creationId xmlns:a16="http://schemas.microsoft.com/office/drawing/2014/main" id="{585E5ACE-CD61-3866-E073-3D5ED264363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0140" y="5493504"/>
            <a:ext cx="228600" cy="241300"/>
          </a:xfrm>
          <a:prstGeom prst="rect">
            <a:avLst/>
          </a:prstGeom>
        </p:spPr>
      </p:pic>
      <p:pic>
        <p:nvPicPr>
          <p:cNvPr id="38" name="Picture 37">
            <a:extLst>
              <a:ext uri="{FF2B5EF4-FFF2-40B4-BE49-F238E27FC236}">
                <a16:creationId xmlns:a16="http://schemas.microsoft.com/office/drawing/2014/main" id="{CE9AB35E-7B40-9F52-A8FA-DE4CAE28BB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35213" y="6096957"/>
            <a:ext cx="228600" cy="241300"/>
          </a:xfrm>
          <a:prstGeom prst="rect">
            <a:avLst/>
          </a:prstGeom>
        </p:spPr>
      </p:pic>
      <p:pic>
        <p:nvPicPr>
          <p:cNvPr id="39" name="Picture 38">
            <a:extLst>
              <a:ext uri="{FF2B5EF4-FFF2-40B4-BE49-F238E27FC236}">
                <a16:creationId xmlns:a16="http://schemas.microsoft.com/office/drawing/2014/main" id="{F6E23323-D248-E9E3-A033-BEE7DBA73EC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35213" y="6290812"/>
            <a:ext cx="228600" cy="241300"/>
          </a:xfrm>
          <a:prstGeom prst="rect">
            <a:avLst/>
          </a:prstGeom>
        </p:spPr>
      </p:pic>
      <p:sp>
        <p:nvSpPr>
          <p:cNvPr id="42" name="Rectangle 41">
            <a:extLst>
              <a:ext uri="{FF2B5EF4-FFF2-40B4-BE49-F238E27FC236}">
                <a16:creationId xmlns:a16="http://schemas.microsoft.com/office/drawing/2014/main" id="{7A5B248E-3C23-F6FC-3CB9-D232E356EF40}"/>
              </a:ext>
            </a:extLst>
          </p:cNvPr>
          <p:cNvSpPr/>
          <p:nvPr/>
        </p:nvSpPr>
        <p:spPr>
          <a:xfrm>
            <a:off x="4795735" y="3458678"/>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r>
              <a:rPr lang="en-US" b="1" dirty="0">
                <a:ln w="12700" cmpd="sng">
                  <a:solidFill>
                    <a:schemeClr val="accent4"/>
                  </a:solidFill>
                  <a:prstDash val="solid"/>
                </a:ln>
                <a:solidFill>
                  <a:srgbClr val="FF0000"/>
                </a:solidFill>
              </a:rPr>
              <a:t>1</a:t>
            </a:r>
            <a:endPar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endParaRPr>
          </a:p>
        </p:txBody>
      </p:sp>
      <p:sp>
        <p:nvSpPr>
          <p:cNvPr id="44" name="Rectangle 43">
            <a:extLst>
              <a:ext uri="{FF2B5EF4-FFF2-40B4-BE49-F238E27FC236}">
                <a16:creationId xmlns:a16="http://schemas.microsoft.com/office/drawing/2014/main" id="{B72D32A1-D1E9-7F10-F40B-9D5C2959C941}"/>
              </a:ext>
            </a:extLst>
          </p:cNvPr>
          <p:cNvSpPr/>
          <p:nvPr/>
        </p:nvSpPr>
        <p:spPr>
          <a:xfrm>
            <a:off x="7674406" y="3443518"/>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r>
              <a:rPr lang="en-US" b="1" dirty="0">
                <a:ln w="12700" cmpd="sng">
                  <a:solidFill>
                    <a:schemeClr val="accent4"/>
                  </a:solidFill>
                  <a:prstDash val="solid"/>
                </a:ln>
                <a:solidFill>
                  <a:srgbClr val="FF0000"/>
                </a:solidFill>
              </a:rPr>
              <a:t>1 + 1</a:t>
            </a:r>
            <a:endPar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endParaRPr>
          </a:p>
        </p:txBody>
      </p:sp>
      <p:sp>
        <p:nvSpPr>
          <p:cNvPr id="45" name="Rectangle 44">
            <a:extLst>
              <a:ext uri="{FF2B5EF4-FFF2-40B4-BE49-F238E27FC236}">
                <a16:creationId xmlns:a16="http://schemas.microsoft.com/office/drawing/2014/main" id="{A46AE058-6158-370C-B13D-EEC247FB8F0D}"/>
              </a:ext>
            </a:extLst>
          </p:cNvPr>
          <p:cNvSpPr/>
          <p:nvPr/>
        </p:nvSpPr>
        <p:spPr>
          <a:xfrm>
            <a:off x="7654360" y="3426317"/>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r>
              <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rPr>
              <a:t>2</a:t>
            </a:r>
          </a:p>
        </p:txBody>
      </p:sp>
      <p:sp>
        <p:nvSpPr>
          <p:cNvPr id="47" name="Rectangle 46">
            <a:extLst>
              <a:ext uri="{FF2B5EF4-FFF2-40B4-BE49-F238E27FC236}">
                <a16:creationId xmlns:a16="http://schemas.microsoft.com/office/drawing/2014/main" id="{40CCE40C-7DDC-8285-8B4A-F13D5E8A611A}"/>
              </a:ext>
            </a:extLst>
          </p:cNvPr>
          <p:cNvSpPr/>
          <p:nvPr/>
        </p:nvSpPr>
        <p:spPr>
          <a:xfrm>
            <a:off x="4800834" y="3499810"/>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r>
              <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rPr>
              <a:t>2</a:t>
            </a:r>
          </a:p>
        </p:txBody>
      </p:sp>
      <p:sp>
        <p:nvSpPr>
          <p:cNvPr id="48" name="Rectangle 47">
            <a:extLst>
              <a:ext uri="{FF2B5EF4-FFF2-40B4-BE49-F238E27FC236}">
                <a16:creationId xmlns:a16="http://schemas.microsoft.com/office/drawing/2014/main" id="{8F619DD3-7511-70D1-23CF-8250E0B0BEBC}"/>
              </a:ext>
            </a:extLst>
          </p:cNvPr>
          <p:cNvSpPr/>
          <p:nvPr/>
        </p:nvSpPr>
        <p:spPr>
          <a:xfrm>
            <a:off x="7727622" y="3434106"/>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r>
              <a:rPr lang="en-US" b="1" dirty="0">
                <a:ln w="12700" cmpd="sng">
                  <a:solidFill>
                    <a:schemeClr val="accent4"/>
                  </a:solidFill>
                  <a:prstDash val="solid"/>
                </a:ln>
                <a:solidFill>
                  <a:srgbClr val="FF0000"/>
                </a:solidFill>
              </a:rPr>
              <a:t>1 - 1 </a:t>
            </a:r>
            <a:endPar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endParaRPr>
          </a:p>
        </p:txBody>
      </p:sp>
      <p:sp>
        <p:nvSpPr>
          <p:cNvPr id="49" name="Rectangle 48">
            <a:extLst>
              <a:ext uri="{FF2B5EF4-FFF2-40B4-BE49-F238E27FC236}">
                <a16:creationId xmlns:a16="http://schemas.microsoft.com/office/drawing/2014/main" id="{F9EE51CD-53F4-3FC8-4EBC-BCD6227CFD51}"/>
              </a:ext>
            </a:extLst>
          </p:cNvPr>
          <p:cNvSpPr/>
          <p:nvPr/>
        </p:nvSpPr>
        <p:spPr>
          <a:xfrm>
            <a:off x="7768252" y="3493456"/>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r>
              <a:rPr lang="en-US" b="1" dirty="0">
                <a:ln w="12700" cmpd="sng">
                  <a:solidFill>
                    <a:schemeClr val="accent4"/>
                  </a:solidFill>
                  <a:prstDash val="solid"/>
                </a:ln>
                <a:solidFill>
                  <a:srgbClr val="FF0000"/>
                </a:solidFill>
              </a:rPr>
              <a:t>1</a:t>
            </a:r>
            <a:endPar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endParaRPr>
          </a:p>
        </p:txBody>
      </p:sp>
      <p:sp>
        <p:nvSpPr>
          <p:cNvPr id="50" name="Rectangle 49">
            <a:extLst>
              <a:ext uri="{FF2B5EF4-FFF2-40B4-BE49-F238E27FC236}">
                <a16:creationId xmlns:a16="http://schemas.microsoft.com/office/drawing/2014/main" id="{6B9F5B8A-ABD9-B307-652C-3F1E5720F644}"/>
              </a:ext>
            </a:extLst>
          </p:cNvPr>
          <p:cNvSpPr/>
          <p:nvPr/>
        </p:nvSpPr>
        <p:spPr>
          <a:xfrm>
            <a:off x="5159827" y="1175521"/>
            <a:ext cx="470263" cy="379591"/>
          </a:xfrm>
          <a:prstGeom prst="rect">
            <a:avLst/>
          </a:prstGeom>
          <a:gradFill flip="none" rotWithShape="1">
            <a:gsLst>
              <a:gs pos="100000">
                <a:schemeClr val="bg2">
                  <a:lumMod val="10000"/>
                </a:schemeClr>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r>
              <a:rPr lang="en-US"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12</a:t>
            </a:r>
            <a:endParaRPr kumimoji="0" lang="en-US" sz="1800" b="1" i="0" u="none" strike="noStrike" normalizeH="0" baseline="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uFill>
                <a:solidFill>
                  <a:srgbClr val="727272"/>
                </a:solidFill>
              </a:uFill>
              <a:latin typeface="Arial"/>
              <a:ea typeface="Arial"/>
              <a:cs typeface="Arial"/>
              <a:sym typeface="Arial"/>
            </a:endParaRPr>
          </a:p>
        </p:txBody>
      </p:sp>
      <p:sp>
        <p:nvSpPr>
          <p:cNvPr id="52" name="Rectangle 51">
            <a:extLst>
              <a:ext uri="{FF2B5EF4-FFF2-40B4-BE49-F238E27FC236}">
                <a16:creationId xmlns:a16="http://schemas.microsoft.com/office/drawing/2014/main" id="{6B61DD85-D9BB-C4CD-F243-84AD4E75A180}"/>
              </a:ext>
            </a:extLst>
          </p:cNvPr>
          <p:cNvSpPr/>
          <p:nvPr/>
        </p:nvSpPr>
        <p:spPr>
          <a:xfrm>
            <a:off x="7713331" y="3493558"/>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r>
              <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rPr>
              <a:t>2</a:t>
            </a:r>
          </a:p>
        </p:txBody>
      </p:sp>
      <p:sp>
        <p:nvSpPr>
          <p:cNvPr id="46" name="Rectangle 45">
            <a:extLst>
              <a:ext uri="{FF2B5EF4-FFF2-40B4-BE49-F238E27FC236}">
                <a16:creationId xmlns:a16="http://schemas.microsoft.com/office/drawing/2014/main" id="{0CD1BD26-3892-8136-5B57-FD92A958E1C9}"/>
              </a:ext>
            </a:extLst>
          </p:cNvPr>
          <p:cNvSpPr/>
          <p:nvPr/>
        </p:nvSpPr>
        <p:spPr>
          <a:xfrm>
            <a:off x="4815781" y="3525231"/>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r>
              <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rPr>
              <a:t>2</a:t>
            </a:r>
          </a:p>
        </p:txBody>
      </p:sp>
      <p:sp>
        <p:nvSpPr>
          <p:cNvPr id="53" name="Rectangle 52">
            <a:extLst>
              <a:ext uri="{FF2B5EF4-FFF2-40B4-BE49-F238E27FC236}">
                <a16:creationId xmlns:a16="http://schemas.microsoft.com/office/drawing/2014/main" id="{DDC70801-3524-B23F-43DE-69679235E3A3}"/>
              </a:ext>
            </a:extLst>
          </p:cNvPr>
          <p:cNvSpPr/>
          <p:nvPr/>
        </p:nvSpPr>
        <p:spPr>
          <a:xfrm>
            <a:off x="7708516" y="3525231"/>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r>
              <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rPr>
              <a:t>2+1</a:t>
            </a:r>
          </a:p>
        </p:txBody>
      </p:sp>
      <p:sp>
        <p:nvSpPr>
          <p:cNvPr id="54" name="Rectangle 53">
            <a:extLst>
              <a:ext uri="{FF2B5EF4-FFF2-40B4-BE49-F238E27FC236}">
                <a16:creationId xmlns:a16="http://schemas.microsoft.com/office/drawing/2014/main" id="{EAF2623C-E0F5-A4BD-A2EF-8C46C33AEF83}"/>
              </a:ext>
            </a:extLst>
          </p:cNvPr>
          <p:cNvSpPr/>
          <p:nvPr/>
        </p:nvSpPr>
        <p:spPr>
          <a:xfrm>
            <a:off x="7713000" y="3561204"/>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tabLst/>
            </a:pPr>
            <a:r>
              <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rPr>
              <a:t>3</a:t>
            </a:r>
          </a:p>
        </p:txBody>
      </p:sp>
    </p:spTree>
    <p:extLst>
      <p:ext uri="{BB962C8B-B14F-4D97-AF65-F5344CB8AC3E}">
        <p14:creationId xmlns:p14="http://schemas.microsoft.com/office/powerpoint/2010/main" val="418034388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1" nodeType="clickEffect">
                                  <p:stCondLst>
                                    <p:cond delay="0"/>
                                  </p:stCondLst>
                                  <p:childTnLst>
                                    <p:animMotion origin="layout" path="M 2.77778E-6 -4.44444E-6 C 0.00868 0.04769 0.01736 0.09537 0.02239 0.13612 C 0.02743 0.17709 0.0283 0.21112 0.02951 0.24537 " pathEditMode="relative" rAng="0" ptsTypes="AAA">
                                      <p:cBhvr>
                                        <p:cTn id="10" dur="2000" fill="hold"/>
                                        <p:tgtEl>
                                          <p:spTgt spid="2"/>
                                        </p:tgtEl>
                                        <p:attrNameLst>
                                          <p:attrName>ppt_x</p:attrName>
                                          <p:attrName>ppt_y</p:attrName>
                                        </p:attrNameLst>
                                      </p:cBhvr>
                                      <p:rCtr x="1476" y="12269"/>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0" presetClass="path" presetSubtype="0" accel="50000" decel="50000" fill="hold" grpId="1" nodeType="withEffect">
                                  <p:stCondLst>
                                    <p:cond delay="0"/>
                                  </p:stCondLst>
                                  <p:childTnLst>
                                    <p:animMotion origin="layout" path="M -0.00173 0.02847 C 0.04861 0.03773 0.09931 0.04676 0.15174 0.0419 C 0.20417 0.03681 0.25868 0.01783 0.3132 -0.00116 " pathEditMode="relative" rAng="0" ptsTypes="AAA">
                                      <p:cBhvr>
                                        <p:cTn id="20" dur="2000" fill="hold"/>
                                        <p:tgtEl>
                                          <p:spTgt spid="29"/>
                                        </p:tgtEl>
                                        <p:attrNameLst>
                                          <p:attrName>ppt_x</p:attrName>
                                          <p:attrName>ppt_y</p:attrName>
                                        </p:attrNameLst>
                                      </p:cBhvr>
                                      <p:rCtr x="15747" y="-764"/>
                                    </p:animMotion>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0" presetClass="path" presetSubtype="0" accel="50000" decel="50000" fill="hold" grpId="0" nodeType="withEffect">
                                  <p:stCondLst>
                                    <p:cond delay="0"/>
                                  </p:stCondLst>
                                  <p:childTnLst>
                                    <p:animMotion origin="layout" path="M -5.55556E-7 4.44444E-6 C -0.05521 0.00023 -0.11007 0.00069 -0.16233 -0.00024 C -0.21458 -0.00139 -0.31319 -0.00625 -0.31319 -0.00625 L -0.31319 -0.00625 " pathEditMode="relative" rAng="0" ptsTypes="AAAA">
                                      <p:cBhvr>
                                        <p:cTn id="38" dur="2000" fill="hold"/>
                                        <p:tgtEl>
                                          <p:spTgt spid="28"/>
                                        </p:tgtEl>
                                        <p:attrNameLst>
                                          <p:attrName>ppt_x</p:attrName>
                                          <p:attrName>ppt_y</p:attrName>
                                        </p:attrNameLst>
                                      </p:cBhvr>
                                      <p:rCtr x="-15660" y="-301"/>
                                    </p:animMotion>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33"/>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34"/>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35"/>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36"/>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0" presetClass="path" presetSubtype="0" accel="50000" decel="50000" fill="hold" grpId="1" nodeType="clickEffect">
                                  <p:stCondLst>
                                    <p:cond delay="0"/>
                                  </p:stCondLst>
                                  <p:childTnLst>
                                    <p:animMotion origin="layout" path="M 0.02326 -7.40741E-7 C 0.02691 0.03125 0.03055 0.06273 0.02916 0.1037 C 0.02795 0.14491 0.02187 0.19537 0.01579 0.24607 " pathEditMode="relative" rAng="0" ptsTypes="AAA">
                                      <p:cBhvr>
                                        <p:cTn id="60" dur="2000" fill="hold"/>
                                        <p:tgtEl>
                                          <p:spTgt spid="18"/>
                                        </p:tgtEl>
                                        <p:attrNameLst>
                                          <p:attrName>ppt_x</p:attrName>
                                          <p:attrName>ppt_y</p:attrName>
                                        </p:attrNameLst>
                                      </p:cBhvr>
                                      <p:rCtr x="-69" y="12292"/>
                                    </p:animMotion>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1" nodeType="clickEffect">
                                  <p:stCondLst>
                                    <p:cond delay="0"/>
                                  </p:stCondLst>
                                  <p:childTnLst>
                                    <p:set>
                                      <p:cBhvr>
                                        <p:cTn id="68" dur="1" fill="hold">
                                          <p:stCondLst>
                                            <p:cond delay="0"/>
                                          </p:stCondLst>
                                        </p:cTn>
                                        <p:tgtEl>
                                          <p:spTgt spid="42"/>
                                        </p:tgtEl>
                                        <p:attrNameLst>
                                          <p:attrName>style.visibility</p:attrName>
                                        </p:attrNameLst>
                                      </p:cBhvr>
                                      <p:to>
                                        <p:strVal val="visible"/>
                                      </p:to>
                                    </p:set>
                                  </p:childTnLst>
                                </p:cTn>
                              </p:par>
                              <p:par>
                                <p:cTn id="69" presetID="0" presetClass="path" presetSubtype="0" accel="50000" decel="50000" fill="hold" grpId="0" nodeType="withEffect">
                                  <p:stCondLst>
                                    <p:cond delay="0"/>
                                  </p:stCondLst>
                                  <p:childTnLst>
                                    <p:animMotion origin="layout" path="M -8.33333E-7 -4.44444E-6 C 0.07465 0.00255 0.14965 0.0051 0.20347 0.0007 C 0.25729 -0.00347 0.29011 -0.01481 0.32292 -0.02592 " pathEditMode="relative" rAng="0" ptsTypes="AAA">
                                      <p:cBhvr>
                                        <p:cTn id="70" dur="2000" fill="hold"/>
                                        <p:tgtEl>
                                          <p:spTgt spid="42"/>
                                        </p:tgtEl>
                                        <p:attrNameLst>
                                          <p:attrName>ppt_x</p:attrName>
                                          <p:attrName>ppt_y</p:attrName>
                                        </p:attrNameLst>
                                      </p:cBhvr>
                                      <p:rCtr x="16146" y="-1157"/>
                                    </p:animMotion>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0" presetClass="path" presetSubtype="0" accel="50000" decel="50000" fill="hold" grpId="1" nodeType="clickEffect">
                                  <p:stCondLst>
                                    <p:cond delay="0"/>
                                  </p:stCondLst>
                                  <p:childTnLst>
                                    <p:animMotion origin="layout" path="M -0.00191 0.00232 C -0.06788 0.00371 -0.13368 0.0051 -0.18593 0.00301 C -0.23819 0.00093 -0.27691 -0.00486 -0.31545 -0.01041 " pathEditMode="relative" rAng="0" ptsTypes="AAA">
                                      <p:cBhvr>
                                        <p:cTn id="90" dur="2000" fill="hold"/>
                                        <p:tgtEl>
                                          <p:spTgt spid="45"/>
                                        </p:tgtEl>
                                        <p:attrNameLst>
                                          <p:attrName>ppt_x</p:attrName>
                                          <p:attrName>ppt_y</p:attrName>
                                        </p:attrNameLst>
                                      </p:cBhvr>
                                      <p:rCtr x="-15677" y="-556"/>
                                    </p:animMotion>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7"/>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0" presetClass="path" presetSubtype="0" accel="50000" decel="50000" fill="hold" grpId="2" nodeType="clickEffect">
                                  <p:stCondLst>
                                    <p:cond delay="0"/>
                                  </p:stCondLst>
                                  <p:childTnLst>
                                    <p:animMotion origin="layout" path="M 0.02951 0.24537 C 0.02274 0.39421 0.01632 0.54328 0.00347 0.60069 C -0.0092 0.65787 -0.02848 0.62384 -0.04757 0.58981 " pathEditMode="relative" rAng="0" ptsTypes="AAA">
                                      <p:cBhvr>
                                        <p:cTn id="98" dur="2000" fill="hold"/>
                                        <p:tgtEl>
                                          <p:spTgt spid="2"/>
                                        </p:tgtEl>
                                        <p:attrNameLst>
                                          <p:attrName>ppt_x</p:attrName>
                                          <p:attrName>ppt_y</p:attrName>
                                        </p:attrNameLst>
                                      </p:cBhvr>
                                      <p:rCtr x="-3854" y="19306"/>
                                    </p:animMotion>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8"/>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0" presetClass="path" presetSubtype="0" accel="50000" decel="50000" fill="hold" grpId="1" nodeType="clickEffect">
                                  <p:stCondLst>
                                    <p:cond delay="0"/>
                                  </p:stCondLst>
                                  <p:childTnLst>
                                    <p:animMotion origin="layout" path="M -1.66667E-6 0.03287 C 0.06441 0.04468 0.12917 0.05672 0.18143 0.0507 C 0.23403 0.04468 0.27431 0.02084 0.31459 -0.00301 " pathEditMode="relative" rAng="0" ptsTypes="AAA">
                                      <p:cBhvr>
                                        <p:cTn id="110" dur="2000" fill="hold"/>
                                        <p:tgtEl>
                                          <p:spTgt spid="47"/>
                                        </p:tgtEl>
                                        <p:attrNameLst>
                                          <p:attrName>ppt_x</p:attrName>
                                          <p:attrName>ppt_y</p:attrName>
                                        </p:attrNameLst>
                                      </p:cBhvr>
                                      <p:rCtr x="15729" y="-833"/>
                                    </p:animMotion>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39"/>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48"/>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4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nodeType="clickEffect">
                                  <p:stCondLst>
                                    <p:cond delay="0"/>
                                  </p:stCondLst>
                                  <p:childTnLst>
                                    <p:set>
                                      <p:cBhvr>
                                        <p:cTn id="126" dur="1" fill="hold">
                                          <p:stCondLst>
                                            <p:cond delay="0"/>
                                          </p:stCondLst>
                                        </p:cTn>
                                        <p:tgtEl>
                                          <p:spTgt spid="33"/>
                                        </p:tgtEl>
                                        <p:attrNameLst>
                                          <p:attrName>style.visibility</p:attrName>
                                        </p:attrNameLst>
                                      </p:cBhvr>
                                      <p:to>
                                        <p:strVal val="hidden"/>
                                      </p:to>
                                    </p:set>
                                  </p:childTnLst>
                                </p:cTn>
                              </p:par>
                              <p:par>
                                <p:cTn id="127" presetID="1" presetClass="exit" presetSubtype="0" fill="hold" nodeType="withEffect">
                                  <p:stCondLst>
                                    <p:cond delay="0"/>
                                  </p:stCondLst>
                                  <p:childTnLst>
                                    <p:set>
                                      <p:cBhvr>
                                        <p:cTn id="128" dur="1" fill="hold">
                                          <p:stCondLst>
                                            <p:cond delay="0"/>
                                          </p:stCondLst>
                                        </p:cTn>
                                        <p:tgtEl>
                                          <p:spTgt spid="34"/>
                                        </p:tgtEl>
                                        <p:attrNameLst>
                                          <p:attrName>style.visibility</p:attrName>
                                        </p:attrNameLst>
                                      </p:cBhvr>
                                      <p:to>
                                        <p:strVal val="hidden"/>
                                      </p:to>
                                    </p:set>
                                  </p:childTnLst>
                                </p:cTn>
                              </p:par>
                              <p:par>
                                <p:cTn id="129" presetID="1" presetClass="exit" presetSubtype="0" fill="hold" nodeType="withEffect">
                                  <p:stCondLst>
                                    <p:cond delay="0"/>
                                  </p:stCondLst>
                                  <p:childTnLst>
                                    <p:set>
                                      <p:cBhvr>
                                        <p:cTn id="130" dur="1" fill="hold">
                                          <p:stCondLst>
                                            <p:cond delay="0"/>
                                          </p:stCondLst>
                                        </p:cTn>
                                        <p:tgtEl>
                                          <p:spTgt spid="35"/>
                                        </p:tgtEl>
                                        <p:attrNameLst>
                                          <p:attrName>style.visibility</p:attrName>
                                        </p:attrNameLst>
                                      </p:cBhvr>
                                      <p:to>
                                        <p:strVal val="hidden"/>
                                      </p:to>
                                    </p:set>
                                  </p:childTnLst>
                                </p:cTn>
                              </p:par>
                              <p:par>
                                <p:cTn id="131" presetID="1" presetClass="exit" presetSubtype="0" fill="hold" nodeType="withEffect">
                                  <p:stCondLst>
                                    <p:cond delay="0"/>
                                  </p:stCondLst>
                                  <p:childTnLst>
                                    <p:set>
                                      <p:cBhvr>
                                        <p:cTn id="132" dur="1" fill="hold">
                                          <p:stCondLst>
                                            <p:cond delay="0"/>
                                          </p:stCondLst>
                                        </p:cTn>
                                        <p:tgtEl>
                                          <p:spTgt spid="36"/>
                                        </p:tgtEl>
                                        <p:attrNameLst>
                                          <p:attrName>style.visibility</p:attrName>
                                        </p:attrNameLst>
                                      </p:cBhvr>
                                      <p:to>
                                        <p:strVal val="hidden"/>
                                      </p:to>
                                    </p:set>
                                  </p:childTnLst>
                                </p:cTn>
                              </p:par>
                              <p:par>
                                <p:cTn id="133" presetID="1" presetClass="exit" presetSubtype="0" fill="hold" nodeType="withEffect">
                                  <p:stCondLst>
                                    <p:cond delay="0"/>
                                  </p:stCondLst>
                                  <p:childTnLst>
                                    <p:set>
                                      <p:cBhvr>
                                        <p:cTn id="134" dur="1" fill="hold">
                                          <p:stCondLst>
                                            <p:cond delay="0"/>
                                          </p:stCondLst>
                                        </p:cTn>
                                        <p:tgtEl>
                                          <p:spTgt spid="37"/>
                                        </p:tgtEl>
                                        <p:attrNameLst>
                                          <p:attrName>style.visibility</p:attrName>
                                        </p:attrNameLst>
                                      </p:cBhvr>
                                      <p:to>
                                        <p:strVal val="hidden"/>
                                      </p:to>
                                    </p:set>
                                  </p:childTnLst>
                                </p:cTn>
                              </p:par>
                              <p:par>
                                <p:cTn id="135" presetID="1" presetClass="exit" presetSubtype="0" fill="hold" nodeType="withEffect">
                                  <p:stCondLst>
                                    <p:cond delay="0"/>
                                  </p:stCondLst>
                                  <p:childTnLst>
                                    <p:set>
                                      <p:cBhvr>
                                        <p:cTn id="136" dur="1" fill="hold">
                                          <p:stCondLst>
                                            <p:cond delay="0"/>
                                          </p:stCondLst>
                                        </p:cTn>
                                        <p:tgtEl>
                                          <p:spTgt spid="38"/>
                                        </p:tgtEl>
                                        <p:attrNameLst>
                                          <p:attrName>style.visibility</p:attrName>
                                        </p:attrNameLst>
                                      </p:cBhvr>
                                      <p:to>
                                        <p:strVal val="hidden"/>
                                      </p:to>
                                    </p:set>
                                  </p:childTnLst>
                                </p:cTn>
                              </p:par>
                              <p:par>
                                <p:cTn id="137" presetID="1" presetClass="exit" presetSubtype="0" fill="hold" nodeType="withEffect">
                                  <p:stCondLst>
                                    <p:cond delay="0"/>
                                  </p:stCondLst>
                                  <p:childTnLst>
                                    <p:set>
                                      <p:cBhvr>
                                        <p:cTn id="138" dur="1" fill="hold">
                                          <p:stCondLst>
                                            <p:cond delay="0"/>
                                          </p:stCondLst>
                                        </p:cTn>
                                        <p:tgtEl>
                                          <p:spTgt spid="39"/>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34"/>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50"/>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0" presetClass="path" presetSubtype="0" accel="50000" decel="50000" fill="hold" grpId="1" nodeType="clickEffect">
                                  <p:stCondLst>
                                    <p:cond delay="0"/>
                                  </p:stCondLst>
                                  <p:childTnLst>
                                    <p:animMotion origin="layout" path="M 0 0 C 0.01198 0.03495 0.02396 0.07014 0.0217 0.11064 C 0.01945 0.15115 -0.01319 0.24282 -0.01319 0.24282 L -0.01319 0.24282 " pathEditMode="relative" ptsTypes="AAAA">
                                      <p:cBhvr>
                                        <p:cTn id="150" dur="2000" fill="hold"/>
                                        <p:tgtEl>
                                          <p:spTgt spid="50"/>
                                        </p:tgtEl>
                                        <p:attrNameLst>
                                          <p:attrName>ppt_x</p:attrName>
                                          <p:attrName>ppt_y</p:attrName>
                                        </p:attrNameLst>
                                      </p:cBhvr>
                                    </p:animMotion>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33"/>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46"/>
                                        </p:tgtEl>
                                        <p:attrNameLst>
                                          <p:attrName>style.visibility</p:attrName>
                                        </p:attrNameLst>
                                      </p:cBhvr>
                                      <p:to>
                                        <p:strVal val="visible"/>
                                      </p:to>
                                    </p:set>
                                  </p:childTnLst>
                                </p:cTn>
                              </p:par>
                              <p:par>
                                <p:cTn id="159" presetID="0" presetClass="path" presetSubtype="0" accel="50000" decel="50000" fill="hold" grpId="1" nodeType="withEffect">
                                  <p:stCondLst>
                                    <p:cond delay="0"/>
                                  </p:stCondLst>
                                  <p:childTnLst>
                                    <p:animMotion origin="layout" path="M 2.22222E-6 3.33333E-6 C 0.0401 0.02338 0.08021 0.04676 0.13385 0.04027 C 0.1875 0.03379 0.25451 -0.00255 0.3217 -0.03889 " pathEditMode="relative" rAng="0" ptsTypes="AAA">
                                      <p:cBhvr>
                                        <p:cTn id="160" dur="2000" fill="hold"/>
                                        <p:tgtEl>
                                          <p:spTgt spid="46"/>
                                        </p:tgtEl>
                                        <p:attrNameLst>
                                          <p:attrName>ppt_x</p:attrName>
                                          <p:attrName>ppt_y</p:attrName>
                                        </p:attrNameLst>
                                      </p:cBhvr>
                                      <p:rCtr x="16076" y="116"/>
                                    </p:animMotion>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52"/>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nodeType="clickEffect">
                                  <p:stCondLst>
                                    <p:cond delay="0"/>
                                  </p:stCondLst>
                                  <p:childTnLst>
                                    <p:set>
                                      <p:cBhvr>
                                        <p:cTn id="168" dur="1" fill="hold">
                                          <p:stCondLst>
                                            <p:cond delay="0"/>
                                          </p:stCondLst>
                                        </p:cTn>
                                        <p:tgtEl>
                                          <p:spTgt spid="35"/>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0" nodeType="clickEffect">
                                  <p:stCondLst>
                                    <p:cond delay="0"/>
                                  </p:stCondLst>
                                  <p:childTnLst>
                                    <p:set>
                                      <p:cBhvr>
                                        <p:cTn id="172" dur="1" fill="hold">
                                          <p:stCondLst>
                                            <p:cond delay="0"/>
                                          </p:stCondLst>
                                        </p:cTn>
                                        <p:tgtEl>
                                          <p:spTgt spid="53"/>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nodeType="clickEffect">
                                  <p:stCondLst>
                                    <p:cond delay="0"/>
                                  </p:stCondLst>
                                  <p:childTnLst>
                                    <p:set>
                                      <p:cBhvr>
                                        <p:cTn id="176" dur="1" fill="hold">
                                          <p:stCondLst>
                                            <p:cond delay="0"/>
                                          </p:stCondLst>
                                        </p:cTn>
                                        <p:tgtEl>
                                          <p:spTgt spid="36"/>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54"/>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0" presetClass="path" presetSubtype="0" accel="50000" decel="50000" fill="hold" grpId="1" nodeType="clickEffect">
                                  <p:stCondLst>
                                    <p:cond delay="0"/>
                                  </p:stCondLst>
                                  <p:childTnLst>
                                    <p:animMotion origin="layout" path="M 1.94444E-6 7.40741E-7 C -0.05452 -0.00208 -0.10886 -0.00417 -0.16077 -0.00347 C -0.21268 -0.00301 -0.26233 7.40741E-7 -0.31163 0.00324 " pathEditMode="relative" rAng="0" ptsTypes="AAA">
                                      <p:cBhvr>
                                        <p:cTn id="184" dur="2000" fill="hold"/>
                                        <p:tgtEl>
                                          <p:spTgt spid="54"/>
                                        </p:tgtEl>
                                        <p:attrNameLst>
                                          <p:attrName>ppt_x</p:attrName>
                                          <p:attrName>ppt_y</p:attrName>
                                        </p:attrNameLst>
                                      </p:cBhvr>
                                      <p:rCtr x="-15590"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2" grpId="0" animBg="1"/>
      <p:bldP spid="2" grpId="1" animBg="1"/>
      <p:bldP spid="2" grpId="2" animBg="1"/>
      <p:bldP spid="28" grpId="0" animBg="1"/>
      <p:bldP spid="28" grpId="1" animBg="1"/>
      <p:bldP spid="29" grpId="0" animBg="1"/>
      <p:bldP spid="29" grpId="1" animBg="1"/>
      <p:bldP spid="30" grpId="0" animBg="1"/>
      <p:bldP spid="42" grpId="0" animBg="1"/>
      <p:bldP spid="42" grpId="1" animBg="1"/>
      <p:bldP spid="44" grpId="0" animBg="1"/>
      <p:bldP spid="45" grpId="0" animBg="1"/>
      <p:bldP spid="45" grpId="1" animBg="1"/>
      <p:bldP spid="47" grpId="0" animBg="1"/>
      <p:bldP spid="47" grpId="1" animBg="1"/>
      <p:bldP spid="48" grpId="0" animBg="1"/>
      <p:bldP spid="49" grpId="0" animBg="1"/>
      <p:bldP spid="50" grpId="0" animBg="1"/>
      <p:bldP spid="50" grpId="1" animBg="1"/>
      <p:bldP spid="52" grpId="0" animBg="1"/>
      <p:bldP spid="46" grpId="0" animBg="1"/>
      <p:bldP spid="46" grpId="1" animBg="1"/>
      <p:bldP spid="53" grpId="0" animBg="1"/>
      <p:bldP spid="54" grpId="0" animBg="1"/>
      <p:bldP spid="54"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7</a:t>
            </a:fld>
            <a:endParaRPr/>
          </a:p>
        </p:txBody>
      </p:sp>
      <p:sp>
        <p:nvSpPr>
          <p:cNvPr id="64" name="Race Condition"/>
          <p:cNvSpPr txBox="1">
            <a:spLocks noGrp="1"/>
          </p:cNvSpPr>
          <p:nvPr>
            <p:ph type="title"/>
          </p:nvPr>
        </p:nvSpPr>
        <p:spPr>
          <a:xfrm>
            <a:off x="457200" y="274637"/>
            <a:ext cx="8229600" cy="1143001"/>
          </a:xfrm>
          <a:prstGeom prst="rect">
            <a:avLst/>
          </a:prstGeom>
        </p:spPr>
        <p:txBody>
          <a:bodyPr/>
          <a:lstStyle/>
          <a:p>
            <a:r>
              <a:t>Race Condition</a:t>
            </a:r>
          </a:p>
        </p:txBody>
      </p:sp>
      <p:sp>
        <p:nvSpPr>
          <p:cNvPr id="65" name="count++ could be implemented as      register1 = count      register1 = register1 + 1      count = register1…"/>
          <p:cNvSpPr txBox="1">
            <a:spLocks noGrp="1"/>
          </p:cNvSpPr>
          <p:nvPr>
            <p:ph type="body" sz="half" idx="1"/>
          </p:nvPr>
        </p:nvSpPr>
        <p:spPr>
          <a:xfrm>
            <a:off x="160855" y="1270000"/>
            <a:ext cx="4411145" cy="2266950"/>
          </a:xfrm>
          <a:prstGeom prst="rect">
            <a:avLst/>
          </a:prstGeom>
        </p:spPr>
        <p:txBody>
          <a:bodyPr/>
          <a:lstStyle/>
          <a:p>
            <a:pPr>
              <a:lnSpc>
                <a:spcPct val="90000"/>
              </a:lnSpc>
              <a:buClr>
                <a:srgbClr val="0433FF"/>
              </a:buClr>
              <a:buFont typeface="Trebuchet MS"/>
            </a:pPr>
            <a:r>
              <a:rPr sz="2000" dirty="0">
                <a:solidFill>
                  <a:srgbClr val="0433FF"/>
                </a:solidFill>
                <a:uFill>
                  <a:solidFill>
                    <a:srgbClr val="0433FF"/>
                  </a:solidFill>
                </a:uFill>
              </a:rPr>
              <a:t>count++</a:t>
            </a:r>
            <a:r>
              <a:rPr sz="2000" dirty="0"/>
              <a:t> </a:t>
            </a:r>
            <a:r>
              <a:rPr sz="2000" dirty="0">
                <a:solidFill>
                  <a:srgbClr val="000000"/>
                </a:solidFill>
                <a:uFill>
                  <a:solidFill>
                    <a:srgbClr val="000000"/>
                  </a:solidFill>
                </a:uFill>
              </a:rPr>
              <a:t>could be implemented as</a:t>
            </a:r>
            <a:br>
              <a:rPr sz="2000" dirty="0"/>
            </a:br>
            <a:r>
              <a:rPr sz="2000" dirty="0"/>
              <a:t>     </a:t>
            </a:r>
            <a:r>
              <a:rPr sz="2000" dirty="0">
                <a:solidFill>
                  <a:srgbClr val="0433FF"/>
                </a:solidFill>
                <a:uFill>
                  <a:solidFill>
                    <a:srgbClr val="0433FF"/>
                  </a:solidFill>
                </a:uFill>
              </a:rPr>
              <a:t>register1 = count</a:t>
            </a:r>
            <a:br>
              <a:rPr sz="2000" dirty="0">
                <a:solidFill>
                  <a:srgbClr val="0433FF"/>
                </a:solidFill>
                <a:uFill>
                  <a:solidFill>
                    <a:srgbClr val="0433FF"/>
                  </a:solidFill>
                </a:uFill>
              </a:rPr>
            </a:br>
            <a:r>
              <a:rPr sz="2000" dirty="0">
                <a:solidFill>
                  <a:srgbClr val="0433FF"/>
                </a:solidFill>
                <a:uFill>
                  <a:solidFill>
                    <a:srgbClr val="0433FF"/>
                  </a:solidFill>
                </a:uFill>
              </a:rPr>
              <a:t>     register1 = register1 + 1</a:t>
            </a:r>
            <a:br>
              <a:rPr sz="2000" dirty="0">
                <a:solidFill>
                  <a:srgbClr val="0433FF"/>
                </a:solidFill>
                <a:uFill>
                  <a:solidFill>
                    <a:srgbClr val="0433FF"/>
                  </a:solidFill>
                </a:uFill>
              </a:rPr>
            </a:br>
            <a:r>
              <a:rPr sz="2000" dirty="0">
                <a:solidFill>
                  <a:srgbClr val="0433FF"/>
                </a:solidFill>
                <a:uFill>
                  <a:solidFill>
                    <a:srgbClr val="0433FF"/>
                  </a:solidFill>
                </a:uFill>
              </a:rPr>
              <a:t>     count = register1</a:t>
            </a:r>
          </a:p>
          <a:p>
            <a:pPr>
              <a:lnSpc>
                <a:spcPct val="90000"/>
              </a:lnSpc>
              <a:buClr>
                <a:srgbClr val="4180FF"/>
              </a:buClr>
              <a:buSzTx/>
              <a:buFont typeface="Trebuchet MS"/>
              <a:buNone/>
              <a:defRPr sz="2000">
                <a:solidFill>
                  <a:srgbClr val="4180FF"/>
                </a:solidFill>
                <a:uFill>
                  <a:solidFill>
                    <a:srgbClr val="4180FF"/>
                  </a:solidFill>
                </a:uFill>
              </a:defRPr>
            </a:pPr>
            <a:endParaRPr sz="2000" dirty="0">
              <a:solidFill>
                <a:srgbClr val="0042AA"/>
              </a:solidFill>
              <a:uFill>
                <a:solidFill>
                  <a:srgbClr val="0042AA"/>
                </a:solidFill>
              </a:uFill>
            </a:endParaRPr>
          </a:p>
        </p:txBody>
      </p:sp>
      <p:sp>
        <p:nvSpPr>
          <p:cNvPr id="2" name="count++ could be implemented as      register1 = count      register1 = register1 + 1      count = register1…">
            <a:extLst>
              <a:ext uri="{FF2B5EF4-FFF2-40B4-BE49-F238E27FC236}">
                <a16:creationId xmlns:a16="http://schemas.microsoft.com/office/drawing/2014/main" id="{2BBE153C-8B3C-E74A-2C70-27835DF650E5}"/>
              </a:ext>
            </a:extLst>
          </p:cNvPr>
          <p:cNvSpPr txBox="1">
            <a:spLocks/>
          </p:cNvSpPr>
          <p:nvPr/>
        </p:nvSpPr>
        <p:spPr>
          <a:xfrm>
            <a:off x="4572000" y="1270000"/>
            <a:ext cx="4411145" cy="20493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lstStyle>
            <a:lvl1pPr marL="383540" marR="40639" indent="-342900" algn="l" defTabSz="914400" rtl="0" latinLnBrk="0">
              <a:lnSpc>
                <a:spcPct val="100000"/>
              </a:lnSpc>
              <a:spcBef>
                <a:spcPts val="500"/>
              </a:spcBef>
              <a:spcAft>
                <a:spcPts val="0"/>
              </a:spcAft>
              <a:buClrTx/>
              <a:buSzPct val="100000"/>
              <a:buFontTx/>
              <a:buChar char="•"/>
              <a:tabLst/>
              <a:defRPr sz="2400" b="0" i="0" u="none" strike="noStrike" cap="none" spc="0" baseline="0">
                <a:solidFill>
                  <a:srgbClr val="727272"/>
                </a:solidFill>
                <a:uFill>
                  <a:solidFill>
                    <a:srgbClr val="727272"/>
                  </a:solidFill>
                </a:uFill>
                <a:latin typeface="+mn-lt"/>
                <a:ea typeface="+mn-ea"/>
                <a:cs typeface="+mn-cs"/>
                <a:sym typeface="Trebuchet MS"/>
              </a:defRPr>
            </a:lvl1pPr>
            <a:lvl2pPr marL="783590" marR="40639" indent="-285750" algn="l" defTabSz="914400" rtl="0" latinLnBrk="0">
              <a:lnSpc>
                <a:spcPct val="100000"/>
              </a:lnSpc>
              <a:spcBef>
                <a:spcPts val="400"/>
              </a:spcBef>
              <a:spcAft>
                <a:spcPts val="0"/>
              </a:spcAft>
              <a:buClrTx/>
              <a:buSzPct val="100000"/>
              <a:buFontTx/>
              <a:buChar char="–"/>
              <a:tabLst/>
              <a:defRPr sz="2000" b="0" i="0" u="none" strike="noStrike" cap="none" spc="0" baseline="0">
                <a:solidFill>
                  <a:srgbClr val="727272"/>
                </a:solidFill>
                <a:uFill>
                  <a:solidFill>
                    <a:srgbClr val="727272"/>
                  </a:solidFill>
                </a:uFill>
                <a:latin typeface="+mn-lt"/>
                <a:ea typeface="+mn-ea"/>
                <a:cs typeface="+mn-cs"/>
                <a:sym typeface="Trebuchet MS"/>
              </a:defRPr>
            </a:lvl2pPr>
            <a:lvl3pPr marL="1183639" marR="40639" indent="-228600" algn="l" defTabSz="914400" rtl="0" latinLnBrk="0">
              <a:lnSpc>
                <a:spcPct val="100000"/>
              </a:lnSpc>
              <a:spcBef>
                <a:spcPts val="400"/>
              </a:spcBef>
              <a:spcAft>
                <a:spcPts val="0"/>
              </a:spcAft>
              <a:buClrTx/>
              <a:buSzPct val="100000"/>
              <a:buFontTx/>
              <a:buChar char="•"/>
              <a:tabLst/>
              <a:defRPr sz="1800" b="0" i="0" u="none" strike="noStrike" cap="none" spc="0" baseline="0">
                <a:solidFill>
                  <a:srgbClr val="727272"/>
                </a:solidFill>
                <a:uFill>
                  <a:solidFill>
                    <a:srgbClr val="727272"/>
                  </a:solidFill>
                </a:uFill>
                <a:latin typeface="+mn-lt"/>
                <a:ea typeface="+mn-ea"/>
                <a:cs typeface="+mn-cs"/>
                <a:sym typeface="Trebuchet MS"/>
              </a:defRPr>
            </a:lvl3pPr>
            <a:lvl4pPr marL="1640839" marR="40639" indent="-228600" algn="l" defTabSz="914400" rtl="0" latinLnBrk="0">
              <a:lnSpc>
                <a:spcPct val="100000"/>
              </a:lnSpc>
              <a:spcBef>
                <a:spcPts val="300"/>
              </a:spcBef>
              <a:spcAft>
                <a:spcPts val="0"/>
              </a:spcAft>
              <a:buClrTx/>
              <a:buSzPct val="100000"/>
              <a:buFontTx/>
              <a:buChar char="–"/>
              <a:tabLst/>
              <a:defRPr sz="1600" b="0" i="0" u="none" strike="noStrike" cap="none" spc="0" baseline="0">
                <a:solidFill>
                  <a:srgbClr val="727272"/>
                </a:solidFill>
                <a:uFill>
                  <a:solidFill>
                    <a:srgbClr val="727272"/>
                  </a:solidFill>
                </a:uFill>
                <a:latin typeface="+mn-lt"/>
                <a:ea typeface="+mn-ea"/>
                <a:cs typeface="+mn-cs"/>
                <a:sym typeface="Trebuchet MS"/>
              </a:defRPr>
            </a:lvl4pPr>
            <a:lvl5pPr marL="2098039" marR="40639" indent="-228600" algn="l" defTabSz="914400" rtl="0" latinLnBrk="0">
              <a:lnSpc>
                <a:spcPct val="100000"/>
              </a:lnSpc>
              <a:spcBef>
                <a:spcPts val="300"/>
              </a:spcBef>
              <a:spcAft>
                <a:spcPts val="0"/>
              </a:spcAft>
              <a:buClrTx/>
              <a:buSzPct val="100000"/>
              <a:buFontTx/>
              <a:buChar char="»"/>
              <a:tabLst/>
              <a:defRPr sz="1600" b="0" i="0" u="none" strike="noStrike" cap="none" spc="0" baseline="0">
                <a:solidFill>
                  <a:srgbClr val="727272"/>
                </a:solidFill>
                <a:uFill>
                  <a:solidFill>
                    <a:srgbClr val="727272"/>
                  </a:solidFill>
                </a:uFill>
                <a:latin typeface="+mn-lt"/>
                <a:ea typeface="+mn-ea"/>
                <a:cs typeface="+mn-cs"/>
                <a:sym typeface="Trebuchet MS"/>
              </a:defRPr>
            </a:lvl5pPr>
            <a:lvl6pPr marL="2212339" marR="40639" indent="-342900" algn="l" defTabSz="914400" rtl="0" latinLnBrk="0">
              <a:lnSpc>
                <a:spcPct val="100000"/>
              </a:lnSpc>
              <a:spcBef>
                <a:spcPts val="500"/>
              </a:spcBef>
              <a:spcAft>
                <a:spcPts val="0"/>
              </a:spcAft>
              <a:buClrTx/>
              <a:buSzPct val="100000"/>
              <a:buFontTx/>
              <a:buChar char="•"/>
              <a:tabLst/>
              <a:defRPr sz="2400" b="0" i="0" u="none" strike="noStrike" cap="none" spc="0" baseline="0">
                <a:solidFill>
                  <a:srgbClr val="727272"/>
                </a:solidFill>
                <a:uFill>
                  <a:solidFill>
                    <a:srgbClr val="727272"/>
                  </a:solidFill>
                </a:uFill>
                <a:latin typeface="+mn-lt"/>
                <a:ea typeface="+mn-ea"/>
                <a:cs typeface="+mn-cs"/>
                <a:sym typeface="Trebuchet MS"/>
              </a:defRPr>
            </a:lvl6pPr>
            <a:lvl7pPr marL="2212339" marR="40639" indent="-342900" algn="l" defTabSz="914400" rtl="0" latinLnBrk="0">
              <a:lnSpc>
                <a:spcPct val="100000"/>
              </a:lnSpc>
              <a:spcBef>
                <a:spcPts val="500"/>
              </a:spcBef>
              <a:spcAft>
                <a:spcPts val="0"/>
              </a:spcAft>
              <a:buClrTx/>
              <a:buSzPct val="100000"/>
              <a:buFontTx/>
              <a:buChar char="•"/>
              <a:tabLst/>
              <a:defRPr sz="2400" b="0" i="0" u="none" strike="noStrike" cap="none" spc="0" baseline="0">
                <a:solidFill>
                  <a:srgbClr val="727272"/>
                </a:solidFill>
                <a:uFill>
                  <a:solidFill>
                    <a:srgbClr val="727272"/>
                  </a:solidFill>
                </a:uFill>
                <a:latin typeface="+mn-lt"/>
                <a:ea typeface="+mn-ea"/>
                <a:cs typeface="+mn-cs"/>
                <a:sym typeface="Trebuchet MS"/>
              </a:defRPr>
            </a:lvl7pPr>
            <a:lvl8pPr marL="2212339" marR="40639" indent="-342900" algn="l" defTabSz="914400" rtl="0" latinLnBrk="0">
              <a:lnSpc>
                <a:spcPct val="100000"/>
              </a:lnSpc>
              <a:spcBef>
                <a:spcPts val="500"/>
              </a:spcBef>
              <a:spcAft>
                <a:spcPts val="0"/>
              </a:spcAft>
              <a:buClrTx/>
              <a:buSzPct val="100000"/>
              <a:buFontTx/>
              <a:buChar char="•"/>
              <a:tabLst/>
              <a:defRPr sz="2400" b="0" i="0" u="none" strike="noStrike" cap="none" spc="0" baseline="0">
                <a:solidFill>
                  <a:srgbClr val="727272"/>
                </a:solidFill>
                <a:uFill>
                  <a:solidFill>
                    <a:srgbClr val="727272"/>
                  </a:solidFill>
                </a:uFill>
                <a:latin typeface="+mn-lt"/>
                <a:ea typeface="+mn-ea"/>
                <a:cs typeface="+mn-cs"/>
                <a:sym typeface="Trebuchet MS"/>
              </a:defRPr>
            </a:lvl8pPr>
            <a:lvl9pPr marL="2212339" marR="40639" indent="-342900" algn="l" defTabSz="914400" rtl="0" latinLnBrk="0">
              <a:lnSpc>
                <a:spcPct val="100000"/>
              </a:lnSpc>
              <a:spcBef>
                <a:spcPts val="500"/>
              </a:spcBef>
              <a:spcAft>
                <a:spcPts val="0"/>
              </a:spcAft>
              <a:buClrTx/>
              <a:buSzPct val="100000"/>
              <a:buFontTx/>
              <a:buChar char="•"/>
              <a:tabLst/>
              <a:defRPr sz="2400" b="0" i="0" u="none" strike="noStrike" cap="none" spc="0" baseline="0">
                <a:solidFill>
                  <a:srgbClr val="727272"/>
                </a:solidFill>
                <a:uFill>
                  <a:solidFill>
                    <a:srgbClr val="727272"/>
                  </a:solidFill>
                </a:uFill>
                <a:latin typeface="+mn-lt"/>
                <a:ea typeface="+mn-ea"/>
                <a:cs typeface="+mn-cs"/>
                <a:sym typeface="Trebuchet MS"/>
              </a:defRPr>
            </a:lvl9pPr>
          </a:lstStyle>
          <a:p>
            <a:pPr hangingPunct="1">
              <a:lnSpc>
                <a:spcPct val="90000"/>
              </a:lnSpc>
              <a:buClr>
                <a:srgbClr val="4180FF"/>
              </a:buClr>
              <a:buFont typeface="Trebuchet MS"/>
              <a:buChar char="•"/>
            </a:pPr>
            <a:r>
              <a:rPr lang="en-US" sz="2000" dirty="0">
                <a:solidFill>
                  <a:srgbClr val="0056D6"/>
                </a:solidFill>
                <a:uFill>
                  <a:solidFill>
                    <a:srgbClr val="0056D6"/>
                  </a:solidFill>
                </a:uFill>
              </a:rPr>
              <a:t>count--</a:t>
            </a:r>
            <a:r>
              <a:rPr lang="en-US" sz="2000" dirty="0"/>
              <a:t> </a:t>
            </a:r>
            <a:r>
              <a:rPr lang="en-US" sz="2000" dirty="0">
                <a:solidFill>
                  <a:srgbClr val="000000"/>
                </a:solidFill>
                <a:uFill>
                  <a:solidFill>
                    <a:srgbClr val="000000"/>
                  </a:solidFill>
                </a:uFill>
              </a:rPr>
              <a:t>could be implemented as</a:t>
            </a:r>
            <a:br>
              <a:rPr lang="en-US" sz="2000" dirty="0"/>
            </a:br>
            <a:r>
              <a:rPr lang="en-US" sz="2000" dirty="0"/>
              <a:t>    </a:t>
            </a:r>
            <a:r>
              <a:rPr lang="en-US" sz="2000" dirty="0">
                <a:solidFill>
                  <a:srgbClr val="0056D6"/>
                </a:solidFill>
                <a:uFill>
                  <a:solidFill>
                    <a:srgbClr val="0056D6"/>
                  </a:solidFill>
                </a:uFill>
              </a:rPr>
              <a:t> register2 = count</a:t>
            </a:r>
            <a:br>
              <a:rPr lang="en-US" sz="2000" dirty="0">
                <a:solidFill>
                  <a:srgbClr val="0056D6"/>
                </a:solidFill>
                <a:uFill>
                  <a:solidFill>
                    <a:srgbClr val="0056D6"/>
                  </a:solidFill>
                </a:uFill>
              </a:rPr>
            </a:br>
            <a:r>
              <a:rPr lang="en-US" sz="2000" dirty="0">
                <a:solidFill>
                  <a:srgbClr val="0056D6"/>
                </a:solidFill>
                <a:uFill>
                  <a:solidFill>
                    <a:srgbClr val="0056D6"/>
                  </a:solidFill>
                </a:uFill>
              </a:rPr>
              <a:t>     register2 = register2 - 1</a:t>
            </a:r>
            <a:br>
              <a:rPr lang="en-US" sz="2000" dirty="0">
                <a:solidFill>
                  <a:srgbClr val="0056D6"/>
                </a:solidFill>
                <a:uFill>
                  <a:solidFill>
                    <a:srgbClr val="0056D6"/>
                  </a:solidFill>
                </a:uFill>
              </a:rPr>
            </a:br>
            <a:r>
              <a:rPr lang="en-US" sz="2000" dirty="0">
                <a:solidFill>
                  <a:srgbClr val="0056D6"/>
                </a:solidFill>
                <a:uFill>
                  <a:solidFill>
                    <a:srgbClr val="0056D6"/>
                  </a:solidFill>
                </a:uFill>
              </a:rPr>
              <a:t>     count = register2</a:t>
            </a:r>
            <a:endParaRPr lang="en-US" sz="2000" dirty="0">
              <a:solidFill>
                <a:srgbClr val="0042AA"/>
              </a:solidFill>
              <a:uFill>
                <a:solidFill>
                  <a:srgbClr val="0042AA"/>
                </a:solidFill>
              </a:uFill>
            </a:endParaRPr>
          </a:p>
          <a:p>
            <a:pPr hangingPunct="1">
              <a:lnSpc>
                <a:spcPct val="90000"/>
              </a:lnSpc>
              <a:buClr>
                <a:srgbClr val="4180FF"/>
              </a:buClr>
              <a:buSzTx/>
              <a:buFont typeface="Trebuchet MS"/>
              <a:buNone/>
              <a:defRPr sz="2000">
                <a:solidFill>
                  <a:srgbClr val="4180FF"/>
                </a:solidFill>
                <a:uFill>
                  <a:solidFill>
                    <a:srgbClr val="4180FF"/>
                  </a:solidFill>
                </a:uFill>
              </a:defRPr>
            </a:pPr>
            <a:endParaRPr lang="en-US" sz="2000" dirty="0">
              <a:solidFill>
                <a:srgbClr val="0042AA"/>
              </a:solidFill>
              <a:uFill>
                <a:solidFill>
                  <a:srgbClr val="0042AA"/>
                </a:solidFill>
              </a:uFill>
            </a:endParaRPr>
          </a:p>
        </p:txBody>
      </p:sp>
    </p:spTree>
    <p:extLst>
      <p:ext uri="{BB962C8B-B14F-4D97-AF65-F5344CB8AC3E}">
        <p14:creationId xmlns:p14="http://schemas.microsoft.com/office/powerpoint/2010/main" val="237056910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a:t>
            </a:fld>
            <a:endParaRPr/>
          </a:p>
        </p:txBody>
      </p:sp>
      <p:sp>
        <p:nvSpPr>
          <p:cNvPr id="64" name="Race Condition"/>
          <p:cNvSpPr txBox="1">
            <a:spLocks noGrp="1"/>
          </p:cNvSpPr>
          <p:nvPr>
            <p:ph type="title"/>
          </p:nvPr>
        </p:nvSpPr>
        <p:spPr>
          <a:xfrm>
            <a:off x="457200" y="274637"/>
            <a:ext cx="8229600" cy="1143001"/>
          </a:xfrm>
          <a:prstGeom prst="rect">
            <a:avLst/>
          </a:prstGeom>
        </p:spPr>
        <p:txBody>
          <a:bodyPr/>
          <a:lstStyle/>
          <a:p>
            <a:r>
              <a:t>Race Condition</a:t>
            </a:r>
          </a:p>
        </p:txBody>
      </p:sp>
      <p:sp>
        <p:nvSpPr>
          <p:cNvPr id="65" name="count++ could be implemented as      register1 = count      register1 = register1 + 1      count = register1…"/>
          <p:cNvSpPr txBox="1">
            <a:spLocks noGrp="1"/>
          </p:cNvSpPr>
          <p:nvPr>
            <p:ph type="body" sz="half" idx="1"/>
          </p:nvPr>
        </p:nvSpPr>
        <p:spPr>
          <a:xfrm>
            <a:off x="828675" y="1279525"/>
            <a:ext cx="8064500" cy="2374900"/>
          </a:xfrm>
          <a:prstGeom prst="rect">
            <a:avLst/>
          </a:prstGeom>
        </p:spPr>
        <p:txBody>
          <a:bodyPr/>
          <a:lstStyle/>
          <a:p>
            <a:pPr>
              <a:lnSpc>
                <a:spcPct val="90000"/>
              </a:lnSpc>
              <a:buClr>
                <a:srgbClr val="0433FF"/>
              </a:buClr>
              <a:buFont typeface="Trebuchet MS"/>
            </a:pPr>
            <a:r>
              <a:rPr sz="2000">
                <a:solidFill>
                  <a:srgbClr val="0433FF"/>
                </a:solidFill>
                <a:uFill>
                  <a:solidFill>
                    <a:srgbClr val="0433FF"/>
                  </a:solidFill>
                </a:uFill>
              </a:rPr>
              <a:t>count++</a:t>
            </a:r>
            <a:r>
              <a:rPr sz="2000"/>
              <a:t> </a:t>
            </a:r>
            <a:r>
              <a:rPr sz="2000">
                <a:solidFill>
                  <a:srgbClr val="000000"/>
                </a:solidFill>
                <a:uFill>
                  <a:solidFill>
                    <a:srgbClr val="000000"/>
                  </a:solidFill>
                </a:uFill>
              </a:rPr>
              <a:t>could be implemented as</a:t>
            </a:r>
            <a:br>
              <a:rPr sz="2000"/>
            </a:br>
            <a:r>
              <a:rPr sz="2000"/>
              <a:t>     </a:t>
            </a:r>
            <a:r>
              <a:rPr sz="2000">
                <a:solidFill>
                  <a:srgbClr val="0433FF"/>
                </a:solidFill>
                <a:uFill>
                  <a:solidFill>
                    <a:srgbClr val="0433FF"/>
                  </a:solidFill>
                </a:uFill>
              </a:rPr>
              <a:t>register1 = count</a:t>
            </a:r>
            <a:br>
              <a:rPr sz="2000">
                <a:solidFill>
                  <a:srgbClr val="0433FF"/>
                </a:solidFill>
                <a:uFill>
                  <a:solidFill>
                    <a:srgbClr val="0433FF"/>
                  </a:solidFill>
                </a:uFill>
              </a:rPr>
            </a:br>
            <a:r>
              <a:rPr sz="2000">
                <a:solidFill>
                  <a:srgbClr val="0433FF"/>
                </a:solidFill>
                <a:uFill>
                  <a:solidFill>
                    <a:srgbClr val="0433FF"/>
                  </a:solidFill>
                </a:uFill>
              </a:rPr>
              <a:t>     register1 = register1 + 1</a:t>
            </a:r>
            <a:br>
              <a:rPr sz="2000">
                <a:solidFill>
                  <a:srgbClr val="0433FF"/>
                </a:solidFill>
                <a:uFill>
                  <a:solidFill>
                    <a:srgbClr val="0433FF"/>
                  </a:solidFill>
                </a:uFill>
              </a:rPr>
            </a:br>
            <a:r>
              <a:rPr sz="2000">
                <a:solidFill>
                  <a:srgbClr val="0433FF"/>
                </a:solidFill>
                <a:uFill>
                  <a:solidFill>
                    <a:srgbClr val="0433FF"/>
                  </a:solidFill>
                </a:uFill>
              </a:rPr>
              <a:t>     count = register1</a:t>
            </a:r>
          </a:p>
          <a:p>
            <a:pPr>
              <a:lnSpc>
                <a:spcPct val="90000"/>
              </a:lnSpc>
              <a:buClr>
                <a:srgbClr val="4180FF"/>
              </a:buClr>
              <a:buFont typeface="Trebuchet MS"/>
            </a:pPr>
            <a:r>
              <a:rPr sz="2000">
                <a:solidFill>
                  <a:srgbClr val="0056D6"/>
                </a:solidFill>
                <a:uFill>
                  <a:solidFill>
                    <a:srgbClr val="0056D6"/>
                  </a:solidFill>
                </a:uFill>
              </a:rPr>
              <a:t>count--</a:t>
            </a:r>
            <a:r>
              <a:rPr sz="2000"/>
              <a:t> </a:t>
            </a:r>
            <a:r>
              <a:rPr sz="2000">
                <a:solidFill>
                  <a:srgbClr val="000000"/>
                </a:solidFill>
                <a:uFill>
                  <a:solidFill>
                    <a:srgbClr val="000000"/>
                  </a:solidFill>
                </a:uFill>
              </a:rPr>
              <a:t>could be implemented as</a:t>
            </a:r>
            <a:br>
              <a:rPr sz="2000"/>
            </a:br>
            <a:r>
              <a:rPr sz="2000"/>
              <a:t>    </a:t>
            </a:r>
            <a:r>
              <a:rPr sz="2000">
                <a:solidFill>
                  <a:srgbClr val="0056D6"/>
                </a:solidFill>
                <a:uFill>
                  <a:solidFill>
                    <a:srgbClr val="0056D6"/>
                  </a:solidFill>
                </a:uFill>
              </a:rPr>
              <a:t> register2 = count</a:t>
            </a:r>
            <a:br>
              <a:rPr sz="2000">
                <a:solidFill>
                  <a:srgbClr val="0056D6"/>
                </a:solidFill>
                <a:uFill>
                  <a:solidFill>
                    <a:srgbClr val="0056D6"/>
                  </a:solidFill>
                </a:uFill>
              </a:rPr>
            </a:br>
            <a:r>
              <a:rPr sz="2000">
                <a:solidFill>
                  <a:srgbClr val="0056D6"/>
                </a:solidFill>
                <a:uFill>
                  <a:solidFill>
                    <a:srgbClr val="0056D6"/>
                  </a:solidFill>
                </a:uFill>
              </a:rPr>
              <a:t>     register2 = register2 - 1</a:t>
            </a:r>
            <a:br>
              <a:rPr sz="2000">
                <a:solidFill>
                  <a:srgbClr val="0056D6"/>
                </a:solidFill>
                <a:uFill>
                  <a:solidFill>
                    <a:srgbClr val="0056D6"/>
                  </a:solidFill>
                </a:uFill>
              </a:rPr>
            </a:br>
            <a:r>
              <a:rPr sz="2000">
                <a:solidFill>
                  <a:srgbClr val="0056D6"/>
                </a:solidFill>
                <a:uFill>
                  <a:solidFill>
                    <a:srgbClr val="0056D6"/>
                  </a:solidFill>
                </a:uFill>
              </a:rPr>
              <a:t>     count = register2</a:t>
            </a:r>
            <a:endParaRPr sz="2000">
              <a:solidFill>
                <a:srgbClr val="0042AA"/>
              </a:solidFill>
              <a:uFill>
                <a:solidFill>
                  <a:srgbClr val="0042AA"/>
                </a:solidFill>
              </a:uFill>
            </a:endParaRPr>
          </a:p>
          <a:p>
            <a:pPr>
              <a:lnSpc>
                <a:spcPct val="90000"/>
              </a:lnSpc>
              <a:buClr>
                <a:srgbClr val="4180FF"/>
              </a:buClr>
              <a:buSzTx/>
              <a:buFont typeface="Trebuchet MS"/>
              <a:buNone/>
              <a:defRPr sz="2000">
                <a:solidFill>
                  <a:srgbClr val="4180FF"/>
                </a:solidFill>
                <a:uFill>
                  <a:solidFill>
                    <a:srgbClr val="4180FF"/>
                  </a:solidFill>
                </a:uFill>
              </a:defRPr>
            </a:pPr>
            <a:endParaRPr sz="2000">
              <a:solidFill>
                <a:srgbClr val="0042AA"/>
              </a:solidFill>
              <a:uFill>
                <a:solidFill>
                  <a:srgbClr val="0042AA"/>
                </a:solidFill>
              </a:uFill>
            </a:endParaRPr>
          </a:p>
        </p:txBody>
      </p:sp>
      <p:sp>
        <p:nvSpPr>
          <p:cNvPr id="66" name="Consider this execution interleaving with “count = 5” initially:…"/>
          <p:cNvSpPr txBox="1"/>
          <p:nvPr/>
        </p:nvSpPr>
        <p:spPr>
          <a:xfrm>
            <a:off x="827087" y="3835400"/>
            <a:ext cx="8064501" cy="25527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lstStyle/>
          <a:p>
            <a:pPr marL="342900" indent="-342900">
              <a:lnSpc>
                <a:spcPct val="90000"/>
              </a:lnSpc>
              <a:spcBef>
                <a:spcPts val="500"/>
              </a:spcBef>
              <a:buSzPct val="100000"/>
              <a:buChar char="•"/>
              <a:defRPr sz="2000">
                <a:latin typeface="+mn-lt"/>
                <a:ea typeface="+mn-ea"/>
                <a:cs typeface="+mn-cs"/>
                <a:sym typeface="Trebuchet MS"/>
              </a:defRPr>
            </a:pPr>
            <a:r>
              <a:rPr>
                <a:solidFill>
                  <a:srgbClr val="000000"/>
                </a:solidFill>
                <a:uFill>
                  <a:solidFill>
                    <a:srgbClr val="000000"/>
                  </a:solidFill>
                </a:uFill>
              </a:rPr>
              <a:t>Consider this execution interleaving with “count = 5” initially:</a:t>
            </a:r>
          </a:p>
          <a:p>
            <a:pPr marL="783590" lvl="1" indent="-245109">
              <a:lnSpc>
                <a:spcPct val="90000"/>
              </a:lnSpc>
              <a:spcBef>
                <a:spcPts val="400"/>
              </a:spcBef>
              <a:buClr>
                <a:srgbClr val="727272"/>
              </a:buClr>
              <a:buFont typeface="Trebuchet MS"/>
              <a:defRPr sz="2000">
                <a:latin typeface="+mn-lt"/>
                <a:ea typeface="+mn-ea"/>
                <a:cs typeface="+mn-cs"/>
                <a:sym typeface="Trebuchet MS"/>
              </a:defRPr>
            </a:pPr>
            <a:r>
              <a:rPr sz="1800">
                <a:solidFill>
                  <a:srgbClr val="000000"/>
                </a:solidFill>
                <a:uFill>
                  <a:solidFill>
                    <a:srgbClr val="000000"/>
                  </a:solidFill>
                </a:uFill>
              </a:rPr>
              <a:t>	</a:t>
            </a:r>
            <a:r>
              <a:rPr>
                <a:solidFill>
                  <a:srgbClr val="000000"/>
                </a:solidFill>
                <a:uFill>
                  <a:solidFill>
                    <a:srgbClr val="000000"/>
                  </a:solidFill>
                </a:uFill>
              </a:rPr>
              <a:t>S0: producer execute</a:t>
            </a:r>
            <a:r>
              <a:t> </a:t>
            </a:r>
            <a:r>
              <a:rPr>
                <a:solidFill>
                  <a:srgbClr val="0433FF"/>
                </a:solidFill>
                <a:uFill>
                  <a:solidFill>
                    <a:srgbClr val="0433FF"/>
                  </a:solidFill>
                </a:uFill>
              </a:rPr>
              <a:t>register1 = count</a:t>
            </a:r>
            <a:r>
              <a:rPr>
                <a:solidFill>
                  <a:srgbClr val="000000"/>
                </a:solidFill>
                <a:uFill>
                  <a:solidFill>
                    <a:srgbClr val="000000"/>
                  </a:solidFill>
                </a:uFill>
              </a:rPr>
              <a:t>   {register1 = 5}</a:t>
            </a:r>
            <a:br/>
            <a:r>
              <a:rPr>
                <a:solidFill>
                  <a:srgbClr val="000000"/>
                </a:solidFill>
                <a:uFill>
                  <a:solidFill>
                    <a:srgbClr val="000000"/>
                  </a:solidFill>
                </a:uFill>
              </a:rPr>
              <a:t>S1: producer execute</a:t>
            </a:r>
            <a:r>
              <a:t> </a:t>
            </a:r>
            <a:r>
              <a:rPr>
                <a:solidFill>
                  <a:srgbClr val="0433FF"/>
                </a:solidFill>
                <a:uFill>
                  <a:solidFill>
                    <a:srgbClr val="0433FF"/>
                  </a:solidFill>
                </a:uFill>
              </a:rPr>
              <a:t>register1 = register1 + 1  </a:t>
            </a:r>
            <a:r>
              <a:rPr>
                <a:solidFill>
                  <a:srgbClr val="000000"/>
                </a:solidFill>
                <a:uFill>
                  <a:solidFill>
                    <a:srgbClr val="000000"/>
                  </a:solidFill>
                </a:uFill>
              </a:rPr>
              <a:t> {register1 = 6} </a:t>
            </a:r>
            <a:br/>
            <a:r>
              <a:rPr>
                <a:solidFill>
                  <a:srgbClr val="000000"/>
                </a:solidFill>
                <a:uFill>
                  <a:solidFill>
                    <a:srgbClr val="000000"/>
                  </a:solidFill>
                </a:uFill>
              </a:rPr>
              <a:t>S2: consumer execute</a:t>
            </a:r>
            <a:r>
              <a:t> </a:t>
            </a:r>
            <a:r>
              <a:rPr>
                <a:solidFill>
                  <a:srgbClr val="0056D6"/>
                </a:solidFill>
                <a:uFill>
                  <a:solidFill>
                    <a:srgbClr val="0056D6"/>
                  </a:solidFill>
                </a:uFill>
              </a:rPr>
              <a:t>register2 = count </a:t>
            </a:r>
            <a:r>
              <a:t> </a:t>
            </a:r>
            <a:r>
              <a:rPr>
                <a:solidFill>
                  <a:srgbClr val="000000"/>
                </a:solidFill>
                <a:uFill>
                  <a:solidFill>
                    <a:srgbClr val="000000"/>
                  </a:solidFill>
                </a:uFill>
              </a:rPr>
              <a:t> {register2 = 5} </a:t>
            </a:r>
            <a:br/>
            <a:r>
              <a:rPr>
                <a:solidFill>
                  <a:srgbClr val="000000"/>
                </a:solidFill>
                <a:uFill>
                  <a:solidFill>
                    <a:srgbClr val="000000"/>
                  </a:solidFill>
                </a:uFill>
              </a:rPr>
              <a:t>S3: consumer execute </a:t>
            </a:r>
            <a:r>
              <a:rPr>
                <a:solidFill>
                  <a:srgbClr val="0056D6"/>
                </a:solidFill>
                <a:uFill>
                  <a:solidFill>
                    <a:srgbClr val="0056D6"/>
                  </a:solidFill>
                </a:uFill>
              </a:rPr>
              <a:t>register2 = register2 - 1 </a:t>
            </a:r>
            <a:r>
              <a:t>  </a:t>
            </a:r>
            <a:r>
              <a:rPr>
                <a:solidFill>
                  <a:srgbClr val="000000"/>
                </a:solidFill>
                <a:uFill>
                  <a:solidFill>
                    <a:srgbClr val="000000"/>
                  </a:solidFill>
                </a:uFill>
              </a:rPr>
              <a:t>{register2 = 4} </a:t>
            </a:r>
            <a:br/>
            <a:r>
              <a:rPr>
                <a:solidFill>
                  <a:srgbClr val="000000"/>
                </a:solidFill>
                <a:uFill>
                  <a:solidFill>
                    <a:srgbClr val="000000"/>
                  </a:solidFill>
                </a:uFill>
              </a:rPr>
              <a:t>S4: producer execute</a:t>
            </a:r>
            <a:r>
              <a:t> </a:t>
            </a:r>
            <a:r>
              <a:rPr>
                <a:solidFill>
                  <a:srgbClr val="0433FF"/>
                </a:solidFill>
                <a:uFill>
                  <a:solidFill>
                    <a:srgbClr val="0433FF"/>
                  </a:solidFill>
                </a:uFill>
              </a:rPr>
              <a:t>count = register1</a:t>
            </a:r>
            <a:r>
              <a:t> </a:t>
            </a:r>
            <a:r>
              <a:rPr>
                <a:solidFill>
                  <a:srgbClr val="000000"/>
                </a:solidFill>
                <a:uFill>
                  <a:solidFill>
                    <a:srgbClr val="000000"/>
                  </a:solidFill>
                </a:uFill>
              </a:rPr>
              <a:t>  {count = 6 } </a:t>
            </a:r>
            <a:br/>
            <a:r>
              <a:rPr>
                <a:solidFill>
                  <a:srgbClr val="000000"/>
                </a:solidFill>
                <a:uFill>
                  <a:solidFill>
                    <a:srgbClr val="000000"/>
                  </a:solidFill>
                </a:uFill>
              </a:rPr>
              <a:t>S5: consumer execute</a:t>
            </a:r>
            <a:r>
              <a:t> </a:t>
            </a:r>
            <a:r>
              <a:rPr>
                <a:solidFill>
                  <a:srgbClr val="0056D6"/>
                </a:solidFill>
                <a:uFill>
                  <a:solidFill>
                    <a:srgbClr val="0056D6"/>
                  </a:solidFill>
                </a:uFill>
              </a:rPr>
              <a:t>count = register2 </a:t>
            </a:r>
            <a:r>
              <a:rPr>
                <a:solidFill>
                  <a:srgbClr val="000000"/>
                </a:solidFill>
                <a:uFill>
                  <a:solidFill>
                    <a:srgbClr val="000000"/>
                  </a:solidFill>
                </a:uFill>
              </a:rPr>
              <a:t>  {count = 4}</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1"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Race Condition"/>
          <p:cNvSpPr txBox="1">
            <a:spLocks noGrp="1"/>
          </p:cNvSpPr>
          <p:nvPr>
            <p:ph type="title"/>
          </p:nvPr>
        </p:nvSpPr>
        <p:spPr>
          <a:prstGeom prst="rect">
            <a:avLst/>
          </a:prstGeom>
        </p:spPr>
        <p:txBody>
          <a:bodyPr/>
          <a:lstStyle/>
          <a:p>
            <a:r>
              <a:t>Race Condition</a:t>
            </a:r>
          </a:p>
        </p:txBody>
      </p:sp>
      <p:sp>
        <p:nvSpPr>
          <p:cNvPr id="69" name="Race condition: The situation where several processes access and manipulate shared data concurrently. The final value of the shared data depends upon which process finishes last.…"/>
          <p:cNvSpPr txBox="1">
            <a:spLocks noGrp="1"/>
          </p:cNvSpPr>
          <p:nvPr>
            <p:ph type="body" idx="1"/>
          </p:nvPr>
        </p:nvSpPr>
        <p:spPr>
          <a:xfrm>
            <a:off x="457200" y="1193800"/>
            <a:ext cx="8229600" cy="5257800"/>
          </a:xfrm>
          <a:prstGeom prst="rect">
            <a:avLst/>
          </a:prstGeom>
        </p:spPr>
        <p:txBody>
          <a:bodyPr/>
          <a:lstStyle/>
          <a:p>
            <a:pPr>
              <a:buFont typeface="Zapf Dingbats"/>
              <a:buChar char="✦"/>
              <a:defRPr sz="2000"/>
            </a:pPr>
            <a:r>
              <a:rPr b="1">
                <a:solidFill>
                  <a:srgbClr val="B51A00"/>
                </a:solidFill>
                <a:uFill>
                  <a:solidFill>
                    <a:srgbClr val="B51A00"/>
                  </a:solidFill>
                </a:uFill>
                <a:latin typeface="Helvetica"/>
                <a:ea typeface="Helvetica"/>
                <a:cs typeface="Helvetica"/>
                <a:sym typeface="Helvetica"/>
              </a:rPr>
              <a:t>Race condition</a:t>
            </a:r>
            <a:r>
              <a:rPr>
                <a:solidFill>
                  <a:srgbClr val="000000"/>
                </a:solidFill>
                <a:latin typeface="Helvetica"/>
                <a:ea typeface="Helvetica"/>
                <a:cs typeface="Helvetica"/>
                <a:sym typeface="Helvetica"/>
              </a:rPr>
              <a:t>: The situation where several processes access and </a:t>
            </a:r>
            <a:r>
              <a:rPr>
                <a:solidFill>
                  <a:srgbClr val="000000"/>
                </a:solidFill>
                <a:uFill>
                  <a:solidFill>
                    <a:srgbClr val="000000"/>
                  </a:solidFill>
                </a:uFill>
              </a:rPr>
              <a:t>manipulate shared data concurrently. The final value of the shared data depends upon which process finishes last. </a:t>
            </a:r>
          </a:p>
          <a:p>
            <a:pPr marL="0" marR="0" indent="40640" defTabSz="457200">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solidFill>
                  <a:srgbClr val="000000"/>
                </a:solidFill>
                <a:uFillTx/>
                <a:latin typeface="Helvetica"/>
                <a:ea typeface="Helvetica"/>
                <a:cs typeface="Helvetica"/>
                <a:sym typeface="Helvetica"/>
              </a:defRPr>
            </a:pPr>
            <a:endParaRPr>
              <a:solidFill>
                <a:srgbClr val="000000"/>
              </a:solidFill>
              <a:uFill>
                <a:solidFill>
                  <a:srgbClr val="000000"/>
                </a:solidFill>
              </a:uFill>
            </a:endParaRPr>
          </a:p>
          <a:p>
            <a:pPr>
              <a:buFont typeface="Zapf Dingbats"/>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solidFill>
                  <a:srgbClr val="000000"/>
                </a:solidFill>
                <a:uFill>
                  <a:solidFill>
                    <a:srgbClr val="000000"/>
                  </a:solidFill>
                </a:uFill>
              </a:defRPr>
            </a:pPr>
            <a:r>
              <a:t>To prevent race conditions, concurrent processes must be </a:t>
            </a:r>
            <a:r>
              <a:rPr b="1">
                <a:solidFill>
                  <a:srgbClr val="B51A00"/>
                </a:solidFill>
                <a:uFill>
                  <a:solidFill>
                    <a:srgbClr val="B51A00"/>
                  </a:solidFill>
                </a:uFill>
              </a:rPr>
              <a:t>synchronized. </a:t>
            </a:r>
          </a:p>
          <a:p>
            <a:pPr lvl="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a:solidFill>
                  <a:srgbClr val="000000"/>
                </a:solidFill>
                <a:uFill>
                  <a:solidFill>
                    <a:srgbClr val="000000"/>
                  </a:solidFill>
                </a:uFill>
              </a:rPr>
              <a:t>Ensure that only one process at a time is manipulating the variable counter</a:t>
            </a:r>
            <a:r>
              <a:rPr>
                <a:solidFill>
                  <a:srgbClr val="000000"/>
                </a:solidFill>
                <a:uFill>
                  <a:solidFill>
                    <a:srgbClr val="000000"/>
                  </a:solidFill>
                </a:uFill>
                <a:latin typeface="Helvetica"/>
                <a:ea typeface="Helvetica"/>
                <a:cs typeface="Helvetica"/>
                <a:sym typeface="Helvetica"/>
              </a:rPr>
              <a:t>. </a:t>
            </a:r>
            <a:endParaRPr>
              <a:latin typeface="Helvetica"/>
              <a:ea typeface="Helvetica"/>
              <a:cs typeface="Helvetica"/>
              <a:sym typeface="Helvetica"/>
            </a:endParaRPr>
          </a:p>
          <a:p>
            <a:pPr marL="0" marR="0" indent="40640" defTabSz="457200">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solidFill>
                  <a:srgbClr val="000000"/>
                </a:solidFill>
                <a:uFillTx/>
                <a:latin typeface="Helvetica"/>
                <a:ea typeface="Helvetica"/>
                <a:cs typeface="Helvetica"/>
                <a:sym typeface="Helvetica"/>
              </a:defRPr>
            </a:pPr>
            <a:endParaRPr>
              <a:latin typeface="Monotype Sorts"/>
              <a:ea typeface="Monotype Sorts"/>
              <a:cs typeface="Monotype Sorts"/>
              <a:sym typeface="Monotype Sorts"/>
            </a:endParaRPr>
          </a:p>
          <a:p>
            <a:pPr marL="0" marR="0" indent="40640" defTabSz="457200">
              <a:spcBef>
                <a:spcPts val="0"/>
              </a:spcBef>
              <a:buSzTx/>
              <a:buFont typeface="Zapf Dingbats"/>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solidFill>
                  <a:srgbClr val="000000"/>
                </a:solidFill>
                <a:uFillTx/>
                <a:latin typeface="Helvetica"/>
                <a:ea typeface="Helvetica"/>
                <a:cs typeface="Helvetica"/>
                <a:sym typeface="Helvetica"/>
              </a:defRPr>
            </a:pPr>
            <a:r>
              <a:rPr>
                <a:latin typeface="Monotype Sorts"/>
                <a:ea typeface="Monotype Sorts"/>
                <a:cs typeface="Monotype Sorts"/>
                <a:sym typeface="Monotype Sorts"/>
              </a:rPr>
              <a:t>   </a:t>
            </a:r>
            <a:r>
              <a:t>The statements </a:t>
            </a:r>
          </a:p>
          <a:p>
            <a:pPr marL="546100" lvl="2" indent="-2540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b="1">
                <a:solidFill>
                  <a:srgbClr val="000000"/>
                </a:solidFill>
                <a:uFill>
                  <a:solidFill>
                    <a:srgbClr val="000000"/>
                  </a:solidFill>
                </a:uFill>
                <a:latin typeface="Courier New"/>
                <a:ea typeface="Courier New"/>
                <a:cs typeface="Courier New"/>
                <a:sym typeface="Courier New"/>
              </a:defRPr>
            </a:pPr>
            <a:r>
              <a:t>count++;</a:t>
            </a:r>
            <a:r>
              <a:rPr b="0">
                <a:latin typeface="Helvetica"/>
                <a:ea typeface="Helvetica"/>
                <a:cs typeface="Helvetica"/>
                <a:sym typeface="Helvetica"/>
              </a:rPr>
              <a:t> </a:t>
            </a:r>
          </a:p>
          <a:p>
            <a:pPr marL="546100" lvl="2" indent="-2540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b="1">
                <a:solidFill>
                  <a:srgbClr val="000000"/>
                </a:solidFill>
                <a:uFill>
                  <a:solidFill>
                    <a:srgbClr val="000000"/>
                  </a:solidFill>
                </a:uFill>
                <a:latin typeface="Courier New"/>
                <a:ea typeface="Courier New"/>
                <a:cs typeface="Courier New"/>
                <a:sym typeface="Courier New"/>
              </a:defRPr>
            </a:pPr>
            <a:r>
              <a:t>count--;</a:t>
            </a:r>
            <a:r>
              <a:rPr b="0">
                <a:latin typeface="Helvetica"/>
                <a:ea typeface="Helvetica"/>
                <a:cs typeface="Helvetica"/>
                <a:sym typeface="Helvetica"/>
              </a:rPr>
              <a:t> </a:t>
            </a:r>
          </a:p>
          <a:p>
            <a:pPr marL="0" lvl="2" indent="292100">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solidFill>
                  <a:srgbClr val="000000"/>
                </a:solidFill>
                <a:uFill>
                  <a:solidFill>
                    <a:srgbClr val="000000"/>
                  </a:solidFill>
                </a:uFill>
              </a:defRPr>
            </a:pPr>
            <a:r>
              <a:t>must be performed </a:t>
            </a:r>
            <a:r>
              <a:rPr>
                <a:solidFill>
                  <a:srgbClr val="B51A00"/>
                </a:solidFill>
                <a:uFill>
                  <a:solidFill>
                    <a:srgbClr val="B51A00"/>
                  </a:solidFill>
                </a:uFill>
              </a:rPr>
              <a:t>atomically</a:t>
            </a:r>
            <a:r>
              <a:t>. </a:t>
            </a:r>
          </a:p>
          <a:p>
            <a:pPr marL="0" lvl="2" indent="292100">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solidFill>
                  <a:srgbClr val="000000"/>
                </a:solidFill>
                <a:uFill>
                  <a:solidFill>
                    <a:srgbClr val="000000"/>
                  </a:solidFill>
                </a:uFill>
              </a:defRPr>
            </a:pPr>
            <a:r>
              <a:rPr>
                <a:latin typeface="Monotype Sorts"/>
                <a:ea typeface="Monotype Sorts"/>
                <a:cs typeface="Monotype Sorts"/>
                <a:sym typeface="Monotype Sorts"/>
              </a:rPr>
              <a:t> </a:t>
            </a:r>
          </a:p>
          <a:p>
            <a:pPr marL="0" marR="0" indent="40640" defTabSz="457200">
              <a:spcBef>
                <a:spcPts val="0"/>
              </a:spcBef>
              <a:buSzTx/>
              <a:buFont typeface="Zapf Dingbats"/>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solidFill>
                  <a:srgbClr val="000000"/>
                </a:solidFill>
                <a:uFillTx/>
                <a:latin typeface="Helvetica"/>
                <a:ea typeface="Helvetica"/>
                <a:cs typeface="Helvetica"/>
                <a:sym typeface="Helvetica"/>
              </a:defRPr>
            </a:pPr>
            <a:r>
              <a:t> Atomic operation means an operation without interruption.</a:t>
            </a:r>
          </a:p>
        </p:txBody>
      </p:sp>
      <p:sp>
        <p:nvSpPr>
          <p:cNvPr id="70"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9</a:t>
            </a:fld>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EF495-1B08-33E2-3E9A-A16F1CF73557}"/>
            </a:ext>
          </a:extLst>
        </p:cNvPr>
        <p:cNvGrpSpPr/>
        <p:nvPr/>
      </p:nvGrpSpPr>
      <p:grpSpPr>
        <a:xfrm>
          <a:off x="0" y="0"/>
          <a:ext cx="0" cy="0"/>
          <a:chOff x="0" y="0"/>
          <a:chExt cx="0" cy="0"/>
        </a:xfrm>
      </p:grpSpPr>
      <p:sp>
        <p:nvSpPr>
          <p:cNvPr id="72" name="Race Condition">
            <a:extLst>
              <a:ext uri="{FF2B5EF4-FFF2-40B4-BE49-F238E27FC236}">
                <a16:creationId xmlns:a16="http://schemas.microsoft.com/office/drawing/2014/main" id="{EFD08BE7-DC30-AC91-B134-D2546E10396F}"/>
              </a:ext>
            </a:extLst>
          </p:cNvPr>
          <p:cNvSpPr txBox="1">
            <a:spLocks noGrp="1"/>
          </p:cNvSpPr>
          <p:nvPr>
            <p:ph type="title"/>
          </p:nvPr>
        </p:nvSpPr>
        <p:spPr>
          <a:prstGeom prst="rect">
            <a:avLst/>
          </a:prstGeom>
        </p:spPr>
        <p:txBody>
          <a:bodyPr/>
          <a:lstStyle/>
          <a:p>
            <a:r>
              <a:t>Race Condition</a:t>
            </a:r>
          </a:p>
        </p:txBody>
      </p:sp>
      <p:sp>
        <p:nvSpPr>
          <p:cNvPr id="73" name="Slide Number">
            <a:extLst>
              <a:ext uri="{FF2B5EF4-FFF2-40B4-BE49-F238E27FC236}">
                <a16:creationId xmlns:a16="http://schemas.microsoft.com/office/drawing/2014/main" id="{60BA6A63-8A69-613A-EFE2-37FB50DCB824}"/>
              </a:ext>
            </a:extLst>
          </p:cNvPr>
          <p:cNvSpPr txBox="1">
            <a:spLocks noGrp="1"/>
          </p:cNvSpPr>
          <p:nvPr>
            <p:ph type="sldNum" sz="quarter" idx="2"/>
          </p:nvPr>
        </p:nvSpPr>
        <p:spPr>
          <a:xfrm>
            <a:off x="7737016" y="6381750"/>
            <a:ext cx="312068" cy="3048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10</a:t>
            </a:fld>
            <a:endParaRPr/>
          </a:p>
        </p:txBody>
      </p:sp>
      <p:grpSp>
        <p:nvGrpSpPr>
          <p:cNvPr id="80" name="Group">
            <a:extLst>
              <a:ext uri="{FF2B5EF4-FFF2-40B4-BE49-F238E27FC236}">
                <a16:creationId xmlns:a16="http://schemas.microsoft.com/office/drawing/2014/main" id="{8C365E9A-976A-19C5-25EE-E5C63C5DDCC5}"/>
              </a:ext>
            </a:extLst>
          </p:cNvPr>
          <p:cNvGrpSpPr/>
          <p:nvPr/>
        </p:nvGrpSpPr>
        <p:grpSpPr>
          <a:xfrm>
            <a:off x="914399" y="1752600"/>
            <a:ext cx="3573147" cy="3048000"/>
            <a:chOff x="0" y="0"/>
            <a:chExt cx="3573144" cy="3048000"/>
          </a:xfrm>
        </p:grpSpPr>
        <p:grpSp>
          <p:nvGrpSpPr>
            <p:cNvPr id="76" name="Group">
              <a:extLst>
                <a:ext uri="{FF2B5EF4-FFF2-40B4-BE49-F238E27FC236}">
                  <a16:creationId xmlns:a16="http://schemas.microsoft.com/office/drawing/2014/main" id="{BC78613E-8321-F3D5-E659-A946363B4B64}"/>
                </a:ext>
              </a:extLst>
            </p:cNvPr>
            <p:cNvGrpSpPr/>
            <p:nvPr/>
          </p:nvGrpSpPr>
          <p:grpSpPr>
            <a:xfrm>
              <a:off x="0" y="0"/>
              <a:ext cx="3276600" cy="3048000"/>
              <a:chOff x="0" y="0"/>
              <a:chExt cx="3276600" cy="3048000"/>
            </a:xfrm>
          </p:grpSpPr>
          <p:sp>
            <p:nvSpPr>
              <p:cNvPr id="74" name="Rectangle">
                <a:extLst>
                  <a:ext uri="{FF2B5EF4-FFF2-40B4-BE49-F238E27FC236}">
                    <a16:creationId xmlns:a16="http://schemas.microsoft.com/office/drawing/2014/main" id="{D04839EA-F307-F2C0-3FC9-423C94EB79D0}"/>
                  </a:ext>
                </a:extLst>
              </p:cNvPr>
              <p:cNvSpPr/>
              <p:nvPr/>
            </p:nvSpPr>
            <p:spPr>
              <a:xfrm>
                <a:off x="0" y="0"/>
                <a:ext cx="3276600" cy="3048000"/>
              </a:xfrm>
              <a:prstGeom prst="rect">
                <a:avLst/>
              </a:prstGeom>
              <a:solidFill>
                <a:srgbClr val="FFFFFF"/>
              </a:solid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75" name="char chin, chout;//shared…">
                <a:extLst>
                  <a:ext uri="{FF2B5EF4-FFF2-40B4-BE49-F238E27FC236}">
                    <a16:creationId xmlns:a16="http://schemas.microsoft.com/office/drawing/2014/main" id="{8744C905-49E1-42FC-63FE-82E9F6BD4C1D}"/>
                  </a:ext>
                </a:extLst>
              </p:cNvPr>
              <p:cNvSpPr txBox="1"/>
              <p:nvPr/>
            </p:nvSpPr>
            <p:spPr>
              <a:xfrm>
                <a:off x="0" y="0"/>
                <a:ext cx="3276600" cy="28194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4F7A28"/>
                    </a:solidFill>
                    <a:uFill>
                      <a:solidFill>
                        <a:srgbClr val="4F7A28"/>
                      </a:solidFill>
                    </a:uFill>
                    <a:latin typeface="Courier New"/>
                    <a:ea typeface="Courier New"/>
                    <a:cs typeface="Courier New"/>
                    <a:sym typeface="Courier New"/>
                  </a:defRPr>
                </a:pPr>
                <a:r>
                  <a:t>char chin, chout;</a:t>
                </a:r>
                <a:r>
                  <a:rPr sz="1200"/>
                  <a:t>//shared</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1200" b="1">
                    <a:solidFill>
                      <a:srgbClr val="7B1142"/>
                    </a:solidFill>
                    <a:uFill>
                      <a:solidFill>
                        <a:srgbClr val="7B1142"/>
                      </a:solidFill>
                    </a:uFill>
                    <a:latin typeface="Courier New"/>
                    <a:ea typeface="Courier New"/>
                    <a:cs typeface="Courier New"/>
                    <a:sym typeface="Courier New"/>
                  </a:defRPr>
                </a:pPr>
                <a:endParaRPr sz="1200"/>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79" name="Group">
              <a:extLst>
                <a:ext uri="{FF2B5EF4-FFF2-40B4-BE49-F238E27FC236}">
                  <a16:creationId xmlns:a16="http://schemas.microsoft.com/office/drawing/2014/main" id="{6A56B5B4-9989-5C18-1A22-12C08E9B0730}"/>
                </a:ext>
              </a:extLst>
            </p:cNvPr>
            <p:cNvGrpSpPr/>
            <p:nvPr/>
          </p:nvGrpSpPr>
          <p:grpSpPr>
            <a:xfrm>
              <a:off x="3124199" y="609600"/>
              <a:ext cx="448946" cy="2133600"/>
              <a:chOff x="0" y="0"/>
              <a:chExt cx="448944" cy="2133600"/>
            </a:xfrm>
          </p:grpSpPr>
          <p:sp>
            <p:nvSpPr>
              <p:cNvPr id="77" name="A">
                <a:extLst>
                  <a:ext uri="{FF2B5EF4-FFF2-40B4-BE49-F238E27FC236}">
                    <a16:creationId xmlns:a16="http://schemas.microsoft.com/office/drawing/2014/main" id="{779DF03E-5DEA-FC30-0673-F633D8E19914}"/>
                  </a:ext>
                </a:extLst>
              </p:cNvPr>
              <p:cNvSpPr txBox="1"/>
              <p:nvPr/>
            </p:nvSpPr>
            <p:spPr>
              <a:xfrm>
                <a:off x="127317" y="0"/>
                <a:ext cx="321628" cy="4445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rPr dirty="0"/>
                  <a:t>A</a:t>
                </a:r>
              </a:p>
            </p:txBody>
          </p:sp>
          <p:sp>
            <p:nvSpPr>
              <p:cNvPr id="78" name="Line">
                <a:extLst>
                  <a:ext uri="{FF2B5EF4-FFF2-40B4-BE49-F238E27FC236}">
                    <a16:creationId xmlns:a16="http://schemas.microsoft.com/office/drawing/2014/main" id="{B173D495-20F8-065C-F4E1-7F2775F657DC}"/>
                  </a:ext>
                </a:extLst>
              </p:cNvPr>
              <p:cNvSpPr/>
              <p:nvPr/>
            </p:nvSpPr>
            <p:spPr>
              <a:xfrm rot="16200000" flipH="1">
                <a:off x="-876300" y="11811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nvGrpSpPr>
          <p:cNvPr id="90" name="Group">
            <a:extLst>
              <a:ext uri="{FF2B5EF4-FFF2-40B4-BE49-F238E27FC236}">
                <a16:creationId xmlns:a16="http://schemas.microsoft.com/office/drawing/2014/main" id="{7D5B3A5F-A286-6849-33BF-4AF853F788C5}"/>
              </a:ext>
            </a:extLst>
          </p:cNvPr>
          <p:cNvGrpSpPr/>
          <p:nvPr/>
        </p:nvGrpSpPr>
        <p:grpSpPr>
          <a:xfrm>
            <a:off x="914400" y="4953000"/>
            <a:ext cx="3276600" cy="990600"/>
            <a:chOff x="0" y="0"/>
            <a:chExt cx="3276600" cy="990600"/>
          </a:xfrm>
        </p:grpSpPr>
        <p:sp>
          <p:nvSpPr>
            <p:cNvPr id="88" name="Rectangle">
              <a:extLst>
                <a:ext uri="{FF2B5EF4-FFF2-40B4-BE49-F238E27FC236}">
                  <a16:creationId xmlns:a16="http://schemas.microsoft.com/office/drawing/2014/main" id="{8E3AEBCE-0004-6900-B445-6DAED145DEF2}"/>
                </a:ext>
              </a:extLst>
            </p:cNvPr>
            <p:cNvSpPr/>
            <p:nvPr/>
          </p:nvSpPr>
          <p:spPr>
            <a:xfrm>
              <a:off x="0" y="0"/>
              <a:ext cx="3276600" cy="990600"/>
            </a:xfrm>
            <a:prstGeom prst="rect">
              <a:avLst/>
            </a:prstGeom>
            <a:solidFill>
              <a:srgbClr val="A7A7A7"/>
            </a:solidFill>
            <a:ln w="12700" cap="flat">
              <a:solidFill>
                <a:srgbClr val="A7A7A7"/>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89" name="&gt; ./echo…">
              <a:extLst>
                <a:ext uri="{FF2B5EF4-FFF2-40B4-BE49-F238E27FC236}">
                  <a16:creationId xmlns:a16="http://schemas.microsoft.com/office/drawing/2014/main" id="{78546B01-608B-720C-3734-99E2D290DC74}"/>
                </a:ext>
              </a:extLst>
            </p:cNvPr>
            <p:cNvSpPr txBox="1"/>
            <p:nvPr/>
          </p:nvSpPr>
          <p:spPr>
            <a:xfrm>
              <a:off x="0" y="0"/>
              <a:ext cx="3276600" cy="863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&gt; ./echo</a:t>
              </a:r>
            </a:p>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Hello world!</a:t>
              </a:r>
            </a:p>
            <a:p>
              <a:pPr marL="156527">
                <a:buClr>
                  <a:srgbClr val="0433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0433FF"/>
                  </a:solidFill>
                  <a:uFill>
                    <a:solidFill>
                      <a:srgbClr val="0433FF"/>
                    </a:solidFill>
                  </a:uFill>
                  <a:latin typeface="Courier New"/>
                  <a:ea typeface="Courier New"/>
                  <a:cs typeface="Courier New"/>
                  <a:sym typeface="Courier New"/>
                </a:defRPr>
              </a:pPr>
              <a:r>
                <a:t>Hello world!</a:t>
              </a:r>
            </a:p>
          </p:txBody>
        </p:sp>
      </p:grpSp>
      <p:sp>
        <p:nvSpPr>
          <p:cNvPr id="91" name="Single-threaded echo">
            <a:extLst>
              <a:ext uri="{FF2B5EF4-FFF2-40B4-BE49-F238E27FC236}">
                <a16:creationId xmlns:a16="http://schemas.microsoft.com/office/drawing/2014/main" id="{6D15A3BB-F1B4-834E-BB57-C0816A23F73A}"/>
              </a:ext>
            </a:extLst>
          </p:cNvPr>
          <p:cNvSpPr txBox="1"/>
          <p:nvPr/>
        </p:nvSpPr>
        <p:spPr>
          <a:xfrm>
            <a:off x="1515747" y="5943600"/>
            <a:ext cx="2061206" cy="368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spAutoFit/>
          </a:bodyPr>
          <a:lstStyle>
            <a:lvl1pPr algn="ctr">
              <a:buClr>
                <a:srgbClr val="C51B05"/>
              </a:buClr>
              <a:buFont typeface="Arial Narrow"/>
              <a:defRPr b="1">
                <a:solidFill>
                  <a:srgbClr val="C51B05"/>
                </a:solidFill>
                <a:uFill>
                  <a:solidFill>
                    <a:srgbClr val="C51B05"/>
                  </a:solidFill>
                </a:uFill>
                <a:latin typeface="Arial Narrow"/>
                <a:ea typeface="Arial Narrow"/>
                <a:cs typeface="Arial Narrow"/>
                <a:sym typeface="Arial Narrow"/>
              </a:defRPr>
            </a:lvl1pPr>
          </a:lstStyle>
          <a:p>
            <a:r>
              <a:t>Single-threaded echo</a:t>
            </a:r>
          </a:p>
        </p:txBody>
      </p:sp>
      <p:sp>
        <p:nvSpPr>
          <p:cNvPr id="126" name="Significant race conditions in I/O &amp; variable sharing">
            <a:extLst>
              <a:ext uri="{FF2B5EF4-FFF2-40B4-BE49-F238E27FC236}">
                <a16:creationId xmlns:a16="http://schemas.microsoft.com/office/drawing/2014/main" id="{955DC7E9-4824-6161-DCD6-A0D8B80496B0}"/>
              </a:ext>
            </a:extLst>
          </p:cNvPr>
          <p:cNvSpPr txBox="1"/>
          <p:nvPr/>
        </p:nvSpPr>
        <p:spPr>
          <a:xfrm>
            <a:off x="457200" y="1143000"/>
            <a:ext cx="8318500" cy="508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spAutoFit/>
          </a:bodyPr>
          <a:lstStyle>
            <a:lvl1pPr marL="496252" indent="-455612">
              <a:spcBef>
                <a:spcPts val="1600"/>
              </a:spcBef>
              <a:buClr>
                <a:srgbClr val="7B1142"/>
              </a:buClr>
              <a:buSzPct val="70000"/>
              <a:buChar char=""/>
              <a:tabLst>
                <a:tab pos="495300" algn="l"/>
                <a:tab pos="1066800" algn="l"/>
                <a:tab pos="1866900" algn="l"/>
              </a:tabLst>
              <a:defRPr sz="2800" u="sng">
                <a:solidFill>
                  <a:srgbClr val="000000"/>
                </a:solidFill>
                <a:uFill>
                  <a:solidFill>
                    <a:srgbClr val="000000"/>
                  </a:solidFill>
                </a:uFill>
                <a:latin typeface="Arial Narrow"/>
                <a:ea typeface="Arial Narrow"/>
                <a:cs typeface="Arial Narrow"/>
                <a:sym typeface="Arial Narrow"/>
              </a:defRPr>
            </a:lvl1pPr>
          </a:lstStyle>
          <a:p>
            <a:r>
              <a:t>Significant race conditions in I/O &amp; variable sharing</a:t>
            </a:r>
          </a:p>
        </p:txBody>
      </p:sp>
    </p:spTree>
    <p:extLst>
      <p:ext uri="{BB962C8B-B14F-4D97-AF65-F5344CB8AC3E}">
        <p14:creationId xmlns:p14="http://schemas.microsoft.com/office/powerpoint/2010/main" val="135966918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ace Condition"/>
          <p:cNvSpPr txBox="1">
            <a:spLocks noGrp="1"/>
          </p:cNvSpPr>
          <p:nvPr>
            <p:ph type="title"/>
          </p:nvPr>
        </p:nvSpPr>
        <p:spPr>
          <a:prstGeom prst="rect">
            <a:avLst/>
          </a:prstGeom>
        </p:spPr>
        <p:txBody>
          <a:bodyPr/>
          <a:lstStyle/>
          <a:p>
            <a:r>
              <a:t>Race Condition</a:t>
            </a:r>
          </a:p>
        </p:txBody>
      </p:sp>
      <p:sp>
        <p:nvSpPr>
          <p:cNvPr id="73"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11</a:t>
            </a:fld>
            <a:endParaRPr/>
          </a:p>
        </p:txBody>
      </p:sp>
      <p:grpSp>
        <p:nvGrpSpPr>
          <p:cNvPr id="80" name="Group"/>
          <p:cNvGrpSpPr/>
          <p:nvPr/>
        </p:nvGrpSpPr>
        <p:grpSpPr>
          <a:xfrm>
            <a:off x="914399" y="1752600"/>
            <a:ext cx="3573147" cy="3048000"/>
            <a:chOff x="0" y="0"/>
            <a:chExt cx="3573144" cy="3048000"/>
          </a:xfrm>
        </p:grpSpPr>
        <p:grpSp>
          <p:nvGrpSpPr>
            <p:cNvPr id="76" name="Group"/>
            <p:cNvGrpSpPr/>
            <p:nvPr/>
          </p:nvGrpSpPr>
          <p:grpSpPr>
            <a:xfrm>
              <a:off x="0" y="0"/>
              <a:ext cx="3276600" cy="3048000"/>
              <a:chOff x="0" y="0"/>
              <a:chExt cx="3276600" cy="3048000"/>
            </a:xfrm>
          </p:grpSpPr>
          <p:sp>
            <p:nvSpPr>
              <p:cNvPr id="74" name="Rectangle"/>
              <p:cNvSpPr/>
              <p:nvPr/>
            </p:nvSpPr>
            <p:spPr>
              <a:xfrm>
                <a:off x="0" y="0"/>
                <a:ext cx="3276600" cy="3048000"/>
              </a:xfrm>
              <a:prstGeom prst="rect">
                <a:avLst/>
              </a:prstGeom>
              <a:solidFill>
                <a:srgbClr val="FFFFFF"/>
              </a:solid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75" name="char chin, chout;//shared…"/>
              <p:cNvSpPr txBox="1"/>
              <p:nvPr/>
            </p:nvSpPr>
            <p:spPr>
              <a:xfrm>
                <a:off x="0" y="0"/>
                <a:ext cx="3276600" cy="28194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4F7A28"/>
                    </a:solidFill>
                    <a:uFill>
                      <a:solidFill>
                        <a:srgbClr val="4F7A28"/>
                      </a:solidFill>
                    </a:uFill>
                    <a:latin typeface="Courier New"/>
                    <a:ea typeface="Courier New"/>
                    <a:cs typeface="Courier New"/>
                    <a:sym typeface="Courier New"/>
                  </a:defRPr>
                </a:pPr>
                <a:r>
                  <a:t>char chin, chout;</a:t>
                </a:r>
                <a:r>
                  <a:rPr sz="1200"/>
                  <a:t>//shared</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1200" b="1">
                    <a:solidFill>
                      <a:srgbClr val="7B1142"/>
                    </a:solidFill>
                    <a:uFill>
                      <a:solidFill>
                        <a:srgbClr val="7B1142"/>
                      </a:solidFill>
                    </a:uFill>
                    <a:latin typeface="Courier New"/>
                    <a:ea typeface="Courier New"/>
                    <a:cs typeface="Courier New"/>
                    <a:sym typeface="Courier New"/>
                  </a:defRPr>
                </a:pPr>
                <a:endParaRPr sz="1200"/>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79" name="Group"/>
            <p:cNvGrpSpPr/>
            <p:nvPr/>
          </p:nvGrpSpPr>
          <p:grpSpPr>
            <a:xfrm>
              <a:off x="3124199" y="609600"/>
              <a:ext cx="448946" cy="2133600"/>
              <a:chOff x="0" y="0"/>
              <a:chExt cx="448944" cy="2133600"/>
            </a:xfrm>
          </p:grpSpPr>
          <p:sp>
            <p:nvSpPr>
              <p:cNvPr id="77" name="A"/>
              <p:cNvSpPr txBox="1"/>
              <p:nvPr/>
            </p:nvSpPr>
            <p:spPr>
              <a:xfrm>
                <a:off x="127317" y="0"/>
                <a:ext cx="321628" cy="4445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78" name="Line"/>
              <p:cNvSpPr/>
              <p:nvPr/>
            </p:nvSpPr>
            <p:spPr>
              <a:xfrm rot="16200000" flipH="1">
                <a:off x="-876300" y="11811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nvGrpSpPr>
          <p:cNvPr id="87" name="Group"/>
          <p:cNvGrpSpPr/>
          <p:nvPr/>
        </p:nvGrpSpPr>
        <p:grpSpPr>
          <a:xfrm>
            <a:off x="4745354" y="1752600"/>
            <a:ext cx="3683002" cy="3048000"/>
            <a:chOff x="0" y="0"/>
            <a:chExt cx="3683000" cy="3048000"/>
          </a:xfrm>
        </p:grpSpPr>
        <p:grpSp>
          <p:nvGrpSpPr>
            <p:cNvPr id="83" name="Group"/>
            <p:cNvGrpSpPr/>
            <p:nvPr/>
          </p:nvGrpSpPr>
          <p:grpSpPr>
            <a:xfrm>
              <a:off x="293615" y="0"/>
              <a:ext cx="3389386" cy="3048000"/>
              <a:chOff x="0" y="0"/>
              <a:chExt cx="3389385" cy="3048000"/>
            </a:xfrm>
          </p:grpSpPr>
          <p:sp>
            <p:nvSpPr>
              <p:cNvPr id="81" name="Rectangle"/>
              <p:cNvSpPr/>
              <p:nvPr/>
            </p:nvSpPr>
            <p:spPr>
              <a:xfrm>
                <a:off x="0" y="0"/>
                <a:ext cx="3389386" cy="3048000"/>
              </a:xfrm>
              <a:prstGeom prst="rect">
                <a:avLst/>
              </a:prstGeom>
              <a:solidFill>
                <a:srgbClr val="FFFFFF"/>
              </a:solid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82" name="char chin, chout; //shared…"/>
              <p:cNvSpPr txBox="1"/>
              <p:nvPr/>
            </p:nvSpPr>
            <p:spPr>
              <a:xfrm>
                <a:off x="0" y="0"/>
                <a:ext cx="3389386" cy="29972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no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4F7A28"/>
                    </a:solidFill>
                    <a:uFill>
                      <a:solidFill>
                        <a:srgbClr val="4F7A28"/>
                      </a:solidFill>
                    </a:uFill>
                    <a:latin typeface="Courier New"/>
                    <a:ea typeface="Courier New"/>
                    <a:cs typeface="Courier New"/>
                    <a:sym typeface="Courier New"/>
                  </a:defRPr>
                </a:pPr>
                <a:r>
                  <a:t>char chin, chout;</a:t>
                </a:r>
                <a:r>
                  <a:rPr sz="1200"/>
                  <a:t> //shared</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1200" b="1">
                    <a:solidFill>
                      <a:srgbClr val="7B1142"/>
                    </a:solidFill>
                    <a:uFill>
                      <a:solidFill>
                        <a:srgbClr val="7B1142"/>
                      </a:solidFill>
                    </a:uFill>
                    <a:latin typeface="Courier New"/>
                    <a:ea typeface="Courier New"/>
                    <a:cs typeface="Courier New"/>
                    <a:sym typeface="Courier New"/>
                  </a:defRPr>
                </a:pPr>
                <a:endParaRPr sz="1200"/>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86" name="Group"/>
            <p:cNvGrpSpPr/>
            <p:nvPr/>
          </p:nvGrpSpPr>
          <p:grpSpPr>
            <a:xfrm>
              <a:off x="-1" y="609599"/>
              <a:ext cx="451263" cy="2133601"/>
              <a:chOff x="0" y="0"/>
              <a:chExt cx="451261" cy="2133599"/>
            </a:xfrm>
          </p:grpSpPr>
          <p:sp>
            <p:nvSpPr>
              <p:cNvPr id="84" name="B"/>
              <p:cNvSpPr txBox="1"/>
              <p:nvPr/>
            </p:nvSpPr>
            <p:spPr>
              <a:xfrm>
                <a:off x="0" y="0"/>
                <a:ext cx="332699" cy="4445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no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85" name="Line"/>
              <p:cNvSpPr/>
              <p:nvPr/>
            </p:nvSpPr>
            <p:spPr>
              <a:xfrm rot="5400000">
                <a:off x="-502551" y="1179788"/>
                <a:ext cx="1828801" cy="7882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nvGrpSpPr>
          <p:cNvPr id="90" name="Group"/>
          <p:cNvGrpSpPr/>
          <p:nvPr/>
        </p:nvGrpSpPr>
        <p:grpSpPr>
          <a:xfrm>
            <a:off x="914400" y="4953000"/>
            <a:ext cx="3276600" cy="990600"/>
            <a:chOff x="0" y="0"/>
            <a:chExt cx="3276600" cy="990600"/>
          </a:xfrm>
        </p:grpSpPr>
        <p:sp>
          <p:nvSpPr>
            <p:cNvPr id="88" name="Rectangle"/>
            <p:cNvSpPr/>
            <p:nvPr/>
          </p:nvSpPr>
          <p:spPr>
            <a:xfrm>
              <a:off x="0" y="0"/>
              <a:ext cx="3276600" cy="990600"/>
            </a:xfrm>
            <a:prstGeom prst="rect">
              <a:avLst/>
            </a:prstGeom>
            <a:solidFill>
              <a:srgbClr val="A7A7A7"/>
            </a:solidFill>
            <a:ln w="12700" cap="flat">
              <a:solidFill>
                <a:srgbClr val="A7A7A7"/>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89" name="&gt; ./echo…"/>
            <p:cNvSpPr txBox="1"/>
            <p:nvPr/>
          </p:nvSpPr>
          <p:spPr>
            <a:xfrm>
              <a:off x="0" y="0"/>
              <a:ext cx="3276600" cy="8636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&gt; ./echo</a:t>
              </a:r>
            </a:p>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Hello world!</a:t>
              </a:r>
            </a:p>
            <a:p>
              <a:pPr marL="156527">
                <a:buClr>
                  <a:srgbClr val="0433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0433FF"/>
                  </a:solidFill>
                  <a:uFill>
                    <a:solidFill>
                      <a:srgbClr val="0433FF"/>
                    </a:solidFill>
                  </a:uFill>
                  <a:latin typeface="Courier New"/>
                  <a:ea typeface="Courier New"/>
                  <a:cs typeface="Courier New"/>
                  <a:sym typeface="Courier New"/>
                </a:defRPr>
              </a:pPr>
              <a:r>
                <a:t>Hello world!</a:t>
              </a:r>
            </a:p>
          </p:txBody>
        </p:sp>
      </p:grpSp>
      <p:sp>
        <p:nvSpPr>
          <p:cNvPr id="91" name="Single-threaded echo"/>
          <p:cNvSpPr txBox="1"/>
          <p:nvPr/>
        </p:nvSpPr>
        <p:spPr>
          <a:xfrm>
            <a:off x="1515747" y="5943600"/>
            <a:ext cx="2061206" cy="368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buClr>
                <a:srgbClr val="C51B05"/>
              </a:buClr>
              <a:buFont typeface="Arial Narrow"/>
              <a:defRPr b="1">
                <a:solidFill>
                  <a:srgbClr val="C51B05"/>
                </a:solidFill>
                <a:uFill>
                  <a:solidFill>
                    <a:srgbClr val="C51B05"/>
                  </a:solidFill>
                </a:uFill>
                <a:latin typeface="Arial Narrow"/>
                <a:ea typeface="Arial Narrow"/>
                <a:cs typeface="Arial Narrow"/>
                <a:sym typeface="Arial Narrow"/>
              </a:defRPr>
            </a:lvl1pPr>
          </a:lstStyle>
          <a:p>
            <a:r>
              <a:t>Single-threaded echo</a:t>
            </a:r>
          </a:p>
        </p:txBody>
      </p:sp>
      <p:grpSp>
        <p:nvGrpSpPr>
          <p:cNvPr id="96" name="Group"/>
          <p:cNvGrpSpPr/>
          <p:nvPr/>
        </p:nvGrpSpPr>
        <p:grpSpPr>
          <a:xfrm>
            <a:off x="5029200" y="4953000"/>
            <a:ext cx="3378200" cy="1358900"/>
            <a:chOff x="0" y="0"/>
            <a:chExt cx="3378200" cy="1358900"/>
          </a:xfrm>
        </p:grpSpPr>
        <p:sp>
          <p:nvSpPr>
            <p:cNvPr id="92" name="Multithreaded echo (lucky)"/>
            <p:cNvSpPr txBox="1"/>
            <p:nvPr/>
          </p:nvSpPr>
          <p:spPr>
            <a:xfrm>
              <a:off x="384107" y="990600"/>
              <a:ext cx="2608350" cy="3683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noAutofit/>
            </a:bodyPr>
            <a:lstStyle>
              <a:lvl1pPr algn="ctr">
                <a:buClr>
                  <a:srgbClr val="C51B05"/>
                </a:buClr>
                <a:buFont typeface="Arial Narrow"/>
                <a:defRPr b="1">
                  <a:solidFill>
                    <a:srgbClr val="C51B05"/>
                  </a:solidFill>
                  <a:uFill>
                    <a:solidFill>
                      <a:srgbClr val="C51B05"/>
                    </a:solidFill>
                  </a:uFill>
                  <a:latin typeface="Arial Narrow"/>
                  <a:ea typeface="Arial Narrow"/>
                  <a:cs typeface="Arial Narrow"/>
                  <a:sym typeface="Arial Narrow"/>
                </a:defRPr>
              </a:lvl1pPr>
            </a:lstStyle>
            <a:p>
              <a:r>
                <a:t>Multithreaded echo (lucky)</a:t>
              </a:r>
            </a:p>
          </p:txBody>
        </p:sp>
        <p:grpSp>
          <p:nvGrpSpPr>
            <p:cNvPr id="95" name="Group"/>
            <p:cNvGrpSpPr/>
            <p:nvPr/>
          </p:nvGrpSpPr>
          <p:grpSpPr>
            <a:xfrm>
              <a:off x="0" y="0"/>
              <a:ext cx="3378200" cy="990600"/>
              <a:chOff x="0" y="0"/>
              <a:chExt cx="3378200" cy="990600"/>
            </a:xfrm>
          </p:grpSpPr>
          <p:sp>
            <p:nvSpPr>
              <p:cNvPr id="93" name="Rectangle"/>
              <p:cNvSpPr/>
              <p:nvPr/>
            </p:nvSpPr>
            <p:spPr>
              <a:xfrm>
                <a:off x="0" y="0"/>
                <a:ext cx="3378200" cy="990600"/>
              </a:xfrm>
              <a:prstGeom prst="rect">
                <a:avLst/>
              </a:prstGeom>
              <a:solidFill>
                <a:srgbClr val="A7A7A7"/>
              </a:solidFill>
              <a:ln w="12700" cap="flat">
                <a:solidFill>
                  <a:srgbClr val="A7A7A7"/>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94" name="&gt; ./echo…"/>
              <p:cNvSpPr txBox="1"/>
              <p:nvPr/>
            </p:nvSpPr>
            <p:spPr>
              <a:xfrm>
                <a:off x="0" y="0"/>
                <a:ext cx="3378200" cy="8636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noAutofit/>
              </a:bodyPr>
              <a:lstStyle/>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&gt; ./echo</a:t>
                </a:r>
              </a:p>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Hello world!</a:t>
                </a:r>
              </a:p>
              <a:p>
                <a:pPr marL="156527">
                  <a:buClr>
                    <a:srgbClr val="0433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sz="2400">
                    <a:solidFill>
                      <a:srgbClr val="7B1142"/>
                    </a:solidFill>
                    <a:uFill>
                      <a:solidFill>
                        <a:srgbClr val="7B1142"/>
                      </a:solidFill>
                    </a:uFill>
                    <a:latin typeface="Times New Roman"/>
                    <a:ea typeface="Times New Roman"/>
                    <a:cs typeface="Times New Roman"/>
                    <a:sym typeface="Times New Roman"/>
                  </a:defRPr>
                </a:pPr>
                <a:r>
                  <a:rPr sz="1800" b="1">
                    <a:solidFill>
                      <a:srgbClr val="0433FF"/>
                    </a:solidFill>
                    <a:uFill>
                      <a:solidFill>
                        <a:srgbClr val="0433FF"/>
                      </a:solidFill>
                    </a:uFill>
                    <a:latin typeface="Courier New"/>
                    <a:ea typeface="Courier New"/>
                    <a:cs typeface="Courier New"/>
                    <a:sym typeface="Courier New"/>
                  </a:rPr>
                  <a:t>H</a:t>
                </a:r>
                <a:r>
                  <a:rPr sz="1800" b="1">
                    <a:solidFill>
                      <a:srgbClr val="FF2600"/>
                    </a:solidFill>
                    <a:uFill>
                      <a:solidFill>
                        <a:srgbClr val="FF2600"/>
                      </a:solidFill>
                    </a:uFill>
                    <a:latin typeface="Courier New"/>
                    <a:ea typeface="Courier New"/>
                    <a:cs typeface="Courier New"/>
                    <a:sym typeface="Courier New"/>
                  </a:rPr>
                  <a:t>e</a:t>
                </a:r>
                <a:r>
                  <a:rPr sz="1800" b="1">
                    <a:solidFill>
                      <a:srgbClr val="0433FF"/>
                    </a:solidFill>
                    <a:uFill>
                      <a:solidFill>
                        <a:srgbClr val="0433FF"/>
                      </a:solidFill>
                    </a:uFill>
                    <a:latin typeface="Courier New"/>
                    <a:ea typeface="Courier New"/>
                    <a:cs typeface="Courier New"/>
                    <a:sym typeface="Courier New"/>
                  </a:rPr>
                  <a:t>l</a:t>
                </a:r>
                <a:r>
                  <a:rPr sz="1800" b="1">
                    <a:solidFill>
                      <a:srgbClr val="FF2600"/>
                    </a:solidFill>
                    <a:uFill>
                      <a:solidFill>
                        <a:srgbClr val="FF2600"/>
                      </a:solidFill>
                    </a:uFill>
                    <a:latin typeface="Courier New"/>
                    <a:ea typeface="Courier New"/>
                    <a:cs typeface="Courier New"/>
                    <a:sym typeface="Courier New"/>
                  </a:rPr>
                  <a:t>lo</a:t>
                </a:r>
                <a:r>
                  <a:rPr sz="1800" b="1">
                    <a:solidFill>
                      <a:srgbClr val="E6ADC8"/>
                    </a:solidFill>
                    <a:uFill>
                      <a:solidFill>
                        <a:srgbClr val="E6ADC8"/>
                      </a:solidFill>
                    </a:uFill>
                    <a:latin typeface="Courier New"/>
                    <a:ea typeface="Courier New"/>
                    <a:cs typeface="Courier New"/>
                    <a:sym typeface="Courier New"/>
                  </a:rPr>
                  <a:t> </a:t>
                </a:r>
                <a:r>
                  <a:rPr sz="1800" b="1">
                    <a:solidFill>
                      <a:srgbClr val="0433FF"/>
                    </a:solidFill>
                    <a:uFill>
                      <a:solidFill>
                        <a:srgbClr val="0433FF"/>
                      </a:solidFill>
                    </a:uFill>
                    <a:latin typeface="Courier New"/>
                    <a:ea typeface="Courier New"/>
                    <a:cs typeface="Courier New"/>
                    <a:sym typeface="Courier New"/>
                  </a:rPr>
                  <a:t>wor</a:t>
                </a:r>
                <a:r>
                  <a:rPr sz="1800" b="1">
                    <a:solidFill>
                      <a:srgbClr val="FF2600"/>
                    </a:solidFill>
                    <a:uFill>
                      <a:solidFill>
                        <a:srgbClr val="FF2600"/>
                      </a:solidFill>
                    </a:uFill>
                    <a:latin typeface="Courier New"/>
                    <a:ea typeface="Courier New"/>
                    <a:cs typeface="Courier New"/>
                    <a:sym typeface="Courier New"/>
                  </a:rPr>
                  <a:t>l</a:t>
                </a:r>
                <a:r>
                  <a:rPr sz="1800" b="1">
                    <a:solidFill>
                      <a:srgbClr val="0433FF"/>
                    </a:solidFill>
                    <a:uFill>
                      <a:solidFill>
                        <a:srgbClr val="0433FF"/>
                      </a:solidFill>
                    </a:uFill>
                    <a:latin typeface="Courier New"/>
                    <a:ea typeface="Courier New"/>
                    <a:cs typeface="Courier New"/>
                    <a:sym typeface="Courier New"/>
                  </a:rPr>
                  <a:t>d</a:t>
                </a:r>
                <a:r>
                  <a:rPr sz="1800" b="1">
                    <a:solidFill>
                      <a:srgbClr val="FF2600"/>
                    </a:solidFill>
                    <a:uFill>
                      <a:solidFill>
                        <a:srgbClr val="FF2600"/>
                      </a:solidFill>
                    </a:uFill>
                    <a:latin typeface="Courier New"/>
                    <a:ea typeface="Courier New"/>
                    <a:cs typeface="Courier New"/>
                    <a:sym typeface="Courier New"/>
                  </a:rPr>
                  <a:t>!</a:t>
                </a:r>
              </a:p>
            </p:txBody>
          </p:sp>
        </p:grpSp>
      </p:grpSp>
      <p:grpSp>
        <p:nvGrpSpPr>
          <p:cNvPr id="125" name="Group"/>
          <p:cNvGrpSpPr/>
          <p:nvPr/>
        </p:nvGrpSpPr>
        <p:grpSpPr>
          <a:xfrm>
            <a:off x="1295400" y="3089275"/>
            <a:ext cx="4343400" cy="2136458"/>
            <a:chOff x="0" y="0"/>
            <a:chExt cx="4343400" cy="2136457"/>
          </a:xfrm>
        </p:grpSpPr>
        <p:grpSp>
          <p:nvGrpSpPr>
            <p:cNvPr id="106" name="Group"/>
            <p:cNvGrpSpPr/>
            <p:nvPr/>
          </p:nvGrpSpPr>
          <p:grpSpPr>
            <a:xfrm>
              <a:off x="0" y="0"/>
              <a:ext cx="228600" cy="796925"/>
              <a:chOff x="0" y="0"/>
              <a:chExt cx="228600" cy="796925"/>
            </a:xfrm>
          </p:grpSpPr>
          <p:grpSp>
            <p:nvGrpSpPr>
              <p:cNvPr id="99" name="Group"/>
              <p:cNvGrpSpPr/>
              <p:nvPr/>
            </p:nvGrpSpPr>
            <p:grpSpPr>
              <a:xfrm>
                <a:off x="0" y="0"/>
                <a:ext cx="228600" cy="228600"/>
                <a:chOff x="0" y="0"/>
                <a:chExt cx="228600" cy="228600"/>
              </a:xfrm>
            </p:grpSpPr>
            <p:sp>
              <p:nvSpPr>
                <p:cNvPr id="97" name="Square"/>
                <p:cNvSpPr/>
                <p:nvPr/>
              </p:nvSpPr>
              <p:spPr>
                <a:xfrm>
                  <a:off x="0" y="0"/>
                  <a:ext cx="228600" cy="228600"/>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98" name="1"/>
                <p:cNvSpPr txBox="1"/>
                <p:nvPr/>
              </p:nvSpPr>
              <p:spPr>
                <a:xfrm>
                  <a:off x="0" y="3323"/>
                  <a:ext cx="228600" cy="22195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marL="0" marR="0" algn="ctr">
                    <a:spcBef>
                      <a:spcPts val="300"/>
                    </a:spcBef>
                    <a:buClr>
                      <a:srgbClr val="0433FF"/>
                    </a:buClr>
                    <a:buFont typeface="Wingdings"/>
                    <a:defRPr sz="1600">
                      <a:solidFill>
                        <a:srgbClr val="0433FF"/>
                      </a:solidFill>
                      <a:uFill>
                        <a:solidFill>
                          <a:srgbClr val="0433FF"/>
                        </a:solidFill>
                      </a:uFill>
                    </a:defRPr>
                  </a:lvl1pPr>
                </a:lstStyle>
                <a:p>
                  <a:r>
                    <a:t>1</a:t>
                  </a:r>
                </a:p>
              </p:txBody>
            </p:sp>
          </p:grpSp>
          <p:grpSp>
            <p:nvGrpSpPr>
              <p:cNvPr id="102" name="Group"/>
              <p:cNvGrpSpPr/>
              <p:nvPr/>
            </p:nvGrpSpPr>
            <p:grpSpPr>
              <a:xfrm>
                <a:off x="0" y="290512"/>
                <a:ext cx="228600" cy="228601"/>
                <a:chOff x="0" y="0"/>
                <a:chExt cx="228600" cy="228600"/>
              </a:xfrm>
            </p:grpSpPr>
            <p:sp>
              <p:nvSpPr>
                <p:cNvPr id="100" name="Square"/>
                <p:cNvSpPr/>
                <p:nvPr/>
              </p:nvSpPr>
              <p:spPr>
                <a:xfrm>
                  <a:off x="0" y="0"/>
                  <a:ext cx="228600" cy="228600"/>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01" name="2"/>
                <p:cNvSpPr txBox="1"/>
                <p:nvPr/>
              </p:nvSpPr>
              <p:spPr>
                <a:xfrm>
                  <a:off x="0" y="3323"/>
                  <a:ext cx="228600" cy="22195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marL="0" marR="0" algn="ctr">
                    <a:spcBef>
                      <a:spcPts val="300"/>
                    </a:spcBef>
                    <a:buClr>
                      <a:srgbClr val="0433FF"/>
                    </a:buClr>
                    <a:buFont typeface="Wingdings"/>
                    <a:defRPr sz="1600">
                      <a:solidFill>
                        <a:srgbClr val="0433FF"/>
                      </a:solidFill>
                      <a:uFill>
                        <a:solidFill>
                          <a:srgbClr val="0433FF"/>
                        </a:solidFill>
                      </a:uFill>
                    </a:defRPr>
                  </a:lvl1pPr>
                </a:lstStyle>
                <a:p>
                  <a:r>
                    <a:t>2</a:t>
                  </a:r>
                </a:p>
              </p:txBody>
            </p:sp>
          </p:grpSp>
          <p:grpSp>
            <p:nvGrpSpPr>
              <p:cNvPr id="105" name="Group"/>
              <p:cNvGrpSpPr/>
              <p:nvPr/>
            </p:nvGrpSpPr>
            <p:grpSpPr>
              <a:xfrm>
                <a:off x="0" y="568325"/>
                <a:ext cx="228600" cy="228600"/>
                <a:chOff x="0" y="0"/>
                <a:chExt cx="228600" cy="228600"/>
              </a:xfrm>
            </p:grpSpPr>
            <p:sp>
              <p:nvSpPr>
                <p:cNvPr id="103" name="Square"/>
                <p:cNvSpPr/>
                <p:nvPr/>
              </p:nvSpPr>
              <p:spPr>
                <a:xfrm>
                  <a:off x="0" y="0"/>
                  <a:ext cx="228600" cy="228600"/>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04" name="3"/>
                <p:cNvSpPr txBox="1"/>
                <p:nvPr/>
              </p:nvSpPr>
              <p:spPr>
                <a:xfrm>
                  <a:off x="0" y="3323"/>
                  <a:ext cx="228600" cy="22195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marL="0" marR="0" algn="ctr">
                    <a:spcBef>
                      <a:spcPts val="300"/>
                    </a:spcBef>
                    <a:buClr>
                      <a:srgbClr val="0433FF"/>
                    </a:buClr>
                    <a:buFont typeface="Wingdings"/>
                    <a:defRPr sz="1600">
                      <a:solidFill>
                        <a:srgbClr val="0433FF"/>
                      </a:solidFill>
                      <a:uFill>
                        <a:solidFill>
                          <a:srgbClr val="0433FF"/>
                        </a:solidFill>
                      </a:uFill>
                    </a:defRPr>
                  </a:lvl1pPr>
                </a:lstStyle>
                <a:p>
                  <a:r>
                    <a:t>3</a:t>
                  </a:r>
                </a:p>
              </p:txBody>
            </p:sp>
          </p:grpSp>
        </p:grpSp>
        <p:grpSp>
          <p:nvGrpSpPr>
            <p:cNvPr id="116" name="Group"/>
            <p:cNvGrpSpPr/>
            <p:nvPr/>
          </p:nvGrpSpPr>
          <p:grpSpPr>
            <a:xfrm>
              <a:off x="4114800" y="0"/>
              <a:ext cx="228600" cy="796925"/>
              <a:chOff x="0" y="0"/>
              <a:chExt cx="228600" cy="796925"/>
            </a:xfrm>
          </p:grpSpPr>
          <p:grpSp>
            <p:nvGrpSpPr>
              <p:cNvPr id="109" name="Group"/>
              <p:cNvGrpSpPr/>
              <p:nvPr/>
            </p:nvGrpSpPr>
            <p:grpSpPr>
              <a:xfrm>
                <a:off x="0" y="0"/>
                <a:ext cx="228600" cy="228600"/>
                <a:chOff x="0" y="0"/>
                <a:chExt cx="228600" cy="228600"/>
              </a:xfrm>
            </p:grpSpPr>
            <p:sp>
              <p:nvSpPr>
                <p:cNvPr id="107" name="Square"/>
                <p:cNvSpPr/>
                <p:nvPr/>
              </p:nvSpPr>
              <p:spPr>
                <a:xfrm>
                  <a:off x="0" y="0"/>
                  <a:ext cx="228600" cy="228600"/>
                </a:xfrm>
                <a:prstGeom prst="rect">
                  <a:avLst/>
                </a:prstGeom>
                <a:solidFill>
                  <a:srgbClr val="FFC1BF"/>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08" name="4"/>
                <p:cNvSpPr txBox="1"/>
                <p:nvPr/>
              </p:nvSpPr>
              <p:spPr>
                <a:xfrm>
                  <a:off x="0" y="3323"/>
                  <a:ext cx="228600" cy="22195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marL="0" marR="0" algn="ctr">
                    <a:spcBef>
                      <a:spcPts val="300"/>
                    </a:spcBef>
                    <a:buClr>
                      <a:srgbClr val="FF2600"/>
                    </a:buClr>
                    <a:buFont typeface="Wingdings"/>
                    <a:defRPr sz="1600">
                      <a:solidFill>
                        <a:srgbClr val="FF2600"/>
                      </a:solidFill>
                      <a:uFill>
                        <a:solidFill>
                          <a:srgbClr val="FF2600"/>
                        </a:solidFill>
                      </a:uFill>
                    </a:defRPr>
                  </a:lvl1pPr>
                </a:lstStyle>
                <a:p>
                  <a:r>
                    <a:t>4</a:t>
                  </a:r>
                </a:p>
              </p:txBody>
            </p:sp>
          </p:grpSp>
          <p:grpSp>
            <p:nvGrpSpPr>
              <p:cNvPr id="112" name="Group"/>
              <p:cNvGrpSpPr/>
              <p:nvPr/>
            </p:nvGrpSpPr>
            <p:grpSpPr>
              <a:xfrm>
                <a:off x="0" y="290512"/>
                <a:ext cx="228600" cy="228601"/>
                <a:chOff x="0" y="0"/>
                <a:chExt cx="228600" cy="228600"/>
              </a:xfrm>
            </p:grpSpPr>
            <p:sp>
              <p:nvSpPr>
                <p:cNvPr id="110" name="Square"/>
                <p:cNvSpPr/>
                <p:nvPr/>
              </p:nvSpPr>
              <p:spPr>
                <a:xfrm>
                  <a:off x="0" y="0"/>
                  <a:ext cx="228600" cy="228600"/>
                </a:xfrm>
                <a:prstGeom prst="rect">
                  <a:avLst/>
                </a:prstGeom>
                <a:solidFill>
                  <a:srgbClr val="FFC1BF"/>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11" name="5"/>
                <p:cNvSpPr txBox="1"/>
                <p:nvPr/>
              </p:nvSpPr>
              <p:spPr>
                <a:xfrm>
                  <a:off x="0" y="3323"/>
                  <a:ext cx="228600" cy="22195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marL="0" marR="0" algn="ctr">
                    <a:spcBef>
                      <a:spcPts val="300"/>
                    </a:spcBef>
                    <a:buClr>
                      <a:srgbClr val="FF2600"/>
                    </a:buClr>
                    <a:buFont typeface="Wingdings"/>
                    <a:defRPr sz="1600">
                      <a:solidFill>
                        <a:srgbClr val="FF2600"/>
                      </a:solidFill>
                      <a:uFill>
                        <a:solidFill>
                          <a:srgbClr val="FF2600"/>
                        </a:solidFill>
                      </a:uFill>
                    </a:defRPr>
                  </a:lvl1pPr>
                </a:lstStyle>
                <a:p>
                  <a:r>
                    <a:t>5</a:t>
                  </a:r>
                </a:p>
              </p:txBody>
            </p:sp>
          </p:grpSp>
          <p:grpSp>
            <p:nvGrpSpPr>
              <p:cNvPr id="115" name="Group"/>
              <p:cNvGrpSpPr/>
              <p:nvPr/>
            </p:nvGrpSpPr>
            <p:grpSpPr>
              <a:xfrm>
                <a:off x="0" y="568325"/>
                <a:ext cx="228600" cy="228600"/>
                <a:chOff x="0" y="0"/>
                <a:chExt cx="228600" cy="228600"/>
              </a:xfrm>
            </p:grpSpPr>
            <p:sp>
              <p:nvSpPr>
                <p:cNvPr id="113" name="Square"/>
                <p:cNvSpPr/>
                <p:nvPr/>
              </p:nvSpPr>
              <p:spPr>
                <a:xfrm>
                  <a:off x="0" y="0"/>
                  <a:ext cx="228600" cy="228600"/>
                </a:xfrm>
                <a:prstGeom prst="rect">
                  <a:avLst/>
                </a:prstGeom>
                <a:solidFill>
                  <a:srgbClr val="FFC1BF"/>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14" name="6"/>
                <p:cNvSpPr txBox="1"/>
                <p:nvPr/>
              </p:nvSpPr>
              <p:spPr>
                <a:xfrm>
                  <a:off x="0" y="3323"/>
                  <a:ext cx="228600" cy="22195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marL="0" marR="0" algn="ctr">
                    <a:spcBef>
                      <a:spcPts val="300"/>
                    </a:spcBef>
                    <a:buClr>
                      <a:srgbClr val="FF2600"/>
                    </a:buClr>
                    <a:buFont typeface="Wingdings"/>
                    <a:defRPr sz="1600">
                      <a:solidFill>
                        <a:srgbClr val="FF2600"/>
                      </a:solidFill>
                      <a:uFill>
                        <a:solidFill>
                          <a:srgbClr val="FF2600"/>
                        </a:solidFill>
                      </a:uFill>
                    </a:defRPr>
                  </a:lvl1pPr>
                </a:lstStyle>
                <a:p>
                  <a:r>
                    <a:t>6</a:t>
                  </a:r>
                </a:p>
              </p:txBody>
            </p:sp>
          </p:grpSp>
        </p:grpSp>
        <p:grpSp>
          <p:nvGrpSpPr>
            <p:cNvPr id="124" name="Group"/>
            <p:cNvGrpSpPr/>
            <p:nvPr/>
          </p:nvGrpSpPr>
          <p:grpSpPr>
            <a:xfrm>
              <a:off x="2743200" y="111125"/>
              <a:ext cx="1143000" cy="2025333"/>
              <a:chOff x="0" y="0"/>
              <a:chExt cx="1142999" cy="2025332"/>
            </a:xfrm>
          </p:grpSpPr>
          <p:grpSp>
            <p:nvGrpSpPr>
              <p:cNvPr id="119" name="Group"/>
              <p:cNvGrpSpPr/>
              <p:nvPr/>
            </p:nvGrpSpPr>
            <p:grpSpPr>
              <a:xfrm>
                <a:off x="76199" y="0"/>
                <a:ext cx="1066801" cy="838201"/>
                <a:chOff x="0" y="0"/>
                <a:chExt cx="1066800" cy="838200"/>
              </a:xfrm>
            </p:grpSpPr>
            <p:sp>
              <p:nvSpPr>
                <p:cNvPr id="117" name="Line"/>
                <p:cNvSpPr/>
                <p:nvPr/>
              </p:nvSpPr>
              <p:spPr>
                <a:xfrm rot="10800000" flipH="1">
                  <a:off x="0" y="419100"/>
                  <a:ext cx="533400" cy="419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12700" cap="flat">
                  <a:solidFill>
                    <a:srgbClr val="D83CFF"/>
                  </a:solidFill>
                  <a:prstDash val="sysDot"/>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18" name="Line"/>
                <p:cNvSpPr/>
                <p:nvPr/>
              </p:nvSpPr>
              <p:spPr>
                <a:xfrm flipH="1">
                  <a:off x="533400" y="0"/>
                  <a:ext cx="533400" cy="419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12700" cap="flat">
                  <a:solidFill>
                    <a:srgbClr val="D83CFF"/>
                  </a:solidFill>
                  <a:prstDash val="sysDot"/>
                  <a:round/>
                  <a:head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nvGrpSpPr>
              <p:cNvPr id="122" name="Group"/>
              <p:cNvGrpSpPr/>
              <p:nvPr/>
            </p:nvGrpSpPr>
            <p:grpSpPr>
              <a:xfrm>
                <a:off x="0" y="0"/>
                <a:ext cx="1066801" cy="838201"/>
                <a:chOff x="0" y="0"/>
                <a:chExt cx="1066800" cy="838200"/>
              </a:xfrm>
            </p:grpSpPr>
            <p:sp>
              <p:nvSpPr>
                <p:cNvPr id="120" name="Line"/>
                <p:cNvSpPr/>
                <p:nvPr/>
              </p:nvSpPr>
              <p:spPr>
                <a:xfrm rot="10800000">
                  <a:off x="380999" y="419100"/>
                  <a:ext cx="685801" cy="419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12700" cap="flat">
                  <a:solidFill>
                    <a:srgbClr val="D83CFF"/>
                  </a:solidFill>
                  <a:prstDash val="sysDot"/>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21" name="Line"/>
                <p:cNvSpPr/>
                <p:nvPr/>
              </p:nvSpPr>
              <p:spPr>
                <a:xfrm>
                  <a:off x="0" y="0"/>
                  <a:ext cx="381000" cy="419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12700" cap="flat">
                  <a:solidFill>
                    <a:srgbClr val="D83CFF"/>
                  </a:solidFill>
                  <a:prstDash val="sysDot"/>
                  <a:round/>
                  <a:head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123" name="lucky…"/>
              <p:cNvSpPr txBox="1"/>
              <p:nvPr/>
            </p:nvSpPr>
            <p:spPr>
              <a:xfrm>
                <a:off x="105204" y="760412"/>
                <a:ext cx="924655" cy="126492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p>
                <a:pPr algn="ctr">
                  <a:spcBef>
                    <a:spcPts val="300"/>
                  </a:spcBef>
                  <a:buClr>
                    <a:srgbClr val="D83CFF"/>
                  </a:buClr>
                  <a:buFont typeface="Wingdings"/>
                  <a:defRPr sz="1400" b="1">
                    <a:solidFill>
                      <a:srgbClr val="D83CFF"/>
                    </a:solidFill>
                    <a:uFill>
                      <a:solidFill>
                        <a:srgbClr val="D83CFF"/>
                      </a:solidFill>
                    </a:uFill>
                    <a:latin typeface="Arial Narrow"/>
                    <a:ea typeface="Arial Narrow"/>
                    <a:cs typeface="Arial Narrow"/>
                    <a:sym typeface="Arial Narrow"/>
                  </a:defRPr>
                </a:pPr>
                <a:r>
                  <a:t>lucky</a:t>
                </a:r>
              </a:p>
              <a:p>
                <a:pPr algn="ctr">
                  <a:spcBef>
                    <a:spcPts val="300"/>
                  </a:spcBef>
                  <a:buClr>
                    <a:srgbClr val="D83CFF"/>
                  </a:buClr>
                  <a:buFont typeface="Wingdings"/>
                  <a:defRPr sz="1400" b="1">
                    <a:solidFill>
                      <a:srgbClr val="D83CFF"/>
                    </a:solidFill>
                    <a:uFill>
                      <a:solidFill>
                        <a:srgbClr val="D83CFF"/>
                      </a:solidFill>
                    </a:uFill>
                    <a:latin typeface="Arial Narrow"/>
                    <a:ea typeface="Arial Narrow"/>
                    <a:cs typeface="Arial Narrow"/>
                    <a:sym typeface="Arial Narrow"/>
                  </a:defRPr>
                </a:pPr>
                <a:r>
                  <a:t>CPU</a:t>
                </a:r>
              </a:p>
              <a:p>
                <a:pPr algn="ctr">
                  <a:spcBef>
                    <a:spcPts val="300"/>
                  </a:spcBef>
                  <a:buClr>
                    <a:srgbClr val="D83CFF"/>
                  </a:buClr>
                  <a:buFont typeface="Wingdings"/>
                  <a:defRPr sz="1400" b="1">
                    <a:solidFill>
                      <a:srgbClr val="D83CFF"/>
                    </a:solidFill>
                    <a:uFill>
                      <a:solidFill>
                        <a:srgbClr val="D83CFF"/>
                      </a:solidFill>
                    </a:uFill>
                    <a:latin typeface="Arial Narrow"/>
                    <a:ea typeface="Arial Narrow"/>
                    <a:cs typeface="Arial Narrow"/>
                    <a:sym typeface="Arial Narrow"/>
                  </a:defRPr>
                </a:pPr>
                <a:r>
                  <a:t>scheduling</a:t>
                </a:r>
              </a:p>
              <a:p>
                <a:pPr algn="ctr">
                  <a:spcBef>
                    <a:spcPts val="600"/>
                  </a:spcBef>
                  <a:buClr>
                    <a:srgbClr val="D83CFF"/>
                  </a:buClr>
                  <a:buFont typeface="Wingdings"/>
                  <a:defRPr sz="2800">
                    <a:solidFill>
                      <a:srgbClr val="D83CFF"/>
                    </a:solidFill>
                    <a:uFill>
                      <a:solidFill>
                        <a:srgbClr val="D83CFF"/>
                      </a:solidFill>
                    </a:uFill>
                    <a:latin typeface="Wingdings"/>
                    <a:ea typeface="Wingdings"/>
                    <a:cs typeface="Wingdings"/>
                    <a:sym typeface="Wingdings"/>
                  </a:defRPr>
                </a:pPr>
                <a:r>
                  <a:t></a:t>
                </a:r>
              </a:p>
            </p:txBody>
          </p:sp>
        </p:grpSp>
      </p:grpSp>
      <p:sp>
        <p:nvSpPr>
          <p:cNvPr id="126" name="Significant race conditions in I/O &amp; variable sharing"/>
          <p:cNvSpPr txBox="1"/>
          <p:nvPr/>
        </p:nvSpPr>
        <p:spPr>
          <a:xfrm>
            <a:off x="457200" y="1143000"/>
            <a:ext cx="8318500" cy="508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lvl1pPr marL="496252" indent="-455612">
              <a:spcBef>
                <a:spcPts val="1600"/>
              </a:spcBef>
              <a:buClr>
                <a:srgbClr val="7B1142"/>
              </a:buClr>
              <a:buSzPct val="70000"/>
              <a:buChar char=""/>
              <a:tabLst>
                <a:tab pos="495300" algn="l"/>
                <a:tab pos="1066800" algn="l"/>
                <a:tab pos="1866900" algn="l"/>
              </a:tabLst>
              <a:defRPr sz="2800" u="sng">
                <a:solidFill>
                  <a:srgbClr val="000000"/>
                </a:solidFill>
                <a:uFill>
                  <a:solidFill>
                    <a:srgbClr val="000000"/>
                  </a:solidFill>
                </a:uFill>
                <a:latin typeface="Arial Narrow"/>
                <a:ea typeface="Arial Narrow"/>
                <a:cs typeface="Arial Narrow"/>
                <a:sym typeface="Arial Narrow"/>
              </a:defRPr>
            </a:lvl1pPr>
          </a:lstStyle>
          <a:p>
            <a:r>
              <a:t>Significant race conditions in I/O &amp; variable sharing</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1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1" animBg="1" advAuto="0"/>
      <p:bldP spid="96" grpId="3" animBg="1" advAuto="0"/>
      <p:bldP spid="125" grpId="2"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Race Condition"/>
          <p:cNvSpPr txBox="1">
            <a:spLocks noGrp="1"/>
          </p:cNvSpPr>
          <p:nvPr>
            <p:ph type="title"/>
          </p:nvPr>
        </p:nvSpPr>
        <p:spPr>
          <a:prstGeom prst="rect">
            <a:avLst/>
          </a:prstGeom>
        </p:spPr>
        <p:txBody>
          <a:bodyPr/>
          <a:lstStyle/>
          <a:p>
            <a:r>
              <a:t>Race Condition</a:t>
            </a:r>
          </a:p>
        </p:txBody>
      </p:sp>
      <p:sp>
        <p:nvSpPr>
          <p:cNvPr id="129"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12</a:t>
            </a:fld>
            <a:endParaRPr/>
          </a:p>
        </p:txBody>
      </p:sp>
      <p:grpSp>
        <p:nvGrpSpPr>
          <p:cNvPr id="136" name="Group"/>
          <p:cNvGrpSpPr/>
          <p:nvPr/>
        </p:nvGrpSpPr>
        <p:grpSpPr>
          <a:xfrm>
            <a:off x="914399" y="1752600"/>
            <a:ext cx="3573147" cy="3048000"/>
            <a:chOff x="0" y="0"/>
            <a:chExt cx="3573144" cy="3048000"/>
          </a:xfrm>
        </p:grpSpPr>
        <p:grpSp>
          <p:nvGrpSpPr>
            <p:cNvPr id="132" name="Group"/>
            <p:cNvGrpSpPr/>
            <p:nvPr/>
          </p:nvGrpSpPr>
          <p:grpSpPr>
            <a:xfrm>
              <a:off x="0" y="0"/>
              <a:ext cx="3276600" cy="3048000"/>
              <a:chOff x="0" y="0"/>
              <a:chExt cx="3276600" cy="3048000"/>
            </a:xfrm>
          </p:grpSpPr>
          <p:sp>
            <p:nvSpPr>
              <p:cNvPr id="130" name="Rectangle"/>
              <p:cNvSpPr/>
              <p:nvPr/>
            </p:nvSpPr>
            <p:spPr>
              <a:xfrm>
                <a:off x="0" y="0"/>
                <a:ext cx="3276600" cy="3048000"/>
              </a:xfrm>
              <a:prstGeom prst="rect">
                <a:avLst/>
              </a:prstGeom>
              <a:solidFill>
                <a:srgbClr val="FFFFFF"/>
              </a:solid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31" name="char chin, chout;//shared…"/>
              <p:cNvSpPr txBox="1"/>
              <p:nvPr/>
            </p:nvSpPr>
            <p:spPr>
              <a:xfrm>
                <a:off x="0" y="0"/>
                <a:ext cx="3276600" cy="28194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4F7A28"/>
                    </a:solidFill>
                    <a:uFill>
                      <a:solidFill>
                        <a:srgbClr val="4F7A28"/>
                      </a:solidFill>
                    </a:uFill>
                    <a:latin typeface="Courier New"/>
                    <a:ea typeface="Courier New"/>
                    <a:cs typeface="Courier New"/>
                    <a:sym typeface="Courier New"/>
                  </a:defRPr>
                </a:pPr>
                <a:r>
                  <a:t>char chin, chout;</a:t>
                </a:r>
                <a:r>
                  <a:rPr sz="1200"/>
                  <a:t>//shared</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1200" b="1">
                    <a:solidFill>
                      <a:srgbClr val="7B1142"/>
                    </a:solidFill>
                    <a:uFill>
                      <a:solidFill>
                        <a:srgbClr val="7B1142"/>
                      </a:solidFill>
                    </a:uFill>
                    <a:latin typeface="Courier New"/>
                    <a:ea typeface="Courier New"/>
                    <a:cs typeface="Courier New"/>
                    <a:sym typeface="Courier New"/>
                  </a:defRPr>
                </a:pPr>
                <a:endParaRPr sz="1200"/>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135" name="Group"/>
            <p:cNvGrpSpPr/>
            <p:nvPr/>
          </p:nvGrpSpPr>
          <p:grpSpPr>
            <a:xfrm>
              <a:off x="3124199" y="609600"/>
              <a:ext cx="448946" cy="2133600"/>
              <a:chOff x="0" y="0"/>
              <a:chExt cx="448944" cy="2133600"/>
            </a:xfrm>
          </p:grpSpPr>
          <p:sp>
            <p:nvSpPr>
              <p:cNvPr id="133" name="A"/>
              <p:cNvSpPr txBox="1"/>
              <p:nvPr/>
            </p:nvSpPr>
            <p:spPr>
              <a:xfrm>
                <a:off x="127317" y="0"/>
                <a:ext cx="321628" cy="4445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134" name="Line"/>
              <p:cNvSpPr/>
              <p:nvPr/>
            </p:nvSpPr>
            <p:spPr>
              <a:xfrm rot="16200000" flipH="1">
                <a:off x="-876300" y="11811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nvGrpSpPr>
          <p:cNvPr id="139" name="Group"/>
          <p:cNvGrpSpPr/>
          <p:nvPr/>
        </p:nvGrpSpPr>
        <p:grpSpPr>
          <a:xfrm>
            <a:off x="914400" y="4953000"/>
            <a:ext cx="3276600" cy="990600"/>
            <a:chOff x="0" y="0"/>
            <a:chExt cx="3276600" cy="990600"/>
          </a:xfrm>
        </p:grpSpPr>
        <p:sp>
          <p:nvSpPr>
            <p:cNvPr id="137" name="Rectangle"/>
            <p:cNvSpPr/>
            <p:nvPr/>
          </p:nvSpPr>
          <p:spPr>
            <a:xfrm>
              <a:off x="0" y="0"/>
              <a:ext cx="3276600" cy="990600"/>
            </a:xfrm>
            <a:prstGeom prst="rect">
              <a:avLst/>
            </a:prstGeom>
            <a:solidFill>
              <a:srgbClr val="A7A7A7"/>
            </a:solidFill>
            <a:ln w="12700" cap="flat">
              <a:solidFill>
                <a:srgbClr val="A7A7A7"/>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38" name="&gt; ./echo…"/>
            <p:cNvSpPr txBox="1"/>
            <p:nvPr/>
          </p:nvSpPr>
          <p:spPr>
            <a:xfrm>
              <a:off x="0" y="0"/>
              <a:ext cx="3276600" cy="8636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&gt; ./echo</a:t>
              </a:r>
            </a:p>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Hello world!</a:t>
              </a:r>
            </a:p>
            <a:p>
              <a:pPr marL="156527">
                <a:buClr>
                  <a:srgbClr val="0433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0433FF"/>
                  </a:solidFill>
                  <a:uFill>
                    <a:solidFill>
                      <a:srgbClr val="0433FF"/>
                    </a:solidFill>
                  </a:uFill>
                  <a:latin typeface="Courier New"/>
                  <a:ea typeface="Courier New"/>
                  <a:cs typeface="Courier New"/>
                  <a:sym typeface="Courier New"/>
                </a:defRPr>
              </a:pPr>
              <a:r>
                <a:t>Hello world!</a:t>
              </a:r>
            </a:p>
          </p:txBody>
        </p:sp>
      </p:grpSp>
      <p:sp>
        <p:nvSpPr>
          <p:cNvPr id="140" name="Single-threaded echo"/>
          <p:cNvSpPr txBox="1"/>
          <p:nvPr/>
        </p:nvSpPr>
        <p:spPr>
          <a:xfrm>
            <a:off x="1515747" y="5943600"/>
            <a:ext cx="2061206" cy="368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buClr>
                <a:srgbClr val="C51B05"/>
              </a:buClr>
              <a:buFont typeface="Arial Narrow"/>
              <a:defRPr b="1">
                <a:solidFill>
                  <a:srgbClr val="C51B05"/>
                </a:solidFill>
                <a:uFill>
                  <a:solidFill>
                    <a:srgbClr val="C51B05"/>
                  </a:solidFill>
                </a:uFill>
                <a:latin typeface="Arial Narrow"/>
                <a:ea typeface="Arial Narrow"/>
                <a:cs typeface="Arial Narrow"/>
                <a:sym typeface="Arial Narrow"/>
              </a:defRPr>
            </a:lvl1pPr>
          </a:lstStyle>
          <a:p>
            <a:r>
              <a:t>Single-threaded echo</a:t>
            </a:r>
          </a:p>
        </p:txBody>
      </p:sp>
      <p:grpSp>
        <p:nvGrpSpPr>
          <p:cNvPr id="147" name="Group"/>
          <p:cNvGrpSpPr/>
          <p:nvPr/>
        </p:nvGrpSpPr>
        <p:grpSpPr>
          <a:xfrm>
            <a:off x="4745354" y="1752600"/>
            <a:ext cx="3708401" cy="3048000"/>
            <a:chOff x="0" y="0"/>
            <a:chExt cx="3708399" cy="3048000"/>
          </a:xfrm>
        </p:grpSpPr>
        <p:grpSp>
          <p:nvGrpSpPr>
            <p:cNvPr id="143" name="Group"/>
            <p:cNvGrpSpPr/>
            <p:nvPr/>
          </p:nvGrpSpPr>
          <p:grpSpPr>
            <a:xfrm>
              <a:off x="295640" y="0"/>
              <a:ext cx="3412760" cy="3048000"/>
              <a:chOff x="0" y="0"/>
              <a:chExt cx="3412759" cy="3048000"/>
            </a:xfrm>
          </p:grpSpPr>
          <p:sp>
            <p:nvSpPr>
              <p:cNvPr id="141" name="Rectangle"/>
              <p:cNvSpPr/>
              <p:nvPr/>
            </p:nvSpPr>
            <p:spPr>
              <a:xfrm>
                <a:off x="0" y="0"/>
                <a:ext cx="3412760" cy="3048000"/>
              </a:xfrm>
              <a:prstGeom prst="rect">
                <a:avLst/>
              </a:prstGeom>
              <a:solidFill>
                <a:srgbClr val="FFFFFF"/>
              </a:solid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42" name="char chin, chout; //shared…"/>
              <p:cNvSpPr txBox="1"/>
              <p:nvPr/>
            </p:nvSpPr>
            <p:spPr>
              <a:xfrm>
                <a:off x="0" y="0"/>
                <a:ext cx="3412760" cy="29972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no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4F7A28"/>
                    </a:solidFill>
                    <a:uFill>
                      <a:solidFill>
                        <a:srgbClr val="4F7A28"/>
                      </a:solidFill>
                    </a:uFill>
                    <a:latin typeface="Courier New"/>
                    <a:ea typeface="Courier New"/>
                    <a:cs typeface="Courier New"/>
                    <a:sym typeface="Courier New"/>
                  </a:defRPr>
                </a:pPr>
                <a:r>
                  <a:t>char chin, chout;</a:t>
                </a:r>
                <a:r>
                  <a:rPr sz="1200"/>
                  <a:t> //shared</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1200" b="1">
                    <a:solidFill>
                      <a:srgbClr val="7B1142"/>
                    </a:solidFill>
                    <a:uFill>
                      <a:solidFill>
                        <a:srgbClr val="7B1142"/>
                      </a:solidFill>
                    </a:uFill>
                    <a:latin typeface="Courier New"/>
                    <a:ea typeface="Courier New"/>
                    <a:cs typeface="Courier New"/>
                    <a:sym typeface="Courier New"/>
                  </a:defRPr>
                </a:pPr>
                <a:endParaRPr sz="1200"/>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146" name="Group"/>
            <p:cNvGrpSpPr/>
            <p:nvPr/>
          </p:nvGrpSpPr>
          <p:grpSpPr>
            <a:xfrm>
              <a:off x="0" y="609600"/>
              <a:ext cx="454374" cy="2133601"/>
              <a:chOff x="0" y="0"/>
              <a:chExt cx="454373" cy="2133600"/>
            </a:xfrm>
          </p:grpSpPr>
          <p:sp>
            <p:nvSpPr>
              <p:cNvPr id="144" name="B"/>
              <p:cNvSpPr txBox="1"/>
              <p:nvPr/>
            </p:nvSpPr>
            <p:spPr>
              <a:xfrm>
                <a:off x="0" y="0"/>
                <a:ext cx="334993" cy="4445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no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145" name="Line"/>
              <p:cNvSpPr/>
              <p:nvPr/>
            </p:nvSpPr>
            <p:spPr>
              <a:xfrm rot="5400000">
                <a:off x="-499710" y="1179516"/>
                <a:ext cx="1828801" cy="7936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sp>
        <p:nvSpPr>
          <p:cNvPr id="148" name="Significant race conditions in I/O &amp; variable sharing"/>
          <p:cNvSpPr txBox="1"/>
          <p:nvPr/>
        </p:nvSpPr>
        <p:spPr>
          <a:xfrm>
            <a:off x="457200" y="1143000"/>
            <a:ext cx="8318500" cy="508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lvl1pPr marL="496252" indent="-455612">
              <a:spcBef>
                <a:spcPts val="1600"/>
              </a:spcBef>
              <a:buClr>
                <a:srgbClr val="7B1142"/>
              </a:buClr>
              <a:buSzPct val="70000"/>
              <a:buChar char=""/>
              <a:tabLst>
                <a:tab pos="495300" algn="l"/>
                <a:tab pos="1066800" algn="l"/>
                <a:tab pos="1866900" algn="l"/>
              </a:tabLst>
              <a:defRPr sz="2800" u="sng">
                <a:solidFill>
                  <a:srgbClr val="000000"/>
                </a:solidFill>
                <a:uFill>
                  <a:solidFill>
                    <a:srgbClr val="000000"/>
                  </a:solidFill>
                </a:uFill>
                <a:latin typeface="Arial Narrow"/>
                <a:ea typeface="Arial Narrow"/>
                <a:cs typeface="Arial Narrow"/>
                <a:sym typeface="Arial Narrow"/>
              </a:defRPr>
            </a:lvl1pPr>
          </a:lstStyle>
          <a:p>
            <a:r>
              <a:t>Significant race conditions in I/O &amp; variable sharing</a:t>
            </a:r>
          </a:p>
        </p:txBody>
      </p:sp>
      <p:grpSp>
        <p:nvGrpSpPr>
          <p:cNvPr id="175" name="Group"/>
          <p:cNvGrpSpPr/>
          <p:nvPr/>
        </p:nvGrpSpPr>
        <p:grpSpPr>
          <a:xfrm>
            <a:off x="1295400" y="3089274"/>
            <a:ext cx="4343400" cy="2136459"/>
            <a:chOff x="0" y="0"/>
            <a:chExt cx="4343400" cy="2136457"/>
          </a:xfrm>
        </p:grpSpPr>
        <p:grpSp>
          <p:nvGrpSpPr>
            <p:cNvPr id="158" name="Group"/>
            <p:cNvGrpSpPr/>
            <p:nvPr/>
          </p:nvGrpSpPr>
          <p:grpSpPr>
            <a:xfrm>
              <a:off x="0" y="0"/>
              <a:ext cx="228600" cy="796925"/>
              <a:chOff x="0" y="0"/>
              <a:chExt cx="228600" cy="796925"/>
            </a:xfrm>
          </p:grpSpPr>
          <p:grpSp>
            <p:nvGrpSpPr>
              <p:cNvPr id="151" name="Group"/>
              <p:cNvGrpSpPr/>
              <p:nvPr/>
            </p:nvGrpSpPr>
            <p:grpSpPr>
              <a:xfrm>
                <a:off x="0" y="0"/>
                <a:ext cx="228600" cy="228600"/>
                <a:chOff x="0" y="0"/>
                <a:chExt cx="228600" cy="228600"/>
              </a:xfrm>
            </p:grpSpPr>
            <p:sp>
              <p:nvSpPr>
                <p:cNvPr id="149" name="Square"/>
                <p:cNvSpPr/>
                <p:nvPr/>
              </p:nvSpPr>
              <p:spPr>
                <a:xfrm>
                  <a:off x="0" y="0"/>
                  <a:ext cx="228600" cy="228600"/>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50" name="1"/>
                <p:cNvSpPr txBox="1"/>
                <p:nvPr/>
              </p:nvSpPr>
              <p:spPr>
                <a:xfrm>
                  <a:off x="0" y="3323"/>
                  <a:ext cx="228600" cy="22195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marL="0" marR="0" algn="ctr">
                    <a:spcBef>
                      <a:spcPts val="300"/>
                    </a:spcBef>
                    <a:buClr>
                      <a:srgbClr val="0433FF"/>
                    </a:buClr>
                    <a:buFont typeface="Wingdings"/>
                    <a:defRPr sz="1600">
                      <a:solidFill>
                        <a:srgbClr val="0433FF"/>
                      </a:solidFill>
                      <a:uFill>
                        <a:solidFill>
                          <a:srgbClr val="0433FF"/>
                        </a:solidFill>
                      </a:uFill>
                    </a:defRPr>
                  </a:lvl1pPr>
                </a:lstStyle>
                <a:p>
                  <a:r>
                    <a:t>1</a:t>
                  </a:r>
                </a:p>
              </p:txBody>
            </p:sp>
          </p:grpSp>
          <p:grpSp>
            <p:nvGrpSpPr>
              <p:cNvPr id="154" name="Group"/>
              <p:cNvGrpSpPr/>
              <p:nvPr/>
            </p:nvGrpSpPr>
            <p:grpSpPr>
              <a:xfrm>
                <a:off x="0" y="290512"/>
                <a:ext cx="228600" cy="228601"/>
                <a:chOff x="0" y="0"/>
                <a:chExt cx="228600" cy="228600"/>
              </a:xfrm>
            </p:grpSpPr>
            <p:sp>
              <p:nvSpPr>
                <p:cNvPr id="152" name="Square"/>
                <p:cNvSpPr/>
                <p:nvPr/>
              </p:nvSpPr>
              <p:spPr>
                <a:xfrm>
                  <a:off x="0" y="0"/>
                  <a:ext cx="228600" cy="228600"/>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53" name="5"/>
                <p:cNvSpPr txBox="1"/>
                <p:nvPr/>
              </p:nvSpPr>
              <p:spPr>
                <a:xfrm>
                  <a:off x="0" y="3323"/>
                  <a:ext cx="228600" cy="22195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marL="0" marR="0" algn="ctr">
                    <a:spcBef>
                      <a:spcPts val="300"/>
                    </a:spcBef>
                    <a:buClr>
                      <a:srgbClr val="0433FF"/>
                    </a:buClr>
                    <a:buFont typeface="Wingdings"/>
                    <a:defRPr sz="1600">
                      <a:solidFill>
                        <a:srgbClr val="0433FF"/>
                      </a:solidFill>
                      <a:uFill>
                        <a:solidFill>
                          <a:srgbClr val="0433FF"/>
                        </a:solidFill>
                      </a:uFill>
                    </a:defRPr>
                  </a:lvl1pPr>
                </a:lstStyle>
                <a:p>
                  <a:r>
                    <a:t>5</a:t>
                  </a:r>
                </a:p>
              </p:txBody>
            </p:sp>
          </p:grpSp>
          <p:grpSp>
            <p:nvGrpSpPr>
              <p:cNvPr id="157" name="Group"/>
              <p:cNvGrpSpPr/>
              <p:nvPr/>
            </p:nvGrpSpPr>
            <p:grpSpPr>
              <a:xfrm>
                <a:off x="0" y="568325"/>
                <a:ext cx="228600" cy="228600"/>
                <a:chOff x="0" y="0"/>
                <a:chExt cx="228600" cy="228600"/>
              </a:xfrm>
            </p:grpSpPr>
            <p:sp>
              <p:nvSpPr>
                <p:cNvPr id="155" name="Square"/>
                <p:cNvSpPr/>
                <p:nvPr/>
              </p:nvSpPr>
              <p:spPr>
                <a:xfrm>
                  <a:off x="0" y="0"/>
                  <a:ext cx="228600" cy="228600"/>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56" name="6"/>
                <p:cNvSpPr txBox="1"/>
                <p:nvPr/>
              </p:nvSpPr>
              <p:spPr>
                <a:xfrm>
                  <a:off x="0" y="3323"/>
                  <a:ext cx="228600" cy="22195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marL="0" marR="0" algn="ctr">
                    <a:spcBef>
                      <a:spcPts val="300"/>
                    </a:spcBef>
                    <a:buClr>
                      <a:srgbClr val="0433FF"/>
                    </a:buClr>
                    <a:buFont typeface="Wingdings"/>
                    <a:defRPr sz="1600">
                      <a:solidFill>
                        <a:srgbClr val="0433FF"/>
                      </a:solidFill>
                      <a:uFill>
                        <a:solidFill>
                          <a:srgbClr val="0433FF"/>
                        </a:solidFill>
                      </a:uFill>
                    </a:defRPr>
                  </a:lvl1pPr>
                </a:lstStyle>
                <a:p>
                  <a:r>
                    <a:t>6</a:t>
                  </a:r>
                </a:p>
              </p:txBody>
            </p:sp>
          </p:grpSp>
        </p:grpSp>
        <p:grpSp>
          <p:nvGrpSpPr>
            <p:cNvPr id="168" name="Group"/>
            <p:cNvGrpSpPr/>
            <p:nvPr/>
          </p:nvGrpSpPr>
          <p:grpSpPr>
            <a:xfrm>
              <a:off x="4114800" y="0"/>
              <a:ext cx="228600" cy="796925"/>
              <a:chOff x="0" y="0"/>
              <a:chExt cx="228600" cy="796925"/>
            </a:xfrm>
          </p:grpSpPr>
          <p:grpSp>
            <p:nvGrpSpPr>
              <p:cNvPr id="161" name="Group"/>
              <p:cNvGrpSpPr/>
              <p:nvPr/>
            </p:nvGrpSpPr>
            <p:grpSpPr>
              <a:xfrm>
                <a:off x="0" y="0"/>
                <a:ext cx="228600" cy="228600"/>
                <a:chOff x="0" y="0"/>
                <a:chExt cx="228600" cy="228600"/>
              </a:xfrm>
            </p:grpSpPr>
            <p:sp>
              <p:nvSpPr>
                <p:cNvPr id="159" name="Square"/>
                <p:cNvSpPr/>
                <p:nvPr/>
              </p:nvSpPr>
              <p:spPr>
                <a:xfrm>
                  <a:off x="0" y="0"/>
                  <a:ext cx="228600" cy="228600"/>
                </a:xfrm>
                <a:prstGeom prst="rect">
                  <a:avLst/>
                </a:prstGeom>
                <a:solidFill>
                  <a:srgbClr val="FFC1BF"/>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60" name="2"/>
                <p:cNvSpPr txBox="1"/>
                <p:nvPr/>
              </p:nvSpPr>
              <p:spPr>
                <a:xfrm>
                  <a:off x="0" y="3323"/>
                  <a:ext cx="228600" cy="22195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marL="0" marR="0" algn="ctr">
                    <a:spcBef>
                      <a:spcPts val="300"/>
                    </a:spcBef>
                    <a:buClr>
                      <a:srgbClr val="FF2600"/>
                    </a:buClr>
                    <a:buFont typeface="Wingdings"/>
                    <a:defRPr sz="1600">
                      <a:solidFill>
                        <a:srgbClr val="FF2600"/>
                      </a:solidFill>
                      <a:uFill>
                        <a:solidFill>
                          <a:srgbClr val="FF2600"/>
                        </a:solidFill>
                      </a:uFill>
                    </a:defRPr>
                  </a:lvl1pPr>
                </a:lstStyle>
                <a:p>
                  <a:r>
                    <a:t>2</a:t>
                  </a:r>
                </a:p>
              </p:txBody>
            </p:sp>
          </p:grpSp>
          <p:grpSp>
            <p:nvGrpSpPr>
              <p:cNvPr id="164" name="Group"/>
              <p:cNvGrpSpPr/>
              <p:nvPr/>
            </p:nvGrpSpPr>
            <p:grpSpPr>
              <a:xfrm>
                <a:off x="0" y="290512"/>
                <a:ext cx="228600" cy="228601"/>
                <a:chOff x="0" y="0"/>
                <a:chExt cx="228600" cy="228600"/>
              </a:xfrm>
            </p:grpSpPr>
            <p:sp>
              <p:nvSpPr>
                <p:cNvPr id="162" name="Square"/>
                <p:cNvSpPr/>
                <p:nvPr/>
              </p:nvSpPr>
              <p:spPr>
                <a:xfrm>
                  <a:off x="0" y="0"/>
                  <a:ext cx="228600" cy="228600"/>
                </a:xfrm>
                <a:prstGeom prst="rect">
                  <a:avLst/>
                </a:prstGeom>
                <a:solidFill>
                  <a:srgbClr val="FFC1BF"/>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63" name="3"/>
                <p:cNvSpPr txBox="1"/>
                <p:nvPr/>
              </p:nvSpPr>
              <p:spPr>
                <a:xfrm>
                  <a:off x="0" y="3323"/>
                  <a:ext cx="228600" cy="22195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marL="0" marR="0" algn="ctr">
                    <a:spcBef>
                      <a:spcPts val="300"/>
                    </a:spcBef>
                    <a:buClr>
                      <a:srgbClr val="FF2600"/>
                    </a:buClr>
                    <a:buFont typeface="Wingdings"/>
                    <a:defRPr sz="1600">
                      <a:solidFill>
                        <a:srgbClr val="FF2600"/>
                      </a:solidFill>
                      <a:uFill>
                        <a:solidFill>
                          <a:srgbClr val="FF2600"/>
                        </a:solidFill>
                      </a:uFill>
                    </a:defRPr>
                  </a:lvl1pPr>
                </a:lstStyle>
                <a:p>
                  <a:r>
                    <a:t>3</a:t>
                  </a:r>
                </a:p>
              </p:txBody>
            </p:sp>
          </p:grpSp>
          <p:grpSp>
            <p:nvGrpSpPr>
              <p:cNvPr id="167" name="Group"/>
              <p:cNvGrpSpPr/>
              <p:nvPr/>
            </p:nvGrpSpPr>
            <p:grpSpPr>
              <a:xfrm>
                <a:off x="0" y="568325"/>
                <a:ext cx="228600" cy="228600"/>
                <a:chOff x="0" y="0"/>
                <a:chExt cx="228600" cy="228600"/>
              </a:xfrm>
            </p:grpSpPr>
            <p:sp>
              <p:nvSpPr>
                <p:cNvPr id="165" name="Square"/>
                <p:cNvSpPr/>
                <p:nvPr/>
              </p:nvSpPr>
              <p:spPr>
                <a:xfrm>
                  <a:off x="0" y="0"/>
                  <a:ext cx="228600" cy="228600"/>
                </a:xfrm>
                <a:prstGeom prst="rect">
                  <a:avLst/>
                </a:prstGeom>
                <a:solidFill>
                  <a:srgbClr val="FFC1BF"/>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66" name="4"/>
                <p:cNvSpPr txBox="1"/>
                <p:nvPr/>
              </p:nvSpPr>
              <p:spPr>
                <a:xfrm>
                  <a:off x="0" y="3323"/>
                  <a:ext cx="228600" cy="22195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marL="0" marR="0" algn="ctr">
                    <a:spcBef>
                      <a:spcPts val="300"/>
                    </a:spcBef>
                    <a:buClr>
                      <a:srgbClr val="FF2600"/>
                    </a:buClr>
                    <a:buFont typeface="Wingdings"/>
                    <a:defRPr sz="1600">
                      <a:solidFill>
                        <a:srgbClr val="FF2600"/>
                      </a:solidFill>
                      <a:uFill>
                        <a:solidFill>
                          <a:srgbClr val="FF2600"/>
                        </a:solidFill>
                      </a:uFill>
                    </a:defRPr>
                  </a:lvl1pPr>
                </a:lstStyle>
                <a:p>
                  <a:r>
                    <a:t>4</a:t>
                  </a:r>
                </a:p>
              </p:txBody>
            </p:sp>
          </p:grpSp>
        </p:grpSp>
        <p:grpSp>
          <p:nvGrpSpPr>
            <p:cNvPr id="174" name="Group"/>
            <p:cNvGrpSpPr/>
            <p:nvPr/>
          </p:nvGrpSpPr>
          <p:grpSpPr>
            <a:xfrm>
              <a:off x="2819400" y="111124"/>
              <a:ext cx="1066800" cy="2025334"/>
              <a:chOff x="0" y="0"/>
              <a:chExt cx="1066800" cy="2025332"/>
            </a:xfrm>
          </p:grpSpPr>
          <p:sp>
            <p:nvSpPr>
              <p:cNvPr id="169" name="Line"/>
              <p:cNvSpPr/>
              <p:nvPr/>
            </p:nvSpPr>
            <p:spPr>
              <a:xfrm>
                <a:off x="0" y="0"/>
                <a:ext cx="1066800" cy="1588"/>
              </a:xfrm>
              <a:prstGeom prst="line">
                <a:avLst/>
              </a:prstGeom>
              <a:noFill/>
              <a:ln w="12700" cap="flat">
                <a:solidFill>
                  <a:srgbClr val="D83CFF"/>
                </a:solidFill>
                <a:prstDash val="sysDot"/>
                <a:round/>
                <a:tailEnd type="triangle" w="med" len="me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172" name="Group"/>
              <p:cNvGrpSpPr/>
              <p:nvPr/>
            </p:nvGrpSpPr>
            <p:grpSpPr>
              <a:xfrm>
                <a:off x="0" y="152400"/>
                <a:ext cx="990600" cy="685801"/>
                <a:chOff x="0" y="0"/>
                <a:chExt cx="990599" cy="685800"/>
              </a:xfrm>
            </p:grpSpPr>
            <p:sp>
              <p:nvSpPr>
                <p:cNvPr id="170" name="Line"/>
                <p:cNvSpPr/>
                <p:nvPr/>
              </p:nvSpPr>
              <p:spPr>
                <a:xfrm rot="10800000">
                  <a:off x="353785" y="342900"/>
                  <a:ext cx="636815" cy="3429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12700" cap="flat">
                  <a:solidFill>
                    <a:srgbClr val="D83CFF"/>
                  </a:solidFill>
                  <a:prstDash val="sysDot"/>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71" name="Line"/>
                <p:cNvSpPr/>
                <p:nvPr/>
              </p:nvSpPr>
              <p:spPr>
                <a:xfrm>
                  <a:off x="0" y="0"/>
                  <a:ext cx="353786" cy="3429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12700" cap="flat">
                  <a:solidFill>
                    <a:srgbClr val="D83CFF"/>
                  </a:solidFill>
                  <a:prstDash val="sysDot"/>
                  <a:round/>
                  <a:head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173" name="unlucky…"/>
              <p:cNvSpPr txBox="1"/>
              <p:nvPr/>
            </p:nvSpPr>
            <p:spPr>
              <a:xfrm>
                <a:off x="27416" y="760412"/>
                <a:ext cx="924655" cy="126492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p>
                <a:pPr algn="ctr">
                  <a:spcBef>
                    <a:spcPts val="300"/>
                  </a:spcBef>
                  <a:buClr>
                    <a:srgbClr val="D83CFF"/>
                  </a:buClr>
                  <a:buFont typeface="Wingdings"/>
                  <a:defRPr sz="1400" b="1">
                    <a:solidFill>
                      <a:srgbClr val="D83CFF"/>
                    </a:solidFill>
                    <a:uFill>
                      <a:solidFill>
                        <a:srgbClr val="D83CFF"/>
                      </a:solidFill>
                    </a:uFill>
                    <a:latin typeface="Arial Narrow"/>
                    <a:ea typeface="Arial Narrow"/>
                    <a:cs typeface="Arial Narrow"/>
                    <a:sym typeface="Arial Narrow"/>
                  </a:defRPr>
                </a:pPr>
                <a:r>
                  <a:t>unlucky</a:t>
                </a:r>
              </a:p>
              <a:p>
                <a:pPr algn="ctr">
                  <a:spcBef>
                    <a:spcPts val="300"/>
                  </a:spcBef>
                  <a:buClr>
                    <a:srgbClr val="D83CFF"/>
                  </a:buClr>
                  <a:buFont typeface="Wingdings"/>
                  <a:defRPr sz="1400" b="1">
                    <a:solidFill>
                      <a:srgbClr val="D83CFF"/>
                    </a:solidFill>
                    <a:uFill>
                      <a:solidFill>
                        <a:srgbClr val="D83CFF"/>
                      </a:solidFill>
                    </a:uFill>
                    <a:latin typeface="Arial Narrow"/>
                    <a:ea typeface="Arial Narrow"/>
                    <a:cs typeface="Arial Narrow"/>
                    <a:sym typeface="Arial Narrow"/>
                  </a:defRPr>
                </a:pPr>
                <a:r>
                  <a:t>CPU</a:t>
                </a:r>
              </a:p>
              <a:p>
                <a:pPr algn="ctr">
                  <a:spcBef>
                    <a:spcPts val="300"/>
                  </a:spcBef>
                  <a:buClr>
                    <a:srgbClr val="D83CFF"/>
                  </a:buClr>
                  <a:buFont typeface="Wingdings"/>
                  <a:defRPr sz="1400" b="1">
                    <a:solidFill>
                      <a:srgbClr val="D83CFF"/>
                    </a:solidFill>
                    <a:uFill>
                      <a:solidFill>
                        <a:srgbClr val="D83CFF"/>
                      </a:solidFill>
                    </a:uFill>
                    <a:latin typeface="Arial Narrow"/>
                    <a:ea typeface="Arial Narrow"/>
                    <a:cs typeface="Arial Narrow"/>
                    <a:sym typeface="Arial Narrow"/>
                  </a:defRPr>
                </a:pPr>
                <a:r>
                  <a:t>scheduling</a:t>
                </a:r>
              </a:p>
              <a:p>
                <a:pPr algn="ctr">
                  <a:spcBef>
                    <a:spcPts val="600"/>
                  </a:spcBef>
                  <a:buClr>
                    <a:srgbClr val="D83CFF"/>
                  </a:buClr>
                  <a:buFont typeface="Wingdings"/>
                  <a:defRPr sz="2800">
                    <a:solidFill>
                      <a:srgbClr val="D83CFF"/>
                    </a:solidFill>
                    <a:uFill>
                      <a:solidFill>
                        <a:srgbClr val="D83CFF"/>
                      </a:solidFill>
                    </a:uFill>
                    <a:latin typeface="Wingdings"/>
                    <a:ea typeface="Wingdings"/>
                    <a:cs typeface="Wingdings"/>
                    <a:sym typeface="Wingdings"/>
                  </a:defRPr>
                </a:pPr>
                <a:r>
                  <a:t></a:t>
                </a:r>
              </a:p>
            </p:txBody>
          </p:sp>
        </p:gr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 grpId="1"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Race Condition"/>
          <p:cNvSpPr txBox="1">
            <a:spLocks noGrp="1"/>
          </p:cNvSpPr>
          <p:nvPr>
            <p:ph type="title"/>
          </p:nvPr>
        </p:nvSpPr>
        <p:spPr>
          <a:prstGeom prst="rect">
            <a:avLst/>
          </a:prstGeom>
        </p:spPr>
        <p:txBody>
          <a:bodyPr/>
          <a:lstStyle/>
          <a:p>
            <a:r>
              <a:t>Race Condition</a:t>
            </a:r>
          </a:p>
        </p:txBody>
      </p:sp>
      <p:sp>
        <p:nvSpPr>
          <p:cNvPr id="184"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13</a:t>
            </a:fld>
            <a:endParaRPr/>
          </a:p>
        </p:txBody>
      </p:sp>
      <p:grpSp>
        <p:nvGrpSpPr>
          <p:cNvPr id="191" name="Group"/>
          <p:cNvGrpSpPr/>
          <p:nvPr/>
        </p:nvGrpSpPr>
        <p:grpSpPr>
          <a:xfrm>
            <a:off x="4745354" y="1752600"/>
            <a:ext cx="3560446" cy="3048000"/>
            <a:chOff x="0" y="0"/>
            <a:chExt cx="3560445" cy="3048000"/>
          </a:xfrm>
        </p:grpSpPr>
        <p:grpSp>
          <p:nvGrpSpPr>
            <p:cNvPr id="187" name="Group"/>
            <p:cNvGrpSpPr/>
            <p:nvPr/>
          </p:nvGrpSpPr>
          <p:grpSpPr>
            <a:xfrm>
              <a:off x="283845" y="0"/>
              <a:ext cx="3276601" cy="3048000"/>
              <a:chOff x="0" y="0"/>
              <a:chExt cx="3276600" cy="3048000"/>
            </a:xfrm>
          </p:grpSpPr>
          <p:sp>
            <p:nvSpPr>
              <p:cNvPr id="185" name="Rectangle"/>
              <p:cNvSpPr/>
              <p:nvPr/>
            </p:nvSpPr>
            <p:spPr>
              <a:xfrm>
                <a:off x="0" y="0"/>
                <a:ext cx="3276600" cy="3048000"/>
              </a:xfrm>
              <a:prstGeom prst="rect">
                <a:avLst/>
              </a:prstGeom>
              <a:solidFill>
                <a:srgbClr val="FFFFFF"/>
              </a:solid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86" name="void echo()…"/>
              <p:cNvSpPr txBox="1"/>
              <p:nvPr/>
            </p:nvSpPr>
            <p:spPr>
              <a:xfrm>
                <a:off x="0" y="0"/>
                <a:ext cx="3276600" cy="28194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B51A00"/>
                    </a:solidFill>
                    <a:uFill>
                      <a:solidFill>
                        <a:srgbClr val="B51A00"/>
                      </a:solidFill>
                    </a:uFill>
                    <a:latin typeface="Courier New"/>
                    <a:ea typeface="Courier New"/>
                    <a:cs typeface="Courier New"/>
                    <a:sym typeface="Courier New"/>
                  </a:defRPr>
                </a:pPr>
                <a:r>
                  <a:t>  char chin, 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1200"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190" name="Group"/>
            <p:cNvGrpSpPr/>
            <p:nvPr/>
          </p:nvGrpSpPr>
          <p:grpSpPr>
            <a:xfrm>
              <a:off x="-1" y="609600"/>
              <a:ext cx="436247" cy="2133600"/>
              <a:chOff x="0" y="0"/>
              <a:chExt cx="436245" cy="2133600"/>
            </a:xfrm>
          </p:grpSpPr>
          <p:sp>
            <p:nvSpPr>
              <p:cNvPr id="188" name="B"/>
              <p:cNvSpPr txBox="1"/>
              <p:nvPr/>
            </p:nvSpPr>
            <p:spPr>
              <a:xfrm>
                <a:off x="0" y="0"/>
                <a:ext cx="321628" cy="4445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189" name="Line"/>
              <p:cNvSpPr/>
              <p:nvPr/>
            </p:nvSpPr>
            <p:spPr>
              <a:xfrm rot="5400000">
                <a:off x="-516255" y="1181100"/>
                <a:ext cx="1828801"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nvGrpSpPr>
          <p:cNvPr id="198" name="Group"/>
          <p:cNvGrpSpPr/>
          <p:nvPr/>
        </p:nvGrpSpPr>
        <p:grpSpPr>
          <a:xfrm>
            <a:off x="914399" y="1752600"/>
            <a:ext cx="3573147" cy="3048000"/>
            <a:chOff x="0" y="0"/>
            <a:chExt cx="3573144" cy="3048000"/>
          </a:xfrm>
        </p:grpSpPr>
        <p:grpSp>
          <p:nvGrpSpPr>
            <p:cNvPr id="194" name="Group"/>
            <p:cNvGrpSpPr/>
            <p:nvPr/>
          </p:nvGrpSpPr>
          <p:grpSpPr>
            <a:xfrm>
              <a:off x="0" y="0"/>
              <a:ext cx="3276600" cy="3048000"/>
              <a:chOff x="0" y="0"/>
              <a:chExt cx="3276600" cy="3048000"/>
            </a:xfrm>
          </p:grpSpPr>
          <p:sp>
            <p:nvSpPr>
              <p:cNvPr id="192" name="Rectangle"/>
              <p:cNvSpPr/>
              <p:nvPr/>
            </p:nvSpPr>
            <p:spPr>
              <a:xfrm>
                <a:off x="0" y="0"/>
                <a:ext cx="3276600" cy="3048000"/>
              </a:xfrm>
              <a:prstGeom prst="rect">
                <a:avLst/>
              </a:prstGeom>
              <a:solidFill>
                <a:srgbClr val="FFFFFF"/>
              </a:solid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93" name="void echo()…"/>
              <p:cNvSpPr txBox="1"/>
              <p:nvPr/>
            </p:nvSpPr>
            <p:spPr>
              <a:xfrm>
                <a:off x="0" y="0"/>
                <a:ext cx="3276600" cy="28194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E32400"/>
                    </a:solidFill>
                    <a:uFill>
                      <a:solidFill>
                        <a:srgbClr val="E32400"/>
                      </a:solidFill>
                    </a:uFill>
                    <a:latin typeface="Courier New"/>
                    <a:ea typeface="Courier New"/>
                    <a:cs typeface="Courier New"/>
                    <a:sym typeface="Courier New"/>
                  </a:defRPr>
                </a:pPr>
                <a:r>
                  <a:t>  char chin, 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1200"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197" name="Group"/>
            <p:cNvGrpSpPr/>
            <p:nvPr/>
          </p:nvGrpSpPr>
          <p:grpSpPr>
            <a:xfrm>
              <a:off x="3124199" y="609600"/>
              <a:ext cx="448946" cy="2133600"/>
              <a:chOff x="0" y="0"/>
              <a:chExt cx="448944" cy="2133600"/>
            </a:xfrm>
          </p:grpSpPr>
          <p:sp>
            <p:nvSpPr>
              <p:cNvPr id="195" name="A"/>
              <p:cNvSpPr txBox="1"/>
              <p:nvPr/>
            </p:nvSpPr>
            <p:spPr>
              <a:xfrm>
                <a:off x="127317" y="0"/>
                <a:ext cx="321628" cy="4445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196" name="Line"/>
              <p:cNvSpPr/>
              <p:nvPr/>
            </p:nvSpPr>
            <p:spPr>
              <a:xfrm rot="16200000" flipH="1">
                <a:off x="-876300" y="11811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nvGrpSpPr>
          <p:cNvPr id="201" name="Group"/>
          <p:cNvGrpSpPr/>
          <p:nvPr/>
        </p:nvGrpSpPr>
        <p:grpSpPr>
          <a:xfrm>
            <a:off x="914400" y="4953000"/>
            <a:ext cx="3276600" cy="990600"/>
            <a:chOff x="0" y="0"/>
            <a:chExt cx="3276600" cy="990600"/>
          </a:xfrm>
        </p:grpSpPr>
        <p:sp>
          <p:nvSpPr>
            <p:cNvPr id="199" name="Rectangle"/>
            <p:cNvSpPr/>
            <p:nvPr/>
          </p:nvSpPr>
          <p:spPr>
            <a:xfrm>
              <a:off x="0" y="0"/>
              <a:ext cx="3276600" cy="990600"/>
            </a:xfrm>
            <a:prstGeom prst="rect">
              <a:avLst/>
            </a:prstGeom>
            <a:solidFill>
              <a:srgbClr val="A7A7A7"/>
            </a:solidFill>
            <a:ln w="12700" cap="flat">
              <a:solidFill>
                <a:srgbClr val="A7A7A7"/>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00" name="&gt; ./echo…"/>
            <p:cNvSpPr txBox="1"/>
            <p:nvPr/>
          </p:nvSpPr>
          <p:spPr>
            <a:xfrm>
              <a:off x="0" y="0"/>
              <a:ext cx="3276600" cy="8636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&gt; ./echo</a:t>
              </a:r>
            </a:p>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Hello world!</a:t>
              </a:r>
            </a:p>
            <a:p>
              <a:pPr marL="156527">
                <a:buClr>
                  <a:srgbClr val="0433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0433FF"/>
                  </a:solidFill>
                  <a:uFill>
                    <a:solidFill>
                      <a:srgbClr val="0433FF"/>
                    </a:solidFill>
                  </a:uFill>
                  <a:latin typeface="Courier New"/>
                  <a:ea typeface="Courier New"/>
                  <a:cs typeface="Courier New"/>
                  <a:sym typeface="Courier New"/>
                </a:defRPr>
              </a:pPr>
              <a:r>
                <a:t>Hello world!</a:t>
              </a:r>
            </a:p>
          </p:txBody>
        </p:sp>
      </p:grpSp>
      <p:sp>
        <p:nvSpPr>
          <p:cNvPr id="202" name="Single-threaded echo"/>
          <p:cNvSpPr txBox="1"/>
          <p:nvPr/>
        </p:nvSpPr>
        <p:spPr>
          <a:xfrm>
            <a:off x="1515747" y="5943600"/>
            <a:ext cx="2061206" cy="368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buClr>
                <a:srgbClr val="C51B05"/>
              </a:buClr>
              <a:buFont typeface="Arial Narrow"/>
              <a:defRPr b="1">
                <a:solidFill>
                  <a:srgbClr val="C51B05"/>
                </a:solidFill>
                <a:uFill>
                  <a:solidFill>
                    <a:srgbClr val="C51B05"/>
                  </a:solidFill>
                </a:uFill>
                <a:latin typeface="Arial Narrow"/>
                <a:ea typeface="Arial Narrow"/>
                <a:cs typeface="Arial Narrow"/>
                <a:sym typeface="Arial Narrow"/>
              </a:defRPr>
            </a:lvl1pPr>
          </a:lstStyle>
          <a:p>
            <a:r>
              <a:t>Single-threaded echo</a:t>
            </a:r>
          </a:p>
        </p:txBody>
      </p:sp>
      <p:sp>
        <p:nvSpPr>
          <p:cNvPr id="203" name="Significant race conditions in I/O &amp; variable sharing"/>
          <p:cNvSpPr txBox="1"/>
          <p:nvPr/>
        </p:nvSpPr>
        <p:spPr>
          <a:xfrm>
            <a:off x="457200" y="1143000"/>
            <a:ext cx="8318500" cy="508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lvl1pPr marL="496252" indent="-455612">
              <a:spcBef>
                <a:spcPts val="1600"/>
              </a:spcBef>
              <a:buClr>
                <a:srgbClr val="7B1142"/>
              </a:buClr>
              <a:buSzPct val="70000"/>
              <a:buChar char=""/>
              <a:tabLst>
                <a:tab pos="495300" algn="l"/>
                <a:tab pos="1066800" algn="l"/>
                <a:tab pos="1866900" algn="l"/>
              </a:tabLst>
              <a:defRPr sz="2800" u="sng">
                <a:solidFill>
                  <a:srgbClr val="000000"/>
                </a:solidFill>
                <a:uFill>
                  <a:solidFill>
                    <a:srgbClr val="000000"/>
                  </a:solidFill>
                </a:uFill>
                <a:latin typeface="Arial Narrow"/>
                <a:ea typeface="Arial Narrow"/>
                <a:cs typeface="Arial Narrow"/>
                <a:sym typeface="Arial Narrow"/>
              </a:defRPr>
            </a:lvl1pPr>
          </a:lstStyle>
          <a:p>
            <a:r>
              <a:t>Significant race conditions in I/O &amp; variable sharing</a:t>
            </a:r>
          </a:p>
        </p:txBody>
      </p:sp>
      <p:grpSp>
        <p:nvGrpSpPr>
          <p:cNvPr id="230" name="Group"/>
          <p:cNvGrpSpPr/>
          <p:nvPr/>
        </p:nvGrpSpPr>
        <p:grpSpPr>
          <a:xfrm>
            <a:off x="1295400" y="3089274"/>
            <a:ext cx="4343400" cy="2136459"/>
            <a:chOff x="0" y="0"/>
            <a:chExt cx="4343400" cy="2136457"/>
          </a:xfrm>
        </p:grpSpPr>
        <p:grpSp>
          <p:nvGrpSpPr>
            <p:cNvPr id="213" name="Group"/>
            <p:cNvGrpSpPr/>
            <p:nvPr/>
          </p:nvGrpSpPr>
          <p:grpSpPr>
            <a:xfrm>
              <a:off x="0" y="0"/>
              <a:ext cx="228600" cy="796925"/>
              <a:chOff x="0" y="0"/>
              <a:chExt cx="228600" cy="796925"/>
            </a:xfrm>
          </p:grpSpPr>
          <p:grpSp>
            <p:nvGrpSpPr>
              <p:cNvPr id="206" name="Group"/>
              <p:cNvGrpSpPr/>
              <p:nvPr/>
            </p:nvGrpSpPr>
            <p:grpSpPr>
              <a:xfrm>
                <a:off x="0" y="0"/>
                <a:ext cx="228600" cy="228600"/>
                <a:chOff x="0" y="0"/>
                <a:chExt cx="228600" cy="228600"/>
              </a:xfrm>
            </p:grpSpPr>
            <p:sp>
              <p:nvSpPr>
                <p:cNvPr id="204" name="Square"/>
                <p:cNvSpPr/>
                <p:nvPr/>
              </p:nvSpPr>
              <p:spPr>
                <a:xfrm>
                  <a:off x="0" y="0"/>
                  <a:ext cx="228600" cy="228600"/>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05" name="1"/>
                <p:cNvSpPr txBox="1"/>
                <p:nvPr/>
              </p:nvSpPr>
              <p:spPr>
                <a:xfrm>
                  <a:off x="0" y="3323"/>
                  <a:ext cx="228600" cy="22195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marL="0" marR="0" algn="ctr">
                    <a:spcBef>
                      <a:spcPts val="300"/>
                    </a:spcBef>
                    <a:buClr>
                      <a:srgbClr val="0433FF"/>
                    </a:buClr>
                    <a:buFont typeface="Wingdings"/>
                    <a:defRPr sz="1600">
                      <a:solidFill>
                        <a:srgbClr val="0433FF"/>
                      </a:solidFill>
                      <a:uFill>
                        <a:solidFill>
                          <a:srgbClr val="0433FF"/>
                        </a:solidFill>
                      </a:uFill>
                    </a:defRPr>
                  </a:lvl1pPr>
                </a:lstStyle>
                <a:p>
                  <a:r>
                    <a:t>1</a:t>
                  </a:r>
                </a:p>
              </p:txBody>
            </p:sp>
          </p:grpSp>
          <p:grpSp>
            <p:nvGrpSpPr>
              <p:cNvPr id="209" name="Group"/>
              <p:cNvGrpSpPr/>
              <p:nvPr/>
            </p:nvGrpSpPr>
            <p:grpSpPr>
              <a:xfrm>
                <a:off x="0" y="290512"/>
                <a:ext cx="228600" cy="228601"/>
                <a:chOff x="0" y="0"/>
                <a:chExt cx="228600" cy="228600"/>
              </a:xfrm>
            </p:grpSpPr>
            <p:sp>
              <p:nvSpPr>
                <p:cNvPr id="207" name="Square"/>
                <p:cNvSpPr/>
                <p:nvPr/>
              </p:nvSpPr>
              <p:spPr>
                <a:xfrm>
                  <a:off x="0" y="0"/>
                  <a:ext cx="228600" cy="228600"/>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08" name="5"/>
                <p:cNvSpPr txBox="1"/>
                <p:nvPr/>
              </p:nvSpPr>
              <p:spPr>
                <a:xfrm>
                  <a:off x="0" y="3323"/>
                  <a:ext cx="228600" cy="22195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marL="0" marR="0" algn="ctr">
                    <a:spcBef>
                      <a:spcPts val="300"/>
                    </a:spcBef>
                    <a:buClr>
                      <a:srgbClr val="0433FF"/>
                    </a:buClr>
                    <a:buFont typeface="Wingdings"/>
                    <a:defRPr sz="1600">
                      <a:solidFill>
                        <a:srgbClr val="0433FF"/>
                      </a:solidFill>
                      <a:uFill>
                        <a:solidFill>
                          <a:srgbClr val="0433FF"/>
                        </a:solidFill>
                      </a:uFill>
                    </a:defRPr>
                  </a:lvl1pPr>
                </a:lstStyle>
                <a:p>
                  <a:r>
                    <a:t>5</a:t>
                  </a:r>
                </a:p>
              </p:txBody>
            </p:sp>
          </p:grpSp>
          <p:grpSp>
            <p:nvGrpSpPr>
              <p:cNvPr id="212" name="Group"/>
              <p:cNvGrpSpPr/>
              <p:nvPr/>
            </p:nvGrpSpPr>
            <p:grpSpPr>
              <a:xfrm>
                <a:off x="0" y="568325"/>
                <a:ext cx="228600" cy="228600"/>
                <a:chOff x="0" y="0"/>
                <a:chExt cx="228600" cy="228600"/>
              </a:xfrm>
            </p:grpSpPr>
            <p:sp>
              <p:nvSpPr>
                <p:cNvPr id="210" name="Square"/>
                <p:cNvSpPr/>
                <p:nvPr/>
              </p:nvSpPr>
              <p:spPr>
                <a:xfrm>
                  <a:off x="0" y="0"/>
                  <a:ext cx="228600" cy="228600"/>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11" name="6"/>
                <p:cNvSpPr txBox="1"/>
                <p:nvPr/>
              </p:nvSpPr>
              <p:spPr>
                <a:xfrm>
                  <a:off x="0" y="3323"/>
                  <a:ext cx="228600" cy="22195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marL="0" marR="0" algn="ctr">
                    <a:spcBef>
                      <a:spcPts val="300"/>
                    </a:spcBef>
                    <a:buClr>
                      <a:srgbClr val="0433FF"/>
                    </a:buClr>
                    <a:buFont typeface="Wingdings"/>
                    <a:defRPr sz="1600">
                      <a:solidFill>
                        <a:srgbClr val="0433FF"/>
                      </a:solidFill>
                      <a:uFill>
                        <a:solidFill>
                          <a:srgbClr val="0433FF"/>
                        </a:solidFill>
                      </a:uFill>
                    </a:defRPr>
                  </a:lvl1pPr>
                </a:lstStyle>
                <a:p>
                  <a:r>
                    <a:t>6</a:t>
                  </a:r>
                </a:p>
              </p:txBody>
            </p:sp>
          </p:grpSp>
        </p:grpSp>
        <p:grpSp>
          <p:nvGrpSpPr>
            <p:cNvPr id="223" name="Group"/>
            <p:cNvGrpSpPr/>
            <p:nvPr/>
          </p:nvGrpSpPr>
          <p:grpSpPr>
            <a:xfrm>
              <a:off x="4114800" y="0"/>
              <a:ext cx="228600" cy="796925"/>
              <a:chOff x="0" y="0"/>
              <a:chExt cx="228600" cy="796925"/>
            </a:xfrm>
          </p:grpSpPr>
          <p:grpSp>
            <p:nvGrpSpPr>
              <p:cNvPr id="216" name="Group"/>
              <p:cNvGrpSpPr/>
              <p:nvPr/>
            </p:nvGrpSpPr>
            <p:grpSpPr>
              <a:xfrm>
                <a:off x="0" y="0"/>
                <a:ext cx="228600" cy="228600"/>
                <a:chOff x="0" y="0"/>
                <a:chExt cx="228600" cy="228600"/>
              </a:xfrm>
            </p:grpSpPr>
            <p:sp>
              <p:nvSpPr>
                <p:cNvPr id="214" name="Square"/>
                <p:cNvSpPr/>
                <p:nvPr/>
              </p:nvSpPr>
              <p:spPr>
                <a:xfrm>
                  <a:off x="0" y="0"/>
                  <a:ext cx="228600" cy="228600"/>
                </a:xfrm>
                <a:prstGeom prst="rect">
                  <a:avLst/>
                </a:prstGeom>
                <a:solidFill>
                  <a:srgbClr val="FFC1BF"/>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15" name="2"/>
                <p:cNvSpPr txBox="1"/>
                <p:nvPr/>
              </p:nvSpPr>
              <p:spPr>
                <a:xfrm>
                  <a:off x="0" y="3323"/>
                  <a:ext cx="228600" cy="22195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marL="0" marR="0" algn="ctr">
                    <a:spcBef>
                      <a:spcPts val="300"/>
                    </a:spcBef>
                    <a:buClr>
                      <a:srgbClr val="FF2600"/>
                    </a:buClr>
                    <a:buFont typeface="Wingdings"/>
                    <a:defRPr sz="1600">
                      <a:solidFill>
                        <a:srgbClr val="FF2600"/>
                      </a:solidFill>
                      <a:uFill>
                        <a:solidFill>
                          <a:srgbClr val="FF2600"/>
                        </a:solidFill>
                      </a:uFill>
                    </a:defRPr>
                  </a:lvl1pPr>
                </a:lstStyle>
                <a:p>
                  <a:r>
                    <a:t>2</a:t>
                  </a:r>
                </a:p>
              </p:txBody>
            </p:sp>
          </p:grpSp>
          <p:grpSp>
            <p:nvGrpSpPr>
              <p:cNvPr id="219" name="Group"/>
              <p:cNvGrpSpPr/>
              <p:nvPr/>
            </p:nvGrpSpPr>
            <p:grpSpPr>
              <a:xfrm>
                <a:off x="0" y="290512"/>
                <a:ext cx="228600" cy="228601"/>
                <a:chOff x="0" y="0"/>
                <a:chExt cx="228600" cy="228600"/>
              </a:xfrm>
            </p:grpSpPr>
            <p:sp>
              <p:nvSpPr>
                <p:cNvPr id="217" name="Square"/>
                <p:cNvSpPr/>
                <p:nvPr/>
              </p:nvSpPr>
              <p:spPr>
                <a:xfrm>
                  <a:off x="0" y="0"/>
                  <a:ext cx="228600" cy="228600"/>
                </a:xfrm>
                <a:prstGeom prst="rect">
                  <a:avLst/>
                </a:prstGeom>
                <a:solidFill>
                  <a:srgbClr val="FFC1BF"/>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18" name="3"/>
                <p:cNvSpPr txBox="1"/>
                <p:nvPr/>
              </p:nvSpPr>
              <p:spPr>
                <a:xfrm>
                  <a:off x="0" y="3323"/>
                  <a:ext cx="228600" cy="22195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marL="0" marR="0" algn="ctr">
                    <a:spcBef>
                      <a:spcPts val="300"/>
                    </a:spcBef>
                    <a:buClr>
                      <a:srgbClr val="FF2600"/>
                    </a:buClr>
                    <a:buFont typeface="Wingdings"/>
                    <a:defRPr sz="1600">
                      <a:solidFill>
                        <a:srgbClr val="FF2600"/>
                      </a:solidFill>
                      <a:uFill>
                        <a:solidFill>
                          <a:srgbClr val="FF2600"/>
                        </a:solidFill>
                      </a:uFill>
                    </a:defRPr>
                  </a:lvl1pPr>
                </a:lstStyle>
                <a:p>
                  <a:r>
                    <a:t>3</a:t>
                  </a:r>
                </a:p>
              </p:txBody>
            </p:sp>
          </p:grpSp>
          <p:grpSp>
            <p:nvGrpSpPr>
              <p:cNvPr id="222" name="Group"/>
              <p:cNvGrpSpPr/>
              <p:nvPr/>
            </p:nvGrpSpPr>
            <p:grpSpPr>
              <a:xfrm>
                <a:off x="0" y="568325"/>
                <a:ext cx="228600" cy="228600"/>
                <a:chOff x="0" y="0"/>
                <a:chExt cx="228600" cy="228600"/>
              </a:xfrm>
            </p:grpSpPr>
            <p:sp>
              <p:nvSpPr>
                <p:cNvPr id="220" name="Square"/>
                <p:cNvSpPr/>
                <p:nvPr/>
              </p:nvSpPr>
              <p:spPr>
                <a:xfrm>
                  <a:off x="0" y="0"/>
                  <a:ext cx="228600" cy="228600"/>
                </a:xfrm>
                <a:prstGeom prst="rect">
                  <a:avLst/>
                </a:prstGeom>
                <a:solidFill>
                  <a:srgbClr val="FFC1BF"/>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21" name="4"/>
                <p:cNvSpPr txBox="1"/>
                <p:nvPr/>
              </p:nvSpPr>
              <p:spPr>
                <a:xfrm>
                  <a:off x="0" y="3323"/>
                  <a:ext cx="228600" cy="22195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marL="0" marR="0" algn="ctr">
                    <a:spcBef>
                      <a:spcPts val="300"/>
                    </a:spcBef>
                    <a:buClr>
                      <a:srgbClr val="FF2600"/>
                    </a:buClr>
                    <a:buFont typeface="Wingdings"/>
                    <a:defRPr sz="1600">
                      <a:solidFill>
                        <a:srgbClr val="FF2600"/>
                      </a:solidFill>
                      <a:uFill>
                        <a:solidFill>
                          <a:srgbClr val="FF2600"/>
                        </a:solidFill>
                      </a:uFill>
                    </a:defRPr>
                  </a:lvl1pPr>
                </a:lstStyle>
                <a:p>
                  <a:r>
                    <a:t>4</a:t>
                  </a:r>
                </a:p>
              </p:txBody>
            </p:sp>
          </p:grpSp>
        </p:grpSp>
        <p:grpSp>
          <p:nvGrpSpPr>
            <p:cNvPr id="229" name="Group"/>
            <p:cNvGrpSpPr/>
            <p:nvPr/>
          </p:nvGrpSpPr>
          <p:grpSpPr>
            <a:xfrm>
              <a:off x="2819400" y="111124"/>
              <a:ext cx="1066800" cy="2025334"/>
              <a:chOff x="0" y="0"/>
              <a:chExt cx="1066800" cy="2025332"/>
            </a:xfrm>
          </p:grpSpPr>
          <p:sp>
            <p:nvSpPr>
              <p:cNvPr id="224" name="Line"/>
              <p:cNvSpPr/>
              <p:nvPr/>
            </p:nvSpPr>
            <p:spPr>
              <a:xfrm>
                <a:off x="0" y="0"/>
                <a:ext cx="1066800" cy="1588"/>
              </a:xfrm>
              <a:prstGeom prst="line">
                <a:avLst/>
              </a:prstGeom>
              <a:noFill/>
              <a:ln w="12700" cap="flat">
                <a:solidFill>
                  <a:srgbClr val="D83CFF"/>
                </a:solidFill>
                <a:prstDash val="sysDot"/>
                <a:round/>
                <a:tailEnd type="triangle" w="med" len="me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227" name="Group"/>
              <p:cNvGrpSpPr/>
              <p:nvPr/>
            </p:nvGrpSpPr>
            <p:grpSpPr>
              <a:xfrm>
                <a:off x="0" y="152400"/>
                <a:ext cx="990600" cy="685801"/>
                <a:chOff x="0" y="0"/>
                <a:chExt cx="990599" cy="685800"/>
              </a:xfrm>
            </p:grpSpPr>
            <p:sp>
              <p:nvSpPr>
                <p:cNvPr id="225" name="Line"/>
                <p:cNvSpPr/>
                <p:nvPr/>
              </p:nvSpPr>
              <p:spPr>
                <a:xfrm rot="10800000">
                  <a:off x="353785" y="342900"/>
                  <a:ext cx="636815" cy="3429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12700" cap="flat">
                  <a:solidFill>
                    <a:srgbClr val="D83CFF"/>
                  </a:solidFill>
                  <a:prstDash val="sysDot"/>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26" name="Line"/>
                <p:cNvSpPr/>
                <p:nvPr/>
              </p:nvSpPr>
              <p:spPr>
                <a:xfrm>
                  <a:off x="0" y="0"/>
                  <a:ext cx="353786" cy="3429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12700" cap="flat">
                  <a:solidFill>
                    <a:srgbClr val="D83CFF"/>
                  </a:solidFill>
                  <a:prstDash val="sysDot"/>
                  <a:round/>
                  <a:head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228" name="unlucky…"/>
              <p:cNvSpPr txBox="1"/>
              <p:nvPr/>
            </p:nvSpPr>
            <p:spPr>
              <a:xfrm>
                <a:off x="27416" y="760412"/>
                <a:ext cx="924655" cy="126492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p>
                <a:pPr algn="ctr">
                  <a:spcBef>
                    <a:spcPts val="300"/>
                  </a:spcBef>
                  <a:buClr>
                    <a:srgbClr val="D83CFF"/>
                  </a:buClr>
                  <a:buFont typeface="Wingdings"/>
                  <a:defRPr sz="1400" b="1">
                    <a:solidFill>
                      <a:srgbClr val="D83CFF"/>
                    </a:solidFill>
                    <a:uFill>
                      <a:solidFill>
                        <a:srgbClr val="D83CFF"/>
                      </a:solidFill>
                    </a:uFill>
                    <a:latin typeface="Arial Narrow"/>
                    <a:ea typeface="Arial Narrow"/>
                    <a:cs typeface="Arial Narrow"/>
                    <a:sym typeface="Arial Narrow"/>
                  </a:defRPr>
                </a:pPr>
                <a:r>
                  <a:t>unlucky</a:t>
                </a:r>
              </a:p>
              <a:p>
                <a:pPr algn="ctr">
                  <a:spcBef>
                    <a:spcPts val="300"/>
                  </a:spcBef>
                  <a:buClr>
                    <a:srgbClr val="D83CFF"/>
                  </a:buClr>
                  <a:buFont typeface="Wingdings"/>
                  <a:defRPr sz="1400" b="1">
                    <a:solidFill>
                      <a:srgbClr val="D83CFF"/>
                    </a:solidFill>
                    <a:uFill>
                      <a:solidFill>
                        <a:srgbClr val="D83CFF"/>
                      </a:solidFill>
                    </a:uFill>
                    <a:latin typeface="Arial Narrow"/>
                    <a:ea typeface="Arial Narrow"/>
                    <a:cs typeface="Arial Narrow"/>
                    <a:sym typeface="Arial Narrow"/>
                  </a:defRPr>
                </a:pPr>
                <a:r>
                  <a:t>CPU</a:t>
                </a:r>
              </a:p>
              <a:p>
                <a:pPr algn="ctr">
                  <a:spcBef>
                    <a:spcPts val="300"/>
                  </a:spcBef>
                  <a:buClr>
                    <a:srgbClr val="D83CFF"/>
                  </a:buClr>
                  <a:buFont typeface="Wingdings"/>
                  <a:defRPr sz="1400" b="1">
                    <a:solidFill>
                      <a:srgbClr val="D83CFF"/>
                    </a:solidFill>
                    <a:uFill>
                      <a:solidFill>
                        <a:srgbClr val="D83CFF"/>
                      </a:solidFill>
                    </a:uFill>
                    <a:latin typeface="Arial Narrow"/>
                    <a:ea typeface="Arial Narrow"/>
                    <a:cs typeface="Arial Narrow"/>
                    <a:sym typeface="Arial Narrow"/>
                  </a:defRPr>
                </a:pPr>
                <a:r>
                  <a:t>scheduling</a:t>
                </a:r>
              </a:p>
              <a:p>
                <a:pPr algn="ctr">
                  <a:spcBef>
                    <a:spcPts val="600"/>
                  </a:spcBef>
                  <a:buClr>
                    <a:srgbClr val="D83CFF"/>
                  </a:buClr>
                  <a:buFont typeface="Wingdings"/>
                  <a:defRPr sz="2800">
                    <a:solidFill>
                      <a:srgbClr val="D83CFF"/>
                    </a:solidFill>
                    <a:uFill>
                      <a:solidFill>
                        <a:srgbClr val="D83CFF"/>
                      </a:solidFill>
                    </a:uFill>
                    <a:latin typeface="Wingdings"/>
                    <a:ea typeface="Wingdings"/>
                    <a:cs typeface="Wingdings"/>
                    <a:sym typeface="Wingdings"/>
                  </a:defRPr>
                </a:pPr>
                <a:r>
                  <a:t></a:t>
                </a:r>
              </a:p>
            </p:txBody>
          </p:sp>
        </p:grpSp>
      </p:grpSp>
      <p:pic>
        <p:nvPicPr>
          <p:cNvPr id="237" name="Line Line" descr="Line Line"/>
          <p:cNvPicPr>
            <a:picLocks/>
          </p:cNvPicPr>
          <p:nvPr/>
        </p:nvPicPr>
        <p:blipFill>
          <a:blip r:embed="rId2"/>
          <a:stretch>
            <a:fillRect/>
          </a:stretch>
        </p:blipFill>
        <p:spPr>
          <a:xfrm>
            <a:off x="488974" y="2333441"/>
            <a:ext cx="839401" cy="258880"/>
          </a:xfrm>
          <a:prstGeom prst="rect">
            <a:avLst/>
          </a:prstGeom>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2" nodeType="afterEffect">
                                  <p:stCondLst>
                                    <p:cond delay="0"/>
                                  </p:stCondLst>
                                  <p:iterate>
                                    <p:tmAbs val="0"/>
                                  </p:iterate>
                                  <p:childTnLst>
                                    <p:set>
                                      <p:cBhvr>
                                        <p:cTn id="6" fill="hold"/>
                                        <p:tgtEl>
                                          <p:spTgt spid="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 grpId="2"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Race Condition"/>
          <p:cNvSpPr txBox="1">
            <a:spLocks noGrp="1"/>
          </p:cNvSpPr>
          <p:nvPr>
            <p:ph type="title"/>
          </p:nvPr>
        </p:nvSpPr>
        <p:spPr>
          <a:prstGeom prst="rect">
            <a:avLst/>
          </a:prstGeom>
        </p:spPr>
        <p:txBody>
          <a:bodyPr/>
          <a:lstStyle/>
          <a:p>
            <a:r>
              <a:t>Race Condition</a:t>
            </a:r>
          </a:p>
        </p:txBody>
      </p:sp>
      <p:sp>
        <p:nvSpPr>
          <p:cNvPr id="241"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14</a:t>
            </a:fld>
            <a:endParaRPr/>
          </a:p>
        </p:txBody>
      </p:sp>
      <p:sp>
        <p:nvSpPr>
          <p:cNvPr id="242" name="Significant race conditions in I/O &amp; variable sharing…"/>
          <p:cNvSpPr txBox="1"/>
          <p:nvPr/>
        </p:nvSpPr>
        <p:spPr>
          <a:xfrm>
            <a:off x="457200" y="1358900"/>
            <a:ext cx="8318500" cy="12827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p>
            <a:pPr marL="496252" indent="-455612">
              <a:spcBef>
                <a:spcPts val="1600"/>
              </a:spcBef>
              <a:buClr>
                <a:srgbClr val="7B1142"/>
              </a:buClr>
              <a:buSzPct val="100000"/>
              <a:buChar char=""/>
              <a:tabLst>
                <a:tab pos="495300" algn="l"/>
                <a:tab pos="1066800" algn="l"/>
                <a:tab pos="1866900" algn="l"/>
              </a:tabLst>
              <a:defRPr sz="2800" u="sng">
                <a:solidFill>
                  <a:srgbClr val="000000"/>
                </a:solidFill>
                <a:uFill>
                  <a:solidFill>
                    <a:srgbClr val="000000"/>
                  </a:solidFill>
                </a:uFill>
                <a:latin typeface="Arial Narrow"/>
                <a:ea typeface="Arial Narrow"/>
                <a:cs typeface="Arial Narrow"/>
                <a:sym typeface="Arial Narrow"/>
              </a:defRPr>
            </a:pPr>
            <a:r>
              <a:t>Significant race conditions in I/O &amp; variable sharing</a:t>
            </a:r>
          </a:p>
          <a:p>
            <a:pPr marL="1067752" indent="-457199">
              <a:spcBef>
                <a:spcPts val="600"/>
              </a:spcBef>
              <a:buClr>
                <a:srgbClr val="7B1142"/>
              </a:buClr>
              <a:buSzPct val="100000"/>
              <a:buChar char=""/>
              <a:tabLst>
                <a:tab pos="495300" algn="l"/>
                <a:tab pos="1066800" algn="l"/>
                <a:tab pos="1866900" algn="l"/>
              </a:tabLst>
              <a:defRPr sz="2400">
                <a:solidFill>
                  <a:srgbClr val="000000"/>
                </a:solidFill>
                <a:uFill>
                  <a:solidFill>
                    <a:srgbClr val="000000"/>
                  </a:solidFill>
                </a:uFill>
                <a:latin typeface="Arial Narrow"/>
                <a:ea typeface="Arial Narrow"/>
                <a:cs typeface="Arial Narrow"/>
                <a:sym typeface="Arial Narrow"/>
              </a:defRPr>
            </a:pPr>
            <a:r>
              <a:t>in this case, replacing the global variables with local variables did not solve the problem</a:t>
            </a:r>
          </a:p>
        </p:txBody>
      </p:sp>
      <p:sp>
        <p:nvSpPr>
          <p:cNvPr id="243" name="we actually had two race conditions here:…"/>
          <p:cNvSpPr txBox="1"/>
          <p:nvPr/>
        </p:nvSpPr>
        <p:spPr>
          <a:xfrm>
            <a:off x="457200" y="2667000"/>
            <a:ext cx="8318500" cy="24724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p>
            <a:pPr marL="1067752" indent="-457199">
              <a:spcBef>
                <a:spcPts val="600"/>
              </a:spcBef>
              <a:buClr>
                <a:srgbClr val="7B1142"/>
              </a:buClr>
              <a:buSzPct val="100000"/>
              <a:buChar char=""/>
              <a:tabLst>
                <a:tab pos="495300" algn="l"/>
                <a:tab pos="1066800" algn="l"/>
                <a:tab pos="1866900" algn="l"/>
              </a:tabLst>
              <a:defRPr sz="2400">
                <a:solidFill>
                  <a:srgbClr val="000000"/>
                </a:solidFill>
                <a:uFill>
                  <a:solidFill>
                    <a:srgbClr val="000000"/>
                  </a:solidFill>
                </a:uFill>
                <a:latin typeface="Times New Roman"/>
                <a:ea typeface="Times New Roman"/>
                <a:cs typeface="Times New Roman"/>
                <a:sym typeface="Times New Roman"/>
              </a:defRPr>
            </a:pPr>
            <a:r>
              <a:rPr dirty="0">
                <a:latin typeface="Arial Narrow"/>
                <a:ea typeface="Arial Narrow"/>
                <a:cs typeface="Arial Narrow"/>
                <a:sym typeface="Arial Narrow"/>
              </a:rPr>
              <a:t>we actually had </a:t>
            </a:r>
            <a:r>
              <a:rPr u="sng" dirty="0">
                <a:latin typeface="Arial Narrow"/>
                <a:ea typeface="Arial Narrow"/>
                <a:cs typeface="Arial Narrow"/>
                <a:sym typeface="Arial Narrow"/>
              </a:rPr>
              <a:t>two</a:t>
            </a:r>
            <a:r>
              <a:rPr dirty="0">
                <a:latin typeface="Arial Narrow"/>
                <a:ea typeface="Arial Narrow"/>
                <a:cs typeface="Arial Narrow"/>
                <a:sym typeface="Arial Narrow"/>
              </a:rPr>
              <a:t> race conditions here:</a:t>
            </a:r>
          </a:p>
          <a:p>
            <a:pPr marL="1639252" indent="-455612">
              <a:spcBef>
                <a:spcPts val="600"/>
              </a:spcBef>
              <a:buClr>
                <a:srgbClr val="7B1142"/>
              </a:buClr>
              <a:buSzPct val="100000"/>
              <a:buChar char=""/>
              <a:tabLst>
                <a:tab pos="495300" algn="l"/>
                <a:tab pos="1066800" algn="l"/>
                <a:tab pos="1866900" algn="l"/>
              </a:tabLst>
              <a:defRPr sz="2400">
                <a:solidFill>
                  <a:srgbClr val="000000"/>
                </a:solidFill>
                <a:uFill>
                  <a:solidFill>
                    <a:srgbClr val="000000"/>
                  </a:solidFill>
                </a:uFill>
                <a:latin typeface="Times New Roman"/>
                <a:ea typeface="Times New Roman"/>
                <a:cs typeface="Times New Roman"/>
                <a:sym typeface="Times New Roman"/>
              </a:defRPr>
            </a:pPr>
            <a:r>
              <a:rPr dirty="0">
                <a:latin typeface="Arial Narrow"/>
                <a:ea typeface="Arial Narrow"/>
                <a:cs typeface="Arial Narrow"/>
                <a:sym typeface="Arial Narrow"/>
              </a:rPr>
              <a:t>one race condition in the </a:t>
            </a:r>
            <a:r>
              <a:rPr u="sng" dirty="0">
                <a:solidFill>
                  <a:srgbClr val="FF0000"/>
                </a:solidFill>
                <a:latin typeface="Arial Narrow"/>
                <a:ea typeface="Arial Narrow"/>
                <a:cs typeface="Arial Narrow"/>
                <a:sym typeface="Arial Narrow"/>
              </a:rPr>
              <a:t>shared variables</a:t>
            </a:r>
            <a:r>
              <a:rPr dirty="0">
                <a:solidFill>
                  <a:srgbClr val="FF0000"/>
                </a:solidFill>
                <a:latin typeface="Arial Narrow"/>
                <a:ea typeface="Arial Narrow"/>
                <a:cs typeface="Arial Narrow"/>
                <a:sym typeface="Arial Narrow"/>
              </a:rPr>
              <a:t> </a:t>
            </a:r>
            <a:r>
              <a:rPr dirty="0">
                <a:latin typeface="Arial Narrow"/>
                <a:ea typeface="Arial Narrow"/>
                <a:cs typeface="Arial Narrow"/>
                <a:sym typeface="Arial Narrow"/>
              </a:rPr>
              <a:t>and the order of value assignment</a:t>
            </a:r>
          </a:p>
          <a:p>
            <a:pPr marL="1639252" indent="-455612">
              <a:spcBef>
                <a:spcPts val="600"/>
              </a:spcBef>
              <a:buClr>
                <a:srgbClr val="7B1142"/>
              </a:buClr>
              <a:buSzPct val="100000"/>
              <a:buChar char=""/>
              <a:tabLst>
                <a:tab pos="495300" algn="l"/>
                <a:tab pos="1066800" algn="l"/>
                <a:tab pos="1866900" algn="l"/>
              </a:tabLst>
              <a:defRPr sz="2400">
                <a:solidFill>
                  <a:srgbClr val="000000"/>
                </a:solidFill>
                <a:uFill>
                  <a:solidFill>
                    <a:srgbClr val="000000"/>
                  </a:solidFill>
                </a:uFill>
                <a:latin typeface="Times New Roman"/>
                <a:ea typeface="Times New Roman"/>
                <a:cs typeface="Times New Roman"/>
                <a:sym typeface="Times New Roman"/>
              </a:defRPr>
            </a:pPr>
            <a:r>
              <a:rPr dirty="0">
                <a:latin typeface="Arial Narrow"/>
                <a:ea typeface="Arial Narrow"/>
                <a:cs typeface="Arial Narrow"/>
                <a:sym typeface="Arial Narrow"/>
              </a:rPr>
              <a:t>another race condition in the </a:t>
            </a:r>
            <a:r>
              <a:rPr u="sng" dirty="0">
                <a:solidFill>
                  <a:srgbClr val="FF0000"/>
                </a:solidFill>
                <a:latin typeface="Arial Narrow"/>
                <a:ea typeface="Arial Narrow"/>
                <a:cs typeface="Arial Narrow"/>
                <a:sym typeface="Arial Narrow"/>
              </a:rPr>
              <a:t>shared output stream</a:t>
            </a:r>
            <a:r>
              <a:rPr dirty="0">
                <a:latin typeface="Arial Narrow"/>
                <a:ea typeface="Arial Narrow"/>
                <a:cs typeface="Arial Narrow"/>
                <a:sym typeface="Arial Narrow"/>
              </a:rPr>
              <a:t>: which thread is going to write to output first (this race persisted even after making the variables local to each thread)</a:t>
            </a:r>
          </a:p>
        </p:txBody>
      </p:sp>
      <p:sp>
        <p:nvSpPr>
          <p:cNvPr id="244" name="==&gt; generally, problematic race conditions may occur whenever resources and/or data are shared (by processes unaware of each other or processes indirectly aware of each other)"/>
          <p:cNvSpPr txBox="1"/>
          <p:nvPr/>
        </p:nvSpPr>
        <p:spPr>
          <a:xfrm>
            <a:off x="457200" y="5105400"/>
            <a:ext cx="8318500" cy="1130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p>
            <a:pPr marL="0" lvl="1" indent="0">
              <a:spcBef>
                <a:spcPts val="600"/>
              </a:spcBef>
              <a:tabLst>
                <a:tab pos="495300" algn="l"/>
                <a:tab pos="1066800" algn="l"/>
                <a:tab pos="1866900" algn="l"/>
              </a:tabLst>
              <a:defRPr sz="2400" i="1">
                <a:solidFill>
                  <a:srgbClr val="000000"/>
                </a:solidFill>
                <a:uFill>
                  <a:solidFill>
                    <a:srgbClr val="000000"/>
                  </a:solidFill>
                </a:uFill>
                <a:latin typeface="Arial Narrow"/>
                <a:ea typeface="Arial Narrow"/>
                <a:cs typeface="Arial Narrow"/>
                <a:sym typeface="Arial Narrow"/>
              </a:defRPr>
            </a:pPr>
            <a:r>
              <a:t>==&gt; generally, problematic race conditions may occur whenever resources and/or data are shared (by processes unaware of each other or processes indirectly aware of each other)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2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 grpId="1" animBg="1" advAuto="0"/>
      <p:bldP spid="244" grpId="2"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15</a:t>
            </a:fld>
            <a:endParaRPr/>
          </a:p>
        </p:txBody>
      </p:sp>
      <p:sp>
        <p:nvSpPr>
          <p:cNvPr id="247" name="Critical Section/Region"/>
          <p:cNvSpPr txBox="1">
            <a:spLocks noGrp="1"/>
          </p:cNvSpPr>
          <p:nvPr>
            <p:ph type="title"/>
          </p:nvPr>
        </p:nvSpPr>
        <p:spPr>
          <a:prstGeom prst="rect">
            <a:avLst/>
          </a:prstGeom>
        </p:spPr>
        <p:txBody>
          <a:bodyPr/>
          <a:lstStyle/>
          <a:p>
            <a:r>
              <a:t>Critical Section/Region</a:t>
            </a:r>
          </a:p>
        </p:txBody>
      </p:sp>
      <p:sp>
        <p:nvSpPr>
          <p:cNvPr id="248" name="Critical section/region: segment of code in which the process may be changing shared data (eg. common variables)…"/>
          <p:cNvSpPr txBox="1">
            <a:spLocks noGrp="1"/>
          </p:cNvSpPr>
          <p:nvPr>
            <p:ph type="body" idx="1"/>
          </p:nvPr>
        </p:nvSpPr>
        <p:spPr>
          <a:prstGeom prst="rect">
            <a:avLst/>
          </a:prstGeom>
        </p:spPr>
        <p:txBody>
          <a:bodyPr/>
          <a:lstStyle/>
          <a:p>
            <a:pPr>
              <a:buClr>
                <a:srgbClr val="FF4C00"/>
              </a:buClr>
              <a:buFont typeface="Trebuchet MS"/>
            </a:pPr>
            <a:r>
              <a:rPr>
                <a:solidFill>
                  <a:srgbClr val="FF4C00"/>
                </a:solidFill>
                <a:uFill>
                  <a:solidFill>
                    <a:srgbClr val="FF4C00"/>
                  </a:solidFill>
                </a:uFill>
              </a:rPr>
              <a:t>Critical section/region:</a:t>
            </a:r>
            <a:r>
              <a:t> </a:t>
            </a:r>
            <a:r>
              <a:rPr>
                <a:solidFill>
                  <a:srgbClr val="000000"/>
                </a:solidFill>
                <a:uFill>
                  <a:solidFill>
                    <a:srgbClr val="000000"/>
                  </a:solidFill>
                </a:uFill>
              </a:rPr>
              <a:t>segment of code in which the process may be changing shared data (eg. common variables)</a:t>
            </a:r>
          </a:p>
          <a:p>
            <a:r>
              <a:rPr>
                <a:solidFill>
                  <a:srgbClr val="000000"/>
                </a:solidFill>
                <a:uFill>
                  <a:solidFill>
                    <a:srgbClr val="000000"/>
                  </a:solidFill>
                </a:uFill>
              </a:rPr>
              <a:t>No two processes should be executing in their critical sections at the same time --&gt;</a:t>
            </a:r>
            <a:r>
              <a:t> </a:t>
            </a:r>
            <a:r>
              <a:rPr>
                <a:solidFill>
                  <a:srgbClr val="0056D6"/>
                </a:solidFill>
                <a:uFill>
                  <a:solidFill>
                    <a:srgbClr val="0056D6"/>
                  </a:solidFill>
                </a:uFill>
              </a:rPr>
              <a:t>prevents race conditions</a:t>
            </a:r>
          </a:p>
          <a:p>
            <a:pPr>
              <a:buClr>
                <a:srgbClr val="FF4C00"/>
              </a:buClr>
              <a:buFont typeface="Trebuchet MS"/>
            </a:pPr>
            <a:r>
              <a:rPr>
                <a:solidFill>
                  <a:srgbClr val="FF4C00"/>
                </a:solidFill>
                <a:uFill>
                  <a:solidFill>
                    <a:srgbClr val="FF4C00"/>
                  </a:solidFill>
                </a:uFill>
              </a:rPr>
              <a:t>Critical section problem:</a:t>
            </a:r>
            <a:r>
              <a:t> </a:t>
            </a:r>
            <a:r>
              <a:rPr>
                <a:solidFill>
                  <a:srgbClr val="000000"/>
                </a:solidFill>
                <a:uFill>
                  <a:solidFill>
                    <a:srgbClr val="000000"/>
                  </a:solidFill>
                </a:uFill>
              </a:rPr>
              <a:t>design a protocol that the processes use to cooperate</a:t>
            </a:r>
          </a:p>
        </p:txBody>
      </p:sp>
    </p:spTree>
    <p:extLst>
      <p:ext uri="{BB962C8B-B14F-4D97-AF65-F5344CB8AC3E}">
        <p14:creationId xmlns:p14="http://schemas.microsoft.com/office/powerpoint/2010/main" val="104866793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Critical Section"/>
          <p:cNvSpPr txBox="1">
            <a:spLocks noGrp="1"/>
          </p:cNvSpPr>
          <p:nvPr>
            <p:ph type="title"/>
          </p:nvPr>
        </p:nvSpPr>
        <p:spPr>
          <a:prstGeom prst="rect">
            <a:avLst/>
          </a:prstGeom>
        </p:spPr>
        <p:txBody>
          <a:bodyPr/>
          <a:lstStyle/>
          <a:p>
            <a:r>
              <a:t>Critical Section</a:t>
            </a:r>
          </a:p>
        </p:txBody>
      </p:sp>
      <p:sp>
        <p:nvSpPr>
          <p:cNvPr id="251"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16</a:t>
            </a:fld>
            <a:endParaRPr/>
          </a:p>
        </p:txBody>
      </p:sp>
      <p:sp>
        <p:nvSpPr>
          <p:cNvPr id="252" name="The “indivisible” execution blocks are critical regions…"/>
          <p:cNvSpPr txBox="1"/>
          <p:nvPr/>
        </p:nvSpPr>
        <p:spPr>
          <a:xfrm>
            <a:off x="457200" y="1143000"/>
            <a:ext cx="8242300" cy="12827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p>
            <a:pPr marL="496252" indent="-455612">
              <a:spcBef>
                <a:spcPts val="1600"/>
              </a:spcBef>
              <a:buClr>
                <a:srgbClr val="7B1142"/>
              </a:buClr>
              <a:buSzPct val="100000"/>
              <a:buChar char=""/>
              <a:tabLst>
                <a:tab pos="495300" algn="l"/>
                <a:tab pos="1066800" algn="l"/>
                <a:tab pos="1866900" algn="l"/>
              </a:tabLst>
              <a:defRPr sz="2800" u="sng">
                <a:solidFill>
                  <a:srgbClr val="7B1142"/>
                </a:solidFill>
                <a:uFill>
                  <a:solidFill>
                    <a:srgbClr val="7B1142"/>
                  </a:solidFill>
                </a:uFill>
                <a:latin typeface="Arial Narrow"/>
                <a:ea typeface="Arial Narrow"/>
                <a:cs typeface="Arial Narrow"/>
                <a:sym typeface="Arial Narrow"/>
              </a:defRPr>
            </a:pPr>
            <a:r>
              <a:t>The “indivisible” execution blocks are critical regions</a:t>
            </a:r>
          </a:p>
          <a:p>
            <a:pPr marL="1067752" indent="-457199">
              <a:spcBef>
                <a:spcPts val="600"/>
              </a:spcBef>
              <a:buClr>
                <a:srgbClr val="7B1142"/>
              </a:buClr>
              <a:buSzPct val="100000"/>
              <a:buChar char=""/>
              <a:tabLst>
                <a:tab pos="495300" algn="l"/>
                <a:tab pos="1066800" algn="l"/>
                <a:tab pos="1866900" algn="l"/>
              </a:tabLst>
              <a:defRPr sz="2400">
                <a:solidFill>
                  <a:srgbClr val="7B1142"/>
                </a:solidFill>
                <a:uFill>
                  <a:solidFill>
                    <a:srgbClr val="7B1142"/>
                  </a:solidFill>
                </a:uFill>
                <a:latin typeface="Arial Narrow"/>
                <a:ea typeface="Arial Narrow"/>
                <a:cs typeface="Arial Narrow"/>
                <a:sym typeface="Arial Narrow"/>
              </a:defRPr>
            </a:pPr>
            <a:r>
              <a:t>a critical region is a section of code that should be executed by only one process or thread at a time</a:t>
            </a:r>
          </a:p>
        </p:txBody>
      </p:sp>
      <p:grpSp>
        <p:nvGrpSpPr>
          <p:cNvPr id="265" name="Group"/>
          <p:cNvGrpSpPr/>
          <p:nvPr/>
        </p:nvGrpSpPr>
        <p:grpSpPr>
          <a:xfrm>
            <a:off x="2459355" y="2590800"/>
            <a:ext cx="6503817" cy="914400"/>
            <a:chOff x="0" y="0"/>
            <a:chExt cx="6503816" cy="914400"/>
          </a:xfrm>
        </p:grpSpPr>
        <p:sp>
          <p:nvSpPr>
            <p:cNvPr id="253" name="Rectangle"/>
            <p:cNvSpPr/>
            <p:nvPr/>
          </p:nvSpPr>
          <p:spPr>
            <a:xfrm>
              <a:off x="2112645" y="0"/>
              <a:ext cx="1828801"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54" name="Line"/>
            <p:cNvSpPr/>
            <p:nvPr/>
          </p:nvSpPr>
          <p:spPr>
            <a:xfrm>
              <a:off x="283845" y="228600"/>
              <a:ext cx="1828801"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55" name="Line"/>
            <p:cNvSpPr/>
            <p:nvPr/>
          </p:nvSpPr>
          <p:spPr>
            <a:xfrm>
              <a:off x="283845" y="609600"/>
              <a:ext cx="1828801"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256" name="pedredstand.jpg" descr="pedredstand.jpg"/>
            <p:cNvPicPr>
              <a:picLocks/>
            </p:cNvPicPr>
            <p:nvPr/>
          </p:nvPicPr>
          <p:blipFill>
            <a:blip r:embed="rId2"/>
            <a:stretch>
              <a:fillRect/>
            </a:stretch>
          </p:blipFill>
          <p:spPr>
            <a:xfrm>
              <a:off x="1917382" y="457200"/>
              <a:ext cx="179389" cy="457200"/>
            </a:xfrm>
            <a:prstGeom prst="rect">
              <a:avLst/>
            </a:prstGeom>
            <a:ln w="12700" cap="flat">
              <a:noFill/>
              <a:miter lim="400000"/>
            </a:ln>
            <a:effectLst/>
          </p:spPr>
        </p:pic>
        <p:pic>
          <p:nvPicPr>
            <p:cNvPr id="257" name="pedbluegray.jpg" descr="pedbluegray.jpg"/>
            <p:cNvPicPr>
              <a:picLocks/>
            </p:cNvPicPr>
            <p:nvPr/>
          </p:nvPicPr>
          <p:blipFill>
            <a:blip r:embed="rId3"/>
            <a:stretch>
              <a:fillRect/>
            </a:stretch>
          </p:blipFill>
          <p:spPr>
            <a:xfrm>
              <a:off x="3255645" y="0"/>
              <a:ext cx="274638" cy="461963"/>
            </a:xfrm>
            <a:prstGeom prst="rect">
              <a:avLst/>
            </a:prstGeom>
            <a:ln w="12700" cap="flat">
              <a:noFill/>
              <a:miter lim="400000"/>
            </a:ln>
            <a:effectLst/>
          </p:spPr>
        </p:pic>
        <p:sp>
          <p:nvSpPr>
            <p:cNvPr id="258" name="Line"/>
            <p:cNvSpPr/>
            <p:nvPr/>
          </p:nvSpPr>
          <p:spPr>
            <a:xfrm>
              <a:off x="2112645" y="228600"/>
              <a:ext cx="1143001"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720" y="10800"/>
                    <a:pt x="1440" y="0"/>
                    <a:pt x="2160" y="0"/>
                  </a:cubicBezTo>
                  <a:cubicBezTo>
                    <a:pt x="2880" y="0"/>
                    <a:pt x="3600" y="21600"/>
                    <a:pt x="4320" y="21600"/>
                  </a:cubicBezTo>
                  <a:cubicBezTo>
                    <a:pt x="5040" y="21600"/>
                    <a:pt x="5760" y="0"/>
                    <a:pt x="6480" y="0"/>
                  </a:cubicBezTo>
                  <a:cubicBezTo>
                    <a:pt x="7200" y="0"/>
                    <a:pt x="7920" y="21600"/>
                    <a:pt x="8640" y="21600"/>
                  </a:cubicBezTo>
                  <a:cubicBezTo>
                    <a:pt x="9360" y="21600"/>
                    <a:pt x="10080" y="0"/>
                    <a:pt x="10800" y="0"/>
                  </a:cubicBezTo>
                  <a:cubicBezTo>
                    <a:pt x="11520" y="0"/>
                    <a:pt x="12240" y="21600"/>
                    <a:pt x="12960" y="21600"/>
                  </a:cubicBezTo>
                  <a:cubicBezTo>
                    <a:pt x="13680" y="21600"/>
                    <a:pt x="14400" y="0"/>
                    <a:pt x="15120" y="0"/>
                  </a:cubicBezTo>
                  <a:cubicBezTo>
                    <a:pt x="15840" y="0"/>
                    <a:pt x="16560" y="21600"/>
                    <a:pt x="17280" y="21600"/>
                  </a:cubicBezTo>
                  <a:cubicBezTo>
                    <a:pt x="18000" y="21600"/>
                    <a:pt x="18720" y="0"/>
                    <a:pt x="19440" y="0"/>
                  </a:cubicBezTo>
                  <a:cubicBezTo>
                    <a:pt x="20160" y="0"/>
                    <a:pt x="21240" y="180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59" name="B"/>
            <p:cNvSpPr txBox="1"/>
            <p:nvPr/>
          </p:nvSpPr>
          <p:spPr>
            <a:xfrm>
              <a:off x="0" y="381000"/>
              <a:ext cx="321628" cy="4445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7B1142"/>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260" name="A"/>
            <p:cNvSpPr txBox="1"/>
            <p:nvPr/>
          </p:nvSpPr>
          <p:spPr>
            <a:xfrm>
              <a:off x="0" y="0"/>
              <a:ext cx="321628" cy="4445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7B1142"/>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261" name="Line"/>
            <p:cNvSpPr/>
            <p:nvPr/>
          </p:nvSpPr>
          <p:spPr>
            <a:xfrm>
              <a:off x="3941445" y="0"/>
              <a:ext cx="1588" cy="914400"/>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262" name="Line"/>
            <p:cNvSpPr/>
            <p:nvPr/>
          </p:nvSpPr>
          <p:spPr>
            <a:xfrm>
              <a:off x="2112645" y="0"/>
              <a:ext cx="1588" cy="914400"/>
            </a:xfrm>
            <a:prstGeom prst="line">
              <a:avLst/>
            </a:prstGeom>
            <a:noFill/>
            <a:ln w="38100" cap="flat">
              <a:solidFill>
                <a:srgbClr val="7B1142"/>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263" name="common critical region"/>
            <p:cNvSpPr txBox="1"/>
            <p:nvPr/>
          </p:nvSpPr>
          <p:spPr>
            <a:xfrm>
              <a:off x="4062095" y="228600"/>
              <a:ext cx="2441722" cy="36082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spcBef>
                  <a:spcPts val="400"/>
                </a:spcBef>
                <a:buClr>
                  <a:srgbClr val="7B1142"/>
                </a:buClr>
                <a:buFont typeface="Wingdings"/>
                <a:defRPr>
                  <a:solidFill>
                    <a:srgbClr val="7B1142"/>
                  </a:solidFill>
                  <a:uFill>
                    <a:solidFill>
                      <a:srgbClr val="7B1142"/>
                    </a:solidFill>
                  </a:uFill>
                </a:defRPr>
              </a:lvl1pPr>
            </a:lstStyle>
            <a:p>
              <a:r>
                <a:t>common critical region</a:t>
              </a:r>
            </a:p>
          </p:txBody>
        </p:sp>
        <p:sp>
          <p:nvSpPr>
            <p:cNvPr id="264" name="Line"/>
            <p:cNvSpPr/>
            <p:nvPr/>
          </p:nvSpPr>
          <p:spPr>
            <a:xfrm rot="5400000">
              <a:off x="3716642" y="276902"/>
              <a:ext cx="176562" cy="641338"/>
            </a:xfrm>
            <a:custGeom>
              <a:avLst/>
              <a:gdLst/>
              <a:ahLst/>
              <a:cxnLst>
                <a:cxn ang="0">
                  <a:pos x="wd2" y="hd2"/>
                </a:cxn>
                <a:cxn ang="5400000">
                  <a:pos x="wd2" y="hd2"/>
                </a:cxn>
                <a:cxn ang="10800000">
                  <a:pos x="wd2" y="hd2"/>
                </a:cxn>
                <a:cxn ang="16200000">
                  <a:pos x="wd2" y="hd2"/>
                </a:cxn>
              </a:cxnLst>
              <a:rect l="0" t="0" r="r" b="b"/>
              <a:pathLst>
                <a:path w="19139" h="21600" extrusionOk="0">
                  <a:moveTo>
                    <a:pt x="0" y="0"/>
                  </a:moveTo>
                  <a:cubicBezTo>
                    <a:pt x="13326" y="1617"/>
                    <a:pt x="21600" y="8531"/>
                    <a:pt x="18481" y="15441"/>
                  </a:cubicBezTo>
                  <a:cubicBezTo>
                    <a:pt x="17429" y="17773"/>
                    <a:pt x="15141" y="19906"/>
                    <a:pt x="11876" y="21600"/>
                  </a:cubicBezTo>
                </a:path>
              </a:pathLst>
            </a:custGeom>
            <a:noFill/>
            <a:ln w="12700" cap="flat">
              <a:solidFill>
                <a:srgbClr val="7B1142"/>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nvGrpSpPr>
          <p:cNvPr id="290" name="Group"/>
          <p:cNvGrpSpPr/>
          <p:nvPr/>
        </p:nvGrpSpPr>
        <p:grpSpPr>
          <a:xfrm>
            <a:off x="457199" y="3657600"/>
            <a:ext cx="8577844" cy="1828800"/>
            <a:chOff x="0" y="0"/>
            <a:chExt cx="8577842" cy="1828800"/>
          </a:xfrm>
        </p:grpSpPr>
        <p:grpSp>
          <p:nvGrpSpPr>
            <p:cNvPr id="288" name="Group"/>
            <p:cNvGrpSpPr/>
            <p:nvPr/>
          </p:nvGrpSpPr>
          <p:grpSpPr>
            <a:xfrm>
              <a:off x="2002155" y="914400"/>
              <a:ext cx="6575688" cy="914400"/>
              <a:chOff x="0" y="0"/>
              <a:chExt cx="6575687" cy="914400"/>
            </a:xfrm>
          </p:grpSpPr>
          <p:sp>
            <p:nvSpPr>
              <p:cNvPr id="266" name="Line"/>
              <p:cNvSpPr/>
              <p:nvPr/>
            </p:nvSpPr>
            <p:spPr>
              <a:xfrm>
                <a:off x="2112645" y="609600"/>
                <a:ext cx="990601"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00" y="10800"/>
                      <a:pt x="1800" y="0"/>
                      <a:pt x="2700" y="0"/>
                    </a:cubicBezTo>
                    <a:cubicBezTo>
                      <a:pt x="3600" y="0"/>
                      <a:pt x="4500" y="21600"/>
                      <a:pt x="5400" y="21600"/>
                    </a:cubicBezTo>
                    <a:cubicBezTo>
                      <a:pt x="6300" y="21600"/>
                      <a:pt x="7200" y="0"/>
                      <a:pt x="8100" y="0"/>
                    </a:cubicBezTo>
                    <a:cubicBezTo>
                      <a:pt x="9000" y="0"/>
                      <a:pt x="9900" y="21600"/>
                      <a:pt x="10800" y="21600"/>
                    </a:cubicBezTo>
                    <a:cubicBezTo>
                      <a:pt x="11700" y="21600"/>
                      <a:pt x="12600" y="0"/>
                      <a:pt x="13500" y="0"/>
                    </a:cubicBezTo>
                    <a:cubicBezTo>
                      <a:pt x="14400" y="0"/>
                      <a:pt x="15300" y="21600"/>
                      <a:pt x="16200" y="21600"/>
                    </a:cubicBezTo>
                    <a:cubicBezTo>
                      <a:pt x="17100" y="21600"/>
                      <a:pt x="18000" y="0"/>
                      <a:pt x="18900" y="0"/>
                    </a:cubicBezTo>
                    <a:cubicBezTo>
                      <a:pt x="19800" y="0"/>
                      <a:pt x="21150" y="180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269" name="Group"/>
              <p:cNvGrpSpPr/>
              <p:nvPr/>
            </p:nvGrpSpPr>
            <p:grpSpPr>
              <a:xfrm>
                <a:off x="2112645" y="0"/>
                <a:ext cx="1828801" cy="457200"/>
                <a:chOff x="0" y="0"/>
                <a:chExt cx="1828800" cy="457200"/>
              </a:xfrm>
            </p:grpSpPr>
            <p:sp>
              <p:nvSpPr>
                <p:cNvPr id="267" name="Rectangle"/>
                <p:cNvSpPr/>
                <p:nvPr/>
              </p:nvSpPr>
              <p:spPr>
                <a:xfrm>
                  <a:off x="0" y="0"/>
                  <a:ext cx="1828800" cy="457200"/>
                </a:xfrm>
                <a:prstGeom prst="rect">
                  <a:avLst/>
                </a:prstGeom>
                <a:solidFill>
                  <a:srgbClr val="E9E9E9"/>
                </a:solidFill>
                <a:ln w="12700" cap="flat">
                  <a:solidFill>
                    <a:srgbClr val="FFFFFF"/>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68" name="Text"/>
                <p:cNvSpPr txBox="1"/>
                <p:nvPr/>
              </p:nvSpPr>
              <p:spPr>
                <a:xfrm>
                  <a:off x="0" y="48189"/>
                  <a:ext cx="1828800" cy="36082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 </a:t>
                  </a:r>
                </a:p>
              </p:txBody>
            </p:sp>
          </p:grpSp>
          <p:sp>
            <p:nvSpPr>
              <p:cNvPr id="270" name="Line"/>
              <p:cNvSpPr/>
              <p:nvPr/>
            </p:nvSpPr>
            <p:spPr>
              <a:xfrm>
                <a:off x="283845" y="228600"/>
                <a:ext cx="1828801"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71" name="Line"/>
              <p:cNvSpPr/>
              <p:nvPr/>
            </p:nvSpPr>
            <p:spPr>
              <a:xfrm>
                <a:off x="283845" y="609600"/>
                <a:ext cx="1828801"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272" name="pedredstand.jpg" descr="pedredstand.jpg"/>
              <p:cNvPicPr>
                <a:picLocks/>
              </p:cNvPicPr>
              <p:nvPr/>
            </p:nvPicPr>
            <p:blipFill>
              <a:blip r:embed="rId2"/>
              <a:stretch>
                <a:fillRect/>
              </a:stretch>
            </p:blipFill>
            <p:spPr>
              <a:xfrm>
                <a:off x="2603182" y="457200"/>
                <a:ext cx="179389" cy="457200"/>
              </a:xfrm>
              <a:prstGeom prst="rect">
                <a:avLst/>
              </a:prstGeom>
              <a:ln w="12700" cap="flat">
                <a:noFill/>
                <a:miter lim="400000"/>
              </a:ln>
              <a:effectLst/>
            </p:spPr>
          </p:pic>
          <p:pic>
            <p:nvPicPr>
              <p:cNvPr id="273" name="pedbluegray.jpg" descr="pedbluegray.jpg"/>
              <p:cNvPicPr>
                <a:picLocks/>
              </p:cNvPicPr>
              <p:nvPr/>
            </p:nvPicPr>
            <p:blipFill>
              <a:blip r:embed="rId3"/>
              <a:stretch>
                <a:fillRect/>
              </a:stretch>
            </p:blipFill>
            <p:spPr>
              <a:xfrm>
                <a:off x="3255645" y="0"/>
                <a:ext cx="274638" cy="461963"/>
              </a:xfrm>
              <a:prstGeom prst="rect">
                <a:avLst/>
              </a:prstGeom>
              <a:ln w="12700" cap="flat">
                <a:noFill/>
                <a:miter lim="400000"/>
              </a:ln>
              <a:effectLst/>
            </p:spPr>
          </p:pic>
          <p:sp>
            <p:nvSpPr>
              <p:cNvPr id="274" name="Line"/>
              <p:cNvSpPr/>
              <p:nvPr/>
            </p:nvSpPr>
            <p:spPr>
              <a:xfrm>
                <a:off x="2112645" y="228600"/>
                <a:ext cx="1143001"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720" y="10800"/>
                      <a:pt x="1440" y="0"/>
                      <a:pt x="2160" y="0"/>
                    </a:cubicBezTo>
                    <a:cubicBezTo>
                      <a:pt x="2880" y="0"/>
                      <a:pt x="3600" y="21600"/>
                      <a:pt x="4320" y="21600"/>
                    </a:cubicBezTo>
                    <a:cubicBezTo>
                      <a:pt x="5040" y="21600"/>
                      <a:pt x="5760" y="0"/>
                      <a:pt x="6480" y="0"/>
                    </a:cubicBezTo>
                    <a:cubicBezTo>
                      <a:pt x="7200" y="0"/>
                      <a:pt x="7920" y="21600"/>
                      <a:pt x="8640" y="21600"/>
                    </a:cubicBezTo>
                    <a:cubicBezTo>
                      <a:pt x="9360" y="21600"/>
                      <a:pt x="10080" y="0"/>
                      <a:pt x="10800" y="0"/>
                    </a:cubicBezTo>
                    <a:cubicBezTo>
                      <a:pt x="11520" y="0"/>
                      <a:pt x="12240" y="21600"/>
                      <a:pt x="12960" y="21600"/>
                    </a:cubicBezTo>
                    <a:cubicBezTo>
                      <a:pt x="13680" y="21600"/>
                      <a:pt x="14400" y="0"/>
                      <a:pt x="15120" y="0"/>
                    </a:cubicBezTo>
                    <a:cubicBezTo>
                      <a:pt x="15840" y="0"/>
                      <a:pt x="16560" y="21600"/>
                      <a:pt x="17280" y="21600"/>
                    </a:cubicBezTo>
                    <a:cubicBezTo>
                      <a:pt x="18000" y="21600"/>
                      <a:pt x="18720" y="0"/>
                      <a:pt x="19440" y="0"/>
                    </a:cubicBezTo>
                    <a:cubicBezTo>
                      <a:pt x="20160" y="0"/>
                      <a:pt x="21240" y="180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75" name="B"/>
              <p:cNvSpPr txBox="1"/>
              <p:nvPr/>
            </p:nvSpPr>
            <p:spPr>
              <a:xfrm>
                <a:off x="0" y="381000"/>
                <a:ext cx="321628" cy="4445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7B1142"/>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276" name="A"/>
              <p:cNvSpPr txBox="1"/>
              <p:nvPr/>
            </p:nvSpPr>
            <p:spPr>
              <a:xfrm>
                <a:off x="0" y="0"/>
                <a:ext cx="321628" cy="4445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7B1142"/>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grpSp>
            <p:nvGrpSpPr>
              <p:cNvPr id="279" name="Group"/>
              <p:cNvGrpSpPr/>
              <p:nvPr/>
            </p:nvGrpSpPr>
            <p:grpSpPr>
              <a:xfrm>
                <a:off x="2798445" y="457200"/>
                <a:ext cx="1828801" cy="457200"/>
                <a:chOff x="0" y="0"/>
                <a:chExt cx="1828800" cy="457200"/>
              </a:xfrm>
            </p:grpSpPr>
            <p:sp>
              <p:nvSpPr>
                <p:cNvPr id="277" name="Rectangle"/>
                <p:cNvSpPr/>
                <p:nvPr/>
              </p:nvSpPr>
              <p:spPr>
                <a:xfrm>
                  <a:off x="0" y="0"/>
                  <a:ext cx="1828800" cy="457200"/>
                </a:xfrm>
                <a:prstGeom prst="rect">
                  <a:avLst/>
                </a:prstGeom>
                <a:solidFill>
                  <a:srgbClr val="E9E9E9"/>
                </a:solidFill>
                <a:ln w="12700" cap="flat">
                  <a:solidFill>
                    <a:srgbClr val="FFFFFF"/>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78" name="Text"/>
                <p:cNvSpPr txBox="1"/>
                <p:nvPr/>
              </p:nvSpPr>
              <p:spPr>
                <a:xfrm>
                  <a:off x="0" y="48189"/>
                  <a:ext cx="1828800" cy="36082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 </a:t>
                  </a:r>
                </a:p>
              </p:txBody>
            </p:sp>
          </p:grpSp>
          <p:sp>
            <p:nvSpPr>
              <p:cNvPr id="280" name="Line"/>
              <p:cNvSpPr/>
              <p:nvPr/>
            </p:nvSpPr>
            <p:spPr>
              <a:xfrm>
                <a:off x="2798445" y="457200"/>
                <a:ext cx="1588" cy="457200"/>
              </a:xfrm>
              <a:prstGeom prst="line">
                <a:avLst/>
              </a:prstGeom>
              <a:noFill/>
              <a:ln w="38100" cap="flat">
                <a:solidFill>
                  <a:srgbClr val="7B1142"/>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281" name="Line"/>
              <p:cNvSpPr/>
              <p:nvPr/>
            </p:nvSpPr>
            <p:spPr>
              <a:xfrm>
                <a:off x="2112645" y="0"/>
                <a:ext cx="1588" cy="457200"/>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282" name="Line"/>
              <p:cNvSpPr/>
              <p:nvPr/>
            </p:nvSpPr>
            <p:spPr>
              <a:xfrm>
                <a:off x="3941445" y="0"/>
                <a:ext cx="1588" cy="457200"/>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283" name="Line"/>
              <p:cNvSpPr/>
              <p:nvPr/>
            </p:nvSpPr>
            <p:spPr>
              <a:xfrm>
                <a:off x="4627245" y="457200"/>
                <a:ext cx="1588" cy="457200"/>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284" name="A’s critical region"/>
              <p:cNvSpPr txBox="1"/>
              <p:nvPr/>
            </p:nvSpPr>
            <p:spPr>
              <a:xfrm>
                <a:off x="4087495" y="14287"/>
                <a:ext cx="1861627" cy="36082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spcBef>
                    <a:spcPts val="400"/>
                  </a:spcBef>
                  <a:buClr>
                    <a:srgbClr val="7B1142"/>
                  </a:buClr>
                  <a:buFont typeface="Wingdings"/>
                  <a:defRPr>
                    <a:solidFill>
                      <a:srgbClr val="7B1142"/>
                    </a:solidFill>
                    <a:uFill>
                      <a:solidFill>
                        <a:srgbClr val="7B1142"/>
                      </a:solidFill>
                    </a:uFill>
                  </a:defRPr>
                </a:lvl1pPr>
              </a:lstStyle>
              <a:p>
                <a:r>
                  <a:t>A’s critical region</a:t>
                </a:r>
              </a:p>
            </p:txBody>
          </p:sp>
          <p:sp>
            <p:nvSpPr>
              <p:cNvPr id="285" name="B’s critical region"/>
              <p:cNvSpPr txBox="1"/>
              <p:nvPr/>
            </p:nvSpPr>
            <p:spPr>
              <a:xfrm>
                <a:off x="4697095" y="471487"/>
                <a:ext cx="1878594" cy="36082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spcBef>
                    <a:spcPts val="400"/>
                  </a:spcBef>
                  <a:buClr>
                    <a:srgbClr val="7B1142"/>
                  </a:buClr>
                  <a:buFont typeface="Wingdings"/>
                  <a:defRPr>
                    <a:solidFill>
                      <a:srgbClr val="7B1142"/>
                    </a:solidFill>
                    <a:uFill>
                      <a:solidFill>
                        <a:srgbClr val="7B1142"/>
                      </a:solidFill>
                    </a:uFill>
                  </a:defRPr>
                </a:lvl1pPr>
              </a:lstStyle>
              <a:p>
                <a:r>
                  <a:t>B’s critical region</a:t>
                </a:r>
              </a:p>
            </p:txBody>
          </p:sp>
          <p:sp>
            <p:nvSpPr>
              <p:cNvPr id="286" name="Line"/>
              <p:cNvSpPr/>
              <p:nvPr/>
            </p:nvSpPr>
            <p:spPr>
              <a:xfrm rot="5400000">
                <a:off x="3866717" y="109459"/>
                <a:ext cx="117708" cy="425443"/>
              </a:xfrm>
              <a:custGeom>
                <a:avLst/>
                <a:gdLst/>
                <a:ahLst/>
                <a:cxnLst>
                  <a:cxn ang="0">
                    <a:pos x="wd2" y="hd2"/>
                  </a:cxn>
                  <a:cxn ang="5400000">
                    <a:pos x="wd2" y="hd2"/>
                  </a:cxn>
                  <a:cxn ang="10800000">
                    <a:pos x="wd2" y="hd2"/>
                  </a:cxn>
                  <a:cxn ang="16200000">
                    <a:pos x="wd2" y="hd2"/>
                  </a:cxn>
                </a:cxnLst>
                <a:rect l="0" t="0" r="r" b="b"/>
                <a:pathLst>
                  <a:path w="19139" h="21600" extrusionOk="0">
                    <a:moveTo>
                      <a:pt x="0" y="0"/>
                    </a:moveTo>
                    <a:cubicBezTo>
                      <a:pt x="13326" y="1617"/>
                      <a:pt x="21600" y="8531"/>
                      <a:pt x="18481" y="15441"/>
                    </a:cubicBezTo>
                    <a:cubicBezTo>
                      <a:pt x="17429" y="17773"/>
                      <a:pt x="15141" y="19906"/>
                      <a:pt x="11876" y="21600"/>
                    </a:cubicBezTo>
                  </a:path>
                </a:pathLst>
              </a:custGeom>
              <a:noFill/>
              <a:ln w="12700" cap="flat">
                <a:solidFill>
                  <a:srgbClr val="7B1142"/>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87" name="Line"/>
              <p:cNvSpPr/>
              <p:nvPr/>
            </p:nvSpPr>
            <p:spPr>
              <a:xfrm rot="5400000">
                <a:off x="4476318" y="566659"/>
                <a:ext cx="117708" cy="425443"/>
              </a:xfrm>
              <a:custGeom>
                <a:avLst/>
                <a:gdLst/>
                <a:ahLst/>
                <a:cxnLst>
                  <a:cxn ang="0">
                    <a:pos x="wd2" y="hd2"/>
                  </a:cxn>
                  <a:cxn ang="5400000">
                    <a:pos x="wd2" y="hd2"/>
                  </a:cxn>
                  <a:cxn ang="10800000">
                    <a:pos x="wd2" y="hd2"/>
                  </a:cxn>
                  <a:cxn ang="16200000">
                    <a:pos x="wd2" y="hd2"/>
                  </a:cxn>
                </a:cxnLst>
                <a:rect l="0" t="0" r="r" b="b"/>
                <a:pathLst>
                  <a:path w="19139" h="21600" extrusionOk="0">
                    <a:moveTo>
                      <a:pt x="0" y="0"/>
                    </a:moveTo>
                    <a:cubicBezTo>
                      <a:pt x="13326" y="1617"/>
                      <a:pt x="21600" y="8531"/>
                      <a:pt x="18481" y="15441"/>
                    </a:cubicBezTo>
                    <a:cubicBezTo>
                      <a:pt x="17429" y="17773"/>
                      <a:pt x="15141" y="19906"/>
                      <a:pt x="11876" y="21600"/>
                    </a:cubicBezTo>
                  </a:path>
                </a:pathLst>
              </a:custGeom>
              <a:noFill/>
              <a:ln w="12700" cap="flat">
                <a:solidFill>
                  <a:srgbClr val="7B1142"/>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289" name="although it is not necessarily the same region of memory or section of program in both processes"/>
            <p:cNvSpPr txBox="1"/>
            <p:nvPr/>
          </p:nvSpPr>
          <p:spPr>
            <a:xfrm>
              <a:off x="0" y="0"/>
              <a:ext cx="8242300" cy="7874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marL="1067752" indent="-457199">
                <a:spcBef>
                  <a:spcPts val="600"/>
                </a:spcBef>
                <a:buClr>
                  <a:srgbClr val="7B1142"/>
                </a:buClr>
                <a:buSzPct val="100000"/>
                <a:buChar char=""/>
                <a:tabLst>
                  <a:tab pos="495300" algn="l"/>
                  <a:tab pos="1066800" algn="l"/>
                  <a:tab pos="1866900" algn="l"/>
                </a:tabLst>
                <a:defRPr sz="2400">
                  <a:solidFill>
                    <a:srgbClr val="7B1142"/>
                  </a:solidFill>
                  <a:uFill>
                    <a:solidFill>
                      <a:srgbClr val="7B1142"/>
                    </a:solidFill>
                  </a:uFill>
                  <a:latin typeface="Arial Narrow"/>
                  <a:ea typeface="Arial Narrow"/>
                  <a:cs typeface="Arial Narrow"/>
                  <a:sym typeface="Arial Narrow"/>
                </a:defRPr>
              </a:lvl1pPr>
            </a:lstStyle>
            <a:p>
              <a:r>
                <a:t>although it is not necessarily the same region of memory or section of program in both processes</a:t>
              </a:r>
            </a:p>
          </p:txBody>
        </p:sp>
      </p:grpSp>
      <p:sp>
        <p:nvSpPr>
          <p:cNvPr id="291" name="==&gt; but physically different or not, what matters is that these regions cannot be interleaved or executed in parallel (pseudo or real)"/>
          <p:cNvSpPr txBox="1"/>
          <p:nvPr/>
        </p:nvSpPr>
        <p:spPr>
          <a:xfrm>
            <a:off x="457200" y="5486400"/>
            <a:ext cx="8318500" cy="787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lvl1pPr marL="0">
              <a:spcBef>
                <a:spcPts val="600"/>
              </a:spcBef>
              <a:tabLst>
                <a:tab pos="495300" algn="l"/>
                <a:tab pos="1066800" algn="l"/>
                <a:tab pos="1866900" algn="l"/>
              </a:tabLst>
              <a:defRPr sz="2400" i="1">
                <a:solidFill>
                  <a:srgbClr val="7B1142"/>
                </a:solidFill>
                <a:uFill>
                  <a:solidFill>
                    <a:srgbClr val="7B1142"/>
                  </a:solidFill>
                </a:uFill>
                <a:latin typeface="Arial Narrow"/>
                <a:ea typeface="Arial Narrow"/>
                <a:cs typeface="Arial Narrow"/>
                <a:sym typeface="Arial Narrow"/>
              </a:defRPr>
            </a:lvl1pPr>
          </a:lstStyle>
          <a:p>
            <a:r>
              <a:t>==&gt; but physically different or not, what matters is that these regions cannot be interleaved or executed in parallel (pseudo or real)</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2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 grpId="1" animBg="1" advAuto="0"/>
      <p:bldP spid="291" grpId="2"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17</a:t>
            </a:fld>
            <a:endParaRPr/>
          </a:p>
        </p:txBody>
      </p:sp>
      <p:sp>
        <p:nvSpPr>
          <p:cNvPr id="294" name="Solution to Critical-Section Problem"/>
          <p:cNvSpPr txBox="1">
            <a:spLocks noGrp="1"/>
          </p:cNvSpPr>
          <p:nvPr>
            <p:ph type="title"/>
          </p:nvPr>
        </p:nvSpPr>
        <p:spPr>
          <a:xfrm>
            <a:off x="457200" y="274637"/>
            <a:ext cx="8229600" cy="1143001"/>
          </a:xfrm>
          <a:prstGeom prst="rect">
            <a:avLst/>
          </a:prstGeom>
        </p:spPr>
        <p:txBody>
          <a:bodyPr/>
          <a:lstStyle/>
          <a:p>
            <a:r>
              <a:t>Solution to Critical-Section Problem</a:t>
            </a:r>
          </a:p>
        </p:txBody>
      </p:sp>
      <p:sp>
        <p:nvSpPr>
          <p:cNvPr id="295" name="A solution to the critical-section problem must satisfy the following requirements:…"/>
          <p:cNvSpPr txBox="1">
            <a:spLocks noGrp="1"/>
          </p:cNvSpPr>
          <p:nvPr>
            <p:ph type="body" idx="1"/>
          </p:nvPr>
        </p:nvSpPr>
        <p:spPr>
          <a:xfrm>
            <a:off x="457200" y="1166812"/>
            <a:ext cx="8069263" cy="4525963"/>
          </a:xfrm>
          <a:prstGeom prst="rect">
            <a:avLst/>
          </a:prstGeom>
        </p:spPr>
        <p:txBody>
          <a:bodyPr/>
          <a:lstStyle/>
          <a:p>
            <a:pPr>
              <a:buClr>
                <a:srgbClr val="727272"/>
              </a:buClr>
              <a:buSzTx/>
              <a:buFont typeface="Trebuchet MS"/>
              <a:buNone/>
              <a:defRPr>
                <a:solidFill>
                  <a:srgbClr val="000000"/>
                </a:solidFill>
                <a:uFill>
                  <a:solidFill>
                    <a:srgbClr val="000000"/>
                  </a:solidFill>
                </a:uFill>
              </a:defRPr>
            </a:pPr>
            <a:r>
              <a:rPr dirty="0"/>
              <a:t>A solution to the critical-section problem must satisfy the following requirements:</a:t>
            </a:r>
          </a:p>
          <a:p>
            <a:pPr>
              <a:buClr>
                <a:srgbClr val="727272"/>
              </a:buClr>
              <a:buSzTx/>
              <a:buFont typeface="Trebuchet MS"/>
              <a:buNone/>
            </a:pPr>
            <a:r>
              <a:rPr dirty="0"/>
              <a:t>1.	</a:t>
            </a:r>
            <a:r>
              <a:rPr dirty="0">
                <a:solidFill>
                  <a:srgbClr val="4180FF"/>
                </a:solidFill>
                <a:uFill>
                  <a:solidFill>
                    <a:srgbClr val="4180FF"/>
                  </a:solidFill>
                </a:uFill>
              </a:rPr>
              <a:t>Mutual Exclusion</a:t>
            </a:r>
            <a:r>
              <a:rPr dirty="0"/>
              <a:t> </a:t>
            </a:r>
            <a:r>
              <a:rPr lang="en-US" dirty="0"/>
              <a:t>–</a:t>
            </a:r>
          </a:p>
          <a:p>
            <a:pPr>
              <a:buClr>
                <a:srgbClr val="727272"/>
              </a:buClr>
              <a:buSzTx/>
              <a:buFont typeface="Trebuchet MS"/>
              <a:buNone/>
            </a:pPr>
            <a:endParaRPr lang="en-US" dirty="0">
              <a:solidFill>
                <a:srgbClr val="000000"/>
              </a:solidFill>
              <a:uFill>
                <a:solidFill>
                  <a:srgbClr val="000000"/>
                </a:solidFill>
              </a:uFill>
            </a:endParaRPr>
          </a:p>
          <a:p>
            <a:pPr>
              <a:buClr>
                <a:srgbClr val="727272"/>
              </a:buClr>
              <a:buSzTx/>
              <a:buFont typeface="Trebuchet MS"/>
              <a:buNone/>
            </a:pPr>
            <a:endParaRPr dirty="0">
              <a:solidFill>
                <a:srgbClr val="000000"/>
              </a:solidFill>
              <a:uFill>
                <a:solidFill>
                  <a:srgbClr val="000000"/>
                </a:solidFill>
              </a:uFill>
            </a:endParaRPr>
          </a:p>
          <a:p>
            <a:pPr>
              <a:buClr>
                <a:srgbClr val="727272"/>
              </a:buClr>
              <a:buSzTx/>
              <a:buFont typeface="Trebuchet MS"/>
              <a:buNone/>
            </a:pPr>
            <a:r>
              <a:rPr dirty="0"/>
              <a:t>2.	</a:t>
            </a:r>
            <a:r>
              <a:rPr dirty="0">
                <a:solidFill>
                  <a:srgbClr val="4180FF"/>
                </a:solidFill>
                <a:uFill>
                  <a:solidFill>
                    <a:srgbClr val="4180FF"/>
                  </a:solidFill>
                </a:uFill>
              </a:rPr>
              <a:t>Progress</a:t>
            </a:r>
            <a:r>
              <a:rPr dirty="0"/>
              <a:t> -</a:t>
            </a:r>
            <a:endParaRPr dirty="0">
              <a:solidFill>
                <a:srgbClr val="000000"/>
              </a:solidFill>
              <a:uFill>
                <a:solidFill>
                  <a:srgbClr val="000000"/>
                </a:solidFill>
              </a:uFill>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18</a:t>
            </a:fld>
            <a:endParaRPr/>
          </a:p>
        </p:txBody>
      </p:sp>
      <p:sp>
        <p:nvSpPr>
          <p:cNvPr id="294" name="Solution to Critical-Section Problem"/>
          <p:cNvSpPr txBox="1">
            <a:spLocks noGrp="1"/>
          </p:cNvSpPr>
          <p:nvPr>
            <p:ph type="title"/>
          </p:nvPr>
        </p:nvSpPr>
        <p:spPr>
          <a:xfrm>
            <a:off x="457200" y="274637"/>
            <a:ext cx="8229600" cy="1143001"/>
          </a:xfrm>
          <a:prstGeom prst="rect">
            <a:avLst/>
          </a:prstGeom>
        </p:spPr>
        <p:txBody>
          <a:bodyPr/>
          <a:lstStyle/>
          <a:p>
            <a:r>
              <a:t>Solution to Critical-Section Problem</a:t>
            </a:r>
          </a:p>
        </p:txBody>
      </p:sp>
      <p:sp>
        <p:nvSpPr>
          <p:cNvPr id="295" name="A solution to the critical-section problem must satisfy the following requirements:…"/>
          <p:cNvSpPr txBox="1">
            <a:spLocks noGrp="1"/>
          </p:cNvSpPr>
          <p:nvPr>
            <p:ph type="body" idx="1"/>
          </p:nvPr>
        </p:nvSpPr>
        <p:spPr>
          <a:xfrm>
            <a:off x="457200" y="1166812"/>
            <a:ext cx="8069263" cy="4525963"/>
          </a:xfrm>
          <a:prstGeom prst="rect">
            <a:avLst/>
          </a:prstGeom>
        </p:spPr>
        <p:txBody>
          <a:bodyPr/>
          <a:lstStyle/>
          <a:p>
            <a:pPr>
              <a:buClr>
                <a:srgbClr val="727272"/>
              </a:buClr>
              <a:buSzTx/>
              <a:buFont typeface="Trebuchet MS"/>
              <a:buNone/>
              <a:defRPr>
                <a:solidFill>
                  <a:srgbClr val="000000"/>
                </a:solidFill>
                <a:uFill>
                  <a:solidFill>
                    <a:srgbClr val="000000"/>
                  </a:solidFill>
                </a:uFill>
              </a:defRPr>
            </a:pPr>
            <a:r>
              <a:t>A solution to the critical-section problem must satisfy the following requirements:</a:t>
            </a:r>
          </a:p>
          <a:p>
            <a:pPr>
              <a:buClr>
                <a:srgbClr val="727272"/>
              </a:buClr>
              <a:buSzTx/>
              <a:buFont typeface="Trebuchet MS"/>
              <a:buNone/>
            </a:pPr>
            <a:r>
              <a:t>1.	</a:t>
            </a:r>
            <a:r>
              <a:rPr>
                <a:solidFill>
                  <a:srgbClr val="4180FF"/>
                </a:solidFill>
                <a:uFill>
                  <a:solidFill>
                    <a:srgbClr val="4180FF"/>
                  </a:solidFill>
                </a:uFill>
              </a:rPr>
              <a:t>Mutual Exclusion</a:t>
            </a:r>
            <a:r>
              <a:t> - </a:t>
            </a:r>
            <a:r>
              <a:rPr>
                <a:solidFill>
                  <a:srgbClr val="000000"/>
                </a:solidFill>
                <a:uFill>
                  <a:solidFill>
                    <a:srgbClr val="000000"/>
                  </a:solidFill>
                </a:uFill>
              </a:rPr>
              <a:t>If process</a:t>
            </a:r>
            <a:r>
              <a:t> </a:t>
            </a:r>
            <a:r>
              <a:rPr>
                <a:solidFill>
                  <a:srgbClr val="0433FF"/>
                </a:solidFill>
                <a:uFill>
                  <a:solidFill>
                    <a:srgbClr val="0433FF"/>
                  </a:solidFill>
                </a:uFill>
              </a:rPr>
              <a:t>P</a:t>
            </a:r>
            <a:r>
              <a:rPr baseline="-25000">
                <a:solidFill>
                  <a:srgbClr val="0433FF"/>
                </a:solidFill>
                <a:uFill>
                  <a:solidFill>
                    <a:srgbClr val="0433FF"/>
                  </a:solidFill>
                </a:uFill>
              </a:rPr>
              <a:t>i</a:t>
            </a:r>
            <a:r>
              <a:t> </a:t>
            </a:r>
            <a:r>
              <a:rPr>
                <a:solidFill>
                  <a:srgbClr val="000000"/>
                </a:solidFill>
                <a:uFill>
                  <a:solidFill>
                    <a:srgbClr val="000000"/>
                  </a:solidFill>
                </a:uFill>
              </a:rPr>
              <a:t>is executing in its critical section, then no other processes can be executing in their critical sections</a:t>
            </a:r>
          </a:p>
          <a:p>
            <a:pPr>
              <a:buClr>
                <a:srgbClr val="727272"/>
              </a:buClr>
              <a:buSzTx/>
              <a:buFont typeface="Trebuchet MS"/>
              <a:buNone/>
            </a:pPr>
            <a:r>
              <a:t>2.	</a:t>
            </a:r>
            <a:r>
              <a:rPr>
                <a:solidFill>
                  <a:srgbClr val="4180FF"/>
                </a:solidFill>
                <a:uFill>
                  <a:solidFill>
                    <a:srgbClr val="4180FF"/>
                  </a:solidFill>
                </a:uFill>
              </a:rPr>
              <a:t>Progress</a:t>
            </a:r>
            <a:r>
              <a:t> -</a:t>
            </a:r>
            <a:r>
              <a:rPr>
                <a:solidFill>
                  <a:srgbClr val="000000"/>
                </a:solidFill>
                <a:uFill>
                  <a:solidFill>
                    <a:srgbClr val="000000"/>
                  </a:solidFill>
                </a:uFill>
              </a:rPr>
              <a:t> If no process is executing in its critical section and there exist some processes that wish to enter their critical section, then the selection of the processes that will enter the critical section next cannot be postponed indefinitely</a:t>
            </a:r>
          </a:p>
        </p:txBody>
      </p:sp>
    </p:spTree>
    <p:extLst>
      <p:ext uri="{BB962C8B-B14F-4D97-AF65-F5344CB8AC3E}">
        <p14:creationId xmlns:p14="http://schemas.microsoft.com/office/powerpoint/2010/main" val="303148236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19</a:t>
            </a:fld>
            <a:endParaRPr/>
          </a:p>
        </p:txBody>
      </p:sp>
      <p:sp>
        <p:nvSpPr>
          <p:cNvPr id="298" name="Solution to Critical-Section Problem"/>
          <p:cNvSpPr txBox="1">
            <a:spLocks noGrp="1"/>
          </p:cNvSpPr>
          <p:nvPr>
            <p:ph type="title"/>
          </p:nvPr>
        </p:nvSpPr>
        <p:spPr>
          <a:prstGeom prst="rect">
            <a:avLst/>
          </a:prstGeom>
        </p:spPr>
        <p:txBody>
          <a:bodyPr/>
          <a:lstStyle/>
          <a:p>
            <a:r>
              <a:t>Solution to Critical-Section Problem</a:t>
            </a:r>
          </a:p>
        </p:txBody>
      </p:sp>
      <p:sp>
        <p:nvSpPr>
          <p:cNvPr id="299" name="3. Bounded Waiting -  A bound must exist on the number of times that other processes are allowed to enter their critical sections after a process has made a request to enter its critical section and before that request is granted…"/>
          <p:cNvSpPr txBox="1">
            <a:spLocks noGrp="1"/>
          </p:cNvSpPr>
          <p:nvPr>
            <p:ph type="body" idx="1"/>
          </p:nvPr>
        </p:nvSpPr>
        <p:spPr>
          <a:prstGeom prst="rect">
            <a:avLst/>
          </a:prstGeom>
        </p:spPr>
        <p:txBody>
          <a:bodyPr/>
          <a:lstStyle/>
          <a:p>
            <a:pPr>
              <a:buClr>
                <a:srgbClr val="727272"/>
              </a:buClr>
              <a:buSzTx/>
              <a:buFont typeface="Trebuchet MS"/>
              <a:buNone/>
            </a:pPr>
            <a:r>
              <a:t>3.</a:t>
            </a:r>
            <a:r>
              <a:rPr>
                <a:solidFill>
                  <a:srgbClr val="4180FF"/>
                </a:solidFill>
                <a:uFill>
                  <a:solidFill>
                    <a:srgbClr val="4180FF"/>
                  </a:solidFill>
                </a:uFill>
              </a:rPr>
              <a:t> Bounded Waiting</a:t>
            </a:r>
            <a:r>
              <a:t> </a:t>
            </a:r>
            <a:r>
              <a:rPr>
                <a:solidFill>
                  <a:srgbClr val="000000"/>
                </a:solidFill>
                <a:uFill>
                  <a:solidFill>
                    <a:srgbClr val="000000"/>
                  </a:solidFill>
                </a:uFill>
              </a:rPr>
              <a:t>-  A bound must exist on the number of times that other processes are allowed to enter their critical sections after a process has made a request to enter its critical section and before that request is granted</a:t>
            </a:r>
          </a:p>
          <a:p>
            <a:pPr lvl="1">
              <a:buClr>
                <a:srgbClr val="727272"/>
              </a:buClr>
              <a:buSzPct val="125000"/>
              <a:buChar char=""/>
            </a:pPr>
            <a:r>
              <a:rPr>
                <a:solidFill>
                  <a:srgbClr val="000000"/>
                </a:solidFill>
                <a:uFill>
                  <a:solidFill>
                    <a:srgbClr val="000000"/>
                  </a:solidFill>
                </a:uFill>
              </a:rPr>
              <a:t>Assume that each process executes at a nonzero speed </a:t>
            </a:r>
          </a:p>
          <a:p>
            <a:pPr lvl="1">
              <a:buClr>
                <a:srgbClr val="727272"/>
              </a:buClr>
              <a:buSzPct val="125000"/>
              <a:buChar char=""/>
            </a:pPr>
            <a:r>
              <a:rPr>
                <a:solidFill>
                  <a:srgbClr val="000000"/>
                </a:solidFill>
                <a:uFill>
                  <a:solidFill>
                    <a:srgbClr val="000000"/>
                  </a:solidFill>
                </a:uFill>
              </a:rPr>
              <a:t>No assumption concerning relative speed of the</a:t>
            </a:r>
            <a:r>
              <a:t> </a:t>
            </a:r>
            <a:r>
              <a:rPr>
                <a:solidFill>
                  <a:srgbClr val="0433FF"/>
                </a:solidFill>
                <a:uFill>
                  <a:solidFill>
                    <a:srgbClr val="0433FF"/>
                  </a:solidFill>
                </a:uFill>
              </a:rPr>
              <a:t>N</a:t>
            </a:r>
            <a:r>
              <a:t> </a:t>
            </a:r>
            <a:r>
              <a:rPr>
                <a:solidFill>
                  <a:srgbClr val="000000"/>
                </a:solidFill>
                <a:uFill>
                  <a:solidFill>
                    <a:srgbClr val="000000"/>
                  </a:solidFill>
                </a:uFill>
              </a:rPr>
              <a:t>processes</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ace Condition"/>
          <p:cNvSpPr txBox="1">
            <a:spLocks noGrp="1"/>
          </p:cNvSpPr>
          <p:nvPr>
            <p:ph type="title"/>
          </p:nvPr>
        </p:nvSpPr>
        <p:spPr>
          <a:prstGeom prst="rect">
            <a:avLst/>
          </a:prstGeom>
        </p:spPr>
        <p:txBody>
          <a:bodyPr/>
          <a:lstStyle/>
          <a:p>
            <a:r>
              <a:rPr lang="en-US" dirty="0"/>
              <a:t>Mutual Exclusion</a:t>
            </a:r>
            <a:endParaRPr dirty="0"/>
          </a:p>
        </p:txBody>
      </p:sp>
      <p:sp>
        <p:nvSpPr>
          <p:cNvPr id="73"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20</a:t>
            </a:fld>
            <a:endParaRPr/>
          </a:p>
        </p:txBody>
      </p:sp>
      <p:grpSp>
        <p:nvGrpSpPr>
          <p:cNvPr id="80" name="Group"/>
          <p:cNvGrpSpPr/>
          <p:nvPr/>
        </p:nvGrpSpPr>
        <p:grpSpPr>
          <a:xfrm>
            <a:off x="914399" y="1752600"/>
            <a:ext cx="3573147" cy="3048000"/>
            <a:chOff x="0" y="0"/>
            <a:chExt cx="3573144" cy="3048000"/>
          </a:xfrm>
        </p:grpSpPr>
        <p:grpSp>
          <p:nvGrpSpPr>
            <p:cNvPr id="76" name="Group"/>
            <p:cNvGrpSpPr/>
            <p:nvPr/>
          </p:nvGrpSpPr>
          <p:grpSpPr>
            <a:xfrm>
              <a:off x="0" y="0"/>
              <a:ext cx="3276600" cy="3048000"/>
              <a:chOff x="0" y="0"/>
              <a:chExt cx="3276600" cy="3048000"/>
            </a:xfrm>
          </p:grpSpPr>
          <p:sp>
            <p:nvSpPr>
              <p:cNvPr id="74" name="Rectangle"/>
              <p:cNvSpPr/>
              <p:nvPr/>
            </p:nvSpPr>
            <p:spPr>
              <a:xfrm>
                <a:off x="0" y="0"/>
                <a:ext cx="3276600" cy="3048000"/>
              </a:xfrm>
              <a:prstGeom prst="rect">
                <a:avLst/>
              </a:prstGeom>
              <a:solidFill>
                <a:srgbClr val="FFFFFF"/>
              </a:solid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75" name="char chin, chout;//shared…"/>
              <p:cNvSpPr txBox="1"/>
              <p:nvPr/>
            </p:nvSpPr>
            <p:spPr>
              <a:xfrm>
                <a:off x="0" y="0"/>
                <a:ext cx="3276600" cy="28194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4F7A28"/>
                    </a:solidFill>
                    <a:uFill>
                      <a:solidFill>
                        <a:srgbClr val="4F7A28"/>
                      </a:solidFill>
                    </a:uFill>
                    <a:latin typeface="Courier New"/>
                    <a:ea typeface="Courier New"/>
                    <a:cs typeface="Courier New"/>
                    <a:sym typeface="Courier New"/>
                  </a:defRPr>
                </a:pPr>
                <a:r>
                  <a:t>char chin, chout;</a:t>
                </a:r>
                <a:r>
                  <a:rPr sz="1200"/>
                  <a:t>//shared</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1200" b="1">
                    <a:solidFill>
                      <a:srgbClr val="7B1142"/>
                    </a:solidFill>
                    <a:uFill>
                      <a:solidFill>
                        <a:srgbClr val="7B1142"/>
                      </a:solidFill>
                    </a:uFill>
                    <a:latin typeface="Courier New"/>
                    <a:ea typeface="Courier New"/>
                    <a:cs typeface="Courier New"/>
                    <a:sym typeface="Courier New"/>
                  </a:defRPr>
                </a:pPr>
                <a:endParaRPr sz="1200"/>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79" name="Group"/>
            <p:cNvGrpSpPr/>
            <p:nvPr/>
          </p:nvGrpSpPr>
          <p:grpSpPr>
            <a:xfrm>
              <a:off x="3124199" y="609600"/>
              <a:ext cx="448946" cy="2133600"/>
              <a:chOff x="0" y="0"/>
              <a:chExt cx="448944" cy="2133600"/>
            </a:xfrm>
          </p:grpSpPr>
          <p:sp>
            <p:nvSpPr>
              <p:cNvPr id="77" name="A"/>
              <p:cNvSpPr txBox="1"/>
              <p:nvPr/>
            </p:nvSpPr>
            <p:spPr>
              <a:xfrm>
                <a:off x="127317" y="0"/>
                <a:ext cx="321628" cy="4445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rPr dirty="0"/>
                  <a:t>A</a:t>
                </a:r>
              </a:p>
            </p:txBody>
          </p:sp>
          <p:sp>
            <p:nvSpPr>
              <p:cNvPr id="78" name="Line"/>
              <p:cNvSpPr/>
              <p:nvPr/>
            </p:nvSpPr>
            <p:spPr>
              <a:xfrm rot="16200000" flipH="1">
                <a:off x="-876300" y="11811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nvGrpSpPr>
          <p:cNvPr id="87" name="Group"/>
          <p:cNvGrpSpPr/>
          <p:nvPr/>
        </p:nvGrpSpPr>
        <p:grpSpPr>
          <a:xfrm>
            <a:off x="4745354" y="1752600"/>
            <a:ext cx="3683002" cy="3048000"/>
            <a:chOff x="0" y="0"/>
            <a:chExt cx="3683000" cy="3048000"/>
          </a:xfrm>
        </p:grpSpPr>
        <p:grpSp>
          <p:nvGrpSpPr>
            <p:cNvPr id="83" name="Group"/>
            <p:cNvGrpSpPr/>
            <p:nvPr/>
          </p:nvGrpSpPr>
          <p:grpSpPr>
            <a:xfrm>
              <a:off x="293615" y="0"/>
              <a:ext cx="3389386" cy="3048000"/>
              <a:chOff x="0" y="0"/>
              <a:chExt cx="3389385" cy="3048000"/>
            </a:xfrm>
          </p:grpSpPr>
          <p:sp>
            <p:nvSpPr>
              <p:cNvPr id="81" name="Rectangle"/>
              <p:cNvSpPr/>
              <p:nvPr/>
            </p:nvSpPr>
            <p:spPr>
              <a:xfrm>
                <a:off x="0" y="0"/>
                <a:ext cx="3389386" cy="3048000"/>
              </a:xfrm>
              <a:prstGeom prst="rect">
                <a:avLst/>
              </a:prstGeom>
              <a:solidFill>
                <a:srgbClr val="FFFFFF"/>
              </a:solid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82" name="char chin, chout; //shared…"/>
              <p:cNvSpPr txBox="1"/>
              <p:nvPr/>
            </p:nvSpPr>
            <p:spPr>
              <a:xfrm>
                <a:off x="0" y="0"/>
                <a:ext cx="3389386" cy="29972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no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4F7A28"/>
                    </a:solidFill>
                    <a:uFill>
                      <a:solidFill>
                        <a:srgbClr val="4F7A28"/>
                      </a:solidFill>
                    </a:uFill>
                    <a:latin typeface="Courier New"/>
                    <a:ea typeface="Courier New"/>
                    <a:cs typeface="Courier New"/>
                    <a:sym typeface="Courier New"/>
                  </a:defRPr>
                </a:pPr>
                <a:r>
                  <a:t>char chin, chout;</a:t>
                </a:r>
                <a:r>
                  <a:rPr sz="1200"/>
                  <a:t> //shared</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1200" b="1">
                    <a:solidFill>
                      <a:srgbClr val="7B1142"/>
                    </a:solidFill>
                    <a:uFill>
                      <a:solidFill>
                        <a:srgbClr val="7B1142"/>
                      </a:solidFill>
                    </a:uFill>
                    <a:latin typeface="Courier New"/>
                    <a:ea typeface="Courier New"/>
                    <a:cs typeface="Courier New"/>
                    <a:sym typeface="Courier New"/>
                  </a:defRPr>
                </a:pPr>
                <a:endParaRPr sz="1200"/>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86" name="Group"/>
            <p:cNvGrpSpPr/>
            <p:nvPr/>
          </p:nvGrpSpPr>
          <p:grpSpPr>
            <a:xfrm>
              <a:off x="-1" y="609599"/>
              <a:ext cx="451263" cy="2133601"/>
              <a:chOff x="0" y="0"/>
              <a:chExt cx="451261" cy="2133599"/>
            </a:xfrm>
          </p:grpSpPr>
          <p:sp>
            <p:nvSpPr>
              <p:cNvPr id="84" name="B"/>
              <p:cNvSpPr txBox="1"/>
              <p:nvPr/>
            </p:nvSpPr>
            <p:spPr>
              <a:xfrm>
                <a:off x="0" y="0"/>
                <a:ext cx="332699" cy="4445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no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85" name="Line"/>
              <p:cNvSpPr/>
              <p:nvPr/>
            </p:nvSpPr>
            <p:spPr>
              <a:xfrm rot="5400000">
                <a:off x="-502551" y="1179788"/>
                <a:ext cx="1828801" cy="7882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nvGrpSpPr>
          <p:cNvPr id="90" name="Group"/>
          <p:cNvGrpSpPr/>
          <p:nvPr/>
        </p:nvGrpSpPr>
        <p:grpSpPr>
          <a:xfrm>
            <a:off x="914400" y="4953000"/>
            <a:ext cx="3276600" cy="990600"/>
            <a:chOff x="0" y="0"/>
            <a:chExt cx="3276600" cy="990600"/>
          </a:xfrm>
        </p:grpSpPr>
        <p:sp>
          <p:nvSpPr>
            <p:cNvPr id="88" name="Rectangle"/>
            <p:cNvSpPr/>
            <p:nvPr/>
          </p:nvSpPr>
          <p:spPr>
            <a:xfrm>
              <a:off x="0" y="0"/>
              <a:ext cx="3276600" cy="990600"/>
            </a:xfrm>
            <a:prstGeom prst="rect">
              <a:avLst/>
            </a:prstGeom>
            <a:solidFill>
              <a:srgbClr val="A7A7A7"/>
            </a:solidFill>
            <a:ln w="12700" cap="flat">
              <a:solidFill>
                <a:srgbClr val="A7A7A7"/>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89" name="&gt; ./echo…"/>
            <p:cNvSpPr txBox="1"/>
            <p:nvPr/>
          </p:nvSpPr>
          <p:spPr>
            <a:xfrm>
              <a:off x="0" y="0"/>
              <a:ext cx="3276600" cy="8636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&gt; ./echo</a:t>
              </a:r>
            </a:p>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Hello world!</a:t>
              </a:r>
            </a:p>
            <a:p>
              <a:pPr marL="156527">
                <a:buClr>
                  <a:srgbClr val="0433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0433FF"/>
                  </a:solidFill>
                  <a:uFill>
                    <a:solidFill>
                      <a:srgbClr val="0433FF"/>
                    </a:solidFill>
                  </a:uFill>
                  <a:latin typeface="Courier New"/>
                  <a:ea typeface="Courier New"/>
                  <a:cs typeface="Courier New"/>
                  <a:sym typeface="Courier New"/>
                </a:defRPr>
              </a:pPr>
              <a:r>
                <a:t>Hello world!</a:t>
              </a:r>
            </a:p>
          </p:txBody>
        </p:sp>
      </p:grpSp>
      <p:sp>
        <p:nvSpPr>
          <p:cNvPr id="91" name="Single-threaded echo"/>
          <p:cNvSpPr txBox="1"/>
          <p:nvPr/>
        </p:nvSpPr>
        <p:spPr>
          <a:xfrm>
            <a:off x="1515747" y="5943600"/>
            <a:ext cx="2061206" cy="368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buClr>
                <a:srgbClr val="C51B05"/>
              </a:buClr>
              <a:buFont typeface="Arial Narrow"/>
              <a:defRPr b="1">
                <a:solidFill>
                  <a:srgbClr val="C51B05"/>
                </a:solidFill>
                <a:uFill>
                  <a:solidFill>
                    <a:srgbClr val="C51B05"/>
                  </a:solidFill>
                </a:uFill>
                <a:latin typeface="Arial Narrow"/>
                <a:ea typeface="Arial Narrow"/>
                <a:cs typeface="Arial Narrow"/>
                <a:sym typeface="Arial Narrow"/>
              </a:defRPr>
            </a:lvl1pPr>
          </a:lstStyle>
          <a:p>
            <a:r>
              <a:t>Single-threaded echo</a:t>
            </a:r>
          </a:p>
        </p:txBody>
      </p:sp>
      <p:grpSp>
        <p:nvGrpSpPr>
          <p:cNvPr id="96" name="Group"/>
          <p:cNvGrpSpPr/>
          <p:nvPr/>
        </p:nvGrpSpPr>
        <p:grpSpPr>
          <a:xfrm>
            <a:off x="5029200" y="4953000"/>
            <a:ext cx="3378200" cy="1358900"/>
            <a:chOff x="0" y="0"/>
            <a:chExt cx="3378200" cy="1358900"/>
          </a:xfrm>
        </p:grpSpPr>
        <p:sp>
          <p:nvSpPr>
            <p:cNvPr id="92" name="Multithreaded echo (lucky)"/>
            <p:cNvSpPr txBox="1"/>
            <p:nvPr/>
          </p:nvSpPr>
          <p:spPr>
            <a:xfrm>
              <a:off x="384107" y="990600"/>
              <a:ext cx="2608350" cy="3683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noAutofit/>
            </a:bodyPr>
            <a:lstStyle>
              <a:lvl1pPr algn="ctr">
                <a:buClr>
                  <a:srgbClr val="C51B05"/>
                </a:buClr>
                <a:buFont typeface="Arial Narrow"/>
                <a:defRPr b="1">
                  <a:solidFill>
                    <a:srgbClr val="C51B05"/>
                  </a:solidFill>
                  <a:uFill>
                    <a:solidFill>
                      <a:srgbClr val="C51B05"/>
                    </a:solidFill>
                  </a:uFill>
                  <a:latin typeface="Arial Narrow"/>
                  <a:ea typeface="Arial Narrow"/>
                  <a:cs typeface="Arial Narrow"/>
                  <a:sym typeface="Arial Narrow"/>
                </a:defRPr>
              </a:lvl1pPr>
            </a:lstStyle>
            <a:p>
              <a:r>
                <a:t>Multithreaded echo (lucky)</a:t>
              </a:r>
            </a:p>
          </p:txBody>
        </p:sp>
        <p:grpSp>
          <p:nvGrpSpPr>
            <p:cNvPr id="95" name="Group"/>
            <p:cNvGrpSpPr/>
            <p:nvPr/>
          </p:nvGrpSpPr>
          <p:grpSpPr>
            <a:xfrm>
              <a:off x="0" y="0"/>
              <a:ext cx="3378200" cy="990600"/>
              <a:chOff x="0" y="0"/>
              <a:chExt cx="3378200" cy="990600"/>
            </a:xfrm>
          </p:grpSpPr>
          <p:sp>
            <p:nvSpPr>
              <p:cNvPr id="93" name="Rectangle"/>
              <p:cNvSpPr/>
              <p:nvPr/>
            </p:nvSpPr>
            <p:spPr>
              <a:xfrm>
                <a:off x="0" y="0"/>
                <a:ext cx="3378200" cy="990600"/>
              </a:xfrm>
              <a:prstGeom prst="rect">
                <a:avLst/>
              </a:prstGeom>
              <a:solidFill>
                <a:srgbClr val="A7A7A7"/>
              </a:solidFill>
              <a:ln w="12700" cap="flat">
                <a:solidFill>
                  <a:srgbClr val="A7A7A7"/>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94" name="&gt; ./echo…"/>
              <p:cNvSpPr txBox="1"/>
              <p:nvPr/>
            </p:nvSpPr>
            <p:spPr>
              <a:xfrm>
                <a:off x="0" y="0"/>
                <a:ext cx="3378200" cy="8636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noAutofit/>
              </a:bodyPr>
              <a:lstStyle/>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rPr dirty="0"/>
                  <a:t>&gt; ./echo</a:t>
                </a:r>
              </a:p>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rPr dirty="0"/>
                  <a:t>Hello world!</a:t>
                </a:r>
              </a:p>
              <a:p>
                <a:pPr marL="156527">
                  <a:buClr>
                    <a:srgbClr val="0433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sz="2400">
                    <a:solidFill>
                      <a:srgbClr val="7B1142"/>
                    </a:solidFill>
                    <a:uFill>
                      <a:solidFill>
                        <a:srgbClr val="7B1142"/>
                      </a:solidFill>
                    </a:uFill>
                    <a:latin typeface="Times New Roman"/>
                    <a:ea typeface="Times New Roman"/>
                    <a:cs typeface="Times New Roman"/>
                    <a:sym typeface="Times New Roman"/>
                  </a:defRPr>
                </a:pPr>
                <a:r>
                  <a:rPr sz="1800" b="1" dirty="0">
                    <a:solidFill>
                      <a:srgbClr val="0433FF"/>
                    </a:solidFill>
                    <a:uFill>
                      <a:solidFill>
                        <a:srgbClr val="0433FF"/>
                      </a:solidFill>
                    </a:uFill>
                    <a:latin typeface="Courier New"/>
                    <a:ea typeface="Courier New"/>
                    <a:cs typeface="Courier New"/>
                    <a:sym typeface="Courier New"/>
                  </a:rPr>
                  <a:t>H</a:t>
                </a:r>
                <a:r>
                  <a:rPr sz="1800" b="1" dirty="0">
                    <a:solidFill>
                      <a:srgbClr val="FF2600"/>
                    </a:solidFill>
                    <a:uFill>
                      <a:solidFill>
                        <a:srgbClr val="FF2600"/>
                      </a:solidFill>
                    </a:uFill>
                    <a:latin typeface="Courier New"/>
                    <a:ea typeface="Courier New"/>
                    <a:cs typeface="Courier New"/>
                    <a:sym typeface="Courier New"/>
                  </a:rPr>
                  <a:t>e</a:t>
                </a:r>
                <a:r>
                  <a:rPr sz="1800" b="1" dirty="0">
                    <a:solidFill>
                      <a:srgbClr val="0433FF"/>
                    </a:solidFill>
                    <a:uFill>
                      <a:solidFill>
                        <a:srgbClr val="0433FF"/>
                      </a:solidFill>
                    </a:uFill>
                    <a:latin typeface="Courier New"/>
                    <a:ea typeface="Courier New"/>
                    <a:cs typeface="Courier New"/>
                    <a:sym typeface="Courier New"/>
                  </a:rPr>
                  <a:t>l</a:t>
                </a:r>
                <a:r>
                  <a:rPr sz="1800" b="1" dirty="0">
                    <a:solidFill>
                      <a:srgbClr val="FF2600"/>
                    </a:solidFill>
                    <a:uFill>
                      <a:solidFill>
                        <a:srgbClr val="FF2600"/>
                      </a:solidFill>
                    </a:uFill>
                    <a:latin typeface="Courier New"/>
                    <a:ea typeface="Courier New"/>
                    <a:cs typeface="Courier New"/>
                    <a:sym typeface="Courier New"/>
                  </a:rPr>
                  <a:t>lo</a:t>
                </a:r>
                <a:r>
                  <a:rPr sz="1800" b="1" dirty="0">
                    <a:solidFill>
                      <a:srgbClr val="E6ADC8"/>
                    </a:solidFill>
                    <a:uFill>
                      <a:solidFill>
                        <a:srgbClr val="E6ADC8"/>
                      </a:solidFill>
                    </a:uFill>
                    <a:latin typeface="Courier New"/>
                    <a:ea typeface="Courier New"/>
                    <a:cs typeface="Courier New"/>
                    <a:sym typeface="Courier New"/>
                  </a:rPr>
                  <a:t> </a:t>
                </a:r>
                <a:r>
                  <a:rPr sz="1800" b="1" dirty="0">
                    <a:solidFill>
                      <a:srgbClr val="0433FF"/>
                    </a:solidFill>
                    <a:uFill>
                      <a:solidFill>
                        <a:srgbClr val="0433FF"/>
                      </a:solidFill>
                    </a:uFill>
                    <a:latin typeface="Courier New"/>
                    <a:ea typeface="Courier New"/>
                    <a:cs typeface="Courier New"/>
                    <a:sym typeface="Courier New"/>
                  </a:rPr>
                  <a:t>wor</a:t>
                </a:r>
                <a:r>
                  <a:rPr sz="1800" b="1" dirty="0">
                    <a:solidFill>
                      <a:srgbClr val="FF2600"/>
                    </a:solidFill>
                    <a:uFill>
                      <a:solidFill>
                        <a:srgbClr val="FF2600"/>
                      </a:solidFill>
                    </a:uFill>
                    <a:latin typeface="Courier New"/>
                    <a:ea typeface="Courier New"/>
                    <a:cs typeface="Courier New"/>
                    <a:sym typeface="Courier New"/>
                  </a:rPr>
                  <a:t>l</a:t>
                </a:r>
                <a:r>
                  <a:rPr sz="1800" b="1" dirty="0">
                    <a:solidFill>
                      <a:srgbClr val="0433FF"/>
                    </a:solidFill>
                    <a:uFill>
                      <a:solidFill>
                        <a:srgbClr val="0433FF"/>
                      </a:solidFill>
                    </a:uFill>
                    <a:latin typeface="Courier New"/>
                    <a:ea typeface="Courier New"/>
                    <a:cs typeface="Courier New"/>
                    <a:sym typeface="Courier New"/>
                  </a:rPr>
                  <a:t>d</a:t>
                </a:r>
                <a:r>
                  <a:rPr sz="1800" b="1" dirty="0">
                    <a:solidFill>
                      <a:srgbClr val="FF2600"/>
                    </a:solidFill>
                    <a:uFill>
                      <a:solidFill>
                        <a:srgbClr val="FF2600"/>
                      </a:solidFill>
                    </a:uFill>
                    <a:latin typeface="Courier New"/>
                    <a:ea typeface="Courier New"/>
                    <a:cs typeface="Courier New"/>
                    <a:sym typeface="Courier New"/>
                  </a:rPr>
                  <a:t>!</a:t>
                </a:r>
              </a:p>
            </p:txBody>
          </p:sp>
        </p:grpSp>
      </p:grpSp>
      <p:sp>
        <p:nvSpPr>
          <p:cNvPr id="126" name="Significant race conditions in I/O &amp; variable sharing"/>
          <p:cNvSpPr txBox="1"/>
          <p:nvPr/>
        </p:nvSpPr>
        <p:spPr>
          <a:xfrm>
            <a:off x="457200" y="1143000"/>
            <a:ext cx="8318500" cy="5334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lvl1pPr marL="496252" indent="-455612">
              <a:spcBef>
                <a:spcPts val="1600"/>
              </a:spcBef>
              <a:buClr>
                <a:srgbClr val="7B1142"/>
              </a:buClr>
              <a:buSzPct val="70000"/>
              <a:buChar char=""/>
              <a:tabLst>
                <a:tab pos="495300" algn="l"/>
                <a:tab pos="1066800" algn="l"/>
                <a:tab pos="1866900" algn="l"/>
              </a:tabLst>
              <a:defRPr sz="2800" u="sng">
                <a:solidFill>
                  <a:srgbClr val="000000"/>
                </a:solidFill>
                <a:uFill>
                  <a:solidFill>
                    <a:srgbClr val="000000"/>
                  </a:solidFill>
                </a:uFill>
                <a:latin typeface="Arial Narrow"/>
                <a:ea typeface="Arial Narrow"/>
                <a:cs typeface="Arial Narrow"/>
                <a:sym typeface="Arial Narrow"/>
              </a:defRPr>
            </a:lvl1pPr>
          </a:lstStyle>
          <a:p>
            <a:r>
              <a:rPr lang="en-US" u="none" dirty="0"/>
              <a:t>Critical Sections</a:t>
            </a:r>
            <a:endParaRPr u="none" dirty="0"/>
          </a:p>
        </p:txBody>
      </p:sp>
    </p:spTree>
    <p:extLst>
      <p:ext uri="{BB962C8B-B14F-4D97-AF65-F5344CB8AC3E}">
        <p14:creationId xmlns:p14="http://schemas.microsoft.com/office/powerpoint/2010/main" val="1691908522"/>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advAuto="0"/>
      <p:bldP spid="96" grpId="0" animBg="1"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Mutual Exclusion"/>
          <p:cNvSpPr txBox="1">
            <a:spLocks noGrp="1"/>
          </p:cNvSpPr>
          <p:nvPr>
            <p:ph type="title"/>
          </p:nvPr>
        </p:nvSpPr>
        <p:spPr>
          <a:prstGeom prst="rect">
            <a:avLst/>
          </a:prstGeom>
        </p:spPr>
        <p:txBody>
          <a:bodyPr/>
          <a:lstStyle/>
          <a:p>
            <a:r>
              <a:t>Mutual Exclusion</a:t>
            </a:r>
          </a:p>
        </p:txBody>
      </p:sp>
      <p:sp>
        <p:nvSpPr>
          <p:cNvPr id="302"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21</a:t>
            </a:fld>
            <a:endParaRPr/>
          </a:p>
        </p:txBody>
      </p:sp>
      <p:pic>
        <p:nvPicPr>
          <p:cNvPr id="303" name="pedblue.jpg" descr="pedblue.jpg"/>
          <p:cNvPicPr>
            <a:picLocks/>
          </p:cNvPicPr>
          <p:nvPr/>
        </p:nvPicPr>
        <p:blipFill>
          <a:blip r:embed="rId2"/>
          <a:stretch>
            <a:fillRect/>
          </a:stretch>
        </p:blipFill>
        <p:spPr>
          <a:xfrm>
            <a:off x="4213702" y="3754438"/>
            <a:ext cx="274638" cy="461963"/>
          </a:xfrm>
          <a:prstGeom prst="rect">
            <a:avLst/>
          </a:prstGeom>
          <a:ln w="12700">
            <a:miter lim="400000"/>
          </a:ln>
        </p:spPr>
      </p:pic>
      <p:grpSp>
        <p:nvGrpSpPr>
          <p:cNvPr id="311" name="Group"/>
          <p:cNvGrpSpPr/>
          <p:nvPr/>
        </p:nvGrpSpPr>
        <p:grpSpPr>
          <a:xfrm>
            <a:off x="457200" y="1523999"/>
            <a:ext cx="8318500" cy="3790951"/>
            <a:chOff x="0" y="0"/>
            <a:chExt cx="8318500" cy="3790949"/>
          </a:xfrm>
        </p:grpSpPr>
        <p:grpSp>
          <p:nvGrpSpPr>
            <p:cNvPr id="306" name="Group"/>
            <p:cNvGrpSpPr/>
            <p:nvPr/>
          </p:nvGrpSpPr>
          <p:grpSpPr>
            <a:xfrm>
              <a:off x="4572000" y="2378074"/>
              <a:ext cx="3276600" cy="1395414"/>
              <a:chOff x="0" y="0"/>
              <a:chExt cx="3276600" cy="1395412"/>
            </a:xfrm>
          </p:grpSpPr>
          <p:sp>
            <p:nvSpPr>
              <p:cNvPr id="304" name="Rectangle"/>
              <p:cNvSpPr/>
              <p:nvPr/>
            </p:nvSpPr>
            <p:spPr>
              <a:xfrm>
                <a:off x="0" y="0"/>
                <a:ext cx="3276600" cy="1395413"/>
              </a:xfrm>
              <a:prstGeom prst="rect">
                <a:avLst/>
              </a:prstGeom>
              <a:solidFill>
                <a:srgbClr val="A7A7A7"/>
              </a:solidFill>
              <a:ln w="12700" cap="flat">
                <a:solidFill>
                  <a:srgbClr val="7B1142"/>
                </a:solidFill>
                <a:prstDash val="dash"/>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05" name="enter critical region?…"/>
              <p:cNvSpPr txBox="1"/>
              <p:nvPr/>
            </p:nvSpPr>
            <p:spPr>
              <a:xfrm>
                <a:off x="0" y="0"/>
                <a:ext cx="3276600" cy="128778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p>
                <a:pPr marL="91439" marR="91439">
                  <a:spcBef>
                    <a:spcPts val="400"/>
                  </a:spcBef>
                  <a:buClr>
                    <a:srgbClr val="7B1142"/>
                  </a:buClr>
                  <a:buFont typeface="Wingdings"/>
                  <a:defRPr i="1">
                    <a:solidFill>
                      <a:srgbClr val="7B1142"/>
                    </a:solidFill>
                    <a:uFill>
                      <a:solidFill>
                        <a:srgbClr val="7B1142"/>
                      </a:solidFill>
                    </a:uFill>
                    <a:latin typeface="Arial Narrow"/>
                    <a:ea typeface="Arial Narrow"/>
                    <a:cs typeface="Arial Narrow"/>
                    <a:sym typeface="Arial Narrow"/>
                  </a:defRPr>
                </a:pPr>
                <a:r>
                  <a:t>            enter critical region?</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r>
                  <a:t> </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endParaRPr/>
              </a:p>
              <a:p>
                <a:pPr marL="91439" marR="91439">
                  <a:spcBef>
                    <a:spcPts val="400"/>
                  </a:spcBef>
                  <a:buClr>
                    <a:srgbClr val="7B1142"/>
                  </a:buClr>
                  <a:buFont typeface="Wingdings"/>
                  <a:defRPr i="1">
                    <a:solidFill>
                      <a:srgbClr val="7B1142"/>
                    </a:solidFill>
                    <a:uFill>
                      <a:solidFill>
                        <a:srgbClr val="7B1142"/>
                      </a:solidFill>
                    </a:uFill>
                    <a:latin typeface="Arial Narrow"/>
                    <a:ea typeface="Arial Narrow"/>
                    <a:cs typeface="Arial Narrow"/>
                    <a:sym typeface="Arial Narrow"/>
                  </a:defRPr>
                </a:pPr>
                <a:r>
                  <a:t>            exit critical region</a:t>
                </a:r>
              </a:p>
            </p:txBody>
          </p:sp>
        </p:grpSp>
        <p:grpSp>
          <p:nvGrpSpPr>
            <p:cNvPr id="309" name="Group"/>
            <p:cNvGrpSpPr/>
            <p:nvPr/>
          </p:nvGrpSpPr>
          <p:grpSpPr>
            <a:xfrm>
              <a:off x="457200" y="2395537"/>
              <a:ext cx="3276600" cy="1395413"/>
              <a:chOff x="0" y="0"/>
              <a:chExt cx="3276600" cy="1395412"/>
            </a:xfrm>
          </p:grpSpPr>
          <p:sp>
            <p:nvSpPr>
              <p:cNvPr id="307" name="Rectangle"/>
              <p:cNvSpPr/>
              <p:nvPr/>
            </p:nvSpPr>
            <p:spPr>
              <a:xfrm>
                <a:off x="0" y="0"/>
                <a:ext cx="3276600" cy="1395413"/>
              </a:xfrm>
              <a:prstGeom prst="rect">
                <a:avLst/>
              </a:prstGeom>
              <a:solidFill>
                <a:srgbClr val="A7A7A7"/>
              </a:solidFill>
              <a:ln w="12700" cap="flat">
                <a:solidFill>
                  <a:srgbClr val="7B1142"/>
                </a:solidFill>
                <a:prstDash val="dash"/>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08" name="enter critical region?…"/>
              <p:cNvSpPr txBox="1"/>
              <p:nvPr/>
            </p:nvSpPr>
            <p:spPr>
              <a:xfrm>
                <a:off x="0" y="0"/>
                <a:ext cx="3276600" cy="128778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p>
                <a:pPr marL="91439" marR="91439">
                  <a:spcBef>
                    <a:spcPts val="400"/>
                  </a:spcBef>
                  <a:buClr>
                    <a:srgbClr val="7B1142"/>
                  </a:buClr>
                  <a:buFont typeface="Wingdings"/>
                  <a:defRPr i="1">
                    <a:solidFill>
                      <a:srgbClr val="7B1142"/>
                    </a:solidFill>
                    <a:uFill>
                      <a:solidFill>
                        <a:srgbClr val="7B1142"/>
                      </a:solidFill>
                    </a:uFill>
                    <a:latin typeface="Arial Narrow"/>
                    <a:ea typeface="Arial Narrow"/>
                    <a:cs typeface="Arial Narrow"/>
                    <a:sym typeface="Arial Narrow"/>
                  </a:defRPr>
                </a:pPr>
                <a:r>
                  <a:t>            enter critical region?</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r>
                  <a:t> </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endParaRPr/>
              </a:p>
              <a:p>
                <a:pPr marL="91439" marR="91439">
                  <a:spcBef>
                    <a:spcPts val="400"/>
                  </a:spcBef>
                  <a:buClr>
                    <a:srgbClr val="7B1142"/>
                  </a:buClr>
                  <a:buFont typeface="Wingdings"/>
                  <a:defRPr i="1">
                    <a:solidFill>
                      <a:srgbClr val="7B1142"/>
                    </a:solidFill>
                    <a:uFill>
                      <a:solidFill>
                        <a:srgbClr val="7B1142"/>
                      </a:solidFill>
                    </a:uFill>
                    <a:latin typeface="Arial Narrow"/>
                    <a:ea typeface="Arial Narrow"/>
                    <a:cs typeface="Arial Narrow"/>
                    <a:sym typeface="Arial Narrow"/>
                  </a:defRPr>
                </a:pPr>
                <a:r>
                  <a:t>            exit critical region</a:t>
                </a:r>
              </a:p>
            </p:txBody>
          </p:sp>
        </p:grpSp>
        <p:sp>
          <p:nvSpPr>
            <p:cNvPr id="310" name="critical regions can be protected from concurrent access by padding them with entrance and exit gates (we’ll see how later): a thread must try to check in, then it must check out"/>
            <p:cNvSpPr txBox="1"/>
            <p:nvPr/>
          </p:nvSpPr>
          <p:spPr>
            <a:xfrm>
              <a:off x="0" y="0"/>
              <a:ext cx="8318500" cy="11303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lvl1pPr marL="1067752" indent="-457199">
                <a:spcBef>
                  <a:spcPts val="600"/>
                </a:spcBef>
                <a:buClr>
                  <a:srgbClr val="7B1142"/>
                </a:buClr>
                <a:buSzPct val="65000"/>
                <a:buChar char=""/>
                <a:tabLst>
                  <a:tab pos="495300" algn="l"/>
                  <a:tab pos="1066800" algn="l"/>
                  <a:tab pos="1866900" algn="l"/>
                </a:tabLst>
                <a:defRPr sz="2400">
                  <a:solidFill>
                    <a:srgbClr val="7B1142"/>
                  </a:solidFill>
                  <a:uFill>
                    <a:solidFill>
                      <a:srgbClr val="7B1142"/>
                    </a:solidFill>
                  </a:uFill>
                  <a:latin typeface="Arial Narrow"/>
                  <a:ea typeface="Arial Narrow"/>
                  <a:cs typeface="Arial Narrow"/>
                  <a:sym typeface="Arial Narrow"/>
                </a:defRPr>
              </a:lvl1pPr>
            </a:lstStyle>
            <a:p>
              <a:r>
                <a:t>critical regions can be protected from concurrent access by padding them with entrance and exit gates (we’ll see how later): a thread must try to check in, then it must check out </a:t>
              </a:r>
            </a:p>
          </p:txBody>
        </p:sp>
      </p:grpSp>
      <p:sp>
        <p:nvSpPr>
          <p:cNvPr id="312" name="Rectangle"/>
          <p:cNvSpPr/>
          <p:nvPr/>
        </p:nvSpPr>
        <p:spPr>
          <a:xfrm>
            <a:off x="5029200" y="4191000"/>
            <a:ext cx="3289300" cy="838200"/>
          </a:xfrm>
          <a:prstGeom prst="rect">
            <a:avLst/>
          </a:prstGeom>
          <a:solidFill>
            <a:srgbClr val="E9E9E9"/>
          </a:solidFill>
          <a:ln w="12700">
            <a:solidFill>
              <a:srgbClr val="7B1142"/>
            </a:solidFill>
            <a:prstDash val="dash"/>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13" name="Rectangle"/>
          <p:cNvSpPr/>
          <p:nvPr/>
        </p:nvSpPr>
        <p:spPr>
          <a:xfrm>
            <a:off x="912812" y="4191000"/>
            <a:ext cx="3289301" cy="838200"/>
          </a:xfrm>
          <a:prstGeom prst="rect">
            <a:avLst/>
          </a:prstGeom>
          <a:solidFill>
            <a:srgbClr val="E9E9E9"/>
          </a:solidFill>
          <a:ln w="12700">
            <a:solidFill>
              <a:srgbClr val="7B1142"/>
            </a:solidFill>
            <a:prstDash val="dash"/>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14" name="We need mutual exclusion from critical regions"/>
          <p:cNvSpPr txBox="1"/>
          <p:nvPr/>
        </p:nvSpPr>
        <p:spPr>
          <a:xfrm>
            <a:off x="457200" y="1143000"/>
            <a:ext cx="8318500" cy="508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u="sng">
                <a:latin typeface="Arial Narrow"/>
                <a:ea typeface="Arial Narrow"/>
                <a:cs typeface="Arial Narrow"/>
                <a:sym typeface="Arial Narrow"/>
              </a:rPr>
              <a:t>We need </a:t>
            </a:r>
            <a:r>
              <a:rPr sz="2800" b="1" u="sng">
                <a:solidFill>
                  <a:srgbClr val="C51B05"/>
                </a:solidFill>
                <a:uFill>
                  <a:solidFill>
                    <a:srgbClr val="C51B05"/>
                  </a:solidFill>
                </a:uFill>
                <a:latin typeface="Arial Narrow"/>
                <a:ea typeface="Arial Narrow"/>
                <a:cs typeface="Arial Narrow"/>
                <a:sym typeface="Arial Narrow"/>
              </a:rPr>
              <a:t>mutual exclusion</a:t>
            </a:r>
            <a:r>
              <a:rPr sz="2800" u="sng">
                <a:latin typeface="Arial Narrow"/>
                <a:ea typeface="Arial Narrow"/>
                <a:cs typeface="Arial Narrow"/>
                <a:sym typeface="Arial Narrow"/>
              </a:rPr>
              <a:t> from critical regions</a:t>
            </a:r>
          </a:p>
        </p:txBody>
      </p:sp>
      <p:grpSp>
        <p:nvGrpSpPr>
          <p:cNvPr id="317" name="Group"/>
          <p:cNvGrpSpPr/>
          <p:nvPr/>
        </p:nvGrpSpPr>
        <p:grpSpPr>
          <a:xfrm>
            <a:off x="5029200" y="2852737"/>
            <a:ext cx="3276600" cy="3408363"/>
            <a:chOff x="0" y="0"/>
            <a:chExt cx="3276600" cy="3408362"/>
          </a:xfrm>
        </p:grpSpPr>
        <p:sp>
          <p:nvSpPr>
            <p:cNvPr id="315" name="Rectangle"/>
            <p:cNvSpPr/>
            <p:nvPr/>
          </p:nvSpPr>
          <p:spPr>
            <a:xfrm>
              <a:off x="0" y="0"/>
              <a:ext cx="3276600" cy="3408363"/>
            </a:xfrm>
            <a:prstGeom prst="rect">
              <a:avLst/>
            </a:prstGeom>
            <a:no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16" name="void echo()…"/>
            <p:cNvSpPr txBox="1"/>
            <p:nvPr/>
          </p:nvSpPr>
          <p:spPr>
            <a:xfrm>
              <a:off x="0" y="0"/>
              <a:ext cx="3276600" cy="31496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char chin, 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2400">
                  <a:solidFill>
                    <a:srgbClr val="7B1142"/>
                  </a:solidFill>
                  <a:uFill>
                    <a:solidFill>
                      <a:srgbClr val="7B1142"/>
                    </a:solidFill>
                  </a:uFill>
                  <a:latin typeface="Times New Roman"/>
                  <a:ea typeface="Times New Roman"/>
                  <a:cs typeface="Times New Roman"/>
                  <a:sym typeface="Times New Roman"/>
                </a:defRPr>
              </a:pPr>
              <a:r>
                <a:rPr sz="1200" b="1">
                  <a:latin typeface="Courier New"/>
                  <a:ea typeface="Courier New"/>
                  <a:cs typeface="Courier New"/>
                  <a:sym typeface="Courier New"/>
                </a:rPr>
                <a:t> </a:t>
              </a:r>
              <a:r>
                <a:rPr sz="1800" b="1">
                  <a:latin typeface="Courier New"/>
                  <a:ea typeface="Courier New"/>
                  <a:cs typeface="Courier New"/>
                  <a:sym typeface="Courier New"/>
                </a:rP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sz="1800" b="1">
                <a:latin typeface="Courier New"/>
                <a:ea typeface="Courier New"/>
                <a:cs typeface="Courier New"/>
                <a:sym typeface="Courier New"/>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sp>
        <p:nvSpPr>
          <p:cNvPr id="318" name="B"/>
          <p:cNvSpPr txBox="1"/>
          <p:nvPr/>
        </p:nvSpPr>
        <p:spPr>
          <a:xfrm>
            <a:off x="4745354" y="3309937"/>
            <a:ext cx="321629" cy="444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319" name="A"/>
          <p:cNvSpPr txBox="1"/>
          <p:nvPr/>
        </p:nvSpPr>
        <p:spPr>
          <a:xfrm>
            <a:off x="4165917" y="3309937"/>
            <a:ext cx="321629" cy="444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320" name="Line"/>
          <p:cNvSpPr/>
          <p:nvPr/>
        </p:nvSpPr>
        <p:spPr>
          <a:xfrm>
            <a:off x="5082558" y="3024186"/>
            <a:ext cx="76200" cy="5715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0800" y="1440"/>
                  <a:pt x="21600" y="2880"/>
                  <a:pt x="21600" y="4320"/>
                </a:cubicBezTo>
                <a:cubicBezTo>
                  <a:pt x="21600" y="5760"/>
                  <a:pt x="0" y="7200"/>
                  <a:pt x="0" y="8640"/>
                </a:cubicBezTo>
                <a:cubicBezTo>
                  <a:pt x="0" y="10080"/>
                  <a:pt x="21600" y="11520"/>
                  <a:pt x="21600" y="12960"/>
                </a:cubicBezTo>
                <a:cubicBezTo>
                  <a:pt x="21600" y="14400"/>
                  <a:pt x="0" y="15840"/>
                  <a:pt x="0" y="17280"/>
                </a:cubicBezTo>
                <a:cubicBezTo>
                  <a:pt x="0" y="18720"/>
                  <a:pt x="18000" y="20880"/>
                  <a:pt x="21600" y="21600"/>
                </a:cubicBezTo>
              </a:path>
            </a:pathLst>
          </a:custGeom>
          <a:ln w="19050">
            <a:solidFill>
              <a:srgbClr val="FF2600"/>
            </a:solidFill>
            <a:tailEnd type="triangle"/>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21" name="Line"/>
          <p:cNvSpPr/>
          <p:nvPr/>
        </p:nvSpPr>
        <p:spPr>
          <a:xfrm>
            <a:off x="5027612" y="4191000"/>
            <a:ext cx="3276601" cy="1588"/>
          </a:xfrm>
          <a:prstGeom prst="line">
            <a:avLst/>
          </a:prstGeom>
          <a:ln w="38100">
            <a:solidFill>
              <a:srgbClr val="7B1142"/>
            </a:solidFill>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22" name="Line"/>
          <p:cNvSpPr/>
          <p:nvPr/>
        </p:nvSpPr>
        <p:spPr>
          <a:xfrm>
            <a:off x="4038600" y="3614737"/>
            <a:ext cx="76200" cy="11430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0800" y="720"/>
                  <a:pt x="0" y="1440"/>
                  <a:pt x="0" y="2160"/>
                </a:cubicBezTo>
                <a:cubicBezTo>
                  <a:pt x="0" y="2880"/>
                  <a:pt x="21600" y="3600"/>
                  <a:pt x="21600" y="4320"/>
                </a:cubicBezTo>
                <a:cubicBezTo>
                  <a:pt x="21600" y="5040"/>
                  <a:pt x="0" y="5760"/>
                  <a:pt x="0" y="6480"/>
                </a:cubicBezTo>
                <a:cubicBezTo>
                  <a:pt x="0" y="7200"/>
                  <a:pt x="21600" y="7920"/>
                  <a:pt x="21600" y="8640"/>
                </a:cubicBezTo>
                <a:cubicBezTo>
                  <a:pt x="21600" y="9360"/>
                  <a:pt x="0" y="10080"/>
                  <a:pt x="0" y="10800"/>
                </a:cubicBezTo>
                <a:cubicBezTo>
                  <a:pt x="0" y="11520"/>
                  <a:pt x="21600" y="12240"/>
                  <a:pt x="21600" y="12960"/>
                </a:cubicBezTo>
                <a:cubicBezTo>
                  <a:pt x="21600" y="13680"/>
                  <a:pt x="0" y="14400"/>
                  <a:pt x="0" y="15120"/>
                </a:cubicBezTo>
                <a:cubicBezTo>
                  <a:pt x="0" y="15840"/>
                  <a:pt x="21600" y="16560"/>
                  <a:pt x="21600" y="17280"/>
                </a:cubicBezTo>
                <a:cubicBezTo>
                  <a:pt x="21600" y="18000"/>
                  <a:pt x="0" y="18720"/>
                  <a:pt x="0" y="19440"/>
                </a:cubicBezTo>
                <a:cubicBezTo>
                  <a:pt x="0" y="20160"/>
                  <a:pt x="18000" y="21240"/>
                  <a:pt x="21600" y="21600"/>
                </a:cubicBezTo>
              </a:path>
            </a:pathLst>
          </a:custGeom>
          <a:ln w="19050">
            <a:solidFill>
              <a:srgbClr val="0433FF"/>
            </a:solidFill>
            <a:tailEnd type="triangle"/>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325" name="Group"/>
          <p:cNvGrpSpPr/>
          <p:nvPr/>
        </p:nvGrpSpPr>
        <p:grpSpPr>
          <a:xfrm>
            <a:off x="914400" y="2865437"/>
            <a:ext cx="3276600" cy="3408363"/>
            <a:chOff x="0" y="0"/>
            <a:chExt cx="3276600" cy="3408362"/>
          </a:xfrm>
        </p:grpSpPr>
        <p:sp>
          <p:nvSpPr>
            <p:cNvPr id="323" name="Rectangle"/>
            <p:cNvSpPr/>
            <p:nvPr/>
          </p:nvSpPr>
          <p:spPr>
            <a:xfrm>
              <a:off x="0" y="0"/>
              <a:ext cx="3276600" cy="3408363"/>
            </a:xfrm>
            <a:prstGeom prst="rect">
              <a:avLst/>
            </a:prstGeom>
            <a:no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24" name="void echo()…"/>
            <p:cNvSpPr txBox="1"/>
            <p:nvPr/>
          </p:nvSpPr>
          <p:spPr>
            <a:xfrm>
              <a:off x="0" y="0"/>
              <a:ext cx="3276600" cy="31496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char chin, 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2400">
                  <a:solidFill>
                    <a:srgbClr val="7B1142"/>
                  </a:solidFill>
                  <a:uFill>
                    <a:solidFill>
                      <a:srgbClr val="7B1142"/>
                    </a:solidFill>
                  </a:uFill>
                  <a:latin typeface="Times New Roman"/>
                  <a:ea typeface="Times New Roman"/>
                  <a:cs typeface="Times New Roman"/>
                  <a:sym typeface="Times New Roman"/>
                </a:defRPr>
              </a:pPr>
              <a:r>
                <a:rPr sz="1200" b="1">
                  <a:latin typeface="Courier New"/>
                  <a:ea typeface="Courier New"/>
                  <a:cs typeface="Courier New"/>
                  <a:sym typeface="Courier New"/>
                </a:rPr>
                <a:t> </a:t>
              </a:r>
              <a:r>
                <a:rPr sz="1800" b="1">
                  <a:latin typeface="Courier New"/>
                  <a:ea typeface="Courier New"/>
                  <a:cs typeface="Courier New"/>
                  <a:sym typeface="Courier New"/>
                </a:rP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sz="1800" b="1">
                <a:latin typeface="Courier New"/>
                <a:ea typeface="Courier New"/>
                <a:cs typeface="Courier New"/>
                <a:sym typeface="Courier New"/>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pic>
        <p:nvPicPr>
          <p:cNvPr id="326" name="pedredstand.jpg" descr="pedredstand.jpg"/>
          <p:cNvPicPr>
            <a:picLocks/>
          </p:cNvPicPr>
          <p:nvPr/>
        </p:nvPicPr>
        <p:blipFill>
          <a:blip r:embed="rId3"/>
          <a:stretch>
            <a:fillRect/>
          </a:stretch>
        </p:blipFill>
        <p:spPr>
          <a:xfrm>
            <a:off x="4760929" y="2933701"/>
            <a:ext cx="179388" cy="457200"/>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 grpId="1" animBg="1"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Mutual Exclusion"/>
          <p:cNvSpPr txBox="1">
            <a:spLocks noGrp="1"/>
          </p:cNvSpPr>
          <p:nvPr>
            <p:ph type="title"/>
          </p:nvPr>
        </p:nvSpPr>
        <p:spPr>
          <a:prstGeom prst="rect">
            <a:avLst/>
          </a:prstGeom>
        </p:spPr>
        <p:txBody>
          <a:bodyPr/>
          <a:lstStyle/>
          <a:p>
            <a:r>
              <a:t>Mutual Exclusion</a:t>
            </a:r>
          </a:p>
        </p:txBody>
      </p:sp>
      <p:sp>
        <p:nvSpPr>
          <p:cNvPr id="329"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22</a:t>
            </a:fld>
            <a:endParaRPr/>
          </a:p>
        </p:txBody>
      </p:sp>
      <p:grpSp>
        <p:nvGrpSpPr>
          <p:cNvPr id="332" name="Group"/>
          <p:cNvGrpSpPr/>
          <p:nvPr/>
        </p:nvGrpSpPr>
        <p:grpSpPr>
          <a:xfrm>
            <a:off x="6629400" y="1828800"/>
            <a:ext cx="1828800" cy="914400"/>
            <a:chOff x="0" y="0"/>
            <a:chExt cx="1828800" cy="914400"/>
          </a:xfrm>
        </p:grpSpPr>
        <p:sp>
          <p:nvSpPr>
            <p:cNvPr id="330" name="Rectangle"/>
            <p:cNvSpPr/>
            <p:nvPr/>
          </p:nvSpPr>
          <p:spPr>
            <a:xfrm>
              <a:off x="0" y="0"/>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31" name="critical region"/>
            <p:cNvSpPr txBox="1"/>
            <p:nvPr/>
          </p:nvSpPr>
          <p:spPr>
            <a:xfrm>
              <a:off x="0" y="276789"/>
              <a:ext cx="1828800" cy="36082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333" name="thread A reaches the gate to the critical region (CR) before B…"/>
          <p:cNvSpPr txBox="1"/>
          <p:nvPr/>
        </p:nvSpPr>
        <p:spPr>
          <a:xfrm>
            <a:off x="457200" y="1828800"/>
            <a:ext cx="4127500" cy="16312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thread A reaches the gate to the critical region (CR) before B</a:t>
            </a:r>
          </a:p>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endParaRPr dirty="0"/>
          </a:p>
        </p:txBody>
      </p:sp>
      <p:sp>
        <p:nvSpPr>
          <p:cNvPr id="334" name="Desired effect: mutual exclusion from the critical region"/>
          <p:cNvSpPr txBox="1"/>
          <p:nvPr/>
        </p:nvSpPr>
        <p:spPr>
          <a:xfrm>
            <a:off x="457200" y="1219200"/>
            <a:ext cx="8394700" cy="508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lvl1pPr marL="496252" indent="-455612">
              <a:spcBef>
                <a:spcPts val="1600"/>
              </a:spcBef>
              <a:buClr>
                <a:srgbClr val="7B1142"/>
              </a:buClr>
              <a:buSzPct val="70000"/>
              <a:buChar char=""/>
              <a:tabLst>
                <a:tab pos="495300" algn="l"/>
                <a:tab pos="1066800" algn="l"/>
                <a:tab pos="1866900" algn="l"/>
              </a:tabLst>
              <a:defRPr sz="2800" u="sng">
                <a:solidFill>
                  <a:srgbClr val="7B1142"/>
                </a:solidFill>
                <a:uFill>
                  <a:solidFill>
                    <a:srgbClr val="7B1142"/>
                  </a:solidFill>
                </a:uFill>
                <a:latin typeface="Arial Narrow"/>
                <a:ea typeface="Arial Narrow"/>
                <a:cs typeface="Arial Narrow"/>
                <a:sym typeface="Arial Narrow"/>
              </a:defRPr>
            </a:lvl1pPr>
          </a:lstStyle>
          <a:p>
            <a:r>
              <a:rPr dirty="0"/>
              <a:t>Desired effect: mutual exclusion from the critical region</a:t>
            </a:r>
          </a:p>
        </p:txBody>
      </p:sp>
      <p:sp>
        <p:nvSpPr>
          <p:cNvPr id="338" name="Line"/>
          <p:cNvSpPr/>
          <p:nvPr/>
        </p:nvSpPr>
        <p:spPr>
          <a:xfrm>
            <a:off x="4800600" y="2057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39" name="Line"/>
          <p:cNvSpPr/>
          <p:nvPr/>
        </p:nvSpPr>
        <p:spPr>
          <a:xfrm>
            <a:off x="4800600" y="2438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FF2600"/>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348" name="Group"/>
          <p:cNvGrpSpPr/>
          <p:nvPr/>
        </p:nvGrpSpPr>
        <p:grpSpPr>
          <a:xfrm>
            <a:off x="6324600" y="1828800"/>
            <a:ext cx="274638" cy="461963"/>
            <a:chOff x="0" y="0"/>
            <a:chExt cx="274637" cy="461962"/>
          </a:xfrm>
        </p:grpSpPr>
        <p:sp>
          <p:nvSpPr>
            <p:cNvPr id="346" name="Rectangle"/>
            <p:cNvSpPr/>
            <p:nvPr/>
          </p:nvSpPr>
          <p:spPr>
            <a:xfrm>
              <a:off x="0" y="0"/>
              <a:ext cx="274638" cy="461963"/>
            </a:xfrm>
            <a:prstGeom prst="rect">
              <a:avLst/>
            </a:prstGeom>
            <a:solidFill>
              <a:srgbClr val="E6ADC8"/>
            </a:solidFill>
            <a:ln w="12700" cap="flat">
              <a:noFill/>
              <a:miter lim="400000"/>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347" name="pedblue.jpg" descr="pedblue.jpg"/>
            <p:cNvPicPr>
              <a:picLocks/>
            </p:cNvPicPr>
            <p:nvPr/>
          </p:nvPicPr>
          <p:blipFill>
            <a:blip r:embed="rId2"/>
            <a:stretch>
              <a:fillRect/>
            </a:stretch>
          </p:blipFill>
          <p:spPr>
            <a:xfrm>
              <a:off x="0" y="0"/>
              <a:ext cx="274638" cy="461963"/>
            </a:xfrm>
            <a:prstGeom prst="rect">
              <a:avLst/>
            </a:prstGeom>
            <a:ln w="12700" cap="flat">
              <a:noFill/>
              <a:miter lim="400000"/>
            </a:ln>
            <a:effectLst/>
          </p:spPr>
        </p:pic>
      </p:grpSp>
      <p:sp>
        <p:nvSpPr>
          <p:cNvPr id="350" name="Rectangle"/>
          <p:cNvSpPr/>
          <p:nvPr/>
        </p:nvSpPr>
        <p:spPr>
          <a:xfrm>
            <a:off x="5791200" y="2286000"/>
            <a:ext cx="850900" cy="457200"/>
          </a:xfrm>
          <a:prstGeom prst="rect">
            <a:avLst/>
          </a:prstGeom>
          <a:solidFill>
            <a:srgbClr val="FFFFFF"/>
          </a:solidFill>
          <a:ln>
            <a:solidFill>
              <a:srgbClr val="FFFFFF"/>
            </a:solidFill>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51" name="Line"/>
          <p:cNvSpPr/>
          <p:nvPr/>
        </p:nvSpPr>
        <p:spPr>
          <a:xfrm>
            <a:off x="6629400" y="1828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52" name="Line"/>
          <p:cNvSpPr/>
          <p:nvPr/>
        </p:nvSpPr>
        <p:spPr>
          <a:xfrm>
            <a:off x="8458200" y="1828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pic>
        <p:nvPicPr>
          <p:cNvPr id="353" name="pedred.jpg" descr="pedred.jpg"/>
          <p:cNvPicPr>
            <a:picLocks/>
          </p:cNvPicPr>
          <p:nvPr/>
        </p:nvPicPr>
        <p:blipFill>
          <a:blip r:embed="rId3"/>
          <a:stretch>
            <a:fillRect/>
          </a:stretch>
        </p:blipFill>
        <p:spPr>
          <a:xfrm>
            <a:off x="5779770" y="2240756"/>
            <a:ext cx="265113" cy="446088"/>
          </a:xfrm>
          <a:prstGeom prst="rect">
            <a:avLst/>
          </a:prstGeom>
          <a:ln w="12700">
            <a:miter lim="400000"/>
          </a:ln>
        </p:spPr>
      </p:pic>
      <p:sp>
        <p:nvSpPr>
          <p:cNvPr id="367" name="B"/>
          <p:cNvSpPr txBox="1"/>
          <p:nvPr/>
        </p:nvSpPr>
        <p:spPr>
          <a:xfrm>
            <a:off x="4516754" y="2209800"/>
            <a:ext cx="321629" cy="44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368" name="A"/>
          <p:cNvSpPr txBox="1"/>
          <p:nvPr/>
        </p:nvSpPr>
        <p:spPr>
          <a:xfrm>
            <a:off x="4516754" y="1828800"/>
            <a:ext cx="321629" cy="44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381" name="HOW is this…"/>
          <p:cNvSpPr txBox="1"/>
          <p:nvPr/>
        </p:nvSpPr>
        <p:spPr>
          <a:xfrm rot="16200000">
            <a:off x="-354844" y="3693504"/>
            <a:ext cx="1437978" cy="5758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marL="0" marR="0" algn="ctr">
              <a:buClr>
                <a:srgbClr val="C51B05"/>
              </a:buClr>
              <a:buFont typeface="Wingdings"/>
              <a:defRPr sz="2000" b="1">
                <a:solidFill>
                  <a:srgbClr val="C51B05"/>
                </a:solidFill>
                <a:uFill>
                  <a:solidFill>
                    <a:srgbClr val="C51B05"/>
                  </a:solidFill>
                </a:uFill>
              </a:defRPr>
            </a:pPr>
            <a:r>
              <a:t>HOW is this</a:t>
            </a:r>
          </a:p>
          <a:p>
            <a:pPr marL="0" marR="0" algn="ctr">
              <a:buClr>
                <a:srgbClr val="C51B05"/>
              </a:buClr>
              <a:buFont typeface="Wingdings"/>
              <a:defRPr sz="2000" b="1">
                <a:solidFill>
                  <a:srgbClr val="C51B05"/>
                </a:solidFill>
                <a:uFill>
                  <a:solidFill>
                    <a:srgbClr val="C51B05"/>
                  </a:solidFill>
                </a:uFill>
              </a:defRPr>
            </a:pPr>
            <a:r>
              <a:t>achieved??</a:t>
            </a:r>
          </a:p>
        </p:txBody>
      </p:sp>
      <p:sp>
        <p:nvSpPr>
          <p:cNvPr id="382" name="Line"/>
          <p:cNvSpPr/>
          <p:nvPr/>
        </p:nvSpPr>
        <p:spPr>
          <a:xfrm>
            <a:off x="762000" y="2895600"/>
            <a:ext cx="304800" cy="220980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5635" y="0"/>
                  <a:pt x="10800" y="806"/>
                  <a:pt x="10800" y="1800"/>
                </a:cubicBezTo>
                <a:lnTo>
                  <a:pt x="10800" y="9000"/>
                </a:lnTo>
                <a:cubicBezTo>
                  <a:pt x="10800" y="9994"/>
                  <a:pt x="5965" y="10800"/>
                  <a:pt x="0" y="10800"/>
                </a:cubicBezTo>
                <a:cubicBezTo>
                  <a:pt x="5965" y="10800"/>
                  <a:pt x="10800" y="11606"/>
                  <a:pt x="10800" y="12600"/>
                </a:cubicBezTo>
                <a:lnTo>
                  <a:pt x="10800" y="19800"/>
                </a:lnTo>
                <a:cubicBezTo>
                  <a:pt x="10800" y="20794"/>
                  <a:pt x="15635" y="21600"/>
                  <a:pt x="21600" y="21600"/>
                </a:cubicBezTo>
              </a:path>
            </a:pathLst>
          </a:custGeom>
          <a:ln w="12700">
            <a:solidFill>
              <a:srgbClr val="C51B05"/>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2" name="Group">
            <a:extLst>
              <a:ext uri="{FF2B5EF4-FFF2-40B4-BE49-F238E27FC236}">
                <a16:creationId xmlns:a16="http://schemas.microsoft.com/office/drawing/2014/main" id="{EA9F37B8-72B5-998B-2788-1F4CBA1F771B}"/>
              </a:ext>
            </a:extLst>
          </p:cNvPr>
          <p:cNvGrpSpPr/>
          <p:nvPr/>
        </p:nvGrpSpPr>
        <p:grpSpPr>
          <a:xfrm>
            <a:off x="6697346" y="3085366"/>
            <a:ext cx="1828800" cy="914400"/>
            <a:chOff x="0" y="0"/>
            <a:chExt cx="1828800" cy="914400"/>
          </a:xfrm>
        </p:grpSpPr>
        <p:sp>
          <p:nvSpPr>
            <p:cNvPr id="3" name="Rectangle">
              <a:extLst>
                <a:ext uri="{FF2B5EF4-FFF2-40B4-BE49-F238E27FC236}">
                  <a16:creationId xmlns:a16="http://schemas.microsoft.com/office/drawing/2014/main" id="{52A4A4D8-5D0A-CEA4-88E3-92E98DB3754F}"/>
                </a:ext>
              </a:extLst>
            </p:cNvPr>
            <p:cNvSpPr/>
            <p:nvPr/>
          </p:nvSpPr>
          <p:spPr>
            <a:xfrm>
              <a:off x="0" y="0"/>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 name="critical region">
              <a:extLst>
                <a:ext uri="{FF2B5EF4-FFF2-40B4-BE49-F238E27FC236}">
                  <a16:creationId xmlns:a16="http://schemas.microsoft.com/office/drawing/2014/main" id="{728FA281-D2D3-0297-7768-B6B15248C319}"/>
                </a:ext>
              </a:extLst>
            </p:cNvPr>
            <p:cNvSpPr txBox="1"/>
            <p:nvPr/>
          </p:nvSpPr>
          <p:spPr>
            <a:xfrm>
              <a:off x="0" y="276789"/>
              <a:ext cx="1828800" cy="36082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5" name="Line">
            <a:extLst>
              <a:ext uri="{FF2B5EF4-FFF2-40B4-BE49-F238E27FC236}">
                <a16:creationId xmlns:a16="http://schemas.microsoft.com/office/drawing/2014/main" id="{B953C868-C8F0-B319-1AC5-360C60E98E35}"/>
              </a:ext>
            </a:extLst>
          </p:cNvPr>
          <p:cNvSpPr/>
          <p:nvPr/>
        </p:nvSpPr>
        <p:spPr>
          <a:xfrm>
            <a:off x="4868546" y="3313966"/>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 name="Line">
            <a:extLst>
              <a:ext uri="{FF2B5EF4-FFF2-40B4-BE49-F238E27FC236}">
                <a16:creationId xmlns:a16="http://schemas.microsoft.com/office/drawing/2014/main" id="{9941B168-A7AC-3208-9602-8458ABBAD727}"/>
              </a:ext>
            </a:extLst>
          </p:cNvPr>
          <p:cNvSpPr/>
          <p:nvPr/>
        </p:nvSpPr>
        <p:spPr>
          <a:xfrm>
            <a:off x="4868546" y="3694966"/>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FF2600"/>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7" name="Group">
            <a:extLst>
              <a:ext uri="{FF2B5EF4-FFF2-40B4-BE49-F238E27FC236}">
                <a16:creationId xmlns:a16="http://schemas.microsoft.com/office/drawing/2014/main" id="{EA965080-7A97-FC54-D81D-20FB7EF9D99A}"/>
              </a:ext>
            </a:extLst>
          </p:cNvPr>
          <p:cNvGrpSpPr/>
          <p:nvPr/>
        </p:nvGrpSpPr>
        <p:grpSpPr>
          <a:xfrm>
            <a:off x="6160375" y="3111350"/>
            <a:ext cx="450085" cy="392532"/>
            <a:chOff x="0" y="0"/>
            <a:chExt cx="274637" cy="461962"/>
          </a:xfrm>
        </p:grpSpPr>
        <p:sp>
          <p:nvSpPr>
            <p:cNvPr id="8" name="Rectangle">
              <a:extLst>
                <a:ext uri="{FF2B5EF4-FFF2-40B4-BE49-F238E27FC236}">
                  <a16:creationId xmlns:a16="http://schemas.microsoft.com/office/drawing/2014/main" id="{D3EF2EE0-2582-11BB-10D8-70876411DE3C}"/>
                </a:ext>
              </a:extLst>
            </p:cNvPr>
            <p:cNvSpPr/>
            <p:nvPr/>
          </p:nvSpPr>
          <p:spPr>
            <a:xfrm>
              <a:off x="0" y="0"/>
              <a:ext cx="274638" cy="461963"/>
            </a:xfrm>
            <a:prstGeom prst="rect">
              <a:avLst/>
            </a:prstGeom>
            <a:solidFill>
              <a:srgbClr val="E6ADC8"/>
            </a:solidFill>
            <a:ln w="12700" cap="flat">
              <a:noFill/>
              <a:miter lim="400000"/>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9" name="pedblue.jpg" descr="pedblue.jpg">
              <a:extLst>
                <a:ext uri="{FF2B5EF4-FFF2-40B4-BE49-F238E27FC236}">
                  <a16:creationId xmlns:a16="http://schemas.microsoft.com/office/drawing/2014/main" id="{6987679F-F2BC-88C7-B6CB-3BD0FD28DB94}"/>
                </a:ext>
              </a:extLst>
            </p:cNvPr>
            <p:cNvPicPr>
              <a:picLocks/>
            </p:cNvPicPr>
            <p:nvPr/>
          </p:nvPicPr>
          <p:blipFill>
            <a:blip r:embed="rId2"/>
            <a:stretch>
              <a:fillRect/>
            </a:stretch>
          </p:blipFill>
          <p:spPr>
            <a:xfrm>
              <a:off x="0" y="0"/>
              <a:ext cx="274638" cy="461963"/>
            </a:xfrm>
            <a:prstGeom prst="rect">
              <a:avLst/>
            </a:prstGeom>
            <a:ln w="12700" cap="flat">
              <a:noFill/>
              <a:miter lim="400000"/>
            </a:ln>
            <a:effectLst/>
          </p:spPr>
        </p:pic>
      </p:grpSp>
      <p:sp>
        <p:nvSpPr>
          <p:cNvPr id="10" name="Rectangle">
            <a:extLst>
              <a:ext uri="{FF2B5EF4-FFF2-40B4-BE49-F238E27FC236}">
                <a16:creationId xmlns:a16="http://schemas.microsoft.com/office/drawing/2014/main" id="{FD90F1CE-8455-FE9B-4A34-976613E87555}"/>
              </a:ext>
            </a:extLst>
          </p:cNvPr>
          <p:cNvSpPr/>
          <p:nvPr/>
        </p:nvSpPr>
        <p:spPr>
          <a:xfrm>
            <a:off x="5859146" y="3542566"/>
            <a:ext cx="850900" cy="457200"/>
          </a:xfrm>
          <a:prstGeom prst="rect">
            <a:avLst/>
          </a:prstGeom>
          <a:solidFill>
            <a:srgbClr val="FFFFFF"/>
          </a:solidFill>
          <a:ln>
            <a:solidFill>
              <a:srgbClr val="FFFFFF"/>
            </a:solidFill>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1" name="Line">
            <a:extLst>
              <a:ext uri="{FF2B5EF4-FFF2-40B4-BE49-F238E27FC236}">
                <a16:creationId xmlns:a16="http://schemas.microsoft.com/office/drawing/2014/main" id="{6F43A0A8-17C3-B7B2-0E01-996C288215E7}"/>
              </a:ext>
            </a:extLst>
          </p:cNvPr>
          <p:cNvSpPr/>
          <p:nvPr/>
        </p:nvSpPr>
        <p:spPr>
          <a:xfrm>
            <a:off x="6654898" y="3143835"/>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12" name="Line">
            <a:extLst>
              <a:ext uri="{FF2B5EF4-FFF2-40B4-BE49-F238E27FC236}">
                <a16:creationId xmlns:a16="http://schemas.microsoft.com/office/drawing/2014/main" id="{B12B0734-9A8D-3DE0-DC72-5E9CC0EB141F}"/>
              </a:ext>
            </a:extLst>
          </p:cNvPr>
          <p:cNvSpPr/>
          <p:nvPr/>
        </p:nvSpPr>
        <p:spPr>
          <a:xfrm>
            <a:off x="8526146" y="3085366"/>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pic>
        <p:nvPicPr>
          <p:cNvPr id="13" name="pedred.jpg" descr="pedred.jpg">
            <a:extLst>
              <a:ext uri="{FF2B5EF4-FFF2-40B4-BE49-F238E27FC236}">
                <a16:creationId xmlns:a16="http://schemas.microsoft.com/office/drawing/2014/main" id="{ABB2E1D2-B47E-606E-4E6A-4F2778BFEDBA}"/>
              </a:ext>
            </a:extLst>
          </p:cNvPr>
          <p:cNvPicPr>
            <a:picLocks/>
          </p:cNvPicPr>
          <p:nvPr/>
        </p:nvPicPr>
        <p:blipFill>
          <a:blip r:embed="rId3"/>
          <a:stretch>
            <a:fillRect/>
          </a:stretch>
        </p:blipFill>
        <p:spPr>
          <a:xfrm>
            <a:off x="5840586" y="3503883"/>
            <a:ext cx="416436" cy="590471"/>
          </a:xfrm>
          <a:prstGeom prst="rect">
            <a:avLst/>
          </a:prstGeom>
          <a:ln w="12700">
            <a:miter lim="400000"/>
          </a:ln>
        </p:spPr>
      </p:pic>
      <p:sp>
        <p:nvSpPr>
          <p:cNvPr id="14" name="B">
            <a:extLst>
              <a:ext uri="{FF2B5EF4-FFF2-40B4-BE49-F238E27FC236}">
                <a16:creationId xmlns:a16="http://schemas.microsoft.com/office/drawing/2014/main" id="{3113D8EC-3FA0-8D50-6E1F-FA88CE2D3693}"/>
              </a:ext>
            </a:extLst>
          </p:cNvPr>
          <p:cNvSpPr txBox="1"/>
          <p:nvPr/>
        </p:nvSpPr>
        <p:spPr>
          <a:xfrm>
            <a:off x="4584700" y="3466366"/>
            <a:ext cx="321629" cy="44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15" name="A">
            <a:extLst>
              <a:ext uri="{FF2B5EF4-FFF2-40B4-BE49-F238E27FC236}">
                <a16:creationId xmlns:a16="http://schemas.microsoft.com/office/drawing/2014/main" id="{63B4F03D-BD16-027A-145A-EF814A112DEE}"/>
              </a:ext>
            </a:extLst>
          </p:cNvPr>
          <p:cNvSpPr txBox="1"/>
          <p:nvPr/>
        </p:nvSpPr>
        <p:spPr>
          <a:xfrm>
            <a:off x="4584700" y="3085366"/>
            <a:ext cx="321629" cy="44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06CF7-59AD-3CC1-22A2-4FF4688C9F00}"/>
            </a:ext>
          </a:extLst>
        </p:cNvPr>
        <p:cNvGrpSpPr/>
        <p:nvPr/>
      </p:nvGrpSpPr>
      <p:grpSpPr>
        <a:xfrm>
          <a:off x="0" y="0"/>
          <a:ext cx="0" cy="0"/>
          <a:chOff x="0" y="0"/>
          <a:chExt cx="0" cy="0"/>
        </a:xfrm>
      </p:grpSpPr>
      <p:sp>
        <p:nvSpPr>
          <p:cNvPr id="328" name="Mutual Exclusion">
            <a:extLst>
              <a:ext uri="{FF2B5EF4-FFF2-40B4-BE49-F238E27FC236}">
                <a16:creationId xmlns:a16="http://schemas.microsoft.com/office/drawing/2014/main" id="{A86BC9ED-5499-180E-C7A7-43B67E1A88AD}"/>
              </a:ext>
            </a:extLst>
          </p:cNvPr>
          <p:cNvSpPr txBox="1">
            <a:spLocks noGrp="1"/>
          </p:cNvSpPr>
          <p:nvPr>
            <p:ph type="title"/>
          </p:nvPr>
        </p:nvSpPr>
        <p:spPr>
          <a:prstGeom prst="rect">
            <a:avLst/>
          </a:prstGeom>
        </p:spPr>
        <p:txBody>
          <a:bodyPr/>
          <a:lstStyle/>
          <a:p>
            <a:r>
              <a:t>Mutual Exclusion</a:t>
            </a:r>
          </a:p>
        </p:txBody>
      </p:sp>
      <p:sp>
        <p:nvSpPr>
          <p:cNvPr id="329" name="Slide Number">
            <a:extLst>
              <a:ext uri="{FF2B5EF4-FFF2-40B4-BE49-F238E27FC236}">
                <a16:creationId xmlns:a16="http://schemas.microsoft.com/office/drawing/2014/main" id="{D7F1D2CB-560F-8E3D-98C2-BE184335413F}"/>
              </a:ext>
            </a:extLst>
          </p:cNvP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23</a:t>
            </a:fld>
            <a:endParaRPr/>
          </a:p>
        </p:txBody>
      </p:sp>
      <p:grpSp>
        <p:nvGrpSpPr>
          <p:cNvPr id="332" name="Group">
            <a:extLst>
              <a:ext uri="{FF2B5EF4-FFF2-40B4-BE49-F238E27FC236}">
                <a16:creationId xmlns:a16="http://schemas.microsoft.com/office/drawing/2014/main" id="{E402711B-58C4-D220-E425-6811A647120C}"/>
              </a:ext>
            </a:extLst>
          </p:cNvPr>
          <p:cNvGrpSpPr/>
          <p:nvPr/>
        </p:nvGrpSpPr>
        <p:grpSpPr>
          <a:xfrm>
            <a:off x="6629400" y="1828800"/>
            <a:ext cx="1828800" cy="914400"/>
            <a:chOff x="0" y="0"/>
            <a:chExt cx="1828800" cy="914400"/>
          </a:xfrm>
        </p:grpSpPr>
        <p:sp>
          <p:nvSpPr>
            <p:cNvPr id="330" name="Rectangle">
              <a:extLst>
                <a:ext uri="{FF2B5EF4-FFF2-40B4-BE49-F238E27FC236}">
                  <a16:creationId xmlns:a16="http://schemas.microsoft.com/office/drawing/2014/main" id="{A7607D91-AC3C-541C-925E-7FED450086D9}"/>
                </a:ext>
              </a:extLst>
            </p:cNvPr>
            <p:cNvSpPr/>
            <p:nvPr/>
          </p:nvSpPr>
          <p:spPr>
            <a:xfrm>
              <a:off x="0" y="0"/>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31" name="critical region">
              <a:extLst>
                <a:ext uri="{FF2B5EF4-FFF2-40B4-BE49-F238E27FC236}">
                  <a16:creationId xmlns:a16="http://schemas.microsoft.com/office/drawing/2014/main" id="{5A63482E-78AE-BA24-B0F1-3722273B3D4B}"/>
                </a:ext>
              </a:extLst>
            </p:cNvPr>
            <p:cNvSpPr txBox="1"/>
            <p:nvPr/>
          </p:nvSpPr>
          <p:spPr>
            <a:xfrm>
              <a:off x="0" y="276789"/>
              <a:ext cx="1828800" cy="36082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333" name="thread A reaches the gate to the critical region (CR) before B…">
            <a:extLst>
              <a:ext uri="{FF2B5EF4-FFF2-40B4-BE49-F238E27FC236}">
                <a16:creationId xmlns:a16="http://schemas.microsoft.com/office/drawing/2014/main" id="{2E4E1F01-A8D5-B513-AECA-64C4E46CE7A1}"/>
              </a:ext>
            </a:extLst>
          </p:cNvPr>
          <p:cNvSpPr txBox="1"/>
          <p:nvPr/>
        </p:nvSpPr>
        <p:spPr>
          <a:xfrm>
            <a:off x="457200" y="1828800"/>
            <a:ext cx="4127500" cy="16312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thread A reaches the gate to the critical region (CR) before B</a:t>
            </a:r>
          </a:p>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endParaRPr dirty="0"/>
          </a:p>
        </p:txBody>
      </p:sp>
      <p:sp>
        <p:nvSpPr>
          <p:cNvPr id="334" name="Desired effect: mutual exclusion from the critical region">
            <a:extLst>
              <a:ext uri="{FF2B5EF4-FFF2-40B4-BE49-F238E27FC236}">
                <a16:creationId xmlns:a16="http://schemas.microsoft.com/office/drawing/2014/main" id="{5C28B3A8-2AA7-8833-86BA-9910158389BE}"/>
              </a:ext>
            </a:extLst>
          </p:cNvPr>
          <p:cNvSpPr txBox="1"/>
          <p:nvPr/>
        </p:nvSpPr>
        <p:spPr>
          <a:xfrm>
            <a:off x="457200" y="1219200"/>
            <a:ext cx="8394700" cy="508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lvl1pPr marL="496252" indent="-455612">
              <a:spcBef>
                <a:spcPts val="1600"/>
              </a:spcBef>
              <a:buClr>
                <a:srgbClr val="7B1142"/>
              </a:buClr>
              <a:buSzPct val="70000"/>
              <a:buChar char=""/>
              <a:tabLst>
                <a:tab pos="495300" algn="l"/>
                <a:tab pos="1066800" algn="l"/>
                <a:tab pos="1866900" algn="l"/>
              </a:tabLst>
              <a:defRPr sz="2800" u="sng">
                <a:solidFill>
                  <a:srgbClr val="7B1142"/>
                </a:solidFill>
                <a:uFill>
                  <a:solidFill>
                    <a:srgbClr val="7B1142"/>
                  </a:solidFill>
                </a:uFill>
                <a:latin typeface="Arial Narrow"/>
                <a:ea typeface="Arial Narrow"/>
                <a:cs typeface="Arial Narrow"/>
                <a:sym typeface="Arial Narrow"/>
              </a:defRPr>
            </a:lvl1pPr>
          </a:lstStyle>
          <a:p>
            <a:r>
              <a:rPr dirty="0"/>
              <a:t>Desired effect: mutual exclusion from the critical region</a:t>
            </a:r>
          </a:p>
        </p:txBody>
      </p:sp>
      <p:sp>
        <p:nvSpPr>
          <p:cNvPr id="338" name="Line">
            <a:extLst>
              <a:ext uri="{FF2B5EF4-FFF2-40B4-BE49-F238E27FC236}">
                <a16:creationId xmlns:a16="http://schemas.microsoft.com/office/drawing/2014/main" id="{C06FC795-1325-5236-C0E3-A5FA6880FDF5}"/>
              </a:ext>
            </a:extLst>
          </p:cNvPr>
          <p:cNvSpPr/>
          <p:nvPr/>
        </p:nvSpPr>
        <p:spPr>
          <a:xfrm>
            <a:off x="4800600" y="2057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39" name="Line">
            <a:extLst>
              <a:ext uri="{FF2B5EF4-FFF2-40B4-BE49-F238E27FC236}">
                <a16:creationId xmlns:a16="http://schemas.microsoft.com/office/drawing/2014/main" id="{4886F0DF-5978-44AA-18CD-AD5B9A27ECC5}"/>
              </a:ext>
            </a:extLst>
          </p:cNvPr>
          <p:cNvSpPr/>
          <p:nvPr/>
        </p:nvSpPr>
        <p:spPr>
          <a:xfrm>
            <a:off x="4800600" y="2438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FF2600"/>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348" name="Group">
            <a:extLst>
              <a:ext uri="{FF2B5EF4-FFF2-40B4-BE49-F238E27FC236}">
                <a16:creationId xmlns:a16="http://schemas.microsoft.com/office/drawing/2014/main" id="{469D2A9E-99E4-8756-E46D-B8A3465446DA}"/>
              </a:ext>
            </a:extLst>
          </p:cNvPr>
          <p:cNvGrpSpPr/>
          <p:nvPr/>
        </p:nvGrpSpPr>
        <p:grpSpPr>
          <a:xfrm>
            <a:off x="6324600" y="1828800"/>
            <a:ext cx="274638" cy="461963"/>
            <a:chOff x="0" y="0"/>
            <a:chExt cx="274637" cy="461962"/>
          </a:xfrm>
        </p:grpSpPr>
        <p:sp>
          <p:nvSpPr>
            <p:cNvPr id="346" name="Rectangle">
              <a:extLst>
                <a:ext uri="{FF2B5EF4-FFF2-40B4-BE49-F238E27FC236}">
                  <a16:creationId xmlns:a16="http://schemas.microsoft.com/office/drawing/2014/main" id="{AC2A4130-813D-EDA2-9E68-4F1CE7399C37}"/>
                </a:ext>
              </a:extLst>
            </p:cNvPr>
            <p:cNvSpPr/>
            <p:nvPr/>
          </p:nvSpPr>
          <p:spPr>
            <a:xfrm>
              <a:off x="0" y="0"/>
              <a:ext cx="274638" cy="461963"/>
            </a:xfrm>
            <a:prstGeom prst="rect">
              <a:avLst/>
            </a:prstGeom>
            <a:solidFill>
              <a:srgbClr val="E6ADC8"/>
            </a:solidFill>
            <a:ln w="12700" cap="flat">
              <a:noFill/>
              <a:miter lim="400000"/>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347" name="pedblue.jpg" descr="pedblue.jpg">
              <a:extLst>
                <a:ext uri="{FF2B5EF4-FFF2-40B4-BE49-F238E27FC236}">
                  <a16:creationId xmlns:a16="http://schemas.microsoft.com/office/drawing/2014/main" id="{72B0D116-9D0B-CB4D-B386-33874A21BF9F}"/>
                </a:ext>
              </a:extLst>
            </p:cNvPr>
            <p:cNvPicPr>
              <a:picLocks/>
            </p:cNvPicPr>
            <p:nvPr/>
          </p:nvPicPr>
          <p:blipFill>
            <a:blip r:embed="rId2"/>
            <a:stretch>
              <a:fillRect/>
            </a:stretch>
          </p:blipFill>
          <p:spPr>
            <a:xfrm>
              <a:off x="0" y="0"/>
              <a:ext cx="274638" cy="461963"/>
            </a:xfrm>
            <a:prstGeom prst="rect">
              <a:avLst/>
            </a:prstGeom>
            <a:ln w="12700" cap="flat">
              <a:noFill/>
              <a:miter lim="400000"/>
            </a:ln>
            <a:effectLst/>
          </p:spPr>
        </p:pic>
      </p:grpSp>
      <p:sp>
        <p:nvSpPr>
          <p:cNvPr id="350" name="Rectangle">
            <a:extLst>
              <a:ext uri="{FF2B5EF4-FFF2-40B4-BE49-F238E27FC236}">
                <a16:creationId xmlns:a16="http://schemas.microsoft.com/office/drawing/2014/main" id="{FB89C97E-B11B-AFE2-7BA7-3115A4912C1C}"/>
              </a:ext>
            </a:extLst>
          </p:cNvPr>
          <p:cNvSpPr/>
          <p:nvPr/>
        </p:nvSpPr>
        <p:spPr>
          <a:xfrm>
            <a:off x="5791200" y="2286000"/>
            <a:ext cx="850900" cy="457200"/>
          </a:xfrm>
          <a:prstGeom prst="rect">
            <a:avLst/>
          </a:prstGeom>
          <a:solidFill>
            <a:srgbClr val="FFFFFF"/>
          </a:solidFill>
          <a:ln>
            <a:solidFill>
              <a:srgbClr val="FFFFFF"/>
            </a:solidFill>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51" name="Line">
            <a:extLst>
              <a:ext uri="{FF2B5EF4-FFF2-40B4-BE49-F238E27FC236}">
                <a16:creationId xmlns:a16="http://schemas.microsoft.com/office/drawing/2014/main" id="{8B05B61E-CFA9-B80B-E93E-C678CC71F673}"/>
              </a:ext>
            </a:extLst>
          </p:cNvPr>
          <p:cNvSpPr/>
          <p:nvPr/>
        </p:nvSpPr>
        <p:spPr>
          <a:xfrm>
            <a:off x="6629400" y="1828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52" name="Line">
            <a:extLst>
              <a:ext uri="{FF2B5EF4-FFF2-40B4-BE49-F238E27FC236}">
                <a16:creationId xmlns:a16="http://schemas.microsoft.com/office/drawing/2014/main" id="{6B718A28-98AF-D390-95AE-2AFF2AF0F031}"/>
              </a:ext>
            </a:extLst>
          </p:cNvPr>
          <p:cNvSpPr/>
          <p:nvPr/>
        </p:nvSpPr>
        <p:spPr>
          <a:xfrm>
            <a:off x="8458200" y="1828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pic>
        <p:nvPicPr>
          <p:cNvPr id="353" name="pedred.jpg" descr="pedred.jpg">
            <a:extLst>
              <a:ext uri="{FF2B5EF4-FFF2-40B4-BE49-F238E27FC236}">
                <a16:creationId xmlns:a16="http://schemas.microsoft.com/office/drawing/2014/main" id="{016811EF-437F-79C7-25FA-54CA297F6350}"/>
              </a:ext>
            </a:extLst>
          </p:cNvPr>
          <p:cNvPicPr>
            <a:picLocks/>
          </p:cNvPicPr>
          <p:nvPr/>
        </p:nvPicPr>
        <p:blipFill>
          <a:blip r:embed="rId3"/>
          <a:stretch>
            <a:fillRect/>
          </a:stretch>
        </p:blipFill>
        <p:spPr>
          <a:xfrm>
            <a:off x="5866711" y="2240756"/>
            <a:ext cx="265113" cy="446088"/>
          </a:xfrm>
          <a:prstGeom prst="rect">
            <a:avLst/>
          </a:prstGeom>
          <a:ln w="12700">
            <a:miter lim="400000"/>
          </a:ln>
        </p:spPr>
      </p:pic>
      <p:sp>
        <p:nvSpPr>
          <p:cNvPr id="367" name="B">
            <a:extLst>
              <a:ext uri="{FF2B5EF4-FFF2-40B4-BE49-F238E27FC236}">
                <a16:creationId xmlns:a16="http://schemas.microsoft.com/office/drawing/2014/main" id="{AA3CA5CF-752E-CD68-6A01-577A87145BCA}"/>
              </a:ext>
            </a:extLst>
          </p:cNvPr>
          <p:cNvSpPr txBox="1"/>
          <p:nvPr/>
        </p:nvSpPr>
        <p:spPr>
          <a:xfrm>
            <a:off x="4516754" y="2209800"/>
            <a:ext cx="321629" cy="44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368" name="A">
            <a:extLst>
              <a:ext uri="{FF2B5EF4-FFF2-40B4-BE49-F238E27FC236}">
                <a16:creationId xmlns:a16="http://schemas.microsoft.com/office/drawing/2014/main" id="{31A0EA63-B686-69FC-22CA-113F28F6025F}"/>
              </a:ext>
            </a:extLst>
          </p:cNvPr>
          <p:cNvSpPr txBox="1"/>
          <p:nvPr/>
        </p:nvSpPr>
        <p:spPr>
          <a:xfrm>
            <a:off x="4516754" y="1828800"/>
            <a:ext cx="321629" cy="44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pic>
        <p:nvPicPr>
          <p:cNvPr id="16" name="pedredstand.jpg" descr="pedredstand.jpg">
            <a:extLst>
              <a:ext uri="{FF2B5EF4-FFF2-40B4-BE49-F238E27FC236}">
                <a16:creationId xmlns:a16="http://schemas.microsoft.com/office/drawing/2014/main" id="{8AEDEC50-D345-66D3-6DC4-331C6B0B9251}"/>
              </a:ext>
            </a:extLst>
          </p:cNvPr>
          <p:cNvPicPr>
            <a:picLocks/>
          </p:cNvPicPr>
          <p:nvPr/>
        </p:nvPicPr>
        <p:blipFill>
          <a:blip r:embed="rId4"/>
          <a:stretch>
            <a:fillRect/>
          </a:stretch>
        </p:blipFill>
        <p:spPr>
          <a:xfrm>
            <a:off x="2742032" y="635000"/>
            <a:ext cx="179388" cy="457200"/>
          </a:xfrm>
          <a:prstGeom prst="rect">
            <a:avLst/>
          </a:prstGeom>
          <a:ln w="12700">
            <a:miter lim="400000"/>
          </a:ln>
        </p:spPr>
      </p:pic>
    </p:spTree>
    <p:extLst>
      <p:ext uri="{BB962C8B-B14F-4D97-AF65-F5344CB8AC3E}">
        <p14:creationId xmlns:p14="http://schemas.microsoft.com/office/powerpoint/2010/main" val="3127243242"/>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Mutual Exclusion"/>
          <p:cNvSpPr txBox="1">
            <a:spLocks noGrp="1"/>
          </p:cNvSpPr>
          <p:nvPr>
            <p:ph type="title"/>
          </p:nvPr>
        </p:nvSpPr>
        <p:spPr>
          <a:prstGeom prst="rect">
            <a:avLst/>
          </a:prstGeom>
        </p:spPr>
        <p:txBody>
          <a:bodyPr/>
          <a:lstStyle/>
          <a:p>
            <a:r>
              <a:t>Mutual Exclusion</a:t>
            </a:r>
          </a:p>
        </p:txBody>
      </p:sp>
      <p:sp>
        <p:nvSpPr>
          <p:cNvPr id="329"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24</a:t>
            </a:fld>
            <a:endParaRPr/>
          </a:p>
        </p:txBody>
      </p:sp>
      <p:grpSp>
        <p:nvGrpSpPr>
          <p:cNvPr id="332" name="Group"/>
          <p:cNvGrpSpPr/>
          <p:nvPr/>
        </p:nvGrpSpPr>
        <p:grpSpPr>
          <a:xfrm>
            <a:off x="6629400" y="1828800"/>
            <a:ext cx="1828800" cy="914400"/>
            <a:chOff x="0" y="0"/>
            <a:chExt cx="1828800" cy="914400"/>
          </a:xfrm>
        </p:grpSpPr>
        <p:sp>
          <p:nvSpPr>
            <p:cNvPr id="330" name="Rectangle"/>
            <p:cNvSpPr/>
            <p:nvPr/>
          </p:nvSpPr>
          <p:spPr>
            <a:xfrm>
              <a:off x="0" y="0"/>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31" name="critical region"/>
            <p:cNvSpPr txBox="1"/>
            <p:nvPr/>
          </p:nvSpPr>
          <p:spPr>
            <a:xfrm>
              <a:off x="0" y="276789"/>
              <a:ext cx="1828800" cy="36082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333" name="thread A reaches the gate to the critical region (CR) before B…"/>
          <p:cNvSpPr txBox="1"/>
          <p:nvPr/>
        </p:nvSpPr>
        <p:spPr>
          <a:xfrm>
            <a:off x="457200" y="1828800"/>
            <a:ext cx="4127500" cy="36957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thread A reaches the gate to the critical region (CR) before B</a:t>
            </a:r>
          </a:p>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thread A enters CR first, preventing B from entering (B is waiting or is blocked)</a:t>
            </a:r>
          </a:p>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thread A exits CR; thread B can now enter</a:t>
            </a:r>
          </a:p>
          <a:p>
            <a:pPr marL="1029652" indent="-533399">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endParaRPr dirty="0"/>
          </a:p>
          <a:p>
            <a:pPr marL="1029652" indent="-533399">
              <a:spcBef>
                <a:spcPts val="400"/>
              </a:spcBef>
              <a:buClr>
                <a:srgbClr val="7B1142"/>
              </a:buClr>
              <a:buSzPct val="65000"/>
              <a:buFont typeface="Arial Narrow"/>
              <a:buAutoNum type="arabicPeriod" startAt="4"/>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thread B enters CR</a:t>
            </a:r>
          </a:p>
        </p:txBody>
      </p:sp>
      <p:sp>
        <p:nvSpPr>
          <p:cNvPr id="334" name="Desired effect: mutual exclusion from the critical region"/>
          <p:cNvSpPr txBox="1"/>
          <p:nvPr/>
        </p:nvSpPr>
        <p:spPr>
          <a:xfrm>
            <a:off x="457200" y="1219200"/>
            <a:ext cx="8394700" cy="508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lvl1pPr marL="496252" indent="-455612">
              <a:spcBef>
                <a:spcPts val="1600"/>
              </a:spcBef>
              <a:buClr>
                <a:srgbClr val="7B1142"/>
              </a:buClr>
              <a:buSzPct val="70000"/>
              <a:buChar char=""/>
              <a:tabLst>
                <a:tab pos="495300" algn="l"/>
                <a:tab pos="1066800" algn="l"/>
                <a:tab pos="1866900" algn="l"/>
              </a:tabLst>
              <a:defRPr sz="2800" u="sng">
                <a:solidFill>
                  <a:srgbClr val="7B1142"/>
                </a:solidFill>
                <a:uFill>
                  <a:solidFill>
                    <a:srgbClr val="7B1142"/>
                  </a:solidFill>
                </a:uFill>
                <a:latin typeface="Arial Narrow"/>
                <a:ea typeface="Arial Narrow"/>
                <a:cs typeface="Arial Narrow"/>
                <a:sym typeface="Arial Narrow"/>
              </a:defRPr>
            </a:lvl1pPr>
          </a:lstStyle>
          <a:p>
            <a:r>
              <a:t>Desired effect: mutual exclusion from the critical region</a:t>
            </a:r>
          </a:p>
        </p:txBody>
      </p:sp>
      <p:sp>
        <p:nvSpPr>
          <p:cNvPr id="335" name="Rectangle"/>
          <p:cNvSpPr/>
          <p:nvPr/>
        </p:nvSpPr>
        <p:spPr>
          <a:xfrm>
            <a:off x="6629400" y="2971800"/>
            <a:ext cx="1841500" cy="914400"/>
          </a:xfrm>
          <a:prstGeom prst="rect">
            <a:avLst/>
          </a:prstGeom>
          <a:solidFill>
            <a:srgbClr val="E9E9E9"/>
          </a:solidFill>
          <a:ln w="12700">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36" name="Rectangle"/>
          <p:cNvSpPr/>
          <p:nvPr/>
        </p:nvSpPr>
        <p:spPr>
          <a:xfrm>
            <a:off x="6629400" y="4114800"/>
            <a:ext cx="1841500" cy="914400"/>
          </a:xfrm>
          <a:prstGeom prst="rect">
            <a:avLst/>
          </a:prstGeom>
          <a:solidFill>
            <a:srgbClr val="E9E9E9"/>
          </a:solidFill>
          <a:ln w="12700">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37" name="Rectangle"/>
          <p:cNvSpPr/>
          <p:nvPr/>
        </p:nvSpPr>
        <p:spPr>
          <a:xfrm>
            <a:off x="6629400" y="5257800"/>
            <a:ext cx="1841500" cy="914400"/>
          </a:xfrm>
          <a:prstGeom prst="rect">
            <a:avLst/>
          </a:prstGeom>
          <a:solidFill>
            <a:srgbClr val="E9E9E9"/>
          </a:solidFill>
          <a:ln w="12700">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38" name="Line"/>
          <p:cNvSpPr/>
          <p:nvPr/>
        </p:nvSpPr>
        <p:spPr>
          <a:xfrm>
            <a:off x="4800600" y="2057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39" name="Line"/>
          <p:cNvSpPr/>
          <p:nvPr/>
        </p:nvSpPr>
        <p:spPr>
          <a:xfrm>
            <a:off x="4800600" y="2438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FF2600"/>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40" name="Line"/>
          <p:cNvSpPr/>
          <p:nvPr/>
        </p:nvSpPr>
        <p:spPr>
          <a:xfrm>
            <a:off x="4800600" y="3200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41" name="Line"/>
          <p:cNvSpPr/>
          <p:nvPr/>
        </p:nvSpPr>
        <p:spPr>
          <a:xfrm>
            <a:off x="4800600" y="3581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FF2600"/>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42" name="Line"/>
          <p:cNvSpPr/>
          <p:nvPr/>
        </p:nvSpPr>
        <p:spPr>
          <a:xfrm>
            <a:off x="4800600" y="4343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43" name="Line"/>
          <p:cNvSpPr/>
          <p:nvPr/>
        </p:nvSpPr>
        <p:spPr>
          <a:xfrm>
            <a:off x="4800600" y="4724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FF2600"/>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44" name="Line"/>
          <p:cNvSpPr/>
          <p:nvPr/>
        </p:nvSpPr>
        <p:spPr>
          <a:xfrm>
            <a:off x="4800600" y="5486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45" name="Line"/>
          <p:cNvSpPr/>
          <p:nvPr/>
        </p:nvSpPr>
        <p:spPr>
          <a:xfrm>
            <a:off x="4800600" y="5867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FF2600"/>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348" name="Group"/>
          <p:cNvGrpSpPr/>
          <p:nvPr/>
        </p:nvGrpSpPr>
        <p:grpSpPr>
          <a:xfrm>
            <a:off x="6324600" y="1828800"/>
            <a:ext cx="274638" cy="461963"/>
            <a:chOff x="0" y="0"/>
            <a:chExt cx="274637" cy="461962"/>
          </a:xfrm>
        </p:grpSpPr>
        <p:sp>
          <p:nvSpPr>
            <p:cNvPr id="346" name="Rectangle"/>
            <p:cNvSpPr/>
            <p:nvPr/>
          </p:nvSpPr>
          <p:spPr>
            <a:xfrm>
              <a:off x="0" y="0"/>
              <a:ext cx="274638" cy="461963"/>
            </a:xfrm>
            <a:prstGeom prst="rect">
              <a:avLst/>
            </a:prstGeom>
            <a:solidFill>
              <a:srgbClr val="E6ADC8"/>
            </a:solidFill>
            <a:ln w="12700" cap="flat">
              <a:noFill/>
              <a:miter lim="400000"/>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347" name="pedblue.jpg" descr="pedblue.jpg"/>
            <p:cNvPicPr>
              <a:picLocks/>
            </p:cNvPicPr>
            <p:nvPr/>
          </p:nvPicPr>
          <p:blipFill>
            <a:blip r:embed="rId2"/>
            <a:stretch>
              <a:fillRect/>
            </a:stretch>
          </p:blipFill>
          <p:spPr>
            <a:xfrm>
              <a:off x="0" y="0"/>
              <a:ext cx="274638" cy="461963"/>
            </a:xfrm>
            <a:prstGeom prst="rect">
              <a:avLst/>
            </a:prstGeom>
            <a:ln w="12700" cap="flat">
              <a:noFill/>
              <a:miter lim="400000"/>
            </a:ln>
            <a:effectLst/>
          </p:spPr>
        </p:pic>
      </p:grpSp>
      <p:pic>
        <p:nvPicPr>
          <p:cNvPr id="349" name="pedredstand.jpg" descr="pedredstand.jpg"/>
          <p:cNvPicPr>
            <a:picLocks/>
          </p:cNvPicPr>
          <p:nvPr/>
        </p:nvPicPr>
        <p:blipFill>
          <a:blip r:embed="rId3"/>
          <a:stretch>
            <a:fillRect/>
          </a:stretch>
        </p:blipFill>
        <p:spPr>
          <a:xfrm>
            <a:off x="6434137" y="3429000"/>
            <a:ext cx="179388" cy="457200"/>
          </a:xfrm>
          <a:prstGeom prst="rect">
            <a:avLst/>
          </a:prstGeom>
          <a:ln w="12700">
            <a:miter lim="400000"/>
          </a:ln>
        </p:spPr>
      </p:pic>
      <p:sp>
        <p:nvSpPr>
          <p:cNvPr id="350" name="Rectangle"/>
          <p:cNvSpPr/>
          <p:nvPr/>
        </p:nvSpPr>
        <p:spPr>
          <a:xfrm>
            <a:off x="5791200" y="2286000"/>
            <a:ext cx="850900" cy="457200"/>
          </a:xfrm>
          <a:prstGeom prst="rect">
            <a:avLst/>
          </a:prstGeom>
          <a:solidFill>
            <a:srgbClr val="FFFFFF"/>
          </a:solidFill>
          <a:ln>
            <a:solidFill>
              <a:srgbClr val="FFFFFF"/>
            </a:solidFill>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51" name="Line"/>
          <p:cNvSpPr/>
          <p:nvPr/>
        </p:nvSpPr>
        <p:spPr>
          <a:xfrm>
            <a:off x="6629400" y="1828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52" name="Line"/>
          <p:cNvSpPr/>
          <p:nvPr/>
        </p:nvSpPr>
        <p:spPr>
          <a:xfrm>
            <a:off x="8458200" y="1828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pic>
        <p:nvPicPr>
          <p:cNvPr id="353" name="pedred.jpg" descr="pedred.jpg"/>
          <p:cNvPicPr>
            <a:picLocks/>
          </p:cNvPicPr>
          <p:nvPr/>
        </p:nvPicPr>
        <p:blipFill>
          <a:blip r:embed="rId4"/>
          <a:stretch>
            <a:fillRect/>
          </a:stretch>
        </p:blipFill>
        <p:spPr>
          <a:xfrm>
            <a:off x="5562600" y="2286000"/>
            <a:ext cx="265113" cy="446088"/>
          </a:xfrm>
          <a:prstGeom prst="rect">
            <a:avLst/>
          </a:prstGeom>
          <a:ln w="12700">
            <a:miter lim="400000"/>
          </a:ln>
        </p:spPr>
      </p:pic>
      <p:sp>
        <p:nvSpPr>
          <p:cNvPr id="354" name="Line"/>
          <p:cNvSpPr/>
          <p:nvPr/>
        </p:nvSpPr>
        <p:spPr>
          <a:xfrm>
            <a:off x="6629400" y="5867400"/>
            <a:ext cx="685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200" y="10800"/>
                  <a:pt x="2400" y="0"/>
                  <a:pt x="3600" y="0"/>
                </a:cubicBezTo>
                <a:cubicBezTo>
                  <a:pt x="4800" y="0"/>
                  <a:pt x="6000" y="21600"/>
                  <a:pt x="7200" y="21600"/>
                </a:cubicBezTo>
                <a:cubicBezTo>
                  <a:pt x="8400" y="21600"/>
                  <a:pt x="9600" y="0"/>
                  <a:pt x="10800" y="0"/>
                </a:cubicBezTo>
                <a:cubicBezTo>
                  <a:pt x="12000" y="0"/>
                  <a:pt x="13200" y="21600"/>
                  <a:pt x="14400" y="21600"/>
                </a:cubicBezTo>
                <a:cubicBezTo>
                  <a:pt x="15600" y="21600"/>
                  <a:pt x="16800" y="0"/>
                  <a:pt x="18000" y="0"/>
                </a:cubicBezTo>
                <a:cubicBezTo>
                  <a:pt x="19200" y="0"/>
                  <a:pt x="21000" y="18000"/>
                  <a:pt x="21600" y="21600"/>
                </a:cubicBezTo>
              </a:path>
            </a:pathLst>
          </a:custGeom>
          <a:ln w="19050">
            <a:solidFill>
              <a:srgbClr val="FF2600"/>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355" name="pedredgray.jpg" descr="pedredgray.jpg"/>
          <p:cNvPicPr>
            <a:picLocks/>
          </p:cNvPicPr>
          <p:nvPr/>
        </p:nvPicPr>
        <p:blipFill>
          <a:blip r:embed="rId5"/>
          <a:stretch>
            <a:fillRect/>
          </a:stretch>
        </p:blipFill>
        <p:spPr>
          <a:xfrm>
            <a:off x="7239000" y="5715000"/>
            <a:ext cx="274638" cy="461963"/>
          </a:xfrm>
          <a:prstGeom prst="rect">
            <a:avLst/>
          </a:prstGeom>
          <a:ln w="12700">
            <a:miter lim="400000"/>
          </a:ln>
        </p:spPr>
      </p:pic>
      <p:pic>
        <p:nvPicPr>
          <p:cNvPr id="356" name="pedredstand.jpg" descr="pedredstand.jpg"/>
          <p:cNvPicPr>
            <a:picLocks/>
          </p:cNvPicPr>
          <p:nvPr/>
        </p:nvPicPr>
        <p:blipFill>
          <a:blip r:embed="rId3"/>
          <a:stretch>
            <a:fillRect/>
          </a:stretch>
        </p:blipFill>
        <p:spPr>
          <a:xfrm>
            <a:off x="6434137" y="4572000"/>
            <a:ext cx="179388" cy="457200"/>
          </a:xfrm>
          <a:prstGeom prst="rect">
            <a:avLst/>
          </a:prstGeom>
          <a:ln w="12700">
            <a:miter lim="400000"/>
          </a:ln>
        </p:spPr>
      </p:pic>
      <p:sp>
        <p:nvSpPr>
          <p:cNvPr id="357" name="Line"/>
          <p:cNvSpPr/>
          <p:nvPr/>
        </p:nvSpPr>
        <p:spPr>
          <a:xfrm>
            <a:off x="6629400" y="4343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360" name="Group"/>
          <p:cNvGrpSpPr/>
          <p:nvPr/>
        </p:nvGrpSpPr>
        <p:grpSpPr>
          <a:xfrm>
            <a:off x="8458200" y="4114800"/>
            <a:ext cx="274638" cy="461963"/>
            <a:chOff x="0" y="0"/>
            <a:chExt cx="274637" cy="461962"/>
          </a:xfrm>
        </p:grpSpPr>
        <p:sp>
          <p:nvSpPr>
            <p:cNvPr id="358" name="Rectangle"/>
            <p:cNvSpPr/>
            <p:nvPr/>
          </p:nvSpPr>
          <p:spPr>
            <a:xfrm>
              <a:off x="0" y="0"/>
              <a:ext cx="274638" cy="461963"/>
            </a:xfrm>
            <a:prstGeom prst="rect">
              <a:avLst/>
            </a:prstGeom>
            <a:solidFill>
              <a:srgbClr val="E6ADC8"/>
            </a:solidFill>
            <a:ln w="12700" cap="flat">
              <a:noFill/>
              <a:miter lim="400000"/>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359" name="pedblue.jpg" descr="pedblue.jpg"/>
            <p:cNvPicPr>
              <a:picLocks/>
            </p:cNvPicPr>
            <p:nvPr/>
          </p:nvPicPr>
          <p:blipFill>
            <a:blip r:embed="rId2"/>
            <a:stretch>
              <a:fillRect/>
            </a:stretch>
          </p:blipFill>
          <p:spPr>
            <a:xfrm>
              <a:off x="0" y="0"/>
              <a:ext cx="274638" cy="461963"/>
            </a:xfrm>
            <a:prstGeom prst="rect">
              <a:avLst/>
            </a:prstGeom>
            <a:ln w="12700" cap="flat">
              <a:noFill/>
              <a:miter lim="400000"/>
            </a:ln>
            <a:effectLst/>
          </p:spPr>
        </p:pic>
      </p:grpSp>
      <p:grpSp>
        <p:nvGrpSpPr>
          <p:cNvPr id="363" name="Group"/>
          <p:cNvGrpSpPr/>
          <p:nvPr/>
        </p:nvGrpSpPr>
        <p:grpSpPr>
          <a:xfrm>
            <a:off x="7772400" y="2971800"/>
            <a:ext cx="274638" cy="461963"/>
            <a:chOff x="0" y="0"/>
            <a:chExt cx="274637" cy="461962"/>
          </a:xfrm>
        </p:grpSpPr>
        <p:sp>
          <p:nvSpPr>
            <p:cNvPr id="361" name="Rectangle"/>
            <p:cNvSpPr/>
            <p:nvPr/>
          </p:nvSpPr>
          <p:spPr>
            <a:xfrm>
              <a:off x="0" y="0"/>
              <a:ext cx="274638" cy="461963"/>
            </a:xfrm>
            <a:prstGeom prst="rect">
              <a:avLst/>
            </a:prstGeom>
            <a:solidFill>
              <a:srgbClr val="E6ADC8"/>
            </a:solidFill>
            <a:ln w="12700" cap="flat">
              <a:noFill/>
              <a:miter lim="400000"/>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362" name="pedbluegray.jpg" descr="pedbluegray.jpg"/>
            <p:cNvPicPr>
              <a:picLocks/>
            </p:cNvPicPr>
            <p:nvPr/>
          </p:nvPicPr>
          <p:blipFill>
            <a:blip r:embed="rId6"/>
            <a:stretch>
              <a:fillRect/>
            </a:stretch>
          </p:blipFill>
          <p:spPr>
            <a:xfrm>
              <a:off x="0" y="0"/>
              <a:ext cx="274638" cy="461963"/>
            </a:xfrm>
            <a:prstGeom prst="rect">
              <a:avLst/>
            </a:prstGeom>
            <a:ln w="12700" cap="flat">
              <a:noFill/>
              <a:miter lim="400000"/>
            </a:ln>
            <a:effectLst/>
          </p:spPr>
        </p:pic>
      </p:grpSp>
      <p:sp>
        <p:nvSpPr>
          <p:cNvPr id="364" name="Line"/>
          <p:cNvSpPr/>
          <p:nvPr/>
        </p:nvSpPr>
        <p:spPr>
          <a:xfrm>
            <a:off x="6629400" y="5486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65" name="Line"/>
          <p:cNvSpPr/>
          <p:nvPr/>
        </p:nvSpPr>
        <p:spPr>
          <a:xfrm>
            <a:off x="8458200" y="5486400"/>
            <a:ext cx="5715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440" y="10800"/>
                  <a:pt x="2880" y="0"/>
                  <a:pt x="4320" y="0"/>
                </a:cubicBezTo>
                <a:cubicBezTo>
                  <a:pt x="5760" y="0"/>
                  <a:pt x="7200" y="21600"/>
                  <a:pt x="8640" y="21600"/>
                </a:cubicBezTo>
                <a:cubicBezTo>
                  <a:pt x="10080" y="21600"/>
                  <a:pt x="11520" y="0"/>
                  <a:pt x="12960" y="0"/>
                </a:cubicBezTo>
                <a:cubicBezTo>
                  <a:pt x="14400" y="0"/>
                  <a:pt x="15840" y="21600"/>
                  <a:pt x="17280" y="21600"/>
                </a:cubicBezTo>
                <a:cubicBezTo>
                  <a:pt x="18720" y="21600"/>
                  <a:pt x="20880" y="3600"/>
                  <a:pt x="21600" y="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66" name="Line"/>
          <p:cNvSpPr/>
          <p:nvPr/>
        </p:nvSpPr>
        <p:spPr>
          <a:xfrm>
            <a:off x="6629400" y="3200400"/>
            <a:ext cx="11430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720" y="10800"/>
                  <a:pt x="1440" y="0"/>
                  <a:pt x="2160" y="0"/>
                </a:cubicBezTo>
                <a:cubicBezTo>
                  <a:pt x="2880" y="0"/>
                  <a:pt x="3600" y="21600"/>
                  <a:pt x="4320" y="21600"/>
                </a:cubicBezTo>
                <a:cubicBezTo>
                  <a:pt x="5040" y="21600"/>
                  <a:pt x="5760" y="0"/>
                  <a:pt x="6480" y="0"/>
                </a:cubicBezTo>
                <a:cubicBezTo>
                  <a:pt x="7200" y="0"/>
                  <a:pt x="7920" y="21600"/>
                  <a:pt x="8640" y="21600"/>
                </a:cubicBezTo>
                <a:cubicBezTo>
                  <a:pt x="9360" y="21600"/>
                  <a:pt x="10080" y="0"/>
                  <a:pt x="10800" y="0"/>
                </a:cubicBezTo>
                <a:cubicBezTo>
                  <a:pt x="11520" y="0"/>
                  <a:pt x="12240" y="21600"/>
                  <a:pt x="12960" y="21600"/>
                </a:cubicBezTo>
                <a:cubicBezTo>
                  <a:pt x="13680" y="21600"/>
                  <a:pt x="14400" y="0"/>
                  <a:pt x="15120" y="0"/>
                </a:cubicBezTo>
                <a:cubicBezTo>
                  <a:pt x="15840" y="0"/>
                  <a:pt x="16560" y="21600"/>
                  <a:pt x="17280" y="21600"/>
                </a:cubicBezTo>
                <a:cubicBezTo>
                  <a:pt x="18000" y="21600"/>
                  <a:pt x="18720" y="0"/>
                  <a:pt x="19440" y="0"/>
                </a:cubicBezTo>
                <a:cubicBezTo>
                  <a:pt x="20160" y="0"/>
                  <a:pt x="21240" y="180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67" name="B"/>
          <p:cNvSpPr txBox="1"/>
          <p:nvPr/>
        </p:nvSpPr>
        <p:spPr>
          <a:xfrm>
            <a:off x="4516754" y="2209800"/>
            <a:ext cx="321629" cy="44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368" name="A"/>
          <p:cNvSpPr txBox="1"/>
          <p:nvPr/>
        </p:nvSpPr>
        <p:spPr>
          <a:xfrm>
            <a:off x="4516754" y="1828800"/>
            <a:ext cx="321629" cy="44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369" name="B"/>
          <p:cNvSpPr txBox="1"/>
          <p:nvPr/>
        </p:nvSpPr>
        <p:spPr>
          <a:xfrm>
            <a:off x="4516754" y="3352800"/>
            <a:ext cx="321629" cy="44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370" name="A"/>
          <p:cNvSpPr txBox="1"/>
          <p:nvPr/>
        </p:nvSpPr>
        <p:spPr>
          <a:xfrm>
            <a:off x="4516754" y="2971800"/>
            <a:ext cx="321629" cy="44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rPr dirty="0"/>
              <a:t>A</a:t>
            </a:r>
          </a:p>
        </p:txBody>
      </p:sp>
      <p:sp>
        <p:nvSpPr>
          <p:cNvPr id="371" name="B"/>
          <p:cNvSpPr txBox="1"/>
          <p:nvPr/>
        </p:nvSpPr>
        <p:spPr>
          <a:xfrm>
            <a:off x="4516754" y="4495800"/>
            <a:ext cx="321629" cy="44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372" name="A"/>
          <p:cNvSpPr txBox="1"/>
          <p:nvPr/>
        </p:nvSpPr>
        <p:spPr>
          <a:xfrm>
            <a:off x="4516754" y="4114800"/>
            <a:ext cx="321629" cy="44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373" name="B"/>
          <p:cNvSpPr txBox="1"/>
          <p:nvPr/>
        </p:nvSpPr>
        <p:spPr>
          <a:xfrm>
            <a:off x="4516754" y="5638800"/>
            <a:ext cx="321629" cy="44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374" name="A"/>
          <p:cNvSpPr txBox="1"/>
          <p:nvPr/>
        </p:nvSpPr>
        <p:spPr>
          <a:xfrm>
            <a:off x="4516754" y="5257800"/>
            <a:ext cx="321629" cy="444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375" name="Line"/>
          <p:cNvSpPr/>
          <p:nvPr/>
        </p:nvSpPr>
        <p:spPr>
          <a:xfrm>
            <a:off x="8458200" y="4114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76" name="Line"/>
          <p:cNvSpPr/>
          <p:nvPr/>
        </p:nvSpPr>
        <p:spPr>
          <a:xfrm>
            <a:off x="8458200" y="2971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77" name="Line"/>
          <p:cNvSpPr/>
          <p:nvPr/>
        </p:nvSpPr>
        <p:spPr>
          <a:xfrm>
            <a:off x="6629400" y="4114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78" name="Line"/>
          <p:cNvSpPr/>
          <p:nvPr/>
        </p:nvSpPr>
        <p:spPr>
          <a:xfrm>
            <a:off x="8458200" y="5257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79" name="Line"/>
          <p:cNvSpPr/>
          <p:nvPr/>
        </p:nvSpPr>
        <p:spPr>
          <a:xfrm>
            <a:off x="6629400" y="5257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80" name="Line"/>
          <p:cNvSpPr/>
          <p:nvPr/>
        </p:nvSpPr>
        <p:spPr>
          <a:xfrm>
            <a:off x="6629400" y="2971800"/>
            <a:ext cx="1588" cy="914400"/>
          </a:xfrm>
          <a:prstGeom prst="line">
            <a:avLst/>
          </a:prstGeom>
          <a:ln w="38100">
            <a:solidFill>
              <a:srgbClr val="7B1142"/>
            </a:solidFill>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81" name="HOW is this…"/>
          <p:cNvSpPr txBox="1"/>
          <p:nvPr/>
        </p:nvSpPr>
        <p:spPr>
          <a:xfrm rot="16200000">
            <a:off x="-354844" y="3693504"/>
            <a:ext cx="1437978" cy="5758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marL="0" marR="0" algn="ctr">
              <a:buClr>
                <a:srgbClr val="C51B05"/>
              </a:buClr>
              <a:buFont typeface="Wingdings"/>
              <a:defRPr sz="2000" b="1">
                <a:solidFill>
                  <a:srgbClr val="C51B05"/>
                </a:solidFill>
                <a:uFill>
                  <a:solidFill>
                    <a:srgbClr val="C51B05"/>
                  </a:solidFill>
                </a:uFill>
              </a:defRPr>
            </a:pPr>
            <a:r>
              <a:t>HOW is this</a:t>
            </a:r>
          </a:p>
          <a:p>
            <a:pPr marL="0" marR="0" algn="ctr">
              <a:buClr>
                <a:srgbClr val="C51B05"/>
              </a:buClr>
              <a:buFont typeface="Wingdings"/>
              <a:defRPr sz="2000" b="1">
                <a:solidFill>
                  <a:srgbClr val="C51B05"/>
                </a:solidFill>
                <a:uFill>
                  <a:solidFill>
                    <a:srgbClr val="C51B05"/>
                  </a:solidFill>
                </a:uFill>
              </a:defRPr>
            </a:pPr>
            <a:r>
              <a:t>achieved??</a:t>
            </a:r>
          </a:p>
        </p:txBody>
      </p:sp>
      <p:sp>
        <p:nvSpPr>
          <p:cNvPr id="382" name="Line"/>
          <p:cNvSpPr/>
          <p:nvPr/>
        </p:nvSpPr>
        <p:spPr>
          <a:xfrm>
            <a:off x="762000" y="2895600"/>
            <a:ext cx="304800" cy="220980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5635" y="0"/>
                  <a:pt x="10800" y="806"/>
                  <a:pt x="10800" y="1800"/>
                </a:cubicBezTo>
                <a:lnTo>
                  <a:pt x="10800" y="9000"/>
                </a:lnTo>
                <a:cubicBezTo>
                  <a:pt x="10800" y="9994"/>
                  <a:pt x="5965" y="10800"/>
                  <a:pt x="0" y="10800"/>
                </a:cubicBezTo>
                <a:cubicBezTo>
                  <a:pt x="5965" y="10800"/>
                  <a:pt x="10800" y="11606"/>
                  <a:pt x="10800" y="12600"/>
                </a:cubicBezTo>
                <a:lnTo>
                  <a:pt x="10800" y="19800"/>
                </a:lnTo>
                <a:cubicBezTo>
                  <a:pt x="10800" y="20794"/>
                  <a:pt x="15635" y="21600"/>
                  <a:pt x="21600" y="21600"/>
                </a:cubicBezTo>
              </a:path>
            </a:pathLst>
          </a:custGeom>
          <a:ln w="12700">
            <a:solidFill>
              <a:srgbClr val="C51B05"/>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Tree>
    <p:extLst>
      <p:ext uri="{BB962C8B-B14F-4D97-AF65-F5344CB8AC3E}">
        <p14:creationId xmlns:p14="http://schemas.microsoft.com/office/powerpoint/2010/main" val="1184843683"/>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 name="Mutual Exclusion"/>
          <p:cNvSpPr txBox="1">
            <a:spLocks noGrp="1"/>
          </p:cNvSpPr>
          <p:nvPr>
            <p:ph type="title"/>
          </p:nvPr>
        </p:nvSpPr>
        <p:spPr>
          <a:prstGeom prst="rect">
            <a:avLst/>
          </a:prstGeom>
        </p:spPr>
        <p:txBody>
          <a:bodyPr/>
          <a:lstStyle/>
          <a:p>
            <a:r>
              <a:t>Mutual Exclusion</a:t>
            </a:r>
          </a:p>
        </p:txBody>
      </p:sp>
      <p:sp>
        <p:nvSpPr>
          <p:cNvPr id="437"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25</a:t>
            </a:fld>
            <a:endParaRPr/>
          </a:p>
        </p:txBody>
      </p:sp>
      <p:sp>
        <p:nvSpPr>
          <p:cNvPr id="438" name="Implementation 1 — disabling hardware interrupts  "/>
          <p:cNvSpPr txBox="1"/>
          <p:nvPr/>
        </p:nvSpPr>
        <p:spPr>
          <a:xfrm>
            <a:off x="457200" y="1219200"/>
            <a:ext cx="8242300" cy="508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1</a:t>
            </a:r>
            <a:r>
              <a:rPr sz="2800" u="sng">
                <a:latin typeface="Arial Narrow"/>
                <a:ea typeface="Arial Narrow"/>
                <a:cs typeface="Arial Narrow"/>
                <a:sym typeface="Arial Narrow"/>
              </a:rPr>
              <a:t> — disabling hardware interrupts  </a:t>
            </a:r>
            <a:r>
              <a:rPr sz="2800" u="sng">
                <a:latin typeface="Wingdings"/>
                <a:ea typeface="Wingdings"/>
                <a:cs typeface="Wingdings"/>
                <a:sym typeface="Wingdings"/>
              </a:rPr>
              <a:t></a:t>
            </a:r>
          </a:p>
        </p:txBody>
      </p:sp>
      <p:grpSp>
        <p:nvGrpSpPr>
          <p:cNvPr id="441" name="Group"/>
          <p:cNvGrpSpPr/>
          <p:nvPr/>
        </p:nvGrpSpPr>
        <p:grpSpPr>
          <a:xfrm>
            <a:off x="457200" y="1523999"/>
            <a:ext cx="7543800" cy="1146799"/>
            <a:chOff x="0" y="0"/>
            <a:chExt cx="7543800" cy="1146799"/>
          </a:xfrm>
        </p:grpSpPr>
        <p:sp>
          <p:nvSpPr>
            <p:cNvPr id="439" name="Line"/>
            <p:cNvSpPr/>
            <p:nvPr/>
          </p:nvSpPr>
          <p:spPr>
            <a:xfrm>
              <a:off x="3352800" y="0"/>
              <a:ext cx="4191000" cy="1588"/>
            </a:xfrm>
            <a:prstGeom prst="line">
              <a:avLst/>
            </a:prstGeom>
            <a:noFill/>
            <a:ln w="12700" cap="flat">
              <a:solidFill>
                <a:srgbClr val="E6ADC8"/>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440" name="it works, but not reasonable!…"/>
            <p:cNvSpPr txBox="1"/>
            <p:nvPr/>
          </p:nvSpPr>
          <p:spPr>
            <a:xfrm>
              <a:off x="0" y="228599"/>
              <a:ext cx="4889500" cy="9182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Times New Roman"/>
                  <a:ea typeface="Times New Roman"/>
                  <a:cs typeface="Times New Roman"/>
                  <a:sym typeface="Times New Roman"/>
                </a:defRPr>
              </a:pPr>
              <a:r>
                <a:rPr dirty="0">
                  <a:latin typeface="Arial Narrow"/>
                  <a:ea typeface="Arial Narrow"/>
                  <a:cs typeface="Arial Narrow"/>
                  <a:sym typeface="Arial Narrow"/>
                </a:rPr>
                <a:t>it works, but not reasonable!</a:t>
              </a:r>
              <a:endParaRPr lang="en-US" dirty="0">
                <a:latin typeface="Arial Narrow"/>
                <a:ea typeface="Arial Narrow"/>
                <a:cs typeface="Arial Narrow"/>
                <a:sym typeface="Arial Narrow"/>
              </a:endParaRPr>
            </a:p>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Times New Roman"/>
                  <a:ea typeface="Times New Roman"/>
                  <a:cs typeface="Times New Roman"/>
                  <a:sym typeface="Times New Roman"/>
                </a:defRPr>
              </a:pPr>
              <a:r>
                <a:rPr lang="en-US" dirty="0">
                  <a:latin typeface="Arial Narrow"/>
                  <a:ea typeface="Arial Narrow"/>
                  <a:cs typeface="Arial Narrow"/>
                  <a:sym typeface="Arial Narrow"/>
                </a:rPr>
                <a:t>What are the issues?</a:t>
              </a:r>
              <a:endParaRPr dirty="0">
                <a:latin typeface="Arial Narrow"/>
                <a:ea typeface="Arial Narrow"/>
                <a:cs typeface="Arial Narrow"/>
                <a:sym typeface="Arial Narrow"/>
              </a:endParaRPr>
            </a:p>
          </p:txBody>
        </p:sp>
      </p:grpSp>
      <p:grpSp>
        <p:nvGrpSpPr>
          <p:cNvPr id="444" name="Group"/>
          <p:cNvGrpSpPr/>
          <p:nvPr/>
        </p:nvGrpSpPr>
        <p:grpSpPr>
          <a:xfrm>
            <a:off x="5410200" y="3424237"/>
            <a:ext cx="3276600" cy="1395413"/>
            <a:chOff x="0" y="0"/>
            <a:chExt cx="3276600" cy="1395412"/>
          </a:xfrm>
        </p:grpSpPr>
        <p:sp>
          <p:nvSpPr>
            <p:cNvPr id="442" name="Rectangle"/>
            <p:cNvSpPr/>
            <p:nvPr/>
          </p:nvSpPr>
          <p:spPr>
            <a:xfrm>
              <a:off x="0" y="0"/>
              <a:ext cx="3276600" cy="1395413"/>
            </a:xfrm>
            <a:prstGeom prst="rect">
              <a:avLst/>
            </a:prstGeom>
            <a:solidFill>
              <a:srgbClr val="A7A7A7"/>
            </a:solidFill>
            <a:ln w="12700" cap="flat">
              <a:solidFill>
                <a:srgbClr val="7B1142"/>
              </a:solidFill>
              <a:prstDash val="dash"/>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43" name="disable hardware interrupts…"/>
            <p:cNvSpPr txBox="1"/>
            <p:nvPr/>
          </p:nvSpPr>
          <p:spPr>
            <a:xfrm>
              <a:off x="0" y="0"/>
              <a:ext cx="3276600" cy="128778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p>
              <a:pPr marL="91439" marR="91439">
                <a:spcBef>
                  <a:spcPts val="400"/>
                </a:spcBef>
                <a:buClr>
                  <a:srgbClr val="FF2600"/>
                </a:buClr>
                <a:buFont typeface="Wingdings"/>
                <a:defRPr i="1">
                  <a:solidFill>
                    <a:srgbClr val="FF2600"/>
                  </a:solidFill>
                  <a:uFill>
                    <a:solidFill>
                      <a:srgbClr val="FF2600"/>
                    </a:solidFill>
                  </a:uFill>
                  <a:latin typeface="Arial Narrow"/>
                  <a:ea typeface="Arial Narrow"/>
                  <a:cs typeface="Arial Narrow"/>
                  <a:sym typeface="Arial Narrow"/>
                </a:defRPr>
              </a:pPr>
              <a:r>
                <a:t>            disable hardware interrupts</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r>
                <a:t> </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endParaRPr/>
            </a:p>
            <a:p>
              <a:pPr marL="91439" marR="91439">
                <a:spcBef>
                  <a:spcPts val="400"/>
                </a:spcBef>
                <a:buClr>
                  <a:srgbClr val="FF2600"/>
                </a:buClr>
                <a:buFont typeface="Wingdings"/>
                <a:defRPr i="1">
                  <a:solidFill>
                    <a:srgbClr val="FF2600"/>
                  </a:solidFill>
                  <a:uFill>
                    <a:solidFill>
                      <a:srgbClr val="FF2600"/>
                    </a:solidFill>
                  </a:uFill>
                  <a:latin typeface="Arial Narrow"/>
                  <a:ea typeface="Arial Narrow"/>
                  <a:cs typeface="Arial Narrow"/>
                  <a:sym typeface="Arial Narrow"/>
                </a:defRPr>
              </a:pPr>
              <a:r>
                <a:t>            enable hardware interrupts</a:t>
              </a:r>
            </a:p>
          </p:txBody>
        </p:sp>
      </p:grpSp>
      <p:sp>
        <p:nvSpPr>
          <p:cNvPr id="445" name="Rectangle"/>
          <p:cNvSpPr/>
          <p:nvPr/>
        </p:nvSpPr>
        <p:spPr>
          <a:xfrm>
            <a:off x="5410200" y="3713162"/>
            <a:ext cx="3289300" cy="838201"/>
          </a:xfrm>
          <a:prstGeom prst="rect">
            <a:avLst/>
          </a:prstGeom>
          <a:solidFill>
            <a:srgbClr val="E9E9E9"/>
          </a:solidFill>
          <a:ln w="12700">
            <a:solidFill>
              <a:srgbClr val="7B1142"/>
            </a:solidFill>
            <a:prstDash val="dash"/>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448" name="Group"/>
          <p:cNvGrpSpPr/>
          <p:nvPr/>
        </p:nvGrpSpPr>
        <p:grpSpPr>
          <a:xfrm>
            <a:off x="5410200" y="2374900"/>
            <a:ext cx="3276600" cy="3408363"/>
            <a:chOff x="0" y="0"/>
            <a:chExt cx="3276600" cy="3408362"/>
          </a:xfrm>
        </p:grpSpPr>
        <p:sp>
          <p:nvSpPr>
            <p:cNvPr id="446" name="Rectangle"/>
            <p:cNvSpPr/>
            <p:nvPr/>
          </p:nvSpPr>
          <p:spPr>
            <a:xfrm>
              <a:off x="0" y="0"/>
              <a:ext cx="3276600" cy="3408363"/>
            </a:xfrm>
            <a:prstGeom prst="rect">
              <a:avLst/>
            </a:prstGeom>
            <a:no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47" name="void echo()…"/>
            <p:cNvSpPr txBox="1"/>
            <p:nvPr/>
          </p:nvSpPr>
          <p:spPr>
            <a:xfrm>
              <a:off x="0" y="0"/>
              <a:ext cx="3276600" cy="31496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char chin, 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2400">
                  <a:solidFill>
                    <a:srgbClr val="7B1142"/>
                  </a:solidFill>
                  <a:uFill>
                    <a:solidFill>
                      <a:srgbClr val="7B1142"/>
                    </a:solidFill>
                  </a:uFill>
                  <a:latin typeface="Times New Roman"/>
                  <a:ea typeface="Times New Roman"/>
                  <a:cs typeface="Times New Roman"/>
                  <a:sym typeface="Times New Roman"/>
                </a:defRPr>
              </a:pPr>
              <a:r>
                <a:rPr sz="1200" b="1">
                  <a:latin typeface="Courier New"/>
                  <a:ea typeface="Courier New"/>
                  <a:cs typeface="Courier New"/>
                  <a:sym typeface="Courier New"/>
                </a:rPr>
                <a:t> </a:t>
              </a:r>
              <a:r>
                <a:rPr sz="1800" b="1">
                  <a:latin typeface="Courier New"/>
                  <a:ea typeface="Courier New"/>
                  <a:cs typeface="Courier New"/>
                  <a:sym typeface="Courier New"/>
                </a:rP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sz="1800" b="1">
                <a:latin typeface="Courier New"/>
                <a:ea typeface="Courier New"/>
                <a:cs typeface="Courier New"/>
                <a:sym typeface="Courier New"/>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spTree>
    <p:extLst>
      <p:ext uri="{BB962C8B-B14F-4D97-AF65-F5344CB8AC3E}">
        <p14:creationId xmlns:p14="http://schemas.microsoft.com/office/powerpoint/2010/main" val="3485090846"/>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 grpId="0" animBg="1" advAuto="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 name="Mutual Exclusion"/>
          <p:cNvSpPr txBox="1">
            <a:spLocks noGrp="1"/>
          </p:cNvSpPr>
          <p:nvPr>
            <p:ph type="title"/>
          </p:nvPr>
        </p:nvSpPr>
        <p:spPr>
          <a:prstGeom prst="rect">
            <a:avLst/>
          </a:prstGeom>
        </p:spPr>
        <p:txBody>
          <a:bodyPr/>
          <a:lstStyle/>
          <a:p>
            <a:r>
              <a:t>Mutual Exclusion</a:t>
            </a:r>
          </a:p>
        </p:txBody>
      </p:sp>
      <p:sp>
        <p:nvSpPr>
          <p:cNvPr id="451"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26</a:t>
            </a:fld>
            <a:endParaRPr/>
          </a:p>
        </p:txBody>
      </p:sp>
      <p:sp>
        <p:nvSpPr>
          <p:cNvPr id="452" name="Implementation 2 — simple lock variable"/>
          <p:cNvSpPr txBox="1"/>
          <p:nvPr/>
        </p:nvSpPr>
        <p:spPr>
          <a:xfrm>
            <a:off x="457200" y="1143000"/>
            <a:ext cx="8242300" cy="508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2</a:t>
            </a:r>
            <a:r>
              <a:rPr sz="2800" u="sng">
                <a:latin typeface="Arial Narrow"/>
                <a:ea typeface="Arial Narrow"/>
                <a:cs typeface="Arial Narrow"/>
                <a:sym typeface="Arial Narrow"/>
              </a:rPr>
              <a:t> — simple lock variable</a:t>
            </a:r>
          </a:p>
        </p:txBody>
      </p:sp>
      <p:grpSp>
        <p:nvGrpSpPr>
          <p:cNvPr id="455" name="Group"/>
          <p:cNvGrpSpPr/>
          <p:nvPr/>
        </p:nvGrpSpPr>
        <p:grpSpPr>
          <a:xfrm>
            <a:off x="6299200" y="1897066"/>
            <a:ext cx="1828800" cy="914401"/>
            <a:chOff x="0" y="0"/>
            <a:chExt cx="1828800" cy="914400"/>
          </a:xfrm>
        </p:grpSpPr>
        <p:sp>
          <p:nvSpPr>
            <p:cNvPr id="453" name="Rectangle"/>
            <p:cNvSpPr/>
            <p:nvPr/>
          </p:nvSpPr>
          <p:spPr>
            <a:xfrm>
              <a:off x="0" y="0"/>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54" name="critical region"/>
            <p:cNvSpPr txBox="1"/>
            <p:nvPr/>
          </p:nvSpPr>
          <p:spPr>
            <a:xfrm>
              <a:off x="0" y="276789"/>
              <a:ext cx="1828800" cy="36082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461" name="Line"/>
          <p:cNvSpPr/>
          <p:nvPr/>
        </p:nvSpPr>
        <p:spPr>
          <a:xfrm>
            <a:off x="4470400" y="2125666"/>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2" name="Line"/>
          <p:cNvSpPr/>
          <p:nvPr/>
        </p:nvSpPr>
        <p:spPr>
          <a:xfrm>
            <a:off x="4470400" y="2506666"/>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469" name="pedblue.jpg" descr="pedblue.jpg"/>
          <p:cNvPicPr>
            <a:picLocks/>
          </p:cNvPicPr>
          <p:nvPr/>
        </p:nvPicPr>
        <p:blipFill>
          <a:blip r:embed="rId2"/>
          <a:stretch>
            <a:fillRect/>
          </a:stretch>
        </p:blipFill>
        <p:spPr>
          <a:xfrm>
            <a:off x="8202613" y="1902472"/>
            <a:ext cx="274638" cy="461963"/>
          </a:xfrm>
          <a:prstGeom prst="rect">
            <a:avLst/>
          </a:prstGeom>
          <a:ln w="12700" cap="flat">
            <a:noFill/>
            <a:miter lim="400000"/>
          </a:ln>
          <a:effectLst/>
        </p:spPr>
      </p:pic>
      <p:sp>
        <p:nvSpPr>
          <p:cNvPr id="471" name="Rectangle"/>
          <p:cNvSpPr/>
          <p:nvPr/>
        </p:nvSpPr>
        <p:spPr>
          <a:xfrm>
            <a:off x="5461000" y="2354266"/>
            <a:ext cx="850900" cy="457201"/>
          </a:xfrm>
          <a:prstGeom prst="rect">
            <a:avLst/>
          </a:prstGeom>
          <a:solidFill>
            <a:srgbClr val="FFFFFF"/>
          </a:solidFill>
          <a:ln w="9525" cap="flat">
            <a:solidFill>
              <a:srgbClr val="FFFFFF"/>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72" name="Line"/>
          <p:cNvSpPr/>
          <p:nvPr/>
        </p:nvSpPr>
        <p:spPr>
          <a:xfrm>
            <a:off x="6299200" y="1897066"/>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473" name="Line"/>
          <p:cNvSpPr/>
          <p:nvPr/>
        </p:nvSpPr>
        <p:spPr>
          <a:xfrm>
            <a:off x="8128000" y="1897066"/>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474" name="pedred.jpg" descr="pedred.jpg"/>
          <p:cNvPicPr>
            <a:picLocks/>
          </p:cNvPicPr>
          <p:nvPr/>
        </p:nvPicPr>
        <p:blipFill>
          <a:blip r:embed="rId3"/>
          <a:stretch>
            <a:fillRect/>
          </a:stretch>
        </p:blipFill>
        <p:spPr>
          <a:xfrm>
            <a:off x="5482431" y="2334731"/>
            <a:ext cx="265113" cy="446088"/>
          </a:xfrm>
          <a:prstGeom prst="rect">
            <a:avLst/>
          </a:prstGeom>
          <a:ln w="12700" cap="flat">
            <a:noFill/>
            <a:miter lim="400000"/>
          </a:ln>
          <a:effectLst/>
        </p:spPr>
      </p:pic>
      <p:sp>
        <p:nvSpPr>
          <p:cNvPr id="484" name="B"/>
          <p:cNvSpPr txBox="1"/>
          <p:nvPr/>
        </p:nvSpPr>
        <p:spPr>
          <a:xfrm>
            <a:off x="4186554" y="2278066"/>
            <a:ext cx="321629" cy="4445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485" name="A"/>
          <p:cNvSpPr txBox="1"/>
          <p:nvPr/>
        </p:nvSpPr>
        <p:spPr>
          <a:xfrm>
            <a:off x="4186554" y="1897066"/>
            <a:ext cx="321629" cy="4445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grpSp>
        <p:nvGrpSpPr>
          <p:cNvPr id="499" name="Group"/>
          <p:cNvGrpSpPr/>
          <p:nvPr/>
        </p:nvGrpSpPr>
        <p:grpSpPr>
          <a:xfrm>
            <a:off x="6223542" y="1744846"/>
            <a:ext cx="151858" cy="229722"/>
            <a:chOff x="0" y="0"/>
            <a:chExt cx="151856" cy="229721"/>
          </a:xfrm>
        </p:grpSpPr>
        <p:sp>
          <p:nvSpPr>
            <p:cNvPr id="497"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98"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5D3A3-759C-078C-FB3B-7C97ABDF6A64}"/>
            </a:ext>
          </a:extLst>
        </p:cNvPr>
        <p:cNvGrpSpPr/>
        <p:nvPr/>
      </p:nvGrpSpPr>
      <p:grpSpPr>
        <a:xfrm>
          <a:off x="0" y="0"/>
          <a:ext cx="0" cy="0"/>
          <a:chOff x="0" y="0"/>
          <a:chExt cx="0" cy="0"/>
        </a:xfrm>
      </p:grpSpPr>
      <p:sp>
        <p:nvSpPr>
          <p:cNvPr id="450" name="Mutual Exclusion">
            <a:extLst>
              <a:ext uri="{FF2B5EF4-FFF2-40B4-BE49-F238E27FC236}">
                <a16:creationId xmlns:a16="http://schemas.microsoft.com/office/drawing/2014/main" id="{BE0DAC8E-BDEB-23A9-8B44-7374615B15ED}"/>
              </a:ext>
            </a:extLst>
          </p:cNvPr>
          <p:cNvSpPr txBox="1">
            <a:spLocks noGrp="1"/>
          </p:cNvSpPr>
          <p:nvPr>
            <p:ph type="title"/>
          </p:nvPr>
        </p:nvSpPr>
        <p:spPr>
          <a:prstGeom prst="rect">
            <a:avLst/>
          </a:prstGeom>
        </p:spPr>
        <p:txBody>
          <a:bodyPr/>
          <a:lstStyle/>
          <a:p>
            <a:r>
              <a:t>Mutual Exclusion</a:t>
            </a:r>
          </a:p>
        </p:txBody>
      </p:sp>
      <p:sp>
        <p:nvSpPr>
          <p:cNvPr id="451" name="Slide Number">
            <a:extLst>
              <a:ext uri="{FF2B5EF4-FFF2-40B4-BE49-F238E27FC236}">
                <a16:creationId xmlns:a16="http://schemas.microsoft.com/office/drawing/2014/main" id="{86CD05F2-CFAE-5F0B-EDF4-7E5E728058D2}"/>
              </a:ext>
            </a:extLst>
          </p:cNvP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27</a:t>
            </a:fld>
            <a:endParaRPr/>
          </a:p>
        </p:txBody>
      </p:sp>
      <p:sp>
        <p:nvSpPr>
          <p:cNvPr id="452" name="Implementation 2 — simple lock variable">
            <a:extLst>
              <a:ext uri="{FF2B5EF4-FFF2-40B4-BE49-F238E27FC236}">
                <a16:creationId xmlns:a16="http://schemas.microsoft.com/office/drawing/2014/main" id="{2737BC17-CBA9-0F71-2E77-D47F1AD50FA5}"/>
              </a:ext>
            </a:extLst>
          </p:cNvPr>
          <p:cNvSpPr txBox="1"/>
          <p:nvPr/>
        </p:nvSpPr>
        <p:spPr>
          <a:xfrm>
            <a:off x="457200" y="1143000"/>
            <a:ext cx="8242300" cy="508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2</a:t>
            </a:r>
            <a:r>
              <a:rPr sz="2800" u="sng">
                <a:latin typeface="Arial Narrow"/>
                <a:ea typeface="Arial Narrow"/>
                <a:cs typeface="Arial Narrow"/>
                <a:sym typeface="Arial Narrow"/>
              </a:rPr>
              <a:t> — simple lock variable</a:t>
            </a:r>
          </a:p>
        </p:txBody>
      </p:sp>
      <p:grpSp>
        <p:nvGrpSpPr>
          <p:cNvPr id="514" name="Group">
            <a:extLst>
              <a:ext uri="{FF2B5EF4-FFF2-40B4-BE49-F238E27FC236}">
                <a16:creationId xmlns:a16="http://schemas.microsoft.com/office/drawing/2014/main" id="{CF877956-597F-9C87-2A10-5D5BEB48F1BF}"/>
              </a:ext>
            </a:extLst>
          </p:cNvPr>
          <p:cNvGrpSpPr/>
          <p:nvPr/>
        </p:nvGrpSpPr>
        <p:grpSpPr>
          <a:xfrm>
            <a:off x="457200" y="1600379"/>
            <a:ext cx="8572500" cy="4500384"/>
            <a:chOff x="0" y="0"/>
            <a:chExt cx="8572500" cy="4500382"/>
          </a:xfrm>
        </p:grpSpPr>
        <p:grpSp>
          <p:nvGrpSpPr>
            <p:cNvPr id="455" name="Group">
              <a:extLst>
                <a:ext uri="{FF2B5EF4-FFF2-40B4-BE49-F238E27FC236}">
                  <a16:creationId xmlns:a16="http://schemas.microsoft.com/office/drawing/2014/main" id="{CE887B4E-13D2-66A4-11EC-DEE1CAB58543}"/>
                </a:ext>
              </a:extLst>
            </p:cNvPr>
            <p:cNvGrpSpPr/>
            <p:nvPr/>
          </p:nvGrpSpPr>
          <p:grpSpPr>
            <a:xfrm>
              <a:off x="6172200" y="152220"/>
              <a:ext cx="1828800" cy="914401"/>
              <a:chOff x="0" y="0"/>
              <a:chExt cx="1828800" cy="914400"/>
            </a:xfrm>
          </p:grpSpPr>
          <p:sp>
            <p:nvSpPr>
              <p:cNvPr id="453" name="Rectangle">
                <a:extLst>
                  <a:ext uri="{FF2B5EF4-FFF2-40B4-BE49-F238E27FC236}">
                    <a16:creationId xmlns:a16="http://schemas.microsoft.com/office/drawing/2014/main" id="{3261F107-0216-F573-F820-B02D0B88CB88}"/>
                  </a:ext>
                </a:extLst>
              </p:cNvPr>
              <p:cNvSpPr/>
              <p:nvPr/>
            </p:nvSpPr>
            <p:spPr>
              <a:xfrm>
                <a:off x="0" y="0"/>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54" name="critical region">
                <a:extLst>
                  <a:ext uri="{FF2B5EF4-FFF2-40B4-BE49-F238E27FC236}">
                    <a16:creationId xmlns:a16="http://schemas.microsoft.com/office/drawing/2014/main" id="{6D9A9427-A814-F985-868B-07A68A9E18B3}"/>
                  </a:ext>
                </a:extLst>
              </p:cNvPr>
              <p:cNvSpPr txBox="1"/>
              <p:nvPr/>
            </p:nvSpPr>
            <p:spPr>
              <a:xfrm>
                <a:off x="0" y="276789"/>
                <a:ext cx="1828800" cy="36082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456" name="Rectangle">
              <a:extLst>
                <a:ext uri="{FF2B5EF4-FFF2-40B4-BE49-F238E27FC236}">
                  <a16:creationId xmlns:a16="http://schemas.microsoft.com/office/drawing/2014/main" id="{D6C44B8C-F677-4BE6-1419-4B54DAED76A0}"/>
                </a:ext>
              </a:extLst>
            </p:cNvPr>
            <p:cNvSpPr/>
            <p:nvPr/>
          </p:nvSpPr>
          <p:spPr>
            <a:xfrm>
              <a:off x="381000" y="609420"/>
              <a:ext cx="3670300" cy="3429001"/>
            </a:xfrm>
            <a:prstGeom prst="rect">
              <a:avLst/>
            </a:prstGeom>
            <a:solidFill>
              <a:srgbClr val="FFBEBD">
                <a:alpha val="50000"/>
              </a:srgbClr>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57" name="thread A reaches CR and finds a lock at 0, which means that A can enter…">
              <a:extLst>
                <a:ext uri="{FF2B5EF4-FFF2-40B4-BE49-F238E27FC236}">
                  <a16:creationId xmlns:a16="http://schemas.microsoft.com/office/drawing/2014/main" id="{3286FBC4-FF3D-4744-A0C9-50A7FFECC988}"/>
                </a:ext>
              </a:extLst>
            </p:cNvPr>
            <p:cNvSpPr txBox="1"/>
            <p:nvPr/>
          </p:nvSpPr>
          <p:spPr>
            <a:xfrm>
              <a:off x="0" y="152220"/>
              <a:ext cx="4127500" cy="402780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thread A reaches CR and finds a lock at 0, which means that A can enter</a:t>
              </a:r>
            </a:p>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thread A sets the lock to 1 and enters CR, which prevents B from entering</a:t>
              </a:r>
            </a:p>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thread A exits CR and resets lock to 0; thread B can now enter</a:t>
              </a:r>
            </a:p>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thread B sets the lock to 1 and enters CR</a:t>
              </a:r>
            </a:p>
          </p:txBody>
        </p:sp>
        <p:sp>
          <p:nvSpPr>
            <p:cNvPr id="458" name="Rectangle">
              <a:extLst>
                <a:ext uri="{FF2B5EF4-FFF2-40B4-BE49-F238E27FC236}">
                  <a16:creationId xmlns:a16="http://schemas.microsoft.com/office/drawing/2014/main" id="{336D2A1E-D902-9329-C110-6347FA64666E}"/>
                </a:ext>
              </a:extLst>
            </p:cNvPr>
            <p:cNvSpPr/>
            <p:nvPr/>
          </p:nvSpPr>
          <p:spPr>
            <a:xfrm>
              <a:off x="6172200" y="1295220"/>
              <a:ext cx="1841500" cy="914401"/>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59" name="Rectangle">
              <a:extLst>
                <a:ext uri="{FF2B5EF4-FFF2-40B4-BE49-F238E27FC236}">
                  <a16:creationId xmlns:a16="http://schemas.microsoft.com/office/drawing/2014/main" id="{BC4BE05A-6B67-F455-943B-BC0D2895741C}"/>
                </a:ext>
              </a:extLst>
            </p:cNvPr>
            <p:cNvSpPr/>
            <p:nvPr/>
          </p:nvSpPr>
          <p:spPr>
            <a:xfrm>
              <a:off x="6172200" y="2438220"/>
              <a:ext cx="1841500" cy="914401"/>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0" name="Rectangle">
              <a:extLst>
                <a:ext uri="{FF2B5EF4-FFF2-40B4-BE49-F238E27FC236}">
                  <a16:creationId xmlns:a16="http://schemas.microsoft.com/office/drawing/2014/main" id="{331F1E99-38B4-B025-95B1-0B2E9F0DAA5B}"/>
                </a:ext>
              </a:extLst>
            </p:cNvPr>
            <p:cNvSpPr/>
            <p:nvPr/>
          </p:nvSpPr>
          <p:spPr>
            <a:xfrm>
              <a:off x="6172200" y="3581220"/>
              <a:ext cx="1841500" cy="914401"/>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1" name="Line">
              <a:extLst>
                <a:ext uri="{FF2B5EF4-FFF2-40B4-BE49-F238E27FC236}">
                  <a16:creationId xmlns:a16="http://schemas.microsoft.com/office/drawing/2014/main" id="{28DEC6D0-5040-02FC-31E5-AE22D1319F09}"/>
                </a:ext>
              </a:extLst>
            </p:cNvPr>
            <p:cNvSpPr/>
            <p:nvPr/>
          </p:nvSpPr>
          <p:spPr>
            <a:xfrm>
              <a:off x="4343400" y="380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2" name="Line">
              <a:extLst>
                <a:ext uri="{FF2B5EF4-FFF2-40B4-BE49-F238E27FC236}">
                  <a16:creationId xmlns:a16="http://schemas.microsoft.com/office/drawing/2014/main" id="{0F464C7B-0B6C-ECB8-108E-9B8D078052AE}"/>
                </a:ext>
              </a:extLst>
            </p:cNvPr>
            <p:cNvSpPr/>
            <p:nvPr/>
          </p:nvSpPr>
          <p:spPr>
            <a:xfrm>
              <a:off x="4343400" y="761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3" name="Line">
              <a:extLst>
                <a:ext uri="{FF2B5EF4-FFF2-40B4-BE49-F238E27FC236}">
                  <a16:creationId xmlns:a16="http://schemas.microsoft.com/office/drawing/2014/main" id="{86F6106D-46B1-393A-B5A8-F1DF25EDF36C}"/>
                </a:ext>
              </a:extLst>
            </p:cNvPr>
            <p:cNvSpPr/>
            <p:nvPr/>
          </p:nvSpPr>
          <p:spPr>
            <a:xfrm>
              <a:off x="4343400" y="1523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4" name="Line">
              <a:extLst>
                <a:ext uri="{FF2B5EF4-FFF2-40B4-BE49-F238E27FC236}">
                  <a16:creationId xmlns:a16="http://schemas.microsoft.com/office/drawing/2014/main" id="{654D32B2-A4AB-FEB2-E6C8-68E259AD7A5F}"/>
                </a:ext>
              </a:extLst>
            </p:cNvPr>
            <p:cNvSpPr/>
            <p:nvPr/>
          </p:nvSpPr>
          <p:spPr>
            <a:xfrm>
              <a:off x="4343400" y="1904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5" name="Line">
              <a:extLst>
                <a:ext uri="{FF2B5EF4-FFF2-40B4-BE49-F238E27FC236}">
                  <a16:creationId xmlns:a16="http://schemas.microsoft.com/office/drawing/2014/main" id="{53095D6C-2ED8-A1A8-8550-90DDC7F08442}"/>
                </a:ext>
              </a:extLst>
            </p:cNvPr>
            <p:cNvSpPr/>
            <p:nvPr/>
          </p:nvSpPr>
          <p:spPr>
            <a:xfrm>
              <a:off x="4343400" y="2666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6" name="Line">
              <a:extLst>
                <a:ext uri="{FF2B5EF4-FFF2-40B4-BE49-F238E27FC236}">
                  <a16:creationId xmlns:a16="http://schemas.microsoft.com/office/drawing/2014/main" id="{8FF2305F-BB42-D707-A8BF-08C5DE6E5CF4}"/>
                </a:ext>
              </a:extLst>
            </p:cNvPr>
            <p:cNvSpPr/>
            <p:nvPr/>
          </p:nvSpPr>
          <p:spPr>
            <a:xfrm>
              <a:off x="4343400" y="3047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7" name="Line">
              <a:extLst>
                <a:ext uri="{FF2B5EF4-FFF2-40B4-BE49-F238E27FC236}">
                  <a16:creationId xmlns:a16="http://schemas.microsoft.com/office/drawing/2014/main" id="{E76259E1-2C72-3F18-E442-4DD28D88747C}"/>
                </a:ext>
              </a:extLst>
            </p:cNvPr>
            <p:cNvSpPr/>
            <p:nvPr/>
          </p:nvSpPr>
          <p:spPr>
            <a:xfrm>
              <a:off x="4343400" y="3809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8" name="Line">
              <a:extLst>
                <a:ext uri="{FF2B5EF4-FFF2-40B4-BE49-F238E27FC236}">
                  <a16:creationId xmlns:a16="http://schemas.microsoft.com/office/drawing/2014/main" id="{6CBF584F-411A-6AF2-6A8D-011258C67E3E}"/>
                </a:ext>
              </a:extLst>
            </p:cNvPr>
            <p:cNvSpPr/>
            <p:nvPr/>
          </p:nvSpPr>
          <p:spPr>
            <a:xfrm>
              <a:off x="4343400" y="4190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469" name="pedblue.jpg" descr="pedblue.jpg">
              <a:extLst>
                <a:ext uri="{FF2B5EF4-FFF2-40B4-BE49-F238E27FC236}">
                  <a16:creationId xmlns:a16="http://schemas.microsoft.com/office/drawing/2014/main" id="{F7D0B0FA-5AE6-95F2-91F3-8470D91C3A69}"/>
                </a:ext>
              </a:extLst>
            </p:cNvPr>
            <p:cNvPicPr>
              <a:picLocks/>
            </p:cNvPicPr>
            <p:nvPr/>
          </p:nvPicPr>
          <p:blipFill>
            <a:blip r:embed="rId2"/>
            <a:stretch>
              <a:fillRect/>
            </a:stretch>
          </p:blipFill>
          <p:spPr>
            <a:xfrm>
              <a:off x="5867400" y="152220"/>
              <a:ext cx="274638" cy="461963"/>
            </a:xfrm>
            <a:prstGeom prst="rect">
              <a:avLst/>
            </a:prstGeom>
            <a:ln w="12700" cap="flat">
              <a:noFill/>
              <a:miter lim="400000"/>
            </a:ln>
            <a:effectLst/>
          </p:spPr>
        </p:pic>
        <p:pic>
          <p:nvPicPr>
            <p:cNvPr id="470" name="pedredstand.jpg" descr="pedredstand.jpg">
              <a:extLst>
                <a:ext uri="{FF2B5EF4-FFF2-40B4-BE49-F238E27FC236}">
                  <a16:creationId xmlns:a16="http://schemas.microsoft.com/office/drawing/2014/main" id="{9CE77EAD-D156-6649-A9EF-48A3D78F1BD1}"/>
                </a:ext>
              </a:extLst>
            </p:cNvPr>
            <p:cNvPicPr>
              <a:picLocks/>
            </p:cNvPicPr>
            <p:nvPr/>
          </p:nvPicPr>
          <p:blipFill>
            <a:blip r:embed="rId3"/>
            <a:stretch>
              <a:fillRect/>
            </a:stretch>
          </p:blipFill>
          <p:spPr>
            <a:xfrm>
              <a:off x="5976937" y="1752420"/>
              <a:ext cx="179388" cy="457201"/>
            </a:xfrm>
            <a:prstGeom prst="rect">
              <a:avLst/>
            </a:prstGeom>
            <a:ln w="12700" cap="flat">
              <a:noFill/>
              <a:miter lim="400000"/>
            </a:ln>
            <a:effectLst/>
          </p:spPr>
        </p:pic>
        <p:sp>
          <p:nvSpPr>
            <p:cNvPr id="471" name="Rectangle">
              <a:extLst>
                <a:ext uri="{FF2B5EF4-FFF2-40B4-BE49-F238E27FC236}">
                  <a16:creationId xmlns:a16="http://schemas.microsoft.com/office/drawing/2014/main" id="{DEDE098B-EE1A-CE6E-31E2-707D3CBC1DF0}"/>
                </a:ext>
              </a:extLst>
            </p:cNvPr>
            <p:cNvSpPr/>
            <p:nvPr/>
          </p:nvSpPr>
          <p:spPr>
            <a:xfrm>
              <a:off x="5334000" y="609420"/>
              <a:ext cx="850900" cy="457201"/>
            </a:xfrm>
            <a:prstGeom prst="rect">
              <a:avLst/>
            </a:prstGeom>
            <a:solidFill>
              <a:srgbClr val="FFFFFF"/>
            </a:solidFill>
            <a:ln w="9525" cap="flat">
              <a:solidFill>
                <a:srgbClr val="FFFFFF"/>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72" name="Line">
              <a:extLst>
                <a:ext uri="{FF2B5EF4-FFF2-40B4-BE49-F238E27FC236}">
                  <a16:creationId xmlns:a16="http://schemas.microsoft.com/office/drawing/2014/main" id="{C4F26364-F6AA-37EF-1FE3-77B070E4EA1E}"/>
                </a:ext>
              </a:extLst>
            </p:cNvPr>
            <p:cNvSpPr/>
            <p:nvPr/>
          </p:nvSpPr>
          <p:spPr>
            <a:xfrm>
              <a:off x="6172200" y="152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473" name="Line">
              <a:extLst>
                <a:ext uri="{FF2B5EF4-FFF2-40B4-BE49-F238E27FC236}">
                  <a16:creationId xmlns:a16="http://schemas.microsoft.com/office/drawing/2014/main" id="{EFF84276-1B14-5E63-CB8B-619B0935FF11}"/>
                </a:ext>
              </a:extLst>
            </p:cNvPr>
            <p:cNvSpPr/>
            <p:nvPr/>
          </p:nvSpPr>
          <p:spPr>
            <a:xfrm>
              <a:off x="8001000" y="152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474" name="pedred.jpg" descr="pedred.jpg">
              <a:extLst>
                <a:ext uri="{FF2B5EF4-FFF2-40B4-BE49-F238E27FC236}">
                  <a16:creationId xmlns:a16="http://schemas.microsoft.com/office/drawing/2014/main" id="{0A273F62-5A51-CE62-BA94-928035B95639}"/>
                </a:ext>
              </a:extLst>
            </p:cNvPr>
            <p:cNvPicPr>
              <a:picLocks/>
            </p:cNvPicPr>
            <p:nvPr/>
          </p:nvPicPr>
          <p:blipFill>
            <a:blip r:embed="rId4"/>
            <a:stretch>
              <a:fillRect/>
            </a:stretch>
          </p:blipFill>
          <p:spPr>
            <a:xfrm>
              <a:off x="5105400" y="609420"/>
              <a:ext cx="265113" cy="446088"/>
            </a:xfrm>
            <a:prstGeom prst="rect">
              <a:avLst/>
            </a:prstGeom>
            <a:ln w="12700" cap="flat">
              <a:noFill/>
              <a:miter lim="400000"/>
            </a:ln>
            <a:effectLst/>
          </p:spPr>
        </p:pic>
        <p:sp>
          <p:nvSpPr>
            <p:cNvPr id="475" name="Line">
              <a:extLst>
                <a:ext uri="{FF2B5EF4-FFF2-40B4-BE49-F238E27FC236}">
                  <a16:creationId xmlns:a16="http://schemas.microsoft.com/office/drawing/2014/main" id="{F2C0E80D-8454-3549-81C0-C060580D049E}"/>
                </a:ext>
              </a:extLst>
            </p:cNvPr>
            <p:cNvSpPr/>
            <p:nvPr/>
          </p:nvSpPr>
          <p:spPr>
            <a:xfrm>
              <a:off x="6172200" y="4190820"/>
              <a:ext cx="685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200" y="10800"/>
                    <a:pt x="2400" y="0"/>
                    <a:pt x="3600" y="0"/>
                  </a:cubicBezTo>
                  <a:cubicBezTo>
                    <a:pt x="4800" y="0"/>
                    <a:pt x="6000" y="21600"/>
                    <a:pt x="7200" y="21600"/>
                  </a:cubicBezTo>
                  <a:cubicBezTo>
                    <a:pt x="8400" y="21600"/>
                    <a:pt x="9600" y="0"/>
                    <a:pt x="10800" y="0"/>
                  </a:cubicBezTo>
                  <a:cubicBezTo>
                    <a:pt x="12000" y="0"/>
                    <a:pt x="13200" y="21600"/>
                    <a:pt x="14400" y="21600"/>
                  </a:cubicBezTo>
                  <a:cubicBezTo>
                    <a:pt x="15600" y="21600"/>
                    <a:pt x="16800" y="0"/>
                    <a:pt x="18000" y="0"/>
                  </a:cubicBezTo>
                  <a:cubicBezTo>
                    <a:pt x="19200" y="0"/>
                    <a:pt x="21000" y="180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476" name="pedredgray.jpg" descr="pedredgray.jpg">
              <a:extLst>
                <a:ext uri="{FF2B5EF4-FFF2-40B4-BE49-F238E27FC236}">
                  <a16:creationId xmlns:a16="http://schemas.microsoft.com/office/drawing/2014/main" id="{5EB83D5A-A620-5AE0-E068-103392B63B64}"/>
                </a:ext>
              </a:extLst>
            </p:cNvPr>
            <p:cNvPicPr>
              <a:picLocks/>
            </p:cNvPicPr>
            <p:nvPr/>
          </p:nvPicPr>
          <p:blipFill>
            <a:blip r:embed="rId5"/>
            <a:stretch>
              <a:fillRect/>
            </a:stretch>
          </p:blipFill>
          <p:spPr>
            <a:xfrm>
              <a:off x="6781800" y="4038420"/>
              <a:ext cx="274638" cy="461963"/>
            </a:xfrm>
            <a:prstGeom prst="rect">
              <a:avLst/>
            </a:prstGeom>
            <a:ln w="12700" cap="flat">
              <a:noFill/>
              <a:miter lim="400000"/>
            </a:ln>
            <a:effectLst/>
          </p:spPr>
        </p:pic>
        <p:pic>
          <p:nvPicPr>
            <p:cNvPr id="477" name="pedredstand.jpg" descr="pedredstand.jpg">
              <a:extLst>
                <a:ext uri="{FF2B5EF4-FFF2-40B4-BE49-F238E27FC236}">
                  <a16:creationId xmlns:a16="http://schemas.microsoft.com/office/drawing/2014/main" id="{50D4B616-8D81-09D3-5A23-F3BC87C2FB87}"/>
                </a:ext>
              </a:extLst>
            </p:cNvPr>
            <p:cNvPicPr>
              <a:picLocks/>
            </p:cNvPicPr>
            <p:nvPr/>
          </p:nvPicPr>
          <p:blipFill>
            <a:blip r:embed="rId3"/>
            <a:stretch>
              <a:fillRect/>
            </a:stretch>
          </p:blipFill>
          <p:spPr>
            <a:xfrm>
              <a:off x="5976937" y="2895420"/>
              <a:ext cx="179388" cy="457201"/>
            </a:xfrm>
            <a:prstGeom prst="rect">
              <a:avLst/>
            </a:prstGeom>
            <a:ln w="12700" cap="flat">
              <a:noFill/>
              <a:miter lim="400000"/>
            </a:ln>
            <a:effectLst/>
          </p:spPr>
        </p:pic>
        <p:sp>
          <p:nvSpPr>
            <p:cNvPr id="478" name="Line">
              <a:extLst>
                <a:ext uri="{FF2B5EF4-FFF2-40B4-BE49-F238E27FC236}">
                  <a16:creationId xmlns:a16="http://schemas.microsoft.com/office/drawing/2014/main" id="{C02032CC-EB8B-1C4F-28EF-1AB796DB3B19}"/>
                </a:ext>
              </a:extLst>
            </p:cNvPr>
            <p:cNvSpPr/>
            <p:nvPr/>
          </p:nvSpPr>
          <p:spPr>
            <a:xfrm>
              <a:off x="6172200" y="2666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479" name="pedblue.jpg" descr="pedblue.jpg">
              <a:extLst>
                <a:ext uri="{FF2B5EF4-FFF2-40B4-BE49-F238E27FC236}">
                  <a16:creationId xmlns:a16="http://schemas.microsoft.com/office/drawing/2014/main" id="{73DBA644-9620-09A1-2FBE-6F423C64E82B}"/>
                </a:ext>
              </a:extLst>
            </p:cNvPr>
            <p:cNvPicPr>
              <a:picLocks/>
            </p:cNvPicPr>
            <p:nvPr/>
          </p:nvPicPr>
          <p:blipFill>
            <a:blip r:embed="rId2"/>
            <a:stretch>
              <a:fillRect/>
            </a:stretch>
          </p:blipFill>
          <p:spPr>
            <a:xfrm>
              <a:off x="8001000" y="2438220"/>
              <a:ext cx="274638" cy="461963"/>
            </a:xfrm>
            <a:prstGeom prst="rect">
              <a:avLst/>
            </a:prstGeom>
            <a:ln w="12700" cap="flat">
              <a:noFill/>
              <a:miter lim="400000"/>
            </a:ln>
            <a:effectLst/>
          </p:spPr>
        </p:pic>
        <p:pic>
          <p:nvPicPr>
            <p:cNvPr id="480" name="pedbluegray.jpg" descr="pedbluegray.jpg">
              <a:extLst>
                <a:ext uri="{FF2B5EF4-FFF2-40B4-BE49-F238E27FC236}">
                  <a16:creationId xmlns:a16="http://schemas.microsoft.com/office/drawing/2014/main" id="{F9788D20-8248-C303-FCB1-1B3B3404ECC9}"/>
                </a:ext>
              </a:extLst>
            </p:cNvPr>
            <p:cNvPicPr>
              <a:picLocks/>
            </p:cNvPicPr>
            <p:nvPr/>
          </p:nvPicPr>
          <p:blipFill>
            <a:blip r:embed="rId6"/>
            <a:stretch>
              <a:fillRect/>
            </a:stretch>
          </p:blipFill>
          <p:spPr>
            <a:xfrm>
              <a:off x="7315200" y="1295220"/>
              <a:ext cx="274638" cy="461963"/>
            </a:xfrm>
            <a:prstGeom prst="rect">
              <a:avLst/>
            </a:prstGeom>
            <a:ln w="12700" cap="flat">
              <a:noFill/>
              <a:miter lim="400000"/>
            </a:ln>
            <a:effectLst/>
          </p:spPr>
        </p:pic>
        <p:sp>
          <p:nvSpPr>
            <p:cNvPr id="481" name="Line">
              <a:extLst>
                <a:ext uri="{FF2B5EF4-FFF2-40B4-BE49-F238E27FC236}">
                  <a16:creationId xmlns:a16="http://schemas.microsoft.com/office/drawing/2014/main" id="{E24060B4-CB04-AEC0-2FAA-86D1BA0793C5}"/>
                </a:ext>
              </a:extLst>
            </p:cNvPr>
            <p:cNvSpPr/>
            <p:nvPr/>
          </p:nvSpPr>
          <p:spPr>
            <a:xfrm>
              <a:off x="6172200" y="3809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82" name="Line">
              <a:extLst>
                <a:ext uri="{FF2B5EF4-FFF2-40B4-BE49-F238E27FC236}">
                  <a16:creationId xmlns:a16="http://schemas.microsoft.com/office/drawing/2014/main" id="{6D966C40-6440-3DE6-A3D7-FB7810891F98}"/>
                </a:ext>
              </a:extLst>
            </p:cNvPr>
            <p:cNvSpPr/>
            <p:nvPr/>
          </p:nvSpPr>
          <p:spPr>
            <a:xfrm>
              <a:off x="8001000" y="3809820"/>
              <a:ext cx="5715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440" y="10800"/>
                    <a:pt x="2880" y="0"/>
                    <a:pt x="4320" y="0"/>
                  </a:cubicBezTo>
                  <a:cubicBezTo>
                    <a:pt x="5760" y="0"/>
                    <a:pt x="7200" y="21600"/>
                    <a:pt x="8640" y="21600"/>
                  </a:cubicBezTo>
                  <a:cubicBezTo>
                    <a:pt x="10080" y="21600"/>
                    <a:pt x="11520" y="0"/>
                    <a:pt x="12960" y="0"/>
                  </a:cubicBezTo>
                  <a:cubicBezTo>
                    <a:pt x="14400" y="0"/>
                    <a:pt x="15840" y="21600"/>
                    <a:pt x="17280" y="21600"/>
                  </a:cubicBezTo>
                  <a:cubicBezTo>
                    <a:pt x="18720" y="21600"/>
                    <a:pt x="20880" y="3600"/>
                    <a:pt x="21600" y="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83" name="Line">
              <a:extLst>
                <a:ext uri="{FF2B5EF4-FFF2-40B4-BE49-F238E27FC236}">
                  <a16:creationId xmlns:a16="http://schemas.microsoft.com/office/drawing/2014/main" id="{DED96640-EADD-D068-8CA5-76C8B3B7BEFE}"/>
                </a:ext>
              </a:extLst>
            </p:cNvPr>
            <p:cNvSpPr/>
            <p:nvPr/>
          </p:nvSpPr>
          <p:spPr>
            <a:xfrm>
              <a:off x="6172200" y="1523820"/>
              <a:ext cx="11430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720" y="10800"/>
                    <a:pt x="1440" y="0"/>
                    <a:pt x="2160" y="0"/>
                  </a:cubicBezTo>
                  <a:cubicBezTo>
                    <a:pt x="2880" y="0"/>
                    <a:pt x="3600" y="21600"/>
                    <a:pt x="4320" y="21600"/>
                  </a:cubicBezTo>
                  <a:cubicBezTo>
                    <a:pt x="5040" y="21600"/>
                    <a:pt x="5760" y="0"/>
                    <a:pt x="6480" y="0"/>
                  </a:cubicBezTo>
                  <a:cubicBezTo>
                    <a:pt x="7200" y="0"/>
                    <a:pt x="7920" y="21600"/>
                    <a:pt x="8640" y="21600"/>
                  </a:cubicBezTo>
                  <a:cubicBezTo>
                    <a:pt x="9360" y="21600"/>
                    <a:pt x="10080" y="0"/>
                    <a:pt x="10800" y="0"/>
                  </a:cubicBezTo>
                  <a:cubicBezTo>
                    <a:pt x="11520" y="0"/>
                    <a:pt x="12240" y="21600"/>
                    <a:pt x="12960" y="21600"/>
                  </a:cubicBezTo>
                  <a:cubicBezTo>
                    <a:pt x="13680" y="21600"/>
                    <a:pt x="14400" y="0"/>
                    <a:pt x="15120" y="0"/>
                  </a:cubicBezTo>
                  <a:cubicBezTo>
                    <a:pt x="15840" y="0"/>
                    <a:pt x="16560" y="21600"/>
                    <a:pt x="17280" y="21600"/>
                  </a:cubicBezTo>
                  <a:cubicBezTo>
                    <a:pt x="18000" y="21600"/>
                    <a:pt x="18720" y="0"/>
                    <a:pt x="19440" y="0"/>
                  </a:cubicBezTo>
                  <a:cubicBezTo>
                    <a:pt x="20160" y="0"/>
                    <a:pt x="21240" y="180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84" name="B">
              <a:extLst>
                <a:ext uri="{FF2B5EF4-FFF2-40B4-BE49-F238E27FC236}">
                  <a16:creationId xmlns:a16="http://schemas.microsoft.com/office/drawing/2014/main" id="{31859EF6-5772-7C07-8B98-53F40EFB31EF}"/>
                </a:ext>
              </a:extLst>
            </p:cNvPr>
            <p:cNvSpPr txBox="1"/>
            <p:nvPr/>
          </p:nvSpPr>
          <p:spPr>
            <a:xfrm>
              <a:off x="4059554" y="533220"/>
              <a:ext cx="321629" cy="4445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485" name="A">
              <a:extLst>
                <a:ext uri="{FF2B5EF4-FFF2-40B4-BE49-F238E27FC236}">
                  <a16:creationId xmlns:a16="http://schemas.microsoft.com/office/drawing/2014/main" id="{0D47A7CC-8C0B-99F2-C4E2-3D4A91FD86CA}"/>
                </a:ext>
              </a:extLst>
            </p:cNvPr>
            <p:cNvSpPr txBox="1"/>
            <p:nvPr/>
          </p:nvSpPr>
          <p:spPr>
            <a:xfrm>
              <a:off x="4059554" y="152220"/>
              <a:ext cx="321629" cy="4445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486" name="B">
              <a:extLst>
                <a:ext uri="{FF2B5EF4-FFF2-40B4-BE49-F238E27FC236}">
                  <a16:creationId xmlns:a16="http://schemas.microsoft.com/office/drawing/2014/main" id="{6CB6CFBF-3F2D-59E1-32D9-7F961E5BEC03}"/>
                </a:ext>
              </a:extLst>
            </p:cNvPr>
            <p:cNvSpPr txBox="1"/>
            <p:nvPr/>
          </p:nvSpPr>
          <p:spPr>
            <a:xfrm>
              <a:off x="4059554" y="1676220"/>
              <a:ext cx="321629" cy="4445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487" name="A">
              <a:extLst>
                <a:ext uri="{FF2B5EF4-FFF2-40B4-BE49-F238E27FC236}">
                  <a16:creationId xmlns:a16="http://schemas.microsoft.com/office/drawing/2014/main" id="{029C6748-B015-2045-D4BE-CC4E4EEB4BB3}"/>
                </a:ext>
              </a:extLst>
            </p:cNvPr>
            <p:cNvSpPr txBox="1"/>
            <p:nvPr/>
          </p:nvSpPr>
          <p:spPr>
            <a:xfrm>
              <a:off x="4059554" y="1295220"/>
              <a:ext cx="321629" cy="4445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488" name="B">
              <a:extLst>
                <a:ext uri="{FF2B5EF4-FFF2-40B4-BE49-F238E27FC236}">
                  <a16:creationId xmlns:a16="http://schemas.microsoft.com/office/drawing/2014/main" id="{044BE8A2-4260-574B-D327-CE764F409723}"/>
                </a:ext>
              </a:extLst>
            </p:cNvPr>
            <p:cNvSpPr txBox="1"/>
            <p:nvPr/>
          </p:nvSpPr>
          <p:spPr>
            <a:xfrm>
              <a:off x="4059554" y="2819220"/>
              <a:ext cx="321629" cy="4445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489" name="A">
              <a:extLst>
                <a:ext uri="{FF2B5EF4-FFF2-40B4-BE49-F238E27FC236}">
                  <a16:creationId xmlns:a16="http://schemas.microsoft.com/office/drawing/2014/main" id="{3DC12B97-3DAD-9E99-F7DE-3AA39D9A23AC}"/>
                </a:ext>
              </a:extLst>
            </p:cNvPr>
            <p:cNvSpPr txBox="1"/>
            <p:nvPr/>
          </p:nvSpPr>
          <p:spPr>
            <a:xfrm>
              <a:off x="4059554" y="2438220"/>
              <a:ext cx="321629" cy="4445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490" name="B">
              <a:extLst>
                <a:ext uri="{FF2B5EF4-FFF2-40B4-BE49-F238E27FC236}">
                  <a16:creationId xmlns:a16="http://schemas.microsoft.com/office/drawing/2014/main" id="{2B3C8FD1-65E4-A63D-A3B5-1DA8EDBAC176}"/>
                </a:ext>
              </a:extLst>
            </p:cNvPr>
            <p:cNvSpPr txBox="1"/>
            <p:nvPr/>
          </p:nvSpPr>
          <p:spPr>
            <a:xfrm>
              <a:off x="4059554" y="3962220"/>
              <a:ext cx="321629" cy="4445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491" name="A">
              <a:extLst>
                <a:ext uri="{FF2B5EF4-FFF2-40B4-BE49-F238E27FC236}">
                  <a16:creationId xmlns:a16="http://schemas.microsoft.com/office/drawing/2014/main" id="{48C69669-D749-68C1-76A4-BA90E5D30C1C}"/>
                </a:ext>
              </a:extLst>
            </p:cNvPr>
            <p:cNvSpPr txBox="1"/>
            <p:nvPr/>
          </p:nvSpPr>
          <p:spPr>
            <a:xfrm>
              <a:off x="4059554" y="3581220"/>
              <a:ext cx="321629" cy="4445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492" name="Line">
              <a:extLst>
                <a:ext uri="{FF2B5EF4-FFF2-40B4-BE49-F238E27FC236}">
                  <a16:creationId xmlns:a16="http://schemas.microsoft.com/office/drawing/2014/main" id="{F5612E44-8859-6A60-B902-78313B30846C}"/>
                </a:ext>
              </a:extLst>
            </p:cNvPr>
            <p:cNvSpPr/>
            <p:nvPr/>
          </p:nvSpPr>
          <p:spPr>
            <a:xfrm>
              <a:off x="8001000" y="2438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493" name="Line">
              <a:extLst>
                <a:ext uri="{FF2B5EF4-FFF2-40B4-BE49-F238E27FC236}">
                  <a16:creationId xmlns:a16="http://schemas.microsoft.com/office/drawing/2014/main" id="{F2970C80-293A-4E3F-CEDD-A0D37FAE21CC}"/>
                </a:ext>
              </a:extLst>
            </p:cNvPr>
            <p:cNvSpPr/>
            <p:nvPr/>
          </p:nvSpPr>
          <p:spPr>
            <a:xfrm>
              <a:off x="8001000" y="1295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494" name="Line">
              <a:extLst>
                <a:ext uri="{FF2B5EF4-FFF2-40B4-BE49-F238E27FC236}">
                  <a16:creationId xmlns:a16="http://schemas.microsoft.com/office/drawing/2014/main" id="{5DFD5053-C757-C341-A298-6BDB09F002D5}"/>
                </a:ext>
              </a:extLst>
            </p:cNvPr>
            <p:cNvSpPr/>
            <p:nvPr/>
          </p:nvSpPr>
          <p:spPr>
            <a:xfrm>
              <a:off x="6172200" y="2438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495" name="Line">
              <a:extLst>
                <a:ext uri="{FF2B5EF4-FFF2-40B4-BE49-F238E27FC236}">
                  <a16:creationId xmlns:a16="http://schemas.microsoft.com/office/drawing/2014/main" id="{440ACE8D-416C-E175-8ECB-BC7E4C6BA029}"/>
                </a:ext>
              </a:extLst>
            </p:cNvPr>
            <p:cNvSpPr/>
            <p:nvPr/>
          </p:nvSpPr>
          <p:spPr>
            <a:xfrm>
              <a:off x="8001000" y="3581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496" name="Line">
              <a:extLst>
                <a:ext uri="{FF2B5EF4-FFF2-40B4-BE49-F238E27FC236}">
                  <a16:creationId xmlns:a16="http://schemas.microsoft.com/office/drawing/2014/main" id="{C3A895F7-B318-FF2A-5669-B0CDF797154C}"/>
                </a:ext>
              </a:extLst>
            </p:cNvPr>
            <p:cNvSpPr/>
            <p:nvPr/>
          </p:nvSpPr>
          <p:spPr>
            <a:xfrm>
              <a:off x="6172200" y="1295220"/>
              <a:ext cx="1588" cy="914401"/>
            </a:xfrm>
            <a:prstGeom prst="line">
              <a:avLst/>
            </a:prstGeom>
            <a:noFill/>
            <a:ln w="38100" cap="flat">
              <a:solidFill>
                <a:srgbClr val="7B1142"/>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499" name="Group">
              <a:extLst>
                <a:ext uri="{FF2B5EF4-FFF2-40B4-BE49-F238E27FC236}">
                  <a16:creationId xmlns:a16="http://schemas.microsoft.com/office/drawing/2014/main" id="{F86E1D0F-A208-374B-881B-88D02572DEEC}"/>
                </a:ext>
              </a:extLst>
            </p:cNvPr>
            <p:cNvGrpSpPr/>
            <p:nvPr/>
          </p:nvGrpSpPr>
          <p:grpSpPr>
            <a:xfrm>
              <a:off x="6096542" y="0"/>
              <a:ext cx="151858" cy="229722"/>
              <a:chOff x="0" y="0"/>
              <a:chExt cx="151856" cy="229721"/>
            </a:xfrm>
          </p:grpSpPr>
          <p:sp>
            <p:nvSpPr>
              <p:cNvPr id="497" name="Shape">
                <a:extLst>
                  <a:ext uri="{FF2B5EF4-FFF2-40B4-BE49-F238E27FC236}">
                    <a16:creationId xmlns:a16="http://schemas.microsoft.com/office/drawing/2014/main" id="{D93051E9-8087-1BA6-021C-BF121BDE178A}"/>
                  </a:ext>
                </a:extLst>
              </p:cNvPr>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98" name="Shape">
                <a:extLst>
                  <a:ext uri="{FF2B5EF4-FFF2-40B4-BE49-F238E27FC236}">
                    <a16:creationId xmlns:a16="http://schemas.microsoft.com/office/drawing/2014/main" id="{5476EDE8-4126-53FF-70EF-36120FDA5C55}"/>
                  </a:ext>
                </a:extLst>
              </p:cNvPr>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nvGrpSpPr>
            <p:cNvPr id="502" name="Group">
              <a:extLst>
                <a:ext uri="{FF2B5EF4-FFF2-40B4-BE49-F238E27FC236}">
                  <a16:creationId xmlns:a16="http://schemas.microsoft.com/office/drawing/2014/main" id="{A7B01FDD-D7EB-8B31-D020-7B596ECCAFCD}"/>
                </a:ext>
              </a:extLst>
            </p:cNvPr>
            <p:cNvGrpSpPr/>
            <p:nvPr/>
          </p:nvGrpSpPr>
          <p:grpSpPr>
            <a:xfrm>
              <a:off x="6096542" y="2286000"/>
              <a:ext cx="151858" cy="229722"/>
              <a:chOff x="0" y="0"/>
              <a:chExt cx="151856" cy="229721"/>
            </a:xfrm>
          </p:grpSpPr>
          <p:sp>
            <p:nvSpPr>
              <p:cNvPr id="500" name="Shape">
                <a:extLst>
                  <a:ext uri="{FF2B5EF4-FFF2-40B4-BE49-F238E27FC236}">
                    <a16:creationId xmlns:a16="http://schemas.microsoft.com/office/drawing/2014/main" id="{137F1E9C-523E-B53E-ED43-1F53118BD33F}"/>
                  </a:ext>
                </a:extLst>
              </p:cNvPr>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01" name="Shape">
                <a:extLst>
                  <a:ext uri="{FF2B5EF4-FFF2-40B4-BE49-F238E27FC236}">
                    <a16:creationId xmlns:a16="http://schemas.microsoft.com/office/drawing/2014/main" id="{0C948DBD-C17A-2A26-42C9-D7B6E70E7E30}"/>
                  </a:ext>
                </a:extLst>
              </p:cNvPr>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503" name="Line">
              <a:extLst>
                <a:ext uri="{FF2B5EF4-FFF2-40B4-BE49-F238E27FC236}">
                  <a16:creationId xmlns:a16="http://schemas.microsoft.com/office/drawing/2014/main" id="{F3581CF0-0E89-0440-C0A5-ECA79892CDAB}"/>
                </a:ext>
              </a:extLst>
            </p:cNvPr>
            <p:cNvSpPr/>
            <p:nvPr/>
          </p:nvSpPr>
          <p:spPr>
            <a:xfrm>
              <a:off x="6172200" y="3581220"/>
              <a:ext cx="1588" cy="914401"/>
            </a:xfrm>
            <a:prstGeom prst="line">
              <a:avLst/>
            </a:prstGeom>
            <a:noFill/>
            <a:ln w="38100" cap="flat">
              <a:solidFill>
                <a:srgbClr val="7B1142"/>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508" name="Group">
              <a:extLst>
                <a:ext uri="{FF2B5EF4-FFF2-40B4-BE49-F238E27FC236}">
                  <a16:creationId xmlns:a16="http://schemas.microsoft.com/office/drawing/2014/main" id="{D53EE63E-C14D-BE0F-B608-E2555A042BF3}"/>
                </a:ext>
              </a:extLst>
            </p:cNvPr>
            <p:cNvGrpSpPr/>
            <p:nvPr/>
          </p:nvGrpSpPr>
          <p:grpSpPr>
            <a:xfrm>
              <a:off x="6037262" y="1066620"/>
              <a:ext cx="269876" cy="306102"/>
              <a:chOff x="0" y="0"/>
              <a:chExt cx="269875" cy="306101"/>
            </a:xfrm>
          </p:grpSpPr>
          <p:sp>
            <p:nvSpPr>
              <p:cNvPr id="504" name="Shape">
                <a:extLst>
                  <a:ext uri="{FF2B5EF4-FFF2-40B4-BE49-F238E27FC236}">
                    <a16:creationId xmlns:a16="http://schemas.microsoft.com/office/drawing/2014/main" id="{1401ECAA-ECD4-20F4-334E-8CFB3A2A732D}"/>
                  </a:ext>
                </a:extLst>
              </p:cNvPr>
              <p:cNvSpPr/>
              <p:nvPr/>
            </p:nvSpPr>
            <p:spPr>
              <a:xfrm>
                <a:off x="0" y="0"/>
                <a:ext cx="269875" cy="304800"/>
              </a:xfrm>
              <a:custGeom>
                <a:avLst/>
                <a:gdLst/>
                <a:ahLst/>
                <a:cxnLst>
                  <a:cxn ang="0">
                    <a:pos x="wd2" y="hd2"/>
                  </a:cxn>
                  <a:cxn ang="5400000">
                    <a:pos x="wd2" y="hd2"/>
                  </a:cxn>
                  <a:cxn ang="10800000">
                    <a:pos x="wd2" y="hd2"/>
                  </a:cxn>
                  <a:cxn ang="16200000">
                    <a:pos x="wd2" y="hd2"/>
                  </a:cxn>
                </a:cxnLst>
                <a:rect l="0" t="0" r="r" b="b"/>
                <a:pathLst>
                  <a:path w="21600" h="21600" extrusionOk="0">
                    <a:moveTo>
                      <a:pt x="10800" y="5800"/>
                    </a:moveTo>
                    <a:lnTo>
                      <a:pt x="8352" y="2295"/>
                    </a:lnTo>
                    <a:lnTo>
                      <a:pt x="7312" y="6320"/>
                    </a:lnTo>
                    <a:lnTo>
                      <a:pt x="370" y="2295"/>
                    </a:lnTo>
                    <a:lnTo>
                      <a:pt x="4627" y="7617"/>
                    </a:lnTo>
                    <a:lnTo>
                      <a:pt x="0" y="8615"/>
                    </a:lnTo>
                    <a:lnTo>
                      <a:pt x="3722" y="11775"/>
                    </a:lnTo>
                    <a:lnTo>
                      <a:pt x="135" y="14587"/>
                    </a:lnTo>
                    <a:lnTo>
                      <a:pt x="5667" y="13937"/>
                    </a:lnTo>
                    <a:lnTo>
                      <a:pt x="4762" y="17617"/>
                    </a:lnTo>
                    <a:lnTo>
                      <a:pt x="7715" y="15627"/>
                    </a:lnTo>
                    <a:lnTo>
                      <a:pt x="8485" y="21600"/>
                    </a:lnTo>
                    <a:lnTo>
                      <a:pt x="10532" y="14935"/>
                    </a:lnTo>
                    <a:lnTo>
                      <a:pt x="13247" y="19737"/>
                    </a:lnTo>
                    <a:lnTo>
                      <a:pt x="14020" y="14457"/>
                    </a:lnTo>
                    <a:lnTo>
                      <a:pt x="18145" y="18095"/>
                    </a:lnTo>
                    <a:lnTo>
                      <a:pt x="16837" y="12942"/>
                    </a:lnTo>
                    <a:lnTo>
                      <a:pt x="21600" y="13290"/>
                    </a:lnTo>
                    <a:lnTo>
                      <a:pt x="17607" y="10475"/>
                    </a:lnTo>
                    <a:lnTo>
                      <a:pt x="21097" y="8137"/>
                    </a:lnTo>
                    <a:lnTo>
                      <a:pt x="16702" y="7315"/>
                    </a:lnTo>
                    <a:lnTo>
                      <a:pt x="18380" y="4457"/>
                    </a:lnTo>
                    <a:lnTo>
                      <a:pt x="14155" y="5325"/>
                    </a:lnTo>
                    <a:lnTo>
                      <a:pt x="14522" y="0"/>
                    </a:lnTo>
                    <a:close/>
                  </a:path>
                </a:pathLst>
              </a:custGeom>
              <a:solidFill>
                <a:srgbClr val="FFFB00"/>
              </a:solidFill>
              <a:ln w="3175"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507" name="Group">
                <a:extLst>
                  <a:ext uri="{FF2B5EF4-FFF2-40B4-BE49-F238E27FC236}">
                    <a16:creationId xmlns:a16="http://schemas.microsoft.com/office/drawing/2014/main" id="{C5B007E1-B569-4779-4E59-01F866BED17C}"/>
                  </a:ext>
                </a:extLst>
              </p:cNvPr>
              <p:cNvGrpSpPr/>
              <p:nvPr/>
            </p:nvGrpSpPr>
            <p:grpSpPr>
              <a:xfrm>
                <a:off x="59280" y="76379"/>
                <a:ext cx="151857" cy="229723"/>
                <a:chOff x="0" y="0"/>
                <a:chExt cx="151856" cy="229721"/>
              </a:xfrm>
            </p:grpSpPr>
            <p:sp>
              <p:nvSpPr>
                <p:cNvPr id="505" name="Shape">
                  <a:extLst>
                    <a:ext uri="{FF2B5EF4-FFF2-40B4-BE49-F238E27FC236}">
                      <a16:creationId xmlns:a16="http://schemas.microsoft.com/office/drawing/2014/main" id="{35A3BCA8-B788-4E46-E547-4D4E2A8648D5}"/>
                    </a:ext>
                  </a:extLst>
                </p:cNvPr>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B00"/>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06" name="Shape">
                  <a:extLst>
                    <a:ext uri="{FF2B5EF4-FFF2-40B4-BE49-F238E27FC236}">
                      <a16:creationId xmlns:a16="http://schemas.microsoft.com/office/drawing/2014/main" id="{43662620-07DB-76CB-70B9-C113783876DC}"/>
                    </a:ext>
                  </a:extLst>
                </p:cNvPr>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nvGrpSpPr>
            <p:cNvPr id="513" name="Group">
              <a:extLst>
                <a:ext uri="{FF2B5EF4-FFF2-40B4-BE49-F238E27FC236}">
                  <a16:creationId xmlns:a16="http://schemas.microsoft.com/office/drawing/2014/main" id="{6ABFC4A7-03DF-BE8F-F6F0-2FCE47FB63D4}"/>
                </a:ext>
              </a:extLst>
            </p:cNvPr>
            <p:cNvGrpSpPr/>
            <p:nvPr/>
          </p:nvGrpSpPr>
          <p:grpSpPr>
            <a:xfrm>
              <a:off x="6037262" y="3352620"/>
              <a:ext cx="269876" cy="306102"/>
              <a:chOff x="0" y="0"/>
              <a:chExt cx="269875" cy="306101"/>
            </a:xfrm>
          </p:grpSpPr>
          <p:sp>
            <p:nvSpPr>
              <p:cNvPr id="509" name="Shape">
                <a:extLst>
                  <a:ext uri="{FF2B5EF4-FFF2-40B4-BE49-F238E27FC236}">
                    <a16:creationId xmlns:a16="http://schemas.microsoft.com/office/drawing/2014/main" id="{A064D3FA-BC9E-393C-D183-41AA8D564A88}"/>
                  </a:ext>
                </a:extLst>
              </p:cNvPr>
              <p:cNvSpPr/>
              <p:nvPr/>
            </p:nvSpPr>
            <p:spPr>
              <a:xfrm>
                <a:off x="0" y="0"/>
                <a:ext cx="269875" cy="304800"/>
              </a:xfrm>
              <a:custGeom>
                <a:avLst/>
                <a:gdLst/>
                <a:ahLst/>
                <a:cxnLst>
                  <a:cxn ang="0">
                    <a:pos x="wd2" y="hd2"/>
                  </a:cxn>
                  <a:cxn ang="5400000">
                    <a:pos x="wd2" y="hd2"/>
                  </a:cxn>
                  <a:cxn ang="10800000">
                    <a:pos x="wd2" y="hd2"/>
                  </a:cxn>
                  <a:cxn ang="16200000">
                    <a:pos x="wd2" y="hd2"/>
                  </a:cxn>
                </a:cxnLst>
                <a:rect l="0" t="0" r="r" b="b"/>
                <a:pathLst>
                  <a:path w="21600" h="21600" extrusionOk="0">
                    <a:moveTo>
                      <a:pt x="10800" y="5800"/>
                    </a:moveTo>
                    <a:lnTo>
                      <a:pt x="8352" y="2295"/>
                    </a:lnTo>
                    <a:lnTo>
                      <a:pt x="7312" y="6320"/>
                    </a:lnTo>
                    <a:lnTo>
                      <a:pt x="370" y="2295"/>
                    </a:lnTo>
                    <a:lnTo>
                      <a:pt x="4627" y="7617"/>
                    </a:lnTo>
                    <a:lnTo>
                      <a:pt x="0" y="8615"/>
                    </a:lnTo>
                    <a:lnTo>
                      <a:pt x="3722" y="11775"/>
                    </a:lnTo>
                    <a:lnTo>
                      <a:pt x="135" y="14587"/>
                    </a:lnTo>
                    <a:lnTo>
                      <a:pt x="5667" y="13937"/>
                    </a:lnTo>
                    <a:lnTo>
                      <a:pt x="4762" y="17617"/>
                    </a:lnTo>
                    <a:lnTo>
                      <a:pt x="7715" y="15627"/>
                    </a:lnTo>
                    <a:lnTo>
                      <a:pt x="8485" y="21600"/>
                    </a:lnTo>
                    <a:lnTo>
                      <a:pt x="10532" y="14935"/>
                    </a:lnTo>
                    <a:lnTo>
                      <a:pt x="13247" y="19737"/>
                    </a:lnTo>
                    <a:lnTo>
                      <a:pt x="14020" y="14457"/>
                    </a:lnTo>
                    <a:lnTo>
                      <a:pt x="18145" y="18095"/>
                    </a:lnTo>
                    <a:lnTo>
                      <a:pt x="16837" y="12942"/>
                    </a:lnTo>
                    <a:lnTo>
                      <a:pt x="21600" y="13290"/>
                    </a:lnTo>
                    <a:lnTo>
                      <a:pt x="17607" y="10475"/>
                    </a:lnTo>
                    <a:lnTo>
                      <a:pt x="21097" y="8137"/>
                    </a:lnTo>
                    <a:lnTo>
                      <a:pt x="16702" y="7315"/>
                    </a:lnTo>
                    <a:lnTo>
                      <a:pt x="18380" y="4457"/>
                    </a:lnTo>
                    <a:lnTo>
                      <a:pt x="14155" y="5325"/>
                    </a:lnTo>
                    <a:lnTo>
                      <a:pt x="14522" y="0"/>
                    </a:lnTo>
                    <a:close/>
                  </a:path>
                </a:pathLst>
              </a:custGeom>
              <a:solidFill>
                <a:srgbClr val="FFFB00"/>
              </a:solidFill>
              <a:ln w="3175"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512" name="Group">
                <a:extLst>
                  <a:ext uri="{FF2B5EF4-FFF2-40B4-BE49-F238E27FC236}">
                    <a16:creationId xmlns:a16="http://schemas.microsoft.com/office/drawing/2014/main" id="{4446BC43-35BB-C17D-3581-CD9F82C3B767}"/>
                  </a:ext>
                </a:extLst>
              </p:cNvPr>
              <p:cNvGrpSpPr/>
              <p:nvPr/>
            </p:nvGrpSpPr>
            <p:grpSpPr>
              <a:xfrm>
                <a:off x="59280" y="76379"/>
                <a:ext cx="151857" cy="229723"/>
                <a:chOff x="0" y="0"/>
                <a:chExt cx="151856" cy="229721"/>
              </a:xfrm>
            </p:grpSpPr>
            <p:sp>
              <p:nvSpPr>
                <p:cNvPr id="510" name="Shape">
                  <a:extLst>
                    <a:ext uri="{FF2B5EF4-FFF2-40B4-BE49-F238E27FC236}">
                      <a16:creationId xmlns:a16="http://schemas.microsoft.com/office/drawing/2014/main" id="{E899ABA0-3EDB-FB1A-F636-35D7843F8D1F}"/>
                    </a:ext>
                  </a:extLst>
                </p:cNvPr>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B00"/>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11" name="Shape">
                  <a:extLst>
                    <a:ext uri="{FF2B5EF4-FFF2-40B4-BE49-F238E27FC236}">
                      <a16:creationId xmlns:a16="http://schemas.microsoft.com/office/drawing/2014/main" id="{FAF1CB44-FBE4-5291-D6B6-F99FB61FACF1}"/>
                    </a:ext>
                  </a:extLst>
                </p:cNvPr>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spTree>
    <p:extLst>
      <p:ext uri="{BB962C8B-B14F-4D97-AF65-F5344CB8AC3E}">
        <p14:creationId xmlns:p14="http://schemas.microsoft.com/office/powerpoint/2010/main" val="3892588277"/>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 grpId="0" animBg="1" advAuto="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 name="Mutual Exclusion"/>
          <p:cNvSpPr txBox="1">
            <a:spLocks noGrp="1"/>
          </p:cNvSpPr>
          <p:nvPr>
            <p:ph type="title"/>
          </p:nvPr>
        </p:nvSpPr>
        <p:spPr>
          <a:prstGeom prst="rect">
            <a:avLst/>
          </a:prstGeom>
        </p:spPr>
        <p:txBody>
          <a:bodyPr/>
          <a:lstStyle/>
          <a:p>
            <a:r>
              <a:t>Mutual Exclusion</a:t>
            </a:r>
          </a:p>
        </p:txBody>
      </p:sp>
      <p:sp>
        <p:nvSpPr>
          <p:cNvPr id="517"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28</a:t>
            </a:fld>
            <a:endParaRPr/>
          </a:p>
        </p:txBody>
      </p:sp>
      <p:grpSp>
        <p:nvGrpSpPr>
          <p:cNvPr id="520" name="Group"/>
          <p:cNvGrpSpPr/>
          <p:nvPr/>
        </p:nvGrpSpPr>
        <p:grpSpPr>
          <a:xfrm>
            <a:off x="5410200" y="3500437"/>
            <a:ext cx="3276600" cy="1395413"/>
            <a:chOff x="0" y="0"/>
            <a:chExt cx="3276600" cy="1395412"/>
          </a:xfrm>
        </p:grpSpPr>
        <p:sp>
          <p:nvSpPr>
            <p:cNvPr id="518" name="Rectangle"/>
            <p:cNvSpPr/>
            <p:nvPr/>
          </p:nvSpPr>
          <p:spPr>
            <a:xfrm>
              <a:off x="0" y="0"/>
              <a:ext cx="3276600" cy="1395413"/>
            </a:xfrm>
            <a:prstGeom prst="rect">
              <a:avLst/>
            </a:prstGeom>
            <a:solidFill>
              <a:srgbClr val="A7A7A7"/>
            </a:solidFill>
            <a:ln w="12700" cap="flat">
              <a:solidFill>
                <a:srgbClr val="7B1142"/>
              </a:solidFill>
              <a:prstDash val="dash"/>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19" name="test lock,  then set lock…"/>
            <p:cNvSpPr txBox="1"/>
            <p:nvPr/>
          </p:nvSpPr>
          <p:spPr>
            <a:xfrm>
              <a:off x="0" y="0"/>
              <a:ext cx="3276600" cy="128778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marL="91439" marR="91439">
                <a:spcBef>
                  <a:spcPts val="400"/>
                </a:spcBef>
                <a:buClr>
                  <a:srgbClr val="FF2600"/>
                </a:buClr>
                <a:buFont typeface="Wingdings"/>
                <a:defRPr i="1">
                  <a:solidFill>
                    <a:srgbClr val="FF2600"/>
                  </a:solidFill>
                  <a:uFill>
                    <a:solidFill>
                      <a:srgbClr val="FF2600"/>
                    </a:solidFill>
                  </a:uFill>
                  <a:latin typeface="Arial Narrow"/>
                  <a:ea typeface="Arial Narrow"/>
                  <a:cs typeface="Arial Narrow"/>
                  <a:sym typeface="Arial Narrow"/>
                </a:defRPr>
              </a:pPr>
              <a:r>
                <a:t>            test lock,  then set lock</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r>
                <a:t> </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endParaRPr/>
            </a:p>
            <a:p>
              <a:pPr marL="91439" marR="91439">
                <a:spcBef>
                  <a:spcPts val="400"/>
                </a:spcBef>
                <a:buClr>
                  <a:srgbClr val="FF2600"/>
                </a:buClr>
                <a:buFont typeface="Wingdings"/>
                <a:defRPr i="1">
                  <a:solidFill>
                    <a:srgbClr val="FF2600"/>
                  </a:solidFill>
                  <a:uFill>
                    <a:solidFill>
                      <a:srgbClr val="FF2600"/>
                    </a:solidFill>
                  </a:uFill>
                  <a:latin typeface="Arial Narrow"/>
                  <a:ea typeface="Arial Narrow"/>
                  <a:cs typeface="Arial Narrow"/>
                  <a:sym typeface="Arial Narrow"/>
                </a:defRPr>
              </a:pPr>
              <a:r>
                <a:t>            reset lock</a:t>
              </a:r>
            </a:p>
          </p:txBody>
        </p:sp>
      </p:grpSp>
      <p:sp>
        <p:nvSpPr>
          <p:cNvPr id="521" name="Rectangle"/>
          <p:cNvSpPr/>
          <p:nvPr/>
        </p:nvSpPr>
        <p:spPr>
          <a:xfrm>
            <a:off x="5410200" y="3789362"/>
            <a:ext cx="3289300" cy="838201"/>
          </a:xfrm>
          <a:prstGeom prst="rect">
            <a:avLst/>
          </a:prstGeom>
          <a:solidFill>
            <a:srgbClr val="E9E9E9"/>
          </a:solidFill>
          <a:ln w="12700">
            <a:solidFill>
              <a:srgbClr val="7B1142"/>
            </a:solidFill>
            <a:prstDash val="dash"/>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22" name="Implementation 2 — simple lock variable"/>
          <p:cNvSpPr txBox="1"/>
          <p:nvPr/>
        </p:nvSpPr>
        <p:spPr>
          <a:xfrm>
            <a:off x="457200" y="1295400"/>
            <a:ext cx="8242300" cy="508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2</a:t>
            </a:r>
            <a:r>
              <a:rPr sz="2800" u="sng">
                <a:latin typeface="Arial Narrow"/>
                <a:ea typeface="Arial Narrow"/>
                <a:cs typeface="Arial Narrow"/>
                <a:sym typeface="Arial Narrow"/>
              </a:rPr>
              <a:t> — simple lock variable</a:t>
            </a:r>
          </a:p>
        </p:txBody>
      </p:sp>
      <p:sp>
        <p:nvSpPr>
          <p:cNvPr id="523" name="the “lock” is a shared variable…"/>
          <p:cNvSpPr txBox="1"/>
          <p:nvPr/>
        </p:nvSpPr>
        <p:spPr>
          <a:xfrm>
            <a:off x="457200" y="1828799"/>
            <a:ext cx="4889500" cy="1651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spAutoFit/>
          </a:bodyPr>
          <a:lstStyle/>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the “lock” is a shared variable</a:t>
            </a:r>
          </a:p>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entering the critical region means testing and then setting the lock</a:t>
            </a:r>
          </a:p>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exiting means resetting the lock</a:t>
            </a:r>
          </a:p>
        </p:txBody>
      </p:sp>
      <p:grpSp>
        <p:nvGrpSpPr>
          <p:cNvPr id="526" name="Group"/>
          <p:cNvGrpSpPr/>
          <p:nvPr/>
        </p:nvGrpSpPr>
        <p:grpSpPr>
          <a:xfrm>
            <a:off x="5410200" y="1819275"/>
            <a:ext cx="3276600" cy="3951288"/>
            <a:chOff x="0" y="0"/>
            <a:chExt cx="3276600" cy="3951287"/>
          </a:xfrm>
        </p:grpSpPr>
        <p:sp>
          <p:nvSpPr>
            <p:cNvPr id="524" name="Rectangle"/>
            <p:cNvSpPr/>
            <p:nvPr/>
          </p:nvSpPr>
          <p:spPr>
            <a:xfrm>
              <a:off x="0" y="0"/>
              <a:ext cx="3276600" cy="3951288"/>
            </a:xfrm>
            <a:prstGeom prst="rect">
              <a:avLst/>
            </a:prstGeom>
            <a:no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25" name="bool lock = FALSE;…"/>
            <p:cNvSpPr txBox="1"/>
            <p:nvPr/>
          </p:nvSpPr>
          <p:spPr>
            <a:xfrm>
              <a:off x="0" y="0"/>
              <a:ext cx="3276600" cy="3657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pPr marL="110807" marR="0">
                <a:buClr>
                  <a:srgbClr val="FF2600"/>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FF2600"/>
                  </a:solidFill>
                  <a:uFill>
                    <a:solidFill>
                      <a:srgbClr val="FF2600"/>
                    </a:solidFill>
                  </a:uFill>
                  <a:latin typeface="Courier New"/>
                  <a:ea typeface="Courier New"/>
                  <a:cs typeface="Courier New"/>
                  <a:sym typeface="Courier New"/>
                </a:defRPr>
              </a:pPr>
              <a:r>
                <a:t>bool lock = FALSE;</a:t>
              </a:r>
            </a:p>
            <a:p>
              <a:pPr marL="110807" marR="0">
                <a:buClr>
                  <a:srgbClr val="FF2600"/>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FF2600"/>
                  </a:solidFill>
                  <a:uFill>
                    <a:solidFill>
                      <a:srgbClr val="FF2600"/>
                    </a:solidFill>
                  </a:uFill>
                  <a:latin typeface="Courier New"/>
                  <a:ea typeface="Courier New"/>
                  <a:cs typeface="Courier New"/>
                  <a:sym typeface="Courier New"/>
                </a:defRPr>
              </a:pPr>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char chin, 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2400">
                  <a:solidFill>
                    <a:srgbClr val="7B1142"/>
                  </a:solidFill>
                  <a:uFill>
                    <a:solidFill>
                      <a:srgbClr val="7B1142"/>
                    </a:solidFill>
                  </a:uFill>
                  <a:latin typeface="Times New Roman"/>
                  <a:ea typeface="Times New Roman"/>
                  <a:cs typeface="Times New Roman"/>
                  <a:sym typeface="Times New Roman"/>
                </a:defRPr>
              </a:pPr>
              <a:r>
                <a:rPr sz="1200" b="1">
                  <a:latin typeface="Courier New"/>
                  <a:ea typeface="Courier New"/>
                  <a:cs typeface="Courier New"/>
                  <a:sym typeface="Courier New"/>
                </a:rPr>
                <a:t> </a:t>
              </a:r>
              <a:r>
                <a:rPr sz="1800" b="1">
                  <a:latin typeface="Courier New"/>
                  <a:ea typeface="Courier New"/>
                  <a:cs typeface="Courier New"/>
                  <a:sym typeface="Courier New"/>
                </a:rP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sz="1800" b="1">
                <a:latin typeface="Courier New"/>
                <a:ea typeface="Courier New"/>
                <a:cs typeface="Courier New"/>
                <a:sym typeface="Courier New"/>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532" name="Group"/>
          <p:cNvGrpSpPr/>
          <p:nvPr/>
        </p:nvGrpSpPr>
        <p:grpSpPr>
          <a:xfrm>
            <a:off x="1219200" y="3505200"/>
            <a:ext cx="4191000" cy="1220788"/>
            <a:chOff x="0" y="0"/>
            <a:chExt cx="4191000" cy="1220787"/>
          </a:xfrm>
        </p:grpSpPr>
        <p:sp>
          <p:nvSpPr>
            <p:cNvPr id="527" name="while (lock);…"/>
            <p:cNvSpPr txBox="1"/>
            <p:nvPr/>
          </p:nvSpPr>
          <p:spPr>
            <a:xfrm>
              <a:off x="76200" y="304800"/>
              <a:ext cx="3594100" cy="863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while (lock);</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 do nothing: loop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lock = TRUE;</a:t>
              </a:r>
            </a:p>
          </p:txBody>
        </p:sp>
        <p:sp>
          <p:nvSpPr>
            <p:cNvPr id="528" name="Line"/>
            <p:cNvSpPr/>
            <p:nvPr/>
          </p:nvSpPr>
          <p:spPr>
            <a:xfrm flipH="1">
              <a:off x="3657600" y="0"/>
              <a:ext cx="533400" cy="304800"/>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29" name="Line"/>
            <p:cNvSpPr/>
            <p:nvPr/>
          </p:nvSpPr>
          <p:spPr>
            <a:xfrm flipH="1">
              <a:off x="3657600" y="304800"/>
              <a:ext cx="533400" cy="914400"/>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30" name="Line"/>
            <p:cNvSpPr/>
            <p:nvPr/>
          </p:nvSpPr>
          <p:spPr>
            <a:xfrm>
              <a:off x="0" y="1219200"/>
              <a:ext cx="3657600" cy="1588"/>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31" name="Line"/>
            <p:cNvSpPr/>
            <p:nvPr/>
          </p:nvSpPr>
          <p:spPr>
            <a:xfrm>
              <a:off x="0" y="304800"/>
              <a:ext cx="3657600" cy="1588"/>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grpSp>
        <p:nvGrpSpPr>
          <p:cNvPr id="538" name="Group"/>
          <p:cNvGrpSpPr/>
          <p:nvPr/>
        </p:nvGrpSpPr>
        <p:grpSpPr>
          <a:xfrm>
            <a:off x="1219200" y="4648200"/>
            <a:ext cx="4191000" cy="1068388"/>
            <a:chOff x="0" y="0"/>
            <a:chExt cx="4191000" cy="1068387"/>
          </a:xfrm>
        </p:grpSpPr>
        <p:sp>
          <p:nvSpPr>
            <p:cNvPr id="533" name="lock = FALSE;"/>
            <p:cNvSpPr txBox="1"/>
            <p:nvPr/>
          </p:nvSpPr>
          <p:spPr>
            <a:xfrm>
              <a:off x="76200" y="685800"/>
              <a:ext cx="3594100" cy="355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lvl1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lvl1pPr>
            </a:lstStyle>
            <a:p>
              <a:r>
                <a:t>lock = FALSE;</a:t>
              </a:r>
            </a:p>
          </p:txBody>
        </p:sp>
        <p:sp>
          <p:nvSpPr>
            <p:cNvPr id="534" name="Line"/>
            <p:cNvSpPr/>
            <p:nvPr/>
          </p:nvSpPr>
          <p:spPr>
            <a:xfrm>
              <a:off x="0" y="1066800"/>
              <a:ext cx="3657600" cy="1588"/>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35" name="Line"/>
            <p:cNvSpPr/>
            <p:nvPr/>
          </p:nvSpPr>
          <p:spPr>
            <a:xfrm>
              <a:off x="0" y="685800"/>
              <a:ext cx="3657600" cy="1588"/>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36" name="Line"/>
            <p:cNvSpPr/>
            <p:nvPr/>
          </p:nvSpPr>
          <p:spPr>
            <a:xfrm flipH="1">
              <a:off x="3657600" y="228600"/>
              <a:ext cx="533400" cy="838200"/>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37" name="Line"/>
            <p:cNvSpPr/>
            <p:nvPr/>
          </p:nvSpPr>
          <p:spPr>
            <a:xfrm flipH="1">
              <a:off x="3657600" y="0"/>
              <a:ext cx="533400" cy="685800"/>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iterate>
                                    <p:tmAbs val="0"/>
                                  </p:iterate>
                                  <p:childTnLst>
                                    <p:set>
                                      <p:cBhvr>
                                        <p:cTn id="6" fill="hold"/>
                                        <p:tgtEl>
                                          <p:spTgt spid="532"/>
                                        </p:tgtEl>
                                        <p:attrNameLst>
                                          <p:attrName>style.visibility</p:attrName>
                                        </p:attrNameLst>
                                      </p:cBhvr>
                                      <p:to>
                                        <p:strVal val="visible"/>
                                      </p:to>
                                    </p:set>
                                    <p:anim calcmode="lin" valueType="num">
                                      <p:cBhvr>
                                        <p:cTn id="7" dur="500" fill="hold"/>
                                        <p:tgtEl>
                                          <p:spTgt spid="532"/>
                                        </p:tgtEl>
                                        <p:attrNameLst>
                                          <p:attrName>ppt_w</p:attrName>
                                        </p:attrNameLst>
                                      </p:cBhvr>
                                      <p:tavLst>
                                        <p:tav tm="0">
                                          <p:val>
                                            <p:fltVal val="0"/>
                                          </p:val>
                                        </p:tav>
                                        <p:tav tm="100000">
                                          <p:val>
                                            <p:strVal val="#ppt_w"/>
                                          </p:val>
                                        </p:tav>
                                      </p:tavLst>
                                    </p:anim>
                                    <p:anim calcmode="lin" valueType="num">
                                      <p:cBhvr>
                                        <p:cTn id="8" dur="500" fill="hold"/>
                                        <p:tgtEl>
                                          <p:spTgt spid="53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iterate>
                                    <p:tmAbs val="0"/>
                                  </p:iterate>
                                  <p:childTnLst>
                                    <p:set>
                                      <p:cBhvr>
                                        <p:cTn id="12" fill="hold"/>
                                        <p:tgtEl>
                                          <p:spTgt spid="538"/>
                                        </p:tgtEl>
                                        <p:attrNameLst>
                                          <p:attrName>style.visibility</p:attrName>
                                        </p:attrNameLst>
                                      </p:cBhvr>
                                      <p:to>
                                        <p:strVal val="visible"/>
                                      </p:to>
                                    </p:set>
                                    <p:anim calcmode="lin" valueType="num">
                                      <p:cBhvr>
                                        <p:cTn id="13" dur="500" fill="hold"/>
                                        <p:tgtEl>
                                          <p:spTgt spid="538"/>
                                        </p:tgtEl>
                                        <p:attrNameLst>
                                          <p:attrName>ppt_w</p:attrName>
                                        </p:attrNameLst>
                                      </p:cBhvr>
                                      <p:tavLst>
                                        <p:tav tm="0">
                                          <p:val>
                                            <p:fltVal val="0"/>
                                          </p:val>
                                        </p:tav>
                                        <p:tav tm="100000">
                                          <p:val>
                                            <p:strVal val="#ppt_w"/>
                                          </p:val>
                                        </p:tav>
                                      </p:tavLst>
                                    </p:anim>
                                    <p:anim calcmode="lin" valueType="num">
                                      <p:cBhvr>
                                        <p:cTn id="14" dur="500" fill="hold"/>
                                        <p:tgtEl>
                                          <p:spTgt spid="53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 grpId="0" animBg="1" advAuto="0"/>
      <p:bldP spid="538" grpId="0" animBg="1" advAuto="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Mutual Exclusion"/>
          <p:cNvSpPr txBox="1">
            <a:spLocks noGrp="1"/>
          </p:cNvSpPr>
          <p:nvPr>
            <p:ph type="title"/>
          </p:nvPr>
        </p:nvSpPr>
        <p:spPr>
          <a:prstGeom prst="rect">
            <a:avLst/>
          </a:prstGeom>
        </p:spPr>
        <p:txBody>
          <a:bodyPr/>
          <a:lstStyle/>
          <a:p>
            <a:r>
              <a:t>Mutual Exclusion</a:t>
            </a:r>
          </a:p>
        </p:txBody>
      </p:sp>
      <p:sp>
        <p:nvSpPr>
          <p:cNvPr id="541"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29</a:t>
            </a:fld>
            <a:endParaRPr/>
          </a:p>
        </p:txBody>
      </p:sp>
      <p:sp>
        <p:nvSpPr>
          <p:cNvPr id="542" name="Implementation 2 — simple lock variable  "/>
          <p:cNvSpPr txBox="1"/>
          <p:nvPr/>
        </p:nvSpPr>
        <p:spPr>
          <a:xfrm>
            <a:off x="457200" y="1295400"/>
            <a:ext cx="8242300" cy="508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2</a:t>
            </a:r>
            <a:r>
              <a:rPr sz="2800" u="sng">
                <a:latin typeface="Arial Narrow"/>
                <a:ea typeface="Arial Narrow"/>
                <a:cs typeface="Arial Narrow"/>
                <a:sym typeface="Arial Narrow"/>
              </a:rPr>
              <a:t> — simple lock variable  </a:t>
            </a:r>
            <a:r>
              <a:rPr sz="2800" u="sng">
                <a:latin typeface="Wingdings"/>
                <a:ea typeface="Wingdings"/>
                <a:cs typeface="Wingdings"/>
                <a:sym typeface="Wingdings"/>
              </a:rPr>
              <a:t></a:t>
            </a:r>
          </a:p>
        </p:txBody>
      </p:sp>
      <p:grpSp>
        <p:nvGrpSpPr>
          <p:cNvPr id="609" name="Group"/>
          <p:cNvGrpSpPr/>
          <p:nvPr/>
        </p:nvGrpSpPr>
        <p:grpSpPr>
          <a:xfrm>
            <a:off x="457200" y="1549400"/>
            <a:ext cx="8028486" cy="1919724"/>
            <a:chOff x="0" y="0"/>
            <a:chExt cx="8028484" cy="1919724"/>
          </a:xfrm>
        </p:grpSpPr>
        <p:grpSp>
          <p:nvGrpSpPr>
            <p:cNvPr id="546" name="Group"/>
            <p:cNvGrpSpPr/>
            <p:nvPr/>
          </p:nvGrpSpPr>
          <p:grpSpPr>
            <a:xfrm>
              <a:off x="0" y="304800"/>
              <a:ext cx="4127500" cy="1219201"/>
              <a:chOff x="0" y="0"/>
              <a:chExt cx="4127500" cy="1219200"/>
            </a:xfrm>
          </p:grpSpPr>
          <p:sp>
            <p:nvSpPr>
              <p:cNvPr id="544" name="Rectangle"/>
              <p:cNvSpPr/>
              <p:nvPr/>
            </p:nvSpPr>
            <p:spPr>
              <a:xfrm>
                <a:off x="381000" y="457200"/>
                <a:ext cx="3670300" cy="762000"/>
              </a:xfrm>
              <a:prstGeom prst="rect">
                <a:avLst/>
              </a:prstGeom>
              <a:solidFill>
                <a:srgbClr val="FFBEBD">
                  <a:alpha val="50000"/>
                </a:srgbClr>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45" name="thread A reaches CR and finds a lock at 0, which means that A can enter…"/>
              <p:cNvSpPr txBox="1"/>
              <p:nvPr/>
            </p:nvSpPr>
            <p:spPr>
              <a:xfrm>
                <a:off x="0" y="0"/>
                <a:ext cx="4127500" cy="1210587"/>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pPr marL="951864" indent="-455612">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thread A reaches CR and finds a lock at 0, which means that A can enter</a:t>
                </a:r>
              </a:p>
            </p:txBody>
          </p:sp>
        </p:grpSp>
        <p:sp>
          <p:nvSpPr>
            <p:cNvPr id="547" name="Line"/>
            <p:cNvSpPr/>
            <p:nvPr/>
          </p:nvSpPr>
          <p:spPr>
            <a:xfrm>
              <a:off x="3352800" y="0"/>
              <a:ext cx="2895600" cy="1588"/>
            </a:xfrm>
            <a:prstGeom prst="line">
              <a:avLst/>
            </a:prstGeom>
            <a:noFill/>
            <a:ln w="12700" cap="flat">
              <a:solidFill>
                <a:srgbClr val="E6ADC8"/>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608" name="Group"/>
            <p:cNvGrpSpPr/>
            <p:nvPr/>
          </p:nvGrpSpPr>
          <p:grpSpPr>
            <a:xfrm>
              <a:off x="4059554" y="152579"/>
              <a:ext cx="3968930" cy="1767145"/>
              <a:chOff x="0" y="0"/>
              <a:chExt cx="3968929" cy="1767144"/>
            </a:xfrm>
          </p:grpSpPr>
          <p:sp>
            <p:nvSpPr>
              <p:cNvPr id="549" name="Line"/>
              <p:cNvSpPr/>
              <p:nvPr/>
            </p:nvSpPr>
            <p:spPr>
              <a:xfrm>
                <a:off x="283845" y="380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0" name="Line"/>
              <p:cNvSpPr/>
              <p:nvPr/>
            </p:nvSpPr>
            <p:spPr>
              <a:xfrm>
                <a:off x="283845" y="761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8" name="Rectangle"/>
              <p:cNvSpPr/>
              <p:nvPr/>
            </p:nvSpPr>
            <p:spPr>
              <a:xfrm>
                <a:off x="1274445" y="609420"/>
                <a:ext cx="850901" cy="457201"/>
              </a:xfrm>
              <a:prstGeom prst="rect">
                <a:avLst/>
              </a:prstGeom>
              <a:solidFill>
                <a:srgbClr val="FFFFFF"/>
              </a:solidFill>
              <a:ln w="9525" cap="flat">
                <a:solidFill>
                  <a:srgbClr val="FFFFFF"/>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561" name="Group"/>
              <p:cNvGrpSpPr/>
              <p:nvPr/>
            </p:nvGrpSpPr>
            <p:grpSpPr>
              <a:xfrm>
                <a:off x="2112645" y="371482"/>
                <a:ext cx="1856284" cy="914401"/>
                <a:chOff x="0" y="219262"/>
                <a:chExt cx="1856283" cy="914400"/>
              </a:xfrm>
            </p:grpSpPr>
            <p:sp>
              <p:nvSpPr>
                <p:cNvPr id="559" name="Rectangle"/>
                <p:cNvSpPr/>
                <p:nvPr/>
              </p:nvSpPr>
              <p:spPr>
                <a:xfrm>
                  <a:off x="27483" y="219262"/>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60" name="critical region"/>
                <p:cNvSpPr txBox="1"/>
                <p:nvPr/>
              </p:nvSpPr>
              <p:spPr>
                <a:xfrm>
                  <a:off x="0" y="276789"/>
                  <a:ext cx="1828800" cy="36082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562" name="Line"/>
              <p:cNvSpPr/>
              <p:nvPr/>
            </p:nvSpPr>
            <p:spPr>
              <a:xfrm>
                <a:off x="2112645" y="152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63" name="Line"/>
              <p:cNvSpPr/>
              <p:nvPr/>
            </p:nvSpPr>
            <p:spPr>
              <a:xfrm>
                <a:off x="3941445" y="152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564" name="pedred.jpg" descr="pedred.jpg"/>
              <p:cNvPicPr>
                <a:picLocks/>
              </p:cNvPicPr>
              <p:nvPr/>
            </p:nvPicPr>
            <p:blipFill>
              <a:blip r:embed="rId2"/>
              <a:stretch>
                <a:fillRect/>
              </a:stretch>
            </p:blipFill>
            <p:spPr>
              <a:xfrm>
                <a:off x="1295876" y="630605"/>
                <a:ext cx="265113" cy="446088"/>
              </a:xfrm>
              <a:prstGeom prst="rect">
                <a:avLst/>
              </a:prstGeom>
              <a:ln w="12700" cap="flat">
                <a:noFill/>
                <a:miter lim="400000"/>
              </a:ln>
              <a:effectLst/>
            </p:spPr>
          </p:pic>
          <p:sp>
            <p:nvSpPr>
              <p:cNvPr id="566" name="B"/>
              <p:cNvSpPr txBox="1"/>
              <p:nvPr/>
            </p:nvSpPr>
            <p:spPr>
              <a:xfrm>
                <a:off x="0" y="533220"/>
                <a:ext cx="321628" cy="4445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567" name="A"/>
              <p:cNvSpPr txBox="1"/>
              <p:nvPr/>
            </p:nvSpPr>
            <p:spPr>
              <a:xfrm>
                <a:off x="0" y="152220"/>
                <a:ext cx="321628" cy="4445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569" name="A"/>
              <p:cNvSpPr txBox="1"/>
              <p:nvPr/>
            </p:nvSpPr>
            <p:spPr>
              <a:xfrm>
                <a:off x="68481" y="1295220"/>
                <a:ext cx="184666" cy="47192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endParaRPr dirty="0"/>
              </a:p>
            </p:txBody>
          </p:sp>
          <p:grpSp>
            <p:nvGrpSpPr>
              <p:cNvPr id="577" name="Group"/>
              <p:cNvGrpSpPr/>
              <p:nvPr/>
            </p:nvGrpSpPr>
            <p:grpSpPr>
              <a:xfrm>
                <a:off x="2036987" y="0"/>
                <a:ext cx="151858" cy="229722"/>
                <a:chOff x="0" y="0"/>
                <a:chExt cx="151856" cy="229721"/>
              </a:xfrm>
            </p:grpSpPr>
            <p:sp>
              <p:nvSpPr>
                <p:cNvPr id="575"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76"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pic>
            <p:nvPicPr>
              <p:cNvPr id="557" name="pedblue.jpg" descr="pedblue.jpg"/>
              <p:cNvPicPr>
                <a:picLocks/>
              </p:cNvPicPr>
              <p:nvPr/>
            </p:nvPicPr>
            <p:blipFill>
              <a:blip r:embed="rId3"/>
              <a:stretch>
                <a:fillRect/>
              </a:stretch>
            </p:blipFill>
            <p:spPr>
              <a:xfrm>
                <a:off x="1773196" y="151844"/>
                <a:ext cx="274638" cy="461963"/>
              </a:xfrm>
              <a:prstGeom prst="rect">
                <a:avLst/>
              </a:prstGeom>
              <a:ln w="12700" cap="flat">
                <a:noFill/>
                <a:miter lim="400000"/>
              </a:ln>
              <a:effectLst/>
            </p:spPr>
          </p:pic>
        </p:grpSp>
      </p:grpSp>
      <p:pic>
        <p:nvPicPr>
          <p:cNvPr id="3" name="Picture 2" descr="A computer code on a white background&#10;&#10;AI-generated content may be incorrect.">
            <a:extLst>
              <a:ext uri="{FF2B5EF4-FFF2-40B4-BE49-F238E27FC236}">
                <a16:creationId xmlns:a16="http://schemas.microsoft.com/office/drawing/2014/main" id="{E4A600E7-D806-3B9B-C5DA-87B4295053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8453" y="3441701"/>
            <a:ext cx="3849792" cy="2309875"/>
          </a:xfrm>
          <a:prstGeom prst="rect">
            <a:avLst/>
          </a:prstGeom>
        </p:spPr>
      </p:pic>
      <p:pic>
        <p:nvPicPr>
          <p:cNvPr id="4" name="Picture 3" descr="A computer code on a white background&#10;&#10;AI-generated content may be incorrect.">
            <a:extLst>
              <a:ext uri="{FF2B5EF4-FFF2-40B4-BE49-F238E27FC236}">
                <a16:creationId xmlns:a16="http://schemas.microsoft.com/office/drawing/2014/main" id="{97EF1816-4409-63E4-EAE9-F341402BFE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04504" y="3429000"/>
            <a:ext cx="3849792" cy="2309875"/>
          </a:xfrm>
          <a:prstGeom prst="rect">
            <a:avLst/>
          </a:prstGeom>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 grpId="0" animBg="1" advAuto="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Mutual Exclusion"/>
          <p:cNvSpPr txBox="1">
            <a:spLocks noGrp="1"/>
          </p:cNvSpPr>
          <p:nvPr>
            <p:ph type="title"/>
          </p:nvPr>
        </p:nvSpPr>
        <p:spPr>
          <a:prstGeom prst="rect">
            <a:avLst/>
          </a:prstGeom>
        </p:spPr>
        <p:txBody>
          <a:bodyPr/>
          <a:lstStyle/>
          <a:p>
            <a:r>
              <a:t>Mutual Exclusion</a:t>
            </a:r>
          </a:p>
        </p:txBody>
      </p:sp>
      <p:sp>
        <p:nvSpPr>
          <p:cNvPr id="541"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30</a:t>
            </a:fld>
            <a:endParaRPr/>
          </a:p>
        </p:txBody>
      </p:sp>
      <p:sp>
        <p:nvSpPr>
          <p:cNvPr id="542" name="Implementation 2 — simple lock variable  "/>
          <p:cNvSpPr txBox="1"/>
          <p:nvPr/>
        </p:nvSpPr>
        <p:spPr>
          <a:xfrm>
            <a:off x="457200" y="1295400"/>
            <a:ext cx="8242300" cy="508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2</a:t>
            </a:r>
            <a:r>
              <a:rPr sz="2800" u="sng">
                <a:latin typeface="Arial Narrow"/>
                <a:ea typeface="Arial Narrow"/>
                <a:cs typeface="Arial Narrow"/>
                <a:sym typeface="Arial Narrow"/>
              </a:rPr>
              <a:t> — simple lock variable  </a:t>
            </a:r>
            <a:r>
              <a:rPr sz="2800" u="sng">
                <a:latin typeface="Wingdings"/>
                <a:ea typeface="Wingdings"/>
                <a:cs typeface="Wingdings"/>
                <a:sym typeface="Wingdings"/>
              </a:rPr>
              <a:t></a:t>
            </a:r>
          </a:p>
        </p:txBody>
      </p:sp>
      <p:grpSp>
        <p:nvGrpSpPr>
          <p:cNvPr id="609" name="Group"/>
          <p:cNvGrpSpPr/>
          <p:nvPr/>
        </p:nvGrpSpPr>
        <p:grpSpPr>
          <a:xfrm>
            <a:off x="457199" y="1600200"/>
            <a:ext cx="8013703" cy="4648203"/>
            <a:chOff x="0" y="0"/>
            <a:chExt cx="8013701" cy="4648202"/>
          </a:xfrm>
        </p:grpSpPr>
        <p:grpSp>
          <p:nvGrpSpPr>
            <p:cNvPr id="546" name="Group"/>
            <p:cNvGrpSpPr/>
            <p:nvPr/>
          </p:nvGrpSpPr>
          <p:grpSpPr>
            <a:xfrm>
              <a:off x="0" y="304800"/>
              <a:ext cx="4127500" cy="2471479"/>
              <a:chOff x="0" y="0"/>
              <a:chExt cx="4127500" cy="2471478"/>
            </a:xfrm>
          </p:grpSpPr>
          <p:sp>
            <p:nvSpPr>
              <p:cNvPr id="543" name="Rectangle"/>
              <p:cNvSpPr/>
              <p:nvPr/>
            </p:nvSpPr>
            <p:spPr>
              <a:xfrm>
                <a:off x="381000" y="1219200"/>
                <a:ext cx="3629342" cy="1252278"/>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44" name="Rectangle"/>
              <p:cNvSpPr/>
              <p:nvPr/>
            </p:nvSpPr>
            <p:spPr>
              <a:xfrm>
                <a:off x="381000" y="457200"/>
                <a:ext cx="3670300" cy="762000"/>
              </a:xfrm>
              <a:prstGeom prst="rect">
                <a:avLst/>
              </a:prstGeom>
              <a:solidFill>
                <a:srgbClr val="FFBEBD">
                  <a:alpha val="50000"/>
                </a:srgbClr>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45" name="thread A reaches CR and finds a lock at 0, which means that A can enter…"/>
              <p:cNvSpPr txBox="1"/>
              <p:nvPr/>
            </p:nvSpPr>
            <p:spPr>
              <a:xfrm>
                <a:off x="0" y="0"/>
                <a:ext cx="4127500" cy="236987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spAutoFit/>
              </a:bodyPr>
              <a:lstStyle/>
              <a:p>
                <a:pPr marL="951864" indent="-455612">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thread A reaches CR and finds a lock at 0, which means that A can enter</a:t>
                </a:r>
              </a:p>
              <a:p>
                <a:pPr marL="951864" indent="-455612">
                  <a:spcBef>
                    <a:spcPts val="400"/>
                  </a:spcBef>
                  <a:buClr>
                    <a:srgbClr val="7B1142"/>
                  </a:buClr>
                  <a:buFont typeface="Arial Narrow"/>
                  <a:tabLst>
                    <a:tab pos="381000" algn="l"/>
                    <a:tab pos="952500" algn="l"/>
                    <a:tab pos="952500" algn="l"/>
                  </a:tabLst>
                  <a:defRPr sz="2400">
                    <a:solidFill>
                      <a:srgbClr val="FF2600"/>
                    </a:solidFill>
                    <a:uFill>
                      <a:solidFill>
                        <a:srgbClr val="FF2600"/>
                      </a:solidFill>
                    </a:uFill>
                    <a:latin typeface="Arial Narrow"/>
                    <a:ea typeface="Arial Narrow"/>
                    <a:cs typeface="Arial Narrow"/>
                    <a:sym typeface="Arial Narrow"/>
                  </a:defRPr>
                </a:pPr>
                <a:r>
                  <a:rPr dirty="0"/>
                  <a:t>1.1	but before A can set the lock to 1, B reaches CR and finds the lock is 0, too</a:t>
                </a:r>
              </a:p>
            </p:txBody>
          </p:sp>
        </p:grpSp>
        <p:sp>
          <p:nvSpPr>
            <p:cNvPr id="547" name="Line"/>
            <p:cNvSpPr/>
            <p:nvPr/>
          </p:nvSpPr>
          <p:spPr>
            <a:xfrm>
              <a:off x="3352800" y="0"/>
              <a:ext cx="2895600" cy="1588"/>
            </a:xfrm>
            <a:prstGeom prst="line">
              <a:avLst/>
            </a:prstGeom>
            <a:noFill/>
            <a:ln w="12700" cap="flat">
              <a:solidFill>
                <a:srgbClr val="E6ADC8"/>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608" name="Group"/>
            <p:cNvGrpSpPr/>
            <p:nvPr/>
          </p:nvGrpSpPr>
          <p:grpSpPr>
            <a:xfrm>
              <a:off x="4059554" y="152579"/>
              <a:ext cx="3954147" cy="4495623"/>
              <a:chOff x="0" y="0"/>
              <a:chExt cx="3954146" cy="4495621"/>
            </a:xfrm>
          </p:grpSpPr>
          <p:sp>
            <p:nvSpPr>
              <p:cNvPr id="549" name="Line"/>
              <p:cNvSpPr/>
              <p:nvPr/>
            </p:nvSpPr>
            <p:spPr>
              <a:xfrm>
                <a:off x="283845" y="380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0" name="Line"/>
              <p:cNvSpPr/>
              <p:nvPr/>
            </p:nvSpPr>
            <p:spPr>
              <a:xfrm>
                <a:off x="283845" y="761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1" name="Line"/>
              <p:cNvSpPr/>
              <p:nvPr/>
            </p:nvSpPr>
            <p:spPr>
              <a:xfrm>
                <a:off x="283845" y="1523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2" name="Line"/>
              <p:cNvSpPr/>
              <p:nvPr/>
            </p:nvSpPr>
            <p:spPr>
              <a:xfrm>
                <a:off x="283845" y="1904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557" name="pedblue.jpg" descr="pedblue.jpg"/>
              <p:cNvPicPr>
                <a:picLocks/>
              </p:cNvPicPr>
              <p:nvPr/>
            </p:nvPicPr>
            <p:blipFill>
              <a:blip r:embed="rId2"/>
              <a:stretch>
                <a:fillRect/>
              </a:stretch>
            </p:blipFill>
            <p:spPr>
              <a:xfrm>
                <a:off x="1807845" y="152220"/>
                <a:ext cx="274638" cy="461963"/>
              </a:xfrm>
              <a:prstGeom prst="rect">
                <a:avLst/>
              </a:prstGeom>
              <a:ln w="12700" cap="flat">
                <a:noFill/>
                <a:miter lim="400000"/>
              </a:ln>
              <a:effectLst/>
            </p:spPr>
          </p:pic>
          <p:sp>
            <p:nvSpPr>
              <p:cNvPr id="558" name="Rectangle"/>
              <p:cNvSpPr/>
              <p:nvPr/>
            </p:nvSpPr>
            <p:spPr>
              <a:xfrm>
                <a:off x="1274445" y="609420"/>
                <a:ext cx="850901" cy="457201"/>
              </a:xfrm>
              <a:prstGeom prst="rect">
                <a:avLst/>
              </a:prstGeom>
              <a:solidFill>
                <a:srgbClr val="FFFFFF"/>
              </a:solidFill>
              <a:ln w="9525" cap="flat">
                <a:solidFill>
                  <a:srgbClr val="FFFFFF"/>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561" name="Group"/>
              <p:cNvGrpSpPr/>
              <p:nvPr/>
            </p:nvGrpSpPr>
            <p:grpSpPr>
              <a:xfrm>
                <a:off x="2112645" y="152220"/>
                <a:ext cx="1828801" cy="914401"/>
                <a:chOff x="0" y="0"/>
                <a:chExt cx="1828800" cy="914400"/>
              </a:xfrm>
            </p:grpSpPr>
            <p:sp>
              <p:nvSpPr>
                <p:cNvPr id="559" name="Rectangle"/>
                <p:cNvSpPr/>
                <p:nvPr/>
              </p:nvSpPr>
              <p:spPr>
                <a:xfrm>
                  <a:off x="0" y="0"/>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60" name="critical region"/>
                <p:cNvSpPr txBox="1"/>
                <p:nvPr/>
              </p:nvSpPr>
              <p:spPr>
                <a:xfrm>
                  <a:off x="0" y="276789"/>
                  <a:ext cx="1828800" cy="36082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562" name="Line"/>
              <p:cNvSpPr/>
              <p:nvPr/>
            </p:nvSpPr>
            <p:spPr>
              <a:xfrm>
                <a:off x="2112645" y="152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63" name="Line"/>
              <p:cNvSpPr/>
              <p:nvPr/>
            </p:nvSpPr>
            <p:spPr>
              <a:xfrm>
                <a:off x="3941445" y="152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564" name="pedred.jpg" descr="pedred.jpg"/>
              <p:cNvPicPr>
                <a:picLocks/>
              </p:cNvPicPr>
              <p:nvPr/>
            </p:nvPicPr>
            <p:blipFill>
              <a:blip r:embed="rId3"/>
              <a:stretch>
                <a:fillRect/>
              </a:stretch>
            </p:blipFill>
            <p:spPr>
              <a:xfrm>
                <a:off x="1045845" y="609420"/>
                <a:ext cx="265113" cy="446088"/>
              </a:xfrm>
              <a:prstGeom prst="rect">
                <a:avLst/>
              </a:prstGeom>
              <a:ln w="12700" cap="flat">
                <a:noFill/>
                <a:miter lim="400000"/>
              </a:ln>
              <a:effectLst/>
            </p:spPr>
          </p:pic>
          <p:sp>
            <p:nvSpPr>
              <p:cNvPr id="566" name="B"/>
              <p:cNvSpPr txBox="1"/>
              <p:nvPr/>
            </p:nvSpPr>
            <p:spPr>
              <a:xfrm>
                <a:off x="0" y="533220"/>
                <a:ext cx="321628" cy="4445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567" name="A"/>
              <p:cNvSpPr txBox="1"/>
              <p:nvPr/>
            </p:nvSpPr>
            <p:spPr>
              <a:xfrm>
                <a:off x="0" y="152220"/>
                <a:ext cx="321628" cy="4445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568" name="B"/>
              <p:cNvSpPr txBox="1"/>
              <p:nvPr/>
            </p:nvSpPr>
            <p:spPr>
              <a:xfrm>
                <a:off x="0" y="1676220"/>
                <a:ext cx="321628" cy="4445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569" name="A"/>
              <p:cNvSpPr txBox="1"/>
              <p:nvPr/>
            </p:nvSpPr>
            <p:spPr>
              <a:xfrm>
                <a:off x="0" y="1295220"/>
                <a:ext cx="321628" cy="4445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574" name="Line"/>
              <p:cNvSpPr/>
              <p:nvPr/>
            </p:nvSpPr>
            <p:spPr>
              <a:xfrm>
                <a:off x="3941445" y="3581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577" name="Group"/>
              <p:cNvGrpSpPr/>
              <p:nvPr/>
            </p:nvGrpSpPr>
            <p:grpSpPr>
              <a:xfrm>
                <a:off x="2036987" y="0"/>
                <a:ext cx="151858" cy="229722"/>
                <a:chOff x="0" y="0"/>
                <a:chExt cx="151856" cy="229721"/>
              </a:xfrm>
            </p:grpSpPr>
            <p:sp>
              <p:nvSpPr>
                <p:cNvPr id="575"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76"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pic>
            <p:nvPicPr>
              <p:cNvPr id="578" name="pedblue.jpg" descr="pedblue.jpg"/>
              <p:cNvPicPr>
                <a:picLocks/>
              </p:cNvPicPr>
              <p:nvPr/>
            </p:nvPicPr>
            <p:blipFill>
              <a:blip r:embed="rId2"/>
              <a:stretch>
                <a:fillRect/>
              </a:stretch>
            </p:blipFill>
            <p:spPr>
              <a:xfrm>
                <a:off x="1914207" y="1295220"/>
                <a:ext cx="274639" cy="461963"/>
              </a:xfrm>
              <a:prstGeom prst="rect">
                <a:avLst/>
              </a:prstGeom>
              <a:ln w="12700" cap="flat">
                <a:noFill/>
                <a:miter lim="400000"/>
              </a:ln>
              <a:effectLst/>
            </p:spPr>
          </p:pic>
          <p:pic>
            <p:nvPicPr>
              <p:cNvPr id="579" name="pedred.jpg" descr="pedred.jpg"/>
              <p:cNvPicPr>
                <a:picLocks/>
              </p:cNvPicPr>
              <p:nvPr/>
            </p:nvPicPr>
            <p:blipFill>
              <a:blip r:embed="rId3"/>
              <a:stretch>
                <a:fillRect/>
              </a:stretch>
            </p:blipFill>
            <p:spPr>
              <a:xfrm>
                <a:off x="1807845" y="1752420"/>
                <a:ext cx="265113" cy="446088"/>
              </a:xfrm>
              <a:prstGeom prst="rect">
                <a:avLst/>
              </a:prstGeom>
              <a:ln w="12700" cap="flat">
                <a:noFill/>
                <a:miter lim="400000"/>
              </a:ln>
              <a:effectLst/>
            </p:spPr>
          </p:pic>
          <p:grpSp>
            <p:nvGrpSpPr>
              <p:cNvPr id="583" name="Group"/>
              <p:cNvGrpSpPr/>
              <p:nvPr/>
            </p:nvGrpSpPr>
            <p:grpSpPr>
              <a:xfrm>
                <a:off x="2036987" y="2286000"/>
                <a:ext cx="151858" cy="229722"/>
                <a:chOff x="0" y="0"/>
                <a:chExt cx="151856" cy="229721"/>
              </a:xfrm>
            </p:grpSpPr>
            <p:sp>
              <p:nvSpPr>
                <p:cNvPr id="581"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82"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584" name="Line"/>
              <p:cNvSpPr/>
              <p:nvPr/>
            </p:nvSpPr>
            <p:spPr>
              <a:xfrm>
                <a:off x="2112645" y="3581220"/>
                <a:ext cx="1588" cy="914401"/>
              </a:xfrm>
              <a:prstGeom prst="line">
                <a:avLst/>
              </a:prstGeom>
              <a:noFill/>
              <a:ln w="38100" cap="flat">
                <a:solidFill>
                  <a:srgbClr val="7B1142"/>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90" name="Rectangle"/>
              <p:cNvSpPr/>
              <p:nvPr/>
            </p:nvSpPr>
            <p:spPr>
              <a:xfrm>
                <a:off x="2112645" y="1295220"/>
                <a:ext cx="1841501" cy="914401"/>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91" name="Line"/>
              <p:cNvSpPr/>
              <p:nvPr/>
            </p:nvSpPr>
            <p:spPr>
              <a:xfrm>
                <a:off x="2112645" y="1295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94" name="Line"/>
              <p:cNvSpPr/>
              <p:nvPr/>
            </p:nvSpPr>
            <p:spPr>
              <a:xfrm>
                <a:off x="2112645" y="2438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95" name="Line"/>
              <p:cNvSpPr/>
              <p:nvPr/>
            </p:nvSpPr>
            <p:spPr>
              <a:xfrm>
                <a:off x="3941445" y="2438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96" name="Line"/>
              <p:cNvSpPr/>
              <p:nvPr/>
            </p:nvSpPr>
            <p:spPr>
              <a:xfrm>
                <a:off x="3941445" y="1295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599" name="Group"/>
              <p:cNvGrpSpPr/>
              <p:nvPr/>
            </p:nvGrpSpPr>
            <p:grpSpPr>
              <a:xfrm>
                <a:off x="2036987" y="1143000"/>
                <a:ext cx="151858" cy="229722"/>
                <a:chOff x="0" y="0"/>
                <a:chExt cx="151856" cy="229721"/>
              </a:xfrm>
            </p:grpSpPr>
            <p:sp>
              <p:nvSpPr>
                <p:cNvPr id="597"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98"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602" name="Shape"/>
              <p:cNvSpPr/>
              <p:nvPr/>
            </p:nvSpPr>
            <p:spPr>
              <a:xfrm>
                <a:off x="2083576" y="2386858"/>
                <a:ext cx="56058" cy="101972"/>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spTree>
    <p:extLst>
      <p:ext uri="{BB962C8B-B14F-4D97-AF65-F5344CB8AC3E}">
        <p14:creationId xmlns:p14="http://schemas.microsoft.com/office/powerpoint/2010/main" val="447755451"/>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 grpId="0" animBg="1" advAuto="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 name="Mutual Exclusion"/>
          <p:cNvSpPr txBox="1">
            <a:spLocks noGrp="1"/>
          </p:cNvSpPr>
          <p:nvPr>
            <p:ph type="title"/>
          </p:nvPr>
        </p:nvSpPr>
        <p:spPr>
          <a:prstGeom prst="rect">
            <a:avLst/>
          </a:prstGeom>
        </p:spPr>
        <p:txBody>
          <a:bodyPr/>
          <a:lstStyle/>
          <a:p>
            <a:r>
              <a:t>Mutual Exclusion</a:t>
            </a:r>
          </a:p>
        </p:txBody>
      </p:sp>
      <p:sp>
        <p:nvSpPr>
          <p:cNvPr id="631"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31</a:t>
            </a:fld>
            <a:endParaRPr/>
          </a:p>
        </p:txBody>
      </p:sp>
      <p:grpSp>
        <p:nvGrpSpPr>
          <p:cNvPr id="634" name="Group"/>
          <p:cNvGrpSpPr/>
          <p:nvPr/>
        </p:nvGrpSpPr>
        <p:grpSpPr>
          <a:xfrm>
            <a:off x="5410200" y="3500437"/>
            <a:ext cx="3276600" cy="1395413"/>
            <a:chOff x="0" y="0"/>
            <a:chExt cx="3276600" cy="1395412"/>
          </a:xfrm>
        </p:grpSpPr>
        <p:sp>
          <p:nvSpPr>
            <p:cNvPr id="632" name="Rectangle"/>
            <p:cNvSpPr/>
            <p:nvPr/>
          </p:nvSpPr>
          <p:spPr>
            <a:xfrm>
              <a:off x="0" y="0"/>
              <a:ext cx="3276600" cy="1395413"/>
            </a:xfrm>
            <a:prstGeom prst="rect">
              <a:avLst/>
            </a:prstGeom>
            <a:solidFill>
              <a:srgbClr val="A7A7A7"/>
            </a:solidFill>
            <a:ln w="12700" cap="flat">
              <a:solidFill>
                <a:srgbClr val="7B1142"/>
              </a:solidFill>
              <a:prstDash val="dash"/>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33" name="test-and-set-lock…"/>
            <p:cNvSpPr txBox="1"/>
            <p:nvPr/>
          </p:nvSpPr>
          <p:spPr>
            <a:xfrm>
              <a:off x="0" y="0"/>
              <a:ext cx="3276600" cy="128778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marL="91439" marR="91439">
                <a:spcBef>
                  <a:spcPts val="400"/>
                </a:spcBef>
                <a:buClr>
                  <a:srgbClr val="FF2600"/>
                </a:buClr>
                <a:buFont typeface="Wingdings"/>
                <a:defRPr i="1">
                  <a:solidFill>
                    <a:srgbClr val="FF2600"/>
                  </a:solidFill>
                  <a:uFill>
                    <a:solidFill>
                      <a:srgbClr val="FF2600"/>
                    </a:solidFill>
                  </a:uFill>
                  <a:latin typeface="Arial Narrow"/>
                  <a:ea typeface="Arial Narrow"/>
                  <a:cs typeface="Arial Narrow"/>
                  <a:sym typeface="Arial Narrow"/>
                </a:defRPr>
              </a:pPr>
              <a:r>
                <a:t>            test-and-set-lock</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r>
                <a:t> </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endParaRPr/>
            </a:p>
            <a:p>
              <a:pPr marL="91439" marR="91439">
                <a:spcBef>
                  <a:spcPts val="400"/>
                </a:spcBef>
                <a:buClr>
                  <a:srgbClr val="FF2600"/>
                </a:buClr>
                <a:buFont typeface="Wingdings"/>
                <a:defRPr i="1">
                  <a:solidFill>
                    <a:srgbClr val="FF2600"/>
                  </a:solidFill>
                  <a:uFill>
                    <a:solidFill>
                      <a:srgbClr val="FF2600"/>
                    </a:solidFill>
                  </a:uFill>
                  <a:latin typeface="Arial Narrow"/>
                  <a:ea typeface="Arial Narrow"/>
                  <a:cs typeface="Arial Narrow"/>
                  <a:sym typeface="Arial Narrow"/>
                </a:defRPr>
              </a:pPr>
              <a:r>
                <a:t>            set lock off</a:t>
              </a:r>
            </a:p>
          </p:txBody>
        </p:sp>
      </p:grpSp>
      <p:sp>
        <p:nvSpPr>
          <p:cNvPr id="635" name="Rectangle"/>
          <p:cNvSpPr/>
          <p:nvPr/>
        </p:nvSpPr>
        <p:spPr>
          <a:xfrm>
            <a:off x="5410200" y="3789362"/>
            <a:ext cx="3289300" cy="838201"/>
          </a:xfrm>
          <a:prstGeom prst="rect">
            <a:avLst/>
          </a:prstGeom>
          <a:solidFill>
            <a:srgbClr val="E9E9E9"/>
          </a:solidFill>
          <a:ln w="12700">
            <a:solidFill>
              <a:srgbClr val="7B1142"/>
            </a:solidFill>
            <a:prstDash val="dash"/>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36" name="Implementation 3 — “indivisible” lock variable  "/>
          <p:cNvSpPr txBox="1"/>
          <p:nvPr/>
        </p:nvSpPr>
        <p:spPr>
          <a:xfrm>
            <a:off x="457200" y="1295400"/>
            <a:ext cx="8242300" cy="508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3</a:t>
            </a:r>
            <a:r>
              <a:rPr sz="2800" u="sng">
                <a:latin typeface="Arial Narrow"/>
                <a:ea typeface="Arial Narrow"/>
                <a:cs typeface="Arial Narrow"/>
                <a:sym typeface="Arial Narrow"/>
              </a:rPr>
              <a:t> — “indivisible” lock variable  </a:t>
            </a:r>
            <a:r>
              <a:rPr sz="2800" u="sng">
                <a:latin typeface="Wingdings"/>
                <a:ea typeface="Wingdings"/>
                <a:cs typeface="Wingdings"/>
                <a:sym typeface="Wingdings"/>
              </a:rPr>
              <a:t></a:t>
            </a:r>
          </a:p>
        </p:txBody>
      </p:sp>
      <p:sp>
        <p:nvSpPr>
          <p:cNvPr id="637" name="the indivisibility of the “test-lock-and-set-lock” operation can be implemented with the hardware instruction TSL"/>
          <p:cNvSpPr txBox="1"/>
          <p:nvPr/>
        </p:nvSpPr>
        <p:spPr>
          <a:xfrm>
            <a:off x="457200" y="1828799"/>
            <a:ext cx="4889500" cy="1511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spAutoFit/>
          </a:bodyPr>
          <a:lstStyle/>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Times New Roman"/>
                <a:ea typeface="Times New Roman"/>
                <a:cs typeface="Times New Roman"/>
                <a:sym typeface="Times New Roman"/>
              </a:defRPr>
            </a:pPr>
            <a:r>
              <a:rPr>
                <a:latin typeface="Arial Narrow"/>
                <a:ea typeface="Arial Narrow"/>
                <a:cs typeface="Arial Narrow"/>
                <a:sym typeface="Arial Narrow"/>
              </a:rPr>
              <a:t>the indivisibility of the “test-lock-and-set-lock” operation can be implemented with the hardware instruction</a:t>
            </a:r>
            <a:r>
              <a:rPr b="1">
                <a:latin typeface="Courier New"/>
                <a:ea typeface="Courier New"/>
                <a:cs typeface="Courier New"/>
                <a:sym typeface="Courier New"/>
              </a:rPr>
              <a:t> TSL</a:t>
            </a:r>
          </a:p>
        </p:txBody>
      </p:sp>
      <p:grpSp>
        <p:nvGrpSpPr>
          <p:cNvPr id="640" name="Group"/>
          <p:cNvGrpSpPr/>
          <p:nvPr/>
        </p:nvGrpSpPr>
        <p:grpSpPr>
          <a:xfrm>
            <a:off x="5410200" y="2362200"/>
            <a:ext cx="3276600" cy="3408363"/>
            <a:chOff x="0" y="0"/>
            <a:chExt cx="3276600" cy="3408362"/>
          </a:xfrm>
        </p:grpSpPr>
        <p:sp>
          <p:nvSpPr>
            <p:cNvPr id="638" name="Rectangle"/>
            <p:cNvSpPr/>
            <p:nvPr/>
          </p:nvSpPr>
          <p:spPr>
            <a:xfrm>
              <a:off x="0" y="0"/>
              <a:ext cx="3276600" cy="3408363"/>
            </a:xfrm>
            <a:prstGeom prst="rect">
              <a:avLst/>
            </a:prstGeom>
            <a:no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39" name="void echo()…"/>
            <p:cNvSpPr txBox="1"/>
            <p:nvPr/>
          </p:nvSpPr>
          <p:spPr>
            <a:xfrm>
              <a:off x="0" y="0"/>
              <a:ext cx="3276600" cy="314960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char chin, 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2400">
                  <a:solidFill>
                    <a:srgbClr val="7B1142"/>
                  </a:solidFill>
                  <a:uFill>
                    <a:solidFill>
                      <a:srgbClr val="7B1142"/>
                    </a:solidFill>
                  </a:uFill>
                  <a:latin typeface="Times New Roman"/>
                  <a:ea typeface="Times New Roman"/>
                  <a:cs typeface="Times New Roman"/>
                  <a:sym typeface="Times New Roman"/>
                </a:defRPr>
              </a:pPr>
              <a:r>
                <a:rPr sz="1200" b="1">
                  <a:latin typeface="Courier New"/>
                  <a:ea typeface="Courier New"/>
                  <a:cs typeface="Courier New"/>
                  <a:sym typeface="Courier New"/>
                </a:rPr>
                <a:t> </a:t>
              </a:r>
              <a:r>
                <a:rPr sz="1800" b="1">
                  <a:latin typeface="Courier New"/>
                  <a:ea typeface="Courier New"/>
                  <a:cs typeface="Courier New"/>
                  <a:sym typeface="Courier New"/>
                </a:rP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sz="1800" b="1">
                <a:latin typeface="Courier New"/>
                <a:ea typeface="Courier New"/>
                <a:cs typeface="Courier New"/>
                <a:sym typeface="Courier New"/>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648" name="Group"/>
          <p:cNvGrpSpPr/>
          <p:nvPr/>
        </p:nvGrpSpPr>
        <p:grpSpPr>
          <a:xfrm>
            <a:off x="152400" y="4648200"/>
            <a:ext cx="5257800" cy="1296988"/>
            <a:chOff x="0" y="0"/>
            <a:chExt cx="5257800" cy="1296987"/>
          </a:xfrm>
        </p:grpSpPr>
        <p:grpSp>
          <p:nvGrpSpPr>
            <p:cNvPr id="643" name="Group"/>
            <p:cNvGrpSpPr/>
            <p:nvPr/>
          </p:nvGrpSpPr>
          <p:grpSpPr>
            <a:xfrm>
              <a:off x="361950" y="622299"/>
              <a:ext cx="2990850" cy="596901"/>
              <a:chOff x="0" y="0"/>
              <a:chExt cx="2990849" cy="596900"/>
            </a:xfrm>
          </p:grpSpPr>
          <p:pic>
            <p:nvPicPr>
              <p:cNvPr id="641" name="image.png" descr="image.png"/>
              <p:cNvPicPr>
                <a:picLocks/>
              </p:cNvPicPr>
              <p:nvPr/>
            </p:nvPicPr>
            <p:blipFill>
              <a:blip r:embed="rId2"/>
              <a:stretch>
                <a:fillRect/>
              </a:stretch>
            </p:blipFill>
            <p:spPr>
              <a:xfrm>
                <a:off x="0" y="0"/>
                <a:ext cx="1572966" cy="595064"/>
              </a:xfrm>
              <a:prstGeom prst="rect">
                <a:avLst/>
              </a:prstGeom>
              <a:ln w="12700" cap="flat">
                <a:noFill/>
                <a:miter lim="400000"/>
              </a:ln>
              <a:effectLst/>
            </p:spPr>
          </p:pic>
          <p:pic>
            <p:nvPicPr>
              <p:cNvPr id="642" name="image.png" descr="image.png"/>
              <p:cNvPicPr>
                <a:picLocks/>
              </p:cNvPicPr>
              <p:nvPr/>
            </p:nvPicPr>
            <p:blipFill>
              <a:blip r:embed="rId3"/>
              <a:stretch>
                <a:fillRect/>
              </a:stretch>
            </p:blipFill>
            <p:spPr>
              <a:xfrm>
                <a:off x="1683737" y="178151"/>
                <a:ext cx="1307113" cy="418750"/>
              </a:xfrm>
              <a:prstGeom prst="rect">
                <a:avLst/>
              </a:prstGeom>
              <a:ln w="12700" cap="flat">
                <a:noFill/>
                <a:miter lim="400000"/>
              </a:ln>
              <a:effectLst/>
            </p:spPr>
          </p:pic>
        </p:grpSp>
        <p:sp>
          <p:nvSpPr>
            <p:cNvPr id="644" name="Line"/>
            <p:cNvSpPr/>
            <p:nvPr/>
          </p:nvSpPr>
          <p:spPr>
            <a:xfrm>
              <a:off x="0" y="609600"/>
              <a:ext cx="4876800" cy="1588"/>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645" name="Line"/>
            <p:cNvSpPr/>
            <p:nvPr/>
          </p:nvSpPr>
          <p:spPr>
            <a:xfrm>
              <a:off x="0" y="1295400"/>
              <a:ext cx="4876800" cy="1588"/>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646" name="Line"/>
            <p:cNvSpPr/>
            <p:nvPr/>
          </p:nvSpPr>
          <p:spPr>
            <a:xfrm flipV="1">
              <a:off x="4876800" y="0"/>
              <a:ext cx="381000" cy="609600"/>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647" name="Line"/>
            <p:cNvSpPr/>
            <p:nvPr/>
          </p:nvSpPr>
          <p:spPr>
            <a:xfrm flipV="1">
              <a:off x="4876800" y="228600"/>
              <a:ext cx="381000" cy="1066800"/>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grpSp>
        <p:nvGrpSpPr>
          <p:cNvPr id="658" name="Group"/>
          <p:cNvGrpSpPr/>
          <p:nvPr/>
        </p:nvGrpSpPr>
        <p:grpSpPr>
          <a:xfrm>
            <a:off x="152400" y="3425444"/>
            <a:ext cx="5257800" cy="1068388"/>
            <a:chOff x="0" y="0"/>
            <a:chExt cx="5257800" cy="1068387"/>
          </a:xfrm>
        </p:grpSpPr>
        <p:grpSp>
          <p:nvGrpSpPr>
            <p:cNvPr id="651" name="Group"/>
            <p:cNvGrpSpPr/>
            <p:nvPr/>
          </p:nvGrpSpPr>
          <p:grpSpPr>
            <a:xfrm>
              <a:off x="0" y="76200"/>
              <a:ext cx="4953001" cy="923926"/>
              <a:chOff x="0" y="0"/>
              <a:chExt cx="4953000" cy="923925"/>
            </a:xfrm>
          </p:grpSpPr>
          <p:pic>
            <p:nvPicPr>
              <p:cNvPr id="649" name="image.png" descr="image.png"/>
              <p:cNvPicPr>
                <a:picLocks/>
              </p:cNvPicPr>
              <p:nvPr/>
            </p:nvPicPr>
            <p:blipFill>
              <a:blip r:embed="rId4"/>
              <a:stretch>
                <a:fillRect/>
              </a:stretch>
            </p:blipFill>
            <p:spPr>
              <a:xfrm>
                <a:off x="0" y="0"/>
                <a:ext cx="1994065" cy="900693"/>
              </a:xfrm>
              <a:prstGeom prst="rect">
                <a:avLst/>
              </a:prstGeom>
              <a:ln w="12700" cap="flat">
                <a:noFill/>
                <a:miter lim="400000"/>
              </a:ln>
              <a:effectLst/>
            </p:spPr>
          </p:pic>
          <p:pic>
            <p:nvPicPr>
              <p:cNvPr id="650" name="image.png" descr="image.png"/>
              <p:cNvPicPr>
                <a:picLocks/>
              </p:cNvPicPr>
              <p:nvPr/>
            </p:nvPicPr>
            <p:blipFill>
              <a:blip r:embed="rId5"/>
              <a:stretch>
                <a:fillRect/>
              </a:stretch>
            </p:blipFill>
            <p:spPr>
              <a:xfrm>
                <a:off x="2058389" y="130457"/>
                <a:ext cx="2894612" cy="793469"/>
              </a:xfrm>
              <a:prstGeom prst="rect">
                <a:avLst/>
              </a:prstGeom>
              <a:ln w="12700" cap="flat">
                <a:noFill/>
                <a:miter lim="400000"/>
              </a:ln>
              <a:effectLst/>
            </p:spPr>
          </p:pic>
        </p:grpSp>
        <p:sp>
          <p:nvSpPr>
            <p:cNvPr id="652" name="Line"/>
            <p:cNvSpPr/>
            <p:nvPr/>
          </p:nvSpPr>
          <p:spPr>
            <a:xfrm>
              <a:off x="0" y="1066800"/>
              <a:ext cx="4876800" cy="1588"/>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653" name="Line"/>
            <p:cNvSpPr/>
            <p:nvPr/>
          </p:nvSpPr>
          <p:spPr>
            <a:xfrm>
              <a:off x="0" y="0"/>
              <a:ext cx="4876800" cy="1588"/>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654" name="Line"/>
            <p:cNvSpPr/>
            <p:nvPr/>
          </p:nvSpPr>
          <p:spPr>
            <a:xfrm flipV="1">
              <a:off x="4876800" y="304800"/>
              <a:ext cx="381000" cy="762000"/>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655" name="Line"/>
            <p:cNvSpPr/>
            <p:nvPr/>
          </p:nvSpPr>
          <p:spPr>
            <a:xfrm>
              <a:off x="4876800" y="0"/>
              <a:ext cx="381000" cy="76200"/>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656" name="Oval"/>
            <p:cNvSpPr/>
            <p:nvPr/>
          </p:nvSpPr>
          <p:spPr>
            <a:xfrm>
              <a:off x="3571875" y="182562"/>
              <a:ext cx="358775" cy="274638"/>
            </a:xfrm>
            <a:prstGeom prst="ellipse">
              <a:avLst/>
            </a:prstGeom>
            <a:noFill/>
            <a:ln w="1270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57" name="TSL"/>
            <p:cNvSpPr txBox="1"/>
            <p:nvPr/>
          </p:nvSpPr>
          <p:spPr>
            <a:xfrm>
              <a:off x="248071" y="187325"/>
              <a:ext cx="388095" cy="241300"/>
            </a:xfrm>
            <a:prstGeom prst="rect">
              <a:avLst/>
            </a:prstGeom>
            <a:solidFill>
              <a:srgbClr val="FFFFFF"/>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lvl1pPr marL="0" marR="0" algn="ctr">
                <a:spcBef>
                  <a:spcPts val="300"/>
                </a:spcBef>
                <a:buClr>
                  <a:srgbClr val="FF2600"/>
                </a:buClr>
                <a:buFont typeface="Wingdings"/>
                <a:defRPr sz="1400">
                  <a:solidFill>
                    <a:srgbClr val="FF2600"/>
                  </a:solidFill>
                  <a:uFill>
                    <a:solidFill>
                      <a:srgbClr val="FF2600"/>
                    </a:solidFill>
                  </a:uFill>
                  <a:latin typeface="Arial Black"/>
                  <a:ea typeface="Arial Black"/>
                  <a:cs typeface="Arial Black"/>
                  <a:sym typeface="Arial Black"/>
                </a:defRPr>
              </a:lvl1pPr>
            </a:lstStyle>
            <a:p>
              <a:r>
                <a:t>TSL</a:t>
              </a:r>
            </a:p>
          </p:txBody>
        </p:sp>
      </p:grpSp>
      <p:sp>
        <p:nvSpPr>
          <p:cNvPr id="659" name="Tanenbaum, A. S. (2001)…"/>
          <p:cNvSpPr txBox="1"/>
          <p:nvPr/>
        </p:nvSpPr>
        <p:spPr>
          <a:xfrm>
            <a:off x="152400" y="6096000"/>
            <a:ext cx="1711038" cy="330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spAutoFit/>
          </a:bodyPr>
          <a:lstStyle/>
          <a:p>
            <a:pPr>
              <a:buClr>
                <a:srgbClr val="A7A7A7"/>
              </a:buClr>
              <a:buFont typeface="Arial Narrow"/>
              <a:defRPr sz="800">
                <a:solidFill>
                  <a:srgbClr val="A7A7A7"/>
                </a:solidFill>
                <a:uFill>
                  <a:solidFill>
                    <a:srgbClr val="A7A7A7"/>
                  </a:solidFill>
                </a:uFill>
                <a:latin typeface="Arial Narrow"/>
                <a:ea typeface="Arial Narrow"/>
                <a:cs typeface="Arial Narrow"/>
                <a:sym typeface="Arial Narrow"/>
              </a:defRPr>
            </a:pPr>
            <a:r>
              <a:t>Tanenbaum, A. S. (2001)</a:t>
            </a:r>
          </a:p>
          <a:p>
            <a:pPr>
              <a:buClr>
                <a:srgbClr val="A7A7A7"/>
              </a:buClr>
              <a:buFont typeface="Arial Narrow"/>
              <a:defRPr sz="800" i="1">
                <a:solidFill>
                  <a:srgbClr val="A7A7A7"/>
                </a:solidFill>
                <a:uFill>
                  <a:solidFill>
                    <a:srgbClr val="A7A7A7"/>
                  </a:solidFill>
                </a:uFill>
                <a:latin typeface="Arial Narrow"/>
                <a:ea typeface="Arial Narrow"/>
                <a:cs typeface="Arial Narrow"/>
                <a:sym typeface="Arial Narrow"/>
              </a:defRPr>
            </a:pPr>
            <a:r>
              <a:t>Modern Operating Systems (2nd Edition).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iterate>
                                    <p:tmAbs val="0"/>
                                  </p:iterate>
                                  <p:childTnLst>
                                    <p:set>
                                      <p:cBhvr>
                                        <p:cTn id="6" fill="hold"/>
                                        <p:tgtEl>
                                          <p:spTgt spid="658"/>
                                        </p:tgtEl>
                                        <p:attrNameLst>
                                          <p:attrName>style.visibility</p:attrName>
                                        </p:attrNameLst>
                                      </p:cBhvr>
                                      <p:to>
                                        <p:strVal val="visible"/>
                                      </p:to>
                                    </p:set>
                                    <p:anim calcmode="lin" valueType="num">
                                      <p:cBhvr>
                                        <p:cTn id="7" dur="500" fill="hold"/>
                                        <p:tgtEl>
                                          <p:spTgt spid="658"/>
                                        </p:tgtEl>
                                        <p:attrNameLst>
                                          <p:attrName>ppt_w</p:attrName>
                                        </p:attrNameLst>
                                      </p:cBhvr>
                                      <p:tavLst>
                                        <p:tav tm="0">
                                          <p:val>
                                            <p:fltVal val="0"/>
                                          </p:val>
                                        </p:tav>
                                        <p:tav tm="100000">
                                          <p:val>
                                            <p:strVal val="#ppt_w"/>
                                          </p:val>
                                        </p:tav>
                                      </p:tavLst>
                                    </p:anim>
                                    <p:anim calcmode="lin" valueType="num">
                                      <p:cBhvr>
                                        <p:cTn id="8" dur="500" fill="hold"/>
                                        <p:tgtEl>
                                          <p:spTgt spid="658"/>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iterate>
                                    <p:tmAbs val="0"/>
                                  </p:iterate>
                                  <p:childTnLst>
                                    <p:set>
                                      <p:cBhvr>
                                        <p:cTn id="12" fill="hold"/>
                                        <p:tgtEl>
                                          <p:spTgt spid="648"/>
                                        </p:tgtEl>
                                        <p:attrNameLst>
                                          <p:attrName>style.visibility</p:attrName>
                                        </p:attrNameLst>
                                      </p:cBhvr>
                                      <p:to>
                                        <p:strVal val="visible"/>
                                      </p:to>
                                    </p:set>
                                    <p:anim calcmode="lin" valueType="num">
                                      <p:cBhvr>
                                        <p:cTn id="13" dur="500" fill="hold"/>
                                        <p:tgtEl>
                                          <p:spTgt spid="648"/>
                                        </p:tgtEl>
                                        <p:attrNameLst>
                                          <p:attrName>ppt_w</p:attrName>
                                        </p:attrNameLst>
                                      </p:cBhvr>
                                      <p:tavLst>
                                        <p:tav tm="0">
                                          <p:val>
                                            <p:fltVal val="0"/>
                                          </p:val>
                                        </p:tav>
                                        <p:tav tm="100000">
                                          <p:val>
                                            <p:strVal val="#ppt_w"/>
                                          </p:val>
                                        </p:tav>
                                      </p:tavLst>
                                    </p:anim>
                                    <p:anim calcmode="lin" valueType="num">
                                      <p:cBhvr>
                                        <p:cTn id="14" dur="500" fill="hold"/>
                                        <p:tgtEl>
                                          <p:spTgt spid="64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 grpId="0" animBg="1" advAuto="0"/>
      <p:bldP spid="658" grpId="0" animBg="1" advAuto="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708E2-5A9C-9C97-5028-3D2A15E8217F}"/>
            </a:ext>
          </a:extLst>
        </p:cNvPr>
        <p:cNvGrpSpPr/>
        <p:nvPr/>
      </p:nvGrpSpPr>
      <p:grpSpPr>
        <a:xfrm>
          <a:off x="0" y="0"/>
          <a:ext cx="0" cy="0"/>
          <a:chOff x="0" y="0"/>
          <a:chExt cx="0" cy="0"/>
        </a:xfrm>
      </p:grpSpPr>
      <p:sp>
        <p:nvSpPr>
          <p:cNvPr id="540" name="Mutual Exclusion">
            <a:extLst>
              <a:ext uri="{FF2B5EF4-FFF2-40B4-BE49-F238E27FC236}">
                <a16:creationId xmlns:a16="http://schemas.microsoft.com/office/drawing/2014/main" id="{C171DF4C-9F6C-CC9A-6608-78745D0C4676}"/>
              </a:ext>
            </a:extLst>
          </p:cNvPr>
          <p:cNvSpPr txBox="1">
            <a:spLocks noGrp="1"/>
          </p:cNvSpPr>
          <p:nvPr>
            <p:ph type="title"/>
          </p:nvPr>
        </p:nvSpPr>
        <p:spPr>
          <a:prstGeom prst="rect">
            <a:avLst/>
          </a:prstGeom>
        </p:spPr>
        <p:txBody>
          <a:bodyPr/>
          <a:lstStyle/>
          <a:p>
            <a:r>
              <a:t>Mutual Exclusion</a:t>
            </a:r>
          </a:p>
        </p:txBody>
      </p:sp>
      <p:sp>
        <p:nvSpPr>
          <p:cNvPr id="541" name="Slide Number">
            <a:extLst>
              <a:ext uri="{FF2B5EF4-FFF2-40B4-BE49-F238E27FC236}">
                <a16:creationId xmlns:a16="http://schemas.microsoft.com/office/drawing/2014/main" id="{715E77AF-806A-F971-6F3D-6D4B9AF0592D}"/>
              </a:ext>
            </a:extLst>
          </p:cNvPr>
          <p:cNvSpPr txBox="1">
            <a:spLocks noGrp="1"/>
          </p:cNvSpPr>
          <p:nvPr>
            <p:ph type="sldNum" sz="quarter" idx="2"/>
          </p:nvPr>
        </p:nvSpPr>
        <p:spPr>
          <a:xfrm>
            <a:off x="7737016" y="6381750"/>
            <a:ext cx="312068" cy="3048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32</a:t>
            </a:fld>
            <a:endParaRPr/>
          </a:p>
        </p:txBody>
      </p:sp>
      <p:sp>
        <p:nvSpPr>
          <p:cNvPr id="542" name="Implementation 2 — simple lock variable  ">
            <a:extLst>
              <a:ext uri="{FF2B5EF4-FFF2-40B4-BE49-F238E27FC236}">
                <a16:creationId xmlns:a16="http://schemas.microsoft.com/office/drawing/2014/main" id="{E5A20EBC-AC00-278C-7FAB-799EE102D057}"/>
              </a:ext>
            </a:extLst>
          </p:cNvPr>
          <p:cNvSpPr txBox="1"/>
          <p:nvPr/>
        </p:nvSpPr>
        <p:spPr>
          <a:xfrm>
            <a:off x="457200" y="1295400"/>
            <a:ext cx="8242300" cy="5334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dirty="0">
                <a:latin typeface="Arial Narrow"/>
                <a:ea typeface="Arial Narrow"/>
                <a:cs typeface="Arial Narrow"/>
                <a:sym typeface="Arial Narrow"/>
              </a:rPr>
              <a:t>Implementation </a:t>
            </a:r>
            <a:r>
              <a:rPr lang="en-US" sz="2800" b="1" u="sng" dirty="0">
                <a:latin typeface="Arial Narrow"/>
                <a:ea typeface="Arial Narrow"/>
                <a:cs typeface="Arial Narrow"/>
                <a:sym typeface="Arial Narrow"/>
              </a:rPr>
              <a:t>3</a:t>
            </a:r>
            <a:r>
              <a:rPr sz="2800" u="sng" dirty="0">
                <a:latin typeface="Arial Narrow"/>
                <a:ea typeface="Arial Narrow"/>
                <a:cs typeface="Arial Narrow"/>
                <a:sym typeface="Arial Narrow"/>
              </a:rPr>
              <a:t> — </a:t>
            </a:r>
            <a:r>
              <a:rPr lang="en-US" sz="2800" u="sng" dirty="0">
                <a:latin typeface="Arial Narrow"/>
                <a:ea typeface="Arial Narrow"/>
                <a:cs typeface="Arial Narrow"/>
                <a:sym typeface="Arial Narrow"/>
              </a:rPr>
              <a:t>Indivisible Lock</a:t>
            </a:r>
            <a:endParaRPr sz="2800" u="sng" dirty="0">
              <a:latin typeface="Wingdings"/>
              <a:ea typeface="Wingdings"/>
              <a:cs typeface="Wingdings"/>
              <a:sym typeface="Wingdings"/>
            </a:endParaRPr>
          </a:p>
        </p:txBody>
      </p:sp>
      <p:grpSp>
        <p:nvGrpSpPr>
          <p:cNvPr id="609" name="Group">
            <a:extLst>
              <a:ext uri="{FF2B5EF4-FFF2-40B4-BE49-F238E27FC236}">
                <a16:creationId xmlns:a16="http://schemas.microsoft.com/office/drawing/2014/main" id="{74209C92-9FE6-DB02-78C0-4CD912C9CE5A}"/>
              </a:ext>
            </a:extLst>
          </p:cNvPr>
          <p:cNvGrpSpPr/>
          <p:nvPr/>
        </p:nvGrpSpPr>
        <p:grpSpPr>
          <a:xfrm>
            <a:off x="457199" y="1752779"/>
            <a:ext cx="8013703" cy="4495624"/>
            <a:chOff x="0" y="152579"/>
            <a:chExt cx="8013701" cy="4495623"/>
          </a:xfrm>
        </p:grpSpPr>
        <p:grpSp>
          <p:nvGrpSpPr>
            <p:cNvPr id="546" name="Group">
              <a:extLst>
                <a:ext uri="{FF2B5EF4-FFF2-40B4-BE49-F238E27FC236}">
                  <a16:creationId xmlns:a16="http://schemas.microsoft.com/office/drawing/2014/main" id="{C058BD24-357E-6545-8CF4-CD24DB0B8285}"/>
                </a:ext>
              </a:extLst>
            </p:cNvPr>
            <p:cNvGrpSpPr/>
            <p:nvPr/>
          </p:nvGrpSpPr>
          <p:grpSpPr>
            <a:xfrm>
              <a:off x="0" y="304800"/>
              <a:ext cx="4127500" cy="2471479"/>
              <a:chOff x="0" y="0"/>
              <a:chExt cx="4127500" cy="2471478"/>
            </a:xfrm>
          </p:grpSpPr>
          <p:sp>
            <p:nvSpPr>
              <p:cNvPr id="543" name="Rectangle">
                <a:extLst>
                  <a:ext uri="{FF2B5EF4-FFF2-40B4-BE49-F238E27FC236}">
                    <a16:creationId xmlns:a16="http://schemas.microsoft.com/office/drawing/2014/main" id="{FED9A0E2-51A1-0698-466F-7FAF270067CB}"/>
                  </a:ext>
                </a:extLst>
              </p:cNvPr>
              <p:cNvSpPr/>
              <p:nvPr/>
            </p:nvSpPr>
            <p:spPr>
              <a:xfrm>
                <a:off x="381000" y="1219200"/>
                <a:ext cx="3629342" cy="1252278"/>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44" name="Rectangle">
                <a:extLst>
                  <a:ext uri="{FF2B5EF4-FFF2-40B4-BE49-F238E27FC236}">
                    <a16:creationId xmlns:a16="http://schemas.microsoft.com/office/drawing/2014/main" id="{4A5B9DCA-647B-CB0D-6A7F-FEBB2546B11A}"/>
                  </a:ext>
                </a:extLst>
              </p:cNvPr>
              <p:cNvSpPr/>
              <p:nvPr/>
            </p:nvSpPr>
            <p:spPr>
              <a:xfrm>
                <a:off x="381000" y="457200"/>
                <a:ext cx="3670300" cy="762000"/>
              </a:xfrm>
              <a:prstGeom prst="rect">
                <a:avLst/>
              </a:prstGeom>
              <a:solidFill>
                <a:srgbClr val="FFBEBD">
                  <a:alpha val="50000"/>
                </a:srgbClr>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45" name="thread A reaches CR and finds a lock at 0, which means that A can enter…">
                <a:extLst>
                  <a:ext uri="{FF2B5EF4-FFF2-40B4-BE49-F238E27FC236}">
                    <a16:creationId xmlns:a16="http://schemas.microsoft.com/office/drawing/2014/main" id="{38F03AA7-492A-61DF-90EB-BEBEC43808C9}"/>
                  </a:ext>
                </a:extLst>
              </p:cNvPr>
              <p:cNvSpPr txBox="1"/>
              <p:nvPr/>
            </p:nvSpPr>
            <p:spPr>
              <a:xfrm>
                <a:off x="0" y="0"/>
                <a:ext cx="4127500" cy="236987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spAutoFit/>
              </a:bodyPr>
              <a:lstStyle/>
              <a:p>
                <a:pPr marL="951864" indent="-455612">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thread A reaches CR and finds a lock at 0, which means that A can enter</a:t>
                </a:r>
              </a:p>
              <a:p>
                <a:pPr marL="951864" indent="-455612">
                  <a:spcBef>
                    <a:spcPts val="400"/>
                  </a:spcBef>
                  <a:buClr>
                    <a:srgbClr val="7B1142"/>
                  </a:buClr>
                  <a:buFont typeface="Arial Narrow"/>
                  <a:tabLst>
                    <a:tab pos="381000" algn="l"/>
                    <a:tab pos="952500" algn="l"/>
                    <a:tab pos="952500" algn="l"/>
                  </a:tabLst>
                  <a:defRPr sz="2400">
                    <a:solidFill>
                      <a:srgbClr val="FF2600"/>
                    </a:solidFill>
                    <a:uFill>
                      <a:solidFill>
                        <a:srgbClr val="FF2600"/>
                      </a:solidFill>
                    </a:uFill>
                    <a:latin typeface="Arial Narrow"/>
                    <a:ea typeface="Arial Narrow"/>
                    <a:cs typeface="Arial Narrow"/>
                    <a:sym typeface="Arial Narrow"/>
                  </a:defRPr>
                </a:pPr>
                <a:r>
                  <a:rPr dirty="0"/>
                  <a:t>1.1	but before A can set the lock to 1, B reaches CR and finds the lock is 0, too</a:t>
                </a:r>
              </a:p>
            </p:txBody>
          </p:sp>
        </p:grpSp>
        <p:grpSp>
          <p:nvGrpSpPr>
            <p:cNvPr id="608" name="Group">
              <a:extLst>
                <a:ext uri="{FF2B5EF4-FFF2-40B4-BE49-F238E27FC236}">
                  <a16:creationId xmlns:a16="http://schemas.microsoft.com/office/drawing/2014/main" id="{086303C6-B3F0-3264-8104-FB8AAEAAB0E0}"/>
                </a:ext>
              </a:extLst>
            </p:cNvPr>
            <p:cNvGrpSpPr/>
            <p:nvPr/>
          </p:nvGrpSpPr>
          <p:grpSpPr>
            <a:xfrm>
              <a:off x="4059554" y="152579"/>
              <a:ext cx="3954147" cy="4495623"/>
              <a:chOff x="0" y="0"/>
              <a:chExt cx="3954146" cy="4495621"/>
            </a:xfrm>
          </p:grpSpPr>
          <p:sp>
            <p:nvSpPr>
              <p:cNvPr id="549" name="Line">
                <a:extLst>
                  <a:ext uri="{FF2B5EF4-FFF2-40B4-BE49-F238E27FC236}">
                    <a16:creationId xmlns:a16="http://schemas.microsoft.com/office/drawing/2014/main" id="{670EA959-B17E-E55E-2816-E2DCE43064EA}"/>
                  </a:ext>
                </a:extLst>
              </p:cNvPr>
              <p:cNvSpPr/>
              <p:nvPr/>
            </p:nvSpPr>
            <p:spPr>
              <a:xfrm>
                <a:off x="283845" y="380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0" name="Line">
                <a:extLst>
                  <a:ext uri="{FF2B5EF4-FFF2-40B4-BE49-F238E27FC236}">
                    <a16:creationId xmlns:a16="http://schemas.microsoft.com/office/drawing/2014/main" id="{24A9D0FD-31D3-E047-A0C5-FA9204A3CB3B}"/>
                  </a:ext>
                </a:extLst>
              </p:cNvPr>
              <p:cNvSpPr/>
              <p:nvPr/>
            </p:nvSpPr>
            <p:spPr>
              <a:xfrm>
                <a:off x="283845" y="761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1" name="Line">
                <a:extLst>
                  <a:ext uri="{FF2B5EF4-FFF2-40B4-BE49-F238E27FC236}">
                    <a16:creationId xmlns:a16="http://schemas.microsoft.com/office/drawing/2014/main" id="{F4B52869-36E9-6E57-2277-FE3EB58B689B}"/>
                  </a:ext>
                </a:extLst>
              </p:cNvPr>
              <p:cNvSpPr/>
              <p:nvPr/>
            </p:nvSpPr>
            <p:spPr>
              <a:xfrm>
                <a:off x="283845" y="1523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2" name="Line">
                <a:extLst>
                  <a:ext uri="{FF2B5EF4-FFF2-40B4-BE49-F238E27FC236}">
                    <a16:creationId xmlns:a16="http://schemas.microsoft.com/office/drawing/2014/main" id="{4DE3F011-2888-04C7-67F9-1896D17A3632}"/>
                  </a:ext>
                </a:extLst>
              </p:cNvPr>
              <p:cNvSpPr/>
              <p:nvPr/>
            </p:nvSpPr>
            <p:spPr>
              <a:xfrm>
                <a:off x="283845" y="1904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557" name="pedblue.jpg" descr="pedblue.jpg">
                <a:extLst>
                  <a:ext uri="{FF2B5EF4-FFF2-40B4-BE49-F238E27FC236}">
                    <a16:creationId xmlns:a16="http://schemas.microsoft.com/office/drawing/2014/main" id="{DBF494AE-BC18-44B9-FFD1-97630447E40C}"/>
                  </a:ext>
                </a:extLst>
              </p:cNvPr>
              <p:cNvPicPr>
                <a:picLocks/>
              </p:cNvPicPr>
              <p:nvPr/>
            </p:nvPicPr>
            <p:blipFill>
              <a:blip r:embed="rId2"/>
              <a:stretch>
                <a:fillRect/>
              </a:stretch>
            </p:blipFill>
            <p:spPr>
              <a:xfrm>
                <a:off x="1807845" y="152220"/>
                <a:ext cx="274638" cy="461963"/>
              </a:xfrm>
              <a:prstGeom prst="rect">
                <a:avLst/>
              </a:prstGeom>
              <a:ln w="12700" cap="flat">
                <a:noFill/>
                <a:miter lim="400000"/>
              </a:ln>
              <a:effectLst/>
            </p:spPr>
          </p:pic>
          <p:sp>
            <p:nvSpPr>
              <p:cNvPr id="558" name="Rectangle">
                <a:extLst>
                  <a:ext uri="{FF2B5EF4-FFF2-40B4-BE49-F238E27FC236}">
                    <a16:creationId xmlns:a16="http://schemas.microsoft.com/office/drawing/2014/main" id="{9EFB75D0-50B1-8A11-42CC-78F5E0B834FE}"/>
                  </a:ext>
                </a:extLst>
              </p:cNvPr>
              <p:cNvSpPr/>
              <p:nvPr/>
            </p:nvSpPr>
            <p:spPr>
              <a:xfrm>
                <a:off x="1274445" y="609420"/>
                <a:ext cx="850901" cy="457201"/>
              </a:xfrm>
              <a:prstGeom prst="rect">
                <a:avLst/>
              </a:prstGeom>
              <a:solidFill>
                <a:srgbClr val="FFFFFF"/>
              </a:solidFill>
              <a:ln w="9525" cap="flat">
                <a:solidFill>
                  <a:srgbClr val="FFFFFF"/>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561" name="Group">
                <a:extLst>
                  <a:ext uri="{FF2B5EF4-FFF2-40B4-BE49-F238E27FC236}">
                    <a16:creationId xmlns:a16="http://schemas.microsoft.com/office/drawing/2014/main" id="{428D7E13-9418-50F0-EA17-AEB01B9E004C}"/>
                  </a:ext>
                </a:extLst>
              </p:cNvPr>
              <p:cNvGrpSpPr/>
              <p:nvPr/>
            </p:nvGrpSpPr>
            <p:grpSpPr>
              <a:xfrm>
                <a:off x="2112645" y="152220"/>
                <a:ext cx="1828801" cy="914401"/>
                <a:chOff x="0" y="0"/>
                <a:chExt cx="1828800" cy="914400"/>
              </a:xfrm>
            </p:grpSpPr>
            <p:sp>
              <p:nvSpPr>
                <p:cNvPr id="559" name="Rectangle">
                  <a:extLst>
                    <a:ext uri="{FF2B5EF4-FFF2-40B4-BE49-F238E27FC236}">
                      <a16:creationId xmlns:a16="http://schemas.microsoft.com/office/drawing/2014/main" id="{66C8CB2B-1563-CDDB-92A1-8F27CD2D14D2}"/>
                    </a:ext>
                  </a:extLst>
                </p:cNvPr>
                <p:cNvSpPr/>
                <p:nvPr/>
              </p:nvSpPr>
              <p:spPr>
                <a:xfrm>
                  <a:off x="0" y="0"/>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60" name="critical region">
                  <a:extLst>
                    <a:ext uri="{FF2B5EF4-FFF2-40B4-BE49-F238E27FC236}">
                      <a16:creationId xmlns:a16="http://schemas.microsoft.com/office/drawing/2014/main" id="{FC5880C7-09B3-68DF-127A-D259950A81E1}"/>
                    </a:ext>
                  </a:extLst>
                </p:cNvPr>
                <p:cNvSpPr txBox="1"/>
                <p:nvPr/>
              </p:nvSpPr>
              <p:spPr>
                <a:xfrm>
                  <a:off x="0" y="276789"/>
                  <a:ext cx="1828800" cy="360822"/>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562" name="Line">
                <a:extLst>
                  <a:ext uri="{FF2B5EF4-FFF2-40B4-BE49-F238E27FC236}">
                    <a16:creationId xmlns:a16="http://schemas.microsoft.com/office/drawing/2014/main" id="{DC50CEEE-2D13-D01B-DF34-270B3CD86BDC}"/>
                  </a:ext>
                </a:extLst>
              </p:cNvPr>
              <p:cNvSpPr/>
              <p:nvPr/>
            </p:nvSpPr>
            <p:spPr>
              <a:xfrm>
                <a:off x="2112645" y="152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63" name="Line">
                <a:extLst>
                  <a:ext uri="{FF2B5EF4-FFF2-40B4-BE49-F238E27FC236}">
                    <a16:creationId xmlns:a16="http://schemas.microsoft.com/office/drawing/2014/main" id="{D91AE234-AF17-F4A0-B6A6-26E1DF4A6BD5}"/>
                  </a:ext>
                </a:extLst>
              </p:cNvPr>
              <p:cNvSpPr/>
              <p:nvPr/>
            </p:nvSpPr>
            <p:spPr>
              <a:xfrm>
                <a:off x="3941445" y="152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564" name="pedred.jpg" descr="pedred.jpg">
                <a:extLst>
                  <a:ext uri="{FF2B5EF4-FFF2-40B4-BE49-F238E27FC236}">
                    <a16:creationId xmlns:a16="http://schemas.microsoft.com/office/drawing/2014/main" id="{164E4D27-C30D-5A1A-C225-E817A8A082CC}"/>
                  </a:ext>
                </a:extLst>
              </p:cNvPr>
              <p:cNvPicPr>
                <a:picLocks/>
              </p:cNvPicPr>
              <p:nvPr/>
            </p:nvPicPr>
            <p:blipFill>
              <a:blip r:embed="rId3"/>
              <a:stretch>
                <a:fillRect/>
              </a:stretch>
            </p:blipFill>
            <p:spPr>
              <a:xfrm>
                <a:off x="1045845" y="609420"/>
                <a:ext cx="265113" cy="446088"/>
              </a:xfrm>
              <a:prstGeom prst="rect">
                <a:avLst/>
              </a:prstGeom>
              <a:ln w="12700" cap="flat">
                <a:noFill/>
                <a:miter lim="400000"/>
              </a:ln>
              <a:effectLst/>
            </p:spPr>
          </p:pic>
          <p:sp>
            <p:nvSpPr>
              <p:cNvPr id="566" name="B">
                <a:extLst>
                  <a:ext uri="{FF2B5EF4-FFF2-40B4-BE49-F238E27FC236}">
                    <a16:creationId xmlns:a16="http://schemas.microsoft.com/office/drawing/2014/main" id="{2C530BC0-0000-D9F3-951A-10B6F0078A73}"/>
                  </a:ext>
                </a:extLst>
              </p:cNvPr>
              <p:cNvSpPr txBox="1"/>
              <p:nvPr/>
            </p:nvSpPr>
            <p:spPr>
              <a:xfrm>
                <a:off x="0" y="533220"/>
                <a:ext cx="321628" cy="4445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567" name="A">
                <a:extLst>
                  <a:ext uri="{FF2B5EF4-FFF2-40B4-BE49-F238E27FC236}">
                    <a16:creationId xmlns:a16="http://schemas.microsoft.com/office/drawing/2014/main" id="{6A5F9188-DBDC-680F-D248-0D913C11EC5A}"/>
                  </a:ext>
                </a:extLst>
              </p:cNvPr>
              <p:cNvSpPr txBox="1"/>
              <p:nvPr/>
            </p:nvSpPr>
            <p:spPr>
              <a:xfrm>
                <a:off x="0" y="152220"/>
                <a:ext cx="321628" cy="4445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568" name="B">
                <a:extLst>
                  <a:ext uri="{FF2B5EF4-FFF2-40B4-BE49-F238E27FC236}">
                    <a16:creationId xmlns:a16="http://schemas.microsoft.com/office/drawing/2014/main" id="{5CF79428-CA9A-6038-F026-74537C994D29}"/>
                  </a:ext>
                </a:extLst>
              </p:cNvPr>
              <p:cNvSpPr txBox="1"/>
              <p:nvPr/>
            </p:nvSpPr>
            <p:spPr>
              <a:xfrm>
                <a:off x="0" y="1676220"/>
                <a:ext cx="321628" cy="4445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569" name="A">
                <a:extLst>
                  <a:ext uri="{FF2B5EF4-FFF2-40B4-BE49-F238E27FC236}">
                    <a16:creationId xmlns:a16="http://schemas.microsoft.com/office/drawing/2014/main" id="{20D5704C-B37E-CCC8-EFDA-A4DE58D8DCBF}"/>
                  </a:ext>
                </a:extLst>
              </p:cNvPr>
              <p:cNvSpPr txBox="1"/>
              <p:nvPr/>
            </p:nvSpPr>
            <p:spPr>
              <a:xfrm>
                <a:off x="0" y="1295220"/>
                <a:ext cx="321628" cy="4445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574" name="Line">
                <a:extLst>
                  <a:ext uri="{FF2B5EF4-FFF2-40B4-BE49-F238E27FC236}">
                    <a16:creationId xmlns:a16="http://schemas.microsoft.com/office/drawing/2014/main" id="{B6F2C66F-8E2A-97DD-77D2-CD3F22DFE793}"/>
                  </a:ext>
                </a:extLst>
              </p:cNvPr>
              <p:cNvSpPr/>
              <p:nvPr/>
            </p:nvSpPr>
            <p:spPr>
              <a:xfrm>
                <a:off x="3941445" y="3581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577" name="Group">
                <a:extLst>
                  <a:ext uri="{FF2B5EF4-FFF2-40B4-BE49-F238E27FC236}">
                    <a16:creationId xmlns:a16="http://schemas.microsoft.com/office/drawing/2014/main" id="{2BE52C5B-7F2D-7D43-D2EF-110B116AA1D2}"/>
                  </a:ext>
                </a:extLst>
              </p:cNvPr>
              <p:cNvGrpSpPr/>
              <p:nvPr/>
            </p:nvGrpSpPr>
            <p:grpSpPr>
              <a:xfrm>
                <a:off x="2036987" y="0"/>
                <a:ext cx="151858" cy="229722"/>
                <a:chOff x="0" y="0"/>
                <a:chExt cx="151856" cy="229721"/>
              </a:xfrm>
            </p:grpSpPr>
            <p:sp>
              <p:nvSpPr>
                <p:cNvPr id="575" name="Shape">
                  <a:extLst>
                    <a:ext uri="{FF2B5EF4-FFF2-40B4-BE49-F238E27FC236}">
                      <a16:creationId xmlns:a16="http://schemas.microsoft.com/office/drawing/2014/main" id="{187D7CFD-A1E8-8A50-1358-07D9041B5505}"/>
                    </a:ext>
                  </a:extLst>
                </p:cNvPr>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76" name="Shape">
                  <a:extLst>
                    <a:ext uri="{FF2B5EF4-FFF2-40B4-BE49-F238E27FC236}">
                      <a16:creationId xmlns:a16="http://schemas.microsoft.com/office/drawing/2014/main" id="{84D30399-C3E1-D3B1-D7D8-EB82BDB90269}"/>
                    </a:ext>
                  </a:extLst>
                </p:cNvPr>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pic>
            <p:nvPicPr>
              <p:cNvPr id="578" name="pedblue.jpg" descr="pedblue.jpg">
                <a:extLst>
                  <a:ext uri="{FF2B5EF4-FFF2-40B4-BE49-F238E27FC236}">
                    <a16:creationId xmlns:a16="http://schemas.microsoft.com/office/drawing/2014/main" id="{F19EDE7A-8207-DACC-653B-587B0C1AB082}"/>
                  </a:ext>
                </a:extLst>
              </p:cNvPr>
              <p:cNvPicPr>
                <a:picLocks/>
              </p:cNvPicPr>
              <p:nvPr/>
            </p:nvPicPr>
            <p:blipFill>
              <a:blip r:embed="rId2"/>
              <a:stretch>
                <a:fillRect/>
              </a:stretch>
            </p:blipFill>
            <p:spPr>
              <a:xfrm>
                <a:off x="1914207" y="1295220"/>
                <a:ext cx="274639" cy="461963"/>
              </a:xfrm>
              <a:prstGeom prst="rect">
                <a:avLst/>
              </a:prstGeom>
              <a:ln w="12700" cap="flat">
                <a:noFill/>
                <a:miter lim="400000"/>
              </a:ln>
              <a:effectLst/>
            </p:spPr>
          </p:pic>
          <p:pic>
            <p:nvPicPr>
              <p:cNvPr id="579" name="pedred.jpg" descr="pedred.jpg">
                <a:extLst>
                  <a:ext uri="{FF2B5EF4-FFF2-40B4-BE49-F238E27FC236}">
                    <a16:creationId xmlns:a16="http://schemas.microsoft.com/office/drawing/2014/main" id="{8F317DEE-A302-872F-8B19-0712109DBFAF}"/>
                  </a:ext>
                </a:extLst>
              </p:cNvPr>
              <p:cNvPicPr>
                <a:picLocks/>
              </p:cNvPicPr>
              <p:nvPr/>
            </p:nvPicPr>
            <p:blipFill>
              <a:blip r:embed="rId3"/>
              <a:stretch>
                <a:fillRect/>
              </a:stretch>
            </p:blipFill>
            <p:spPr>
              <a:xfrm>
                <a:off x="1807845" y="1752420"/>
                <a:ext cx="265113" cy="446088"/>
              </a:xfrm>
              <a:prstGeom prst="rect">
                <a:avLst/>
              </a:prstGeom>
              <a:ln w="12700" cap="flat">
                <a:noFill/>
                <a:miter lim="400000"/>
              </a:ln>
              <a:effectLst/>
            </p:spPr>
          </p:pic>
          <p:grpSp>
            <p:nvGrpSpPr>
              <p:cNvPr id="583" name="Group">
                <a:extLst>
                  <a:ext uri="{FF2B5EF4-FFF2-40B4-BE49-F238E27FC236}">
                    <a16:creationId xmlns:a16="http://schemas.microsoft.com/office/drawing/2014/main" id="{A3F6A78C-1345-8D42-49BB-6C0482F06BAF}"/>
                  </a:ext>
                </a:extLst>
              </p:cNvPr>
              <p:cNvGrpSpPr/>
              <p:nvPr/>
            </p:nvGrpSpPr>
            <p:grpSpPr>
              <a:xfrm>
                <a:off x="2036987" y="2286000"/>
                <a:ext cx="151858" cy="229722"/>
                <a:chOff x="0" y="0"/>
                <a:chExt cx="151856" cy="229721"/>
              </a:xfrm>
            </p:grpSpPr>
            <p:sp>
              <p:nvSpPr>
                <p:cNvPr id="581" name="Shape">
                  <a:extLst>
                    <a:ext uri="{FF2B5EF4-FFF2-40B4-BE49-F238E27FC236}">
                      <a16:creationId xmlns:a16="http://schemas.microsoft.com/office/drawing/2014/main" id="{85B98B0C-7560-E906-53FC-E71F04FA2290}"/>
                    </a:ext>
                  </a:extLst>
                </p:cNvPr>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82" name="Shape">
                  <a:extLst>
                    <a:ext uri="{FF2B5EF4-FFF2-40B4-BE49-F238E27FC236}">
                      <a16:creationId xmlns:a16="http://schemas.microsoft.com/office/drawing/2014/main" id="{F55CB9C6-66B9-5BF5-8820-1625DAF6270C}"/>
                    </a:ext>
                  </a:extLst>
                </p:cNvPr>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584" name="Line">
                <a:extLst>
                  <a:ext uri="{FF2B5EF4-FFF2-40B4-BE49-F238E27FC236}">
                    <a16:creationId xmlns:a16="http://schemas.microsoft.com/office/drawing/2014/main" id="{F9044391-A569-00AB-F048-C4CC3A6EB89E}"/>
                  </a:ext>
                </a:extLst>
              </p:cNvPr>
              <p:cNvSpPr/>
              <p:nvPr/>
            </p:nvSpPr>
            <p:spPr>
              <a:xfrm>
                <a:off x="2112645" y="3581220"/>
                <a:ext cx="1588" cy="914401"/>
              </a:xfrm>
              <a:prstGeom prst="line">
                <a:avLst/>
              </a:prstGeom>
              <a:noFill/>
              <a:ln w="38100" cap="flat">
                <a:solidFill>
                  <a:srgbClr val="7B1142"/>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90" name="Rectangle">
                <a:extLst>
                  <a:ext uri="{FF2B5EF4-FFF2-40B4-BE49-F238E27FC236}">
                    <a16:creationId xmlns:a16="http://schemas.microsoft.com/office/drawing/2014/main" id="{3C1FCB28-F344-0A8C-8423-AD2038EDFC55}"/>
                  </a:ext>
                </a:extLst>
              </p:cNvPr>
              <p:cNvSpPr/>
              <p:nvPr/>
            </p:nvSpPr>
            <p:spPr>
              <a:xfrm>
                <a:off x="2112645" y="1295220"/>
                <a:ext cx="1841501" cy="914401"/>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91" name="Line">
                <a:extLst>
                  <a:ext uri="{FF2B5EF4-FFF2-40B4-BE49-F238E27FC236}">
                    <a16:creationId xmlns:a16="http://schemas.microsoft.com/office/drawing/2014/main" id="{37B639F5-8EE4-2809-B18E-9792DD864D2F}"/>
                  </a:ext>
                </a:extLst>
              </p:cNvPr>
              <p:cNvSpPr/>
              <p:nvPr/>
            </p:nvSpPr>
            <p:spPr>
              <a:xfrm>
                <a:off x="2112645" y="1295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94" name="Line">
                <a:extLst>
                  <a:ext uri="{FF2B5EF4-FFF2-40B4-BE49-F238E27FC236}">
                    <a16:creationId xmlns:a16="http://schemas.microsoft.com/office/drawing/2014/main" id="{8DDF60D4-3BC1-A1F4-CA61-FD79E9D8F94D}"/>
                  </a:ext>
                </a:extLst>
              </p:cNvPr>
              <p:cNvSpPr/>
              <p:nvPr/>
            </p:nvSpPr>
            <p:spPr>
              <a:xfrm>
                <a:off x="2112645" y="2438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95" name="Line">
                <a:extLst>
                  <a:ext uri="{FF2B5EF4-FFF2-40B4-BE49-F238E27FC236}">
                    <a16:creationId xmlns:a16="http://schemas.microsoft.com/office/drawing/2014/main" id="{1C435B0A-8222-34A8-7C5D-2AFD2394EF29}"/>
                  </a:ext>
                </a:extLst>
              </p:cNvPr>
              <p:cNvSpPr/>
              <p:nvPr/>
            </p:nvSpPr>
            <p:spPr>
              <a:xfrm>
                <a:off x="3941445" y="2438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96" name="Line">
                <a:extLst>
                  <a:ext uri="{FF2B5EF4-FFF2-40B4-BE49-F238E27FC236}">
                    <a16:creationId xmlns:a16="http://schemas.microsoft.com/office/drawing/2014/main" id="{2BE28118-5DD4-C9C1-6574-C9EF81CDE38B}"/>
                  </a:ext>
                </a:extLst>
              </p:cNvPr>
              <p:cNvSpPr/>
              <p:nvPr/>
            </p:nvSpPr>
            <p:spPr>
              <a:xfrm>
                <a:off x="3941445" y="1295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599" name="Group">
                <a:extLst>
                  <a:ext uri="{FF2B5EF4-FFF2-40B4-BE49-F238E27FC236}">
                    <a16:creationId xmlns:a16="http://schemas.microsoft.com/office/drawing/2014/main" id="{FE59EBEF-DAAB-4DB7-D734-8604E3C36A3C}"/>
                  </a:ext>
                </a:extLst>
              </p:cNvPr>
              <p:cNvGrpSpPr/>
              <p:nvPr/>
            </p:nvGrpSpPr>
            <p:grpSpPr>
              <a:xfrm>
                <a:off x="2036987" y="1143000"/>
                <a:ext cx="151858" cy="229722"/>
                <a:chOff x="0" y="0"/>
                <a:chExt cx="151856" cy="229721"/>
              </a:xfrm>
            </p:grpSpPr>
            <p:sp>
              <p:nvSpPr>
                <p:cNvPr id="597" name="Shape">
                  <a:extLst>
                    <a:ext uri="{FF2B5EF4-FFF2-40B4-BE49-F238E27FC236}">
                      <a16:creationId xmlns:a16="http://schemas.microsoft.com/office/drawing/2014/main" id="{432F0B8A-17BB-BA98-CE84-6DC0E38916D0}"/>
                    </a:ext>
                  </a:extLst>
                </p:cNvPr>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98" name="Shape">
                  <a:extLst>
                    <a:ext uri="{FF2B5EF4-FFF2-40B4-BE49-F238E27FC236}">
                      <a16:creationId xmlns:a16="http://schemas.microsoft.com/office/drawing/2014/main" id="{975A2BE5-983A-0C56-98C3-08DB9DC5437A}"/>
                    </a:ext>
                  </a:extLst>
                </p:cNvPr>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602" name="Shape">
                <a:extLst>
                  <a:ext uri="{FF2B5EF4-FFF2-40B4-BE49-F238E27FC236}">
                    <a16:creationId xmlns:a16="http://schemas.microsoft.com/office/drawing/2014/main" id="{6ED22D25-6732-402C-429E-987C923D4B64}"/>
                  </a:ext>
                </a:extLst>
              </p:cNvPr>
              <p:cNvSpPr/>
              <p:nvPr/>
            </p:nvSpPr>
            <p:spPr>
              <a:xfrm>
                <a:off x="2083576" y="2386858"/>
                <a:ext cx="56058" cy="101972"/>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spTree>
    <p:extLst>
      <p:ext uri="{BB962C8B-B14F-4D97-AF65-F5344CB8AC3E}">
        <p14:creationId xmlns:p14="http://schemas.microsoft.com/office/powerpoint/2010/main" val="1243145295"/>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 grpId="0" animBg="1" advAuto="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 name="Mutual Exclusion"/>
          <p:cNvSpPr txBox="1">
            <a:spLocks noGrp="1"/>
          </p:cNvSpPr>
          <p:nvPr>
            <p:ph type="title"/>
          </p:nvPr>
        </p:nvSpPr>
        <p:spPr>
          <a:prstGeom prst="rect">
            <a:avLst/>
          </a:prstGeom>
        </p:spPr>
        <p:txBody>
          <a:bodyPr/>
          <a:lstStyle/>
          <a:p>
            <a:r>
              <a:t>Mutual Exclusion</a:t>
            </a:r>
          </a:p>
        </p:txBody>
      </p:sp>
      <p:sp>
        <p:nvSpPr>
          <p:cNvPr id="662" name="Slide Number"/>
          <p:cNvSpPr txBox="1">
            <a:spLocks noGrp="1"/>
          </p:cNvSpPr>
          <p:nvPr>
            <p:ph type="sldNum" sz="quarter" idx="2"/>
          </p:nvPr>
        </p:nvSpPr>
        <p:spPr>
          <a:xfrm>
            <a:off x="7737016" y="6381750"/>
            <a:ext cx="312068" cy="3048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33</a:t>
            </a:fld>
            <a:endParaRPr/>
          </a:p>
        </p:txBody>
      </p:sp>
      <p:sp>
        <p:nvSpPr>
          <p:cNvPr id="663" name="Implementation 3 — “indivisible” lock variable  "/>
          <p:cNvSpPr txBox="1"/>
          <p:nvPr/>
        </p:nvSpPr>
        <p:spPr>
          <a:xfrm>
            <a:off x="457200" y="1143000"/>
            <a:ext cx="8242300" cy="508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3</a:t>
            </a:r>
            <a:r>
              <a:rPr sz="2800" u="sng">
                <a:latin typeface="Arial Narrow"/>
                <a:ea typeface="Arial Narrow"/>
                <a:cs typeface="Arial Narrow"/>
                <a:sym typeface="Arial Narrow"/>
              </a:rPr>
              <a:t> — “indivisible” lock variable  </a:t>
            </a:r>
            <a:r>
              <a:rPr sz="2800" u="sng">
                <a:latin typeface="Wingdings"/>
                <a:ea typeface="Wingdings"/>
                <a:cs typeface="Wingdings"/>
                <a:sym typeface="Wingdings"/>
              </a:rPr>
              <a:t></a:t>
            </a:r>
          </a:p>
        </p:txBody>
      </p:sp>
    </p:spTree>
  </p:cSld>
  <p:clrMapOvr>
    <a:masterClrMapping/>
  </p:clrMapOvr>
  <p:transition spd="med"/>
</p:sld>
</file>

<file path=ppt/theme/theme1.xml><?xml version="1.0" encoding="utf-8"?>
<a:theme xmlns:a="http://schemas.openxmlformats.org/drawingml/2006/main" name="White">
  <a:themeElements>
    <a:clrScheme name="White">
      <a:dk1>
        <a:srgbClr val="727272"/>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Trebuchet MS"/>
        <a:ea typeface="Trebuchet MS"/>
        <a:cs typeface="Trebuchet MS"/>
      </a:majorFont>
      <a:minorFont>
        <a:latin typeface="Trebuchet MS"/>
        <a:ea typeface="Trebuchet MS"/>
        <a:cs typeface="Trebuchet M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101600" dir="2700000" rotWithShape="0">
              <a:srgbClr val="929292"/>
            </a:outerShdw>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rgbClr val="3DA779"/>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a:spPr>
      <a:bodyPr rot="0" spcFirstLastPara="1" vertOverflow="overflow" horzOverflow="overflow" vert="horz" wrap="square" lIns="50800" tIns="50800" rIns="50800" bIns="50800" numCol="1" spcCol="38100" rtlCol="0" anchor="ctr">
        <a:spAutoFit/>
      </a:bodyPr>
      <a:lstStyle>
        <a:defPPr marL="40639" marR="40639"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000000"/>
          </a:solidFill>
          <a:prstDash val="solid"/>
          <a:round/>
        </a:ln>
        <a:effectLst>
          <a:outerShdw blurRad="63500" dist="101600" dir="2700000" rotWithShape="0">
            <a:srgbClr val="929292"/>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40639" marR="40639"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Trebuchet MS"/>
        <a:ea typeface="Trebuchet MS"/>
        <a:cs typeface="Trebuchet MS"/>
      </a:majorFont>
      <a:minorFont>
        <a:latin typeface="Trebuchet MS"/>
        <a:ea typeface="Trebuchet MS"/>
        <a:cs typeface="Trebuchet M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101600" dir="2700000" rotWithShape="0">
              <a:srgbClr val="929292"/>
            </a:outerShdw>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rgbClr val="3DA779"/>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a:spPr>
      <a:bodyPr rot="0" spcFirstLastPara="1" vertOverflow="overflow" horzOverflow="overflow" vert="horz" wrap="square" lIns="50800" tIns="50800" rIns="50800" bIns="50800" numCol="1" spcCol="38100" rtlCol="0" anchor="ctr">
        <a:spAutoFit/>
      </a:bodyPr>
      <a:lstStyle>
        <a:defPPr marL="40639" marR="40639"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000000"/>
          </a:solidFill>
          <a:prstDash val="solid"/>
          <a:round/>
        </a:ln>
        <a:effectLst>
          <a:outerShdw blurRad="63500" dist="101600" dir="2700000" rotWithShape="0">
            <a:srgbClr val="929292"/>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40639" marR="40639"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3137</TotalTime>
  <Words>2258</Words>
  <Application>Microsoft Macintosh PowerPoint</Application>
  <PresentationFormat>On-screen Show (4:3)</PresentationFormat>
  <Paragraphs>512</Paragraphs>
  <Slides>33</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33</vt:i4>
      </vt:variant>
    </vt:vector>
  </HeadingPairs>
  <TitlesOfParts>
    <vt:vector size="44" baseType="lpstr">
      <vt:lpstr>Arial</vt:lpstr>
      <vt:lpstr>Arial Narrow</vt:lpstr>
      <vt:lpstr>Copperplate Gothic Light</vt:lpstr>
      <vt:lpstr>Courier New</vt:lpstr>
      <vt:lpstr>Helvetica</vt:lpstr>
      <vt:lpstr>Lucida Grande</vt:lpstr>
      <vt:lpstr>Monotype Sorts</vt:lpstr>
      <vt:lpstr>Trebuchet MS</vt:lpstr>
      <vt:lpstr>Wingdings</vt:lpstr>
      <vt:lpstr>Zapf Dingbats</vt:lpstr>
      <vt:lpstr>White</vt:lpstr>
      <vt:lpstr>CSE 521 - Operating Systems Fall 2022</vt:lpstr>
      <vt:lpstr>Roadmap</vt:lpstr>
      <vt:lpstr>Background</vt:lpstr>
      <vt:lpstr>Issues with Concurrent execution</vt:lpstr>
      <vt:lpstr>Producer: </vt:lpstr>
      <vt:lpstr>PowerPoint Presentation</vt:lpstr>
      <vt:lpstr>Race Condition</vt:lpstr>
      <vt:lpstr>Race Condition</vt:lpstr>
      <vt:lpstr>Race Condition</vt:lpstr>
      <vt:lpstr>Race Condition</vt:lpstr>
      <vt:lpstr>Race Condition</vt:lpstr>
      <vt:lpstr>Race Condition</vt:lpstr>
      <vt:lpstr>Race Condition</vt:lpstr>
      <vt:lpstr>Race Condition</vt:lpstr>
      <vt:lpstr>Critical Section/Region</vt:lpstr>
      <vt:lpstr>Critical Section</vt:lpstr>
      <vt:lpstr>Solution to Critical-Section Problem</vt:lpstr>
      <vt:lpstr>Solution to Critical-Section Problem</vt:lpstr>
      <vt:lpstr>Solution to Critical-Section Problem</vt:lpstr>
      <vt:lpstr>Mutual Exclusion</vt:lpstr>
      <vt:lpstr>Mutual Exclusion</vt:lpstr>
      <vt:lpstr>Mutual Exclusion</vt:lpstr>
      <vt:lpstr>Mutual Exclusion</vt:lpstr>
      <vt:lpstr>Mutual Exclusion</vt:lpstr>
      <vt:lpstr>Mutual Exclusion</vt:lpstr>
      <vt:lpstr>Mutual Exclusion</vt:lpstr>
      <vt:lpstr>Mutual Exclusion</vt:lpstr>
      <vt:lpstr>Mutual Exclusion</vt:lpstr>
      <vt:lpstr>Mutual Exclusion</vt:lpstr>
      <vt:lpstr>Mutual Exclusion</vt:lpstr>
      <vt:lpstr>Mutual Exclusion</vt:lpstr>
      <vt:lpstr>Mutual Exclusion</vt:lpstr>
      <vt:lpstr>Mutual Exclusion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Nine, MD S Zulkar</cp:lastModifiedBy>
  <cp:revision>14</cp:revision>
  <dcterms:modified xsi:type="dcterms:W3CDTF">2026-03-03T19:08:04Z</dcterms:modified>
</cp:coreProperties>
</file>