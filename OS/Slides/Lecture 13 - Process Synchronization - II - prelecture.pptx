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8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2708684C-4D16-4618-839F-0558EEFCDFE6}" styleName="">
    <a:tblBg/>
    <a:wholeTbl>
      <a:tcTxStyle>
        <a:srgbClr val="000000"/>
      </a:tcTxStyle>
      <a:tcStyle>
        <a:tcBdr>
          <a:left>
            <a:ln w="12700" cap="flat">
              <a:solidFill>
                <a:srgbClr val="000000"/>
              </a:solidFill>
              <a:miter lim="400000"/>
            </a:ln>
          </a:left>
          <a:right>
            <a:ln w="12700" cap="flat">
              <a:solidFill>
                <a:srgbClr val="000000"/>
              </a:solidFill>
              <a:miter lim="400000"/>
            </a:ln>
          </a:right>
          <a:top>
            <a:ln w="12700" cap="flat">
              <a:solidFill>
                <a:srgbClr val="000000"/>
              </a:solidFill>
              <a:miter lim="400000"/>
            </a:ln>
          </a:top>
          <a:bottom>
            <a:ln w="12700" cap="flat">
              <a:solidFill>
                <a:srgbClr val="000000"/>
              </a:solidFill>
              <a:miter lim="400000"/>
            </a:ln>
          </a:bottom>
          <a:insideH>
            <a:ln w="12700" cap="flat">
              <a:solidFill>
                <a:srgbClr val="000000"/>
              </a:solidFill>
              <a:miter lim="400000"/>
            </a:ln>
          </a:insideH>
          <a:insideV>
            <a:ln w="12700" cap="flat">
              <a:solidFill>
                <a:srgbClr val="000000"/>
              </a:solidFill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miter lim="400000"/>
            </a:ln>
          </a:top>
          <a:bottom>
            <a:ln w="12700" cap="flat">
              <a:solidFill>
                <a:srgbClr val="000000"/>
              </a:solidFill>
              <a:miter lim="400000"/>
            </a:ln>
          </a:bottom>
          <a:insideH>
            <a:ln w="12700" cap="flat">
              <a:solidFill>
                <a:srgbClr val="000000"/>
              </a:solidFill>
              <a:miter lim="400000"/>
            </a:ln>
          </a:insideH>
          <a:insideV>
            <a:ln w="12700" cap="flat">
              <a:solidFill>
                <a:srgbClr val="000000"/>
              </a:solidFill>
              <a:miter lim="400000"/>
            </a:ln>
          </a:insideV>
        </a:tcBdr>
        <a:fill>
          <a:noFill/>
        </a:fill>
      </a:tcStyle>
    </a:firstCol>
    <a:lastRow>
      <a:tcTxStyle b="on">
        <a:srgbClr val="000000"/>
      </a:tcTxStyle>
      <a:tcStyle>
        <a:tcBdr>
          <a:left>
            <a:ln w="12700" cap="flat">
              <a:solidFill>
                <a:srgbClr val="000000"/>
              </a:solidFill>
              <a:miter lim="400000"/>
            </a:ln>
          </a:left>
          <a:right>
            <a:ln w="12700" cap="flat">
              <a:solidFill>
                <a:srgbClr val="000000"/>
              </a:solidFill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miter lim="400000"/>
            </a:ln>
          </a:insideH>
          <a:insideV>
            <a:ln w="12700" cap="flat">
              <a:solidFill>
                <a:srgbClr val="000000"/>
              </a:solidFill>
              <a:miter lim="400000"/>
            </a:ln>
          </a:insideV>
        </a:tcBdr>
        <a:fill>
          <a:noFill/>
        </a:fill>
      </a:tcStyle>
    </a:lastRow>
    <a:firstRow>
      <a:tcTxStyle b="on">
        <a:srgbClr val="000000"/>
      </a:tcTxStyle>
      <a:tcStyle>
        <a:tcBdr>
          <a:left>
            <a:ln w="12700" cap="flat">
              <a:solidFill>
                <a:srgbClr val="000000"/>
              </a:solidFill>
              <a:miter lim="400000"/>
            </a:ln>
          </a:left>
          <a:right>
            <a:ln w="12700" cap="flat">
              <a:solidFill>
                <a:srgbClr val="000000"/>
              </a:solidFill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miter lim="400000"/>
            </a:ln>
          </a:insideH>
          <a:insideV>
            <a:ln w="12700" cap="flat">
              <a:solidFill>
                <a:srgbClr val="000000"/>
              </a:solidFill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4C3C2611-4C71-4FC5-86AE-919BDF0F9419}" styleName="">
    <a:tblBg/>
    <a:wholeTbl>
      <a:tcTxStyle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F44A2F1-9E1F-4B54-A3A2-5F16C0AD49E2}" styleName="">
    <a:tblBg/>
    <a:wholeTbl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i="off" b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CF821DB8-F4EB-4A41-A1BA-3FCAFE7338EE}" styleName="">
    <a:tblBg/>
    <a:wholeTbl>
      <a:tcTxStyle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D51ADE6A-740E-44AE-83CC-AE7238B6C88D}" styleName="">
    <a:tblBg/>
    <a:wholeTbl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i="off" b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i="off" b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>
        <a:srgbClr val="000000"/>
      </a:tcTxStyle>
      <a:tcStyle>
        <a:tcBdr>
          <a:left>
            <a:ln w="12700" cap="flat">
              <a:solidFill>
                <a:srgbClr val="5D5D5D"/>
              </a:solidFill>
              <a:miter lim="400000"/>
            </a:ln>
          </a:left>
          <a:right>
            <a:ln w="12700" cap="flat">
              <a:solidFill>
                <a:srgbClr val="5D5D5D"/>
              </a:solidFill>
              <a:miter lim="400000"/>
            </a:ln>
          </a:right>
          <a:top>
            <a:ln w="12700" cap="flat">
              <a:solidFill>
                <a:srgbClr val="5D5D5D"/>
              </a:solidFill>
              <a:miter lim="400000"/>
            </a:ln>
          </a:top>
          <a:bottom>
            <a:ln w="12700" cap="flat">
              <a:solidFill>
                <a:srgbClr val="5D5D5D"/>
              </a:solidFill>
              <a:miter lim="400000"/>
            </a:ln>
          </a:bottom>
          <a:insideH>
            <a:ln w="12700" cap="flat">
              <a:solidFill>
                <a:srgbClr val="5D5D5D"/>
              </a:solidFill>
              <a:miter lim="400000"/>
            </a:ln>
          </a:insideH>
          <a:insideV>
            <a:ln w="12700" cap="flat">
              <a:solidFill>
                <a:srgbClr val="5D5D5D"/>
              </a:solidFill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20"/>
    <p:restoredTop sz="88390"/>
  </p:normalViewPr>
  <p:slideViewPr>
    <p:cSldViewPr snapToGrid="0">
      <p:cViewPr varScale="1">
        <p:scale>
          <a:sx n="116" d="100"/>
          <a:sy n="116" d="100"/>
        </p:scale>
        <p:origin x="1440" y="19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ChangeAspect="1" noGrp="1" noRo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50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6477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51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85887" y="4432300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600" dirty="0"/>
              <a:t>Created by Dr. </a:t>
            </a:r>
            <a:r>
              <a:rPr sz="1600" dirty="0"/>
              <a:t>Tevfik Koşar</a:t>
            </a:r>
            <a:endParaRPr lang="en-US" sz="1600" dirty="0"/>
          </a:p>
          <a:p>
            <a:r>
              <a:rPr lang="en-US" sz="3600" dirty="0"/>
              <a:t>Presented by Dr. Nine</a:t>
            </a:r>
            <a:endParaRPr sz="3600" dirty="0"/>
          </a:p>
        </p:txBody>
      </p:sp>
      <p:sp>
        <p:nvSpPr>
          <p:cNvPr id="52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40639" marR="40639" defTabSz="914400"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3" name="University at Buffalo…"/>
          <p:cNvSpPr txBox="1"/>
          <p:nvPr/>
        </p:nvSpPr>
        <p:spPr>
          <a:xfrm>
            <a:off x="1379537" y="5789612"/>
            <a:ext cx="6400801" cy="41036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marL="40639" marR="40639" algn="ctr" defTabSz="914400">
              <a:spcBef>
                <a:spcPts val="500"/>
              </a:spcBef>
              <a:buClr>
                <a:srgbClr val="00A8AA"/>
              </a:buClr>
              <a:buFont typeface="Trebuchet MS"/>
              <a:defRPr sz="240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 dirty="0">
              <a:solidFill>
                <a:srgbClr val="00A8AA"/>
              </a:solidFill>
              <a:uFill>
                <a:solidFill>
                  <a:srgbClr val="00A8AA"/>
                </a:solidFill>
              </a:uFill>
              <a:latin typeface="+mn-lt"/>
              <a:ea typeface="+mn-ea"/>
              <a:cs typeface="+mn-cs"/>
              <a:sym typeface="Trebuchet MS"/>
            </a:endParaRPr>
          </a:p>
        </p:txBody>
      </p:sp>
      <p:sp>
        <p:nvSpPr>
          <p:cNvPr id="54" name="Lecture - IX Process Synchronization - II"/>
          <p:cNvSpPr txBox="1"/>
          <p:nvPr/>
        </p:nvSpPr>
        <p:spPr>
          <a:xfrm>
            <a:off x="760412" y="2123877"/>
            <a:ext cx="7772401" cy="102592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L="40639" marR="40639" algn="ctr" defTabSz="914400">
              <a:buClr>
                <a:srgbClr val="4180FF"/>
              </a:buClr>
              <a:buFont typeface="Copperplate Gothic Light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13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36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Process Synchronization - II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57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58" name="Recap: Solutions for Mutual Exclu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Recap: Solutions for Mutual Exclusion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Semaphores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Classic Problems of Synchronization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Bounded Buffer Problem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Readers and Writers Problem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Dining-Philosophers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Monitors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Conditional Variables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Sleeping Barber Problem</a:t>
            </a:r>
          </a:p>
        </p:txBody>
      </p:sp>
      <p:pic>
        <p:nvPicPr>
          <p:cNvPr id="59" name="roadmap.jpg" descr="roadmap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12" name="Synchronization Hardwa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Synchronization Hardware</a:t>
            </a:r>
          </a:p>
        </p:txBody>
      </p:sp>
      <p:sp>
        <p:nvSpPr>
          <p:cNvPr id="413" name="Many systems provide hardware support for critical section cod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08863" cy="5257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Many systems provide hardware support for critical section code</a:t>
            </a:r>
          </a:p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Uniprocessors – could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disable interrupts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Currently running code would execute without preemption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Generally too inefficient on multiprocessor systems</a:t>
            </a:r>
          </a:p>
          <a:p>
            <a:pPr marL="1126489" lvl="2">
              <a:lnSpc>
                <a:spcPct val="90000"/>
              </a:lnSpc>
              <a:buClr>
                <a:srgbClr val="727272"/>
              </a:buClr>
              <a:buFont typeface="Trebuchet MS"/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Operating systems using this not broadly scalable</a:t>
            </a:r>
          </a:p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Modern machines provide special atomic hardware instructions</a:t>
            </a:r>
          </a:p>
          <a:p>
            <a:pPr marL="1126489" lvl="2">
              <a:lnSpc>
                <a:spcPct val="90000"/>
              </a:lnSpc>
              <a:buClr>
                <a:srgbClr val="4180FF"/>
              </a:buClr>
              <a:buFont typeface="Trebuchet MS"/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defRPr>
            </a:pPr>
            <a:r>
              <a:t>Atomic = non-interruptable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Either test memory word and set value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Or swap contents of two memory words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416" name="Semaphore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Semaphores</a:t>
            </a:r>
          </a:p>
        </p:txBody>
      </p:sp>
      <p:sp>
        <p:nvSpPr>
          <p:cNvPr id="417" name="Synchronization tool for critical section problem…"/>
          <p:cNvSpPr txBox="1">
            <a:spLocks noGrp="1"/>
          </p:cNvSpPr>
          <p:nvPr>
            <p:ph type="body" idx="1"/>
          </p:nvPr>
        </p:nvSpPr>
        <p:spPr>
          <a:xfrm>
            <a:off x="827087" y="1279525"/>
            <a:ext cx="7921626" cy="5254625"/>
          </a:xfrm>
          <a:prstGeom prst="rect">
            <a:avLst/>
          </a:prstGeom>
        </p:spPr>
        <p:txBody>
          <a:bodyPr/>
          <a:lstStyle/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Synchronization tool for critical section problem</a:t>
            </a:r>
          </a:p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– integer variable</a:t>
            </a:r>
          </a:p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Can only be accessed through two standard operations: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wait()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and</a:t>
            </a:r>
            <a:r>
              <a:rPr dirty="0"/>
              <a:t>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signal() 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(or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P()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and</a:t>
            </a:r>
            <a:r>
              <a:rPr i="1" dirty="0"/>
              <a:t>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V()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(in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dutch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: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Proberen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/test  ;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Verhogen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/increase)</a:t>
            </a:r>
            <a:endParaRPr dirty="0">
              <a:solidFill>
                <a:srgbClr val="0433FF"/>
              </a:solidFill>
              <a:uFill>
                <a:solidFill>
                  <a:srgbClr val="0433FF"/>
                </a:solidFill>
              </a:uFill>
            </a:endParaRPr>
          </a:p>
          <a:p>
            <a:pPr lvl="3">
              <a:lnSpc>
                <a:spcPct val="80000"/>
              </a:lnSpc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>
              <a:solidFill>
                <a:srgbClr val="0433FF"/>
              </a:solidFill>
              <a:uFill>
                <a:solidFill>
                  <a:srgbClr val="0433FF"/>
                </a:solidFill>
              </a:uFill>
            </a:endParaRPr>
          </a:p>
          <a:p>
            <a:pPr>
              <a:lnSpc>
                <a:spcPct val="80000"/>
              </a:lnSpc>
              <a:buClr>
                <a:srgbClr val="000000"/>
              </a:buClr>
              <a:defRPr sz="2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Classical implementation (using busy-waiting)</a:t>
            </a:r>
          </a:p>
          <a:p>
            <a:pPr lvl="2">
              <a:lnSpc>
                <a:spcPct val="80000"/>
              </a:lnSpc>
              <a:buClr>
                <a:srgbClr val="0433FF"/>
              </a:buClr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wait (S) { 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while S &lt;= 0</a:t>
            </a:r>
          </a:p>
          <a:p>
            <a:pPr marL="783590" lvl="6" indent="1583689">
              <a:lnSpc>
                <a:spcPct val="80000"/>
              </a:lnSpc>
              <a:spcBef>
                <a:spcPts val="300"/>
              </a:spcBef>
              <a:buSzTx/>
              <a:buNone/>
              <a:defRPr sz="16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; // no-op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S--;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}</a:t>
            </a:r>
          </a:p>
          <a:p>
            <a:pPr marL="1681479" lvl="2">
              <a:lnSpc>
                <a:spcPct val="80000"/>
              </a:lnSpc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 lvl="2">
              <a:lnSpc>
                <a:spcPct val="80000"/>
              </a:lnSpc>
              <a:buClr>
                <a:srgbClr val="0433FF"/>
              </a:buClr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signal (S) { 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S++;</a:t>
            </a:r>
          </a:p>
          <a:p>
            <a:pPr lvl="1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420" name="Semaphores without Busy-Waiting"/>
          <p:cNvSpPr txBox="1">
            <a:spLocks noGrp="1"/>
          </p:cNvSpPr>
          <p:nvPr>
            <p:ph type="title"/>
          </p:nvPr>
        </p:nvSpPr>
        <p:spPr>
          <a:xfrm>
            <a:off x="609600" y="279400"/>
            <a:ext cx="8534400" cy="1076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Semaphores without Busy-Waiting</a:t>
            </a:r>
          </a:p>
        </p:txBody>
      </p:sp>
      <p:sp>
        <p:nvSpPr>
          <p:cNvPr id="421" name="wait (S){…"/>
          <p:cNvSpPr txBox="1">
            <a:spLocks noGrp="1"/>
          </p:cNvSpPr>
          <p:nvPr>
            <p:ph type="body" idx="1"/>
          </p:nvPr>
        </p:nvSpPr>
        <p:spPr>
          <a:xfrm>
            <a:off x="457200" y="1184275"/>
            <a:ext cx="8229600" cy="5610225"/>
          </a:xfrm>
          <a:prstGeom prst="rect">
            <a:avLst/>
          </a:prstGeom>
        </p:spPr>
        <p:txBody>
          <a:bodyPr/>
          <a:lstStyle/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 </a:t>
            </a:r>
            <a:r>
              <a:rPr dirty="0"/>
              <a:t>wait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i="0" dirty="0"/>
              <a:t>	                   </a:t>
            </a:r>
            <a:r>
              <a:rPr i="0" dirty="0" err="1">
                <a:solidFill>
                  <a:srgbClr val="000000"/>
                </a:solidFill>
              </a:rPr>
              <a:t>S.value</a:t>
            </a:r>
            <a:r>
              <a:rPr i="0" dirty="0">
                <a:solidFill>
                  <a:srgbClr val="000000"/>
                </a:solidFill>
              </a:rPr>
              <a:t>--;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if (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i="1" dirty="0">
                <a:solidFill>
                  <a:srgbClr val="000000"/>
                </a:solidFill>
              </a:rPr>
              <a:t>&lt; </a:t>
            </a:r>
            <a:r>
              <a:rPr dirty="0">
                <a:solidFill>
                  <a:srgbClr val="000000"/>
                </a:solidFill>
              </a:rPr>
              <a:t>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add this process to waiting queue;</a:t>
            </a:r>
          </a:p>
          <a:p>
            <a:pPr marL="342900" lvl="7" indent="1526539">
              <a:spcBef>
                <a:spcPts val="300"/>
              </a:spcBef>
              <a:buSzTx/>
              <a:buNone/>
              <a:defRPr sz="1600" i="1">
                <a:solidFill>
                  <a:srgbClr val="0433FF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rPr sz="2400" dirty="0">
                <a:solidFill>
                  <a:srgbClr val="000000"/>
                </a:solidFill>
              </a:rPr>
              <a:t> block();</a:t>
            </a:r>
            <a:endParaRPr dirty="0">
              <a:solidFill>
                <a:srgbClr val="000000"/>
              </a:solidFill>
            </a:endParaRP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/>
              <a:t>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endParaRPr dirty="0"/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433FF"/>
                </a:solidFill>
              </a:rPr>
              <a:t>Signal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++;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if (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i="1" dirty="0">
                <a:solidFill>
                  <a:srgbClr val="000000"/>
                </a:solidFill>
              </a:rPr>
              <a:t>&lt;</a:t>
            </a:r>
            <a:r>
              <a:rPr dirty="0">
                <a:solidFill>
                  <a:srgbClr val="000000"/>
                </a:solidFill>
              </a:rPr>
              <a:t>= 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 remove a process P from the waiting queue;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 wakeup(P); 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                   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/>
              <a:t> 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424" name="Semaphores as Synchronization Tool"/>
          <p:cNvSpPr txBox="1">
            <a:spLocks noGrp="1"/>
          </p:cNvSpPr>
          <p:nvPr>
            <p:ph type="title"/>
          </p:nvPr>
        </p:nvSpPr>
        <p:spPr>
          <a:xfrm>
            <a:off x="609600" y="279400"/>
            <a:ext cx="8534400" cy="1076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Semaphores as Synchronization Tool</a:t>
            </a:r>
          </a:p>
        </p:txBody>
      </p:sp>
      <p:sp>
        <p:nvSpPr>
          <p:cNvPr id="425" name="Counting semaphore – integer value can range over an unrestricted domain…"/>
          <p:cNvSpPr txBox="1">
            <a:spLocks noGrp="1"/>
          </p:cNvSpPr>
          <p:nvPr>
            <p:ph type="body" idx="1"/>
          </p:nvPr>
        </p:nvSpPr>
        <p:spPr>
          <a:xfrm>
            <a:off x="457200" y="1527175"/>
            <a:ext cx="8229600" cy="561022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4180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Counting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 – integer value can range over an unrestricted domain</a:t>
            </a:r>
          </a:p>
          <a:p>
            <a:pPr>
              <a:buClr>
                <a:srgbClr val="4180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Binary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semaphore – integer value can range only between 0 and 1; can be simpler to implement</a:t>
            </a:r>
          </a:p>
          <a:p>
            <a:pPr lvl="1"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Also known as</a:t>
            </a:r>
            <a:r>
              <a:t> </a:t>
            </a: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mutex locks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</a:pPr>
            <a:endParaRPr>
              <a:solidFill>
                <a:srgbClr val="4180FF"/>
              </a:solidFill>
              <a:uFill>
                <a:solidFill>
                  <a:srgbClr val="4180FF"/>
                </a:solidFill>
              </a:uFill>
            </a:endParaRPr>
          </a:p>
          <a:p>
            <a:pPr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Provides mutual exclusion</a:t>
            </a:r>
          </a:p>
          <a:p>
            <a:pPr lvl="1">
              <a:buClr>
                <a:srgbClr val="0433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Semaphore S;    //  initialized to 1</a:t>
            </a:r>
          </a:p>
          <a:p>
            <a:pPr lvl="1">
              <a:buClr>
                <a:srgbClr val="0433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wait (S);</a:t>
            </a:r>
          </a:p>
          <a:p>
            <a:pPr lvl="1">
              <a:buClr>
                <a:srgbClr val="0433FF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Critical Section</a:t>
            </a:r>
          </a:p>
          <a:p>
            <a:pPr lvl="1">
              <a:buClr>
                <a:srgbClr val="0433FF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signal (S);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F59F-D56A-925A-2564-1E8FF08A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Semaphore usage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A0892-3F12-19CF-EC14-ED20C6413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a single shared counter using multiple threads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8883C9-976F-0958-6C55-61D28CBBAEC3}"/>
              </a:ext>
            </a:extLst>
          </p:cNvPr>
          <p:cNvSpPr/>
          <p:nvPr/>
        </p:nvSpPr>
        <p:spPr>
          <a:xfrm>
            <a:off x="3687745" y="2553310"/>
            <a:ext cx="1517301" cy="41997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727272"/>
                </a:solidFill>
                <a:effectLst/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Count  =  0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CB49B-2410-ACD7-613D-9B29213E86AB}"/>
              </a:ext>
            </a:extLst>
          </p:cNvPr>
          <p:cNvSpPr/>
          <p:nvPr/>
        </p:nvSpPr>
        <p:spPr>
          <a:xfrm>
            <a:off x="1107832" y="3736596"/>
            <a:ext cx="703384" cy="379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T1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C7BE5-6706-0591-9859-F8CD5A62FDFE}"/>
              </a:ext>
            </a:extLst>
          </p:cNvPr>
          <p:cNvSpPr/>
          <p:nvPr/>
        </p:nvSpPr>
        <p:spPr>
          <a:xfrm>
            <a:off x="4220308" y="3736595"/>
            <a:ext cx="703384" cy="379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T2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19DA6-1522-B743-53C5-6A3F9713C87C}"/>
              </a:ext>
            </a:extLst>
          </p:cNvPr>
          <p:cNvSpPr/>
          <p:nvPr/>
        </p:nvSpPr>
        <p:spPr>
          <a:xfrm>
            <a:off x="7332784" y="3745253"/>
            <a:ext cx="703384" cy="379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T3</a:t>
            </a:r>
          </a:p>
        </p:txBody>
      </p:sp>
    </p:spTree>
    <p:extLst>
      <p:ext uri="{BB962C8B-B14F-4D97-AF65-F5344CB8AC3E}">
        <p14:creationId xmlns:p14="http://schemas.microsoft.com/office/powerpoint/2010/main" val="3118949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B77F-8EEF-62A6-FCF3-B5896307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Semaphore: Ordering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122AA-914F-39BA-2C0B-66AB39B7C47E}"/>
              </a:ext>
            </a:extLst>
          </p:cNvPr>
          <p:cNvSpPr/>
          <p:nvPr/>
        </p:nvSpPr>
        <p:spPr>
          <a:xfrm>
            <a:off x="999781" y="3425114"/>
            <a:ext cx="738130" cy="379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800" dirty="0">
                <a:solidFill>
                  <a:schemeClr val="tx1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A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>
                <a:solidFill>
                  <a:srgbClr val="727272"/>
                </a:solidFill>
              </a:u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B7B82-A642-3550-CE82-1E39435BAED8}"/>
              </a:ext>
            </a:extLst>
          </p:cNvPr>
          <p:cNvSpPr/>
          <p:nvPr/>
        </p:nvSpPr>
        <p:spPr>
          <a:xfrm>
            <a:off x="5235767" y="3425113"/>
            <a:ext cx="738130" cy="379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800" dirty="0">
                <a:solidFill>
                  <a:schemeClr val="tx1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rPr>
              <a:t>B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>
                <a:solidFill>
                  <a:srgbClr val="727272"/>
                </a:solidFill>
              </a:u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66F2D61-F603-FC17-919A-6F73BE6D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974116" cy="5257800"/>
          </a:xfrm>
        </p:spPr>
        <p:txBody>
          <a:bodyPr/>
          <a:lstStyle/>
          <a:p>
            <a:r>
              <a:rPr lang="en-US" dirty="0"/>
              <a:t>Consider Two threads – A and B</a:t>
            </a:r>
          </a:p>
          <a:p>
            <a:r>
              <a:rPr lang="en-US" dirty="0"/>
              <a:t>OS can run either A and B first</a:t>
            </a:r>
          </a:p>
          <a:p>
            <a:r>
              <a:rPr lang="en-US" dirty="0"/>
              <a:t>Make sure that A runs first!</a:t>
            </a:r>
          </a:p>
        </p:txBody>
      </p:sp>
    </p:spTree>
    <p:extLst>
      <p:ext uri="{BB962C8B-B14F-4D97-AF65-F5344CB8AC3E}">
        <p14:creationId xmlns:p14="http://schemas.microsoft.com/office/powerpoint/2010/main" val="3212388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5A06-8029-0922-0B09-0BBE5C90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Parking Lot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DA262-1BCF-6B5C-D6A2-7C76FDA99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13302"/>
            <a:ext cx="8229600" cy="5544698"/>
          </a:xfrm>
        </p:spPr>
        <p:txBody>
          <a:bodyPr/>
          <a:lstStyle/>
          <a:p>
            <a:r>
              <a:rPr lang="en-US" dirty="0"/>
              <a:t>OS can run either A and B</a:t>
            </a:r>
          </a:p>
        </p:txBody>
      </p:sp>
      <p:pic>
        <p:nvPicPr>
          <p:cNvPr id="5" name="Picture 4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A4351ABB-E245-BD67-AFB1-17116A9B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30" y="3108326"/>
            <a:ext cx="1336746" cy="63438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7237C4-46F3-09FC-6EDE-9265D7F41C67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7245492" y="1068636"/>
          <a:ext cx="1539821" cy="51104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821"/>
              </a:tblGrid>
              <a:tr h="17034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70348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034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8E2AF8D0-91D8-3A64-EDE4-2C528421B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22" y="3108326"/>
            <a:ext cx="1336746" cy="634388"/>
          </a:xfrm>
          <a:prstGeom prst="rect">
            <a:avLst/>
          </a:prstGeom>
        </p:spPr>
      </p:pic>
      <p:pic>
        <p:nvPicPr>
          <p:cNvPr id="9" name="Picture 8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402CD094-E19B-674B-2F94-F79AEC377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8" y="5544698"/>
            <a:ext cx="1336746" cy="634388"/>
          </a:xfrm>
          <a:prstGeom prst="rect">
            <a:avLst/>
          </a:prstGeom>
        </p:spPr>
      </p:pic>
      <p:pic>
        <p:nvPicPr>
          <p:cNvPr id="10" name="Picture 9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9A033E66-591C-6CF7-C91F-8F3C81A9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897" y="5544698"/>
            <a:ext cx="1336746" cy="634388"/>
          </a:xfrm>
          <a:prstGeom prst="rect">
            <a:avLst/>
          </a:prstGeom>
        </p:spPr>
      </p:pic>
      <p:pic>
        <p:nvPicPr>
          <p:cNvPr id="11" name="Picture 10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E30C4114-1C7D-E86F-35F3-7F2B140A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508" y="5544698"/>
            <a:ext cx="1336746" cy="634388"/>
          </a:xfrm>
          <a:prstGeom prst="rect">
            <a:avLst/>
          </a:prstGeom>
        </p:spPr>
      </p:pic>
      <p:pic>
        <p:nvPicPr>
          <p:cNvPr id="7" name="Picture 6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DDD0B89E-0120-7ADE-EEF0-D1963CB90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265" y="3108326"/>
            <a:ext cx="1336746" cy="6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85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>
          <a:extLst>
            <a:ext uri="{FF2B5EF4-FFF2-40B4-BE49-F238E27FC236}">
              <a16:creationId xmlns:a16="http://schemas.microsoft.com/office/drawing/2014/main" id="{ABB123B2-3A8D-39C9-3CB3-DB99A17B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D1AF-C54D-677A-86A1-64F7A254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Parking Lot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1CBB5-FE7E-91A5-0B30-FA882F061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13302"/>
            <a:ext cx="8229600" cy="5544698"/>
          </a:xfrm>
        </p:spPr>
        <p:txBody>
          <a:bodyPr/>
          <a:lstStyle/>
          <a:p>
            <a:r>
              <a:rPr lang="en-US" dirty="0"/>
              <a:t>OS can run either A and B</a:t>
            </a:r>
          </a:p>
        </p:txBody>
      </p:sp>
      <p:pic>
        <p:nvPicPr>
          <p:cNvPr id="5" name="Picture 4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3AF61FAA-2029-0158-EA23-6C9859C3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30" y="3108326"/>
            <a:ext cx="1336746" cy="63438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315D19-49DA-C8C3-25B8-E81789520D77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7245492" y="1068636"/>
          <a:ext cx="1539821" cy="51104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821"/>
              </a:tblGrid>
              <a:tr h="17034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70348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034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BED98EB4-82DA-CF4C-B50E-4EFB28C5D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22" y="3108326"/>
            <a:ext cx="1336746" cy="634388"/>
          </a:xfrm>
          <a:prstGeom prst="rect">
            <a:avLst/>
          </a:prstGeom>
        </p:spPr>
      </p:pic>
      <p:pic>
        <p:nvPicPr>
          <p:cNvPr id="9" name="Picture 8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87B45DB3-1F83-F9FE-55A9-F7C690DF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8" y="5544698"/>
            <a:ext cx="1336746" cy="634388"/>
          </a:xfrm>
          <a:prstGeom prst="rect">
            <a:avLst/>
          </a:prstGeom>
        </p:spPr>
      </p:pic>
      <p:pic>
        <p:nvPicPr>
          <p:cNvPr id="10" name="Picture 9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4620410F-5C4B-14ED-9EA7-D920D0C9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897" y="5544698"/>
            <a:ext cx="1336746" cy="634388"/>
          </a:xfrm>
          <a:prstGeom prst="rect">
            <a:avLst/>
          </a:prstGeom>
        </p:spPr>
      </p:pic>
      <p:pic>
        <p:nvPicPr>
          <p:cNvPr id="11" name="Picture 10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2836525F-0737-827A-E32A-0C9BB6CF6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508" y="5544698"/>
            <a:ext cx="1336746" cy="634388"/>
          </a:xfrm>
          <a:prstGeom prst="rect">
            <a:avLst/>
          </a:prstGeom>
        </p:spPr>
      </p:pic>
      <p:pic>
        <p:nvPicPr>
          <p:cNvPr id="7" name="Picture 6" descr="A red car with black wheels&#10;&#10;AI-generated content may be incorrect.">
            <a:extLst>
              <a:ext uri="{FF2B5EF4-FFF2-40B4-BE49-F238E27FC236}">
                <a16:creationId xmlns:a16="http://schemas.microsoft.com/office/drawing/2014/main" id="{E8CCE3C9-27E1-666A-55DA-629B01E4A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265" y="3108326"/>
            <a:ext cx="1336746" cy="634388"/>
          </a:xfrm>
          <a:prstGeom prst="rect">
            <a:avLst/>
          </a:prstGeom>
        </p:spPr>
      </p:pic>
      <p:pic>
        <p:nvPicPr>
          <p:cNvPr id="21" name="Picture 2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F771B33-5982-9523-3EAE-8FAE57CB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011" y="1600200"/>
            <a:ext cx="11049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27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>
          <a:extLst>
            <a:ext uri="{FF2B5EF4-FFF2-40B4-BE49-F238E27FC236}">
              <a16:creationId xmlns:a16="http://schemas.microsoft.com/office/drawing/2014/main" id="{4A4F1EAB-F259-24CC-7F72-C1EC68CF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C66B-9DE5-FD10-87A2-10C576B3A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Parking Lot problem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377203-1122-8583-D629-EAE81B9663B2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7245492" y="385590"/>
          <a:ext cx="1539821" cy="6147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821"/>
              </a:tblGrid>
              <a:tr h="20491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0491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491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5A6B051D-66B0-3885-1ADC-A0BECD1AE345}"/>
              </a:ext>
            </a:extLst>
          </p:cNvPr>
          <p:cNvGrpSpPr/>
          <p:nvPr/>
        </p:nvGrpSpPr>
        <p:grpSpPr>
          <a:xfrm>
            <a:off x="2233988" y="1435466"/>
            <a:ext cx="1336746" cy="1687186"/>
            <a:chOff x="4008265" y="2055528"/>
            <a:chExt cx="1336746" cy="1687186"/>
          </a:xfrm>
        </p:grpSpPr>
        <p:pic>
          <p:nvPicPr>
            <p:cNvPr id="7" name="Picture 6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A31C4A92-97AD-6A26-AD14-D31AA0ACB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13" name="Picture 1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3D9A798C-141C-5D47-6E2B-EF5B692E5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20B934A-AF77-125D-3C2C-A0395D2E8E04}"/>
              </a:ext>
            </a:extLst>
          </p:cNvPr>
          <p:cNvGrpSpPr/>
          <p:nvPr/>
        </p:nvGrpSpPr>
        <p:grpSpPr>
          <a:xfrm>
            <a:off x="4071367" y="1435466"/>
            <a:ext cx="1336746" cy="1687186"/>
            <a:chOff x="4008265" y="2055528"/>
            <a:chExt cx="1336746" cy="1687186"/>
          </a:xfrm>
        </p:grpSpPr>
        <p:pic>
          <p:nvPicPr>
            <p:cNvPr id="12" name="Picture 11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EF1D54A8-F4E1-7284-AA02-159D811EC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20" name="Picture 19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8D48D2E4-22CA-B50F-3EAE-C2FF26D44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5F51F5-91BC-1DEA-E054-17B3B0E3BB4B}"/>
              </a:ext>
            </a:extLst>
          </p:cNvPr>
          <p:cNvGrpSpPr/>
          <p:nvPr/>
        </p:nvGrpSpPr>
        <p:grpSpPr>
          <a:xfrm>
            <a:off x="344786" y="1435466"/>
            <a:ext cx="1336746" cy="1687186"/>
            <a:chOff x="4008265" y="2055528"/>
            <a:chExt cx="1336746" cy="1687186"/>
          </a:xfrm>
        </p:grpSpPr>
        <p:pic>
          <p:nvPicPr>
            <p:cNvPr id="22" name="Picture 21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0915743F-19C6-074E-18EA-B43DA55B7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23" name="Picture 2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01BBF6A4-5FBA-5C02-0772-D7839E30E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1F8ADA-8DD9-41BB-E4E8-041F305D3F00}"/>
              </a:ext>
            </a:extLst>
          </p:cNvPr>
          <p:cNvGrpSpPr/>
          <p:nvPr/>
        </p:nvGrpSpPr>
        <p:grpSpPr>
          <a:xfrm>
            <a:off x="358687" y="3326830"/>
            <a:ext cx="1336746" cy="1687186"/>
            <a:chOff x="4008265" y="2055528"/>
            <a:chExt cx="1336746" cy="1687186"/>
          </a:xfrm>
        </p:grpSpPr>
        <p:pic>
          <p:nvPicPr>
            <p:cNvPr id="25" name="Picture 24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D929EC81-CDF9-6FEA-5C34-9E90EDA6B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26" name="Picture 25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88E4D149-9F0F-7339-366B-1D4BA7C00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FEA93AE-C770-088A-B5B1-4BFCE4985B9D}"/>
              </a:ext>
            </a:extLst>
          </p:cNvPr>
          <p:cNvGrpSpPr/>
          <p:nvPr/>
        </p:nvGrpSpPr>
        <p:grpSpPr>
          <a:xfrm>
            <a:off x="4114277" y="3326830"/>
            <a:ext cx="1336746" cy="1687186"/>
            <a:chOff x="4008265" y="2055528"/>
            <a:chExt cx="1336746" cy="1687186"/>
          </a:xfrm>
        </p:grpSpPr>
        <p:pic>
          <p:nvPicPr>
            <p:cNvPr id="28" name="Picture 27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39286000-9E07-A54D-DD09-1DB4D898F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29" name="Picture 28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B244A65B-3083-08CF-850C-36B87A308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49BD646-718B-9DDF-1F4D-44389D9677E3}"/>
              </a:ext>
            </a:extLst>
          </p:cNvPr>
          <p:cNvGrpSpPr/>
          <p:nvPr/>
        </p:nvGrpSpPr>
        <p:grpSpPr>
          <a:xfrm>
            <a:off x="2265455" y="3326830"/>
            <a:ext cx="1336746" cy="1687186"/>
            <a:chOff x="4008265" y="2055528"/>
            <a:chExt cx="1336746" cy="1687186"/>
          </a:xfrm>
        </p:grpSpPr>
        <p:pic>
          <p:nvPicPr>
            <p:cNvPr id="31" name="Picture 30" descr="A red car with black wheels&#10;&#10;AI-generated content may be incorrect.">
              <a:extLst>
                <a:ext uri="{FF2B5EF4-FFF2-40B4-BE49-F238E27FC236}">
                  <a16:creationId xmlns:a16="http://schemas.microsoft.com/office/drawing/2014/main" id="{0D5B63B1-C0C3-F6D4-ADEB-AAF97E172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8265" y="3108326"/>
              <a:ext cx="1336746" cy="634388"/>
            </a:xfrm>
            <a:prstGeom prst="rect">
              <a:avLst/>
            </a:prstGeom>
          </p:spPr>
        </p:pic>
        <p:pic>
          <p:nvPicPr>
            <p:cNvPr id="32" name="Picture 31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6297BA63-CCFB-CD28-DD7B-D8A3DE6AA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79" y="2055528"/>
              <a:ext cx="1104900" cy="1003300"/>
            </a:xfrm>
            <a:prstGeom prst="rect">
              <a:avLst/>
            </a:prstGeom>
          </p:spPr>
        </p:pic>
      </p:grp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2A47519-9132-3228-85C5-D06463D6806E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3083157" y="5538716"/>
          <a:ext cx="3768600" cy="1227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6200"/>
                <a:gridCol w="1256200"/>
                <a:gridCol w="1256200"/>
              </a:tblGrid>
              <a:tr h="1227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956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428" name="Classical Problems of Synchronization"/>
          <p:cNvSpPr txBox="1">
            <a:spLocks noGrp="1"/>
          </p:cNvSpPr>
          <p:nvPr>
            <p:ph type="title"/>
          </p:nvPr>
        </p:nvSpPr>
        <p:spPr>
          <a:xfrm>
            <a:off x="731837" y="301625"/>
            <a:ext cx="8077201" cy="1298576"/>
          </a:xfrm>
          <a:prstGeom prst="rect">
            <a:avLst/>
          </a:prstGeom>
        </p:spPr>
        <p:txBody>
          <a:bodyPr/>
          <a:lstStyle/>
          <a:p>
            <a:r>
              <a:t>Classical Problems of Synchronization</a:t>
            </a:r>
          </a:p>
        </p:txBody>
      </p:sp>
      <p:sp>
        <p:nvSpPr>
          <p:cNvPr id="429" name="Bounded-Buffer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Bounded-Buffer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Readers and Writers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Dining-Philosophers Problem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432" name="Bounded-Buffer Problem"/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dirty="0"/>
              <a:t>Bounded-Buffer Problem</a:t>
            </a:r>
          </a:p>
        </p:txBody>
      </p:sp>
      <p:sp>
        <p:nvSpPr>
          <p:cNvPr id="433" name="Shared buffer with N slots to store at most N items…"/>
          <p:cNvSpPr txBox="1">
            <a:spLocks noGrp="1"/>
          </p:cNvSpPr>
          <p:nvPr>
            <p:ph type="body" idx="1"/>
          </p:nvPr>
        </p:nvSpPr>
        <p:spPr>
          <a:xfrm>
            <a:off x="565150" y="1660525"/>
            <a:ext cx="7210425" cy="519747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Shared buffer with N slots to store at most N items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Producer processes data items and puts into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Consumer gets the data items from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Variable empty keeps number of empty slots in the butter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Variable full keeps number of full items in the buffer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32" name="Bounded-Buffer Problem"/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t>Bounded-Buffer Problem</a:t>
            </a:r>
          </a:p>
        </p:txBody>
      </p:sp>
      <p:sp>
        <p:nvSpPr>
          <p:cNvPr id="433" name="Shared buffer with N slots to store at most N items…"/>
          <p:cNvSpPr txBox="1">
            <a:spLocks noGrp="1"/>
          </p:cNvSpPr>
          <p:nvPr>
            <p:ph type="body" idx="1"/>
          </p:nvPr>
        </p:nvSpPr>
        <p:spPr>
          <a:xfrm>
            <a:off x="565150" y="1660525"/>
            <a:ext cx="7210425" cy="519747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Shared buffer with N slots to store at most N items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Producer processes data items and puts into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Consumer gets the data items from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Variable empty keeps number of empty slots in the butter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Variable full keeps number of full items in the buffer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63" name="Bounded Buffer - 3 Semaphore Soln"/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Second attempt: </a:t>
            </a:r>
            <a:r>
              <a:rPr dirty="0"/>
              <a:t>Bounded Buffer - </a:t>
            </a:r>
            <a:r>
              <a:rPr lang="en-US" dirty="0"/>
              <a:t>2</a:t>
            </a:r>
            <a:r>
              <a:rPr dirty="0"/>
              <a:t> Semaphore </a:t>
            </a:r>
            <a:r>
              <a:rPr dirty="0" err="1"/>
              <a:t>Soln</a:t>
            </a:r>
            <a:endParaRPr dirty="0"/>
          </a:p>
        </p:txBody>
      </p:sp>
      <p:sp>
        <p:nvSpPr>
          <p:cNvPr id="464" name="Semaphore mutex for access to the buffer, initialized to 1…"/>
          <p:cNvSpPr txBox="1">
            <a:spLocks noGrp="1"/>
          </p:cNvSpPr>
          <p:nvPr>
            <p:ph type="body" idx="1"/>
          </p:nvPr>
        </p:nvSpPr>
        <p:spPr>
          <a:xfrm>
            <a:off x="565150" y="1660525"/>
            <a:ext cx="7210425" cy="5197475"/>
          </a:xfrm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mutex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for access to the buffer, initialized to 1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 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full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(number of full buffers)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initialized to 0</a:t>
            </a:r>
          </a:p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empty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(number of empty buffers) initialized to 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19DB2A-CB26-DFA6-CB56-E58AE27FE4AA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2746872" y="846156"/>
          <a:ext cx="3136134" cy="1092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378"/>
                <a:gridCol w="1045378"/>
                <a:gridCol w="1045378"/>
              </a:tblGrid>
              <a:tr h="10928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 person running with a letter&#10;&#10;AI-generated content may be incorrect.">
            <a:extLst>
              <a:ext uri="{FF2B5EF4-FFF2-40B4-BE49-F238E27FC236}">
                <a16:creationId xmlns:a16="http://schemas.microsoft.com/office/drawing/2014/main" id="{441AAA80-D20D-48C5-CB99-A55A3676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31" y="4836349"/>
            <a:ext cx="1109414" cy="1087114"/>
          </a:xfrm>
          <a:prstGeom prst="rect">
            <a:avLst/>
          </a:prstGeom>
        </p:spPr>
      </p:pic>
      <p:pic>
        <p:nvPicPr>
          <p:cNvPr id="10" name="Picture 9" descr="A black and white image of a person walking&#10;&#10;AI-generated content may be incorrect.">
            <a:extLst>
              <a:ext uri="{FF2B5EF4-FFF2-40B4-BE49-F238E27FC236}">
                <a16:creationId xmlns:a16="http://schemas.microsoft.com/office/drawing/2014/main" id="{5BE51C53-FDE4-9CB5-28FD-D8C8D66D5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85556" y="4626953"/>
            <a:ext cx="765483" cy="1087115"/>
          </a:xfrm>
          <a:prstGeom prst="rect">
            <a:avLst/>
          </a:prstGeom>
        </p:spPr>
      </p:pic>
      <p:pic>
        <p:nvPicPr>
          <p:cNvPr id="13" name="Picture 12" descr="A black and white envelope&#10;&#10;AI-generated content may be incorrect.">
            <a:extLst>
              <a:ext uri="{FF2B5EF4-FFF2-40B4-BE49-F238E27FC236}">
                <a16:creationId xmlns:a16="http://schemas.microsoft.com/office/drawing/2014/main" id="{8A3561F0-D08F-42B9-5B03-116385B20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259" y="5045747"/>
            <a:ext cx="824505" cy="66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12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>
          <a:extLst>
            <a:ext uri="{FF2B5EF4-FFF2-40B4-BE49-F238E27FC236}">
              <a16:creationId xmlns:a16="http://schemas.microsoft.com/office/drawing/2014/main" id="{3F22BE03-73EA-BC08-DD70-7AD833CB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07D171-536B-04ED-284E-E9D71A64CF8E}"/>
              </a:ext>
            </a:extLst>
          </p:cNvPr>
          <p:cNvSpPr/>
          <p:nvPr/>
        </p:nvSpPr>
        <p:spPr>
          <a:xfrm>
            <a:off x="1522163" y="606861"/>
            <a:ext cx="5585552" cy="290845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727272"/>
              </a:solidFill>
              <a:effectLst/>
              <a:uFill>
                <a:solidFill>
                  <a:srgbClr val="727272"/>
                </a:solidFill>
              </a:u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B65298-CAE2-702C-BB9A-CEF895947BE9}"/>
              </a:ext>
            </a:extLst>
          </p:cNvPr>
          <p:cNvGraphicFramePr>
            <a:graphicFrameLocks xmlns:a="http://schemas.openxmlformats.org/drawingml/2006/main" noGrp="1"/>
          </p:cNvGraphicFramePr>
          <p:nvPr/>
        </p:nvGraphicFramePr>
        <p:xfrm>
          <a:off x="2746872" y="846156"/>
          <a:ext cx="3136134" cy="10928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378"/>
                <a:gridCol w="1045378"/>
                <a:gridCol w="1045378"/>
              </a:tblGrid>
              <a:tr h="10928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 person running with a letter&#10;&#10;AI-generated content may be incorrect.">
            <a:extLst>
              <a:ext uri="{FF2B5EF4-FFF2-40B4-BE49-F238E27FC236}">
                <a16:creationId xmlns:a16="http://schemas.microsoft.com/office/drawing/2014/main" id="{2F491F22-27C5-0A5C-2722-3FAE552E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99" y="5594455"/>
            <a:ext cx="921443" cy="1087114"/>
          </a:xfrm>
          <a:prstGeom prst="rect">
            <a:avLst/>
          </a:prstGeom>
        </p:spPr>
      </p:pic>
      <p:pic>
        <p:nvPicPr>
          <p:cNvPr id="10" name="Picture 9" descr="A black and white image of a person walking&#10;&#10;AI-generated content may be incorrect.">
            <a:extLst>
              <a:ext uri="{FF2B5EF4-FFF2-40B4-BE49-F238E27FC236}">
                <a16:creationId xmlns:a16="http://schemas.microsoft.com/office/drawing/2014/main" id="{E8EE89C1-77EE-FDAF-1A24-165D650F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020318" y="5403926"/>
            <a:ext cx="765483" cy="1087115"/>
          </a:xfrm>
          <a:prstGeom prst="rect">
            <a:avLst/>
          </a:prstGeom>
        </p:spPr>
      </p:pic>
      <p:pic>
        <p:nvPicPr>
          <p:cNvPr id="13" name="Picture 12" descr="A black and white envelope&#10;&#10;AI-generated content may be incorrect.">
            <a:extLst>
              <a:ext uri="{FF2B5EF4-FFF2-40B4-BE49-F238E27FC236}">
                <a16:creationId xmlns:a16="http://schemas.microsoft.com/office/drawing/2014/main" id="{DBDA5E6E-1A88-83CE-7089-AFBDB7225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163" y="4926134"/>
            <a:ext cx="684807" cy="668321"/>
          </a:xfrm>
          <a:prstGeom prst="rect">
            <a:avLst/>
          </a:prstGeom>
        </p:spPr>
      </p:pic>
      <p:pic>
        <p:nvPicPr>
          <p:cNvPr id="7" name="Picture 6" descr="A pink padlock with a keyhole&#10;&#10;AI-generated content may be incorrect.">
            <a:extLst>
              <a:ext uri="{FF2B5EF4-FFF2-40B4-BE49-F238E27FC236}">
                <a16:creationId xmlns:a16="http://schemas.microsoft.com/office/drawing/2014/main" id="{ED25C21D-DBB5-1FC8-3974-8ACF3303B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742" y="2494131"/>
            <a:ext cx="837771" cy="960457"/>
          </a:xfrm>
          <a:prstGeom prst="rect">
            <a:avLst/>
          </a:prstGeom>
        </p:spPr>
      </p:pic>
      <p:pic>
        <p:nvPicPr>
          <p:cNvPr id="11" name="Picture 10" descr="A black key with a white background&#10;&#10;AI-generated content may be incorrect.">
            <a:extLst>
              <a:ext uri="{FF2B5EF4-FFF2-40B4-BE49-F238E27FC236}">
                <a16:creationId xmlns:a16="http://schemas.microsoft.com/office/drawing/2014/main" id="{DC024C5E-C287-9FE2-CD2D-8284F412A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5166187" y="3972001"/>
            <a:ext cx="431259" cy="46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72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467" name="Bounded Buffer - 3 Semaphore Soln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rPr dirty="0"/>
              <a:t>Bounded Buffer - </a:t>
            </a:r>
            <a:r>
              <a:rPr lang="en-US" dirty="0"/>
              <a:t>2</a:t>
            </a:r>
            <a:r>
              <a:rPr dirty="0"/>
              <a:t> Semaphore </a:t>
            </a:r>
            <a:r>
              <a:rPr dirty="0" err="1"/>
              <a:t>Soln</a:t>
            </a:r>
            <a:endParaRPr dirty="0"/>
          </a:p>
        </p:txBody>
      </p:sp>
      <p:sp>
        <p:nvSpPr>
          <p:cNvPr id="468" name="The structure of the producer process…"/>
          <p:cNvSpPr txBox="1">
            <a:spLocks noGrp="1"/>
          </p:cNvSpPr>
          <p:nvPr>
            <p:ph type="body" idx="1"/>
          </p:nvPr>
        </p:nvSpPr>
        <p:spPr>
          <a:xfrm>
            <a:off x="839787" y="1279525"/>
            <a:ext cx="7848601" cy="52578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the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</a:rPr>
              <a:t>producer process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/>
            </a:pPr>
            <a:endParaRPr dirty="0">
              <a:solidFill>
                <a:srgbClr val="FF2600"/>
              </a:solid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do {</a:t>
            </a:r>
            <a:br>
              <a:rPr dirty="0"/>
            </a:b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     //   produce an item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lang="en-US" dirty="0"/>
              <a:t>		    wait (mutex);</a:t>
            </a: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wait (empty);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   //  add the item to the  buffer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signal (full);</a:t>
            </a:r>
            <a:endParaRPr lang="en-US"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lang="en-US" dirty="0"/>
              <a:t>		    signal (mutex);</a:t>
            </a: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} while (true);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471" name="Bounded Buffer - 3 Semaphore Soln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rPr dirty="0"/>
              <a:t>Bounded Buffer - </a:t>
            </a:r>
            <a:r>
              <a:rPr lang="en-US" dirty="0"/>
              <a:t>2</a:t>
            </a:r>
            <a:r>
              <a:rPr dirty="0"/>
              <a:t> Semaphore </a:t>
            </a:r>
            <a:r>
              <a:rPr dirty="0" err="1"/>
              <a:t>Soln</a:t>
            </a:r>
            <a:endParaRPr dirty="0"/>
          </a:p>
        </p:txBody>
      </p:sp>
      <p:sp>
        <p:nvSpPr>
          <p:cNvPr id="472" name="The structure of the consumer process…"/>
          <p:cNvSpPr txBox="1">
            <a:spLocks noGrp="1"/>
          </p:cNvSpPr>
          <p:nvPr>
            <p:ph type="body" idx="1"/>
          </p:nvPr>
        </p:nvSpPr>
        <p:spPr>
          <a:xfrm>
            <a:off x="839787" y="1279525"/>
            <a:ext cx="7848601" cy="5410200"/>
          </a:xfrm>
          <a:prstGeom prst="rect">
            <a:avLst/>
          </a:prstGeom>
        </p:spPr>
        <p:txBody>
          <a:bodyPr/>
          <a:lstStyle/>
          <a:p>
            <a:pPr marL="326390" indent="-285750"/>
            <a:r>
              <a: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the</a:t>
            </a:r>
            <a:r>
              <a:rPr sz="2000"/>
              <a:t>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consumer process</a:t>
            </a:r>
          </a:p>
          <a:p>
            <a:pPr>
              <a:buClr>
                <a:srgbClr val="FF4C00"/>
              </a:buClr>
              <a:buSzTx/>
              <a:buFont typeface="Trebuchet MS"/>
              <a:buNone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endParaRPr sz="2000">
              <a:solidFill>
                <a:srgbClr val="FF4C00"/>
              </a:solidFill>
              <a:uFill>
                <a:solidFill>
                  <a:srgbClr val="FF4C00"/>
                </a:solidFill>
              </a:u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do {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wait (full);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wait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//  remove an item from  buffer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signal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signal (empty);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//  consume the removed item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} while (true);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9663-DB6C-9CB9-A09D-ABCE8253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Second Attempt Failed?</a:t>
            </a:r>
          </a:p>
        </p:txBody>
      </p:sp>
    </p:spTree>
    <p:extLst>
      <p:ext uri="{BB962C8B-B14F-4D97-AF65-F5344CB8AC3E}">
        <p14:creationId xmlns:p14="http://schemas.microsoft.com/office/powerpoint/2010/main" val="3294509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4499-2A86-1092-4002-8F2F871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Attempt: Bounded Buffer Problem</a:t>
            </a:r>
          </a:p>
        </p:txBody>
      </p:sp>
    </p:spTree>
    <p:extLst>
      <p:ext uri="{BB962C8B-B14F-4D97-AF65-F5344CB8AC3E}">
        <p14:creationId xmlns:p14="http://schemas.microsoft.com/office/powerpoint/2010/main" val="3653132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467" name="Bounded Buffer - 3 Semaphore Soln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Bounded Buffer - 3 Semaphore Soln</a:t>
            </a:r>
          </a:p>
        </p:txBody>
      </p:sp>
      <p:sp>
        <p:nvSpPr>
          <p:cNvPr id="468" name="The structure of the producer process…"/>
          <p:cNvSpPr txBox="1">
            <a:spLocks noGrp="1"/>
          </p:cNvSpPr>
          <p:nvPr>
            <p:ph type="body" idx="1"/>
          </p:nvPr>
        </p:nvSpPr>
        <p:spPr>
          <a:xfrm>
            <a:off x="839787" y="1279525"/>
            <a:ext cx="7848601" cy="52578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 sz="20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the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</a:rPr>
              <a:t>producer process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/>
            </a:pPr>
            <a:endParaRPr dirty="0">
              <a:solidFill>
                <a:srgbClr val="FF2600"/>
              </a:solid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do {</a:t>
            </a:r>
            <a:br>
              <a:rPr dirty="0"/>
            </a:b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     //   produce an item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wait (empty);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wait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   //  add the item to the  buffer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signal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  signal (full);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} while (true);</a:t>
            </a:r>
          </a:p>
        </p:txBody>
      </p:sp>
    </p:spTree>
    <p:extLst>
      <p:ext uri="{BB962C8B-B14F-4D97-AF65-F5344CB8AC3E}">
        <p14:creationId xmlns:p14="http://schemas.microsoft.com/office/powerpoint/2010/main" val="2606475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471" name="Bounded Buffer - 3 Semaphore Soln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Bounded Buffer - 3 Semaphore Soln</a:t>
            </a:r>
          </a:p>
        </p:txBody>
      </p:sp>
      <p:sp>
        <p:nvSpPr>
          <p:cNvPr id="472" name="The structure of the consumer process…"/>
          <p:cNvSpPr txBox="1">
            <a:spLocks noGrp="1"/>
          </p:cNvSpPr>
          <p:nvPr>
            <p:ph type="body" idx="1"/>
          </p:nvPr>
        </p:nvSpPr>
        <p:spPr>
          <a:xfrm>
            <a:off x="839787" y="1279525"/>
            <a:ext cx="7848601" cy="5410200"/>
          </a:xfrm>
          <a:prstGeom prst="rect">
            <a:avLst/>
          </a:prstGeom>
        </p:spPr>
        <p:txBody>
          <a:bodyPr/>
          <a:lstStyle/>
          <a:p>
            <a:pPr marL="326390" indent="-285750"/>
            <a:r>
              <a: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the</a:t>
            </a:r>
            <a:r>
              <a:rPr sz="2000"/>
              <a:t>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consumer process</a:t>
            </a:r>
          </a:p>
          <a:p>
            <a:pPr>
              <a:buClr>
                <a:srgbClr val="FF4C00"/>
              </a:buClr>
              <a:buSzTx/>
              <a:buFont typeface="Trebuchet MS"/>
              <a:buNone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endParaRPr sz="2000">
              <a:solidFill>
                <a:srgbClr val="FF4C00"/>
              </a:solidFill>
              <a:uFill>
                <a:solidFill>
                  <a:srgbClr val="FF4C00"/>
                </a:solidFill>
              </a:u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do {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wait (full);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wait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//  remove an item from  buffer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signal (mutex);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signal (empty);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//  consume the removed item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} while (true);</a:t>
            </a:r>
          </a:p>
        </p:txBody>
      </p:sp>
    </p:spTree>
    <p:extLst>
      <p:ext uri="{BB962C8B-B14F-4D97-AF65-F5344CB8AC3E}">
        <p14:creationId xmlns:p14="http://schemas.microsoft.com/office/powerpoint/2010/main" val="3099855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428" name="Classical Problems of Synchronization"/>
          <p:cNvSpPr txBox="1">
            <a:spLocks noGrp="1"/>
          </p:cNvSpPr>
          <p:nvPr>
            <p:ph type="title"/>
          </p:nvPr>
        </p:nvSpPr>
        <p:spPr>
          <a:xfrm>
            <a:off x="731837" y="301625"/>
            <a:ext cx="8077201" cy="1298576"/>
          </a:xfrm>
          <a:prstGeom prst="rect">
            <a:avLst/>
          </a:prstGeom>
        </p:spPr>
        <p:txBody>
          <a:bodyPr/>
          <a:lstStyle/>
          <a:p>
            <a:r>
              <a:t>Classical Problems of Synchronization</a:t>
            </a:r>
          </a:p>
        </p:txBody>
      </p:sp>
      <p:sp>
        <p:nvSpPr>
          <p:cNvPr id="429" name="Bounded-Buffer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Bounded-Buffer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Readers and Writers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Dining-Philosophers Problem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475" name="Readers-Writers Problem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Readers-Writers Problem</a:t>
            </a:r>
          </a:p>
        </p:txBody>
      </p:sp>
      <p:sp>
        <p:nvSpPr>
          <p:cNvPr id="476" name="Multiple Readers and writers concurrently accessing the same database.…"/>
          <p:cNvSpPr txBox="1">
            <a:spLocks noGrp="1"/>
          </p:cNvSpPr>
          <p:nvPr>
            <p:ph type="body" idx="1"/>
          </p:nvPr>
        </p:nvSpPr>
        <p:spPr>
          <a:xfrm>
            <a:off x="827087" y="1279525"/>
            <a:ext cx="7848601" cy="4876800"/>
          </a:xfrm>
          <a:prstGeom prst="rect">
            <a:avLst/>
          </a:prstGeom>
        </p:spPr>
        <p:txBody>
          <a:bodyPr/>
          <a:lstStyle/>
          <a:p>
            <a:pPr marL="40639" indent="0">
              <a:buClr>
                <a:srgbClr val="0433FF"/>
              </a:buClr>
              <a:buSzPct val="125000"/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>
                <a:solidFill>
                  <a:srgbClr val="000000"/>
                </a:solidFill>
              </a:rPr>
              <a:t>Multiple Readers and writers concurrently accessing the same database.</a:t>
            </a:r>
          </a:p>
          <a:p>
            <a:pPr marL="40639" indent="0">
              <a:buClr>
                <a:srgbClr val="0433FF"/>
              </a:buClr>
              <a:buSzPct val="125000"/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>
              <a:solidFill>
                <a:srgbClr val="000000"/>
              </a:solidFill>
            </a:endParaRPr>
          </a:p>
          <a:p>
            <a:pPr marL="40639" indent="0">
              <a:buClr>
                <a:srgbClr val="0433FF"/>
              </a:buClr>
              <a:buSzPct val="125000"/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>
                <a:solidFill>
                  <a:srgbClr val="000000"/>
                </a:solidFill>
              </a:rPr>
              <a:t>Multiple Readers accessing at the same time --&gt; OK</a:t>
            </a:r>
          </a:p>
          <a:p>
            <a:pPr marL="40639" indent="0">
              <a:buClr>
                <a:srgbClr val="0433FF"/>
              </a:buClr>
              <a:buSzPct val="125000"/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>
              <a:solidFill>
                <a:srgbClr val="000000"/>
              </a:solidFill>
            </a:endParaRPr>
          </a:p>
          <a:p>
            <a:pPr marL="40639" indent="0">
              <a:buClr>
                <a:srgbClr val="0433FF"/>
              </a:buClr>
              <a:buSzPct val="125000"/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>
                <a:solidFill>
                  <a:srgbClr val="000000"/>
                </a:solidFill>
              </a:rPr>
              <a:t>When there is a Writer accessing, there should be no other process accessing at the same time.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>
              <a:solidFill>
                <a:srgbClr val="000000"/>
              </a:solid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>
              <a:solidFill>
                <a:srgbClr val="000000"/>
              </a:solid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>
              <a:solidFill>
                <a:srgbClr val="000000"/>
              </a:solidFill>
            </a:endParaRP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642E4C-52C2-81DC-079E-38388CFA6472}"/>
              </a:ext>
            </a:extLst>
          </p:cNvPr>
          <p:cNvSpPr/>
          <p:nvPr/>
        </p:nvSpPr>
        <p:spPr>
          <a:xfrm>
            <a:off x="-89452" y="0"/>
            <a:ext cx="10098156" cy="727544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727272"/>
              </a:solidFill>
              <a:effectLst/>
              <a:uFill>
                <a:solidFill>
                  <a:srgbClr val="727272"/>
                </a:solidFill>
              </a:u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5628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479" name="Readers-Writers Problem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Readers-Writers Problem</a:t>
            </a:r>
          </a:p>
        </p:txBody>
      </p:sp>
      <p:sp>
        <p:nvSpPr>
          <p:cNvPr id="480" name="The structure of a writer process…"/>
          <p:cNvSpPr txBox="1">
            <a:spLocks noGrp="1"/>
          </p:cNvSpPr>
          <p:nvPr>
            <p:ph type="body" idx="1"/>
          </p:nvPr>
        </p:nvSpPr>
        <p:spPr>
          <a:xfrm>
            <a:off x="827087" y="1279525"/>
            <a:ext cx="7848601" cy="5257800"/>
          </a:xfrm>
          <a:prstGeom prst="rect">
            <a:avLst/>
          </a:prstGeom>
        </p:spPr>
        <p:txBody>
          <a:bodyPr/>
          <a:lstStyle/>
          <a:p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a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writer process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do  {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wait (wrt) 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  //    writing is performed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signal (wrt) ;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} while (true)</a:t>
            </a:r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buClr>
                <a:srgbClr val="0433FF"/>
              </a:buClr>
              <a:buSzTx/>
              <a:buFont typeface="Trebuchet MS"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483" name="Readers-Writers Problem (Cont.)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Readers-Writers Problem (Cont.)</a:t>
            </a:r>
          </a:p>
        </p:txBody>
      </p:sp>
      <p:sp>
        <p:nvSpPr>
          <p:cNvPr id="484" name="The structure of a reader process…"/>
          <p:cNvSpPr txBox="1">
            <a:spLocks noGrp="1"/>
          </p:cNvSpPr>
          <p:nvPr>
            <p:ph type="body" idx="1"/>
          </p:nvPr>
        </p:nvSpPr>
        <p:spPr>
          <a:xfrm>
            <a:off x="827087" y="1279525"/>
            <a:ext cx="7747001" cy="5410200"/>
          </a:xfrm>
          <a:prstGeom prst="rect">
            <a:avLst/>
          </a:prstGeom>
        </p:spPr>
        <p:txBody>
          <a:bodyPr/>
          <a:lstStyle/>
          <a:p>
            <a:pPr marL="326390" indent="-285750">
              <a:lnSpc>
                <a:spcPct val="80000"/>
              </a:lnSpc>
            </a:pPr>
            <a:r>
              <a: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The structure of a</a:t>
            </a:r>
            <a:r>
              <a:rPr sz="2000"/>
              <a:t>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reader process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do  {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FF4013"/>
                </a:solidFill>
                <a:uFill>
                  <a:solidFill>
                    <a:srgbClr val="FF4013"/>
                  </a:solidFill>
                </a:uFill>
              </a:defRPr>
            </a:pPr>
            <a:r>
              <a:t>                     wait (mutex)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readercount ++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if (readercount == 1)  wait (wrt)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FF4013"/>
                </a:solidFill>
                <a:uFill>
                  <a:solidFill>
                    <a:srgbClr val="FF4013"/>
                  </a:solidFill>
                </a:uFill>
              </a:defRPr>
            </a:pPr>
            <a:r>
              <a:t>                     signal (mutex)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      // reading is performed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FF4013"/>
                </a:solidFill>
                <a:uFill>
                  <a:solidFill>
                    <a:srgbClr val="FF4013"/>
                  </a:solidFill>
                </a:uFill>
              </a:defRPr>
            </a:pPr>
            <a:r>
              <a:t>                     wait (mutex)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readercount  - -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     if readercount  == 0)  signal (wrt)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FF4013"/>
                </a:solidFill>
                <a:uFill>
                  <a:solidFill>
                    <a:srgbClr val="FF4013"/>
                  </a:solidFill>
                </a:uFill>
              </a:defRPr>
            </a:pPr>
            <a:r>
              <a:t>                     signal (mutex) ;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    } while (true)</a:t>
            </a:r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/>
          </a:p>
          <a:p>
            <a:pPr>
              <a:lnSpc>
                <a:spcPct val="80000"/>
              </a:lnSpc>
              <a:buClr>
                <a:srgbClr val="0433FF"/>
              </a:buClr>
              <a:buSzTx/>
              <a:buFont typeface="Trebuchet MS"/>
              <a:buNone/>
              <a:defRPr sz="20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/>
    </mc:Choice>
    <mc:Fallback>
      <p:transition spd="med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9977</TotalTime>
  <Words>999</Words>
  <Application>ONLYOFFICE/9.3.1.8</Application>
  <PresentationFormat>On-screen Show (4:3)</PresentationFormat>
  <Paragraphs>228</Paragraphs>
  <Slides>28</Slides>
  <Notes>0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21</cp:revision>
  <dcterms:modified xsi:type="dcterms:W3CDTF">2026-03-10T18:20:54Z</dcterms:modified>
</cp:coreProperties>
</file>