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7" r:id="rId4"/>
    <p:sldId id="268" r:id="rId5"/>
    <p:sldId id="341" r:id="rId6"/>
    <p:sldId id="339" r:id="rId7"/>
    <p:sldId id="340" r:id="rId8"/>
    <p:sldId id="269" r:id="rId9"/>
    <p:sldId id="338" r:id="rId10"/>
    <p:sldId id="270" r:id="rId11"/>
    <p:sldId id="304" r:id="rId12"/>
    <p:sldId id="348" r:id="rId13"/>
    <p:sldId id="317" r:id="rId14"/>
    <p:sldId id="271" r:id="rId15"/>
    <p:sldId id="272" r:id="rId16"/>
    <p:sldId id="336" r:id="rId17"/>
    <p:sldId id="347" r:id="rId18"/>
    <p:sldId id="344" r:id="rId19"/>
    <p:sldId id="345" r:id="rId20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228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685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1143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1600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D51ADE6A-740E-44AE-83CC-AE7238B6C88D}" styleName="">
    <a:tblBg/>
    <a:wholeTbl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727272"/>
        </a:fontRef>
        <a:srgbClr val="727272"/>
      </a:tcTxStyle>
      <a:tcStyle>
        <a:tcBdr>
          <a:left>
            <a:ln w="28575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Col>
    <a:la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12700" cap="flat">
              <a:solidFill>
                <a:srgbClr val="727272"/>
              </a:solidFill>
              <a:prstDash val="solid"/>
              <a:miter lim="400000"/>
            </a:ln>
          </a:top>
          <a:bottom>
            <a:ln w="28575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lastRow>
    <a:firstRow>
      <a:tcTxStyle b="off" i="off">
        <a:fontRef idx="minor">
          <a:srgbClr val="727272"/>
        </a:fontRef>
        <a:srgbClr val="727272"/>
      </a:tcTxStyle>
      <a:tcStyle>
        <a:tcBdr>
          <a:left>
            <a:ln w="12700" cap="flat">
              <a:solidFill>
                <a:srgbClr val="727272"/>
              </a:solidFill>
              <a:prstDash val="solid"/>
              <a:miter lim="400000"/>
            </a:ln>
          </a:left>
          <a:right>
            <a:ln w="12700" cap="flat">
              <a:solidFill>
                <a:srgbClr val="727272"/>
              </a:solidFill>
              <a:prstDash val="solid"/>
              <a:miter lim="400000"/>
            </a:ln>
          </a:right>
          <a:top>
            <a:ln w="28575" cap="flat">
              <a:solidFill>
                <a:srgbClr val="727272"/>
              </a:solidFill>
              <a:prstDash val="solid"/>
              <a:miter lim="400000"/>
            </a:ln>
          </a:top>
          <a:bottom>
            <a:ln w="12700" cap="flat">
              <a:solidFill>
                <a:srgbClr val="727272"/>
              </a:solidFill>
              <a:prstDash val="solid"/>
              <a:miter lim="400000"/>
            </a:ln>
          </a:bottom>
          <a:insideH>
            <a:ln w="12700" cap="flat">
              <a:solidFill>
                <a:srgbClr val="727272"/>
              </a:solidFill>
              <a:prstDash val="solid"/>
              <a:miter lim="400000"/>
            </a:ln>
          </a:insideH>
          <a:insideV>
            <a:ln w="12700" cap="flat">
              <a:solidFill>
                <a:srgbClr val="727272"/>
              </a:solidFill>
              <a:prstDash val="solid"/>
              <a:miter lim="400000"/>
            </a:ln>
          </a:insideV>
        </a:tcBdr>
        <a:fill>
          <a:solidFill>
            <a:srgbClr val="000000">
              <a:alpha val="25000"/>
            </a:srgbClr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3"/>
    <p:restoredTop sz="88435"/>
  </p:normalViewPr>
  <p:slideViewPr>
    <p:cSldViewPr snapToGrid="0">
      <p:cViewPr varScale="1">
        <p:scale>
          <a:sx n="134" d="100"/>
          <a:sy n="134" d="100"/>
        </p:scale>
        <p:origin x="27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7" name="Shape 4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600">
        <a:latin typeface="Lucida Grande"/>
        <a:ea typeface="Lucida Grande"/>
        <a:cs typeface="Lucida Grande"/>
        <a:sym typeface="Lucida Grande"/>
      </a:defRPr>
    </a:lvl1pPr>
    <a:lvl2pPr indent="228600" defTabSz="457200" latinLnBrk="0">
      <a:defRPr sz="1600">
        <a:latin typeface="Lucida Grande"/>
        <a:ea typeface="Lucida Grande"/>
        <a:cs typeface="Lucida Grande"/>
        <a:sym typeface="Lucida Grande"/>
      </a:defRPr>
    </a:lvl2pPr>
    <a:lvl3pPr indent="457200" defTabSz="457200" latinLnBrk="0">
      <a:defRPr sz="1600">
        <a:latin typeface="Lucida Grande"/>
        <a:ea typeface="Lucida Grande"/>
        <a:cs typeface="Lucida Grande"/>
        <a:sym typeface="Lucida Grande"/>
      </a:defRPr>
    </a:lvl3pPr>
    <a:lvl4pPr indent="685800" defTabSz="457200" latinLnBrk="0">
      <a:defRPr sz="1600">
        <a:latin typeface="Lucida Grande"/>
        <a:ea typeface="Lucida Grande"/>
        <a:cs typeface="Lucida Grande"/>
        <a:sym typeface="Lucida Grande"/>
      </a:defRPr>
    </a:lvl4pPr>
    <a:lvl5pPr indent="914400" defTabSz="457200" latinLnBrk="0">
      <a:defRPr sz="1600">
        <a:latin typeface="Lucida Grande"/>
        <a:ea typeface="Lucida Grande"/>
        <a:cs typeface="Lucida Grande"/>
        <a:sym typeface="Lucida Grande"/>
      </a:defRPr>
    </a:lvl5pPr>
    <a:lvl6pPr indent="1143000" defTabSz="457200" latinLnBrk="0">
      <a:defRPr sz="1600">
        <a:latin typeface="Lucida Grande"/>
        <a:ea typeface="Lucida Grande"/>
        <a:cs typeface="Lucida Grande"/>
        <a:sym typeface="Lucida Grande"/>
      </a:defRPr>
    </a:lvl6pPr>
    <a:lvl7pPr indent="1371600" defTabSz="457200" latinLnBrk="0">
      <a:defRPr sz="1600">
        <a:latin typeface="Lucida Grande"/>
        <a:ea typeface="Lucida Grande"/>
        <a:cs typeface="Lucida Grande"/>
        <a:sym typeface="Lucida Grande"/>
      </a:defRPr>
    </a:lvl7pPr>
    <a:lvl8pPr indent="1600200" defTabSz="457200" latinLnBrk="0">
      <a:defRPr sz="1600">
        <a:latin typeface="Lucida Grande"/>
        <a:ea typeface="Lucida Grande"/>
        <a:cs typeface="Lucida Grande"/>
        <a:sym typeface="Lucida Grande"/>
      </a:defRPr>
    </a:lvl8pPr>
    <a:lvl9pPr indent="1828800" defTabSz="457200" latinLnBrk="0">
      <a:defRPr sz="16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970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457200" y="0"/>
            <a:ext cx="8229600" cy="169227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92074"/>
            <a:ext cx="82296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/>
          <a:lstStyle>
            <a:lvl2pPr marL="783590" indent="-285750">
              <a:spcBef>
                <a:spcPts val="400"/>
              </a:spcBef>
              <a:buChar char="–"/>
              <a:defRPr sz="2000"/>
            </a:lvl2pPr>
            <a:lvl3pPr marL="1183639" indent="-228600">
              <a:spcBef>
                <a:spcPts val="400"/>
              </a:spcBef>
              <a:defRPr sz="1800"/>
            </a:lvl3pPr>
            <a:lvl4pPr marL="1640839" indent="-228600">
              <a:spcBef>
                <a:spcPts val="300"/>
              </a:spcBef>
              <a:buChar char="–"/>
              <a:defRPr sz="1600"/>
            </a:lvl4pPr>
            <a:lvl5pPr marL="2098039" indent="-228600">
              <a:spcBef>
                <a:spcPts val="300"/>
              </a:spcBef>
              <a:buChar char="»"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29898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defRPr sz="14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40639" marR="40639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1pPr>
      <a:lvl2pPr marL="40639" marR="40639" indent="228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2pPr>
      <a:lvl3pPr marL="40639" marR="40639" indent="457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3pPr>
      <a:lvl4pPr marL="40639" marR="40639" indent="685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4pPr>
      <a:lvl5pPr marL="40639" marR="40639" indent="9144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5pPr>
      <a:lvl6pPr marL="40639" marR="40639" indent="11430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6pPr>
      <a:lvl7pPr marL="40639" marR="40639" indent="13716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7pPr>
      <a:lvl8pPr marL="40639" marR="40639" indent="16002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8pPr>
      <a:lvl9pPr marL="40639" marR="40639" indent="182880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solidFill>
            <a:srgbClr val="4180FF"/>
          </a:solidFill>
          <a:uFill>
            <a:solidFill>
              <a:srgbClr val="4180FF"/>
            </a:solidFill>
          </a:uFill>
          <a:latin typeface="+mn-lt"/>
          <a:ea typeface="+mn-ea"/>
          <a:cs typeface="+mn-cs"/>
          <a:sym typeface="Trebuchet MS"/>
        </a:defRPr>
      </a:lvl9pPr>
    </p:titleStyle>
    <p:bodyStyle>
      <a:lvl1pPr marL="383540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1pPr>
      <a:lvl2pPr marL="840739" marR="40639" indent="-342899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2pPr>
      <a:lvl3pPr marL="1259839" marR="40639" indent="-3048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3pPr>
      <a:lvl4pPr marL="17551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4pPr>
      <a:lvl5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5pPr>
      <a:lvl6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6pPr>
      <a:lvl7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7pPr>
      <a:lvl8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8pPr>
      <a:lvl9pPr marL="2212339" marR="40639" indent="-34290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sz="2400" b="0" i="0" u="none" strike="noStrike" cap="none" spc="0" baseline="0">
          <a:solidFill>
            <a:srgbClr val="727272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Trebuchet MS"/>
        </a:defRPr>
      </a:lvl9pPr>
    </p:bodyStyle>
    <p:otherStyle>
      <a:lvl1pPr marL="0" marR="0" indent="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1pPr>
      <a:lvl2pPr marL="0" marR="0" indent="228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2pPr>
      <a:lvl3pPr marL="0" marR="0" indent="457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3pPr>
      <a:lvl4pPr marL="0" marR="0" indent="685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4pPr>
      <a:lvl5pPr marL="0" marR="0" indent="9144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5pPr>
      <a:lvl6pPr marL="0" marR="0" indent="11430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6pPr>
      <a:lvl7pPr marL="0" marR="0" indent="13716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7pPr>
      <a:lvl8pPr marL="0" marR="0" indent="16002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8pPr>
      <a:lvl9pPr marL="0" marR="0" indent="1828800" algn="ctr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>
            <a:solidFill>
              <a:srgbClr val="727272"/>
            </a:solidFill>
          </a:u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  <p:sp>
        <p:nvSpPr>
          <p:cNvPr id="50" name="CSE 521 - Operating Systems Fall 2022"/>
          <p:cNvSpPr txBox="1">
            <a:spLocks noGrp="1"/>
          </p:cNvSpPr>
          <p:nvPr>
            <p:ph type="title"/>
          </p:nvPr>
        </p:nvSpPr>
        <p:spPr>
          <a:xfrm>
            <a:off x="647700" y="0"/>
            <a:ext cx="7772400" cy="1822450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CSE 521 - Operating Systems</a:t>
            </a:r>
            <a:br>
              <a:rPr dirty="0"/>
            </a:br>
            <a:r>
              <a:rPr dirty="0"/>
              <a:t>Fall 202</a:t>
            </a:r>
            <a:r>
              <a:rPr lang="en-US" dirty="0"/>
              <a:t>6</a:t>
            </a:r>
            <a:endParaRPr dirty="0"/>
          </a:p>
        </p:txBody>
      </p:sp>
      <p:sp>
        <p:nvSpPr>
          <p:cNvPr id="51" name="Tevfik Koşar"/>
          <p:cNvSpPr txBox="1">
            <a:spLocks noGrp="1"/>
          </p:cNvSpPr>
          <p:nvPr>
            <p:ph type="body" sz="half" idx="1"/>
          </p:nvPr>
        </p:nvSpPr>
        <p:spPr>
          <a:xfrm>
            <a:off x="1385887" y="4432300"/>
            <a:ext cx="6400801" cy="2425700"/>
          </a:xfrm>
          <a:prstGeom prst="rect">
            <a:avLst/>
          </a:prstGeom>
        </p:spPr>
        <p:txBody>
          <a:bodyPr/>
          <a:lstStyle>
            <a:lvl1pPr marL="40639" indent="0" algn="ctr">
              <a:buClr>
                <a:srgbClr val="727272"/>
              </a:buClr>
              <a:buSzTx/>
              <a:buFont typeface="Trebuchet MS"/>
              <a:buNone/>
              <a:defRPr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lvl1pPr>
          </a:lstStyle>
          <a:p>
            <a:r>
              <a:rPr lang="en-US" sz="1600" dirty="0"/>
              <a:t>Created by Dr. </a:t>
            </a:r>
            <a:r>
              <a:rPr sz="1600" dirty="0"/>
              <a:t>Tevfik Koşar</a:t>
            </a:r>
            <a:endParaRPr lang="en-US" sz="1600" dirty="0"/>
          </a:p>
          <a:p>
            <a:r>
              <a:rPr lang="en-US" sz="3600" dirty="0"/>
              <a:t>Presented by Dr. Nine</a:t>
            </a:r>
            <a:endParaRPr sz="3600" dirty="0"/>
          </a:p>
        </p:txBody>
      </p:sp>
      <p:sp>
        <p:nvSpPr>
          <p:cNvPr id="52" name="Rectangle"/>
          <p:cNvSpPr/>
          <p:nvPr/>
        </p:nvSpPr>
        <p:spPr>
          <a:xfrm>
            <a:off x="7472362" y="6307137"/>
            <a:ext cx="1671638" cy="55086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40639" marR="40639" defTabSz="914400"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53" name="University at Buffalo…"/>
          <p:cNvSpPr txBox="1"/>
          <p:nvPr/>
        </p:nvSpPr>
        <p:spPr>
          <a:xfrm>
            <a:off x="1379537" y="5789612"/>
            <a:ext cx="6400801" cy="410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/>
          <a:p>
            <a:pPr marL="40639" marR="40639" algn="ctr" defTabSz="914400">
              <a:spcBef>
                <a:spcPts val="500"/>
              </a:spcBef>
              <a:buClr>
                <a:srgbClr val="00A8AA"/>
              </a:buClr>
              <a:buFont typeface="Trebuchet MS"/>
              <a:defRPr sz="2400">
                <a:solidFill>
                  <a:srgbClr val="00A8AA"/>
                </a:solidFill>
                <a:uFill>
                  <a:solidFill>
                    <a:srgbClr val="00A8AA"/>
                  </a:solidFill>
                </a:uFill>
                <a:latin typeface="+mn-lt"/>
                <a:ea typeface="+mn-ea"/>
                <a:cs typeface="+mn-cs"/>
                <a:sym typeface="Trebuchet MS"/>
              </a:defRPr>
            </a:pPr>
            <a:endParaRPr sz="2000" dirty="0">
              <a:solidFill>
                <a:srgbClr val="00A8AA"/>
              </a:solidFill>
              <a:uFill>
                <a:solidFill>
                  <a:srgbClr val="00A8AA"/>
                </a:solidFill>
              </a:uFill>
              <a:latin typeface="+mn-lt"/>
              <a:ea typeface="+mn-ea"/>
              <a:cs typeface="+mn-cs"/>
              <a:sym typeface="Trebuchet MS"/>
            </a:endParaRPr>
          </a:p>
        </p:txBody>
      </p:sp>
      <p:sp>
        <p:nvSpPr>
          <p:cNvPr id="54" name="Lecture - IX Process Synchronization - II"/>
          <p:cNvSpPr txBox="1"/>
          <p:nvPr/>
        </p:nvSpPr>
        <p:spPr>
          <a:xfrm>
            <a:off x="760412" y="2123877"/>
            <a:ext cx="7772401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40639" marR="40639" algn="ctr" defTabSz="914400">
              <a:buClr>
                <a:srgbClr val="4180FF"/>
              </a:buClr>
              <a:buFont typeface="Copperplate Gothic Light"/>
              <a:defRPr sz="1800">
                <a:solidFill>
                  <a:srgbClr val="727272"/>
                </a:solidFill>
                <a:uFill>
                  <a:solidFill>
                    <a:srgbClr val="727272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Lecture - </a:t>
            </a:r>
            <a:r>
              <a:rPr lang="en-US"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12</a:t>
            </a:r>
            <a:br>
              <a:rPr sz="24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</a:br>
            <a:r>
              <a:rPr sz="3600" dirty="0"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  <a:latin typeface="Copperplate Gothic Light"/>
                <a:ea typeface="Copperplate Gothic Light"/>
                <a:cs typeface="Copperplate Gothic Light"/>
                <a:sym typeface="Copperplate Gothic Light"/>
              </a:rPr>
              <a:t>Process Synchronization - II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57" name="Roadmap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Roadmap</a:t>
            </a:r>
          </a:p>
        </p:txBody>
      </p:sp>
      <p:sp>
        <p:nvSpPr>
          <p:cNvPr id="58" name="Recap: Solutions for Mutual Exclusion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Recap: Solutions for Mutual Exclusion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Semaphores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Classic Problems of Synchronization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Bounded Buffer Problem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Readers and Writers Problem</a:t>
            </a:r>
          </a:p>
          <a:p>
            <a:pPr lvl="1"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Dining-Philosophers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Monitors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Conditional Variables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Sleeping Barber Problem</a:t>
            </a:r>
          </a:p>
        </p:txBody>
      </p:sp>
      <p:pic>
        <p:nvPicPr>
          <p:cNvPr id="59" name="roadmap.jpg" descr="roadmap.jp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573837" y="4533900"/>
            <a:ext cx="2259013" cy="17795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12" name="Synchronization Hardwa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Synchronization Hardware</a:t>
            </a:r>
          </a:p>
        </p:txBody>
      </p:sp>
      <p:sp>
        <p:nvSpPr>
          <p:cNvPr id="413" name="Many systems provide hardware support for critical section cod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7408863" cy="5257800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Many systems provide hardware support for critical section code</a:t>
            </a:r>
          </a:p>
          <a:p>
            <a:pPr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Uniprocessors – could </a:t>
            </a:r>
            <a:r>
              <a:rPr>
                <a:solidFill>
                  <a:srgbClr val="FF4C00"/>
                </a:solidFill>
                <a:uFill>
                  <a:solidFill>
                    <a:srgbClr val="FF4C00"/>
                  </a:solidFill>
                </a:uFill>
              </a:rPr>
              <a:t>disable interrupts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Currently running code would execute without preemption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Generally too inefficient on multiprocessor systems</a:t>
            </a:r>
          </a:p>
          <a:p>
            <a:pPr marL="1126489" lvl="2">
              <a:lnSpc>
                <a:spcPct val="90000"/>
              </a:lnSpc>
              <a:buClr>
                <a:srgbClr val="727272"/>
              </a:buClr>
              <a:buFont typeface="Trebuchet MS"/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Operating systems using this not broadly scalable</a:t>
            </a:r>
          </a:p>
          <a:p>
            <a:pPr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Modern machines provide special atomic hardware instructions</a:t>
            </a:r>
          </a:p>
          <a:p>
            <a:pPr marL="1126489" lvl="2">
              <a:lnSpc>
                <a:spcPct val="90000"/>
              </a:lnSpc>
              <a:buClr>
                <a:srgbClr val="4180FF"/>
              </a:buClr>
              <a:buFont typeface="Trebuchet MS"/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defRPr>
            </a:pPr>
            <a:r>
              <a:t>Atomic = non-interruptable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Either test memory word and set value</a:t>
            </a:r>
          </a:p>
          <a:p>
            <a:pPr lvl="1">
              <a:lnSpc>
                <a:spcPct val="90000"/>
              </a:lnSpc>
              <a:tabLst>
                <a:tab pos="787400" algn="l"/>
                <a:tab pos="1066800" algn="l"/>
                <a:tab pos="1295400" algn="l"/>
                <a:tab pos="18669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Or swap contents of two memory words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416" name="Semaphores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1"/>
          </a:xfrm>
          <a:prstGeom prst="rect">
            <a:avLst/>
          </a:prstGeom>
        </p:spPr>
        <p:txBody>
          <a:bodyPr/>
          <a:lstStyle/>
          <a:p>
            <a:r>
              <a:t>Semaphores</a:t>
            </a:r>
          </a:p>
        </p:txBody>
      </p:sp>
      <p:sp>
        <p:nvSpPr>
          <p:cNvPr id="417" name="Synchronization tool for critical section problem…"/>
          <p:cNvSpPr txBox="1">
            <a:spLocks noGrp="1"/>
          </p:cNvSpPr>
          <p:nvPr>
            <p:ph type="body" idx="1"/>
          </p:nvPr>
        </p:nvSpPr>
        <p:spPr>
          <a:xfrm>
            <a:off x="827087" y="1279525"/>
            <a:ext cx="7921626" cy="5254625"/>
          </a:xfrm>
          <a:prstGeom prst="rect">
            <a:avLst/>
          </a:prstGeom>
        </p:spPr>
        <p:txBody>
          <a:bodyPr/>
          <a:lstStyle/>
          <a:p>
            <a:pPr marL="342900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Synchronization tool for critical section problem</a:t>
            </a:r>
          </a:p>
          <a:p>
            <a:pPr marL="342900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 </a:t>
            </a:r>
            <a:r>
              <a:rPr i="1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– integer variable</a:t>
            </a:r>
          </a:p>
          <a:p>
            <a:pPr marL="342900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Can only be accessed through two standard operations:</a:t>
            </a:r>
          </a:p>
          <a:p>
            <a:pPr lvl="2">
              <a:lnSpc>
                <a:spcPct val="80000"/>
              </a:lnSpc>
              <a:defRPr sz="2200"/>
            </a:pP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wait()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and</a:t>
            </a:r>
            <a:r>
              <a:rPr dirty="0"/>
              <a:t> </a:t>
            </a: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signal() </a:t>
            </a:r>
          </a:p>
          <a:p>
            <a:pPr lvl="2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(or </a:t>
            </a: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P()</a:t>
            </a:r>
            <a:r>
              <a:rPr dirty="0"/>
              <a:t> 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and</a:t>
            </a:r>
            <a:r>
              <a:rPr i="1" dirty="0"/>
              <a:t> </a:t>
            </a:r>
            <a:r>
              <a:rPr dirty="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rPr>
              <a:t>V()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)</a:t>
            </a:r>
          </a:p>
          <a:p>
            <a:pPr lvl="2">
              <a:lnSpc>
                <a:spcPct val="80000"/>
              </a:lnSpc>
              <a:defRPr sz="2200"/>
            </a:pP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(in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dutch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: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Proberen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/test  ; </a:t>
            </a:r>
            <a:r>
              <a:rPr dirty="0" err="1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Verhogen</a:t>
            </a:r>
            <a:r>
              <a:rPr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/increase)</a:t>
            </a:r>
            <a:endParaRPr dirty="0">
              <a:solidFill>
                <a:srgbClr val="0433FF"/>
              </a:solidFill>
              <a:uFill>
                <a:solidFill>
                  <a:srgbClr val="0433FF"/>
                </a:solidFill>
              </a:uFill>
            </a:endParaRPr>
          </a:p>
          <a:p>
            <a:pPr lvl="3">
              <a:lnSpc>
                <a:spcPct val="80000"/>
              </a:lnSpc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>
              <a:solidFill>
                <a:srgbClr val="0433FF"/>
              </a:solidFill>
              <a:uFill>
                <a:solidFill>
                  <a:srgbClr val="0433FF"/>
                </a:solidFill>
              </a:uFill>
            </a:endParaRPr>
          </a:p>
          <a:p>
            <a:pPr>
              <a:lnSpc>
                <a:spcPct val="80000"/>
              </a:lnSpc>
              <a:buClr>
                <a:srgbClr val="000000"/>
              </a:buClr>
              <a:defRPr sz="22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Classical implementation (using busy-waiting)</a:t>
            </a:r>
          </a:p>
          <a:p>
            <a:pPr lvl="2">
              <a:lnSpc>
                <a:spcPct val="80000"/>
              </a:lnSpc>
              <a:buClr>
                <a:srgbClr val="0433FF"/>
              </a:buClr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wait (S) { 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while S &lt;= 0</a:t>
            </a:r>
          </a:p>
          <a:p>
            <a:pPr marL="783590" lvl="6" indent="1583689">
              <a:lnSpc>
                <a:spcPct val="80000"/>
              </a:lnSpc>
              <a:spcBef>
                <a:spcPts val="300"/>
              </a:spcBef>
              <a:buSzTx/>
              <a:buNone/>
              <a:defRPr sz="1600"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; // no-op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      S--;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}</a:t>
            </a:r>
          </a:p>
          <a:p>
            <a:pPr marL="1681479" lvl="2">
              <a:lnSpc>
                <a:spcPct val="80000"/>
              </a:lnSpc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endParaRPr dirty="0"/>
          </a:p>
          <a:p>
            <a:pPr lvl="2">
              <a:lnSpc>
                <a:spcPct val="80000"/>
              </a:lnSpc>
              <a:buClr>
                <a:srgbClr val="0433FF"/>
              </a:buClr>
              <a:buFont typeface="Trebuchet MS"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signal (S) { </a:t>
            </a:r>
          </a:p>
          <a:p>
            <a:pPr marL="783590" lvl="2" indent="669289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   S++;</a:t>
            </a:r>
          </a:p>
          <a:p>
            <a:pPr lvl="1">
              <a:lnSpc>
                <a:spcPct val="80000"/>
              </a:lnSpc>
              <a:buSzTx/>
              <a:buNone/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rPr dirty="0"/>
              <a:t>     }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1EB0-2550-793A-56BE-7D4F0EEEE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66B414-353B-D79E-F738-C6B6BFFE3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7C708A-3BEF-B21E-67E5-AB65D56B2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563974"/>
            <a:ext cx="9092033" cy="487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5343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oard with red text&#10;&#10;AI-generated content may be incorrect.">
            <a:extLst>
              <a:ext uri="{FF2B5EF4-FFF2-40B4-BE49-F238E27FC236}">
                <a16:creationId xmlns:a16="http://schemas.microsoft.com/office/drawing/2014/main" id="{941F4F79-38C5-21B8-77F3-E5ACFC1124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540" y="2204720"/>
            <a:ext cx="2044700" cy="2692400"/>
          </a:xfrm>
          <a:prstGeom prst="rect">
            <a:avLst/>
          </a:prstGeom>
        </p:spPr>
      </p:pic>
      <p:pic>
        <p:nvPicPr>
          <p:cNvPr id="6" name="Picture 5" descr="A black board with red text&#10;&#10;AI-generated content may be incorrect.">
            <a:extLst>
              <a:ext uri="{FF2B5EF4-FFF2-40B4-BE49-F238E27FC236}">
                <a16:creationId xmlns:a16="http://schemas.microsoft.com/office/drawing/2014/main" id="{5F815AC5-28BE-0837-104F-E4CC922AB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0050" y="2082800"/>
            <a:ext cx="2044700" cy="2692400"/>
          </a:xfrm>
          <a:prstGeom prst="rect">
            <a:avLst/>
          </a:prstGeom>
        </p:spPr>
      </p:pic>
      <p:pic>
        <p:nvPicPr>
          <p:cNvPr id="7" name="Picture 6" descr="A black board with red text&#10;&#10;AI-generated content may be incorrect.">
            <a:extLst>
              <a:ext uri="{FF2B5EF4-FFF2-40B4-BE49-F238E27FC236}">
                <a16:creationId xmlns:a16="http://schemas.microsoft.com/office/drawing/2014/main" id="{1C79FB2B-05ED-2593-B725-C58DBCDBC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410" y="2082800"/>
            <a:ext cx="2044700" cy="269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15026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2F215-5EDD-154A-1472-DCECE78C2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BE97C-CAA6-2C8A-8C88-980B0F849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604642-6233-4A37-0F30-BD86264ABD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225" y="912968"/>
            <a:ext cx="8661549" cy="503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96172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sp>
        <p:nvSpPr>
          <p:cNvPr id="420" name="Semaphores without Busy-Waiting"/>
          <p:cNvSpPr txBox="1">
            <a:spLocks noGrp="1"/>
          </p:cNvSpPr>
          <p:nvPr>
            <p:ph type="title"/>
          </p:nvPr>
        </p:nvSpPr>
        <p:spPr>
          <a:xfrm>
            <a:off x="609600" y="279400"/>
            <a:ext cx="8534400" cy="1076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Semaphores without Busy-Waiting</a:t>
            </a:r>
          </a:p>
        </p:txBody>
      </p:sp>
      <p:sp>
        <p:nvSpPr>
          <p:cNvPr id="421" name="wait (S){…"/>
          <p:cNvSpPr txBox="1">
            <a:spLocks noGrp="1"/>
          </p:cNvSpPr>
          <p:nvPr>
            <p:ph type="body" idx="1"/>
          </p:nvPr>
        </p:nvSpPr>
        <p:spPr>
          <a:xfrm>
            <a:off x="457200" y="1184275"/>
            <a:ext cx="8229600" cy="5610225"/>
          </a:xfrm>
          <a:prstGeom prst="rect">
            <a:avLst/>
          </a:prstGeom>
        </p:spPr>
        <p:txBody>
          <a:bodyPr/>
          <a:lstStyle/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 </a:t>
            </a:r>
            <a:r>
              <a:rPr dirty="0"/>
              <a:t>wait (S){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i="0" dirty="0"/>
              <a:t>	                   </a:t>
            </a:r>
            <a:r>
              <a:rPr i="0" dirty="0" err="1">
                <a:solidFill>
                  <a:srgbClr val="000000"/>
                </a:solidFill>
              </a:rPr>
              <a:t>S.value</a:t>
            </a:r>
            <a:r>
              <a:rPr i="0" dirty="0">
                <a:solidFill>
                  <a:srgbClr val="000000"/>
                </a:solidFill>
              </a:rPr>
              <a:t>--;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                   if (</a:t>
            </a:r>
            <a:r>
              <a:rPr dirty="0" err="1">
                <a:solidFill>
                  <a:srgbClr val="000000"/>
                </a:solidFill>
              </a:rPr>
              <a:t>S.value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i="1" dirty="0">
                <a:solidFill>
                  <a:srgbClr val="000000"/>
                </a:solidFill>
              </a:rPr>
              <a:t>&lt; </a:t>
            </a:r>
            <a:r>
              <a:rPr dirty="0">
                <a:solidFill>
                  <a:srgbClr val="000000"/>
                </a:solidFill>
              </a:rPr>
              <a:t>0) 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      add this process to waiting queue;</a:t>
            </a:r>
          </a:p>
          <a:p>
            <a:pPr marL="342900" lvl="7" indent="1526539">
              <a:spcBef>
                <a:spcPts val="300"/>
              </a:spcBef>
              <a:buSzTx/>
              <a:buNone/>
              <a:defRPr sz="1600" i="1">
                <a:solidFill>
                  <a:srgbClr val="0433FF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rPr sz="2400" dirty="0">
                <a:solidFill>
                  <a:srgbClr val="000000"/>
                </a:solidFill>
              </a:rPr>
              <a:t> block();</a:t>
            </a:r>
            <a:endParaRPr dirty="0">
              <a:solidFill>
                <a:srgbClr val="000000"/>
              </a:solidFill>
            </a:endParaRP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/>
              <a:t>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endParaRPr dirty="0"/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433FF"/>
                </a:solidFill>
              </a:rPr>
              <a:t>Signal (S){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                   </a:t>
            </a:r>
            <a:r>
              <a:rPr dirty="0" err="1">
                <a:solidFill>
                  <a:srgbClr val="000000"/>
                </a:solidFill>
              </a:rPr>
              <a:t>S.value</a:t>
            </a:r>
            <a:r>
              <a:rPr dirty="0">
                <a:solidFill>
                  <a:srgbClr val="000000"/>
                </a:solidFill>
              </a:rPr>
              <a:t>++;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                   if (</a:t>
            </a:r>
            <a:r>
              <a:rPr dirty="0" err="1">
                <a:solidFill>
                  <a:srgbClr val="000000"/>
                </a:solidFill>
              </a:rPr>
              <a:t>S.value</a:t>
            </a:r>
            <a:r>
              <a:rPr dirty="0">
                <a:solidFill>
                  <a:srgbClr val="000000"/>
                </a:solidFill>
              </a:rPr>
              <a:t> </a:t>
            </a:r>
            <a:r>
              <a:rPr i="1" dirty="0">
                <a:solidFill>
                  <a:srgbClr val="000000"/>
                </a:solidFill>
              </a:rPr>
              <a:t>&lt;</a:t>
            </a:r>
            <a:r>
              <a:rPr dirty="0">
                <a:solidFill>
                  <a:srgbClr val="000000"/>
                </a:solidFill>
              </a:rPr>
              <a:t>= 0) 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       remove a process P from the waiting queue;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			            wakeup(P); 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                       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/>
              <a:t> }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DEA920-8332-CA63-1ED7-79EDE931D8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94435"/>
            <a:ext cx="7772400" cy="4375436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1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D2F24-2278-0216-A308-167F62DFF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4CC52-9399-BCD3-431C-39928CD1E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6EE28D-2DCB-A929-AF2F-92343186F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882"/>
            <a:ext cx="9144000" cy="48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6465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424" name="Semaphores as Synchronization Tool"/>
          <p:cNvSpPr txBox="1">
            <a:spLocks noGrp="1"/>
          </p:cNvSpPr>
          <p:nvPr>
            <p:ph type="title"/>
          </p:nvPr>
        </p:nvSpPr>
        <p:spPr>
          <a:xfrm>
            <a:off x="609600" y="279400"/>
            <a:ext cx="8534400" cy="1076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t>Semaphores as Synchronization Tool</a:t>
            </a:r>
          </a:p>
        </p:txBody>
      </p:sp>
      <p:sp>
        <p:nvSpPr>
          <p:cNvPr id="425" name="Counting semaphore – integer value can range over an unrestricted domain…"/>
          <p:cNvSpPr txBox="1">
            <a:spLocks noGrp="1"/>
          </p:cNvSpPr>
          <p:nvPr>
            <p:ph type="body" idx="1"/>
          </p:nvPr>
        </p:nvSpPr>
        <p:spPr>
          <a:xfrm>
            <a:off x="457200" y="1527175"/>
            <a:ext cx="8229600" cy="561022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4180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</a:pPr>
            <a:r>
              <a: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Counting 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semaphore – integer value can range over an unrestricted domain</a:t>
            </a:r>
          </a:p>
          <a:p>
            <a:pPr>
              <a:buClr>
                <a:srgbClr val="4180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</a:pPr>
            <a:r>
              <a: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Binary</a:t>
            </a: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semaphore – integer value can range only between 0 and 1; can be simpler to implement</a:t>
            </a:r>
          </a:p>
          <a:p>
            <a:pPr lvl="1">
              <a:tabLst>
                <a:tab pos="2044700" algn="ctr"/>
                <a:tab pos="4559300" algn="ctr"/>
                <a:tab pos="4610100" algn="l"/>
              </a:tabLst>
            </a:pPr>
            <a:r>
              <a: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Also known as</a:t>
            </a:r>
            <a:r>
              <a:t> </a:t>
            </a:r>
            <a:r>
              <a:rPr>
                <a:solidFill>
                  <a:srgbClr val="4180FF"/>
                </a:solidFill>
                <a:uFill>
                  <a:solidFill>
                    <a:srgbClr val="4180FF"/>
                  </a:solidFill>
                </a:uFill>
              </a:rPr>
              <a:t>mutex locks</a:t>
            </a:r>
          </a:p>
          <a:p>
            <a:pPr>
              <a:buClr>
                <a:srgbClr val="727272"/>
              </a:buClr>
              <a:buSzTx/>
              <a:buFont typeface="Trebuchet MS"/>
              <a:buNone/>
              <a:tabLst>
                <a:tab pos="2044700" algn="ctr"/>
                <a:tab pos="4559300" algn="ctr"/>
                <a:tab pos="4610100" algn="l"/>
              </a:tabLst>
            </a:pPr>
            <a:endParaRPr>
              <a:solidFill>
                <a:srgbClr val="4180FF"/>
              </a:solidFill>
              <a:uFill>
                <a:solidFill>
                  <a:srgbClr val="4180FF"/>
                </a:solidFill>
              </a:uFill>
            </a:endParaRPr>
          </a:p>
          <a:p>
            <a:pPr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t>Provides mutual exclusion</a:t>
            </a:r>
          </a:p>
          <a:p>
            <a:pPr lvl="1">
              <a:buClr>
                <a:srgbClr val="0433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Semaphore S;    //  initialized to 1</a:t>
            </a:r>
          </a:p>
          <a:p>
            <a:pPr lvl="1">
              <a:buClr>
                <a:srgbClr val="0433FF"/>
              </a:buClr>
              <a:buFont typeface="Trebuchet MS"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wait (S);</a:t>
            </a:r>
          </a:p>
          <a:p>
            <a:pPr lvl="1">
              <a:buClr>
                <a:srgbClr val="0433FF"/>
              </a:buClr>
              <a:buSzTx/>
              <a:buFont typeface="Trebuchet MS"/>
              <a:buNone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       Critical Section</a:t>
            </a:r>
          </a:p>
          <a:p>
            <a:pPr lvl="1">
              <a:buClr>
                <a:srgbClr val="0433FF"/>
              </a:buClr>
              <a:buSzTx/>
              <a:buFont typeface="Trebuchet MS"/>
              <a:buNone/>
              <a:tabLst>
                <a:tab pos="2044700" algn="ctr"/>
                <a:tab pos="4559300" algn="ctr"/>
                <a:tab pos="4610100" algn="l"/>
              </a:tabLst>
              <a:defRPr>
                <a:solidFill>
                  <a:srgbClr val="0433FF"/>
                </a:solidFill>
                <a:uFill>
                  <a:solidFill>
                    <a:srgbClr val="0433FF"/>
                  </a:solidFill>
                </a:uFill>
              </a:defRPr>
            </a:pPr>
            <a:r>
              <a:t>     signal (S);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" grpId="1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420" name="Semaphores without Busy-Waiting"/>
          <p:cNvSpPr txBox="1">
            <a:spLocks noGrp="1"/>
          </p:cNvSpPr>
          <p:nvPr>
            <p:ph type="title"/>
          </p:nvPr>
        </p:nvSpPr>
        <p:spPr>
          <a:xfrm>
            <a:off x="609600" y="-366713"/>
            <a:ext cx="8534400" cy="107632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dirty="0"/>
              <a:t>Semaphores without Busy-Waiting</a:t>
            </a:r>
          </a:p>
        </p:txBody>
      </p:sp>
      <p:sp>
        <p:nvSpPr>
          <p:cNvPr id="421" name="wait (S){…"/>
          <p:cNvSpPr txBox="1">
            <a:spLocks noGrp="1"/>
          </p:cNvSpPr>
          <p:nvPr>
            <p:ph type="body" idx="1"/>
          </p:nvPr>
        </p:nvSpPr>
        <p:spPr>
          <a:xfrm>
            <a:off x="200346" y="2297895"/>
            <a:ext cx="5232714" cy="4165135"/>
          </a:xfrm>
          <a:prstGeom prst="rect">
            <a:avLst/>
          </a:prstGeom>
        </p:spPr>
        <p:txBody>
          <a:bodyPr/>
          <a:lstStyle/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dirty="0">
                <a:solidFill>
                  <a:srgbClr val="000000"/>
                </a:solidFill>
              </a:rPr>
              <a:t> </a:t>
            </a:r>
            <a:r>
              <a:rPr sz="1400" dirty="0"/>
              <a:t>wait (S){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i="0" dirty="0"/>
              <a:t>	                   </a:t>
            </a:r>
            <a:r>
              <a:rPr sz="1400" i="0" dirty="0" err="1">
                <a:solidFill>
                  <a:srgbClr val="000000"/>
                </a:solidFill>
              </a:rPr>
              <a:t>S.value</a:t>
            </a:r>
            <a:r>
              <a:rPr sz="1400" i="0" dirty="0">
                <a:solidFill>
                  <a:srgbClr val="000000"/>
                </a:solidFill>
              </a:rPr>
              <a:t>--;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                   if (</a:t>
            </a:r>
            <a:r>
              <a:rPr sz="1400" dirty="0" err="1">
                <a:solidFill>
                  <a:srgbClr val="000000"/>
                </a:solidFill>
              </a:rPr>
              <a:t>S.value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i="1" dirty="0">
                <a:solidFill>
                  <a:srgbClr val="000000"/>
                </a:solidFill>
              </a:rPr>
              <a:t>&lt; </a:t>
            </a:r>
            <a:r>
              <a:rPr sz="1400" dirty="0">
                <a:solidFill>
                  <a:srgbClr val="000000"/>
                </a:solidFill>
              </a:rPr>
              <a:t>0) 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		           add this process to waiting queue;</a:t>
            </a:r>
          </a:p>
          <a:p>
            <a:pPr marL="342900" lvl="7" indent="1526539">
              <a:spcBef>
                <a:spcPts val="300"/>
              </a:spcBef>
              <a:buSzTx/>
              <a:buNone/>
              <a:defRPr sz="1600" i="1">
                <a:solidFill>
                  <a:srgbClr val="0433FF"/>
                </a:solidFill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 block();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		    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/>
              <a:t>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endParaRPr sz="1400" dirty="0"/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00000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433FF"/>
                </a:solidFill>
              </a:rPr>
              <a:t>Signal (S){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                   </a:t>
            </a:r>
            <a:r>
              <a:rPr sz="1400" dirty="0" err="1">
                <a:solidFill>
                  <a:srgbClr val="000000"/>
                </a:solidFill>
              </a:rPr>
              <a:t>S.value</a:t>
            </a:r>
            <a:r>
              <a:rPr sz="1400" dirty="0">
                <a:solidFill>
                  <a:srgbClr val="000000"/>
                </a:solidFill>
              </a:rPr>
              <a:t>++;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                   if (</a:t>
            </a:r>
            <a:r>
              <a:rPr sz="1400" dirty="0" err="1">
                <a:solidFill>
                  <a:srgbClr val="000000"/>
                </a:solidFill>
              </a:rPr>
              <a:t>S.value</a:t>
            </a:r>
            <a:r>
              <a:rPr sz="1400" dirty="0">
                <a:solidFill>
                  <a:srgbClr val="000000"/>
                </a:solidFill>
              </a:rPr>
              <a:t> </a:t>
            </a:r>
            <a:r>
              <a:rPr sz="1400" i="1" dirty="0">
                <a:solidFill>
                  <a:srgbClr val="000000"/>
                </a:solidFill>
              </a:rPr>
              <a:t>&lt;</a:t>
            </a:r>
            <a:r>
              <a:rPr sz="1400" dirty="0">
                <a:solidFill>
                  <a:srgbClr val="000000"/>
                </a:solidFill>
              </a:rPr>
              <a:t>= 0) {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 i="1"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		            remove a process P from the waiting queue;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			            wakeup(P);  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>
                <a:solidFill>
                  <a:srgbClr val="000000"/>
                </a:solidFill>
              </a:rPr>
              <a:t>                        }</a:t>
            </a:r>
          </a:p>
          <a:p>
            <a:pPr marL="342900" marR="0" indent="-302259" defTabSz="457200">
              <a:spcBef>
                <a:spcPts val="0"/>
              </a:spcBef>
              <a:buSzTx/>
              <a:buNone/>
              <a:defRPr>
                <a:solidFill>
                  <a:srgbClr val="0433FF"/>
                </a:solidFill>
                <a:uFillTx/>
                <a:latin typeface="Garamond"/>
                <a:ea typeface="Garamond"/>
                <a:cs typeface="Garamond"/>
                <a:sym typeface="Garamond"/>
              </a:defRPr>
            </a:pPr>
            <a:r>
              <a:rPr sz="1400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225723005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72AEA-3AFF-ACB5-AEB1-E4CA17220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7F2109-AC9B-91CF-D1A8-8B8352F8A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F240D3-2AF9-4456-934E-AF75C36E1C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1669796"/>
            <a:ext cx="8262807" cy="374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126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4E03-8B47-9E46-5A79-45FAA71C9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Semaphore for serialization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1DE285-C695-884C-2390-82AD0D273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91227"/>
            <a:ext cx="6380205" cy="432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19339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428" name="Classical Problems of Synchronization"/>
          <p:cNvSpPr txBox="1">
            <a:spLocks noGrp="1"/>
          </p:cNvSpPr>
          <p:nvPr>
            <p:ph type="title"/>
          </p:nvPr>
        </p:nvSpPr>
        <p:spPr>
          <a:xfrm>
            <a:off x="731837" y="301625"/>
            <a:ext cx="8077201" cy="1298576"/>
          </a:xfrm>
          <a:prstGeom prst="rect">
            <a:avLst/>
          </a:prstGeom>
        </p:spPr>
        <p:txBody>
          <a:bodyPr/>
          <a:lstStyle/>
          <a:p>
            <a:r>
              <a:t>Classical Problems of Synchronization</a:t>
            </a:r>
          </a:p>
        </p:txBody>
      </p:sp>
      <p:sp>
        <p:nvSpPr>
          <p:cNvPr id="429" name="Bounded-Buffer Problem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Bounded-Buffer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Readers and Writers Problem</a:t>
            </a:r>
          </a:p>
          <a:p>
            <a:pPr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Dining-Philosophers Problem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737016" y="6381750"/>
            <a:ext cx="312068" cy="3048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32" name="Bounded-Buffer Problem"/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dirty="0"/>
              <a:t>Bounded-Buffer Problem</a:t>
            </a:r>
          </a:p>
        </p:txBody>
      </p:sp>
      <p:sp>
        <p:nvSpPr>
          <p:cNvPr id="433" name="Shared buffer with N slots to store at most N items…"/>
          <p:cNvSpPr txBox="1">
            <a:spLocks noGrp="1"/>
          </p:cNvSpPr>
          <p:nvPr>
            <p:ph type="body" idx="1"/>
          </p:nvPr>
        </p:nvSpPr>
        <p:spPr>
          <a:xfrm>
            <a:off x="565150" y="1660525"/>
            <a:ext cx="7210425" cy="5197475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Shared buffer with N slots to store at most N items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Producer processes data items and puts into the buffer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Consumer gets the data items from the buffer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Variable empty keeps number of empty slots in the butter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dirty="0"/>
              <a:t>Variable full keeps number of full items in the buffer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ounded-Buffer Problem">
            <a:extLst>
              <a:ext uri="{FF2B5EF4-FFF2-40B4-BE49-F238E27FC236}">
                <a16:creationId xmlns:a16="http://schemas.microsoft.com/office/drawing/2014/main" id="{0DFDF857-592A-7A97-78F0-F5E5003B7A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 Attempt to solve Bounded Buffer Problem</a:t>
            </a:r>
            <a:endParaRPr dirty="0"/>
          </a:p>
        </p:txBody>
      </p:sp>
      <p:sp>
        <p:nvSpPr>
          <p:cNvPr id="8" name="Shared buffer with N slots to store at most N items…">
            <a:extLst>
              <a:ext uri="{FF2B5EF4-FFF2-40B4-BE49-F238E27FC236}">
                <a16:creationId xmlns:a16="http://schemas.microsoft.com/office/drawing/2014/main" id="{84C1ECA4-E6B1-267B-5D5D-4D6C38710A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5605" y="5168353"/>
            <a:ext cx="8229600" cy="1500461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dirty="0"/>
              <a:t>It looks like producer and consumer doesn’t enter Critical Region at the same time. 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dirty="0"/>
              <a:t>However, is it True for all cases? </a:t>
            </a:r>
            <a:r>
              <a:rPr lang="en-US" dirty="0">
                <a:solidFill>
                  <a:srgbClr val="FF0000"/>
                </a:solidFill>
              </a:rPr>
              <a:t>No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9" name="Picture 8" descr="A screenshot of a whiteboard with writing on it&#10;&#10;AI-generated content may be incorrect.">
            <a:extLst>
              <a:ext uri="{FF2B5EF4-FFF2-40B4-BE49-F238E27FC236}">
                <a16:creationId xmlns:a16="http://schemas.microsoft.com/office/drawing/2014/main" id="{F74EF14C-CA51-6998-2B4A-2BC705155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95" y="1388792"/>
            <a:ext cx="7157545" cy="37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59671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3E5AB-4A5F-929E-6485-5791C0C00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oard with writing on it&#10;&#10;AI-generated content may be incorrect.">
            <a:extLst>
              <a:ext uri="{FF2B5EF4-FFF2-40B4-BE49-F238E27FC236}">
                <a16:creationId xmlns:a16="http://schemas.microsoft.com/office/drawing/2014/main" id="{2DD8197E-0121-74A7-D6B2-5767BAA79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69" y="1434301"/>
            <a:ext cx="7623473" cy="3650078"/>
          </a:xfrm>
          <a:prstGeom prst="rect">
            <a:avLst/>
          </a:prstGeom>
        </p:spPr>
      </p:pic>
      <p:sp>
        <p:nvSpPr>
          <p:cNvPr id="7" name="Bounded-Buffer Problem">
            <a:extLst>
              <a:ext uri="{FF2B5EF4-FFF2-40B4-BE49-F238E27FC236}">
                <a16:creationId xmlns:a16="http://schemas.microsoft.com/office/drawing/2014/main" id="{9F8AE72A-55D1-7BB0-1870-3632A8FFF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 Attempt to solve Bounded Buffer Problem</a:t>
            </a:r>
            <a:endParaRPr dirty="0"/>
          </a:p>
        </p:txBody>
      </p:sp>
      <p:sp>
        <p:nvSpPr>
          <p:cNvPr id="8" name="Shared buffer with N slots to store at most N items…">
            <a:extLst>
              <a:ext uri="{FF2B5EF4-FFF2-40B4-BE49-F238E27FC236}">
                <a16:creationId xmlns:a16="http://schemas.microsoft.com/office/drawing/2014/main" id="{DF9FFFAF-24F4-DC9A-4807-64B9FCA758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65605" y="5168353"/>
            <a:ext cx="8229600" cy="1500461"/>
          </a:xfrm>
          <a:prstGeom prst="rect">
            <a:avLst/>
          </a:prstGeom>
        </p:spPr>
        <p:txBody>
          <a:bodyPr/>
          <a:lstStyle/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dirty="0"/>
              <a:t>It looks like producer and consumer doesn’t enter Critical Region at the same time. </a:t>
            </a:r>
          </a:p>
          <a:p>
            <a:pPr>
              <a:buClr>
                <a:srgbClr val="727272"/>
              </a:buClr>
              <a:buFont typeface="Trebuchet MS"/>
              <a:defRPr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defRPr>
            </a:pPr>
            <a:r>
              <a:rPr lang="en-US" dirty="0"/>
              <a:t>However, is it True for all cases? </a:t>
            </a:r>
            <a:r>
              <a:rPr lang="en-US" dirty="0">
                <a:solidFill>
                  <a:srgbClr val="FF0000"/>
                </a:solidFill>
              </a:rPr>
              <a:t>No</a:t>
            </a:r>
            <a:endParaRPr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955529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whiteboard with writing on it&#10;&#10;AI-generated content may be incorrect.">
            <a:extLst>
              <a:ext uri="{FF2B5EF4-FFF2-40B4-BE49-F238E27FC236}">
                <a16:creationId xmlns:a16="http://schemas.microsoft.com/office/drawing/2014/main" id="{174D3986-E79A-4D42-7446-FD99ABDD3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2" y="2200487"/>
            <a:ext cx="7772400" cy="3765563"/>
          </a:xfrm>
          <a:prstGeom prst="rect">
            <a:avLst/>
          </a:prstGeom>
        </p:spPr>
      </p:pic>
      <p:sp>
        <p:nvSpPr>
          <p:cNvPr id="7" name="Bounded-Buffer Problem">
            <a:extLst>
              <a:ext uri="{FF2B5EF4-FFF2-40B4-BE49-F238E27FC236}">
                <a16:creationId xmlns:a16="http://schemas.microsoft.com/office/drawing/2014/main" id="{F164AC5A-3519-85AC-52EF-BDD8F35F0A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First attempt: Counter Example showing Mutual Exclusion is not protected.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5772748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board with red marker and text&#10;&#10;AI-generated content may be incorrect.">
            <a:extLst>
              <a:ext uri="{FF2B5EF4-FFF2-40B4-BE49-F238E27FC236}">
                <a16:creationId xmlns:a16="http://schemas.microsoft.com/office/drawing/2014/main" id="{04C943A5-0411-2D80-D734-D4AAF1E2B8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84131"/>
            <a:ext cx="9149631" cy="4269828"/>
          </a:xfrm>
          <a:prstGeom prst="rect">
            <a:avLst/>
          </a:prstGeom>
        </p:spPr>
      </p:pic>
      <p:sp>
        <p:nvSpPr>
          <p:cNvPr id="6" name="Bounded-Buffer Problem">
            <a:extLst>
              <a:ext uri="{FF2B5EF4-FFF2-40B4-BE49-F238E27FC236}">
                <a16:creationId xmlns:a16="http://schemas.microsoft.com/office/drawing/2014/main" id="{23EE937C-AF78-6FBC-B325-5E3FBE3BCC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1750"/>
            <a:ext cx="8229600" cy="16287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Second attempt: to solve the Bounded Buffer Problem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560825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rebuchet MS"/>
        <a:ea typeface="Trebuchet MS"/>
        <a:cs typeface="Trebuchet MS"/>
      </a:majorFont>
      <a:minorFont>
        <a:latin typeface="Trebuchet MS"/>
        <a:ea typeface="Trebuchet MS"/>
        <a:cs typeface="Trebuchet MS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01600" dir="2700000" rotWithShape="0">
              <a:srgbClr val="929292"/>
            </a:outerShdw>
          </a:effectLst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rgbClr val="3DA779"/>
            </a:gs>
            <a:gs pos="100000">
              <a:srgbClr val="1B573E"/>
            </a:gs>
          </a:gsLst>
          <a:lin ang="5400000" scaled="0"/>
        </a:gradFill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40639" marR="40639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727272"/>
            </a:solidFill>
            <a:effectLst/>
            <a:uFill>
              <a:solidFill>
                <a:srgbClr val="727272"/>
              </a:solidFill>
            </a:uFill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rgbClr val="000000"/>
          </a:solidFill>
          <a:prstDash val="solid"/>
          <a:round/>
        </a:ln>
        <a:effectLst>
          <a:outerShdw blurRad="63500" dist="101600" dir="2700000" rotWithShape="0">
            <a:srgbClr val="929292"/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7145</TotalTime>
  <Words>598</Words>
  <Application>Microsoft Macintosh PowerPoint</Application>
  <PresentationFormat>On-screen Show (4:3)</PresentationFormat>
  <Paragraphs>112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Copperplate Gothic Light</vt:lpstr>
      <vt:lpstr>Helvetica</vt:lpstr>
      <vt:lpstr>Lucida Grande</vt:lpstr>
      <vt:lpstr>Trebuchet MS</vt:lpstr>
      <vt:lpstr>White</vt:lpstr>
      <vt:lpstr>CSE 521 - Operating Systems Fall 2026</vt:lpstr>
      <vt:lpstr>Roadmap</vt:lpstr>
      <vt:lpstr>Synchronization Hardware</vt:lpstr>
      <vt:lpstr>Semaphores</vt:lpstr>
      <vt:lpstr>PowerPoint Presentation</vt:lpstr>
      <vt:lpstr>PowerPoint Presentation</vt:lpstr>
      <vt:lpstr>PowerPoint Presentation</vt:lpstr>
      <vt:lpstr>Semaphores without Busy-Waiting</vt:lpstr>
      <vt:lpstr>PowerPoint Presentation</vt:lpstr>
      <vt:lpstr>Semaphores as Synchronization Tool</vt:lpstr>
      <vt:lpstr>Semaphores without Busy-Waiting</vt:lpstr>
      <vt:lpstr>PowerPoint Presentation</vt:lpstr>
      <vt:lpstr>Semaphore for serialization</vt:lpstr>
      <vt:lpstr>Classical Problems of Synchronization</vt:lpstr>
      <vt:lpstr>Bounded-Buffer Problem</vt:lpstr>
      <vt:lpstr>First Attempt to solve Bounded Buffer Problem</vt:lpstr>
      <vt:lpstr>First Attempt to solve Bounded Buffer Problem</vt:lpstr>
      <vt:lpstr>First attempt: Counter Example showing Mutual Exclusion is not protected. </vt:lpstr>
      <vt:lpstr>Second attempt: to solve the Bounded Buffer Problem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521 - Operating Systems Fall 2022</dc:title>
  <cp:lastModifiedBy>Nine, MD S Zulkar</cp:lastModifiedBy>
  <cp:revision>17</cp:revision>
  <dcterms:modified xsi:type="dcterms:W3CDTF">2026-03-05T19:19:15Z</dcterms:modified>
</cp:coreProperties>
</file>