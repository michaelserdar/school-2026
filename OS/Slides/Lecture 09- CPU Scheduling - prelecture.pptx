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6" r:id="rId12"/>
    <p:sldId id="266" r:id="rId13"/>
    <p:sldId id="267" r:id="rId14"/>
    <p:sldId id="307" r:id="rId15"/>
    <p:sldId id="295" r:id="rId16"/>
    <p:sldId id="308" r:id="rId17"/>
    <p:sldId id="269" r:id="rId18"/>
    <p:sldId id="309" r:id="rId19"/>
    <p:sldId id="270" r:id="rId20"/>
    <p:sldId id="297" r:id="rId21"/>
    <p:sldId id="272" r:id="rId22"/>
    <p:sldId id="273" r:id="rId23"/>
    <p:sldId id="311" r:id="rId24"/>
    <p:sldId id="274" r:id="rId25"/>
    <p:sldId id="275" r:id="rId26"/>
    <p:sldId id="276" r:id="rId27"/>
    <p:sldId id="277" r:id="rId28"/>
    <p:sldId id="278" r:id="rId29"/>
    <p:sldId id="279" r:id="rId30"/>
    <p:sldId id="282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40639" marR="40639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1pPr>
    <a:lvl2pPr marL="40639" marR="40639" indent="2667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2pPr>
    <a:lvl3pPr marL="40639" marR="40639" indent="533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3pPr>
    <a:lvl4pPr marL="40639" marR="40639" indent="800099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4pPr>
    <a:lvl5pPr marL="40639" marR="40639" indent="1066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5pPr>
    <a:lvl6pPr marL="40639" marR="40639" indent="13335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6pPr>
    <a:lvl7pPr marL="40639" marR="40639" indent="16129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7pPr>
    <a:lvl8pPr marL="40639" marR="40639" indent="1879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8pPr>
    <a:lvl9pPr marL="40639" marR="40639" indent="21463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727272"/>
        </a:solidFill>
        <a:effectLst/>
        <a:uFill>
          <a:solidFill>
            <a:srgbClr val="727272"/>
          </a:solidFill>
        </a:u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94"/>
  </p:normalViewPr>
  <p:slideViewPr>
    <p:cSldViewPr snapToGrid="0">
      <p:cViewPr varScale="1">
        <p:scale>
          <a:sx n="121" d="100"/>
          <a:sy n="121" d="100"/>
        </p:scale>
        <p:origin x="2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This is the outline of today’s class.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At any instant, only one process can be in the running state.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L="0" marR="0" algn="ctr" defTabSz="457200">
              <a:defRPr sz="1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59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5461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521 - Operating Systems</a:t>
            </a:r>
            <a:br>
              <a:rPr dirty="0"/>
            </a:br>
            <a:r>
              <a:rPr dirty="0"/>
              <a:t>Fall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60" name="Tevfik Koşar"/>
          <p:cNvSpPr txBox="1">
            <a:spLocks noGrp="1"/>
          </p:cNvSpPr>
          <p:nvPr>
            <p:ph type="body" sz="half" idx="1"/>
          </p:nvPr>
        </p:nvSpPr>
        <p:spPr>
          <a:xfrm>
            <a:off x="1371599" y="3326606"/>
            <a:ext cx="6400801" cy="24257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727272"/>
              </a:buClr>
              <a:buSzTx/>
              <a:buFont typeface="Trebuchet MS"/>
              <a:buNone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lang="en-US" sz="1800" dirty="0"/>
              <a:t>Created by Dr. </a:t>
            </a:r>
            <a:r>
              <a:rPr sz="1800" dirty="0" err="1"/>
              <a:t>Tevfik</a:t>
            </a:r>
            <a:r>
              <a:rPr sz="1800" dirty="0"/>
              <a:t> </a:t>
            </a:r>
            <a:r>
              <a:rPr sz="1800" dirty="0" err="1"/>
              <a:t>Koşar</a:t>
            </a:r>
            <a:endParaRPr lang="en-US" sz="1800" dirty="0"/>
          </a:p>
          <a:p>
            <a:endParaRPr lang="en-US" sz="1800" dirty="0"/>
          </a:p>
          <a:p>
            <a:r>
              <a:rPr lang="en-US" dirty="0"/>
              <a:t>Presented By </a:t>
            </a:r>
          </a:p>
          <a:p>
            <a:r>
              <a:rPr lang="en-US" dirty="0"/>
              <a:t>Dr. </a:t>
            </a:r>
            <a:r>
              <a:rPr lang="en-US" dirty="0" err="1"/>
              <a:t>Zulkar</a:t>
            </a:r>
            <a:r>
              <a:rPr lang="en-US" dirty="0"/>
              <a:t> Nine</a:t>
            </a:r>
            <a:endParaRPr dirty="0"/>
          </a:p>
        </p:txBody>
      </p:sp>
      <p:sp>
        <p:nvSpPr>
          <p:cNvPr id="61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3" name="Lecture - VI CPU Scheduling - I"/>
          <p:cNvSpPr txBox="1"/>
          <p:nvPr/>
        </p:nvSpPr>
        <p:spPr>
          <a:xfrm>
            <a:off x="760412" y="2031544"/>
            <a:ext cx="7772401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buClr>
                <a:srgbClr val="4180FF"/>
              </a:buClr>
              <a:buFont typeface="Copperplate Gothic Light"/>
            </a:pPr>
            <a: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</a:t>
            </a:r>
            <a:r>
              <a:rPr lang="en-US"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9</a:t>
            </a:r>
            <a:b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sz="48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CPU Scheduling - I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66" name="Roa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67" name="CPU Schedul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CPU Scheduling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Basic Concepts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Scheduling Criteria &amp; Metrics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Different Scheduling Algorithms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FCFS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SJF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Priority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RR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Preemptive vs Non-preemptive Scheduling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Gantt Charts &amp; Performance Comparison</a:t>
            </a:r>
          </a:p>
        </p:txBody>
      </p:sp>
      <p:pic>
        <p:nvPicPr>
          <p:cNvPr id="68" name="roadmap.jpg" descr="roadmap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573837" y="4533900"/>
            <a:ext cx="2259013" cy="1779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73" name="Basic Concepts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Basic Concepts</a:t>
            </a:r>
          </a:p>
        </p:txBody>
      </p:sp>
      <p:sp>
        <p:nvSpPr>
          <p:cNvPr id="74" name="Multiprogramming is needed for efficient CPU utilization…"/>
          <p:cNvSpPr txBox="1">
            <a:spLocks noGrp="1"/>
          </p:cNvSpPr>
          <p:nvPr>
            <p:ph type="body" idx="1"/>
          </p:nvPr>
        </p:nvSpPr>
        <p:spPr>
          <a:xfrm>
            <a:off x="841375" y="1265237"/>
            <a:ext cx="7351713" cy="3429001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Multiprogramming is needed for efficient CPU utilization </a:t>
            </a:r>
          </a:p>
          <a:p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CPU Scheduling: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deciding which processes to execute when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Process execution begins with a</a:t>
            </a:r>
            <a:r>
              <a:rPr dirty="0"/>
              <a:t> </a:t>
            </a:r>
            <a:r>
              <a:rPr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CPU burst</a:t>
            </a:r>
            <a:r>
              <a:rPr dirty="0"/>
              <a:t>,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followed by an</a:t>
            </a:r>
            <a:r>
              <a:rPr dirty="0"/>
              <a:t> </a:t>
            </a:r>
            <a:r>
              <a:rPr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I/O burst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CPU–I/O Burst Cycle – Process execution consists of a </a:t>
            </a:r>
            <a:r>
              <a:rPr i="1" dirty="0"/>
              <a:t>cycle</a:t>
            </a:r>
            <a:r>
              <a:rPr dirty="0"/>
              <a:t> of CPU execution and I/O wait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7" name="Alternating Sequence of CPU And I/O Bursts"/>
          <p:cNvSpPr txBox="1">
            <a:spLocks noGrp="1"/>
          </p:cNvSpPr>
          <p:nvPr>
            <p:ph type="title"/>
          </p:nvPr>
        </p:nvSpPr>
        <p:spPr>
          <a:xfrm>
            <a:off x="904875" y="0"/>
            <a:ext cx="7924800" cy="1209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Alternating Sequence of CPU And I/O Bursts</a:t>
            </a:r>
          </a:p>
        </p:txBody>
      </p:sp>
      <p:pic>
        <p:nvPicPr>
          <p:cNvPr id="78" name="image.png" descr="image.png"/>
          <p:cNvPicPr>
            <a:picLocks/>
          </p:cNvPicPr>
          <p:nvPr/>
        </p:nvPicPr>
        <p:blipFill>
          <a:blip r:embed="rId2"/>
          <a:srcRect l="30032" t="788" r="30032" b="1576"/>
          <a:stretch>
            <a:fillRect/>
          </a:stretch>
        </p:blipFill>
        <p:spPr>
          <a:xfrm>
            <a:off x="3016250" y="996950"/>
            <a:ext cx="2974975" cy="5454650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81" name="Histogram of CPU-burst Dur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Histogram of CPU-burst Durations</a:t>
            </a:r>
          </a:p>
        </p:txBody>
      </p:sp>
      <p:pic>
        <p:nvPicPr>
          <p:cNvPr id="82" name="image.png" descr="image.png"/>
          <p:cNvPicPr>
            <a:picLocks/>
          </p:cNvPicPr>
          <p:nvPr/>
        </p:nvPicPr>
        <p:blipFill>
          <a:blip r:embed="rId2"/>
          <a:srcRect l="625" t="6123" r="418" b="6123"/>
          <a:stretch>
            <a:fillRect/>
          </a:stretch>
        </p:blipFill>
        <p:spPr>
          <a:xfrm>
            <a:off x="1654175" y="1812925"/>
            <a:ext cx="5702300" cy="3792538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85" name="Process State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7154863" cy="1143001"/>
          </a:xfrm>
          <a:prstGeom prst="rect">
            <a:avLst/>
          </a:prstGeom>
        </p:spPr>
        <p:txBody>
          <a:bodyPr/>
          <a:lstStyle/>
          <a:p>
            <a:r>
              <a:t>Process State</a:t>
            </a:r>
          </a:p>
        </p:txBody>
      </p:sp>
      <p:sp>
        <p:nvSpPr>
          <p:cNvPr id="86" name="As a process executes, it changes state…"/>
          <p:cNvSpPr txBox="1">
            <a:spLocks noGrp="1"/>
          </p:cNvSpPr>
          <p:nvPr>
            <p:ph type="body" sz="half" idx="1"/>
          </p:nvPr>
        </p:nvSpPr>
        <p:spPr>
          <a:xfrm>
            <a:off x="444500" y="1195387"/>
            <a:ext cx="7370763" cy="2501901"/>
          </a:xfrm>
          <a:prstGeom prst="rect">
            <a:avLst/>
          </a:prstGeom>
        </p:spPr>
        <p:txBody>
          <a:bodyPr/>
          <a:lstStyle/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As a process executes, it changes </a:t>
            </a:r>
            <a:r>
              <a:rPr sz="2000" i="1"/>
              <a:t>state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new</a:t>
            </a:r>
            <a:r>
              <a:rPr sz="1800"/>
              <a:t>:  The process is being created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ready</a:t>
            </a:r>
            <a:r>
              <a:rPr sz="1800"/>
              <a:t>:  The process is waiting to be assigned to a process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running</a:t>
            </a:r>
            <a:r>
              <a:rPr sz="1800"/>
              <a:t>:  Instructions are being executed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waiting</a:t>
            </a:r>
            <a:r>
              <a:rPr sz="1800"/>
              <a:t>:  The process is waiting for some event to occur</a:t>
            </a:r>
          </a:p>
          <a:p>
            <a:pPr lvl="1"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 b="1"/>
              <a:t>terminated</a:t>
            </a:r>
            <a:r>
              <a:rPr sz="1800"/>
              <a:t>:  The process has finished execution</a:t>
            </a:r>
          </a:p>
        </p:txBody>
      </p:sp>
      <p:pic>
        <p:nvPicPr>
          <p:cNvPr id="87" name="image.png" descr="image.png"/>
          <p:cNvPicPr>
            <a:picLocks/>
          </p:cNvPicPr>
          <p:nvPr/>
        </p:nvPicPr>
        <p:blipFill>
          <a:blip r:embed="rId3"/>
          <a:srcRect l="459" t="24142" r="689" b="24418"/>
          <a:stretch>
            <a:fillRect/>
          </a:stretch>
        </p:blipFill>
        <p:spPr>
          <a:xfrm>
            <a:off x="933450" y="3570287"/>
            <a:ext cx="6829425" cy="2665413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92" name="CPU Scheduler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CPU Scheduler</a:t>
            </a:r>
          </a:p>
        </p:txBody>
      </p:sp>
      <p:sp>
        <p:nvSpPr>
          <p:cNvPr id="93" name="Selects from among the processes in memory that are ready to execute, and allocates the CPU to one of them…"/>
          <p:cNvSpPr txBox="1">
            <a:spLocks noGrp="1"/>
          </p:cNvSpPr>
          <p:nvPr>
            <p:ph type="body" idx="1"/>
          </p:nvPr>
        </p:nvSpPr>
        <p:spPr>
          <a:xfrm>
            <a:off x="457200" y="1244600"/>
            <a:ext cx="8229600" cy="4927600"/>
          </a:xfrm>
          <a:prstGeom prst="rect">
            <a:avLst/>
          </a:prstGeom>
        </p:spPr>
        <p:txBody>
          <a:bodyPr/>
          <a:lstStyle/>
          <a:p>
            <a:pPr marL="326390" indent="-285750">
              <a:lnSpc>
                <a:spcPct val="90000"/>
              </a:lnSpc>
              <a:defRPr sz="20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Selects from among the processes in memory that are ready to execute, and allocates the CPU to one of them</a:t>
            </a:r>
          </a:p>
          <a:p>
            <a:pPr lvl="1">
              <a:lnSpc>
                <a:spcPct val="90000"/>
              </a:lnSpc>
              <a:buClr>
                <a:srgbClr val="727272"/>
              </a:buClr>
              <a:buSzTx/>
              <a:buFont typeface="Trebuchet MS"/>
              <a:buNone/>
              <a:defRPr sz="18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short-term scheduler</a:t>
            </a:r>
          </a:p>
          <a:p>
            <a:pPr marL="326390" indent="-285750">
              <a:lnSpc>
                <a:spcPct val="90000"/>
              </a:lnSpc>
              <a:defRPr sz="20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CPU scheduling decisions may take place when a process:</a:t>
            </a: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1. A new process arrives</a:t>
            </a:r>
            <a:endParaRPr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2. Terminates</a:t>
            </a:r>
            <a:endParaRPr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3.	Switches from running to waiting state</a:t>
            </a: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4.	Switches from running to ready state</a:t>
            </a:r>
          </a:p>
          <a:p>
            <a:pPr lvl="1">
              <a:lnSpc>
                <a:spcPct val="90000"/>
              </a:lnSpc>
              <a:buClr>
                <a:srgbClr val="D77A00"/>
              </a:buClr>
              <a:buSzTx/>
              <a:buFont typeface="Trebuchet MS"/>
              <a:buNone/>
            </a:pPr>
            <a:r>
              <a:rPr sz="1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5.	Switches from waiting to ready</a:t>
            </a:r>
          </a:p>
          <a:p>
            <a:pPr marL="326390" indent="-285750">
              <a:lnSpc>
                <a:spcPct val="90000"/>
              </a:lnSpc>
            </a:pPr>
            <a:r>
              <a:rPr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Scheduling under 2 and 3 is</a:t>
            </a:r>
            <a:r>
              <a:rPr sz="2000" dirty="0"/>
              <a:t> </a:t>
            </a:r>
            <a:r>
              <a:rPr sz="2000" i="1" dirty="0" err="1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nonpreemptive</a:t>
            </a:r>
            <a:endParaRPr sz="2000" i="1" dirty="0">
              <a:solidFill>
                <a:srgbClr val="FF4C00"/>
              </a:solidFill>
              <a:uFill>
                <a:solidFill>
                  <a:srgbClr val="FF4C00"/>
                </a:solidFill>
              </a:uFill>
            </a:endParaRP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Once a process gets the CPU, keeps it until termination/switching to waiting state/release of the CPU</a:t>
            </a:r>
          </a:p>
          <a:p>
            <a:pPr marL="326390" indent="-285750">
              <a:lnSpc>
                <a:spcPct val="90000"/>
              </a:lnSpc>
            </a:pPr>
            <a:r>
              <a:rPr sz="2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All other scheduling is </a:t>
            </a:r>
            <a:r>
              <a:rPr sz="2000" i="1"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preemptive</a:t>
            </a: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Most OS use this</a:t>
            </a: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Cost associated with access to shared data</a:t>
            </a:r>
          </a:p>
          <a:p>
            <a:pPr marL="755015" lvl="1" indent="-257175">
              <a:lnSpc>
                <a:spcPct val="9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i.e. time quota expires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96" name="Dispatcher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Dispatcher</a:t>
            </a:r>
          </a:p>
        </p:txBody>
      </p:sp>
      <p:sp>
        <p:nvSpPr>
          <p:cNvPr id="97" name="Dispatcher module gives control of the CPU to the process selected by the short-term scheduler;…"/>
          <p:cNvSpPr txBox="1">
            <a:spLocks noGrp="1"/>
          </p:cNvSpPr>
          <p:nvPr>
            <p:ph type="body" idx="1"/>
          </p:nvPr>
        </p:nvSpPr>
        <p:spPr>
          <a:xfrm>
            <a:off x="750887" y="1420812"/>
            <a:ext cx="7626351" cy="4483101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Dispatcher module gives control of the CPU to the process selected by the short-term scheduler; 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Its function involves: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switching context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switching to user mode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jumping to the proper location in the user program to restart that program</a:t>
            </a:r>
          </a:p>
          <a:p>
            <a:pPr>
              <a:buClr>
                <a:srgbClr val="FF4C00"/>
              </a:buClr>
              <a:buFont typeface="Trebuchet MS"/>
            </a:pPr>
            <a:r>
              <a:rPr i="1" dirty="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Dispatch latency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time it takes for the dispatcher to stop one process and start another running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00" name="Scheduling Criteria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Scheduling Criteria</a:t>
            </a:r>
          </a:p>
        </p:txBody>
      </p:sp>
      <p:sp>
        <p:nvSpPr>
          <p:cNvPr id="101" name="CPU utilization – keep the CPU as busy as possible --&gt; maximize…"/>
          <p:cNvSpPr txBox="1">
            <a:spLocks noGrp="1"/>
          </p:cNvSpPr>
          <p:nvPr>
            <p:ph type="body" idx="1"/>
          </p:nvPr>
        </p:nvSpPr>
        <p:spPr>
          <a:xfrm>
            <a:off x="497681" y="1352550"/>
            <a:ext cx="7569201" cy="49530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CPU utilization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keep the CPU as busy as possible --&gt; </a:t>
            </a:r>
            <a:r>
              <a:rPr>
                <a:solidFill>
                  <a:srgbClr val="0433FF"/>
                </a:solidFill>
              </a:rPr>
              <a:t>maximize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Throughput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# of processes that complete their execution per time unit --&gt;</a:t>
            </a:r>
            <a:r>
              <a:rPr>
                <a:solidFill>
                  <a:srgbClr val="0433FF"/>
                </a:solidFill>
              </a:rPr>
              <a:t>maximize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Turnaround time</a:t>
            </a:r>
            <a:r>
              <a:t> –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amount of time passed to finish execution of a particular process --&gt; </a:t>
            </a:r>
            <a:r>
              <a:rPr>
                <a:solidFill>
                  <a:srgbClr val="0433FF"/>
                </a:solidFill>
              </a:rPr>
              <a:t>minimize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i.e. execution time + waiting time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Waiting time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total amount of time a process has been waiting in the ready queue --&gt;</a:t>
            </a:r>
            <a:r>
              <a:rPr>
                <a:solidFill>
                  <a:srgbClr val="0433FF"/>
                </a:solidFill>
              </a:rPr>
              <a:t>minimize</a:t>
            </a:r>
          </a:p>
          <a:p>
            <a:pPr>
              <a:buClr>
                <a:srgbClr val="FF4C00"/>
              </a:buClr>
              <a:buFont typeface="Trebuchet MS"/>
            </a:pP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Response time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amount of time it takes from when a request was submitted until the first response is produced, 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not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output  (for time-sharing environment) --&gt;</a:t>
            </a:r>
            <a:r>
              <a:rPr>
                <a:solidFill>
                  <a:srgbClr val="0433FF"/>
                </a:solidFill>
              </a:rPr>
              <a:t>minimize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cheduling Metrics"/>
          <p:cNvSpPr txBox="1">
            <a:spLocks noGrp="1"/>
          </p:cNvSpPr>
          <p:nvPr>
            <p:ph type="title"/>
          </p:nvPr>
        </p:nvSpPr>
        <p:spPr>
          <a:xfrm>
            <a:off x="266700" y="92074"/>
            <a:ext cx="8229600" cy="1508126"/>
          </a:xfrm>
          <a:prstGeom prst="rect">
            <a:avLst/>
          </a:prstGeom>
        </p:spPr>
        <p:txBody>
          <a:bodyPr/>
          <a:lstStyle/>
          <a:p>
            <a:r>
              <a:t>Scheduling Metrics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5465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05" name="Scheduling metrics…"/>
          <p:cNvSpPr txBox="1"/>
          <p:nvPr/>
        </p:nvSpPr>
        <p:spPr>
          <a:xfrm>
            <a:off x="152400" y="977900"/>
            <a:ext cx="8242300" cy="275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indent="-455612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Scheduling metrics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arrival time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a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time the process became “Ready” (again)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wait time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w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time spent waiting for the CPU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service time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s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time spent executing in the CPU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turnaround time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= total time spent waiting and executing</a:t>
            </a:r>
          </a:p>
        </p:txBody>
      </p:sp>
      <p:sp>
        <p:nvSpPr>
          <p:cNvPr id="106" name="Rectangle"/>
          <p:cNvSpPr/>
          <p:nvPr/>
        </p:nvSpPr>
        <p:spPr>
          <a:xfrm>
            <a:off x="2476500" y="5105400"/>
            <a:ext cx="4699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07" name="Rectangle"/>
          <p:cNvSpPr/>
          <p:nvPr/>
        </p:nvSpPr>
        <p:spPr>
          <a:xfrm>
            <a:off x="2933700" y="5334000"/>
            <a:ext cx="4699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08" name="Rectangle"/>
          <p:cNvSpPr/>
          <p:nvPr/>
        </p:nvSpPr>
        <p:spPr>
          <a:xfrm>
            <a:off x="3390900" y="5562600"/>
            <a:ext cx="17653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grpSp>
        <p:nvGrpSpPr>
          <p:cNvPr id="111" name="Group"/>
          <p:cNvGrpSpPr/>
          <p:nvPr/>
        </p:nvGrpSpPr>
        <p:grpSpPr>
          <a:xfrm>
            <a:off x="5143500" y="5756008"/>
            <a:ext cx="1752600" cy="298984"/>
            <a:chOff x="0" y="2908"/>
            <a:chExt cx="1752600" cy="298983"/>
          </a:xfrm>
        </p:grpSpPr>
        <p:sp>
          <p:nvSpPr>
            <p:cNvPr id="109" name="Rectangle"/>
            <p:cNvSpPr/>
            <p:nvPr/>
          </p:nvSpPr>
          <p:spPr>
            <a:xfrm>
              <a:off x="0" y="38100"/>
              <a:ext cx="1752600" cy="228600"/>
            </a:xfrm>
            <a:prstGeom prst="rect">
              <a:avLst/>
            </a:prstGeom>
            <a:solidFill>
              <a:srgbClr val="FFD6D5"/>
            </a:solidFill>
            <a:ln w="9525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10" name="#5 executed"/>
            <p:cNvSpPr txBox="1"/>
            <p:nvPr/>
          </p:nvSpPr>
          <p:spPr>
            <a:xfrm>
              <a:off x="0" y="2908"/>
              <a:ext cx="1752600" cy="298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spcBef>
                  <a:spcPts val="300"/>
                </a:spcBef>
                <a:buClr>
                  <a:srgbClr val="FF2600"/>
                </a:buClr>
                <a:buFont typeface="Wingdings"/>
                <a:defRPr sz="1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</a:defRPr>
              </a:lvl1pPr>
            </a:lstStyle>
            <a:p>
              <a:r>
                <a:t>#5 executed</a:t>
              </a:r>
            </a:p>
          </p:txBody>
        </p:sp>
      </p:grpSp>
      <p:sp>
        <p:nvSpPr>
          <p:cNvPr id="112" name="Tr"/>
          <p:cNvSpPr txBox="1"/>
          <p:nvPr/>
        </p:nvSpPr>
        <p:spPr>
          <a:xfrm>
            <a:off x="4475405" y="6184900"/>
            <a:ext cx="337652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r</a:t>
            </a:r>
          </a:p>
        </p:txBody>
      </p:sp>
      <p:grpSp>
        <p:nvGrpSpPr>
          <p:cNvPr id="115" name="Group"/>
          <p:cNvGrpSpPr/>
          <p:nvPr/>
        </p:nvGrpSpPr>
        <p:grpSpPr>
          <a:xfrm>
            <a:off x="2247900" y="4460608"/>
            <a:ext cx="1752600" cy="298984"/>
            <a:chOff x="0" y="2908"/>
            <a:chExt cx="1752600" cy="298983"/>
          </a:xfrm>
        </p:grpSpPr>
        <p:sp>
          <p:nvSpPr>
            <p:cNvPr id="113" name="Rectangle"/>
            <p:cNvSpPr/>
            <p:nvPr/>
          </p:nvSpPr>
          <p:spPr>
            <a:xfrm>
              <a:off x="0" y="38100"/>
              <a:ext cx="1752600" cy="2286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260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14" name="#5 arrived"/>
            <p:cNvSpPr txBox="1"/>
            <p:nvPr/>
          </p:nvSpPr>
          <p:spPr>
            <a:xfrm>
              <a:off x="0" y="2908"/>
              <a:ext cx="1752600" cy="2989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spcBef>
                  <a:spcPts val="300"/>
                </a:spcBef>
                <a:buClr>
                  <a:srgbClr val="FF2600"/>
                </a:buClr>
                <a:buFont typeface="Wingdings"/>
                <a:defRPr sz="1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</a:defRPr>
              </a:lvl1pPr>
            </a:lstStyle>
            <a:p>
              <a:r>
                <a:t>#5 arrived</a:t>
              </a:r>
            </a:p>
          </p:txBody>
        </p:sp>
      </p:grpSp>
      <p:sp>
        <p:nvSpPr>
          <p:cNvPr id="116" name="Rectangle"/>
          <p:cNvSpPr/>
          <p:nvPr/>
        </p:nvSpPr>
        <p:spPr>
          <a:xfrm>
            <a:off x="2019300" y="4267200"/>
            <a:ext cx="4699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7B1142"/>
            </a:solidFill>
            <a:prstDash val="dash"/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17" name="Line"/>
          <p:cNvSpPr/>
          <p:nvPr/>
        </p:nvSpPr>
        <p:spPr>
          <a:xfrm>
            <a:off x="2247900" y="4191000"/>
            <a:ext cx="1588" cy="2286000"/>
          </a:xfrm>
          <a:prstGeom prst="line">
            <a:avLst/>
          </a:prstGeom>
          <a:ln>
            <a:solidFill>
              <a:srgbClr val="7B1142"/>
            </a:solidFill>
            <a:prstDash val="sysDot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18" name="Rectangle"/>
          <p:cNvSpPr/>
          <p:nvPr/>
        </p:nvSpPr>
        <p:spPr>
          <a:xfrm>
            <a:off x="2019300" y="4876800"/>
            <a:ext cx="469900" cy="228600"/>
          </a:xfrm>
          <a:prstGeom prst="rect">
            <a:avLst/>
          </a:prstGeom>
          <a:solidFill>
            <a:srgbClr val="A7A7A7"/>
          </a:solidFill>
          <a:ln>
            <a:solidFill>
              <a:srgbClr val="7B1142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19" name="Line"/>
          <p:cNvSpPr/>
          <p:nvPr/>
        </p:nvSpPr>
        <p:spPr>
          <a:xfrm>
            <a:off x="6896100" y="4495800"/>
            <a:ext cx="1588" cy="1981200"/>
          </a:xfrm>
          <a:prstGeom prst="line">
            <a:avLst/>
          </a:prstGeom>
          <a:ln>
            <a:solidFill>
              <a:srgbClr val="7B1142"/>
            </a:solidFill>
            <a:prstDash val="sysDot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0" name="Arrival times"/>
          <p:cNvSpPr txBox="1"/>
          <p:nvPr/>
        </p:nvSpPr>
        <p:spPr>
          <a:xfrm>
            <a:off x="563042" y="4332287"/>
            <a:ext cx="113292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300"/>
              </a:spcBef>
              <a:buClr>
                <a:srgbClr val="7B1142"/>
              </a:buClr>
              <a:buFont typeface="Wingdings"/>
              <a:defRPr sz="1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</a:defRPr>
            </a:lvl1pPr>
          </a:lstStyle>
          <a:p>
            <a:r>
              <a:t>Arrival times</a:t>
            </a:r>
          </a:p>
        </p:txBody>
      </p:sp>
      <p:sp>
        <p:nvSpPr>
          <p:cNvPr id="121" name="Execution times"/>
          <p:cNvSpPr txBox="1"/>
          <p:nvPr/>
        </p:nvSpPr>
        <p:spPr>
          <a:xfrm>
            <a:off x="286414" y="5486400"/>
            <a:ext cx="1409959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300"/>
              </a:spcBef>
              <a:buClr>
                <a:srgbClr val="7B1142"/>
              </a:buClr>
              <a:buFont typeface="Wingdings"/>
              <a:defRPr sz="1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</a:defRPr>
            </a:lvl1pPr>
          </a:lstStyle>
          <a:p>
            <a:r>
              <a:t>Execution times</a:t>
            </a:r>
          </a:p>
        </p:txBody>
      </p:sp>
      <p:sp>
        <p:nvSpPr>
          <p:cNvPr id="122" name="= Tw + Ts"/>
          <p:cNvSpPr txBox="1"/>
          <p:nvPr/>
        </p:nvSpPr>
        <p:spPr>
          <a:xfrm>
            <a:off x="7766050" y="3149600"/>
            <a:ext cx="1198374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spcBef>
                <a:spcPts val="5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=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w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+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sz="2800" i="1" baseline="-25000">
                <a:latin typeface="Arial Narrow"/>
                <a:ea typeface="Arial Narrow"/>
                <a:cs typeface="Arial Narrow"/>
                <a:sym typeface="Arial Narrow"/>
              </a:rPr>
              <a:t>s</a:t>
            </a:r>
          </a:p>
        </p:txBody>
      </p:sp>
      <p:sp>
        <p:nvSpPr>
          <p:cNvPr id="123" name="Ts"/>
          <p:cNvSpPr txBox="1"/>
          <p:nvPr/>
        </p:nvSpPr>
        <p:spPr>
          <a:xfrm>
            <a:off x="5850527" y="4800600"/>
            <a:ext cx="365533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s</a:t>
            </a:r>
          </a:p>
        </p:txBody>
      </p:sp>
      <p:sp>
        <p:nvSpPr>
          <p:cNvPr id="124" name="Line"/>
          <p:cNvSpPr/>
          <p:nvPr/>
        </p:nvSpPr>
        <p:spPr>
          <a:xfrm>
            <a:off x="5143500" y="4800600"/>
            <a:ext cx="1752600" cy="1588"/>
          </a:xfrm>
          <a:prstGeom prst="line">
            <a:avLst/>
          </a:prstGeom>
          <a:ln w="19050">
            <a:solidFill>
              <a:srgbClr val="7B1142"/>
            </a:solidFill>
            <a:headEnd type="triangle"/>
            <a:tailEnd type="triangle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5" name="Tw"/>
          <p:cNvSpPr txBox="1"/>
          <p:nvPr/>
        </p:nvSpPr>
        <p:spPr>
          <a:xfrm>
            <a:off x="3469079" y="4800600"/>
            <a:ext cx="402442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w</a:t>
            </a:r>
          </a:p>
        </p:txBody>
      </p:sp>
      <p:sp>
        <p:nvSpPr>
          <p:cNvPr id="126" name="Line"/>
          <p:cNvSpPr/>
          <p:nvPr/>
        </p:nvSpPr>
        <p:spPr>
          <a:xfrm>
            <a:off x="2247900" y="4800600"/>
            <a:ext cx="2895600" cy="1588"/>
          </a:xfrm>
          <a:prstGeom prst="line">
            <a:avLst/>
          </a:prstGeom>
          <a:ln w="19050">
            <a:solidFill>
              <a:srgbClr val="7B1142"/>
            </a:solidFill>
            <a:headEnd type="triangle"/>
            <a:tailEnd type="triangle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27" name="Tr / Ts = 2.5"/>
          <p:cNvSpPr txBox="1"/>
          <p:nvPr/>
        </p:nvSpPr>
        <p:spPr>
          <a:xfrm>
            <a:off x="7221797" y="5689600"/>
            <a:ext cx="1229794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FF2600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 sz="2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2000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/</a:t>
            </a:r>
            <a:r>
              <a:rPr sz="2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2000" i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</a:t>
            </a:r>
            <a:r>
              <a:rPr sz="2000" i="1" baseline="-25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sz="200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= 2.5</a:t>
            </a:r>
          </a:p>
        </p:txBody>
      </p:sp>
      <p:sp>
        <p:nvSpPr>
          <p:cNvPr id="128" name="Ta"/>
          <p:cNvSpPr txBox="1"/>
          <p:nvPr/>
        </p:nvSpPr>
        <p:spPr>
          <a:xfrm>
            <a:off x="2054120" y="3733800"/>
            <a:ext cx="37486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spcBef>
                <a:spcPts val="400"/>
              </a:spcBef>
              <a:buClr>
                <a:srgbClr val="7B1142"/>
              </a:buClr>
              <a:buFont typeface="Wingdings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i="1"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i="1" baseline="-25000">
                <a:latin typeface="Arial Narrow"/>
                <a:ea typeface="Arial Narrow"/>
                <a:cs typeface="Arial Narrow"/>
                <a:sym typeface="Arial Narrow"/>
              </a:rPr>
              <a:t>a</a:t>
            </a:r>
          </a:p>
        </p:txBody>
      </p:sp>
      <p:sp>
        <p:nvSpPr>
          <p:cNvPr id="129" name="Circle"/>
          <p:cNvSpPr/>
          <p:nvPr/>
        </p:nvSpPr>
        <p:spPr>
          <a:xfrm>
            <a:off x="2019300" y="37338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0" name="Circle"/>
          <p:cNvSpPr/>
          <p:nvPr/>
        </p:nvSpPr>
        <p:spPr>
          <a:xfrm>
            <a:off x="3467100" y="48006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1" name="Circle"/>
          <p:cNvSpPr/>
          <p:nvPr/>
        </p:nvSpPr>
        <p:spPr>
          <a:xfrm>
            <a:off x="5829300" y="48006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2" name="Circle"/>
          <p:cNvSpPr/>
          <p:nvPr/>
        </p:nvSpPr>
        <p:spPr>
          <a:xfrm>
            <a:off x="4419600" y="6235700"/>
            <a:ext cx="457200" cy="457200"/>
          </a:xfrm>
          <a:prstGeom prst="ellipse">
            <a:avLst/>
          </a:prstGeom>
          <a:ln>
            <a:solidFill>
              <a:srgbClr val="7B1142"/>
            </a:solidFill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3" name="Line"/>
          <p:cNvSpPr/>
          <p:nvPr/>
        </p:nvSpPr>
        <p:spPr>
          <a:xfrm flipV="1">
            <a:off x="2260600" y="6232883"/>
            <a:ext cx="4635500" cy="15518"/>
          </a:xfrm>
          <a:prstGeom prst="line">
            <a:avLst/>
          </a:prstGeom>
          <a:ln w="19050">
            <a:solidFill>
              <a:srgbClr val="7B1142"/>
            </a:solidFill>
            <a:headEnd type="triangle"/>
            <a:tailEnd type="triangle"/>
          </a:ln>
        </p:spPr>
        <p:txBody>
          <a:bodyPr lIns="0" tIns="0" rIns="0" bIns="0"/>
          <a:lstStyle/>
          <a:p>
            <a:pPr marL="0" marR="0" defTabSz="457200">
              <a:defRPr sz="12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D8B2-19DF-3A34-541F-D0143CE6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74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irst-Come, First-Served (FCFS)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First-Come, First-Served (FCFS) Scheduling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grpSp>
        <p:nvGrpSpPr>
          <p:cNvPr id="150" name="Group"/>
          <p:cNvGrpSpPr/>
          <p:nvPr/>
        </p:nvGrpSpPr>
        <p:grpSpPr>
          <a:xfrm>
            <a:off x="688975" y="5370512"/>
            <a:ext cx="7772400" cy="576263"/>
            <a:chOff x="0" y="0"/>
            <a:chExt cx="7772400" cy="576262"/>
          </a:xfrm>
        </p:grpSpPr>
        <p:pic>
          <p:nvPicPr>
            <p:cNvPr id="137" name="image.png" descr="image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462"/>
              <a:ext cx="7772400" cy="558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8" name="A"/>
            <p:cNvSpPr txBox="1"/>
            <p:nvPr/>
          </p:nvSpPr>
          <p:spPr>
            <a:xfrm>
              <a:off x="2514600" y="0"/>
              <a:ext cx="1651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39" name="B"/>
            <p:cNvSpPr txBox="1"/>
            <p:nvPr/>
          </p:nvSpPr>
          <p:spPr>
            <a:xfrm>
              <a:off x="341153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140" name="C"/>
            <p:cNvSpPr txBox="1"/>
            <p:nvPr/>
          </p:nvSpPr>
          <p:spPr>
            <a:xfrm>
              <a:off x="430053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141" name="D"/>
            <p:cNvSpPr txBox="1"/>
            <p:nvPr/>
          </p:nvSpPr>
          <p:spPr>
            <a:xfrm>
              <a:off x="51546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D</a:t>
              </a:r>
            </a:p>
          </p:txBody>
        </p:sp>
        <p:sp>
          <p:nvSpPr>
            <p:cNvPr id="142" name="E"/>
            <p:cNvSpPr txBox="1"/>
            <p:nvPr/>
          </p:nvSpPr>
          <p:spPr>
            <a:xfrm>
              <a:off x="605313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143" name="Mean"/>
            <p:cNvSpPr txBox="1"/>
            <p:nvPr/>
          </p:nvSpPr>
          <p:spPr>
            <a:xfrm>
              <a:off x="6934200" y="0"/>
              <a:ext cx="4699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>
                <a:spcBef>
                  <a:spcPts val="300"/>
                </a:spcBef>
                <a:buClr>
                  <a:srgbClr val="FF2600"/>
                </a:buClr>
                <a:buFont typeface="Wingdings"/>
                <a:defRPr sz="1300" b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Mean</a:t>
              </a:r>
            </a:p>
          </p:txBody>
        </p:sp>
        <p:sp>
          <p:nvSpPr>
            <p:cNvPr id="144" name="Rectangle"/>
            <p:cNvSpPr/>
            <p:nvPr/>
          </p:nvSpPr>
          <p:spPr>
            <a:xfrm>
              <a:off x="2667000" y="44450"/>
              <a:ext cx="546100" cy="495300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5" name="Rectangle"/>
            <p:cNvSpPr/>
            <p:nvPr/>
          </p:nvSpPr>
          <p:spPr>
            <a:xfrm>
              <a:off x="35814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6" name="Rectangle"/>
            <p:cNvSpPr/>
            <p:nvPr/>
          </p:nvSpPr>
          <p:spPr>
            <a:xfrm>
              <a:off x="44958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7" name="Rectangle"/>
            <p:cNvSpPr/>
            <p:nvPr/>
          </p:nvSpPr>
          <p:spPr>
            <a:xfrm>
              <a:off x="53340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8" name="Rectangle"/>
            <p:cNvSpPr/>
            <p:nvPr/>
          </p:nvSpPr>
          <p:spPr>
            <a:xfrm>
              <a:off x="6248400" y="42862"/>
              <a:ext cx="546100" cy="495301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49" name="Rectangle"/>
            <p:cNvSpPr/>
            <p:nvPr/>
          </p:nvSpPr>
          <p:spPr>
            <a:xfrm>
              <a:off x="7010400" y="195262"/>
              <a:ext cx="546100" cy="344489"/>
            </a:xfrm>
            <a:prstGeom prst="rect">
              <a:avLst/>
            </a:prstGeom>
            <a:solidFill>
              <a:srgbClr val="E5F0F1"/>
            </a:solidFill>
            <a:ln w="9525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</p:grpSp>
      <p:sp>
        <p:nvSpPr>
          <p:cNvPr id="151" name="FCFS scheduling policy"/>
          <p:cNvSpPr txBox="1"/>
          <p:nvPr/>
        </p:nvSpPr>
        <p:spPr>
          <a:xfrm>
            <a:off x="3439946" y="5957887"/>
            <a:ext cx="2279983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buClr>
                <a:srgbClr val="C51B05"/>
              </a:buClr>
              <a:buFont typeface="Arial Narrow"/>
              <a:defRPr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FCFS scheduling policy</a:t>
            </a:r>
          </a:p>
        </p:txBody>
      </p:sp>
      <p:sp>
        <p:nvSpPr>
          <p:cNvPr id="152" name="processes are assigned the CPU in the order they request it…"/>
          <p:cNvSpPr txBox="1"/>
          <p:nvPr/>
        </p:nvSpPr>
        <p:spPr>
          <a:xfrm>
            <a:off x="457200" y="1295400"/>
            <a:ext cx="8242300" cy="1308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processes are assigned the CPU in the order they request it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when the running process blocks, the first “Ready” is run next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when a process gets “Ready”, it is put at the end of the queue</a:t>
            </a:r>
          </a:p>
        </p:txBody>
      </p:sp>
      <p:grpSp>
        <p:nvGrpSpPr>
          <p:cNvPr id="171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156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154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55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159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157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58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162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160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1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165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163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4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168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166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67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169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170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72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A7A7A7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83" name="FCFS Scheduling - Example"/>
          <p:cNvSpPr txBox="1">
            <a:spLocks noGrp="1"/>
          </p:cNvSpPr>
          <p:nvPr>
            <p:ph type="title"/>
          </p:nvPr>
        </p:nvSpPr>
        <p:spPr>
          <a:xfrm>
            <a:off x="654050" y="0"/>
            <a:ext cx="8340725" cy="1168400"/>
          </a:xfrm>
          <a:prstGeom prst="rect">
            <a:avLst/>
          </a:prstGeom>
        </p:spPr>
        <p:txBody>
          <a:bodyPr/>
          <a:lstStyle/>
          <a:p>
            <a:r>
              <a:t>FCFS Scheduling - Example</a:t>
            </a:r>
          </a:p>
        </p:txBody>
      </p:sp>
      <p:sp>
        <p:nvSpPr>
          <p:cNvPr id="184" name="Process Burst Time…"/>
          <p:cNvSpPr txBox="1">
            <a:spLocks noGrp="1"/>
          </p:cNvSpPr>
          <p:nvPr>
            <p:ph type="body" idx="1"/>
          </p:nvPr>
        </p:nvSpPr>
        <p:spPr>
          <a:xfrm>
            <a:off x="782637" y="1136650"/>
            <a:ext cx="7566026" cy="56578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		</a:t>
            </a:r>
            <a:r>
              <a:rPr u="sng" dirty="0"/>
              <a:t>Process</a:t>
            </a:r>
            <a:r>
              <a:rPr dirty="0"/>
              <a:t>	</a:t>
            </a:r>
            <a:r>
              <a:rPr u="sng" dirty="0"/>
              <a:t>Burst Time	</a:t>
            </a:r>
          </a:p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	24</a:t>
            </a:r>
          </a:p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</a:t>
            </a:r>
            <a:r>
              <a:rPr dirty="0"/>
              <a:t> 	3</a:t>
            </a:r>
          </a:p>
          <a:p>
            <a:pPr>
              <a:lnSpc>
                <a:spcPct val="90000"/>
              </a:lnSpc>
              <a:buSzTx/>
              <a:buNone/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3	 </a:t>
            </a:r>
            <a:r>
              <a:rPr dirty="0"/>
              <a:t>3</a:t>
            </a:r>
            <a:r>
              <a:rPr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Suppose that the processes arrive in the order: 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2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3 </a:t>
            </a:r>
            <a:endParaRPr lang="en-US" i="1" baseline="-25000" dirty="0"/>
          </a:p>
          <a:p>
            <a:pPr>
              <a:lnSpc>
                <a:spcPct val="90000"/>
              </a:lnSpc>
              <a:tabLst>
                <a:tab pos="3073400" algn="ctr"/>
                <a:tab pos="4673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i="1" baseline="-25000" dirty="0"/>
              <a:t>Waiting time ? Average waiting time?</a:t>
            </a:r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DCF2-7641-B47B-4DFA-EB9AC8A3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699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02" name="FCFS Scheduling -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FCFS Scheduling - Example</a:t>
            </a:r>
          </a:p>
        </p:txBody>
      </p:sp>
      <p:sp>
        <p:nvSpPr>
          <p:cNvPr id="203" name="Suppose that the processes arrive in the ord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3695700" algn="ctr"/>
                <a:tab pos="36957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Suppose that the processes arrive in the order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3695700" algn="ctr"/>
                <a:tab pos="36957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3</a:t>
            </a:r>
            <a:r>
              <a:rPr dirty="0"/>
              <a:t> , 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87194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93CD-FE2A-05E5-B269-DF652D24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2B30F-0FEB-AC39-A202-AB54F2664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913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21" name="Shortest-Job-First (SJF)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Shortest-Job-First (SJF) Scheduling</a:t>
            </a:r>
          </a:p>
        </p:txBody>
      </p:sp>
      <p:sp>
        <p:nvSpPr>
          <p:cNvPr id="222" name="Associate with each process the length of its next CPU burst.  Use these lengths to schedule the process with the shortest tim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Associate with each process the length of its next CPU burst.  Use these lengths to schedule the process with the shortest time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Two schemes: </a:t>
            </a:r>
          </a:p>
          <a:p>
            <a:pPr lvl="1"/>
            <a:r>
              <a:rPr lang="en-US" dirty="0" err="1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N</a:t>
            </a:r>
            <a:r>
              <a:rPr dirty="0" err="1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onpreemptive</a:t>
            </a:r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 –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once CPU given to the process it cannot be preempted until completes its CPU burst</a:t>
            </a:r>
          </a:p>
          <a:p>
            <a:pPr lvl="1"/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preemptive –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if a new process arrives with CPU burst length less than remaining time of current executing process, preempt.     --&gt;This scheme is know as the </a:t>
            </a:r>
            <a:r>
              <a:rPr dirty="0">
                <a:solidFill>
                  <a:srgbClr val="0042AA"/>
                </a:solidFill>
                <a:uFill>
                  <a:solidFill>
                    <a:srgbClr val="0042AA"/>
                  </a:solidFill>
                </a:uFill>
              </a:rPr>
              <a:t>Shortest-Remaining-Time-First (SRTF)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SJF is optimal – gives minimum average waiting time for a given set of processes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5D25-2C20-072A-9C1F-97348AC9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1A8F9-88CE-949D-338A-44699CD90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8159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Non-Preemptive SJ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Non-Preemptive SJF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grpSp>
        <p:nvGrpSpPr>
          <p:cNvPr id="243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228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226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7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231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229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0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234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232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3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237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235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6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240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238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9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241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242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44" name="SJF scheduling policy"/>
          <p:cNvSpPr txBox="1"/>
          <p:nvPr/>
        </p:nvSpPr>
        <p:spPr>
          <a:xfrm>
            <a:off x="3511929" y="5957887"/>
            <a:ext cx="213443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buClr>
                <a:srgbClr val="7B1142"/>
              </a:buClr>
              <a:buFont typeface="Arial Narrow"/>
              <a:defRPr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SJF scheduling policy</a:t>
            </a:r>
          </a:p>
        </p:txBody>
      </p:sp>
      <p:sp>
        <p:nvSpPr>
          <p:cNvPr id="245" name="nonpreemptive, assumes the run times are known in advance…"/>
          <p:cNvSpPr txBox="1"/>
          <p:nvPr/>
        </p:nvSpPr>
        <p:spPr>
          <a:xfrm>
            <a:off x="444500" y="1397000"/>
            <a:ext cx="8242300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nonpreemptive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, assumes the run times are known in advance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among several equally important “Ready” jobs (or CPU bursts), the scheduler picks the one that will finish the earliest</a:t>
            </a:r>
          </a:p>
        </p:txBody>
      </p:sp>
      <p:grpSp>
        <p:nvGrpSpPr>
          <p:cNvPr id="258" name="Group"/>
          <p:cNvGrpSpPr/>
          <p:nvPr/>
        </p:nvGrpSpPr>
        <p:grpSpPr>
          <a:xfrm>
            <a:off x="682625" y="4457700"/>
            <a:ext cx="7778750" cy="1493839"/>
            <a:chOff x="0" y="228600"/>
            <a:chExt cx="7778750" cy="1493838"/>
          </a:xfrm>
        </p:grpSpPr>
        <p:sp>
          <p:nvSpPr>
            <p:cNvPr id="247" name="Shortest Job First (SJF)"/>
            <p:cNvSpPr txBox="1"/>
            <p:nvPr/>
          </p:nvSpPr>
          <p:spPr>
            <a:xfrm>
              <a:off x="536575" y="228600"/>
              <a:ext cx="1384300" cy="5009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Shortest Job First (SJF)</a:t>
              </a:r>
            </a:p>
          </p:txBody>
        </p:sp>
        <p:grpSp>
          <p:nvGrpSpPr>
            <p:cNvPr id="257" name="Group"/>
            <p:cNvGrpSpPr/>
            <p:nvPr/>
          </p:nvGrpSpPr>
          <p:grpSpPr>
            <a:xfrm>
              <a:off x="0" y="1138237"/>
              <a:ext cx="7778750" cy="584201"/>
              <a:chOff x="0" y="0"/>
              <a:chExt cx="7778750" cy="584200"/>
            </a:xfrm>
          </p:grpSpPr>
          <p:pic>
            <p:nvPicPr>
              <p:cNvPr id="249" name="image.png" descr="image.png"/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2700"/>
                <a:ext cx="7778750" cy="5715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50" name="A"/>
              <p:cNvSpPr txBox="1"/>
              <p:nvPr/>
            </p:nvSpPr>
            <p:spPr>
              <a:xfrm>
                <a:off x="2517775" y="0"/>
                <a:ext cx="165100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  <p:sp>
            <p:nvSpPr>
              <p:cNvPr id="251" name="B"/>
              <p:cNvSpPr txBox="1"/>
              <p:nvPr/>
            </p:nvSpPr>
            <p:spPr>
              <a:xfrm>
                <a:off x="3414712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  <p:sp>
            <p:nvSpPr>
              <p:cNvPr id="252" name="C"/>
              <p:cNvSpPr txBox="1"/>
              <p:nvPr/>
            </p:nvSpPr>
            <p:spPr>
              <a:xfrm>
                <a:off x="4303712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  <p:sp>
            <p:nvSpPr>
              <p:cNvPr id="253" name="D"/>
              <p:cNvSpPr txBox="1"/>
              <p:nvPr/>
            </p:nvSpPr>
            <p:spPr>
              <a:xfrm>
                <a:off x="5157787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  <p:sp>
            <p:nvSpPr>
              <p:cNvPr id="254" name="E"/>
              <p:cNvSpPr txBox="1"/>
              <p:nvPr/>
            </p:nvSpPr>
            <p:spPr>
              <a:xfrm>
                <a:off x="6056312" y="0"/>
                <a:ext cx="165101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  <p:sp>
            <p:nvSpPr>
              <p:cNvPr id="255" name="Mean"/>
              <p:cNvSpPr txBox="1"/>
              <p:nvPr/>
            </p:nvSpPr>
            <p:spPr>
              <a:xfrm>
                <a:off x="6937375" y="0"/>
                <a:ext cx="469900" cy="1961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marL="0" marR="0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FF2600"/>
                    </a:solidFill>
                    <a:uFill>
                      <a:solidFill>
                        <a:srgbClr val="FF2600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Mean</a:t>
                </a:r>
              </a:p>
            </p:txBody>
          </p:sp>
          <p:sp>
            <p:nvSpPr>
              <p:cNvPr id="256" name="SJF"/>
              <p:cNvSpPr/>
              <p:nvPr/>
            </p:nvSpPr>
            <p:spPr>
              <a:xfrm>
                <a:off x="24632" y="42862"/>
                <a:ext cx="430161" cy="297787"/>
              </a:xfrm>
              <a:prstGeom prst="rect">
                <a:avLst/>
              </a:prstGeom>
              <a:solidFill>
                <a:srgbClr val="E5F0F1"/>
              </a:solidFill>
              <a:ln w="9525" cap="flat">
                <a:noFill/>
                <a:round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3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SJF</a:t>
                </a:r>
              </a:p>
            </p:txBody>
          </p:sp>
        </p:grpSp>
      </p:grpSp>
      <p:sp>
        <p:nvSpPr>
          <p:cNvPr id="259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262" name="Process Arrival Time Burst Tim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933700"/>
          </a:xfrm>
          <a:prstGeom prst="rect">
            <a:avLst/>
          </a:prstGeom>
        </p:spPr>
        <p:txBody>
          <a:bodyPr/>
          <a:lstStyle/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</a:t>
            </a:r>
            <a:r>
              <a:rPr u="sng"/>
              <a:t>Process	Arrival Time</a:t>
            </a:r>
            <a:r>
              <a:t>	</a:t>
            </a:r>
            <a:r>
              <a:rPr u="sng"/>
              <a:t>Burst Time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</a:t>
            </a:r>
            <a:r>
              <a:rPr i="1"/>
              <a:t>P</a:t>
            </a:r>
            <a:r>
              <a:rPr i="1" baseline="-25000"/>
              <a:t>1</a:t>
            </a:r>
            <a:r>
              <a:t>	0.0	7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 </a:t>
            </a:r>
            <a:r>
              <a:rPr i="1"/>
              <a:t>P</a:t>
            </a:r>
            <a:r>
              <a:rPr i="1" baseline="-25000"/>
              <a:t>2	</a:t>
            </a:r>
            <a:r>
              <a:t>2.0	4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 </a:t>
            </a:r>
            <a:r>
              <a:rPr i="1"/>
              <a:t>P</a:t>
            </a:r>
            <a:r>
              <a:rPr i="1" baseline="-25000"/>
              <a:t>3</a:t>
            </a:r>
            <a:r>
              <a:t>	4.0	1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		 </a:t>
            </a:r>
            <a:r>
              <a:rPr i="1"/>
              <a:t>P</a:t>
            </a:r>
            <a:r>
              <a:rPr i="1" baseline="-25000"/>
              <a:t>4</a:t>
            </a:r>
            <a:r>
              <a:t>	5.0	4</a:t>
            </a: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SJF (non-preemptive) </a:t>
            </a:r>
            <a:r>
              <a:rPr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Gantt Chart</a:t>
            </a:r>
          </a:p>
        </p:txBody>
      </p:sp>
      <p:sp>
        <p:nvSpPr>
          <p:cNvPr id="263" name="Non-Preemptive SJF -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Non-Preemptive SJF - Example</a:t>
            </a:r>
          </a:p>
        </p:txBody>
      </p:sp>
    </p:spTree>
    <p:extLst>
      <p:ext uri="{BB962C8B-B14F-4D97-AF65-F5344CB8AC3E}">
        <p14:creationId xmlns:p14="http://schemas.microsoft.com/office/powerpoint/2010/main" val="350954251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reemptive SJF (SRT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Preemptive SJF (SRT)</a:t>
            </a:r>
          </a:p>
        </p:txBody>
      </p:sp>
      <p:sp>
        <p:nvSpPr>
          <p:cNvPr id="2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grpSp>
        <p:nvGrpSpPr>
          <p:cNvPr id="307" name="Group"/>
          <p:cNvGrpSpPr/>
          <p:nvPr/>
        </p:nvGrpSpPr>
        <p:grpSpPr>
          <a:xfrm>
            <a:off x="682625" y="5367337"/>
            <a:ext cx="7778750" cy="582613"/>
            <a:chOff x="0" y="0"/>
            <a:chExt cx="7778750" cy="582612"/>
          </a:xfrm>
        </p:grpSpPr>
        <p:pic>
          <p:nvPicPr>
            <p:cNvPr id="300" name="image.png" descr="image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287"/>
              <a:ext cx="7778750" cy="5683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1" name="A"/>
            <p:cNvSpPr txBox="1"/>
            <p:nvPr/>
          </p:nvSpPr>
          <p:spPr>
            <a:xfrm>
              <a:off x="2517775" y="0"/>
              <a:ext cx="1651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302" name="B"/>
            <p:cNvSpPr txBox="1"/>
            <p:nvPr/>
          </p:nvSpPr>
          <p:spPr>
            <a:xfrm>
              <a:off x="34147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303" name="C"/>
            <p:cNvSpPr txBox="1"/>
            <p:nvPr/>
          </p:nvSpPr>
          <p:spPr>
            <a:xfrm>
              <a:off x="43037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304" name="D"/>
            <p:cNvSpPr txBox="1"/>
            <p:nvPr/>
          </p:nvSpPr>
          <p:spPr>
            <a:xfrm>
              <a:off x="5157787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D</a:t>
              </a:r>
            </a:p>
          </p:txBody>
        </p:sp>
        <p:sp>
          <p:nvSpPr>
            <p:cNvPr id="305" name="E"/>
            <p:cNvSpPr txBox="1"/>
            <p:nvPr/>
          </p:nvSpPr>
          <p:spPr>
            <a:xfrm>
              <a:off x="6056312" y="0"/>
              <a:ext cx="165101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306" name="Mean"/>
            <p:cNvSpPr txBox="1"/>
            <p:nvPr/>
          </p:nvSpPr>
          <p:spPr>
            <a:xfrm>
              <a:off x="6937375" y="0"/>
              <a:ext cx="469900" cy="196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0" marR="0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Mean</a:t>
              </a:r>
            </a:p>
          </p:txBody>
        </p:sp>
      </p:grpSp>
      <p:sp>
        <p:nvSpPr>
          <p:cNvPr id="308" name="SRT scheduling policy"/>
          <p:cNvSpPr txBox="1"/>
          <p:nvPr/>
        </p:nvSpPr>
        <p:spPr>
          <a:xfrm>
            <a:off x="3501970" y="5957887"/>
            <a:ext cx="216546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buClr>
                <a:srgbClr val="7B1142"/>
              </a:buClr>
              <a:buFont typeface="Arial Narrow"/>
              <a:defRPr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SRT scheduling policy</a:t>
            </a:r>
          </a:p>
        </p:txBody>
      </p:sp>
      <p:sp>
        <p:nvSpPr>
          <p:cNvPr id="309" name="Shortest Remaining Time (SRT)…"/>
          <p:cNvSpPr txBox="1"/>
          <p:nvPr/>
        </p:nvSpPr>
        <p:spPr>
          <a:xfrm>
            <a:off x="457200" y="1143000"/>
            <a:ext cx="8242300" cy="18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indent="-455612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Shortest Remaining Time (SRT)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preemptive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version of SJF, also assumes known run time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choose the process whose </a:t>
            </a: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remaining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run time is shortest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allows new short jobs to get good service</a:t>
            </a:r>
          </a:p>
        </p:txBody>
      </p:sp>
      <p:grpSp>
        <p:nvGrpSpPr>
          <p:cNvPr id="328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313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311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2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316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314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5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319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317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8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322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320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1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325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323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4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326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327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329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332" name="Example of Preemptive SJ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of Preemptive SJF</a:t>
            </a:r>
          </a:p>
        </p:txBody>
      </p:sp>
      <p:sp>
        <p:nvSpPr>
          <p:cNvPr id="333" name="Process Arrival Time Burst Tim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2418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/>
              <a:t>		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Process	Arrival Time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Burst Time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1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0.0	7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2	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2.0	4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3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4.0	1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	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</a:t>
            </a:r>
            <a:r>
              <a:rPr i="1" baseline="-250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4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5.0	4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</a:pP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SJF (preemptive) </a:t>
            </a:r>
            <a:r>
              <a:rPr lang="en-US" dirty="0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Gantt Chart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6D3F-7FF2-140B-472F-C6850C70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lide Number">
            <a:extLst>
              <a:ext uri="{FF2B5EF4-FFF2-40B4-BE49-F238E27FC236}">
                <a16:creationId xmlns:a16="http://schemas.microsoft.com/office/drawing/2014/main" id="{5AAA2D42-DA2D-8A2A-5BBD-26D2D5FEA55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332" name="Example of Preemptive SJF">
            <a:extLst>
              <a:ext uri="{FF2B5EF4-FFF2-40B4-BE49-F238E27FC236}">
                <a16:creationId xmlns:a16="http://schemas.microsoft.com/office/drawing/2014/main" id="{23BF0574-7DC5-00CB-60AE-D51E4C881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of Preemptive SJF</a:t>
            </a:r>
          </a:p>
        </p:txBody>
      </p:sp>
    </p:spTree>
    <p:extLst>
      <p:ext uri="{BB962C8B-B14F-4D97-AF65-F5344CB8AC3E}">
        <p14:creationId xmlns:p14="http://schemas.microsoft.com/office/powerpoint/2010/main" val="210445270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371" name="Priority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Priority Scheduling</a:t>
            </a:r>
          </a:p>
        </p:txBody>
      </p:sp>
      <p:sp>
        <p:nvSpPr>
          <p:cNvPr id="372" name="A priority number (integer) is associated with each process…"/>
          <p:cNvSpPr txBox="1">
            <a:spLocks noGrp="1"/>
          </p:cNvSpPr>
          <p:nvPr>
            <p:ph type="body" sz="half" idx="1"/>
          </p:nvPr>
        </p:nvSpPr>
        <p:spPr>
          <a:xfrm>
            <a:off x="457200" y="1384300"/>
            <a:ext cx="8229600" cy="2438400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 priority number (integer) is associated with each process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CPU is allocated to the process with the highest priority (</a:t>
            </a:r>
            <a:r>
              <a:rPr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smallest integer </a:t>
            </a:r>
            <a:r>
              <a:rPr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 highest priority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)</a:t>
            </a:r>
          </a:p>
          <a:p>
            <a:pPr lvl="1"/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Preemptive</a:t>
            </a:r>
          </a:p>
          <a:p>
            <a:pPr lvl="1"/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nonpreemptive</a:t>
            </a:r>
            <a:endParaRPr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</p:txBody>
      </p:sp>
      <p:sp>
        <p:nvSpPr>
          <p:cNvPr id="373" name="SJF is a priority scheduling where priority is the predicted next CPU burst time…"/>
          <p:cNvSpPr txBox="1"/>
          <p:nvPr/>
        </p:nvSpPr>
        <p:spPr>
          <a:xfrm>
            <a:off x="457200" y="3733800"/>
            <a:ext cx="8229600" cy="2425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83540" lvl="1" indent="-342900">
              <a:spcBef>
                <a:spcPts val="500"/>
              </a:spcBef>
              <a:buSzPct val="100000"/>
              <a:buChar char="•"/>
              <a:defRPr sz="2400"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SJF is a priority scheduling where priority is the predicted next CPU burst time</a:t>
            </a:r>
          </a:p>
          <a:p>
            <a:pPr marL="383540" lvl="1" indent="-342900">
              <a:spcBef>
                <a:spcPts val="500"/>
              </a:spcBef>
              <a:buSzPct val="100000"/>
              <a:buChar char="•"/>
              <a:defRPr sz="2400"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Problem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Starvation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low priority processes may never execute</a:t>
            </a:r>
          </a:p>
          <a:p>
            <a:pPr marL="383540" lvl="1" indent="-342900">
              <a:spcBef>
                <a:spcPts val="500"/>
              </a:spcBef>
              <a:buSzPct val="100000"/>
              <a:buChar char="•"/>
              <a:defRPr sz="2400"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Solution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º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Aging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– as time progresses increase the priority of the process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 build="p" bldLvl="5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376" name="Example of Prior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of Priority</a:t>
            </a:r>
          </a:p>
        </p:txBody>
      </p:sp>
      <p:sp>
        <p:nvSpPr>
          <p:cNvPr id="377" name="Process Arrival Time   Burst Time     Priority…"/>
          <p:cNvSpPr txBox="1">
            <a:spLocks noGrp="1"/>
          </p:cNvSpPr>
          <p:nvPr>
            <p:ph type="body" idx="1"/>
          </p:nvPr>
        </p:nvSpPr>
        <p:spPr>
          <a:xfrm>
            <a:off x="457200" y="1231900"/>
            <a:ext cx="8229600" cy="5257800"/>
          </a:xfrm>
          <a:prstGeom prst="rect">
            <a:avLst/>
          </a:prstGeom>
        </p:spPr>
        <p:txBody>
          <a:bodyPr/>
          <a:lstStyle/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</a:t>
            </a:r>
            <a:r>
              <a:rPr u="sng" dirty="0"/>
              <a:t>Process</a:t>
            </a:r>
            <a:r>
              <a:rPr dirty="0"/>
              <a:t>	</a:t>
            </a:r>
            <a:r>
              <a:rPr u="sng" dirty="0"/>
              <a:t>Arrival Time</a:t>
            </a:r>
            <a:r>
              <a:rPr dirty="0"/>
              <a:t>	  </a:t>
            </a:r>
            <a:r>
              <a:rPr u="sng" dirty="0"/>
              <a:t>Burst Time</a:t>
            </a:r>
            <a:r>
              <a:rPr dirty="0"/>
              <a:t>     </a:t>
            </a:r>
            <a:r>
              <a:rPr u="sng" dirty="0"/>
              <a:t>Priority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u="sng" dirty="0"/>
              <a:t> </a:t>
            </a:r>
            <a:r>
              <a:rPr dirty="0"/>
              <a:t>		</a:t>
            </a:r>
            <a:r>
              <a:rPr i="1" dirty="0"/>
              <a:t>P</a:t>
            </a:r>
            <a:r>
              <a:rPr i="1" baseline="-25000" dirty="0"/>
              <a:t>1</a:t>
            </a:r>
            <a:r>
              <a:rPr dirty="0"/>
              <a:t>	0.0	                7              2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	</a:t>
            </a:r>
            <a:r>
              <a:rPr dirty="0"/>
              <a:t>2.0	                4               1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3</a:t>
            </a:r>
            <a:r>
              <a:rPr dirty="0"/>
              <a:t>	4.0	                1               4</a:t>
            </a:r>
          </a:p>
          <a:p>
            <a:pPr>
              <a:buSzTx/>
              <a:buNone/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4</a:t>
            </a:r>
            <a:r>
              <a:rPr dirty="0"/>
              <a:t>	5.0	                4               3</a:t>
            </a: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Priority (non-preemptive</a:t>
            </a:r>
            <a:r>
              <a:rPr lang="en-US" dirty="0"/>
              <a:t>/Cooperative</a:t>
            </a:r>
            <a:r>
              <a:rPr dirty="0"/>
              <a:t>)</a:t>
            </a:r>
          </a:p>
          <a:p>
            <a:pPr>
              <a:tabLst>
                <a:tab pos="1638300" algn="ctr"/>
                <a:tab pos="3289300" algn="ctr"/>
                <a:tab pos="5181600" algn="ctr"/>
                <a:tab pos="55245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Priority (preemptive)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380" name="Round Robin (RR)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Round Robin (RR)</a:t>
            </a:r>
          </a:p>
        </p:txBody>
      </p:sp>
      <p:sp>
        <p:nvSpPr>
          <p:cNvPr id="381" name="Each process gets a small unit of CPU time (time quantum), usually 10-100 milliseconds.  After this time has elapsed, the process is preempted and added to the end of the ready queue.…"/>
          <p:cNvSpPr txBox="1">
            <a:spLocks noGrp="1"/>
          </p:cNvSpPr>
          <p:nvPr>
            <p:ph type="body" idx="1"/>
          </p:nvPr>
        </p:nvSpPr>
        <p:spPr>
          <a:xfrm>
            <a:off x="812800" y="1219200"/>
            <a:ext cx="7061200" cy="5295900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Each process gets a small unit of CPU time </a:t>
            </a:r>
            <a:r>
              <a:rPr dirty="0"/>
              <a:t>(</a:t>
            </a:r>
            <a:r>
              <a:rPr i="1" dirty="0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time quantum</a:t>
            </a:r>
            <a:r>
              <a:rPr dirty="0"/>
              <a:t>)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, usually 10-100 milliseconds.  After this time has elapsed, the process is preempted and added to the end of the ready queue.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If there are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processes in the ready queue and the time quantum is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, then each process gets 1/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of the CPU time in chunks of at most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time units at once.  No process waits more than (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-1)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time units.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Performance</a:t>
            </a:r>
          </a:p>
          <a:p>
            <a:pPr lvl="1">
              <a:buClr>
                <a:srgbClr val="727272"/>
              </a:buClr>
              <a:buFont typeface="Trebuchet MS"/>
            </a:pP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large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Þ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FIFO</a:t>
            </a:r>
          </a:p>
          <a:p>
            <a:pPr lvl="1">
              <a:buClr>
                <a:srgbClr val="727272"/>
              </a:buClr>
              <a:buFont typeface="Trebuchet MS"/>
            </a:pP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small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ea typeface="Symbol"/>
                <a:cs typeface="Symbol"/>
                <a:sym typeface="Symbol"/>
              </a:rPr>
              <a:t>Þ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q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" grpId="0" build="p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ound Robin (R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Round Robin (RR)</a:t>
            </a:r>
          </a:p>
        </p:txBody>
      </p:sp>
      <p:sp>
        <p:nvSpPr>
          <p:cNvPr id="3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grpSp>
        <p:nvGrpSpPr>
          <p:cNvPr id="402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387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385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6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390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388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9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393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391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2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396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394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5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399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397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8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400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401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403" name="RR (q = 1) scheduling policy"/>
          <p:cNvSpPr txBox="1"/>
          <p:nvPr/>
        </p:nvSpPr>
        <p:spPr>
          <a:xfrm>
            <a:off x="3249371" y="5957887"/>
            <a:ext cx="267065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RR (</a:t>
            </a:r>
            <a:r>
              <a:rPr sz="1800" b="1" i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= 1) scheduling policy</a:t>
            </a:r>
          </a:p>
        </p:txBody>
      </p:sp>
      <p:sp>
        <p:nvSpPr>
          <p:cNvPr id="404" name="preemptive FCFS, based on a timeout interval, the quantum q…"/>
          <p:cNvSpPr txBox="1"/>
          <p:nvPr/>
        </p:nvSpPr>
        <p:spPr>
          <a:xfrm>
            <a:off x="292100" y="1358900"/>
            <a:ext cx="8470900" cy="157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preemptive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FCFS, based on a timeout interval, the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</a:t>
            </a:r>
          </a:p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the running process is interrupted by the clock and put last in a FIFO “Ready” queue; then, the first “Ready” process is run instead</a:t>
            </a:r>
          </a:p>
        </p:txBody>
      </p:sp>
      <p:sp>
        <p:nvSpPr>
          <p:cNvPr id="415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ound Robin (R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Round Robin (RR)</a:t>
            </a:r>
          </a:p>
        </p:txBody>
      </p:sp>
      <p:sp>
        <p:nvSpPr>
          <p:cNvPr id="4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grpSp>
        <p:nvGrpSpPr>
          <p:cNvPr id="436" name="Group"/>
          <p:cNvGrpSpPr/>
          <p:nvPr/>
        </p:nvGrpSpPr>
        <p:grpSpPr>
          <a:xfrm>
            <a:off x="1257611" y="3048000"/>
            <a:ext cx="4476440" cy="1143000"/>
            <a:chOff x="0" y="0"/>
            <a:chExt cx="4476438" cy="1143000"/>
          </a:xfrm>
        </p:grpSpPr>
        <p:grpSp>
          <p:nvGrpSpPr>
            <p:cNvPr id="421" name="Group"/>
            <p:cNvGrpSpPr/>
            <p:nvPr/>
          </p:nvGrpSpPr>
          <p:grpSpPr>
            <a:xfrm>
              <a:off x="1926120" y="169130"/>
              <a:ext cx="698501" cy="285627"/>
              <a:chOff x="0" y="0"/>
              <a:chExt cx="698500" cy="285625"/>
            </a:xfrm>
          </p:grpSpPr>
          <p:sp>
            <p:nvSpPr>
              <p:cNvPr id="419" name="Rectangle"/>
              <p:cNvSpPr/>
              <p:nvPr/>
            </p:nvSpPr>
            <p:spPr>
              <a:xfrm>
                <a:off x="793" y="59469"/>
                <a:ext cx="696914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0" name="A"/>
              <p:cNvSpPr txBox="1"/>
              <p:nvPr/>
            </p:nvSpPr>
            <p:spPr>
              <a:xfrm>
                <a:off x="0" y="0"/>
                <a:ext cx="6985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A</a:t>
                </a:r>
              </a:p>
            </p:txBody>
          </p:sp>
        </p:grpSp>
        <p:grpSp>
          <p:nvGrpSpPr>
            <p:cNvPr id="424" name="Group"/>
            <p:cNvGrpSpPr/>
            <p:nvPr/>
          </p:nvGrpSpPr>
          <p:grpSpPr>
            <a:xfrm>
              <a:off x="2392051" y="338993"/>
              <a:ext cx="1384301" cy="285627"/>
              <a:chOff x="0" y="0"/>
              <a:chExt cx="1384300" cy="285625"/>
            </a:xfrm>
          </p:grpSpPr>
          <p:sp>
            <p:nvSpPr>
              <p:cNvPr id="422" name="Rectangle"/>
              <p:cNvSpPr/>
              <p:nvPr/>
            </p:nvSpPr>
            <p:spPr>
              <a:xfrm>
                <a:off x="3175" y="59469"/>
                <a:ext cx="1377950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3" name="B"/>
              <p:cNvSpPr txBox="1"/>
              <p:nvPr/>
            </p:nvSpPr>
            <p:spPr>
              <a:xfrm>
                <a:off x="0" y="0"/>
                <a:ext cx="13843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B</a:t>
                </a:r>
              </a:p>
            </p:txBody>
          </p:sp>
        </p:grpSp>
        <p:grpSp>
          <p:nvGrpSpPr>
            <p:cNvPr id="427" name="Group"/>
            <p:cNvGrpSpPr/>
            <p:nvPr/>
          </p:nvGrpSpPr>
          <p:grpSpPr>
            <a:xfrm>
              <a:off x="2844488" y="501712"/>
              <a:ext cx="928689" cy="285626"/>
              <a:chOff x="0" y="0"/>
              <a:chExt cx="928687" cy="285625"/>
            </a:xfrm>
          </p:grpSpPr>
          <p:sp>
            <p:nvSpPr>
              <p:cNvPr id="425" name="Rectangle"/>
              <p:cNvSpPr/>
              <p:nvPr/>
            </p:nvSpPr>
            <p:spPr>
              <a:xfrm>
                <a:off x="0" y="60262"/>
                <a:ext cx="928688" cy="165101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6" name="C"/>
              <p:cNvSpPr txBox="1"/>
              <p:nvPr/>
            </p:nvSpPr>
            <p:spPr>
              <a:xfrm>
                <a:off x="793" y="0"/>
                <a:ext cx="927101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C</a:t>
                </a:r>
              </a:p>
            </p:txBody>
          </p:sp>
        </p:grpSp>
        <p:grpSp>
          <p:nvGrpSpPr>
            <p:cNvPr id="430" name="Group"/>
            <p:cNvGrpSpPr/>
            <p:nvPr/>
          </p:nvGrpSpPr>
          <p:grpSpPr>
            <a:xfrm>
              <a:off x="3295338" y="669193"/>
              <a:ext cx="1181101" cy="285627"/>
              <a:chOff x="0" y="0"/>
              <a:chExt cx="1181100" cy="285625"/>
            </a:xfrm>
          </p:grpSpPr>
          <p:sp>
            <p:nvSpPr>
              <p:cNvPr id="428" name="Rectangle"/>
              <p:cNvSpPr/>
              <p:nvPr/>
            </p:nvSpPr>
            <p:spPr>
              <a:xfrm>
                <a:off x="1587" y="59469"/>
                <a:ext cx="1177926" cy="166688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9" name="D"/>
              <p:cNvSpPr txBox="1"/>
              <p:nvPr/>
            </p:nvSpPr>
            <p:spPr>
              <a:xfrm>
                <a:off x="0" y="0"/>
                <a:ext cx="11811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D</a:t>
                </a:r>
              </a:p>
            </p:txBody>
          </p:sp>
        </p:grpSp>
        <p:grpSp>
          <p:nvGrpSpPr>
            <p:cNvPr id="433" name="Group"/>
            <p:cNvGrpSpPr/>
            <p:nvPr/>
          </p:nvGrpSpPr>
          <p:grpSpPr>
            <a:xfrm>
              <a:off x="3756507" y="838262"/>
              <a:ext cx="469901" cy="285626"/>
              <a:chOff x="0" y="0"/>
              <a:chExt cx="469900" cy="285625"/>
            </a:xfrm>
          </p:grpSpPr>
          <p:sp>
            <p:nvSpPr>
              <p:cNvPr id="431" name="Rectangle"/>
              <p:cNvSpPr/>
              <p:nvPr/>
            </p:nvSpPr>
            <p:spPr>
              <a:xfrm>
                <a:off x="2381" y="58675"/>
                <a:ext cx="465138" cy="168276"/>
              </a:xfrm>
              <a:prstGeom prst="rect">
                <a:avLst/>
              </a:prstGeom>
              <a:solidFill>
                <a:srgbClr val="A7A7A7"/>
              </a:solidFill>
              <a:ln w="9525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2" name="E"/>
              <p:cNvSpPr txBox="1"/>
              <p:nvPr/>
            </p:nvSpPr>
            <p:spPr>
              <a:xfrm>
                <a:off x="0" y="0"/>
                <a:ext cx="469900" cy="285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200" b="1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E</a:t>
                </a:r>
              </a:p>
            </p:txBody>
          </p:sp>
        </p:grpSp>
        <p:sp>
          <p:nvSpPr>
            <p:cNvPr id="434" name="Arrival times"/>
            <p:cNvSpPr txBox="1"/>
            <p:nvPr/>
          </p:nvSpPr>
          <p:spPr>
            <a:xfrm>
              <a:off x="0" y="392112"/>
              <a:ext cx="1094753" cy="297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300"/>
                </a:spcBef>
                <a:buClr>
                  <a:srgbClr val="7B1142"/>
                </a:buClr>
                <a:buFont typeface="Wingdings"/>
                <a:defRPr sz="13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t>Arrival times</a:t>
              </a:r>
            </a:p>
          </p:txBody>
        </p:sp>
        <p:sp>
          <p:nvSpPr>
            <p:cNvPr id="435" name="Line"/>
            <p:cNvSpPr/>
            <p:nvPr/>
          </p:nvSpPr>
          <p:spPr>
            <a:xfrm>
              <a:off x="1926913" y="0"/>
              <a:ext cx="1589" cy="1143000"/>
            </a:xfrm>
            <a:prstGeom prst="line">
              <a:avLst/>
            </a:prstGeom>
            <a:noFill/>
            <a:ln w="9525" cap="flat">
              <a:solidFill>
                <a:srgbClr val="7B1142"/>
              </a:solidFill>
              <a:prstDash val="dash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defTabSz="457200">
                <a:defRPr sz="1200">
                  <a:solidFill>
                    <a:srgbClr val="000000"/>
                  </a:solidFill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437" name="RR (q = 4) scheduling policy"/>
          <p:cNvSpPr txBox="1"/>
          <p:nvPr/>
        </p:nvSpPr>
        <p:spPr>
          <a:xfrm>
            <a:off x="3249371" y="5957887"/>
            <a:ext cx="267065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RR (</a:t>
            </a:r>
            <a:r>
              <a:rPr sz="1800" b="1" i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 = 4) scheduling policy</a:t>
            </a:r>
          </a:p>
        </p:txBody>
      </p:sp>
      <p:sp>
        <p:nvSpPr>
          <p:cNvPr id="438" name="a crucial parameter is the quantum q (generally ~10–100ms)…"/>
          <p:cNvSpPr txBox="1"/>
          <p:nvPr/>
        </p:nvSpPr>
        <p:spPr>
          <a:xfrm>
            <a:off x="457200" y="1143000"/>
            <a:ext cx="8470900" cy="157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indent="-457199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a crucial parameter is the quantum </a:t>
            </a: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(generally ~10–100ms)</a:t>
            </a:r>
          </a:p>
          <a:p>
            <a:pPr marL="1523364" indent="-339725">
              <a:spcBef>
                <a:spcPts val="2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should be big compared to context switch latency (~10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m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s)</a:t>
            </a:r>
          </a:p>
          <a:p>
            <a:pPr marL="1523364" indent="-339725">
              <a:spcBef>
                <a:spcPts val="2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i="1">
                <a:latin typeface="Arial Narrow"/>
                <a:ea typeface="Arial Narrow"/>
                <a:cs typeface="Arial Narrow"/>
                <a:sym typeface="Arial Narrow"/>
              </a:rPr>
              <a:t>q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should be less than the longest CPU bursts, otherwise RR degenerates to FCFS</a:t>
            </a:r>
          </a:p>
        </p:txBody>
      </p:sp>
      <p:sp>
        <p:nvSpPr>
          <p:cNvPr id="449" name="Stallings, W. (2004) Operating Systems:…"/>
          <p:cNvSpPr txBox="1"/>
          <p:nvPr/>
        </p:nvSpPr>
        <p:spPr>
          <a:xfrm>
            <a:off x="6629400" y="5988050"/>
            <a:ext cx="1822212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buClr>
                <a:srgbClr val="7B1142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>
              <a:buClr>
                <a:srgbClr val="7B1142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452" name="Example of RR with Time Quantum = 20"/>
          <p:cNvSpPr txBox="1">
            <a:spLocks noGrp="1"/>
          </p:cNvSpPr>
          <p:nvPr>
            <p:ph type="title"/>
          </p:nvPr>
        </p:nvSpPr>
        <p:spPr>
          <a:xfrm>
            <a:off x="471487" y="0"/>
            <a:ext cx="8054976" cy="1314450"/>
          </a:xfrm>
          <a:prstGeom prst="rect">
            <a:avLst/>
          </a:prstGeom>
        </p:spPr>
        <p:txBody>
          <a:bodyPr/>
          <a:lstStyle/>
          <a:p>
            <a:r>
              <a:t>Example of RR with Time Quantum = 20</a:t>
            </a:r>
          </a:p>
        </p:txBody>
      </p:sp>
      <p:sp>
        <p:nvSpPr>
          <p:cNvPr id="453" name="Process Burst Time…"/>
          <p:cNvSpPr txBox="1">
            <a:spLocks noGrp="1"/>
          </p:cNvSpPr>
          <p:nvPr>
            <p:ph type="body" idx="1"/>
          </p:nvPr>
        </p:nvSpPr>
        <p:spPr>
          <a:xfrm>
            <a:off x="827087" y="1308100"/>
            <a:ext cx="7351713" cy="53467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</a:t>
            </a:r>
            <a:r>
              <a:rPr u="sng" dirty="0"/>
              <a:t>Process</a:t>
            </a:r>
            <a:r>
              <a:rPr dirty="0"/>
              <a:t>	</a:t>
            </a:r>
            <a:r>
              <a:rPr u="sng" dirty="0"/>
              <a:t>Burst Time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i="1" dirty="0"/>
              <a:t>		P</a:t>
            </a:r>
            <a:r>
              <a:rPr i="1" baseline="-25000" dirty="0"/>
              <a:t>1	</a:t>
            </a:r>
            <a:r>
              <a:rPr dirty="0"/>
              <a:t>53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2	 </a:t>
            </a:r>
            <a:r>
              <a:rPr dirty="0"/>
              <a:t>17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3	</a:t>
            </a:r>
            <a:r>
              <a:rPr dirty="0"/>
              <a:t>68</a:t>
            </a:r>
          </a:p>
          <a:p>
            <a:pPr>
              <a:lnSpc>
                <a:spcPct val="90000"/>
              </a:lnSpc>
              <a:buSzTx/>
              <a:buNone/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	 </a:t>
            </a:r>
            <a:r>
              <a:rPr i="1" dirty="0"/>
              <a:t>P</a:t>
            </a:r>
            <a:r>
              <a:rPr i="1" baseline="-25000" dirty="0"/>
              <a:t>4	 </a:t>
            </a:r>
            <a:r>
              <a:rPr dirty="0"/>
              <a:t>24</a:t>
            </a:r>
          </a:p>
          <a:p>
            <a:pPr>
              <a:lnSpc>
                <a:spcPct val="90000"/>
              </a:lnSpc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For q=20, the</a:t>
            </a:r>
            <a:r>
              <a:rPr dirty="0">
                <a:solidFill>
                  <a:srgbClr val="E32400"/>
                </a:solidFill>
                <a:uFill>
                  <a:solidFill>
                    <a:srgbClr val="E32400"/>
                  </a:solidFill>
                </a:uFill>
              </a:rPr>
              <a:t> Gantt chart</a:t>
            </a:r>
            <a:r>
              <a:rPr dirty="0"/>
              <a:t> is: 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lang="en-US" dirty="0"/>
          </a:p>
          <a:p>
            <a:pPr>
              <a:lnSpc>
                <a:spcPct val="90000"/>
              </a:lnSpc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lang="en-US" dirty="0"/>
          </a:p>
          <a:p>
            <a:pPr>
              <a:lnSpc>
                <a:spcPct val="90000"/>
              </a:lnSpc>
              <a:tabLst>
                <a:tab pos="2260600" algn="ctr"/>
                <a:tab pos="40386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Typically, higher average turnaround than SJF, but better </a:t>
            </a:r>
            <a:r>
              <a:rPr i="1" dirty="0"/>
              <a:t>response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9EBCCB-4A3E-EA62-AB25-F9C404CA3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050" y="7224395"/>
            <a:ext cx="6086629" cy="482676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  <p:sp>
        <p:nvSpPr>
          <p:cNvPr id="507" name="Consider a system using round-robin scheduling with a fixed quantum q. Every context switch takes s milliseconds. Any given process runs for an average of t milliseconds before it blocks or terminates (burst time).…"/>
          <p:cNvSpPr txBox="1">
            <a:spLocks noGrp="1"/>
          </p:cNvSpPr>
          <p:nvPr>
            <p:ph type="body" idx="1"/>
          </p:nvPr>
        </p:nvSpPr>
        <p:spPr>
          <a:xfrm>
            <a:off x="457200" y="1168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Consider a system using round-robin scheduling with a fixed quantum </a:t>
            </a:r>
            <a:r>
              <a:rPr i="1"/>
              <a:t>q</a:t>
            </a:r>
            <a:r>
              <a:t>. Every context switch takes </a:t>
            </a:r>
            <a:r>
              <a:rPr i="1"/>
              <a:t>s</a:t>
            </a:r>
            <a:r>
              <a:t> milliseconds. Any given process runs for an average of </a:t>
            </a:r>
            <a:r>
              <a:rPr i="1"/>
              <a:t>t</a:t>
            </a:r>
            <a:r>
              <a:t> milliseconds before it blocks or terminates (burst time).</a:t>
            </a:r>
            <a:endParaRPr i="1">
              <a:solidFill>
                <a:srgbClr val="FF2600"/>
              </a:solidFill>
            </a:endParaRPr>
          </a:p>
          <a:p>
            <a:pPr marL="0" marR="457200" indent="0" algn="just" defTabSz="457200">
              <a:spcBef>
                <a:spcPts val="0"/>
              </a:spcBef>
              <a:buSzTx/>
              <a:buNone/>
              <a:defRPr>
                <a:solidFill>
                  <a:srgbClr val="FF26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1">
              <a:solidFill>
                <a:srgbClr val="FF2600"/>
              </a:solidFill>
            </a:endParaRP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Determine the fraction of CPU time that will be wasted because of context switches for each of the following cases (your answer should be in terms of</a:t>
            </a:r>
            <a:r>
              <a:rPr i="1"/>
              <a:t> q, s, </a:t>
            </a:r>
            <a:r>
              <a:t>and </a:t>
            </a:r>
            <a:r>
              <a:rPr i="1"/>
              <a:t>t</a:t>
            </a:r>
            <a:r>
              <a:t>).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0" marR="457200" indent="0" defTabSz="457200"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sz="2400"/>
              <a:t>a)  t &lt;= q 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  <a:p>
            <a:pPr marL="0" marR="457200" indent="0" defTabSz="457200"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/>
              <a:t>b)  t &gt;&gt; q  (t is much greater than q)  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  <a:p>
            <a:pPr marL="0" marR="457200" indent="0" defTabSz="457200">
              <a:spcBef>
                <a:spcPts val="0"/>
              </a:spcBef>
              <a:buSzTx/>
              <a:buNone/>
              <a:defRPr sz="1200">
                <a:solidFill>
                  <a:srgbClr val="000000"/>
                </a:solidFill>
                <a:uFillTx/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/>
              <a:t>c)  q  approaches 0  </a:t>
            </a:r>
          </a:p>
        </p:txBody>
      </p:sp>
      <p:sp>
        <p:nvSpPr>
          <p:cNvPr id="5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515" name="Comparison of Scheduling Algorithms"/>
          <p:cNvSpPr txBox="1">
            <a:spLocks noGrp="1"/>
          </p:cNvSpPr>
          <p:nvPr>
            <p:ph type="title"/>
          </p:nvPr>
        </p:nvSpPr>
        <p:spPr>
          <a:xfrm>
            <a:off x="457200" y="2382837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latin typeface="Copperplate Gothic Light"/>
                <a:ea typeface="Copperplate Gothic Light"/>
                <a:cs typeface="Copperplate Gothic Light"/>
                <a:sym typeface="Copperplate Gothic Light"/>
              </a:defRPr>
            </a:lvl1pPr>
          </a:lstStyle>
          <a:p>
            <a:r>
              <a:t>Comparison of Scheduling Algorithms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FCF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FCFS</a:t>
            </a:r>
          </a:p>
        </p:txBody>
      </p:sp>
      <p:sp>
        <p:nvSpPr>
          <p:cNvPr id="518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It is a fair algorithm 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schedule in the order that they arrive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Average response time can be lousy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small requests wait behind big ones (convoy effect)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May lead to poor utilization of other resources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FCFS may result in poor overlap of CPU and I/O activity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E.g., a CPU-intensive job prevents an I/O-intensive job from doing a small bit of computation, thus preventing it from going back and keeping the I/O subsystem busy</a:t>
            </a:r>
          </a:p>
        </p:txBody>
      </p:sp>
      <p:sp>
        <p:nvSpPr>
          <p:cNvPr id="5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" grpId="0" build="p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J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SJF</a:t>
            </a:r>
          </a:p>
        </p:txBody>
      </p:sp>
      <p:sp>
        <p:nvSpPr>
          <p:cNvPr id="522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827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Provably optimal with respect to average waiting time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prevents convoy effect (long delay of short jobs)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Can cause starvation of long jobs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Requires advanced knowledge of CPU burst times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this can be very hard to predict accurately!</a:t>
            </a:r>
          </a:p>
        </p:txBody>
      </p:sp>
      <p:sp>
        <p:nvSpPr>
          <p:cNvPr id="5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" grpId="0" build="p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riority Schedu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Priority Scheduling</a:t>
            </a:r>
          </a:p>
        </p:txBody>
      </p:sp>
      <p:sp>
        <p:nvSpPr>
          <p:cNvPr id="526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Guarantees early completion of high priority jobs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Can cause starvation of low priority jobs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How to decide/assign priority numbers?</a:t>
            </a:r>
          </a:p>
        </p:txBody>
      </p:sp>
      <p:sp>
        <p:nvSpPr>
          <p:cNvPr id="5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" grpId="0" build="p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ound Robi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Round Robin</a:t>
            </a:r>
          </a:p>
        </p:txBody>
      </p:sp>
      <p:sp>
        <p:nvSpPr>
          <p:cNvPr id="530" name="PROS:…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solidFill>
                  <a:srgbClr val="228F22"/>
                </a:solidFill>
                <a:uFill>
                  <a:solidFill>
                    <a:srgbClr val="228F22"/>
                  </a:solidFill>
                </a:uFill>
              </a:defRPr>
            </a:pPr>
            <a:r>
              <a:t>PROS: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Great for timesharing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no starvation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Does not require prior knowledge of CPU burst times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Generally reduces average response time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marL="0" indent="0">
              <a:buSzTx/>
              <a:buNone/>
              <a:defRPr b="1" u="sng">
                <a:solidFill>
                  <a:srgbClr val="F82913"/>
                </a:solidFill>
                <a:uFill>
                  <a:solidFill>
                    <a:srgbClr val="F82913"/>
                  </a:solidFill>
                </a:uFill>
              </a:defRPr>
            </a:pPr>
            <a:r>
              <a:t>CONS: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What if all jobs are almost time same length?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Increases the turnaround time</a:t>
            </a:r>
          </a:p>
          <a:p>
            <a:pPr marL="34290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How to set the “best” time quantum?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if small, then context switch often, incurring high overhead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if large, then response time degrades</a:t>
            </a:r>
          </a:p>
        </p:txBody>
      </p:sp>
      <p:sp>
        <p:nvSpPr>
          <p:cNvPr id="5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" grpId="0" build="p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Consider Preemptive Shortest Remaining Time First (SRTF) scheduling policy is used; a) draw the GANNT chart; b) find the response time, waiting times and turnaround time for each process."/>
          <p:cNvSpPr txBox="1">
            <a:spLocks noGrp="1"/>
          </p:cNvSpPr>
          <p:nvPr>
            <p:ph type="body" sz="half" idx="1"/>
          </p:nvPr>
        </p:nvSpPr>
        <p:spPr>
          <a:xfrm>
            <a:off x="241300" y="3200400"/>
            <a:ext cx="8229600" cy="166087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Consider Preemptive Shortest Remaining Time First (SRTF) scheduling policy is used; a) draw the GANNT chart; b) find the response time, waiting times and turnaround time for each process.</a:t>
            </a:r>
          </a:p>
        </p:txBody>
      </p:sp>
      <p:sp>
        <p:nvSpPr>
          <p:cNvPr id="5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60816" y="7524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  <p:pic>
        <p:nvPicPr>
          <p:cNvPr id="535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2" y="1168400"/>
            <a:ext cx="8612598" cy="1886230"/>
          </a:xfrm>
          <a:prstGeom prst="rect">
            <a:avLst/>
          </a:prstGeom>
          <a:ln w="12700"/>
        </p:spPr>
      </p:pic>
      <p:sp>
        <p:nvSpPr>
          <p:cNvPr id="536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270000"/>
            <a:ext cx="8801100" cy="1460912"/>
          </a:xfrm>
          <a:prstGeom prst="rect">
            <a:avLst/>
          </a:prstGeom>
          <a:ln w="12700"/>
        </p:spPr>
      </p:pic>
      <p:sp>
        <p:nvSpPr>
          <p:cNvPr id="539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  <p:sp>
        <p:nvSpPr>
          <p:cNvPr id="540" name="Draw gantt charts, find average turnaround, waiting, and response times for above processes, considering:…"/>
          <p:cNvSpPr txBox="1">
            <a:spLocks noGrp="1"/>
          </p:cNvSpPr>
          <p:nvPr>
            <p:ph type="body" idx="1"/>
          </p:nvPr>
        </p:nvSpPr>
        <p:spPr>
          <a:xfrm>
            <a:off x="292100" y="2794000"/>
            <a:ext cx="8229600" cy="35433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Draw gantt charts, find average turnaround, waiting, and response times for above processes, considering: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1) First Come First Served Scheduling 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2) Shortest Job First Scheduling (non-preemptive)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3) Shortest Job First Scheduling (preemptive)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4) Round-Robin Scheduling (q=4)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5) Priority Scheduling (non-preemptive)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6) Priority Scheduling (preemptive)</a:t>
            </a:r>
          </a:p>
        </p:txBody>
      </p:sp>
      <p:sp>
        <p:nvSpPr>
          <p:cNvPr id="5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sp>
        <p:nvSpPr>
          <p:cNvPr id="544" name="Summary"/>
          <p:cNvSpPr txBox="1">
            <a:spLocks noGrp="1"/>
          </p:cNvSpPr>
          <p:nvPr>
            <p:ph type="title"/>
          </p:nvPr>
        </p:nvSpPr>
        <p:spPr>
          <a:xfrm>
            <a:off x="457200" y="79374"/>
            <a:ext cx="8229600" cy="1508126"/>
          </a:xfrm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grpSp>
        <p:nvGrpSpPr>
          <p:cNvPr id="557" name="Group"/>
          <p:cNvGrpSpPr/>
          <p:nvPr/>
        </p:nvGrpSpPr>
        <p:grpSpPr>
          <a:xfrm flipH="1">
            <a:off x="6978650" y="3073400"/>
            <a:ext cx="1500188" cy="1670050"/>
            <a:chOff x="0" y="0"/>
            <a:chExt cx="1500187" cy="1670050"/>
          </a:xfrm>
        </p:grpSpPr>
        <p:sp>
          <p:nvSpPr>
            <p:cNvPr id="545" name="Shape"/>
            <p:cNvSpPr/>
            <p:nvPr/>
          </p:nvSpPr>
          <p:spPr>
            <a:xfrm>
              <a:off x="20637" y="1068387"/>
              <a:ext cx="431801" cy="60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46" y="8879"/>
                  </a:moveTo>
                  <a:lnTo>
                    <a:pt x="12825" y="8822"/>
                  </a:lnTo>
                  <a:lnTo>
                    <a:pt x="12984" y="8765"/>
                  </a:lnTo>
                  <a:lnTo>
                    <a:pt x="13301" y="8651"/>
                  </a:lnTo>
                  <a:lnTo>
                    <a:pt x="13619" y="8481"/>
                  </a:lnTo>
                  <a:lnTo>
                    <a:pt x="14096" y="8253"/>
                  </a:lnTo>
                  <a:lnTo>
                    <a:pt x="14612" y="8025"/>
                  </a:lnTo>
                  <a:lnTo>
                    <a:pt x="15168" y="7741"/>
                  </a:lnTo>
                  <a:lnTo>
                    <a:pt x="15724" y="7456"/>
                  </a:lnTo>
                  <a:lnTo>
                    <a:pt x="16359" y="7086"/>
                  </a:lnTo>
                  <a:lnTo>
                    <a:pt x="16954" y="6716"/>
                  </a:lnTo>
                  <a:lnTo>
                    <a:pt x="17590" y="6318"/>
                  </a:lnTo>
                  <a:lnTo>
                    <a:pt x="18146" y="5891"/>
                  </a:lnTo>
                  <a:lnTo>
                    <a:pt x="18701" y="5492"/>
                  </a:lnTo>
                  <a:lnTo>
                    <a:pt x="19218" y="5037"/>
                  </a:lnTo>
                  <a:lnTo>
                    <a:pt x="19615" y="4553"/>
                  </a:lnTo>
                  <a:lnTo>
                    <a:pt x="19972" y="4070"/>
                  </a:lnTo>
                  <a:lnTo>
                    <a:pt x="20488" y="3159"/>
                  </a:lnTo>
                  <a:lnTo>
                    <a:pt x="20965" y="2362"/>
                  </a:lnTo>
                  <a:lnTo>
                    <a:pt x="21322" y="1708"/>
                  </a:lnTo>
                  <a:lnTo>
                    <a:pt x="21560" y="1138"/>
                  </a:lnTo>
                  <a:lnTo>
                    <a:pt x="21600" y="683"/>
                  </a:lnTo>
                  <a:lnTo>
                    <a:pt x="21560" y="342"/>
                  </a:lnTo>
                  <a:lnTo>
                    <a:pt x="21362" y="142"/>
                  </a:lnTo>
                  <a:lnTo>
                    <a:pt x="20965" y="0"/>
                  </a:lnTo>
                  <a:lnTo>
                    <a:pt x="20488" y="0"/>
                  </a:lnTo>
                  <a:lnTo>
                    <a:pt x="20012" y="114"/>
                  </a:lnTo>
                  <a:lnTo>
                    <a:pt x="19456" y="313"/>
                  </a:lnTo>
                  <a:lnTo>
                    <a:pt x="18860" y="626"/>
                  </a:lnTo>
                  <a:lnTo>
                    <a:pt x="18146" y="1053"/>
                  </a:lnTo>
                  <a:lnTo>
                    <a:pt x="17391" y="1565"/>
                  </a:lnTo>
                  <a:lnTo>
                    <a:pt x="16438" y="2163"/>
                  </a:lnTo>
                  <a:lnTo>
                    <a:pt x="15446" y="2846"/>
                  </a:lnTo>
                  <a:lnTo>
                    <a:pt x="14890" y="3244"/>
                  </a:lnTo>
                  <a:lnTo>
                    <a:pt x="14334" y="3643"/>
                  </a:lnTo>
                  <a:lnTo>
                    <a:pt x="13818" y="4041"/>
                  </a:lnTo>
                  <a:lnTo>
                    <a:pt x="13262" y="4411"/>
                  </a:lnTo>
                  <a:lnTo>
                    <a:pt x="12706" y="4809"/>
                  </a:lnTo>
                  <a:lnTo>
                    <a:pt x="12110" y="5208"/>
                  </a:lnTo>
                  <a:lnTo>
                    <a:pt x="11515" y="5606"/>
                  </a:lnTo>
                  <a:lnTo>
                    <a:pt x="10919" y="5976"/>
                  </a:lnTo>
                  <a:lnTo>
                    <a:pt x="10284" y="6289"/>
                  </a:lnTo>
                  <a:lnTo>
                    <a:pt x="9649" y="6631"/>
                  </a:lnTo>
                  <a:lnTo>
                    <a:pt x="9013" y="6915"/>
                  </a:lnTo>
                  <a:lnTo>
                    <a:pt x="8338" y="7172"/>
                  </a:lnTo>
                  <a:lnTo>
                    <a:pt x="7624" y="7399"/>
                  </a:lnTo>
                  <a:lnTo>
                    <a:pt x="6909" y="7542"/>
                  </a:lnTo>
                  <a:lnTo>
                    <a:pt x="6154" y="7655"/>
                  </a:lnTo>
                  <a:lnTo>
                    <a:pt x="5360" y="7712"/>
                  </a:lnTo>
                  <a:lnTo>
                    <a:pt x="3891" y="7769"/>
                  </a:lnTo>
                  <a:lnTo>
                    <a:pt x="2700" y="7826"/>
                  </a:lnTo>
                  <a:lnTo>
                    <a:pt x="1747" y="7968"/>
                  </a:lnTo>
                  <a:lnTo>
                    <a:pt x="1032" y="8082"/>
                  </a:lnTo>
                  <a:lnTo>
                    <a:pt x="516" y="8253"/>
                  </a:lnTo>
                  <a:lnTo>
                    <a:pt x="159" y="8481"/>
                  </a:lnTo>
                  <a:lnTo>
                    <a:pt x="0" y="8765"/>
                  </a:lnTo>
                  <a:lnTo>
                    <a:pt x="0" y="9135"/>
                  </a:lnTo>
                  <a:lnTo>
                    <a:pt x="159" y="9904"/>
                  </a:lnTo>
                  <a:lnTo>
                    <a:pt x="476" y="11156"/>
                  </a:lnTo>
                  <a:lnTo>
                    <a:pt x="874" y="12806"/>
                  </a:lnTo>
                  <a:lnTo>
                    <a:pt x="1350" y="14542"/>
                  </a:lnTo>
                  <a:lnTo>
                    <a:pt x="1787" y="16278"/>
                  </a:lnTo>
                  <a:lnTo>
                    <a:pt x="2144" y="17730"/>
                  </a:lnTo>
                  <a:lnTo>
                    <a:pt x="2462" y="18754"/>
                  </a:lnTo>
                  <a:lnTo>
                    <a:pt x="2541" y="19153"/>
                  </a:lnTo>
                  <a:lnTo>
                    <a:pt x="2541" y="19238"/>
                  </a:lnTo>
                  <a:lnTo>
                    <a:pt x="2621" y="19437"/>
                  </a:lnTo>
                  <a:lnTo>
                    <a:pt x="2700" y="19750"/>
                  </a:lnTo>
                  <a:lnTo>
                    <a:pt x="2859" y="20149"/>
                  </a:lnTo>
                  <a:lnTo>
                    <a:pt x="3097" y="20519"/>
                  </a:lnTo>
                  <a:lnTo>
                    <a:pt x="3375" y="20889"/>
                  </a:lnTo>
                  <a:lnTo>
                    <a:pt x="3772" y="21202"/>
                  </a:lnTo>
                  <a:lnTo>
                    <a:pt x="4209" y="21401"/>
                  </a:lnTo>
                  <a:lnTo>
                    <a:pt x="4725" y="21515"/>
                  </a:lnTo>
                  <a:lnTo>
                    <a:pt x="5201" y="21600"/>
                  </a:lnTo>
                  <a:lnTo>
                    <a:pt x="5599" y="21600"/>
                  </a:lnTo>
                  <a:lnTo>
                    <a:pt x="5996" y="21600"/>
                  </a:lnTo>
                  <a:lnTo>
                    <a:pt x="6274" y="21572"/>
                  </a:lnTo>
                  <a:lnTo>
                    <a:pt x="6512" y="21515"/>
                  </a:lnTo>
                  <a:lnTo>
                    <a:pt x="6671" y="21458"/>
                  </a:lnTo>
                  <a:lnTo>
                    <a:pt x="6710" y="21458"/>
                  </a:lnTo>
                  <a:lnTo>
                    <a:pt x="6631" y="19039"/>
                  </a:lnTo>
                  <a:lnTo>
                    <a:pt x="6750" y="19067"/>
                  </a:lnTo>
                  <a:lnTo>
                    <a:pt x="7107" y="19153"/>
                  </a:lnTo>
                  <a:lnTo>
                    <a:pt x="7584" y="19209"/>
                  </a:lnTo>
                  <a:lnTo>
                    <a:pt x="8259" y="19238"/>
                  </a:lnTo>
                  <a:lnTo>
                    <a:pt x="9053" y="19266"/>
                  </a:lnTo>
                  <a:lnTo>
                    <a:pt x="9926" y="19209"/>
                  </a:lnTo>
                  <a:lnTo>
                    <a:pt x="10840" y="19039"/>
                  </a:lnTo>
                  <a:lnTo>
                    <a:pt x="11832" y="18811"/>
                  </a:lnTo>
                  <a:lnTo>
                    <a:pt x="12666" y="18526"/>
                  </a:lnTo>
                  <a:lnTo>
                    <a:pt x="13301" y="18327"/>
                  </a:lnTo>
                  <a:lnTo>
                    <a:pt x="13738" y="18213"/>
                  </a:lnTo>
                  <a:lnTo>
                    <a:pt x="14096" y="18071"/>
                  </a:lnTo>
                  <a:lnTo>
                    <a:pt x="14254" y="18014"/>
                  </a:lnTo>
                  <a:lnTo>
                    <a:pt x="14374" y="17986"/>
                  </a:lnTo>
                  <a:lnTo>
                    <a:pt x="14413" y="17986"/>
                  </a:lnTo>
                  <a:lnTo>
                    <a:pt x="14413" y="17986"/>
                  </a:lnTo>
                  <a:lnTo>
                    <a:pt x="16200" y="18157"/>
                  </a:lnTo>
                  <a:lnTo>
                    <a:pt x="16279" y="18014"/>
                  </a:lnTo>
                  <a:lnTo>
                    <a:pt x="16597" y="17673"/>
                  </a:lnTo>
                  <a:lnTo>
                    <a:pt x="16954" y="17132"/>
                  </a:lnTo>
                  <a:lnTo>
                    <a:pt x="17431" y="16534"/>
                  </a:lnTo>
                  <a:lnTo>
                    <a:pt x="17907" y="15880"/>
                  </a:lnTo>
                  <a:lnTo>
                    <a:pt x="18304" y="15254"/>
                  </a:lnTo>
                  <a:lnTo>
                    <a:pt x="18622" y="14685"/>
                  </a:lnTo>
                  <a:lnTo>
                    <a:pt x="18741" y="14315"/>
                  </a:lnTo>
                  <a:lnTo>
                    <a:pt x="18701" y="13660"/>
                  </a:lnTo>
                  <a:lnTo>
                    <a:pt x="18543" y="13091"/>
                  </a:lnTo>
                  <a:lnTo>
                    <a:pt x="18344" y="12664"/>
                  </a:lnTo>
                  <a:lnTo>
                    <a:pt x="18265" y="12493"/>
                  </a:lnTo>
                  <a:lnTo>
                    <a:pt x="18304" y="12209"/>
                  </a:lnTo>
                  <a:lnTo>
                    <a:pt x="18344" y="11611"/>
                  </a:lnTo>
                  <a:lnTo>
                    <a:pt x="18384" y="10985"/>
                  </a:lnTo>
                  <a:lnTo>
                    <a:pt x="18265" y="10558"/>
                  </a:lnTo>
                  <a:lnTo>
                    <a:pt x="17987" y="10416"/>
                  </a:lnTo>
                  <a:lnTo>
                    <a:pt x="17312" y="10160"/>
                  </a:lnTo>
                  <a:lnTo>
                    <a:pt x="16399" y="9904"/>
                  </a:lnTo>
                  <a:lnTo>
                    <a:pt x="15446" y="9619"/>
                  </a:lnTo>
                  <a:lnTo>
                    <a:pt x="14413" y="9306"/>
                  </a:lnTo>
                  <a:lnTo>
                    <a:pt x="13579" y="9078"/>
                  </a:lnTo>
                  <a:lnTo>
                    <a:pt x="12944" y="8936"/>
                  </a:lnTo>
                  <a:lnTo>
                    <a:pt x="12746" y="887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6" name="Shape"/>
            <p:cNvSpPr/>
            <p:nvPr/>
          </p:nvSpPr>
          <p:spPr>
            <a:xfrm>
              <a:off x="0" y="0"/>
              <a:ext cx="1500188" cy="1666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811"/>
                  </a:moveTo>
                  <a:lnTo>
                    <a:pt x="21577" y="5822"/>
                  </a:lnTo>
                  <a:lnTo>
                    <a:pt x="21486" y="5842"/>
                  </a:lnTo>
                  <a:lnTo>
                    <a:pt x="21371" y="5873"/>
                  </a:lnTo>
                  <a:lnTo>
                    <a:pt x="21223" y="5925"/>
                  </a:lnTo>
                  <a:lnTo>
                    <a:pt x="21063" y="5955"/>
                  </a:lnTo>
                  <a:lnTo>
                    <a:pt x="20902" y="5976"/>
                  </a:lnTo>
                  <a:lnTo>
                    <a:pt x="20765" y="5976"/>
                  </a:lnTo>
                  <a:lnTo>
                    <a:pt x="20628" y="5966"/>
                  </a:lnTo>
                  <a:lnTo>
                    <a:pt x="20571" y="5945"/>
                  </a:lnTo>
                  <a:lnTo>
                    <a:pt x="20502" y="5904"/>
                  </a:lnTo>
                  <a:lnTo>
                    <a:pt x="20445" y="5853"/>
                  </a:lnTo>
                  <a:lnTo>
                    <a:pt x="20376" y="5801"/>
                  </a:lnTo>
                  <a:lnTo>
                    <a:pt x="20296" y="5729"/>
                  </a:lnTo>
                  <a:lnTo>
                    <a:pt x="20228" y="5657"/>
                  </a:lnTo>
                  <a:lnTo>
                    <a:pt x="20136" y="5585"/>
                  </a:lnTo>
                  <a:lnTo>
                    <a:pt x="20056" y="5503"/>
                  </a:lnTo>
                  <a:lnTo>
                    <a:pt x="20102" y="5523"/>
                  </a:lnTo>
                  <a:lnTo>
                    <a:pt x="20159" y="5544"/>
                  </a:lnTo>
                  <a:lnTo>
                    <a:pt x="20205" y="5575"/>
                  </a:lnTo>
                  <a:lnTo>
                    <a:pt x="20251" y="5585"/>
                  </a:lnTo>
                  <a:lnTo>
                    <a:pt x="20422" y="5595"/>
                  </a:lnTo>
                  <a:lnTo>
                    <a:pt x="20594" y="5523"/>
                  </a:lnTo>
                  <a:lnTo>
                    <a:pt x="20765" y="5431"/>
                  </a:lnTo>
                  <a:lnTo>
                    <a:pt x="20914" y="5297"/>
                  </a:lnTo>
                  <a:lnTo>
                    <a:pt x="21051" y="5163"/>
                  </a:lnTo>
                  <a:lnTo>
                    <a:pt x="21165" y="5050"/>
                  </a:lnTo>
                  <a:lnTo>
                    <a:pt x="21234" y="4958"/>
                  </a:lnTo>
                  <a:lnTo>
                    <a:pt x="21257" y="4927"/>
                  </a:lnTo>
                  <a:lnTo>
                    <a:pt x="21246" y="4947"/>
                  </a:lnTo>
                  <a:lnTo>
                    <a:pt x="21200" y="4989"/>
                  </a:lnTo>
                  <a:lnTo>
                    <a:pt x="21143" y="5050"/>
                  </a:lnTo>
                  <a:lnTo>
                    <a:pt x="21051" y="5122"/>
                  </a:lnTo>
                  <a:lnTo>
                    <a:pt x="20960" y="5184"/>
                  </a:lnTo>
                  <a:lnTo>
                    <a:pt x="20857" y="5235"/>
                  </a:lnTo>
                  <a:lnTo>
                    <a:pt x="20742" y="5266"/>
                  </a:lnTo>
                  <a:lnTo>
                    <a:pt x="20628" y="5256"/>
                  </a:lnTo>
                  <a:lnTo>
                    <a:pt x="20502" y="5194"/>
                  </a:lnTo>
                  <a:lnTo>
                    <a:pt x="20376" y="5091"/>
                  </a:lnTo>
                  <a:lnTo>
                    <a:pt x="20228" y="4947"/>
                  </a:lnTo>
                  <a:lnTo>
                    <a:pt x="20068" y="4793"/>
                  </a:lnTo>
                  <a:lnTo>
                    <a:pt x="19862" y="4629"/>
                  </a:lnTo>
                  <a:lnTo>
                    <a:pt x="19633" y="4464"/>
                  </a:lnTo>
                  <a:lnTo>
                    <a:pt x="19359" y="4320"/>
                  </a:lnTo>
                  <a:lnTo>
                    <a:pt x="19039" y="4217"/>
                  </a:lnTo>
                  <a:lnTo>
                    <a:pt x="18821" y="4176"/>
                  </a:lnTo>
                  <a:lnTo>
                    <a:pt x="18616" y="4145"/>
                  </a:lnTo>
                  <a:lnTo>
                    <a:pt x="18421" y="4166"/>
                  </a:lnTo>
                  <a:lnTo>
                    <a:pt x="18227" y="4176"/>
                  </a:lnTo>
                  <a:lnTo>
                    <a:pt x="18055" y="4207"/>
                  </a:lnTo>
                  <a:lnTo>
                    <a:pt x="17895" y="4258"/>
                  </a:lnTo>
                  <a:lnTo>
                    <a:pt x="17747" y="4299"/>
                  </a:lnTo>
                  <a:lnTo>
                    <a:pt x="17609" y="4361"/>
                  </a:lnTo>
                  <a:lnTo>
                    <a:pt x="17472" y="4083"/>
                  </a:lnTo>
                  <a:lnTo>
                    <a:pt x="17312" y="3826"/>
                  </a:lnTo>
                  <a:lnTo>
                    <a:pt x="17129" y="3559"/>
                  </a:lnTo>
                  <a:lnTo>
                    <a:pt x="16946" y="3302"/>
                  </a:lnTo>
                  <a:lnTo>
                    <a:pt x="16740" y="3045"/>
                  </a:lnTo>
                  <a:lnTo>
                    <a:pt x="16523" y="2808"/>
                  </a:lnTo>
                  <a:lnTo>
                    <a:pt x="16294" y="2582"/>
                  </a:lnTo>
                  <a:lnTo>
                    <a:pt x="16043" y="2345"/>
                  </a:lnTo>
                  <a:lnTo>
                    <a:pt x="15745" y="2088"/>
                  </a:lnTo>
                  <a:lnTo>
                    <a:pt x="15425" y="1841"/>
                  </a:lnTo>
                  <a:lnTo>
                    <a:pt x="15082" y="1605"/>
                  </a:lnTo>
                  <a:lnTo>
                    <a:pt x="14751" y="1399"/>
                  </a:lnTo>
                  <a:lnTo>
                    <a:pt x="14385" y="1193"/>
                  </a:lnTo>
                  <a:lnTo>
                    <a:pt x="14019" y="1008"/>
                  </a:lnTo>
                  <a:lnTo>
                    <a:pt x="13630" y="843"/>
                  </a:lnTo>
                  <a:lnTo>
                    <a:pt x="13241" y="689"/>
                  </a:lnTo>
                  <a:lnTo>
                    <a:pt x="12841" y="545"/>
                  </a:lnTo>
                  <a:lnTo>
                    <a:pt x="12441" y="432"/>
                  </a:lnTo>
                  <a:lnTo>
                    <a:pt x="12029" y="329"/>
                  </a:lnTo>
                  <a:lnTo>
                    <a:pt x="11595" y="247"/>
                  </a:lnTo>
                  <a:lnTo>
                    <a:pt x="11172" y="185"/>
                  </a:lnTo>
                  <a:lnTo>
                    <a:pt x="10749" y="134"/>
                  </a:lnTo>
                  <a:lnTo>
                    <a:pt x="10314" y="113"/>
                  </a:lnTo>
                  <a:lnTo>
                    <a:pt x="9868" y="103"/>
                  </a:lnTo>
                  <a:lnTo>
                    <a:pt x="9697" y="103"/>
                  </a:lnTo>
                  <a:lnTo>
                    <a:pt x="9502" y="113"/>
                  </a:lnTo>
                  <a:lnTo>
                    <a:pt x="9308" y="123"/>
                  </a:lnTo>
                  <a:lnTo>
                    <a:pt x="9125" y="134"/>
                  </a:lnTo>
                  <a:lnTo>
                    <a:pt x="8930" y="154"/>
                  </a:lnTo>
                  <a:lnTo>
                    <a:pt x="8736" y="175"/>
                  </a:lnTo>
                  <a:lnTo>
                    <a:pt x="8542" y="195"/>
                  </a:lnTo>
                  <a:lnTo>
                    <a:pt x="8347" y="226"/>
                  </a:lnTo>
                  <a:lnTo>
                    <a:pt x="8153" y="257"/>
                  </a:lnTo>
                  <a:lnTo>
                    <a:pt x="7970" y="309"/>
                  </a:lnTo>
                  <a:lnTo>
                    <a:pt x="7776" y="350"/>
                  </a:lnTo>
                  <a:lnTo>
                    <a:pt x="7581" y="391"/>
                  </a:lnTo>
                  <a:lnTo>
                    <a:pt x="7387" y="453"/>
                  </a:lnTo>
                  <a:lnTo>
                    <a:pt x="7192" y="504"/>
                  </a:lnTo>
                  <a:lnTo>
                    <a:pt x="7009" y="555"/>
                  </a:lnTo>
                  <a:lnTo>
                    <a:pt x="6815" y="627"/>
                  </a:lnTo>
                  <a:lnTo>
                    <a:pt x="6861" y="401"/>
                  </a:lnTo>
                  <a:lnTo>
                    <a:pt x="6838" y="206"/>
                  </a:lnTo>
                  <a:lnTo>
                    <a:pt x="6769" y="51"/>
                  </a:lnTo>
                  <a:lnTo>
                    <a:pt x="6746" y="0"/>
                  </a:lnTo>
                  <a:lnTo>
                    <a:pt x="6735" y="21"/>
                  </a:lnTo>
                  <a:lnTo>
                    <a:pt x="6712" y="62"/>
                  </a:lnTo>
                  <a:lnTo>
                    <a:pt x="6666" y="144"/>
                  </a:lnTo>
                  <a:lnTo>
                    <a:pt x="6609" y="237"/>
                  </a:lnTo>
                  <a:lnTo>
                    <a:pt x="6541" y="339"/>
                  </a:lnTo>
                  <a:lnTo>
                    <a:pt x="6461" y="432"/>
                  </a:lnTo>
                  <a:lnTo>
                    <a:pt x="6381" y="525"/>
                  </a:lnTo>
                  <a:lnTo>
                    <a:pt x="6300" y="597"/>
                  </a:lnTo>
                  <a:lnTo>
                    <a:pt x="6209" y="627"/>
                  </a:lnTo>
                  <a:lnTo>
                    <a:pt x="6072" y="597"/>
                  </a:lnTo>
                  <a:lnTo>
                    <a:pt x="5912" y="545"/>
                  </a:lnTo>
                  <a:lnTo>
                    <a:pt x="5729" y="483"/>
                  </a:lnTo>
                  <a:lnTo>
                    <a:pt x="5534" y="401"/>
                  </a:lnTo>
                  <a:lnTo>
                    <a:pt x="5340" y="350"/>
                  </a:lnTo>
                  <a:lnTo>
                    <a:pt x="5134" y="329"/>
                  </a:lnTo>
                  <a:lnTo>
                    <a:pt x="4928" y="360"/>
                  </a:lnTo>
                  <a:lnTo>
                    <a:pt x="4745" y="473"/>
                  </a:lnTo>
                  <a:lnTo>
                    <a:pt x="4585" y="648"/>
                  </a:lnTo>
                  <a:lnTo>
                    <a:pt x="4460" y="885"/>
                  </a:lnTo>
                  <a:lnTo>
                    <a:pt x="4357" y="1131"/>
                  </a:lnTo>
                  <a:lnTo>
                    <a:pt x="4277" y="1378"/>
                  </a:lnTo>
                  <a:lnTo>
                    <a:pt x="4219" y="1584"/>
                  </a:lnTo>
                  <a:lnTo>
                    <a:pt x="4185" y="1738"/>
                  </a:lnTo>
                  <a:lnTo>
                    <a:pt x="4174" y="1790"/>
                  </a:lnTo>
                  <a:lnTo>
                    <a:pt x="4197" y="1759"/>
                  </a:lnTo>
                  <a:lnTo>
                    <a:pt x="4277" y="1656"/>
                  </a:lnTo>
                  <a:lnTo>
                    <a:pt x="4379" y="1522"/>
                  </a:lnTo>
                  <a:lnTo>
                    <a:pt x="4505" y="1358"/>
                  </a:lnTo>
                  <a:lnTo>
                    <a:pt x="4654" y="1183"/>
                  </a:lnTo>
                  <a:lnTo>
                    <a:pt x="4791" y="1018"/>
                  </a:lnTo>
                  <a:lnTo>
                    <a:pt x="4940" y="885"/>
                  </a:lnTo>
                  <a:lnTo>
                    <a:pt x="5066" y="802"/>
                  </a:lnTo>
                  <a:lnTo>
                    <a:pt x="5146" y="761"/>
                  </a:lnTo>
                  <a:lnTo>
                    <a:pt x="5248" y="761"/>
                  </a:lnTo>
                  <a:lnTo>
                    <a:pt x="5340" y="782"/>
                  </a:lnTo>
                  <a:lnTo>
                    <a:pt x="5443" y="823"/>
                  </a:lnTo>
                  <a:lnTo>
                    <a:pt x="5557" y="864"/>
                  </a:lnTo>
                  <a:lnTo>
                    <a:pt x="5683" y="905"/>
                  </a:lnTo>
                  <a:lnTo>
                    <a:pt x="5820" y="946"/>
                  </a:lnTo>
                  <a:lnTo>
                    <a:pt x="5957" y="977"/>
                  </a:lnTo>
                  <a:lnTo>
                    <a:pt x="5569" y="1173"/>
                  </a:lnTo>
                  <a:lnTo>
                    <a:pt x="5180" y="1389"/>
                  </a:lnTo>
                  <a:lnTo>
                    <a:pt x="4803" y="1615"/>
                  </a:lnTo>
                  <a:lnTo>
                    <a:pt x="4460" y="1882"/>
                  </a:lnTo>
                  <a:lnTo>
                    <a:pt x="4116" y="2150"/>
                  </a:lnTo>
                  <a:lnTo>
                    <a:pt x="3785" y="2458"/>
                  </a:lnTo>
                  <a:lnTo>
                    <a:pt x="3476" y="2777"/>
                  </a:lnTo>
                  <a:lnTo>
                    <a:pt x="3202" y="3127"/>
                  </a:lnTo>
                  <a:lnTo>
                    <a:pt x="2939" y="3497"/>
                  </a:lnTo>
                  <a:lnTo>
                    <a:pt x="2699" y="3878"/>
                  </a:lnTo>
                  <a:lnTo>
                    <a:pt x="2481" y="4289"/>
                  </a:lnTo>
                  <a:lnTo>
                    <a:pt x="2298" y="4721"/>
                  </a:lnTo>
                  <a:lnTo>
                    <a:pt x="2150" y="5174"/>
                  </a:lnTo>
                  <a:lnTo>
                    <a:pt x="2024" y="5657"/>
                  </a:lnTo>
                  <a:lnTo>
                    <a:pt x="1944" y="6161"/>
                  </a:lnTo>
                  <a:lnTo>
                    <a:pt x="1875" y="6686"/>
                  </a:lnTo>
                  <a:lnTo>
                    <a:pt x="1864" y="7097"/>
                  </a:lnTo>
                  <a:lnTo>
                    <a:pt x="1875" y="7519"/>
                  </a:lnTo>
                  <a:lnTo>
                    <a:pt x="1910" y="7941"/>
                  </a:lnTo>
                  <a:lnTo>
                    <a:pt x="1990" y="8352"/>
                  </a:lnTo>
                  <a:lnTo>
                    <a:pt x="2081" y="8784"/>
                  </a:lnTo>
                  <a:lnTo>
                    <a:pt x="2207" y="9195"/>
                  </a:lnTo>
                  <a:lnTo>
                    <a:pt x="2367" y="9597"/>
                  </a:lnTo>
                  <a:lnTo>
                    <a:pt x="2550" y="9998"/>
                  </a:lnTo>
                  <a:lnTo>
                    <a:pt x="2756" y="10389"/>
                  </a:lnTo>
                  <a:lnTo>
                    <a:pt x="2984" y="10759"/>
                  </a:lnTo>
                  <a:lnTo>
                    <a:pt x="3236" y="11119"/>
                  </a:lnTo>
                  <a:lnTo>
                    <a:pt x="3533" y="11458"/>
                  </a:lnTo>
                  <a:lnTo>
                    <a:pt x="3842" y="11787"/>
                  </a:lnTo>
                  <a:lnTo>
                    <a:pt x="4185" y="12086"/>
                  </a:lnTo>
                  <a:lnTo>
                    <a:pt x="4562" y="12363"/>
                  </a:lnTo>
                  <a:lnTo>
                    <a:pt x="4951" y="12621"/>
                  </a:lnTo>
                  <a:lnTo>
                    <a:pt x="4997" y="12693"/>
                  </a:lnTo>
                  <a:lnTo>
                    <a:pt x="5054" y="12754"/>
                  </a:lnTo>
                  <a:lnTo>
                    <a:pt x="5111" y="12816"/>
                  </a:lnTo>
                  <a:lnTo>
                    <a:pt x="5157" y="12867"/>
                  </a:lnTo>
                  <a:lnTo>
                    <a:pt x="5214" y="12919"/>
                  </a:lnTo>
                  <a:lnTo>
                    <a:pt x="5271" y="12970"/>
                  </a:lnTo>
                  <a:lnTo>
                    <a:pt x="5329" y="13032"/>
                  </a:lnTo>
                  <a:lnTo>
                    <a:pt x="5374" y="13073"/>
                  </a:lnTo>
                  <a:lnTo>
                    <a:pt x="5386" y="13083"/>
                  </a:lnTo>
                  <a:lnTo>
                    <a:pt x="5431" y="13114"/>
                  </a:lnTo>
                  <a:lnTo>
                    <a:pt x="5489" y="13176"/>
                  </a:lnTo>
                  <a:lnTo>
                    <a:pt x="5569" y="13238"/>
                  </a:lnTo>
                  <a:lnTo>
                    <a:pt x="5660" y="13310"/>
                  </a:lnTo>
                  <a:lnTo>
                    <a:pt x="5763" y="13402"/>
                  </a:lnTo>
                  <a:lnTo>
                    <a:pt x="5866" y="13485"/>
                  </a:lnTo>
                  <a:lnTo>
                    <a:pt x="5969" y="13577"/>
                  </a:lnTo>
                  <a:lnTo>
                    <a:pt x="5866" y="13639"/>
                  </a:lnTo>
                  <a:lnTo>
                    <a:pt x="5740" y="13721"/>
                  </a:lnTo>
                  <a:lnTo>
                    <a:pt x="5603" y="13824"/>
                  </a:lnTo>
                  <a:lnTo>
                    <a:pt x="5477" y="13947"/>
                  </a:lnTo>
                  <a:lnTo>
                    <a:pt x="5340" y="14081"/>
                  </a:lnTo>
                  <a:lnTo>
                    <a:pt x="5191" y="14225"/>
                  </a:lnTo>
                  <a:lnTo>
                    <a:pt x="5054" y="14369"/>
                  </a:lnTo>
                  <a:lnTo>
                    <a:pt x="4894" y="14523"/>
                  </a:lnTo>
                  <a:lnTo>
                    <a:pt x="4734" y="14688"/>
                  </a:lnTo>
                  <a:lnTo>
                    <a:pt x="4562" y="14853"/>
                  </a:lnTo>
                  <a:lnTo>
                    <a:pt x="4402" y="15017"/>
                  </a:lnTo>
                  <a:lnTo>
                    <a:pt x="4231" y="15182"/>
                  </a:lnTo>
                  <a:lnTo>
                    <a:pt x="4048" y="15336"/>
                  </a:lnTo>
                  <a:lnTo>
                    <a:pt x="3888" y="15480"/>
                  </a:lnTo>
                  <a:lnTo>
                    <a:pt x="3716" y="15603"/>
                  </a:lnTo>
                  <a:lnTo>
                    <a:pt x="3533" y="15727"/>
                  </a:lnTo>
                  <a:lnTo>
                    <a:pt x="3305" y="15861"/>
                  </a:lnTo>
                  <a:lnTo>
                    <a:pt x="3053" y="15974"/>
                  </a:lnTo>
                  <a:lnTo>
                    <a:pt x="2790" y="16087"/>
                  </a:lnTo>
                  <a:lnTo>
                    <a:pt x="2527" y="16190"/>
                  </a:lnTo>
                  <a:lnTo>
                    <a:pt x="2241" y="16272"/>
                  </a:lnTo>
                  <a:lnTo>
                    <a:pt x="1967" y="16354"/>
                  </a:lnTo>
                  <a:lnTo>
                    <a:pt x="1681" y="16426"/>
                  </a:lnTo>
                  <a:lnTo>
                    <a:pt x="1418" y="16488"/>
                  </a:lnTo>
                  <a:lnTo>
                    <a:pt x="1143" y="16550"/>
                  </a:lnTo>
                  <a:lnTo>
                    <a:pt x="903" y="16611"/>
                  </a:lnTo>
                  <a:lnTo>
                    <a:pt x="686" y="16663"/>
                  </a:lnTo>
                  <a:lnTo>
                    <a:pt x="480" y="16725"/>
                  </a:lnTo>
                  <a:lnTo>
                    <a:pt x="309" y="16786"/>
                  </a:lnTo>
                  <a:lnTo>
                    <a:pt x="160" y="16838"/>
                  </a:lnTo>
                  <a:lnTo>
                    <a:pt x="57" y="16910"/>
                  </a:lnTo>
                  <a:lnTo>
                    <a:pt x="0" y="16971"/>
                  </a:lnTo>
                  <a:lnTo>
                    <a:pt x="11" y="17177"/>
                  </a:lnTo>
                  <a:lnTo>
                    <a:pt x="114" y="17640"/>
                  </a:lnTo>
                  <a:lnTo>
                    <a:pt x="274" y="18257"/>
                  </a:lnTo>
                  <a:lnTo>
                    <a:pt x="480" y="18957"/>
                  </a:lnTo>
                  <a:lnTo>
                    <a:pt x="675" y="19646"/>
                  </a:lnTo>
                  <a:lnTo>
                    <a:pt x="858" y="20242"/>
                  </a:lnTo>
                  <a:lnTo>
                    <a:pt x="983" y="20654"/>
                  </a:lnTo>
                  <a:lnTo>
                    <a:pt x="1029" y="20818"/>
                  </a:lnTo>
                  <a:lnTo>
                    <a:pt x="949" y="20438"/>
                  </a:lnTo>
                  <a:lnTo>
                    <a:pt x="858" y="19934"/>
                  </a:lnTo>
                  <a:lnTo>
                    <a:pt x="755" y="19358"/>
                  </a:lnTo>
                  <a:lnTo>
                    <a:pt x="652" y="18741"/>
                  </a:lnTo>
                  <a:lnTo>
                    <a:pt x="549" y="18175"/>
                  </a:lnTo>
                  <a:lnTo>
                    <a:pt x="492" y="17691"/>
                  </a:lnTo>
                  <a:lnTo>
                    <a:pt x="457" y="17342"/>
                  </a:lnTo>
                  <a:lnTo>
                    <a:pt x="469" y="17187"/>
                  </a:lnTo>
                  <a:lnTo>
                    <a:pt x="503" y="17167"/>
                  </a:lnTo>
                  <a:lnTo>
                    <a:pt x="595" y="17146"/>
                  </a:lnTo>
                  <a:lnTo>
                    <a:pt x="698" y="17115"/>
                  </a:lnTo>
                  <a:lnTo>
                    <a:pt x="846" y="17085"/>
                  </a:lnTo>
                  <a:lnTo>
                    <a:pt x="1006" y="17054"/>
                  </a:lnTo>
                  <a:lnTo>
                    <a:pt x="1201" y="17002"/>
                  </a:lnTo>
                  <a:lnTo>
                    <a:pt x="1395" y="16961"/>
                  </a:lnTo>
                  <a:lnTo>
                    <a:pt x="1612" y="16910"/>
                  </a:lnTo>
                  <a:lnTo>
                    <a:pt x="1841" y="16848"/>
                  </a:lnTo>
                  <a:lnTo>
                    <a:pt x="2070" y="16797"/>
                  </a:lnTo>
                  <a:lnTo>
                    <a:pt x="2298" y="16725"/>
                  </a:lnTo>
                  <a:lnTo>
                    <a:pt x="2550" y="16642"/>
                  </a:lnTo>
                  <a:lnTo>
                    <a:pt x="2767" y="16560"/>
                  </a:lnTo>
                  <a:lnTo>
                    <a:pt x="2984" y="16457"/>
                  </a:lnTo>
                  <a:lnTo>
                    <a:pt x="3190" y="16365"/>
                  </a:lnTo>
                  <a:lnTo>
                    <a:pt x="3385" y="16241"/>
                  </a:lnTo>
                  <a:lnTo>
                    <a:pt x="3568" y="16107"/>
                  </a:lnTo>
                  <a:lnTo>
                    <a:pt x="3762" y="15953"/>
                  </a:lnTo>
                  <a:lnTo>
                    <a:pt x="3956" y="15778"/>
                  </a:lnTo>
                  <a:lnTo>
                    <a:pt x="4151" y="15593"/>
                  </a:lnTo>
                  <a:lnTo>
                    <a:pt x="4357" y="15408"/>
                  </a:lnTo>
                  <a:lnTo>
                    <a:pt x="4562" y="15213"/>
                  </a:lnTo>
                  <a:lnTo>
                    <a:pt x="4757" y="15017"/>
                  </a:lnTo>
                  <a:lnTo>
                    <a:pt x="4951" y="14822"/>
                  </a:lnTo>
                  <a:lnTo>
                    <a:pt x="5146" y="14647"/>
                  </a:lnTo>
                  <a:lnTo>
                    <a:pt x="5329" y="14482"/>
                  </a:lnTo>
                  <a:lnTo>
                    <a:pt x="5500" y="14338"/>
                  </a:lnTo>
                  <a:lnTo>
                    <a:pt x="5660" y="14225"/>
                  </a:lnTo>
                  <a:lnTo>
                    <a:pt x="5797" y="14133"/>
                  </a:lnTo>
                  <a:lnTo>
                    <a:pt x="5923" y="14091"/>
                  </a:lnTo>
                  <a:lnTo>
                    <a:pt x="6037" y="14071"/>
                  </a:lnTo>
                  <a:lnTo>
                    <a:pt x="6118" y="14102"/>
                  </a:lnTo>
                  <a:lnTo>
                    <a:pt x="6220" y="14256"/>
                  </a:lnTo>
                  <a:lnTo>
                    <a:pt x="6220" y="14482"/>
                  </a:lnTo>
                  <a:lnTo>
                    <a:pt x="6129" y="14770"/>
                  </a:lnTo>
                  <a:lnTo>
                    <a:pt x="5969" y="15079"/>
                  </a:lnTo>
                  <a:lnTo>
                    <a:pt x="5752" y="15408"/>
                  </a:lnTo>
                  <a:lnTo>
                    <a:pt x="5500" y="15717"/>
                  </a:lnTo>
                  <a:lnTo>
                    <a:pt x="5203" y="16005"/>
                  </a:lnTo>
                  <a:lnTo>
                    <a:pt x="4905" y="16231"/>
                  </a:lnTo>
                  <a:lnTo>
                    <a:pt x="4608" y="16416"/>
                  </a:lnTo>
                  <a:lnTo>
                    <a:pt x="4345" y="16591"/>
                  </a:lnTo>
                  <a:lnTo>
                    <a:pt x="4116" y="16735"/>
                  </a:lnTo>
                  <a:lnTo>
                    <a:pt x="3934" y="16858"/>
                  </a:lnTo>
                  <a:lnTo>
                    <a:pt x="3773" y="16961"/>
                  </a:lnTo>
                  <a:lnTo>
                    <a:pt x="3659" y="17033"/>
                  </a:lnTo>
                  <a:lnTo>
                    <a:pt x="3590" y="17095"/>
                  </a:lnTo>
                  <a:lnTo>
                    <a:pt x="3568" y="17105"/>
                  </a:lnTo>
                  <a:lnTo>
                    <a:pt x="3636" y="17126"/>
                  </a:lnTo>
                  <a:lnTo>
                    <a:pt x="3819" y="17177"/>
                  </a:lnTo>
                  <a:lnTo>
                    <a:pt x="4094" y="17259"/>
                  </a:lnTo>
                  <a:lnTo>
                    <a:pt x="4391" y="17352"/>
                  </a:lnTo>
                  <a:lnTo>
                    <a:pt x="4700" y="17455"/>
                  </a:lnTo>
                  <a:lnTo>
                    <a:pt x="4963" y="17537"/>
                  </a:lnTo>
                  <a:lnTo>
                    <a:pt x="5157" y="17630"/>
                  </a:lnTo>
                  <a:lnTo>
                    <a:pt x="5237" y="17681"/>
                  </a:lnTo>
                  <a:lnTo>
                    <a:pt x="5237" y="17846"/>
                  </a:lnTo>
                  <a:lnTo>
                    <a:pt x="5180" y="18072"/>
                  </a:lnTo>
                  <a:lnTo>
                    <a:pt x="5134" y="18298"/>
                  </a:lnTo>
                  <a:lnTo>
                    <a:pt x="5111" y="18381"/>
                  </a:lnTo>
                  <a:lnTo>
                    <a:pt x="5146" y="18422"/>
                  </a:lnTo>
                  <a:lnTo>
                    <a:pt x="5237" y="18535"/>
                  </a:lnTo>
                  <a:lnTo>
                    <a:pt x="5340" y="18710"/>
                  </a:lnTo>
                  <a:lnTo>
                    <a:pt x="5409" y="18936"/>
                  </a:lnTo>
                  <a:lnTo>
                    <a:pt x="5397" y="19090"/>
                  </a:lnTo>
                  <a:lnTo>
                    <a:pt x="5340" y="19275"/>
                  </a:lnTo>
                  <a:lnTo>
                    <a:pt x="5237" y="19491"/>
                  </a:lnTo>
                  <a:lnTo>
                    <a:pt x="5111" y="19728"/>
                  </a:lnTo>
                  <a:lnTo>
                    <a:pt x="4985" y="19934"/>
                  </a:lnTo>
                  <a:lnTo>
                    <a:pt x="4883" y="20109"/>
                  </a:lnTo>
                  <a:lnTo>
                    <a:pt x="4791" y="20232"/>
                  </a:lnTo>
                  <a:lnTo>
                    <a:pt x="4768" y="20273"/>
                  </a:lnTo>
                  <a:lnTo>
                    <a:pt x="4471" y="20181"/>
                  </a:lnTo>
                  <a:lnTo>
                    <a:pt x="4357" y="19913"/>
                  </a:lnTo>
                  <a:lnTo>
                    <a:pt x="4322" y="19944"/>
                  </a:lnTo>
                  <a:lnTo>
                    <a:pt x="4219" y="20016"/>
                  </a:lnTo>
                  <a:lnTo>
                    <a:pt x="4082" y="20129"/>
                  </a:lnTo>
                  <a:lnTo>
                    <a:pt x="3899" y="20253"/>
                  </a:lnTo>
                  <a:lnTo>
                    <a:pt x="3693" y="20366"/>
                  </a:lnTo>
                  <a:lnTo>
                    <a:pt x="3453" y="20479"/>
                  </a:lnTo>
                  <a:lnTo>
                    <a:pt x="3225" y="20551"/>
                  </a:lnTo>
                  <a:lnTo>
                    <a:pt x="2996" y="20592"/>
                  </a:lnTo>
                  <a:lnTo>
                    <a:pt x="2790" y="20592"/>
                  </a:lnTo>
                  <a:lnTo>
                    <a:pt x="2596" y="20582"/>
                  </a:lnTo>
                  <a:lnTo>
                    <a:pt x="2436" y="20561"/>
                  </a:lnTo>
                  <a:lnTo>
                    <a:pt x="2298" y="20551"/>
                  </a:lnTo>
                  <a:lnTo>
                    <a:pt x="2195" y="20541"/>
                  </a:lnTo>
                  <a:lnTo>
                    <a:pt x="2115" y="20530"/>
                  </a:lnTo>
                  <a:lnTo>
                    <a:pt x="2070" y="20520"/>
                  </a:lnTo>
                  <a:lnTo>
                    <a:pt x="2058" y="20520"/>
                  </a:lnTo>
                  <a:lnTo>
                    <a:pt x="2218" y="21600"/>
                  </a:lnTo>
                  <a:lnTo>
                    <a:pt x="2287" y="20890"/>
                  </a:lnTo>
                  <a:lnTo>
                    <a:pt x="2287" y="20901"/>
                  </a:lnTo>
                  <a:lnTo>
                    <a:pt x="2298" y="20921"/>
                  </a:lnTo>
                  <a:lnTo>
                    <a:pt x="2344" y="20962"/>
                  </a:lnTo>
                  <a:lnTo>
                    <a:pt x="2401" y="20993"/>
                  </a:lnTo>
                  <a:lnTo>
                    <a:pt x="2481" y="21024"/>
                  </a:lnTo>
                  <a:lnTo>
                    <a:pt x="2619" y="21055"/>
                  </a:lnTo>
                  <a:lnTo>
                    <a:pt x="2801" y="21075"/>
                  </a:lnTo>
                  <a:lnTo>
                    <a:pt x="3042" y="21086"/>
                  </a:lnTo>
                  <a:lnTo>
                    <a:pt x="3316" y="21065"/>
                  </a:lnTo>
                  <a:lnTo>
                    <a:pt x="3579" y="21003"/>
                  </a:lnTo>
                  <a:lnTo>
                    <a:pt x="3842" y="20911"/>
                  </a:lnTo>
                  <a:lnTo>
                    <a:pt x="4094" y="20808"/>
                  </a:lnTo>
                  <a:lnTo>
                    <a:pt x="4299" y="20695"/>
                  </a:lnTo>
                  <a:lnTo>
                    <a:pt x="4460" y="20613"/>
                  </a:lnTo>
                  <a:lnTo>
                    <a:pt x="4562" y="20541"/>
                  </a:lnTo>
                  <a:lnTo>
                    <a:pt x="4597" y="20520"/>
                  </a:lnTo>
                  <a:lnTo>
                    <a:pt x="4768" y="20623"/>
                  </a:lnTo>
                  <a:lnTo>
                    <a:pt x="5260" y="20551"/>
                  </a:lnTo>
                  <a:lnTo>
                    <a:pt x="5294" y="20499"/>
                  </a:lnTo>
                  <a:lnTo>
                    <a:pt x="5386" y="20366"/>
                  </a:lnTo>
                  <a:lnTo>
                    <a:pt x="5523" y="20160"/>
                  </a:lnTo>
                  <a:lnTo>
                    <a:pt x="5672" y="19923"/>
                  </a:lnTo>
                  <a:lnTo>
                    <a:pt x="5820" y="19656"/>
                  </a:lnTo>
                  <a:lnTo>
                    <a:pt x="5946" y="19409"/>
                  </a:lnTo>
                  <a:lnTo>
                    <a:pt x="6026" y="19183"/>
                  </a:lnTo>
                  <a:lnTo>
                    <a:pt x="6037" y="19008"/>
                  </a:lnTo>
                  <a:lnTo>
                    <a:pt x="5992" y="18874"/>
                  </a:lnTo>
                  <a:lnTo>
                    <a:pt x="5946" y="18741"/>
                  </a:lnTo>
                  <a:lnTo>
                    <a:pt x="5889" y="18627"/>
                  </a:lnTo>
                  <a:lnTo>
                    <a:pt x="5832" y="18545"/>
                  </a:lnTo>
                  <a:lnTo>
                    <a:pt x="5763" y="18473"/>
                  </a:lnTo>
                  <a:lnTo>
                    <a:pt x="5717" y="18401"/>
                  </a:lnTo>
                  <a:lnTo>
                    <a:pt x="5683" y="18370"/>
                  </a:lnTo>
                  <a:lnTo>
                    <a:pt x="5672" y="18360"/>
                  </a:lnTo>
                  <a:lnTo>
                    <a:pt x="5694" y="18247"/>
                  </a:lnTo>
                  <a:lnTo>
                    <a:pt x="5763" y="18000"/>
                  </a:lnTo>
                  <a:lnTo>
                    <a:pt x="5820" y="17733"/>
                  </a:lnTo>
                  <a:lnTo>
                    <a:pt x="5820" y="17547"/>
                  </a:lnTo>
                  <a:lnTo>
                    <a:pt x="5740" y="17486"/>
                  </a:lnTo>
                  <a:lnTo>
                    <a:pt x="5569" y="17414"/>
                  </a:lnTo>
                  <a:lnTo>
                    <a:pt x="5340" y="17311"/>
                  </a:lnTo>
                  <a:lnTo>
                    <a:pt x="5077" y="17229"/>
                  </a:lnTo>
                  <a:lnTo>
                    <a:pt x="4803" y="17136"/>
                  </a:lnTo>
                  <a:lnTo>
                    <a:pt x="4574" y="17074"/>
                  </a:lnTo>
                  <a:lnTo>
                    <a:pt x="4414" y="17023"/>
                  </a:lnTo>
                  <a:lnTo>
                    <a:pt x="4357" y="17002"/>
                  </a:lnTo>
                  <a:lnTo>
                    <a:pt x="4368" y="16992"/>
                  </a:lnTo>
                  <a:lnTo>
                    <a:pt x="4402" y="16951"/>
                  </a:lnTo>
                  <a:lnTo>
                    <a:pt x="4482" y="16889"/>
                  </a:lnTo>
                  <a:lnTo>
                    <a:pt x="4597" y="16797"/>
                  </a:lnTo>
                  <a:lnTo>
                    <a:pt x="4757" y="16663"/>
                  </a:lnTo>
                  <a:lnTo>
                    <a:pt x="4974" y="16529"/>
                  </a:lnTo>
                  <a:lnTo>
                    <a:pt x="5260" y="16344"/>
                  </a:lnTo>
                  <a:lnTo>
                    <a:pt x="5592" y="16128"/>
                  </a:lnTo>
                  <a:lnTo>
                    <a:pt x="5820" y="15974"/>
                  </a:lnTo>
                  <a:lnTo>
                    <a:pt x="6015" y="15789"/>
                  </a:lnTo>
                  <a:lnTo>
                    <a:pt x="6163" y="15573"/>
                  </a:lnTo>
                  <a:lnTo>
                    <a:pt x="6300" y="15346"/>
                  </a:lnTo>
                  <a:lnTo>
                    <a:pt x="6415" y="15120"/>
                  </a:lnTo>
                  <a:lnTo>
                    <a:pt x="6483" y="14863"/>
                  </a:lnTo>
                  <a:lnTo>
                    <a:pt x="6541" y="14626"/>
                  </a:lnTo>
                  <a:lnTo>
                    <a:pt x="6563" y="14400"/>
                  </a:lnTo>
                  <a:lnTo>
                    <a:pt x="6666" y="14606"/>
                  </a:lnTo>
                  <a:lnTo>
                    <a:pt x="6758" y="14832"/>
                  </a:lnTo>
                  <a:lnTo>
                    <a:pt x="6895" y="15079"/>
                  </a:lnTo>
                  <a:lnTo>
                    <a:pt x="7032" y="15346"/>
                  </a:lnTo>
                  <a:lnTo>
                    <a:pt x="7192" y="15603"/>
                  </a:lnTo>
                  <a:lnTo>
                    <a:pt x="7364" y="15871"/>
                  </a:lnTo>
                  <a:lnTo>
                    <a:pt x="7535" y="16128"/>
                  </a:lnTo>
                  <a:lnTo>
                    <a:pt x="7730" y="16385"/>
                  </a:lnTo>
                  <a:lnTo>
                    <a:pt x="7958" y="16622"/>
                  </a:lnTo>
                  <a:lnTo>
                    <a:pt x="8187" y="16838"/>
                  </a:lnTo>
                  <a:lnTo>
                    <a:pt x="8416" y="17033"/>
                  </a:lnTo>
                  <a:lnTo>
                    <a:pt x="8679" y="17208"/>
                  </a:lnTo>
                  <a:lnTo>
                    <a:pt x="8953" y="17342"/>
                  </a:lnTo>
                  <a:lnTo>
                    <a:pt x="9228" y="17445"/>
                  </a:lnTo>
                  <a:lnTo>
                    <a:pt x="9525" y="17496"/>
                  </a:lnTo>
                  <a:lnTo>
                    <a:pt x="9834" y="17506"/>
                  </a:lnTo>
                  <a:lnTo>
                    <a:pt x="10223" y="17455"/>
                  </a:lnTo>
                  <a:lnTo>
                    <a:pt x="10611" y="17352"/>
                  </a:lnTo>
                  <a:lnTo>
                    <a:pt x="11012" y="17187"/>
                  </a:lnTo>
                  <a:lnTo>
                    <a:pt x="11400" y="16992"/>
                  </a:lnTo>
                  <a:lnTo>
                    <a:pt x="11789" y="16755"/>
                  </a:lnTo>
                  <a:lnTo>
                    <a:pt x="12155" y="16478"/>
                  </a:lnTo>
                  <a:lnTo>
                    <a:pt x="12521" y="16179"/>
                  </a:lnTo>
                  <a:lnTo>
                    <a:pt x="12875" y="15850"/>
                  </a:lnTo>
                  <a:lnTo>
                    <a:pt x="13207" y="15501"/>
                  </a:lnTo>
                  <a:lnTo>
                    <a:pt x="13504" y="15141"/>
                  </a:lnTo>
                  <a:lnTo>
                    <a:pt x="13802" y="14770"/>
                  </a:lnTo>
                  <a:lnTo>
                    <a:pt x="14053" y="14410"/>
                  </a:lnTo>
                  <a:lnTo>
                    <a:pt x="14270" y="14030"/>
                  </a:lnTo>
                  <a:lnTo>
                    <a:pt x="14465" y="13670"/>
                  </a:lnTo>
                  <a:lnTo>
                    <a:pt x="14625" y="13341"/>
                  </a:lnTo>
                  <a:lnTo>
                    <a:pt x="14739" y="13011"/>
                  </a:lnTo>
                  <a:lnTo>
                    <a:pt x="14762" y="12960"/>
                  </a:lnTo>
                  <a:lnTo>
                    <a:pt x="14808" y="12867"/>
                  </a:lnTo>
                  <a:lnTo>
                    <a:pt x="14876" y="12713"/>
                  </a:lnTo>
                  <a:lnTo>
                    <a:pt x="14968" y="12528"/>
                  </a:lnTo>
                  <a:lnTo>
                    <a:pt x="15048" y="12353"/>
                  </a:lnTo>
                  <a:lnTo>
                    <a:pt x="15128" y="12178"/>
                  </a:lnTo>
                  <a:lnTo>
                    <a:pt x="15185" y="12045"/>
                  </a:lnTo>
                  <a:lnTo>
                    <a:pt x="15219" y="11962"/>
                  </a:lnTo>
                  <a:lnTo>
                    <a:pt x="15242" y="11952"/>
                  </a:lnTo>
                  <a:lnTo>
                    <a:pt x="15311" y="11942"/>
                  </a:lnTo>
                  <a:lnTo>
                    <a:pt x="15380" y="11911"/>
                  </a:lnTo>
                  <a:lnTo>
                    <a:pt x="15460" y="11890"/>
                  </a:lnTo>
                  <a:lnTo>
                    <a:pt x="15551" y="11880"/>
                  </a:lnTo>
                  <a:lnTo>
                    <a:pt x="15620" y="11859"/>
                  </a:lnTo>
                  <a:lnTo>
                    <a:pt x="15665" y="11849"/>
                  </a:lnTo>
                  <a:lnTo>
                    <a:pt x="15700" y="11839"/>
                  </a:lnTo>
                  <a:lnTo>
                    <a:pt x="15928" y="11859"/>
                  </a:lnTo>
                  <a:lnTo>
                    <a:pt x="16146" y="11870"/>
                  </a:lnTo>
                  <a:lnTo>
                    <a:pt x="16363" y="11890"/>
                  </a:lnTo>
                  <a:lnTo>
                    <a:pt x="16580" y="11890"/>
                  </a:lnTo>
                  <a:lnTo>
                    <a:pt x="16797" y="11880"/>
                  </a:lnTo>
                  <a:lnTo>
                    <a:pt x="17026" y="11849"/>
                  </a:lnTo>
                  <a:lnTo>
                    <a:pt x="17255" y="11787"/>
                  </a:lnTo>
                  <a:lnTo>
                    <a:pt x="17495" y="11695"/>
                  </a:lnTo>
                  <a:lnTo>
                    <a:pt x="17792" y="11541"/>
                  </a:lnTo>
                  <a:lnTo>
                    <a:pt x="18090" y="11366"/>
                  </a:lnTo>
                  <a:lnTo>
                    <a:pt x="18353" y="11181"/>
                  </a:lnTo>
                  <a:lnTo>
                    <a:pt x="18604" y="10985"/>
                  </a:lnTo>
                  <a:lnTo>
                    <a:pt x="18810" y="10779"/>
                  </a:lnTo>
                  <a:lnTo>
                    <a:pt x="18970" y="10563"/>
                  </a:lnTo>
                  <a:lnTo>
                    <a:pt x="19119" y="10337"/>
                  </a:lnTo>
                  <a:lnTo>
                    <a:pt x="19222" y="10101"/>
                  </a:lnTo>
                  <a:lnTo>
                    <a:pt x="19279" y="9895"/>
                  </a:lnTo>
                  <a:lnTo>
                    <a:pt x="19313" y="9689"/>
                  </a:lnTo>
                  <a:lnTo>
                    <a:pt x="19302" y="9494"/>
                  </a:lnTo>
                  <a:lnTo>
                    <a:pt x="19267" y="9309"/>
                  </a:lnTo>
                  <a:lnTo>
                    <a:pt x="19405" y="9381"/>
                  </a:lnTo>
                  <a:lnTo>
                    <a:pt x="19519" y="9463"/>
                  </a:lnTo>
                  <a:lnTo>
                    <a:pt x="19656" y="9545"/>
                  </a:lnTo>
                  <a:lnTo>
                    <a:pt x="19782" y="9617"/>
                  </a:lnTo>
                  <a:lnTo>
                    <a:pt x="19896" y="9710"/>
                  </a:lnTo>
                  <a:lnTo>
                    <a:pt x="20022" y="9782"/>
                  </a:lnTo>
                  <a:lnTo>
                    <a:pt x="20136" y="9843"/>
                  </a:lnTo>
                  <a:lnTo>
                    <a:pt x="20251" y="9885"/>
                  </a:lnTo>
                  <a:lnTo>
                    <a:pt x="20422" y="9895"/>
                  </a:lnTo>
                  <a:lnTo>
                    <a:pt x="20582" y="9854"/>
                  </a:lnTo>
                  <a:lnTo>
                    <a:pt x="20720" y="9771"/>
                  </a:lnTo>
                  <a:lnTo>
                    <a:pt x="20868" y="9679"/>
                  </a:lnTo>
                  <a:lnTo>
                    <a:pt x="20983" y="9566"/>
                  </a:lnTo>
                  <a:lnTo>
                    <a:pt x="21074" y="9483"/>
                  </a:lnTo>
                  <a:lnTo>
                    <a:pt x="21131" y="9401"/>
                  </a:lnTo>
                  <a:lnTo>
                    <a:pt x="21154" y="9381"/>
                  </a:lnTo>
                  <a:lnTo>
                    <a:pt x="21143" y="9391"/>
                  </a:lnTo>
                  <a:lnTo>
                    <a:pt x="21108" y="9411"/>
                  </a:lnTo>
                  <a:lnTo>
                    <a:pt x="21063" y="9463"/>
                  </a:lnTo>
                  <a:lnTo>
                    <a:pt x="21005" y="9494"/>
                  </a:lnTo>
                  <a:lnTo>
                    <a:pt x="20937" y="9525"/>
                  </a:lnTo>
                  <a:lnTo>
                    <a:pt x="20834" y="9555"/>
                  </a:lnTo>
                  <a:lnTo>
                    <a:pt x="20742" y="9555"/>
                  </a:lnTo>
                  <a:lnTo>
                    <a:pt x="20628" y="9545"/>
                  </a:lnTo>
                  <a:lnTo>
                    <a:pt x="20571" y="9525"/>
                  </a:lnTo>
                  <a:lnTo>
                    <a:pt x="20502" y="9494"/>
                  </a:lnTo>
                  <a:lnTo>
                    <a:pt x="20445" y="9432"/>
                  </a:lnTo>
                  <a:lnTo>
                    <a:pt x="20376" y="9381"/>
                  </a:lnTo>
                  <a:lnTo>
                    <a:pt x="20296" y="9319"/>
                  </a:lnTo>
                  <a:lnTo>
                    <a:pt x="20228" y="9237"/>
                  </a:lnTo>
                  <a:lnTo>
                    <a:pt x="20136" y="9165"/>
                  </a:lnTo>
                  <a:lnTo>
                    <a:pt x="20056" y="9082"/>
                  </a:lnTo>
                  <a:lnTo>
                    <a:pt x="20102" y="9113"/>
                  </a:lnTo>
                  <a:lnTo>
                    <a:pt x="20159" y="9134"/>
                  </a:lnTo>
                  <a:lnTo>
                    <a:pt x="20205" y="9154"/>
                  </a:lnTo>
                  <a:lnTo>
                    <a:pt x="20251" y="9165"/>
                  </a:lnTo>
                  <a:lnTo>
                    <a:pt x="20434" y="9185"/>
                  </a:lnTo>
                  <a:lnTo>
                    <a:pt x="20651" y="9165"/>
                  </a:lnTo>
                  <a:lnTo>
                    <a:pt x="20868" y="9123"/>
                  </a:lnTo>
                  <a:lnTo>
                    <a:pt x="21085" y="9062"/>
                  </a:lnTo>
                  <a:lnTo>
                    <a:pt x="21280" y="8990"/>
                  </a:lnTo>
                  <a:lnTo>
                    <a:pt x="21451" y="8938"/>
                  </a:lnTo>
                  <a:lnTo>
                    <a:pt x="21566" y="8887"/>
                  </a:lnTo>
                  <a:lnTo>
                    <a:pt x="21600" y="8866"/>
                  </a:lnTo>
                  <a:lnTo>
                    <a:pt x="21577" y="8866"/>
                  </a:lnTo>
                  <a:lnTo>
                    <a:pt x="21486" y="8866"/>
                  </a:lnTo>
                  <a:lnTo>
                    <a:pt x="21371" y="8877"/>
                  </a:lnTo>
                  <a:lnTo>
                    <a:pt x="21223" y="8877"/>
                  </a:lnTo>
                  <a:lnTo>
                    <a:pt x="21063" y="8877"/>
                  </a:lnTo>
                  <a:lnTo>
                    <a:pt x="20902" y="8866"/>
                  </a:lnTo>
                  <a:lnTo>
                    <a:pt x="20765" y="8846"/>
                  </a:lnTo>
                  <a:lnTo>
                    <a:pt x="20628" y="8825"/>
                  </a:lnTo>
                  <a:lnTo>
                    <a:pt x="20571" y="8805"/>
                  </a:lnTo>
                  <a:lnTo>
                    <a:pt x="20502" y="8774"/>
                  </a:lnTo>
                  <a:lnTo>
                    <a:pt x="20445" y="8722"/>
                  </a:lnTo>
                  <a:lnTo>
                    <a:pt x="20376" y="8661"/>
                  </a:lnTo>
                  <a:lnTo>
                    <a:pt x="20296" y="8599"/>
                  </a:lnTo>
                  <a:lnTo>
                    <a:pt x="20228" y="8527"/>
                  </a:lnTo>
                  <a:lnTo>
                    <a:pt x="20136" y="8445"/>
                  </a:lnTo>
                  <a:lnTo>
                    <a:pt x="20056" y="8362"/>
                  </a:lnTo>
                  <a:lnTo>
                    <a:pt x="20102" y="8383"/>
                  </a:lnTo>
                  <a:lnTo>
                    <a:pt x="20159" y="8414"/>
                  </a:lnTo>
                  <a:lnTo>
                    <a:pt x="20205" y="8434"/>
                  </a:lnTo>
                  <a:lnTo>
                    <a:pt x="20251" y="8445"/>
                  </a:lnTo>
                  <a:lnTo>
                    <a:pt x="20434" y="8465"/>
                  </a:lnTo>
                  <a:lnTo>
                    <a:pt x="20651" y="8445"/>
                  </a:lnTo>
                  <a:lnTo>
                    <a:pt x="20868" y="8403"/>
                  </a:lnTo>
                  <a:lnTo>
                    <a:pt x="21085" y="8342"/>
                  </a:lnTo>
                  <a:lnTo>
                    <a:pt x="21280" y="8270"/>
                  </a:lnTo>
                  <a:lnTo>
                    <a:pt x="21451" y="8218"/>
                  </a:lnTo>
                  <a:lnTo>
                    <a:pt x="21566" y="8167"/>
                  </a:lnTo>
                  <a:lnTo>
                    <a:pt x="21600" y="8146"/>
                  </a:lnTo>
                  <a:lnTo>
                    <a:pt x="21577" y="8146"/>
                  </a:lnTo>
                  <a:lnTo>
                    <a:pt x="21486" y="8157"/>
                  </a:lnTo>
                  <a:lnTo>
                    <a:pt x="21371" y="8157"/>
                  </a:lnTo>
                  <a:lnTo>
                    <a:pt x="21223" y="8157"/>
                  </a:lnTo>
                  <a:lnTo>
                    <a:pt x="21063" y="8157"/>
                  </a:lnTo>
                  <a:lnTo>
                    <a:pt x="20902" y="8146"/>
                  </a:lnTo>
                  <a:lnTo>
                    <a:pt x="20765" y="8136"/>
                  </a:lnTo>
                  <a:lnTo>
                    <a:pt x="20628" y="8115"/>
                  </a:lnTo>
                  <a:lnTo>
                    <a:pt x="20571" y="8095"/>
                  </a:lnTo>
                  <a:lnTo>
                    <a:pt x="20502" y="8064"/>
                  </a:lnTo>
                  <a:lnTo>
                    <a:pt x="20445" y="8002"/>
                  </a:lnTo>
                  <a:lnTo>
                    <a:pt x="20376" y="7951"/>
                  </a:lnTo>
                  <a:lnTo>
                    <a:pt x="20296" y="7889"/>
                  </a:lnTo>
                  <a:lnTo>
                    <a:pt x="20228" y="7807"/>
                  </a:lnTo>
                  <a:lnTo>
                    <a:pt x="20136" y="7735"/>
                  </a:lnTo>
                  <a:lnTo>
                    <a:pt x="20056" y="7653"/>
                  </a:lnTo>
                  <a:lnTo>
                    <a:pt x="20102" y="7673"/>
                  </a:lnTo>
                  <a:lnTo>
                    <a:pt x="20159" y="7704"/>
                  </a:lnTo>
                  <a:lnTo>
                    <a:pt x="20205" y="7714"/>
                  </a:lnTo>
                  <a:lnTo>
                    <a:pt x="20251" y="7735"/>
                  </a:lnTo>
                  <a:lnTo>
                    <a:pt x="20434" y="7755"/>
                  </a:lnTo>
                  <a:lnTo>
                    <a:pt x="20651" y="7735"/>
                  </a:lnTo>
                  <a:lnTo>
                    <a:pt x="20868" y="7694"/>
                  </a:lnTo>
                  <a:lnTo>
                    <a:pt x="21085" y="7632"/>
                  </a:lnTo>
                  <a:lnTo>
                    <a:pt x="21280" y="7560"/>
                  </a:lnTo>
                  <a:lnTo>
                    <a:pt x="21451" y="7498"/>
                  </a:lnTo>
                  <a:lnTo>
                    <a:pt x="21566" y="7457"/>
                  </a:lnTo>
                  <a:lnTo>
                    <a:pt x="21600" y="7437"/>
                  </a:lnTo>
                  <a:lnTo>
                    <a:pt x="21577" y="7437"/>
                  </a:lnTo>
                  <a:lnTo>
                    <a:pt x="21486" y="7437"/>
                  </a:lnTo>
                  <a:lnTo>
                    <a:pt x="21371" y="7447"/>
                  </a:lnTo>
                  <a:lnTo>
                    <a:pt x="21223" y="7447"/>
                  </a:lnTo>
                  <a:lnTo>
                    <a:pt x="21063" y="7437"/>
                  </a:lnTo>
                  <a:lnTo>
                    <a:pt x="20902" y="7437"/>
                  </a:lnTo>
                  <a:lnTo>
                    <a:pt x="20765" y="7416"/>
                  </a:lnTo>
                  <a:lnTo>
                    <a:pt x="20628" y="7395"/>
                  </a:lnTo>
                  <a:lnTo>
                    <a:pt x="20571" y="7375"/>
                  </a:lnTo>
                  <a:lnTo>
                    <a:pt x="20502" y="7344"/>
                  </a:lnTo>
                  <a:lnTo>
                    <a:pt x="20445" y="7293"/>
                  </a:lnTo>
                  <a:lnTo>
                    <a:pt x="20376" y="7231"/>
                  </a:lnTo>
                  <a:lnTo>
                    <a:pt x="20296" y="7169"/>
                  </a:lnTo>
                  <a:lnTo>
                    <a:pt x="20228" y="7097"/>
                  </a:lnTo>
                  <a:lnTo>
                    <a:pt x="20136" y="7015"/>
                  </a:lnTo>
                  <a:lnTo>
                    <a:pt x="20056" y="6933"/>
                  </a:lnTo>
                  <a:lnTo>
                    <a:pt x="20102" y="6953"/>
                  </a:lnTo>
                  <a:lnTo>
                    <a:pt x="20159" y="6984"/>
                  </a:lnTo>
                  <a:lnTo>
                    <a:pt x="20205" y="7005"/>
                  </a:lnTo>
                  <a:lnTo>
                    <a:pt x="20251" y="7015"/>
                  </a:lnTo>
                  <a:lnTo>
                    <a:pt x="20434" y="7035"/>
                  </a:lnTo>
                  <a:lnTo>
                    <a:pt x="20651" y="7015"/>
                  </a:lnTo>
                  <a:lnTo>
                    <a:pt x="20868" y="6963"/>
                  </a:lnTo>
                  <a:lnTo>
                    <a:pt x="21085" y="6912"/>
                  </a:lnTo>
                  <a:lnTo>
                    <a:pt x="21280" y="6840"/>
                  </a:lnTo>
                  <a:lnTo>
                    <a:pt x="21451" y="6778"/>
                  </a:lnTo>
                  <a:lnTo>
                    <a:pt x="21566" y="6737"/>
                  </a:lnTo>
                  <a:lnTo>
                    <a:pt x="21600" y="6717"/>
                  </a:lnTo>
                  <a:lnTo>
                    <a:pt x="21577" y="6717"/>
                  </a:lnTo>
                  <a:lnTo>
                    <a:pt x="21486" y="6727"/>
                  </a:lnTo>
                  <a:lnTo>
                    <a:pt x="21371" y="6727"/>
                  </a:lnTo>
                  <a:lnTo>
                    <a:pt x="21223" y="6727"/>
                  </a:lnTo>
                  <a:lnTo>
                    <a:pt x="21063" y="6727"/>
                  </a:lnTo>
                  <a:lnTo>
                    <a:pt x="20902" y="6717"/>
                  </a:lnTo>
                  <a:lnTo>
                    <a:pt x="20765" y="6706"/>
                  </a:lnTo>
                  <a:lnTo>
                    <a:pt x="20628" y="6686"/>
                  </a:lnTo>
                  <a:lnTo>
                    <a:pt x="20571" y="6665"/>
                  </a:lnTo>
                  <a:lnTo>
                    <a:pt x="20502" y="6634"/>
                  </a:lnTo>
                  <a:lnTo>
                    <a:pt x="20445" y="6573"/>
                  </a:lnTo>
                  <a:lnTo>
                    <a:pt x="20376" y="6521"/>
                  </a:lnTo>
                  <a:lnTo>
                    <a:pt x="20296" y="6459"/>
                  </a:lnTo>
                  <a:lnTo>
                    <a:pt x="20228" y="6377"/>
                  </a:lnTo>
                  <a:lnTo>
                    <a:pt x="20136" y="6305"/>
                  </a:lnTo>
                  <a:lnTo>
                    <a:pt x="20056" y="6223"/>
                  </a:lnTo>
                  <a:lnTo>
                    <a:pt x="20102" y="6243"/>
                  </a:lnTo>
                  <a:lnTo>
                    <a:pt x="20159" y="6264"/>
                  </a:lnTo>
                  <a:lnTo>
                    <a:pt x="20205" y="6285"/>
                  </a:lnTo>
                  <a:lnTo>
                    <a:pt x="20251" y="6305"/>
                  </a:lnTo>
                  <a:lnTo>
                    <a:pt x="20434" y="6315"/>
                  </a:lnTo>
                  <a:lnTo>
                    <a:pt x="20651" y="6285"/>
                  </a:lnTo>
                  <a:lnTo>
                    <a:pt x="20868" y="6202"/>
                  </a:lnTo>
                  <a:lnTo>
                    <a:pt x="21085" y="6110"/>
                  </a:lnTo>
                  <a:lnTo>
                    <a:pt x="21280" y="5997"/>
                  </a:lnTo>
                  <a:lnTo>
                    <a:pt x="21451" y="5904"/>
                  </a:lnTo>
                  <a:lnTo>
                    <a:pt x="21566" y="5832"/>
                  </a:lnTo>
                  <a:lnTo>
                    <a:pt x="21600" y="581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7" name="Shape"/>
            <p:cNvSpPr/>
            <p:nvPr/>
          </p:nvSpPr>
          <p:spPr>
            <a:xfrm>
              <a:off x="649287" y="136525"/>
              <a:ext cx="373063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92" y="813"/>
                  </a:moveTo>
                  <a:lnTo>
                    <a:pt x="15877" y="880"/>
                  </a:lnTo>
                  <a:lnTo>
                    <a:pt x="15508" y="1016"/>
                  </a:lnTo>
                  <a:lnTo>
                    <a:pt x="15092" y="1219"/>
                  </a:lnTo>
                  <a:lnTo>
                    <a:pt x="14815" y="1490"/>
                  </a:lnTo>
                  <a:lnTo>
                    <a:pt x="14538" y="1794"/>
                  </a:lnTo>
                  <a:lnTo>
                    <a:pt x="14308" y="2133"/>
                  </a:lnTo>
                  <a:lnTo>
                    <a:pt x="14215" y="2438"/>
                  </a:lnTo>
                  <a:lnTo>
                    <a:pt x="14169" y="2776"/>
                  </a:lnTo>
                  <a:lnTo>
                    <a:pt x="14215" y="3047"/>
                  </a:lnTo>
                  <a:lnTo>
                    <a:pt x="14308" y="3352"/>
                  </a:lnTo>
                  <a:lnTo>
                    <a:pt x="14492" y="3589"/>
                  </a:lnTo>
                  <a:lnTo>
                    <a:pt x="14769" y="3826"/>
                  </a:lnTo>
                  <a:lnTo>
                    <a:pt x="15092" y="3995"/>
                  </a:lnTo>
                  <a:lnTo>
                    <a:pt x="15462" y="4130"/>
                  </a:lnTo>
                  <a:lnTo>
                    <a:pt x="15831" y="4198"/>
                  </a:lnTo>
                  <a:lnTo>
                    <a:pt x="16246" y="4232"/>
                  </a:lnTo>
                  <a:lnTo>
                    <a:pt x="16615" y="4198"/>
                  </a:lnTo>
                  <a:lnTo>
                    <a:pt x="17031" y="4130"/>
                  </a:lnTo>
                  <a:lnTo>
                    <a:pt x="17354" y="3995"/>
                  </a:lnTo>
                  <a:lnTo>
                    <a:pt x="17631" y="3826"/>
                  </a:lnTo>
                  <a:lnTo>
                    <a:pt x="17908" y="3589"/>
                  </a:lnTo>
                  <a:lnTo>
                    <a:pt x="18092" y="3352"/>
                  </a:lnTo>
                  <a:lnTo>
                    <a:pt x="18185" y="3047"/>
                  </a:lnTo>
                  <a:lnTo>
                    <a:pt x="18231" y="2776"/>
                  </a:lnTo>
                  <a:lnTo>
                    <a:pt x="18231" y="2675"/>
                  </a:lnTo>
                  <a:lnTo>
                    <a:pt x="18231" y="2539"/>
                  </a:lnTo>
                  <a:lnTo>
                    <a:pt x="18185" y="2438"/>
                  </a:lnTo>
                  <a:lnTo>
                    <a:pt x="18185" y="2336"/>
                  </a:lnTo>
                  <a:lnTo>
                    <a:pt x="18738" y="3081"/>
                  </a:lnTo>
                  <a:lnTo>
                    <a:pt x="19246" y="3927"/>
                  </a:lnTo>
                  <a:lnTo>
                    <a:pt x="19708" y="4774"/>
                  </a:lnTo>
                  <a:lnTo>
                    <a:pt x="20077" y="5688"/>
                  </a:lnTo>
                  <a:lnTo>
                    <a:pt x="20400" y="6636"/>
                  </a:lnTo>
                  <a:lnTo>
                    <a:pt x="20585" y="7618"/>
                  </a:lnTo>
                  <a:lnTo>
                    <a:pt x="20723" y="8667"/>
                  </a:lnTo>
                  <a:lnTo>
                    <a:pt x="20769" y="9717"/>
                  </a:lnTo>
                  <a:lnTo>
                    <a:pt x="20723" y="10834"/>
                  </a:lnTo>
                  <a:lnTo>
                    <a:pt x="20585" y="11883"/>
                  </a:lnTo>
                  <a:lnTo>
                    <a:pt x="20354" y="12933"/>
                  </a:lnTo>
                  <a:lnTo>
                    <a:pt x="19985" y="13949"/>
                  </a:lnTo>
                  <a:lnTo>
                    <a:pt x="19615" y="14930"/>
                  </a:lnTo>
                  <a:lnTo>
                    <a:pt x="19108" y="15811"/>
                  </a:lnTo>
                  <a:lnTo>
                    <a:pt x="18508" y="16657"/>
                  </a:lnTo>
                  <a:lnTo>
                    <a:pt x="17908" y="17436"/>
                  </a:lnTo>
                  <a:lnTo>
                    <a:pt x="17215" y="18147"/>
                  </a:lnTo>
                  <a:lnTo>
                    <a:pt x="16477" y="18756"/>
                  </a:lnTo>
                  <a:lnTo>
                    <a:pt x="15646" y="19298"/>
                  </a:lnTo>
                  <a:lnTo>
                    <a:pt x="14815" y="19772"/>
                  </a:lnTo>
                  <a:lnTo>
                    <a:pt x="13892" y="20144"/>
                  </a:lnTo>
                  <a:lnTo>
                    <a:pt x="12923" y="20415"/>
                  </a:lnTo>
                  <a:lnTo>
                    <a:pt x="11954" y="20550"/>
                  </a:lnTo>
                  <a:lnTo>
                    <a:pt x="10985" y="20652"/>
                  </a:lnTo>
                  <a:lnTo>
                    <a:pt x="9969" y="20550"/>
                  </a:lnTo>
                  <a:lnTo>
                    <a:pt x="9000" y="20415"/>
                  </a:lnTo>
                  <a:lnTo>
                    <a:pt x="8031" y="20144"/>
                  </a:lnTo>
                  <a:lnTo>
                    <a:pt x="7154" y="19772"/>
                  </a:lnTo>
                  <a:lnTo>
                    <a:pt x="6323" y="19298"/>
                  </a:lnTo>
                  <a:lnTo>
                    <a:pt x="5492" y="18756"/>
                  </a:lnTo>
                  <a:lnTo>
                    <a:pt x="4754" y="18147"/>
                  </a:lnTo>
                  <a:lnTo>
                    <a:pt x="4062" y="17436"/>
                  </a:lnTo>
                  <a:lnTo>
                    <a:pt x="3415" y="16657"/>
                  </a:lnTo>
                  <a:lnTo>
                    <a:pt x="2862" y="15811"/>
                  </a:lnTo>
                  <a:lnTo>
                    <a:pt x="2400" y="14930"/>
                  </a:lnTo>
                  <a:lnTo>
                    <a:pt x="1938" y="13949"/>
                  </a:lnTo>
                  <a:lnTo>
                    <a:pt x="1662" y="12933"/>
                  </a:lnTo>
                  <a:lnTo>
                    <a:pt x="1431" y="11883"/>
                  </a:lnTo>
                  <a:lnTo>
                    <a:pt x="1246" y="10834"/>
                  </a:lnTo>
                  <a:lnTo>
                    <a:pt x="1200" y="9717"/>
                  </a:lnTo>
                  <a:lnTo>
                    <a:pt x="1246" y="8396"/>
                  </a:lnTo>
                  <a:lnTo>
                    <a:pt x="1477" y="7144"/>
                  </a:lnTo>
                  <a:lnTo>
                    <a:pt x="1800" y="5959"/>
                  </a:lnTo>
                  <a:lnTo>
                    <a:pt x="2262" y="4841"/>
                  </a:lnTo>
                  <a:lnTo>
                    <a:pt x="2769" y="3792"/>
                  </a:lnTo>
                  <a:lnTo>
                    <a:pt x="3415" y="2810"/>
                  </a:lnTo>
                  <a:lnTo>
                    <a:pt x="4154" y="1896"/>
                  </a:lnTo>
                  <a:lnTo>
                    <a:pt x="4938" y="1117"/>
                  </a:lnTo>
                  <a:lnTo>
                    <a:pt x="3877" y="1930"/>
                  </a:lnTo>
                  <a:lnTo>
                    <a:pt x="2954" y="2912"/>
                  </a:lnTo>
                  <a:lnTo>
                    <a:pt x="2077" y="3961"/>
                  </a:lnTo>
                  <a:lnTo>
                    <a:pt x="1385" y="5112"/>
                  </a:lnTo>
                  <a:lnTo>
                    <a:pt x="785" y="6365"/>
                  </a:lnTo>
                  <a:lnTo>
                    <a:pt x="323" y="7685"/>
                  </a:lnTo>
                  <a:lnTo>
                    <a:pt x="92" y="9107"/>
                  </a:lnTo>
                  <a:lnTo>
                    <a:pt x="0" y="10529"/>
                  </a:lnTo>
                  <a:lnTo>
                    <a:pt x="92" y="12053"/>
                  </a:lnTo>
                  <a:lnTo>
                    <a:pt x="369" y="13508"/>
                  </a:lnTo>
                  <a:lnTo>
                    <a:pt x="877" y="14930"/>
                  </a:lnTo>
                  <a:lnTo>
                    <a:pt x="1523" y="16217"/>
                  </a:lnTo>
                  <a:lnTo>
                    <a:pt x="2308" y="17436"/>
                  </a:lnTo>
                  <a:lnTo>
                    <a:pt x="3231" y="18519"/>
                  </a:lnTo>
                  <a:lnTo>
                    <a:pt x="4292" y="19501"/>
                  </a:lnTo>
                  <a:lnTo>
                    <a:pt x="5492" y="20313"/>
                  </a:lnTo>
                  <a:lnTo>
                    <a:pt x="6092" y="20584"/>
                  </a:lnTo>
                  <a:lnTo>
                    <a:pt x="6646" y="20855"/>
                  </a:lnTo>
                  <a:lnTo>
                    <a:pt x="7292" y="21058"/>
                  </a:lnTo>
                  <a:lnTo>
                    <a:pt x="7938" y="21295"/>
                  </a:lnTo>
                  <a:lnTo>
                    <a:pt x="8585" y="21431"/>
                  </a:lnTo>
                  <a:lnTo>
                    <a:pt x="9277" y="21532"/>
                  </a:lnTo>
                  <a:lnTo>
                    <a:pt x="9877" y="21566"/>
                  </a:lnTo>
                  <a:lnTo>
                    <a:pt x="10569" y="21600"/>
                  </a:lnTo>
                  <a:lnTo>
                    <a:pt x="11723" y="21532"/>
                  </a:lnTo>
                  <a:lnTo>
                    <a:pt x="12785" y="21397"/>
                  </a:lnTo>
                  <a:lnTo>
                    <a:pt x="13892" y="21092"/>
                  </a:lnTo>
                  <a:lnTo>
                    <a:pt x="14862" y="20720"/>
                  </a:lnTo>
                  <a:lnTo>
                    <a:pt x="15831" y="20246"/>
                  </a:lnTo>
                  <a:lnTo>
                    <a:pt x="16754" y="19704"/>
                  </a:lnTo>
                  <a:lnTo>
                    <a:pt x="17585" y="19061"/>
                  </a:lnTo>
                  <a:lnTo>
                    <a:pt x="18369" y="18282"/>
                  </a:lnTo>
                  <a:lnTo>
                    <a:pt x="19108" y="17503"/>
                  </a:lnTo>
                  <a:lnTo>
                    <a:pt x="19754" y="16657"/>
                  </a:lnTo>
                  <a:lnTo>
                    <a:pt x="20308" y="15709"/>
                  </a:lnTo>
                  <a:lnTo>
                    <a:pt x="20723" y="14727"/>
                  </a:lnTo>
                  <a:lnTo>
                    <a:pt x="21138" y="13712"/>
                  </a:lnTo>
                  <a:lnTo>
                    <a:pt x="21369" y="12628"/>
                  </a:lnTo>
                  <a:lnTo>
                    <a:pt x="21554" y="11511"/>
                  </a:lnTo>
                  <a:lnTo>
                    <a:pt x="21600" y="10360"/>
                  </a:lnTo>
                  <a:lnTo>
                    <a:pt x="21554" y="9175"/>
                  </a:lnTo>
                  <a:lnTo>
                    <a:pt x="21369" y="7990"/>
                  </a:lnTo>
                  <a:lnTo>
                    <a:pt x="21092" y="6873"/>
                  </a:lnTo>
                  <a:lnTo>
                    <a:pt x="20677" y="5823"/>
                  </a:lnTo>
                  <a:lnTo>
                    <a:pt x="20169" y="4774"/>
                  </a:lnTo>
                  <a:lnTo>
                    <a:pt x="19569" y="3860"/>
                  </a:lnTo>
                  <a:lnTo>
                    <a:pt x="18877" y="2945"/>
                  </a:lnTo>
                  <a:lnTo>
                    <a:pt x="18092" y="2167"/>
                  </a:lnTo>
                  <a:lnTo>
                    <a:pt x="18046" y="2065"/>
                  </a:lnTo>
                  <a:lnTo>
                    <a:pt x="18000" y="1930"/>
                  </a:lnTo>
                  <a:lnTo>
                    <a:pt x="17908" y="1828"/>
                  </a:lnTo>
                  <a:lnTo>
                    <a:pt x="17862" y="1727"/>
                  </a:lnTo>
                  <a:lnTo>
                    <a:pt x="17908" y="1557"/>
                  </a:lnTo>
                  <a:lnTo>
                    <a:pt x="17908" y="1354"/>
                  </a:lnTo>
                  <a:lnTo>
                    <a:pt x="17954" y="1185"/>
                  </a:lnTo>
                  <a:lnTo>
                    <a:pt x="17954" y="982"/>
                  </a:lnTo>
                  <a:lnTo>
                    <a:pt x="17723" y="813"/>
                  </a:lnTo>
                  <a:lnTo>
                    <a:pt x="17538" y="711"/>
                  </a:lnTo>
                  <a:lnTo>
                    <a:pt x="17308" y="576"/>
                  </a:lnTo>
                  <a:lnTo>
                    <a:pt x="17123" y="474"/>
                  </a:lnTo>
                  <a:lnTo>
                    <a:pt x="16846" y="339"/>
                  </a:lnTo>
                  <a:lnTo>
                    <a:pt x="16662" y="203"/>
                  </a:lnTo>
                  <a:lnTo>
                    <a:pt x="16431" y="102"/>
                  </a:lnTo>
                  <a:lnTo>
                    <a:pt x="16154" y="0"/>
                  </a:lnTo>
                  <a:lnTo>
                    <a:pt x="16338" y="305"/>
                  </a:lnTo>
                  <a:lnTo>
                    <a:pt x="16477" y="542"/>
                  </a:lnTo>
                  <a:lnTo>
                    <a:pt x="16523" y="711"/>
                  </a:lnTo>
                  <a:lnTo>
                    <a:pt x="16569" y="880"/>
                  </a:lnTo>
                  <a:lnTo>
                    <a:pt x="16523" y="813"/>
                  </a:lnTo>
                  <a:lnTo>
                    <a:pt x="16431" y="813"/>
                  </a:lnTo>
                  <a:lnTo>
                    <a:pt x="16385" y="813"/>
                  </a:lnTo>
                  <a:lnTo>
                    <a:pt x="16292" y="81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8" name="Shape"/>
            <p:cNvSpPr/>
            <p:nvPr/>
          </p:nvSpPr>
          <p:spPr>
            <a:xfrm>
              <a:off x="152400" y="30162"/>
              <a:ext cx="1139825" cy="127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10" y="11763"/>
                  </a:moveTo>
                  <a:lnTo>
                    <a:pt x="21435" y="11669"/>
                  </a:lnTo>
                  <a:lnTo>
                    <a:pt x="21344" y="11561"/>
                  </a:lnTo>
                  <a:lnTo>
                    <a:pt x="21224" y="11480"/>
                  </a:lnTo>
                  <a:lnTo>
                    <a:pt x="21089" y="11413"/>
                  </a:lnTo>
                  <a:lnTo>
                    <a:pt x="20923" y="11346"/>
                  </a:lnTo>
                  <a:lnTo>
                    <a:pt x="20743" y="11305"/>
                  </a:lnTo>
                  <a:lnTo>
                    <a:pt x="20532" y="11265"/>
                  </a:lnTo>
                  <a:lnTo>
                    <a:pt x="20336" y="11251"/>
                  </a:lnTo>
                  <a:lnTo>
                    <a:pt x="19735" y="11224"/>
                  </a:lnTo>
                  <a:lnTo>
                    <a:pt x="19750" y="11211"/>
                  </a:lnTo>
                  <a:lnTo>
                    <a:pt x="19599" y="11251"/>
                  </a:lnTo>
                  <a:lnTo>
                    <a:pt x="19434" y="11305"/>
                  </a:lnTo>
                  <a:lnTo>
                    <a:pt x="19269" y="11359"/>
                  </a:lnTo>
                  <a:lnTo>
                    <a:pt x="19118" y="11440"/>
                  </a:lnTo>
                  <a:lnTo>
                    <a:pt x="18953" y="11507"/>
                  </a:lnTo>
                  <a:lnTo>
                    <a:pt x="18817" y="11588"/>
                  </a:lnTo>
                  <a:lnTo>
                    <a:pt x="18652" y="11683"/>
                  </a:lnTo>
                  <a:lnTo>
                    <a:pt x="18501" y="11777"/>
                  </a:lnTo>
                  <a:lnTo>
                    <a:pt x="18186" y="12019"/>
                  </a:lnTo>
                  <a:lnTo>
                    <a:pt x="17930" y="12235"/>
                  </a:lnTo>
                  <a:lnTo>
                    <a:pt x="17734" y="12424"/>
                  </a:lnTo>
                  <a:lnTo>
                    <a:pt x="17584" y="12572"/>
                  </a:lnTo>
                  <a:lnTo>
                    <a:pt x="17464" y="12680"/>
                  </a:lnTo>
                  <a:lnTo>
                    <a:pt x="17403" y="12747"/>
                  </a:lnTo>
                  <a:lnTo>
                    <a:pt x="17373" y="12814"/>
                  </a:lnTo>
                  <a:lnTo>
                    <a:pt x="17358" y="12828"/>
                  </a:lnTo>
                  <a:lnTo>
                    <a:pt x="16726" y="12612"/>
                  </a:lnTo>
                  <a:lnTo>
                    <a:pt x="16757" y="12599"/>
                  </a:lnTo>
                  <a:lnTo>
                    <a:pt x="16787" y="12545"/>
                  </a:lnTo>
                  <a:lnTo>
                    <a:pt x="16847" y="12478"/>
                  </a:lnTo>
                  <a:lnTo>
                    <a:pt x="16937" y="12370"/>
                  </a:lnTo>
                  <a:lnTo>
                    <a:pt x="17057" y="12222"/>
                  </a:lnTo>
                  <a:lnTo>
                    <a:pt x="17208" y="12019"/>
                  </a:lnTo>
                  <a:lnTo>
                    <a:pt x="17418" y="11790"/>
                  </a:lnTo>
                  <a:lnTo>
                    <a:pt x="17659" y="11507"/>
                  </a:lnTo>
                  <a:lnTo>
                    <a:pt x="17885" y="11103"/>
                  </a:lnTo>
                  <a:lnTo>
                    <a:pt x="18065" y="10564"/>
                  </a:lnTo>
                  <a:lnTo>
                    <a:pt x="18170" y="9931"/>
                  </a:lnTo>
                  <a:lnTo>
                    <a:pt x="18231" y="9284"/>
                  </a:lnTo>
                  <a:lnTo>
                    <a:pt x="18261" y="8678"/>
                  </a:lnTo>
                  <a:lnTo>
                    <a:pt x="18291" y="8179"/>
                  </a:lnTo>
                  <a:lnTo>
                    <a:pt x="18291" y="7815"/>
                  </a:lnTo>
                  <a:lnTo>
                    <a:pt x="18291" y="7681"/>
                  </a:lnTo>
                  <a:lnTo>
                    <a:pt x="18306" y="7681"/>
                  </a:lnTo>
                  <a:lnTo>
                    <a:pt x="18336" y="7667"/>
                  </a:lnTo>
                  <a:lnTo>
                    <a:pt x="18396" y="7640"/>
                  </a:lnTo>
                  <a:lnTo>
                    <a:pt x="18486" y="7586"/>
                  </a:lnTo>
                  <a:lnTo>
                    <a:pt x="18637" y="7505"/>
                  </a:lnTo>
                  <a:lnTo>
                    <a:pt x="18802" y="7357"/>
                  </a:lnTo>
                  <a:lnTo>
                    <a:pt x="19013" y="7169"/>
                  </a:lnTo>
                  <a:lnTo>
                    <a:pt x="19284" y="6913"/>
                  </a:lnTo>
                  <a:lnTo>
                    <a:pt x="19449" y="6737"/>
                  </a:lnTo>
                  <a:lnTo>
                    <a:pt x="19584" y="6562"/>
                  </a:lnTo>
                  <a:lnTo>
                    <a:pt x="19675" y="6374"/>
                  </a:lnTo>
                  <a:lnTo>
                    <a:pt x="19735" y="6198"/>
                  </a:lnTo>
                  <a:lnTo>
                    <a:pt x="19569" y="5781"/>
                  </a:lnTo>
                  <a:lnTo>
                    <a:pt x="19359" y="5376"/>
                  </a:lnTo>
                  <a:lnTo>
                    <a:pt x="19133" y="4986"/>
                  </a:lnTo>
                  <a:lnTo>
                    <a:pt x="18877" y="4581"/>
                  </a:lnTo>
                  <a:lnTo>
                    <a:pt x="18592" y="4204"/>
                  </a:lnTo>
                  <a:lnTo>
                    <a:pt x="18261" y="3840"/>
                  </a:lnTo>
                  <a:lnTo>
                    <a:pt x="17930" y="3490"/>
                  </a:lnTo>
                  <a:lnTo>
                    <a:pt x="17584" y="3153"/>
                  </a:lnTo>
                  <a:lnTo>
                    <a:pt x="17313" y="2911"/>
                  </a:lnTo>
                  <a:lnTo>
                    <a:pt x="17042" y="2681"/>
                  </a:lnTo>
                  <a:lnTo>
                    <a:pt x="16757" y="2452"/>
                  </a:lnTo>
                  <a:lnTo>
                    <a:pt x="16456" y="2223"/>
                  </a:lnTo>
                  <a:lnTo>
                    <a:pt x="16155" y="1994"/>
                  </a:lnTo>
                  <a:lnTo>
                    <a:pt x="15854" y="1792"/>
                  </a:lnTo>
                  <a:lnTo>
                    <a:pt x="15553" y="1577"/>
                  </a:lnTo>
                  <a:lnTo>
                    <a:pt x="15237" y="1388"/>
                  </a:lnTo>
                  <a:lnTo>
                    <a:pt x="15267" y="1603"/>
                  </a:lnTo>
                  <a:lnTo>
                    <a:pt x="15282" y="1806"/>
                  </a:lnTo>
                  <a:lnTo>
                    <a:pt x="15297" y="2008"/>
                  </a:lnTo>
                  <a:lnTo>
                    <a:pt x="15282" y="2196"/>
                  </a:lnTo>
                  <a:lnTo>
                    <a:pt x="15282" y="2277"/>
                  </a:lnTo>
                  <a:lnTo>
                    <a:pt x="15267" y="2345"/>
                  </a:lnTo>
                  <a:lnTo>
                    <a:pt x="15267" y="2425"/>
                  </a:lnTo>
                  <a:lnTo>
                    <a:pt x="15252" y="2493"/>
                  </a:lnTo>
                  <a:lnTo>
                    <a:pt x="15267" y="2533"/>
                  </a:lnTo>
                  <a:lnTo>
                    <a:pt x="15297" y="2574"/>
                  </a:lnTo>
                  <a:lnTo>
                    <a:pt x="15313" y="2628"/>
                  </a:lnTo>
                  <a:lnTo>
                    <a:pt x="15328" y="2668"/>
                  </a:lnTo>
                  <a:lnTo>
                    <a:pt x="15583" y="2978"/>
                  </a:lnTo>
                  <a:lnTo>
                    <a:pt x="15809" y="3342"/>
                  </a:lnTo>
                  <a:lnTo>
                    <a:pt x="16004" y="3706"/>
                  </a:lnTo>
                  <a:lnTo>
                    <a:pt x="16170" y="4123"/>
                  </a:lnTo>
                  <a:lnTo>
                    <a:pt x="16305" y="4541"/>
                  </a:lnTo>
                  <a:lnTo>
                    <a:pt x="16396" y="4986"/>
                  </a:lnTo>
                  <a:lnTo>
                    <a:pt x="16456" y="5457"/>
                  </a:lnTo>
                  <a:lnTo>
                    <a:pt x="16471" y="5929"/>
                  </a:lnTo>
                  <a:lnTo>
                    <a:pt x="16456" y="6387"/>
                  </a:lnTo>
                  <a:lnTo>
                    <a:pt x="16396" y="6832"/>
                  </a:lnTo>
                  <a:lnTo>
                    <a:pt x="16320" y="7263"/>
                  </a:lnTo>
                  <a:lnTo>
                    <a:pt x="16185" y="7667"/>
                  </a:lnTo>
                  <a:lnTo>
                    <a:pt x="16050" y="8058"/>
                  </a:lnTo>
                  <a:lnTo>
                    <a:pt x="15869" y="8435"/>
                  </a:lnTo>
                  <a:lnTo>
                    <a:pt x="15658" y="8772"/>
                  </a:lnTo>
                  <a:lnTo>
                    <a:pt x="15418" y="9082"/>
                  </a:lnTo>
                  <a:lnTo>
                    <a:pt x="15162" y="9392"/>
                  </a:lnTo>
                  <a:lnTo>
                    <a:pt x="14891" y="9648"/>
                  </a:lnTo>
                  <a:lnTo>
                    <a:pt x="14591" y="9864"/>
                  </a:lnTo>
                  <a:lnTo>
                    <a:pt x="14275" y="10052"/>
                  </a:lnTo>
                  <a:lnTo>
                    <a:pt x="13959" y="10200"/>
                  </a:lnTo>
                  <a:lnTo>
                    <a:pt x="13598" y="10322"/>
                  </a:lnTo>
                  <a:lnTo>
                    <a:pt x="13252" y="10376"/>
                  </a:lnTo>
                  <a:lnTo>
                    <a:pt x="12876" y="10402"/>
                  </a:lnTo>
                  <a:lnTo>
                    <a:pt x="12650" y="10389"/>
                  </a:lnTo>
                  <a:lnTo>
                    <a:pt x="12455" y="10376"/>
                  </a:lnTo>
                  <a:lnTo>
                    <a:pt x="12229" y="10335"/>
                  </a:lnTo>
                  <a:lnTo>
                    <a:pt x="12018" y="10281"/>
                  </a:lnTo>
                  <a:lnTo>
                    <a:pt x="11808" y="10187"/>
                  </a:lnTo>
                  <a:lnTo>
                    <a:pt x="11597" y="10106"/>
                  </a:lnTo>
                  <a:lnTo>
                    <a:pt x="11417" y="9998"/>
                  </a:lnTo>
                  <a:lnTo>
                    <a:pt x="11221" y="9890"/>
                  </a:lnTo>
                  <a:lnTo>
                    <a:pt x="10815" y="9581"/>
                  </a:lnTo>
                  <a:lnTo>
                    <a:pt x="10454" y="9203"/>
                  </a:lnTo>
                  <a:lnTo>
                    <a:pt x="10138" y="8759"/>
                  </a:lnTo>
                  <a:lnTo>
                    <a:pt x="9837" y="8273"/>
                  </a:lnTo>
                  <a:lnTo>
                    <a:pt x="9627" y="7748"/>
                  </a:lnTo>
                  <a:lnTo>
                    <a:pt x="9461" y="7169"/>
                  </a:lnTo>
                  <a:lnTo>
                    <a:pt x="9341" y="6576"/>
                  </a:lnTo>
                  <a:lnTo>
                    <a:pt x="9311" y="5929"/>
                  </a:lnTo>
                  <a:lnTo>
                    <a:pt x="9371" y="5269"/>
                  </a:lnTo>
                  <a:lnTo>
                    <a:pt x="9476" y="4743"/>
                  </a:lnTo>
                  <a:lnTo>
                    <a:pt x="9672" y="4312"/>
                  </a:lnTo>
                  <a:lnTo>
                    <a:pt x="9897" y="3962"/>
                  </a:lnTo>
                  <a:lnTo>
                    <a:pt x="10153" y="3692"/>
                  </a:lnTo>
                  <a:lnTo>
                    <a:pt x="10424" y="3450"/>
                  </a:lnTo>
                  <a:lnTo>
                    <a:pt x="10680" y="3247"/>
                  </a:lnTo>
                  <a:lnTo>
                    <a:pt x="10935" y="3032"/>
                  </a:lnTo>
                  <a:lnTo>
                    <a:pt x="10875" y="3032"/>
                  </a:lnTo>
                  <a:lnTo>
                    <a:pt x="10875" y="2937"/>
                  </a:lnTo>
                  <a:lnTo>
                    <a:pt x="10920" y="2789"/>
                  </a:lnTo>
                  <a:lnTo>
                    <a:pt x="10981" y="2628"/>
                  </a:lnTo>
                  <a:lnTo>
                    <a:pt x="11026" y="2452"/>
                  </a:lnTo>
                  <a:lnTo>
                    <a:pt x="11071" y="2304"/>
                  </a:lnTo>
                  <a:lnTo>
                    <a:pt x="11086" y="2237"/>
                  </a:lnTo>
                  <a:lnTo>
                    <a:pt x="11041" y="2250"/>
                  </a:lnTo>
                  <a:lnTo>
                    <a:pt x="11281" y="2062"/>
                  </a:lnTo>
                  <a:lnTo>
                    <a:pt x="11537" y="1900"/>
                  </a:lnTo>
                  <a:lnTo>
                    <a:pt x="11793" y="1765"/>
                  </a:lnTo>
                  <a:lnTo>
                    <a:pt x="12048" y="1644"/>
                  </a:lnTo>
                  <a:lnTo>
                    <a:pt x="12334" y="1563"/>
                  </a:lnTo>
                  <a:lnTo>
                    <a:pt x="12605" y="1496"/>
                  </a:lnTo>
                  <a:lnTo>
                    <a:pt x="12891" y="1442"/>
                  </a:lnTo>
                  <a:lnTo>
                    <a:pt x="13207" y="1428"/>
                  </a:lnTo>
                  <a:lnTo>
                    <a:pt x="13402" y="1428"/>
                  </a:lnTo>
                  <a:lnTo>
                    <a:pt x="13598" y="1469"/>
                  </a:lnTo>
                  <a:lnTo>
                    <a:pt x="13793" y="1496"/>
                  </a:lnTo>
                  <a:lnTo>
                    <a:pt x="13989" y="1536"/>
                  </a:lnTo>
                  <a:lnTo>
                    <a:pt x="14154" y="1577"/>
                  </a:lnTo>
                  <a:lnTo>
                    <a:pt x="14350" y="1644"/>
                  </a:lnTo>
                  <a:lnTo>
                    <a:pt x="14530" y="1725"/>
                  </a:lnTo>
                  <a:lnTo>
                    <a:pt x="14696" y="1806"/>
                  </a:lnTo>
                  <a:lnTo>
                    <a:pt x="14636" y="1657"/>
                  </a:lnTo>
                  <a:lnTo>
                    <a:pt x="14545" y="1523"/>
                  </a:lnTo>
                  <a:lnTo>
                    <a:pt x="14440" y="1374"/>
                  </a:lnTo>
                  <a:lnTo>
                    <a:pt x="14320" y="1240"/>
                  </a:lnTo>
                  <a:lnTo>
                    <a:pt x="14184" y="1105"/>
                  </a:lnTo>
                  <a:lnTo>
                    <a:pt x="14034" y="1011"/>
                  </a:lnTo>
                  <a:lnTo>
                    <a:pt x="13838" y="930"/>
                  </a:lnTo>
                  <a:lnTo>
                    <a:pt x="13643" y="889"/>
                  </a:lnTo>
                  <a:lnTo>
                    <a:pt x="13342" y="889"/>
                  </a:lnTo>
                  <a:lnTo>
                    <a:pt x="13086" y="916"/>
                  </a:lnTo>
                  <a:lnTo>
                    <a:pt x="12876" y="970"/>
                  </a:lnTo>
                  <a:lnTo>
                    <a:pt x="12725" y="1038"/>
                  </a:lnTo>
                  <a:lnTo>
                    <a:pt x="12590" y="1091"/>
                  </a:lnTo>
                  <a:lnTo>
                    <a:pt x="12500" y="1145"/>
                  </a:lnTo>
                  <a:lnTo>
                    <a:pt x="12455" y="1186"/>
                  </a:lnTo>
                  <a:lnTo>
                    <a:pt x="12440" y="1199"/>
                  </a:lnTo>
                  <a:lnTo>
                    <a:pt x="11913" y="1051"/>
                  </a:lnTo>
                  <a:lnTo>
                    <a:pt x="11928" y="1038"/>
                  </a:lnTo>
                  <a:lnTo>
                    <a:pt x="11973" y="970"/>
                  </a:lnTo>
                  <a:lnTo>
                    <a:pt x="12048" y="889"/>
                  </a:lnTo>
                  <a:lnTo>
                    <a:pt x="12169" y="795"/>
                  </a:lnTo>
                  <a:lnTo>
                    <a:pt x="12289" y="687"/>
                  </a:lnTo>
                  <a:lnTo>
                    <a:pt x="12455" y="579"/>
                  </a:lnTo>
                  <a:lnTo>
                    <a:pt x="12635" y="458"/>
                  </a:lnTo>
                  <a:lnTo>
                    <a:pt x="12846" y="364"/>
                  </a:lnTo>
                  <a:lnTo>
                    <a:pt x="12560" y="269"/>
                  </a:lnTo>
                  <a:lnTo>
                    <a:pt x="12274" y="202"/>
                  </a:lnTo>
                  <a:lnTo>
                    <a:pt x="11988" y="148"/>
                  </a:lnTo>
                  <a:lnTo>
                    <a:pt x="11703" y="94"/>
                  </a:lnTo>
                  <a:lnTo>
                    <a:pt x="11402" y="54"/>
                  </a:lnTo>
                  <a:lnTo>
                    <a:pt x="11086" y="27"/>
                  </a:lnTo>
                  <a:lnTo>
                    <a:pt x="10785" y="0"/>
                  </a:lnTo>
                  <a:lnTo>
                    <a:pt x="10484" y="0"/>
                  </a:lnTo>
                  <a:lnTo>
                    <a:pt x="9943" y="13"/>
                  </a:lnTo>
                  <a:lnTo>
                    <a:pt x="9416" y="81"/>
                  </a:lnTo>
                  <a:lnTo>
                    <a:pt x="8875" y="148"/>
                  </a:lnTo>
                  <a:lnTo>
                    <a:pt x="8318" y="243"/>
                  </a:lnTo>
                  <a:lnTo>
                    <a:pt x="7777" y="391"/>
                  </a:lnTo>
                  <a:lnTo>
                    <a:pt x="7250" y="552"/>
                  </a:lnTo>
                  <a:lnTo>
                    <a:pt x="6724" y="728"/>
                  </a:lnTo>
                  <a:lnTo>
                    <a:pt x="6197" y="930"/>
                  </a:lnTo>
                  <a:lnTo>
                    <a:pt x="5686" y="1159"/>
                  </a:lnTo>
                  <a:lnTo>
                    <a:pt x="5189" y="1401"/>
                  </a:lnTo>
                  <a:lnTo>
                    <a:pt x="4708" y="1657"/>
                  </a:lnTo>
                  <a:lnTo>
                    <a:pt x="4242" y="1940"/>
                  </a:lnTo>
                  <a:lnTo>
                    <a:pt x="3821" y="2223"/>
                  </a:lnTo>
                  <a:lnTo>
                    <a:pt x="3384" y="2520"/>
                  </a:lnTo>
                  <a:lnTo>
                    <a:pt x="2993" y="2830"/>
                  </a:lnTo>
                  <a:lnTo>
                    <a:pt x="2617" y="3153"/>
                  </a:lnTo>
                  <a:lnTo>
                    <a:pt x="2316" y="3436"/>
                  </a:lnTo>
                  <a:lnTo>
                    <a:pt x="2031" y="3733"/>
                  </a:lnTo>
                  <a:lnTo>
                    <a:pt x="1760" y="4056"/>
                  </a:lnTo>
                  <a:lnTo>
                    <a:pt x="1504" y="4366"/>
                  </a:lnTo>
                  <a:lnTo>
                    <a:pt x="1264" y="4703"/>
                  </a:lnTo>
                  <a:lnTo>
                    <a:pt x="1053" y="5026"/>
                  </a:lnTo>
                  <a:lnTo>
                    <a:pt x="842" y="5363"/>
                  </a:lnTo>
                  <a:lnTo>
                    <a:pt x="662" y="5727"/>
                  </a:lnTo>
                  <a:lnTo>
                    <a:pt x="511" y="6064"/>
                  </a:lnTo>
                  <a:lnTo>
                    <a:pt x="376" y="6441"/>
                  </a:lnTo>
                  <a:lnTo>
                    <a:pt x="271" y="6805"/>
                  </a:lnTo>
                  <a:lnTo>
                    <a:pt x="165" y="7169"/>
                  </a:lnTo>
                  <a:lnTo>
                    <a:pt x="90" y="7546"/>
                  </a:lnTo>
                  <a:lnTo>
                    <a:pt x="45" y="7923"/>
                  </a:lnTo>
                  <a:lnTo>
                    <a:pt x="15" y="8300"/>
                  </a:lnTo>
                  <a:lnTo>
                    <a:pt x="0" y="8691"/>
                  </a:lnTo>
                  <a:lnTo>
                    <a:pt x="15" y="9190"/>
                  </a:lnTo>
                  <a:lnTo>
                    <a:pt x="75" y="9675"/>
                  </a:lnTo>
                  <a:lnTo>
                    <a:pt x="150" y="10160"/>
                  </a:lnTo>
                  <a:lnTo>
                    <a:pt x="286" y="10632"/>
                  </a:lnTo>
                  <a:lnTo>
                    <a:pt x="451" y="11103"/>
                  </a:lnTo>
                  <a:lnTo>
                    <a:pt x="632" y="11561"/>
                  </a:lnTo>
                  <a:lnTo>
                    <a:pt x="857" y="12019"/>
                  </a:lnTo>
                  <a:lnTo>
                    <a:pt x="1113" y="12451"/>
                  </a:lnTo>
                  <a:lnTo>
                    <a:pt x="1399" y="12882"/>
                  </a:lnTo>
                  <a:lnTo>
                    <a:pt x="1730" y="13300"/>
                  </a:lnTo>
                  <a:lnTo>
                    <a:pt x="2076" y="13677"/>
                  </a:lnTo>
                  <a:lnTo>
                    <a:pt x="2452" y="14068"/>
                  </a:lnTo>
                  <a:lnTo>
                    <a:pt x="2858" y="14431"/>
                  </a:lnTo>
                  <a:lnTo>
                    <a:pt x="3294" y="14768"/>
                  </a:lnTo>
                  <a:lnTo>
                    <a:pt x="3760" y="15078"/>
                  </a:lnTo>
                  <a:lnTo>
                    <a:pt x="4227" y="15388"/>
                  </a:lnTo>
                  <a:lnTo>
                    <a:pt x="4317" y="15429"/>
                  </a:lnTo>
                  <a:lnTo>
                    <a:pt x="4362" y="15496"/>
                  </a:lnTo>
                  <a:lnTo>
                    <a:pt x="4422" y="15577"/>
                  </a:lnTo>
                  <a:lnTo>
                    <a:pt x="4482" y="15644"/>
                  </a:lnTo>
                  <a:lnTo>
                    <a:pt x="4543" y="15712"/>
                  </a:lnTo>
                  <a:lnTo>
                    <a:pt x="4603" y="15765"/>
                  </a:lnTo>
                  <a:lnTo>
                    <a:pt x="4663" y="15846"/>
                  </a:lnTo>
                  <a:lnTo>
                    <a:pt x="4723" y="15900"/>
                  </a:lnTo>
                  <a:lnTo>
                    <a:pt x="4783" y="15954"/>
                  </a:lnTo>
                  <a:lnTo>
                    <a:pt x="4843" y="16008"/>
                  </a:lnTo>
                  <a:lnTo>
                    <a:pt x="6242" y="17180"/>
                  </a:lnTo>
                  <a:lnTo>
                    <a:pt x="6257" y="17207"/>
                  </a:lnTo>
                  <a:lnTo>
                    <a:pt x="6287" y="17234"/>
                  </a:lnTo>
                  <a:lnTo>
                    <a:pt x="6318" y="17261"/>
                  </a:lnTo>
                  <a:lnTo>
                    <a:pt x="6333" y="17275"/>
                  </a:lnTo>
                  <a:lnTo>
                    <a:pt x="6363" y="17369"/>
                  </a:lnTo>
                  <a:lnTo>
                    <a:pt x="6423" y="17544"/>
                  </a:lnTo>
                  <a:lnTo>
                    <a:pt x="6498" y="17733"/>
                  </a:lnTo>
                  <a:lnTo>
                    <a:pt x="6588" y="17935"/>
                  </a:lnTo>
                  <a:lnTo>
                    <a:pt x="6679" y="18150"/>
                  </a:lnTo>
                  <a:lnTo>
                    <a:pt x="6784" y="18380"/>
                  </a:lnTo>
                  <a:lnTo>
                    <a:pt x="6904" y="18622"/>
                  </a:lnTo>
                  <a:lnTo>
                    <a:pt x="7025" y="18865"/>
                  </a:lnTo>
                  <a:lnTo>
                    <a:pt x="7160" y="19121"/>
                  </a:lnTo>
                  <a:lnTo>
                    <a:pt x="7235" y="19026"/>
                  </a:lnTo>
                  <a:lnTo>
                    <a:pt x="7325" y="18959"/>
                  </a:lnTo>
                  <a:lnTo>
                    <a:pt x="7370" y="18919"/>
                  </a:lnTo>
                  <a:lnTo>
                    <a:pt x="7386" y="18905"/>
                  </a:lnTo>
                  <a:lnTo>
                    <a:pt x="7370" y="18986"/>
                  </a:lnTo>
                  <a:lnTo>
                    <a:pt x="7386" y="19161"/>
                  </a:lnTo>
                  <a:lnTo>
                    <a:pt x="7446" y="19363"/>
                  </a:lnTo>
                  <a:lnTo>
                    <a:pt x="7641" y="19484"/>
                  </a:lnTo>
                  <a:lnTo>
                    <a:pt x="7762" y="19525"/>
                  </a:lnTo>
                  <a:lnTo>
                    <a:pt x="7852" y="19525"/>
                  </a:lnTo>
                  <a:lnTo>
                    <a:pt x="7912" y="19525"/>
                  </a:lnTo>
                  <a:lnTo>
                    <a:pt x="7972" y="19511"/>
                  </a:lnTo>
                  <a:lnTo>
                    <a:pt x="8032" y="19511"/>
                  </a:lnTo>
                  <a:lnTo>
                    <a:pt x="8108" y="19525"/>
                  </a:lnTo>
                  <a:lnTo>
                    <a:pt x="8168" y="19538"/>
                  </a:lnTo>
                  <a:lnTo>
                    <a:pt x="8273" y="19592"/>
                  </a:lnTo>
                  <a:lnTo>
                    <a:pt x="8408" y="19646"/>
                  </a:lnTo>
                  <a:lnTo>
                    <a:pt x="8529" y="19673"/>
                  </a:lnTo>
                  <a:lnTo>
                    <a:pt x="8664" y="19687"/>
                  </a:lnTo>
                  <a:lnTo>
                    <a:pt x="8769" y="19687"/>
                  </a:lnTo>
                  <a:lnTo>
                    <a:pt x="8890" y="19660"/>
                  </a:lnTo>
                  <a:lnTo>
                    <a:pt x="8995" y="19619"/>
                  </a:lnTo>
                  <a:lnTo>
                    <a:pt x="9070" y="19579"/>
                  </a:lnTo>
                  <a:lnTo>
                    <a:pt x="9160" y="19511"/>
                  </a:lnTo>
                  <a:lnTo>
                    <a:pt x="9251" y="19363"/>
                  </a:lnTo>
                  <a:lnTo>
                    <a:pt x="9311" y="19228"/>
                  </a:lnTo>
                  <a:lnTo>
                    <a:pt x="9326" y="19134"/>
                  </a:lnTo>
                  <a:lnTo>
                    <a:pt x="9326" y="19094"/>
                  </a:lnTo>
                  <a:lnTo>
                    <a:pt x="9326" y="19134"/>
                  </a:lnTo>
                  <a:lnTo>
                    <a:pt x="9326" y="19242"/>
                  </a:lnTo>
                  <a:lnTo>
                    <a:pt x="9311" y="19404"/>
                  </a:lnTo>
                  <a:lnTo>
                    <a:pt x="9296" y="19592"/>
                  </a:lnTo>
                  <a:lnTo>
                    <a:pt x="9236" y="19781"/>
                  </a:lnTo>
                  <a:lnTo>
                    <a:pt x="9160" y="19929"/>
                  </a:lnTo>
                  <a:lnTo>
                    <a:pt x="9025" y="20050"/>
                  </a:lnTo>
                  <a:lnTo>
                    <a:pt x="8860" y="20091"/>
                  </a:lnTo>
                  <a:lnTo>
                    <a:pt x="8664" y="20077"/>
                  </a:lnTo>
                  <a:lnTo>
                    <a:pt x="8514" y="20064"/>
                  </a:lnTo>
                  <a:lnTo>
                    <a:pt x="8393" y="20037"/>
                  </a:lnTo>
                  <a:lnTo>
                    <a:pt x="8273" y="19997"/>
                  </a:lnTo>
                  <a:lnTo>
                    <a:pt x="8183" y="19983"/>
                  </a:lnTo>
                  <a:lnTo>
                    <a:pt x="8092" y="19943"/>
                  </a:lnTo>
                  <a:lnTo>
                    <a:pt x="7987" y="19943"/>
                  </a:lnTo>
                  <a:lnTo>
                    <a:pt x="7867" y="19943"/>
                  </a:lnTo>
                  <a:lnTo>
                    <a:pt x="7807" y="19943"/>
                  </a:lnTo>
                  <a:lnTo>
                    <a:pt x="7762" y="19943"/>
                  </a:lnTo>
                  <a:lnTo>
                    <a:pt x="7716" y="19943"/>
                  </a:lnTo>
                  <a:lnTo>
                    <a:pt x="7671" y="19943"/>
                  </a:lnTo>
                  <a:lnTo>
                    <a:pt x="7927" y="20293"/>
                  </a:lnTo>
                  <a:lnTo>
                    <a:pt x="8183" y="20603"/>
                  </a:lnTo>
                  <a:lnTo>
                    <a:pt x="8453" y="20899"/>
                  </a:lnTo>
                  <a:lnTo>
                    <a:pt x="8739" y="21142"/>
                  </a:lnTo>
                  <a:lnTo>
                    <a:pt x="9040" y="21344"/>
                  </a:lnTo>
                  <a:lnTo>
                    <a:pt x="9371" y="21492"/>
                  </a:lnTo>
                  <a:lnTo>
                    <a:pt x="9687" y="21573"/>
                  </a:lnTo>
                  <a:lnTo>
                    <a:pt x="10003" y="21600"/>
                  </a:lnTo>
                  <a:lnTo>
                    <a:pt x="10439" y="21519"/>
                  </a:lnTo>
                  <a:lnTo>
                    <a:pt x="10905" y="21398"/>
                  </a:lnTo>
                  <a:lnTo>
                    <a:pt x="11402" y="21182"/>
                  </a:lnTo>
                  <a:lnTo>
                    <a:pt x="11883" y="20913"/>
                  </a:lnTo>
                  <a:lnTo>
                    <a:pt x="12379" y="20576"/>
                  </a:lnTo>
                  <a:lnTo>
                    <a:pt x="12891" y="20212"/>
                  </a:lnTo>
                  <a:lnTo>
                    <a:pt x="13387" y="19808"/>
                  </a:lnTo>
                  <a:lnTo>
                    <a:pt x="13869" y="19363"/>
                  </a:lnTo>
                  <a:lnTo>
                    <a:pt x="14335" y="18905"/>
                  </a:lnTo>
                  <a:lnTo>
                    <a:pt x="14771" y="18433"/>
                  </a:lnTo>
                  <a:lnTo>
                    <a:pt x="15177" y="17962"/>
                  </a:lnTo>
                  <a:lnTo>
                    <a:pt x="15538" y="17490"/>
                  </a:lnTo>
                  <a:lnTo>
                    <a:pt x="15854" y="17032"/>
                  </a:lnTo>
                  <a:lnTo>
                    <a:pt x="16125" y="16587"/>
                  </a:lnTo>
                  <a:lnTo>
                    <a:pt x="16335" y="16170"/>
                  </a:lnTo>
                  <a:lnTo>
                    <a:pt x="16471" y="15779"/>
                  </a:lnTo>
                  <a:lnTo>
                    <a:pt x="16696" y="15024"/>
                  </a:lnTo>
                  <a:lnTo>
                    <a:pt x="16696" y="14997"/>
                  </a:lnTo>
                  <a:lnTo>
                    <a:pt x="16726" y="14957"/>
                  </a:lnTo>
                  <a:lnTo>
                    <a:pt x="16757" y="14917"/>
                  </a:lnTo>
                  <a:lnTo>
                    <a:pt x="16757" y="14890"/>
                  </a:lnTo>
                  <a:lnTo>
                    <a:pt x="16862" y="14795"/>
                  </a:lnTo>
                  <a:lnTo>
                    <a:pt x="16937" y="14741"/>
                  </a:lnTo>
                  <a:lnTo>
                    <a:pt x="17027" y="14687"/>
                  </a:lnTo>
                  <a:lnTo>
                    <a:pt x="17087" y="14620"/>
                  </a:lnTo>
                  <a:lnTo>
                    <a:pt x="17163" y="14566"/>
                  </a:lnTo>
                  <a:lnTo>
                    <a:pt x="17328" y="14445"/>
                  </a:lnTo>
                  <a:lnTo>
                    <a:pt x="17539" y="14472"/>
                  </a:lnTo>
                  <a:lnTo>
                    <a:pt x="17794" y="14485"/>
                  </a:lnTo>
                  <a:lnTo>
                    <a:pt x="18050" y="14485"/>
                  </a:lnTo>
                  <a:lnTo>
                    <a:pt x="18321" y="14472"/>
                  </a:lnTo>
                  <a:lnTo>
                    <a:pt x="18592" y="14431"/>
                  </a:lnTo>
                  <a:lnTo>
                    <a:pt x="18877" y="14364"/>
                  </a:lnTo>
                  <a:lnTo>
                    <a:pt x="19163" y="14283"/>
                  </a:lnTo>
                  <a:lnTo>
                    <a:pt x="19434" y="14189"/>
                  </a:lnTo>
                  <a:lnTo>
                    <a:pt x="19720" y="14068"/>
                  </a:lnTo>
                  <a:lnTo>
                    <a:pt x="20036" y="13906"/>
                  </a:lnTo>
                  <a:lnTo>
                    <a:pt x="20352" y="13744"/>
                  </a:lnTo>
                  <a:lnTo>
                    <a:pt x="20637" y="13542"/>
                  </a:lnTo>
                  <a:lnTo>
                    <a:pt x="20878" y="13340"/>
                  </a:lnTo>
                  <a:lnTo>
                    <a:pt x="21104" y="13124"/>
                  </a:lnTo>
                  <a:lnTo>
                    <a:pt x="21269" y="12909"/>
                  </a:lnTo>
                  <a:lnTo>
                    <a:pt x="21419" y="12680"/>
                  </a:lnTo>
                  <a:lnTo>
                    <a:pt x="21525" y="12451"/>
                  </a:lnTo>
                  <a:lnTo>
                    <a:pt x="21570" y="12262"/>
                  </a:lnTo>
                  <a:lnTo>
                    <a:pt x="21600" y="12073"/>
                  </a:lnTo>
                  <a:lnTo>
                    <a:pt x="21570" y="11912"/>
                  </a:lnTo>
                  <a:lnTo>
                    <a:pt x="21510" y="1176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49" name="Shape"/>
            <p:cNvSpPr/>
            <p:nvPr/>
          </p:nvSpPr>
          <p:spPr>
            <a:xfrm>
              <a:off x="671512" y="114300"/>
              <a:ext cx="336551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26" y="2065"/>
                  </a:moveTo>
                  <a:lnTo>
                    <a:pt x="3260" y="2844"/>
                  </a:lnTo>
                  <a:lnTo>
                    <a:pt x="2445" y="3758"/>
                  </a:lnTo>
                  <a:lnTo>
                    <a:pt x="1732" y="4740"/>
                  </a:lnTo>
                  <a:lnTo>
                    <a:pt x="1172" y="5789"/>
                  </a:lnTo>
                  <a:lnTo>
                    <a:pt x="662" y="6907"/>
                  </a:lnTo>
                  <a:lnTo>
                    <a:pt x="306" y="8092"/>
                  </a:lnTo>
                  <a:lnTo>
                    <a:pt x="51" y="9344"/>
                  </a:lnTo>
                  <a:lnTo>
                    <a:pt x="0" y="10665"/>
                  </a:lnTo>
                  <a:lnTo>
                    <a:pt x="51" y="11782"/>
                  </a:lnTo>
                  <a:lnTo>
                    <a:pt x="255" y="12831"/>
                  </a:lnTo>
                  <a:lnTo>
                    <a:pt x="509" y="13881"/>
                  </a:lnTo>
                  <a:lnTo>
                    <a:pt x="815" y="14897"/>
                  </a:lnTo>
                  <a:lnTo>
                    <a:pt x="1325" y="15878"/>
                  </a:lnTo>
                  <a:lnTo>
                    <a:pt x="1834" y="16759"/>
                  </a:lnTo>
                  <a:lnTo>
                    <a:pt x="2445" y="17605"/>
                  </a:lnTo>
                  <a:lnTo>
                    <a:pt x="3158" y="18384"/>
                  </a:lnTo>
                  <a:lnTo>
                    <a:pt x="3923" y="19095"/>
                  </a:lnTo>
                  <a:lnTo>
                    <a:pt x="4738" y="19704"/>
                  </a:lnTo>
                  <a:lnTo>
                    <a:pt x="5655" y="20246"/>
                  </a:lnTo>
                  <a:lnTo>
                    <a:pt x="6572" y="20720"/>
                  </a:lnTo>
                  <a:lnTo>
                    <a:pt x="7540" y="21092"/>
                  </a:lnTo>
                  <a:lnTo>
                    <a:pt x="8609" y="21363"/>
                  </a:lnTo>
                  <a:lnTo>
                    <a:pt x="9679" y="21498"/>
                  </a:lnTo>
                  <a:lnTo>
                    <a:pt x="10800" y="21600"/>
                  </a:lnTo>
                  <a:lnTo>
                    <a:pt x="11870" y="21498"/>
                  </a:lnTo>
                  <a:lnTo>
                    <a:pt x="12940" y="21363"/>
                  </a:lnTo>
                  <a:lnTo>
                    <a:pt x="14009" y="21092"/>
                  </a:lnTo>
                  <a:lnTo>
                    <a:pt x="15028" y="20720"/>
                  </a:lnTo>
                  <a:lnTo>
                    <a:pt x="15945" y="20246"/>
                  </a:lnTo>
                  <a:lnTo>
                    <a:pt x="16862" y="19704"/>
                  </a:lnTo>
                  <a:lnTo>
                    <a:pt x="17677" y="19095"/>
                  </a:lnTo>
                  <a:lnTo>
                    <a:pt x="18442" y="18384"/>
                  </a:lnTo>
                  <a:lnTo>
                    <a:pt x="19104" y="17605"/>
                  </a:lnTo>
                  <a:lnTo>
                    <a:pt x="19766" y="16759"/>
                  </a:lnTo>
                  <a:lnTo>
                    <a:pt x="20326" y="15878"/>
                  </a:lnTo>
                  <a:lnTo>
                    <a:pt x="20734" y="14897"/>
                  </a:lnTo>
                  <a:lnTo>
                    <a:pt x="21142" y="13881"/>
                  </a:lnTo>
                  <a:lnTo>
                    <a:pt x="21396" y="12831"/>
                  </a:lnTo>
                  <a:lnTo>
                    <a:pt x="21549" y="11782"/>
                  </a:lnTo>
                  <a:lnTo>
                    <a:pt x="21600" y="10665"/>
                  </a:lnTo>
                  <a:lnTo>
                    <a:pt x="21549" y="9615"/>
                  </a:lnTo>
                  <a:lnTo>
                    <a:pt x="21396" y="8566"/>
                  </a:lnTo>
                  <a:lnTo>
                    <a:pt x="21192" y="7584"/>
                  </a:lnTo>
                  <a:lnTo>
                    <a:pt x="20836" y="6636"/>
                  </a:lnTo>
                  <a:lnTo>
                    <a:pt x="20428" y="5722"/>
                  </a:lnTo>
                  <a:lnTo>
                    <a:pt x="19919" y="4875"/>
                  </a:lnTo>
                  <a:lnTo>
                    <a:pt x="19358" y="4029"/>
                  </a:lnTo>
                  <a:lnTo>
                    <a:pt x="18747" y="3284"/>
                  </a:lnTo>
                  <a:lnTo>
                    <a:pt x="18747" y="3386"/>
                  </a:lnTo>
                  <a:lnTo>
                    <a:pt x="18798" y="3487"/>
                  </a:lnTo>
                  <a:lnTo>
                    <a:pt x="18798" y="3623"/>
                  </a:lnTo>
                  <a:lnTo>
                    <a:pt x="18798" y="3724"/>
                  </a:lnTo>
                  <a:lnTo>
                    <a:pt x="18747" y="3995"/>
                  </a:lnTo>
                  <a:lnTo>
                    <a:pt x="18645" y="4300"/>
                  </a:lnTo>
                  <a:lnTo>
                    <a:pt x="18442" y="4537"/>
                  </a:lnTo>
                  <a:lnTo>
                    <a:pt x="18136" y="4774"/>
                  </a:lnTo>
                  <a:lnTo>
                    <a:pt x="17830" y="4943"/>
                  </a:lnTo>
                  <a:lnTo>
                    <a:pt x="17474" y="5078"/>
                  </a:lnTo>
                  <a:lnTo>
                    <a:pt x="17015" y="5146"/>
                  </a:lnTo>
                  <a:lnTo>
                    <a:pt x="16608" y="5180"/>
                  </a:lnTo>
                  <a:lnTo>
                    <a:pt x="16149" y="5146"/>
                  </a:lnTo>
                  <a:lnTo>
                    <a:pt x="15742" y="5078"/>
                  </a:lnTo>
                  <a:lnTo>
                    <a:pt x="15334" y="4943"/>
                  </a:lnTo>
                  <a:lnTo>
                    <a:pt x="14977" y="4774"/>
                  </a:lnTo>
                  <a:lnTo>
                    <a:pt x="14672" y="4537"/>
                  </a:lnTo>
                  <a:lnTo>
                    <a:pt x="14468" y="4300"/>
                  </a:lnTo>
                  <a:lnTo>
                    <a:pt x="14366" y="3995"/>
                  </a:lnTo>
                  <a:lnTo>
                    <a:pt x="14315" y="3724"/>
                  </a:lnTo>
                  <a:lnTo>
                    <a:pt x="14366" y="3386"/>
                  </a:lnTo>
                  <a:lnTo>
                    <a:pt x="14468" y="3081"/>
                  </a:lnTo>
                  <a:lnTo>
                    <a:pt x="14723" y="2742"/>
                  </a:lnTo>
                  <a:lnTo>
                    <a:pt x="15028" y="2438"/>
                  </a:lnTo>
                  <a:lnTo>
                    <a:pt x="15334" y="2167"/>
                  </a:lnTo>
                  <a:lnTo>
                    <a:pt x="15792" y="1964"/>
                  </a:lnTo>
                  <a:lnTo>
                    <a:pt x="16200" y="1828"/>
                  </a:lnTo>
                  <a:lnTo>
                    <a:pt x="16658" y="1761"/>
                  </a:lnTo>
                  <a:lnTo>
                    <a:pt x="16760" y="1761"/>
                  </a:lnTo>
                  <a:lnTo>
                    <a:pt x="16811" y="1761"/>
                  </a:lnTo>
                  <a:lnTo>
                    <a:pt x="16913" y="1761"/>
                  </a:lnTo>
                  <a:lnTo>
                    <a:pt x="16964" y="1828"/>
                  </a:lnTo>
                  <a:lnTo>
                    <a:pt x="16913" y="1659"/>
                  </a:lnTo>
                  <a:lnTo>
                    <a:pt x="16862" y="1490"/>
                  </a:lnTo>
                  <a:lnTo>
                    <a:pt x="16709" y="1253"/>
                  </a:lnTo>
                  <a:lnTo>
                    <a:pt x="16506" y="948"/>
                  </a:lnTo>
                  <a:lnTo>
                    <a:pt x="15945" y="745"/>
                  </a:lnTo>
                  <a:lnTo>
                    <a:pt x="15334" y="542"/>
                  </a:lnTo>
                  <a:lnTo>
                    <a:pt x="14672" y="372"/>
                  </a:lnTo>
                  <a:lnTo>
                    <a:pt x="14111" y="271"/>
                  </a:lnTo>
                  <a:lnTo>
                    <a:pt x="13449" y="169"/>
                  </a:lnTo>
                  <a:lnTo>
                    <a:pt x="12787" y="102"/>
                  </a:lnTo>
                  <a:lnTo>
                    <a:pt x="12125" y="0"/>
                  </a:lnTo>
                  <a:lnTo>
                    <a:pt x="11462" y="0"/>
                  </a:lnTo>
                  <a:lnTo>
                    <a:pt x="10392" y="34"/>
                  </a:lnTo>
                  <a:lnTo>
                    <a:pt x="9425" y="169"/>
                  </a:lnTo>
                  <a:lnTo>
                    <a:pt x="8508" y="339"/>
                  </a:lnTo>
                  <a:lnTo>
                    <a:pt x="7540" y="542"/>
                  </a:lnTo>
                  <a:lnTo>
                    <a:pt x="6674" y="846"/>
                  </a:lnTo>
                  <a:lnTo>
                    <a:pt x="5808" y="1185"/>
                  </a:lnTo>
                  <a:lnTo>
                    <a:pt x="4942" y="1591"/>
                  </a:lnTo>
                  <a:lnTo>
                    <a:pt x="4126" y="206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0" name="Shape"/>
            <p:cNvSpPr/>
            <p:nvPr/>
          </p:nvSpPr>
          <p:spPr>
            <a:xfrm>
              <a:off x="225425" y="128587"/>
              <a:ext cx="371475" cy="550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81" y="21538"/>
                  </a:moveTo>
                  <a:lnTo>
                    <a:pt x="9789" y="21538"/>
                  </a:lnTo>
                  <a:lnTo>
                    <a:pt x="9467" y="21569"/>
                  </a:lnTo>
                  <a:lnTo>
                    <a:pt x="9008" y="21600"/>
                  </a:lnTo>
                  <a:lnTo>
                    <a:pt x="8410" y="21600"/>
                  </a:lnTo>
                  <a:lnTo>
                    <a:pt x="7721" y="21600"/>
                  </a:lnTo>
                  <a:lnTo>
                    <a:pt x="6940" y="21569"/>
                  </a:lnTo>
                  <a:lnTo>
                    <a:pt x="6066" y="21476"/>
                  </a:lnTo>
                  <a:lnTo>
                    <a:pt x="5193" y="21320"/>
                  </a:lnTo>
                  <a:lnTo>
                    <a:pt x="4320" y="21103"/>
                  </a:lnTo>
                  <a:lnTo>
                    <a:pt x="3447" y="20792"/>
                  </a:lnTo>
                  <a:lnTo>
                    <a:pt x="2620" y="20450"/>
                  </a:lnTo>
                  <a:lnTo>
                    <a:pt x="1884" y="19953"/>
                  </a:lnTo>
                  <a:lnTo>
                    <a:pt x="1241" y="19362"/>
                  </a:lnTo>
                  <a:lnTo>
                    <a:pt x="689" y="18585"/>
                  </a:lnTo>
                  <a:lnTo>
                    <a:pt x="322" y="17746"/>
                  </a:lnTo>
                  <a:lnTo>
                    <a:pt x="92" y="16721"/>
                  </a:lnTo>
                  <a:lnTo>
                    <a:pt x="0" y="14638"/>
                  </a:lnTo>
                  <a:lnTo>
                    <a:pt x="138" y="12805"/>
                  </a:lnTo>
                  <a:lnTo>
                    <a:pt x="506" y="11188"/>
                  </a:lnTo>
                  <a:lnTo>
                    <a:pt x="1011" y="9759"/>
                  </a:lnTo>
                  <a:lnTo>
                    <a:pt x="1884" y="8391"/>
                  </a:lnTo>
                  <a:lnTo>
                    <a:pt x="2895" y="7117"/>
                  </a:lnTo>
                  <a:lnTo>
                    <a:pt x="4090" y="5843"/>
                  </a:lnTo>
                  <a:lnTo>
                    <a:pt x="5607" y="4569"/>
                  </a:lnTo>
                  <a:lnTo>
                    <a:pt x="6434" y="3947"/>
                  </a:lnTo>
                  <a:lnTo>
                    <a:pt x="7307" y="3357"/>
                  </a:lnTo>
                  <a:lnTo>
                    <a:pt x="8134" y="2797"/>
                  </a:lnTo>
                  <a:lnTo>
                    <a:pt x="9008" y="2300"/>
                  </a:lnTo>
                  <a:lnTo>
                    <a:pt x="9835" y="1834"/>
                  </a:lnTo>
                  <a:lnTo>
                    <a:pt x="10708" y="1399"/>
                  </a:lnTo>
                  <a:lnTo>
                    <a:pt x="11535" y="1026"/>
                  </a:lnTo>
                  <a:lnTo>
                    <a:pt x="12409" y="715"/>
                  </a:lnTo>
                  <a:lnTo>
                    <a:pt x="13190" y="435"/>
                  </a:lnTo>
                  <a:lnTo>
                    <a:pt x="13971" y="249"/>
                  </a:lnTo>
                  <a:lnTo>
                    <a:pt x="14706" y="124"/>
                  </a:lnTo>
                  <a:lnTo>
                    <a:pt x="15442" y="0"/>
                  </a:lnTo>
                  <a:lnTo>
                    <a:pt x="16085" y="0"/>
                  </a:lnTo>
                  <a:lnTo>
                    <a:pt x="16683" y="93"/>
                  </a:lnTo>
                  <a:lnTo>
                    <a:pt x="17188" y="186"/>
                  </a:lnTo>
                  <a:lnTo>
                    <a:pt x="17694" y="373"/>
                  </a:lnTo>
                  <a:lnTo>
                    <a:pt x="18567" y="1026"/>
                  </a:lnTo>
                  <a:lnTo>
                    <a:pt x="19348" y="1989"/>
                  </a:lnTo>
                  <a:lnTo>
                    <a:pt x="20083" y="3263"/>
                  </a:lnTo>
                  <a:lnTo>
                    <a:pt x="20727" y="4600"/>
                  </a:lnTo>
                  <a:lnTo>
                    <a:pt x="21140" y="6060"/>
                  </a:lnTo>
                  <a:lnTo>
                    <a:pt x="21508" y="7459"/>
                  </a:lnTo>
                  <a:lnTo>
                    <a:pt x="21600" y="8764"/>
                  </a:lnTo>
                  <a:lnTo>
                    <a:pt x="21462" y="9852"/>
                  </a:lnTo>
                  <a:lnTo>
                    <a:pt x="21140" y="10816"/>
                  </a:lnTo>
                  <a:lnTo>
                    <a:pt x="20727" y="11810"/>
                  </a:lnTo>
                  <a:lnTo>
                    <a:pt x="20267" y="12774"/>
                  </a:lnTo>
                  <a:lnTo>
                    <a:pt x="19762" y="13768"/>
                  </a:lnTo>
                  <a:lnTo>
                    <a:pt x="19118" y="14700"/>
                  </a:lnTo>
                  <a:lnTo>
                    <a:pt x="18429" y="15540"/>
                  </a:lnTo>
                  <a:lnTo>
                    <a:pt x="17648" y="16285"/>
                  </a:lnTo>
                  <a:lnTo>
                    <a:pt x="16820" y="16938"/>
                  </a:lnTo>
                  <a:lnTo>
                    <a:pt x="15855" y="17591"/>
                  </a:lnTo>
                  <a:lnTo>
                    <a:pt x="14752" y="18337"/>
                  </a:lnTo>
                  <a:lnTo>
                    <a:pt x="13603" y="19083"/>
                  </a:lnTo>
                  <a:lnTo>
                    <a:pt x="12454" y="19828"/>
                  </a:lnTo>
                  <a:lnTo>
                    <a:pt x="11489" y="20512"/>
                  </a:lnTo>
                  <a:lnTo>
                    <a:pt x="10662" y="21041"/>
                  </a:lnTo>
                  <a:lnTo>
                    <a:pt x="10065" y="21414"/>
                  </a:lnTo>
                  <a:lnTo>
                    <a:pt x="9881" y="2153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1" name="Shape"/>
            <p:cNvSpPr/>
            <p:nvPr/>
          </p:nvSpPr>
          <p:spPr>
            <a:xfrm>
              <a:off x="212725" y="234950"/>
              <a:ext cx="384175" cy="627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55" y="1476"/>
                  </a:moveTo>
                  <a:lnTo>
                    <a:pt x="21155" y="1394"/>
                  </a:lnTo>
                  <a:lnTo>
                    <a:pt x="21199" y="1340"/>
                  </a:lnTo>
                  <a:lnTo>
                    <a:pt x="21199" y="1258"/>
                  </a:lnTo>
                  <a:lnTo>
                    <a:pt x="21199" y="1203"/>
                  </a:lnTo>
                  <a:lnTo>
                    <a:pt x="21155" y="957"/>
                  </a:lnTo>
                  <a:lnTo>
                    <a:pt x="21066" y="738"/>
                  </a:lnTo>
                  <a:lnTo>
                    <a:pt x="20887" y="519"/>
                  </a:lnTo>
                  <a:lnTo>
                    <a:pt x="20665" y="355"/>
                  </a:lnTo>
                  <a:lnTo>
                    <a:pt x="20308" y="219"/>
                  </a:lnTo>
                  <a:lnTo>
                    <a:pt x="19997" y="82"/>
                  </a:lnTo>
                  <a:lnTo>
                    <a:pt x="19596" y="27"/>
                  </a:lnTo>
                  <a:lnTo>
                    <a:pt x="19240" y="0"/>
                  </a:lnTo>
                  <a:lnTo>
                    <a:pt x="18839" y="27"/>
                  </a:lnTo>
                  <a:lnTo>
                    <a:pt x="18482" y="82"/>
                  </a:lnTo>
                  <a:lnTo>
                    <a:pt x="18126" y="219"/>
                  </a:lnTo>
                  <a:lnTo>
                    <a:pt x="17859" y="355"/>
                  </a:lnTo>
                  <a:lnTo>
                    <a:pt x="17636" y="519"/>
                  </a:lnTo>
                  <a:lnTo>
                    <a:pt x="17414" y="738"/>
                  </a:lnTo>
                  <a:lnTo>
                    <a:pt x="17325" y="957"/>
                  </a:lnTo>
                  <a:lnTo>
                    <a:pt x="17280" y="1203"/>
                  </a:lnTo>
                  <a:lnTo>
                    <a:pt x="17325" y="1422"/>
                  </a:lnTo>
                  <a:lnTo>
                    <a:pt x="17414" y="1668"/>
                  </a:lnTo>
                  <a:lnTo>
                    <a:pt x="17636" y="1859"/>
                  </a:lnTo>
                  <a:lnTo>
                    <a:pt x="17859" y="2051"/>
                  </a:lnTo>
                  <a:lnTo>
                    <a:pt x="18126" y="2187"/>
                  </a:lnTo>
                  <a:lnTo>
                    <a:pt x="18482" y="2297"/>
                  </a:lnTo>
                  <a:lnTo>
                    <a:pt x="18839" y="2351"/>
                  </a:lnTo>
                  <a:lnTo>
                    <a:pt x="19240" y="2379"/>
                  </a:lnTo>
                  <a:lnTo>
                    <a:pt x="19507" y="2379"/>
                  </a:lnTo>
                  <a:lnTo>
                    <a:pt x="19774" y="2351"/>
                  </a:lnTo>
                  <a:lnTo>
                    <a:pt x="20041" y="2297"/>
                  </a:lnTo>
                  <a:lnTo>
                    <a:pt x="20264" y="2215"/>
                  </a:lnTo>
                  <a:lnTo>
                    <a:pt x="20442" y="2133"/>
                  </a:lnTo>
                  <a:lnTo>
                    <a:pt x="20709" y="2051"/>
                  </a:lnTo>
                  <a:lnTo>
                    <a:pt x="20843" y="1914"/>
                  </a:lnTo>
                  <a:lnTo>
                    <a:pt x="20976" y="1777"/>
                  </a:lnTo>
                  <a:lnTo>
                    <a:pt x="20976" y="2652"/>
                  </a:lnTo>
                  <a:lnTo>
                    <a:pt x="20843" y="3691"/>
                  </a:lnTo>
                  <a:lnTo>
                    <a:pt x="20531" y="4867"/>
                  </a:lnTo>
                  <a:lnTo>
                    <a:pt x="20130" y="6097"/>
                  </a:lnTo>
                  <a:lnTo>
                    <a:pt x="19418" y="7437"/>
                  </a:lnTo>
                  <a:lnTo>
                    <a:pt x="18438" y="8749"/>
                  </a:lnTo>
                  <a:lnTo>
                    <a:pt x="17146" y="10034"/>
                  </a:lnTo>
                  <a:lnTo>
                    <a:pt x="15454" y="11237"/>
                  </a:lnTo>
                  <a:lnTo>
                    <a:pt x="14741" y="11675"/>
                  </a:lnTo>
                  <a:lnTo>
                    <a:pt x="14073" y="12112"/>
                  </a:lnTo>
                  <a:lnTo>
                    <a:pt x="13405" y="12550"/>
                  </a:lnTo>
                  <a:lnTo>
                    <a:pt x="12737" y="13015"/>
                  </a:lnTo>
                  <a:lnTo>
                    <a:pt x="12069" y="13479"/>
                  </a:lnTo>
                  <a:lnTo>
                    <a:pt x="11446" y="13917"/>
                  </a:lnTo>
                  <a:lnTo>
                    <a:pt x="10867" y="14382"/>
                  </a:lnTo>
                  <a:lnTo>
                    <a:pt x="10243" y="14847"/>
                  </a:lnTo>
                  <a:lnTo>
                    <a:pt x="9887" y="14901"/>
                  </a:lnTo>
                  <a:lnTo>
                    <a:pt x="9575" y="14956"/>
                  </a:lnTo>
                  <a:lnTo>
                    <a:pt x="9219" y="14983"/>
                  </a:lnTo>
                  <a:lnTo>
                    <a:pt x="8907" y="15011"/>
                  </a:lnTo>
                  <a:lnTo>
                    <a:pt x="8595" y="15038"/>
                  </a:lnTo>
                  <a:lnTo>
                    <a:pt x="8239" y="15038"/>
                  </a:lnTo>
                  <a:lnTo>
                    <a:pt x="7927" y="15038"/>
                  </a:lnTo>
                  <a:lnTo>
                    <a:pt x="7571" y="15011"/>
                  </a:lnTo>
                  <a:lnTo>
                    <a:pt x="5923" y="14765"/>
                  </a:lnTo>
                  <a:lnTo>
                    <a:pt x="4498" y="14272"/>
                  </a:lnTo>
                  <a:lnTo>
                    <a:pt x="3385" y="13562"/>
                  </a:lnTo>
                  <a:lnTo>
                    <a:pt x="2494" y="12632"/>
                  </a:lnTo>
                  <a:lnTo>
                    <a:pt x="1826" y="11511"/>
                  </a:lnTo>
                  <a:lnTo>
                    <a:pt x="1425" y="10198"/>
                  </a:lnTo>
                  <a:lnTo>
                    <a:pt x="1381" y="8749"/>
                  </a:lnTo>
                  <a:lnTo>
                    <a:pt x="1559" y="7082"/>
                  </a:lnTo>
                  <a:lnTo>
                    <a:pt x="1781" y="6453"/>
                  </a:lnTo>
                  <a:lnTo>
                    <a:pt x="2182" y="5632"/>
                  </a:lnTo>
                  <a:lnTo>
                    <a:pt x="2672" y="4730"/>
                  </a:lnTo>
                  <a:lnTo>
                    <a:pt x="3296" y="3801"/>
                  </a:lnTo>
                  <a:lnTo>
                    <a:pt x="3875" y="2871"/>
                  </a:lnTo>
                  <a:lnTo>
                    <a:pt x="4454" y="1996"/>
                  </a:lnTo>
                  <a:lnTo>
                    <a:pt x="4988" y="1285"/>
                  </a:lnTo>
                  <a:lnTo>
                    <a:pt x="5389" y="738"/>
                  </a:lnTo>
                  <a:lnTo>
                    <a:pt x="4765" y="1340"/>
                  </a:lnTo>
                  <a:lnTo>
                    <a:pt x="3919" y="2078"/>
                  </a:lnTo>
                  <a:lnTo>
                    <a:pt x="3118" y="2898"/>
                  </a:lnTo>
                  <a:lnTo>
                    <a:pt x="2316" y="3828"/>
                  </a:lnTo>
                  <a:lnTo>
                    <a:pt x="1603" y="4757"/>
                  </a:lnTo>
                  <a:lnTo>
                    <a:pt x="935" y="5714"/>
                  </a:lnTo>
                  <a:lnTo>
                    <a:pt x="490" y="6644"/>
                  </a:lnTo>
                  <a:lnTo>
                    <a:pt x="178" y="7492"/>
                  </a:lnTo>
                  <a:lnTo>
                    <a:pt x="0" y="9159"/>
                  </a:lnTo>
                  <a:lnTo>
                    <a:pt x="89" y="10691"/>
                  </a:lnTo>
                  <a:lnTo>
                    <a:pt x="579" y="12085"/>
                  </a:lnTo>
                  <a:lnTo>
                    <a:pt x="1292" y="13315"/>
                  </a:lnTo>
                  <a:lnTo>
                    <a:pt x="2271" y="14327"/>
                  </a:lnTo>
                  <a:lnTo>
                    <a:pt x="3518" y="15093"/>
                  </a:lnTo>
                  <a:lnTo>
                    <a:pt x="5033" y="15667"/>
                  </a:lnTo>
                  <a:lnTo>
                    <a:pt x="6680" y="15913"/>
                  </a:lnTo>
                  <a:lnTo>
                    <a:pt x="6948" y="15940"/>
                  </a:lnTo>
                  <a:lnTo>
                    <a:pt x="7259" y="15968"/>
                  </a:lnTo>
                  <a:lnTo>
                    <a:pt x="7527" y="15968"/>
                  </a:lnTo>
                  <a:lnTo>
                    <a:pt x="7838" y="15968"/>
                  </a:lnTo>
                  <a:lnTo>
                    <a:pt x="8106" y="15940"/>
                  </a:lnTo>
                  <a:lnTo>
                    <a:pt x="8373" y="15940"/>
                  </a:lnTo>
                  <a:lnTo>
                    <a:pt x="8640" y="15913"/>
                  </a:lnTo>
                  <a:lnTo>
                    <a:pt x="8907" y="15886"/>
                  </a:lnTo>
                  <a:lnTo>
                    <a:pt x="7794" y="16925"/>
                  </a:lnTo>
                  <a:lnTo>
                    <a:pt x="6769" y="17882"/>
                  </a:lnTo>
                  <a:lnTo>
                    <a:pt x="6057" y="18784"/>
                  </a:lnTo>
                  <a:lnTo>
                    <a:pt x="5612" y="19604"/>
                  </a:lnTo>
                  <a:lnTo>
                    <a:pt x="5389" y="20260"/>
                  </a:lnTo>
                  <a:lnTo>
                    <a:pt x="5567" y="20834"/>
                  </a:lnTo>
                  <a:lnTo>
                    <a:pt x="6057" y="21217"/>
                  </a:lnTo>
                  <a:lnTo>
                    <a:pt x="6948" y="21436"/>
                  </a:lnTo>
                  <a:lnTo>
                    <a:pt x="7883" y="21518"/>
                  </a:lnTo>
                  <a:lnTo>
                    <a:pt x="8774" y="21573"/>
                  </a:lnTo>
                  <a:lnTo>
                    <a:pt x="9709" y="21600"/>
                  </a:lnTo>
                  <a:lnTo>
                    <a:pt x="10689" y="21600"/>
                  </a:lnTo>
                  <a:lnTo>
                    <a:pt x="11668" y="21600"/>
                  </a:lnTo>
                  <a:lnTo>
                    <a:pt x="12604" y="21573"/>
                  </a:lnTo>
                  <a:lnTo>
                    <a:pt x="13539" y="21545"/>
                  </a:lnTo>
                  <a:lnTo>
                    <a:pt x="14385" y="21518"/>
                  </a:lnTo>
                  <a:lnTo>
                    <a:pt x="15231" y="21463"/>
                  </a:lnTo>
                  <a:lnTo>
                    <a:pt x="15988" y="21436"/>
                  </a:lnTo>
                  <a:lnTo>
                    <a:pt x="16656" y="21381"/>
                  </a:lnTo>
                  <a:lnTo>
                    <a:pt x="17280" y="21327"/>
                  </a:lnTo>
                  <a:lnTo>
                    <a:pt x="17770" y="21299"/>
                  </a:lnTo>
                  <a:lnTo>
                    <a:pt x="18126" y="21245"/>
                  </a:lnTo>
                  <a:lnTo>
                    <a:pt x="18349" y="21217"/>
                  </a:lnTo>
                  <a:lnTo>
                    <a:pt x="18438" y="21217"/>
                  </a:lnTo>
                  <a:lnTo>
                    <a:pt x="18349" y="21217"/>
                  </a:lnTo>
                  <a:lnTo>
                    <a:pt x="18037" y="21217"/>
                  </a:lnTo>
                  <a:lnTo>
                    <a:pt x="17592" y="21190"/>
                  </a:lnTo>
                  <a:lnTo>
                    <a:pt x="17013" y="21190"/>
                  </a:lnTo>
                  <a:lnTo>
                    <a:pt x="16300" y="21163"/>
                  </a:lnTo>
                  <a:lnTo>
                    <a:pt x="15543" y="21135"/>
                  </a:lnTo>
                  <a:lnTo>
                    <a:pt x="14697" y="21108"/>
                  </a:lnTo>
                  <a:lnTo>
                    <a:pt x="13851" y="21053"/>
                  </a:lnTo>
                  <a:lnTo>
                    <a:pt x="12960" y="20971"/>
                  </a:lnTo>
                  <a:lnTo>
                    <a:pt x="12114" y="20916"/>
                  </a:lnTo>
                  <a:lnTo>
                    <a:pt x="11312" y="20780"/>
                  </a:lnTo>
                  <a:lnTo>
                    <a:pt x="10600" y="20670"/>
                  </a:lnTo>
                  <a:lnTo>
                    <a:pt x="9932" y="20561"/>
                  </a:lnTo>
                  <a:lnTo>
                    <a:pt x="9486" y="20424"/>
                  </a:lnTo>
                  <a:lnTo>
                    <a:pt x="9085" y="20233"/>
                  </a:lnTo>
                  <a:lnTo>
                    <a:pt x="8907" y="20042"/>
                  </a:lnTo>
                  <a:lnTo>
                    <a:pt x="8863" y="19795"/>
                  </a:lnTo>
                  <a:lnTo>
                    <a:pt x="8952" y="19522"/>
                  </a:lnTo>
                  <a:lnTo>
                    <a:pt x="9085" y="19167"/>
                  </a:lnTo>
                  <a:lnTo>
                    <a:pt x="9353" y="18784"/>
                  </a:lnTo>
                  <a:lnTo>
                    <a:pt x="9709" y="18346"/>
                  </a:lnTo>
                  <a:lnTo>
                    <a:pt x="10110" y="17882"/>
                  </a:lnTo>
                  <a:lnTo>
                    <a:pt x="10600" y="17389"/>
                  </a:lnTo>
                  <a:lnTo>
                    <a:pt x="11179" y="16843"/>
                  </a:lnTo>
                  <a:lnTo>
                    <a:pt x="11802" y="16296"/>
                  </a:lnTo>
                  <a:lnTo>
                    <a:pt x="12470" y="15722"/>
                  </a:lnTo>
                  <a:lnTo>
                    <a:pt x="13227" y="15120"/>
                  </a:lnTo>
                  <a:lnTo>
                    <a:pt x="13984" y="14518"/>
                  </a:lnTo>
                  <a:lnTo>
                    <a:pt x="14786" y="13917"/>
                  </a:lnTo>
                  <a:lnTo>
                    <a:pt x="15632" y="13315"/>
                  </a:lnTo>
                  <a:lnTo>
                    <a:pt x="16523" y="12687"/>
                  </a:lnTo>
                  <a:lnTo>
                    <a:pt x="17414" y="12085"/>
                  </a:lnTo>
                  <a:lnTo>
                    <a:pt x="19106" y="10718"/>
                  </a:lnTo>
                  <a:lnTo>
                    <a:pt x="20264" y="9269"/>
                  </a:lnTo>
                  <a:lnTo>
                    <a:pt x="21021" y="7765"/>
                  </a:lnTo>
                  <a:lnTo>
                    <a:pt x="21466" y="6234"/>
                  </a:lnTo>
                  <a:lnTo>
                    <a:pt x="21600" y="4812"/>
                  </a:lnTo>
                  <a:lnTo>
                    <a:pt x="21555" y="3527"/>
                  </a:lnTo>
                  <a:lnTo>
                    <a:pt x="21422" y="2379"/>
                  </a:lnTo>
                  <a:lnTo>
                    <a:pt x="21155" y="1476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2" name="Shape"/>
            <p:cNvSpPr/>
            <p:nvPr/>
          </p:nvSpPr>
          <p:spPr>
            <a:xfrm>
              <a:off x="681037" y="615950"/>
              <a:ext cx="160338" cy="82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32" y="18277"/>
                  </a:moveTo>
                  <a:lnTo>
                    <a:pt x="10586" y="17238"/>
                  </a:lnTo>
                  <a:lnTo>
                    <a:pt x="8341" y="14954"/>
                  </a:lnTo>
                  <a:lnTo>
                    <a:pt x="6095" y="12254"/>
                  </a:lnTo>
                  <a:lnTo>
                    <a:pt x="4063" y="8931"/>
                  </a:lnTo>
                  <a:lnTo>
                    <a:pt x="2459" y="5608"/>
                  </a:lnTo>
                  <a:lnTo>
                    <a:pt x="1176" y="2700"/>
                  </a:lnTo>
                  <a:lnTo>
                    <a:pt x="321" y="623"/>
                  </a:lnTo>
                  <a:lnTo>
                    <a:pt x="0" y="0"/>
                  </a:lnTo>
                  <a:lnTo>
                    <a:pt x="0" y="623"/>
                  </a:lnTo>
                  <a:lnTo>
                    <a:pt x="107" y="2285"/>
                  </a:lnTo>
                  <a:lnTo>
                    <a:pt x="428" y="4777"/>
                  </a:lnTo>
                  <a:lnTo>
                    <a:pt x="1069" y="7477"/>
                  </a:lnTo>
                  <a:lnTo>
                    <a:pt x="1925" y="10800"/>
                  </a:lnTo>
                  <a:lnTo>
                    <a:pt x="3315" y="13915"/>
                  </a:lnTo>
                  <a:lnTo>
                    <a:pt x="5240" y="17031"/>
                  </a:lnTo>
                  <a:lnTo>
                    <a:pt x="7699" y="19523"/>
                  </a:lnTo>
                  <a:lnTo>
                    <a:pt x="10586" y="20977"/>
                  </a:lnTo>
                  <a:lnTo>
                    <a:pt x="13152" y="21600"/>
                  </a:lnTo>
                  <a:lnTo>
                    <a:pt x="15612" y="21392"/>
                  </a:lnTo>
                  <a:lnTo>
                    <a:pt x="17644" y="20562"/>
                  </a:lnTo>
                  <a:lnTo>
                    <a:pt x="19354" y="19731"/>
                  </a:lnTo>
                  <a:lnTo>
                    <a:pt x="20531" y="18485"/>
                  </a:lnTo>
                  <a:lnTo>
                    <a:pt x="21386" y="17654"/>
                  </a:lnTo>
                  <a:lnTo>
                    <a:pt x="21600" y="17446"/>
                  </a:lnTo>
                  <a:lnTo>
                    <a:pt x="21493" y="17446"/>
                  </a:lnTo>
                  <a:lnTo>
                    <a:pt x="21172" y="17654"/>
                  </a:lnTo>
                  <a:lnTo>
                    <a:pt x="20424" y="18069"/>
                  </a:lnTo>
                  <a:lnTo>
                    <a:pt x="19568" y="18277"/>
                  </a:lnTo>
                  <a:lnTo>
                    <a:pt x="18392" y="18485"/>
                  </a:lnTo>
                  <a:lnTo>
                    <a:pt x="16788" y="18485"/>
                  </a:lnTo>
                  <a:lnTo>
                    <a:pt x="14970" y="18485"/>
                  </a:lnTo>
                  <a:lnTo>
                    <a:pt x="12832" y="18277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3" name="Shape"/>
            <p:cNvSpPr/>
            <p:nvPr/>
          </p:nvSpPr>
          <p:spPr>
            <a:xfrm>
              <a:off x="584200" y="1101725"/>
              <a:ext cx="26988" cy="17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1" y="0"/>
                  </a:moveTo>
                  <a:lnTo>
                    <a:pt x="6789" y="1029"/>
                  </a:lnTo>
                  <a:lnTo>
                    <a:pt x="3086" y="3086"/>
                  </a:lnTo>
                  <a:lnTo>
                    <a:pt x="617" y="6171"/>
                  </a:lnTo>
                  <a:lnTo>
                    <a:pt x="0" y="10286"/>
                  </a:lnTo>
                  <a:lnTo>
                    <a:pt x="617" y="15429"/>
                  </a:lnTo>
                  <a:lnTo>
                    <a:pt x="3086" y="18514"/>
                  </a:lnTo>
                  <a:lnTo>
                    <a:pt x="6789" y="20571"/>
                  </a:lnTo>
                  <a:lnTo>
                    <a:pt x="10491" y="21600"/>
                  </a:lnTo>
                  <a:lnTo>
                    <a:pt x="14811" y="20571"/>
                  </a:lnTo>
                  <a:lnTo>
                    <a:pt x="18514" y="18514"/>
                  </a:lnTo>
                  <a:lnTo>
                    <a:pt x="20983" y="15429"/>
                  </a:lnTo>
                  <a:lnTo>
                    <a:pt x="21600" y="10286"/>
                  </a:lnTo>
                  <a:lnTo>
                    <a:pt x="20983" y="6171"/>
                  </a:lnTo>
                  <a:lnTo>
                    <a:pt x="18514" y="3086"/>
                  </a:lnTo>
                  <a:lnTo>
                    <a:pt x="14811" y="1029"/>
                  </a:lnTo>
                  <a:lnTo>
                    <a:pt x="1049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4" name="Shape"/>
            <p:cNvSpPr/>
            <p:nvPr/>
          </p:nvSpPr>
          <p:spPr>
            <a:xfrm>
              <a:off x="1162050" y="377825"/>
              <a:ext cx="219075" cy="269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9" y="20389"/>
                  </a:moveTo>
                  <a:lnTo>
                    <a:pt x="16180" y="20262"/>
                  </a:lnTo>
                  <a:lnTo>
                    <a:pt x="15866" y="19880"/>
                  </a:lnTo>
                  <a:lnTo>
                    <a:pt x="15159" y="19370"/>
                  </a:lnTo>
                  <a:lnTo>
                    <a:pt x="14374" y="18796"/>
                  </a:lnTo>
                  <a:lnTo>
                    <a:pt x="13117" y="18159"/>
                  </a:lnTo>
                  <a:lnTo>
                    <a:pt x="11546" y="17650"/>
                  </a:lnTo>
                  <a:lnTo>
                    <a:pt x="9661" y="17331"/>
                  </a:lnTo>
                  <a:lnTo>
                    <a:pt x="7305" y="17204"/>
                  </a:lnTo>
                  <a:lnTo>
                    <a:pt x="6755" y="17204"/>
                  </a:lnTo>
                  <a:lnTo>
                    <a:pt x="6127" y="17331"/>
                  </a:lnTo>
                  <a:lnTo>
                    <a:pt x="5577" y="17395"/>
                  </a:lnTo>
                  <a:lnTo>
                    <a:pt x="5027" y="17458"/>
                  </a:lnTo>
                  <a:lnTo>
                    <a:pt x="4477" y="17522"/>
                  </a:lnTo>
                  <a:lnTo>
                    <a:pt x="4006" y="17586"/>
                  </a:lnTo>
                  <a:lnTo>
                    <a:pt x="3456" y="17713"/>
                  </a:lnTo>
                  <a:lnTo>
                    <a:pt x="3063" y="17841"/>
                  </a:lnTo>
                  <a:lnTo>
                    <a:pt x="3456" y="17650"/>
                  </a:lnTo>
                  <a:lnTo>
                    <a:pt x="4006" y="17395"/>
                  </a:lnTo>
                  <a:lnTo>
                    <a:pt x="4477" y="17140"/>
                  </a:lnTo>
                  <a:lnTo>
                    <a:pt x="4948" y="16949"/>
                  </a:lnTo>
                  <a:lnTo>
                    <a:pt x="5420" y="16758"/>
                  </a:lnTo>
                  <a:lnTo>
                    <a:pt x="5891" y="16566"/>
                  </a:lnTo>
                  <a:lnTo>
                    <a:pt x="6519" y="16439"/>
                  </a:lnTo>
                  <a:lnTo>
                    <a:pt x="6991" y="16248"/>
                  </a:lnTo>
                  <a:lnTo>
                    <a:pt x="9111" y="15738"/>
                  </a:lnTo>
                  <a:lnTo>
                    <a:pt x="10996" y="15738"/>
                  </a:lnTo>
                  <a:lnTo>
                    <a:pt x="12646" y="15929"/>
                  </a:lnTo>
                  <a:lnTo>
                    <a:pt x="14217" y="16439"/>
                  </a:lnTo>
                  <a:lnTo>
                    <a:pt x="15316" y="16949"/>
                  </a:lnTo>
                  <a:lnTo>
                    <a:pt x="16259" y="17458"/>
                  </a:lnTo>
                  <a:lnTo>
                    <a:pt x="16887" y="17841"/>
                  </a:lnTo>
                  <a:lnTo>
                    <a:pt x="17044" y="17968"/>
                  </a:lnTo>
                  <a:lnTo>
                    <a:pt x="16966" y="17841"/>
                  </a:lnTo>
                  <a:lnTo>
                    <a:pt x="16573" y="17458"/>
                  </a:lnTo>
                  <a:lnTo>
                    <a:pt x="15945" y="16885"/>
                  </a:lnTo>
                  <a:lnTo>
                    <a:pt x="15081" y="16312"/>
                  </a:lnTo>
                  <a:lnTo>
                    <a:pt x="13824" y="15674"/>
                  </a:lnTo>
                  <a:lnTo>
                    <a:pt x="12253" y="15228"/>
                  </a:lnTo>
                  <a:lnTo>
                    <a:pt x="10447" y="14782"/>
                  </a:lnTo>
                  <a:lnTo>
                    <a:pt x="8090" y="14719"/>
                  </a:lnTo>
                  <a:lnTo>
                    <a:pt x="7462" y="14719"/>
                  </a:lnTo>
                  <a:lnTo>
                    <a:pt x="6912" y="14782"/>
                  </a:lnTo>
                  <a:lnTo>
                    <a:pt x="6362" y="14846"/>
                  </a:lnTo>
                  <a:lnTo>
                    <a:pt x="5734" y="14910"/>
                  </a:lnTo>
                  <a:lnTo>
                    <a:pt x="5263" y="14973"/>
                  </a:lnTo>
                  <a:lnTo>
                    <a:pt x="4713" y="15165"/>
                  </a:lnTo>
                  <a:lnTo>
                    <a:pt x="4241" y="15292"/>
                  </a:lnTo>
                  <a:lnTo>
                    <a:pt x="3849" y="15419"/>
                  </a:lnTo>
                  <a:lnTo>
                    <a:pt x="4241" y="15228"/>
                  </a:lnTo>
                  <a:lnTo>
                    <a:pt x="4713" y="14910"/>
                  </a:lnTo>
                  <a:lnTo>
                    <a:pt x="5263" y="14719"/>
                  </a:lnTo>
                  <a:lnTo>
                    <a:pt x="5655" y="14527"/>
                  </a:lnTo>
                  <a:lnTo>
                    <a:pt x="6127" y="14336"/>
                  </a:lnTo>
                  <a:lnTo>
                    <a:pt x="6676" y="14145"/>
                  </a:lnTo>
                  <a:lnTo>
                    <a:pt x="7226" y="13890"/>
                  </a:lnTo>
                  <a:lnTo>
                    <a:pt x="7776" y="13763"/>
                  </a:lnTo>
                  <a:lnTo>
                    <a:pt x="9818" y="13317"/>
                  </a:lnTo>
                  <a:lnTo>
                    <a:pt x="11782" y="13253"/>
                  </a:lnTo>
                  <a:lnTo>
                    <a:pt x="13431" y="13508"/>
                  </a:lnTo>
                  <a:lnTo>
                    <a:pt x="14924" y="13890"/>
                  </a:lnTo>
                  <a:lnTo>
                    <a:pt x="16102" y="14464"/>
                  </a:lnTo>
                  <a:lnTo>
                    <a:pt x="17044" y="14910"/>
                  </a:lnTo>
                  <a:lnTo>
                    <a:pt x="17594" y="15356"/>
                  </a:lnTo>
                  <a:lnTo>
                    <a:pt x="17751" y="15483"/>
                  </a:lnTo>
                  <a:lnTo>
                    <a:pt x="17673" y="15356"/>
                  </a:lnTo>
                  <a:lnTo>
                    <a:pt x="17359" y="14910"/>
                  </a:lnTo>
                  <a:lnTo>
                    <a:pt x="16652" y="14464"/>
                  </a:lnTo>
                  <a:lnTo>
                    <a:pt x="15866" y="13827"/>
                  </a:lnTo>
                  <a:lnTo>
                    <a:pt x="14609" y="13253"/>
                  </a:lnTo>
                  <a:lnTo>
                    <a:pt x="13039" y="12680"/>
                  </a:lnTo>
                  <a:lnTo>
                    <a:pt x="11153" y="12361"/>
                  </a:lnTo>
                  <a:lnTo>
                    <a:pt x="8876" y="12297"/>
                  </a:lnTo>
                  <a:lnTo>
                    <a:pt x="8247" y="12297"/>
                  </a:lnTo>
                  <a:lnTo>
                    <a:pt x="7697" y="12361"/>
                  </a:lnTo>
                  <a:lnTo>
                    <a:pt x="7069" y="12425"/>
                  </a:lnTo>
                  <a:lnTo>
                    <a:pt x="6598" y="12488"/>
                  </a:lnTo>
                  <a:lnTo>
                    <a:pt x="5969" y="12552"/>
                  </a:lnTo>
                  <a:lnTo>
                    <a:pt x="5498" y="12616"/>
                  </a:lnTo>
                  <a:lnTo>
                    <a:pt x="5105" y="12743"/>
                  </a:lnTo>
                  <a:lnTo>
                    <a:pt x="4556" y="12935"/>
                  </a:lnTo>
                  <a:lnTo>
                    <a:pt x="5027" y="12680"/>
                  </a:lnTo>
                  <a:lnTo>
                    <a:pt x="5498" y="12425"/>
                  </a:lnTo>
                  <a:lnTo>
                    <a:pt x="5969" y="12234"/>
                  </a:lnTo>
                  <a:lnTo>
                    <a:pt x="6441" y="12042"/>
                  </a:lnTo>
                  <a:lnTo>
                    <a:pt x="6912" y="11851"/>
                  </a:lnTo>
                  <a:lnTo>
                    <a:pt x="7383" y="11596"/>
                  </a:lnTo>
                  <a:lnTo>
                    <a:pt x="8012" y="11469"/>
                  </a:lnTo>
                  <a:lnTo>
                    <a:pt x="8483" y="11278"/>
                  </a:lnTo>
                  <a:lnTo>
                    <a:pt x="10604" y="10832"/>
                  </a:lnTo>
                  <a:lnTo>
                    <a:pt x="12489" y="10832"/>
                  </a:lnTo>
                  <a:lnTo>
                    <a:pt x="14217" y="11023"/>
                  </a:lnTo>
                  <a:lnTo>
                    <a:pt x="15709" y="11469"/>
                  </a:lnTo>
                  <a:lnTo>
                    <a:pt x="16887" y="12042"/>
                  </a:lnTo>
                  <a:lnTo>
                    <a:pt x="17751" y="12488"/>
                  </a:lnTo>
                  <a:lnTo>
                    <a:pt x="18380" y="12935"/>
                  </a:lnTo>
                  <a:lnTo>
                    <a:pt x="18537" y="13062"/>
                  </a:lnTo>
                  <a:lnTo>
                    <a:pt x="18458" y="12935"/>
                  </a:lnTo>
                  <a:lnTo>
                    <a:pt x="18065" y="12488"/>
                  </a:lnTo>
                  <a:lnTo>
                    <a:pt x="17437" y="12042"/>
                  </a:lnTo>
                  <a:lnTo>
                    <a:pt x="16573" y="11405"/>
                  </a:lnTo>
                  <a:lnTo>
                    <a:pt x="15316" y="10832"/>
                  </a:lnTo>
                  <a:lnTo>
                    <a:pt x="13745" y="10258"/>
                  </a:lnTo>
                  <a:lnTo>
                    <a:pt x="11939" y="9940"/>
                  </a:lnTo>
                  <a:lnTo>
                    <a:pt x="9583" y="9812"/>
                  </a:lnTo>
                  <a:lnTo>
                    <a:pt x="9033" y="9876"/>
                  </a:lnTo>
                  <a:lnTo>
                    <a:pt x="8404" y="9876"/>
                  </a:lnTo>
                  <a:lnTo>
                    <a:pt x="7855" y="9940"/>
                  </a:lnTo>
                  <a:lnTo>
                    <a:pt x="7305" y="10004"/>
                  </a:lnTo>
                  <a:lnTo>
                    <a:pt x="6833" y="10131"/>
                  </a:lnTo>
                  <a:lnTo>
                    <a:pt x="6362" y="10195"/>
                  </a:lnTo>
                  <a:lnTo>
                    <a:pt x="5812" y="10322"/>
                  </a:lnTo>
                  <a:lnTo>
                    <a:pt x="5420" y="10450"/>
                  </a:lnTo>
                  <a:lnTo>
                    <a:pt x="5812" y="10258"/>
                  </a:lnTo>
                  <a:lnTo>
                    <a:pt x="6362" y="10004"/>
                  </a:lnTo>
                  <a:lnTo>
                    <a:pt x="6755" y="9812"/>
                  </a:lnTo>
                  <a:lnTo>
                    <a:pt x="7226" y="9558"/>
                  </a:lnTo>
                  <a:lnTo>
                    <a:pt x="7776" y="9366"/>
                  </a:lnTo>
                  <a:lnTo>
                    <a:pt x="8247" y="9175"/>
                  </a:lnTo>
                  <a:lnTo>
                    <a:pt x="8719" y="9048"/>
                  </a:lnTo>
                  <a:lnTo>
                    <a:pt x="9268" y="8857"/>
                  </a:lnTo>
                  <a:lnTo>
                    <a:pt x="11311" y="8347"/>
                  </a:lnTo>
                  <a:lnTo>
                    <a:pt x="13274" y="8347"/>
                  </a:lnTo>
                  <a:lnTo>
                    <a:pt x="14924" y="8602"/>
                  </a:lnTo>
                  <a:lnTo>
                    <a:pt x="16416" y="8984"/>
                  </a:lnTo>
                  <a:lnTo>
                    <a:pt x="17594" y="9494"/>
                  </a:lnTo>
                  <a:lnTo>
                    <a:pt x="18537" y="10004"/>
                  </a:lnTo>
                  <a:lnTo>
                    <a:pt x="19087" y="10386"/>
                  </a:lnTo>
                  <a:lnTo>
                    <a:pt x="19244" y="10513"/>
                  </a:lnTo>
                  <a:lnTo>
                    <a:pt x="19165" y="10386"/>
                  </a:lnTo>
                  <a:lnTo>
                    <a:pt x="18851" y="10004"/>
                  </a:lnTo>
                  <a:lnTo>
                    <a:pt x="18223" y="9494"/>
                  </a:lnTo>
                  <a:lnTo>
                    <a:pt x="17359" y="8920"/>
                  </a:lnTo>
                  <a:lnTo>
                    <a:pt x="16102" y="8283"/>
                  </a:lnTo>
                  <a:lnTo>
                    <a:pt x="14531" y="7773"/>
                  </a:lnTo>
                  <a:lnTo>
                    <a:pt x="12646" y="7455"/>
                  </a:lnTo>
                  <a:lnTo>
                    <a:pt x="10368" y="7327"/>
                  </a:lnTo>
                  <a:lnTo>
                    <a:pt x="9740" y="7327"/>
                  </a:lnTo>
                  <a:lnTo>
                    <a:pt x="9190" y="7455"/>
                  </a:lnTo>
                  <a:lnTo>
                    <a:pt x="8561" y="7519"/>
                  </a:lnTo>
                  <a:lnTo>
                    <a:pt x="8090" y="7582"/>
                  </a:lnTo>
                  <a:lnTo>
                    <a:pt x="7619" y="7646"/>
                  </a:lnTo>
                  <a:lnTo>
                    <a:pt x="7069" y="7773"/>
                  </a:lnTo>
                  <a:lnTo>
                    <a:pt x="6598" y="7837"/>
                  </a:lnTo>
                  <a:lnTo>
                    <a:pt x="6127" y="7965"/>
                  </a:lnTo>
                  <a:lnTo>
                    <a:pt x="6598" y="7773"/>
                  </a:lnTo>
                  <a:lnTo>
                    <a:pt x="7069" y="7582"/>
                  </a:lnTo>
                  <a:lnTo>
                    <a:pt x="7462" y="7327"/>
                  </a:lnTo>
                  <a:lnTo>
                    <a:pt x="8012" y="7136"/>
                  </a:lnTo>
                  <a:lnTo>
                    <a:pt x="8483" y="6945"/>
                  </a:lnTo>
                  <a:lnTo>
                    <a:pt x="9033" y="6754"/>
                  </a:lnTo>
                  <a:lnTo>
                    <a:pt x="9504" y="6563"/>
                  </a:lnTo>
                  <a:lnTo>
                    <a:pt x="9975" y="6372"/>
                  </a:lnTo>
                  <a:lnTo>
                    <a:pt x="12096" y="5862"/>
                  </a:lnTo>
                  <a:lnTo>
                    <a:pt x="13981" y="5862"/>
                  </a:lnTo>
                  <a:lnTo>
                    <a:pt x="15788" y="6053"/>
                  </a:lnTo>
                  <a:lnTo>
                    <a:pt x="17280" y="6563"/>
                  </a:lnTo>
                  <a:lnTo>
                    <a:pt x="18458" y="7073"/>
                  </a:lnTo>
                  <a:lnTo>
                    <a:pt x="19322" y="7582"/>
                  </a:lnTo>
                  <a:lnTo>
                    <a:pt x="19951" y="7965"/>
                  </a:lnTo>
                  <a:lnTo>
                    <a:pt x="20108" y="8092"/>
                  </a:lnTo>
                  <a:lnTo>
                    <a:pt x="20029" y="7965"/>
                  </a:lnTo>
                  <a:lnTo>
                    <a:pt x="19636" y="7582"/>
                  </a:lnTo>
                  <a:lnTo>
                    <a:pt x="19008" y="7073"/>
                  </a:lnTo>
                  <a:lnTo>
                    <a:pt x="18065" y="6499"/>
                  </a:lnTo>
                  <a:lnTo>
                    <a:pt x="16887" y="5862"/>
                  </a:lnTo>
                  <a:lnTo>
                    <a:pt x="15316" y="5352"/>
                  </a:lnTo>
                  <a:lnTo>
                    <a:pt x="13431" y="4970"/>
                  </a:lnTo>
                  <a:lnTo>
                    <a:pt x="11075" y="4906"/>
                  </a:lnTo>
                  <a:lnTo>
                    <a:pt x="10525" y="4906"/>
                  </a:lnTo>
                  <a:lnTo>
                    <a:pt x="9897" y="4970"/>
                  </a:lnTo>
                  <a:lnTo>
                    <a:pt x="9425" y="5034"/>
                  </a:lnTo>
                  <a:lnTo>
                    <a:pt x="8876" y="5097"/>
                  </a:lnTo>
                  <a:lnTo>
                    <a:pt x="8326" y="5161"/>
                  </a:lnTo>
                  <a:lnTo>
                    <a:pt x="7855" y="5288"/>
                  </a:lnTo>
                  <a:lnTo>
                    <a:pt x="7305" y="5416"/>
                  </a:lnTo>
                  <a:lnTo>
                    <a:pt x="6912" y="5543"/>
                  </a:lnTo>
                  <a:lnTo>
                    <a:pt x="7305" y="5352"/>
                  </a:lnTo>
                  <a:lnTo>
                    <a:pt x="7855" y="5034"/>
                  </a:lnTo>
                  <a:lnTo>
                    <a:pt x="8247" y="4842"/>
                  </a:lnTo>
                  <a:lnTo>
                    <a:pt x="8719" y="4651"/>
                  </a:lnTo>
                  <a:lnTo>
                    <a:pt x="9268" y="4460"/>
                  </a:lnTo>
                  <a:lnTo>
                    <a:pt x="9740" y="4269"/>
                  </a:lnTo>
                  <a:lnTo>
                    <a:pt x="10289" y="4078"/>
                  </a:lnTo>
                  <a:lnTo>
                    <a:pt x="10839" y="3887"/>
                  </a:lnTo>
                  <a:lnTo>
                    <a:pt x="12960" y="3441"/>
                  </a:lnTo>
                  <a:lnTo>
                    <a:pt x="14845" y="3441"/>
                  </a:lnTo>
                  <a:lnTo>
                    <a:pt x="16495" y="3632"/>
                  </a:lnTo>
                  <a:lnTo>
                    <a:pt x="17987" y="4078"/>
                  </a:lnTo>
                  <a:lnTo>
                    <a:pt x="19165" y="4651"/>
                  </a:lnTo>
                  <a:lnTo>
                    <a:pt x="20108" y="5097"/>
                  </a:lnTo>
                  <a:lnTo>
                    <a:pt x="20657" y="5543"/>
                  </a:lnTo>
                  <a:lnTo>
                    <a:pt x="20893" y="5671"/>
                  </a:lnTo>
                  <a:lnTo>
                    <a:pt x="20736" y="5543"/>
                  </a:lnTo>
                  <a:lnTo>
                    <a:pt x="20343" y="5097"/>
                  </a:lnTo>
                  <a:lnTo>
                    <a:pt x="19793" y="4588"/>
                  </a:lnTo>
                  <a:lnTo>
                    <a:pt x="18851" y="3950"/>
                  </a:lnTo>
                  <a:lnTo>
                    <a:pt x="17594" y="3377"/>
                  </a:lnTo>
                  <a:lnTo>
                    <a:pt x="16102" y="2867"/>
                  </a:lnTo>
                  <a:lnTo>
                    <a:pt x="14217" y="2485"/>
                  </a:lnTo>
                  <a:lnTo>
                    <a:pt x="11860" y="2421"/>
                  </a:lnTo>
                  <a:lnTo>
                    <a:pt x="11232" y="2421"/>
                  </a:lnTo>
                  <a:lnTo>
                    <a:pt x="10682" y="2485"/>
                  </a:lnTo>
                  <a:lnTo>
                    <a:pt x="10211" y="2549"/>
                  </a:lnTo>
                  <a:lnTo>
                    <a:pt x="9583" y="2612"/>
                  </a:lnTo>
                  <a:lnTo>
                    <a:pt x="9111" y="2676"/>
                  </a:lnTo>
                  <a:lnTo>
                    <a:pt x="8561" y="2804"/>
                  </a:lnTo>
                  <a:lnTo>
                    <a:pt x="8090" y="2931"/>
                  </a:lnTo>
                  <a:lnTo>
                    <a:pt x="7697" y="3122"/>
                  </a:lnTo>
                  <a:lnTo>
                    <a:pt x="8090" y="2867"/>
                  </a:lnTo>
                  <a:lnTo>
                    <a:pt x="8561" y="2612"/>
                  </a:lnTo>
                  <a:lnTo>
                    <a:pt x="9111" y="2421"/>
                  </a:lnTo>
                  <a:lnTo>
                    <a:pt x="9504" y="2230"/>
                  </a:lnTo>
                  <a:lnTo>
                    <a:pt x="9975" y="2039"/>
                  </a:lnTo>
                  <a:lnTo>
                    <a:pt x="10525" y="1784"/>
                  </a:lnTo>
                  <a:lnTo>
                    <a:pt x="11075" y="1593"/>
                  </a:lnTo>
                  <a:lnTo>
                    <a:pt x="11625" y="1465"/>
                  </a:lnTo>
                  <a:lnTo>
                    <a:pt x="13667" y="1019"/>
                  </a:lnTo>
                  <a:lnTo>
                    <a:pt x="15631" y="956"/>
                  </a:lnTo>
                  <a:lnTo>
                    <a:pt x="17280" y="1211"/>
                  </a:lnTo>
                  <a:lnTo>
                    <a:pt x="18772" y="1593"/>
                  </a:lnTo>
                  <a:lnTo>
                    <a:pt x="19951" y="2166"/>
                  </a:lnTo>
                  <a:lnTo>
                    <a:pt x="20893" y="2612"/>
                  </a:lnTo>
                  <a:lnTo>
                    <a:pt x="21443" y="2995"/>
                  </a:lnTo>
                  <a:lnTo>
                    <a:pt x="21600" y="3186"/>
                  </a:lnTo>
                  <a:lnTo>
                    <a:pt x="21521" y="2995"/>
                  </a:lnTo>
                  <a:lnTo>
                    <a:pt x="21129" y="2612"/>
                  </a:lnTo>
                  <a:lnTo>
                    <a:pt x="20500" y="2166"/>
                  </a:lnTo>
                  <a:lnTo>
                    <a:pt x="19636" y="1529"/>
                  </a:lnTo>
                  <a:lnTo>
                    <a:pt x="18380" y="956"/>
                  </a:lnTo>
                  <a:lnTo>
                    <a:pt x="16887" y="382"/>
                  </a:lnTo>
                  <a:lnTo>
                    <a:pt x="14924" y="64"/>
                  </a:lnTo>
                  <a:lnTo>
                    <a:pt x="12567" y="0"/>
                  </a:lnTo>
                  <a:lnTo>
                    <a:pt x="11153" y="64"/>
                  </a:lnTo>
                  <a:lnTo>
                    <a:pt x="9818" y="255"/>
                  </a:lnTo>
                  <a:lnTo>
                    <a:pt x="8640" y="510"/>
                  </a:lnTo>
                  <a:lnTo>
                    <a:pt x="7619" y="892"/>
                  </a:lnTo>
                  <a:lnTo>
                    <a:pt x="6676" y="1274"/>
                  </a:lnTo>
                  <a:lnTo>
                    <a:pt x="5812" y="1657"/>
                  </a:lnTo>
                  <a:lnTo>
                    <a:pt x="5184" y="2103"/>
                  </a:lnTo>
                  <a:lnTo>
                    <a:pt x="4556" y="2485"/>
                  </a:lnTo>
                  <a:lnTo>
                    <a:pt x="4791" y="4078"/>
                  </a:lnTo>
                  <a:lnTo>
                    <a:pt x="5027" y="5798"/>
                  </a:lnTo>
                  <a:lnTo>
                    <a:pt x="5105" y="7519"/>
                  </a:lnTo>
                  <a:lnTo>
                    <a:pt x="5105" y="9112"/>
                  </a:lnTo>
                  <a:lnTo>
                    <a:pt x="4791" y="10768"/>
                  </a:lnTo>
                  <a:lnTo>
                    <a:pt x="4477" y="12234"/>
                  </a:lnTo>
                  <a:lnTo>
                    <a:pt x="3927" y="13572"/>
                  </a:lnTo>
                  <a:lnTo>
                    <a:pt x="3063" y="14719"/>
                  </a:lnTo>
                  <a:lnTo>
                    <a:pt x="2121" y="15738"/>
                  </a:lnTo>
                  <a:lnTo>
                    <a:pt x="1492" y="16758"/>
                  </a:lnTo>
                  <a:lnTo>
                    <a:pt x="943" y="17713"/>
                  </a:lnTo>
                  <a:lnTo>
                    <a:pt x="550" y="18669"/>
                  </a:lnTo>
                  <a:lnTo>
                    <a:pt x="236" y="19497"/>
                  </a:lnTo>
                  <a:lnTo>
                    <a:pt x="79" y="20262"/>
                  </a:lnTo>
                  <a:lnTo>
                    <a:pt x="0" y="20963"/>
                  </a:lnTo>
                  <a:lnTo>
                    <a:pt x="0" y="21600"/>
                  </a:lnTo>
                  <a:lnTo>
                    <a:pt x="628" y="21218"/>
                  </a:lnTo>
                  <a:lnTo>
                    <a:pt x="1335" y="20835"/>
                  </a:lnTo>
                  <a:lnTo>
                    <a:pt x="2042" y="20453"/>
                  </a:lnTo>
                  <a:lnTo>
                    <a:pt x="2828" y="20071"/>
                  </a:lnTo>
                  <a:lnTo>
                    <a:pt x="3613" y="19688"/>
                  </a:lnTo>
                  <a:lnTo>
                    <a:pt x="4399" y="19306"/>
                  </a:lnTo>
                  <a:lnTo>
                    <a:pt x="5341" y="18988"/>
                  </a:lnTo>
                  <a:lnTo>
                    <a:pt x="6284" y="18733"/>
                  </a:lnTo>
                  <a:lnTo>
                    <a:pt x="8326" y="18223"/>
                  </a:lnTo>
                  <a:lnTo>
                    <a:pt x="10289" y="18159"/>
                  </a:lnTo>
                  <a:lnTo>
                    <a:pt x="11939" y="18478"/>
                  </a:lnTo>
                  <a:lnTo>
                    <a:pt x="13431" y="18860"/>
                  </a:lnTo>
                  <a:lnTo>
                    <a:pt x="14609" y="19370"/>
                  </a:lnTo>
                  <a:lnTo>
                    <a:pt x="15552" y="19880"/>
                  </a:lnTo>
                  <a:lnTo>
                    <a:pt x="16102" y="20262"/>
                  </a:lnTo>
                  <a:lnTo>
                    <a:pt x="16259" y="2038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5" name="Shape"/>
            <p:cNvSpPr/>
            <p:nvPr/>
          </p:nvSpPr>
          <p:spPr>
            <a:xfrm>
              <a:off x="1079500" y="738187"/>
              <a:ext cx="192088" cy="74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14" y="450"/>
                  </a:moveTo>
                  <a:lnTo>
                    <a:pt x="8658" y="1800"/>
                  </a:lnTo>
                  <a:lnTo>
                    <a:pt x="6337" y="3825"/>
                  </a:lnTo>
                  <a:lnTo>
                    <a:pt x="4374" y="6975"/>
                  </a:lnTo>
                  <a:lnTo>
                    <a:pt x="2767" y="10125"/>
                  </a:lnTo>
                  <a:lnTo>
                    <a:pt x="1517" y="13500"/>
                  </a:lnTo>
                  <a:lnTo>
                    <a:pt x="625" y="15975"/>
                  </a:lnTo>
                  <a:lnTo>
                    <a:pt x="179" y="18000"/>
                  </a:lnTo>
                  <a:lnTo>
                    <a:pt x="0" y="18675"/>
                  </a:lnTo>
                  <a:lnTo>
                    <a:pt x="1696" y="21150"/>
                  </a:lnTo>
                  <a:lnTo>
                    <a:pt x="5266" y="21600"/>
                  </a:lnTo>
                  <a:lnTo>
                    <a:pt x="5623" y="20700"/>
                  </a:lnTo>
                  <a:lnTo>
                    <a:pt x="6516" y="18900"/>
                  </a:lnTo>
                  <a:lnTo>
                    <a:pt x="7408" y="16425"/>
                  </a:lnTo>
                  <a:lnTo>
                    <a:pt x="7676" y="13950"/>
                  </a:lnTo>
                  <a:lnTo>
                    <a:pt x="7408" y="12375"/>
                  </a:lnTo>
                  <a:lnTo>
                    <a:pt x="6783" y="12375"/>
                  </a:lnTo>
                  <a:lnTo>
                    <a:pt x="6159" y="13725"/>
                  </a:lnTo>
                  <a:lnTo>
                    <a:pt x="5445" y="15300"/>
                  </a:lnTo>
                  <a:lnTo>
                    <a:pt x="4998" y="15975"/>
                  </a:lnTo>
                  <a:lnTo>
                    <a:pt x="4641" y="15750"/>
                  </a:lnTo>
                  <a:lnTo>
                    <a:pt x="4374" y="15075"/>
                  </a:lnTo>
                  <a:lnTo>
                    <a:pt x="4284" y="14625"/>
                  </a:lnTo>
                  <a:lnTo>
                    <a:pt x="4374" y="14400"/>
                  </a:lnTo>
                  <a:lnTo>
                    <a:pt x="4641" y="13725"/>
                  </a:lnTo>
                  <a:lnTo>
                    <a:pt x="4998" y="12600"/>
                  </a:lnTo>
                  <a:lnTo>
                    <a:pt x="5623" y="11250"/>
                  </a:lnTo>
                  <a:lnTo>
                    <a:pt x="6516" y="9900"/>
                  </a:lnTo>
                  <a:lnTo>
                    <a:pt x="7587" y="8325"/>
                  </a:lnTo>
                  <a:lnTo>
                    <a:pt x="8926" y="6750"/>
                  </a:lnTo>
                  <a:lnTo>
                    <a:pt x="10443" y="5175"/>
                  </a:lnTo>
                  <a:lnTo>
                    <a:pt x="12228" y="4050"/>
                  </a:lnTo>
                  <a:lnTo>
                    <a:pt x="14013" y="3150"/>
                  </a:lnTo>
                  <a:lnTo>
                    <a:pt x="15888" y="2700"/>
                  </a:lnTo>
                  <a:lnTo>
                    <a:pt x="17673" y="2475"/>
                  </a:lnTo>
                  <a:lnTo>
                    <a:pt x="19190" y="2250"/>
                  </a:lnTo>
                  <a:lnTo>
                    <a:pt x="20440" y="2250"/>
                  </a:lnTo>
                  <a:lnTo>
                    <a:pt x="21332" y="2475"/>
                  </a:lnTo>
                  <a:lnTo>
                    <a:pt x="21600" y="2475"/>
                  </a:lnTo>
                  <a:lnTo>
                    <a:pt x="21511" y="2250"/>
                  </a:lnTo>
                  <a:lnTo>
                    <a:pt x="21154" y="2025"/>
                  </a:lnTo>
                  <a:lnTo>
                    <a:pt x="20529" y="1350"/>
                  </a:lnTo>
                  <a:lnTo>
                    <a:pt x="19636" y="675"/>
                  </a:lnTo>
                  <a:lnTo>
                    <a:pt x="18298" y="225"/>
                  </a:lnTo>
                  <a:lnTo>
                    <a:pt x="16512" y="0"/>
                  </a:lnTo>
                  <a:lnTo>
                    <a:pt x="14281" y="0"/>
                  </a:lnTo>
                  <a:lnTo>
                    <a:pt x="11514" y="45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6" name="Shape"/>
            <p:cNvSpPr/>
            <p:nvPr/>
          </p:nvSpPr>
          <p:spPr>
            <a:xfrm>
              <a:off x="1160462" y="765175"/>
              <a:ext cx="85726" cy="2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90" y="0"/>
                  </a:moveTo>
                  <a:lnTo>
                    <a:pt x="7469" y="771"/>
                  </a:lnTo>
                  <a:lnTo>
                    <a:pt x="5652" y="2314"/>
                  </a:lnTo>
                  <a:lnTo>
                    <a:pt x="4239" y="3857"/>
                  </a:lnTo>
                  <a:lnTo>
                    <a:pt x="3230" y="6171"/>
                  </a:lnTo>
                  <a:lnTo>
                    <a:pt x="2019" y="7714"/>
                  </a:lnTo>
                  <a:lnTo>
                    <a:pt x="1413" y="9257"/>
                  </a:lnTo>
                  <a:lnTo>
                    <a:pt x="1211" y="10800"/>
                  </a:lnTo>
                  <a:lnTo>
                    <a:pt x="1009" y="10800"/>
                  </a:lnTo>
                  <a:lnTo>
                    <a:pt x="1009" y="11571"/>
                  </a:lnTo>
                  <a:lnTo>
                    <a:pt x="807" y="12343"/>
                  </a:lnTo>
                  <a:lnTo>
                    <a:pt x="606" y="13886"/>
                  </a:lnTo>
                  <a:lnTo>
                    <a:pt x="404" y="15429"/>
                  </a:lnTo>
                  <a:lnTo>
                    <a:pt x="202" y="16971"/>
                  </a:lnTo>
                  <a:lnTo>
                    <a:pt x="202" y="19286"/>
                  </a:lnTo>
                  <a:lnTo>
                    <a:pt x="0" y="20829"/>
                  </a:lnTo>
                  <a:lnTo>
                    <a:pt x="0" y="21600"/>
                  </a:lnTo>
                  <a:lnTo>
                    <a:pt x="202" y="21600"/>
                  </a:lnTo>
                  <a:lnTo>
                    <a:pt x="807" y="20829"/>
                  </a:lnTo>
                  <a:lnTo>
                    <a:pt x="1615" y="19286"/>
                  </a:lnTo>
                  <a:lnTo>
                    <a:pt x="2826" y="16971"/>
                  </a:lnTo>
                  <a:lnTo>
                    <a:pt x="4239" y="15429"/>
                  </a:lnTo>
                  <a:lnTo>
                    <a:pt x="5652" y="13886"/>
                  </a:lnTo>
                  <a:lnTo>
                    <a:pt x="7671" y="11571"/>
                  </a:lnTo>
                  <a:lnTo>
                    <a:pt x="9286" y="9257"/>
                  </a:lnTo>
                  <a:lnTo>
                    <a:pt x="11305" y="7714"/>
                  </a:lnTo>
                  <a:lnTo>
                    <a:pt x="13525" y="6171"/>
                  </a:lnTo>
                  <a:lnTo>
                    <a:pt x="15342" y="3857"/>
                  </a:lnTo>
                  <a:lnTo>
                    <a:pt x="17361" y="3086"/>
                  </a:lnTo>
                  <a:lnTo>
                    <a:pt x="18976" y="3086"/>
                  </a:lnTo>
                  <a:lnTo>
                    <a:pt x="20389" y="2314"/>
                  </a:lnTo>
                  <a:lnTo>
                    <a:pt x="21196" y="2314"/>
                  </a:lnTo>
                  <a:lnTo>
                    <a:pt x="21600" y="2314"/>
                  </a:lnTo>
                  <a:lnTo>
                    <a:pt x="21398" y="2314"/>
                  </a:lnTo>
                  <a:lnTo>
                    <a:pt x="20591" y="1543"/>
                  </a:lnTo>
                  <a:lnTo>
                    <a:pt x="19379" y="1543"/>
                  </a:lnTo>
                  <a:lnTo>
                    <a:pt x="17966" y="771"/>
                  </a:lnTo>
                  <a:lnTo>
                    <a:pt x="15948" y="771"/>
                  </a:lnTo>
                  <a:lnTo>
                    <a:pt x="14131" y="0"/>
                  </a:lnTo>
                  <a:lnTo>
                    <a:pt x="11708" y="0"/>
                  </a:lnTo>
                  <a:lnTo>
                    <a:pt x="969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564" name="Group"/>
          <p:cNvGrpSpPr/>
          <p:nvPr/>
        </p:nvGrpSpPr>
        <p:grpSpPr>
          <a:xfrm>
            <a:off x="5727681" y="1536673"/>
            <a:ext cx="2285747" cy="1439874"/>
            <a:chOff x="0" y="0"/>
            <a:chExt cx="2285746" cy="1439873"/>
          </a:xfrm>
        </p:grpSpPr>
        <p:sp>
          <p:nvSpPr>
            <p:cNvPr id="558" name="Shape"/>
            <p:cNvSpPr/>
            <p:nvPr/>
          </p:nvSpPr>
          <p:spPr>
            <a:xfrm>
              <a:off x="0" y="-1"/>
              <a:ext cx="2285747" cy="1028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0623" extrusionOk="0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59" name="Oval"/>
            <p:cNvSpPr/>
            <p:nvPr/>
          </p:nvSpPr>
          <p:spPr>
            <a:xfrm>
              <a:off x="1391938" y="1035585"/>
              <a:ext cx="381001" cy="1714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0" name="Oval"/>
            <p:cNvSpPr/>
            <p:nvPr/>
          </p:nvSpPr>
          <p:spPr>
            <a:xfrm>
              <a:off x="1580110" y="1236324"/>
              <a:ext cx="254001" cy="11430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1" name="Oval"/>
            <p:cNvSpPr/>
            <p:nvPr/>
          </p:nvSpPr>
          <p:spPr>
            <a:xfrm>
              <a:off x="1728805" y="1382723"/>
              <a:ext cx="127001" cy="571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2" name="Shape"/>
            <p:cNvSpPr/>
            <p:nvPr/>
          </p:nvSpPr>
          <p:spPr>
            <a:xfrm>
              <a:off x="113750" y="55526"/>
              <a:ext cx="2097043" cy="875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12700" cap="flat">
              <a:solidFill>
                <a:srgbClr val="727272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3" name="Hmm.."/>
            <p:cNvSpPr txBox="1"/>
            <p:nvPr/>
          </p:nvSpPr>
          <p:spPr>
            <a:xfrm>
              <a:off x="312438" y="155379"/>
              <a:ext cx="1498601" cy="1168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736" marR="34233" algn="ctr">
                <a:buClr>
                  <a:srgbClr val="727272"/>
                </a:buClr>
                <a:buFont typeface="Tahoma"/>
                <a:defRPr sz="3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Hmm..</a:t>
              </a:r>
            </a:p>
          </p:txBody>
        </p:sp>
      </p:grpSp>
      <p:sp>
        <p:nvSpPr>
          <p:cNvPr id="565" name="CPU Scheduling…"/>
          <p:cNvSpPr txBox="1">
            <a:spLocks noGrp="1"/>
          </p:cNvSpPr>
          <p:nvPr>
            <p:ph type="body" idx="1"/>
          </p:nvPr>
        </p:nvSpPr>
        <p:spPr>
          <a:xfrm>
            <a:off x="152400" y="1676400"/>
            <a:ext cx="8229600" cy="35052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CPU Scheduling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Basic Concepts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Scheduling Criteria &amp; Metrics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Different Scheduling Algorithms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FCFS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SJF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Priority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RR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Comparison of Algorithms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39</a:t>
            </a:fld>
            <a:endParaRPr/>
          </a:p>
        </p:txBody>
      </p:sp>
      <p:sp>
        <p:nvSpPr>
          <p:cNvPr id="568" name="Acknowledg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Acknowledgements</a:t>
            </a:r>
          </a:p>
        </p:txBody>
      </p:sp>
      <p:sp>
        <p:nvSpPr>
          <p:cNvPr id="569" name="“Operating Systems Concepts” book and supplementary material by A. Silberschatz, P. Galvin and G. Gag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“Operating Systems Concepts” book and supplementary material by A. Silberschatz, P. Galvin and G. Gagne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“Operating Systems: Internals and Design Principles” book and supplementary material by W. Stallings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“Modern Operating Systems” book and supplementary material by A. Tanenbaum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R. Doursat and M. Yuksel from UNR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727272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2589</TotalTime>
  <Words>2076</Words>
  <Application>Microsoft Macintosh PowerPoint</Application>
  <PresentationFormat>On-screen Show (4:3)</PresentationFormat>
  <Paragraphs>339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Arial Narrow</vt:lpstr>
      <vt:lpstr>Copperplate Gothic Light</vt:lpstr>
      <vt:lpstr>Lucida Grande</vt:lpstr>
      <vt:lpstr>Symbol</vt:lpstr>
      <vt:lpstr>Trebuchet MS</vt:lpstr>
      <vt:lpstr>Wingdings</vt:lpstr>
      <vt:lpstr>White</vt:lpstr>
      <vt:lpstr>CSE 521 - Operating Systems Fall 2025</vt:lpstr>
      <vt:lpstr>Roadmap</vt:lpstr>
      <vt:lpstr>Basic Concepts</vt:lpstr>
      <vt:lpstr>Alternating Sequence of CPU And I/O Bursts</vt:lpstr>
      <vt:lpstr>Histogram of CPU-burst Durations</vt:lpstr>
      <vt:lpstr>Process State</vt:lpstr>
      <vt:lpstr>CPU Scheduler</vt:lpstr>
      <vt:lpstr>Dispatcher</vt:lpstr>
      <vt:lpstr>Scheduling Criteria</vt:lpstr>
      <vt:lpstr>Scheduling Metrics</vt:lpstr>
      <vt:lpstr>PowerPoint Presentation</vt:lpstr>
      <vt:lpstr>First-Come, First-Served (FCFS) Scheduling</vt:lpstr>
      <vt:lpstr>FCFS Scheduling - Example</vt:lpstr>
      <vt:lpstr>PowerPoint Presentation</vt:lpstr>
      <vt:lpstr>FCFS Scheduling - Example</vt:lpstr>
      <vt:lpstr>PowerPoint Presentation</vt:lpstr>
      <vt:lpstr>Shortest-Job-First (SJF) Scheduling</vt:lpstr>
      <vt:lpstr>PowerPoint Presentation</vt:lpstr>
      <vt:lpstr>Non-Preemptive SJF</vt:lpstr>
      <vt:lpstr>Non-Preemptive SJF - Example</vt:lpstr>
      <vt:lpstr>Preemptive SJF (SRT)</vt:lpstr>
      <vt:lpstr>Example of Preemptive SJF</vt:lpstr>
      <vt:lpstr>Example of Preemptive SJF</vt:lpstr>
      <vt:lpstr>Priority Scheduling</vt:lpstr>
      <vt:lpstr>Example of Priority</vt:lpstr>
      <vt:lpstr>Round Robin (RR)</vt:lpstr>
      <vt:lpstr>Round Robin (RR)</vt:lpstr>
      <vt:lpstr>Round Robin (RR)</vt:lpstr>
      <vt:lpstr>Example of RR with Time Quantum = 20</vt:lpstr>
      <vt:lpstr>Exercise</vt:lpstr>
      <vt:lpstr>Comparison of Scheduling Algorithms</vt:lpstr>
      <vt:lpstr>FCFS</vt:lpstr>
      <vt:lpstr>SJF</vt:lpstr>
      <vt:lpstr>Priority Scheduling</vt:lpstr>
      <vt:lpstr>Round Robin</vt:lpstr>
      <vt:lpstr>Exercise</vt:lpstr>
      <vt:lpstr>Exercise</vt:lpstr>
      <vt:lpstr>Summary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521 - Operating Systems Fall 2022</dc:title>
  <cp:lastModifiedBy>Nine, MD S Zulkar</cp:lastModifiedBy>
  <cp:revision>15</cp:revision>
  <dcterms:modified xsi:type="dcterms:W3CDTF">2026-02-19T19:19:42Z</dcterms:modified>
</cp:coreProperties>
</file>