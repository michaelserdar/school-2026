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Lecture slides by Lawrie Brown for “Cryptography and Network Security”, 5/e, by William Stallings, Chapter </a:t>
            </a:r>
            <a:r>
              <a:rPr lang="en-US" sz="1000"/>
              <a:t>Chapter 5 –”Advanced Encryption Standard</a:t>
            </a:r>
            <a:r>
              <a:rPr lang="en-US"/>
              <a:t>”.</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Intro quote.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00" name="Google Shape;10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Advanced Encryption Standard (AES) was published by NIST (National Institute of Standards and Technology) in 2001. AES is a symmetric block cipher that is intended to replace DES as the approved standard for a wide range of applications. The AES cipher (&amp; other candidates) form the latest generation of block ciphers, and now we see a significant increase in the block size - from the old standard of 64-bits up to 128-bits; and keys from 128 to 256-bits. In part this has been driven by the public demonstrations of exhaustive key searches of DES. Whilst triple-DES is regarded as secure and well understood, it is slow, especially in s/w. In a first round of evaluation, 15 proposed algorithms were accepted. A second round narrowed the field to 5 algorithms. NIST completed its evaluation process and published a final standard (FIPS PUB 197) in November of 2001. NIST selected Rijndael as the proposed AES algorithm. The two researchers who developed and submitted Rijndael for the AES are both cryptographers from Belgium: Dr. Joan Daemen and Dr.Vincent Rijmen.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07" name="Google Shape;10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Rijndael proposal for AES defined a cipher in which the block length and the key length can be independently specified to be 128,192,or 256 bits. The AES specification uses the same three key size alternatives but limits the block length to 128 bits. Rijndael is an academic submission, based on the earlier Square cipher, from Belgium academics Dr Joan Daemen and Dr Vincent Rijmen. It is an iterative cipher (operates on entire data block in every round) rather than feistel (operate on halves at a time), and was designed to have characteristics of: Resistance against all known attacks, Speed and code compactness on a wide range of platforms, &amp; Design simplicity.</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14" name="Google Shape;11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Stallings Figure 5.1 shows the overall encryption process in AES.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21" name="Google Shape;12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input to the AES encryption and decryption algorithms is a single 128-bit block, depicted in FIPS PUB 197, as a square matrix of bytes .This block is copied into the State array, which is modified at each stage of encryption or decryption. After the final stage, State is copied to an output.</a:t>
            </a:r>
            <a:endParaRPr/>
          </a:p>
          <a:p>
            <a:pPr indent="0" lvl="0" marL="0" rtl="0" algn="l">
              <a:spcBef>
                <a:spcPts val="0"/>
              </a:spcBef>
              <a:spcAft>
                <a:spcPts val="0"/>
              </a:spcAft>
              <a:buSzPts val="1800"/>
              <a:buNone/>
            </a:pPr>
            <a:r>
              <a:rPr lang="en-US"/>
              <a:t>The key is expanded into 44/52/60 lots of 32-bit words (see later), with 4 used in each round. Note that the ordering of bytes within a matrix is by column. So, for example, the first four bytes of a 128-bit plaintext input to the encryption cipher occupy the first column of the in matrix, the second four bytes occupy the second column, and so on. Similarly, the first four bytes of the expanded key, which form a word, occupy the first column of the w matrix. </a:t>
            </a:r>
            <a:endParaRPr/>
          </a:p>
          <a:p>
            <a:pPr indent="0" lvl="0" marL="0" rtl="0" algn="l">
              <a:spcBef>
                <a:spcPts val="0"/>
              </a:spcBef>
              <a:spcAft>
                <a:spcPts val="0"/>
              </a:spcAft>
              <a:buSzPts val="1800"/>
              <a:buNone/>
            </a:pPr>
            <a:r>
              <a:rPr lang="en-US"/>
              <a:t>The data computation then consists of an “add round key” step, then 9/11/13 rounds with all 4 steps, and a final 10</a:t>
            </a:r>
            <a:r>
              <a:rPr baseline="30000" lang="en-US"/>
              <a:t>th</a:t>
            </a:r>
            <a:r>
              <a:rPr lang="en-US"/>
              <a:t>/12</a:t>
            </a:r>
            <a:r>
              <a:rPr baseline="30000" lang="en-US"/>
              <a:t>th</a:t>
            </a:r>
            <a:r>
              <a:rPr lang="en-US"/>
              <a:t>/14</a:t>
            </a:r>
            <a:r>
              <a:rPr baseline="30000" lang="en-US"/>
              <a:t>th</a:t>
            </a:r>
            <a:r>
              <a:rPr lang="en-US"/>
              <a:t> step of byte subs + mix cols + add round key. This can be viewed as alternating XOR key &amp; scramble data bytes operations. All of the steps are easily reversed, and can be efficiently implemented using XOR’s &amp; table lookups.</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28" name="Google Shape;12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Stallings Figure 5.3 shows the structure of AES in more detail. The cipher consists of N rounds, where the number of rounds depends on the key length: 10 rounds for a 16-byte key; 12 rounds for a 24-byte key; and 14 rounds for a 32-byte key. The first N – 1 rounds consist of four distinct transformation functions: SubBytes, ShiftRows, MixColumns, and AddRoundKey, which are described subsequently. The final round contains only 3 transformation, and there is a initial single transformation (AddRoundKey) before the first round, which can be considered Round 0. Each transformation takes one or more 4 x 4 matrices as input and produces a 4 x 4 matrix as output. Figure 5.1 shows that the output of each round is a 4 x 4 matrix, with the output of the final round being the ciphertext. Also, the key expansion function generates N + 1 round keys, each of which is a distinct 4 x 4 matrix. Each round key serve as one of the inputs to the AddRoundKey transformation in each round.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228600" rtl="0" algn="l">
              <a:spcBef>
                <a:spcPts val="0"/>
              </a:spcBef>
              <a:spcAft>
                <a:spcPts val="0"/>
              </a:spcAft>
              <a:buSzPts val="1800"/>
              <a:buNone/>
            </a:pPr>
            <a:r>
              <a:rPr lang="en-US"/>
              <a:t>Before delving into details, can make several comments about the overall AES structure. See text for details.</a:t>
            </a:r>
            <a:endParaRPr/>
          </a:p>
        </p:txBody>
      </p:sp>
      <p:sp>
        <p:nvSpPr>
          <p:cNvPr id="136" name="Google Shape;136;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42" name="Google Shape;14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We now turn to a discussion of each of the four transformations used in AES. For each stage, we mention the forward (encryption) algorithm, the inverse (decryption) algorithm, and the rationale for the design of that stage. </a:t>
            </a:r>
            <a:endParaRPr/>
          </a:p>
          <a:p>
            <a:pPr indent="0" lvl="0" marL="0" rtl="0" algn="l">
              <a:spcBef>
                <a:spcPts val="0"/>
              </a:spcBef>
              <a:spcAft>
                <a:spcPts val="0"/>
              </a:spcAft>
              <a:buSzPts val="1800"/>
              <a:buNone/>
            </a:pPr>
            <a:r>
              <a:rPr lang="en-US"/>
              <a:t>The Substitute bytes stage uses an S-box to perform a byte-by-byte substitution of the block. There is a single 8-bit wide S-box used on every byte. This S-box is a permutation of all 256 8-bit values, constructed using a transformation which treats the values as polynomials in GF(2</a:t>
            </a:r>
            <a:r>
              <a:rPr baseline="30000" lang="en-US"/>
              <a:t>8</a:t>
            </a:r>
            <a:r>
              <a:rPr lang="en-US"/>
              <a:t>) – however it is fixed, so really only need to know the table when implementing. Decryption requires the inverse of the table. These tables are given in Stallings Table 5.2.</a:t>
            </a:r>
            <a:endParaRPr/>
          </a:p>
          <a:p>
            <a:pPr indent="0" lvl="0" marL="0" rtl="0" algn="l">
              <a:spcBef>
                <a:spcPts val="0"/>
              </a:spcBef>
              <a:spcAft>
                <a:spcPts val="0"/>
              </a:spcAft>
              <a:buSzPts val="1800"/>
              <a:buNone/>
            </a:pPr>
            <a:r>
              <a:rPr lang="en-US"/>
              <a:t>The table was designed to be resistant to known cryptanalytic attacks. Specifically, the Rijndael developers sought a design that has a low correlation between input bits and output bits, with the property that the output cannot be described as a simple mathematical function of the input, with no fixed points and no “opposite fixed points”.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49" name="Google Shape;14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0" name="Google Shape;15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As this diagram from Stallings Fig 5.5a shows, the Byte Substitution operates on each byte of state independently, with the input byte used to index a row/col in the table to retrieve the substituted value.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Show an example of the SubBytes transformation from the text.</a:t>
            </a:r>
            <a:endParaRPr/>
          </a:p>
        </p:txBody>
      </p:sp>
      <p:sp>
        <p:nvSpPr>
          <p:cNvPr id="157" name="Google Shape;157;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63" name="Google Shape;16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ShiftRows stage provides a simple “permutation” of the data, whereas the other steps involve substitutions. Further, since the state is treated as a block of columns, it is this step which provides for diffusion of values between columns. It performs a circular rotate on each row of 0, 1, 2 &amp; 3 places for respective rows. When decrypting it performs the circular shifts in the opposite direction for each row. This row shift moves an individual byte from one column to another, which is a linear distance of a multiple of 4 bytes, and ensures that the 4 bytes of one column are spread out to four different columns.</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70" name="Google Shape;17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71" name="Google Shape;17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Stalling Figure 5.7a illustrates the Shift Rows permutation. Then show an example of ShiftRows from the text.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78" name="Google Shape;17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forward mix column transformation, called MixColumns, operates on each column individually. Each byte of a column is mapped into a new value that is a function of all four bytes in that column. It is a substitution that makes use of arithmetic over GF(2^8). Each byte of a column is mapped into a new value that is a function of all four bytes in that column. It is designed as a matrix multiplication where each byte is treated as a polynomial in GF(2</a:t>
            </a:r>
            <a:r>
              <a:rPr baseline="30000" lang="en-US"/>
              <a:t>8</a:t>
            </a:r>
            <a:r>
              <a:rPr lang="en-US"/>
              <a:t>). The inverse used for decryption involves a different set of constants.</a:t>
            </a:r>
            <a:endParaRPr/>
          </a:p>
          <a:p>
            <a:pPr indent="0" lvl="0" marL="0" rtl="0" algn="l">
              <a:spcBef>
                <a:spcPts val="0"/>
              </a:spcBef>
              <a:spcAft>
                <a:spcPts val="0"/>
              </a:spcAft>
              <a:buSzPts val="1800"/>
              <a:buNone/>
            </a:pPr>
            <a:r>
              <a:rPr lang="en-US"/>
              <a:t>The constants used are based on a linear code with maximal distance between code words – this gives good mixing of the bytes within each column. Combined with the “shift rows” step provides good avalanche, so that within a few rounds, all output bits depend on all input bits.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186" name="Google Shape;18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87" name="Google Shape;18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Stalling Figure 5.5b illustrates the Mix Columns transformation.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Show an example of the MixColumns transformation from the text, along with verification of the first column of this example. </a:t>
            </a:r>
            <a:endParaRPr/>
          </a:p>
          <a:p>
            <a:pPr indent="0" lvl="0" marL="0" rtl="0" algn="l">
              <a:spcBef>
                <a:spcPts val="0"/>
              </a:spcBef>
              <a:spcAft>
                <a:spcPts val="0"/>
              </a:spcAft>
              <a:buNone/>
            </a:pPr>
            <a:r>
              <a:t/>
            </a:r>
            <a:endParaRPr/>
          </a:p>
        </p:txBody>
      </p:sp>
      <p:sp>
        <p:nvSpPr>
          <p:cNvPr id="194" name="Google Shape;194;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AES uses arithmetic in the finite field GF(2</a:t>
            </a:r>
            <a:r>
              <a:rPr baseline="30000" lang="en-US"/>
              <a:t>8</a:t>
            </a:r>
            <a:r>
              <a:rPr lang="en-US"/>
              <a:t>), with the irreducible polynomial m(x) = x</a:t>
            </a:r>
            <a:r>
              <a:rPr baseline="30000" lang="en-US"/>
              <a:t>8</a:t>
            </a:r>
            <a:r>
              <a:rPr lang="en-US"/>
              <a:t> + x</a:t>
            </a:r>
            <a:r>
              <a:rPr baseline="30000" lang="en-US"/>
              <a:t>4</a:t>
            </a:r>
            <a:r>
              <a:rPr lang="en-US"/>
              <a:t> + x</a:t>
            </a:r>
            <a:r>
              <a:rPr baseline="30000" lang="en-US"/>
              <a:t>3</a:t>
            </a:r>
            <a:r>
              <a:rPr lang="en-US"/>
              <a:t> + x + 1. AES operates on 8-bit bytes. Addition of two bytes is defined as the bitwise XOR operation. Multiplication of two bytes is defined as multiplication in the finite field GF(2</a:t>
            </a:r>
            <a:r>
              <a:rPr baseline="30000" lang="en-US"/>
              <a:t>8</a:t>
            </a:r>
            <a:r>
              <a:rPr lang="en-US"/>
              <a:t>). In particular, multiplication of a value by x (i.e., by {02}) can be implemented as a 1-bit left shift followed by a conditional bitwise XOR with (0001 1011) if the leftmost bit of the original value (prior to the shift) is 1. </a:t>
            </a:r>
            <a:endParaRPr/>
          </a:p>
          <a:p>
            <a:pPr indent="0" lvl="0" marL="0" rtl="0" algn="l">
              <a:spcBef>
                <a:spcPts val="0"/>
              </a:spcBef>
              <a:spcAft>
                <a:spcPts val="0"/>
              </a:spcAft>
              <a:buNone/>
            </a:pPr>
            <a:r>
              <a:t/>
            </a:r>
            <a:endParaRPr/>
          </a:p>
        </p:txBody>
      </p:sp>
      <p:sp>
        <p:nvSpPr>
          <p:cNvPr id="202" name="Google Shape;202;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08" name="Google Shape;20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09" name="Google Shape;20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 practise, you implement Mix Columns by expressing the transformation on each column as 4 equations (Stallings equation 5.4) to compute the new bytes for that column. This computation only involves shifts, XORs &amp; conditional XORs (for the modulo reduction).</a:t>
            </a:r>
            <a:endParaRPr/>
          </a:p>
          <a:p>
            <a:pPr indent="0" lvl="0" marL="0" rtl="0" algn="l">
              <a:spcBef>
                <a:spcPts val="0"/>
              </a:spcBef>
              <a:spcAft>
                <a:spcPts val="0"/>
              </a:spcAft>
              <a:buSzPts val="1800"/>
              <a:buNone/>
            </a:pPr>
            <a:r>
              <a:rPr lang="en-US"/>
              <a:t>The decryption computation requires the use of the inverse of the matrix, which has larger coefficients, and is thus potentially a little harder &amp; slower to implement.</a:t>
            </a:r>
            <a:endParaRPr/>
          </a:p>
          <a:p>
            <a:pPr indent="0" lvl="0" marL="0" rtl="0" algn="l">
              <a:spcBef>
                <a:spcPts val="0"/>
              </a:spcBef>
              <a:spcAft>
                <a:spcPts val="0"/>
              </a:spcAft>
              <a:buSzPts val="1800"/>
              <a:buNone/>
            </a:pPr>
            <a:r>
              <a:rPr lang="en-US"/>
              <a:t>The designers &amp; the AES standard provide an alternate characterisation of Mix Columns, which treats each column of State to be a four-term polynomial with coefficients in GF(2</a:t>
            </a:r>
            <a:r>
              <a:rPr baseline="30000" lang="en-US"/>
              <a:t>8</a:t>
            </a:r>
            <a:r>
              <a:rPr lang="en-US"/>
              <a:t>). Each column is multiplied by a fixed polynomial a(x) given in Stallings eqn 5.7. Whilst this is useful for analysis of the stage, the matrix description is all that’s required for implementation.</a:t>
            </a:r>
            <a:endParaRPr/>
          </a:p>
          <a:p>
            <a:pPr indent="0" lvl="0" marL="0" rtl="0" algn="l">
              <a:spcBef>
                <a:spcPts val="0"/>
              </a:spcBef>
              <a:spcAft>
                <a:spcPts val="0"/>
              </a:spcAft>
              <a:buSzPts val="1800"/>
              <a:buNone/>
            </a:pPr>
            <a:r>
              <a:rPr lang="en-US"/>
              <a:t>The coefficients of the matrix are based on a linear code with maximal distance between code words, which ensures a good mixing among the bytes of each column. The mix column transformation combined with the shift row transformation ensures that after a few rounds, all output bits depend on all input bits. In addition, the choice of coefficients in MixColumns, which are all {01}, {02}, or {03}, was influenced by implementation considerations.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15" name="Google Shape;21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Lastly is the Add Round Key stage which </a:t>
            </a:r>
            <a:r>
              <a:rPr lang="en-US">
                <a:latin typeface="Times"/>
                <a:ea typeface="Times"/>
                <a:cs typeface="Times"/>
                <a:sym typeface="Times"/>
              </a:rPr>
              <a:t>is a simple bitwise XOR of the current block with a portion of the expanded </a:t>
            </a:r>
            <a:r>
              <a:rPr lang="en-US"/>
              <a:t>key. Note this is the only step which makes use of the key and obscures the result, hence MUST be used at start and end of each round, since otherwise could undo effect of other steps. But the other steps provide confusion/diffusion/non-linearity. That us you can look at the cipher as a series of XOR with key then scramble/permute block repeated. This is efficient and highly secure it is believed.</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22" name="Google Shape;22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Stallings Figure 5.5b illustrates the Add Round Key stage, which like Byte Substitution, operates on each byte of state independently.</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29" name="Google Shape;22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Can thus now view all the internal details of the AES round, showing how each byte of the state is manipulated, as shown in Stallings Figure 5.4.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36" name="Google Shape;23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AES key expansion algorithm takes as input a 4-word (16-byte) key and produces a linear array of words, providing a 4-word round key for the initial AddRoundKey stage and each of the 10/12/14 rounds of the cipher. It involves copying the key into the first group of 4 words, and then constructing subsequent groups of 4 based on the values of the previous &amp; 4th back words. The first word in each group of 4 gets “special treatment” with rotate + S-box + XOR constant on the previous word before XOR’ing the one from 4 back. In the 256-bit key/14 round version, there’s also an extra step on the middle word. The text includes in section 5.4 pseudocode that describes the key expansion.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43" name="Google Shape;24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44" name="Google Shape;24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first block of the AES Key Expansion is shown here in Stallings Figure 5.9a. It shows each group of 4 bytes in the key being assigned to the first 4 words, then the calculation of the next 4 words based on the values of the previous 4 words, which is repeated enough times to create all the necessary subkey information.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50" name="Google Shape;25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51" name="Google Shape;25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Rijndael developers designed the expansion key algorithm to be resistant to known cryptanalytic attacks. It is designed to be simple to implement, but by using round constants break symmetries, and make it much harder to deduce other key bits if just some are known (but once have as many consecutive bits as are in key, can then easily recreate the full expansion). The design criteria used are listed above.</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We now work through an example, and consider some of its implications. The plaintext, key, and resulting ciphertext are as follows:  </a:t>
            </a:r>
            <a:endParaRPr/>
          </a:p>
          <a:p>
            <a:pPr indent="0" lvl="0" marL="0" rtl="0" algn="l">
              <a:spcBef>
                <a:spcPts val="0"/>
              </a:spcBef>
              <a:spcAft>
                <a:spcPts val="0"/>
              </a:spcAft>
              <a:buSzPts val="1800"/>
              <a:buNone/>
            </a:pPr>
            <a:r>
              <a:rPr lang="en-US"/>
              <a:t>Plaintext: 0123456789abcdeffedcba9876543210 </a:t>
            </a:r>
            <a:endParaRPr/>
          </a:p>
          <a:p>
            <a:pPr indent="0" lvl="0" marL="0" rtl="0" algn="l">
              <a:spcBef>
                <a:spcPts val="0"/>
              </a:spcBef>
              <a:spcAft>
                <a:spcPts val="0"/>
              </a:spcAft>
              <a:buSzPts val="1800"/>
              <a:buNone/>
            </a:pPr>
            <a:r>
              <a:rPr lang="en-US"/>
              <a:t>Key: 0f1571c947d9e8590cb7add6af7f6798 </a:t>
            </a:r>
            <a:endParaRPr/>
          </a:p>
          <a:p>
            <a:pPr indent="0" lvl="0" marL="0" rtl="0" algn="l">
              <a:spcBef>
                <a:spcPts val="0"/>
              </a:spcBef>
              <a:spcAft>
                <a:spcPts val="0"/>
              </a:spcAft>
              <a:buSzPts val="1800"/>
              <a:buNone/>
            </a:pPr>
            <a:r>
              <a:rPr lang="en-US"/>
              <a:t>Ciphertext: ff0b844a0853bf7c6934ab4364148fb9 </a:t>
            </a:r>
            <a:endParaRPr/>
          </a:p>
          <a:p>
            <a:pPr indent="0" lvl="0" marL="0" rtl="0" algn="l">
              <a:spcBef>
                <a:spcPts val="0"/>
              </a:spcBef>
              <a:spcAft>
                <a:spcPts val="0"/>
              </a:spcAft>
              <a:buSzPts val="1800"/>
              <a:buNone/>
            </a:pPr>
            <a:r>
              <a:rPr lang="en-US"/>
              <a:t>Table 5.3 shows the expansion of the 16-byte key into 10 round keys. As previously explained, this process is performed word by word, with each four-byte word occupying one column of the word round key matrix. The left hand column shows the four round key words generated for each round. The right hand column shows the steps used to generate the auxiliary word used in key expansion. We begin, of course, with the key itself serving as the round key for round 0. </a:t>
            </a:r>
            <a:endParaRPr/>
          </a:p>
        </p:txBody>
      </p:sp>
      <p:sp>
        <p:nvSpPr>
          <p:cNvPr id="258" name="Google Shape;258;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Next, Table 5.4 shows the progression of the state matrix through the AES encryption process. The first column shows the value of the state matrix at the start of a round. For the first row, the state matrix is just the matrix arrangement of the plaintext. The second, third, and fourth columns show the value of the state matrix for that round after the SubBytes, ShiftRows, and MixColumns transformations, respectively. The fifth column shows the round key. You can verify that these round keys equate with those shown in Table 5.3. The first column shows the value of the state matrix resulting from the bitwise XOR of the state after the preceding MixColumns with the round key for the preceding round. </a:t>
            </a:r>
            <a:endParaRPr/>
          </a:p>
        </p:txBody>
      </p:sp>
      <p:sp>
        <p:nvSpPr>
          <p:cNvPr id="265" name="Google Shape;265;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 any good cipher design, want the avalanche effect, in which a small change in plaintext or key produces a large change in the ciphertext. Using the example from Table 5.4, Table 5.5 shows the result when the eighth bit of the plaintext is changed. The second column of the table shows the value of the state matrix at the end of each round for the two plaintexts. Note that after just one round, 20 bits of the state vector differ. And after two rounds, close to half the bits differ. This magnitude of difference propagates through the remaining rounds. A bit difference in approximately half the positions in the most desirable outcome. </a:t>
            </a:r>
            <a:endParaRPr/>
          </a:p>
        </p:txBody>
      </p:sp>
      <p:sp>
        <p:nvSpPr>
          <p:cNvPr id="272" name="Google Shape;272;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78" name="Google Shape;27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AES decryption cipher is not identical to the encryption cipher (Stallings Figure 5.3). The sequence of transformations for decryption differs from that for encryption, although the form of the key schedules for encryption and decryption is the same. This has the disadvantage that two separate software or firmware modules are needed for applications that require both encryption and decryption. There is, however, an equivalent version of the decryption algorithm that has the same structure as the encryption algorithm, with the same sequence of transformations as the encryption algorithm (with transformations replaced by their inverses). To achieve this equivalence, a change in key schedule is needed. </a:t>
            </a:r>
            <a:endParaRPr/>
          </a:p>
          <a:p>
            <a:pPr indent="0" lvl="0" marL="0" rtl="0" algn="l">
              <a:spcBef>
                <a:spcPts val="0"/>
              </a:spcBef>
              <a:spcAft>
                <a:spcPts val="0"/>
              </a:spcAft>
              <a:buSzPts val="1800"/>
              <a:buNone/>
            </a:pPr>
            <a:r>
              <a:rPr lang="en-US"/>
              <a:t>By constructing an equivalent inverse cipher with steps in same order as for encryption, we can derive a more efficient implementation. Clearly swapping the byte substitutions and shift rows has no effect, since work just on bytes. Swapping the mix columns and add round key steps requires the inverse mix columns step be applied to the round keys first – this makes the decryption key schedule a little more complex with this construction, but allows the use of same h/w or s/w for the data en/decrypt computation.</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85" name="Google Shape;28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86" name="Google Shape;28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Illustrate the equivalent inverse cipher with Stallings Figure 5.10.</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92" name="Google Shape;29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Rijndael proposal [DAEM99] provides some suggestions for efficient implementation on 8- bit processors, typical for current smart cards, and on 32-bit processors, typical for PCs. </a:t>
            </a:r>
            <a:endParaRPr/>
          </a:p>
          <a:p>
            <a:pPr indent="0" lvl="0" marL="0" rtl="0" algn="l">
              <a:spcBef>
                <a:spcPts val="0"/>
              </a:spcBef>
              <a:spcAft>
                <a:spcPts val="0"/>
              </a:spcAft>
              <a:buSzPts val="1800"/>
              <a:buNone/>
            </a:pPr>
            <a:r>
              <a:rPr lang="en-US"/>
              <a:t>AES can be implemented very efficiently on an 8-bit processor. </a:t>
            </a:r>
            <a:endParaRPr/>
          </a:p>
          <a:p>
            <a:pPr indent="0" lvl="0" marL="0" rtl="0" algn="l">
              <a:spcBef>
                <a:spcPts val="0"/>
              </a:spcBef>
              <a:spcAft>
                <a:spcPts val="0"/>
              </a:spcAft>
              <a:buNone/>
            </a:pPr>
            <a:r>
              <a:rPr lang="en-US"/>
              <a:t>AddRoundKey is a bytewise XOR operation. </a:t>
            </a:r>
            <a:endParaRPr/>
          </a:p>
          <a:p>
            <a:pPr indent="0" lvl="0" marL="0" rtl="0" algn="l">
              <a:spcBef>
                <a:spcPts val="0"/>
              </a:spcBef>
              <a:spcAft>
                <a:spcPts val="0"/>
              </a:spcAft>
              <a:buNone/>
            </a:pPr>
            <a:r>
              <a:rPr lang="en-US"/>
              <a:t>ShiftRows is a simple byte shifting operation. </a:t>
            </a:r>
            <a:endParaRPr/>
          </a:p>
          <a:p>
            <a:pPr indent="0" lvl="0" marL="0" rtl="0" algn="l">
              <a:spcBef>
                <a:spcPts val="0"/>
              </a:spcBef>
              <a:spcAft>
                <a:spcPts val="0"/>
              </a:spcAft>
              <a:buNone/>
            </a:pPr>
            <a:r>
              <a:rPr lang="en-US"/>
              <a:t>SubBytes operates at the byte level and only requires a lookup of a 256 byte table S. </a:t>
            </a:r>
            <a:endParaRPr/>
          </a:p>
          <a:p>
            <a:pPr indent="0" lvl="0" marL="0" rtl="0" algn="l">
              <a:spcBef>
                <a:spcPts val="0"/>
              </a:spcBef>
              <a:spcAft>
                <a:spcPts val="0"/>
              </a:spcAft>
              <a:buNone/>
            </a:pPr>
            <a:r>
              <a:rPr lang="en-US"/>
              <a:t>MixColumns (matrix multiply) can be implemented as byte XOR’s &amp; table lookups with a 2nd 256 byte table X2, using the formulae shown in Stallings equation 5.9.</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299" name="Google Shape;29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AES can also be very efficiently implemented on an 32-bit processor, by rewriting the stage transformation to use 4 table lookups &amp; 4 XOR’s per column of state. These tables can be computed in advance using the formulae shown in the text, and need 4Kb to store.</a:t>
            </a:r>
            <a:endParaRPr/>
          </a:p>
          <a:p>
            <a:pPr indent="0" lvl="0" marL="0" rtl="0" algn="l">
              <a:spcBef>
                <a:spcPts val="0"/>
              </a:spcBef>
              <a:spcAft>
                <a:spcPts val="0"/>
              </a:spcAft>
              <a:buSzPts val="1800"/>
              <a:buNone/>
            </a:pPr>
            <a:r>
              <a:rPr lang="en-US"/>
              <a:t>The developers of Rijndael believe that this compact, efficient implementation was probably one of the most important factors in the selection of Rijndael for AES.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a:p>
        </p:txBody>
      </p:sp>
      <p:sp>
        <p:nvSpPr>
          <p:cNvPr id="306" name="Google Shape;30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Chapter 5 summary.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rot="5400000">
            <a:off x="3920332" y="-1256507"/>
            <a:ext cx="4351337"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p:nvPr>
            <p:ph idx="2" type="pic"/>
          </p:nvPr>
        </p:nvSpPr>
        <p:spPr>
          <a:xfrm>
            <a:off x="5183188" y="987425"/>
            <a:ext cx="6172200" cy="4873625"/>
          </a:xfrm>
          <a:prstGeom prst="rect">
            <a:avLst/>
          </a:prstGeom>
          <a:noFill/>
          <a:ln>
            <a:noFill/>
          </a:ln>
        </p:spPr>
      </p:sp>
      <p:sp>
        <p:nvSpPr>
          <p:cNvPr id="42" name="Google Shape;42;p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3" name="Google Shape;4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1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7" name="Google Shape;67;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1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ctrTitle"/>
          </p:nvPr>
        </p:nvSpPr>
        <p:spPr>
          <a:xfrm>
            <a:off x="2362200" y="457200"/>
            <a:ext cx="7848600" cy="2765425"/>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r>
              <a:rPr b="0" i="0" lang="en-US" sz="6000" u="none">
                <a:solidFill>
                  <a:schemeClr val="dk1"/>
                </a:solidFill>
                <a:latin typeface="Calibri"/>
                <a:ea typeface="Calibri"/>
                <a:cs typeface="Calibri"/>
                <a:sym typeface="Calibri"/>
              </a:rPr>
              <a:t>Cryptography and Network Security - AES</a:t>
            </a:r>
            <a:endParaRPr/>
          </a:p>
        </p:txBody>
      </p:sp>
      <p:sp>
        <p:nvSpPr>
          <p:cNvPr id="90" name="Google Shape;90;p13"/>
          <p:cNvSpPr txBox="1"/>
          <p:nvPr>
            <p:ph idx="1" type="subTitle"/>
          </p:nvPr>
        </p:nvSpPr>
        <p:spPr>
          <a:xfrm>
            <a:off x="2895600" y="3657600"/>
            <a:ext cx="6400800" cy="26717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rPr b="0" i="0" lang="en-US" sz="2400" u="none">
                <a:solidFill>
                  <a:schemeClr val="dk1"/>
                </a:solidFill>
                <a:latin typeface="Calibri"/>
                <a:ea typeface="Calibri"/>
                <a:cs typeface="Calibri"/>
                <a:sym typeface="Calibri"/>
              </a:rPr>
              <a:t>Susmit Shannigrahi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2063750" y="47625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Chapter 5 –Advanced Encryption Standard</a:t>
            </a:r>
            <a:br>
              <a:rPr b="0" i="0" lang="en-US" sz="3600" u="none">
                <a:solidFill>
                  <a:schemeClr val="dk1"/>
                </a:solidFill>
                <a:latin typeface="Calibri"/>
                <a:ea typeface="Calibri"/>
                <a:cs typeface="Calibri"/>
                <a:sym typeface="Calibri"/>
              </a:rPr>
            </a:br>
            <a:endParaRPr/>
          </a:p>
        </p:txBody>
      </p:sp>
      <p:sp>
        <p:nvSpPr>
          <p:cNvPr id="97" name="Google Shape;97;p14"/>
          <p:cNvSpPr txBox="1"/>
          <p:nvPr>
            <p:ph idx="1" type="body"/>
          </p:nvPr>
        </p:nvSpPr>
        <p:spPr>
          <a:xfrm>
            <a:off x="2063750" y="2133600"/>
            <a:ext cx="8229600" cy="398938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None/>
            </a:pPr>
            <a:r>
              <a:rPr b="0" i="1" lang="en-US" sz="2800" u="none" cap="none" strike="noStrike">
                <a:solidFill>
                  <a:schemeClr val="dk1"/>
                </a:solidFill>
                <a:latin typeface="Calibri"/>
                <a:ea typeface="Calibri"/>
                <a:cs typeface="Calibri"/>
                <a:sym typeface="Calibri"/>
              </a:rPr>
              <a:t>"It seems very simple."</a:t>
            </a:r>
            <a:endParaRPr/>
          </a:p>
          <a:p>
            <a:pPr indent="-228600" lvl="0" marL="228600" marR="0" rtl="0" algn="l">
              <a:lnSpc>
                <a:spcPct val="90000"/>
              </a:lnSpc>
              <a:spcBef>
                <a:spcPts val="1000"/>
              </a:spcBef>
              <a:spcAft>
                <a:spcPts val="0"/>
              </a:spcAft>
              <a:buClr>
                <a:schemeClr val="dk1"/>
              </a:buClr>
              <a:buSzPts val="2800"/>
              <a:buFont typeface="Arial"/>
              <a:buNone/>
            </a:pPr>
            <a:r>
              <a:rPr b="0" i="1" lang="en-US" sz="2800" u="none" cap="none" strike="noStrike">
                <a:solidFill>
                  <a:schemeClr val="dk1"/>
                </a:solidFill>
                <a:latin typeface="Calibri"/>
                <a:ea typeface="Calibri"/>
                <a:cs typeface="Calibri"/>
                <a:sym typeface="Calibri"/>
              </a:rPr>
              <a:t>"It is very simple. But if you don't know what the key is it's virtually indecipherable."</a:t>
            </a:r>
            <a:endParaRPr/>
          </a:p>
          <a:p>
            <a:pPr indent="-228600" lvl="0" marL="228600" marR="0" rtl="0" algn="l">
              <a:lnSpc>
                <a:spcPct val="90000"/>
              </a:lnSpc>
              <a:spcBef>
                <a:spcPts val="1000"/>
              </a:spcBef>
              <a:spcAft>
                <a:spcPts val="0"/>
              </a:spcAft>
              <a:buClr>
                <a:schemeClr val="dk1"/>
              </a:buClr>
              <a:buSzPts val="2800"/>
              <a:buFont typeface="Arial"/>
              <a:buNone/>
            </a:pPr>
            <a:r>
              <a:rPr b="1" i="0" lang="en-US" sz="2800" u="none" cap="none" strike="noStrike">
                <a:solidFill>
                  <a:schemeClr val="dk1"/>
                </a:solidFill>
                <a:latin typeface="Calibri"/>
                <a:ea typeface="Calibri"/>
                <a:cs typeface="Calibri"/>
                <a:sym typeface="Calibri"/>
              </a:rPr>
              <a:t>—</a:t>
            </a:r>
            <a:r>
              <a:rPr b="1" i="1" lang="en-US" sz="2800" u="none" cap="none" strike="noStrike">
                <a:solidFill>
                  <a:schemeClr val="dk1"/>
                </a:solidFill>
                <a:latin typeface="Calibri"/>
                <a:ea typeface="Calibri"/>
                <a:cs typeface="Calibri"/>
                <a:sym typeface="Calibri"/>
              </a:rPr>
              <a:t>Talking to Strange Men, </a:t>
            </a:r>
            <a:r>
              <a:rPr b="1" i="0" lang="en-US" sz="2800" u="none" cap="none" strike="noStrike">
                <a:solidFill>
                  <a:schemeClr val="dk1"/>
                </a:solidFill>
                <a:latin typeface="Calibri"/>
                <a:ea typeface="Calibri"/>
                <a:cs typeface="Calibri"/>
                <a:sym typeface="Calibri"/>
              </a:rPr>
              <a:t>Ruth Rendell</a:t>
            </a:r>
            <a:endParaRPr/>
          </a:p>
          <a:p>
            <a:pPr indent="-2286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Origins</a:t>
            </a:r>
            <a:endParaRPr/>
          </a:p>
        </p:txBody>
      </p:sp>
      <p:sp>
        <p:nvSpPr>
          <p:cNvPr id="104" name="Google Shape;104;p15"/>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clear a replacement for DES was needed</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have theoretical attacks that can break it</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have demonstrated exhaustive key search attacks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can use Triple-DES – but slow, has small blocks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US NIST issued call for ciphers in 1997</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15 candidates accepted in Jun 98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5 were shortlisted in Aug-99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Rijndael was selected as the AES in Oct-2000</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issued as FIPS PUB 197 standard in Nov-2001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AES Cipher - Rijndael </a:t>
            </a:r>
            <a:endParaRPr/>
          </a:p>
        </p:txBody>
      </p:sp>
      <p:sp>
        <p:nvSpPr>
          <p:cNvPr id="111" name="Google Shape;111;p16"/>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designed by Rijmen-Daemen in Belgium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has 128/192/256 bit keys, 128 bit data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an </a:t>
            </a:r>
            <a:r>
              <a:rPr b="1" i="0" lang="en-US" sz="2800" u="none">
                <a:solidFill>
                  <a:schemeClr val="dk1"/>
                </a:solidFill>
                <a:latin typeface="Calibri"/>
                <a:ea typeface="Calibri"/>
                <a:cs typeface="Calibri"/>
                <a:sym typeface="Calibri"/>
              </a:rPr>
              <a:t>iterative</a:t>
            </a:r>
            <a:r>
              <a:rPr b="0" i="0" lang="en-US" sz="2800" u="none">
                <a:solidFill>
                  <a:schemeClr val="dk1"/>
                </a:solidFill>
                <a:latin typeface="Calibri"/>
                <a:ea typeface="Calibri"/>
                <a:cs typeface="Calibri"/>
                <a:sym typeface="Calibri"/>
              </a:rPr>
              <a:t> rather than </a:t>
            </a:r>
            <a:r>
              <a:rPr b="1" i="0" lang="en-US" sz="2800" u="none">
                <a:solidFill>
                  <a:schemeClr val="dk1"/>
                </a:solidFill>
                <a:latin typeface="Calibri"/>
                <a:ea typeface="Calibri"/>
                <a:cs typeface="Calibri"/>
                <a:sym typeface="Calibri"/>
              </a:rPr>
              <a:t>Feistel</a:t>
            </a:r>
            <a:r>
              <a:rPr b="0" i="0" lang="en-US" sz="2800" u="none">
                <a:solidFill>
                  <a:schemeClr val="dk1"/>
                </a:solidFill>
                <a:latin typeface="Calibri"/>
                <a:ea typeface="Calibri"/>
                <a:cs typeface="Calibri"/>
                <a:sym typeface="Calibri"/>
              </a:rPr>
              <a:t> cipher</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processes data as block of 4 columns of 4 bytes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operates on entire data block in every round</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designed to have:</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resistance against known attacks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speed and code compactness on many CPUs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design simplicity</a:t>
            </a:r>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1752600" y="990600"/>
            <a:ext cx="3505200" cy="452278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Encryption Process</a:t>
            </a:r>
            <a:endParaRPr/>
          </a:p>
        </p:txBody>
      </p:sp>
      <p:pic>
        <p:nvPicPr>
          <p:cNvPr id="118" name="Google Shape;118;p17"/>
          <p:cNvPicPr preferRelativeResize="0"/>
          <p:nvPr/>
        </p:nvPicPr>
        <p:blipFill rotWithShape="1">
          <a:blip r:embed="rId3">
            <a:alphaModFix amt="70195"/>
          </a:blip>
          <a:srcRect b="0" l="0" r="0" t="0"/>
          <a:stretch/>
        </p:blipFill>
        <p:spPr>
          <a:xfrm>
            <a:off x="5334000" y="228600"/>
            <a:ext cx="4662487" cy="6356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Structure</a:t>
            </a:r>
            <a:endParaRPr/>
          </a:p>
        </p:txBody>
      </p:sp>
      <p:sp>
        <p:nvSpPr>
          <p:cNvPr id="125" name="Google Shape;125;p18"/>
          <p:cNvSpPr txBox="1"/>
          <p:nvPr>
            <p:ph idx="1" type="body"/>
          </p:nvPr>
        </p:nvSpPr>
        <p:spPr>
          <a:xfrm>
            <a:off x="1981200" y="1371600"/>
            <a:ext cx="8229600" cy="52578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data block of 4 columns of 4 bytes is state</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key is expanded to array of words</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has 9/11/13 rounds in which state undergoes: </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byte substitution (1 S-box used on every byte) </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shift rows (permute bytes between groups/columns) </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mix columns (subs using matrix multiply of groups) </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add round key (XOR state with key material)</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view as alternating XOR key &amp; scramble data bytes</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initial XOR key material &amp; incomplete last round</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with fast XOR &amp; table lookup implementation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Structure</a:t>
            </a:r>
            <a:endParaRPr/>
          </a:p>
        </p:txBody>
      </p:sp>
      <p:pic>
        <p:nvPicPr>
          <p:cNvPr id="132" name="Google Shape;132;p19"/>
          <p:cNvPicPr preferRelativeResize="0"/>
          <p:nvPr/>
        </p:nvPicPr>
        <p:blipFill rotWithShape="1">
          <a:blip r:embed="rId3">
            <a:alphaModFix amt="70195"/>
          </a:blip>
          <a:srcRect b="0" l="0" r="0" t="0"/>
          <a:stretch/>
        </p:blipFill>
        <p:spPr>
          <a:xfrm>
            <a:off x="3886200" y="1295400"/>
            <a:ext cx="4275137" cy="52657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Some Comments on AES</a:t>
            </a:r>
            <a:endParaRPr/>
          </a:p>
        </p:txBody>
      </p:sp>
      <p:sp>
        <p:nvSpPr>
          <p:cNvPr id="139" name="Google Shape;139;p20"/>
          <p:cNvSpPr txBox="1"/>
          <p:nvPr>
            <p:ph idx="1" type="body"/>
          </p:nvPr>
        </p:nvSpPr>
        <p:spPr>
          <a:xfrm>
            <a:off x="1981200" y="1447800"/>
            <a:ext cx="8229600" cy="51816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80000"/>
              </a:lnSpc>
              <a:spcBef>
                <a:spcPts val="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an </a:t>
            </a:r>
            <a:r>
              <a:rPr b="1" i="0" lang="en-US" sz="2800" u="none">
                <a:solidFill>
                  <a:schemeClr val="dk1"/>
                </a:solidFill>
                <a:latin typeface="Calibri"/>
                <a:ea typeface="Calibri"/>
                <a:cs typeface="Calibri"/>
                <a:sym typeface="Calibri"/>
              </a:rPr>
              <a:t>iterative</a:t>
            </a:r>
            <a:r>
              <a:rPr b="0" i="0" lang="en-US" sz="2800" u="none">
                <a:solidFill>
                  <a:schemeClr val="dk1"/>
                </a:solidFill>
                <a:latin typeface="Calibri"/>
                <a:ea typeface="Calibri"/>
                <a:cs typeface="Calibri"/>
                <a:sym typeface="Calibri"/>
              </a:rPr>
              <a:t> rather than </a:t>
            </a:r>
            <a:r>
              <a:rPr b="1" i="0" lang="en-US" sz="2800" u="none">
                <a:solidFill>
                  <a:schemeClr val="dk1"/>
                </a:solidFill>
                <a:latin typeface="Calibri"/>
                <a:ea typeface="Calibri"/>
                <a:cs typeface="Calibri"/>
                <a:sym typeface="Calibri"/>
              </a:rPr>
              <a:t>Feistel</a:t>
            </a:r>
            <a:r>
              <a:rPr b="0" i="0" lang="en-US" sz="2800" u="none">
                <a:solidFill>
                  <a:schemeClr val="dk1"/>
                </a:solidFill>
                <a:latin typeface="Calibri"/>
                <a:ea typeface="Calibri"/>
                <a:cs typeface="Calibri"/>
                <a:sym typeface="Calibri"/>
              </a:rPr>
              <a:t> cipher</a:t>
            </a:r>
            <a:endParaRPr/>
          </a:p>
          <a:p>
            <a:pPr indent="-514350" lvl="0" marL="514350" marR="0" rtl="0" algn="l">
              <a:lnSpc>
                <a:spcPct val="80000"/>
              </a:lnSpc>
              <a:spcBef>
                <a:spcPts val="100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key expanded into array of 32-bit words</a:t>
            </a:r>
            <a:endParaRPr/>
          </a:p>
          <a:p>
            <a:pPr indent="-514350" lvl="1" marL="971550" marR="0" rtl="0" algn="l">
              <a:lnSpc>
                <a:spcPct val="80000"/>
              </a:lnSpc>
              <a:spcBef>
                <a:spcPts val="500"/>
              </a:spcBef>
              <a:spcAft>
                <a:spcPts val="0"/>
              </a:spcAft>
              <a:buClr>
                <a:schemeClr val="dk1"/>
              </a:buClr>
              <a:buSzPts val="2400"/>
              <a:buFont typeface="Arial"/>
              <a:buAutoNum type="arabicPeriod"/>
            </a:pPr>
            <a:r>
              <a:rPr b="0" i="0" lang="en-US" sz="2400" u="none" cap="none" strike="noStrike">
                <a:solidFill>
                  <a:schemeClr val="dk1"/>
                </a:solidFill>
                <a:latin typeface="Calibri"/>
                <a:ea typeface="Calibri"/>
                <a:cs typeface="Calibri"/>
                <a:sym typeface="Calibri"/>
              </a:rPr>
              <a:t>four words form round key in each round</a:t>
            </a:r>
            <a:endParaRPr/>
          </a:p>
          <a:p>
            <a:pPr indent="-514350" lvl="0" marL="514350" marR="0" rtl="0" algn="l">
              <a:lnSpc>
                <a:spcPct val="80000"/>
              </a:lnSpc>
              <a:spcBef>
                <a:spcPts val="100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4 different stages are used as shown</a:t>
            </a:r>
            <a:endParaRPr/>
          </a:p>
          <a:p>
            <a:pPr indent="-514350" lvl="0" marL="514350" marR="0" rtl="0" algn="l">
              <a:lnSpc>
                <a:spcPct val="80000"/>
              </a:lnSpc>
              <a:spcBef>
                <a:spcPts val="100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has a simple structure</a:t>
            </a:r>
            <a:endParaRPr/>
          </a:p>
          <a:p>
            <a:pPr indent="-514350" lvl="0" marL="514350" marR="0" rtl="0" algn="l">
              <a:lnSpc>
                <a:spcPct val="80000"/>
              </a:lnSpc>
              <a:spcBef>
                <a:spcPts val="100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only AddRoundKey uses key</a:t>
            </a:r>
            <a:endParaRPr/>
          </a:p>
          <a:p>
            <a:pPr indent="-514350" lvl="0" marL="514350" marR="0" rtl="0" algn="l">
              <a:lnSpc>
                <a:spcPct val="80000"/>
              </a:lnSpc>
              <a:spcBef>
                <a:spcPts val="100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AddRoundKey a form of Vernam cipher</a:t>
            </a:r>
            <a:endParaRPr/>
          </a:p>
          <a:p>
            <a:pPr indent="-514350" lvl="0" marL="514350" marR="0" rtl="0" algn="l">
              <a:lnSpc>
                <a:spcPct val="80000"/>
              </a:lnSpc>
              <a:spcBef>
                <a:spcPts val="100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each stage is easily reversible</a:t>
            </a:r>
            <a:endParaRPr/>
          </a:p>
          <a:p>
            <a:pPr indent="-514350" lvl="0" marL="514350" marR="0" rtl="0" algn="l">
              <a:lnSpc>
                <a:spcPct val="80000"/>
              </a:lnSpc>
              <a:spcBef>
                <a:spcPts val="100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decryption uses keys in reverse order</a:t>
            </a:r>
            <a:endParaRPr/>
          </a:p>
          <a:p>
            <a:pPr indent="-514350" lvl="0" marL="514350" marR="0" rtl="0" algn="l">
              <a:lnSpc>
                <a:spcPct val="80000"/>
              </a:lnSpc>
              <a:spcBef>
                <a:spcPts val="100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decryption does recover plaintext</a:t>
            </a:r>
            <a:endParaRPr/>
          </a:p>
          <a:p>
            <a:pPr indent="-514350" lvl="0" marL="514350" marR="0" rtl="0" algn="l">
              <a:lnSpc>
                <a:spcPct val="80000"/>
              </a:lnSpc>
              <a:spcBef>
                <a:spcPts val="1000"/>
              </a:spcBef>
              <a:spcAft>
                <a:spcPts val="0"/>
              </a:spcAft>
              <a:buClr>
                <a:schemeClr val="dk1"/>
              </a:buClr>
              <a:buSzPts val="2800"/>
              <a:buFont typeface="Arial"/>
              <a:buAutoNum type="arabicPeriod"/>
            </a:pPr>
            <a:r>
              <a:rPr b="0" i="0" lang="en-US" sz="2800" u="none">
                <a:solidFill>
                  <a:schemeClr val="dk1"/>
                </a:solidFill>
                <a:latin typeface="Calibri"/>
                <a:ea typeface="Calibri"/>
                <a:cs typeface="Calibri"/>
                <a:sym typeface="Calibri"/>
              </a:rPr>
              <a:t>final round has only 3 stages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Substitute Bytes</a:t>
            </a:r>
            <a:endParaRPr/>
          </a:p>
        </p:txBody>
      </p:sp>
      <p:sp>
        <p:nvSpPr>
          <p:cNvPr id="146" name="Google Shape;146;p21"/>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simple substitution of each byte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uses one table of 16x16 bytes containing a permutation of all 256 8-bit values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each byte of state is replaced by byte indexed by row (left 4-bits) &amp; column (right 4-bits)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eg. byte {95} is replaced by byte in row 9 column 5</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which has value {2A}</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S-box constructed using defined transformation of values in GF(2</a:t>
            </a:r>
            <a:r>
              <a:rPr b="0" baseline="30000" i="0" lang="en-US" sz="2800" u="none">
                <a:solidFill>
                  <a:schemeClr val="dk1"/>
                </a:solidFill>
                <a:latin typeface="Calibri"/>
                <a:ea typeface="Calibri"/>
                <a:cs typeface="Calibri"/>
                <a:sym typeface="Calibri"/>
              </a:rPr>
              <a:t>8</a:t>
            </a:r>
            <a:r>
              <a:rPr b="0" i="0" lang="en-US" sz="2800" u="none">
                <a:solidFill>
                  <a:schemeClr val="dk1"/>
                </a:solidFill>
                <a:latin typeface="Calibri"/>
                <a:ea typeface="Calibri"/>
                <a:cs typeface="Calibri"/>
                <a:sym typeface="Calibri"/>
              </a:rPr>
              <a:t>)</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designed to be resistant to all known attacks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Substitute Bytes</a:t>
            </a:r>
            <a:endParaRPr/>
          </a:p>
        </p:txBody>
      </p:sp>
      <p:pic>
        <p:nvPicPr>
          <p:cNvPr id="153" name="Google Shape;153;p22"/>
          <p:cNvPicPr preferRelativeResize="0"/>
          <p:nvPr/>
        </p:nvPicPr>
        <p:blipFill rotWithShape="1">
          <a:blip r:embed="rId3">
            <a:alphaModFix amt="70195"/>
          </a:blip>
          <a:srcRect b="0" l="0" r="0" t="0"/>
          <a:stretch/>
        </p:blipFill>
        <p:spPr>
          <a:xfrm>
            <a:off x="2819400" y="1828800"/>
            <a:ext cx="7023100" cy="412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Substitute Bytes Example</a:t>
            </a:r>
            <a:endParaRPr/>
          </a:p>
        </p:txBody>
      </p:sp>
      <p:pic>
        <p:nvPicPr>
          <p:cNvPr id="160" name="Google Shape;160;p23"/>
          <p:cNvPicPr preferRelativeResize="0"/>
          <p:nvPr/>
        </p:nvPicPr>
        <p:blipFill rotWithShape="1">
          <a:blip r:embed="rId3">
            <a:alphaModFix amt="70195"/>
          </a:blip>
          <a:srcRect b="0" l="0" r="0" t="0"/>
          <a:stretch/>
        </p:blipFill>
        <p:spPr>
          <a:xfrm>
            <a:off x="3352800" y="2133600"/>
            <a:ext cx="5657850" cy="1771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Shift Rows</a:t>
            </a:r>
            <a:endParaRPr/>
          </a:p>
        </p:txBody>
      </p:sp>
      <p:sp>
        <p:nvSpPr>
          <p:cNvPr id="167" name="Google Shape;167;p24"/>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circular byte shift in each each</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1</a:t>
            </a:r>
            <a:r>
              <a:rPr b="0" baseline="30000" i="0" lang="en-US" sz="2400" u="none" cap="none" strike="noStrike">
                <a:solidFill>
                  <a:schemeClr val="dk1"/>
                </a:solidFill>
                <a:latin typeface="Calibri"/>
                <a:ea typeface="Calibri"/>
                <a:cs typeface="Calibri"/>
                <a:sym typeface="Calibri"/>
              </a:rPr>
              <a:t>st</a:t>
            </a:r>
            <a:r>
              <a:rPr b="0" i="0" lang="en-US" sz="2400" u="none" cap="none" strike="noStrike">
                <a:solidFill>
                  <a:schemeClr val="dk1"/>
                </a:solidFill>
                <a:latin typeface="Calibri"/>
                <a:ea typeface="Calibri"/>
                <a:cs typeface="Calibri"/>
                <a:sym typeface="Calibri"/>
              </a:rPr>
              <a:t> row is unchanged</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2</a:t>
            </a:r>
            <a:r>
              <a:rPr b="0" baseline="30000" i="0" lang="en-US" sz="2400" u="none" cap="none" strike="noStrike">
                <a:solidFill>
                  <a:schemeClr val="dk1"/>
                </a:solidFill>
                <a:latin typeface="Calibri"/>
                <a:ea typeface="Calibri"/>
                <a:cs typeface="Calibri"/>
                <a:sym typeface="Calibri"/>
              </a:rPr>
              <a:t>nd</a:t>
            </a:r>
            <a:r>
              <a:rPr b="0" i="0" lang="en-US" sz="2400" u="none" cap="none" strike="noStrike">
                <a:solidFill>
                  <a:schemeClr val="dk1"/>
                </a:solidFill>
                <a:latin typeface="Calibri"/>
                <a:ea typeface="Calibri"/>
                <a:cs typeface="Calibri"/>
                <a:sym typeface="Calibri"/>
              </a:rPr>
              <a:t> row does 1 byte circular shift to left</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3rd row does 2 byte circular shift to left</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4th row does 3 byte circular shift to left</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decrypt inverts using shifts to right</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since state is processed by columns, this step permutes bytes between the columns</a:t>
            </a:r>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Shift Rows</a:t>
            </a:r>
            <a:endParaRPr/>
          </a:p>
        </p:txBody>
      </p:sp>
      <p:pic>
        <p:nvPicPr>
          <p:cNvPr id="174" name="Google Shape;174;p25"/>
          <p:cNvPicPr preferRelativeResize="0"/>
          <p:nvPr/>
        </p:nvPicPr>
        <p:blipFill rotWithShape="1">
          <a:blip r:embed="rId3">
            <a:alphaModFix amt="70195"/>
          </a:blip>
          <a:srcRect b="0" l="0" r="0" t="0"/>
          <a:stretch/>
        </p:blipFill>
        <p:spPr>
          <a:xfrm>
            <a:off x="2514600" y="1371600"/>
            <a:ext cx="7162800" cy="2349500"/>
          </a:xfrm>
          <a:prstGeom prst="rect">
            <a:avLst/>
          </a:prstGeom>
          <a:noFill/>
          <a:ln>
            <a:noFill/>
          </a:ln>
        </p:spPr>
      </p:pic>
      <p:pic>
        <p:nvPicPr>
          <p:cNvPr id="175" name="Google Shape;175;p25"/>
          <p:cNvPicPr preferRelativeResize="0"/>
          <p:nvPr/>
        </p:nvPicPr>
        <p:blipFill rotWithShape="1">
          <a:blip r:embed="rId4">
            <a:alphaModFix amt="70195"/>
          </a:blip>
          <a:srcRect b="0" l="0" r="0" t="0"/>
          <a:stretch/>
        </p:blipFill>
        <p:spPr>
          <a:xfrm>
            <a:off x="3276600" y="4267200"/>
            <a:ext cx="5524500" cy="1676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Mix Columns</a:t>
            </a:r>
            <a:endParaRPr/>
          </a:p>
        </p:txBody>
      </p:sp>
      <p:sp>
        <p:nvSpPr>
          <p:cNvPr id="182" name="Google Shape;182;p26"/>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each column is processed separately</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each byte is replaced by a value dependent on all 4 bytes in the column</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effectively a matrix multiplication in GF(2</a:t>
            </a:r>
            <a:r>
              <a:rPr b="0" baseline="30000" i="0" lang="en-US" sz="2800" u="none">
                <a:solidFill>
                  <a:schemeClr val="dk1"/>
                </a:solidFill>
                <a:latin typeface="Calibri"/>
                <a:ea typeface="Calibri"/>
                <a:cs typeface="Calibri"/>
                <a:sym typeface="Calibri"/>
              </a:rPr>
              <a:t>8</a:t>
            </a:r>
            <a:r>
              <a:rPr b="0" i="0" lang="en-US" sz="2800" u="none">
                <a:solidFill>
                  <a:schemeClr val="dk1"/>
                </a:solidFill>
                <a:latin typeface="Calibri"/>
                <a:ea typeface="Calibri"/>
                <a:cs typeface="Calibri"/>
                <a:sym typeface="Calibri"/>
              </a:rPr>
              <a:t>) using prime poly m(x) =x</a:t>
            </a:r>
            <a:r>
              <a:rPr b="0" baseline="30000" i="0" lang="en-US" sz="2800" u="none">
                <a:solidFill>
                  <a:schemeClr val="dk1"/>
                </a:solidFill>
                <a:latin typeface="Calibri"/>
                <a:ea typeface="Calibri"/>
                <a:cs typeface="Calibri"/>
                <a:sym typeface="Calibri"/>
              </a:rPr>
              <a:t>8</a:t>
            </a:r>
            <a:r>
              <a:rPr b="0" i="0" lang="en-US" sz="2800" u="none">
                <a:solidFill>
                  <a:schemeClr val="dk1"/>
                </a:solidFill>
                <a:latin typeface="Calibri"/>
                <a:ea typeface="Calibri"/>
                <a:cs typeface="Calibri"/>
                <a:sym typeface="Calibri"/>
              </a:rPr>
              <a:t>+x</a:t>
            </a:r>
            <a:r>
              <a:rPr b="0" baseline="30000" i="0" lang="en-US" sz="2800" u="none">
                <a:solidFill>
                  <a:schemeClr val="dk1"/>
                </a:solidFill>
                <a:latin typeface="Calibri"/>
                <a:ea typeface="Calibri"/>
                <a:cs typeface="Calibri"/>
                <a:sym typeface="Calibri"/>
              </a:rPr>
              <a:t>4</a:t>
            </a:r>
            <a:r>
              <a:rPr b="0" i="0" lang="en-US" sz="2800" u="none">
                <a:solidFill>
                  <a:schemeClr val="dk1"/>
                </a:solidFill>
                <a:latin typeface="Calibri"/>
                <a:ea typeface="Calibri"/>
                <a:cs typeface="Calibri"/>
                <a:sym typeface="Calibri"/>
              </a:rPr>
              <a:t>+x</a:t>
            </a:r>
            <a:r>
              <a:rPr b="0" baseline="30000" i="0" lang="en-US" sz="2800" u="none">
                <a:solidFill>
                  <a:schemeClr val="dk1"/>
                </a:solidFill>
                <a:latin typeface="Calibri"/>
                <a:ea typeface="Calibri"/>
                <a:cs typeface="Calibri"/>
                <a:sym typeface="Calibri"/>
              </a:rPr>
              <a:t>3</a:t>
            </a:r>
            <a:r>
              <a:rPr b="0" i="0" lang="en-US" sz="2800" u="none">
                <a:solidFill>
                  <a:schemeClr val="dk1"/>
                </a:solidFill>
                <a:latin typeface="Calibri"/>
                <a:ea typeface="Calibri"/>
                <a:cs typeface="Calibri"/>
                <a:sym typeface="Calibri"/>
              </a:rPr>
              <a:t>+x+1</a:t>
            </a:r>
            <a:endParaRPr/>
          </a:p>
        </p:txBody>
      </p:sp>
      <p:pic>
        <p:nvPicPr>
          <p:cNvPr id="183" name="Google Shape;183;p26"/>
          <p:cNvPicPr preferRelativeResize="0"/>
          <p:nvPr/>
        </p:nvPicPr>
        <p:blipFill rotWithShape="1">
          <a:blip r:embed="rId3">
            <a:alphaModFix amt="70195"/>
          </a:blip>
          <a:srcRect b="0" l="0" r="0" t="0"/>
          <a:stretch/>
        </p:blipFill>
        <p:spPr>
          <a:xfrm>
            <a:off x="2424112" y="4508500"/>
            <a:ext cx="7200900" cy="1612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Mix Columns</a:t>
            </a:r>
            <a:endParaRPr/>
          </a:p>
        </p:txBody>
      </p:sp>
      <p:pic>
        <p:nvPicPr>
          <p:cNvPr id="190" name="Google Shape;190;p27"/>
          <p:cNvPicPr preferRelativeResize="0"/>
          <p:nvPr/>
        </p:nvPicPr>
        <p:blipFill rotWithShape="1">
          <a:blip r:embed="rId3">
            <a:alphaModFix amt="70195"/>
          </a:blip>
          <a:srcRect b="0" l="0" r="0" t="0"/>
          <a:stretch/>
        </p:blipFill>
        <p:spPr>
          <a:xfrm>
            <a:off x="2516187" y="1554162"/>
            <a:ext cx="7162800" cy="3746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Mix Columns Example</a:t>
            </a:r>
            <a:endParaRPr/>
          </a:p>
        </p:txBody>
      </p:sp>
      <p:pic>
        <p:nvPicPr>
          <p:cNvPr id="197" name="Google Shape;197;p28"/>
          <p:cNvPicPr preferRelativeResize="0"/>
          <p:nvPr/>
        </p:nvPicPr>
        <p:blipFill rotWithShape="1">
          <a:blip r:embed="rId3">
            <a:alphaModFix amt="70195"/>
          </a:blip>
          <a:srcRect b="0" l="0" r="0" t="0"/>
          <a:stretch/>
        </p:blipFill>
        <p:spPr>
          <a:xfrm>
            <a:off x="3352800" y="1524000"/>
            <a:ext cx="5581650" cy="1714500"/>
          </a:xfrm>
          <a:prstGeom prst="rect">
            <a:avLst/>
          </a:prstGeom>
          <a:noFill/>
          <a:ln>
            <a:noFill/>
          </a:ln>
        </p:spPr>
      </p:pic>
      <p:pic>
        <p:nvPicPr>
          <p:cNvPr id="198" name="Google Shape;198;p28"/>
          <p:cNvPicPr preferRelativeResize="0"/>
          <p:nvPr/>
        </p:nvPicPr>
        <p:blipFill rotWithShape="1">
          <a:blip r:embed="rId4">
            <a:alphaModFix amt="70195"/>
          </a:blip>
          <a:srcRect b="0" l="0" r="0" t="0"/>
          <a:stretch/>
        </p:blipFill>
        <p:spPr>
          <a:xfrm>
            <a:off x="2438400" y="3810000"/>
            <a:ext cx="7429500" cy="2114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Arithmetic</a:t>
            </a:r>
            <a:endParaRPr/>
          </a:p>
        </p:txBody>
      </p:sp>
      <p:sp>
        <p:nvSpPr>
          <p:cNvPr id="205" name="Google Shape;205;p29"/>
          <p:cNvSpPr txBox="1"/>
          <p:nvPr>
            <p:ph idx="1" type="body"/>
          </p:nvPr>
        </p:nvSpPr>
        <p:spPr>
          <a:xfrm>
            <a:off x="1981200" y="1676400"/>
            <a:ext cx="8458200" cy="44545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uses arithmetic in the finite field GF(2</a:t>
            </a:r>
            <a:r>
              <a:rPr b="0" baseline="30000" i="0" lang="en-US" sz="2800" u="none">
                <a:solidFill>
                  <a:schemeClr val="dk1"/>
                </a:solidFill>
                <a:latin typeface="Calibri"/>
                <a:ea typeface="Calibri"/>
                <a:cs typeface="Calibri"/>
                <a:sym typeface="Calibri"/>
              </a:rPr>
              <a:t>8</a:t>
            </a:r>
            <a:r>
              <a:rPr b="0" i="0" lang="en-US" sz="2800" u="none">
                <a:solidFill>
                  <a:schemeClr val="dk1"/>
                </a:solidFill>
                <a:latin typeface="Calibri"/>
                <a:ea typeface="Calibri"/>
                <a:cs typeface="Calibri"/>
                <a:sym typeface="Calibri"/>
              </a:rPr>
              <a:t>)</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with irreducible polynomial</a:t>
            </a:r>
            <a:endParaRPr/>
          </a:p>
          <a:p>
            <a:pPr indent="-228600" lvl="1" marL="685800" marR="0" rtl="0" algn="l">
              <a:lnSpc>
                <a:spcPct val="90000"/>
              </a:lnSpc>
              <a:spcBef>
                <a:spcPts val="500"/>
              </a:spcBef>
              <a:spcAft>
                <a:spcPts val="0"/>
              </a:spcAft>
              <a:buClr>
                <a:schemeClr val="dk1"/>
              </a:buClr>
              <a:buSzPts val="2400"/>
              <a:buFont typeface="Arial"/>
              <a:buNone/>
            </a:pPr>
            <a:r>
              <a:rPr b="0" i="1" lang="en-US" sz="2400" u="none" cap="none" strike="noStrike">
                <a:solidFill>
                  <a:schemeClr val="dk1"/>
                </a:solidFill>
                <a:latin typeface="Courier New"/>
                <a:ea typeface="Courier New"/>
                <a:cs typeface="Courier New"/>
                <a:sym typeface="Courier New"/>
              </a:rPr>
              <a:t>m(x) = x</a:t>
            </a:r>
            <a:r>
              <a:rPr b="0" baseline="30000" i="1" lang="en-US" sz="2400" u="none" cap="none" strike="noStrike">
                <a:solidFill>
                  <a:schemeClr val="dk1"/>
                </a:solidFill>
                <a:latin typeface="Courier New"/>
                <a:ea typeface="Courier New"/>
                <a:cs typeface="Courier New"/>
                <a:sym typeface="Courier New"/>
              </a:rPr>
              <a:t>8</a:t>
            </a:r>
            <a:r>
              <a:rPr b="0" i="1" lang="en-US" sz="2400" u="none" cap="none" strike="noStrike">
                <a:solidFill>
                  <a:schemeClr val="dk1"/>
                </a:solidFill>
                <a:latin typeface="Courier New"/>
                <a:ea typeface="Courier New"/>
                <a:cs typeface="Courier New"/>
                <a:sym typeface="Courier New"/>
              </a:rPr>
              <a:t> + x</a:t>
            </a:r>
            <a:r>
              <a:rPr b="0" baseline="30000" i="1" lang="en-US" sz="2400" u="none" cap="none" strike="noStrike">
                <a:solidFill>
                  <a:schemeClr val="dk1"/>
                </a:solidFill>
                <a:latin typeface="Courier New"/>
                <a:ea typeface="Courier New"/>
                <a:cs typeface="Courier New"/>
                <a:sym typeface="Courier New"/>
              </a:rPr>
              <a:t>4</a:t>
            </a:r>
            <a:r>
              <a:rPr b="0" i="1" lang="en-US" sz="2400" u="none" cap="none" strike="noStrike">
                <a:solidFill>
                  <a:schemeClr val="dk1"/>
                </a:solidFill>
                <a:latin typeface="Courier New"/>
                <a:ea typeface="Courier New"/>
                <a:cs typeface="Courier New"/>
                <a:sym typeface="Courier New"/>
              </a:rPr>
              <a:t> + x</a:t>
            </a:r>
            <a:r>
              <a:rPr b="0" baseline="30000" i="1" lang="en-US" sz="2400" u="none" cap="none" strike="noStrike">
                <a:solidFill>
                  <a:schemeClr val="dk1"/>
                </a:solidFill>
                <a:latin typeface="Courier New"/>
                <a:ea typeface="Courier New"/>
                <a:cs typeface="Courier New"/>
                <a:sym typeface="Courier New"/>
              </a:rPr>
              <a:t>3</a:t>
            </a:r>
            <a:r>
              <a:rPr b="0" i="1" lang="en-US" sz="2400" u="none" cap="none" strike="noStrike">
                <a:solidFill>
                  <a:schemeClr val="dk1"/>
                </a:solidFill>
                <a:latin typeface="Courier New"/>
                <a:ea typeface="Courier New"/>
                <a:cs typeface="Courier New"/>
                <a:sym typeface="Courier New"/>
              </a:rPr>
              <a:t> + x + 1</a:t>
            </a:r>
            <a:endParaRPr/>
          </a:p>
          <a:p>
            <a:pPr indent="-228600" lvl="1" marL="685800" marR="0" rtl="0" algn="l">
              <a:lnSpc>
                <a:spcPct val="90000"/>
              </a:lnSpc>
              <a:spcBef>
                <a:spcPts val="5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which is </a:t>
            </a:r>
            <a:r>
              <a:rPr b="0" i="0" lang="en-US" sz="2400" u="none" cap="none" strike="noStrike">
                <a:solidFill>
                  <a:schemeClr val="dk1"/>
                </a:solidFill>
                <a:latin typeface="Courier New"/>
                <a:ea typeface="Courier New"/>
                <a:cs typeface="Courier New"/>
                <a:sym typeface="Courier New"/>
              </a:rPr>
              <a:t>(100011011) </a:t>
            </a:r>
            <a:r>
              <a:rPr b="0" i="0" lang="en-US" sz="2400" u="none" cap="none" strike="noStrike">
                <a:solidFill>
                  <a:schemeClr val="dk1"/>
                </a:solidFill>
                <a:latin typeface="Calibri"/>
                <a:ea typeface="Calibri"/>
                <a:cs typeface="Calibri"/>
                <a:sym typeface="Calibri"/>
              </a:rPr>
              <a:t>or </a:t>
            </a:r>
            <a:r>
              <a:rPr b="0" i="0" lang="en-US" sz="2400" u="none" cap="none" strike="noStrike">
                <a:solidFill>
                  <a:schemeClr val="dk1"/>
                </a:solidFill>
                <a:latin typeface="Courier New"/>
                <a:ea typeface="Courier New"/>
                <a:cs typeface="Courier New"/>
                <a:sym typeface="Courier New"/>
              </a:rPr>
              <a:t>{11b}</a:t>
            </a:r>
            <a:endParaRPr/>
          </a:p>
          <a:p>
            <a:pPr indent="-228600" lvl="0" marL="228600" marR="0" rtl="0" algn="l">
              <a:lnSpc>
                <a:spcPct val="90000"/>
              </a:lnSpc>
              <a:spcBef>
                <a:spcPts val="1000"/>
              </a:spcBef>
              <a:spcAft>
                <a:spcPts val="0"/>
              </a:spcAft>
              <a:buClr>
                <a:schemeClr val="dk1"/>
              </a:buClr>
              <a:buSzPts val="2800"/>
              <a:buFont typeface="Arial"/>
              <a:buChar char="•"/>
            </a:pPr>
            <a:r>
              <a:rPr b="0" i="1" lang="en-US" sz="2800" u="none">
                <a:solidFill>
                  <a:schemeClr val="dk1"/>
                </a:solidFill>
                <a:latin typeface="Calibri"/>
                <a:ea typeface="Calibri"/>
                <a:cs typeface="Calibri"/>
                <a:sym typeface="Calibri"/>
              </a:rPr>
              <a:t> </a:t>
            </a:r>
            <a:r>
              <a:rPr b="0" i="0" lang="en-US" sz="2800" u="none">
                <a:solidFill>
                  <a:schemeClr val="dk1"/>
                </a:solidFill>
                <a:latin typeface="Calibri"/>
                <a:ea typeface="Calibri"/>
                <a:cs typeface="Calibri"/>
                <a:sym typeface="Calibri"/>
              </a:rPr>
              <a:t>e.g. </a:t>
            </a:r>
            <a:endParaRPr/>
          </a:p>
          <a:p>
            <a:pPr indent="-228600" lvl="1" marL="685800" marR="0" rtl="0" algn="l">
              <a:lnSpc>
                <a:spcPct val="90000"/>
              </a:lnSpc>
              <a:spcBef>
                <a:spcPts val="5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{02} • {87} mod {11b} = (1 0000 1110) mod {11b}</a:t>
            </a:r>
            <a:endParaRPr/>
          </a:p>
          <a:p>
            <a:pPr indent="-228600" lvl="1" marL="685800" marR="0" rtl="0" algn="l">
              <a:lnSpc>
                <a:spcPct val="90000"/>
              </a:lnSpc>
              <a:spcBef>
                <a:spcPts val="5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(1 0000 1110) xor (1 0001 1011) = (0001 0101)</a:t>
            </a:r>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Mix Columns</a:t>
            </a:r>
            <a:endParaRPr/>
          </a:p>
        </p:txBody>
      </p:sp>
      <p:sp>
        <p:nvSpPr>
          <p:cNvPr id="212" name="Google Shape;212;p30"/>
          <p:cNvSpPr txBox="1"/>
          <p:nvPr>
            <p:ph idx="1" type="body"/>
          </p:nvPr>
        </p:nvSpPr>
        <p:spPr>
          <a:xfrm>
            <a:off x="1981200" y="1524000"/>
            <a:ext cx="8229600" cy="48768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can express each col as 4 equations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to derive each new byte in col</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decryption requires use of inverse matrix</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with larger coefficients, hence a little harder</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have an alternate characterisation </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each column a 4-term polynomial</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with coefficients in GF(2</a:t>
            </a:r>
            <a:r>
              <a:rPr b="0" baseline="30000" i="0" lang="en-US" sz="2400" u="none" cap="none" strike="noStrike">
                <a:solidFill>
                  <a:schemeClr val="dk1"/>
                </a:solidFill>
                <a:latin typeface="Calibri"/>
                <a:ea typeface="Calibri"/>
                <a:cs typeface="Calibri"/>
                <a:sym typeface="Calibri"/>
              </a:rPr>
              <a:t>8</a:t>
            </a:r>
            <a:r>
              <a:rPr b="0" i="0" lang="en-US" sz="2400" u="none" cap="none" strike="noStrike">
                <a:solidFill>
                  <a:schemeClr val="dk1"/>
                </a:solidFill>
                <a:latin typeface="Calibri"/>
                <a:ea typeface="Calibri"/>
                <a:cs typeface="Calibri"/>
                <a:sym typeface="Calibri"/>
              </a:rPr>
              <a:t>) </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and polynomials multiplied modulo (x</a:t>
            </a:r>
            <a:r>
              <a:rPr b="0" baseline="30000" i="0" lang="en-US" sz="2400" u="none" cap="none" strike="noStrike">
                <a:solidFill>
                  <a:schemeClr val="dk1"/>
                </a:solidFill>
                <a:latin typeface="Calibri"/>
                <a:ea typeface="Calibri"/>
                <a:cs typeface="Calibri"/>
                <a:sym typeface="Calibri"/>
              </a:rPr>
              <a:t>4</a:t>
            </a:r>
            <a:r>
              <a:rPr b="0" i="0" lang="en-US" sz="2400" u="none" cap="none" strike="noStrike">
                <a:solidFill>
                  <a:schemeClr val="dk1"/>
                </a:solidFill>
                <a:latin typeface="Calibri"/>
                <a:ea typeface="Calibri"/>
                <a:cs typeface="Calibri"/>
                <a:sym typeface="Calibri"/>
              </a:rPr>
              <a:t>+1)</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coefficients based on linear code with maximal distance between codewords</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Add Round Key</a:t>
            </a:r>
            <a:endParaRPr/>
          </a:p>
        </p:txBody>
      </p:sp>
      <p:sp>
        <p:nvSpPr>
          <p:cNvPr id="219" name="Google Shape;219;p31"/>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XOR state with 128-bits of the round key</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again processed by column (though effectively a series of byte operations)</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inverse for decryption identical</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since XOR own inverse, with reversed keys</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designed to be as simple as possible</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a form of Vernam cipher on expanded key</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requires other stages for complexity / security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Add Round Key</a:t>
            </a:r>
            <a:endParaRPr/>
          </a:p>
        </p:txBody>
      </p:sp>
      <p:pic>
        <p:nvPicPr>
          <p:cNvPr id="226" name="Google Shape;226;p32"/>
          <p:cNvPicPr preferRelativeResize="0"/>
          <p:nvPr/>
        </p:nvPicPr>
        <p:blipFill rotWithShape="1">
          <a:blip r:embed="rId3">
            <a:alphaModFix amt="70195"/>
          </a:blip>
          <a:srcRect b="0" l="0" r="0" t="0"/>
          <a:stretch/>
        </p:blipFill>
        <p:spPr>
          <a:xfrm>
            <a:off x="2667000" y="2438400"/>
            <a:ext cx="7010400" cy="1968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Round</a:t>
            </a:r>
            <a:endParaRPr/>
          </a:p>
        </p:txBody>
      </p:sp>
      <p:pic>
        <p:nvPicPr>
          <p:cNvPr id="233" name="Google Shape;233;p33"/>
          <p:cNvPicPr preferRelativeResize="0"/>
          <p:nvPr/>
        </p:nvPicPr>
        <p:blipFill rotWithShape="1">
          <a:blip r:embed="rId3">
            <a:alphaModFix amt="70195"/>
          </a:blip>
          <a:srcRect b="0" l="0" r="0" t="0"/>
          <a:stretch/>
        </p:blipFill>
        <p:spPr>
          <a:xfrm>
            <a:off x="2819400" y="1371600"/>
            <a:ext cx="6675437" cy="515778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Key Expansion</a:t>
            </a:r>
            <a:endParaRPr/>
          </a:p>
        </p:txBody>
      </p:sp>
      <p:sp>
        <p:nvSpPr>
          <p:cNvPr id="240" name="Google Shape;240;p34"/>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takes 128-bit (16-byte) key and expands into array of 44/52/60 32-bit words</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start by copying key into first 4 words</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then loop creating words that depend on values in previous &amp; 4 places back</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in 3 of 4 cases just XOR these together</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1</a:t>
            </a:r>
            <a:r>
              <a:rPr b="0" baseline="30000" i="0" lang="en-US" sz="2400" u="none" cap="none" strike="noStrike">
                <a:solidFill>
                  <a:schemeClr val="dk1"/>
                </a:solidFill>
                <a:latin typeface="Calibri"/>
                <a:ea typeface="Calibri"/>
                <a:cs typeface="Calibri"/>
                <a:sym typeface="Calibri"/>
              </a:rPr>
              <a:t>st</a:t>
            </a:r>
            <a:r>
              <a:rPr b="0" i="0" lang="en-US" sz="2400" u="none" cap="none" strike="noStrike">
                <a:solidFill>
                  <a:schemeClr val="dk1"/>
                </a:solidFill>
                <a:latin typeface="Calibri"/>
                <a:ea typeface="Calibri"/>
                <a:cs typeface="Calibri"/>
                <a:sym typeface="Calibri"/>
              </a:rPr>
              <a:t> word in 4 has rotate + S-box + XOR round constant on previous, before XOR 4</a:t>
            </a:r>
            <a:r>
              <a:rPr b="0" baseline="30000" i="0" lang="en-US" sz="2400" u="none" cap="none" strike="noStrike">
                <a:solidFill>
                  <a:schemeClr val="dk1"/>
                </a:solidFill>
                <a:latin typeface="Calibri"/>
                <a:ea typeface="Calibri"/>
                <a:cs typeface="Calibri"/>
                <a:sym typeface="Calibri"/>
              </a:rPr>
              <a:t>th</a:t>
            </a:r>
            <a:r>
              <a:rPr b="0" i="0" lang="en-US" sz="2400" u="none" cap="none" strike="noStrike">
                <a:solidFill>
                  <a:schemeClr val="dk1"/>
                </a:solidFill>
                <a:latin typeface="Calibri"/>
                <a:ea typeface="Calibri"/>
                <a:cs typeface="Calibri"/>
                <a:sym typeface="Calibri"/>
              </a:rPr>
              <a:t> 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Key Expansion</a:t>
            </a:r>
            <a:endParaRPr/>
          </a:p>
        </p:txBody>
      </p:sp>
      <p:pic>
        <p:nvPicPr>
          <p:cNvPr id="247" name="Google Shape;247;p35"/>
          <p:cNvPicPr preferRelativeResize="0"/>
          <p:nvPr/>
        </p:nvPicPr>
        <p:blipFill rotWithShape="1">
          <a:blip r:embed="rId3">
            <a:alphaModFix amt="70195"/>
          </a:blip>
          <a:srcRect b="0" l="0" r="0" t="0"/>
          <a:stretch/>
        </p:blipFill>
        <p:spPr>
          <a:xfrm>
            <a:off x="4267200" y="1752600"/>
            <a:ext cx="3667125" cy="4248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Key Expansion Rationale</a:t>
            </a:r>
            <a:endParaRPr/>
          </a:p>
        </p:txBody>
      </p:sp>
      <p:sp>
        <p:nvSpPr>
          <p:cNvPr id="254" name="Google Shape;254;p36"/>
          <p:cNvSpPr txBox="1"/>
          <p:nvPr>
            <p:ph idx="1" type="body"/>
          </p:nvPr>
        </p:nvSpPr>
        <p:spPr>
          <a:xfrm>
            <a:off x="1981200" y="1676400"/>
            <a:ext cx="8458200" cy="44545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designed to resist known attacks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design criteria included</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knowing part key insufficient to find many more</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invertible transformation</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fast on wide range of CPU’s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use round constants to break symmetry</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diffuse key bits into round keys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enough non-linearity to hinder analysis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simplicity of description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7"/>
          <p:cNvSpPr txBox="1"/>
          <p:nvPr>
            <p:ph type="title"/>
          </p:nvPr>
        </p:nvSpPr>
        <p:spPr>
          <a:xfrm>
            <a:off x="1676400" y="304800"/>
            <a:ext cx="3429000" cy="558958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Example Key Expansion</a:t>
            </a:r>
            <a:endParaRPr/>
          </a:p>
        </p:txBody>
      </p:sp>
      <p:pic>
        <p:nvPicPr>
          <p:cNvPr id="261" name="Google Shape;261;p37"/>
          <p:cNvPicPr preferRelativeResize="0"/>
          <p:nvPr/>
        </p:nvPicPr>
        <p:blipFill rotWithShape="1">
          <a:blip r:embed="rId3">
            <a:alphaModFix amt="70195"/>
          </a:blip>
          <a:srcRect b="0" l="0" r="0" t="0"/>
          <a:stretch/>
        </p:blipFill>
        <p:spPr>
          <a:xfrm>
            <a:off x="4953000" y="107950"/>
            <a:ext cx="5486400" cy="661828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8"/>
          <p:cNvSpPr txBox="1"/>
          <p:nvPr>
            <p:ph type="title"/>
          </p:nvPr>
        </p:nvSpPr>
        <p:spPr>
          <a:xfrm>
            <a:off x="1676400" y="304800"/>
            <a:ext cx="3429000" cy="558958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Example Encryption</a:t>
            </a:r>
            <a:endParaRPr/>
          </a:p>
        </p:txBody>
      </p:sp>
      <p:pic>
        <p:nvPicPr>
          <p:cNvPr id="268" name="Google Shape;268;p38"/>
          <p:cNvPicPr preferRelativeResize="0"/>
          <p:nvPr/>
        </p:nvPicPr>
        <p:blipFill rotWithShape="1">
          <a:blip r:embed="rId3">
            <a:alphaModFix amt="70195"/>
          </a:blip>
          <a:srcRect b="0" l="0" r="0" t="0"/>
          <a:stretch/>
        </p:blipFill>
        <p:spPr>
          <a:xfrm>
            <a:off x="5715000" y="107950"/>
            <a:ext cx="4803775" cy="66817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9"/>
          <p:cNvSpPr txBox="1"/>
          <p:nvPr>
            <p:ph type="title"/>
          </p:nvPr>
        </p:nvSpPr>
        <p:spPr>
          <a:xfrm>
            <a:off x="1676400" y="304800"/>
            <a:ext cx="3429000" cy="558958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Example Avalanche</a:t>
            </a:r>
            <a:endParaRPr/>
          </a:p>
        </p:txBody>
      </p:sp>
      <p:pic>
        <p:nvPicPr>
          <p:cNvPr id="275" name="Google Shape;275;p39"/>
          <p:cNvPicPr preferRelativeResize="0"/>
          <p:nvPr/>
        </p:nvPicPr>
        <p:blipFill rotWithShape="1">
          <a:blip r:embed="rId3">
            <a:alphaModFix amt="70195"/>
          </a:blip>
          <a:srcRect b="0" l="0" r="0" t="0"/>
          <a:stretch/>
        </p:blipFill>
        <p:spPr>
          <a:xfrm>
            <a:off x="5257800" y="228600"/>
            <a:ext cx="5257800" cy="63881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Decryption</a:t>
            </a:r>
            <a:endParaRPr/>
          </a:p>
        </p:txBody>
      </p:sp>
      <p:sp>
        <p:nvSpPr>
          <p:cNvPr id="282" name="Google Shape;282;p40"/>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AES decryption is not identical to encryption since steps done in reverse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but can define an equivalent inverse cipher with steps as for encryption</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but using inverses of each step</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with a different key schedule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works since result is unchanged when</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swap byte substitution &amp; shift rows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swap mix columns &amp; add (tweaked) round key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AES Decryption</a:t>
            </a:r>
            <a:endParaRPr/>
          </a:p>
        </p:txBody>
      </p:sp>
      <p:pic>
        <p:nvPicPr>
          <p:cNvPr id="289" name="Google Shape;289;p41"/>
          <p:cNvPicPr preferRelativeResize="0"/>
          <p:nvPr/>
        </p:nvPicPr>
        <p:blipFill rotWithShape="1">
          <a:blip r:embed="rId3">
            <a:alphaModFix amt="70195"/>
          </a:blip>
          <a:srcRect b="0" l="0" r="0" t="0"/>
          <a:stretch/>
        </p:blipFill>
        <p:spPr>
          <a:xfrm>
            <a:off x="4343400" y="1447800"/>
            <a:ext cx="3390900" cy="50133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Implementation Aspects</a:t>
            </a:r>
            <a:endParaRPr/>
          </a:p>
        </p:txBody>
      </p:sp>
      <p:sp>
        <p:nvSpPr>
          <p:cNvPr id="296" name="Google Shape;296;p42"/>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can efficiently implement on 8-bit CPU</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byte substitution works on bytes using a table of 256 entries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shift rows is simple byte shift</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add round key works on byte XOR’s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mix columns requires matrix multiply in GF(2</a:t>
            </a:r>
            <a:r>
              <a:rPr b="0" baseline="30000" i="0" lang="en-US" sz="2400" u="none" cap="none" strike="noStrike">
                <a:solidFill>
                  <a:schemeClr val="dk1"/>
                </a:solidFill>
                <a:latin typeface="Calibri"/>
                <a:ea typeface="Calibri"/>
                <a:cs typeface="Calibri"/>
                <a:sym typeface="Calibri"/>
              </a:rPr>
              <a:t>8</a:t>
            </a:r>
            <a:r>
              <a:rPr b="0" i="0" lang="en-US" sz="2400" u="none" cap="none" strike="noStrike">
                <a:solidFill>
                  <a:schemeClr val="dk1"/>
                </a:solidFill>
                <a:latin typeface="Calibri"/>
                <a:ea typeface="Calibri"/>
                <a:cs typeface="Calibri"/>
                <a:sym typeface="Calibri"/>
              </a:rPr>
              <a:t>) which works on byte values, can be simplified to use table lookups &amp; byte XOR’s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Implementation Aspects</a:t>
            </a:r>
            <a:endParaRPr/>
          </a:p>
        </p:txBody>
      </p:sp>
      <p:sp>
        <p:nvSpPr>
          <p:cNvPr id="303" name="Google Shape;303;p43"/>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can efficiently implement on 32-bit CPU</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redefine steps to use 32-bit words</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can precompute 4 tables of 256-words</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then each column in each round can be computed using 4 table lookups + 4 XORs</a:t>
            </a:r>
            <a:endParaRPr/>
          </a:p>
          <a:p>
            <a:pPr indent="-228600" lvl="1" marL="685800" marR="0" rtl="0" algn="l">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at a cost of 4Kb to store tables</a:t>
            </a:r>
            <a:endParaRPr/>
          </a:p>
          <a:p>
            <a:pPr indent="-228600" lvl="0" marL="228600" marR="0" rtl="0" algn="l">
              <a:lnSpc>
                <a:spcPct val="90000"/>
              </a:lnSpc>
              <a:spcBef>
                <a:spcPts val="100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designers believe this very efficient implementation was a key factor in its selection as the AES cipher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4"/>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Summary</a:t>
            </a:r>
            <a:endParaRPr/>
          </a:p>
        </p:txBody>
      </p:sp>
      <p:sp>
        <p:nvSpPr>
          <p:cNvPr id="310" name="Google Shape;310;p44"/>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have considered:</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AES selection process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details of Rijndael – the AES cipher</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looked at the steps in each round</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key expansion</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implementation aspects</a:t>
            </a:r>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