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svg" ContentType="image/sv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media/image30.svg" ContentType="image/svg+xml"/>
  <Override PartName="/ppt/media/image31.svg" ContentType="image/svg+xml"/>
  <Override PartName="/ppt/media/image32.svg" ContentType="image/sv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media/image36.svg" ContentType="image/svg+xml"/>
  <Override PartName="/ppt/media/image37.svg" ContentType="image/sv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media/image40.svg" ContentType="image/svg+xml"/>
  <Override PartName="/ppt/media/image41.svg" ContentType="image/sv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media/image42.svg" ContentType="image/sv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media/image44.svg" ContentType="image/sv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0"/>
  </p:notesMasterIdLst>
  <p:sldIdLst>
    <p:sldId id="256" r:id="rId2"/>
    <p:sldId id="257" r:id="rId3"/>
    <p:sldId id="258" r:id="rId4"/>
    <p:sldId id="708" r:id="rId5"/>
    <p:sldId id="709" r:id="rId6"/>
    <p:sldId id="710" r:id="rId7"/>
    <p:sldId id="711" r:id="rId8"/>
    <p:sldId id="712" r:id="rId9"/>
    <p:sldId id="713" r:id="rId10"/>
    <p:sldId id="714" r:id="rId11"/>
    <p:sldId id="266" r:id="rId12"/>
    <p:sldId id="715" r:id="rId13"/>
    <p:sldId id="716" r:id="rId14"/>
    <p:sldId id="717" r:id="rId15"/>
    <p:sldId id="718" r:id="rId16"/>
    <p:sldId id="719" r:id="rId17"/>
    <p:sldId id="272" r:id="rId18"/>
    <p:sldId id="720" r:id="rId19"/>
    <p:sldId id="721" r:id="rId20"/>
    <p:sldId id="722" r:id="rId21"/>
    <p:sldId id="723" r:id="rId22"/>
    <p:sldId id="724" r:id="rId23"/>
    <p:sldId id="725" r:id="rId24"/>
    <p:sldId id="726" r:id="rId25"/>
    <p:sldId id="727" r:id="rId26"/>
    <p:sldId id="728" r:id="rId27"/>
    <p:sldId id="729" r:id="rId28"/>
    <p:sldId id="730" r:id="rId29"/>
    <p:sldId id="731" r:id="rId30"/>
    <p:sldId id="732" r:id="rId31"/>
    <p:sldId id="733" r:id="rId32"/>
    <p:sldId id="734" r:id="rId33"/>
    <p:sldId id="735" r:id="rId34"/>
    <p:sldId id="736" r:id="rId35"/>
    <p:sldId id="737" r:id="rId36"/>
    <p:sldId id="738"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739" r:id="rId54"/>
    <p:sldId id="740" r:id="rId55"/>
    <p:sldId id="310" r:id="rId56"/>
    <p:sldId id="308" r:id="rId57"/>
    <p:sldId id="309" r:id="rId58"/>
    <p:sldId id="687" r:id="rId59"/>
    <p:sldId id="312" r:id="rId60"/>
    <p:sldId id="259" r:id="rId61"/>
    <p:sldId id="260" r:id="rId62"/>
    <p:sldId id="261" r:id="rId63"/>
    <p:sldId id="262" r:id="rId64"/>
    <p:sldId id="263" r:id="rId65"/>
    <p:sldId id="264" r:id="rId66"/>
    <p:sldId id="265" r:id="rId67"/>
    <p:sldId id="267" r:id="rId68"/>
    <p:sldId id="268" r:id="rId69"/>
    <p:sldId id="706" r:id="rId70"/>
    <p:sldId id="688" r:id="rId71"/>
    <p:sldId id="269" r:id="rId72"/>
    <p:sldId id="270" r:id="rId73"/>
    <p:sldId id="271" r:id="rId74"/>
    <p:sldId id="689" r:id="rId75"/>
    <p:sldId id="690" r:id="rId76"/>
    <p:sldId id="274" r:id="rId77"/>
    <p:sldId id="276" r:id="rId78"/>
    <p:sldId id="277" r:id="rId79"/>
    <p:sldId id="278" r:id="rId80"/>
    <p:sldId id="279" r:id="rId81"/>
    <p:sldId id="280" r:id="rId82"/>
    <p:sldId id="273" r:id="rId83"/>
    <p:sldId id="281" r:id="rId84"/>
    <p:sldId id="698" r:id="rId85"/>
    <p:sldId id="275" r:id="rId86"/>
    <p:sldId id="699" r:id="rId87"/>
    <p:sldId id="700" r:id="rId88"/>
    <p:sldId id="701" r:id="rId89"/>
    <p:sldId id="702" r:id="rId90"/>
    <p:sldId id="703" r:id="rId91"/>
    <p:sldId id="282" r:id="rId92"/>
    <p:sldId id="283" r:id="rId93"/>
    <p:sldId id="284" r:id="rId94"/>
    <p:sldId id="691" r:id="rId95"/>
    <p:sldId id="692" r:id="rId96"/>
    <p:sldId id="693" r:id="rId97"/>
    <p:sldId id="694" r:id="rId98"/>
    <p:sldId id="695" r:id="rId99"/>
    <p:sldId id="696" r:id="rId100"/>
    <p:sldId id="697" r:id="rId101"/>
    <p:sldId id="285" r:id="rId102"/>
    <p:sldId id="286" r:id="rId103"/>
    <p:sldId id="287" r:id="rId104"/>
    <p:sldId id="288" r:id="rId105"/>
    <p:sldId id="289" r:id="rId106"/>
    <p:sldId id="290" r:id="rId107"/>
    <p:sldId id="705" r:id="rId108"/>
    <p:sldId id="291" r:id="rId10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p:restoredTop sz="93688"/>
  </p:normalViewPr>
  <p:slideViewPr>
    <p:cSldViewPr snapToGrid="0">
      <p:cViewPr varScale="1">
        <p:scale>
          <a:sx n="93" d="100"/>
          <a:sy n="93" d="100"/>
        </p:scale>
        <p:origin x="216" y="6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svg"/><Relationship Id="rId1" Type="http://schemas.openxmlformats.org/officeDocument/2006/relationships/image" Target="../media/image30.svg"/></Relationships>
</file>

<file path=ppt/diagrams/_rels/data2.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svg"/><Relationship Id="rId1" Type="http://schemas.openxmlformats.org/officeDocument/2006/relationships/image" Target="../media/image30.svg"/></Relationships>
</file>

<file path=ppt/diagrams/_rels/data3.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31.svg"/><Relationship Id="rId1" Type="http://schemas.openxmlformats.org/officeDocument/2006/relationships/image" Target="../media/image40.svg"/></Relationships>
</file>

<file path=ppt/diagrams/_rels/data4.xml.rels><?xml version="1.0" encoding="UTF-8" standalone="yes"?>
<Relationships xmlns="http://schemas.openxmlformats.org/package/2006/relationships"><Relationship Id="rId2" Type="http://schemas.openxmlformats.org/officeDocument/2006/relationships/image" Target="../media/image31.svg"/><Relationship Id="rId1" Type="http://schemas.openxmlformats.org/officeDocument/2006/relationships/image" Target="../media/image42.svg"/></Relationships>
</file>

<file path=ppt/diagrams/_rels/data5.xml.rels><?xml version="1.0" encoding="UTF-8" standalone="yes"?>
<Relationships xmlns="http://schemas.openxmlformats.org/package/2006/relationships"><Relationship Id="rId2" Type="http://schemas.openxmlformats.org/officeDocument/2006/relationships/image" Target="../media/image31.svg"/><Relationship Id="rId1" Type="http://schemas.openxmlformats.org/officeDocument/2006/relationships/image" Target="../media/image4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svg"/><Relationship Id="rId1" Type="http://schemas.openxmlformats.org/officeDocument/2006/relationships/image" Target="../media/image30.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svg"/><Relationship Id="rId1" Type="http://schemas.openxmlformats.org/officeDocument/2006/relationships/image" Target="../media/image30.svg"/></Relationships>
</file>

<file path=ppt/diagrams/_rels/drawing3.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31.svg"/><Relationship Id="rId1" Type="http://schemas.openxmlformats.org/officeDocument/2006/relationships/image" Target="../media/image40.svg"/></Relationships>
</file>

<file path=ppt/diagrams/_rels/drawing4.xml.rels><?xml version="1.0" encoding="UTF-8" standalone="yes"?>
<Relationships xmlns="http://schemas.openxmlformats.org/package/2006/relationships"><Relationship Id="rId2" Type="http://schemas.openxmlformats.org/officeDocument/2006/relationships/image" Target="../media/image31.svg"/><Relationship Id="rId1" Type="http://schemas.openxmlformats.org/officeDocument/2006/relationships/image" Target="../media/image42.svg"/></Relationships>
</file>

<file path=ppt/diagrams/_rels/drawing5.xml.rels><?xml version="1.0" encoding="UTF-8" standalone="yes"?>
<Relationships xmlns="http://schemas.openxmlformats.org/package/2006/relationships"><Relationship Id="rId2" Type="http://schemas.openxmlformats.org/officeDocument/2006/relationships/image" Target="../media/image31.svg"/><Relationship Id="rId1" Type="http://schemas.openxmlformats.org/officeDocument/2006/relationships/image" Target="../media/image44.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81EF5D-8FB5-44E4-BD7F-7CDFB1C89B06}"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B9772E0C-581C-4FD9-B10E-1E34891ED4EB}">
      <dgm:prSet/>
      <dgm:spPr/>
      <dgm:t>
        <a:bodyPr/>
        <a:lstStyle/>
        <a:p>
          <a:r>
            <a:rPr lang="en-US"/>
            <a:t>It is a set of standards and associated protocols to establish a secure channel between two computers.</a:t>
          </a:r>
        </a:p>
      </dgm:t>
    </dgm:pt>
    <dgm:pt modelId="{8F1AF0D2-CC4A-4CF5-A6F0-DBE1E08635EF}" type="parTrans" cxnId="{F6AF7337-632F-4FF9-A758-36149C279C2C}">
      <dgm:prSet/>
      <dgm:spPr/>
      <dgm:t>
        <a:bodyPr/>
        <a:lstStyle/>
        <a:p>
          <a:endParaRPr lang="en-US"/>
        </a:p>
      </dgm:t>
    </dgm:pt>
    <dgm:pt modelId="{DCE372D3-70AA-477E-B6EF-F7ECEBEC1852}" type="sibTrans" cxnId="{F6AF7337-632F-4FF9-A758-36149C279C2C}">
      <dgm:prSet/>
      <dgm:spPr/>
      <dgm:t>
        <a:bodyPr/>
        <a:lstStyle/>
        <a:p>
          <a:endParaRPr lang="en-US"/>
        </a:p>
      </dgm:t>
    </dgm:pt>
    <dgm:pt modelId="{03EAA856-E92E-4AE4-9C11-0283C77036B4}">
      <dgm:prSet/>
      <dgm:spPr/>
      <dgm:t>
        <a:bodyPr/>
        <a:lstStyle/>
        <a:p>
          <a:r>
            <a:rPr lang="en-US"/>
            <a:t>It provides mutual authentication, data confidentiality, and data integrity.</a:t>
          </a:r>
        </a:p>
      </dgm:t>
    </dgm:pt>
    <dgm:pt modelId="{E03DD7DE-39DA-402E-9940-C53722DC6AE2}" type="parTrans" cxnId="{5AECD33C-2B06-4BB2-A320-C862C5AE9638}">
      <dgm:prSet/>
      <dgm:spPr/>
      <dgm:t>
        <a:bodyPr/>
        <a:lstStyle/>
        <a:p>
          <a:endParaRPr lang="en-US"/>
        </a:p>
      </dgm:t>
    </dgm:pt>
    <dgm:pt modelId="{01598CDB-E508-4839-91DD-1E7E51794A49}" type="sibTrans" cxnId="{5AECD33C-2B06-4BB2-A320-C862C5AE9638}">
      <dgm:prSet/>
      <dgm:spPr/>
      <dgm:t>
        <a:bodyPr/>
        <a:lstStyle/>
        <a:p>
          <a:endParaRPr lang="en-US"/>
        </a:p>
      </dgm:t>
    </dgm:pt>
    <dgm:pt modelId="{15908ACE-94BC-40A2-A931-96449BCEE019}">
      <dgm:prSet/>
      <dgm:spPr/>
      <dgm:t>
        <a:bodyPr/>
        <a:lstStyle/>
        <a:p>
          <a:r>
            <a:rPr lang="en-US"/>
            <a:t>Originally, it was designed as a replacement of insecure applications like r-commands (i.e., Berkeley remote commands, e.g., rlogin, rsh, rcp).</a:t>
          </a:r>
        </a:p>
      </dgm:t>
    </dgm:pt>
    <dgm:pt modelId="{84C36E3A-5835-44A0-94F5-F607CBA45EB0}" type="parTrans" cxnId="{3B2118B0-47A8-428E-A3CC-4CDB2C70F550}">
      <dgm:prSet/>
      <dgm:spPr/>
      <dgm:t>
        <a:bodyPr/>
        <a:lstStyle/>
        <a:p>
          <a:endParaRPr lang="en-US"/>
        </a:p>
      </dgm:t>
    </dgm:pt>
    <dgm:pt modelId="{36E22FEF-3104-44D2-96DA-1570B1B7B3F5}" type="sibTrans" cxnId="{3B2118B0-47A8-428E-A3CC-4CDB2C70F550}">
      <dgm:prSet/>
      <dgm:spPr/>
      <dgm:t>
        <a:bodyPr/>
        <a:lstStyle/>
        <a:p>
          <a:endParaRPr lang="en-US"/>
        </a:p>
      </dgm:t>
    </dgm:pt>
    <dgm:pt modelId="{2F542489-284D-4BAC-9C70-6A13E8316E08}" type="pres">
      <dgm:prSet presAssocID="{6A81EF5D-8FB5-44E4-BD7F-7CDFB1C89B06}" presName="root" presStyleCnt="0">
        <dgm:presLayoutVars>
          <dgm:dir/>
          <dgm:resizeHandles val="exact"/>
        </dgm:presLayoutVars>
      </dgm:prSet>
      <dgm:spPr/>
    </dgm:pt>
    <dgm:pt modelId="{5AB9AB78-107C-4FC9-B4C7-05A6903E5D95}" type="pres">
      <dgm:prSet presAssocID="{B9772E0C-581C-4FD9-B10E-1E34891ED4EB}" presName="compNode" presStyleCnt="0"/>
      <dgm:spPr/>
    </dgm:pt>
    <dgm:pt modelId="{3A5C7A06-F02E-4CC2-96AA-EDB64371249B}" type="pres">
      <dgm:prSet presAssocID="{B9772E0C-581C-4FD9-B10E-1E34891ED4EB}" presName="bgRect" presStyleLbl="bgShp" presStyleIdx="0" presStyleCnt="3"/>
      <dgm:spPr/>
    </dgm:pt>
    <dgm:pt modelId="{6D51F543-955D-41A2-A5E7-E3728BD1EB96}" type="pres">
      <dgm:prSet presAssocID="{B9772E0C-581C-4FD9-B10E-1E34891ED4EB}"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rocessor"/>
        </a:ext>
      </dgm:extLst>
    </dgm:pt>
    <dgm:pt modelId="{8803459A-5184-4725-8D60-778216A3ECA9}" type="pres">
      <dgm:prSet presAssocID="{B9772E0C-581C-4FD9-B10E-1E34891ED4EB}" presName="spaceRect" presStyleCnt="0"/>
      <dgm:spPr/>
    </dgm:pt>
    <dgm:pt modelId="{ECE48A07-DB3B-437D-8C2B-2FF5B0C129D9}" type="pres">
      <dgm:prSet presAssocID="{B9772E0C-581C-4FD9-B10E-1E34891ED4EB}" presName="parTx" presStyleLbl="revTx" presStyleIdx="0" presStyleCnt="3">
        <dgm:presLayoutVars>
          <dgm:chMax val="0"/>
          <dgm:chPref val="0"/>
        </dgm:presLayoutVars>
      </dgm:prSet>
      <dgm:spPr/>
    </dgm:pt>
    <dgm:pt modelId="{55D2C617-30FD-4097-A46C-54DF6765AB5A}" type="pres">
      <dgm:prSet presAssocID="{DCE372D3-70AA-477E-B6EF-F7ECEBEC1852}" presName="sibTrans" presStyleCnt="0"/>
      <dgm:spPr/>
    </dgm:pt>
    <dgm:pt modelId="{E8243EEA-91C7-47B0-8D1D-B8AA3744017D}" type="pres">
      <dgm:prSet presAssocID="{03EAA856-E92E-4AE4-9C11-0283C77036B4}" presName="compNode" presStyleCnt="0"/>
      <dgm:spPr/>
    </dgm:pt>
    <dgm:pt modelId="{35D6E5F6-57F7-4A04-BE6B-9AFF73215BD7}" type="pres">
      <dgm:prSet presAssocID="{03EAA856-E92E-4AE4-9C11-0283C77036B4}" presName="bgRect" presStyleLbl="bgShp" presStyleIdx="1" presStyleCnt="3"/>
      <dgm:spPr/>
    </dgm:pt>
    <dgm:pt modelId="{ACF1518C-57A1-4ED4-BB34-20FF1632905B}" type="pres">
      <dgm:prSet presAssocID="{03EAA856-E92E-4AE4-9C11-0283C77036B4}"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nlock"/>
        </a:ext>
      </dgm:extLst>
    </dgm:pt>
    <dgm:pt modelId="{1B29ACC5-233D-4595-AEEB-575DA06FFD94}" type="pres">
      <dgm:prSet presAssocID="{03EAA856-E92E-4AE4-9C11-0283C77036B4}" presName="spaceRect" presStyleCnt="0"/>
      <dgm:spPr/>
    </dgm:pt>
    <dgm:pt modelId="{126BBE64-1778-4349-8C52-BC62F2ACCFA1}" type="pres">
      <dgm:prSet presAssocID="{03EAA856-E92E-4AE4-9C11-0283C77036B4}" presName="parTx" presStyleLbl="revTx" presStyleIdx="1" presStyleCnt="3">
        <dgm:presLayoutVars>
          <dgm:chMax val="0"/>
          <dgm:chPref val="0"/>
        </dgm:presLayoutVars>
      </dgm:prSet>
      <dgm:spPr/>
    </dgm:pt>
    <dgm:pt modelId="{EFD5A388-C8A4-4007-93B7-E5149A193794}" type="pres">
      <dgm:prSet presAssocID="{01598CDB-E508-4839-91DD-1E7E51794A49}" presName="sibTrans" presStyleCnt="0"/>
      <dgm:spPr/>
    </dgm:pt>
    <dgm:pt modelId="{A9E92715-3D5E-49C0-A627-F3FCA9361ADE}" type="pres">
      <dgm:prSet presAssocID="{15908ACE-94BC-40A2-A931-96449BCEE019}" presName="compNode" presStyleCnt="0"/>
      <dgm:spPr/>
    </dgm:pt>
    <dgm:pt modelId="{2093EFF8-D56B-424C-A2D6-4885BBFBC3B1}" type="pres">
      <dgm:prSet presAssocID="{15908ACE-94BC-40A2-A931-96449BCEE019}" presName="bgRect" presStyleLbl="bgShp" presStyleIdx="2" presStyleCnt="3"/>
      <dgm:spPr/>
    </dgm:pt>
    <dgm:pt modelId="{E278C070-A786-463D-BB12-623CF78580FD}" type="pres">
      <dgm:prSet presAssocID="{15908ACE-94BC-40A2-A931-96449BCEE019}"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rowser Window"/>
        </a:ext>
      </dgm:extLst>
    </dgm:pt>
    <dgm:pt modelId="{B7F85A60-2EEF-4A17-802D-29366E92DC01}" type="pres">
      <dgm:prSet presAssocID="{15908ACE-94BC-40A2-A931-96449BCEE019}" presName="spaceRect" presStyleCnt="0"/>
      <dgm:spPr/>
    </dgm:pt>
    <dgm:pt modelId="{CB8164D3-7443-44F3-8B15-CBD20D246B18}" type="pres">
      <dgm:prSet presAssocID="{15908ACE-94BC-40A2-A931-96449BCEE019}" presName="parTx" presStyleLbl="revTx" presStyleIdx="2" presStyleCnt="3">
        <dgm:presLayoutVars>
          <dgm:chMax val="0"/>
          <dgm:chPref val="0"/>
        </dgm:presLayoutVars>
      </dgm:prSet>
      <dgm:spPr/>
    </dgm:pt>
  </dgm:ptLst>
  <dgm:cxnLst>
    <dgm:cxn modelId="{6B642B00-73BC-4B23-9E5C-069C0988FDD8}" type="presOf" srcId="{15908ACE-94BC-40A2-A931-96449BCEE019}" destId="{CB8164D3-7443-44F3-8B15-CBD20D246B18}" srcOrd="0" destOrd="0" presId="urn:microsoft.com/office/officeart/2018/2/layout/IconVerticalSolidList"/>
    <dgm:cxn modelId="{421F580E-CF13-4F95-948A-127694BDC8AB}" type="presOf" srcId="{03EAA856-E92E-4AE4-9C11-0283C77036B4}" destId="{126BBE64-1778-4349-8C52-BC62F2ACCFA1}" srcOrd="0" destOrd="0" presId="urn:microsoft.com/office/officeart/2018/2/layout/IconVerticalSolidList"/>
    <dgm:cxn modelId="{F6AF7337-632F-4FF9-A758-36149C279C2C}" srcId="{6A81EF5D-8FB5-44E4-BD7F-7CDFB1C89B06}" destId="{B9772E0C-581C-4FD9-B10E-1E34891ED4EB}" srcOrd="0" destOrd="0" parTransId="{8F1AF0D2-CC4A-4CF5-A6F0-DBE1E08635EF}" sibTransId="{DCE372D3-70AA-477E-B6EF-F7ECEBEC1852}"/>
    <dgm:cxn modelId="{5AECD33C-2B06-4BB2-A320-C862C5AE9638}" srcId="{6A81EF5D-8FB5-44E4-BD7F-7CDFB1C89B06}" destId="{03EAA856-E92E-4AE4-9C11-0283C77036B4}" srcOrd="1" destOrd="0" parTransId="{E03DD7DE-39DA-402E-9940-C53722DC6AE2}" sibTransId="{01598CDB-E508-4839-91DD-1E7E51794A49}"/>
    <dgm:cxn modelId="{963D925C-404D-4C29-B400-F8F983B1D4DA}" type="presOf" srcId="{6A81EF5D-8FB5-44E4-BD7F-7CDFB1C89B06}" destId="{2F542489-284D-4BAC-9C70-6A13E8316E08}" srcOrd="0" destOrd="0" presId="urn:microsoft.com/office/officeart/2018/2/layout/IconVerticalSolidList"/>
    <dgm:cxn modelId="{3B2118B0-47A8-428E-A3CC-4CDB2C70F550}" srcId="{6A81EF5D-8FB5-44E4-BD7F-7CDFB1C89B06}" destId="{15908ACE-94BC-40A2-A931-96449BCEE019}" srcOrd="2" destOrd="0" parTransId="{84C36E3A-5835-44A0-94F5-F607CBA45EB0}" sibTransId="{36E22FEF-3104-44D2-96DA-1570B1B7B3F5}"/>
    <dgm:cxn modelId="{E2A258B7-0D56-4661-841C-E16973549738}" type="presOf" srcId="{B9772E0C-581C-4FD9-B10E-1E34891ED4EB}" destId="{ECE48A07-DB3B-437D-8C2B-2FF5B0C129D9}" srcOrd="0" destOrd="0" presId="urn:microsoft.com/office/officeart/2018/2/layout/IconVerticalSolidList"/>
    <dgm:cxn modelId="{2D067F51-A3B4-4A76-8890-6ABF9058BCFA}" type="presParOf" srcId="{2F542489-284D-4BAC-9C70-6A13E8316E08}" destId="{5AB9AB78-107C-4FC9-B4C7-05A6903E5D95}" srcOrd="0" destOrd="0" presId="urn:microsoft.com/office/officeart/2018/2/layout/IconVerticalSolidList"/>
    <dgm:cxn modelId="{43E1F5EB-1CF8-4E52-9491-8B4F33D7BD82}" type="presParOf" srcId="{5AB9AB78-107C-4FC9-B4C7-05A6903E5D95}" destId="{3A5C7A06-F02E-4CC2-96AA-EDB64371249B}" srcOrd="0" destOrd="0" presId="urn:microsoft.com/office/officeart/2018/2/layout/IconVerticalSolidList"/>
    <dgm:cxn modelId="{CE217F57-B716-4232-81D6-9484A70511CD}" type="presParOf" srcId="{5AB9AB78-107C-4FC9-B4C7-05A6903E5D95}" destId="{6D51F543-955D-41A2-A5E7-E3728BD1EB96}" srcOrd="1" destOrd="0" presId="urn:microsoft.com/office/officeart/2018/2/layout/IconVerticalSolidList"/>
    <dgm:cxn modelId="{5654CA2B-0311-4639-AB1B-7C08B04E33C9}" type="presParOf" srcId="{5AB9AB78-107C-4FC9-B4C7-05A6903E5D95}" destId="{8803459A-5184-4725-8D60-778216A3ECA9}" srcOrd="2" destOrd="0" presId="urn:microsoft.com/office/officeart/2018/2/layout/IconVerticalSolidList"/>
    <dgm:cxn modelId="{E4027C41-7368-4118-836A-F073383EBDB6}" type="presParOf" srcId="{5AB9AB78-107C-4FC9-B4C7-05A6903E5D95}" destId="{ECE48A07-DB3B-437D-8C2B-2FF5B0C129D9}" srcOrd="3" destOrd="0" presId="urn:microsoft.com/office/officeart/2018/2/layout/IconVerticalSolidList"/>
    <dgm:cxn modelId="{32F2E724-BA39-446C-9AD4-7C2AD9FE9182}" type="presParOf" srcId="{2F542489-284D-4BAC-9C70-6A13E8316E08}" destId="{55D2C617-30FD-4097-A46C-54DF6765AB5A}" srcOrd="1" destOrd="0" presId="urn:microsoft.com/office/officeart/2018/2/layout/IconVerticalSolidList"/>
    <dgm:cxn modelId="{88C964A7-2B25-4B30-ADD8-25057F76B234}" type="presParOf" srcId="{2F542489-284D-4BAC-9C70-6A13E8316E08}" destId="{E8243EEA-91C7-47B0-8D1D-B8AA3744017D}" srcOrd="2" destOrd="0" presId="urn:microsoft.com/office/officeart/2018/2/layout/IconVerticalSolidList"/>
    <dgm:cxn modelId="{12321288-948C-489E-8757-9CC5145E2535}" type="presParOf" srcId="{E8243EEA-91C7-47B0-8D1D-B8AA3744017D}" destId="{35D6E5F6-57F7-4A04-BE6B-9AFF73215BD7}" srcOrd="0" destOrd="0" presId="urn:microsoft.com/office/officeart/2018/2/layout/IconVerticalSolidList"/>
    <dgm:cxn modelId="{C3C098AF-338C-444D-81E5-337E698C2EC9}" type="presParOf" srcId="{E8243EEA-91C7-47B0-8D1D-B8AA3744017D}" destId="{ACF1518C-57A1-4ED4-BB34-20FF1632905B}" srcOrd="1" destOrd="0" presId="urn:microsoft.com/office/officeart/2018/2/layout/IconVerticalSolidList"/>
    <dgm:cxn modelId="{DC8B492D-EF55-4914-A688-DBE84BCC1B1B}" type="presParOf" srcId="{E8243EEA-91C7-47B0-8D1D-B8AA3744017D}" destId="{1B29ACC5-233D-4595-AEEB-575DA06FFD94}" srcOrd="2" destOrd="0" presId="urn:microsoft.com/office/officeart/2018/2/layout/IconVerticalSolidList"/>
    <dgm:cxn modelId="{18B13497-8227-4F09-AC8A-3229003A62B2}" type="presParOf" srcId="{E8243EEA-91C7-47B0-8D1D-B8AA3744017D}" destId="{126BBE64-1778-4349-8C52-BC62F2ACCFA1}" srcOrd="3" destOrd="0" presId="urn:microsoft.com/office/officeart/2018/2/layout/IconVerticalSolidList"/>
    <dgm:cxn modelId="{577FF9F7-297B-4D6C-BB52-96445FB9CBBF}" type="presParOf" srcId="{2F542489-284D-4BAC-9C70-6A13E8316E08}" destId="{EFD5A388-C8A4-4007-93B7-E5149A193794}" srcOrd="3" destOrd="0" presId="urn:microsoft.com/office/officeart/2018/2/layout/IconVerticalSolidList"/>
    <dgm:cxn modelId="{5C3ED528-3DE4-480A-B980-5128403273E9}" type="presParOf" srcId="{2F542489-284D-4BAC-9C70-6A13E8316E08}" destId="{A9E92715-3D5E-49C0-A627-F3FCA9361ADE}" srcOrd="4" destOrd="0" presId="urn:microsoft.com/office/officeart/2018/2/layout/IconVerticalSolidList"/>
    <dgm:cxn modelId="{6BFAE43D-CA3E-4EA7-B960-03D02619C83C}" type="presParOf" srcId="{A9E92715-3D5E-49C0-A627-F3FCA9361ADE}" destId="{2093EFF8-D56B-424C-A2D6-4885BBFBC3B1}" srcOrd="0" destOrd="0" presId="urn:microsoft.com/office/officeart/2018/2/layout/IconVerticalSolidList"/>
    <dgm:cxn modelId="{C5170482-B431-4A17-A675-CAE159D2FF06}" type="presParOf" srcId="{A9E92715-3D5E-49C0-A627-F3FCA9361ADE}" destId="{E278C070-A786-463D-BB12-623CF78580FD}" srcOrd="1" destOrd="0" presId="urn:microsoft.com/office/officeart/2018/2/layout/IconVerticalSolidList"/>
    <dgm:cxn modelId="{3FD6C64F-31DB-4CBF-A5E6-326A92879C0E}" type="presParOf" srcId="{A9E92715-3D5E-49C0-A627-F3FCA9361ADE}" destId="{B7F85A60-2EEF-4A17-802D-29366E92DC01}" srcOrd="2" destOrd="0" presId="urn:microsoft.com/office/officeart/2018/2/layout/IconVerticalSolidList"/>
    <dgm:cxn modelId="{EC4549F5-705F-4EFB-A2EF-6B2842F8E2D3}" type="presParOf" srcId="{A9E92715-3D5E-49C0-A627-F3FCA9361ADE}" destId="{CB8164D3-7443-44F3-8B15-CBD20D246B1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7381AE7-380E-42D8-8517-A2998CB63526}"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272A24F2-F086-4C9A-AA0F-2754F50A829C}">
      <dgm:prSet/>
      <dgm:spPr/>
      <dgm:t>
        <a:bodyPr/>
        <a:lstStyle/>
        <a:p>
          <a:r>
            <a:rPr lang="en-US"/>
            <a:t>IPSec is a lower level (IP-based) security solution than SSH. More fundamental but really expensive. SSH is quicker and easier to deploy.</a:t>
          </a:r>
        </a:p>
      </dgm:t>
    </dgm:pt>
    <dgm:pt modelId="{B30257A9-C91B-496E-B501-75DE438AFBD2}" type="parTrans" cxnId="{27AAEDAB-B267-4385-80DF-7DD78E4D5AEA}">
      <dgm:prSet/>
      <dgm:spPr/>
      <dgm:t>
        <a:bodyPr/>
        <a:lstStyle/>
        <a:p>
          <a:endParaRPr lang="en-US"/>
        </a:p>
      </dgm:t>
    </dgm:pt>
    <dgm:pt modelId="{81B4EC3F-AD74-41F1-A737-78A4920D2181}" type="sibTrans" cxnId="{27AAEDAB-B267-4385-80DF-7DD78E4D5AEA}">
      <dgm:prSet/>
      <dgm:spPr/>
      <dgm:t>
        <a:bodyPr/>
        <a:lstStyle/>
        <a:p>
          <a:endParaRPr lang="en-US"/>
        </a:p>
      </dgm:t>
    </dgm:pt>
    <dgm:pt modelId="{B9012197-972E-4B4A-BD1E-C0C6FA06B9BB}">
      <dgm:prSet/>
      <dgm:spPr/>
      <dgm:t>
        <a:bodyPr/>
        <a:lstStyle/>
        <a:p>
          <a:r>
            <a:rPr lang="en-US"/>
            <a:t>SSL or TLS is TCP-based and “mainly” used in WEB applications.</a:t>
          </a:r>
        </a:p>
      </dgm:t>
    </dgm:pt>
    <dgm:pt modelId="{966E80EB-76B0-4671-8AD3-67DEEC70B9AF}" type="parTrans" cxnId="{48CF9787-4F77-4737-8C73-C1B8B3D71647}">
      <dgm:prSet/>
      <dgm:spPr/>
      <dgm:t>
        <a:bodyPr/>
        <a:lstStyle/>
        <a:p>
          <a:endParaRPr lang="en-US"/>
        </a:p>
      </dgm:t>
    </dgm:pt>
    <dgm:pt modelId="{C76A12CD-79B8-4C42-9732-9F39334FB544}" type="sibTrans" cxnId="{48CF9787-4F77-4737-8C73-C1B8B3D71647}">
      <dgm:prSet/>
      <dgm:spPr/>
      <dgm:t>
        <a:bodyPr/>
        <a:lstStyle/>
        <a:p>
          <a:endParaRPr lang="en-US"/>
        </a:p>
      </dgm:t>
    </dgm:pt>
    <dgm:pt modelId="{C6EBF40F-A5A4-407C-BCC6-479B351244E6}">
      <dgm:prSet/>
      <dgm:spPr/>
      <dgm:t>
        <a:bodyPr/>
        <a:lstStyle/>
        <a:p>
          <a:r>
            <a:rPr lang="en-US"/>
            <a:t>There are some SSL-enhanced Telnet/FTP applications. SSH is a more integrated toolkit designed just for security.</a:t>
          </a:r>
        </a:p>
      </dgm:t>
    </dgm:pt>
    <dgm:pt modelId="{B5026B24-105F-4BB0-AC35-08CCBCC576D0}" type="parTrans" cxnId="{BB63FA11-8ED6-40F2-B546-0D8651E194C0}">
      <dgm:prSet/>
      <dgm:spPr/>
      <dgm:t>
        <a:bodyPr/>
        <a:lstStyle/>
        <a:p>
          <a:endParaRPr lang="en-US"/>
        </a:p>
      </dgm:t>
    </dgm:pt>
    <dgm:pt modelId="{A25702DC-9E46-4811-B3CE-19B0B8A1ACD7}" type="sibTrans" cxnId="{BB63FA11-8ED6-40F2-B546-0D8651E194C0}">
      <dgm:prSet/>
      <dgm:spPr/>
      <dgm:t>
        <a:bodyPr/>
        <a:lstStyle/>
        <a:p>
          <a:endParaRPr lang="en-US"/>
        </a:p>
      </dgm:t>
    </dgm:pt>
    <dgm:pt modelId="{49FB0DF0-C34C-4640-B2E2-3970F7C4F920}" type="pres">
      <dgm:prSet presAssocID="{67381AE7-380E-42D8-8517-A2998CB63526}" presName="root" presStyleCnt="0">
        <dgm:presLayoutVars>
          <dgm:dir/>
          <dgm:resizeHandles val="exact"/>
        </dgm:presLayoutVars>
      </dgm:prSet>
      <dgm:spPr/>
    </dgm:pt>
    <dgm:pt modelId="{F884F43E-F602-41D8-B62F-16A14E9DCE0A}" type="pres">
      <dgm:prSet presAssocID="{272A24F2-F086-4C9A-AA0F-2754F50A829C}" presName="compNode" presStyleCnt="0"/>
      <dgm:spPr/>
    </dgm:pt>
    <dgm:pt modelId="{B46B6EA3-71A6-48BB-A77D-70277362FF41}" type="pres">
      <dgm:prSet presAssocID="{272A24F2-F086-4C9A-AA0F-2754F50A829C}" presName="bgRect" presStyleLbl="bgShp" presStyleIdx="0" presStyleCnt="3"/>
      <dgm:spPr/>
    </dgm:pt>
    <dgm:pt modelId="{631F3682-64DF-4521-B713-54DB5F3C61F8}" type="pres">
      <dgm:prSet presAssocID="{272A24F2-F086-4C9A-AA0F-2754F50A829C}"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rocessor"/>
        </a:ext>
      </dgm:extLst>
    </dgm:pt>
    <dgm:pt modelId="{BBA11255-4E60-4F0C-A3D6-4A4E33765766}" type="pres">
      <dgm:prSet presAssocID="{272A24F2-F086-4C9A-AA0F-2754F50A829C}" presName="spaceRect" presStyleCnt="0"/>
      <dgm:spPr/>
    </dgm:pt>
    <dgm:pt modelId="{E7271E1E-6456-4DED-AB92-356F14D837E1}" type="pres">
      <dgm:prSet presAssocID="{272A24F2-F086-4C9A-AA0F-2754F50A829C}" presName="parTx" presStyleLbl="revTx" presStyleIdx="0" presStyleCnt="3">
        <dgm:presLayoutVars>
          <dgm:chMax val="0"/>
          <dgm:chPref val="0"/>
        </dgm:presLayoutVars>
      </dgm:prSet>
      <dgm:spPr/>
    </dgm:pt>
    <dgm:pt modelId="{7276B003-89C4-48E3-B852-F7DD429B80D0}" type="pres">
      <dgm:prSet presAssocID="{81B4EC3F-AD74-41F1-A737-78A4920D2181}" presName="sibTrans" presStyleCnt="0"/>
      <dgm:spPr/>
    </dgm:pt>
    <dgm:pt modelId="{10F81683-4087-4246-9AFD-B9F7E4FF6973}" type="pres">
      <dgm:prSet presAssocID="{B9012197-972E-4B4A-BD1E-C0C6FA06B9BB}" presName="compNode" presStyleCnt="0"/>
      <dgm:spPr/>
    </dgm:pt>
    <dgm:pt modelId="{7FB64D27-AC1E-481A-A9FD-1630B2225BB8}" type="pres">
      <dgm:prSet presAssocID="{B9012197-972E-4B4A-BD1E-C0C6FA06B9BB}" presName="bgRect" presStyleLbl="bgShp" presStyleIdx="1" presStyleCnt="3"/>
      <dgm:spPr/>
    </dgm:pt>
    <dgm:pt modelId="{763CBA1F-CD46-4928-9722-9334EBADCC04}" type="pres">
      <dgm:prSet presAssocID="{B9012197-972E-4B4A-BD1E-C0C6FA06B9BB}"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mputer"/>
        </a:ext>
      </dgm:extLst>
    </dgm:pt>
    <dgm:pt modelId="{7C2981B5-5226-4559-8F84-29A364AA010C}" type="pres">
      <dgm:prSet presAssocID="{B9012197-972E-4B4A-BD1E-C0C6FA06B9BB}" presName="spaceRect" presStyleCnt="0"/>
      <dgm:spPr/>
    </dgm:pt>
    <dgm:pt modelId="{1E14F195-B628-42F0-961D-EF6141ACB1D6}" type="pres">
      <dgm:prSet presAssocID="{B9012197-972E-4B4A-BD1E-C0C6FA06B9BB}" presName="parTx" presStyleLbl="revTx" presStyleIdx="1" presStyleCnt="3">
        <dgm:presLayoutVars>
          <dgm:chMax val="0"/>
          <dgm:chPref val="0"/>
        </dgm:presLayoutVars>
      </dgm:prSet>
      <dgm:spPr/>
    </dgm:pt>
    <dgm:pt modelId="{7AD0B226-560F-4FC0-85FC-23AB67A044BA}" type="pres">
      <dgm:prSet presAssocID="{C76A12CD-79B8-4C42-9732-9F39334FB544}" presName="sibTrans" presStyleCnt="0"/>
      <dgm:spPr/>
    </dgm:pt>
    <dgm:pt modelId="{E819A9B4-6318-4A51-989D-06E44C0F9F45}" type="pres">
      <dgm:prSet presAssocID="{C6EBF40F-A5A4-407C-BCC6-479B351244E6}" presName="compNode" presStyleCnt="0"/>
      <dgm:spPr/>
    </dgm:pt>
    <dgm:pt modelId="{AE046AEA-8D7E-4581-B417-831B0230EFAB}" type="pres">
      <dgm:prSet presAssocID="{C6EBF40F-A5A4-407C-BCC6-479B351244E6}" presName="bgRect" presStyleLbl="bgShp" presStyleIdx="2" presStyleCnt="3"/>
      <dgm:spPr/>
    </dgm:pt>
    <dgm:pt modelId="{8845B299-3EBE-4290-9B3E-36FFEF747430}" type="pres">
      <dgm:prSet presAssocID="{C6EBF40F-A5A4-407C-BCC6-479B351244E6}"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Lock"/>
        </a:ext>
      </dgm:extLst>
    </dgm:pt>
    <dgm:pt modelId="{855BD2EA-D431-485B-9A4C-1B4D2BF7E407}" type="pres">
      <dgm:prSet presAssocID="{C6EBF40F-A5A4-407C-BCC6-479B351244E6}" presName="spaceRect" presStyleCnt="0"/>
      <dgm:spPr/>
    </dgm:pt>
    <dgm:pt modelId="{61A372EA-CA5E-4A94-A210-2F9918371CEA}" type="pres">
      <dgm:prSet presAssocID="{C6EBF40F-A5A4-407C-BCC6-479B351244E6}" presName="parTx" presStyleLbl="revTx" presStyleIdx="2" presStyleCnt="3">
        <dgm:presLayoutVars>
          <dgm:chMax val="0"/>
          <dgm:chPref val="0"/>
        </dgm:presLayoutVars>
      </dgm:prSet>
      <dgm:spPr/>
    </dgm:pt>
  </dgm:ptLst>
  <dgm:cxnLst>
    <dgm:cxn modelId="{BB63FA11-8ED6-40F2-B546-0D8651E194C0}" srcId="{67381AE7-380E-42D8-8517-A2998CB63526}" destId="{C6EBF40F-A5A4-407C-BCC6-479B351244E6}" srcOrd="2" destOrd="0" parTransId="{B5026B24-105F-4BB0-AC35-08CCBCC576D0}" sibTransId="{A25702DC-9E46-4811-B3CE-19B0B8A1ACD7}"/>
    <dgm:cxn modelId="{AC2B0C6B-9067-4471-8303-FCDCD3935BCE}" type="presOf" srcId="{C6EBF40F-A5A4-407C-BCC6-479B351244E6}" destId="{61A372EA-CA5E-4A94-A210-2F9918371CEA}" srcOrd="0" destOrd="0" presId="urn:microsoft.com/office/officeart/2018/2/layout/IconVerticalSolidList"/>
    <dgm:cxn modelId="{48CF9787-4F77-4737-8C73-C1B8B3D71647}" srcId="{67381AE7-380E-42D8-8517-A2998CB63526}" destId="{B9012197-972E-4B4A-BD1E-C0C6FA06B9BB}" srcOrd="1" destOrd="0" parTransId="{966E80EB-76B0-4671-8AD3-67DEEC70B9AF}" sibTransId="{C76A12CD-79B8-4C42-9732-9F39334FB544}"/>
    <dgm:cxn modelId="{1F55B390-3492-463A-8AE5-16D9655C30DD}" type="presOf" srcId="{67381AE7-380E-42D8-8517-A2998CB63526}" destId="{49FB0DF0-C34C-4640-B2E2-3970F7C4F920}" srcOrd="0" destOrd="0" presId="urn:microsoft.com/office/officeart/2018/2/layout/IconVerticalSolidList"/>
    <dgm:cxn modelId="{27AAEDAB-B267-4385-80DF-7DD78E4D5AEA}" srcId="{67381AE7-380E-42D8-8517-A2998CB63526}" destId="{272A24F2-F086-4C9A-AA0F-2754F50A829C}" srcOrd="0" destOrd="0" parTransId="{B30257A9-C91B-496E-B501-75DE438AFBD2}" sibTransId="{81B4EC3F-AD74-41F1-A737-78A4920D2181}"/>
    <dgm:cxn modelId="{F68943D1-423A-4A15-A26D-98B47A0C060F}" type="presOf" srcId="{272A24F2-F086-4C9A-AA0F-2754F50A829C}" destId="{E7271E1E-6456-4DED-AB92-356F14D837E1}" srcOrd="0" destOrd="0" presId="urn:microsoft.com/office/officeart/2018/2/layout/IconVerticalSolidList"/>
    <dgm:cxn modelId="{D1F8B4D4-EC01-4E4B-9641-98F3A637EB85}" type="presOf" srcId="{B9012197-972E-4B4A-BD1E-C0C6FA06B9BB}" destId="{1E14F195-B628-42F0-961D-EF6141ACB1D6}" srcOrd="0" destOrd="0" presId="urn:microsoft.com/office/officeart/2018/2/layout/IconVerticalSolidList"/>
    <dgm:cxn modelId="{E5C16F90-C809-42E5-A2DC-3DC2A79FB05F}" type="presParOf" srcId="{49FB0DF0-C34C-4640-B2E2-3970F7C4F920}" destId="{F884F43E-F602-41D8-B62F-16A14E9DCE0A}" srcOrd="0" destOrd="0" presId="urn:microsoft.com/office/officeart/2018/2/layout/IconVerticalSolidList"/>
    <dgm:cxn modelId="{D7A387B6-7CC1-420E-8179-1A4F52B737A1}" type="presParOf" srcId="{F884F43E-F602-41D8-B62F-16A14E9DCE0A}" destId="{B46B6EA3-71A6-48BB-A77D-70277362FF41}" srcOrd="0" destOrd="0" presId="urn:microsoft.com/office/officeart/2018/2/layout/IconVerticalSolidList"/>
    <dgm:cxn modelId="{7F3874A6-DF3A-46F0-9C57-690046B270C5}" type="presParOf" srcId="{F884F43E-F602-41D8-B62F-16A14E9DCE0A}" destId="{631F3682-64DF-4521-B713-54DB5F3C61F8}" srcOrd="1" destOrd="0" presId="urn:microsoft.com/office/officeart/2018/2/layout/IconVerticalSolidList"/>
    <dgm:cxn modelId="{A0968E27-8456-4040-9CBC-570AA3FA985D}" type="presParOf" srcId="{F884F43E-F602-41D8-B62F-16A14E9DCE0A}" destId="{BBA11255-4E60-4F0C-A3D6-4A4E33765766}" srcOrd="2" destOrd="0" presId="urn:microsoft.com/office/officeart/2018/2/layout/IconVerticalSolidList"/>
    <dgm:cxn modelId="{715A25A6-366D-4C8C-803D-91569CF888CF}" type="presParOf" srcId="{F884F43E-F602-41D8-B62F-16A14E9DCE0A}" destId="{E7271E1E-6456-4DED-AB92-356F14D837E1}" srcOrd="3" destOrd="0" presId="urn:microsoft.com/office/officeart/2018/2/layout/IconVerticalSolidList"/>
    <dgm:cxn modelId="{554B9092-3244-4A8A-9170-BBB6E06E623B}" type="presParOf" srcId="{49FB0DF0-C34C-4640-B2E2-3970F7C4F920}" destId="{7276B003-89C4-48E3-B852-F7DD429B80D0}" srcOrd="1" destOrd="0" presId="urn:microsoft.com/office/officeart/2018/2/layout/IconVerticalSolidList"/>
    <dgm:cxn modelId="{D564A3BE-B25C-4F0D-B740-84DC5CFFAD45}" type="presParOf" srcId="{49FB0DF0-C34C-4640-B2E2-3970F7C4F920}" destId="{10F81683-4087-4246-9AFD-B9F7E4FF6973}" srcOrd="2" destOrd="0" presId="urn:microsoft.com/office/officeart/2018/2/layout/IconVerticalSolidList"/>
    <dgm:cxn modelId="{36D36E91-5A3F-4207-9570-98DB6058E8A7}" type="presParOf" srcId="{10F81683-4087-4246-9AFD-B9F7E4FF6973}" destId="{7FB64D27-AC1E-481A-A9FD-1630B2225BB8}" srcOrd="0" destOrd="0" presId="urn:microsoft.com/office/officeart/2018/2/layout/IconVerticalSolidList"/>
    <dgm:cxn modelId="{81B71C1E-93E3-40B4-9A46-C03F8C9DCE32}" type="presParOf" srcId="{10F81683-4087-4246-9AFD-B9F7E4FF6973}" destId="{763CBA1F-CD46-4928-9722-9334EBADCC04}" srcOrd="1" destOrd="0" presId="urn:microsoft.com/office/officeart/2018/2/layout/IconVerticalSolidList"/>
    <dgm:cxn modelId="{4FE5B6C3-A8EB-4E02-B0E4-D4E6E8382ACA}" type="presParOf" srcId="{10F81683-4087-4246-9AFD-B9F7E4FF6973}" destId="{7C2981B5-5226-4559-8F84-29A364AA010C}" srcOrd="2" destOrd="0" presId="urn:microsoft.com/office/officeart/2018/2/layout/IconVerticalSolidList"/>
    <dgm:cxn modelId="{6176E3A4-B91B-440A-AB3F-8B55E7251B47}" type="presParOf" srcId="{10F81683-4087-4246-9AFD-B9F7E4FF6973}" destId="{1E14F195-B628-42F0-961D-EF6141ACB1D6}" srcOrd="3" destOrd="0" presId="urn:microsoft.com/office/officeart/2018/2/layout/IconVerticalSolidList"/>
    <dgm:cxn modelId="{6317FA7A-837A-46E5-BE2E-CD827F33657D}" type="presParOf" srcId="{49FB0DF0-C34C-4640-B2E2-3970F7C4F920}" destId="{7AD0B226-560F-4FC0-85FC-23AB67A044BA}" srcOrd="3" destOrd="0" presId="urn:microsoft.com/office/officeart/2018/2/layout/IconVerticalSolidList"/>
    <dgm:cxn modelId="{BD1253C0-BC5B-41D6-8BEC-B05D0DB047E9}" type="presParOf" srcId="{49FB0DF0-C34C-4640-B2E2-3970F7C4F920}" destId="{E819A9B4-6318-4A51-989D-06E44C0F9F45}" srcOrd="4" destOrd="0" presId="urn:microsoft.com/office/officeart/2018/2/layout/IconVerticalSolidList"/>
    <dgm:cxn modelId="{C9838E9A-5249-49DC-87FC-8F87FDE4B562}" type="presParOf" srcId="{E819A9B4-6318-4A51-989D-06E44C0F9F45}" destId="{AE046AEA-8D7E-4581-B417-831B0230EFAB}" srcOrd="0" destOrd="0" presId="urn:microsoft.com/office/officeart/2018/2/layout/IconVerticalSolidList"/>
    <dgm:cxn modelId="{B632CE45-7D7F-425F-89C8-607C92AA114A}" type="presParOf" srcId="{E819A9B4-6318-4A51-989D-06E44C0F9F45}" destId="{8845B299-3EBE-4290-9B3E-36FFEF747430}" srcOrd="1" destOrd="0" presId="urn:microsoft.com/office/officeart/2018/2/layout/IconVerticalSolidList"/>
    <dgm:cxn modelId="{55F89BAF-1B28-4F63-86D1-8E5B5F9AA1CE}" type="presParOf" srcId="{E819A9B4-6318-4A51-989D-06E44C0F9F45}" destId="{855BD2EA-D431-485B-9A4C-1B4D2BF7E407}" srcOrd="2" destOrd="0" presId="urn:microsoft.com/office/officeart/2018/2/layout/IconVerticalSolidList"/>
    <dgm:cxn modelId="{DEDA0497-6DCE-4D01-B9D0-3C50D3849AA5}" type="presParOf" srcId="{E819A9B4-6318-4A51-989D-06E44C0F9F45}" destId="{61A372EA-CA5E-4A94-A210-2F9918371CE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EA15075-33A4-4E36-A4E9-087376AFA43B}"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FD64FCD8-F81A-4C9B-B2BE-13421E6BBC08}">
      <dgm:prSet/>
      <dgm:spPr/>
      <dgm:t>
        <a:bodyPr/>
        <a:lstStyle/>
        <a:p>
          <a:r>
            <a:rPr lang="en-US"/>
            <a:t>It is a fundamental building block of SSH.</a:t>
          </a:r>
        </a:p>
      </dgm:t>
    </dgm:pt>
    <dgm:pt modelId="{A9AB60B2-ABCE-4062-BD76-32F347239CC7}" type="parTrans" cxnId="{8C590E97-42DC-444B-A755-95AF053E9788}">
      <dgm:prSet/>
      <dgm:spPr/>
      <dgm:t>
        <a:bodyPr/>
        <a:lstStyle/>
        <a:p>
          <a:endParaRPr lang="en-US"/>
        </a:p>
      </dgm:t>
    </dgm:pt>
    <dgm:pt modelId="{96D7F4FB-7AFA-4E6E-ADE8-C65BD290202E}" type="sibTrans" cxnId="{8C590E97-42DC-444B-A755-95AF053E9788}">
      <dgm:prSet/>
      <dgm:spPr/>
      <dgm:t>
        <a:bodyPr/>
        <a:lstStyle/>
        <a:p>
          <a:endParaRPr lang="en-US"/>
        </a:p>
      </dgm:t>
    </dgm:pt>
    <dgm:pt modelId="{7FCA9507-53B8-45CD-8359-DA961D375C6D}">
      <dgm:prSet/>
      <dgm:spPr/>
      <dgm:t>
        <a:bodyPr/>
        <a:lstStyle/>
        <a:p>
          <a:r>
            <a:rPr lang="en-US"/>
            <a:t>It provides services such as the initial connection, server authentication, data encryption and data integrity.</a:t>
          </a:r>
        </a:p>
      </dgm:t>
    </dgm:pt>
    <dgm:pt modelId="{ACAA7F18-ED80-4EC8-93B2-63FF03E15E63}" type="parTrans" cxnId="{EFBE058C-DDAE-4F76-83B9-D80F25EDDDE9}">
      <dgm:prSet/>
      <dgm:spPr/>
      <dgm:t>
        <a:bodyPr/>
        <a:lstStyle/>
        <a:p>
          <a:endParaRPr lang="en-US"/>
        </a:p>
      </dgm:t>
    </dgm:pt>
    <dgm:pt modelId="{D6261C9D-4609-4CF9-8780-15A9BD4964BC}" type="sibTrans" cxnId="{EFBE058C-DDAE-4F76-83B9-D80F25EDDDE9}">
      <dgm:prSet/>
      <dgm:spPr/>
      <dgm:t>
        <a:bodyPr/>
        <a:lstStyle/>
        <a:p>
          <a:endParaRPr lang="en-US"/>
        </a:p>
      </dgm:t>
    </dgm:pt>
    <dgm:pt modelId="{88188BE2-B833-4EAA-8CAB-57BC91BDA018}">
      <dgm:prSet/>
      <dgm:spPr/>
      <dgm:t>
        <a:bodyPr/>
        <a:lstStyle/>
        <a:p>
          <a:r>
            <a:rPr lang="en-US"/>
            <a:t>It is used for the negotiation of cryptographic algorithms.</a:t>
          </a:r>
        </a:p>
      </dgm:t>
    </dgm:pt>
    <dgm:pt modelId="{1579A023-8207-4BB0-BF4E-6A64F71576AA}" type="parTrans" cxnId="{96E4410D-3375-4FDB-984C-BAB58CACB9B0}">
      <dgm:prSet/>
      <dgm:spPr/>
      <dgm:t>
        <a:bodyPr/>
        <a:lstStyle/>
        <a:p>
          <a:endParaRPr lang="en-US"/>
        </a:p>
      </dgm:t>
    </dgm:pt>
    <dgm:pt modelId="{8C9D7267-CE18-4BB8-BD97-1A7CA2BE2C3B}" type="sibTrans" cxnId="{96E4410D-3375-4FDB-984C-BAB58CACB9B0}">
      <dgm:prSet/>
      <dgm:spPr/>
      <dgm:t>
        <a:bodyPr/>
        <a:lstStyle/>
        <a:p>
          <a:endParaRPr lang="en-US"/>
        </a:p>
      </dgm:t>
    </dgm:pt>
    <dgm:pt modelId="{33752EC8-1F99-4347-B692-1BDBBADB66D9}" type="pres">
      <dgm:prSet presAssocID="{8EA15075-33A4-4E36-A4E9-087376AFA43B}" presName="root" presStyleCnt="0">
        <dgm:presLayoutVars>
          <dgm:dir/>
          <dgm:resizeHandles val="exact"/>
        </dgm:presLayoutVars>
      </dgm:prSet>
      <dgm:spPr/>
    </dgm:pt>
    <dgm:pt modelId="{0A287412-F54B-4F6E-9B96-B540DCC66FCE}" type="pres">
      <dgm:prSet presAssocID="{FD64FCD8-F81A-4C9B-B2BE-13421E6BBC08}" presName="compNode" presStyleCnt="0"/>
      <dgm:spPr/>
    </dgm:pt>
    <dgm:pt modelId="{BB893C71-F9F3-46CF-B8DE-643588984D5C}" type="pres">
      <dgm:prSet presAssocID="{FD64FCD8-F81A-4C9B-B2BE-13421E6BBC08}" presName="bgRect" presStyleLbl="bgShp" presStyleIdx="0" presStyleCnt="3"/>
      <dgm:spPr/>
    </dgm:pt>
    <dgm:pt modelId="{085C8D6A-0132-479B-B5AE-657B10B9615B}" type="pres">
      <dgm:prSet presAssocID="{FD64FCD8-F81A-4C9B-B2BE-13421E6BBC08}"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Network"/>
        </a:ext>
      </dgm:extLst>
    </dgm:pt>
    <dgm:pt modelId="{8293C82D-B468-44D1-9D7A-0D974985E32B}" type="pres">
      <dgm:prSet presAssocID="{FD64FCD8-F81A-4C9B-B2BE-13421E6BBC08}" presName="spaceRect" presStyleCnt="0"/>
      <dgm:spPr/>
    </dgm:pt>
    <dgm:pt modelId="{BD8825F3-E378-49B3-9F71-CA348457498A}" type="pres">
      <dgm:prSet presAssocID="{FD64FCD8-F81A-4C9B-B2BE-13421E6BBC08}" presName="parTx" presStyleLbl="revTx" presStyleIdx="0" presStyleCnt="3">
        <dgm:presLayoutVars>
          <dgm:chMax val="0"/>
          <dgm:chPref val="0"/>
        </dgm:presLayoutVars>
      </dgm:prSet>
      <dgm:spPr/>
    </dgm:pt>
    <dgm:pt modelId="{0127D0E4-0D24-4F52-BAC4-956517E3C2FB}" type="pres">
      <dgm:prSet presAssocID="{96D7F4FB-7AFA-4E6E-ADE8-C65BD290202E}" presName="sibTrans" presStyleCnt="0"/>
      <dgm:spPr/>
    </dgm:pt>
    <dgm:pt modelId="{BEC08730-7A8E-4420-8C5D-03B9178A6DB5}" type="pres">
      <dgm:prSet presAssocID="{7FCA9507-53B8-45CD-8359-DA961D375C6D}" presName="compNode" presStyleCnt="0"/>
      <dgm:spPr/>
    </dgm:pt>
    <dgm:pt modelId="{6B74551B-29ED-43BC-B06E-F16335152306}" type="pres">
      <dgm:prSet presAssocID="{7FCA9507-53B8-45CD-8359-DA961D375C6D}" presName="bgRect" presStyleLbl="bgShp" presStyleIdx="1" presStyleCnt="3"/>
      <dgm:spPr/>
    </dgm:pt>
    <dgm:pt modelId="{79961A98-5A00-4E92-B55B-281CD13396F4}" type="pres">
      <dgm:prSet presAssocID="{7FCA9507-53B8-45CD-8359-DA961D375C6D}"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nlock"/>
        </a:ext>
      </dgm:extLst>
    </dgm:pt>
    <dgm:pt modelId="{284211B4-4C8F-436E-80C1-D4374D95A3CB}" type="pres">
      <dgm:prSet presAssocID="{7FCA9507-53B8-45CD-8359-DA961D375C6D}" presName="spaceRect" presStyleCnt="0"/>
      <dgm:spPr/>
    </dgm:pt>
    <dgm:pt modelId="{ED2811CB-12F3-4D89-90C0-2A6FD37F8B2F}" type="pres">
      <dgm:prSet presAssocID="{7FCA9507-53B8-45CD-8359-DA961D375C6D}" presName="parTx" presStyleLbl="revTx" presStyleIdx="1" presStyleCnt="3">
        <dgm:presLayoutVars>
          <dgm:chMax val="0"/>
          <dgm:chPref val="0"/>
        </dgm:presLayoutVars>
      </dgm:prSet>
      <dgm:spPr/>
    </dgm:pt>
    <dgm:pt modelId="{2491A30D-82D3-4012-9F34-FFDB35A5BA86}" type="pres">
      <dgm:prSet presAssocID="{D6261C9D-4609-4CF9-8780-15A9BD4964BC}" presName="sibTrans" presStyleCnt="0"/>
      <dgm:spPr/>
    </dgm:pt>
    <dgm:pt modelId="{EE07F487-C2D8-47CD-8A8E-4CAE521F0483}" type="pres">
      <dgm:prSet presAssocID="{88188BE2-B833-4EAA-8CAB-57BC91BDA018}" presName="compNode" presStyleCnt="0"/>
      <dgm:spPr/>
    </dgm:pt>
    <dgm:pt modelId="{B7F33938-AD7C-49BB-8CDE-A3E301B0B9FD}" type="pres">
      <dgm:prSet presAssocID="{88188BE2-B833-4EAA-8CAB-57BC91BDA018}" presName="bgRect" presStyleLbl="bgShp" presStyleIdx="2" presStyleCnt="3"/>
      <dgm:spPr/>
    </dgm:pt>
    <dgm:pt modelId="{80241756-D246-419D-9354-4A09403CE093}" type="pres">
      <dgm:prSet presAssocID="{88188BE2-B833-4EAA-8CAB-57BC91BDA018}"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ank"/>
        </a:ext>
      </dgm:extLst>
    </dgm:pt>
    <dgm:pt modelId="{5FA2011E-F3D9-4F62-A781-22397114721B}" type="pres">
      <dgm:prSet presAssocID="{88188BE2-B833-4EAA-8CAB-57BC91BDA018}" presName="spaceRect" presStyleCnt="0"/>
      <dgm:spPr/>
    </dgm:pt>
    <dgm:pt modelId="{CFF1E7B4-E9B4-46E6-9FE0-78E195819C0C}" type="pres">
      <dgm:prSet presAssocID="{88188BE2-B833-4EAA-8CAB-57BC91BDA018}" presName="parTx" presStyleLbl="revTx" presStyleIdx="2" presStyleCnt="3">
        <dgm:presLayoutVars>
          <dgm:chMax val="0"/>
          <dgm:chPref val="0"/>
        </dgm:presLayoutVars>
      </dgm:prSet>
      <dgm:spPr/>
    </dgm:pt>
  </dgm:ptLst>
  <dgm:cxnLst>
    <dgm:cxn modelId="{96E4410D-3375-4FDB-984C-BAB58CACB9B0}" srcId="{8EA15075-33A4-4E36-A4E9-087376AFA43B}" destId="{88188BE2-B833-4EAA-8CAB-57BC91BDA018}" srcOrd="2" destOrd="0" parTransId="{1579A023-8207-4BB0-BF4E-6A64F71576AA}" sibTransId="{8C9D7267-CE18-4BB8-BD97-1A7CA2BE2C3B}"/>
    <dgm:cxn modelId="{41DFAD34-09BD-420E-891E-234281857B5E}" type="presOf" srcId="{88188BE2-B833-4EAA-8CAB-57BC91BDA018}" destId="{CFF1E7B4-E9B4-46E6-9FE0-78E195819C0C}" srcOrd="0" destOrd="0" presId="urn:microsoft.com/office/officeart/2018/2/layout/IconVerticalSolidList"/>
    <dgm:cxn modelId="{85A46F8A-2E1E-4363-B705-F1B5F5256E65}" type="presOf" srcId="{7FCA9507-53B8-45CD-8359-DA961D375C6D}" destId="{ED2811CB-12F3-4D89-90C0-2A6FD37F8B2F}" srcOrd="0" destOrd="0" presId="urn:microsoft.com/office/officeart/2018/2/layout/IconVerticalSolidList"/>
    <dgm:cxn modelId="{EFBE058C-DDAE-4F76-83B9-D80F25EDDDE9}" srcId="{8EA15075-33A4-4E36-A4E9-087376AFA43B}" destId="{7FCA9507-53B8-45CD-8359-DA961D375C6D}" srcOrd="1" destOrd="0" parTransId="{ACAA7F18-ED80-4EC8-93B2-63FF03E15E63}" sibTransId="{D6261C9D-4609-4CF9-8780-15A9BD4964BC}"/>
    <dgm:cxn modelId="{8C590E97-42DC-444B-A755-95AF053E9788}" srcId="{8EA15075-33A4-4E36-A4E9-087376AFA43B}" destId="{FD64FCD8-F81A-4C9B-B2BE-13421E6BBC08}" srcOrd="0" destOrd="0" parTransId="{A9AB60B2-ABCE-4062-BD76-32F347239CC7}" sibTransId="{96D7F4FB-7AFA-4E6E-ADE8-C65BD290202E}"/>
    <dgm:cxn modelId="{5B1C4DE1-89B7-4DC4-B3A2-47BFDBC87207}" type="presOf" srcId="{FD64FCD8-F81A-4C9B-B2BE-13421E6BBC08}" destId="{BD8825F3-E378-49B3-9F71-CA348457498A}" srcOrd="0" destOrd="0" presId="urn:microsoft.com/office/officeart/2018/2/layout/IconVerticalSolidList"/>
    <dgm:cxn modelId="{20059EF0-2179-4B72-9E5F-2A63C7B6497F}" type="presOf" srcId="{8EA15075-33A4-4E36-A4E9-087376AFA43B}" destId="{33752EC8-1F99-4347-B692-1BDBBADB66D9}" srcOrd="0" destOrd="0" presId="urn:microsoft.com/office/officeart/2018/2/layout/IconVerticalSolidList"/>
    <dgm:cxn modelId="{6B688F58-F1C0-4583-A0F9-CE811030F429}" type="presParOf" srcId="{33752EC8-1F99-4347-B692-1BDBBADB66D9}" destId="{0A287412-F54B-4F6E-9B96-B540DCC66FCE}" srcOrd="0" destOrd="0" presId="urn:microsoft.com/office/officeart/2018/2/layout/IconVerticalSolidList"/>
    <dgm:cxn modelId="{824635A2-F6DE-46E0-A983-1B36B4153A3B}" type="presParOf" srcId="{0A287412-F54B-4F6E-9B96-B540DCC66FCE}" destId="{BB893C71-F9F3-46CF-B8DE-643588984D5C}" srcOrd="0" destOrd="0" presId="urn:microsoft.com/office/officeart/2018/2/layout/IconVerticalSolidList"/>
    <dgm:cxn modelId="{F5F24128-174C-4F43-9D84-08FEA6B64042}" type="presParOf" srcId="{0A287412-F54B-4F6E-9B96-B540DCC66FCE}" destId="{085C8D6A-0132-479B-B5AE-657B10B9615B}" srcOrd="1" destOrd="0" presId="urn:microsoft.com/office/officeart/2018/2/layout/IconVerticalSolidList"/>
    <dgm:cxn modelId="{57049E20-D545-4398-BFD7-0B5F2652EF7B}" type="presParOf" srcId="{0A287412-F54B-4F6E-9B96-B540DCC66FCE}" destId="{8293C82D-B468-44D1-9D7A-0D974985E32B}" srcOrd="2" destOrd="0" presId="urn:microsoft.com/office/officeart/2018/2/layout/IconVerticalSolidList"/>
    <dgm:cxn modelId="{1D8E88F5-70DD-46DB-A0D9-8928E0297448}" type="presParOf" srcId="{0A287412-F54B-4F6E-9B96-B540DCC66FCE}" destId="{BD8825F3-E378-49B3-9F71-CA348457498A}" srcOrd="3" destOrd="0" presId="urn:microsoft.com/office/officeart/2018/2/layout/IconVerticalSolidList"/>
    <dgm:cxn modelId="{5ECE9250-EAE7-4DB5-94C5-94581FA6C370}" type="presParOf" srcId="{33752EC8-1F99-4347-B692-1BDBBADB66D9}" destId="{0127D0E4-0D24-4F52-BAC4-956517E3C2FB}" srcOrd="1" destOrd="0" presId="urn:microsoft.com/office/officeart/2018/2/layout/IconVerticalSolidList"/>
    <dgm:cxn modelId="{E512FA40-75DC-4479-9223-78F649BD8401}" type="presParOf" srcId="{33752EC8-1F99-4347-B692-1BDBBADB66D9}" destId="{BEC08730-7A8E-4420-8C5D-03B9178A6DB5}" srcOrd="2" destOrd="0" presId="urn:microsoft.com/office/officeart/2018/2/layout/IconVerticalSolidList"/>
    <dgm:cxn modelId="{50DBA166-D197-4F61-8180-D317182FBC00}" type="presParOf" srcId="{BEC08730-7A8E-4420-8C5D-03B9178A6DB5}" destId="{6B74551B-29ED-43BC-B06E-F16335152306}" srcOrd="0" destOrd="0" presId="urn:microsoft.com/office/officeart/2018/2/layout/IconVerticalSolidList"/>
    <dgm:cxn modelId="{63A4E1D7-B04D-4A79-B111-241FA9331C72}" type="presParOf" srcId="{BEC08730-7A8E-4420-8C5D-03B9178A6DB5}" destId="{79961A98-5A00-4E92-B55B-281CD13396F4}" srcOrd="1" destOrd="0" presId="urn:microsoft.com/office/officeart/2018/2/layout/IconVerticalSolidList"/>
    <dgm:cxn modelId="{098F27AF-03BA-4DE6-897B-A9CD4EE0A299}" type="presParOf" srcId="{BEC08730-7A8E-4420-8C5D-03B9178A6DB5}" destId="{284211B4-4C8F-436E-80C1-D4374D95A3CB}" srcOrd="2" destOrd="0" presId="urn:microsoft.com/office/officeart/2018/2/layout/IconVerticalSolidList"/>
    <dgm:cxn modelId="{307549DA-8198-4A99-9924-3B6A5D572FE9}" type="presParOf" srcId="{BEC08730-7A8E-4420-8C5D-03B9178A6DB5}" destId="{ED2811CB-12F3-4D89-90C0-2A6FD37F8B2F}" srcOrd="3" destOrd="0" presId="urn:microsoft.com/office/officeart/2018/2/layout/IconVerticalSolidList"/>
    <dgm:cxn modelId="{116B44CC-DBF3-4B2B-B55E-18FD3A0D63EE}" type="presParOf" srcId="{33752EC8-1F99-4347-B692-1BDBBADB66D9}" destId="{2491A30D-82D3-4012-9F34-FFDB35A5BA86}" srcOrd="3" destOrd="0" presId="urn:microsoft.com/office/officeart/2018/2/layout/IconVerticalSolidList"/>
    <dgm:cxn modelId="{F853FE60-F3AE-4CF6-A246-901D95E0AFE3}" type="presParOf" srcId="{33752EC8-1F99-4347-B692-1BDBBADB66D9}" destId="{EE07F487-C2D8-47CD-8A8E-4CAE521F0483}" srcOrd="4" destOrd="0" presId="urn:microsoft.com/office/officeart/2018/2/layout/IconVerticalSolidList"/>
    <dgm:cxn modelId="{861F5E51-D9B4-48B8-9B82-A8FCF3E3146D}" type="presParOf" srcId="{EE07F487-C2D8-47CD-8A8E-4CAE521F0483}" destId="{B7F33938-AD7C-49BB-8CDE-A3E301B0B9FD}" srcOrd="0" destOrd="0" presId="urn:microsoft.com/office/officeart/2018/2/layout/IconVerticalSolidList"/>
    <dgm:cxn modelId="{E3AE94D3-1A26-430E-956B-6EAA51AD745C}" type="presParOf" srcId="{EE07F487-C2D8-47CD-8A8E-4CAE521F0483}" destId="{80241756-D246-419D-9354-4A09403CE093}" srcOrd="1" destOrd="0" presId="urn:microsoft.com/office/officeart/2018/2/layout/IconVerticalSolidList"/>
    <dgm:cxn modelId="{785DEA14-E41C-459B-ACDE-C213C5C408A0}" type="presParOf" srcId="{EE07F487-C2D8-47CD-8A8E-4CAE521F0483}" destId="{5FA2011E-F3D9-4F62-A781-22397114721B}" srcOrd="2" destOrd="0" presId="urn:microsoft.com/office/officeart/2018/2/layout/IconVerticalSolidList"/>
    <dgm:cxn modelId="{96E28999-4B54-4A7A-87B7-D32A7BB08924}" type="presParOf" srcId="{EE07F487-C2D8-47CD-8A8E-4CAE521F0483}" destId="{CFF1E7B4-E9B4-46E6-9FE0-78E195819C0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E443EBD-1735-409E-90CD-4C8E56D740CB}"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53782616-5B94-4E79-81CD-DB6FD879E398}">
      <dgm:prSet/>
      <dgm:spPr/>
      <dgm:t>
        <a:bodyPr/>
        <a:lstStyle/>
        <a:p>
          <a:r>
            <a:rPr lang="en-US"/>
            <a:t>Based on the shared master key, both sides compute the data encryption keys and data integrity keys (details are omitted)</a:t>
          </a:r>
        </a:p>
      </dgm:t>
    </dgm:pt>
    <dgm:pt modelId="{93FA7ED1-2B28-4FC5-8B27-C72ADFCDF364}" type="parTrans" cxnId="{C768CF6B-39F8-4A8A-B59A-E83912E995D2}">
      <dgm:prSet/>
      <dgm:spPr/>
      <dgm:t>
        <a:bodyPr/>
        <a:lstStyle/>
        <a:p>
          <a:endParaRPr lang="en-US"/>
        </a:p>
      </dgm:t>
    </dgm:pt>
    <dgm:pt modelId="{D858FEB7-72D2-4579-BC21-AADAD17280B2}" type="sibTrans" cxnId="{C768CF6B-39F8-4A8A-B59A-E83912E995D2}">
      <dgm:prSet/>
      <dgm:spPr/>
      <dgm:t>
        <a:bodyPr/>
        <a:lstStyle/>
        <a:p>
          <a:endParaRPr lang="en-US"/>
        </a:p>
      </dgm:t>
    </dgm:pt>
    <dgm:pt modelId="{C31B3A81-4154-4840-9559-BF8256AAA498}">
      <dgm:prSet/>
      <dgm:spPr/>
      <dgm:t>
        <a:bodyPr/>
        <a:lstStyle/>
        <a:p>
          <a:r>
            <a:rPr lang="en-US"/>
            <a:t>The two encryption keys are independent</a:t>
          </a:r>
        </a:p>
      </dgm:t>
    </dgm:pt>
    <dgm:pt modelId="{D9878C37-530F-4340-B1B8-D16840404E9C}" type="parTrans" cxnId="{637132FD-A015-46B4-A027-F228AA2184A8}">
      <dgm:prSet/>
      <dgm:spPr/>
      <dgm:t>
        <a:bodyPr/>
        <a:lstStyle/>
        <a:p>
          <a:endParaRPr lang="en-US"/>
        </a:p>
      </dgm:t>
    </dgm:pt>
    <dgm:pt modelId="{047E9852-63C0-437B-AF02-0A492BA031A5}" type="sibTrans" cxnId="{637132FD-A015-46B4-A027-F228AA2184A8}">
      <dgm:prSet/>
      <dgm:spPr/>
      <dgm:t>
        <a:bodyPr/>
        <a:lstStyle/>
        <a:p>
          <a:endParaRPr lang="en-US"/>
        </a:p>
      </dgm:t>
    </dgm:pt>
    <dgm:pt modelId="{278693BC-8540-411D-A48C-5832D55F2404}">
      <dgm:prSet/>
      <dgm:spPr/>
      <dgm:t>
        <a:bodyPr/>
        <a:lstStyle/>
        <a:p>
          <a:r>
            <a:rPr lang="en-US"/>
            <a:t>The two data integrity keys (i.e., authentication keys) are independent</a:t>
          </a:r>
        </a:p>
      </dgm:t>
    </dgm:pt>
    <dgm:pt modelId="{85D61848-461E-451A-BE5D-889FA6914FE4}" type="parTrans" cxnId="{ADE820D5-D24D-42E0-A9DA-5EE4E4A3D029}">
      <dgm:prSet/>
      <dgm:spPr/>
      <dgm:t>
        <a:bodyPr/>
        <a:lstStyle/>
        <a:p>
          <a:endParaRPr lang="en-US"/>
        </a:p>
      </dgm:t>
    </dgm:pt>
    <dgm:pt modelId="{CCE38A53-76C9-456E-AB96-DA70D7C9261D}" type="sibTrans" cxnId="{ADE820D5-D24D-42E0-A9DA-5EE4E4A3D029}">
      <dgm:prSet/>
      <dgm:spPr/>
      <dgm:t>
        <a:bodyPr/>
        <a:lstStyle/>
        <a:p>
          <a:endParaRPr lang="en-US"/>
        </a:p>
      </dgm:t>
    </dgm:pt>
    <dgm:pt modelId="{29C690E5-FC1F-49AB-A2E7-E435E63E7FE8}">
      <dgm:prSet/>
      <dgm:spPr/>
      <dgm:t>
        <a:bodyPr/>
        <a:lstStyle/>
        <a:p>
          <a:r>
            <a:rPr lang="en-US"/>
            <a:t>After finishing the server authentication and the key exchange, the client has a single, secure, full duplex stream to an authenticated server</a:t>
          </a:r>
        </a:p>
      </dgm:t>
    </dgm:pt>
    <dgm:pt modelId="{79D4F169-3982-4A65-B821-664707EF2FD2}" type="parTrans" cxnId="{A0FFE8F4-C6DB-45F9-9E94-E14035D61DDA}">
      <dgm:prSet/>
      <dgm:spPr/>
      <dgm:t>
        <a:bodyPr/>
        <a:lstStyle/>
        <a:p>
          <a:endParaRPr lang="en-US"/>
        </a:p>
      </dgm:t>
    </dgm:pt>
    <dgm:pt modelId="{D1EE407B-098C-4038-BE76-862091AD4B8D}" type="sibTrans" cxnId="{A0FFE8F4-C6DB-45F9-9E94-E14035D61DDA}">
      <dgm:prSet/>
      <dgm:spPr/>
      <dgm:t>
        <a:bodyPr/>
        <a:lstStyle/>
        <a:p>
          <a:endParaRPr lang="en-US"/>
        </a:p>
      </dgm:t>
    </dgm:pt>
    <dgm:pt modelId="{ECA67F2B-4D8C-4250-AE0B-C55D48B8983B}" type="pres">
      <dgm:prSet presAssocID="{9E443EBD-1735-409E-90CD-4C8E56D740CB}" presName="root" presStyleCnt="0">
        <dgm:presLayoutVars>
          <dgm:dir/>
          <dgm:resizeHandles val="exact"/>
        </dgm:presLayoutVars>
      </dgm:prSet>
      <dgm:spPr/>
    </dgm:pt>
    <dgm:pt modelId="{F4D07273-DB7D-4B7F-99BB-F1055181DBF7}" type="pres">
      <dgm:prSet presAssocID="{53782616-5B94-4E79-81CD-DB6FD879E398}" presName="compNode" presStyleCnt="0"/>
      <dgm:spPr/>
    </dgm:pt>
    <dgm:pt modelId="{C1D8BB8B-3D2A-48F8-B85B-8361FB1CCE47}" type="pres">
      <dgm:prSet presAssocID="{53782616-5B94-4E79-81CD-DB6FD879E398}" presName="bgRect" presStyleLbl="bgShp" presStyleIdx="0" presStyleCnt="2"/>
      <dgm:spPr/>
    </dgm:pt>
    <dgm:pt modelId="{269CEE56-390E-424B-9C3C-5E9A349C72CD}" type="pres">
      <dgm:prSet presAssocID="{53782616-5B94-4E79-81CD-DB6FD879E398}"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Key"/>
        </a:ext>
      </dgm:extLst>
    </dgm:pt>
    <dgm:pt modelId="{1656A745-89E0-44AE-9315-8E36FB9B1123}" type="pres">
      <dgm:prSet presAssocID="{53782616-5B94-4E79-81CD-DB6FD879E398}" presName="spaceRect" presStyleCnt="0"/>
      <dgm:spPr/>
    </dgm:pt>
    <dgm:pt modelId="{B6640933-1653-48E9-BEB6-BC6DD297E984}" type="pres">
      <dgm:prSet presAssocID="{53782616-5B94-4E79-81CD-DB6FD879E398}" presName="parTx" presStyleLbl="revTx" presStyleIdx="0" presStyleCnt="3">
        <dgm:presLayoutVars>
          <dgm:chMax val="0"/>
          <dgm:chPref val="0"/>
        </dgm:presLayoutVars>
      </dgm:prSet>
      <dgm:spPr/>
    </dgm:pt>
    <dgm:pt modelId="{A28E5CFB-A09C-4569-8038-BCD427B121BE}" type="pres">
      <dgm:prSet presAssocID="{53782616-5B94-4E79-81CD-DB6FD879E398}" presName="desTx" presStyleLbl="revTx" presStyleIdx="1" presStyleCnt="3">
        <dgm:presLayoutVars/>
      </dgm:prSet>
      <dgm:spPr/>
    </dgm:pt>
    <dgm:pt modelId="{A215DFBB-C864-4EF7-B749-52F8CFCCD261}" type="pres">
      <dgm:prSet presAssocID="{D858FEB7-72D2-4579-BC21-AADAD17280B2}" presName="sibTrans" presStyleCnt="0"/>
      <dgm:spPr/>
    </dgm:pt>
    <dgm:pt modelId="{D72AAB6D-E61D-4E38-98CC-6F61BDE96F15}" type="pres">
      <dgm:prSet presAssocID="{29C690E5-FC1F-49AB-A2E7-E435E63E7FE8}" presName="compNode" presStyleCnt="0"/>
      <dgm:spPr/>
    </dgm:pt>
    <dgm:pt modelId="{BB56D063-CA00-4059-8F87-DB597615334D}" type="pres">
      <dgm:prSet presAssocID="{29C690E5-FC1F-49AB-A2E7-E435E63E7FE8}" presName="bgRect" presStyleLbl="bgShp" presStyleIdx="1" presStyleCnt="2"/>
      <dgm:spPr/>
    </dgm:pt>
    <dgm:pt modelId="{C38F70CC-3972-46B6-8451-B7CCCA78AE47}" type="pres">
      <dgm:prSet presAssocID="{29C690E5-FC1F-49AB-A2E7-E435E63E7FE8}"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nlock"/>
        </a:ext>
      </dgm:extLst>
    </dgm:pt>
    <dgm:pt modelId="{31AE4788-8C53-4603-B594-04CBAC1EF27A}" type="pres">
      <dgm:prSet presAssocID="{29C690E5-FC1F-49AB-A2E7-E435E63E7FE8}" presName="spaceRect" presStyleCnt="0"/>
      <dgm:spPr/>
    </dgm:pt>
    <dgm:pt modelId="{A890014D-9D30-49EA-88EF-FF0CDB8F87EC}" type="pres">
      <dgm:prSet presAssocID="{29C690E5-FC1F-49AB-A2E7-E435E63E7FE8}" presName="parTx" presStyleLbl="revTx" presStyleIdx="2" presStyleCnt="3">
        <dgm:presLayoutVars>
          <dgm:chMax val="0"/>
          <dgm:chPref val="0"/>
        </dgm:presLayoutVars>
      </dgm:prSet>
      <dgm:spPr/>
    </dgm:pt>
  </dgm:ptLst>
  <dgm:cxnLst>
    <dgm:cxn modelId="{E1428A10-FBE6-4AC7-A5B2-6ABA931FE7AB}" type="presOf" srcId="{9E443EBD-1735-409E-90CD-4C8E56D740CB}" destId="{ECA67F2B-4D8C-4250-AE0B-C55D48B8983B}" srcOrd="0" destOrd="0" presId="urn:microsoft.com/office/officeart/2018/2/layout/IconVerticalSolidList"/>
    <dgm:cxn modelId="{8383BE15-5D28-4274-8A04-29CB4B274E1D}" type="presOf" srcId="{29C690E5-FC1F-49AB-A2E7-E435E63E7FE8}" destId="{A890014D-9D30-49EA-88EF-FF0CDB8F87EC}" srcOrd="0" destOrd="0" presId="urn:microsoft.com/office/officeart/2018/2/layout/IconVerticalSolidList"/>
    <dgm:cxn modelId="{B3830652-34C6-4098-B741-0C21D191E400}" type="presOf" srcId="{53782616-5B94-4E79-81CD-DB6FD879E398}" destId="{B6640933-1653-48E9-BEB6-BC6DD297E984}" srcOrd="0" destOrd="0" presId="urn:microsoft.com/office/officeart/2018/2/layout/IconVerticalSolidList"/>
    <dgm:cxn modelId="{2D423359-6C30-4DB6-AC03-C302C2AC0B24}" type="presOf" srcId="{278693BC-8540-411D-A48C-5832D55F2404}" destId="{A28E5CFB-A09C-4569-8038-BCD427B121BE}" srcOrd="0" destOrd="1" presId="urn:microsoft.com/office/officeart/2018/2/layout/IconVerticalSolidList"/>
    <dgm:cxn modelId="{C768CF6B-39F8-4A8A-B59A-E83912E995D2}" srcId="{9E443EBD-1735-409E-90CD-4C8E56D740CB}" destId="{53782616-5B94-4E79-81CD-DB6FD879E398}" srcOrd="0" destOrd="0" parTransId="{93FA7ED1-2B28-4FC5-8B27-C72ADFCDF364}" sibTransId="{D858FEB7-72D2-4579-BC21-AADAD17280B2}"/>
    <dgm:cxn modelId="{EE820987-F037-4B56-BA6A-869DBD40CD59}" type="presOf" srcId="{C31B3A81-4154-4840-9559-BF8256AAA498}" destId="{A28E5CFB-A09C-4569-8038-BCD427B121BE}" srcOrd="0" destOrd="0" presId="urn:microsoft.com/office/officeart/2018/2/layout/IconVerticalSolidList"/>
    <dgm:cxn modelId="{ADE820D5-D24D-42E0-A9DA-5EE4E4A3D029}" srcId="{53782616-5B94-4E79-81CD-DB6FD879E398}" destId="{278693BC-8540-411D-A48C-5832D55F2404}" srcOrd="1" destOrd="0" parTransId="{85D61848-461E-451A-BE5D-889FA6914FE4}" sibTransId="{CCE38A53-76C9-456E-AB96-DA70D7C9261D}"/>
    <dgm:cxn modelId="{A0FFE8F4-C6DB-45F9-9E94-E14035D61DDA}" srcId="{9E443EBD-1735-409E-90CD-4C8E56D740CB}" destId="{29C690E5-FC1F-49AB-A2E7-E435E63E7FE8}" srcOrd="1" destOrd="0" parTransId="{79D4F169-3982-4A65-B821-664707EF2FD2}" sibTransId="{D1EE407B-098C-4038-BE76-862091AD4B8D}"/>
    <dgm:cxn modelId="{637132FD-A015-46B4-A027-F228AA2184A8}" srcId="{53782616-5B94-4E79-81CD-DB6FD879E398}" destId="{C31B3A81-4154-4840-9559-BF8256AAA498}" srcOrd="0" destOrd="0" parTransId="{D9878C37-530F-4340-B1B8-D16840404E9C}" sibTransId="{047E9852-63C0-437B-AF02-0A492BA031A5}"/>
    <dgm:cxn modelId="{BEBF715F-C5EC-4C4E-A296-A12E630D8365}" type="presParOf" srcId="{ECA67F2B-4D8C-4250-AE0B-C55D48B8983B}" destId="{F4D07273-DB7D-4B7F-99BB-F1055181DBF7}" srcOrd="0" destOrd="0" presId="urn:microsoft.com/office/officeart/2018/2/layout/IconVerticalSolidList"/>
    <dgm:cxn modelId="{63F7188F-E532-4805-82E0-D8B062BFD8DA}" type="presParOf" srcId="{F4D07273-DB7D-4B7F-99BB-F1055181DBF7}" destId="{C1D8BB8B-3D2A-48F8-B85B-8361FB1CCE47}" srcOrd="0" destOrd="0" presId="urn:microsoft.com/office/officeart/2018/2/layout/IconVerticalSolidList"/>
    <dgm:cxn modelId="{1FBEF654-43A3-49A8-A90D-B3720E2B040B}" type="presParOf" srcId="{F4D07273-DB7D-4B7F-99BB-F1055181DBF7}" destId="{269CEE56-390E-424B-9C3C-5E9A349C72CD}" srcOrd="1" destOrd="0" presId="urn:microsoft.com/office/officeart/2018/2/layout/IconVerticalSolidList"/>
    <dgm:cxn modelId="{EF7F3EBF-E092-46E1-967B-4FA39123EEE3}" type="presParOf" srcId="{F4D07273-DB7D-4B7F-99BB-F1055181DBF7}" destId="{1656A745-89E0-44AE-9315-8E36FB9B1123}" srcOrd="2" destOrd="0" presId="urn:microsoft.com/office/officeart/2018/2/layout/IconVerticalSolidList"/>
    <dgm:cxn modelId="{5D65D119-287A-4DF7-951B-4CAAE246C4ED}" type="presParOf" srcId="{F4D07273-DB7D-4B7F-99BB-F1055181DBF7}" destId="{B6640933-1653-48E9-BEB6-BC6DD297E984}" srcOrd="3" destOrd="0" presId="urn:microsoft.com/office/officeart/2018/2/layout/IconVerticalSolidList"/>
    <dgm:cxn modelId="{FE981266-A7AF-4C60-8D1A-CAB3094F303E}" type="presParOf" srcId="{F4D07273-DB7D-4B7F-99BB-F1055181DBF7}" destId="{A28E5CFB-A09C-4569-8038-BCD427B121BE}" srcOrd="4" destOrd="0" presId="urn:microsoft.com/office/officeart/2018/2/layout/IconVerticalSolidList"/>
    <dgm:cxn modelId="{65656114-1E19-4782-B53D-08E8033553AD}" type="presParOf" srcId="{ECA67F2B-4D8C-4250-AE0B-C55D48B8983B}" destId="{A215DFBB-C864-4EF7-B749-52F8CFCCD261}" srcOrd="1" destOrd="0" presId="urn:microsoft.com/office/officeart/2018/2/layout/IconVerticalSolidList"/>
    <dgm:cxn modelId="{0BCADBDE-5C14-4745-9482-8498FA0FBFF0}" type="presParOf" srcId="{ECA67F2B-4D8C-4250-AE0B-C55D48B8983B}" destId="{D72AAB6D-E61D-4E38-98CC-6F61BDE96F15}" srcOrd="2" destOrd="0" presId="urn:microsoft.com/office/officeart/2018/2/layout/IconVerticalSolidList"/>
    <dgm:cxn modelId="{8C0D5E5B-E68D-4EDA-B03C-01D24A0BAA36}" type="presParOf" srcId="{D72AAB6D-E61D-4E38-98CC-6F61BDE96F15}" destId="{BB56D063-CA00-4059-8F87-DB597615334D}" srcOrd="0" destOrd="0" presId="urn:microsoft.com/office/officeart/2018/2/layout/IconVerticalSolidList"/>
    <dgm:cxn modelId="{97BDE7A1-3B44-4D38-98BA-4D992EF70B38}" type="presParOf" srcId="{D72AAB6D-E61D-4E38-98CC-6F61BDE96F15}" destId="{C38F70CC-3972-46B6-8451-B7CCCA78AE47}" srcOrd="1" destOrd="0" presId="urn:microsoft.com/office/officeart/2018/2/layout/IconVerticalSolidList"/>
    <dgm:cxn modelId="{1A59B323-C779-450E-BD27-F9E60F204782}" type="presParOf" srcId="{D72AAB6D-E61D-4E38-98CC-6F61BDE96F15}" destId="{31AE4788-8C53-4603-B594-04CBAC1EF27A}" srcOrd="2" destOrd="0" presId="urn:microsoft.com/office/officeart/2018/2/layout/IconVerticalSolidList"/>
    <dgm:cxn modelId="{C523A61C-8E56-4B14-A8D1-1DCEAC0603B7}" type="presParOf" srcId="{D72AAB6D-E61D-4E38-98CC-6F61BDE96F15}" destId="{A890014D-9D30-49EA-88EF-FF0CDB8F87E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CAAAE8E-0F2F-441B-8942-FE18B618BC09}"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8E4C6BF0-BFD8-4B2C-869B-7A911765AD61}">
      <dgm:prSet/>
      <dgm:spPr/>
      <dgm:t>
        <a:bodyPr/>
        <a:lstStyle/>
        <a:p>
          <a:r>
            <a:rPr lang="en-US"/>
            <a:t>User Authentication Request is driven by the client and has the following parts:</a:t>
          </a:r>
        </a:p>
      </dgm:t>
    </dgm:pt>
    <dgm:pt modelId="{4E383E38-57E5-4C0F-8EA3-02791C4606DD}" type="parTrans" cxnId="{573F3C2C-7247-49DD-9E5F-22E135E47200}">
      <dgm:prSet/>
      <dgm:spPr/>
      <dgm:t>
        <a:bodyPr/>
        <a:lstStyle/>
        <a:p>
          <a:endParaRPr lang="en-US"/>
        </a:p>
      </dgm:t>
    </dgm:pt>
    <dgm:pt modelId="{C26798B4-D12D-4297-9B7C-6560B3E20309}" type="sibTrans" cxnId="{573F3C2C-7247-49DD-9E5F-22E135E47200}">
      <dgm:prSet/>
      <dgm:spPr/>
      <dgm:t>
        <a:bodyPr/>
        <a:lstStyle/>
        <a:p>
          <a:endParaRPr lang="en-US"/>
        </a:p>
      </dgm:t>
    </dgm:pt>
    <dgm:pt modelId="{E43ADEB4-7E1C-4B08-8BBC-8BD827DEB514}">
      <dgm:prSet/>
      <dgm:spPr/>
      <dgm:t>
        <a:bodyPr/>
        <a:lstStyle/>
        <a:p>
          <a:r>
            <a:rPr lang="en-US"/>
            <a:t>user name</a:t>
          </a:r>
        </a:p>
      </dgm:t>
    </dgm:pt>
    <dgm:pt modelId="{1756C57E-6362-4B9A-89B7-B83B35ACCAE6}" type="parTrans" cxnId="{779BB122-686F-49E9-9646-5F69A51A8221}">
      <dgm:prSet/>
      <dgm:spPr/>
      <dgm:t>
        <a:bodyPr/>
        <a:lstStyle/>
        <a:p>
          <a:endParaRPr lang="en-US"/>
        </a:p>
      </dgm:t>
    </dgm:pt>
    <dgm:pt modelId="{3DB0A219-DC63-4AAF-9C80-5FEED6993C99}" type="sibTrans" cxnId="{779BB122-686F-49E9-9646-5F69A51A8221}">
      <dgm:prSet/>
      <dgm:spPr/>
      <dgm:t>
        <a:bodyPr/>
        <a:lstStyle/>
        <a:p>
          <a:endParaRPr lang="en-US"/>
        </a:p>
      </dgm:t>
    </dgm:pt>
    <dgm:pt modelId="{6BEC6C36-750E-4F15-863A-B60F95FE40F2}">
      <dgm:prSet/>
      <dgm:spPr/>
      <dgm:t>
        <a:bodyPr/>
        <a:lstStyle/>
        <a:p>
          <a:r>
            <a:rPr lang="en-US"/>
            <a:t>service name</a:t>
          </a:r>
        </a:p>
      </dgm:t>
    </dgm:pt>
    <dgm:pt modelId="{AA0572F3-3FB9-4BE3-8F25-BF9D15DDF6C0}" type="parTrans" cxnId="{C65FA449-F5E8-4D91-B69C-D064EA77F146}">
      <dgm:prSet/>
      <dgm:spPr/>
      <dgm:t>
        <a:bodyPr/>
        <a:lstStyle/>
        <a:p>
          <a:endParaRPr lang="en-US"/>
        </a:p>
      </dgm:t>
    </dgm:pt>
    <dgm:pt modelId="{ACB55598-28C3-4992-B6DA-B3A3B5E6D4D4}" type="sibTrans" cxnId="{C65FA449-F5E8-4D91-B69C-D064EA77F146}">
      <dgm:prSet/>
      <dgm:spPr/>
      <dgm:t>
        <a:bodyPr/>
        <a:lstStyle/>
        <a:p>
          <a:endParaRPr lang="en-US"/>
        </a:p>
      </dgm:t>
    </dgm:pt>
    <dgm:pt modelId="{FFCD7416-2C20-4300-A917-48D159D42020}">
      <dgm:prSet/>
      <dgm:spPr/>
      <dgm:t>
        <a:bodyPr/>
        <a:lstStyle/>
        <a:p>
          <a:r>
            <a:rPr lang="en-US"/>
            <a:t>method name</a:t>
          </a:r>
        </a:p>
      </dgm:t>
    </dgm:pt>
    <dgm:pt modelId="{A125EBD0-D8A5-4615-A289-2DFCBF726FCC}" type="parTrans" cxnId="{45D03F1E-91E2-456F-AAC0-ABFEC229B46E}">
      <dgm:prSet/>
      <dgm:spPr/>
      <dgm:t>
        <a:bodyPr/>
        <a:lstStyle/>
        <a:p>
          <a:endParaRPr lang="en-US"/>
        </a:p>
      </dgm:t>
    </dgm:pt>
    <dgm:pt modelId="{25E75C09-1453-47E9-9578-0703DA0E7A05}" type="sibTrans" cxnId="{45D03F1E-91E2-456F-AAC0-ABFEC229B46E}">
      <dgm:prSet/>
      <dgm:spPr/>
      <dgm:t>
        <a:bodyPr/>
        <a:lstStyle/>
        <a:p>
          <a:endParaRPr lang="en-US"/>
        </a:p>
      </dgm:t>
    </dgm:pt>
    <dgm:pt modelId="{E1BB0D71-AFD2-4AB3-A153-03BD00908E4E}">
      <dgm:prSet/>
      <dgm:spPr/>
      <dgm:t>
        <a:bodyPr/>
        <a:lstStyle/>
        <a:p>
          <a:r>
            <a:rPr lang="en-US"/>
            <a:t>Authentication Response from the server:</a:t>
          </a:r>
        </a:p>
      </dgm:t>
    </dgm:pt>
    <dgm:pt modelId="{7AA676EC-B44C-4C52-A52A-CD9F577DC8FB}" type="parTrans" cxnId="{7C54F1C4-E29A-4A3A-9771-A47D22BF6868}">
      <dgm:prSet/>
      <dgm:spPr/>
      <dgm:t>
        <a:bodyPr/>
        <a:lstStyle/>
        <a:p>
          <a:endParaRPr lang="en-US"/>
        </a:p>
      </dgm:t>
    </dgm:pt>
    <dgm:pt modelId="{BED846BD-227E-4868-AB11-1EF171BB849D}" type="sibTrans" cxnId="{7C54F1C4-E29A-4A3A-9771-A47D22BF6868}">
      <dgm:prSet/>
      <dgm:spPr/>
      <dgm:t>
        <a:bodyPr/>
        <a:lstStyle/>
        <a:p>
          <a:endParaRPr lang="en-US"/>
        </a:p>
      </dgm:t>
    </dgm:pt>
    <dgm:pt modelId="{C6245E18-9700-4C34-84AB-3DE1994224D6}">
      <dgm:prSet/>
      <dgm:spPr/>
      <dgm:t>
        <a:bodyPr/>
        <a:lstStyle/>
        <a:p>
          <a:r>
            <a:rPr lang="en-US"/>
            <a:t>SUCCESS: user authentication done.</a:t>
          </a:r>
        </a:p>
      </dgm:t>
    </dgm:pt>
    <dgm:pt modelId="{5897A784-82EA-47CD-B711-12FF346E0F20}" type="parTrans" cxnId="{BB7C3799-4F26-4BB7-B878-39742B40235D}">
      <dgm:prSet/>
      <dgm:spPr/>
      <dgm:t>
        <a:bodyPr/>
        <a:lstStyle/>
        <a:p>
          <a:endParaRPr lang="en-US"/>
        </a:p>
      </dgm:t>
    </dgm:pt>
    <dgm:pt modelId="{E815FBB2-4847-41DD-A982-C428014A04CF}" type="sibTrans" cxnId="{BB7C3799-4F26-4BB7-B878-39742B40235D}">
      <dgm:prSet/>
      <dgm:spPr/>
      <dgm:t>
        <a:bodyPr/>
        <a:lstStyle/>
        <a:p>
          <a:endParaRPr lang="en-US"/>
        </a:p>
      </dgm:t>
    </dgm:pt>
    <dgm:pt modelId="{3B91B18C-6EA4-45AE-92DE-398D09415594}">
      <dgm:prSet/>
      <dgm:spPr/>
      <dgm:t>
        <a:bodyPr/>
        <a:lstStyle/>
        <a:p>
          <a:r>
            <a:rPr lang="en-US"/>
            <a:t>FAILURE: return a list of user authentication methods that can continue</a:t>
          </a:r>
        </a:p>
      </dgm:t>
    </dgm:pt>
    <dgm:pt modelId="{DB1AB770-332C-4B03-88D9-ECCBE85FF9BA}" type="parTrans" cxnId="{8C3BF1F5-A5FF-44AE-BE36-3DD5063C5A9C}">
      <dgm:prSet/>
      <dgm:spPr/>
      <dgm:t>
        <a:bodyPr/>
        <a:lstStyle/>
        <a:p>
          <a:endParaRPr lang="en-US"/>
        </a:p>
      </dgm:t>
    </dgm:pt>
    <dgm:pt modelId="{CA786E2B-A17C-4FA5-88D3-FCF51C854AA0}" type="sibTrans" cxnId="{8C3BF1F5-A5FF-44AE-BE36-3DD5063C5A9C}">
      <dgm:prSet/>
      <dgm:spPr/>
      <dgm:t>
        <a:bodyPr/>
        <a:lstStyle/>
        <a:p>
          <a:endParaRPr lang="en-US"/>
        </a:p>
      </dgm:t>
    </dgm:pt>
    <dgm:pt modelId="{940D4968-5AA6-463F-9DFE-C81E5E66EC13}" type="pres">
      <dgm:prSet presAssocID="{2CAAAE8E-0F2F-441B-8942-FE18B618BC09}" presName="root" presStyleCnt="0">
        <dgm:presLayoutVars>
          <dgm:dir/>
          <dgm:resizeHandles val="exact"/>
        </dgm:presLayoutVars>
      </dgm:prSet>
      <dgm:spPr/>
    </dgm:pt>
    <dgm:pt modelId="{47E68640-6E34-4ECB-B542-AE54881983BD}" type="pres">
      <dgm:prSet presAssocID="{8E4C6BF0-BFD8-4B2C-869B-7A911765AD61}" presName="compNode" presStyleCnt="0"/>
      <dgm:spPr/>
    </dgm:pt>
    <dgm:pt modelId="{41FBA99B-4A87-40A5-A6A4-E0C2C4813AE1}" type="pres">
      <dgm:prSet presAssocID="{8E4C6BF0-BFD8-4B2C-869B-7A911765AD61}" presName="bgRect" presStyleLbl="bgShp" presStyleIdx="0" presStyleCnt="2"/>
      <dgm:spPr/>
    </dgm:pt>
    <dgm:pt modelId="{1E9E463B-C0C3-4672-9149-A799323416D5}" type="pres">
      <dgm:prSet presAssocID="{8E4C6BF0-BFD8-4B2C-869B-7A911765AD61}"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User"/>
        </a:ext>
      </dgm:extLst>
    </dgm:pt>
    <dgm:pt modelId="{C633FE33-6DE8-48E5-BD05-65888B36A3F4}" type="pres">
      <dgm:prSet presAssocID="{8E4C6BF0-BFD8-4B2C-869B-7A911765AD61}" presName="spaceRect" presStyleCnt="0"/>
      <dgm:spPr/>
    </dgm:pt>
    <dgm:pt modelId="{0F6FD2CD-FA92-4B6A-B77E-9B2500963C64}" type="pres">
      <dgm:prSet presAssocID="{8E4C6BF0-BFD8-4B2C-869B-7A911765AD61}" presName="parTx" presStyleLbl="revTx" presStyleIdx="0" presStyleCnt="4">
        <dgm:presLayoutVars>
          <dgm:chMax val="0"/>
          <dgm:chPref val="0"/>
        </dgm:presLayoutVars>
      </dgm:prSet>
      <dgm:spPr/>
    </dgm:pt>
    <dgm:pt modelId="{1F16B589-EB63-4497-A6FC-F34EFD624350}" type="pres">
      <dgm:prSet presAssocID="{8E4C6BF0-BFD8-4B2C-869B-7A911765AD61}" presName="desTx" presStyleLbl="revTx" presStyleIdx="1" presStyleCnt="4">
        <dgm:presLayoutVars/>
      </dgm:prSet>
      <dgm:spPr/>
    </dgm:pt>
    <dgm:pt modelId="{C04C26A5-9D73-46A1-AEA6-8FC4B67D61CA}" type="pres">
      <dgm:prSet presAssocID="{C26798B4-D12D-4297-9B7C-6560B3E20309}" presName="sibTrans" presStyleCnt="0"/>
      <dgm:spPr/>
    </dgm:pt>
    <dgm:pt modelId="{8F7FE3B1-13E4-46F7-AF1C-EFEA0A392372}" type="pres">
      <dgm:prSet presAssocID="{E1BB0D71-AFD2-4AB3-A153-03BD00908E4E}" presName="compNode" presStyleCnt="0"/>
      <dgm:spPr/>
    </dgm:pt>
    <dgm:pt modelId="{200D8CC0-198D-4C25-9E33-5E6A98A25331}" type="pres">
      <dgm:prSet presAssocID="{E1BB0D71-AFD2-4AB3-A153-03BD00908E4E}" presName="bgRect" presStyleLbl="bgShp" presStyleIdx="1" presStyleCnt="2"/>
      <dgm:spPr/>
    </dgm:pt>
    <dgm:pt modelId="{36B8C066-AE8F-47DC-83EC-2884B63E8DAD}" type="pres">
      <dgm:prSet presAssocID="{E1BB0D71-AFD2-4AB3-A153-03BD00908E4E}"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nlock"/>
        </a:ext>
      </dgm:extLst>
    </dgm:pt>
    <dgm:pt modelId="{A667DBB4-FC4D-43CF-B612-8E974435FD8E}" type="pres">
      <dgm:prSet presAssocID="{E1BB0D71-AFD2-4AB3-A153-03BD00908E4E}" presName="spaceRect" presStyleCnt="0"/>
      <dgm:spPr/>
    </dgm:pt>
    <dgm:pt modelId="{0A817B9B-DE9D-4C32-85E6-D8FB9203DC3F}" type="pres">
      <dgm:prSet presAssocID="{E1BB0D71-AFD2-4AB3-A153-03BD00908E4E}" presName="parTx" presStyleLbl="revTx" presStyleIdx="2" presStyleCnt="4">
        <dgm:presLayoutVars>
          <dgm:chMax val="0"/>
          <dgm:chPref val="0"/>
        </dgm:presLayoutVars>
      </dgm:prSet>
      <dgm:spPr/>
    </dgm:pt>
    <dgm:pt modelId="{1A24FF12-2D57-4924-9C63-36BCB03CB59C}" type="pres">
      <dgm:prSet presAssocID="{E1BB0D71-AFD2-4AB3-A153-03BD00908E4E}" presName="desTx" presStyleLbl="revTx" presStyleIdx="3" presStyleCnt="4">
        <dgm:presLayoutVars/>
      </dgm:prSet>
      <dgm:spPr/>
    </dgm:pt>
  </dgm:ptLst>
  <dgm:cxnLst>
    <dgm:cxn modelId="{45D03F1E-91E2-456F-AAC0-ABFEC229B46E}" srcId="{8E4C6BF0-BFD8-4B2C-869B-7A911765AD61}" destId="{FFCD7416-2C20-4300-A917-48D159D42020}" srcOrd="2" destOrd="0" parTransId="{A125EBD0-D8A5-4615-A289-2DFCBF726FCC}" sibTransId="{25E75C09-1453-47E9-9578-0703DA0E7A05}"/>
    <dgm:cxn modelId="{779BB122-686F-49E9-9646-5F69A51A8221}" srcId="{8E4C6BF0-BFD8-4B2C-869B-7A911765AD61}" destId="{E43ADEB4-7E1C-4B08-8BBC-8BD827DEB514}" srcOrd="0" destOrd="0" parTransId="{1756C57E-6362-4B9A-89B7-B83B35ACCAE6}" sibTransId="{3DB0A219-DC63-4AAF-9C80-5FEED6993C99}"/>
    <dgm:cxn modelId="{573F3C2C-7247-49DD-9E5F-22E135E47200}" srcId="{2CAAAE8E-0F2F-441B-8942-FE18B618BC09}" destId="{8E4C6BF0-BFD8-4B2C-869B-7A911765AD61}" srcOrd="0" destOrd="0" parTransId="{4E383E38-57E5-4C0F-8EA3-02791C4606DD}" sibTransId="{C26798B4-D12D-4297-9B7C-6560B3E20309}"/>
    <dgm:cxn modelId="{5BB8C742-B967-40D1-95A3-892C6157A144}" type="presOf" srcId="{3B91B18C-6EA4-45AE-92DE-398D09415594}" destId="{1A24FF12-2D57-4924-9C63-36BCB03CB59C}" srcOrd="0" destOrd="1" presId="urn:microsoft.com/office/officeart/2018/2/layout/IconVerticalSolidList"/>
    <dgm:cxn modelId="{C65FA449-F5E8-4D91-B69C-D064EA77F146}" srcId="{8E4C6BF0-BFD8-4B2C-869B-7A911765AD61}" destId="{6BEC6C36-750E-4F15-863A-B60F95FE40F2}" srcOrd="1" destOrd="0" parTransId="{AA0572F3-3FB9-4BE3-8F25-BF9D15DDF6C0}" sibTransId="{ACB55598-28C3-4992-B6DA-B3A3B5E6D4D4}"/>
    <dgm:cxn modelId="{E9FDF687-AD0A-4DBB-BEA1-041B1707A599}" type="presOf" srcId="{FFCD7416-2C20-4300-A917-48D159D42020}" destId="{1F16B589-EB63-4497-A6FC-F34EFD624350}" srcOrd="0" destOrd="2" presId="urn:microsoft.com/office/officeart/2018/2/layout/IconVerticalSolidList"/>
    <dgm:cxn modelId="{BB7C3799-4F26-4BB7-B878-39742B40235D}" srcId="{E1BB0D71-AFD2-4AB3-A153-03BD00908E4E}" destId="{C6245E18-9700-4C34-84AB-3DE1994224D6}" srcOrd="0" destOrd="0" parTransId="{5897A784-82EA-47CD-B711-12FF346E0F20}" sibTransId="{E815FBB2-4847-41DD-A982-C428014A04CF}"/>
    <dgm:cxn modelId="{7C54F1C4-E29A-4A3A-9771-A47D22BF6868}" srcId="{2CAAAE8E-0F2F-441B-8942-FE18B618BC09}" destId="{E1BB0D71-AFD2-4AB3-A153-03BD00908E4E}" srcOrd="1" destOrd="0" parTransId="{7AA676EC-B44C-4C52-A52A-CD9F577DC8FB}" sibTransId="{BED846BD-227E-4868-AB11-1EF171BB849D}"/>
    <dgm:cxn modelId="{9DC458D5-1D9B-41F8-A52F-EDE35129ECF2}" type="presOf" srcId="{2CAAAE8E-0F2F-441B-8942-FE18B618BC09}" destId="{940D4968-5AA6-463F-9DFE-C81E5E66EC13}" srcOrd="0" destOrd="0" presId="urn:microsoft.com/office/officeart/2018/2/layout/IconVerticalSolidList"/>
    <dgm:cxn modelId="{F59288D8-B927-4945-8457-68142AD22FC5}" type="presOf" srcId="{8E4C6BF0-BFD8-4B2C-869B-7A911765AD61}" destId="{0F6FD2CD-FA92-4B6A-B77E-9B2500963C64}" srcOrd="0" destOrd="0" presId="urn:microsoft.com/office/officeart/2018/2/layout/IconVerticalSolidList"/>
    <dgm:cxn modelId="{71B15BDB-E7B2-45B8-B9DB-F40D921AB7DF}" type="presOf" srcId="{6BEC6C36-750E-4F15-863A-B60F95FE40F2}" destId="{1F16B589-EB63-4497-A6FC-F34EFD624350}" srcOrd="0" destOrd="1" presId="urn:microsoft.com/office/officeart/2018/2/layout/IconVerticalSolidList"/>
    <dgm:cxn modelId="{F9003AEA-1953-4EA4-99D9-6C5E218FCEFA}" type="presOf" srcId="{E43ADEB4-7E1C-4B08-8BBC-8BD827DEB514}" destId="{1F16B589-EB63-4497-A6FC-F34EFD624350}" srcOrd="0" destOrd="0" presId="urn:microsoft.com/office/officeart/2018/2/layout/IconVerticalSolidList"/>
    <dgm:cxn modelId="{198B1AED-1F23-49DA-B032-5CC201EA6497}" type="presOf" srcId="{C6245E18-9700-4C34-84AB-3DE1994224D6}" destId="{1A24FF12-2D57-4924-9C63-36BCB03CB59C}" srcOrd="0" destOrd="0" presId="urn:microsoft.com/office/officeart/2018/2/layout/IconVerticalSolidList"/>
    <dgm:cxn modelId="{8C3BF1F5-A5FF-44AE-BE36-3DD5063C5A9C}" srcId="{E1BB0D71-AFD2-4AB3-A153-03BD00908E4E}" destId="{3B91B18C-6EA4-45AE-92DE-398D09415594}" srcOrd="1" destOrd="0" parTransId="{DB1AB770-332C-4B03-88D9-ECCBE85FF9BA}" sibTransId="{CA786E2B-A17C-4FA5-88D3-FCF51C854AA0}"/>
    <dgm:cxn modelId="{54F5D6FE-88CA-4D8D-88A0-EB85CC513896}" type="presOf" srcId="{E1BB0D71-AFD2-4AB3-A153-03BD00908E4E}" destId="{0A817B9B-DE9D-4C32-85E6-D8FB9203DC3F}" srcOrd="0" destOrd="0" presId="urn:microsoft.com/office/officeart/2018/2/layout/IconVerticalSolidList"/>
    <dgm:cxn modelId="{CBC5FD46-4EBA-4351-9049-EDAEC2BDC5EA}" type="presParOf" srcId="{940D4968-5AA6-463F-9DFE-C81E5E66EC13}" destId="{47E68640-6E34-4ECB-B542-AE54881983BD}" srcOrd="0" destOrd="0" presId="urn:microsoft.com/office/officeart/2018/2/layout/IconVerticalSolidList"/>
    <dgm:cxn modelId="{0259E5B5-09A3-4D26-B095-C7CB96B7AA42}" type="presParOf" srcId="{47E68640-6E34-4ECB-B542-AE54881983BD}" destId="{41FBA99B-4A87-40A5-A6A4-E0C2C4813AE1}" srcOrd="0" destOrd="0" presId="urn:microsoft.com/office/officeart/2018/2/layout/IconVerticalSolidList"/>
    <dgm:cxn modelId="{662E8BD3-E8FE-4E93-A8FC-F196B32E1037}" type="presParOf" srcId="{47E68640-6E34-4ECB-B542-AE54881983BD}" destId="{1E9E463B-C0C3-4672-9149-A799323416D5}" srcOrd="1" destOrd="0" presId="urn:microsoft.com/office/officeart/2018/2/layout/IconVerticalSolidList"/>
    <dgm:cxn modelId="{723D3CA1-E6D3-470D-BC12-756A19DB21C0}" type="presParOf" srcId="{47E68640-6E34-4ECB-B542-AE54881983BD}" destId="{C633FE33-6DE8-48E5-BD05-65888B36A3F4}" srcOrd="2" destOrd="0" presId="urn:microsoft.com/office/officeart/2018/2/layout/IconVerticalSolidList"/>
    <dgm:cxn modelId="{80991B9A-9128-43FE-8D31-F68BB6B5D27B}" type="presParOf" srcId="{47E68640-6E34-4ECB-B542-AE54881983BD}" destId="{0F6FD2CD-FA92-4B6A-B77E-9B2500963C64}" srcOrd="3" destOrd="0" presId="urn:microsoft.com/office/officeart/2018/2/layout/IconVerticalSolidList"/>
    <dgm:cxn modelId="{06A24B5F-AD90-4F34-96FF-D7688009AE64}" type="presParOf" srcId="{47E68640-6E34-4ECB-B542-AE54881983BD}" destId="{1F16B589-EB63-4497-A6FC-F34EFD624350}" srcOrd="4" destOrd="0" presId="urn:microsoft.com/office/officeart/2018/2/layout/IconVerticalSolidList"/>
    <dgm:cxn modelId="{9AC28824-DE5C-4081-A872-FC3662A44BB4}" type="presParOf" srcId="{940D4968-5AA6-463F-9DFE-C81E5E66EC13}" destId="{C04C26A5-9D73-46A1-AEA6-8FC4B67D61CA}" srcOrd="1" destOrd="0" presId="urn:microsoft.com/office/officeart/2018/2/layout/IconVerticalSolidList"/>
    <dgm:cxn modelId="{03350620-8945-46EC-85A0-D38E0A9993C0}" type="presParOf" srcId="{940D4968-5AA6-463F-9DFE-C81E5E66EC13}" destId="{8F7FE3B1-13E4-46F7-AF1C-EFEA0A392372}" srcOrd="2" destOrd="0" presId="urn:microsoft.com/office/officeart/2018/2/layout/IconVerticalSolidList"/>
    <dgm:cxn modelId="{B1616ED3-C1B3-4707-ADE4-F1BCEE9CED4F}" type="presParOf" srcId="{8F7FE3B1-13E4-46F7-AF1C-EFEA0A392372}" destId="{200D8CC0-198D-4C25-9E33-5E6A98A25331}" srcOrd="0" destOrd="0" presId="urn:microsoft.com/office/officeart/2018/2/layout/IconVerticalSolidList"/>
    <dgm:cxn modelId="{EBE0E63A-94EF-4782-9069-458E149FF22A}" type="presParOf" srcId="{8F7FE3B1-13E4-46F7-AF1C-EFEA0A392372}" destId="{36B8C066-AE8F-47DC-83EC-2884B63E8DAD}" srcOrd="1" destOrd="0" presId="urn:microsoft.com/office/officeart/2018/2/layout/IconVerticalSolidList"/>
    <dgm:cxn modelId="{0BEF6AE3-A4FC-4364-B3DC-4C32C92518C0}" type="presParOf" srcId="{8F7FE3B1-13E4-46F7-AF1C-EFEA0A392372}" destId="{A667DBB4-FC4D-43CF-B612-8E974435FD8E}" srcOrd="2" destOrd="0" presId="urn:microsoft.com/office/officeart/2018/2/layout/IconVerticalSolidList"/>
    <dgm:cxn modelId="{B241F66C-A068-4B55-9705-713EEEE44E92}" type="presParOf" srcId="{8F7FE3B1-13E4-46F7-AF1C-EFEA0A392372}" destId="{0A817B9B-DE9D-4C32-85E6-D8FB9203DC3F}" srcOrd="3" destOrd="0" presId="urn:microsoft.com/office/officeart/2018/2/layout/IconVerticalSolidList"/>
    <dgm:cxn modelId="{DA50D957-561E-4037-9D2E-7CA47A456948}" type="presParOf" srcId="{8F7FE3B1-13E4-46F7-AF1C-EFEA0A392372}" destId="{1A24FF12-2D57-4924-9C63-36BCB03CB59C}"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5C7A06-F02E-4CC2-96AA-EDB64371249B}">
      <dsp:nvSpPr>
        <dsp:cNvPr id="0" name=""/>
        <dsp:cNvSpPr/>
      </dsp:nvSpPr>
      <dsp:spPr>
        <a:xfrm>
          <a:off x="0" y="531"/>
          <a:ext cx="10515600" cy="12429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51F543-955D-41A2-A5E7-E3728BD1EB96}">
      <dsp:nvSpPr>
        <dsp:cNvPr id="0" name=""/>
        <dsp:cNvSpPr/>
      </dsp:nvSpPr>
      <dsp:spPr>
        <a:xfrm>
          <a:off x="375988" y="28019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E48A07-DB3B-437D-8C2B-2FF5B0C129D9}">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022350">
            <a:lnSpc>
              <a:spcPct val="90000"/>
            </a:lnSpc>
            <a:spcBef>
              <a:spcPct val="0"/>
            </a:spcBef>
            <a:spcAft>
              <a:spcPct val="35000"/>
            </a:spcAft>
            <a:buNone/>
          </a:pPr>
          <a:r>
            <a:rPr lang="en-US" sz="2300" kern="1200"/>
            <a:t>It is a set of standards and associated protocols to establish a secure channel between two computers.</a:t>
          </a:r>
        </a:p>
      </dsp:txBody>
      <dsp:txXfrm>
        <a:off x="1435590" y="531"/>
        <a:ext cx="9080009" cy="1242935"/>
      </dsp:txXfrm>
    </dsp:sp>
    <dsp:sp modelId="{35D6E5F6-57F7-4A04-BE6B-9AFF73215BD7}">
      <dsp:nvSpPr>
        <dsp:cNvPr id="0" name=""/>
        <dsp:cNvSpPr/>
      </dsp:nvSpPr>
      <dsp:spPr>
        <a:xfrm>
          <a:off x="0" y="1554201"/>
          <a:ext cx="10515600" cy="12429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CF1518C-57A1-4ED4-BB34-20FF1632905B}">
      <dsp:nvSpPr>
        <dsp:cNvPr id="0" name=""/>
        <dsp:cNvSpPr/>
      </dsp:nvSpPr>
      <dsp:spPr>
        <a:xfrm>
          <a:off x="375988" y="183386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26BBE64-1778-4349-8C52-BC62F2ACCFA1}">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022350">
            <a:lnSpc>
              <a:spcPct val="90000"/>
            </a:lnSpc>
            <a:spcBef>
              <a:spcPct val="0"/>
            </a:spcBef>
            <a:spcAft>
              <a:spcPct val="35000"/>
            </a:spcAft>
            <a:buNone/>
          </a:pPr>
          <a:r>
            <a:rPr lang="en-US" sz="2300" kern="1200"/>
            <a:t>It provides mutual authentication, data confidentiality, and data integrity.</a:t>
          </a:r>
        </a:p>
      </dsp:txBody>
      <dsp:txXfrm>
        <a:off x="1435590" y="1554201"/>
        <a:ext cx="9080009" cy="1242935"/>
      </dsp:txXfrm>
    </dsp:sp>
    <dsp:sp modelId="{2093EFF8-D56B-424C-A2D6-4885BBFBC3B1}">
      <dsp:nvSpPr>
        <dsp:cNvPr id="0" name=""/>
        <dsp:cNvSpPr/>
      </dsp:nvSpPr>
      <dsp:spPr>
        <a:xfrm>
          <a:off x="0" y="3107870"/>
          <a:ext cx="10515600" cy="12429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78C070-A786-463D-BB12-623CF78580FD}">
      <dsp:nvSpPr>
        <dsp:cNvPr id="0" name=""/>
        <dsp:cNvSpPr/>
      </dsp:nvSpPr>
      <dsp:spPr>
        <a:xfrm>
          <a:off x="375988" y="338753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B8164D3-7443-44F3-8B15-CBD20D246B18}">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022350">
            <a:lnSpc>
              <a:spcPct val="90000"/>
            </a:lnSpc>
            <a:spcBef>
              <a:spcPct val="0"/>
            </a:spcBef>
            <a:spcAft>
              <a:spcPct val="35000"/>
            </a:spcAft>
            <a:buNone/>
          </a:pPr>
          <a:r>
            <a:rPr lang="en-US" sz="2300" kern="1200"/>
            <a:t>Originally, it was designed as a replacement of insecure applications like r-commands (i.e., Berkeley remote commands, e.g., rlogin, rsh, rcp).</a:t>
          </a:r>
        </a:p>
      </dsp:txBody>
      <dsp:txXfrm>
        <a:off x="1435590" y="3107870"/>
        <a:ext cx="9080009" cy="12429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6B6EA3-71A6-48BB-A77D-70277362FF41}">
      <dsp:nvSpPr>
        <dsp:cNvPr id="0" name=""/>
        <dsp:cNvSpPr/>
      </dsp:nvSpPr>
      <dsp:spPr>
        <a:xfrm>
          <a:off x="0" y="531"/>
          <a:ext cx="10515600" cy="12429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1F3682-64DF-4521-B713-54DB5F3C61F8}">
      <dsp:nvSpPr>
        <dsp:cNvPr id="0" name=""/>
        <dsp:cNvSpPr/>
      </dsp:nvSpPr>
      <dsp:spPr>
        <a:xfrm>
          <a:off x="375988" y="28019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7271E1E-6456-4DED-AB92-356F14D837E1}">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022350">
            <a:lnSpc>
              <a:spcPct val="90000"/>
            </a:lnSpc>
            <a:spcBef>
              <a:spcPct val="0"/>
            </a:spcBef>
            <a:spcAft>
              <a:spcPct val="35000"/>
            </a:spcAft>
            <a:buNone/>
          </a:pPr>
          <a:r>
            <a:rPr lang="en-US" sz="2300" kern="1200"/>
            <a:t>IPSec is a lower level (IP-based) security solution than SSH. More fundamental but really expensive. SSH is quicker and easier to deploy.</a:t>
          </a:r>
        </a:p>
      </dsp:txBody>
      <dsp:txXfrm>
        <a:off x="1435590" y="531"/>
        <a:ext cx="9080009" cy="1242935"/>
      </dsp:txXfrm>
    </dsp:sp>
    <dsp:sp modelId="{7FB64D27-AC1E-481A-A9FD-1630B2225BB8}">
      <dsp:nvSpPr>
        <dsp:cNvPr id="0" name=""/>
        <dsp:cNvSpPr/>
      </dsp:nvSpPr>
      <dsp:spPr>
        <a:xfrm>
          <a:off x="0" y="1554201"/>
          <a:ext cx="10515600" cy="12429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63CBA1F-CD46-4928-9722-9334EBADCC04}">
      <dsp:nvSpPr>
        <dsp:cNvPr id="0" name=""/>
        <dsp:cNvSpPr/>
      </dsp:nvSpPr>
      <dsp:spPr>
        <a:xfrm>
          <a:off x="375988" y="183386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E14F195-B628-42F0-961D-EF6141ACB1D6}">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022350">
            <a:lnSpc>
              <a:spcPct val="90000"/>
            </a:lnSpc>
            <a:spcBef>
              <a:spcPct val="0"/>
            </a:spcBef>
            <a:spcAft>
              <a:spcPct val="35000"/>
            </a:spcAft>
            <a:buNone/>
          </a:pPr>
          <a:r>
            <a:rPr lang="en-US" sz="2300" kern="1200"/>
            <a:t>SSL or TLS is TCP-based and “mainly” used in WEB applications.</a:t>
          </a:r>
        </a:p>
      </dsp:txBody>
      <dsp:txXfrm>
        <a:off x="1435590" y="1554201"/>
        <a:ext cx="9080009" cy="1242935"/>
      </dsp:txXfrm>
    </dsp:sp>
    <dsp:sp modelId="{AE046AEA-8D7E-4581-B417-831B0230EFAB}">
      <dsp:nvSpPr>
        <dsp:cNvPr id="0" name=""/>
        <dsp:cNvSpPr/>
      </dsp:nvSpPr>
      <dsp:spPr>
        <a:xfrm>
          <a:off x="0" y="3107870"/>
          <a:ext cx="10515600" cy="12429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845B299-3EBE-4290-9B3E-36FFEF747430}">
      <dsp:nvSpPr>
        <dsp:cNvPr id="0" name=""/>
        <dsp:cNvSpPr/>
      </dsp:nvSpPr>
      <dsp:spPr>
        <a:xfrm>
          <a:off x="375988" y="338753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1A372EA-CA5E-4A94-A210-2F9918371CEA}">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022350">
            <a:lnSpc>
              <a:spcPct val="90000"/>
            </a:lnSpc>
            <a:spcBef>
              <a:spcPct val="0"/>
            </a:spcBef>
            <a:spcAft>
              <a:spcPct val="35000"/>
            </a:spcAft>
            <a:buNone/>
          </a:pPr>
          <a:r>
            <a:rPr lang="en-US" sz="2300" kern="1200"/>
            <a:t>There are some SSL-enhanced Telnet/FTP applications. SSH is a more integrated toolkit designed just for security.</a:t>
          </a:r>
        </a:p>
      </dsp:txBody>
      <dsp:txXfrm>
        <a:off x="1435590" y="3107870"/>
        <a:ext cx="9080009" cy="124293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893C71-F9F3-46CF-B8DE-643588984D5C}">
      <dsp:nvSpPr>
        <dsp:cNvPr id="0" name=""/>
        <dsp:cNvSpPr/>
      </dsp:nvSpPr>
      <dsp:spPr>
        <a:xfrm>
          <a:off x="0" y="531"/>
          <a:ext cx="10515600" cy="12429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5C8D6A-0132-479B-B5AE-657B10B9615B}">
      <dsp:nvSpPr>
        <dsp:cNvPr id="0" name=""/>
        <dsp:cNvSpPr/>
      </dsp:nvSpPr>
      <dsp:spPr>
        <a:xfrm>
          <a:off x="375988" y="28019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D8825F3-E378-49B3-9F71-CA348457498A}">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90000"/>
            </a:lnSpc>
            <a:spcBef>
              <a:spcPct val="0"/>
            </a:spcBef>
            <a:spcAft>
              <a:spcPct val="35000"/>
            </a:spcAft>
            <a:buNone/>
          </a:pPr>
          <a:r>
            <a:rPr lang="en-US" sz="2500" kern="1200"/>
            <a:t>It is a fundamental building block of SSH.</a:t>
          </a:r>
        </a:p>
      </dsp:txBody>
      <dsp:txXfrm>
        <a:off x="1435590" y="531"/>
        <a:ext cx="9080009" cy="1242935"/>
      </dsp:txXfrm>
    </dsp:sp>
    <dsp:sp modelId="{6B74551B-29ED-43BC-B06E-F16335152306}">
      <dsp:nvSpPr>
        <dsp:cNvPr id="0" name=""/>
        <dsp:cNvSpPr/>
      </dsp:nvSpPr>
      <dsp:spPr>
        <a:xfrm>
          <a:off x="0" y="1554201"/>
          <a:ext cx="10515600" cy="12429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961A98-5A00-4E92-B55B-281CD13396F4}">
      <dsp:nvSpPr>
        <dsp:cNvPr id="0" name=""/>
        <dsp:cNvSpPr/>
      </dsp:nvSpPr>
      <dsp:spPr>
        <a:xfrm>
          <a:off x="375988" y="183386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D2811CB-12F3-4D89-90C0-2A6FD37F8B2F}">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90000"/>
            </a:lnSpc>
            <a:spcBef>
              <a:spcPct val="0"/>
            </a:spcBef>
            <a:spcAft>
              <a:spcPct val="35000"/>
            </a:spcAft>
            <a:buNone/>
          </a:pPr>
          <a:r>
            <a:rPr lang="en-US" sz="2500" kern="1200"/>
            <a:t>It provides services such as the initial connection, server authentication, data encryption and data integrity.</a:t>
          </a:r>
        </a:p>
      </dsp:txBody>
      <dsp:txXfrm>
        <a:off x="1435590" y="1554201"/>
        <a:ext cx="9080009" cy="1242935"/>
      </dsp:txXfrm>
    </dsp:sp>
    <dsp:sp modelId="{B7F33938-AD7C-49BB-8CDE-A3E301B0B9FD}">
      <dsp:nvSpPr>
        <dsp:cNvPr id="0" name=""/>
        <dsp:cNvSpPr/>
      </dsp:nvSpPr>
      <dsp:spPr>
        <a:xfrm>
          <a:off x="0" y="3107870"/>
          <a:ext cx="10515600" cy="12429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241756-D246-419D-9354-4A09403CE093}">
      <dsp:nvSpPr>
        <dsp:cNvPr id="0" name=""/>
        <dsp:cNvSpPr/>
      </dsp:nvSpPr>
      <dsp:spPr>
        <a:xfrm>
          <a:off x="375988" y="338753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FF1E7B4-E9B4-46E6-9FE0-78E195819C0C}">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90000"/>
            </a:lnSpc>
            <a:spcBef>
              <a:spcPct val="0"/>
            </a:spcBef>
            <a:spcAft>
              <a:spcPct val="35000"/>
            </a:spcAft>
            <a:buNone/>
          </a:pPr>
          <a:r>
            <a:rPr lang="en-US" sz="2500" kern="1200"/>
            <a:t>It is used for the negotiation of cryptographic algorithms.</a:t>
          </a:r>
        </a:p>
      </dsp:txBody>
      <dsp:txXfrm>
        <a:off x="1435590" y="3107870"/>
        <a:ext cx="9080009" cy="124293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D8BB8B-3D2A-48F8-B85B-8361FB1CCE47}">
      <dsp:nvSpPr>
        <dsp:cNvPr id="0" name=""/>
        <dsp:cNvSpPr/>
      </dsp:nvSpPr>
      <dsp:spPr>
        <a:xfrm>
          <a:off x="0" y="707092"/>
          <a:ext cx="10515600" cy="130540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9CEE56-390E-424B-9C3C-5E9A349C72CD}">
      <dsp:nvSpPr>
        <dsp:cNvPr id="0" name=""/>
        <dsp:cNvSpPr/>
      </dsp:nvSpPr>
      <dsp:spPr>
        <a:xfrm>
          <a:off x="394883" y="1000807"/>
          <a:ext cx="717970" cy="7179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6640933-1653-48E9-BEB6-BC6DD297E984}">
      <dsp:nvSpPr>
        <dsp:cNvPr id="0" name=""/>
        <dsp:cNvSpPr/>
      </dsp:nvSpPr>
      <dsp:spPr>
        <a:xfrm>
          <a:off x="1507738" y="707092"/>
          <a:ext cx="4732020"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844550">
            <a:lnSpc>
              <a:spcPct val="90000"/>
            </a:lnSpc>
            <a:spcBef>
              <a:spcPct val="0"/>
            </a:spcBef>
            <a:spcAft>
              <a:spcPct val="35000"/>
            </a:spcAft>
            <a:buNone/>
          </a:pPr>
          <a:r>
            <a:rPr lang="en-US" sz="1900" kern="1200"/>
            <a:t>Based on the shared master key, both sides compute the data encryption keys and data integrity keys (details are omitted)</a:t>
          </a:r>
        </a:p>
      </dsp:txBody>
      <dsp:txXfrm>
        <a:off x="1507738" y="707092"/>
        <a:ext cx="4732020" cy="1305401"/>
      </dsp:txXfrm>
    </dsp:sp>
    <dsp:sp modelId="{A28E5CFB-A09C-4569-8038-BCD427B121BE}">
      <dsp:nvSpPr>
        <dsp:cNvPr id="0" name=""/>
        <dsp:cNvSpPr/>
      </dsp:nvSpPr>
      <dsp:spPr>
        <a:xfrm>
          <a:off x="6239758" y="707092"/>
          <a:ext cx="427584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622300">
            <a:lnSpc>
              <a:spcPct val="90000"/>
            </a:lnSpc>
            <a:spcBef>
              <a:spcPct val="0"/>
            </a:spcBef>
            <a:spcAft>
              <a:spcPct val="35000"/>
            </a:spcAft>
            <a:buNone/>
          </a:pPr>
          <a:r>
            <a:rPr lang="en-US" sz="1400" kern="1200"/>
            <a:t>The two encryption keys are independent</a:t>
          </a:r>
        </a:p>
        <a:p>
          <a:pPr marL="0" lvl="0" indent="0" algn="l" defTabSz="622300">
            <a:lnSpc>
              <a:spcPct val="90000"/>
            </a:lnSpc>
            <a:spcBef>
              <a:spcPct val="0"/>
            </a:spcBef>
            <a:spcAft>
              <a:spcPct val="35000"/>
            </a:spcAft>
            <a:buNone/>
          </a:pPr>
          <a:r>
            <a:rPr lang="en-US" sz="1400" kern="1200"/>
            <a:t>The two data integrity keys (i.e., authentication keys) are independent</a:t>
          </a:r>
        </a:p>
      </dsp:txBody>
      <dsp:txXfrm>
        <a:off x="6239758" y="707092"/>
        <a:ext cx="4275841" cy="1305401"/>
      </dsp:txXfrm>
    </dsp:sp>
    <dsp:sp modelId="{BB56D063-CA00-4059-8F87-DB597615334D}">
      <dsp:nvSpPr>
        <dsp:cNvPr id="0" name=""/>
        <dsp:cNvSpPr/>
      </dsp:nvSpPr>
      <dsp:spPr>
        <a:xfrm>
          <a:off x="0" y="2338844"/>
          <a:ext cx="10515600" cy="130540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8F70CC-3972-46B6-8451-B7CCCA78AE47}">
      <dsp:nvSpPr>
        <dsp:cNvPr id="0" name=""/>
        <dsp:cNvSpPr/>
      </dsp:nvSpPr>
      <dsp:spPr>
        <a:xfrm>
          <a:off x="394883" y="2632559"/>
          <a:ext cx="717970" cy="7179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890014D-9D30-49EA-88EF-FF0CDB8F87EC}">
      <dsp:nvSpPr>
        <dsp:cNvPr id="0" name=""/>
        <dsp:cNvSpPr/>
      </dsp:nvSpPr>
      <dsp:spPr>
        <a:xfrm>
          <a:off x="1507738" y="2338844"/>
          <a:ext cx="90078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844550">
            <a:lnSpc>
              <a:spcPct val="90000"/>
            </a:lnSpc>
            <a:spcBef>
              <a:spcPct val="0"/>
            </a:spcBef>
            <a:spcAft>
              <a:spcPct val="35000"/>
            </a:spcAft>
            <a:buNone/>
          </a:pPr>
          <a:r>
            <a:rPr lang="en-US" sz="1900" kern="1200"/>
            <a:t>After finishing the server authentication and the key exchange, the client has a single, secure, full duplex stream to an authenticated server</a:t>
          </a:r>
        </a:p>
      </dsp:txBody>
      <dsp:txXfrm>
        <a:off x="1507738" y="2338844"/>
        <a:ext cx="9007861" cy="130540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FBA99B-4A87-40A5-A6A4-E0C2C4813AE1}">
      <dsp:nvSpPr>
        <dsp:cNvPr id="0" name=""/>
        <dsp:cNvSpPr/>
      </dsp:nvSpPr>
      <dsp:spPr>
        <a:xfrm>
          <a:off x="0" y="707092"/>
          <a:ext cx="10515600" cy="130540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9E463B-C0C3-4672-9149-A799323416D5}">
      <dsp:nvSpPr>
        <dsp:cNvPr id="0" name=""/>
        <dsp:cNvSpPr/>
      </dsp:nvSpPr>
      <dsp:spPr>
        <a:xfrm>
          <a:off x="394883" y="1000807"/>
          <a:ext cx="717970" cy="7179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F6FD2CD-FA92-4B6A-B77E-9B2500963C64}">
      <dsp:nvSpPr>
        <dsp:cNvPr id="0" name=""/>
        <dsp:cNvSpPr/>
      </dsp:nvSpPr>
      <dsp:spPr>
        <a:xfrm>
          <a:off x="1507738" y="707092"/>
          <a:ext cx="4732020"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066800">
            <a:lnSpc>
              <a:spcPct val="90000"/>
            </a:lnSpc>
            <a:spcBef>
              <a:spcPct val="0"/>
            </a:spcBef>
            <a:spcAft>
              <a:spcPct val="35000"/>
            </a:spcAft>
            <a:buNone/>
          </a:pPr>
          <a:r>
            <a:rPr lang="en-US" sz="2400" kern="1200"/>
            <a:t>User Authentication Request is driven by the client and has the following parts:</a:t>
          </a:r>
        </a:p>
      </dsp:txBody>
      <dsp:txXfrm>
        <a:off x="1507738" y="707092"/>
        <a:ext cx="4732020" cy="1305401"/>
      </dsp:txXfrm>
    </dsp:sp>
    <dsp:sp modelId="{1F16B589-EB63-4497-A6FC-F34EFD624350}">
      <dsp:nvSpPr>
        <dsp:cNvPr id="0" name=""/>
        <dsp:cNvSpPr/>
      </dsp:nvSpPr>
      <dsp:spPr>
        <a:xfrm>
          <a:off x="6239758" y="707092"/>
          <a:ext cx="427584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755650">
            <a:lnSpc>
              <a:spcPct val="90000"/>
            </a:lnSpc>
            <a:spcBef>
              <a:spcPct val="0"/>
            </a:spcBef>
            <a:spcAft>
              <a:spcPct val="35000"/>
            </a:spcAft>
            <a:buNone/>
          </a:pPr>
          <a:r>
            <a:rPr lang="en-US" sz="1700" kern="1200"/>
            <a:t>user name</a:t>
          </a:r>
        </a:p>
        <a:p>
          <a:pPr marL="0" lvl="0" indent="0" algn="l" defTabSz="755650">
            <a:lnSpc>
              <a:spcPct val="90000"/>
            </a:lnSpc>
            <a:spcBef>
              <a:spcPct val="0"/>
            </a:spcBef>
            <a:spcAft>
              <a:spcPct val="35000"/>
            </a:spcAft>
            <a:buNone/>
          </a:pPr>
          <a:r>
            <a:rPr lang="en-US" sz="1700" kern="1200"/>
            <a:t>service name</a:t>
          </a:r>
        </a:p>
        <a:p>
          <a:pPr marL="0" lvl="0" indent="0" algn="l" defTabSz="755650">
            <a:lnSpc>
              <a:spcPct val="90000"/>
            </a:lnSpc>
            <a:spcBef>
              <a:spcPct val="0"/>
            </a:spcBef>
            <a:spcAft>
              <a:spcPct val="35000"/>
            </a:spcAft>
            <a:buNone/>
          </a:pPr>
          <a:r>
            <a:rPr lang="en-US" sz="1700" kern="1200"/>
            <a:t>method name</a:t>
          </a:r>
        </a:p>
      </dsp:txBody>
      <dsp:txXfrm>
        <a:off x="6239758" y="707092"/>
        <a:ext cx="4275841" cy="1305401"/>
      </dsp:txXfrm>
    </dsp:sp>
    <dsp:sp modelId="{200D8CC0-198D-4C25-9E33-5E6A98A25331}">
      <dsp:nvSpPr>
        <dsp:cNvPr id="0" name=""/>
        <dsp:cNvSpPr/>
      </dsp:nvSpPr>
      <dsp:spPr>
        <a:xfrm>
          <a:off x="0" y="2338844"/>
          <a:ext cx="10515600" cy="130540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B8C066-AE8F-47DC-83EC-2884B63E8DAD}">
      <dsp:nvSpPr>
        <dsp:cNvPr id="0" name=""/>
        <dsp:cNvSpPr/>
      </dsp:nvSpPr>
      <dsp:spPr>
        <a:xfrm>
          <a:off x="394883" y="2632559"/>
          <a:ext cx="717970" cy="7179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A817B9B-DE9D-4C32-85E6-D8FB9203DC3F}">
      <dsp:nvSpPr>
        <dsp:cNvPr id="0" name=""/>
        <dsp:cNvSpPr/>
      </dsp:nvSpPr>
      <dsp:spPr>
        <a:xfrm>
          <a:off x="1507738" y="2338844"/>
          <a:ext cx="4732020"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066800">
            <a:lnSpc>
              <a:spcPct val="90000"/>
            </a:lnSpc>
            <a:spcBef>
              <a:spcPct val="0"/>
            </a:spcBef>
            <a:spcAft>
              <a:spcPct val="35000"/>
            </a:spcAft>
            <a:buNone/>
          </a:pPr>
          <a:r>
            <a:rPr lang="en-US" sz="2400" kern="1200"/>
            <a:t>Authentication Response from the server:</a:t>
          </a:r>
        </a:p>
      </dsp:txBody>
      <dsp:txXfrm>
        <a:off x="1507738" y="2338844"/>
        <a:ext cx="4732020" cy="1305401"/>
      </dsp:txXfrm>
    </dsp:sp>
    <dsp:sp modelId="{1A24FF12-2D57-4924-9C63-36BCB03CB59C}">
      <dsp:nvSpPr>
        <dsp:cNvPr id="0" name=""/>
        <dsp:cNvSpPr/>
      </dsp:nvSpPr>
      <dsp:spPr>
        <a:xfrm>
          <a:off x="6239758" y="2338844"/>
          <a:ext cx="427584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755650">
            <a:lnSpc>
              <a:spcPct val="90000"/>
            </a:lnSpc>
            <a:spcBef>
              <a:spcPct val="0"/>
            </a:spcBef>
            <a:spcAft>
              <a:spcPct val="35000"/>
            </a:spcAft>
            <a:buNone/>
          </a:pPr>
          <a:r>
            <a:rPr lang="en-US" sz="1700" kern="1200"/>
            <a:t>SUCCESS: user authentication done.</a:t>
          </a:r>
        </a:p>
        <a:p>
          <a:pPr marL="0" lvl="0" indent="0" algn="l" defTabSz="755650">
            <a:lnSpc>
              <a:spcPct val="90000"/>
            </a:lnSpc>
            <a:spcBef>
              <a:spcPct val="0"/>
            </a:spcBef>
            <a:spcAft>
              <a:spcPct val="35000"/>
            </a:spcAft>
            <a:buNone/>
          </a:pPr>
          <a:r>
            <a:rPr lang="en-US" sz="1700" kern="1200"/>
            <a:t>FAILURE: return a list of user authentication methods that can continue</a:t>
          </a:r>
        </a:p>
      </dsp:txBody>
      <dsp:txXfrm>
        <a:off x="6239758" y="2338844"/>
        <a:ext cx="4275841" cy="130540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C8B824-F5A0-B54D-B526-7DF31E203BBB}" type="datetimeFigureOut">
              <a:rPr lang="en-US" smtClean="0"/>
              <a:t>4/6/26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216985-4F63-2A4E-AC89-D701E002D7F6}" type="slidenum">
              <a:rPr lang="en-US" smtClean="0"/>
              <a:t>‹#›</a:t>
            </a:fld>
            <a:endParaRPr lang="en-US"/>
          </a:p>
        </p:txBody>
      </p:sp>
    </p:spTree>
    <p:extLst>
      <p:ext uri="{BB962C8B-B14F-4D97-AF65-F5344CB8AC3E}">
        <p14:creationId xmlns:p14="http://schemas.microsoft.com/office/powerpoint/2010/main" val="1744732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 name="PlaceHolder 1"/>
          <p:cNvSpPr>
            <a:spLocks noGrp="1" noRot="1" noChangeAspect="1"/>
          </p:cNvSpPr>
          <p:nvPr>
            <p:ph type="sldImg"/>
          </p:nvPr>
        </p:nvSpPr>
        <p:spPr>
          <a:xfrm>
            <a:off x="217488" y="801688"/>
            <a:ext cx="7124700" cy="4008437"/>
          </a:xfrm>
          <a:prstGeom prst="rect">
            <a:avLst/>
          </a:prstGeom>
          <a:ln w="0">
            <a:noFill/>
          </a:ln>
        </p:spPr>
      </p:sp>
      <p:sp>
        <p:nvSpPr>
          <p:cNvPr id="455" name="PlaceHolder 2"/>
          <p:cNvSpPr>
            <a:spLocks noGrp="1"/>
          </p:cNvSpPr>
          <p:nvPr>
            <p:ph type="body"/>
          </p:nvPr>
        </p:nvSpPr>
        <p:spPr>
          <a:xfrm>
            <a:off x="756000" y="5078520"/>
            <a:ext cx="6047640" cy="4811040"/>
          </a:xfrm>
          <a:prstGeom prst="rect">
            <a:avLst/>
          </a:prstGeom>
          <a:noFill/>
          <a:ln w="0">
            <a:noFill/>
          </a:ln>
        </p:spPr>
        <p:txBody>
          <a:bodyPr lIns="91440" tIns="45720" rIns="91440" bIns="45720" anchor="t">
            <a:noAutofit/>
          </a:bodyPr>
          <a:lstStyle/>
          <a:p>
            <a:pPr marL="216000" indent="0">
              <a:lnSpc>
                <a:spcPct val="100000"/>
              </a:lnSpc>
              <a:buNone/>
            </a:pPr>
            <a:r>
              <a:rPr lang="en-US" sz="2200" b="0" strike="noStrike" spc="-1">
                <a:solidFill>
                  <a:srgbClr val="000000"/>
                </a:solidFill>
                <a:latin typeface="Arial"/>
              </a:rPr>
              <a:t>Latency is the time it takes to get the first byte of data</a:t>
            </a:r>
          </a:p>
          <a:p>
            <a:pPr marL="216000" indent="0">
              <a:lnSpc>
                <a:spcPct val="100000"/>
              </a:lnSpc>
              <a:buNone/>
            </a:pPr>
            <a:r>
              <a:rPr lang="en-US" sz="2000" b="0" strike="noStrike" spc="-1">
                <a:solidFill>
                  <a:srgbClr val="000000"/>
                </a:solidFill>
                <a:latin typeface="Arial"/>
              </a:rPr>
              <a:t>low bandwidth</a:t>
            </a:r>
          </a:p>
          <a:p>
            <a:pPr marL="216000" indent="0">
              <a:lnSpc>
                <a:spcPct val="100000"/>
              </a:lnSpc>
              <a:buNone/>
            </a:pPr>
            <a:r>
              <a:rPr lang="en-US" sz="2000" b="0" strike="noStrike" spc="-1">
                <a:solidFill>
                  <a:srgbClr val="000000"/>
                </a:solidFill>
                <a:latin typeface="Arial"/>
              </a:rPr>
              <a:t>Round Trip Times (RTT) required for connection establishment</a:t>
            </a:r>
          </a:p>
        </p:txBody>
      </p:sp>
      <p:sp>
        <p:nvSpPr>
          <p:cNvPr id="456" name="PlaceHolder 3"/>
          <p:cNvSpPr>
            <a:spLocks noGrp="1"/>
          </p:cNvSpPr>
          <p:nvPr>
            <p:ph type="sldNum" idx="40"/>
          </p:nvPr>
        </p:nvSpPr>
        <p:spPr>
          <a:xfrm>
            <a:off x="4282200" y="10155600"/>
            <a:ext cx="3275640" cy="53424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0E70D1FE-18C8-4935-8B3F-4A182D37508E}" type="slidenum">
              <a:rPr lang="en-US" sz="1200" b="0" strike="noStrike" spc="-1">
                <a:solidFill>
                  <a:schemeClr val="dk1"/>
                </a:solidFill>
                <a:latin typeface="+mn-lt"/>
                <a:ea typeface="+mn-ea"/>
              </a:rPr>
              <a:t>13</a:t>
            </a:fld>
            <a:endParaRPr lang="en-US" sz="12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 name="PlaceHolder 1"/>
          <p:cNvSpPr>
            <a:spLocks noGrp="1" noRot="1" noChangeAspect="1"/>
          </p:cNvSpPr>
          <p:nvPr>
            <p:ph type="sldImg"/>
          </p:nvPr>
        </p:nvSpPr>
        <p:spPr>
          <a:xfrm>
            <a:off x="217488" y="801688"/>
            <a:ext cx="7124700" cy="4008437"/>
          </a:xfrm>
          <a:prstGeom prst="rect">
            <a:avLst/>
          </a:prstGeom>
          <a:ln w="0">
            <a:noFill/>
          </a:ln>
        </p:spPr>
      </p:sp>
      <p:sp>
        <p:nvSpPr>
          <p:cNvPr id="458" name="PlaceHolder 2"/>
          <p:cNvSpPr>
            <a:spLocks noGrp="1"/>
          </p:cNvSpPr>
          <p:nvPr>
            <p:ph type="body"/>
          </p:nvPr>
        </p:nvSpPr>
        <p:spPr>
          <a:xfrm>
            <a:off x="756000" y="5078520"/>
            <a:ext cx="6047640" cy="4811040"/>
          </a:xfrm>
          <a:prstGeom prst="rect">
            <a:avLst/>
          </a:prstGeom>
          <a:noFill/>
          <a:ln w="0">
            <a:noFill/>
          </a:ln>
        </p:spPr>
        <p:txBody>
          <a:bodyPr lIns="91440" tIns="45720" rIns="91440" bIns="45720" anchor="t">
            <a:noAutofit/>
          </a:bodyPr>
          <a:lstStyle/>
          <a:p>
            <a:pPr marL="216000" indent="0">
              <a:lnSpc>
                <a:spcPct val="100000"/>
              </a:lnSpc>
              <a:buNone/>
            </a:pPr>
            <a:r>
              <a:rPr lang="en-US" sz="2200" b="0" strike="noStrike" spc="-1">
                <a:solidFill>
                  <a:srgbClr val="000000"/>
                </a:solidFill>
                <a:latin typeface="Arial"/>
              </a:rPr>
              <a:t>Transport Layer Security (TLS) is one of the most widely used protocols, but has a relatively high latency</a:t>
            </a:r>
          </a:p>
          <a:p>
            <a:pPr indent="0" defTabSz="457200">
              <a:lnSpc>
                <a:spcPct val="100000"/>
              </a:lnSpc>
              <a:buNone/>
              <a:tabLst>
                <a:tab pos="0" algn="l"/>
              </a:tabLst>
            </a:pPr>
            <a:r>
              <a:rPr lang="en-US" sz="2000" b="0" strike="noStrike" spc="-1">
                <a:solidFill>
                  <a:srgbClr val="000000"/>
                </a:solidFill>
                <a:latin typeface="Arial"/>
              </a:rPr>
              <a:t>Motivate performance attacks: malicious intervention used for censorship by some governments</a:t>
            </a:r>
          </a:p>
        </p:txBody>
      </p:sp>
      <p:sp>
        <p:nvSpPr>
          <p:cNvPr id="459" name="PlaceHolder 3"/>
          <p:cNvSpPr>
            <a:spLocks noGrp="1"/>
          </p:cNvSpPr>
          <p:nvPr>
            <p:ph type="sldNum" idx="41"/>
          </p:nvPr>
        </p:nvSpPr>
        <p:spPr>
          <a:xfrm>
            <a:off x="4282200" y="10155600"/>
            <a:ext cx="3275640" cy="53424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F776F257-D421-4301-B2BB-636AF5358B24}" type="slidenum">
              <a:rPr lang="en-US" sz="1200" b="0" strike="noStrike" spc="-1">
                <a:solidFill>
                  <a:schemeClr val="dk1"/>
                </a:solidFill>
                <a:latin typeface="+mn-lt"/>
                <a:ea typeface="+mn-ea"/>
              </a:rPr>
              <a:t>19</a:t>
            </a:fld>
            <a:endParaRPr lang="en-US" sz="1200" b="0" strike="noStrike" spc="-1">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 name="PlaceHolder 1"/>
          <p:cNvSpPr>
            <a:spLocks noGrp="1" noRot="1" noChangeAspect="1"/>
          </p:cNvSpPr>
          <p:nvPr>
            <p:ph type="sldImg"/>
          </p:nvPr>
        </p:nvSpPr>
        <p:spPr>
          <a:xfrm>
            <a:off x="217488" y="801688"/>
            <a:ext cx="7124700" cy="4008437"/>
          </a:xfrm>
          <a:prstGeom prst="rect">
            <a:avLst/>
          </a:prstGeom>
          <a:ln w="0">
            <a:noFill/>
          </a:ln>
        </p:spPr>
      </p:sp>
      <p:sp>
        <p:nvSpPr>
          <p:cNvPr id="461" name="PlaceHolder 2"/>
          <p:cNvSpPr>
            <a:spLocks noGrp="1"/>
          </p:cNvSpPr>
          <p:nvPr>
            <p:ph type="body"/>
          </p:nvPr>
        </p:nvSpPr>
        <p:spPr>
          <a:xfrm>
            <a:off x="756000" y="5078520"/>
            <a:ext cx="6047640" cy="4811040"/>
          </a:xfrm>
          <a:prstGeom prst="rect">
            <a:avLst/>
          </a:prstGeom>
          <a:noFill/>
          <a:ln w="0">
            <a:noFill/>
          </a:ln>
        </p:spPr>
        <p:txBody>
          <a:bodyPr lIns="91440" tIns="45720" rIns="91440" bIns="45720" anchor="t">
            <a:noAutofit/>
          </a:bodyPr>
          <a:lstStyle/>
          <a:p>
            <a:pPr marL="216000" indent="0">
              <a:lnSpc>
                <a:spcPct val="100000"/>
              </a:lnSpc>
              <a:buNone/>
            </a:pPr>
            <a:r>
              <a:rPr lang="en-US" sz="2200" b="0" strike="noStrike" spc="-1">
                <a:solidFill>
                  <a:srgbClr val="000000"/>
                </a:solidFill>
                <a:latin typeface="Arial"/>
              </a:rPr>
              <a:t>Transport Layer Security (TLS) is one of the most widely used protocols, but has a relatively high latency</a:t>
            </a:r>
          </a:p>
          <a:p>
            <a:pPr indent="0" defTabSz="457200">
              <a:lnSpc>
                <a:spcPct val="100000"/>
              </a:lnSpc>
              <a:buNone/>
              <a:tabLst>
                <a:tab pos="0" algn="l"/>
              </a:tabLst>
            </a:pPr>
            <a:r>
              <a:rPr lang="en-US" sz="2000" b="0" strike="noStrike" spc="-1">
                <a:solidFill>
                  <a:srgbClr val="000000"/>
                </a:solidFill>
                <a:latin typeface="Arial"/>
              </a:rPr>
              <a:t>Motivate performance attacks: malicious intervention used for censorship by some governments</a:t>
            </a:r>
          </a:p>
        </p:txBody>
      </p:sp>
      <p:sp>
        <p:nvSpPr>
          <p:cNvPr id="462" name="PlaceHolder 3"/>
          <p:cNvSpPr>
            <a:spLocks noGrp="1"/>
          </p:cNvSpPr>
          <p:nvPr>
            <p:ph type="sldNum" idx="42"/>
          </p:nvPr>
        </p:nvSpPr>
        <p:spPr>
          <a:xfrm>
            <a:off x="4282200" y="10155600"/>
            <a:ext cx="3275640" cy="53424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C7524DC5-0024-4679-97EA-DE76C033DD21}" type="slidenum">
              <a:rPr lang="en-US" sz="1200" b="0" strike="noStrike" spc="-1">
                <a:solidFill>
                  <a:schemeClr val="dk1"/>
                </a:solidFill>
                <a:latin typeface="+mn-lt"/>
                <a:ea typeface="+mn-ea"/>
              </a:rPr>
              <a:t>30</a:t>
            </a:fld>
            <a:endParaRPr lang="en-US" sz="1200" b="0" strike="noStrike" spc="-1">
              <a:solidFill>
                <a:srgbClr val="000000"/>
              </a:solidFill>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 name="PlaceHolder 1"/>
          <p:cNvSpPr>
            <a:spLocks noGrp="1" noRot="1" noChangeAspect="1"/>
          </p:cNvSpPr>
          <p:nvPr>
            <p:ph type="sldImg"/>
          </p:nvPr>
        </p:nvSpPr>
        <p:spPr>
          <a:xfrm>
            <a:off x="217488" y="801688"/>
            <a:ext cx="7124700" cy="4008437"/>
          </a:xfrm>
          <a:prstGeom prst="rect">
            <a:avLst/>
          </a:prstGeom>
          <a:ln w="0">
            <a:noFill/>
          </a:ln>
        </p:spPr>
      </p:sp>
      <p:sp>
        <p:nvSpPr>
          <p:cNvPr id="464" name="PlaceHolder 2"/>
          <p:cNvSpPr>
            <a:spLocks noGrp="1"/>
          </p:cNvSpPr>
          <p:nvPr>
            <p:ph type="body"/>
          </p:nvPr>
        </p:nvSpPr>
        <p:spPr>
          <a:xfrm>
            <a:off x="756000" y="5078520"/>
            <a:ext cx="6047640" cy="481104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Drive the point that although QUIC has been deployed there has not been formal verification of its security properties until our work.</a:t>
            </a:r>
          </a:p>
        </p:txBody>
      </p:sp>
      <p:sp>
        <p:nvSpPr>
          <p:cNvPr id="465" name="PlaceHolder 3"/>
          <p:cNvSpPr>
            <a:spLocks noGrp="1"/>
          </p:cNvSpPr>
          <p:nvPr>
            <p:ph type="sldNum" idx="43"/>
          </p:nvPr>
        </p:nvSpPr>
        <p:spPr>
          <a:xfrm>
            <a:off x="4282200" y="10155600"/>
            <a:ext cx="3275640" cy="53424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344230D3-9F2F-47A9-880B-800AEE4E2274}" type="slidenum">
              <a:rPr lang="en-US" sz="1200" b="0" strike="noStrike" spc="-1">
                <a:solidFill>
                  <a:schemeClr val="dk1"/>
                </a:solidFill>
                <a:latin typeface="+mn-lt"/>
                <a:ea typeface="+mn-ea"/>
              </a:rPr>
              <a:t>31</a:t>
            </a:fld>
            <a:endParaRPr lang="en-US" sz="1200" b="0" strike="noStrike" spc="-1">
              <a:solidFill>
                <a:srgbClr val="000000"/>
              </a:solidFill>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 name="PlaceHolder 1"/>
          <p:cNvSpPr>
            <a:spLocks noGrp="1" noRot="1" noChangeAspect="1"/>
          </p:cNvSpPr>
          <p:nvPr>
            <p:ph type="sldImg"/>
          </p:nvPr>
        </p:nvSpPr>
        <p:spPr>
          <a:xfrm>
            <a:off x="217488" y="801688"/>
            <a:ext cx="7124700" cy="4008437"/>
          </a:xfrm>
          <a:prstGeom prst="rect">
            <a:avLst/>
          </a:prstGeom>
          <a:ln w="0">
            <a:noFill/>
          </a:ln>
        </p:spPr>
      </p:sp>
      <p:sp>
        <p:nvSpPr>
          <p:cNvPr id="467" name="PlaceHolder 2"/>
          <p:cNvSpPr>
            <a:spLocks noGrp="1"/>
          </p:cNvSpPr>
          <p:nvPr>
            <p:ph type="body"/>
          </p:nvPr>
        </p:nvSpPr>
        <p:spPr>
          <a:xfrm>
            <a:off x="756000" y="5078520"/>
            <a:ext cx="6047640" cy="481104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Need to motivate performance attacks somehow.</a:t>
            </a:r>
          </a:p>
        </p:txBody>
      </p:sp>
      <p:sp>
        <p:nvSpPr>
          <p:cNvPr id="468" name="PlaceHolder 3"/>
          <p:cNvSpPr>
            <a:spLocks noGrp="1"/>
          </p:cNvSpPr>
          <p:nvPr>
            <p:ph type="sldNum" idx="44"/>
          </p:nvPr>
        </p:nvSpPr>
        <p:spPr>
          <a:xfrm>
            <a:off x="4282200" y="10155600"/>
            <a:ext cx="3275640" cy="53424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4F51C8D9-C648-48DF-83A7-7696700E9847}" type="slidenum">
              <a:rPr lang="en-US" sz="1200" b="0" strike="noStrike" spc="-1">
                <a:solidFill>
                  <a:schemeClr val="dk1"/>
                </a:solidFill>
                <a:latin typeface="+mn-lt"/>
                <a:ea typeface="+mn-ea"/>
              </a:rPr>
              <a:t>32</a:t>
            </a:fld>
            <a:endParaRPr lang="en-US" sz="1200" b="0" strike="noStrike" spc="-1">
              <a:solidFill>
                <a:srgbClr val="000000"/>
              </a:solidFill>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PlaceHolder 1"/>
          <p:cNvSpPr>
            <a:spLocks noGrp="1" noRot="1" noChangeAspect="1"/>
          </p:cNvSpPr>
          <p:nvPr>
            <p:ph type="sldImg"/>
          </p:nvPr>
        </p:nvSpPr>
        <p:spPr>
          <a:xfrm>
            <a:off x="217488" y="801688"/>
            <a:ext cx="7124700" cy="4008437"/>
          </a:xfrm>
          <a:prstGeom prst="rect">
            <a:avLst/>
          </a:prstGeom>
          <a:ln w="0">
            <a:noFill/>
          </a:ln>
        </p:spPr>
      </p:sp>
      <p:sp>
        <p:nvSpPr>
          <p:cNvPr id="470" name="PlaceHolder 2"/>
          <p:cNvSpPr>
            <a:spLocks noGrp="1"/>
          </p:cNvSpPr>
          <p:nvPr>
            <p:ph type="body"/>
          </p:nvPr>
        </p:nvSpPr>
        <p:spPr>
          <a:xfrm>
            <a:off x="756000" y="5078520"/>
            <a:ext cx="6047640" cy="481104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The caveat here is that currently many implementations of TLS do not provide forward secrecy</a:t>
            </a:r>
          </a:p>
        </p:txBody>
      </p:sp>
      <p:sp>
        <p:nvSpPr>
          <p:cNvPr id="471" name="PlaceHolder 3"/>
          <p:cNvSpPr>
            <a:spLocks noGrp="1"/>
          </p:cNvSpPr>
          <p:nvPr>
            <p:ph type="sldNum" idx="45"/>
          </p:nvPr>
        </p:nvSpPr>
        <p:spPr>
          <a:xfrm>
            <a:off x="4282200" y="10155600"/>
            <a:ext cx="3275640" cy="53424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BA547272-5C6A-489A-A4AA-7CC6A21E60DF}" type="slidenum">
              <a:rPr lang="en-US" sz="1200" b="0" strike="noStrike" spc="-1">
                <a:solidFill>
                  <a:schemeClr val="dk1"/>
                </a:solidFill>
                <a:latin typeface="+mn-lt"/>
                <a:ea typeface="+mn-ea"/>
              </a:rPr>
              <a:t>34</a:t>
            </a:fld>
            <a:endParaRPr lang="en-US" sz="1200" b="0" strike="noStrike" spc="-1">
              <a:solidFill>
                <a:srgbClr val="000000"/>
              </a:solidFill>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 name="PlaceHolder 1"/>
          <p:cNvSpPr>
            <a:spLocks noGrp="1" noRot="1" noChangeAspect="1"/>
          </p:cNvSpPr>
          <p:nvPr>
            <p:ph type="sldImg"/>
          </p:nvPr>
        </p:nvSpPr>
        <p:spPr>
          <a:xfrm>
            <a:off x="217488" y="801688"/>
            <a:ext cx="7124700" cy="4008437"/>
          </a:xfrm>
          <a:prstGeom prst="rect">
            <a:avLst/>
          </a:prstGeom>
          <a:ln w="0">
            <a:noFill/>
          </a:ln>
        </p:spPr>
      </p:sp>
      <p:sp>
        <p:nvSpPr>
          <p:cNvPr id="473" name="PlaceHolder 2"/>
          <p:cNvSpPr>
            <a:spLocks noGrp="1"/>
          </p:cNvSpPr>
          <p:nvPr>
            <p:ph type="body"/>
          </p:nvPr>
        </p:nvSpPr>
        <p:spPr>
          <a:xfrm>
            <a:off x="756000" y="5078520"/>
            <a:ext cx="6047640" cy="481104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There are other issues, such congestion control and error correction, that we do not address in this paper</a:t>
            </a:r>
          </a:p>
        </p:txBody>
      </p:sp>
      <p:sp>
        <p:nvSpPr>
          <p:cNvPr id="474" name="PlaceHolder 3"/>
          <p:cNvSpPr>
            <a:spLocks noGrp="1"/>
          </p:cNvSpPr>
          <p:nvPr>
            <p:ph type="sldNum" idx="46"/>
          </p:nvPr>
        </p:nvSpPr>
        <p:spPr>
          <a:xfrm>
            <a:off x="4282200" y="10155600"/>
            <a:ext cx="3275640" cy="53424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FB26081F-BD74-41ED-857B-5C6BCC56D309}" type="slidenum">
              <a:rPr lang="en-US" sz="1200" b="0" strike="noStrike" spc="-1">
                <a:solidFill>
                  <a:schemeClr val="dk1"/>
                </a:solidFill>
                <a:latin typeface="+mn-lt"/>
                <a:ea typeface="+mn-ea"/>
              </a:rPr>
              <a:t>37</a:t>
            </a:fld>
            <a:endParaRPr lang="en-US" sz="1200" b="0" strike="noStrike" spc="-1">
              <a:solidFill>
                <a:srgbClr val="000000"/>
              </a:solidFill>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 name="PlaceHolder 1"/>
          <p:cNvSpPr>
            <a:spLocks noGrp="1" noRot="1" noChangeAspect="1"/>
          </p:cNvSpPr>
          <p:nvPr>
            <p:ph type="sldImg"/>
          </p:nvPr>
        </p:nvSpPr>
        <p:spPr>
          <a:xfrm>
            <a:off x="217488" y="801688"/>
            <a:ext cx="7124700" cy="4008437"/>
          </a:xfrm>
          <a:prstGeom prst="rect">
            <a:avLst/>
          </a:prstGeom>
          <a:ln w="0">
            <a:noFill/>
          </a:ln>
        </p:spPr>
      </p:sp>
      <p:sp>
        <p:nvSpPr>
          <p:cNvPr id="476" name="PlaceHolder 2"/>
          <p:cNvSpPr>
            <a:spLocks noGrp="1"/>
          </p:cNvSpPr>
          <p:nvPr>
            <p:ph type="body"/>
          </p:nvPr>
        </p:nvSpPr>
        <p:spPr>
          <a:xfrm>
            <a:off x="756000" y="5078520"/>
            <a:ext cx="6047640" cy="4811040"/>
          </a:xfrm>
          <a:prstGeom prst="rect">
            <a:avLst/>
          </a:prstGeom>
          <a:noFill/>
          <a:ln w="0">
            <a:noFill/>
          </a:ln>
        </p:spPr>
        <p:txBody>
          <a:bodyPr lIns="91440" tIns="45720" rIns="91440" bIns="45720" anchor="t">
            <a:noAutofit/>
          </a:bodyPr>
          <a:lstStyle/>
          <a:p>
            <a:pPr marL="216000" indent="-216000">
              <a:buNone/>
            </a:pPr>
            <a:endParaRPr lang="en-US" sz="2100" b="0" strike="noStrike" spc="-1">
              <a:solidFill>
                <a:srgbClr val="000000"/>
              </a:solidFill>
              <a:latin typeface="Arial"/>
            </a:endParaRPr>
          </a:p>
        </p:txBody>
      </p:sp>
      <p:sp>
        <p:nvSpPr>
          <p:cNvPr id="477" name="PlaceHolder 3"/>
          <p:cNvSpPr>
            <a:spLocks noGrp="1"/>
          </p:cNvSpPr>
          <p:nvPr>
            <p:ph type="sldNum" idx="47"/>
          </p:nvPr>
        </p:nvSpPr>
        <p:spPr>
          <a:xfrm>
            <a:off x="4282200" y="10155600"/>
            <a:ext cx="3275640" cy="53424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13F33EAF-7135-49CA-9A41-B3E840E845FC}" type="slidenum">
              <a:rPr lang="en-US" sz="1200" b="0" strike="noStrike" spc="-1">
                <a:solidFill>
                  <a:schemeClr val="dk1"/>
                </a:solidFill>
                <a:latin typeface="+mn-lt"/>
                <a:ea typeface="+mn-ea"/>
              </a:rPr>
              <a:t>41</a:t>
            </a:fld>
            <a:endParaRPr lang="en-US" sz="1200" b="0" strike="noStrike" spc="-1">
              <a:solidFill>
                <a:srgbClr val="000000"/>
              </a:solidFill>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 name="PlaceHolder 1"/>
          <p:cNvSpPr>
            <a:spLocks noGrp="1" noRot="1" noChangeAspect="1"/>
          </p:cNvSpPr>
          <p:nvPr>
            <p:ph type="sldImg"/>
          </p:nvPr>
        </p:nvSpPr>
        <p:spPr>
          <a:xfrm>
            <a:off x="217488" y="801688"/>
            <a:ext cx="7124700" cy="4008437"/>
          </a:xfrm>
          <a:prstGeom prst="rect">
            <a:avLst/>
          </a:prstGeom>
          <a:ln w="0">
            <a:noFill/>
          </a:ln>
        </p:spPr>
      </p:sp>
      <p:sp>
        <p:nvSpPr>
          <p:cNvPr id="479" name="PlaceHolder 2"/>
          <p:cNvSpPr>
            <a:spLocks noGrp="1"/>
          </p:cNvSpPr>
          <p:nvPr>
            <p:ph type="body"/>
          </p:nvPr>
        </p:nvSpPr>
        <p:spPr>
          <a:xfrm>
            <a:off x="756000" y="5078520"/>
            <a:ext cx="6047640" cy="4811040"/>
          </a:xfrm>
          <a:prstGeom prst="rect">
            <a:avLst/>
          </a:prstGeom>
          <a:noFill/>
          <a:ln w="0">
            <a:noFill/>
          </a:ln>
        </p:spPr>
        <p:txBody>
          <a:bodyPr lIns="91440" tIns="45720" rIns="91440" bIns="45720" anchor="t">
            <a:noAutofit/>
          </a:bodyPr>
          <a:lstStyle/>
          <a:p>
            <a:pPr marL="216000" indent="-216000">
              <a:buNone/>
            </a:pPr>
            <a:endParaRPr lang="en-US" sz="2100" b="0" strike="noStrike" spc="-1">
              <a:solidFill>
                <a:srgbClr val="000000"/>
              </a:solidFill>
              <a:latin typeface="Arial"/>
            </a:endParaRPr>
          </a:p>
        </p:txBody>
      </p:sp>
      <p:sp>
        <p:nvSpPr>
          <p:cNvPr id="480" name="PlaceHolder 3"/>
          <p:cNvSpPr>
            <a:spLocks noGrp="1"/>
          </p:cNvSpPr>
          <p:nvPr>
            <p:ph type="sldNum" idx="48"/>
          </p:nvPr>
        </p:nvSpPr>
        <p:spPr>
          <a:xfrm>
            <a:off x="4282200" y="10155600"/>
            <a:ext cx="3275640" cy="53424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3556D8C3-CC79-4EA6-A487-D703007A67D1}" type="slidenum">
              <a:rPr lang="en-US" sz="1200" b="0" strike="noStrike" spc="-1">
                <a:solidFill>
                  <a:schemeClr val="dk1"/>
                </a:solidFill>
                <a:latin typeface="+mn-lt"/>
                <a:ea typeface="+mn-ea"/>
              </a:rPr>
              <a:t>42</a:t>
            </a:fld>
            <a:endParaRPr lang="en-US" sz="1200" b="0" strike="noStrike" spc="-1">
              <a:solidFill>
                <a:srgbClr val="000000"/>
              </a:solidFill>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6CB809DF-09F1-9AB6-B5F1-CE8D308E04D7}"/>
              </a:ext>
            </a:extLst>
          </p:cNvPr>
          <p:cNvSpPr>
            <a:spLocks noGrp="1" noRot="1" noChangeAspect="1" noTextEdit="1"/>
          </p:cNvSpPr>
          <p:nvPr>
            <p:ph type="sldImg"/>
          </p:nvPr>
        </p:nvSpPr>
        <p:spPr>
          <a:ln/>
        </p:spPr>
      </p:sp>
      <p:sp>
        <p:nvSpPr>
          <p:cNvPr id="23555" name="Notes Placeholder 2">
            <a:extLst>
              <a:ext uri="{FF2B5EF4-FFF2-40B4-BE49-F238E27FC236}">
                <a16:creationId xmlns:a16="http://schemas.microsoft.com/office/drawing/2014/main" id="{FA4A18B7-E85C-496F-B61A-53BC150FAD5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r>
              <a:rPr lang="en-US" altLang="en-US">
                <a:latin typeface="Times New Roman" panose="02020603050405020304" pitchFamily="18" charset="0"/>
              </a:rPr>
              <a:t>Each side has the same key</a:t>
            </a:r>
          </a:p>
          <a:p>
            <a:pPr>
              <a:buFontTx/>
              <a:buChar char="-"/>
            </a:pPr>
            <a:r>
              <a:rPr lang="en-US" altLang="en-US">
                <a:latin typeface="Times New Roman" panose="02020603050405020304" pitchFamily="18" charset="0"/>
              </a:rPr>
              <a:t>Encryption/decryption is symmetric (the exact inverses)</a:t>
            </a:r>
          </a:p>
          <a:p>
            <a:pPr>
              <a:buFontTx/>
              <a:buChar char="-"/>
            </a:pPr>
            <a:r>
              <a:rPr lang="en-US" altLang="en-US">
                <a:latin typeface="Times New Roman" panose="02020603050405020304" pitchFamily="18" charset="0"/>
              </a:rPr>
              <a:t>Need to securely share the key before encrypting</a:t>
            </a:r>
          </a:p>
        </p:txBody>
      </p:sp>
      <p:sp>
        <p:nvSpPr>
          <p:cNvPr id="23556" name="Slide Number Placeholder 3">
            <a:extLst>
              <a:ext uri="{FF2B5EF4-FFF2-40B4-BE49-F238E27FC236}">
                <a16:creationId xmlns:a16="http://schemas.microsoft.com/office/drawing/2014/main" id="{CE7B0FCB-63D8-F530-B94E-272AD74DDDC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Times New Roman" panose="02020603050405020304" pitchFamily="18" charset="0"/>
              </a:defRPr>
            </a:lvl1pPr>
            <a:lvl2pPr marL="742950" indent="-285750" defTabSz="928688">
              <a:defRPr sz="1600">
                <a:solidFill>
                  <a:schemeClr val="tx1"/>
                </a:solidFill>
                <a:latin typeface="Times New Roman" panose="02020603050405020304" pitchFamily="18" charset="0"/>
              </a:defRPr>
            </a:lvl2pPr>
            <a:lvl3pPr marL="1143000" indent="-228600" defTabSz="928688">
              <a:defRPr sz="1600">
                <a:solidFill>
                  <a:schemeClr val="tx1"/>
                </a:solidFill>
                <a:latin typeface="Times New Roman" panose="02020603050405020304" pitchFamily="18" charset="0"/>
              </a:defRPr>
            </a:lvl3pPr>
            <a:lvl4pPr marL="1600200" indent="-228600" defTabSz="928688">
              <a:defRPr sz="1600">
                <a:solidFill>
                  <a:schemeClr val="tx1"/>
                </a:solidFill>
                <a:latin typeface="Times New Roman" panose="02020603050405020304" pitchFamily="18" charset="0"/>
              </a:defRPr>
            </a:lvl4pPr>
            <a:lvl5pPr marL="2057400" indent="-228600" defTabSz="928688">
              <a:defRPr sz="1600">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1600">
                <a:solidFill>
                  <a:schemeClr val="tx1"/>
                </a:solidFill>
                <a:latin typeface="Times New Roman" panose="02020603050405020304" pitchFamily="18" charset="0"/>
              </a:defRPr>
            </a:lvl9pPr>
          </a:lstStyle>
          <a:p>
            <a:fld id="{411F94CF-8ABA-4743-AEC2-6FA055E6911A}" type="slidenum">
              <a:rPr lang="en-US" altLang="en-US" sz="1200"/>
              <a:pPr/>
              <a:t>56</a:t>
            </a:fld>
            <a:endParaRPr lang="en-US" alt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F626C-C5F0-7E81-3B89-5A2A13F81A9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09FFF4-C962-730C-CF8D-10D660F100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DFBE881-FE94-BC85-2185-99D92A2B075D}"/>
              </a:ext>
            </a:extLst>
          </p:cNvPr>
          <p:cNvSpPr>
            <a:spLocks noGrp="1"/>
          </p:cNvSpPr>
          <p:nvPr>
            <p:ph type="dt" sz="half" idx="10"/>
          </p:nvPr>
        </p:nvSpPr>
        <p:spPr/>
        <p:txBody>
          <a:bodyPr/>
          <a:lstStyle/>
          <a:p>
            <a:fld id="{873EE530-FD04-3147-B0C9-114639AB4992}" type="datetimeFigureOut">
              <a:rPr lang="en-US" smtClean="0"/>
              <a:t>4/6/26</a:t>
            </a:fld>
            <a:endParaRPr lang="en-US"/>
          </a:p>
        </p:txBody>
      </p:sp>
      <p:sp>
        <p:nvSpPr>
          <p:cNvPr id="5" name="Footer Placeholder 4">
            <a:extLst>
              <a:ext uri="{FF2B5EF4-FFF2-40B4-BE49-F238E27FC236}">
                <a16:creationId xmlns:a16="http://schemas.microsoft.com/office/drawing/2014/main" id="{F5442180-B645-6DF2-CC61-31E2AC3760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364049-D8D5-9CDF-62BA-BCADB9A02D3A}"/>
              </a:ext>
            </a:extLst>
          </p:cNvPr>
          <p:cNvSpPr>
            <a:spLocks noGrp="1"/>
          </p:cNvSpPr>
          <p:nvPr>
            <p:ph type="sldNum" sz="quarter" idx="12"/>
          </p:nvPr>
        </p:nvSpPr>
        <p:spPr/>
        <p:txBody>
          <a:bodyPr/>
          <a:lstStyle/>
          <a:p>
            <a:fld id="{353B3962-8CA9-8D46-9A7C-694CCFDF676A}" type="slidenum">
              <a:rPr lang="en-US" smtClean="0"/>
              <a:t>‹#›</a:t>
            </a:fld>
            <a:endParaRPr lang="en-US"/>
          </a:p>
        </p:txBody>
      </p:sp>
      <p:sp>
        <p:nvSpPr>
          <p:cNvPr id="7" name="Rectangle 6">
            <a:extLst>
              <a:ext uri="{FF2B5EF4-FFF2-40B4-BE49-F238E27FC236}">
                <a16:creationId xmlns:a16="http://schemas.microsoft.com/office/drawing/2014/main" id="{8895E7D0-67B2-BFBE-8174-8F0934C735AB}"/>
              </a:ext>
            </a:extLst>
          </p:cNvPr>
          <p:cNvSpPr/>
          <p:nvPr userDrawn="1"/>
        </p:nvSpPr>
        <p:spPr>
          <a:xfrm>
            <a:off x="0" y="0"/>
            <a:ext cx="107576" cy="685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64854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9A8F3-A62D-EFFF-8C1C-D88BCC5516D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CE5C0D-50C4-326B-1D1A-A930EF91D5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9BC179-7CC9-6726-952E-98E5BC116D60}"/>
              </a:ext>
            </a:extLst>
          </p:cNvPr>
          <p:cNvSpPr>
            <a:spLocks noGrp="1"/>
          </p:cNvSpPr>
          <p:nvPr>
            <p:ph type="dt" sz="half" idx="10"/>
          </p:nvPr>
        </p:nvSpPr>
        <p:spPr/>
        <p:txBody>
          <a:bodyPr/>
          <a:lstStyle/>
          <a:p>
            <a:fld id="{873EE530-FD04-3147-B0C9-114639AB4992}" type="datetimeFigureOut">
              <a:rPr lang="en-US" smtClean="0"/>
              <a:t>4/6/26</a:t>
            </a:fld>
            <a:endParaRPr lang="en-US"/>
          </a:p>
        </p:txBody>
      </p:sp>
      <p:sp>
        <p:nvSpPr>
          <p:cNvPr id="5" name="Footer Placeholder 4">
            <a:extLst>
              <a:ext uri="{FF2B5EF4-FFF2-40B4-BE49-F238E27FC236}">
                <a16:creationId xmlns:a16="http://schemas.microsoft.com/office/drawing/2014/main" id="{B65DF208-5060-DF7B-2A83-E9BA946614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717189-BB72-3D20-9216-296FD4A55552}"/>
              </a:ext>
            </a:extLst>
          </p:cNvPr>
          <p:cNvSpPr>
            <a:spLocks noGrp="1"/>
          </p:cNvSpPr>
          <p:nvPr>
            <p:ph type="sldNum" sz="quarter" idx="12"/>
          </p:nvPr>
        </p:nvSpPr>
        <p:spPr/>
        <p:txBody>
          <a:bodyPr/>
          <a:lstStyle/>
          <a:p>
            <a:fld id="{353B3962-8CA9-8D46-9A7C-694CCFDF676A}" type="slidenum">
              <a:rPr lang="en-US" smtClean="0"/>
              <a:t>‹#›</a:t>
            </a:fld>
            <a:endParaRPr lang="en-US"/>
          </a:p>
        </p:txBody>
      </p:sp>
      <p:sp>
        <p:nvSpPr>
          <p:cNvPr id="7" name="Rectangle 6">
            <a:extLst>
              <a:ext uri="{FF2B5EF4-FFF2-40B4-BE49-F238E27FC236}">
                <a16:creationId xmlns:a16="http://schemas.microsoft.com/office/drawing/2014/main" id="{8E137EB4-E11F-7F3C-F375-9EA4202A3E67}"/>
              </a:ext>
            </a:extLst>
          </p:cNvPr>
          <p:cNvSpPr/>
          <p:nvPr userDrawn="1"/>
        </p:nvSpPr>
        <p:spPr>
          <a:xfrm>
            <a:off x="0" y="0"/>
            <a:ext cx="107576" cy="685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66779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0016A-CFE8-8A04-1A60-D1E9EC19E4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FBBA688-8CDB-839B-E6AC-2144406A012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487CE8-D92C-1F58-9B08-03C6D410F923}"/>
              </a:ext>
            </a:extLst>
          </p:cNvPr>
          <p:cNvSpPr>
            <a:spLocks noGrp="1"/>
          </p:cNvSpPr>
          <p:nvPr>
            <p:ph type="dt" sz="half" idx="10"/>
          </p:nvPr>
        </p:nvSpPr>
        <p:spPr/>
        <p:txBody>
          <a:bodyPr/>
          <a:lstStyle/>
          <a:p>
            <a:fld id="{873EE530-FD04-3147-B0C9-114639AB4992}" type="datetimeFigureOut">
              <a:rPr lang="en-US" smtClean="0"/>
              <a:t>4/6/26</a:t>
            </a:fld>
            <a:endParaRPr lang="en-US"/>
          </a:p>
        </p:txBody>
      </p:sp>
      <p:sp>
        <p:nvSpPr>
          <p:cNvPr id="5" name="Footer Placeholder 4">
            <a:extLst>
              <a:ext uri="{FF2B5EF4-FFF2-40B4-BE49-F238E27FC236}">
                <a16:creationId xmlns:a16="http://schemas.microsoft.com/office/drawing/2014/main" id="{AABEE0BF-6C9A-D705-87E8-2CB7628A6C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3B02BE-3916-8C5F-E6E9-A82691A706CC}"/>
              </a:ext>
            </a:extLst>
          </p:cNvPr>
          <p:cNvSpPr>
            <a:spLocks noGrp="1"/>
          </p:cNvSpPr>
          <p:nvPr>
            <p:ph type="sldNum" sz="quarter" idx="12"/>
          </p:nvPr>
        </p:nvSpPr>
        <p:spPr/>
        <p:txBody>
          <a:bodyPr/>
          <a:lstStyle/>
          <a:p>
            <a:fld id="{353B3962-8CA9-8D46-9A7C-694CCFDF676A}" type="slidenum">
              <a:rPr lang="en-US" smtClean="0"/>
              <a:t>‹#›</a:t>
            </a:fld>
            <a:endParaRPr lang="en-US"/>
          </a:p>
        </p:txBody>
      </p:sp>
      <p:sp>
        <p:nvSpPr>
          <p:cNvPr id="7" name="Rectangle 6">
            <a:extLst>
              <a:ext uri="{FF2B5EF4-FFF2-40B4-BE49-F238E27FC236}">
                <a16:creationId xmlns:a16="http://schemas.microsoft.com/office/drawing/2014/main" id="{3906CDE4-1B81-F5B6-004E-455E6CF16622}"/>
              </a:ext>
            </a:extLst>
          </p:cNvPr>
          <p:cNvSpPr/>
          <p:nvPr userDrawn="1"/>
        </p:nvSpPr>
        <p:spPr>
          <a:xfrm>
            <a:off x="0" y="0"/>
            <a:ext cx="107576" cy="685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72350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1FE88-CD93-E21D-D983-394A8535FF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6FC707-6D36-68A6-4EF6-10DCCAE6F1A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482410E-256F-9773-7BD5-8F58F878C1F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6EF11D0-90AC-8E8F-ED98-6507F3561A9F}"/>
              </a:ext>
            </a:extLst>
          </p:cNvPr>
          <p:cNvSpPr>
            <a:spLocks noGrp="1"/>
          </p:cNvSpPr>
          <p:nvPr>
            <p:ph type="dt" sz="half" idx="10"/>
          </p:nvPr>
        </p:nvSpPr>
        <p:spPr/>
        <p:txBody>
          <a:bodyPr/>
          <a:lstStyle/>
          <a:p>
            <a:fld id="{873EE530-FD04-3147-B0C9-114639AB4992}" type="datetimeFigureOut">
              <a:rPr lang="en-US" smtClean="0"/>
              <a:t>4/6/26</a:t>
            </a:fld>
            <a:endParaRPr lang="en-US"/>
          </a:p>
        </p:txBody>
      </p:sp>
      <p:sp>
        <p:nvSpPr>
          <p:cNvPr id="6" name="Footer Placeholder 5">
            <a:extLst>
              <a:ext uri="{FF2B5EF4-FFF2-40B4-BE49-F238E27FC236}">
                <a16:creationId xmlns:a16="http://schemas.microsoft.com/office/drawing/2014/main" id="{8A2AFC05-D37A-FBB4-0BAB-DA8661CC15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194C7E-7CE9-A747-1A05-9E9B57FFB8B4}"/>
              </a:ext>
            </a:extLst>
          </p:cNvPr>
          <p:cNvSpPr>
            <a:spLocks noGrp="1"/>
          </p:cNvSpPr>
          <p:nvPr>
            <p:ph type="sldNum" sz="quarter" idx="12"/>
          </p:nvPr>
        </p:nvSpPr>
        <p:spPr/>
        <p:txBody>
          <a:bodyPr/>
          <a:lstStyle/>
          <a:p>
            <a:fld id="{353B3962-8CA9-8D46-9A7C-694CCFDF676A}" type="slidenum">
              <a:rPr lang="en-US" smtClean="0"/>
              <a:t>‹#›</a:t>
            </a:fld>
            <a:endParaRPr lang="en-US"/>
          </a:p>
        </p:txBody>
      </p:sp>
      <p:sp>
        <p:nvSpPr>
          <p:cNvPr id="8" name="Rectangle 7">
            <a:extLst>
              <a:ext uri="{FF2B5EF4-FFF2-40B4-BE49-F238E27FC236}">
                <a16:creationId xmlns:a16="http://schemas.microsoft.com/office/drawing/2014/main" id="{2F529B5C-FE6B-E446-717E-D10538FF2309}"/>
              </a:ext>
            </a:extLst>
          </p:cNvPr>
          <p:cNvSpPr/>
          <p:nvPr userDrawn="1"/>
        </p:nvSpPr>
        <p:spPr>
          <a:xfrm>
            <a:off x="0" y="0"/>
            <a:ext cx="107576" cy="685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76285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2647C-3869-0981-7E20-30B92EC844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F5869CF-8EB7-2671-0C91-E15610E1AC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4F35CE-3312-B616-0135-62E1DBA29A9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22464BD-57D9-31AF-3F5B-F97CB47E69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AFD28B-7AC0-5708-590D-7B2819DF9C6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6C5B4D9-F7C9-1563-39B2-8906C3474F59}"/>
              </a:ext>
            </a:extLst>
          </p:cNvPr>
          <p:cNvSpPr>
            <a:spLocks noGrp="1"/>
          </p:cNvSpPr>
          <p:nvPr>
            <p:ph type="dt" sz="half" idx="10"/>
          </p:nvPr>
        </p:nvSpPr>
        <p:spPr/>
        <p:txBody>
          <a:bodyPr/>
          <a:lstStyle/>
          <a:p>
            <a:fld id="{873EE530-FD04-3147-B0C9-114639AB4992}" type="datetimeFigureOut">
              <a:rPr lang="en-US" smtClean="0"/>
              <a:t>4/6/26</a:t>
            </a:fld>
            <a:endParaRPr lang="en-US"/>
          </a:p>
        </p:txBody>
      </p:sp>
      <p:sp>
        <p:nvSpPr>
          <p:cNvPr id="8" name="Footer Placeholder 7">
            <a:extLst>
              <a:ext uri="{FF2B5EF4-FFF2-40B4-BE49-F238E27FC236}">
                <a16:creationId xmlns:a16="http://schemas.microsoft.com/office/drawing/2014/main" id="{3CDCA998-C901-E44F-D20E-3C67DA0940B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D462D5B-5638-B01D-93D9-7E337697E396}"/>
              </a:ext>
            </a:extLst>
          </p:cNvPr>
          <p:cNvSpPr>
            <a:spLocks noGrp="1"/>
          </p:cNvSpPr>
          <p:nvPr>
            <p:ph type="sldNum" sz="quarter" idx="12"/>
          </p:nvPr>
        </p:nvSpPr>
        <p:spPr/>
        <p:txBody>
          <a:bodyPr/>
          <a:lstStyle/>
          <a:p>
            <a:fld id="{353B3962-8CA9-8D46-9A7C-694CCFDF676A}" type="slidenum">
              <a:rPr lang="en-US" smtClean="0"/>
              <a:t>‹#›</a:t>
            </a:fld>
            <a:endParaRPr lang="en-US"/>
          </a:p>
        </p:txBody>
      </p:sp>
      <p:sp>
        <p:nvSpPr>
          <p:cNvPr id="10" name="Rectangle 9">
            <a:extLst>
              <a:ext uri="{FF2B5EF4-FFF2-40B4-BE49-F238E27FC236}">
                <a16:creationId xmlns:a16="http://schemas.microsoft.com/office/drawing/2014/main" id="{9A81FA3B-8B22-0724-8E7A-A0D49BC18BEF}"/>
              </a:ext>
            </a:extLst>
          </p:cNvPr>
          <p:cNvSpPr/>
          <p:nvPr userDrawn="1"/>
        </p:nvSpPr>
        <p:spPr>
          <a:xfrm>
            <a:off x="0" y="0"/>
            <a:ext cx="107576" cy="685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59124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E226E-8BA6-459A-F3E3-DAFEFF00F20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7D807C-D85B-7DE1-BD29-464AD4EA1BC5}"/>
              </a:ext>
            </a:extLst>
          </p:cNvPr>
          <p:cNvSpPr>
            <a:spLocks noGrp="1"/>
          </p:cNvSpPr>
          <p:nvPr>
            <p:ph type="dt" sz="half" idx="10"/>
          </p:nvPr>
        </p:nvSpPr>
        <p:spPr/>
        <p:txBody>
          <a:bodyPr/>
          <a:lstStyle/>
          <a:p>
            <a:fld id="{873EE530-FD04-3147-B0C9-114639AB4992}" type="datetimeFigureOut">
              <a:rPr lang="en-US" smtClean="0"/>
              <a:t>4/6/26</a:t>
            </a:fld>
            <a:endParaRPr lang="en-US"/>
          </a:p>
        </p:txBody>
      </p:sp>
      <p:sp>
        <p:nvSpPr>
          <p:cNvPr id="4" name="Footer Placeholder 3">
            <a:extLst>
              <a:ext uri="{FF2B5EF4-FFF2-40B4-BE49-F238E27FC236}">
                <a16:creationId xmlns:a16="http://schemas.microsoft.com/office/drawing/2014/main" id="{0897EBBB-0649-6A59-4369-EFF26C02198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D1EA679-CD6C-BF10-AD12-419F9BDB287B}"/>
              </a:ext>
            </a:extLst>
          </p:cNvPr>
          <p:cNvSpPr>
            <a:spLocks noGrp="1"/>
          </p:cNvSpPr>
          <p:nvPr>
            <p:ph type="sldNum" sz="quarter" idx="12"/>
          </p:nvPr>
        </p:nvSpPr>
        <p:spPr/>
        <p:txBody>
          <a:bodyPr/>
          <a:lstStyle/>
          <a:p>
            <a:fld id="{353B3962-8CA9-8D46-9A7C-694CCFDF676A}" type="slidenum">
              <a:rPr lang="en-US" smtClean="0"/>
              <a:t>‹#›</a:t>
            </a:fld>
            <a:endParaRPr lang="en-US"/>
          </a:p>
        </p:txBody>
      </p:sp>
      <p:sp>
        <p:nvSpPr>
          <p:cNvPr id="6" name="Rectangle 5">
            <a:extLst>
              <a:ext uri="{FF2B5EF4-FFF2-40B4-BE49-F238E27FC236}">
                <a16:creationId xmlns:a16="http://schemas.microsoft.com/office/drawing/2014/main" id="{59C06814-03B8-146C-18A1-94A490EA51C1}"/>
              </a:ext>
            </a:extLst>
          </p:cNvPr>
          <p:cNvSpPr/>
          <p:nvPr userDrawn="1"/>
        </p:nvSpPr>
        <p:spPr>
          <a:xfrm>
            <a:off x="0" y="0"/>
            <a:ext cx="107576" cy="685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5929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7138A1-4017-7C92-8FF5-7EFC6FD62B8B}"/>
              </a:ext>
            </a:extLst>
          </p:cNvPr>
          <p:cNvSpPr>
            <a:spLocks noGrp="1"/>
          </p:cNvSpPr>
          <p:nvPr>
            <p:ph type="dt" sz="half" idx="10"/>
          </p:nvPr>
        </p:nvSpPr>
        <p:spPr/>
        <p:txBody>
          <a:bodyPr/>
          <a:lstStyle/>
          <a:p>
            <a:fld id="{873EE530-FD04-3147-B0C9-114639AB4992}" type="datetimeFigureOut">
              <a:rPr lang="en-US" smtClean="0"/>
              <a:t>4/6/26</a:t>
            </a:fld>
            <a:endParaRPr lang="en-US"/>
          </a:p>
        </p:txBody>
      </p:sp>
      <p:sp>
        <p:nvSpPr>
          <p:cNvPr id="3" name="Footer Placeholder 2">
            <a:extLst>
              <a:ext uri="{FF2B5EF4-FFF2-40B4-BE49-F238E27FC236}">
                <a16:creationId xmlns:a16="http://schemas.microsoft.com/office/drawing/2014/main" id="{8C5209E8-4CA0-3640-5451-46E7A06D029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907C587-7BBB-E797-2710-3337BC8F72D3}"/>
              </a:ext>
            </a:extLst>
          </p:cNvPr>
          <p:cNvSpPr>
            <a:spLocks noGrp="1"/>
          </p:cNvSpPr>
          <p:nvPr>
            <p:ph type="sldNum" sz="quarter" idx="12"/>
          </p:nvPr>
        </p:nvSpPr>
        <p:spPr/>
        <p:txBody>
          <a:bodyPr/>
          <a:lstStyle/>
          <a:p>
            <a:fld id="{353B3962-8CA9-8D46-9A7C-694CCFDF676A}" type="slidenum">
              <a:rPr lang="en-US" smtClean="0"/>
              <a:t>‹#›</a:t>
            </a:fld>
            <a:endParaRPr lang="en-US"/>
          </a:p>
        </p:txBody>
      </p:sp>
      <p:sp>
        <p:nvSpPr>
          <p:cNvPr id="5" name="Rectangle 4">
            <a:extLst>
              <a:ext uri="{FF2B5EF4-FFF2-40B4-BE49-F238E27FC236}">
                <a16:creationId xmlns:a16="http://schemas.microsoft.com/office/drawing/2014/main" id="{9D182C5A-002F-5D69-ECA0-1C957267D82F}"/>
              </a:ext>
            </a:extLst>
          </p:cNvPr>
          <p:cNvSpPr/>
          <p:nvPr userDrawn="1"/>
        </p:nvSpPr>
        <p:spPr>
          <a:xfrm>
            <a:off x="0" y="0"/>
            <a:ext cx="107576" cy="685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12902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73350-F818-EE66-ADEF-DAC5B9819E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731B377-1CF1-AD8F-01B3-E8BE4D34D0A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43458ED-987E-BBCC-7A0C-75D8C5D7C5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4C1F1D-7B43-3D40-CB34-B7DBDC551FA4}"/>
              </a:ext>
            </a:extLst>
          </p:cNvPr>
          <p:cNvSpPr>
            <a:spLocks noGrp="1"/>
          </p:cNvSpPr>
          <p:nvPr>
            <p:ph type="dt" sz="half" idx="10"/>
          </p:nvPr>
        </p:nvSpPr>
        <p:spPr/>
        <p:txBody>
          <a:bodyPr/>
          <a:lstStyle/>
          <a:p>
            <a:fld id="{873EE530-FD04-3147-B0C9-114639AB4992}" type="datetimeFigureOut">
              <a:rPr lang="en-US" smtClean="0"/>
              <a:t>4/6/26</a:t>
            </a:fld>
            <a:endParaRPr lang="en-US"/>
          </a:p>
        </p:txBody>
      </p:sp>
      <p:sp>
        <p:nvSpPr>
          <p:cNvPr id="6" name="Footer Placeholder 5">
            <a:extLst>
              <a:ext uri="{FF2B5EF4-FFF2-40B4-BE49-F238E27FC236}">
                <a16:creationId xmlns:a16="http://schemas.microsoft.com/office/drawing/2014/main" id="{5A2FB79D-1C9B-3EDA-44E0-173C7AA96D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92B1F2-22ED-815F-5DE3-9E95375AA082}"/>
              </a:ext>
            </a:extLst>
          </p:cNvPr>
          <p:cNvSpPr>
            <a:spLocks noGrp="1"/>
          </p:cNvSpPr>
          <p:nvPr>
            <p:ph type="sldNum" sz="quarter" idx="12"/>
          </p:nvPr>
        </p:nvSpPr>
        <p:spPr/>
        <p:txBody>
          <a:bodyPr/>
          <a:lstStyle/>
          <a:p>
            <a:fld id="{353B3962-8CA9-8D46-9A7C-694CCFDF676A}" type="slidenum">
              <a:rPr lang="en-US" smtClean="0"/>
              <a:t>‹#›</a:t>
            </a:fld>
            <a:endParaRPr lang="en-US"/>
          </a:p>
        </p:txBody>
      </p:sp>
      <p:sp>
        <p:nvSpPr>
          <p:cNvPr id="8" name="Rectangle 7">
            <a:extLst>
              <a:ext uri="{FF2B5EF4-FFF2-40B4-BE49-F238E27FC236}">
                <a16:creationId xmlns:a16="http://schemas.microsoft.com/office/drawing/2014/main" id="{0EF0FC02-1C79-2647-2366-410C69F4D477}"/>
              </a:ext>
            </a:extLst>
          </p:cNvPr>
          <p:cNvSpPr/>
          <p:nvPr userDrawn="1"/>
        </p:nvSpPr>
        <p:spPr>
          <a:xfrm>
            <a:off x="0" y="0"/>
            <a:ext cx="107576" cy="685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127688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8B56A-81DE-C45D-0847-FBF613BD00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D5C6DEB-0FA0-3AFB-AD72-D195220E35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C6DB7F5-C763-4335-E3B3-7625CB60DD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7437BB-C107-F853-E973-402CA70E3D9E}"/>
              </a:ext>
            </a:extLst>
          </p:cNvPr>
          <p:cNvSpPr>
            <a:spLocks noGrp="1"/>
          </p:cNvSpPr>
          <p:nvPr>
            <p:ph type="dt" sz="half" idx="10"/>
          </p:nvPr>
        </p:nvSpPr>
        <p:spPr/>
        <p:txBody>
          <a:bodyPr/>
          <a:lstStyle/>
          <a:p>
            <a:fld id="{873EE530-FD04-3147-B0C9-114639AB4992}" type="datetimeFigureOut">
              <a:rPr lang="en-US" smtClean="0"/>
              <a:t>4/6/26</a:t>
            </a:fld>
            <a:endParaRPr lang="en-US"/>
          </a:p>
        </p:txBody>
      </p:sp>
      <p:sp>
        <p:nvSpPr>
          <p:cNvPr id="6" name="Footer Placeholder 5">
            <a:extLst>
              <a:ext uri="{FF2B5EF4-FFF2-40B4-BE49-F238E27FC236}">
                <a16:creationId xmlns:a16="http://schemas.microsoft.com/office/drawing/2014/main" id="{92D7D404-5AEE-E805-43D8-CFE4F63D66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6807A7-D28F-7244-7A10-4B0B49CE5FF6}"/>
              </a:ext>
            </a:extLst>
          </p:cNvPr>
          <p:cNvSpPr>
            <a:spLocks noGrp="1"/>
          </p:cNvSpPr>
          <p:nvPr>
            <p:ph type="sldNum" sz="quarter" idx="12"/>
          </p:nvPr>
        </p:nvSpPr>
        <p:spPr/>
        <p:txBody>
          <a:bodyPr/>
          <a:lstStyle/>
          <a:p>
            <a:fld id="{353B3962-8CA9-8D46-9A7C-694CCFDF676A}" type="slidenum">
              <a:rPr lang="en-US" smtClean="0"/>
              <a:t>‹#›</a:t>
            </a:fld>
            <a:endParaRPr lang="en-US"/>
          </a:p>
        </p:txBody>
      </p:sp>
      <p:sp>
        <p:nvSpPr>
          <p:cNvPr id="8" name="Rectangle 7">
            <a:extLst>
              <a:ext uri="{FF2B5EF4-FFF2-40B4-BE49-F238E27FC236}">
                <a16:creationId xmlns:a16="http://schemas.microsoft.com/office/drawing/2014/main" id="{C28D9ECA-069B-3CCC-9AD2-A4C5EA2DF186}"/>
              </a:ext>
            </a:extLst>
          </p:cNvPr>
          <p:cNvSpPr/>
          <p:nvPr userDrawn="1"/>
        </p:nvSpPr>
        <p:spPr>
          <a:xfrm>
            <a:off x="0" y="0"/>
            <a:ext cx="107576" cy="685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69795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19965-AFC2-FB74-68B3-A49AB52308A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3602B4-A1C2-8DB0-28CF-9DA5F014B8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B743A3-5838-5BFD-561C-2B31E572C58A}"/>
              </a:ext>
            </a:extLst>
          </p:cNvPr>
          <p:cNvSpPr>
            <a:spLocks noGrp="1"/>
          </p:cNvSpPr>
          <p:nvPr>
            <p:ph type="dt" sz="half" idx="10"/>
          </p:nvPr>
        </p:nvSpPr>
        <p:spPr/>
        <p:txBody>
          <a:bodyPr/>
          <a:lstStyle/>
          <a:p>
            <a:fld id="{873EE530-FD04-3147-B0C9-114639AB4992}" type="datetimeFigureOut">
              <a:rPr lang="en-US" smtClean="0"/>
              <a:t>4/6/26</a:t>
            </a:fld>
            <a:endParaRPr lang="en-US"/>
          </a:p>
        </p:txBody>
      </p:sp>
      <p:sp>
        <p:nvSpPr>
          <p:cNvPr id="5" name="Footer Placeholder 4">
            <a:extLst>
              <a:ext uri="{FF2B5EF4-FFF2-40B4-BE49-F238E27FC236}">
                <a16:creationId xmlns:a16="http://schemas.microsoft.com/office/drawing/2014/main" id="{D7920D0C-F5AD-383F-C4CA-FC06D9CE7E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218759-52E3-22C4-C4C2-77F22F7147F6}"/>
              </a:ext>
            </a:extLst>
          </p:cNvPr>
          <p:cNvSpPr>
            <a:spLocks noGrp="1"/>
          </p:cNvSpPr>
          <p:nvPr>
            <p:ph type="sldNum" sz="quarter" idx="12"/>
          </p:nvPr>
        </p:nvSpPr>
        <p:spPr/>
        <p:txBody>
          <a:bodyPr/>
          <a:lstStyle/>
          <a:p>
            <a:fld id="{353B3962-8CA9-8D46-9A7C-694CCFDF676A}" type="slidenum">
              <a:rPr lang="en-US" smtClean="0"/>
              <a:t>‹#›</a:t>
            </a:fld>
            <a:endParaRPr lang="en-US"/>
          </a:p>
        </p:txBody>
      </p:sp>
      <p:sp>
        <p:nvSpPr>
          <p:cNvPr id="7" name="Rectangle 6">
            <a:extLst>
              <a:ext uri="{FF2B5EF4-FFF2-40B4-BE49-F238E27FC236}">
                <a16:creationId xmlns:a16="http://schemas.microsoft.com/office/drawing/2014/main" id="{03F12EB5-A0CA-8C20-734E-126185A36CBF}"/>
              </a:ext>
            </a:extLst>
          </p:cNvPr>
          <p:cNvSpPr/>
          <p:nvPr userDrawn="1"/>
        </p:nvSpPr>
        <p:spPr>
          <a:xfrm>
            <a:off x="0" y="0"/>
            <a:ext cx="107576" cy="685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35144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621639-F9F7-EDDB-E286-69594EDF829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40952DA-FBAE-83A0-F6D9-BC8A76962C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46D2AA-EB07-7080-DD33-0B7EF6C093C2}"/>
              </a:ext>
            </a:extLst>
          </p:cNvPr>
          <p:cNvSpPr>
            <a:spLocks noGrp="1"/>
          </p:cNvSpPr>
          <p:nvPr>
            <p:ph type="dt" sz="half" idx="10"/>
          </p:nvPr>
        </p:nvSpPr>
        <p:spPr/>
        <p:txBody>
          <a:bodyPr/>
          <a:lstStyle/>
          <a:p>
            <a:fld id="{873EE530-FD04-3147-B0C9-114639AB4992}" type="datetimeFigureOut">
              <a:rPr lang="en-US" smtClean="0"/>
              <a:t>4/6/26</a:t>
            </a:fld>
            <a:endParaRPr lang="en-US"/>
          </a:p>
        </p:txBody>
      </p:sp>
      <p:sp>
        <p:nvSpPr>
          <p:cNvPr id="5" name="Footer Placeholder 4">
            <a:extLst>
              <a:ext uri="{FF2B5EF4-FFF2-40B4-BE49-F238E27FC236}">
                <a16:creationId xmlns:a16="http://schemas.microsoft.com/office/drawing/2014/main" id="{8457E7AF-2985-4C6D-0EF3-B0745A1F7D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2F06B6-876B-1720-F000-0B50C6177898}"/>
              </a:ext>
            </a:extLst>
          </p:cNvPr>
          <p:cNvSpPr>
            <a:spLocks noGrp="1"/>
          </p:cNvSpPr>
          <p:nvPr>
            <p:ph type="sldNum" sz="quarter" idx="12"/>
          </p:nvPr>
        </p:nvSpPr>
        <p:spPr/>
        <p:txBody>
          <a:bodyPr/>
          <a:lstStyle/>
          <a:p>
            <a:fld id="{353B3962-8CA9-8D46-9A7C-694CCFDF676A}" type="slidenum">
              <a:rPr lang="en-US" smtClean="0"/>
              <a:t>‹#›</a:t>
            </a:fld>
            <a:endParaRPr lang="en-US"/>
          </a:p>
        </p:txBody>
      </p:sp>
      <p:sp>
        <p:nvSpPr>
          <p:cNvPr id="7" name="Rectangle 6">
            <a:extLst>
              <a:ext uri="{FF2B5EF4-FFF2-40B4-BE49-F238E27FC236}">
                <a16:creationId xmlns:a16="http://schemas.microsoft.com/office/drawing/2014/main" id="{CE2AF28B-BF49-09AC-2319-4CCCB42DD8E9}"/>
              </a:ext>
            </a:extLst>
          </p:cNvPr>
          <p:cNvSpPr/>
          <p:nvPr userDrawn="1"/>
        </p:nvSpPr>
        <p:spPr>
          <a:xfrm>
            <a:off x="0" y="0"/>
            <a:ext cx="107576" cy="685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563171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23" name="PlaceHolder 2"/>
          <p:cNvSpPr>
            <a:spLocks noGrp="1"/>
          </p:cNvSpPr>
          <p:nvPr>
            <p:ph/>
          </p:nvPr>
        </p:nvSpPr>
        <p:spPr>
          <a:xfrm>
            <a:off x="838080" y="1825560"/>
            <a:ext cx="1051524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chemeClr val="dk1"/>
              </a:solidFill>
              <a:latin typeface="Calibri"/>
            </a:endParaRPr>
          </a:p>
        </p:txBody>
      </p:sp>
      <p:sp>
        <p:nvSpPr>
          <p:cNvPr id="4" name="PlaceHolder 3"/>
          <p:cNvSpPr>
            <a:spLocks noGrp="1"/>
          </p:cNvSpPr>
          <p:nvPr>
            <p:ph type="ftr" idx="11"/>
          </p:nvPr>
        </p:nvSpPr>
        <p:spPr/>
        <p:txBody>
          <a:bodyPr/>
          <a:lstStyle/>
          <a:p>
            <a:r>
              <a:t>Footer</a:t>
            </a:r>
          </a:p>
        </p:txBody>
      </p:sp>
      <p:sp>
        <p:nvSpPr>
          <p:cNvPr id="5" name="PlaceHolder 4"/>
          <p:cNvSpPr>
            <a:spLocks noGrp="1"/>
          </p:cNvSpPr>
          <p:nvPr>
            <p:ph type="sldNum" idx="12"/>
          </p:nvPr>
        </p:nvSpPr>
        <p:spPr/>
        <p:txBody>
          <a:bodyPr/>
          <a:lstStyle/>
          <a:p>
            <a:fld id="{9C65561F-7442-43F4-822B-58C0EDC5C7C3}" type="slidenum">
              <a:t>‹#›</a:t>
            </a:fld>
            <a:endParaRPr/>
          </a:p>
        </p:txBody>
      </p:sp>
      <p:sp>
        <p:nvSpPr>
          <p:cNvPr id="6" name="PlaceHolder 5"/>
          <p:cNvSpPr>
            <a:spLocks noGrp="1"/>
          </p:cNvSpPr>
          <p:nvPr>
            <p:ph type="dt" idx="10"/>
          </p:nvPr>
        </p:nvSpPr>
        <p:spPr/>
        <p:txBody>
          <a:bodyPr/>
          <a:lstStyle/>
          <a:p>
            <a:endParaRPr/>
          </a:p>
        </p:txBody>
      </p:sp>
    </p:spTree>
    <p:extLst>
      <p:ext uri="{BB962C8B-B14F-4D97-AF65-F5344CB8AC3E}">
        <p14:creationId xmlns:p14="http://schemas.microsoft.com/office/powerpoint/2010/main" val="2988460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C95BF4-64C6-7BB7-5C51-E25046C1B5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A47761E-06BA-A4B3-7379-9BCE276366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7D0657-F59F-F8B0-5319-3D6B96BB1C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73EE530-FD04-3147-B0C9-114639AB4992}" type="datetimeFigureOut">
              <a:rPr lang="en-US" smtClean="0"/>
              <a:t>4/6/26</a:t>
            </a:fld>
            <a:endParaRPr lang="en-US"/>
          </a:p>
        </p:txBody>
      </p:sp>
      <p:sp>
        <p:nvSpPr>
          <p:cNvPr id="5" name="Footer Placeholder 4">
            <a:extLst>
              <a:ext uri="{FF2B5EF4-FFF2-40B4-BE49-F238E27FC236}">
                <a16:creationId xmlns:a16="http://schemas.microsoft.com/office/drawing/2014/main" id="{1642BBD2-53A5-142C-8EFD-578AE3CECD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6BC08C2-7FF1-E46A-D033-D1515CBCA8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53B3962-8CA9-8D46-9A7C-694CCFDF676A}" type="slidenum">
              <a:rPr lang="en-US" smtClean="0"/>
              <a:t>‹#›</a:t>
            </a:fld>
            <a:endParaRPr lang="en-US"/>
          </a:p>
        </p:txBody>
      </p:sp>
      <p:sp>
        <p:nvSpPr>
          <p:cNvPr id="7" name="Rectangle 6">
            <a:extLst>
              <a:ext uri="{FF2B5EF4-FFF2-40B4-BE49-F238E27FC236}">
                <a16:creationId xmlns:a16="http://schemas.microsoft.com/office/drawing/2014/main" id="{DE61B3FC-3B9C-A620-3D3E-11183CD96B6F}"/>
              </a:ext>
            </a:extLst>
          </p:cNvPr>
          <p:cNvSpPr/>
          <p:nvPr userDrawn="1"/>
        </p:nvSpPr>
        <p:spPr>
          <a:xfrm>
            <a:off x="0" y="0"/>
            <a:ext cx="107576" cy="685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575039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2.xml"/><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12.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12.png"/><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hyperlink" Target="http://www.secdev.org/projects/scapy/" TargetMode="Externa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hyperlink" Target="https://ieeexplore.ieee.org/document/7163028" TargetMode="External"/><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hyperlink" Target="https://blog.apnic.net/2019/03/04/a-quick-look-at-quic/" TargetMode="External"/></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9.png"/><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57.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emf"/><Relationship Id="rId4" Type="http://schemas.openxmlformats.org/officeDocument/2006/relationships/image" Target="../media/image25.png"/></Relationships>
</file>

<file path=ppt/slides/_rels/slide58.xml.rels><?xml version="1.0" encoding="UTF-8" standalone="yes"?>
<Relationships xmlns="http://schemas.openxmlformats.org/package/2006/relationships"><Relationship Id="rId3" Type="http://schemas.openxmlformats.org/officeDocument/2006/relationships/hyperlink" Target="https://en.wikipedia.org/wiki/Insecure_channel" TargetMode="External"/><Relationship Id="rId2" Type="http://schemas.openxmlformats.org/officeDocument/2006/relationships/hyperlink" Target="https://en.wikipedia.org/wiki/Shared_secret" TargetMode="Externa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59.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hyperlink" Target="http://en.wikipedia.org/wiki/X_Window_System" TargetMode="Externa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hyperlink" Target="http://www.ssh.com/"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hyperlink" Target="http://www.openssh.org/" TargetMode="External"/><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7.xml.rels><?xml version="1.0" encoding="UTF-8" standalone="yes"?>
<Relationships xmlns="http://schemas.openxmlformats.org/package/2006/relationships"><Relationship Id="rId3" Type="http://schemas.openxmlformats.org/officeDocument/2006/relationships/hyperlink" Target="http://en.wikipedia.org/wiki/Secure_copy" TargetMode="External"/><Relationship Id="rId2" Type="http://schemas.openxmlformats.org/officeDocument/2006/relationships/hyperlink" Target="http://en.wikipedia.org/wiki/Secure_shell" TargetMode="External"/><Relationship Id="rId1" Type="http://schemas.openxmlformats.org/officeDocument/2006/relationships/slideLayout" Target="../slideLayouts/slideLayout2.xml"/><Relationship Id="rId4" Type="http://schemas.openxmlformats.org/officeDocument/2006/relationships/hyperlink" Target="http://en.wikipedia.org/wiki/SSH_file_transfer_protocol"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3" Type="http://schemas.openxmlformats.org/officeDocument/2006/relationships/hyperlink" Target="file:///home/joseph/Course/COMP685C/presentation/www.openssh.org" TargetMode="External"/><Relationship Id="rId2" Type="http://schemas.openxmlformats.org/officeDocument/2006/relationships/hyperlink" Target="http://www.snailbook.com/" TargetMode="External"/><Relationship Id="rId1" Type="http://schemas.openxmlformats.org/officeDocument/2006/relationships/slideLayout" Target="../slideLayouts/slideLayout2.xml"/><Relationship Id="rId4" Type="http://schemas.openxmlformats.org/officeDocument/2006/relationships/hyperlink" Target="file:///home/joseph/Course/COMP685C/presentation/www.ssh.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9BFD2-513F-49D4-F5B9-24A0BD15B017}"/>
              </a:ext>
            </a:extLst>
          </p:cNvPr>
          <p:cNvSpPr>
            <a:spLocks noGrp="1"/>
          </p:cNvSpPr>
          <p:nvPr>
            <p:ph type="ctrTitle"/>
          </p:nvPr>
        </p:nvSpPr>
        <p:spPr/>
        <p:txBody>
          <a:bodyPr/>
          <a:lstStyle/>
          <a:p>
            <a:r>
              <a:rPr lang="en-US" dirty="0"/>
              <a:t>CSC 4780 – QUIC and Security</a:t>
            </a:r>
          </a:p>
        </p:txBody>
      </p:sp>
      <p:sp>
        <p:nvSpPr>
          <p:cNvPr id="3" name="Subtitle 2">
            <a:extLst>
              <a:ext uri="{FF2B5EF4-FFF2-40B4-BE49-F238E27FC236}">
                <a16:creationId xmlns:a16="http://schemas.microsoft.com/office/drawing/2014/main" id="{399F20D1-0DF6-84F0-E38E-5718F548E6F7}"/>
              </a:ext>
            </a:extLst>
          </p:cNvPr>
          <p:cNvSpPr>
            <a:spLocks noGrp="1"/>
          </p:cNvSpPr>
          <p:nvPr>
            <p:ph type="subTitle" idx="1"/>
          </p:nvPr>
        </p:nvSpPr>
        <p:spPr/>
        <p:txBody>
          <a:bodyPr/>
          <a:lstStyle/>
          <a:p>
            <a:r>
              <a:rPr lang="en-US" dirty="0"/>
              <a:t>Susmit Shannigrahi</a:t>
            </a:r>
          </a:p>
        </p:txBody>
      </p:sp>
    </p:spTree>
    <p:extLst>
      <p:ext uri="{BB962C8B-B14F-4D97-AF65-F5344CB8AC3E}">
        <p14:creationId xmlns:p14="http://schemas.microsoft.com/office/powerpoint/2010/main" val="41786429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838080" y="365040"/>
            <a:ext cx="11190240" cy="1325160"/>
          </a:xfrm>
          <a:prstGeom prst="rect">
            <a:avLst/>
          </a:prstGeom>
          <a:noFill/>
          <a:ln w="0">
            <a:noFill/>
          </a:ln>
        </p:spPr>
        <p:txBody>
          <a:bodyPr lIns="91440" tIns="45720" rIns="91440" bIns="45720" anchor="ctr">
            <a:normAutofit/>
          </a:bodyPr>
          <a:lstStyle/>
          <a:p>
            <a:pPr indent="0" defTabSz="914400">
              <a:lnSpc>
                <a:spcPct val="90000"/>
              </a:lnSpc>
              <a:buNone/>
            </a:pPr>
            <a:r>
              <a:rPr lang="en-AU" sz="4000" b="0" strike="noStrike" spc="-1">
                <a:solidFill>
                  <a:schemeClr val="accent2">
                    <a:lumMod val="50000"/>
                  </a:schemeClr>
                </a:solidFill>
                <a:latin typeface="Powderfinger Type"/>
              </a:rPr>
              <a:t>What have we done to the Internet?</a:t>
            </a:r>
            <a:endParaRPr lang="en-US" sz="4000" b="0" strike="noStrike" spc="-1">
              <a:solidFill>
                <a:schemeClr val="dk1"/>
              </a:solidFill>
              <a:latin typeface="Calibri"/>
            </a:endParaRPr>
          </a:p>
        </p:txBody>
      </p:sp>
      <p:sp>
        <p:nvSpPr>
          <p:cNvPr id="82" name="PlaceHolder 2"/>
          <p:cNvSpPr>
            <a:spLocks noGrp="1"/>
          </p:cNvSpPr>
          <p:nvPr>
            <p:ph/>
          </p:nvPr>
        </p:nvSpPr>
        <p:spPr>
          <a:xfrm>
            <a:off x="838080" y="1859040"/>
            <a:ext cx="10515240" cy="43509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AU" sz="2800" b="0" strike="noStrike" spc="-1">
                <a:solidFill>
                  <a:schemeClr val="dk1"/>
                </a:solidFill>
                <a:latin typeface="Calibri"/>
              </a:rPr>
              <a:t>More than 90% of all Internet traffic uses encrypted payloads</a:t>
            </a:r>
            <a:endParaRPr lang="en-US" sz="2800" b="0" strike="noStrike" spc="-1">
              <a:solidFill>
                <a:schemeClr val="dk1"/>
              </a:solidFill>
              <a:latin typeface="Calibri"/>
            </a:endParaRPr>
          </a:p>
          <a:p>
            <a:pPr indent="0" defTabSz="914400">
              <a:lnSpc>
                <a:spcPct val="90000"/>
              </a:lnSpc>
              <a:spcBef>
                <a:spcPts val="1001"/>
              </a:spcBef>
              <a:buNone/>
              <a:tabLst>
                <a:tab pos="0" algn="l"/>
              </a:tabLst>
            </a:pPr>
            <a:endParaRPr lang="en-US" sz="2800" b="0" strike="noStrike" spc="-1">
              <a:solidFill>
                <a:schemeClr val="dk1"/>
              </a:solidFill>
              <a:latin typeface="Calibri"/>
            </a:endParaRPr>
          </a:p>
          <a:p>
            <a:pPr indent="0" defTabSz="914400">
              <a:lnSpc>
                <a:spcPct val="90000"/>
              </a:lnSpc>
              <a:spcBef>
                <a:spcPts val="1001"/>
              </a:spcBef>
              <a:buNone/>
              <a:tabLst>
                <a:tab pos="0" algn="l"/>
              </a:tabLst>
            </a:pPr>
            <a:endParaRPr lang="en-US" sz="2800" b="0" strike="noStrike" spc="-1">
              <a:solidFill>
                <a:schemeClr val="dk1"/>
              </a:solidFill>
              <a:latin typeface="Calibri"/>
            </a:endParaRPr>
          </a:p>
          <a:p>
            <a:pPr indent="0" defTabSz="914400">
              <a:lnSpc>
                <a:spcPct val="90000"/>
              </a:lnSpc>
              <a:spcBef>
                <a:spcPts val="1001"/>
              </a:spcBef>
              <a:buNone/>
              <a:tabLst>
                <a:tab pos="0" algn="l"/>
              </a:tabLst>
            </a:pPr>
            <a:endParaRPr lang="en-US" sz="2800" b="0" strike="noStrike" spc="-1">
              <a:solidFill>
                <a:schemeClr val="dk1"/>
              </a:solidFill>
              <a:latin typeface="Calibri"/>
            </a:endParaRPr>
          </a:p>
          <a:p>
            <a:pPr indent="0" defTabSz="914400">
              <a:lnSpc>
                <a:spcPct val="90000"/>
              </a:lnSpc>
              <a:spcBef>
                <a:spcPts val="1001"/>
              </a:spcBef>
              <a:buNone/>
              <a:tabLst>
                <a:tab pos="0" algn="l"/>
              </a:tabLst>
            </a:pPr>
            <a:endParaRPr lang="en-US" sz="2800" b="0" strike="noStrike" spc="-1">
              <a:solidFill>
                <a:schemeClr val="dk1"/>
              </a:solidFill>
              <a:latin typeface="Calibri"/>
            </a:endParaRPr>
          </a:p>
          <a:p>
            <a:pPr indent="0" defTabSz="914400">
              <a:lnSpc>
                <a:spcPct val="90000"/>
              </a:lnSpc>
              <a:spcBef>
                <a:spcPts val="1001"/>
              </a:spcBef>
              <a:buNone/>
              <a:tabLst>
                <a:tab pos="0" algn="l"/>
              </a:tabLst>
            </a:pPr>
            <a:endParaRPr lang="en-US" sz="2800" b="0" strike="noStrike" spc="-1">
              <a:solidFill>
                <a:schemeClr val="dk1"/>
              </a:solidFill>
              <a:latin typeface="Calibri"/>
            </a:endParaRPr>
          </a:p>
          <a:p>
            <a:pPr indent="0" defTabSz="914400">
              <a:lnSpc>
                <a:spcPct val="90000"/>
              </a:lnSpc>
              <a:spcBef>
                <a:spcPts val="1001"/>
              </a:spcBef>
              <a:buNone/>
              <a:tabLst>
                <a:tab pos="0" algn="l"/>
              </a:tabLst>
            </a:pPr>
            <a:endParaRPr lang="en-US" sz="2800" b="0" strike="noStrike" spc="-1">
              <a:solidFill>
                <a:schemeClr val="dk1"/>
              </a:solidFill>
              <a:latin typeface="Calibri"/>
            </a:endParaRPr>
          </a:p>
        </p:txBody>
      </p:sp>
      <p:grpSp>
        <p:nvGrpSpPr>
          <p:cNvPr id="83" name="Group 9"/>
          <p:cNvGrpSpPr/>
          <p:nvPr/>
        </p:nvGrpSpPr>
        <p:grpSpPr>
          <a:xfrm>
            <a:off x="1681920" y="3610800"/>
            <a:ext cx="1658520" cy="1651680"/>
            <a:chOff x="1681920" y="3610800"/>
            <a:chExt cx="1658520" cy="1651680"/>
          </a:xfrm>
        </p:grpSpPr>
        <p:pic>
          <p:nvPicPr>
            <p:cNvPr id="84" name="Picture 5"/>
            <p:cNvPicPr/>
            <p:nvPr/>
          </p:nvPicPr>
          <p:blipFill>
            <a:blip r:embed="rId2"/>
            <a:stretch/>
          </p:blipFill>
          <p:spPr>
            <a:xfrm>
              <a:off x="1681920" y="3610800"/>
              <a:ext cx="1658520" cy="1651680"/>
            </a:xfrm>
            <a:prstGeom prst="rect">
              <a:avLst/>
            </a:prstGeom>
            <a:ln w="0">
              <a:noFill/>
            </a:ln>
          </p:spPr>
        </p:pic>
        <p:sp>
          <p:nvSpPr>
            <p:cNvPr id="85" name="Oval 6"/>
            <p:cNvSpPr/>
            <p:nvPr/>
          </p:nvSpPr>
          <p:spPr>
            <a:xfrm>
              <a:off x="2082600" y="3982320"/>
              <a:ext cx="857520" cy="85752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AU" sz="1800" b="0" strike="noStrike" spc="-1">
                <a:solidFill>
                  <a:schemeClr val="lt1"/>
                </a:solidFill>
                <a:latin typeface="Calibri"/>
              </a:endParaRPr>
            </a:p>
          </p:txBody>
        </p:sp>
        <p:pic>
          <p:nvPicPr>
            <p:cNvPr id="86" name="Graphic 8" descr="Lock with solid fill"/>
            <p:cNvPicPr/>
            <p:nvPr/>
          </p:nvPicPr>
          <p:blipFill>
            <a:blip>
              <a:extLst>
                <a:ext uri="{96DAC541-7B7A-43D3-8B79-37D633B846F1}">
                  <asvg:svgBlip xmlns:asvg="http://schemas.microsoft.com/office/drawing/2016/SVG/main" r:embed="rId3"/>
                </a:ext>
              </a:extLst>
            </a:blip>
            <a:stretch/>
          </p:blipFill>
          <p:spPr>
            <a:xfrm>
              <a:off x="2242440" y="4167720"/>
              <a:ext cx="502200" cy="502200"/>
            </a:xfrm>
            <a:prstGeom prst="rect">
              <a:avLst/>
            </a:prstGeom>
            <a:ln w="0">
              <a:noFill/>
            </a:ln>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838080" y="365040"/>
            <a:ext cx="11190240" cy="1325160"/>
          </a:xfrm>
          <a:prstGeom prst="rect">
            <a:avLst/>
          </a:prstGeom>
          <a:noFill/>
          <a:ln w="0">
            <a:noFill/>
          </a:ln>
        </p:spPr>
        <p:txBody>
          <a:bodyPr lIns="91440" tIns="45720" rIns="91440" bIns="45720" anchor="ctr">
            <a:normAutofit/>
          </a:bodyPr>
          <a:lstStyle/>
          <a:p>
            <a:pPr indent="0" defTabSz="914400">
              <a:lnSpc>
                <a:spcPct val="90000"/>
              </a:lnSpc>
              <a:buNone/>
            </a:pPr>
            <a:r>
              <a:rPr lang="en-AU" sz="4000" b="0" strike="noStrike" spc="-1">
                <a:solidFill>
                  <a:schemeClr val="accent2">
                    <a:lumMod val="50000"/>
                  </a:schemeClr>
                </a:solidFill>
                <a:latin typeface="Powderfinger Type"/>
              </a:rPr>
              <a:t>What have we done to the Internet?</a:t>
            </a:r>
            <a:endParaRPr lang="en-US" sz="4000" b="0" strike="noStrike" spc="-1">
              <a:solidFill>
                <a:schemeClr val="dk1"/>
              </a:solidFill>
              <a:latin typeface="Calibri"/>
            </a:endParaRPr>
          </a:p>
        </p:txBody>
      </p:sp>
      <p:sp>
        <p:nvSpPr>
          <p:cNvPr id="88" name="PlaceHolder 2"/>
          <p:cNvSpPr>
            <a:spLocks noGrp="1"/>
          </p:cNvSpPr>
          <p:nvPr>
            <p:ph/>
          </p:nvPr>
        </p:nvSpPr>
        <p:spPr>
          <a:xfrm>
            <a:off x="838080" y="1859040"/>
            <a:ext cx="10515240" cy="43509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AU" sz="2800" b="0" strike="noStrike" spc="-1">
                <a:solidFill>
                  <a:schemeClr val="dk1"/>
                </a:solidFill>
                <a:latin typeface="Calibri"/>
              </a:rPr>
              <a:t>More than 90% of all Internet traffic uses encrypted payloads</a:t>
            </a:r>
            <a:endParaRPr lang="en-US" sz="2800" b="0" strike="noStrike" spc="-1">
              <a:solidFill>
                <a:schemeClr val="dk1"/>
              </a:solidFill>
              <a:latin typeface="Calibri"/>
            </a:endParaRPr>
          </a:p>
          <a:p>
            <a:pPr indent="0" defTabSz="914400">
              <a:lnSpc>
                <a:spcPct val="90000"/>
              </a:lnSpc>
              <a:spcBef>
                <a:spcPts val="1001"/>
              </a:spcBef>
              <a:buNone/>
              <a:tabLst>
                <a:tab pos="0" algn="l"/>
              </a:tabLst>
            </a:pPr>
            <a:r>
              <a:rPr lang="en-AU" sz="2800" b="0" strike="noStrike" spc="-1">
                <a:solidFill>
                  <a:schemeClr val="dk1"/>
                </a:solidFill>
                <a:latin typeface="Calibri"/>
              </a:rPr>
              <a:t>More than 70% of all Internet traffic is sourced from Cloud servers</a:t>
            </a:r>
            <a:endParaRPr lang="en-US" sz="2800" b="0" strike="noStrike" spc="-1">
              <a:solidFill>
                <a:schemeClr val="dk1"/>
              </a:solidFill>
              <a:latin typeface="Calibri"/>
            </a:endParaRPr>
          </a:p>
          <a:p>
            <a:pPr indent="0" defTabSz="914400">
              <a:lnSpc>
                <a:spcPct val="90000"/>
              </a:lnSpc>
              <a:spcBef>
                <a:spcPts val="1001"/>
              </a:spcBef>
              <a:buNone/>
              <a:tabLst>
                <a:tab pos="0" algn="l"/>
              </a:tabLst>
            </a:pPr>
            <a:endParaRPr lang="en-US" sz="2800" b="0" strike="noStrike" spc="-1">
              <a:solidFill>
                <a:schemeClr val="dk1"/>
              </a:solidFill>
              <a:latin typeface="Calibri"/>
            </a:endParaRPr>
          </a:p>
          <a:p>
            <a:pPr indent="0" defTabSz="914400">
              <a:lnSpc>
                <a:spcPct val="90000"/>
              </a:lnSpc>
              <a:spcBef>
                <a:spcPts val="1001"/>
              </a:spcBef>
              <a:buNone/>
              <a:tabLst>
                <a:tab pos="0" algn="l"/>
              </a:tabLst>
            </a:pPr>
            <a:endParaRPr lang="en-US" sz="2800" b="0" strike="noStrike" spc="-1">
              <a:solidFill>
                <a:schemeClr val="dk1"/>
              </a:solidFill>
              <a:latin typeface="Calibri"/>
            </a:endParaRPr>
          </a:p>
          <a:p>
            <a:pPr indent="0" defTabSz="914400">
              <a:lnSpc>
                <a:spcPct val="90000"/>
              </a:lnSpc>
              <a:spcBef>
                <a:spcPts val="1001"/>
              </a:spcBef>
              <a:buNone/>
              <a:tabLst>
                <a:tab pos="0" algn="l"/>
              </a:tabLst>
            </a:pPr>
            <a:endParaRPr lang="en-US" sz="2800" b="0" strike="noStrike" spc="-1">
              <a:solidFill>
                <a:schemeClr val="dk1"/>
              </a:solidFill>
              <a:latin typeface="Calibri"/>
            </a:endParaRPr>
          </a:p>
          <a:p>
            <a:pPr indent="0" defTabSz="914400">
              <a:lnSpc>
                <a:spcPct val="90000"/>
              </a:lnSpc>
              <a:spcBef>
                <a:spcPts val="1001"/>
              </a:spcBef>
              <a:buNone/>
              <a:tabLst>
                <a:tab pos="0" algn="l"/>
              </a:tabLst>
            </a:pPr>
            <a:endParaRPr lang="en-US" sz="2800" b="0" strike="noStrike" spc="-1">
              <a:solidFill>
                <a:schemeClr val="dk1"/>
              </a:solidFill>
              <a:latin typeface="Calibri"/>
            </a:endParaRPr>
          </a:p>
          <a:p>
            <a:pPr indent="0" defTabSz="914400">
              <a:lnSpc>
                <a:spcPct val="90000"/>
              </a:lnSpc>
              <a:spcBef>
                <a:spcPts val="1001"/>
              </a:spcBef>
              <a:buNone/>
              <a:tabLst>
                <a:tab pos="0" algn="l"/>
              </a:tabLst>
            </a:pPr>
            <a:endParaRPr lang="en-US" sz="2800" b="0" strike="noStrike" spc="-1">
              <a:solidFill>
                <a:schemeClr val="dk1"/>
              </a:solidFill>
              <a:latin typeface="Calibri"/>
            </a:endParaRPr>
          </a:p>
        </p:txBody>
      </p:sp>
      <p:grpSp>
        <p:nvGrpSpPr>
          <p:cNvPr id="89" name="Group 9"/>
          <p:cNvGrpSpPr/>
          <p:nvPr/>
        </p:nvGrpSpPr>
        <p:grpSpPr>
          <a:xfrm>
            <a:off x="1681920" y="3610800"/>
            <a:ext cx="1658520" cy="1651680"/>
            <a:chOff x="1681920" y="3610800"/>
            <a:chExt cx="1658520" cy="1651680"/>
          </a:xfrm>
        </p:grpSpPr>
        <p:pic>
          <p:nvPicPr>
            <p:cNvPr id="90" name="Picture 5"/>
            <p:cNvPicPr/>
            <p:nvPr/>
          </p:nvPicPr>
          <p:blipFill>
            <a:blip r:embed="rId2"/>
            <a:stretch/>
          </p:blipFill>
          <p:spPr>
            <a:xfrm>
              <a:off x="1681920" y="3610800"/>
              <a:ext cx="1658520" cy="1651680"/>
            </a:xfrm>
            <a:prstGeom prst="rect">
              <a:avLst/>
            </a:prstGeom>
            <a:ln w="0">
              <a:noFill/>
            </a:ln>
          </p:spPr>
        </p:pic>
        <p:sp>
          <p:nvSpPr>
            <p:cNvPr id="91" name="Oval 6"/>
            <p:cNvSpPr/>
            <p:nvPr/>
          </p:nvSpPr>
          <p:spPr>
            <a:xfrm>
              <a:off x="2082600" y="3982320"/>
              <a:ext cx="857520" cy="85752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AU" sz="1800" b="0" strike="noStrike" spc="-1">
                <a:solidFill>
                  <a:schemeClr val="lt1"/>
                </a:solidFill>
                <a:latin typeface="Calibri"/>
              </a:endParaRPr>
            </a:p>
          </p:txBody>
        </p:sp>
        <p:pic>
          <p:nvPicPr>
            <p:cNvPr id="92" name="Graphic 8" descr="Lock with solid fill"/>
            <p:cNvPicPr/>
            <p:nvPr/>
          </p:nvPicPr>
          <p:blipFill>
            <a:blip>
              <a:extLst>
                <a:ext uri="{96DAC541-7B7A-43D3-8B79-37D633B846F1}">
                  <asvg:svgBlip xmlns:asvg="http://schemas.microsoft.com/office/drawing/2016/SVG/main" r:embed="rId3"/>
                </a:ext>
              </a:extLst>
            </a:blip>
            <a:stretch/>
          </p:blipFill>
          <p:spPr>
            <a:xfrm>
              <a:off x="2242440" y="4167720"/>
              <a:ext cx="502200" cy="502200"/>
            </a:xfrm>
            <a:prstGeom prst="rect">
              <a:avLst/>
            </a:prstGeom>
            <a:ln w="0">
              <a:noFill/>
            </a:ln>
          </p:spPr>
        </p:pic>
      </p:grpSp>
      <p:grpSp>
        <p:nvGrpSpPr>
          <p:cNvPr id="93" name="Group 15"/>
          <p:cNvGrpSpPr/>
          <p:nvPr/>
        </p:nvGrpSpPr>
        <p:grpSpPr>
          <a:xfrm>
            <a:off x="4192200" y="3610800"/>
            <a:ext cx="1752840" cy="1651680"/>
            <a:chOff x="4192200" y="3610800"/>
            <a:chExt cx="1752840" cy="1651680"/>
          </a:xfrm>
        </p:grpSpPr>
        <p:pic>
          <p:nvPicPr>
            <p:cNvPr id="94" name="Picture 11"/>
            <p:cNvPicPr/>
            <p:nvPr/>
          </p:nvPicPr>
          <p:blipFill>
            <a:blip r:embed="rId4"/>
            <a:stretch/>
          </p:blipFill>
          <p:spPr>
            <a:xfrm>
              <a:off x="4192200" y="3610800"/>
              <a:ext cx="1752840" cy="1651680"/>
            </a:xfrm>
            <a:prstGeom prst="rect">
              <a:avLst/>
            </a:prstGeom>
            <a:ln w="0">
              <a:noFill/>
            </a:ln>
          </p:spPr>
        </p:pic>
        <p:sp>
          <p:nvSpPr>
            <p:cNvPr id="95" name="Oval 12"/>
            <p:cNvSpPr/>
            <p:nvPr/>
          </p:nvSpPr>
          <p:spPr>
            <a:xfrm>
              <a:off x="4606200" y="3947760"/>
              <a:ext cx="957960" cy="95796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AU" sz="1800" b="0" strike="noStrike" spc="-1">
                <a:solidFill>
                  <a:schemeClr val="lt1"/>
                </a:solidFill>
                <a:latin typeface="Calibri"/>
              </a:endParaRPr>
            </a:p>
          </p:txBody>
        </p:sp>
        <p:pic>
          <p:nvPicPr>
            <p:cNvPr id="96" name="Graphic 14" descr="Cloud with solid fill"/>
            <p:cNvPicPr/>
            <p:nvPr/>
          </p:nvPicPr>
          <p:blipFill>
            <a:blip>
              <a:extLst>
                <a:ext uri="{96DAC541-7B7A-43D3-8B79-37D633B846F1}">
                  <asvg:svgBlip xmlns:asvg="http://schemas.microsoft.com/office/drawing/2016/SVG/main" r:embed="rId5"/>
                </a:ext>
              </a:extLst>
            </a:blip>
            <a:stretch/>
          </p:blipFill>
          <p:spPr>
            <a:xfrm>
              <a:off x="4851360" y="4134960"/>
              <a:ext cx="467640" cy="467640"/>
            </a:xfrm>
            <a:prstGeom prst="rect">
              <a:avLst/>
            </a:prstGeom>
            <a:ln w="0">
              <a:noFill/>
            </a:ln>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838080" y="365040"/>
            <a:ext cx="11190240" cy="1325160"/>
          </a:xfrm>
          <a:prstGeom prst="rect">
            <a:avLst/>
          </a:prstGeom>
          <a:noFill/>
          <a:ln w="0">
            <a:noFill/>
          </a:ln>
        </p:spPr>
        <p:txBody>
          <a:bodyPr lIns="91440" tIns="45720" rIns="91440" bIns="45720" anchor="ctr">
            <a:normAutofit/>
          </a:bodyPr>
          <a:lstStyle/>
          <a:p>
            <a:pPr indent="0" defTabSz="914400">
              <a:lnSpc>
                <a:spcPct val="90000"/>
              </a:lnSpc>
              <a:buNone/>
            </a:pPr>
            <a:r>
              <a:rPr lang="en-AU" sz="4000" b="0" strike="noStrike" spc="-1">
                <a:solidFill>
                  <a:schemeClr val="accent2">
                    <a:lumMod val="50000"/>
                  </a:schemeClr>
                </a:solidFill>
                <a:latin typeface="Powderfinger Type"/>
              </a:rPr>
              <a:t>What have we done to the Internet?</a:t>
            </a:r>
            <a:endParaRPr lang="en-US" sz="4000" b="0" strike="noStrike" spc="-1">
              <a:solidFill>
                <a:schemeClr val="dk1"/>
              </a:solidFill>
              <a:latin typeface="Calibri"/>
            </a:endParaRPr>
          </a:p>
        </p:txBody>
      </p:sp>
      <p:sp>
        <p:nvSpPr>
          <p:cNvPr id="98" name="PlaceHolder 2"/>
          <p:cNvSpPr>
            <a:spLocks noGrp="1"/>
          </p:cNvSpPr>
          <p:nvPr>
            <p:ph/>
          </p:nvPr>
        </p:nvSpPr>
        <p:spPr>
          <a:xfrm>
            <a:off x="838080" y="1859040"/>
            <a:ext cx="10515240" cy="43509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AU" sz="2800" b="0" strike="noStrike" spc="-1">
                <a:solidFill>
                  <a:schemeClr val="dk1"/>
                </a:solidFill>
                <a:latin typeface="Calibri"/>
              </a:rPr>
              <a:t>More than 90% of all Internet traffic uses encrypted payloads</a:t>
            </a:r>
            <a:endParaRPr lang="en-US" sz="2800" b="0" strike="noStrike" spc="-1">
              <a:solidFill>
                <a:schemeClr val="dk1"/>
              </a:solidFill>
              <a:latin typeface="Calibri"/>
            </a:endParaRPr>
          </a:p>
          <a:p>
            <a:pPr indent="0" defTabSz="914400">
              <a:lnSpc>
                <a:spcPct val="90000"/>
              </a:lnSpc>
              <a:spcBef>
                <a:spcPts val="1001"/>
              </a:spcBef>
              <a:buNone/>
              <a:tabLst>
                <a:tab pos="0" algn="l"/>
              </a:tabLst>
            </a:pPr>
            <a:r>
              <a:rPr lang="en-AU" sz="2800" b="0" strike="noStrike" spc="-1">
                <a:solidFill>
                  <a:schemeClr val="dk1"/>
                </a:solidFill>
                <a:latin typeface="Calibri"/>
              </a:rPr>
              <a:t>More than 70% of all Internet traffic is sourced from Cloud servers</a:t>
            </a:r>
            <a:endParaRPr lang="en-US" sz="2800" b="0" strike="noStrike" spc="-1">
              <a:solidFill>
                <a:schemeClr val="dk1"/>
              </a:solidFill>
              <a:latin typeface="Calibri"/>
            </a:endParaRPr>
          </a:p>
          <a:p>
            <a:pPr indent="0" defTabSz="914400">
              <a:lnSpc>
                <a:spcPct val="90000"/>
              </a:lnSpc>
              <a:spcBef>
                <a:spcPts val="1001"/>
              </a:spcBef>
              <a:buNone/>
              <a:tabLst>
                <a:tab pos="0" algn="l"/>
              </a:tabLst>
            </a:pPr>
            <a:r>
              <a:rPr lang="en-AU" sz="2800" b="0" strike="noStrike" spc="-1">
                <a:solidFill>
                  <a:schemeClr val="dk1"/>
                </a:solidFill>
                <a:latin typeface="Calibri"/>
              </a:rPr>
              <a:t>More than 20% of all traffic by volume uses QUIC</a:t>
            </a:r>
            <a:endParaRPr lang="en-US" sz="2800" b="0" strike="noStrike" spc="-1">
              <a:solidFill>
                <a:schemeClr val="dk1"/>
              </a:solidFill>
              <a:latin typeface="Calibri"/>
            </a:endParaRPr>
          </a:p>
          <a:p>
            <a:pPr indent="0" defTabSz="914400">
              <a:lnSpc>
                <a:spcPct val="90000"/>
              </a:lnSpc>
              <a:spcBef>
                <a:spcPts val="1001"/>
              </a:spcBef>
              <a:buNone/>
              <a:tabLst>
                <a:tab pos="0" algn="l"/>
              </a:tabLst>
            </a:pPr>
            <a:endParaRPr lang="en-US" sz="2800" b="0" strike="noStrike" spc="-1">
              <a:solidFill>
                <a:schemeClr val="dk1"/>
              </a:solidFill>
              <a:latin typeface="Calibri"/>
            </a:endParaRPr>
          </a:p>
          <a:p>
            <a:pPr indent="0" defTabSz="914400">
              <a:lnSpc>
                <a:spcPct val="90000"/>
              </a:lnSpc>
              <a:spcBef>
                <a:spcPts val="1001"/>
              </a:spcBef>
              <a:buNone/>
              <a:tabLst>
                <a:tab pos="0" algn="l"/>
              </a:tabLst>
            </a:pPr>
            <a:endParaRPr lang="en-US" sz="2800" b="0" strike="noStrike" spc="-1">
              <a:solidFill>
                <a:schemeClr val="dk1"/>
              </a:solidFill>
              <a:latin typeface="Calibri"/>
            </a:endParaRPr>
          </a:p>
          <a:p>
            <a:pPr indent="0" defTabSz="914400">
              <a:lnSpc>
                <a:spcPct val="90000"/>
              </a:lnSpc>
              <a:spcBef>
                <a:spcPts val="1001"/>
              </a:spcBef>
              <a:buNone/>
              <a:tabLst>
                <a:tab pos="0" algn="l"/>
              </a:tabLst>
            </a:pPr>
            <a:endParaRPr lang="en-US" sz="2800" b="0" strike="noStrike" spc="-1">
              <a:solidFill>
                <a:schemeClr val="dk1"/>
              </a:solidFill>
              <a:latin typeface="Calibri"/>
            </a:endParaRPr>
          </a:p>
          <a:p>
            <a:pPr indent="0" defTabSz="914400">
              <a:lnSpc>
                <a:spcPct val="90000"/>
              </a:lnSpc>
              <a:spcBef>
                <a:spcPts val="1001"/>
              </a:spcBef>
              <a:buNone/>
              <a:tabLst>
                <a:tab pos="0" algn="l"/>
              </a:tabLst>
            </a:pPr>
            <a:endParaRPr lang="en-US" sz="2800" b="0" strike="noStrike" spc="-1">
              <a:solidFill>
                <a:schemeClr val="dk1"/>
              </a:solidFill>
              <a:latin typeface="Calibri"/>
            </a:endParaRPr>
          </a:p>
        </p:txBody>
      </p:sp>
      <p:sp>
        <p:nvSpPr>
          <p:cNvPr id="99" name="TextBox 3"/>
          <p:cNvSpPr/>
          <p:nvPr/>
        </p:nvSpPr>
        <p:spPr>
          <a:xfrm>
            <a:off x="6143400" y="6492960"/>
            <a:ext cx="6022440" cy="2574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AU" sz="1100" b="0" strike="noStrike" spc="-1">
                <a:solidFill>
                  <a:schemeClr val="dk1"/>
                </a:solidFill>
                <a:latin typeface="Calibri"/>
              </a:rPr>
              <a:t>* https://ripe86.ripe.net/wp-content/uploads/presentations/49-The_New_Encyrpyted_Stack_RIPE.pdf</a:t>
            </a:r>
            <a:endParaRPr lang="en-US" sz="1100" b="0" strike="noStrike" spc="-1">
              <a:solidFill>
                <a:srgbClr val="000000"/>
              </a:solidFill>
              <a:latin typeface="Arial"/>
            </a:endParaRPr>
          </a:p>
        </p:txBody>
      </p:sp>
      <p:grpSp>
        <p:nvGrpSpPr>
          <p:cNvPr id="100" name="Group 9"/>
          <p:cNvGrpSpPr/>
          <p:nvPr/>
        </p:nvGrpSpPr>
        <p:grpSpPr>
          <a:xfrm>
            <a:off x="1681920" y="3610800"/>
            <a:ext cx="1658520" cy="1651680"/>
            <a:chOff x="1681920" y="3610800"/>
            <a:chExt cx="1658520" cy="1651680"/>
          </a:xfrm>
        </p:grpSpPr>
        <p:pic>
          <p:nvPicPr>
            <p:cNvPr id="101" name="Picture 5"/>
            <p:cNvPicPr/>
            <p:nvPr/>
          </p:nvPicPr>
          <p:blipFill>
            <a:blip r:embed="rId2"/>
            <a:stretch/>
          </p:blipFill>
          <p:spPr>
            <a:xfrm>
              <a:off x="1681920" y="3610800"/>
              <a:ext cx="1658520" cy="1651680"/>
            </a:xfrm>
            <a:prstGeom prst="rect">
              <a:avLst/>
            </a:prstGeom>
            <a:ln w="0">
              <a:noFill/>
            </a:ln>
          </p:spPr>
        </p:pic>
        <p:sp>
          <p:nvSpPr>
            <p:cNvPr id="102" name="Oval 6"/>
            <p:cNvSpPr/>
            <p:nvPr/>
          </p:nvSpPr>
          <p:spPr>
            <a:xfrm>
              <a:off x="2082600" y="3982320"/>
              <a:ext cx="857520" cy="85752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AU" sz="1800" b="0" strike="noStrike" spc="-1">
                <a:solidFill>
                  <a:schemeClr val="lt1"/>
                </a:solidFill>
                <a:latin typeface="Calibri"/>
              </a:endParaRPr>
            </a:p>
          </p:txBody>
        </p:sp>
        <p:pic>
          <p:nvPicPr>
            <p:cNvPr id="103" name="Graphic 8" descr="Lock with solid fill"/>
            <p:cNvPicPr/>
            <p:nvPr/>
          </p:nvPicPr>
          <p:blipFill>
            <a:blip>
              <a:extLst>
                <a:ext uri="{96DAC541-7B7A-43D3-8B79-37D633B846F1}">
                  <asvg:svgBlip xmlns:asvg="http://schemas.microsoft.com/office/drawing/2016/SVG/main" r:embed="rId3"/>
                </a:ext>
              </a:extLst>
            </a:blip>
            <a:stretch/>
          </p:blipFill>
          <p:spPr>
            <a:xfrm>
              <a:off x="2242440" y="4167720"/>
              <a:ext cx="502200" cy="502200"/>
            </a:xfrm>
            <a:prstGeom prst="rect">
              <a:avLst/>
            </a:prstGeom>
            <a:ln w="0">
              <a:noFill/>
            </a:ln>
          </p:spPr>
        </p:pic>
      </p:grpSp>
      <p:grpSp>
        <p:nvGrpSpPr>
          <p:cNvPr id="104" name="Group 15"/>
          <p:cNvGrpSpPr/>
          <p:nvPr/>
        </p:nvGrpSpPr>
        <p:grpSpPr>
          <a:xfrm>
            <a:off x="4192200" y="3610800"/>
            <a:ext cx="1752840" cy="1651680"/>
            <a:chOff x="4192200" y="3610800"/>
            <a:chExt cx="1752840" cy="1651680"/>
          </a:xfrm>
        </p:grpSpPr>
        <p:pic>
          <p:nvPicPr>
            <p:cNvPr id="105" name="Picture 11"/>
            <p:cNvPicPr/>
            <p:nvPr/>
          </p:nvPicPr>
          <p:blipFill>
            <a:blip r:embed="rId4"/>
            <a:stretch/>
          </p:blipFill>
          <p:spPr>
            <a:xfrm>
              <a:off x="4192200" y="3610800"/>
              <a:ext cx="1752840" cy="1651680"/>
            </a:xfrm>
            <a:prstGeom prst="rect">
              <a:avLst/>
            </a:prstGeom>
            <a:ln w="0">
              <a:noFill/>
            </a:ln>
          </p:spPr>
        </p:pic>
        <p:sp>
          <p:nvSpPr>
            <p:cNvPr id="106" name="Oval 12"/>
            <p:cNvSpPr/>
            <p:nvPr/>
          </p:nvSpPr>
          <p:spPr>
            <a:xfrm>
              <a:off x="4606200" y="3947760"/>
              <a:ext cx="957960" cy="95796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AU" sz="1800" b="0" strike="noStrike" spc="-1">
                <a:solidFill>
                  <a:schemeClr val="lt1"/>
                </a:solidFill>
                <a:latin typeface="Calibri"/>
              </a:endParaRPr>
            </a:p>
          </p:txBody>
        </p:sp>
        <p:pic>
          <p:nvPicPr>
            <p:cNvPr id="107" name="Graphic 14" descr="Cloud with solid fill"/>
            <p:cNvPicPr/>
            <p:nvPr/>
          </p:nvPicPr>
          <p:blipFill>
            <a:blip>
              <a:extLst>
                <a:ext uri="{96DAC541-7B7A-43D3-8B79-37D633B846F1}">
                  <asvg:svgBlip xmlns:asvg="http://schemas.microsoft.com/office/drawing/2016/SVG/main" r:embed="rId5"/>
                </a:ext>
              </a:extLst>
            </a:blip>
            <a:stretch/>
          </p:blipFill>
          <p:spPr>
            <a:xfrm>
              <a:off x="4851360" y="4134960"/>
              <a:ext cx="467640" cy="467640"/>
            </a:xfrm>
            <a:prstGeom prst="rect">
              <a:avLst/>
            </a:prstGeom>
            <a:ln w="0">
              <a:noFill/>
            </a:ln>
          </p:spPr>
        </p:pic>
      </p:grpSp>
      <p:grpSp>
        <p:nvGrpSpPr>
          <p:cNvPr id="108" name="Group 19"/>
          <p:cNvGrpSpPr/>
          <p:nvPr/>
        </p:nvGrpSpPr>
        <p:grpSpPr>
          <a:xfrm>
            <a:off x="6713280" y="3445560"/>
            <a:ext cx="1754280" cy="1816560"/>
            <a:chOff x="6713280" y="3445560"/>
            <a:chExt cx="1754280" cy="1816560"/>
          </a:xfrm>
        </p:grpSpPr>
        <p:pic>
          <p:nvPicPr>
            <p:cNvPr id="109" name="Picture 17"/>
            <p:cNvPicPr/>
            <p:nvPr/>
          </p:nvPicPr>
          <p:blipFill>
            <a:blip r:embed="rId6"/>
            <a:stretch/>
          </p:blipFill>
          <p:spPr>
            <a:xfrm>
              <a:off x="6713280" y="3445560"/>
              <a:ext cx="1754280" cy="1816560"/>
            </a:xfrm>
            <a:prstGeom prst="rect">
              <a:avLst/>
            </a:prstGeom>
            <a:ln w="0">
              <a:noFill/>
            </a:ln>
          </p:spPr>
        </p:pic>
        <p:sp>
          <p:nvSpPr>
            <p:cNvPr id="110" name="Oval 18"/>
            <p:cNvSpPr/>
            <p:nvPr/>
          </p:nvSpPr>
          <p:spPr>
            <a:xfrm>
              <a:off x="7083720" y="3847320"/>
              <a:ext cx="1032840" cy="10216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AU" sz="4400" b="1" strike="noStrike" spc="-1">
                  <a:solidFill>
                    <a:schemeClr val="dk1"/>
                  </a:solidFill>
                  <a:latin typeface="Calibri"/>
                </a:rPr>
                <a:t>Q</a:t>
              </a:r>
              <a:endParaRPr lang="en-US" sz="4400" b="0" strike="noStrike" spc="-1">
                <a:solidFill>
                  <a:srgbClr val="000000"/>
                </a:solidFill>
                <a:latin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838080" y="365040"/>
            <a:ext cx="11190240" cy="1325160"/>
          </a:xfrm>
          <a:prstGeom prst="rect">
            <a:avLst/>
          </a:prstGeom>
          <a:noFill/>
          <a:ln w="0">
            <a:noFill/>
          </a:ln>
        </p:spPr>
        <p:txBody>
          <a:bodyPr lIns="91440" tIns="45720" rIns="91440" bIns="45720" anchor="ctr">
            <a:normAutofit/>
          </a:bodyPr>
          <a:lstStyle/>
          <a:p>
            <a:pPr indent="0" defTabSz="914400">
              <a:lnSpc>
                <a:spcPct val="90000"/>
              </a:lnSpc>
              <a:buNone/>
            </a:pPr>
            <a:r>
              <a:rPr lang="en-AU" sz="4000" b="0" strike="noStrike" spc="-1">
                <a:solidFill>
                  <a:schemeClr val="accent2">
                    <a:lumMod val="50000"/>
                  </a:schemeClr>
                </a:solidFill>
                <a:latin typeface="Powderfinger Type"/>
              </a:rPr>
              <a:t>What have we done to the Internet?</a:t>
            </a:r>
            <a:endParaRPr lang="en-US" sz="4000" b="0" strike="noStrike" spc="-1">
              <a:solidFill>
                <a:schemeClr val="dk1"/>
              </a:solidFill>
              <a:latin typeface="Calibri"/>
            </a:endParaRPr>
          </a:p>
        </p:txBody>
      </p:sp>
      <p:sp>
        <p:nvSpPr>
          <p:cNvPr id="112" name="PlaceHolder 2"/>
          <p:cNvSpPr>
            <a:spLocks noGrp="1"/>
          </p:cNvSpPr>
          <p:nvPr>
            <p:ph/>
          </p:nvPr>
        </p:nvSpPr>
        <p:spPr>
          <a:xfrm>
            <a:off x="838080" y="1859040"/>
            <a:ext cx="10515240" cy="43509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AU" sz="2800" b="0" strike="noStrike" spc="-1">
                <a:solidFill>
                  <a:schemeClr val="dk1"/>
                </a:solidFill>
                <a:latin typeface="Calibri"/>
              </a:rPr>
              <a:t>More than 90% of all Internet traffic uses encrypted payloads</a:t>
            </a:r>
            <a:endParaRPr lang="en-US" sz="2800" b="0" strike="noStrike" spc="-1">
              <a:solidFill>
                <a:schemeClr val="dk1"/>
              </a:solidFill>
              <a:latin typeface="Calibri"/>
            </a:endParaRPr>
          </a:p>
          <a:p>
            <a:pPr indent="0" defTabSz="914400">
              <a:lnSpc>
                <a:spcPct val="90000"/>
              </a:lnSpc>
              <a:spcBef>
                <a:spcPts val="1001"/>
              </a:spcBef>
              <a:buNone/>
              <a:tabLst>
                <a:tab pos="0" algn="l"/>
              </a:tabLst>
            </a:pPr>
            <a:r>
              <a:rPr lang="en-AU" sz="2800" b="0" strike="noStrike" spc="-1">
                <a:solidFill>
                  <a:schemeClr val="dk1"/>
                </a:solidFill>
                <a:latin typeface="Calibri"/>
              </a:rPr>
              <a:t>More than 70% of all Internet traffic is sourced from Cloud servers</a:t>
            </a:r>
            <a:endParaRPr lang="en-US" sz="2800" b="0" strike="noStrike" spc="-1">
              <a:solidFill>
                <a:schemeClr val="dk1"/>
              </a:solidFill>
              <a:latin typeface="Calibri"/>
            </a:endParaRPr>
          </a:p>
          <a:p>
            <a:pPr indent="0" defTabSz="914400">
              <a:lnSpc>
                <a:spcPct val="90000"/>
              </a:lnSpc>
              <a:spcBef>
                <a:spcPts val="1001"/>
              </a:spcBef>
              <a:buNone/>
              <a:tabLst>
                <a:tab pos="0" algn="l"/>
              </a:tabLst>
            </a:pPr>
            <a:r>
              <a:rPr lang="en-AU" sz="2800" b="0" strike="noStrike" spc="-1">
                <a:solidFill>
                  <a:schemeClr val="dk1"/>
                </a:solidFill>
                <a:latin typeface="Calibri"/>
              </a:rPr>
              <a:t>More than 20% of all traffic by volume uses QUIC</a:t>
            </a:r>
            <a:endParaRPr lang="en-US" sz="2800" b="0" strike="noStrike" spc="-1">
              <a:solidFill>
                <a:schemeClr val="dk1"/>
              </a:solidFill>
              <a:latin typeface="Calibri"/>
            </a:endParaRPr>
          </a:p>
          <a:p>
            <a:pPr indent="0" defTabSz="914400">
              <a:lnSpc>
                <a:spcPct val="90000"/>
              </a:lnSpc>
              <a:spcBef>
                <a:spcPts val="1001"/>
              </a:spcBef>
              <a:buNone/>
              <a:tabLst>
                <a:tab pos="0" algn="l"/>
              </a:tabLst>
            </a:pPr>
            <a:endParaRPr lang="en-US" sz="2800" b="0" strike="noStrike" spc="-1">
              <a:solidFill>
                <a:schemeClr val="dk1"/>
              </a:solidFill>
              <a:latin typeface="Calibri"/>
            </a:endParaRPr>
          </a:p>
          <a:p>
            <a:pPr indent="0" defTabSz="914400">
              <a:lnSpc>
                <a:spcPct val="90000"/>
              </a:lnSpc>
              <a:spcBef>
                <a:spcPts val="1001"/>
              </a:spcBef>
              <a:buNone/>
              <a:tabLst>
                <a:tab pos="0" algn="l"/>
              </a:tabLst>
            </a:pPr>
            <a:endParaRPr lang="en-US" sz="2800" b="0" strike="noStrike" spc="-1">
              <a:solidFill>
                <a:schemeClr val="dk1"/>
              </a:solidFill>
              <a:latin typeface="Calibri"/>
            </a:endParaRPr>
          </a:p>
          <a:p>
            <a:pPr indent="0" defTabSz="914400">
              <a:lnSpc>
                <a:spcPct val="90000"/>
              </a:lnSpc>
              <a:spcBef>
                <a:spcPts val="1001"/>
              </a:spcBef>
              <a:buNone/>
              <a:tabLst>
                <a:tab pos="0" algn="l"/>
              </a:tabLst>
            </a:pPr>
            <a:endParaRPr lang="en-US" sz="2800" b="0" strike="noStrike" spc="-1">
              <a:solidFill>
                <a:schemeClr val="dk1"/>
              </a:solidFill>
              <a:latin typeface="Calibri"/>
            </a:endParaRPr>
          </a:p>
          <a:p>
            <a:pPr indent="0" defTabSz="914400">
              <a:lnSpc>
                <a:spcPct val="90000"/>
              </a:lnSpc>
              <a:spcBef>
                <a:spcPts val="1001"/>
              </a:spcBef>
              <a:buNone/>
              <a:tabLst>
                <a:tab pos="0" algn="l"/>
              </a:tabLst>
            </a:pPr>
            <a:endParaRPr lang="en-US" sz="2800" b="0" strike="noStrike" spc="-1">
              <a:solidFill>
                <a:schemeClr val="dk1"/>
              </a:solidFill>
              <a:latin typeface="Calibri"/>
            </a:endParaRPr>
          </a:p>
          <a:p>
            <a:pPr indent="0" defTabSz="914400">
              <a:lnSpc>
                <a:spcPct val="90000"/>
              </a:lnSpc>
              <a:spcBef>
                <a:spcPts val="1001"/>
              </a:spcBef>
              <a:buNone/>
              <a:tabLst>
                <a:tab pos="0" algn="l"/>
              </a:tabLst>
            </a:pPr>
            <a:r>
              <a:rPr lang="en-AU" sz="2800" b="0" strike="noStrike" spc="-1">
                <a:solidFill>
                  <a:schemeClr val="dk1"/>
                </a:solidFill>
                <a:latin typeface="Calibri"/>
              </a:rPr>
              <a:t>Whatever is happening to TCP on the Internet?</a:t>
            </a:r>
            <a:endParaRPr lang="en-US" sz="2800" b="0" strike="noStrike" spc="-1">
              <a:solidFill>
                <a:schemeClr val="dk1"/>
              </a:solidFill>
              <a:latin typeface="Calibri"/>
            </a:endParaRPr>
          </a:p>
        </p:txBody>
      </p:sp>
      <p:sp>
        <p:nvSpPr>
          <p:cNvPr id="113" name="TextBox 3"/>
          <p:cNvSpPr/>
          <p:nvPr/>
        </p:nvSpPr>
        <p:spPr>
          <a:xfrm>
            <a:off x="6143400" y="6492960"/>
            <a:ext cx="6022440" cy="2574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AU" sz="1100" b="0" strike="noStrike" spc="-1">
                <a:solidFill>
                  <a:schemeClr val="dk1"/>
                </a:solidFill>
                <a:latin typeface="Calibri"/>
              </a:rPr>
              <a:t>* https://ripe86.ripe.net/wp-content/uploads/presentations/49-The_New_Encyrpyted_Stack_RIPE.pdf</a:t>
            </a:r>
            <a:endParaRPr lang="en-US" sz="1100" b="0" strike="noStrike" spc="-1">
              <a:solidFill>
                <a:srgbClr val="000000"/>
              </a:solidFill>
              <a:latin typeface="Arial"/>
            </a:endParaRPr>
          </a:p>
        </p:txBody>
      </p:sp>
      <p:grpSp>
        <p:nvGrpSpPr>
          <p:cNvPr id="114" name="Group 9"/>
          <p:cNvGrpSpPr/>
          <p:nvPr/>
        </p:nvGrpSpPr>
        <p:grpSpPr>
          <a:xfrm>
            <a:off x="1681920" y="3610800"/>
            <a:ext cx="1658520" cy="1651680"/>
            <a:chOff x="1681920" y="3610800"/>
            <a:chExt cx="1658520" cy="1651680"/>
          </a:xfrm>
        </p:grpSpPr>
        <p:pic>
          <p:nvPicPr>
            <p:cNvPr id="115" name="Picture 5"/>
            <p:cNvPicPr/>
            <p:nvPr/>
          </p:nvPicPr>
          <p:blipFill>
            <a:blip r:embed="rId2"/>
            <a:stretch/>
          </p:blipFill>
          <p:spPr>
            <a:xfrm>
              <a:off x="1681920" y="3610800"/>
              <a:ext cx="1658520" cy="1651680"/>
            </a:xfrm>
            <a:prstGeom prst="rect">
              <a:avLst/>
            </a:prstGeom>
            <a:ln w="0">
              <a:noFill/>
            </a:ln>
          </p:spPr>
        </p:pic>
        <p:sp>
          <p:nvSpPr>
            <p:cNvPr id="116" name="Oval 6"/>
            <p:cNvSpPr/>
            <p:nvPr/>
          </p:nvSpPr>
          <p:spPr>
            <a:xfrm>
              <a:off x="2082600" y="3982320"/>
              <a:ext cx="857520" cy="85752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AU" sz="1800" b="0" strike="noStrike" spc="-1">
                <a:solidFill>
                  <a:schemeClr val="lt1"/>
                </a:solidFill>
                <a:latin typeface="Calibri"/>
              </a:endParaRPr>
            </a:p>
          </p:txBody>
        </p:sp>
        <p:pic>
          <p:nvPicPr>
            <p:cNvPr id="117" name="Graphic 8" descr="Lock with solid fill"/>
            <p:cNvPicPr/>
            <p:nvPr/>
          </p:nvPicPr>
          <p:blipFill>
            <a:blip>
              <a:extLst>
                <a:ext uri="{96DAC541-7B7A-43D3-8B79-37D633B846F1}">
                  <asvg:svgBlip xmlns:asvg="http://schemas.microsoft.com/office/drawing/2016/SVG/main" r:embed="rId3"/>
                </a:ext>
              </a:extLst>
            </a:blip>
            <a:stretch/>
          </p:blipFill>
          <p:spPr>
            <a:xfrm>
              <a:off x="2242440" y="4167720"/>
              <a:ext cx="502200" cy="502200"/>
            </a:xfrm>
            <a:prstGeom prst="rect">
              <a:avLst/>
            </a:prstGeom>
            <a:ln w="0">
              <a:noFill/>
            </a:ln>
          </p:spPr>
        </p:pic>
      </p:grpSp>
      <p:grpSp>
        <p:nvGrpSpPr>
          <p:cNvPr id="118" name="Group 15"/>
          <p:cNvGrpSpPr/>
          <p:nvPr/>
        </p:nvGrpSpPr>
        <p:grpSpPr>
          <a:xfrm>
            <a:off x="4192200" y="3610800"/>
            <a:ext cx="1752840" cy="1651680"/>
            <a:chOff x="4192200" y="3610800"/>
            <a:chExt cx="1752840" cy="1651680"/>
          </a:xfrm>
        </p:grpSpPr>
        <p:pic>
          <p:nvPicPr>
            <p:cNvPr id="119" name="Picture 11"/>
            <p:cNvPicPr/>
            <p:nvPr/>
          </p:nvPicPr>
          <p:blipFill>
            <a:blip r:embed="rId4"/>
            <a:stretch/>
          </p:blipFill>
          <p:spPr>
            <a:xfrm>
              <a:off x="4192200" y="3610800"/>
              <a:ext cx="1752840" cy="1651680"/>
            </a:xfrm>
            <a:prstGeom prst="rect">
              <a:avLst/>
            </a:prstGeom>
            <a:ln w="0">
              <a:noFill/>
            </a:ln>
          </p:spPr>
        </p:pic>
        <p:sp>
          <p:nvSpPr>
            <p:cNvPr id="120" name="Oval 12"/>
            <p:cNvSpPr/>
            <p:nvPr/>
          </p:nvSpPr>
          <p:spPr>
            <a:xfrm>
              <a:off x="4606200" y="3947760"/>
              <a:ext cx="957960" cy="95796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AU" sz="1800" b="0" strike="noStrike" spc="-1">
                <a:solidFill>
                  <a:schemeClr val="lt1"/>
                </a:solidFill>
                <a:latin typeface="Calibri"/>
              </a:endParaRPr>
            </a:p>
          </p:txBody>
        </p:sp>
        <p:pic>
          <p:nvPicPr>
            <p:cNvPr id="121" name="Graphic 14" descr="Cloud with solid fill"/>
            <p:cNvPicPr/>
            <p:nvPr/>
          </p:nvPicPr>
          <p:blipFill>
            <a:blip>
              <a:extLst>
                <a:ext uri="{96DAC541-7B7A-43D3-8B79-37D633B846F1}">
                  <asvg:svgBlip xmlns:asvg="http://schemas.microsoft.com/office/drawing/2016/SVG/main" r:embed="rId5"/>
                </a:ext>
              </a:extLst>
            </a:blip>
            <a:stretch/>
          </p:blipFill>
          <p:spPr>
            <a:xfrm>
              <a:off x="4851360" y="4134960"/>
              <a:ext cx="467640" cy="467640"/>
            </a:xfrm>
            <a:prstGeom prst="rect">
              <a:avLst/>
            </a:prstGeom>
            <a:ln w="0">
              <a:noFill/>
            </a:ln>
          </p:spPr>
        </p:pic>
      </p:grpSp>
      <p:grpSp>
        <p:nvGrpSpPr>
          <p:cNvPr id="122" name="Group 19"/>
          <p:cNvGrpSpPr/>
          <p:nvPr/>
        </p:nvGrpSpPr>
        <p:grpSpPr>
          <a:xfrm>
            <a:off x="6713280" y="3445560"/>
            <a:ext cx="1754280" cy="1816560"/>
            <a:chOff x="6713280" y="3445560"/>
            <a:chExt cx="1754280" cy="1816560"/>
          </a:xfrm>
        </p:grpSpPr>
        <p:pic>
          <p:nvPicPr>
            <p:cNvPr id="123" name="Picture 17"/>
            <p:cNvPicPr/>
            <p:nvPr/>
          </p:nvPicPr>
          <p:blipFill>
            <a:blip r:embed="rId6"/>
            <a:stretch/>
          </p:blipFill>
          <p:spPr>
            <a:xfrm>
              <a:off x="6713280" y="3445560"/>
              <a:ext cx="1754280" cy="1816560"/>
            </a:xfrm>
            <a:prstGeom prst="rect">
              <a:avLst/>
            </a:prstGeom>
            <a:ln w="0">
              <a:noFill/>
            </a:ln>
          </p:spPr>
        </p:pic>
        <p:sp>
          <p:nvSpPr>
            <p:cNvPr id="124" name="Oval 18"/>
            <p:cNvSpPr/>
            <p:nvPr/>
          </p:nvSpPr>
          <p:spPr>
            <a:xfrm>
              <a:off x="7083720" y="3847320"/>
              <a:ext cx="1032840" cy="10216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AU" sz="4400" b="1" strike="noStrike" spc="-1">
                  <a:solidFill>
                    <a:schemeClr val="dk1"/>
                  </a:solidFill>
                  <a:latin typeface="Calibri"/>
                </a:rPr>
                <a:t>Q</a:t>
              </a:r>
              <a:endParaRPr lang="en-US" sz="4400" b="0" strike="noStrike" spc="-1">
                <a:solidFill>
                  <a:srgbClr val="000000"/>
                </a:solidFill>
                <a:latin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AU" sz="4400" b="0" strike="noStrike" spc="-1">
                <a:solidFill>
                  <a:schemeClr val="accent2">
                    <a:lumMod val="50000"/>
                  </a:schemeClr>
                </a:solidFill>
                <a:latin typeface="Powderfinger Type"/>
              </a:rPr>
              <a:t>Why was the Internet Protocol so special?</a:t>
            </a:r>
            <a:endParaRPr lang="en-US" sz="4400" b="0" strike="noStrike" spc="-1">
              <a:solidFill>
                <a:schemeClr val="dk1"/>
              </a:solidFill>
              <a:latin typeface="Calibri"/>
            </a:endParaRPr>
          </a:p>
        </p:txBody>
      </p:sp>
      <p:sp>
        <p:nvSpPr>
          <p:cNvPr id="126"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AU" sz="2800" b="0" strike="noStrike" spc="-1">
                <a:solidFill>
                  <a:schemeClr val="dk1"/>
                </a:solidFill>
                <a:latin typeface="Calibri"/>
              </a:rPr>
              <a:t>What made it so radically different from other network protocols of the 1980’s?</a:t>
            </a:r>
            <a:endParaRPr lang="en-US" sz="28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pPr>
            <a:r>
              <a:rPr lang="en-AU" sz="2800" b="0" strike="noStrike" spc="-1">
                <a:solidFill>
                  <a:schemeClr val="dk1"/>
                </a:solidFill>
                <a:latin typeface="Calibri"/>
              </a:rPr>
              <a:t>Why are we still using IP today?</a:t>
            </a:r>
            <a:endParaRPr lang="en-US" sz="2800" b="0" strike="noStrike" spc="-1">
              <a:solidFill>
                <a:schemeClr val="dk1"/>
              </a:solidFill>
              <a:latin typeface="Calibri"/>
            </a:endParaRPr>
          </a:p>
          <a:p>
            <a:pPr indent="0" defTabSz="914400">
              <a:lnSpc>
                <a:spcPct val="90000"/>
              </a:lnSpc>
              <a:spcBef>
                <a:spcPts val="1001"/>
              </a:spcBef>
              <a:buNone/>
            </a:pPr>
            <a:endParaRPr lang="en-US" sz="28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pPr>
            <a:r>
              <a:rPr lang="en-AU" sz="2800" b="0" strike="noStrike" spc="-1">
                <a:solidFill>
                  <a:schemeClr val="dk1"/>
                </a:solidFill>
                <a:latin typeface="Calibri"/>
              </a:rPr>
              <a:t>The answer is </a:t>
            </a:r>
            <a:r>
              <a:rPr lang="en-AU" sz="2800" b="1" strike="noStrike" spc="-1">
                <a:solidFill>
                  <a:schemeClr val="dk1"/>
                </a:solidFill>
                <a:latin typeface="Calibri"/>
              </a:rPr>
              <a:t>TCP</a:t>
            </a:r>
            <a:r>
              <a:rPr lang="en-AU" sz="2800" b="0" strike="noStrike" spc="-1">
                <a:solidFill>
                  <a:schemeClr val="dk1"/>
                </a:solidFill>
                <a:latin typeface="Calibri"/>
              </a:rPr>
              <a:t>!</a:t>
            </a:r>
            <a:endParaRPr lang="en-US" sz="2800" b="0" strike="noStrike" spc="-1">
              <a:solidFill>
                <a:schemeClr val="dk1"/>
              </a:solidFill>
              <a:latin typeface="Calibri"/>
            </a:endParaRPr>
          </a:p>
          <a:p>
            <a:pPr indent="0" defTabSz="914400">
              <a:lnSpc>
                <a:spcPct val="90000"/>
              </a:lnSpc>
              <a:spcBef>
                <a:spcPts val="1001"/>
              </a:spcBef>
              <a:buNone/>
            </a:pPr>
            <a:endParaRPr lang="en-US" sz="2800" b="0" strike="noStrike" spc="-1">
              <a:solidFill>
                <a:schemeClr val="dk1"/>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AU" sz="4400" b="0" strike="noStrike" spc="-1">
                <a:solidFill>
                  <a:schemeClr val="accent2">
                    <a:lumMod val="50000"/>
                  </a:schemeClr>
                </a:solidFill>
                <a:latin typeface="Powderfinger Type"/>
              </a:rPr>
              <a:t>TCP is..</a:t>
            </a:r>
            <a:endParaRPr lang="en-US" sz="4400" b="0" strike="noStrike" spc="-1">
              <a:solidFill>
                <a:schemeClr val="dk1"/>
              </a:solidFill>
              <a:latin typeface="Calibri"/>
            </a:endParaRPr>
          </a:p>
        </p:txBody>
      </p:sp>
      <p:sp>
        <p:nvSpPr>
          <p:cNvPr id="128"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AU" sz="2800" b="0" strike="noStrike" spc="-1">
                <a:solidFill>
                  <a:schemeClr val="dk1"/>
                </a:solidFill>
                <a:latin typeface="Calibri"/>
              </a:rPr>
              <a:t>A transport protocol that constructs a reliable full duplex adaptive streaming service constructed on top of an unreliable IP datagram service</a:t>
            </a:r>
            <a:endParaRPr lang="en-US" sz="28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tabLst>
                <a:tab pos="0" algn="l"/>
              </a:tabLst>
            </a:pPr>
            <a:r>
              <a:rPr lang="en-AU" sz="2400" b="0" strike="noStrike" spc="-1">
                <a:solidFill>
                  <a:schemeClr val="dk1"/>
                </a:solidFill>
                <a:latin typeface="Calibri"/>
              </a:rPr>
              <a:t>Uses a coordinated state between the two end systems without any network intervention or mediation</a:t>
            </a:r>
            <a:endParaRPr lang="en-US" sz="24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tabLst>
                <a:tab pos="0" algn="l"/>
              </a:tabLst>
            </a:pPr>
            <a:r>
              <a:rPr lang="en-AU" sz="2400" b="0" strike="noStrike" spc="-1">
                <a:solidFill>
                  <a:schemeClr val="dk1"/>
                </a:solidFill>
                <a:latin typeface="Calibri"/>
              </a:rPr>
              <a:t>Uses a sliding window to allow lost data to be resent</a:t>
            </a:r>
            <a:endParaRPr lang="en-US" sz="24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tabLst>
                <a:tab pos="0" algn="l"/>
              </a:tabLst>
            </a:pPr>
            <a:r>
              <a:rPr lang="en-AU" sz="2400" b="0" strike="noStrike" spc="-1">
                <a:solidFill>
                  <a:schemeClr val="dk1"/>
                </a:solidFill>
                <a:latin typeface="Calibri"/>
              </a:rPr>
              <a:t>Uses ACK-clocking to regulate the sending behaviour to match network path capacity estimate</a:t>
            </a:r>
            <a:endParaRPr lang="en-US" sz="24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tabLst>
                <a:tab pos="0" algn="l"/>
              </a:tabLst>
            </a:pPr>
            <a:r>
              <a:rPr lang="en-AU" sz="2400" b="0" strike="noStrike" spc="-1">
                <a:solidFill>
                  <a:schemeClr val="dk1"/>
                </a:solidFill>
                <a:latin typeface="Calibri"/>
              </a:rPr>
              <a:t>Has been tweaked to support</a:t>
            </a:r>
            <a:r>
              <a:rPr lang="en-AU" sz="2400" b="0" strike="noStrike" spc="-1">
                <a:solidFill>
                  <a:schemeClr val="lt1">
                    <a:lumMod val="75000"/>
                  </a:schemeClr>
                </a:solidFill>
                <a:latin typeface="Calibri"/>
              </a:rPr>
              <a:t>*</a:t>
            </a:r>
            <a:r>
              <a:rPr lang="en-AU" sz="2400" b="0" strike="noStrike" spc="-1">
                <a:solidFill>
                  <a:schemeClr val="dk1"/>
                </a:solidFill>
                <a:latin typeface="Calibri"/>
              </a:rPr>
              <a:t> multi-stream and RPC transport models</a:t>
            </a:r>
            <a:endParaRPr lang="en-US" sz="2400" b="0" strike="noStrike" spc="-1">
              <a:solidFill>
                <a:schemeClr val="dk1"/>
              </a:solidFill>
              <a:latin typeface="Calibri"/>
            </a:endParaRPr>
          </a:p>
        </p:txBody>
      </p:sp>
      <p:sp>
        <p:nvSpPr>
          <p:cNvPr id="129" name="TextBox 3"/>
          <p:cNvSpPr/>
          <p:nvPr/>
        </p:nvSpPr>
        <p:spPr>
          <a:xfrm>
            <a:off x="9987480" y="6325920"/>
            <a:ext cx="1497960" cy="3031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AU" sz="1400" b="0" strike="noStrike" spc="-1">
                <a:solidFill>
                  <a:schemeClr val="lt1">
                    <a:lumMod val="75000"/>
                  </a:schemeClr>
                </a:solidFill>
                <a:latin typeface="Calibri"/>
              </a:rPr>
              <a:t>*</a:t>
            </a:r>
            <a:r>
              <a:rPr lang="en-AU" sz="1400" b="0" strike="noStrike" spc="-1">
                <a:solidFill>
                  <a:schemeClr val="dk1"/>
                </a:solidFill>
                <a:latin typeface="Calibri"/>
              </a:rPr>
              <a:t> to some degree!</a:t>
            </a:r>
            <a:endParaRPr lang="en-US" sz="1400" b="0" strike="noStrike" spc="-1">
              <a:solidFill>
                <a:srgbClr val="00000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AU" sz="4400" b="0" strike="noStrike" spc="-1">
                <a:solidFill>
                  <a:schemeClr val="accent2">
                    <a:lumMod val="50000"/>
                  </a:schemeClr>
                </a:solidFill>
                <a:latin typeface="Powderfinger Type"/>
              </a:rPr>
              <a:t>TCP is highly efficient</a:t>
            </a:r>
            <a:endParaRPr lang="en-US" sz="4400" b="0" strike="noStrike" spc="-1">
              <a:solidFill>
                <a:schemeClr val="dk1"/>
              </a:solidFill>
              <a:latin typeface="Calibri"/>
            </a:endParaRPr>
          </a:p>
        </p:txBody>
      </p:sp>
      <p:sp>
        <p:nvSpPr>
          <p:cNvPr id="131" name="PlaceHolder 2"/>
          <p:cNvSpPr>
            <a:spLocks noGrp="1"/>
          </p:cNvSpPr>
          <p:nvPr>
            <p:ph/>
          </p:nvPr>
        </p:nvSpPr>
        <p:spPr>
          <a:xfrm>
            <a:off x="838080" y="1825560"/>
            <a:ext cx="10515240" cy="126000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AU" sz="2800" b="0" strike="noStrike" spc="-1">
                <a:solidFill>
                  <a:schemeClr val="dk1"/>
                </a:solidFill>
                <a:latin typeface="Calibri"/>
              </a:rPr>
              <a:t>TCP will attempt to use all available network bandwidth</a:t>
            </a:r>
            <a:endParaRPr lang="en-US" sz="2800" b="0" strike="noStrike" spc="-1">
              <a:solidFill>
                <a:schemeClr val="dk1"/>
              </a:solidFill>
              <a:latin typeface="Calibri"/>
            </a:endParaRPr>
          </a:p>
        </p:txBody>
      </p:sp>
      <p:pic>
        <p:nvPicPr>
          <p:cNvPr id="132" name="Picture 5"/>
          <p:cNvPicPr/>
          <p:nvPr/>
        </p:nvPicPr>
        <p:blipFill>
          <a:blip r:embed="rId2"/>
          <a:stretch/>
        </p:blipFill>
        <p:spPr>
          <a:xfrm>
            <a:off x="1049040" y="2345400"/>
            <a:ext cx="6449400" cy="4440600"/>
          </a:xfrm>
          <a:prstGeom prst="rect">
            <a:avLst/>
          </a:prstGeom>
          <a:ln w="0">
            <a:noFill/>
          </a:ln>
        </p:spPr>
      </p:pic>
      <p:sp>
        <p:nvSpPr>
          <p:cNvPr id="133" name="TextBox 6"/>
          <p:cNvSpPr/>
          <p:nvPr/>
        </p:nvSpPr>
        <p:spPr>
          <a:xfrm>
            <a:off x="8056080" y="2955600"/>
            <a:ext cx="1019160" cy="2725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AU" sz="1200" b="0" strike="noStrike" spc="-1">
                <a:solidFill>
                  <a:schemeClr val="dk1"/>
                </a:solidFill>
                <a:latin typeface="Calibri"/>
              </a:rPr>
              <a:t>Path Capacity</a:t>
            </a:r>
            <a:endParaRPr lang="en-US" sz="1200" b="0" strike="noStrike" spc="-1">
              <a:solidFill>
                <a:srgbClr val="000000"/>
              </a:solidFill>
              <a:latin typeface="Arial"/>
            </a:endParaRPr>
          </a:p>
        </p:txBody>
      </p:sp>
      <p:cxnSp>
        <p:nvCxnSpPr>
          <p:cNvPr id="134" name="Straight Connector 8"/>
          <p:cNvCxnSpPr/>
          <p:nvPr/>
        </p:nvCxnSpPr>
        <p:spPr>
          <a:xfrm>
            <a:off x="1568520" y="3140280"/>
            <a:ext cx="6481800" cy="360"/>
          </a:xfrm>
          <a:prstGeom prst="straightConnector1">
            <a:avLst/>
          </a:prstGeom>
          <a:ln>
            <a:solidFill>
              <a:srgbClr val="FF0000"/>
            </a:solidFill>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AU" sz="4400" b="0" strike="noStrike" spc="-1">
                <a:solidFill>
                  <a:schemeClr val="accent2">
                    <a:lumMod val="50000"/>
                  </a:schemeClr>
                </a:solidFill>
                <a:latin typeface="Powderfinger Type"/>
              </a:rPr>
              <a:t>TCP is friendly!</a:t>
            </a:r>
            <a:endParaRPr lang="en-US" sz="4400" b="0" strike="noStrike" spc="-1">
              <a:solidFill>
                <a:schemeClr val="dk1"/>
              </a:solidFill>
              <a:latin typeface="Calibri"/>
            </a:endParaRPr>
          </a:p>
        </p:txBody>
      </p:sp>
      <p:sp>
        <p:nvSpPr>
          <p:cNvPr id="136"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AU" sz="2800" b="0" strike="noStrike" spc="-1">
                <a:solidFill>
                  <a:schemeClr val="dk1"/>
                </a:solidFill>
                <a:latin typeface="Calibri"/>
              </a:rPr>
              <a:t>TCP performs self-moderation to share available network capacity fairly across active TCP sessions</a:t>
            </a:r>
            <a:endParaRPr lang="en-US" sz="2800" b="0" strike="noStrike" spc="-1">
              <a:solidFill>
                <a:schemeClr val="dk1"/>
              </a:solidFill>
              <a:latin typeface="Calibri"/>
            </a:endParaRPr>
          </a:p>
        </p:txBody>
      </p:sp>
      <p:pic>
        <p:nvPicPr>
          <p:cNvPr id="137" name="Picture 5"/>
          <p:cNvPicPr/>
          <p:nvPr/>
        </p:nvPicPr>
        <p:blipFill>
          <a:blip r:embed="rId2"/>
          <a:stretch/>
        </p:blipFill>
        <p:spPr>
          <a:xfrm>
            <a:off x="2393640" y="2929680"/>
            <a:ext cx="5499360" cy="3804840"/>
          </a:xfrm>
          <a:prstGeom prst="rect">
            <a:avLst/>
          </a:prstGeom>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AU" sz="4400" b="0" strike="noStrike" spc="-1">
                <a:solidFill>
                  <a:schemeClr val="accent2">
                    <a:lumMod val="50000"/>
                  </a:schemeClr>
                </a:solidFill>
                <a:latin typeface="Powderfinger Type"/>
              </a:rPr>
              <a:t>TCP is flexible</a:t>
            </a:r>
            <a:endParaRPr lang="en-US" sz="4400" b="0" strike="noStrike" spc="-1">
              <a:solidFill>
                <a:schemeClr val="dk1"/>
              </a:solidFill>
              <a:latin typeface="Calibri"/>
            </a:endParaRPr>
          </a:p>
        </p:txBody>
      </p:sp>
      <p:sp>
        <p:nvSpPr>
          <p:cNvPr id="139"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AU" sz="2800" b="0" strike="noStrike" spc="-1">
                <a:solidFill>
                  <a:schemeClr val="dk1"/>
                </a:solidFill>
                <a:latin typeface="Calibri"/>
              </a:rPr>
              <a:t>TCP behaviour is controlled by the server, not the client</a:t>
            </a:r>
            <a:endParaRPr lang="en-US" sz="28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pPr>
            <a:r>
              <a:rPr lang="en-AU" sz="2800" b="0" strike="noStrike" spc="-1">
                <a:solidFill>
                  <a:schemeClr val="dk1"/>
                </a:solidFill>
                <a:latin typeface="Calibri"/>
              </a:rPr>
              <a:t>The same client TCP engine can be used for a variety of server-side congestion control algorithms</a:t>
            </a:r>
            <a:endParaRPr lang="en-US" sz="28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pPr>
            <a:r>
              <a:rPr lang="en-AU" sz="2400" b="0" strike="noStrike" spc="-1">
                <a:solidFill>
                  <a:schemeClr val="dk1"/>
                </a:solidFill>
                <a:latin typeface="Calibri"/>
              </a:rPr>
              <a:t>Reno – classic AIMD</a:t>
            </a:r>
            <a:endParaRPr lang="en-US" sz="24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pPr>
            <a:r>
              <a:rPr lang="en-AU" sz="2400" b="0" strike="noStrike" spc="-1">
                <a:solidFill>
                  <a:schemeClr val="dk1"/>
                </a:solidFill>
                <a:latin typeface="Calibri"/>
              </a:rPr>
              <a:t>CUBIC</a:t>
            </a:r>
            <a:endParaRPr lang="en-US" sz="24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pPr>
            <a:r>
              <a:rPr lang="en-AU" sz="2400" b="0" strike="noStrike" spc="-1">
                <a:solidFill>
                  <a:schemeClr val="dk1"/>
                </a:solidFill>
                <a:latin typeface="Calibri"/>
              </a:rPr>
              <a:t>BBR</a:t>
            </a:r>
            <a:endParaRPr lang="en-US" sz="24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pPr>
            <a:r>
              <a:rPr lang="en-AU" sz="2400" b="0" strike="noStrike" spc="-1">
                <a:solidFill>
                  <a:schemeClr val="dk1"/>
                </a:solidFill>
                <a:latin typeface="Calibri"/>
              </a:rPr>
              <a:t>MulTCP</a:t>
            </a:r>
            <a:endParaRPr lang="en-US" sz="24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pPr>
            <a:r>
              <a:rPr lang="en-AU" sz="2400" b="0" strike="noStrike" spc="-1">
                <a:solidFill>
                  <a:schemeClr val="dk1"/>
                </a:solidFill>
                <a:latin typeface="Calibri"/>
              </a:rPr>
              <a:t>…</a:t>
            </a:r>
            <a:endParaRPr lang="en-US" sz="24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pPr>
            <a:r>
              <a:rPr lang="en-AU" sz="2800" b="0" strike="noStrike" spc="-1">
                <a:solidFill>
                  <a:schemeClr val="dk1"/>
                </a:solidFill>
                <a:latin typeface="Calibri"/>
              </a:rPr>
              <a:t>Different servers can use different TCP behaviours to achieve different service outcomes</a:t>
            </a:r>
            <a:endParaRPr lang="en-US" sz="2800" b="0" strike="noStrike" spc="-1">
              <a:solidFill>
                <a:schemeClr val="dk1"/>
              </a:solidFill>
              <a:latin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AU" sz="4400" b="0" strike="noStrike" spc="-1">
                <a:solidFill>
                  <a:schemeClr val="accent2">
                    <a:lumMod val="50000"/>
                  </a:schemeClr>
                </a:solidFill>
                <a:latin typeface="Powderfinger Type"/>
              </a:rPr>
              <a:t>Pushing TCP harder</a:t>
            </a:r>
            <a:endParaRPr lang="en-US" sz="4400" b="0" strike="noStrike" spc="-1">
              <a:solidFill>
                <a:schemeClr val="dk1"/>
              </a:solidFill>
              <a:latin typeface="Calibri"/>
            </a:endParaRPr>
          </a:p>
        </p:txBody>
      </p:sp>
      <p:sp>
        <p:nvSpPr>
          <p:cNvPr id="141" name="PlaceHolder 2"/>
          <p:cNvSpPr>
            <a:spLocks noGrp="1"/>
          </p:cNvSpPr>
          <p:nvPr>
            <p:ph/>
          </p:nvPr>
        </p:nvSpPr>
        <p:spPr>
          <a:xfrm>
            <a:off x="838080" y="1825560"/>
            <a:ext cx="10515240" cy="4350960"/>
          </a:xfrm>
          <a:prstGeom prst="rect">
            <a:avLst/>
          </a:prstGeom>
          <a:noFill/>
          <a:ln w="0">
            <a:noFill/>
          </a:ln>
        </p:spPr>
        <p:txBody>
          <a:bodyPr lIns="91440" tIns="45720" rIns="91440" bIns="45720" anchor="t">
            <a:normAutofit fontScale="98192" lnSpcReduction="10000"/>
          </a:bodyPr>
          <a:lstStyle/>
          <a:p>
            <a:pPr indent="0" defTabSz="914400">
              <a:lnSpc>
                <a:spcPct val="90000"/>
              </a:lnSpc>
              <a:spcBef>
                <a:spcPts val="1001"/>
              </a:spcBef>
              <a:buNone/>
              <a:tabLst>
                <a:tab pos="0" algn="l"/>
              </a:tabLst>
            </a:pPr>
            <a:r>
              <a:rPr lang="en-AU" sz="2800" b="0" strike="noStrike" spc="-1">
                <a:solidFill>
                  <a:schemeClr val="dk1"/>
                </a:solidFill>
                <a:latin typeface="Calibri"/>
              </a:rPr>
              <a:t>We have been prodding and poking at TCP for decades:</a:t>
            </a:r>
            <a:endParaRPr lang="en-US" sz="28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tabLst>
                <a:tab pos="0" algn="l"/>
              </a:tabLst>
            </a:pPr>
            <a:r>
              <a:rPr lang="en-AU" sz="2400" b="1" strike="noStrike" spc="-1">
                <a:solidFill>
                  <a:schemeClr val="dk1"/>
                </a:solidFill>
                <a:latin typeface="Calibri"/>
              </a:rPr>
              <a:t>T/TCP </a:t>
            </a:r>
            <a:r>
              <a:rPr lang="en-AU" sz="2400" b="0" strike="noStrike" spc="-1">
                <a:solidFill>
                  <a:schemeClr val="dk1"/>
                </a:solidFill>
                <a:latin typeface="Calibri"/>
              </a:rPr>
              <a:t>– TCP for Transactions which attempted to stash the payload and the response into the TCP handshake </a:t>
            </a:r>
            <a:r>
              <a:rPr lang="en-AU" sz="1600" b="0" strike="noStrike" spc="-1">
                <a:solidFill>
                  <a:schemeClr val="dk1"/>
                </a:solidFill>
                <a:latin typeface="Calibri"/>
              </a:rPr>
              <a:t>(since discarded due to its truly woeful security model!)</a:t>
            </a:r>
            <a:endParaRPr lang="en-US" sz="16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tabLst>
                <a:tab pos="0" algn="l"/>
              </a:tabLst>
            </a:pPr>
            <a:r>
              <a:rPr lang="en-AU" sz="2400" b="1" strike="noStrike" spc="-1">
                <a:solidFill>
                  <a:schemeClr val="dk1"/>
                </a:solidFill>
                <a:latin typeface="Calibri"/>
              </a:rPr>
              <a:t>Multipath TCP </a:t>
            </a:r>
            <a:r>
              <a:rPr lang="en-AU" sz="2400" b="0" strike="noStrike" spc="-1">
                <a:solidFill>
                  <a:schemeClr val="dk1"/>
                </a:solidFill>
                <a:latin typeface="Calibri"/>
              </a:rPr>
              <a:t>– spread TCP session traffic across multiple outbound interfaces to allow for host-based load sharing and session resiliency </a:t>
            </a:r>
            <a:r>
              <a:rPr lang="en-AU" sz="1600" b="0" strike="noStrike" spc="-1">
                <a:solidFill>
                  <a:schemeClr val="dk1"/>
                </a:solidFill>
                <a:latin typeface="Calibri"/>
              </a:rPr>
              <a:t>(largely abandoned after just one large scale implementation)</a:t>
            </a:r>
            <a:endParaRPr lang="en-US" sz="16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tabLst>
                <a:tab pos="0" algn="l"/>
              </a:tabLst>
            </a:pPr>
            <a:r>
              <a:rPr lang="en-AU" sz="2400" b="1" strike="noStrike" spc="-1">
                <a:solidFill>
                  <a:schemeClr val="dk1"/>
                </a:solidFill>
                <a:latin typeface="Calibri"/>
              </a:rPr>
              <a:t>Initial Window inflation</a:t>
            </a:r>
            <a:r>
              <a:rPr lang="en-AU" sz="2400" b="0" strike="noStrike" spc="-1">
                <a:solidFill>
                  <a:schemeClr val="dk1"/>
                </a:solidFill>
                <a:latin typeface="Calibri"/>
              </a:rPr>
              <a:t> – improve short flow performance by commencing the flow with a larger initial window size</a:t>
            </a:r>
            <a:endParaRPr lang="en-US" sz="24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tabLst>
                <a:tab pos="0" algn="l"/>
              </a:tabLst>
            </a:pPr>
            <a:r>
              <a:rPr lang="en-AU" sz="2400" b="1" strike="noStrike" spc="-1">
                <a:solidFill>
                  <a:schemeClr val="dk1"/>
                </a:solidFill>
                <a:latin typeface="Calibri"/>
              </a:rPr>
              <a:t>Cached TCP performance</a:t>
            </a:r>
            <a:r>
              <a:rPr lang="en-AU" sz="2400" b="0" strike="noStrike" spc="-1">
                <a:solidFill>
                  <a:schemeClr val="dk1"/>
                </a:solidFill>
                <a:latin typeface="Calibri"/>
              </a:rPr>
              <a:t> – cache the achieved TCP performance to a server and start the next TCP session in congestion avoidance, bypassing initial slow start</a:t>
            </a:r>
            <a:endParaRPr lang="en-US" sz="24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tabLst>
                <a:tab pos="0" algn="l"/>
              </a:tabLst>
            </a:pPr>
            <a:r>
              <a:rPr lang="en-AU" sz="2400" b="1" strike="noStrike" spc="-1">
                <a:solidFill>
                  <a:schemeClr val="dk1"/>
                </a:solidFill>
                <a:latin typeface="Calibri"/>
              </a:rPr>
              <a:t>ECN signalling </a:t>
            </a:r>
            <a:r>
              <a:rPr lang="en-AU" sz="2400" b="0" strike="noStrike" spc="-1">
                <a:solidFill>
                  <a:schemeClr val="dk1"/>
                </a:solidFill>
                <a:latin typeface="Calibri"/>
              </a:rPr>
              <a:t>– have the network mark packets when queries are forming in the network path, allowing hosts to react prior to packet loss events </a:t>
            </a:r>
            <a:endParaRPr lang="en-US" sz="2400" b="0" strike="noStrike" spc="-1">
              <a:solidFill>
                <a:schemeClr val="dk1"/>
              </a:solidFill>
              <a:latin typeface="Calibri"/>
            </a:endParaRPr>
          </a:p>
          <a:p>
            <a:pPr indent="0" defTabSz="914400">
              <a:lnSpc>
                <a:spcPct val="90000"/>
              </a:lnSpc>
              <a:spcBef>
                <a:spcPts val="1001"/>
              </a:spcBef>
              <a:buNone/>
              <a:tabLst>
                <a:tab pos="0" algn="l"/>
              </a:tabLst>
            </a:pPr>
            <a:endParaRPr lang="en-US" sz="2800" b="0" strike="noStrike" spc="-1">
              <a:solidFill>
                <a:schemeClr val="dk1"/>
              </a:solidFill>
              <a:latin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AU" sz="4400" b="0" strike="noStrike" spc="-1">
                <a:solidFill>
                  <a:schemeClr val="accent2">
                    <a:lumMod val="50000"/>
                  </a:schemeClr>
                </a:solidFill>
                <a:latin typeface="Powderfinger Type"/>
              </a:rPr>
              <a:t>But</a:t>
            </a:r>
            <a:endParaRPr lang="en-US" sz="4400" b="0" strike="noStrike" spc="-1">
              <a:solidFill>
                <a:schemeClr val="dk1"/>
              </a:solidFill>
              <a:latin typeface="Calibri"/>
            </a:endParaRPr>
          </a:p>
        </p:txBody>
      </p:sp>
      <p:sp>
        <p:nvSpPr>
          <p:cNvPr id="143"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AU" sz="2800" b="0" strike="noStrike" spc="-1">
                <a:solidFill>
                  <a:schemeClr val="dk1"/>
                </a:solidFill>
                <a:latin typeface="Calibri"/>
              </a:rPr>
              <a:t>There are some performance behaviours that you just can’t fix using TCP tweaking</a:t>
            </a:r>
            <a:endParaRPr lang="en-US" sz="2800" b="0" strike="noStrike" spc="-1">
              <a:solidFill>
                <a:schemeClr val="dk1"/>
              </a:solidFill>
              <a:latin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PlaceHolder 1"/>
          <p:cNvSpPr>
            <a:spLocks noGrp="1"/>
          </p:cNvSpPr>
          <p:nvPr>
            <p:ph/>
          </p:nvPr>
        </p:nvSpPr>
        <p:spPr>
          <a:xfrm>
            <a:off x="732240" y="1445760"/>
            <a:ext cx="10722960" cy="3712680"/>
          </a:xfrm>
          <a:prstGeom prst="rect">
            <a:avLst/>
          </a:prstGeom>
          <a:noFill/>
          <a:ln w="0">
            <a:noFill/>
          </a:ln>
        </p:spPr>
        <p:txBody>
          <a:bodyPr lIns="91440" tIns="45720" rIns="91440" bIns="45720" anchor="t">
            <a:normAutofit/>
          </a:bodyPr>
          <a:lstStyle/>
          <a:p>
            <a:pPr marL="349200" indent="-349200" defTabSz="914400">
              <a:lnSpc>
                <a:spcPct val="100000"/>
              </a:lnSpc>
              <a:spcBef>
                <a:spcPts val="2001"/>
              </a:spcBef>
              <a:buClr>
                <a:srgbClr val="1B3742"/>
              </a:buClr>
              <a:buSzPct val="110000"/>
              <a:buFont typeface="Arial"/>
              <a:buChar char="•"/>
            </a:pPr>
            <a:r>
              <a:rPr lang="en-US" sz="2200" b="0" strike="noStrike" spc="-1">
                <a:solidFill>
                  <a:schemeClr val="accent2">
                    <a:lumMod val="75000"/>
                  </a:schemeClr>
                </a:solidFill>
                <a:latin typeface="News Gothic MT"/>
              </a:rPr>
              <a:t>Proliferation of mobile and web applications has made latency a very important issue for online businesses</a:t>
            </a:r>
            <a:r>
              <a:rPr lang="en-US" sz="2000" b="0" strike="noStrike" spc="-1">
                <a:solidFill>
                  <a:schemeClr val="accent2">
                    <a:lumMod val="75000"/>
                  </a:schemeClr>
                </a:solidFill>
                <a:latin typeface="News Gothic MT"/>
              </a:rPr>
              <a:t> </a:t>
            </a:r>
          </a:p>
          <a:p>
            <a:pPr marL="692280" lvl="1" indent="-343080" defTabSz="914400">
              <a:lnSpc>
                <a:spcPct val="100000"/>
              </a:lnSpc>
              <a:spcBef>
                <a:spcPts val="601"/>
              </a:spcBef>
              <a:buClr>
                <a:srgbClr val="1B3742"/>
              </a:buClr>
              <a:buSzPct val="110000"/>
              <a:buFont typeface="Lucida Grande"/>
              <a:buChar char="-"/>
            </a:pPr>
            <a:r>
              <a:rPr lang="en-US" sz="2000" b="0" strike="noStrike" spc="-1">
                <a:solidFill>
                  <a:schemeClr val="accent2">
                    <a:lumMod val="75000"/>
                  </a:schemeClr>
                </a:solidFill>
                <a:latin typeface="News Gothic MT"/>
              </a:rPr>
              <a:t>users might visit a web site less often if it is slower than a competitor by over 250ms, </a:t>
            </a:r>
            <a:r>
              <a:rPr lang="en-US" sz="1800" b="0" strike="noStrike" spc="-1">
                <a:solidFill>
                  <a:schemeClr val="dk2">
                    <a:lumMod val="75000"/>
                    <a:lumOff val="25000"/>
                  </a:schemeClr>
                </a:solidFill>
                <a:latin typeface="News Gothic MT"/>
              </a:rPr>
              <a:t>S. Lohler NY Times 2012</a:t>
            </a:r>
            <a:endParaRPr lang="en-US" sz="1800" b="0" strike="noStrike" spc="-1">
              <a:solidFill>
                <a:schemeClr val="dk1">
                  <a:lumMod val="65000"/>
                  <a:lumOff val="35000"/>
                </a:schemeClr>
              </a:solidFill>
              <a:latin typeface="News Gothic MT"/>
            </a:endParaRPr>
          </a:p>
          <a:p>
            <a:pPr marL="692280" lvl="1" indent="-343080" defTabSz="914400">
              <a:lnSpc>
                <a:spcPct val="100000"/>
              </a:lnSpc>
              <a:spcBef>
                <a:spcPts val="601"/>
              </a:spcBef>
              <a:buClr>
                <a:srgbClr val="1B3742"/>
              </a:buClr>
              <a:buSzPct val="110000"/>
              <a:buFont typeface="Lucida Grande"/>
              <a:buChar char="-"/>
            </a:pPr>
            <a:r>
              <a:rPr lang="en-US" sz="2000" b="0" strike="noStrike" spc="-1">
                <a:solidFill>
                  <a:schemeClr val="accent2">
                    <a:lumMod val="75000"/>
                  </a:schemeClr>
                </a:solidFill>
                <a:latin typeface="News Gothic MT"/>
              </a:rPr>
              <a:t>100ms latency costs Amazon 1% in sales, </a:t>
            </a:r>
            <a:r>
              <a:rPr lang="en-US" sz="1800" b="0" strike="noStrike" spc="-1">
                <a:solidFill>
                  <a:schemeClr val="dk2">
                    <a:lumMod val="75000"/>
                    <a:lumOff val="25000"/>
                  </a:schemeClr>
                </a:solidFill>
                <a:latin typeface="News Gothic MT"/>
              </a:rPr>
              <a:t>G. Linden, 2006</a:t>
            </a:r>
            <a:r>
              <a:rPr lang="en-US" sz="2000" b="0" strike="noStrike" spc="-1">
                <a:solidFill>
                  <a:schemeClr val="accent2">
                    <a:lumMod val="75000"/>
                  </a:schemeClr>
                </a:solidFill>
                <a:latin typeface="News Gothic MT"/>
              </a:rPr>
              <a:t> </a:t>
            </a:r>
            <a:endParaRPr lang="en-US" sz="2000" b="0" strike="noStrike" spc="-1">
              <a:solidFill>
                <a:schemeClr val="dk1">
                  <a:lumMod val="65000"/>
                  <a:lumOff val="35000"/>
                </a:schemeClr>
              </a:solidFill>
              <a:latin typeface="News Gothic MT"/>
            </a:endParaRPr>
          </a:p>
          <a:p>
            <a:pPr marL="349200" indent="-349200" defTabSz="914400">
              <a:lnSpc>
                <a:spcPct val="100000"/>
              </a:lnSpc>
              <a:spcBef>
                <a:spcPts val="2001"/>
              </a:spcBef>
              <a:buClr>
                <a:srgbClr val="1B3742"/>
              </a:buClr>
              <a:buSzPct val="110000"/>
              <a:buFont typeface="Arial"/>
              <a:buChar char="•"/>
            </a:pPr>
            <a:r>
              <a:rPr lang="en-US" sz="2200" b="0" strike="noStrike" spc="-1">
                <a:solidFill>
                  <a:schemeClr val="accent2">
                    <a:lumMod val="75000"/>
                  </a:schemeClr>
                </a:solidFill>
                <a:latin typeface="News Gothic MT"/>
              </a:rPr>
              <a:t>Bandwidth is cheap and will continue </a:t>
            </a:r>
          </a:p>
          <a:p>
            <a:pPr marL="349200" indent="0" defTabSz="914400">
              <a:lnSpc>
                <a:spcPct val="100000"/>
              </a:lnSpc>
              <a:spcBef>
                <a:spcPts val="601"/>
              </a:spcBef>
              <a:buNone/>
              <a:tabLst>
                <a:tab pos="0" algn="l"/>
              </a:tabLst>
            </a:pPr>
            <a:r>
              <a:rPr lang="en-US" sz="2200" b="0" strike="noStrike" spc="-1">
                <a:solidFill>
                  <a:schemeClr val="accent2">
                    <a:lumMod val="75000"/>
                  </a:schemeClr>
                </a:solidFill>
                <a:latin typeface="News Gothic MT"/>
              </a:rPr>
              <a:t>to grow, but information cannot travel </a:t>
            </a:r>
          </a:p>
          <a:p>
            <a:pPr marL="349200" indent="0" defTabSz="914400">
              <a:lnSpc>
                <a:spcPct val="100000"/>
              </a:lnSpc>
              <a:spcBef>
                <a:spcPts val="601"/>
              </a:spcBef>
              <a:buNone/>
              <a:tabLst>
                <a:tab pos="0" algn="l"/>
              </a:tabLst>
            </a:pPr>
            <a:r>
              <a:rPr lang="en-US" sz="2200" b="0" strike="noStrike" spc="-1">
                <a:solidFill>
                  <a:schemeClr val="accent2">
                    <a:lumMod val="75000"/>
                  </a:schemeClr>
                </a:solidFill>
                <a:latin typeface="News Gothic MT"/>
              </a:rPr>
              <a:t>faster than the speed of light</a:t>
            </a:r>
          </a:p>
        </p:txBody>
      </p:sp>
      <p:sp>
        <p:nvSpPr>
          <p:cNvPr id="145" name="TextBox 4"/>
          <p:cNvSpPr/>
          <p:nvPr/>
        </p:nvSpPr>
        <p:spPr>
          <a:xfrm>
            <a:off x="2272320" y="5204880"/>
            <a:ext cx="7641000" cy="759960"/>
          </a:xfrm>
          <a:prstGeom prst="rect">
            <a:avLst/>
          </a:prstGeom>
          <a:noFill/>
          <a:ln w="25400">
            <a:solidFill>
              <a:srgbClr val="800000"/>
            </a:solidFill>
            <a:round/>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2200" b="1" strike="noStrike" spc="-1">
                <a:solidFill>
                  <a:srgbClr val="800000"/>
                </a:solidFill>
                <a:latin typeface="News Gothic MT"/>
              </a:rPr>
              <a:t>Challenge: minimize number of RTT’s required </a:t>
            </a:r>
            <a:endParaRPr lang="en-US" sz="2200" b="0" strike="noStrike" spc="-1">
              <a:solidFill>
                <a:srgbClr val="000000"/>
              </a:solidFill>
              <a:latin typeface="Arial"/>
            </a:endParaRPr>
          </a:p>
          <a:p>
            <a:pPr algn="ctr" defTabSz="914400">
              <a:lnSpc>
                <a:spcPct val="100000"/>
              </a:lnSpc>
            </a:pPr>
            <a:r>
              <a:rPr lang="en-US" sz="2200" b="1" strike="noStrike" spc="-1">
                <a:solidFill>
                  <a:srgbClr val="800000"/>
                </a:solidFill>
                <a:latin typeface="News Gothic MT"/>
              </a:rPr>
              <a:t>to establish a connection, without sacrificing security</a:t>
            </a:r>
            <a:endParaRPr lang="en-US" sz="2200" b="0" strike="noStrike" spc="-1">
              <a:solidFill>
                <a:srgbClr val="000000"/>
              </a:solidFill>
              <a:latin typeface="Arial"/>
            </a:endParaRPr>
          </a:p>
        </p:txBody>
      </p:sp>
      <p:pic>
        <p:nvPicPr>
          <p:cNvPr id="146" name="Picture 2" descr="sad-kitty.png"/>
          <p:cNvPicPr/>
          <p:nvPr/>
        </p:nvPicPr>
        <p:blipFill>
          <a:blip r:embed="rId3"/>
          <a:stretch/>
        </p:blipFill>
        <p:spPr>
          <a:xfrm>
            <a:off x="9209520" y="3374640"/>
            <a:ext cx="1745280" cy="1222920"/>
          </a:xfrm>
          <a:prstGeom prst="rect">
            <a:avLst/>
          </a:prstGeom>
          <a:ln w="0">
            <a:noFill/>
          </a:ln>
        </p:spPr>
      </p:pic>
      <p:sp>
        <p:nvSpPr>
          <p:cNvPr id="147" name="TextBox 23"/>
          <p:cNvSpPr/>
          <p:nvPr/>
        </p:nvSpPr>
        <p:spPr>
          <a:xfrm>
            <a:off x="8581320" y="4550760"/>
            <a:ext cx="303696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800" b="1" strike="noStrike" spc="-1">
                <a:solidFill>
                  <a:schemeClr val="accent4">
                    <a:lumMod val="75000"/>
                  </a:schemeClr>
                </a:solidFill>
                <a:latin typeface="News Gothic MT"/>
              </a:rPr>
              <a:t>my internets are so slow!</a:t>
            </a:r>
            <a:endParaRPr lang="en-US" sz="1800" b="0" strike="noStrike" spc="-1">
              <a:solidFill>
                <a:srgbClr val="000000"/>
              </a:solidFill>
              <a:latin typeface="Arial"/>
            </a:endParaRPr>
          </a:p>
        </p:txBody>
      </p:sp>
      <p:sp>
        <p:nvSpPr>
          <p:cNvPr id="148" name="Title 3"/>
          <p:cNvSpPr/>
          <p:nvPr/>
        </p:nvSpPr>
        <p:spPr>
          <a:xfrm>
            <a:off x="-93960" y="107640"/>
            <a:ext cx="12436560" cy="823320"/>
          </a:xfrm>
          <a:prstGeom prst="rect">
            <a:avLst/>
          </a:prstGeom>
          <a:noFill/>
          <a:ln w="0">
            <a:noFill/>
          </a:ln>
        </p:spPr>
        <p:style>
          <a:lnRef idx="0">
            <a:scrgbClr r="0" g="0" b="0"/>
          </a:lnRef>
          <a:fillRef idx="0">
            <a:scrgbClr r="0" g="0" b="0"/>
          </a:fillRef>
          <a:effectRef idx="0">
            <a:scrgbClr r="0" g="0" b="0"/>
          </a:effectRef>
          <a:fontRef idx="minor"/>
        </p:style>
        <p:txBody>
          <a:bodyPr anchor="b">
            <a:noAutofit/>
          </a:bodyPr>
          <a:lstStyle/>
          <a:p>
            <a:pPr algn="ctr" defTabSz="914400">
              <a:lnSpc>
                <a:spcPct val="100000"/>
              </a:lnSpc>
            </a:pPr>
            <a:r>
              <a:rPr lang="en-US" sz="4000" b="0" strike="noStrike" spc="-1">
                <a:solidFill>
                  <a:schemeClr val="accent2">
                    <a:lumMod val="75000"/>
                  </a:schemeClr>
                </a:solidFill>
                <a:latin typeface="News Gothic MT"/>
              </a:rPr>
              <a:t>Minimizing Latency</a:t>
            </a:r>
            <a:endParaRPr lang="en-US" sz="4000" b="0" strike="noStrike" spc="-1">
              <a:solidFill>
                <a:srgbClr val="000000"/>
              </a:solidFill>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44">
                                            <p:txEl>
                                              <p:pRg st="1" end="1"/>
                                            </p:txEl>
                                          </p:spTgt>
                                        </p:tgtEl>
                                        <p:attrNameLst>
                                          <p:attrName>style.visibility</p:attrName>
                                        </p:attrNameLst>
                                      </p:cBhvr>
                                      <p:to>
                                        <p:strVal val="visible"/>
                                      </p:to>
                                    </p:set>
                                  </p:childTnLst>
                                </p:cTn>
                              </p:par>
                              <p:par>
                                <p:cTn id="7" presetID="1" presetClass="entr" fill="hold" nodeType="withEffect">
                                  <p:stCondLst>
                                    <p:cond delay="0"/>
                                  </p:stCondLst>
                                  <p:childTnLst>
                                    <p:set>
                                      <p:cBhvr>
                                        <p:cTn id="8" dur="1" fill="hold">
                                          <p:stCondLst>
                                            <p:cond delay="0"/>
                                          </p:stCondLst>
                                        </p:cTn>
                                        <p:tgtEl>
                                          <p:spTgt spid="144">
                                            <p:txEl>
                                              <p:pRg st="2" end="2"/>
                                            </p:txEl>
                                          </p:spTgt>
                                        </p:tgtEl>
                                        <p:attrNameLst>
                                          <p:attrName>style.visibility</p:attrName>
                                        </p:attrNameLst>
                                      </p:cBhvr>
                                      <p:to>
                                        <p:strVal val="visible"/>
                                      </p:to>
                                    </p:set>
                                  </p:childTnLst>
                                </p:cTn>
                              </p:par>
                            </p:childTnLst>
                          </p:cTn>
                        </p:par>
                        <p:par>
                          <p:cTn id="9" fill="hold">
                            <p:stCondLst>
                              <p:cond delay="0"/>
                            </p:stCondLst>
                            <p:childTnLst>
                              <p:par>
                                <p:cTn id="10" presetID="9" presetClass="entr" fill="hold" nodeType="afterEffect">
                                  <p:stCondLst>
                                    <p:cond delay="0"/>
                                  </p:stCondLst>
                                  <p:childTnLst>
                                    <p:set>
                                      <p:cBhvr>
                                        <p:cTn id="11" dur="1" fill="hold">
                                          <p:stCondLst>
                                            <p:cond delay="0"/>
                                          </p:stCondLst>
                                        </p:cTn>
                                        <p:tgtEl>
                                          <p:spTgt spid="146"/>
                                        </p:tgtEl>
                                        <p:attrNameLst>
                                          <p:attrName>style.visibility</p:attrName>
                                        </p:attrNameLst>
                                      </p:cBhvr>
                                      <p:to>
                                        <p:strVal val="visible"/>
                                      </p:to>
                                    </p:set>
                                    <p:animEffect transition="in" filter="dissolve">
                                      <p:cBhvr additive="repl">
                                        <p:cTn id="12" dur="500"/>
                                        <p:tgtEl>
                                          <p:spTgt spid="146"/>
                                        </p:tgtEl>
                                      </p:cBhvr>
                                    </p:animEffect>
                                  </p:childTnLst>
                                </p:cTn>
                              </p:par>
                              <p:par>
                                <p:cTn id="13" presetID="9" presetClass="entr" fill="hold" nodeType="withEffect">
                                  <p:stCondLst>
                                    <p:cond delay="0"/>
                                  </p:stCondLst>
                                  <p:childTnLst>
                                    <p:set>
                                      <p:cBhvr>
                                        <p:cTn id="14" dur="1" fill="hold">
                                          <p:stCondLst>
                                            <p:cond delay="0"/>
                                          </p:stCondLst>
                                        </p:cTn>
                                        <p:tgtEl>
                                          <p:spTgt spid="147"/>
                                        </p:tgtEl>
                                        <p:attrNameLst>
                                          <p:attrName>style.visibility</p:attrName>
                                        </p:attrNameLst>
                                      </p:cBhvr>
                                      <p:to>
                                        <p:strVal val="visible"/>
                                      </p:to>
                                    </p:set>
                                    <p:animEffect transition="in" filter="dissolve">
                                      <p:cBhvr additive="repl">
                                        <p:cTn id="15" dur="500"/>
                                        <p:tgtEl>
                                          <p:spTgt spid="147"/>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fill="hold" nodeType="clickEffect">
                                  <p:stCondLst>
                                    <p:cond delay="0"/>
                                  </p:stCondLst>
                                  <p:childTnLst>
                                    <p:set>
                                      <p:cBhvr>
                                        <p:cTn id="19" dur="1" fill="hold">
                                          <p:stCondLst>
                                            <p:cond delay="0"/>
                                          </p:stCondLst>
                                        </p:cTn>
                                        <p:tgtEl>
                                          <p:spTgt spid="144">
                                            <p:txEl>
                                              <p:pRg st="3" end="3"/>
                                            </p:txEl>
                                          </p:spTgt>
                                        </p:tgtEl>
                                        <p:attrNameLst>
                                          <p:attrName>style.visibility</p:attrName>
                                        </p:attrNameLst>
                                      </p:cBhvr>
                                      <p:to>
                                        <p:strVal val="visible"/>
                                      </p:to>
                                    </p:set>
                                  </p:childTnLst>
                                </p:cTn>
                              </p:par>
                              <p:par>
                                <p:cTn id="20" presetID="1" presetClass="entr" fill="hold" nodeType="withEffect">
                                  <p:stCondLst>
                                    <p:cond delay="0"/>
                                  </p:stCondLst>
                                  <p:childTnLst>
                                    <p:set>
                                      <p:cBhvr>
                                        <p:cTn id="21" dur="1" fill="hold">
                                          <p:stCondLst>
                                            <p:cond delay="0"/>
                                          </p:stCondLst>
                                        </p:cTn>
                                        <p:tgtEl>
                                          <p:spTgt spid="144">
                                            <p:txEl>
                                              <p:pRg st="4" end="4"/>
                                            </p:txEl>
                                          </p:spTgt>
                                        </p:tgtEl>
                                        <p:attrNameLst>
                                          <p:attrName>style.visibility</p:attrName>
                                        </p:attrNameLst>
                                      </p:cBhvr>
                                      <p:to>
                                        <p:strVal val="visible"/>
                                      </p:to>
                                    </p:set>
                                  </p:childTnLst>
                                </p:cTn>
                              </p:par>
                              <p:par>
                                <p:cTn id="22" presetID="1" presetClass="entr" fill="hold" nodeType="withEffect">
                                  <p:stCondLst>
                                    <p:cond delay="0"/>
                                  </p:stCondLst>
                                  <p:childTnLst>
                                    <p:set>
                                      <p:cBhvr>
                                        <p:cTn id="23" dur="1" fill="hold">
                                          <p:stCondLst>
                                            <p:cond delay="0"/>
                                          </p:stCondLst>
                                        </p:cTn>
                                        <p:tgtEl>
                                          <p:spTgt spid="144">
                                            <p:txEl>
                                              <p:pRg st="5" end="5"/>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fill="hold" nodeType="clickEffect">
                                  <p:stCondLst>
                                    <p:cond delay="0"/>
                                  </p:stCondLst>
                                  <p:childTnLst>
                                    <p:set>
                                      <p:cBhvr>
                                        <p:cTn id="27" dur="1" fill="hold">
                                          <p:stCondLst>
                                            <p:cond delay="0"/>
                                          </p:stCondLst>
                                        </p:cTn>
                                        <p:tgtEl>
                                          <p:spTgt spid="1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AU" sz="4400" b="0" strike="noStrike" spc="-1">
                <a:solidFill>
                  <a:schemeClr val="accent2">
                    <a:lumMod val="50000"/>
                  </a:schemeClr>
                </a:solidFill>
                <a:latin typeface="Powderfinger Type"/>
              </a:rPr>
              <a:t>TCP isn’t…</a:t>
            </a:r>
            <a:endParaRPr lang="en-US" sz="4400" b="0" strike="noStrike" spc="-1">
              <a:solidFill>
                <a:schemeClr val="dk1"/>
              </a:solidFill>
              <a:latin typeface="Calibri"/>
            </a:endParaRPr>
          </a:p>
        </p:txBody>
      </p:sp>
      <p:sp>
        <p:nvSpPr>
          <p:cNvPr id="150" name="PlaceHolder 2"/>
          <p:cNvSpPr>
            <a:spLocks noGrp="1"/>
          </p:cNvSpPr>
          <p:nvPr>
            <p:ph/>
          </p:nvPr>
        </p:nvSpPr>
        <p:spPr>
          <a:xfrm>
            <a:off x="838080" y="1825560"/>
            <a:ext cx="10515240" cy="435096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en-AU" sz="2800" b="0" strike="noStrike" spc="-1">
                <a:solidFill>
                  <a:schemeClr val="dk1"/>
                </a:solidFill>
                <a:latin typeface="Calibri"/>
              </a:rPr>
              <a:t>Fully independent of the underlying platform’s transport services</a:t>
            </a:r>
            <a:endParaRPr lang="en-US" sz="28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pPr>
            <a:r>
              <a:rPr lang="en-AU" sz="2800" b="0" strike="noStrike" spc="-1">
                <a:solidFill>
                  <a:schemeClr val="dk1"/>
                </a:solidFill>
                <a:latin typeface="Calibri"/>
              </a:rPr>
              <a:t>Fully multi-stream (TCP has head-of-line blocking)</a:t>
            </a:r>
            <a:endParaRPr lang="en-US" sz="28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pPr>
            <a:r>
              <a:rPr lang="en-AU" sz="2800" b="0" strike="noStrike" spc="-1">
                <a:solidFill>
                  <a:schemeClr val="dk1"/>
                </a:solidFill>
                <a:latin typeface="Calibri"/>
              </a:rPr>
              <a:t>Free from on-the-wire network intervention (TCP control parameters are sent in the clear)</a:t>
            </a:r>
            <a:endParaRPr lang="en-US" sz="28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pPr>
            <a:r>
              <a:rPr lang="en-AU" sz="2800" b="0" strike="noStrike" spc="-1">
                <a:solidFill>
                  <a:schemeClr val="dk1"/>
                </a:solidFill>
                <a:latin typeface="Calibri"/>
              </a:rPr>
              <a:t>Has e2e encryption as a second step / afterthought</a:t>
            </a:r>
            <a:endParaRPr lang="en-US" sz="28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pPr>
            <a:r>
              <a:rPr lang="en-AU" sz="2800" b="0" strike="noStrike" spc="-1">
                <a:solidFill>
                  <a:schemeClr val="dk1"/>
                </a:solidFill>
                <a:latin typeface="Calibri"/>
              </a:rPr>
              <a:t>Can’t support reliable datagram behaviour only with full session support</a:t>
            </a:r>
            <a:endParaRPr lang="en-US" sz="28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pPr>
            <a:r>
              <a:rPr lang="en-AU" sz="2800" b="0" strike="noStrike" spc="-1">
                <a:solidFill>
                  <a:schemeClr val="dk1"/>
                </a:solidFill>
                <a:latin typeface="Calibri"/>
              </a:rPr>
              <a:t>Relies on the application to perform data framing and in-band control </a:t>
            </a:r>
            <a:endParaRPr lang="en-US" sz="28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pPr>
            <a:r>
              <a:rPr lang="en-AU" sz="2800" b="1" strike="noStrike" spc="-1">
                <a:solidFill>
                  <a:schemeClr val="dk1"/>
                </a:solidFill>
                <a:latin typeface="Calibri"/>
              </a:rPr>
              <a:t>TCP isn’t everything for everyone </a:t>
            </a:r>
            <a:endParaRPr lang="en-US" sz="2800" b="0" strike="noStrike" spc="-1">
              <a:solidFill>
                <a:schemeClr val="dk1"/>
              </a:solidFill>
              <a:latin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AU" sz="4400" b="0" strike="noStrike" spc="-1">
                <a:solidFill>
                  <a:schemeClr val="accent2">
                    <a:lumMod val="50000"/>
                  </a:schemeClr>
                </a:solidFill>
                <a:latin typeface="Powderfinger Type"/>
              </a:rPr>
              <a:t>Choices:</a:t>
            </a:r>
            <a:endParaRPr lang="en-US" sz="4400" b="0" strike="noStrike" spc="-1">
              <a:solidFill>
                <a:schemeClr val="dk1"/>
              </a:solidFill>
              <a:latin typeface="Calibri"/>
            </a:endParaRPr>
          </a:p>
        </p:txBody>
      </p:sp>
      <p:sp>
        <p:nvSpPr>
          <p:cNvPr id="152"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AU" sz="2800" b="0" strike="noStrike" spc="-1">
                <a:solidFill>
                  <a:schemeClr val="dk1"/>
                </a:solidFill>
                <a:latin typeface="Calibri"/>
              </a:rPr>
              <a:t>Keep adjusting TCP at the edges and leave the basic TCP behaviour alone</a:t>
            </a:r>
            <a:endParaRPr lang="en-US" sz="2800" b="0" strike="noStrike" spc="-1">
              <a:solidFill>
                <a:schemeClr val="dk1"/>
              </a:solidFill>
              <a:latin typeface="Calibri"/>
            </a:endParaRPr>
          </a:p>
          <a:p>
            <a:pPr indent="0" defTabSz="914400">
              <a:lnSpc>
                <a:spcPct val="90000"/>
              </a:lnSpc>
              <a:spcBef>
                <a:spcPts val="1001"/>
              </a:spcBef>
              <a:buNone/>
              <a:tabLst>
                <a:tab pos="0" algn="l"/>
              </a:tabLst>
            </a:pPr>
            <a:r>
              <a:rPr lang="en-AU" sz="2800" b="0" strike="noStrike" spc="-1">
                <a:solidFill>
                  <a:schemeClr val="dk1"/>
                </a:solidFill>
                <a:latin typeface="Calibri"/>
              </a:rPr>
              <a:t>or</a:t>
            </a:r>
            <a:endParaRPr lang="en-US" sz="28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tabLst>
                <a:tab pos="0" algn="l"/>
              </a:tabLst>
            </a:pPr>
            <a:r>
              <a:rPr lang="en-AU" sz="2800" b="0" strike="noStrike" spc="-1">
                <a:solidFill>
                  <a:schemeClr val="dk1"/>
                </a:solidFill>
                <a:latin typeface="Calibri"/>
              </a:rPr>
              <a:t>Pull TCP functionality up into the application and implement more radical changes to the transport behaviour at the application level</a:t>
            </a:r>
            <a:endParaRPr lang="en-US" sz="2800" b="0" strike="noStrike" spc="-1">
              <a:solidFill>
                <a:schemeClr val="dk1"/>
              </a:solidFill>
              <a:latin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PlaceHolder 1"/>
          <p:cNvSpPr>
            <a:spLocks noGrp="1"/>
          </p:cNvSpPr>
          <p:nvPr>
            <p:ph type="title"/>
          </p:nvPr>
        </p:nvSpPr>
        <p:spPr>
          <a:xfrm>
            <a:off x="838080" y="365040"/>
            <a:ext cx="10893600" cy="1325160"/>
          </a:xfrm>
          <a:prstGeom prst="rect">
            <a:avLst/>
          </a:prstGeom>
          <a:noFill/>
          <a:ln w="0">
            <a:noFill/>
          </a:ln>
        </p:spPr>
        <p:txBody>
          <a:bodyPr lIns="91440" tIns="45720" rIns="91440" bIns="45720" anchor="ctr">
            <a:noAutofit/>
          </a:bodyPr>
          <a:lstStyle/>
          <a:p>
            <a:pPr indent="0" defTabSz="914400">
              <a:lnSpc>
                <a:spcPct val="90000"/>
              </a:lnSpc>
              <a:buNone/>
            </a:pPr>
            <a:r>
              <a:rPr lang="en-AU" sz="4400" b="0" strike="noStrike" spc="-1">
                <a:solidFill>
                  <a:schemeClr val="accent2">
                    <a:lumMod val="50000"/>
                  </a:schemeClr>
                </a:solidFill>
                <a:latin typeface="Powderfinger Type"/>
              </a:rPr>
              <a:t>QUIC is…</a:t>
            </a:r>
            <a:endParaRPr lang="en-US" sz="4400" b="0" strike="noStrike" spc="-1">
              <a:solidFill>
                <a:schemeClr val="dk1"/>
              </a:solidFill>
              <a:latin typeface="Calibri"/>
            </a:endParaRPr>
          </a:p>
        </p:txBody>
      </p:sp>
      <p:sp>
        <p:nvSpPr>
          <p:cNvPr id="154" name="PlaceHolder 2"/>
          <p:cNvSpPr>
            <a:spLocks noGrp="1"/>
          </p:cNvSpPr>
          <p:nvPr>
            <p:ph/>
          </p:nvPr>
        </p:nvSpPr>
        <p:spPr>
          <a:xfrm>
            <a:off x="701640" y="1825560"/>
            <a:ext cx="11174760" cy="4911120"/>
          </a:xfrm>
          <a:prstGeom prst="rect">
            <a:avLst/>
          </a:prstGeom>
          <a:noFill/>
          <a:ln w="0">
            <a:noFill/>
          </a:ln>
        </p:spPr>
        <p:txBody>
          <a:bodyPr lIns="91440" tIns="45720" rIns="91440" bIns="45720" anchor="t">
            <a:normAutofit/>
          </a:bodyPr>
          <a:lstStyle/>
          <a:p>
            <a:pPr indent="0" defTabSz="914400">
              <a:lnSpc>
                <a:spcPct val="90000"/>
              </a:lnSpc>
              <a:spcBef>
                <a:spcPts val="1001"/>
              </a:spcBef>
              <a:buNone/>
              <a:tabLst>
                <a:tab pos="0" algn="l"/>
              </a:tabLst>
            </a:pPr>
            <a:r>
              <a:rPr lang="en-AU" sz="2800" b="0" strike="noStrike" spc="-1">
                <a:solidFill>
                  <a:schemeClr val="dk1"/>
                </a:solidFill>
                <a:latin typeface="Calibri"/>
              </a:rPr>
              <a:t>The second path!</a:t>
            </a:r>
            <a:endParaRPr lang="en-US" sz="2800" b="0" strike="noStrike" spc="-1">
              <a:solidFill>
                <a:schemeClr val="dk1"/>
              </a:solidFill>
              <a:latin typeface="Calibri"/>
            </a:endParaRPr>
          </a:p>
          <a:p>
            <a:pPr indent="0" defTabSz="914400">
              <a:lnSpc>
                <a:spcPct val="90000"/>
              </a:lnSpc>
              <a:spcBef>
                <a:spcPts val="1001"/>
              </a:spcBef>
              <a:buNone/>
              <a:tabLst>
                <a:tab pos="0" algn="l"/>
              </a:tabLst>
            </a:pPr>
            <a:r>
              <a:rPr lang="en-AU" sz="2800" b="0" strike="noStrike" spc="-1">
                <a:solidFill>
                  <a:schemeClr val="dk1"/>
                </a:solidFill>
                <a:latin typeface="Calibri"/>
              </a:rPr>
              <a:t>Constructed upon a base datagram framing protocol through the use of UDP, placing all transport functions into the UDP payload</a:t>
            </a:r>
            <a:endParaRPr lang="en-US" sz="2800" b="0" strike="noStrike" spc="-1">
              <a:solidFill>
                <a:schemeClr val="dk1"/>
              </a:solidFill>
              <a:latin typeface="Calibri"/>
            </a:endParaRPr>
          </a:p>
          <a:p>
            <a:pPr marL="457200" indent="0" defTabSz="914400">
              <a:lnSpc>
                <a:spcPct val="90000"/>
              </a:lnSpc>
              <a:spcBef>
                <a:spcPts val="499"/>
              </a:spcBef>
              <a:buNone/>
              <a:tabLst>
                <a:tab pos="0" algn="l"/>
              </a:tabLst>
            </a:pPr>
            <a:r>
              <a:rPr lang="en-AU" sz="2400" b="0" strike="noStrike" spc="-1">
                <a:solidFill>
                  <a:schemeClr val="dk1"/>
                </a:solidFill>
                <a:latin typeface="Calibri"/>
              </a:rPr>
              <a:t>All end-to-end transport services (data integrity, session control, congestion control, encryption) are shifted towards the application.</a:t>
            </a:r>
            <a:endParaRPr lang="en-US" sz="2400" b="0" strike="noStrike" spc="-1">
              <a:solidFill>
                <a:schemeClr val="dk1"/>
              </a:solidFill>
              <a:latin typeface="Calibri"/>
            </a:endParaRPr>
          </a:p>
          <a:p>
            <a:pPr marL="457200" indent="0" defTabSz="914400">
              <a:lnSpc>
                <a:spcPct val="90000"/>
              </a:lnSpc>
              <a:spcBef>
                <a:spcPts val="499"/>
              </a:spcBef>
              <a:buNone/>
              <a:tabLst>
                <a:tab pos="0" algn="l"/>
              </a:tabLst>
            </a:pPr>
            <a:r>
              <a:rPr lang="en-AU" sz="2400" b="0" strike="noStrike" spc="-1">
                <a:solidFill>
                  <a:schemeClr val="dk1"/>
                </a:solidFill>
                <a:latin typeface="Calibri"/>
              </a:rPr>
              <a:t>A platform may provide a QUIC API, but the application can also provide its own service</a:t>
            </a:r>
            <a:endParaRPr lang="en-US" sz="2400" b="0" strike="noStrike" spc="-1">
              <a:solidFill>
                <a:schemeClr val="dk1"/>
              </a:solidFill>
              <a:latin typeface="Calibri"/>
            </a:endParaRPr>
          </a:p>
          <a:p>
            <a:pPr indent="0" defTabSz="914400">
              <a:lnSpc>
                <a:spcPct val="90000"/>
              </a:lnSpc>
              <a:spcBef>
                <a:spcPts val="1001"/>
              </a:spcBef>
              <a:buNone/>
              <a:tabLst>
                <a:tab pos="0" algn="l"/>
              </a:tabLst>
            </a:pPr>
            <a:endParaRPr lang="en-US" sz="2800" b="0" strike="noStrike" spc="-1">
              <a:solidFill>
                <a:schemeClr val="dk1"/>
              </a:solidFill>
              <a:latin typeface="Calibri"/>
            </a:endParaRPr>
          </a:p>
          <a:p>
            <a:pPr indent="0" defTabSz="914400">
              <a:lnSpc>
                <a:spcPct val="90000"/>
              </a:lnSpc>
              <a:spcBef>
                <a:spcPts val="1001"/>
              </a:spcBef>
              <a:buNone/>
              <a:tabLst>
                <a:tab pos="0" algn="l"/>
              </a:tabLst>
            </a:pPr>
            <a:endParaRPr lang="en-US" sz="2800" b="0" strike="noStrike" spc="-1">
              <a:solidFill>
                <a:schemeClr val="dk1"/>
              </a:solidFill>
              <a:latin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AU" sz="4400" b="0" strike="noStrike" spc="-1">
                <a:solidFill>
                  <a:schemeClr val="accent2">
                    <a:lumMod val="50000"/>
                  </a:schemeClr>
                </a:solidFill>
                <a:latin typeface="Powderfinger Type"/>
              </a:rPr>
              <a:t>QUIC is…</a:t>
            </a:r>
            <a:endParaRPr lang="en-US" sz="4400" b="0" strike="noStrike" spc="-1">
              <a:solidFill>
                <a:schemeClr val="dk1"/>
              </a:solidFill>
              <a:latin typeface="Calibri"/>
            </a:endParaRPr>
          </a:p>
        </p:txBody>
      </p:sp>
      <p:sp>
        <p:nvSpPr>
          <p:cNvPr id="156" name="PlaceHolder 2"/>
          <p:cNvSpPr>
            <a:spLocks noGrp="1"/>
          </p:cNvSpPr>
          <p:nvPr>
            <p:ph/>
          </p:nvPr>
        </p:nvSpPr>
        <p:spPr>
          <a:xfrm>
            <a:off x="838080" y="1646280"/>
            <a:ext cx="1051524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AU" sz="2800" b="0" strike="noStrike" spc="-1">
                <a:solidFill>
                  <a:schemeClr val="dk1"/>
                </a:solidFill>
                <a:latin typeface="Calibri"/>
              </a:rPr>
              <a:t>TLS transport layered over a UDP substrate</a:t>
            </a:r>
            <a:endParaRPr lang="en-US" sz="2800" b="0" strike="noStrike" spc="-1">
              <a:solidFill>
                <a:schemeClr val="dk1"/>
              </a:solidFill>
              <a:latin typeface="Calibri"/>
            </a:endParaRPr>
          </a:p>
        </p:txBody>
      </p:sp>
      <p:sp>
        <p:nvSpPr>
          <p:cNvPr id="157" name="Rounded Rectangle 3"/>
          <p:cNvSpPr/>
          <p:nvPr/>
        </p:nvSpPr>
        <p:spPr>
          <a:xfrm>
            <a:off x="3148920" y="5908320"/>
            <a:ext cx="6149160" cy="708480"/>
          </a:xfrm>
          <a:prstGeom prst="roundRect">
            <a:avLst>
              <a:gd name="adj" fmla="val 16667"/>
            </a:avLst>
          </a:prstGeom>
          <a:solidFill>
            <a:srgbClr val="4472C4"/>
          </a:solidFill>
          <a:ln>
            <a:solidFill>
              <a:srgbClr val="000000">
                <a:lumMod val="50000"/>
                <a:lumOff val="50000"/>
              </a:srgb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AU" sz="1800" b="0" strike="noStrike" spc="-1">
              <a:solidFill>
                <a:schemeClr val="lt1"/>
              </a:solidFill>
              <a:latin typeface="Calibri"/>
            </a:endParaRPr>
          </a:p>
        </p:txBody>
      </p:sp>
      <p:sp>
        <p:nvSpPr>
          <p:cNvPr id="158" name="Rounded Rectangle 4"/>
          <p:cNvSpPr/>
          <p:nvPr/>
        </p:nvSpPr>
        <p:spPr>
          <a:xfrm>
            <a:off x="3148920" y="4749480"/>
            <a:ext cx="2770200" cy="1078200"/>
          </a:xfrm>
          <a:prstGeom prst="roundRect">
            <a:avLst>
              <a:gd name="adj" fmla="val 16667"/>
            </a:avLst>
          </a:prstGeom>
          <a:solidFill>
            <a:srgbClr val="C8858F"/>
          </a:solidFill>
          <a:ln>
            <a:solidFill>
              <a:srgbClr val="000000">
                <a:lumMod val="50000"/>
                <a:lumOff val="50000"/>
              </a:srgb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AU" sz="1800" b="0" strike="noStrike" spc="-1">
              <a:solidFill>
                <a:schemeClr val="lt1"/>
              </a:solidFill>
              <a:latin typeface="Calibri"/>
            </a:endParaRPr>
          </a:p>
        </p:txBody>
      </p:sp>
      <p:sp>
        <p:nvSpPr>
          <p:cNvPr id="159" name="Rounded Rectangle 5"/>
          <p:cNvSpPr/>
          <p:nvPr/>
        </p:nvSpPr>
        <p:spPr>
          <a:xfrm>
            <a:off x="3148920" y="3782520"/>
            <a:ext cx="2770200" cy="916560"/>
          </a:xfrm>
          <a:prstGeom prst="roundRect">
            <a:avLst>
              <a:gd name="adj" fmla="val 16667"/>
            </a:avLst>
          </a:prstGeom>
          <a:solidFill>
            <a:srgbClr val="B66DC3"/>
          </a:solidFill>
          <a:ln>
            <a:solidFill>
              <a:srgbClr val="000000">
                <a:lumMod val="50000"/>
                <a:lumOff val="50000"/>
              </a:srgb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AU" sz="1800" b="0" strike="noStrike" spc="-1">
              <a:solidFill>
                <a:schemeClr val="lt1"/>
              </a:solidFill>
              <a:latin typeface="Calibri"/>
            </a:endParaRPr>
          </a:p>
        </p:txBody>
      </p:sp>
      <p:sp>
        <p:nvSpPr>
          <p:cNvPr id="160" name="Rounded Rectangle 6"/>
          <p:cNvSpPr/>
          <p:nvPr/>
        </p:nvSpPr>
        <p:spPr>
          <a:xfrm>
            <a:off x="3148920" y="2905920"/>
            <a:ext cx="2770200" cy="825840"/>
          </a:xfrm>
          <a:prstGeom prst="roundRect">
            <a:avLst>
              <a:gd name="adj" fmla="val 16667"/>
            </a:avLst>
          </a:prstGeom>
          <a:solidFill>
            <a:srgbClr val="00BCC0"/>
          </a:solidFill>
          <a:ln>
            <a:solidFill>
              <a:srgbClr val="000000">
                <a:lumMod val="50000"/>
                <a:lumOff val="50000"/>
              </a:srgb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AU" sz="1800" b="0" strike="noStrike" spc="-1">
              <a:solidFill>
                <a:schemeClr val="lt1"/>
              </a:solidFill>
              <a:latin typeface="Calibri"/>
            </a:endParaRPr>
          </a:p>
        </p:txBody>
      </p:sp>
      <p:sp>
        <p:nvSpPr>
          <p:cNvPr id="161" name="Rounded Rectangle 7"/>
          <p:cNvSpPr/>
          <p:nvPr/>
        </p:nvSpPr>
        <p:spPr>
          <a:xfrm>
            <a:off x="6528240" y="2909160"/>
            <a:ext cx="2770200" cy="825840"/>
          </a:xfrm>
          <a:prstGeom prst="roundRect">
            <a:avLst>
              <a:gd name="adj" fmla="val 16667"/>
            </a:avLst>
          </a:prstGeom>
          <a:solidFill>
            <a:srgbClr val="00B050"/>
          </a:solidFill>
          <a:ln>
            <a:solidFill>
              <a:srgbClr val="000000">
                <a:lumMod val="50000"/>
                <a:lumOff val="50000"/>
              </a:srgb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AU" sz="1800" b="0" strike="noStrike" spc="-1">
              <a:solidFill>
                <a:schemeClr val="lt1"/>
              </a:solidFill>
              <a:latin typeface="Calibri"/>
            </a:endParaRPr>
          </a:p>
        </p:txBody>
      </p:sp>
      <p:sp>
        <p:nvSpPr>
          <p:cNvPr id="162" name="Rounded Rectangle 8"/>
          <p:cNvSpPr/>
          <p:nvPr/>
        </p:nvSpPr>
        <p:spPr>
          <a:xfrm>
            <a:off x="6528240" y="5294880"/>
            <a:ext cx="2770200" cy="547920"/>
          </a:xfrm>
          <a:prstGeom prst="roundRect">
            <a:avLst>
              <a:gd name="adj" fmla="val 16667"/>
            </a:avLst>
          </a:prstGeom>
          <a:solidFill>
            <a:srgbClr val="FF0000"/>
          </a:solidFill>
          <a:ln>
            <a:solidFill>
              <a:srgbClr val="000000">
                <a:lumMod val="50000"/>
                <a:lumOff val="50000"/>
              </a:srgb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AU" sz="1800" b="0" strike="noStrike" spc="-1">
              <a:solidFill>
                <a:schemeClr val="lt1"/>
              </a:solidFill>
              <a:latin typeface="Calibri"/>
            </a:endParaRPr>
          </a:p>
        </p:txBody>
      </p:sp>
      <p:sp>
        <p:nvSpPr>
          <p:cNvPr id="163" name="Rounded Rectangle 9"/>
          <p:cNvSpPr/>
          <p:nvPr/>
        </p:nvSpPr>
        <p:spPr>
          <a:xfrm>
            <a:off x="6528240" y="3766320"/>
            <a:ext cx="2770200" cy="1500840"/>
          </a:xfrm>
          <a:prstGeom prst="roundRect">
            <a:avLst>
              <a:gd name="adj" fmla="val 16667"/>
            </a:avLst>
          </a:prstGeom>
          <a:solidFill>
            <a:srgbClr val="FFFF00"/>
          </a:solidFill>
          <a:ln>
            <a:solidFill>
              <a:srgbClr val="000000">
                <a:lumMod val="50000"/>
                <a:lumOff val="50000"/>
              </a:srgb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AU" sz="1800" b="0" strike="noStrike" spc="-1">
              <a:solidFill>
                <a:schemeClr val="lt1"/>
              </a:solidFill>
              <a:latin typeface="Calibri"/>
            </a:endParaRPr>
          </a:p>
        </p:txBody>
      </p:sp>
      <p:sp>
        <p:nvSpPr>
          <p:cNvPr id="164" name="TextBox 10"/>
          <p:cNvSpPr/>
          <p:nvPr/>
        </p:nvSpPr>
        <p:spPr>
          <a:xfrm>
            <a:off x="3756600" y="2968200"/>
            <a:ext cx="1391040" cy="638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AU" sz="1800" b="0" strike="noStrike" spc="-1">
                <a:solidFill>
                  <a:schemeClr val="lt1"/>
                </a:solidFill>
                <a:latin typeface="Calibri"/>
              </a:rPr>
              <a:t>HTTP</a:t>
            </a:r>
            <a:endParaRPr lang="en-US" sz="1800" b="0" strike="noStrike" spc="-1">
              <a:solidFill>
                <a:srgbClr val="000000"/>
              </a:solidFill>
              <a:latin typeface="Arial"/>
            </a:endParaRPr>
          </a:p>
          <a:p>
            <a:pPr algn="ctr" defTabSz="914400">
              <a:lnSpc>
                <a:spcPct val="100000"/>
              </a:lnSpc>
            </a:pPr>
            <a:r>
              <a:rPr lang="en-AU" sz="1800" b="0" strike="noStrike" spc="-1">
                <a:solidFill>
                  <a:schemeClr val="lt1"/>
                </a:solidFill>
                <a:latin typeface="Calibri"/>
              </a:rPr>
              <a:t>Multi-stream</a:t>
            </a:r>
            <a:endParaRPr lang="en-US" sz="1800" b="0" strike="noStrike" spc="-1">
              <a:solidFill>
                <a:srgbClr val="000000"/>
              </a:solidFill>
              <a:latin typeface="Arial"/>
            </a:endParaRPr>
          </a:p>
        </p:txBody>
      </p:sp>
      <p:sp>
        <p:nvSpPr>
          <p:cNvPr id="165" name="TextBox 11"/>
          <p:cNvSpPr/>
          <p:nvPr/>
        </p:nvSpPr>
        <p:spPr>
          <a:xfrm>
            <a:off x="3490560" y="3892320"/>
            <a:ext cx="1923120" cy="638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AU" sz="1800" b="0" strike="noStrike" spc="-1">
                <a:solidFill>
                  <a:schemeClr val="lt1"/>
                </a:solidFill>
                <a:latin typeface="Calibri"/>
              </a:rPr>
              <a:t>TLS</a:t>
            </a:r>
            <a:endParaRPr lang="en-US" sz="1800" b="0" strike="noStrike" spc="-1">
              <a:solidFill>
                <a:srgbClr val="000000"/>
              </a:solidFill>
              <a:latin typeface="Arial"/>
            </a:endParaRPr>
          </a:p>
          <a:p>
            <a:pPr algn="ctr" defTabSz="914400">
              <a:lnSpc>
                <a:spcPct val="100000"/>
              </a:lnSpc>
            </a:pPr>
            <a:r>
              <a:rPr lang="en-AU" sz="1800" b="0" strike="noStrike" spc="-1">
                <a:solidFill>
                  <a:schemeClr val="lt1"/>
                </a:solidFill>
                <a:latin typeface="Calibri"/>
              </a:rPr>
              <a:t>Session Encryption</a:t>
            </a:r>
            <a:endParaRPr lang="en-US" sz="1800" b="0" strike="noStrike" spc="-1">
              <a:solidFill>
                <a:srgbClr val="000000"/>
              </a:solidFill>
              <a:latin typeface="Arial"/>
            </a:endParaRPr>
          </a:p>
        </p:txBody>
      </p:sp>
      <p:sp>
        <p:nvSpPr>
          <p:cNvPr id="166" name="TextBox 12"/>
          <p:cNvSpPr/>
          <p:nvPr/>
        </p:nvSpPr>
        <p:spPr>
          <a:xfrm>
            <a:off x="3382560" y="4816800"/>
            <a:ext cx="2139480" cy="9126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AU" sz="1800" b="0" strike="noStrike" spc="-1">
                <a:solidFill>
                  <a:schemeClr val="lt1"/>
                </a:solidFill>
                <a:latin typeface="Calibri"/>
              </a:rPr>
              <a:t>TCP</a:t>
            </a:r>
            <a:endParaRPr lang="en-US" sz="1800" b="0" strike="noStrike" spc="-1">
              <a:solidFill>
                <a:srgbClr val="000000"/>
              </a:solidFill>
              <a:latin typeface="Arial"/>
            </a:endParaRPr>
          </a:p>
          <a:p>
            <a:pPr algn="ctr" defTabSz="914400">
              <a:lnSpc>
                <a:spcPct val="100000"/>
              </a:lnSpc>
            </a:pPr>
            <a:r>
              <a:rPr lang="en-AU" sz="1800" b="0" strike="noStrike" spc="-1">
                <a:solidFill>
                  <a:schemeClr val="lt1"/>
                </a:solidFill>
                <a:latin typeface="Calibri"/>
              </a:rPr>
              <a:t>Data stream integrity</a:t>
            </a:r>
            <a:endParaRPr lang="en-US" sz="1800" b="0" strike="noStrike" spc="-1">
              <a:solidFill>
                <a:srgbClr val="000000"/>
              </a:solidFill>
              <a:latin typeface="Arial"/>
            </a:endParaRPr>
          </a:p>
          <a:p>
            <a:pPr algn="ctr" defTabSz="914400">
              <a:lnSpc>
                <a:spcPct val="100000"/>
              </a:lnSpc>
            </a:pPr>
            <a:r>
              <a:rPr lang="en-AU" sz="1800" b="0" strike="noStrike" spc="-1">
                <a:solidFill>
                  <a:schemeClr val="lt1"/>
                </a:solidFill>
                <a:latin typeface="Calibri"/>
              </a:rPr>
              <a:t>Congestion Control</a:t>
            </a:r>
            <a:endParaRPr lang="en-US" sz="1800" b="0" strike="noStrike" spc="-1">
              <a:solidFill>
                <a:srgbClr val="000000"/>
              </a:solidFill>
              <a:latin typeface="Arial"/>
            </a:endParaRPr>
          </a:p>
        </p:txBody>
      </p:sp>
      <p:sp>
        <p:nvSpPr>
          <p:cNvPr id="167" name="TextBox 13"/>
          <p:cNvSpPr/>
          <p:nvPr/>
        </p:nvSpPr>
        <p:spPr>
          <a:xfrm>
            <a:off x="7639920" y="3116880"/>
            <a:ext cx="66708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AU" sz="1800" b="0" strike="noStrike" spc="-1">
                <a:solidFill>
                  <a:schemeClr val="dk1"/>
                </a:solidFill>
                <a:latin typeface="Calibri"/>
              </a:rPr>
              <a:t>HTTP</a:t>
            </a:r>
            <a:endParaRPr lang="en-US" sz="1800" b="0" strike="noStrike" spc="-1">
              <a:solidFill>
                <a:srgbClr val="000000"/>
              </a:solidFill>
              <a:latin typeface="Arial"/>
            </a:endParaRPr>
          </a:p>
        </p:txBody>
      </p:sp>
      <p:sp>
        <p:nvSpPr>
          <p:cNvPr id="168" name="TextBox 14"/>
          <p:cNvSpPr/>
          <p:nvPr/>
        </p:nvSpPr>
        <p:spPr>
          <a:xfrm>
            <a:off x="6904080" y="3766320"/>
            <a:ext cx="2139480" cy="14612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AU" sz="1800" b="0" strike="noStrike" spc="-1">
                <a:solidFill>
                  <a:schemeClr val="dk1"/>
                </a:solidFill>
                <a:latin typeface="Calibri"/>
              </a:rPr>
              <a:t>QUIC</a:t>
            </a:r>
            <a:endParaRPr lang="en-US" sz="1800" b="0" strike="noStrike" spc="-1">
              <a:solidFill>
                <a:srgbClr val="000000"/>
              </a:solidFill>
              <a:latin typeface="Arial"/>
            </a:endParaRPr>
          </a:p>
          <a:p>
            <a:pPr algn="ctr" defTabSz="914400">
              <a:lnSpc>
                <a:spcPct val="100000"/>
              </a:lnSpc>
            </a:pPr>
            <a:r>
              <a:rPr lang="en-AU" sz="1800" b="0" strike="noStrike" spc="-1">
                <a:solidFill>
                  <a:schemeClr val="dk1"/>
                </a:solidFill>
                <a:latin typeface="Calibri"/>
              </a:rPr>
              <a:t>Multi-stream</a:t>
            </a:r>
            <a:endParaRPr lang="en-US" sz="1800" b="0" strike="noStrike" spc="-1">
              <a:solidFill>
                <a:srgbClr val="000000"/>
              </a:solidFill>
              <a:latin typeface="Arial"/>
            </a:endParaRPr>
          </a:p>
          <a:p>
            <a:pPr algn="ctr" defTabSz="914400">
              <a:lnSpc>
                <a:spcPct val="100000"/>
              </a:lnSpc>
            </a:pPr>
            <a:r>
              <a:rPr lang="en-AU" sz="1800" b="0" strike="noStrike" spc="-1">
                <a:solidFill>
                  <a:schemeClr val="dk1"/>
                </a:solidFill>
                <a:latin typeface="Calibri"/>
              </a:rPr>
              <a:t>Encryption</a:t>
            </a:r>
            <a:endParaRPr lang="en-US" sz="1800" b="0" strike="noStrike" spc="-1">
              <a:solidFill>
                <a:srgbClr val="000000"/>
              </a:solidFill>
              <a:latin typeface="Arial"/>
            </a:endParaRPr>
          </a:p>
          <a:p>
            <a:pPr algn="ctr" defTabSz="914400">
              <a:lnSpc>
                <a:spcPct val="100000"/>
              </a:lnSpc>
            </a:pPr>
            <a:r>
              <a:rPr lang="en-AU" sz="1800" b="0" strike="noStrike" spc="-1">
                <a:solidFill>
                  <a:schemeClr val="dk1"/>
                </a:solidFill>
                <a:latin typeface="Calibri"/>
              </a:rPr>
              <a:t>Data stream integrity</a:t>
            </a:r>
            <a:endParaRPr lang="en-US" sz="1800" b="0" strike="noStrike" spc="-1">
              <a:solidFill>
                <a:srgbClr val="000000"/>
              </a:solidFill>
              <a:latin typeface="Arial"/>
            </a:endParaRPr>
          </a:p>
          <a:p>
            <a:pPr algn="ctr" defTabSz="914400">
              <a:lnSpc>
                <a:spcPct val="100000"/>
              </a:lnSpc>
            </a:pPr>
            <a:r>
              <a:rPr lang="en-AU" sz="1800" b="0" strike="noStrike" spc="-1">
                <a:solidFill>
                  <a:schemeClr val="dk1"/>
                </a:solidFill>
                <a:latin typeface="Calibri"/>
              </a:rPr>
              <a:t>Congestion Control</a:t>
            </a:r>
            <a:endParaRPr lang="en-US" sz="1800" b="0" strike="noStrike" spc="-1">
              <a:solidFill>
                <a:srgbClr val="000000"/>
              </a:solidFill>
              <a:latin typeface="Arial"/>
            </a:endParaRPr>
          </a:p>
        </p:txBody>
      </p:sp>
      <p:sp>
        <p:nvSpPr>
          <p:cNvPr id="169" name="TextBox 15"/>
          <p:cNvSpPr/>
          <p:nvPr/>
        </p:nvSpPr>
        <p:spPr>
          <a:xfrm>
            <a:off x="7680240" y="5370840"/>
            <a:ext cx="58644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AU" sz="1800" b="0" strike="noStrike" spc="-1">
                <a:solidFill>
                  <a:schemeClr val="dk1"/>
                </a:solidFill>
                <a:latin typeface="Calibri"/>
              </a:rPr>
              <a:t>UDP</a:t>
            </a:r>
            <a:endParaRPr lang="en-US" sz="1800" b="0" strike="noStrike" spc="-1">
              <a:solidFill>
                <a:srgbClr val="000000"/>
              </a:solidFill>
              <a:latin typeface="Arial"/>
            </a:endParaRPr>
          </a:p>
        </p:txBody>
      </p:sp>
      <p:sp>
        <p:nvSpPr>
          <p:cNvPr id="170" name="TextBox 16"/>
          <p:cNvSpPr/>
          <p:nvPr/>
        </p:nvSpPr>
        <p:spPr>
          <a:xfrm>
            <a:off x="6046200" y="6102720"/>
            <a:ext cx="35640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AU" sz="1800" b="0" strike="noStrike" spc="-1">
                <a:solidFill>
                  <a:schemeClr val="lt1"/>
                </a:solidFill>
                <a:latin typeface="Calibri"/>
              </a:rPr>
              <a:t>IP</a:t>
            </a:r>
            <a:endParaRPr lang="en-US" sz="1800" b="0" strike="noStrike" spc="-1">
              <a:solidFill>
                <a:srgbClr val="000000"/>
              </a:solidFill>
              <a:latin typeface="Arial"/>
            </a:endParaRPr>
          </a:p>
        </p:txBody>
      </p:sp>
      <p:sp>
        <p:nvSpPr>
          <p:cNvPr id="171" name="TextBox 17"/>
          <p:cNvSpPr/>
          <p:nvPr/>
        </p:nvSpPr>
        <p:spPr>
          <a:xfrm>
            <a:off x="3877560" y="2311920"/>
            <a:ext cx="85932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AU" sz="1800" b="0" strike="noStrike" spc="-1">
                <a:solidFill>
                  <a:schemeClr val="dk1"/>
                </a:solidFill>
                <a:latin typeface="Calibri"/>
              </a:rPr>
              <a:t>HTTP/2</a:t>
            </a:r>
            <a:endParaRPr lang="en-US" sz="1800" b="0" strike="noStrike" spc="-1">
              <a:solidFill>
                <a:srgbClr val="000000"/>
              </a:solidFill>
              <a:latin typeface="Arial"/>
            </a:endParaRPr>
          </a:p>
        </p:txBody>
      </p:sp>
      <p:sp>
        <p:nvSpPr>
          <p:cNvPr id="172" name="TextBox 18"/>
          <p:cNvSpPr/>
          <p:nvPr/>
        </p:nvSpPr>
        <p:spPr>
          <a:xfrm>
            <a:off x="7618320" y="2004120"/>
            <a:ext cx="859320" cy="638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AU" sz="1800" b="0" strike="noStrike" spc="-1">
                <a:solidFill>
                  <a:schemeClr val="dk1"/>
                </a:solidFill>
                <a:latin typeface="Calibri"/>
              </a:rPr>
              <a:t>QUIC</a:t>
            </a:r>
            <a:endParaRPr lang="en-US" sz="1800" b="0" strike="noStrike" spc="-1">
              <a:solidFill>
                <a:srgbClr val="000000"/>
              </a:solidFill>
              <a:latin typeface="Arial"/>
            </a:endParaRPr>
          </a:p>
          <a:p>
            <a:pPr algn="ctr" defTabSz="914400">
              <a:lnSpc>
                <a:spcPct val="100000"/>
              </a:lnSpc>
            </a:pPr>
            <a:r>
              <a:rPr lang="en-AU" sz="1800" b="0" strike="noStrike" spc="-1">
                <a:solidFill>
                  <a:schemeClr val="dk1"/>
                </a:solidFill>
                <a:latin typeface="Calibri"/>
              </a:rPr>
              <a:t>HTTP/3</a:t>
            </a:r>
            <a:endParaRPr lang="en-US" sz="1800" b="0" strike="noStrike" spc="-1">
              <a:solidFill>
                <a:srgbClr val="000000"/>
              </a:solidFill>
              <a:latin typeface="Arial"/>
            </a:endParaRPr>
          </a:p>
        </p:txBody>
      </p:sp>
      <p:sp>
        <p:nvSpPr>
          <p:cNvPr id="173" name="Right Arrow 19"/>
          <p:cNvSpPr/>
          <p:nvPr/>
        </p:nvSpPr>
        <p:spPr>
          <a:xfrm>
            <a:off x="6008760" y="3614760"/>
            <a:ext cx="483840" cy="1852920"/>
          </a:xfrm>
          <a:prstGeom prst="rightArrow">
            <a:avLst>
              <a:gd name="adj1" fmla="val 50000"/>
              <a:gd name="adj2" fmla="val 50000"/>
            </a:avLst>
          </a:prstGeom>
          <a:solidFill>
            <a:srgbClr val="4472C4"/>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AU" sz="1800" b="0" strike="noStrike" spc="-1">
              <a:solidFill>
                <a:schemeClr val="lt1"/>
              </a:solidFill>
              <a:latin typeface="Calibri"/>
            </a:endParaRPr>
          </a:p>
        </p:txBody>
      </p:sp>
      <p:cxnSp>
        <p:nvCxnSpPr>
          <p:cNvPr id="174" name="Straight Connector 20"/>
          <p:cNvCxnSpPr/>
          <p:nvPr/>
        </p:nvCxnSpPr>
        <p:spPr>
          <a:xfrm flipH="1">
            <a:off x="1029960" y="4749480"/>
            <a:ext cx="1787040" cy="360"/>
          </a:xfrm>
          <a:prstGeom prst="straightConnector1">
            <a:avLst/>
          </a:prstGeom>
          <a:ln>
            <a:solidFill>
              <a:srgbClr val="4472C4"/>
            </a:solidFill>
          </a:ln>
        </p:spPr>
      </p:cxnSp>
      <p:cxnSp>
        <p:nvCxnSpPr>
          <p:cNvPr id="175" name="Straight Connector 21"/>
          <p:cNvCxnSpPr/>
          <p:nvPr/>
        </p:nvCxnSpPr>
        <p:spPr>
          <a:xfrm flipH="1">
            <a:off x="9567000" y="5258520"/>
            <a:ext cx="1787040" cy="360"/>
          </a:xfrm>
          <a:prstGeom prst="straightConnector1">
            <a:avLst/>
          </a:prstGeom>
          <a:ln>
            <a:solidFill>
              <a:srgbClr val="4472C4"/>
            </a:solidFill>
          </a:ln>
        </p:spPr>
      </p:cxnSp>
      <p:sp>
        <p:nvSpPr>
          <p:cNvPr id="176" name="TextBox 22"/>
          <p:cNvSpPr/>
          <p:nvPr/>
        </p:nvSpPr>
        <p:spPr>
          <a:xfrm>
            <a:off x="1221840" y="4354200"/>
            <a:ext cx="151776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AU" sz="1800" b="0" strike="noStrike" spc="-1">
                <a:solidFill>
                  <a:schemeClr val="dk1"/>
                </a:solidFill>
                <a:latin typeface="Calibri"/>
              </a:rPr>
              <a:t>e2e encrypted</a:t>
            </a:r>
            <a:endParaRPr lang="en-US" sz="1800" b="0" strike="noStrike" spc="-1">
              <a:solidFill>
                <a:srgbClr val="000000"/>
              </a:solidFill>
              <a:latin typeface="Arial"/>
            </a:endParaRPr>
          </a:p>
        </p:txBody>
      </p:sp>
      <p:cxnSp>
        <p:nvCxnSpPr>
          <p:cNvPr id="177" name="Straight Arrow Connector 23"/>
          <p:cNvCxnSpPr/>
          <p:nvPr/>
        </p:nvCxnSpPr>
        <p:spPr>
          <a:xfrm flipV="1">
            <a:off x="2786040" y="2995560"/>
            <a:ext cx="360" cy="1793880"/>
          </a:xfrm>
          <a:prstGeom prst="straightConnector1">
            <a:avLst/>
          </a:prstGeom>
          <a:ln>
            <a:solidFill>
              <a:srgbClr val="4472C4"/>
            </a:solidFill>
            <a:tailEnd type="triangle" w="med" len="med"/>
          </a:ln>
        </p:spPr>
      </p:cxnSp>
      <p:cxnSp>
        <p:nvCxnSpPr>
          <p:cNvPr id="178" name="Straight Arrow Connector 24"/>
          <p:cNvCxnSpPr/>
          <p:nvPr/>
        </p:nvCxnSpPr>
        <p:spPr>
          <a:xfrm flipV="1">
            <a:off x="9567000" y="3450240"/>
            <a:ext cx="360" cy="1793520"/>
          </a:xfrm>
          <a:prstGeom prst="straightConnector1">
            <a:avLst/>
          </a:prstGeom>
          <a:ln>
            <a:solidFill>
              <a:srgbClr val="4472C4"/>
            </a:solidFill>
            <a:tailEnd type="triangle" w="med" len="med"/>
          </a:ln>
        </p:spPr>
      </p:cxnSp>
      <p:sp>
        <p:nvSpPr>
          <p:cNvPr id="179" name="TextBox 25"/>
          <p:cNvSpPr/>
          <p:nvPr/>
        </p:nvSpPr>
        <p:spPr>
          <a:xfrm>
            <a:off x="9577080" y="4867560"/>
            <a:ext cx="151776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AU" sz="1800" b="0" strike="noStrike" spc="-1">
                <a:solidFill>
                  <a:schemeClr val="dk1"/>
                </a:solidFill>
                <a:latin typeface="Calibri"/>
              </a:rPr>
              <a:t>e2e encrypted</a:t>
            </a:r>
            <a:endParaRPr lang="en-US" sz="1800" b="0" strike="noStrike" spc="-1">
              <a:solidFill>
                <a:srgbClr val="000000"/>
              </a:solidFill>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PlaceHolder 1"/>
          <p:cNvSpPr>
            <a:spLocks noGrp="1"/>
          </p:cNvSpPr>
          <p:nvPr>
            <p:ph type="title"/>
          </p:nvPr>
        </p:nvSpPr>
        <p:spPr>
          <a:xfrm>
            <a:off x="838080" y="365040"/>
            <a:ext cx="10893600" cy="1325160"/>
          </a:xfrm>
          <a:prstGeom prst="rect">
            <a:avLst/>
          </a:prstGeom>
          <a:noFill/>
          <a:ln w="0">
            <a:noFill/>
          </a:ln>
        </p:spPr>
        <p:txBody>
          <a:bodyPr lIns="91440" tIns="45720" rIns="91440" bIns="45720" anchor="ctr">
            <a:noAutofit/>
          </a:bodyPr>
          <a:lstStyle/>
          <a:p>
            <a:pPr indent="0" defTabSz="914400">
              <a:lnSpc>
                <a:spcPct val="90000"/>
              </a:lnSpc>
              <a:buNone/>
            </a:pPr>
            <a:r>
              <a:rPr lang="en-AU" sz="4400" b="0" strike="noStrike" spc="-1">
                <a:solidFill>
                  <a:schemeClr val="accent2">
                    <a:lumMod val="50000"/>
                  </a:schemeClr>
                </a:solidFill>
                <a:latin typeface="Powderfinger Type"/>
              </a:rPr>
              <a:t>QUIC is…</a:t>
            </a:r>
            <a:endParaRPr lang="en-US" sz="4400" b="0" strike="noStrike" spc="-1">
              <a:solidFill>
                <a:schemeClr val="dk1"/>
              </a:solidFill>
              <a:latin typeface="Calibri"/>
            </a:endParaRPr>
          </a:p>
        </p:txBody>
      </p:sp>
      <p:pic>
        <p:nvPicPr>
          <p:cNvPr id="181" name="Picture 180"/>
          <p:cNvPicPr/>
          <p:nvPr/>
        </p:nvPicPr>
        <p:blipFill>
          <a:blip r:embed="rId2"/>
          <a:stretch/>
        </p:blipFill>
        <p:spPr>
          <a:xfrm>
            <a:off x="925200" y="1600200"/>
            <a:ext cx="9590400" cy="5082480"/>
          </a:xfrm>
          <a:prstGeom prst="rect">
            <a:avLst/>
          </a:prstGeom>
          <a:ln w="0">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2" name="Picture 8" descr="handshake.jpg"/>
          <p:cNvPicPr/>
          <p:nvPr/>
        </p:nvPicPr>
        <p:blipFill>
          <a:blip r:embed="rId3"/>
          <a:stretch/>
        </p:blipFill>
        <p:spPr>
          <a:xfrm>
            <a:off x="1063440" y="2341800"/>
            <a:ext cx="2492640" cy="891360"/>
          </a:xfrm>
          <a:prstGeom prst="rect">
            <a:avLst/>
          </a:prstGeom>
          <a:ln w="0">
            <a:noFill/>
          </a:ln>
        </p:spPr>
      </p:pic>
      <p:sp>
        <p:nvSpPr>
          <p:cNvPr id="183" name="TextBox 26"/>
          <p:cNvSpPr/>
          <p:nvPr/>
        </p:nvSpPr>
        <p:spPr>
          <a:xfrm>
            <a:off x="883440" y="1860120"/>
            <a:ext cx="302472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800" b="0" strike="noStrike" spc="-1">
                <a:solidFill>
                  <a:schemeClr val="accent2">
                    <a:lumMod val="75000"/>
                  </a:schemeClr>
                </a:solidFill>
                <a:latin typeface="News Gothic MT"/>
              </a:rPr>
              <a:t>TCP session establishment</a:t>
            </a:r>
            <a:endParaRPr lang="en-US" sz="1800" b="0" strike="noStrike" spc="-1">
              <a:solidFill>
                <a:srgbClr val="000000"/>
              </a:solidFill>
              <a:latin typeface="Arial"/>
            </a:endParaRPr>
          </a:p>
        </p:txBody>
      </p:sp>
      <p:pic>
        <p:nvPicPr>
          <p:cNvPr id="184" name="Picture 9" descr="handshake.jpg"/>
          <p:cNvPicPr/>
          <p:nvPr/>
        </p:nvPicPr>
        <p:blipFill>
          <a:blip r:embed="rId3"/>
          <a:stretch/>
        </p:blipFill>
        <p:spPr>
          <a:xfrm>
            <a:off x="988560" y="4167720"/>
            <a:ext cx="2492640" cy="891360"/>
          </a:xfrm>
          <a:prstGeom prst="rect">
            <a:avLst/>
          </a:prstGeom>
          <a:ln w="0">
            <a:noFill/>
          </a:ln>
        </p:spPr>
      </p:pic>
      <p:sp>
        <p:nvSpPr>
          <p:cNvPr id="185" name="TextBox 30"/>
          <p:cNvSpPr/>
          <p:nvPr/>
        </p:nvSpPr>
        <p:spPr>
          <a:xfrm>
            <a:off x="1069560" y="3701160"/>
            <a:ext cx="255996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800" b="0" strike="noStrike" spc="-1">
                <a:solidFill>
                  <a:schemeClr val="accent2">
                    <a:lumMod val="75000"/>
                  </a:schemeClr>
                </a:solidFill>
                <a:latin typeface="News Gothic MT"/>
              </a:rPr>
              <a:t>TLS key establishment</a:t>
            </a:r>
            <a:endParaRPr lang="en-US" sz="1800" b="0" strike="noStrike" spc="-1">
              <a:solidFill>
                <a:srgbClr val="000000"/>
              </a:solidFill>
              <a:latin typeface="Arial"/>
            </a:endParaRPr>
          </a:p>
        </p:txBody>
      </p:sp>
      <p:pic>
        <p:nvPicPr>
          <p:cNvPr id="186" name="Picture 10" descr="handshake.jpg"/>
          <p:cNvPicPr/>
          <p:nvPr/>
        </p:nvPicPr>
        <p:blipFill>
          <a:blip r:embed="rId3"/>
          <a:stretch/>
        </p:blipFill>
        <p:spPr>
          <a:xfrm>
            <a:off x="8434080" y="2621160"/>
            <a:ext cx="2492640" cy="891360"/>
          </a:xfrm>
          <a:prstGeom prst="rect">
            <a:avLst/>
          </a:prstGeom>
          <a:ln w="0">
            <a:noFill/>
          </a:ln>
        </p:spPr>
      </p:pic>
      <p:sp>
        <p:nvSpPr>
          <p:cNvPr id="187" name="TextBox 31"/>
          <p:cNvSpPr/>
          <p:nvPr/>
        </p:nvSpPr>
        <p:spPr>
          <a:xfrm>
            <a:off x="8289000" y="1860120"/>
            <a:ext cx="2954880" cy="638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800" b="0" strike="noStrike" spc="-1">
                <a:solidFill>
                  <a:schemeClr val="accent2">
                    <a:lumMod val="75000"/>
                  </a:schemeClr>
                </a:solidFill>
                <a:latin typeface="News Gothic MT"/>
              </a:rPr>
              <a:t>connection establishment</a:t>
            </a:r>
            <a:endParaRPr lang="en-US" sz="1800" b="0" strike="noStrike" spc="-1">
              <a:solidFill>
                <a:srgbClr val="000000"/>
              </a:solidFill>
              <a:latin typeface="Arial"/>
            </a:endParaRPr>
          </a:p>
          <a:p>
            <a:pPr algn="ctr" defTabSz="914400">
              <a:lnSpc>
                <a:spcPct val="100000"/>
              </a:lnSpc>
            </a:pPr>
            <a:r>
              <a:rPr lang="en-US" sz="1800" b="0" strike="noStrike" spc="-1">
                <a:solidFill>
                  <a:schemeClr val="accent2">
                    <a:lumMod val="75000"/>
                  </a:schemeClr>
                </a:solidFill>
                <a:latin typeface="News Gothic MT"/>
              </a:rPr>
              <a:t>and key agreement</a:t>
            </a:r>
            <a:endParaRPr lang="en-US" sz="1800" b="0" strike="noStrike" spc="-1">
              <a:solidFill>
                <a:srgbClr val="000000"/>
              </a:solidFill>
              <a:latin typeface="Arial"/>
            </a:endParaRPr>
          </a:p>
        </p:txBody>
      </p:sp>
      <p:sp>
        <p:nvSpPr>
          <p:cNvPr id="188" name="TextBox 32"/>
          <p:cNvSpPr/>
          <p:nvPr/>
        </p:nvSpPr>
        <p:spPr>
          <a:xfrm>
            <a:off x="1370880" y="5283360"/>
            <a:ext cx="175068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800" b="0" strike="noStrike" spc="-1">
                <a:solidFill>
                  <a:schemeClr val="accent2">
                    <a:lumMod val="75000"/>
                  </a:schemeClr>
                </a:solidFill>
                <a:latin typeface="News Gothic MT"/>
              </a:rPr>
              <a:t>exchange data</a:t>
            </a:r>
            <a:endParaRPr lang="en-US" sz="1800" b="0" strike="noStrike" spc="-1">
              <a:solidFill>
                <a:srgbClr val="000000"/>
              </a:solidFill>
              <a:latin typeface="Arial"/>
            </a:endParaRPr>
          </a:p>
        </p:txBody>
      </p:sp>
      <p:sp>
        <p:nvSpPr>
          <p:cNvPr id="189" name="TextBox 33"/>
          <p:cNvSpPr/>
          <p:nvPr/>
        </p:nvSpPr>
        <p:spPr>
          <a:xfrm>
            <a:off x="8872920" y="3729600"/>
            <a:ext cx="175068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800" b="0" strike="noStrike" spc="-1">
                <a:solidFill>
                  <a:schemeClr val="accent2">
                    <a:lumMod val="75000"/>
                  </a:schemeClr>
                </a:solidFill>
                <a:latin typeface="News Gothic MT"/>
              </a:rPr>
              <a:t>exchange data</a:t>
            </a:r>
            <a:endParaRPr lang="en-US" sz="1800" b="0" strike="noStrike" spc="-1">
              <a:solidFill>
                <a:srgbClr val="000000"/>
              </a:solidFill>
              <a:latin typeface="Arial"/>
            </a:endParaRPr>
          </a:p>
        </p:txBody>
      </p:sp>
      <p:sp>
        <p:nvSpPr>
          <p:cNvPr id="190" name="TextBox 34"/>
          <p:cNvSpPr/>
          <p:nvPr/>
        </p:nvSpPr>
        <p:spPr>
          <a:xfrm>
            <a:off x="5704560" y="2784600"/>
            <a:ext cx="946080" cy="638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800" b="0" strike="noStrike" spc="-1">
                <a:solidFill>
                  <a:schemeClr val="accent2">
                    <a:lumMod val="75000"/>
                  </a:schemeClr>
                </a:solidFill>
                <a:latin typeface="News Gothic MT"/>
              </a:rPr>
              <a:t>setup </a:t>
            </a:r>
            <a:endParaRPr lang="en-US" sz="1800" b="0" strike="noStrike" spc="-1">
              <a:solidFill>
                <a:srgbClr val="000000"/>
              </a:solidFill>
              <a:latin typeface="Arial"/>
            </a:endParaRPr>
          </a:p>
          <a:p>
            <a:pPr algn="ctr" defTabSz="914400">
              <a:lnSpc>
                <a:spcPct val="100000"/>
              </a:lnSpc>
            </a:pPr>
            <a:r>
              <a:rPr lang="en-US" sz="1800" b="0" strike="noStrike" spc="-1">
                <a:solidFill>
                  <a:schemeClr val="accent2">
                    <a:lumMod val="75000"/>
                  </a:schemeClr>
                </a:solidFill>
                <a:latin typeface="News Gothic MT"/>
              </a:rPr>
              <a:t>latency</a:t>
            </a:r>
            <a:endParaRPr lang="en-US" sz="1800" b="0" strike="noStrike" spc="-1">
              <a:solidFill>
                <a:srgbClr val="000000"/>
              </a:solidFill>
              <a:latin typeface="Arial"/>
            </a:endParaRPr>
          </a:p>
        </p:txBody>
      </p:sp>
      <p:sp>
        <p:nvSpPr>
          <p:cNvPr id="191" name="TextBox 35"/>
          <p:cNvSpPr/>
          <p:nvPr/>
        </p:nvSpPr>
        <p:spPr>
          <a:xfrm>
            <a:off x="2085120" y="3274920"/>
            <a:ext cx="370080" cy="4856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2600" b="1" strike="noStrike" spc="-1">
                <a:solidFill>
                  <a:schemeClr val="dk1"/>
                </a:solidFill>
                <a:latin typeface="News Gothic MT"/>
              </a:rPr>
              <a:t>+</a:t>
            </a:r>
            <a:endParaRPr lang="en-US" sz="2600" b="0" strike="noStrike" spc="-1">
              <a:solidFill>
                <a:srgbClr val="000000"/>
              </a:solidFill>
              <a:latin typeface="Arial"/>
            </a:endParaRPr>
          </a:p>
        </p:txBody>
      </p:sp>
      <p:sp>
        <p:nvSpPr>
          <p:cNvPr id="192" name="Right Brace 2"/>
          <p:cNvSpPr/>
          <p:nvPr/>
        </p:nvSpPr>
        <p:spPr>
          <a:xfrm>
            <a:off x="4445280" y="1777680"/>
            <a:ext cx="733320" cy="3322080"/>
          </a:xfrm>
          <a:prstGeom prst="rightBrace">
            <a:avLst>
              <a:gd name="adj1" fmla="val 8333"/>
              <a:gd name="adj2" fmla="val 50000"/>
            </a:avLst>
          </a:prstGeom>
          <a:noFill/>
          <a:ln>
            <a:solidFill>
              <a:srgbClr val="000000"/>
            </a:solidFill>
            <a:round/>
          </a:ln>
        </p:spPr>
        <p:style>
          <a:lnRef idx="2">
            <a:schemeClr val="accent1"/>
          </a:lnRef>
          <a:fillRef idx="0">
            <a:schemeClr val="accent1"/>
          </a:fillRef>
          <a:effectRef idx="1">
            <a:schemeClr val="accent1"/>
          </a:effectRef>
          <a:fontRef idx="minor"/>
        </p:style>
        <p:txBody>
          <a:bodyPr lIns="90000" tIns="45000" rIns="90000" bIns="45000" anchor="ctr">
            <a:noAutofit/>
          </a:bodyPr>
          <a:lstStyle/>
          <a:p>
            <a:endParaRPr lang="en-US" sz="1800" b="0" strike="noStrike" spc="-1">
              <a:solidFill>
                <a:schemeClr val="dk1"/>
              </a:solidFill>
              <a:latin typeface="News Gothic MT"/>
            </a:endParaRPr>
          </a:p>
        </p:txBody>
      </p:sp>
      <p:sp>
        <p:nvSpPr>
          <p:cNvPr id="193" name="Left Brace 2"/>
          <p:cNvSpPr/>
          <p:nvPr/>
        </p:nvSpPr>
        <p:spPr>
          <a:xfrm>
            <a:off x="7010280" y="1854720"/>
            <a:ext cx="735480" cy="1819800"/>
          </a:xfrm>
          <a:prstGeom prst="leftBrace">
            <a:avLst>
              <a:gd name="adj1" fmla="val 8333"/>
              <a:gd name="adj2" fmla="val 50000"/>
            </a:avLst>
          </a:prstGeom>
          <a:noFill/>
          <a:ln>
            <a:solidFill>
              <a:srgbClr val="000000"/>
            </a:solidFill>
            <a:round/>
          </a:ln>
        </p:spPr>
        <p:style>
          <a:lnRef idx="2">
            <a:schemeClr val="accent1"/>
          </a:lnRef>
          <a:fillRef idx="0">
            <a:schemeClr val="accent1"/>
          </a:fillRef>
          <a:effectRef idx="1">
            <a:schemeClr val="accent1"/>
          </a:effectRef>
          <a:fontRef idx="minor"/>
        </p:style>
        <p:txBody>
          <a:bodyPr lIns="90000" tIns="45000" rIns="90000" bIns="45000" anchor="ctr">
            <a:noAutofit/>
          </a:bodyPr>
          <a:lstStyle/>
          <a:p>
            <a:endParaRPr lang="en-US" sz="1800" b="0" strike="noStrike" spc="-1">
              <a:solidFill>
                <a:schemeClr val="dk1"/>
              </a:solidFill>
              <a:latin typeface="News Gothic MT"/>
            </a:endParaRPr>
          </a:p>
        </p:txBody>
      </p:sp>
      <p:sp>
        <p:nvSpPr>
          <p:cNvPr id="194" name="TextBox 36"/>
          <p:cNvSpPr/>
          <p:nvPr/>
        </p:nvSpPr>
        <p:spPr>
          <a:xfrm>
            <a:off x="1645920" y="1106640"/>
            <a:ext cx="2086200" cy="4554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2400" b="1" strike="noStrike" spc="-1">
                <a:solidFill>
                  <a:schemeClr val="accent2">
                    <a:lumMod val="75000"/>
                  </a:schemeClr>
                </a:solidFill>
                <a:latin typeface="News Gothic MT"/>
              </a:rPr>
              <a:t>TLS over TCP</a:t>
            </a:r>
            <a:endParaRPr lang="en-US" sz="2400" b="0" strike="noStrike" spc="-1">
              <a:solidFill>
                <a:srgbClr val="000000"/>
              </a:solidFill>
              <a:latin typeface="Arial"/>
            </a:endParaRPr>
          </a:p>
        </p:txBody>
      </p:sp>
      <p:sp>
        <p:nvSpPr>
          <p:cNvPr id="195" name="TextBox 37"/>
          <p:cNvSpPr/>
          <p:nvPr/>
        </p:nvSpPr>
        <p:spPr>
          <a:xfrm>
            <a:off x="9100080" y="1125720"/>
            <a:ext cx="965880" cy="4554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2400" b="1" strike="noStrike" spc="-1">
                <a:solidFill>
                  <a:schemeClr val="accent2">
                    <a:lumMod val="75000"/>
                  </a:schemeClr>
                </a:solidFill>
                <a:latin typeface="News Gothic MT"/>
              </a:rPr>
              <a:t>QUIC</a:t>
            </a:r>
            <a:endParaRPr lang="en-US" sz="2400" b="0" strike="noStrike" spc="-1">
              <a:solidFill>
                <a:srgbClr val="000000"/>
              </a:solidFill>
              <a:latin typeface="Arial"/>
            </a:endParaRPr>
          </a:p>
        </p:txBody>
      </p:sp>
      <p:sp>
        <p:nvSpPr>
          <p:cNvPr id="196" name="TextBox 38"/>
          <p:cNvSpPr/>
          <p:nvPr/>
        </p:nvSpPr>
        <p:spPr>
          <a:xfrm>
            <a:off x="161640" y="2529000"/>
            <a:ext cx="140796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strike="noStrike" spc="-1">
                <a:solidFill>
                  <a:schemeClr val="accent2">
                    <a:lumMod val="75000"/>
                  </a:schemeClr>
                </a:solidFill>
                <a:latin typeface="News Gothic MT"/>
              </a:rPr>
              <a:t>client</a:t>
            </a:r>
            <a:endParaRPr lang="en-US" sz="1800" b="0" strike="noStrike" spc="-1">
              <a:solidFill>
                <a:srgbClr val="000000"/>
              </a:solidFill>
              <a:latin typeface="Arial"/>
            </a:endParaRPr>
          </a:p>
        </p:txBody>
      </p:sp>
      <p:sp>
        <p:nvSpPr>
          <p:cNvPr id="197" name="TextBox 39"/>
          <p:cNvSpPr/>
          <p:nvPr/>
        </p:nvSpPr>
        <p:spPr>
          <a:xfrm>
            <a:off x="3480480" y="2533680"/>
            <a:ext cx="128628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strike="noStrike" spc="-1">
                <a:solidFill>
                  <a:schemeClr val="accent2">
                    <a:lumMod val="75000"/>
                  </a:schemeClr>
                </a:solidFill>
                <a:latin typeface="News Gothic MT"/>
              </a:rPr>
              <a:t>server</a:t>
            </a:r>
            <a:endParaRPr lang="en-US" sz="1800" b="0" strike="noStrike" spc="-1">
              <a:solidFill>
                <a:srgbClr val="000000"/>
              </a:solidFill>
              <a:latin typeface="Arial"/>
            </a:endParaRPr>
          </a:p>
        </p:txBody>
      </p:sp>
      <p:pic>
        <p:nvPicPr>
          <p:cNvPr id="198" name="Picture 12"/>
          <p:cNvPicPr/>
          <p:nvPr/>
        </p:nvPicPr>
        <p:blipFill>
          <a:blip r:embed="rId4"/>
          <a:stretch/>
        </p:blipFill>
        <p:spPr>
          <a:xfrm>
            <a:off x="3685680" y="2931120"/>
            <a:ext cx="700200" cy="688680"/>
          </a:xfrm>
          <a:prstGeom prst="rect">
            <a:avLst/>
          </a:prstGeom>
          <a:ln w="0">
            <a:noFill/>
          </a:ln>
        </p:spPr>
      </p:pic>
      <p:pic>
        <p:nvPicPr>
          <p:cNvPr id="199" name="Picture 13"/>
          <p:cNvPicPr/>
          <p:nvPr/>
        </p:nvPicPr>
        <p:blipFill>
          <a:blip r:embed="rId5"/>
          <a:stretch/>
        </p:blipFill>
        <p:spPr>
          <a:xfrm>
            <a:off x="414000" y="2929320"/>
            <a:ext cx="628920" cy="568800"/>
          </a:xfrm>
          <a:prstGeom prst="rect">
            <a:avLst/>
          </a:prstGeom>
          <a:ln w="0">
            <a:noFill/>
          </a:ln>
        </p:spPr>
      </p:pic>
      <p:sp>
        <p:nvSpPr>
          <p:cNvPr id="200" name="TextBox 40"/>
          <p:cNvSpPr/>
          <p:nvPr/>
        </p:nvSpPr>
        <p:spPr>
          <a:xfrm>
            <a:off x="10887120" y="2770200"/>
            <a:ext cx="128628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strike="noStrike" spc="-1">
                <a:solidFill>
                  <a:schemeClr val="accent2">
                    <a:lumMod val="75000"/>
                  </a:schemeClr>
                </a:solidFill>
                <a:latin typeface="News Gothic MT"/>
              </a:rPr>
              <a:t>server</a:t>
            </a:r>
            <a:endParaRPr lang="en-US" sz="1800" b="0" strike="noStrike" spc="-1">
              <a:solidFill>
                <a:srgbClr val="000000"/>
              </a:solidFill>
              <a:latin typeface="Arial"/>
            </a:endParaRPr>
          </a:p>
        </p:txBody>
      </p:sp>
      <p:pic>
        <p:nvPicPr>
          <p:cNvPr id="201" name="Picture 14"/>
          <p:cNvPicPr/>
          <p:nvPr/>
        </p:nvPicPr>
        <p:blipFill>
          <a:blip r:embed="rId4"/>
          <a:stretch/>
        </p:blipFill>
        <p:spPr>
          <a:xfrm>
            <a:off x="11092680" y="3125160"/>
            <a:ext cx="700200" cy="688680"/>
          </a:xfrm>
          <a:prstGeom prst="rect">
            <a:avLst/>
          </a:prstGeom>
          <a:ln w="0">
            <a:noFill/>
          </a:ln>
        </p:spPr>
      </p:pic>
      <p:sp>
        <p:nvSpPr>
          <p:cNvPr id="202" name="TextBox 41"/>
          <p:cNvSpPr/>
          <p:nvPr/>
        </p:nvSpPr>
        <p:spPr>
          <a:xfrm>
            <a:off x="7497360" y="2777040"/>
            <a:ext cx="140796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strike="noStrike" spc="-1">
                <a:solidFill>
                  <a:schemeClr val="accent2">
                    <a:lumMod val="75000"/>
                  </a:schemeClr>
                </a:solidFill>
                <a:latin typeface="News Gothic MT"/>
              </a:rPr>
              <a:t>client</a:t>
            </a:r>
            <a:endParaRPr lang="en-US" sz="1800" b="0" strike="noStrike" spc="-1">
              <a:solidFill>
                <a:srgbClr val="000000"/>
              </a:solidFill>
              <a:latin typeface="Arial"/>
            </a:endParaRPr>
          </a:p>
        </p:txBody>
      </p:sp>
      <p:pic>
        <p:nvPicPr>
          <p:cNvPr id="203" name="Picture 15"/>
          <p:cNvPicPr/>
          <p:nvPr/>
        </p:nvPicPr>
        <p:blipFill>
          <a:blip r:embed="rId5"/>
          <a:stretch/>
        </p:blipFill>
        <p:spPr>
          <a:xfrm>
            <a:off x="7787520" y="3120480"/>
            <a:ext cx="628920" cy="568800"/>
          </a:xfrm>
          <a:prstGeom prst="rect">
            <a:avLst/>
          </a:prstGeom>
          <a:ln w="0">
            <a:noFill/>
          </a:ln>
        </p:spPr>
      </p:pic>
      <p:sp>
        <p:nvSpPr>
          <p:cNvPr id="204" name="PlaceHolder 1"/>
          <p:cNvSpPr>
            <a:spLocks noGrp="1"/>
          </p:cNvSpPr>
          <p:nvPr>
            <p:ph/>
          </p:nvPr>
        </p:nvSpPr>
        <p:spPr>
          <a:xfrm>
            <a:off x="5027400" y="4353480"/>
            <a:ext cx="7170480" cy="1731600"/>
          </a:xfrm>
          <a:prstGeom prst="rect">
            <a:avLst/>
          </a:prstGeom>
          <a:noFill/>
          <a:ln w="0">
            <a:noFill/>
          </a:ln>
        </p:spPr>
        <p:txBody>
          <a:bodyPr lIns="91440" tIns="45720" rIns="91440" bIns="45720" anchor="t">
            <a:normAutofit/>
          </a:bodyPr>
          <a:lstStyle/>
          <a:p>
            <a:pPr indent="0" defTabSz="914400">
              <a:lnSpc>
                <a:spcPct val="100000"/>
              </a:lnSpc>
              <a:spcBef>
                <a:spcPts val="2001"/>
              </a:spcBef>
              <a:buNone/>
              <a:tabLst>
                <a:tab pos="0" algn="l"/>
              </a:tabLst>
            </a:pPr>
            <a:r>
              <a:rPr lang="en-US" sz="1900" b="0" strike="noStrike" spc="-1">
                <a:solidFill>
                  <a:schemeClr val="accent2">
                    <a:lumMod val="75000"/>
                  </a:schemeClr>
                </a:solidFill>
                <a:latin typeface="News Gothic MT"/>
              </a:rPr>
              <a:t>TCP guarantees ordered delivery, provides protection against connection-spoofing, but </a:t>
            </a:r>
          </a:p>
          <a:p>
            <a:pPr marL="692280" lvl="1" indent="-343080" defTabSz="914400">
              <a:lnSpc>
                <a:spcPct val="100000"/>
              </a:lnSpc>
              <a:spcBef>
                <a:spcPts val="601"/>
              </a:spcBef>
              <a:buClr>
                <a:srgbClr val="1B3742"/>
              </a:buClr>
              <a:buSzPct val="110000"/>
              <a:buFont typeface="Lucida Grande"/>
              <a:buChar char="-"/>
              <a:tabLst>
                <a:tab pos="0" algn="l"/>
              </a:tabLst>
            </a:pPr>
            <a:r>
              <a:rPr lang="en-US" sz="1800" b="0" strike="noStrike" spc="-1">
                <a:solidFill>
                  <a:schemeClr val="accent2">
                    <a:lumMod val="75000"/>
                  </a:schemeClr>
                </a:solidFill>
                <a:latin typeface="News Gothic MT"/>
              </a:rPr>
              <a:t>adds latency</a:t>
            </a:r>
            <a:endParaRPr lang="en-US" sz="1800" b="0" strike="noStrike" spc="-1">
              <a:solidFill>
                <a:schemeClr val="dk1">
                  <a:lumMod val="65000"/>
                  <a:lumOff val="35000"/>
                </a:schemeClr>
              </a:solidFill>
              <a:latin typeface="News Gothic MT"/>
            </a:endParaRPr>
          </a:p>
          <a:p>
            <a:pPr marL="692280" lvl="1" indent="-343080" defTabSz="914400">
              <a:lnSpc>
                <a:spcPct val="100000"/>
              </a:lnSpc>
              <a:spcBef>
                <a:spcPts val="601"/>
              </a:spcBef>
              <a:buClr>
                <a:srgbClr val="1B3742"/>
              </a:buClr>
              <a:buSzPct val="110000"/>
              <a:buFont typeface="Lucida Grande"/>
              <a:buChar char="-"/>
              <a:tabLst>
                <a:tab pos="0" algn="l"/>
              </a:tabLst>
            </a:pPr>
            <a:r>
              <a:rPr lang="en-US" sz="1800" b="0" strike="noStrike" spc="-1">
                <a:solidFill>
                  <a:schemeClr val="accent2">
                    <a:lumMod val="75000"/>
                  </a:schemeClr>
                </a:solidFill>
                <a:latin typeface="News Gothic MT"/>
              </a:rPr>
              <a:t>suffers from subtle performance attacks, e.g., TCP reset, </a:t>
            </a:r>
            <a:r>
              <a:rPr lang="en-US" sz="1800" b="0" strike="noStrike" spc="-1">
                <a:solidFill>
                  <a:schemeClr val="dk2">
                    <a:lumMod val="75000"/>
                    <a:lumOff val="25000"/>
                  </a:schemeClr>
                </a:solidFill>
                <a:latin typeface="News Gothic MT"/>
              </a:rPr>
              <a:t>Clayton et al, 2006</a:t>
            </a:r>
            <a:r>
              <a:rPr lang="en-US" sz="1800" b="0" strike="noStrike" spc="-1">
                <a:solidFill>
                  <a:schemeClr val="accent2">
                    <a:lumMod val="75000"/>
                  </a:schemeClr>
                </a:solidFill>
                <a:latin typeface="News Gothic MT"/>
              </a:rPr>
              <a:t> </a:t>
            </a:r>
            <a:endParaRPr lang="en-US" sz="1800" b="0" strike="noStrike" spc="-1">
              <a:solidFill>
                <a:schemeClr val="dk1">
                  <a:lumMod val="65000"/>
                  <a:lumOff val="35000"/>
                </a:schemeClr>
              </a:solidFill>
              <a:latin typeface="News Gothic MT"/>
            </a:endParaRPr>
          </a:p>
        </p:txBody>
      </p:sp>
      <p:sp>
        <p:nvSpPr>
          <p:cNvPr id="205" name="Content Placeholder 8"/>
          <p:cNvSpPr/>
          <p:nvPr/>
        </p:nvSpPr>
        <p:spPr>
          <a:xfrm>
            <a:off x="5177880" y="6058080"/>
            <a:ext cx="6562440" cy="64116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spcBef>
                <a:spcPts val="2001"/>
              </a:spcBef>
              <a:tabLst>
                <a:tab pos="0" algn="l"/>
              </a:tabLst>
            </a:pPr>
            <a:r>
              <a:rPr lang="en-US" sz="1900" b="0" strike="noStrike" spc="-1">
                <a:solidFill>
                  <a:schemeClr val="accent2">
                    <a:lumMod val="75000"/>
                  </a:schemeClr>
                </a:solidFill>
                <a:latin typeface="News Gothic MT"/>
              </a:rPr>
              <a:t>What about QUIC?</a:t>
            </a:r>
            <a:endParaRPr lang="en-US" sz="1900" b="0" strike="noStrike" spc="-1">
              <a:solidFill>
                <a:srgbClr val="000000"/>
              </a:solidFill>
              <a:latin typeface="Arial"/>
            </a:endParaRPr>
          </a:p>
        </p:txBody>
      </p:sp>
      <p:sp>
        <p:nvSpPr>
          <p:cNvPr id="206" name="Title 5"/>
          <p:cNvSpPr/>
          <p:nvPr/>
        </p:nvSpPr>
        <p:spPr>
          <a:xfrm>
            <a:off x="-93960" y="107640"/>
            <a:ext cx="12436560" cy="823320"/>
          </a:xfrm>
          <a:prstGeom prst="rect">
            <a:avLst/>
          </a:prstGeom>
          <a:noFill/>
          <a:ln w="0">
            <a:noFill/>
          </a:ln>
        </p:spPr>
        <p:style>
          <a:lnRef idx="0">
            <a:scrgbClr r="0" g="0" b="0"/>
          </a:lnRef>
          <a:fillRef idx="0">
            <a:scrgbClr r="0" g="0" b="0"/>
          </a:fillRef>
          <a:effectRef idx="0">
            <a:scrgbClr r="0" g="0" b="0"/>
          </a:effectRef>
          <a:fontRef idx="minor"/>
        </p:style>
        <p:txBody>
          <a:bodyPr anchor="b">
            <a:noAutofit/>
          </a:bodyPr>
          <a:lstStyle/>
          <a:p>
            <a:pPr algn="ctr" defTabSz="914400">
              <a:lnSpc>
                <a:spcPct val="100000"/>
              </a:lnSpc>
            </a:pPr>
            <a:r>
              <a:rPr lang="en-US" sz="4000" b="0" strike="noStrike" spc="-1">
                <a:solidFill>
                  <a:schemeClr val="accent2">
                    <a:lumMod val="75000"/>
                  </a:schemeClr>
                </a:solidFill>
                <a:latin typeface="News Gothic MT"/>
              </a:rPr>
              <a:t>Setup Time: QUIC vs TLS</a:t>
            </a:r>
            <a:endParaRPr lang="en-US" sz="4000" b="0" strike="noStrike" spc="-1">
              <a:solidFill>
                <a:srgbClr val="000000"/>
              </a:solidFill>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94"/>
                                        </p:tgtEl>
                                        <p:attrNameLst>
                                          <p:attrName>style.visibility</p:attrName>
                                        </p:attrNameLst>
                                      </p:cBhvr>
                                      <p:to>
                                        <p:strVal val="visible"/>
                                      </p:to>
                                    </p:set>
                                  </p:childTnLst>
                                </p:cTn>
                              </p:par>
                              <p:par>
                                <p:cTn id="7" presetID="3" presetClass="entr" presetSubtype="10" fill="hold" nodeType="withEffect">
                                  <p:stCondLst>
                                    <p:cond delay="0"/>
                                  </p:stCondLst>
                                  <p:childTnLst>
                                    <p:set>
                                      <p:cBhvr>
                                        <p:cTn id="8" dur="1" fill="hold">
                                          <p:stCondLst>
                                            <p:cond delay="0"/>
                                          </p:stCondLst>
                                        </p:cTn>
                                        <p:tgtEl>
                                          <p:spTgt spid="183"/>
                                        </p:tgtEl>
                                        <p:attrNameLst>
                                          <p:attrName>style.visibility</p:attrName>
                                        </p:attrNameLst>
                                      </p:cBhvr>
                                      <p:to>
                                        <p:strVal val="visible"/>
                                      </p:to>
                                    </p:set>
                                    <p:animEffect transition="in" filter="blinds(horizontal)">
                                      <p:cBhvr additive="repl">
                                        <p:cTn id="9" dur="500"/>
                                        <p:tgtEl>
                                          <p:spTgt spid="183"/>
                                        </p:tgtEl>
                                      </p:cBhvr>
                                    </p:animEffect>
                                  </p:childTnLst>
                                </p:cTn>
                              </p:par>
                              <p:par>
                                <p:cTn id="10" presetID="3" presetClass="entr" presetSubtype="10" fill="hold" nodeType="withEffect">
                                  <p:stCondLst>
                                    <p:cond delay="0"/>
                                  </p:stCondLst>
                                  <p:childTnLst>
                                    <p:set>
                                      <p:cBhvr>
                                        <p:cTn id="11" dur="1" fill="hold">
                                          <p:stCondLst>
                                            <p:cond delay="0"/>
                                          </p:stCondLst>
                                        </p:cTn>
                                        <p:tgtEl>
                                          <p:spTgt spid="182"/>
                                        </p:tgtEl>
                                        <p:attrNameLst>
                                          <p:attrName>style.visibility</p:attrName>
                                        </p:attrNameLst>
                                      </p:cBhvr>
                                      <p:to>
                                        <p:strVal val="visible"/>
                                      </p:to>
                                    </p:set>
                                    <p:animEffect transition="in" filter="blinds(horizontal)">
                                      <p:cBhvr additive="repl">
                                        <p:cTn id="12" dur="500"/>
                                        <p:tgtEl>
                                          <p:spTgt spid="182"/>
                                        </p:tgtEl>
                                      </p:cBhvr>
                                    </p:animEffect>
                                  </p:childTnLst>
                                </p:cTn>
                              </p:par>
                              <p:par>
                                <p:cTn id="13" presetID="1" presetClass="entr" fill="hold" nodeType="withEffect">
                                  <p:stCondLst>
                                    <p:cond delay="0"/>
                                  </p:stCondLst>
                                  <p:childTnLst>
                                    <p:set>
                                      <p:cBhvr>
                                        <p:cTn id="14" dur="1" fill="hold">
                                          <p:stCondLst>
                                            <p:cond delay="0"/>
                                          </p:stCondLst>
                                        </p:cTn>
                                        <p:tgtEl>
                                          <p:spTgt spid="199"/>
                                        </p:tgtEl>
                                        <p:attrNameLst>
                                          <p:attrName>style.visibility</p:attrName>
                                        </p:attrNameLst>
                                      </p:cBhvr>
                                      <p:to>
                                        <p:strVal val="visible"/>
                                      </p:to>
                                    </p:set>
                                  </p:childTnLst>
                                </p:cTn>
                              </p:par>
                              <p:par>
                                <p:cTn id="15" presetID="1" presetClass="entr" fill="hold"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fill="hold" nodeType="withEffect">
                                  <p:stCondLst>
                                    <p:cond delay="0"/>
                                  </p:stCondLst>
                                  <p:childTnLst>
                                    <p:set>
                                      <p:cBhvr>
                                        <p:cTn id="18" dur="1" fill="hold">
                                          <p:stCondLst>
                                            <p:cond delay="0"/>
                                          </p:stCondLst>
                                        </p:cTn>
                                        <p:tgtEl>
                                          <p:spTgt spid="198"/>
                                        </p:tgtEl>
                                        <p:attrNameLst>
                                          <p:attrName>style.visibility</p:attrName>
                                        </p:attrNameLst>
                                      </p:cBhvr>
                                      <p:to>
                                        <p:strVal val="visible"/>
                                      </p:to>
                                    </p:set>
                                  </p:childTnLst>
                                </p:cTn>
                              </p:par>
                              <p:par>
                                <p:cTn id="19" presetID="1" presetClass="entr" fill="hold" nodeType="withEffect">
                                  <p:stCondLst>
                                    <p:cond delay="0"/>
                                  </p:stCondLst>
                                  <p:childTnLst>
                                    <p:set>
                                      <p:cBhvr>
                                        <p:cTn id="20" dur="1" fill="hold">
                                          <p:stCondLst>
                                            <p:cond delay="0"/>
                                          </p:stCondLst>
                                        </p:cTn>
                                        <p:tgtEl>
                                          <p:spTgt spid="197"/>
                                        </p:tgtEl>
                                        <p:attrNameLst>
                                          <p:attrName>style.visibility</p:attrName>
                                        </p:attrNameLst>
                                      </p:cBhvr>
                                      <p:to>
                                        <p:strVal val="visible"/>
                                      </p:to>
                                    </p:set>
                                  </p:childTnLst>
                                </p:cTn>
                              </p:par>
                            </p:childTnLst>
                          </p:cTn>
                        </p:par>
                        <p:par>
                          <p:cTn id="21" fill="hold">
                            <p:stCondLst>
                              <p:cond delay="500"/>
                            </p:stCondLst>
                            <p:childTnLst>
                              <p:par>
                                <p:cTn id="22" presetID="3" presetClass="entr" presetSubtype="10" fill="hold" nodeType="afterEffect">
                                  <p:stCondLst>
                                    <p:cond delay="100"/>
                                  </p:stCondLst>
                                  <p:childTnLst>
                                    <p:set>
                                      <p:cBhvr>
                                        <p:cTn id="23" dur="1" fill="hold">
                                          <p:stCondLst>
                                            <p:cond delay="0"/>
                                          </p:stCondLst>
                                        </p:cTn>
                                        <p:tgtEl>
                                          <p:spTgt spid="185"/>
                                        </p:tgtEl>
                                        <p:attrNameLst>
                                          <p:attrName>style.visibility</p:attrName>
                                        </p:attrNameLst>
                                      </p:cBhvr>
                                      <p:to>
                                        <p:strVal val="visible"/>
                                      </p:to>
                                    </p:set>
                                    <p:animEffect transition="in" filter="blinds(horizontal)">
                                      <p:cBhvr additive="repl">
                                        <p:cTn id="24" dur="500"/>
                                        <p:tgtEl>
                                          <p:spTgt spid="185"/>
                                        </p:tgtEl>
                                      </p:cBhvr>
                                    </p:animEffect>
                                  </p:childTnLst>
                                </p:cTn>
                              </p:par>
                              <p:par>
                                <p:cTn id="25" presetID="3" presetClass="entr" presetSubtype="10" fill="hold" nodeType="withEffect">
                                  <p:stCondLst>
                                    <p:cond delay="0"/>
                                  </p:stCondLst>
                                  <p:childTnLst>
                                    <p:set>
                                      <p:cBhvr>
                                        <p:cTn id="26" dur="1" fill="hold">
                                          <p:stCondLst>
                                            <p:cond delay="0"/>
                                          </p:stCondLst>
                                        </p:cTn>
                                        <p:tgtEl>
                                          <p:spTgt spid="184"/>
                                        </p:tgtEl>
                                        <p:attrNameLst>
                                          <p:attrName>style.visibility</p:attrName>
                                        </p:attrNameLst>
                                      </p:cBhvr>
                                      <p:to>
                                        <p:strVal val="visible"/>
                                      </p:to>
                                    </p:set>
                                    <p:animEffect transition="in" filter="blinds(horizontal)">
                                      <p:cBhvr additive="repl">
                                        <p:cTn id="27" dur="500"/>
                                        <p:tgtEl>
                                          <p:spTgt spid="184"/>
                                        </p:tgtEl>
                                      </p:cBhvr>
                                    </p:animEffect>
                                  </p:childTnLst>
                                </p:cTn>
                              </p:par>
                            </p:childTnLst>
                          </p:cTn>
                        </p:par>
                        <p:par>
                          <p:cTn id="28" fill="hold">
                            <p:stCondLst>
                              <p:cond delay="1100"/>
                            </p:stCondLst>
                            <p:childTnLst>
                              <p:par>
                                <p:cTn id="29" presetID="3" presetClass="entr" presetSubtype="10" fill="hold" nodeType="afterEffect">
                                  <p:stCondLst>
                                    <p:cond delay="100"/>
                                  </p:stCondLst>
                                  <p:childTnLst>
                                    <p:set>
                                      <p:cBhvr>
                                        <p:cTn id="30" dur="1" fill="hold">
                                          <p:stCondLst>
                                            <p:cond delay="0"/>
                                          </p:stCondLst>
                                        </p:cTn>
                                        <p:tgtEl>
                                          <p:spTgt spid="188"/>
                                        </p:tgtEl>
                                        <p:attrNameLst>
                                          <p:attrName>style.visibility</p:attrName>
                                        </p:attrNameLst>
                                      </p:cBhvr>
                                      <p:to>
                                        <p:strVal val="visible"/>
                                      </p:to>
                                    </p:set>
                                    <p:animEffect transition="in" filter="blinds(horizontal)">
                                      <p:cBhvr additive="repl">
                                        <p:cTn id="31" dur="500"/>
                                        <p:tgtEl>
                                          <p:spTgt spid="188"/>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fill="hold" nodeType="clickEffect">
                                  <p:stCondLst>
                                    <p:cond delay="0"/>
                                  </p:stCondLst>
                                  <p:childTnLst>
                                    <p:set>
                                      <p:cBhvr>
                                        <p:cTn id="35" dur="1" fill="hold">
                                          <p:stCondLst>
                                            <p:cond delay="0"/>
                                          </p:stCondLst>
                                        </p:cTn>
                                        <p:tgtEl>
                                          <p:spTgt spid="195"/>
                                        </p:tgtEl>
                                        <p:attrNameLst>
                                          <p:attrName>style.visibility</p:attrName>
                                        </p:attrNameLst>
                                      </p:cBhvr>
                                      <p:to>
                                        <p:strVal val="visible"/>
                                      </p:to>
                                    </p:set>
                                  </p:childTnLst>
                                </p:cTn>
                              </p:par>
                              <p:par>
                                <p:cTn id="36" presetID="3" presetClass="entr" presetSubtype="10" fill="hold" nodeType="withEffect">
                                  <p:stCondLst>
                                    <p:cond delay="0"/>
                                  </p:stCondLst>
                                  <p:childTnLst>
                                    <p:set>
                                      <p:cBhvr>
                                        <p:cTn id="37" dur="1" fill="hold">
                                          <p:stCondLst>
                                            <p:cond delay="0"/>
                                          </p:stCondLst>
                                        </p:cTn>
                                        <p:tgtEl>
                                          <p:spTgt spid="187"/>
                                        </p:tgtEl>
                                        <p:attrNameLst>
                                          <p:attrName>style.visibility</p:attrName>
                                        </p:attrNameLst>
                                      </p:cBhvr>
                                      <p:to>
                                        <p:strVal val="visible"/>
                                      </p:to>
                                    </p:set>
                                    <p:animEffect transition="in" filter="blinds(horizontal)">
                                      <p:cBhvr additive="repl">
                                        <p:cTn id="38" dur="500"/>
                                        <p:tgtEl>
                                          <p:spTgt spid="187"/>
                                        </p:tgtEl>
                                      </p:cBhvr>
                                    </p:animEffect>
                                  </p:childTnLst>
                                </p:cTn>
                              </p:par>
                              <p:par>
                                <p:cTn id="39" presetID="3" presetClass="entr" presetSubtype="10" fill="hold" nodeType="withEffect">
                                  <p:stCondLst>
                                    <p:cond delay="0"/>
                                  </p:stCondLst>
                                  <p:childTnLst>
                                    <p:set>
                                      <p:cBhvr>
                                        <p:cTn id="40" dur="1" fill="hold">
                                          <p:stCondLst>
                                            <p:cond delay="0"/>
                                          </p:stCondLst>
                                        </p:cTn>
                                        <p:tgtEl>
                                          <p:spTgt spid="186"/>
                                        </p:tgtEl>
                                        <p:attrNameLst>
                                          <p:attrName>style.visibility</p:attrName>
                                        </p:attrNameLst>
                                      </p:cBhvr>
                                      <p:to>
                                        <p:strVal val="visible"/>
                                      </p:to>
                                    </p:set>
                                    <p:animEffect transition="in" filter="blinds(horizontal)">
                                      <p:cBhvr additive="repl">
                                        <p:cTn id="41" dur="500"/>
                                        <p:tgtEl>
                                          <p:spTgt spid="186"/>
                                        </p:tgtEl>
                                      </p:cBhvr>
                                    </p:animEffect>
                                  </p:childTnLst>
                                </p:cTn>
                              </p:par>
                              <p:par>
                                <p:cTn id="42" presetID="1" presetClass="entr" fill="hold" nodeType="withEffect">
                                  <p:stCondLst>
                                    <p:cond delay="0"/>
                                  </p:stCondLst>
                                  <p:childTnLst>
                                    <p:set>
                                      <p:cBhvr>
                                        <p:cTn id="43" dur="1" fill="hold">
                                          <p:stCondLst>
                                            <p:cond delay="0"/>
                                          </p:stCondLst>
                                        </p:cTn>
                                        <p:tgtEl>
                                          <p:spTgt spid="201"/>
                                        </p:tgtEl>
                                        <p:attrNameLst>
                                          <p:attrName>style.visibility</p:attrName>
                                        </p:attrNameLst>
                                      </p:cBhvr>
                                      <p:to>
                                        <p:strVal val="visible"/>
                                      </p:to>
                                    </p:set>
                                  </p:childTnLst>
                                </p:cTn>
                              </p:par>
                              <p:par>
                                <p:cTn id="44" presetID="1" presetClass="entr" fill="hold" nodeType="withEffect">
                                  <p:stCondLst>
                                    <p:cond delay="0"/>
                                  </p:stCondLst>
                                  <p:childTnLst>
                                    <p:set>
                                      <p:cBhvr>
                                        <p:cTn id="45" dur="1" fill="hold">
                                          <p:stCondLst>
                                            <p:cond delay="0"/>
                                          </p:stCondLst>
                                        </p:cTn>
                                        <p:tgtEl>
                                          <p:spTgt spid="200"/>
                                        </p:tgtEl>
                                        <p:attrNameLst>
                                          <p:attrName>style.visibility</p:attrName>
                                        </p:attrNameLst>
                                      </p:cBhvr>
                                      <p:to>
                                        <p:strVal val="visible"/>
                                      </p:to>
                                    </p:set>
                                  </p:childTnLst>
                                </p:cTn>
                              </p:par>
                              <p:par>
                                <p:cTn id="46" presetID="1" presetClass="entr" fill="hold" nodeType="withEffect">
                                  <p:stCondLst>
                                    <p:cond delay="0"/>
                                  </p:stCondLst>
                                  <p:childTnLst>
                                    <p:set>
                                      <p:cBhvr>
                                        <p:cTn id="47" dur="1" fill="hold">
                                          <p:stCondLst>
                                            <p:cond delay="0"/>
                                          </p:stCondLst>
                                        </p:cTn>
                                        <p:tgtEl>
                                          <p:spTgt spid="203"/>
                                        </p:tgtEl>
                                        <p:attrNameLst>
                                          <p:attrName>style.visibility</p:attrName>
                                        </p:attrNameLst>
                                      </p:cBhvr>
                                      <p:to>
                                        <p:strVal val="visible"/>
                                      </p:to>
                                    </p:set>
                                  </p:childTnLst>
                                </p:cTn>
                              </p:par>
                              <p:par>
                                <p:cTn id="48" presetID="1" presetClass="entr" fill="hold" nodeType="withEffect">
                                  <p:stCondLst>
                                    <p:cond delay="0"/>
                                  </p:stCondLst>
                                  <p:childTnLst>
                                    <p:set>
                                      <p:cBhvr>
                                        <p:cTn id="49" dur="1" fill="hold">
                                          <p:stCondLst>
                                            <p:cond delay="0"/>
                                          </p:stCondLst>
                                        </p:cTn>
                                        <p:tgtEl>
                                          <p:spTgt spid="202"/>
                                        </p:tgtEl>
                                        <p:attrNameLst>
                                          <p:attrName>style.visibility</p:attrName>
                                        </p:attrNameLst>
                                      </p:cBhvr>
                                      <p:to>
                                        <p:strVal val="visible"/>
                                      </p:to>
                                    </p:set>
                                  </p:childTnLst>
                                </p:cTn>
                              </p:par>
                            </p:childTnLst>
                          </p:cTn>
                        </p:par>
                        <p:par>
                          <p:cTn id="50" fill="hold">
                            <p:stCondLst>
                              <p:cond delay="500"/>
                            </p:stCondLst>
                            <p:childTnLst>
                              <p:par>
                                <p:cTn id="51" presetID="1" presetClass="entr" fill="hold" nodeType="afterEffect">
                                  <p:stCondLst>
                                    <p:cond delay="100"/>
                                  </p:stCondLst>
                                  <p:childTnLst>
                                    <p:set>
                                      <p:cBhvr>
                                        <p:cTn id="52" dur="1" fill="hold">
                                          <p:stCondLst>
                                            <p:cond delay="0"/>
                                          </p:stCondLst>
                                        </p:cTn>
                                        <p:tgtEl>
                                          <p:spTgt spid="18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nodeType="clickEffect">
                                  <p:stCondLst>
                                    <p:cond delay="0"/>
                                  </p:stCondLst>
                                  <p:childTnLst>
                                    <p:set>
                                      <p:cBhvr>
                                        <p:cTn id="56" dur="1" fill="hold">
                                          <p:stCondLst>
                                            <p:cond delay="0"/>
                                          </p:stCondLst>
                                        </p:cTn>
                                        <p:tgtEl>
                                          <p:spTgt spid="192"/>
                                        </p:tgtEl>
                                        <p:attrNameLst>
                                          <p:attrName>style.visibility</p:attrName>
                                        </p:attrNameLst>
                                      </p:cBhvr>
                                      <p:to>
                                        <p:strVal val="visible"/>
                                      </p:to>
                                    </p:set>
                                    <p:anim calcmode="lin" valueType="num">
                                      <p:cBhvr additive="repl">
                                        <p:cTn id="57" dur="500" fill="hold"/>
                                        <p:tgtEl>
                                          <p:spTgt spid="192"/>
                                        </p:tgtEl>
                                        <p:attrNameLst>
                                          <p:attrName>ppt_w</p:attrName>
                                        </p:attrNameLst>
                                      </p:cBhvr>
                                      <p:tavLst>
                                        <p:tav tm="0">
                                          <p:val>
                                            <p:fltVal val="0"/>
                                          </p:val>
                                        </p:tav>
                                        <p:tav tm="100000">
                                          <p:val>
                                            <p:strVal val="#ppt_w"/>
                                          </p:val>
                                        </p:tav>
                                      </p:tavLst>
                                    </p:anim>
                                    <p:anim calcmode="lin" valueType="num">
                                      <p:cBhvr additive="repl">
                                        <p:cTn id="58" dur="500" fill="hold"/>
                                        <p:tgtEl>
                                          <p:spTgt spid="192"/>
                                        </p:tgtEl>
                                        <p:attrNameLst>
                                          <p:attrName>ppt_h</p:attrName>
                                        </p:attrNameLst>
                                      </p:cBhvr>
                                      <p:tavLst>
                                        <p:tav tm="0">
                                          <p:val>
                                            <p:fltVal val="0"/>
                                          </p:val>
                                        </p:tav>
                                        <p:tav tm="100000">
                                          <p:val>
                                            <p:strVal val="#ppt_h"/>
                                          </p:val>
                                        </p:tav>
                                      </p:tavLst>
                                    </p:anim>
                                    <p:animEffect transition="in" filter="fade">
                                      <p:cBhvr additive="repl">
                                        <p:cTn id="59" dur="500"/>
                                        <p:tgtEl>
                                          <p:spTgt spid="192"/>
                                        </p:tgtEl>
                                      </p:cBhvr>
                                    </p:animEffect>
                                  </p:childTnLst>
                                </p:cTn>
                              </p:par>
                              <p:par>
                                <p:cTn id="60" presetID="53" presetClass="entr" presetSubtype="16" fill="hold" nodeType="withEffect">
                                  <p:stCondLst>
                                    <p:cond delay="0"/>
                                  </p:stCondLst>
                                  <p:childTnLst>
                                    <p:set>
                                      <p:cBhvr>
                                        <p:cTn id="61" dur="1" fill="hold">
                                          <p:stCondLst>
                                            <p:cond delay="0"/>
                                          </p:stCondLst>
                                        </p:cTn>
                                        <p:tgtEl>
                                          <p:spTgt spid="193"/>
                                        </p:tgtEl>
                                        <p:attrNameLst>
                                          <p:attrName>style.visibility</p:attrName>
                                        </p:attrNameLst>
                                      </p:cBhvr>
                                      <p:to>
                                        <p:strVal val="visible"/>
                                      </p:to>
                                    </p:set>
                                    <p:anim calcmode="lin" valueType="num">
                                      <p:cBhvr additive="repl">
                                        <p:cTn id="62" dur="500" fill="hold"/>
                                        <p:tgtEl>
                                          <p:spTgt spid="193"/>
                                        </p:tgtEl>
                                        <p:attrNameLst>
                                          <p:attrName>ppt_w</p:attrName>
                                        </p:attrNameLst>
                                      </p:cBhvr>
                                      <p:tavLst>
                                        <p:tav tm="0">
                                          <p:val>
                                            <p:fltVal val="0"/>
                                          </p:val>
                                        </p:tav>
                                        <p:tav tm="100000">
                                          <p:val>
                                            <p:strVal val="#ppt_w"/>
                                          </p:val>
                                        </p:tav>
                                      </p:tavLst>
                                    </p:anim>
                                    <p:anim calcmode="lin" valueType="num">
                                      <p:cBhvr additive="repl">
                                        <p:cTn id="63" dur="500" fill="hold"/>
                                        <p:tgtEl>
                                          <p:spTgt spid="193"/>
                                        </p:tgtEl>
                                        <p:attrNameLst>
                                          <p:attrName>ppt_h</p:attrName>
                                        </p:attrNameLst>
                                      </p:cBhvr>
                                      <p:tavLst>
                                        <p:tav tm="0">
                                          <p:val>
                                            <p:fltVal val="0"/>
                                          </p:val>
                                        </p:tav>
                                        <p:tav tm="100000">
                                          <p:val>
                                            <p:strVal val="#ppt_h"/>
                                          </p:val>
                                        </p:tav>
                                      </p:tavLst>
                                    </p:anim>
                                    <p:animEffect transition="in" filter="fade">
                                      <p:cBhvr additive="repl">
                                        <p:cTn id="64" dur="500"/>
                                        <p:tgtEl>
                                          <p:spTgt spid="193"/>
                                        </p:tgtEl>
                                      </p:cBhvr>
                                    </p:animEffect>
                                  </p:childTnLst>
                                </p:cTn>
                              </p:par>
                              <p:par>
                                <p:cTn id="65" presetID="9" presetClass="entr" fill="hold" nodeType="withEffect">
                                  <p:stCondLst>
                                    <p:cond delay="0"/>
                                  </p:stCondLst>
                                  <p:childTnLst>
                                    <p:set>
                                      <p:cBhvr>
                                        <p:cTn id="66" dur="1" fill="hold">
                                          <p:stCondLst>
                                            <p:cond delay="0"/>
                                          </p:stCondLst>
                                        </p:cTn>
                                        <p:tgtEl>
                                          <p:spTgt spid="190"/>
                                        </p:tgtEl>
                                        <p:attrNameLst>
                                          <p:attrName>style.visibility</p:attrName>
                                        </p:attrNameLst>
                                      </p:cBhvr>
                                      <p:to>
                                        <p:strVal val="visible"/>
                                      </p:to>
                                    </p:set>
                                    <p:animEffect transition="in" filter="dissolve">
                                      <p:cBhvr additive="repl">
                                        <p:cTn id="67" dur="500"/>
                                        <p:tgtEl>
                                          <p:spTgt spid="190"/>
                                        </p:tgtEl>
                                      </p:cBhvr>
                                    </p:animEffect>
                                  </p:childTnLst>
                                </p:cTn>
                              </p:par>
                              <p:par>
                                <p:cTn id="68" presetID="53" presetClass="entr" presetSubtype="16" fill="hold" nodeType="withEffect">
                                  <p:stCondLst>
                                    <p:cond delay="0"/>
                                  </p:stCondLst>
                                  <p:childTnLst>
                                    <p:set>
                                      <p:cBhvr>
                                        <p:cTn id="69" dur="1" fill="hold">
                                          <p:stCondLst>
                                            <p:cond delay="0"/>
                                          </p:stCondLst>
                                        </p:cTn>
                                        <p:tgtEl>
                                          <p:spTgt spid="191"/>
                                        </p:tgtEl>
                                        <p:attrNameLst>
                                          <p:attrName>style.visibility</p:attrName>
                                        </p:attrNameLst>
                                      </p:cBhvr>
                                      <p:to>
                                        <p:strVal val="visible"/>
                                      </p:to>
                                    </p:set>
                                    <p:anim calcmode="lin" valueType="num">
                                      <p:cBhvr additive="repl">
                                        <p:cTn id="70" dur="500" fill="hold"/>
                                        <p:tgtEl>
                                          <p:spTgt spid="191"/>
                                        </p:tgtEl>
                                        <p:attrNameLst>
                                          <p:attrName>ppt_w</p:attrName>
                                        </p:attrNameLst>
                                      </p:cBhvr>
                                      <p:tavLst>
                                        <p:tav tm="0">
                                          <p:val>
                                            <p:fltVal val="0"/>
                                          </p:val>
                                        </p:tav>
                                        <p:tav tm="100000">
                                          <p:val>
                                            <p:strVal val="#ppt_w"/>
                                          </p:val>
                                        </p:tav>
                                      </p:tavLst>
                                    </p:anim>
                                    <p:anim calcmode="lin" valueType="num">
                                      <p:cBhvr additive="repl">
                                        <p:cTn id="71" dur="500" fill="hold"/>
                                        <p:tgtEl>
                                          <p:spTgt spid="191"/>
                                        </p:tgtEl>
                                        <p:attrNameLst>
                                          <p:attrName>ppt_h</p:attrName>
                                        </p:attrNameLst>
                                      </p:cBhvr>
                                      <p:tavLst>
                                        <p:tav tm="0">
                                          <p:val>
                                            <p:fltVal val="0"/>
                                          </p:val>
                                        </p:tav>
                                        <p:tav tm="100000">
                                          <p:val>
                                            <p:strVal val="#ppt_h"/>
                                          </p:val>
                                        </p:tav>
                                      </p:tavLst>
                                    </p:anim>
                                    <p:animEffect transition="in" filter="fade">
                                      <p:cBhvr additive="repl">
                                        <p:cTn id="72" dur="500"/>
                                        <p:tgtEl>
                                          <p:spTgt spid="191"/>
                                        </p:tgtEl>
                                      </p:cBhvr>
                                    </p:animEffect>
                                  </p:childTnLst>
                                </p:cTn>
                              </p:par>
                            </p:childTnLst>
                          </p:cTn>
                        </p:par>
                      </p:childTnLst>
                    </p:cTn>
                  </p:par>
                  <p:par>
                    <p:cTn id="73" fill="hold">
                      <p:stCondLst>
                        <p:cond delay="indefinite"/>
                      </p:stCondLst>
                      <p:childTnLst>
                        <p:par>
                          <p:cTn id="74" fill="hold">
                            <p:stCondLst>
                              <p:cond delay="0"/>
                            </p:stCondLst>
                            <p:childTnLst>
                              <p:par>
                                <p:cTn id="75" presetID="1" presetClass="entr" fill="hold" nodeType="clickEffect">
                                  <p:stCondLst>
                                    <p:cond delay="0"/>
                                  </p:stCondLst>
                                  <p:childTnLst>
                                    <p:set>
                                      <p:cBhvr>
                                        <p:cTn id="76" dur="1" fill="hold">
                                          <p:stCondLst>
                                            <p:cond delay="0"/>
                                          </p:stCondLst>
                                        </p:cTn>
                                        <p:tgtEl>
                                          <p:spTgt spid="204">
                                            <p:txEl>
                                              <p:pRg st="0" end="0"/>
                                            </p:txEl>
                                          </p:spTgt>
                                        </p:tgtEl>
                                        <p:attrNameLst>
                                          <p:attrName>style.visibility</p:attrName>
                                        </p:attrNameLst>
                                      </p:cBhvr>
                                      <p:to>
                                        <p:strVal val="visible"/>
                                      </p:to>
                                    </p:set>
                                  </p:childTnLst>
                                </p:cTn>
                              </p:par>
                              <p:par>
                                <p:cTn id="77" presetID="1" presetClass="entr" fill="hold" nodeType="withEffect">
                                  <p:stCondLst>
                                    <p:cond delay="0"/>
                                  </p:stCondLst>
                                  <p:childTnLst>
                                    <p:set>
                                      <p:cBhvr>
                                        <p:cTn id="78" dur="1" fill="hold">
                                          <p:stCondLst>
                                            <p:cond delay="0"/>
                                          </p:stCondLst>
                                        </p:cTn>
                                        <p:tgtEl>
                                          <p:spTgt spid="204">
                                            <p:txEl>
                                              <p:pRg st="1" end="1"/>
                                            </p:txEl>
                                          </p:spTgt>
                                        </p:tgtEl>
                                        <p:attrNameLst>
                                          <p:attrName>style.visibility</p:attrName>
                                        </p:attrNameLst>
                                      </p:cBhvr>
                                      <p:to>
                                        <p:strVal val="visible"/>
                                      </p:to>
                                    </p:set>
                                  </p:childTnLst>
                                </p:cTn>
                              </p:par>
                              <p:par>
                                <p:cTn id="79" presetID="1" presetClass="entr" fill="hold" nodeType="withEffect">
                                  <p:stCondLst>
                                    <p:cond delay="0"/>
                                  </p:stCondLst>
                                  <p:childTnLst>
                                    <p:set>
                                      <p:cBhvr>
                                        <p:cTn id="80" dur="1" fill="hold">
                                          <p:stCondLst>
                                            <p:cond delay="0"/>
                                          </p:stCondLst>
                                        </p:cTn>
                                        <p:tgtEl>
                                          <p:spTgt spid="204">
                                            <p:txEl>
                                              <p:pRg st="2" end="2"/>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fill="hold" nodeType="clickEffect">
                                  <p:stCondLst>
                                    <p:cond delay="0"/>
                                  </p:stCondLst>
                                  <p:childTnLst>
                                    <p:set>
                                      <p:cBhvr>
                                        <p:cTn id="84" dur="1" fill="hold">
                                          <p:stCondLst>
                                            <p:cond delay="0"/>
                                          </p:stCondLst>
                                        </p:cTn>
                                        <p:tgtEl>
                                          <p:spTgt spid="20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AU" sz="4400" b="0" strike="noStrike" spc="-1">
                <a:solidFill>
                  <a:schemeClr val="accent2">
                    <a:lumMod val="50000"/>
                  </a:schemeClr>
                </a:solidFill>
                <a:latin typeface="Powderfinger Type"/>
              </a:rPr>
              <a:t>QUIC flow structuring</a:t>
            </a:r>
            <a:endParaRPr lang="en-US" sz="4400" b="0" strike="noStrike" spc="-1">
              <a:solidFill>
                <a:schemeClr val="dk1"/>
              </a:solidFill>
              <a:latin typeface="Calibri"/>
            </a:endParaRPr>
          </a:p>
        </p:txBody>
      </p:sp>
      <p:pic>
        <p:nvPicPr>
          <p:cNvPr id="208" name="Content Placeholder 4"/>
          <p:cNvPicPr/>
          <p:nvPr/>
        </p:nvPicPr>
        <p:blipFill>
          <a:blip r:embed="rId2"/>
          <a:stretch/>
        </p:blipFill>
        <p:spPr>
          <a:xfrm>
            <a:off x="838080" y="2552760"/>
            <a:ext cx="5803560" cy="2476080"/>
          </a:xfrm>
          <a:prstGeom prst="rect">
            <a:avLst/>
          </a:prstGeom>
          <a:ln w="0">
            <a:noFill/>
          </a:ln>
        </p:spPr>
      </p:pic>
      <p:sp>
        <p:nvSpPr>
          <p:cNvPr id="209" name="TextBox 5"/>
          <p:cNvSpPr/>
          <p:nvPr/>
        </p:nvSpPr>
        <p:spPr>
          <a:xfrm>
            <a:off x="6369120" y="2552760"/>
            <a:ext cx="5275800" cy="2009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AU" sz="1800" b="0" strike="noStrike" spc="-1">
                <a:solidFill>
                  <a:schemeClr val="dk1"/>
                </a:solidFill>
                <a:latin typeface="Calibri"/>
              </a:rPr>
              <a:t>A QUIC connection is broken into “streams” which are reliable data flows – each stream performs stream-based loss recovery, congestion control, and relative stream scheduling for bandwidth allocation</a:t>
            </a:r>
            <a:endParaRPr lang="en-US" sz="1800" b="0" strike="noStrike" spc="-1">
              <a:solidFill>
                <a:srgbClr val="000000"/>
              </a:solidFill>
              <a:latin typeface="Arial"/>
            </a:endParaRPr>
          </a:p>
          <a:p>
            <a:pPr defTabSz="914400">
              <a:lnSpc>
                <a:spcPct val="100000"/>
              </a:lnSpc>
            </a:pPr>
            <a:endParaRPr lang="en-US" sz="1800" b="0" strike="noStrike" spc="-1">
              <a:solidFill>
                <a:srgbClr val="000000"/>
              </a:solidFill>
              <a:latin typeface="Arial"/>
            </a:endParaRPr>
          </a:p>
          <a:p>
            <a:pPr defTabSz="914400">
              <a:lnSpc>
                <a:spcPct val="100000"/>
              </a:lnSpc>
            </a:pPr>
            <a:r>
              <a:rPr lang="en-AU" sz="1800" b="0" strike="noStrike" spc="-1">
                <a:solidFill>
                  <a:schemeClr val="dk1"/>
                </a:solidFill>
                <a:latin typeface="Calibri"/>
              </a:rPr>
              <a:t>QUIC also supports unreliable encrypted datagram delivery</a:t>
            </a:r>
            <a:endParaRPr lang="en-US" sz="1800" b="0" strike="noStrike" spc="-1">
              <a:solidFill>
                <a:srgbClr val="000000"/>
              </a:solidFill>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AU" sz="4400" b="0" strike="noStrike" spc="-1">
                <a:solidFill>
                  <a:schemeClr val="accent2">
                    <a:lumMod val="50000"/>
                  </a:schemeClr>
                </a:solidFill>
                <a:latin typeface="Powderfinger Type"/>
              </a:rPr>
              <a:t>Where can we see QUIC capability today?</a:t>
            </a:r>
            <a:endParaRPr lang="en-US" sz="4400" b="0" strike="noStrike" spc="-1">
              <a:solidFill>
                <a:schemeClr val="dk1"/>
              </a:solidFill>
              <a:latin typeface="Calibri"/>
            </a:endParaRPr>
          </a:p>
        </p:txBody>
      </p:sp>
      <p:sp>
        <p:nvSpPr>
          <p:cNvPr id="211"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lstStyle/>
          <a:p>
            <a:pPr indent="0">
              <a:lnSpc>
                <a:spcPct val="90000"/>
              </a:lnSpc>
              <a:spcBef>
                <a:spcPts val="1417"/>
              </a:spcBef>
              <a:buNone/>
            </a:pPr>
            <a:endParaRPr lang="en-US" sz="2800" b="0" strike="noStrike" spc="-1">
              <a:solidFill>
                <a:schemeClr val="dk1"/>
              </a:solidFill>
              <a:latin typeface="Calibri"/>
            </a:endParaRPr>
          </a:p>
        </p:txBody>
      </p:sp>
      <p:pic>
        <p:nvPicPr>
          <p:cNvPr id="212" name="Picture 4"/>
          <p:cNvPicPr/>
          <p:nvPr/>
        </p:nvPicPr>
        <p:blipFill>
          <a:blip r:embed="rId2"/>
          <a:stretch/>
        </p:blipFill>
        <p:spPr>
          <a:xfrm>
            <a:off x="1551960" y="2538360"/>
            <a:ext cx="7772040" cy="3520440"/>
          </a:xfrm>
          <a:prstGeom prst="rect">
            <a:avLst/>
          </a:prstGeom>
          <a:ln w="0">
            <a:noFill/>
          </a:ln>
        </p:spPr>
      </p:pic>
      <p:sp>
        <p:nvSpPr>
          <p:cNvPr id="213" name="Rectangle 5"/>
          <p:cNvSpPr/>
          <p:nvPr/>
        </p:nvSpPr>
        <p:spPr>
          <a:xfrm>
            <a:off x="6689520" y="5835240"/>
            <a:ext cx="2387880" cy="126000"/>
          </a:xfrm>
          <a:prstGeom prst="rect">
            <a:avLst/>
          </a:prstGeom>
          <a:gradFill rotWithShape="0">
            <a:gsLst>
              <a:gs pos="0">
                <a:srgbClr val="FF0000"/>
              </a:gs>
              <a:gs pos="52000">
                <a:srgbClr val="FFFF00"/>
              </a:gs>
              <a:gs pos="100000">
                <a:srgbClr val="6AF70A"/>
              </a:gs>
            </a:gsLst>
            <a:lin ang="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AU" sz="1800" b="0" strike="noStrike" spc="-1">
              <a:solidFill>
                <a:schemeClr val="lt1"/>
              </a:solidFill>
              <a:latin typeface="Calibri"/>
            </a:endParaRPr>
          </a:p>
        </p:txBody>
      </p:sp>
      <p:sp>
        <p:nvSpPr>
          <p:cNvPr id="214" name="Rectangle 6"/>
          <p:cNvSpPr/>
          <p:nvPr/>
        </p:nvSpPr>
        <p:spPr>
          <a:xfrm>
            <a:off x="9077760" y="5835240"/>
            <a:ext cx="313920" cy="126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AU" sz="1800" b="0" strike="noStrike" spc="-1">
              <a:solidFill>
                <a:schemeClr val="lt1"/>
              </a:solidFill>
              <a:latin typeface="Calibri"/>
            </a:endParaRPr>
          </a:p>
        </p:txBody>
      </p:sp>
      <p:sp>
        <p:nvSpPr>
          <p:cNvPr id="215" name="TextBox 7"/>
          <p:cNvSpPr/>
          <p:nvPr/>
        </p:nvSpPr>
        <p:spPr>
          <a:xfrm>
            <a:off x="9016920" y="5771880"/>
            <a:ext cx="435600" cy="2271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AU" sz="900" b="0" strike="noStrike" spc="-1">
                <a:solidFill>
                  <a:schemeClr val="dk1"/>
                </a:solidFill>
                <a:latin typeface="Calibri"/>
              </a:rPr>
              <a:t>100%</a:t>
            </a:r>
            <a:endParaRPr lang="en-US" sz="900" b="0" strike="noStrike" spc="-1">
              <a:solidFill>
                <a:srgbClr val="000000"/>
              </a:solidFill>
              <a:latin typeface="Arial"/>
            </a:endParaRPr>
          </a:p>
        </p:txBody>
      </p:sp>
      <p:sp>
        <p:nvSpPr>
          <p:cNvPr id="216" name="TextBox 3"/>
          <p:cNvSpPr/>
          <p:nvPr/>
        </p:nvSpPr>
        <p:spPr>
          <a:xfrm>
            <a:off x="9461880" y="6411240"/>
            <a:ext cx="104364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AU" sz="1800" b="0" strike="noStrike" spc="-1">
                <a:solidFill>
                  <a:schemeClr val="dk1"/>
                </a:solidFill>
                <a:latin typeface="Calibri"/>
              </a:rPr>
              <a:t>July 2023</a:t>
            </a:r>
            <a:endParaRPr lang="en-US" sz="1800" b="0" strike="noStrike" spc="-1">
              <a:solidFill>
                <a:srgbClr val="000000"/>
              </a:solidFill>
              <a:latin typeface="Arial"/>
            </a:endParaRPr>
          </a:p>
        </p:txBody>
      </p:sp>
      <p:sp>
        <p:nvSpPr>
          <p:cNvPr id="217" name="TextBox 9"/>
          <p:cNvSpPr/>
          <p:nvPr/>
        </p:nvSpPr>
        <p:spPr>
          <a:xfrm>
            <a:off x="1040400" y="6311880"/>
            <a:ext cx="609552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AU" sz="1800" b="0" strike="noStrike" spc="-1">
                <a:solidFill>
                  <a:schemeClr val="dk1"/>
                </a:solidFill>
                <a:latin typeface="Calibri"/>
              </a:rPr>
              <a:t>https://stats.labs.apnic.net/quic</a:t>
            </a:r>
            <a:endParaRPr lang="en-US" sz="1800" b="0" strike="noStrike" spc="-1">
              <a:solidFill>
                <a:srgbClr val="000000"/>
              </a:solidFill>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AU" sz="4400" b="0" strike="noStrike" spc="-1">
                <a:solidFill>
                  <a:schemeClr val="accent2">
                    <a:lumMod val="50000"/>
                  </a:schemeClr>
                </a:solidFill>
                <a:latin typeface="Powderfinger Type"/>
              </a:rPr>
              <a:t>Almost Everywhere</a:t>
            </a:r>
            <a:endParaRPr lang="en-US" sz="4400" b="0" strike="noStrike" spc="-1">
              <a:solidFill>
                <a:schemeClr val="dk1"/>
              </a:solidFill>
              <a:latin typeface="Calibri"/>
            </a:endParaRPr>
          </a:p>
        </p:txBody>
      </p:sp>
      <p:pic>
        <p:nvPicPr>
          <p:cNvPr id="219" name="Picture 6"/>
          <p:cNvPicPr/>
          <p:nvPr/>
        </p:nvPicPr>
        <p:blipFill>
          <a:blip r:embed="rId2"/>
          <a:stretch/>
        </p:blipFill>
        <p:spPr>
          <a:xfrm>
            <a:off x="1587240" y="2003760"/>
            <a:ext cx="7772040" cy="3612240"/>
          </a:xfrm>
          <a:prstGeom prst="rect">
            <a:avLst/>
          </a:prstGeom>
          <a:ln w="0">
            <a:noFill/>
          </a:ln>
        </p:spPr>
      </p:pic>
      <p:sp>
        <p:nvSpPr>
          <p:cNvPr id="220" name="Rectangle 7"/>
          <p:cNvSpPr/>
          <p:nvPr/>
        </p:nvSpPr>
        <p:spPr>
          <a:xfrm>
            <a:off x="6594120" y="5351760"/>
            <a:ext cx="2387880" cy="126000"/>
          </a:xfrm>
          <a:prstGeom prst="rect">
            <a:avLst/>
          </a:prstGeom>
          <a:gradFill rotWithShape="0">
            <a:gsLst>
              <a:gs pos="0">
                <a:srgbClr val="FF0000"/>
              </a:gs>
              <a:gs pos="52000">
                <a:srgbClr val="FFFF00"/>
              </a:gs>
              <a:gs pos="100000">
                <a:srgbClr val="6AF70A"/>
              </a:gs>
            </a:gsLst>
            <a:lin ang="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AU" sz="1800" b="0" strike="noStrike" spc="-1">
              <a:solidFill>
                <a:schemeClr val="lt1"/>
              </a:solidFill>
              <a:latin typeface="Calibri"/>
            </a:endParaRPr>
          </a:p>
        </p:txBody>
      </p:sp>
      <p:sp>
        <p:nvSpPr>
          <p:cNvPr id="221" name="Rectangle 8"/>
          <p:cNvSpPr/>
          <p:nvPr/>
        </p:nvSpPr>
        <p:spPr>
          <a:xfrm>
            <a:off x="8982720" y="5351760"/>
            <a:ext cx="313920" cy="126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AU" sz="1800" b="0" strike="noStrike" spc="-1">
              <a:solidFill>
                <a:schemeClr val="lt1"/>
              </a:solidFill>
              <a:latin typeface="Calibri"/>
            </a:endParaRPr>
          </a:p>
        </p:txBody>
      </p:sp>
      <p:sp>
        <p:nvSpPr>
          <p:cNvPr id="222" name="TextBox 9"/>
          <p:cNvSpPr/>
          <p:nvPr/>
        </p:nvSpPr>
        <p:spPr>
          <a:xfrm>
            <a:off x="8921880" y="5288400"/>
            <a:ext cx="435600" cy="2271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AU" sz="900" b="0" strike="noStrike" spc="-1">
                <a:solidFill>
                  <a:schemeClr val="dk1"/>
                </a:solidFill>
                <a:latin typeface="Calibri"/>
              </a:rPr>
              <a:t>100%</a:t>
            </a:r>
            <a:endParaRPr lang="en-US" sz="900" b="0" strike="noStrike" spc="-1">
              <a:solidFill>
                <a:srgbClr val="000000"/>
              </a:solidFill>
              <a:latin typeface="Arial"/>
            </a:endParaRPr>
          </a:p>
        </p:txBody>
      </p:sp>
      <p:sp>
        <p:nvSpPr>
          <p:cNvPr id="223" name="TextBox 10"/>
          <p:cNvSpPr/>
          <p:nvPr/>
        </p:nvSpPr>
        <p:spPr>
          <a:xfrm>
            <a:off x="8282520" y="6169680"/>
            <a:ext cx="171720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AU" sz="1800" b="0" strike="noStrike" spc="-1">
                <a:solidFill>
                  <a:schemeClr val="dk1"/>
                </a:solidFill>
                <a:latin typeface="Calibri"/>
              </a:rPr>
              <a:t>September 2023</a:t>
            </a:r>
            <a:endParaRPr lang="en-US" sz="1800" b="0" strike="noStrike" spc="-1">
              <a:solidFill>
                <a:srgbClr val="000000"/>
              </a:solidFill>
              <a:latin typeface="Arial"/>
            </a:endParaRPr>
          </a:p>
        </p:txBody>
      </p:sp>
      <p:sp>
        <p:nvSpPr>
          <p:cNvPr id="224" name="TextBox 11"/>
          <p:cNvSpPr/>
          <p:nvPr/>
        </p:nvSpPr>
        <p:spPr>
          <a:xfrm>
            <a:off x="1291680" y="6190560"/>
            <a:ext cx="314820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AU" sz="1800" b="0" strike="noStrike" spc="-1">
                <a:solidFill>
                  <a:schemeClr val="dk1"/>
                </a:solidFill>
                <a:latin typeface="Calibri"/>
              </a:rPr>
              <a:t>https://stats.labs.apnic.net/quic</a:t>
            </a:r>
            <a:endParaRPr lang="en-US" sz="1800" b="0" strike="noStrike" spc="-1">
              <a:solidFill>
                <a:srgbClr val="000000"/>
              </a:solidFill>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AU" sz="4400" b="0" strike="noStrike" spc="-1">
                <a:solidFill>
                  <a:schemeClr val="accent2">
                    <a:lumMod val="50000"/>
                  </a:schemeClr>
                </a:solidFill>
                <a:latin typeface="Powderfinger Type"/>
              </a:rPr>
              <a:t>Overall Uptake</a:t>
            </a:r>
            <a:endParaRPr lang="en-US" sz="4400" b="0" strike="noStrike" spc="-1">
              <a:solidFill>
                <a:schemeClr val="dk1"/>
              </a:solidFill>
              <a:latin typeface="Calibri"/>
            </a:endParaRPr>
          </a:p>
        </p:txBody>
      </p:sp>
      <p:pic>
        <p:nvPicPr>
          <p:cNvPr id="226" name="Picture 3"/>
          <p:cNvPicPr/>
          <p:nvPr/>
        </p:nvPicPr>
        <p:blipFill>
          <a:blip r:embed="rId2"/>
          <a:stretch/>
        </p:blipFill>
        <p:spPr>
          <a:xfrm>
            <a:off x="838080" y="1690560"/>
            <a:ext cx="10619280" cy="4949280"/>
          </a:xfrm>
          <a:prstGeom prst="rect">
            <a:avLst/>
          </a:prstGeom>
          <a:ln w="0">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AU" sz="4400" b="0" strike="noStrike" spc="-1">
                <a:solidFill>
                  <a:schemeClr val="accent2">
                    <a:lumMod val="50000"/>
                  </a:schemeClr>
                </a:solidFill>
                <a:latin typeface="Powderfinger Type"/>
              </a:rPr>
              <a:t>Measuring QUIC Use</a:t>
            </a:r>
            <a:endParaRPr lang="en-US" sz="4400" b="0" strike="noStrike" spc="-1">
              <a:solidFill>
                <a:schemeClr val="dk1"/>
              </a:solidFill>
              <a:latin typeface="Calibri"/>
            </a:endParaRPr>
          </a:p>
        </p:txBody>
      </p:sp>
      <p:sp>
        <p:nvSpPr>
          <p:cNvPr id="228"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AU" sz="2800" b="0" strike="noStrike" spc="-1">
                <a:solidFill>
                  <a:schemeClr val="dk1"/>
                </a:solidFill>
                <a:latin typeface="Calibri"/>
              </a:rPr>
              <a:t>This is a </a:t>
            </a:r>
            <a:r>
              <a:rPr lang="en-AU" sz="2800" b="1" strike="noStrike" spc="-1">
                <a:solidFill>
                  <a:schemeClr val="dk1"/>
                </a:solidFill>
                <a:latin typeface="Calibri"/>
              </a:rPr>
              <a:t>capability</a:t>
            </a:r>
            <a:r>
              <a:rPr lang="en-AU" sz="2800" b="0" strike="noStrike" spc="-1">
                <a:solidFill>
                  <a:schemeClr val="dk1"/>
                </a:solidFill>
                <a:latin typeface="Calibri"/>
              </a:rPr>
              <a:t> measure – how many users can use QUIC is the server advertises that is can serve web content using QUIC (HTTP/3)?</a:t>
            </a:r>
            <a:endParaRPr lang="en-US" sz="28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pPr>
            <a:r>
              <a:rPr lang="en-AU" sz="2800" b="0" strike="noStrike" spc="-1">
                <a:solidFill>
                  <a:schemeClr val="dk1"/>
                </a:solidFill>
                <a:latin typeface="Calibri"/>
              </a:rPr>
              <a:t>The measurement uses both HTTPS capability in the DNS (used by Apple Safari clients) and content-tagging with Alt-Svc directive (used by Chrome clients)</a:t>
            </a:r>
            <a:endParaRPr lang="en-US" sz="2800" b="0" strike="noStrike" spc="-1">
              <a:solidFill>
                <a:schemeClr val="dk1"/>
              </a:solidFill>
              <a:latin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AU" sz="4400" b="0" strike="noStrike" spc="-1">
                <a:solidFill>
                  <a:schemeClr val="accent2">
                    <a:lumMod val="50000"/>
                  </a:schemeClr>
                </a:solidFill>
                <a:latin typeface="Powderfinger Type"/>
              </a:rPr>
              <a:t>Other Measures: Network Traffic Volume</a:t>
            </a:r>
            <a:endParaRPr lang="en-US" sz="4400" b="0" strike="noStrike" spc="-1">
              <a:solidFill>
                <a:schemeClr val="dk1"/>
              </a:solidFill>
              <a:latin typeface="Calibri"/>
            </a:endParaRPr>
          </a:p>
        </p:txBody>
      </p:sp>
      <p:pic>
        <p:nvPicPr>
          <p:cNvPr id="230" name="Content Placeholder 4"/>
          <p:cNvPicPr/>
          <p:nvPr/>
        </p:nvPicPr>
        <p:blipFill>
          <a:blip r:embed="rId2"/>
          <a:stretch/>
        </p:blipFill>
        <p:spPr>
          <a:xfrm>
            <a:off x="3107160" y="1825560"/>
            <a:ext cx="5977080" cy="4350960"/>
          </a:xfrm>
          <a:prstGeom prst="rect">
            <a:avLst/>
          </a:prstGeom>
          <a:ln w="0">
            <a:noFill/>
          </a:ln>
        </p:spPr>
      </p:pic>
      <p:sp>
        <p:nvSpPr>
          <p:cNvPr id="231" name="TextBox 5"/>
          <p:cNvSpPr/>
          <p:nvPr/>
        </p:nvSpPr>
        <p:spPr>
          <a:xfrm>
            <a:off x="5051520" y="6492960"/>
            <a:ext cx="6938640" cy="2725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AU" sz="1200" b="0" strike="noStrike" spc="-1">
                <a:solidFill>
                  <a:schemeClr val="dk1"/>
                </a:solidFill>
                <a:latin typeface="Calibri"/>
              </a:rPr>
              <a:t>Presentation to RIPE 86: The New Encrypted Protocol Stack and How to Deal with it – Bart van de Velde, Cisco</a:t>
            </a:r>
            <a:endParaRPr lang="en-US" sz="1200" b="0" strike="noStrike" spc="-1">
              <a:solidFill>
                <a:srgbClr val="000000"/>
              </a:solidFill>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AU" sz="4400" b="0" strike="noStrike" spc="-1">
                <a:solidFill>
                  <a:schemeClr val="accent2">
                    <a:lumMod val="50000"/>
                  </a:schemeClr>
                </a:solidFill>
                <a:latin typeface="Powderfinger Type"/>
              </a:rPr>
              <a:t>Measuring QUIC Performance</a:t>
            </a:r>
            <a:endParaRPr lang="en-US" sz="4400" b="0" strike="noStrike" spc="-1">
              <a:solidFill>
                <a:schemeClr val="dk1"/>
              </a:solidFill>
              <a:latin typeface="Calibri"/>
            </a:endParaRPr>
          </a:p>
        </p:txBody>
      </p:sp>
      <p:pic>
        <p:nvPicPr>
          <p:cNvPr id="233" name="Content Placeholder 5"/>
          <p:cNvPicPr/>
          <p:nvPr/>
        </p:nvPicPr>
        <p:blipFill>
          <a:blip r:embed="rId2"/>
          <a:stretch/>
        </p:blipFill>
        <p:spPr>
          <a:xfrm>
            <a:off x="838080" y="1690560"/>
            <a:ext cx="6197040" cy="4350960"/>
          </a:xfrm>
          <a:prstGeom prst="rect">
            <a:avLst/>
          </a:prstGeom>
          <a:ln w="0">
            <a:noFill/>
          </a:ln>
        </p:spPr>
      </p:pic>
      <p:sp>
        <p:nvSpPr>
          <p:cNvPr id="234" name="TextBox 6"/>
          <p:cNvSpPr/>
          <p:nvPr/>
        </p:nvSpPr>
        <p:spPr>
          <a:xfrm>
            <a:off x="7584120" y="2850840"/>
            <a:ext cx="2724840" cy="2009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AU" sz="1800" b="0" strike="noStrike" spc="-1">
                <a:solidFill>
                  <a:schemeClr val="dk1"/>
                </a:solidFill>
                <a:latin typeface="Calibri"/>
              </a:rPr>
              <a:t>In this test (between the same endpoints) over a Starlink circuit, TCP CUBIC underperforms badly, while TCP BBR and QUIC both perform reasonably well </a:t>
            </a:r>
            <a:endParaRPr lang="en-US" sz="1800" b="0" strike="noStrike" spc="-1">
              <a:solidFill>
                <a:srgbClr val="000000"/>
              </a:solidFill>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AU" sz="4400" b="0" strike="noStrike" spc="-1">
                <a:solidFill>
                  <a:schemeClr val="accent2">
                    <a:lumMod val="50000"/>
                  </a:schemeClr>
                </a:solidFill>
                <a:latin typeface="Powderfinger Type"/>
              </a:rPr>
              <a:t>Why is QUIC important?</a:t>
            </a:r>
            <a:endParaRPr lang="en-US" sz="4400" b="0" strike="noStrike" spc="-1">
              <a:solidFill>
                <a:schemeClr val="dk1"/>
              </a:solidFill>
              <a:latin typeface="Calibri"/>
            </a:endParaRPr>
          </a:p>
        </p:txBody>
      </p:sp>
      <p:sp>
        <p:nvSpPr>
          <p:cNvPr id="236"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AU" sz="2800" b="0" strike="noStrike" spc="-1">
                <a:solidFill>
                  <a:schemeClr val="dk1"/>
                </a:solidFill>
                <a:latin typeface="Calibri"/>
              </a:rPr>
              <a:t>Because QUIC encrypts everything</a:t>
            </a:r>
            <a:endParaRPr lang="en-US" sz="28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tabLst>
                <a:tab pos="0" algn="l"/>
              </a:tabLst>
            </a:pPr>
            <a:r>
              <a:rPr lang="en-AU" sz="2400" b="0" strike="noStrike" spc="-1">
                <a:solidFill>
                  <a:schemeClr val="dk1"/>
                </a:solidFill>
                <a:latin typeface="Calibri"/>
              </a:rPr>
              <a:t>No visible transport control settings</a:t>
            </a:r>
            <a:endParaRPr lang="en-US" sz="24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tabLst>
                <a:tab pos="0" algn="l"/>
              </a:tabLst>
            </a:pPr>
            <a:r>
              <a:rPr lang="en-AU" sz="2400" b="0" strike="noStrike" spc="-1">
                <a:solidFill>
                  <a:schemeClr val="dk1"/>
                </a:solidFill>
                <a:latin typeface="Calibri"/>
              </a:rPr>
              <a:t>No visible Server Name Indication in the crypto-setup</a:t>
            </a:r>
            <a:endParaRPr lang="en-US" sz="24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tabLst>
                <a:tab pos="0" algn="l"/>
              </a:tabLst>
            </a:pPr>
            <a:r>
              <a:rPr lang="en-AU" sz="2400" b="0" strike="noStrike" spc="-1">
                <a:solidFill>
                  <a:schemeClr val="dk1"/>
                </a:solidFill>
                <a:latin typeface="Calibri"/>
              </a:rPr>
              <a:t>No visible traffic profile other than inter-packet timing</a:t>
            </a:r>
            <a:endParaRPr lang="en-US" sz="24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tabLst>
                <a:tab pos="0" algn="l"/>
              </a:tabLst>
            </a:pPr>
            <a:r>
              <a:rPr lang="en-AU" sz="2400" b="0" strike="noStrike" spc="-1">
                <a:solidFill>
                  <a:schemeClr val="dk1"/>
                </a:solidFill>
                <a:latin typeface="Calibri"/>
              </a:rPr>
              <a:t>And if you use a MASQUE-based VPN then there no residual visibility!</a:t>
            </a:r>
            <a:endParaRPr lang="en-US" sz="2400" b="0" strike="noStrike" spc="-1">
              <a:solidFill>
                <a:schemeClr val="dk1"/>
              </a:solidFill>
              <a:latin typeface="Calibri"/>
            </a:endParaRPr>
          </a:p>
          <a:p>
            <a:pPr indent="0" defTabSz="914400">
              <a:lnSpc>
                <a:spcPct val="90000"/>
              </a:lnSpc>
              <a:spcBef>
                <a:spcPts val="1001"/>
              </a:spcBef>
              <a:buNone/>
              <a:tabLst>
                <a:tab pos="0" algn="l"/>
              </a:tabLst>
            </a:pPr>
            <a:r>
              <a:rPr lang="en-AU" sz="2800" b="0" strike="noStrike" spc="-1">
                <a:solidFill>
                  <a:schemeClr val="dk1"/>
                </a:solidFill>
                <a:latin typeface="Calibri"/>
              </a:rPr>
              <a:t>Because QUIC is an application capability</a:t>
            </a:r>
            <a:endParaRPr lang="en-US" sz="28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tabLst>
                <a:tab pos="0" algn="l"/>
              </a:tabLst>
            </a:pPr>
            <a:r>
              <a:rPr lang="en-AU" sz="2400" b="0" strike="noStrike" spc="-1">
                <a:solidFill>
                  <a:schemeClr val="dk1"/>
                </a:solidFill>
                <a:latin typeface="Calibri"/>
              </a:rPr>
              <a:t>QUIC can interact with the platform through the UDP API, so all of QUIC can be implemented within the application. This gives the application more control over its service outcomes and reduces external dependencies</a:t>
            </a:r>
            <a:endParaRPr lang="en-US" sz="2400" b="0" strike="noStrike" spc="-1">
              <a:solidFill>
                <a:schemeClr val="dk1"/>
              </a:solidFill>
              <a:latin typeface="Calibri"/>
            </a:endParaRPr>
          </a:p>
          <a:p>
            <a:pPr indent="0" defTabSz="914400">
              <a:lnSpc>
                <a:spcPct val="90000"/>
              </a:lnSpc>
              <a:spcBef>
                <a:spcPts val="1001"/>
              </a:spcBef>
              <a:buNone/>
              <a:tabLst>
                <a:tab pos="0" algn="l"/>
              </a:tabLst>
            </a:pPr>
            <a:endParaRPr lang="en-US" sz="2800" b="0" strike="noStrike" spc="-1">
              <a:solidFill>
                <a:schemeClr val="dk1"/>
              </a:solidFill>
              <a:latin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AU" sz="4400" b="0" strike="noStrike" spc="-1">
                <a:solidFill>
                  <a:schemeClr val="accent2">
                    <a:lumMod val="50000"/>
                  </a:schemeClr>
                </a:solidFill>
                <a:latin typeface="Powderfinger Type"/>
              </a:rPr>
              <a:t>What does this mean for TCP?</a:t>
            </a:r>
            <a:endParaRPr lang="en-US" sz="4400" b="0" strike="noStrike" spc="-1">
              <a:solidFill>
                <a:schemeClr val="dk1"/>
              </a:solidFill>
              <a:latin typeface="Calibri"/>
            </a:endParaRPr>
          </a:p>
        </p:txBody>
      </p:sp>
      <p:sp>
        <p:nvSpPr>
          <p:cNvPr id="238"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AU" sz="2800" b="0" strike="noStrike" spc="-1">
                <a:solidFill>
                  <a:schemeClr val="dk1"/>
                </a:solidFill>
                <a:latin typeface="Calibri"/>
              </a:rPr>
              <a:t>It’s not looking all that good for TCP’s prospects</a:t>
            </a:r>
            <a:endParaRPr lang="en-US" sz="28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tabLst>
                <a:tab pos="0" algn="l"/>
              </a:tabLst>
            </a:pPr>
            <a:r>
              <a:rPr lang="en-AU" sz="2800" b="0" strike="noStrike" spc="-1">
                <a:solidFill>
                  <a:schemeClr val="dk1"/>
                </a:solidFill>
                <a:latin typeface="Calibri"/>
              </a:rPr>
              <a:t>QUIC not only does faster start up, but it supports multi-channel in a frictionless manner</a:t>
            </a:r>
            <a:endParaRPr lang="en-US" sz="28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tabLst>
                <a:tab pos="0" algn="l"/>
              </a:tabLst>
            </a:pPr>
            <a:r>
              <a:rPr lang="en-AU" sz="2800" b="0" strike="noStrike" spc="-1">
                <a:solidFill>
                  <a:schemeClr val="dk1"/>
                </a:solidFill>
                <a:latin typeface="Calibri"/>
              </a:rPr>
              <a:t>QUIC resists network operator efforts to perform traffic shaping through direct manipulation of TCP control parameters</a:t>
            </a:r>
            <a:endParaRPr lang="en-US" sz="28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tabLst>
                <a:tab pos="0" algn="l"/>
              </a:tabLst>
            </a:pPr>
            <a:r>
              <a:rPr lang="en-AU" sz="2800" b="0" strike="noStrike" spc="-1">
                <a:solidFill>
                  <a:schemeClr val="dk1"/>
                </a:solidFill>
                <a:latin typeface="Calibri"/>
              </a:rPr>
              <a:t>QUIC allows the application service provider to control the congestion behaviour of its sessions</a:t>
            </a:r>
            <a:endParaRPr lang="en-US" sz="2800" b="0" strike="noStrike" spc="-1">
              <a:solidFill>
                <a:schemeClr val="dk1"/>
              </a:solidFill>
              <a:latin typeface="Calibri"/>
            </a:endParaRPr>
          </a:p>
          <a:p>
            <a:pPr indent="0" defTabSz="914400">
              <a:lnSpc>
                <a:spcPct val="90000"/>
              </a:lnSpc>
              <a:spcBef>
                <a:spcPts val="1001"/>
              </a:spcBef>
              <a:buNone/>
              <a:tabLst>
                <a:tab pos="0" algn="l"/>
              </a:tabLst>
            </a:pPr>
            <a:endParaRPr lang="en-US" sz="2800" b="0" strike="noStrike" spc="-1">
              <a:solidFill>
                <a:schemeClr val="dk1"/>
              </a:solidFill>
              <a:latin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PlaceHolder 1"/>
          <p:cNvSpPr>
            <a:spLocks noGrp="1"/>
          </p:cNvSpPr>
          <p:nvPr>
            <p:ph/>
          </p:nvPr>
        </p:nvSpPr>
        <p:spPr>
          <a:xfrm>
            <a:off x="732240" y="1478880"/>
            <a:ext cx="10722960" cy="3099240"/>
          </a:xfrm>
          <a:prstGeom prst="rect">
            <a:avLst/>
          </a:prstGeom>
          <a:noFill/>
          <a:ln w="0">
            <a:noFill/>
          </a:ln>
        </p:spPr>
        <p:txBody>
          <a:bodyPr lIns="91440" tIns="45720" rIns="91440" bIns="45720" anchor="t">
            <a:normAutofit fontScale="92880" lnSpcReduction="10000"/>
          </a:bodyPr>
          <a:lstStyle/>
          <a:p>
            <a:pPr marL="349200" indent="-349200" defTabSz="914400">
              <a:lnSpc>
                <a:spcPct val="100000"/>
              </a:lnSpc>
              <a:spcBef>
                <a:spcPts val="2001"/>
              </a:spcBef>
              <a:buClr>
                <a:srgbClr val="1B3742"/>
              </a:buClr>
              <a:buSzPct val="110000"/>
              <a:buFont typeface="Arial"/>
              <a:buChar char="•"/>
            </a:pPr>
            <a:r>
              <a:rPr lang="en-US" sz="2200" b="0" strike="noStrike" spc="-1">
                <a:solidFill>
                  <a:schemeClr val="accent2">
                    <a:lumMod val="75000"/>
                  </a:schemeClr>
                </a:solidFill>
                <a:latin typeface="News Gothic MT"/>
              </a:rPr>
              <a:t>Google’s answer to the latency challenge</a:t>
            </a:r>
          </a:p>
          <a:p>
            <a:pPr marL="349200" indent="-349200" defTabSz="914400">
              <a:lnSpc>
                <a:spcPct val="100000"/>
              </a:lnSpc>
              <a:spcBef>
                <a:spcPts val="2001"/>
              </a:spcBef>
              <a:buClr>
                <a:srgbClr val="1B3742"/>
              </a:buClr>
              <a:buSzPct val="110000"/>
              <a:buFont typeface="Arial"/>
              <a:buChar char="•"/>
            </a:pPr>
            <a:r>
              <a:rPr lang="en-US" sz="2200" b="0" strike="noStrike" spc="-1">
                <a:solidFill>
                  <a:schemeClr val="accent2">
                    <a:lumMod val="75000"/>
                  </a:schemeClr>
                </a:solidFill>
                <a:latin typeface="News Gothic MT"/>
              </a:rPr>
              <a:t>Stands for </a:t>
            </a:r>
            <a:r>
              <a:rPr lang="en-US" sz="2200" b="1" strike="noStrike" spc="-1">
                <a:solidFill>
                  <a:schemeClr val="accent2">
                    <a:lumMod val="75000"/>
                  </a:schemeClr>
                </a:solidFill>
                <a:latin typeface="News Gothic MT"/>
              </a:rPr>
              <a:t>Q</a:t>
            </a:r>
            <a:r>
              <a:rPr lang="en-US" sz="2200" b="0" strike="noStrike" spc="-1">
                <a:solidFill>
                  <a:schemeClr val="accent2">
                    <a:lumMod val="75000"/>
                  </a:schemeClr>
                </a:solidFill>
                <a:latin typeface="News Gothic MT"/>
              </a:rPr>
              <a:t>uick </a:t>
            </a:r>
            <a:r>
              <a:rPr lang="en-US" sz="2200" b="1" strike="noStrike" spc="-1">
                <a:solidFill>
                  <a:schemeClr val="accent2">
                    <a:lumMod val="75000"/>
                  </a:schemeClr>
                </a:solidFill>
                <a:latin typeface="News Gothic MT"/>
              </a:rPr>
              <a:t>U</a:t>
            </a:r>
            <a:r>
              <a:rPr lang="en-US" sz="2200" b="0" strike="noStrike" spc="-1">
                <a:solidFill>
                  <a:schemeClr val="accent2">
                    <a:lumMod val="75000"/>
                  </a:schemeClr>
                </a:solidFill>
                <a:latin typeface="News Gothic MT"/>
              </a:rPr>
              <a:t>DP </a:t>
            </a:r>
            <a:r>
              <a:rPr lang="en-US" sz="2200" b="1" strike="noStrike" spc="-1">
                <a:solidFill>
                  <a:schemeClr val="accent2">
                    <a:lumMod val="75000"/>
                  </a:schemeClr>
                </a:solidFill>
                <a:latin typeface="News Gothic MT"/>
              </a:rPr>
              <a:t>I</a:t>
            </a:r>
            <a:r>
              <a:rPr lang="en-US" sz="2200" b="0" strike="noStrike" spc="-1">
                <a:solidFill>
                  <a:schemeClr val="accent2">
                    <a:lumMod val="75000"/>
                  </a:schemeClr>
                </a:solidFill>
                <a:latin typeface="News Gothic MT"/>
              </a:rPr>
              <a:t>nternet </a:t>
            </a:r>
            <a:r>
              <a:rPr lang="en-US" sz="2200" b="1" strike="noStrike" spc="-1">
                <a:solidFill>
                  <a:schemeClr val="accent2">
                    <a:lumMod val="75000"/>
                  </a:schemeClr>
                </a:solidFill>
                <a:latin typeface="News Gothic MT"/>
              </a:rPr>
              <a:t>C</a:t>
            </a:r>
            <a:r>
              <a:rPr lang="en-US" sz="2200" b="0" strike="noStrike" spc="-1">
                <a:solidFill>
                  <a:schemeClr val="accent2">
                    <a:lumMod val="75000"/>
                  </a:schemeClr>
                </a:solidFill>
                <a:latin typeface="News Gothic MT"/>
              </a:rPr>
              <a:t>onnections</a:t>
            </a:r>
          </a:p>
          <a:p>
            <a:pPr marL="349200" indent="-349200" defTabSz="914400">
              <a:lnSpc>
                <a:spcPct val="100000"/>
              </a:lnSpc>
              <a:spcBef>
                <a:spcPts val="2001"/>
              </a:spcBef>
              <a:buClr>
                <a:srgbClr val="1B3742"/>
              </a:buClr>
              <a:buSzPct val="110000"/>
              <a:buFont typeface="Arial"/>
              <a:buChar char="•"/>
            </a:pPr>
            <a:r>
              <a:rPr lang="en-US" sz="2200" b="0" strike="noStrike" spc="-1">
                <a:solidFill>
                  <a:schemeClr val="accent2">
                    <a:lumMod val="75000"/>
                  </a:schemeClr>
                </a:solidFill>
                <a:latin typeface="News Gothic MT"/>
              </a:rPr>
              <a:t>Communication protocol developed by Google and implemented as part of Chrome browser in 2013</a:t>
            </a:r>
          </a:p>
          <a:p>
            <a:pPr marL="349200" indent="-349200" defTabSz="914400">
              <a:lnSpc>
                <a:spcPct val="100000"/>
              </a:lnSpc>
              <a:spcBef>
                <a:spcPts val="2001"/>
              </a:spcBef>
              <a:buClr>
                <a:srgbClr val="1B3742"/>
              </a:buClr>
              <a:buSzPct val="110000"/>
              <a:buFont typeface="Arial"/>
              <a:buChar char="•"/>
            </a:pPr>
            <a:r>
              <a:rPr lang="en-US" sz="2200" b="0" strike="noStrike" spc="-1">
                <a:solidFill>
                  <a:schemeClr val="accent2">
                    <a:lumMod val="75000"/>
                  </a:schemeClr>
                </a:solidFill>
                <a:latin typeface="News Gothic MT"/>
              </a:rPr>
              <a:t>Was designed to</a:t>
            </a:r>
          </a:p>
          <a:p>
            <a:pPr marL="692280" lvl="1" indent="-343080" defTabSz="914400">
              <a:lnSpc>
                <a:spcPct val="100000"/>
              </a:lnSpc>
              <a:spcBef>
                <a:spcPts val="601"/>
              </a:spcBef>
              <a:buClr>
                <a:srgbClr val="1B3742"/>
              </a:buClr>
              <a:buSzPct val="110000"/>
              <a:buFont typeface="Lucida Grande"/>
              <a:buChar char="-"/>
            </a:pPr>
            <a:r>
              <a:rPr lang="en-US" sz="2000" b="0" strike="noStrike" spc="-1">
                <a:solidFill>
                  <a:schemeClr val="accent2">
                    <a:lumMod val="75000"/>
                  </a:schemeClr>
                </a:solidFill>
                <a:latin typeface="News Gothic MT"/>
              </a:rPr>
              <a:t>produce security protection comparable to TLS </a:t>
            </a:r>
            <a:endParaRPr lang="en-US" sz="2000" b="0" strike="noStrike" spc="-1">
              <a:solidFill>
                <a:schemeClr val="dk1">
                  <a:lumMod val="65000"/>
                  <a:lumOff val="35000"/>
                </a:schemeClr>
              </a:solidFill>
              <a:latin typeface="News Gothic MT"/>
            </a:endParaRPr>
          </a:p>
          <a:p>
            <a:pPr marL="692280" lvl="1" indent="-343080" defTabSz="914400">
              <a:lnSpc>
                <a:spcPct val="100000"/>
              </a:lnSpc>
              <a:spcBef>
                <a:spcPts val="601"/>
              </a:spcBef>
              <a:buClr>
                <a:srgbClr val="1B3742"/>
              </a:buClr>
              <a:buSzPct val="110000"/>
              <a:buFont typeface="Lucida Grande"/>
              <a:buChar char="-"/>
            </a:pPr>
            <a:r>
              <a:rPr lang="en-US" sz="2000" b="0" strike="noStrike" spc="-1">
                <a:solidFill>
                  <a:schemeClr val="accent2">
                    <a:lumMod val="75000"/>
                  </a:schemeClr>
                </a:solidFill>
                <a:latin typeface="News Gothic MT"/>
              </a:rPr>
              <a:t>reduce connection latency</a:t>
            </a:r>
            <a:endParaRPr lang="en-US" sz="2000" b="0" strike="noStrike" spc="-1">
              <a:solidFill>
                <a:schemeClr val="dk1">
                  <a:lumMod val="65000"/>
                  <a:lumOff val="35000"/>
                </a:schemeClr>
              </a:solidFill>
              <a:latin typeface="News Gothic MT"/>
            </a:endParaRPr>
          </a:p>
          <a:p>
            <a:pPr indent="0" defTabSz="914400">
              <a:lnSpc>
                <a:spcPct val="100000"/>
              </a:lnSpc>
              <a:spcBef>
                <a:spcPts val="2001"/>
              </a:spcBef>
              <a:buNone/>
              <a:tabLst>
                <a:tab pos="0" algn="l"/>
              </a:tabLst>
            </a:pPr>
            <a:endParaRPr lang="en-US" sz="2400" b="0" strike="noStrike" spc="-1">
              <a:solidFill>
                <a:schemeClr val="accent2">
                  <a:lumMod val="75000"/>
                </a:schemeClr>
              </a:solidFill>
              <a:latin typeface="News Gothic MT"/>
            </a:endParaRPr>
          </a:p>
        </p:txBody>
      </p:sp>
      <p:sp>
        <p:nvSpPr>
          <p:cNvPr id="240" name="Rounded Rectangle 2"/>
          <p:cNvSpPr/>
          <p:nvPr/>
        </p:nvSpPr>
        <p:spPr>
          <a:xfrm>
            <a:off x="1617840" y="3854160"/>
            <a:ext cx="8710560" cy="737280"/>
          </a:xfrm>
          <a:prstGeom prst="roundRect">
            <a:avLst>
              <a:gd name="adj" fmla="val 16667"/>
            </a:avLst>
          </a:prstGeom>
          <a:noFill/>
          <a:ln w="25400">
            <a:solidFill>
              <a:srgbClr val="800000"/>
            </a:solidFill>
            <a:round/>
          </a:ln>
          <a:effectLst>
            <a:outerShdw blurRad="63360" dist="25560" dir="5400000" sx="101000" sy="101000"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strike="noStrike" spc="-1">
              <a:solidFill>
                <a:schemeClr val="lt1"/>
              </a:solidFill>
              <a:latin typeface="News Gothic MT"/>
            </a:endParaRPr>
          </a:p>
        </p:txBody>
      </p:sp>
      <p:sp>
        <p:nvSpPr>
          <p:cNvPr id="241" name="TextBox 2"/>
          <p:cNvSpPr/>
          <p:nvPr/>
        </p:nvSpPr>
        <p:spPr>
          <a:xfrm>
            <a:off x="2201040" y="5209200"/>
            <a:ext cx="6077520" cy="759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2200" b="1" strike="noStrike" spc="-1">
                <a:solidFill>
                  <a:srgbClr val="800000"/>
                </a:solidFill>
                <a:latin typeface="News Gothic MT"/>
              </a:rPr>
              <a:t>Can QUIC do this in presence of attackers?</a:t>
            </a:r>
            <a:endParaRPr lang="en-US" sz="2200" b="0" strike="noStrike" spc="-1">
              <a:solidFill>
                <a:srgbClr val="000000"/>
              </a:solidFill>
              <a:latin typeface="Arial"/>
            </a:endParaRPr>
          </a:p>
          <a:p>
            <a:pPr defTabSz="914400">
              <a:lnSpc>
                <a:spcPct val="100000"/>
              </a:lnSpc>
            </a:pPr>
            <a:endParaRPr lang="en-US" sz="2200" b="0" strike="noStrike" spc="-1">
              <a:solidFill>
                <a:srgbClr val="000000"/>
              </a:solidFill>
              <a:latin typeface="Arial"/>
            </a:endParaRPr>
          </a:p>
        </p:txBody>
      </p:sp>
      <p:cxnSp>
        <p:nvCxnSpPr>
          <p:cNvPr id="242" name="Straight Arrow Connector 2"/>
          <p:cNvCxnSpPr/>
          <p:nvPr/>
        </p:nvCxnSpPr>
        <p:spPr>
          <a:xfrm flipV="1">
            <a:off x="2229480" y="4759920"/>
            <a:ext cx="592920" cy="381600"/>
          </a:xfrm>
          <a:prstGeom prst="straightConnector1">
            <a:avLst/>
          </a:prstGeom>
          <a:ln w="38100">
            <a:solidFill>
              <a:srgbClr val="800000"/>
            </a:solidFill>
            <a:round/>
            <a:tailEnd type="arrow" w="med" len="med"/>
          </a:ln>
        </p:spPr>
      </p:cxnSp>
      <p:sp>
        <p:nvSpPr>
          <p:cNvPr id="243" name="Title 4"/>
          <p:cNvSpPr/>
          <p:nvPr/>
        </p:nvSpPr>
        <p:spPr>
          <a:xfrm>
            <a:off x="-93960" y="107640"/>
            <a:ext cx="12436560" cy="823320"/>
          </a:xfrm>
          <a:prstGeom prst="rect">
            <a:avLst/>
          </a:prstGeom>
          <a:noFill/>
          <a:ln w="0">
            <a:noFill/>
          </a:ln>
        </p:spPr>
        <p:style>
          <a:lnRef idx="0">
            <a:scrgbClr r="0" g="0" b="0"/>
          </a:lnRef>
          <a:fillRef idx="0">
            <a:scrgbClr r="0" g="0" b="0"/>
          </a:fillRef>
          <a:effectRef idx="0">
            <a:scrgbClr r="0" g="0" b="0"/>
          </a:effectRef>
          <a:fontRef idx="minor"/>
        </p:style>
        <p:txBody>
          <a:bodyPr anchor="b">
            <a:noAutofit/>
          </a:bodyPr>
          <a:lstStyle/>
          <a:p>
            <a:pPr algn="ctr" defTabSz="914400">
              <a:lnSpc>
                <a:spcPct val="100000"/>
              </a:lnSpc>
            </a:pPr>
            <a:r>
              <a:rPr lang="en-US" sz="4000" b="0" strike="noStrike" spc="-1">
                <a:solidFill>
                  <a:schemeClr val="accent2">
                    <a:lumMod val="75000"/>
                  </a:schemeClr>
                </a:solidFill>
                <a:latin typeface="News Gothic MT"/>
              </a:rPr>
              <a:t>QUIC Security?</a:t>
            </a:r>
            <a:endParaRPr lang="en-US" sz="4000" b="0" strike="noStrike" spc="-1">
              <a:solidFill>
                <a:srgbClr val="000000"/>
              </a:solidFill>
              <a:latin typeface="Arial"/>
            </a:endParaRPr>
          </a:p>
        </p:txBody>
      </p:sp>
      <p:sp>
        <p:nvSpPr>
          <p:cNvPr id="244" name="TextBox 243"/>
          <p:cNvSpPr txBox="1"/>
          <p:nvPr/>
        </p:nvSpPr>
        <p:spPr>
          <a:xfrm>
            <a:off x="413640" y="5486400"/>
            <a:ext cx="8501760" cy="2550600"/>
          </a:xfrm>
          <a:prstGeom prst="rect">
            <a:avLst/>
          </a:prstGeom>
          <a:noFill/>
          <a:ln w="0">
            <a:noFill/>
          </a:ln>
        </p:spPr>
        <p:txBody>
          <a:bodyPr lIns="90000" tIns="45000" rIns="90000" bIns="45000" anchor="t">
            <a:noAutofit/>
          </a:bodyPr>
          <a:lstStyle/>
          <a:p>
            <a:r>
              <a:rPr lang="en-US" sz="4500" b="0" strike="noStrike" spc="-1">
                <a:solidFill>
                  <a:schemeClr val="accent2">
                    <a:lumMod val="75000"/>
                  </a:schemeClr>
                </a:solidFill>
                <a:latin typeface="Arial"/>
              </a:rPr>
              <a:t>How Secure and Quick is QUIC?</a:t>
            </a:r>
            <a:endParaRPr lang="en-US" sz="4500" b="0" strike="noStrike" spc="-1">
              <a:solidFill>
                <a:srgbClr val="000000"/>
              </a:solidFill>
              <a:latin typeface="Arial"/>
            </a:endParaRPr>
          </a:p>
          <a:p>
            <a:r>
              <a:rPr lang="en-US" sz="3200" b="0" strike="noStrike" spc="-1">
                <a:solidFill>
                  <a:schemeClr val="accent2">
                    <a:lumMod val="75000"/>
                  </a:schemeClr>
                </a:solidFill>
                <a:latin typeface="Arial"/>
              </a:rPr>
              <a:t>Provable Security and Performance Analyses</a:t>
            </a:r>
            <a:br>
              <a:rPr sz="3200"/>
            </a:br>
            <a:br>
              <a:rPr sz="3200"/>
            </a:br>
            <a:r>
              <a:rPr lang="en-US" sz="3200" b="0" strike="noStrike" spc="-1">
                <a:solidFill>
                  <a:schemeClr val="accent2">
                    <a:lumMod val="75000"/>
                  </a:schemeClr>
                </a:solidFill>
                <a:latin typeface="Arial"/>
              </a:rPr>
              <a:t>https://faculty.cc.gatech.edu/~aboldyre/papers/quic.pdf</a:t>
            </a:r>
            <a:endParaRPr lang="en-US" sz="3200" b="0" strike="noStrike" spc="-1">
              <a:solidFill>
                <a:srgbClr val="000000"/>
              </a:solidFill>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239">
                                            <p:txEl>
                                              <p:pRg st="3" end="3"/>
                                            </p:txEl>
                                          </p:spTgt>
                                        </p:tgtEl>
                                        <p:attrNameLst>
                                          <p:attrName>style.visibility</p:attrName>
                                        </p:attrNameLst>
                                      </p:cBhvr>
                                      <p:to>
                                        <p:strVal val="visible"/>
                                      </p:to>
                                    </p:set>
                                  </p:childTnLst>
                                </p:cTn>
                              </p:par>
                              <p:par>
                                <p:cTn id="7" presetID="1" presetClass="entr" fill="hold" nodeType="withEffect">
                                  <p:stCondLst>
                                    <p:cond delay="0"/>
                                  </p:stCondLst>
                                  <p:childTnLst>
                                    <p:set>
                                      <p:cBhvr>
                                        <p:cTn id="8" dur="1" fill="hold">
                                          <p:stCondLst>
                                            <p:cond delay="0"/>
                                          </p:stCondLst>
                                        </p:cTn>
                                        <p:tgtEl>
                                          <p:spTgt spid="239">
                                            <p:txEl>
                                              <p:pRg st="4" end="4"/>
                                            </p:txEl>
                                          </p:spTgt>
                                        </p:tgtEl>
                                        <p:attrNameLst>
                                          <p:attrName>style.visibility</p:attrName>
                                        </p:attrNameLst>
                                      </p:cBhvr>
                                      <p:to>
                                        <p:strVal val="visible"/>
                                      </p:to>
                                    </p:set>
                                  </p:childTnLst>
                                </p:cTn>
                              </p:par>
                              <p:par>
                                <p:cTn id="9" presetID="1" presetClass="entr" fill="hold" nodeType="withEffect">
                                  <p:stCondLst>
                                    <p:cond delay="0"/>
                                  </p:stCondLst>
                                  <p:childTnLst>
                                    <p:set>
                                      <p:cBhvr>
                                        <p:cTn id="10" dur="1" fill="hold">
                                          <p:stCondLst>
                                            <p:cond delay="0"/>
                                          </p:stCondLst>
                                        </p:cTn>
                                        <p:tgtEl>
                                          <p:spTgt spid="239">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240"/>
                                        </p:tgtEl>
                                        <p:attrNameLst>
                                          <p:attrName>style.visibility</p:attrName>
                                        </p:attrNameLst>
                                      </p:cBhvr>
                                      <p:to>
                                        <p:strVal val="visible"/>
                                      </p:to>
                                    </p:set>
                                  </p:childTnLst>
                                </p:cTn>
                              </p:par>
                              <p:par>
                                <p:cTn id="15" presetID="1" presetClass="entr" fill="hold" nodeType="withEffect">
                                  <p:stCondLst>
                                    <p:cond delay="0"/>
                                  </p:stCondLst>
                                  <p:childTnLst>
                                    <p:set>
                                      <p:cBhvr>
                                        <p:cTn id="16" dur="1" fill="hold">
                                          <p:stCondLst>
                                            <p:cond delay="0"/>
                                          </p:stCondLst>
                                        </p:cTn>
                                        <p:tgtEl>
                                          <p:spTgt spid="242"/>
                                        </p:tgtEl>
                                        <p:attrNameLst>
                                          <p:attrName>style.visibility</p:attrName>
                                        </p:attrNameLst>
                                      </p:cBhvr>
                                      <p:to>
                                        <p:strVal val="visible"/>
                                      </p:to>
                                    </p:set>
                                  </p:childTnLst>
                                </p:cTn>
                              </p:par>
                              <p:par>
                                <p:cTn id="17" presetID="1" presetClass="entr" fill="hold" nodeType="withEffect">
                                  <p:stCondLst>
                                    <p:cond delay="0"/>
                                  </p:stCondLst>
                                  <p:childTnLst>
                                    <p:set>
                                      <p:cBhvr>
                                        <p:cTn id="18" dur="1" fill="hold">
                                          <p:stCondLst>
                                            <p:cond delay="0"/>
                                          </p:stCondLst>
                                        </p:cTn>
                                        <p:tgtEl>
                                          <p:spTgt spid="2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 name="Picture 16" descr="handshake.jpg"/>
          <p:cNvPicPr/>
          <p:nvPr/>
        </p:nvPicPr>
        <p:blipFill>
          <a:blip r:embed="rId3"/>
          <a:stretch/>
        </p:blipFill>
        <p:spPr>
          <a:xfrm>
            <a:off x="1063440" y="2341800"/>
            <a:ext cx="2492640" cy="891360"/>
          </a:xfrm>
          <a:prstGeom prst="rect">
            <a:avLst/>
          </a:prstGeom>
          <a:ln w="0">
            <a:noFill/>
          </a:ln>
        </p:spPr>
      </p:pic>
      <p:sp>
        <p:nvSpPr>
          <p:cNvPr id="246" name="TextBox 42"/>
          <p:cNvSpPr/>
          <p:nvPr/>
        </p:nvSpPr>
        <p:spPr>
          <a:xfrm>
            <a:off x="883440" y="1860120"/>
            <a:ext cx="302472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800" b="0" strike="noStrike" spc="-1">
                <a:solidFill>
                  <a:schemeClr val="accent2">
                    <a:lumMod val="75000"/>
                  </a:schemeClr>
                </a:solidFill>
                <a:latin typeface="News Gothic MT"/>
              </a:rPr>
              <a:t>TCP session establishment</a:t>
            </a:r>
            <a:endParaRPr lang="en-US" sz="1800" b="0" strike="noStrike" spc="-1">
              <a:solidFill>
                <a:srgbClr val="000000"/>
              </a:solidFill>
              <a:latin typeface="Arial"/>
            </a:endParaRPr>
          </a:p>
        </p:txBody>
      </p:sp>
      <p:pic>
        <p:nvPicPr>
          <p:cNvPr id="247" name="Picture 18" descr="handshake.jpg"/>
          <p:cNvPicPr/>
          <p:nvPr/>
        </p:nvPicPr>
        <p:blipFill>
          <a:blip r:embed="rId3"/>
          <a:stretch/>
        </p:blipFill>
        <p:spPr>
          <a:xfrm>
            <a:off x="988560" y="4167720"/>
            <a:ext cx="2492640" cy="891360"/>
          </a:xfrm>
          <a:prstGeom prst="rect">
            <a:avLst/>
          </a:prstGeom>
          <a:ln w="0">
            <a:noFill/>
          </a:ln>
        </p:spPr>
      </p:pic>
      <p:sp>
        <p:nvSpPr>
          <p:cNvPr id="248" name="TextBox 43"/>
          <p:cNvSpPr/>
          <p:nvPr/>
        </p:nvSpPr>
        <p:spPr>
          <a:xfrm>
            <a:off x="1069560" y="3701160"/>
            <a:ext cx="255996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800" b="0" strike="noStrike" spc="-1">
                <a:solidFill>
                  <a:schemeClr val="accent2">
                    <a:lumMod val="75000"/>
                  </a:schemeClr>
                </a:solidFill>
                <a:latin typeface="News Gothic MT"/>
              </a:rPr>
              <a:t>TLS key establishment</a:t>
            </a:r>
            <a:endParaRPr lang="en-US" sz="1800" b="0" strike="noStrike" spc="-1">
              <a:solidFill>
                <a:srgbClr val="000000"/>
              </a:solidFill>
              <a:latin typeface="Arial"/>
            </a:endParaRPr>
          </a:p>
        </p:txBody>
      </p:sp>
      <p:pic>
        <p:nvPicPr>
          <p:cNvPr id="249" name="Picture 19" descr="handshake.jpg"/>
          <p:cNvPicPr/>
          <p:nvPr/>
        </p:nvPicPr>
        <p:blipFill>
          <a:blip r:embed="rId3"/>
          <a:stretch/>
        </p:blipFill>
        <p:spPr>
          <a:xfrm>
            <a:off x="8434080" y="2621160"/>
            <a:ext cx="2492640" cy="891360"/>
          </a:xfrm>
          <a:prstGeom prst="rect">
            <a:avLst/>
          </a:prstGeom>
          <a:ln w="0">
            <a:noFill/>
          </a:ln>
        </p:spPr>
      </p:pic>
      <p:sp>
        <p:nvSpPr>
          <p:cNvPr id="250" name="TextBox 44"/>
          <p:cNvSpPr/>
          <p:nvPr/>
        </p:nvSpPr>
        <p:spPr>
          <a:xfrm>
            <a:off x="8289000" y="1860120"/>
            <a:ext cx="2954880" cy="638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800" b="0" strike="noStrike" spc="-1">
                <a:solidFill>
                  <a:schemeClr val="accent2">
                    <a:lumMod val="75000"/>
                  </a:schemeClr>
                </a:solidFill>
                <a:latin typeface="News Gothic MT"/>
              </a:rPr>
              <a:t>connection establishment</a:t>
            </a:r>
            <a:endParaRPr lang="en-US" sz="1800" b="0" strike="noStrike" spc="-1">
              <a:solidFill>
                <a:srgbClr val="000000"/>
              </a:solidFill>
              <a:latin typeface="Arial"/>
            </a:endParaRPr>
          </a:p>
          <a:p>
            <a:pPr algn="ctr" defTabSz="914400">
              <a:lnSpc>
                <a:spcPct val="100000"/>
              </a:lnSpc>
            </a:pPr>
            <a:r>
              <a:rPr lang="en-US" sz="1800" b="0" strike="noStrike" spc="-1">
                <a:solidFill>
                  <a:schemeClr val="accent2">
                    <a:lumMod val="75000"/>
                  </a:schemeClr>
                </a:solidFill>
                <a:latin typeface="News Gothic MT"/>
              </a:rPr>
              <a:t>and key agreement</a:t>
            </a:r>
            <a:endParaRPr lang="en-US" sz="1800" b="0" strike="noStrike" spc="-1">
              <a:solidFill>
                <a:srgbClr val="000000"/>
              </a:solidFill>
              <a:latin typeface="Arial"/>
            </a:endParaRPr>
          </a:p>
        </p:txBody>
      </p:sp>
      <p:sp>
        <p:nvSpPr>
          <p:cNvPr id="251" name="TextBox 45"/>
          <p:cNvSpPr/>
          <p:nvPr/>
        </p:nvSpPr>
        <p:spPr>
          <a:xfrm>
            <a:off x="1370880" y="5283360"/>
            <a:ext cx="175068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800" b="0" strike="noStrike" spc="-1">
                <a:solidFill>
                  <a:schemeClr val="accent2">
                    <a:lumMod val="75000"/>
                  </a:schemeClr>
                </a:solidFill>
                <a:latin typeface="News Gothic MT"/>
              </a:rPr>
              <a:t>exchange data</a:t>
            </a:r>
            <a:endParaRPr lang="en-US" sz="1800" b="0" strike="noStrike" spc="-1">
              <a:solidFill>
                <a:srgbClr val="000000"/>
              </a:solidFill>
              <a:latin typeface="Arial"/>
            </a:endParaRPr>
          </a:p>
        </p:txBody>
      </p:sp>
      <p:sp>
        <p:nvSpPr>
          <p:cNvPr id="252" name="TextBox 46"/>
          <p:cNvSpPr/>
          <p:nvPr/>
        </p:nvSpPr>
        <p:spPr>
          <a:xfrm>
            <a:off x="8872920" y="3729600"/>
            <a:ext cx="175068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800" b="0" strike="noStrike" spc="-1">
                <a:solidFill>
                  <a:schemeClr val="accent2">
                    <a:lumMod val="75000"/>
                  </a:schemeClr>
                </a:solidFill>
                <a:latin typeface="News Gothic MT"/>
              </a:rPr>
              <a:t>exchange data</a:t>
            </a:r>
            <a:endParaRPr lang="en-US" sz="1800" b="0" strike="noStrike" spc="-1">
              <a:solidFill>
                <a:srgbClr val="000000"/>
              </a:solidFill>
              <a:latin typeface="Arial"/>
            </a:endParaRPr>
          </a:p>
        </p:txBody>
      </p:sp>
      <p:sp>
        <p:nvSpPr>
          <p:cNvPr id="253" name="TextBox 47"/>
          <p:cNvSpPr/>
          <p:nvPr/>
        </p:nvSpPr>
        <p:spPr>
          <a:xfrm>
            <a:off x="5704560" y="2784600"/>
            <a:ext cx="946080" cy="638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800" b="0" strike="noStrike" spc="-1">
                <a:solidFill>
                  <a:schemeClr val="accent2">
                    <a:lumMod val="75000"/>
                  </a:schemeClr>
                </a:solidFill>
                <a:latin typeface="News Gothic MT"/>
              </a:rPr>
              <a:t>setup </a:t>
            </a:r>
            <a:endParaRPr lang="en-US" sz="1800" b="0" strike="noStrike" spc="-1">
              <a:solidFill>
                <a:srgbClr val="000000"/>
              </a:solidFill>
              <a:latin typeface="Arial"/>
            </a:endParaRPr>
          </a:p>
          <a:p>
            <a:pPr algn="ctr" defTabSz="914400">
              <a:lnSpc>
                <a:spcPct val="100000"/>
              </a:lnSpc>
            </a:pPr>
            <a:r>
              <a:rPr lang="en-US" sz="1800" b="0" strike="noStrike" spc="-1">
                <a:solidFill>
                  <a:schemeClr val="accent2">
                    <a:lumMod val="75000"/>
                  </a:schemeClr>
                </a:solidFill>
                <a:latin typeface="News Gothic MT"/>
              </a:rPr>
              <a:t>latency</a:t>
            </a:r>
            <a:endParaRPr lang="en-US" sz="1800" b="0" strike="noStrike" spc="-1">
              <a:solidFill>
                <a:srgbClr val="000000"/>
              </a:solidFill>
              <a:latin typeface="Arial"/>
            </a:endParaRPr>
          </a:p>
        </p:txBody>
      </p:sp>
      <p:sp>
        <p:nvSpPr>
          <p:cNvPr id="254" name="TextBox 48"/>
          <p:cNvSpPr/>
          <p:nvPr/>
        </p:nvSpPr>
        <p:spPr>
          <a:xfrm>
            <a:off x="2085120" y="3274920"/>
            <a:ext cx="370080" cy="4856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2600" b="1" strike="noStrike" spc="-1">
                <a:solidFill>
                  <a:schemeClr val="dk1"/>
                </a:solidFill>
                <a:latin typeface="News Gothic MT"/>
              </a:rPr>
              <a:t>+</a:t>
            </a:r>
            <a:endParaRPr lang="en-US" sz="2600" b="0" strike="noStrike" spc="-1">
              <a:solidFill>
                <a:srgbClr val="000000"/>
              </a:solidFill>
              <a:latin typeface="Arial"/>
            </a:endParaRPr>
          </a:p>
        </p:txBody>
      </p:sp>
      <p:sp>
        <p:nvSpPr>
          <p:cNvPr id="255" name="Right Brace 3"/>
          <p:cNvSpPr/>
          <p:nvPr/>
        </p:nvSpPr>
        <p:spPr>
          <a:xfrm>
            <a:off x="4445280" y="1777680"/>
            <a:ext cx="733320" cy="3322080"/>
          </a:xfrm>
          <a:prstGeom prst="rightBrace">
            <a:avLst>
              <a:gd name="adj1" fmla="val 8333"/>
              <a:gd name="adj2" fmla="val 50000"/>
            </a:avLst>
          </a:prstGeom>
          <a:noFill/>
          <a:ln>
            <a:solidFill>
              <a:srgbClr val="000000"/>
            </a:solidFill>
            <a:round/>
          </a:ln>
        </p:spPr>
        <p:style>
          <a:lnRef idx="2">
            <a:schemeClr val="accent1"/>
          </a:lnRef>
          <a:fillRef idx="0">
            <a:schemeClr val="accent1"/>
          </a:fillRef>
          <a:effectRef idx="1">
            <a:schemeClr val="accent1"/>
          </a:effectRef>
          <a:fontRef idx="minor"/>
        </p:style>
        <p:txBody>
          <a:bodyPr lIns="90000" tIns="45000" rIns="90000" bIns="45000" anchor="ctr">
            <a:noAutofit/>
          </a:bodyPr>
          <a:lstStyle/>
          <a:p>
            <a:endParaRPr lang="en-US" sz="1800" b="0" strike="noStrike" spc="-1">
              <a:solidFill>
                <a:schemeClr val="dk1"/>
              </a:solidFill>
              <a:latin typeface="News Gothic MT"/>
            </a:endParaRPr>
          </a:p>
        </p:txBody>
      </p:sp>
      <p:sp>
        <p:nvSpPr>
          <p:cNvPr id="256" name="Left Brace 3"/>
          <p:cNvSpPr/>
          <p:nvPr/>
        </p:nvSpPr>
        <p:spPr>
          <a:xfrm>
            <a:off x="7010280" y="1854720"/>
            <a:ext cx="735480" cy="1819800"/>
          </a:xfrm>
          <a:prstGeom prst="leftBrace">
            <a:avLst>
              <a:gd name="adj1" fmla="val 8333"/>
              <a:gd name="adj2" fmla="val 50000"/>
            </a:avLst>
          </a:prstGeom>
          <a:noFill/>
          <a:ln>
            <a:solidFill>
              <a:srgbClr val="000000"/>
            </a:solidFill>
            <a:round/>
          </a:ln>
        </p:spPr>
        <p:style>
          <a:lnRef idx="2">
            <a:schemeClr val="accent1"/>
          </a:lnRef>
          <a:fillRef idx="0">
            <a:schemeClr val="accent1"/>
          </a:fillRef>
          <a:effectRef idx="1">
            <a:schemeClr val="accent1"/>
          </a:effectRef>
          <a:fontRef idx="minor"/>
        </p:style>
        <p:txBody>
          <a:bodyPr lIns="90000" tIns="45000" rIns="90000" bIns="45000" anchor="ctr">
            <a:noAutofit/>
          </a:bodyPr>
          <a:lstStyle/>
          <a:p>
            <a:endParaRPr lang="en-US" sz="1800" b="0" strike="noStrike" spc="-1">
              <a:solidFill>
                <a:schemeClr val="dk1"/>
              </a:solidFill>
              <a:latin typeface="News Gothic MT"/>
            </a:endParaRPr>
          </a:p>
        </p:txBody>
      </p:sp>
      <p:sp>
        <p:nvSpPr>
          <p:cNvPr id="257" name="TextBox 49"/>
          <p:cNvSpPr/>
          <p:nvPr/>
        </p:nvSpPr>
        <p:spPr>
          <a:xfrm>
            <a:off x="1645920" y="1106640"/>
            <a:ext cx="2086200" cy="4554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2400" b="1" strike="noStrike" spc="-1">
                <a:solidFill>
                  <a:schemeClr val="accent2">
                    <a:lumMod val="75000"/>
                  </a:schemeClr>
                </a:solidFill>
                <a:latin typeface="News Gothic MT"/>
              </a:rPr>
              <a:t>TLS over TCP</a:t>
            </a:r>
            <a:endParaRPr lang="en-US" sz="2400" b="0" strike="noStrike" spc="-1">
              <a:solidFill>
                <a:srgbClr val="000000"/>
              </a:solidFill>
              <a:latin typeface="Arial"/>
            </a:endParaRPr>
          </a:p>
        </p:txBody>
      </p:sp>
      <p:sp>
        <p:nvSpPr>
          <p:cNvPr id="258" name="TextBox 50"/>
          <p:cNvSpPr/>
          <p:nvPr/>
        </p:nvSpPr>
        <p:spPr>
          <a:xfrm>
            <a:off x="9100080" y="1125720"/>
            <a:ext cx="965880" cy="4554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2400" b="1" strike="noStrike" spc="-1">
                <a:solidFill>
                  <a:schemeClr val="accent2">
                    <a:lumMod val="75000"/>
                  </a:schemeClr>
                </a:solidFill>
                <a:latin typeface="News Gothic MT"/>
              </a:rPr>
              <a:t>QUIC</a:t>
            </a:r>
            <a:endParaRPr lang="en-US" sz="2400" b="0" strike="noStrike" spc="-1">
              <a:solidFill>
                <a:srgbClr val="000000"/>
              </a:solidFill>
              <a:latin typeface="Arial"/>
            </a:endParaRPr>
          </a:p>
        </p:txBody>
      </p:sp>
      <p:sp>
        <p:nvSpPr>
          <p:cNvPr id="259" name="TextBox 51"/>
          <p:cNvSpPr/>
          <p:nvPr/>
        </p:nvSpPr>
        <p:spPr>
          <a:xfrm>
            <a:off x="161640" y="2529000"/>
            <a:ext cx="140796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strike="noStrike" spc="-1">
                <a:solidFill>
                  <a:schemeClr val="accent2">
                    <a:lumMod val="75000"/>
                  </a:schemeClr>
                </a:solidFill>
                <a:latin typeface="News Gothic MT"/>
              </a:rPr>
              <a:t>client</a:t>
            </a:r>
            <a:endParaRPr lang="en-US" sz="1800" b="0" strike="noStrike" spc="-1">
              <a:solidFill>
                <a:srgbClr val="000000"/>
              </a:solidFill>
              <a:latin typeface="Arial"/>
            </a:endParaRPr>
          </a:p>
        </p:txBody>
      </p:sp>
      <p:sp>
        <p:nvSpPr>
          <p:cNvPr id="260" name="TextBox 52"/>
          <p:cNvSpPr/>
          <p:nvPr/>
        </p:nvSpPr>
        <p:spPr>
          <a:xfrm>
            <a:off x="3480480" y="2533680"/>
            <a:ext cx="128628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strike="noStrike" spc="-1">
                <a:solidFill>
                  <a:schemeClr val="accent2">
                    <a:lumMod val="75000"/>
                  </a:schemeClr>
                </a:solidFill>
                <a:latin typeface="News Gothic MT"/>
              </a:rPr>
              <a:t>server</a:t>
            </a:r>
            <a:endParaRPr lang="en-US" sz="1800" b="0" strike="noStrike" spc="-1">
              <a:solidFill>
                <a:srgbClr val="000000"/>
              </a:solidFill>
              <a:latin typeface="Arial"/>
            </a:endParaRPr>
          </a:p>
        </p:txBody>
      </p:sp>
      <p:pic>
        <p:nvPicPr>
          <p:cNvPr id="261" name="Picture 20"/>
          <p:cNvPicPr/>
          <p:nvPr/>
        </p:nvPicPr>
        <p:blipFill>
          <a:blip r:embed="rId4"/>
          <a:stretch/>
        </p:blipFill>
        <p:spPr>
          <a:xfrm>
            <a:off x="3685680" y="2931120"/>
            <a:ext cx="700200" cy="688680"/>
          </a:xfrm>
          <a:prstGeom prst="rect">
            <a:avLst/>
          </a:prstGeom>
          <a:ln w="0">
            <a:noFill/>
          </a:ln>
        </p:spPr>
      </p:pic>
      <p:pic>
        <p:nvPicPr>
          <p:cNvPr id="262" name="Picture 21"/>
          <p:cNvPicPr/>
          <p:nvPr/>
        </p:nvPicPr>
        <p:blipFill>
          <a:blip r:embed="rId5"/>
          <a:stretch/>
        </p:blipFill>
        <p:spPr>
          <a:xfrm>
            <a:off x="414000" y="2929320"/>
            <a:ext cx="628920" cy="568800"/>
          </a:xfrm>
          <a:prstGeom prst="rect">
            <a:avLst/>
          </a:prstGeom>
          <a:ln w="0">
            <a:noFill/>
          </a:ln>
        </p:spPr>
      </p:pic>
      <p:sp>
        <p:nvSpPr>
          <p:cNvPr id="263" name="TextBox 53"/>
          <p:cNvSpPr/>
          <p:nvPr/>
        </p:nvSpPr>
        <p:spPr>
          <a:xfrm>
            <a:off x="10887120" y="2770200"/>
            <a:ext cx="128628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strike="noStrike" spc="-1">
                <a:solidFill>
                  <a:schemeClr val="accent2">
                    <a:lumMod val="75000"/>
                  </a:schemeClr>
                </a:solidFill>
                <a:latin typeface="News Gothic MT"/>
              </a:rPr>
              <a:t>server</a:t>
            </a:r>
            <a:endParaRPr lang="en-US" sz="1800" b="0" strike="noStrike" spc="-1">
              <a:solidFill>
                <a:srgbClr val="000000"/>
              </a:solidFill>
              <a:latin typeface="Arial"/>
            </a:endParaRPr>
          </a:p>
        </p:txBody>
      </p:sp>
      <p:pic>
        <p:nvPicPr>
          <p:cNvPr id="264" name="Picture 22"/>
          <p:cNvPicPr/>
          <p:nvPr/>
        </p:nvPicPr>
        <p:blipFill>
          <a:blip r:embed="rId4"/>
          <a:stretch/>
        </p:blipFill>
        <p:spPr>
          <a:xfrm>
            <a:off x="11092680" y="3125160"/>
            <a:ext cx="700200" cy="688680"/>
          </a:xfrm>
          <a:prstGeom prst="rect">
            <a:avLst/>
          </a:prstGeom>
          <a:ln w="0">
            <a:noFill/>
          </a:ln>
        </p:spPr>
      </p:pic>
      <p:sp>
        <p:nvSpPr>
          <p:cNvPr id="265" name="TextBox 54"/>
          <p:cNvSpPr/>
          <p:nvPr/>
        </p:nvSpPr>
        <p:spPr>
          <a:xfrm>
            <a:off x="7497360" y="2777040"/>
            <a:ext cx="140796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strike="noStrike" spc="-1">
                <a:solidFill>
                  <a:schemeClr val="accent2">
                    <a:lumMod val="75000"/>
                  </a:schemeClr>
                </a:solidFill>
                <a:latin typeface="News Gothic MT"/>
              </a:rPr>
              <a:t>client</a:t>
            </a:r>
            <a:endParaRPr lang="en-US" sz="1800" b="0" strike="noStrike" spc="-1">
              <a:solidFill>
                <a:srgbClr val="000000"/>
              </a:solidFill>
              <a:latin typeface="Arial"/>
            </a:endParaRPr>
          </a:p>
        </p:txBody>
      </p:sp>
      <p:pic>
        <p:nvPicPr>
          <p:cNvPr id="266" name="Picture 23"/>
          <p:cNvPicPr/>
          <p:nvPr/>
        </p:nvPicPr>
        <p:blipFill>
          <a:blip r:embed="rId5"/>
          <a:stretch/>
        </p:blipFill>
        <p:spPr>
          <a:xfrm>
            <a:off x="7787520" y="3120480"/>
            <a:ext cx="628920" cy="568800"/>
          </a:xfrm>
          <a:prstGeom prst="rect">
            <a:avLst/>
          </a:prstGeom>
          <a:ln w="0">
            <a:noFill/>
          </a:ln>
        </p:spPr>
      </p:pic>
      <p:sp>
        <p:nvSpPr>
          <p:cNvPr id="267" name="PlaceHolder 1"/>
          <p:cNvSpPr>
            <a:spLocks noGrp="1"/>
          </p:cNvSpPr>
          <p:nvPr>
            <p:ph/>
          </p:nvPr>
        </p:nvSpPr>
        <p:spPr>
          <a:xfrm>
            <a:off x="5027400" y="4353480"/>
            <a:ext cx="7170480" cy="1731600"/>
          </a:xfrm>
          <a:prstGeom prst="rect">
            <a:avLst/>
          </a:prstGeom>
          <a:noFill/>
          <a:ln w="0">
            <a:noFill/>
          </a:ln>
        </p:spPr>
        <p:txBody>
          <a:bodyPr lIns="91440" tIns="45720" rIns="91440" bIns="45720" anchor="t">
            <a:normAutofit/>
          </a:bodyPr>
          <a:lstStyle/>
          <a:p>
            <a:pPr indent="0" defTabSz="914400">
              <a:lnSpc>
                <a:spcPct val="100000"/>
              </a:lnSpc>
              <a:spcBef>
                <a:spcPts val="2001"/>
              </a:spcBef>
              <a:buNone/>
              <a:tabLst>
                <a:tab pos="0" algn="l"/>
              </a:tabLst>
            </a:pPr>
            <a:r>
              <a:rPr lang="en-US" sz="1900" b="0" strike="noStrike" spc="-1">
                <a:solidFill>
                  <a:schemeClr val="accent2">
                    <a:lumMod val="75000"/>
                  </a:schemeClr>
                </a:solidFill>
                <a:latin typeface="News Gothic MT"/>
              </a:rPr>
              <a:t>TCP guarantees ordered delivery, provides protection against connection-spoofing, but </a:t>
            </a:r>
          </a:p>
          <a:p>
            <a:pPr marL="692280" lvl="1" indent="-343080" defTabSz="914400">
              <a:lnSpc>
                <a:spcPct val="100000"/>
              </a:lnSpc>
              <a:spcBef>
                <a:spcPts val="601"/>
              </a:spcBef>
              <a:buClr>
                <a:srgbClr val="1B3742"/>
              </a:buClr>
              <a:buSzPct val="110000"/>
              <a:buFont typeface="Lucida Grande"/>
              <a:buChar char="-"/>
              <a:tabLst>
                <a:tab pos="0" algn="l"/>
              </a:tabLst>
            </a:pPr>
            <a:r>
              <a:rPr lang="en-US" sz="1800" b="0" strike="noStrike" spc="-1">
                <a:solidFill>
                  <a:schemeClr val="accent2">
                    <a:lumMod val="75000"/>
                  </a:schemeClr>
                </a:solidFill>
                <a:latin typeface="News Gothic MT"/>
              </a:rPr>
              <a:t>adds latency</a:t>
            </a:r>
            <a:endParaRPr lang="en-US" sz="1800" b="0" strike="noStrike" spc="-1">
              <a:solidFill>
                <a:schemeClr val="dk1">
                  <a:lumMod val="65000"/>
                  <a:lumOff val="35000"/>
                </a:schemeClr>
              </a:solidFill>
              <a:latin typeface="News Gothic MT"/>
            </a:endParaRPr>
          </a:p>
          <a:p>
            <a:pPr marL="692280" lvl="1" indent="-343080" defTabSz="914400">
              <a:lnSpc>
                <a:spcPct val="100000"/>
              </a:lnSpc>
              <a:spcBef>
                <a:spcPts val="601"/>
              </a:spcBef>
              <a:buClr>
                <a:srgbClr val="1B3742"/>
              </a:buClr>
              <a:buSzPct val="110000"/>
              <a:buFont typeface="Lucida Grande"/>
              <a:buChar char="-"/>
              <a:tabLst>
                <a:tab pos="0" algn="l"/>
              </a:tabLst>
            </a:pPr>
            <a:r>
              <a:rPr lang="en-US" sz="1800" b="0" strike="noStrike" spc="-1">
                <a:solidFill>
                  <a:schemeClr val="accent2">
                    <a:lumMod val="75000"/>
                  </a:schemeClr>
                </a:solidFill>
                <a:latin typeface="News Gothic MT"/>
              </a:rPr>
              <a:t>suffers from subtle performance attacks, e.g., TCP reset, </a:t>
            </a:r>
            <a:r>
              <a:rPr lang="en-US" sz="1800" b="0" strike="noStrike" spc="-1">
                <a:solidFill>
                  <a:schemeClr val="dk2">
                    <a:lumMod val="75000"/>
                    <a:lumOff val="25000"/>
                  </a:schemeClr>
                </a:solidFill>
                <a:latin typeface="News Gothic MT"/>
              </a:rPr>
              <a:t>Clayton et al, 2006</a:t>
            </a:r>
            <a:r>
              <a:rPr lang="en-US" sz="1800" b="0" strike="noStrike" spc="-1">
                <a:solidFill>
                  <a:schemeClr val="accent2">
                    <a:lumMod val="75000"/>
                  </a:schemeClr>
                </a:solidFill>
                <a:latin typeface="News Gothic MT"/>
              </a:rPr>
              <a:t> </a:t>
            </a:r>
            <a:endParaRPr lang="en-US" sz="1800" b="0" strike="noStrike" spc="-1">
              <a:solidFill>
                <a:schemeClr val="dk1">
                  <a:lumMod val="65000"/>
                  <a:lumOff val="35000"/>
                </a:schemeClr>
              </a:solidFill>
              <a:latin typeface="News Gothic MT"/>
            </a:endParaRPr>
          </a:p>
        </p:txBody>
      </p:sp>
      <p:sp>
        <p:nvSpPr>
          <p:cNvPr id="268" name="Content Placeholder 10"/>
          <p:cNvSpPr/>
          <p:nvPr/>
        </p:nvSpPr>
        <p:spPr>
          <a:xfrm>
            <a:off x="5177880" y="6058080"/>
            <a:ext cx="6562440" cy="64116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spcBef>
                <a:spcPts val="2001"/>
              </a:spcBef>
              <a:tabLst>
                <a:tab pos="0" algn="l"/>
              </a:tabLst>
            </a:pPr>
            <a:r>
              <a:rPr lang="en-US" sz="1900" b="0" strike="noStrike" spc="-1">
                <a:solidFill>
                  <a:schemeClr val="accent2">
                    <a:lumMod val="75000"/>
                  </a:schemeClr>
                </a:solidFill>
                <a:latin typeface="News Gothic MT"/>
              </a:rPr>
              <a:t>What about QUIC?</a:t>
            </a:r>
            <a:endParaRPr lang="en-US" sz="1900" b="0" strike="noStrike" spc="-1">
              <a:solidFill>
                <a:srgbClr val="000000"/>
              </a:solidFill>
              <a:latin typeface="Arial"/>
            </a:endParaRPr>
          </a:p>
        </p:txBody>
      </p:sp>
      <p:sp>
        <p:nvSpPr>
          <p:cNvPr id="269" name="Title 6"/>
          <p:cNvSpPr/>
          <p:nvPr/>
        </p:nvSpPr>
        <p:spPr>
          <a:xfrm>
            <a:off x="-93960" y="107640"/>
            <a:ext cx="12436560" cy="823320"/>
          </a:xfrm>
          <a:prstGeom prst="rect">
            <a:avLst/>
          </a:prstGeom>
          <a:noFill/>
          <a:ln w="0">
            <a:noFill/>
          </a:ln>
        </p:spPr>
        <p:style>
          <a:lnRef idx="0">
            <a:scrgbClr r="0" g="0" b="0"/>
          </a:lnRef>
          <a:fillRef idx="0">
            <a:scrgbClr r="0" g="0" b="0"/>
          </a:fillRef>
          <a:effectRef idx="0">
            <a:scrgbClr r="0" g="0" b="0"/>
          </a:effectRef>
          <a:fontRef idx="minor"/>
        </p:style>
        <p:txBody>
          <a:bodyPr anchor="b">
            <a:noAutofit/>
          </a:bodyPr>
          <a:lstStyle/>
          <a:p>
            <a:pPr algn="ctr" defTabSz="914400">
              <a:lnSpc>
                <a:spcPct val="100000"/>
              </a:lnSpc>
            </a:pPr>
            <a:r>
              <a:rPr lang="en-US" sz="4000" b="0" strike="noStrike" spc="-1">
                <a:solidFill>
                  <a:schemeClr val="accent2">
                    <a:lumMod val="75000"/>
                  </a:schemeClr>
                </a:solidFill>
                <a:latin typeface="News Gothic MT"/>
              </a:rPr>
              <a:t>Setup Time: QUIC vs TLS</a:t>
            </a:r>
            <a:endParaRPr lang="en-US" sz="4000" b="0" strike="noStrike" spc="-1">
              <a:solidFill>
                <a:srgbClr val="000000"/>
              </a:solidFill>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257"/>
                                        </p:tgtEl>
                                        <p:attrNameLst>
                                          <p:attrName>style.visibility</p:attrName>
                                        </p:attrNameLst>
                                      </p:cBhvr>
                                      <p:to>
                                        <p:strVal val="visible"/>
                                      </p:to>
                                    </p:set>
                                  </p:childTnLst>
                                </p:cTn>
                              </p:par>
                              <p:par>
                                <p:cTn id="7" presetID="3" presetClass="entr" presetSubtype="10" fill="hold" nodeType="withEffect">
                                  <p:stCondLst>
                                    <p:cond delay="0"/>
                                  </p:stCondLst>
                                  <p:childTnLst>
                                    <p:set>
                                      <p:cBhvr>
                                        <p:cTn id="8" dur="1" fill="hold">
                                          <p:stCondLst>
                                            <p:cond delay="0"/>
                                          </p:stCondLst>
                                        </p:cTn>
                                        <p:tgtEl>
                                          <p:spTgt spid="246"/>
                                        </p:tgtEl>
                                        <p:attrNameLst>
                                          <p:attrName>style.visibility</p:attrName>
                                        </p:attrNameLst>
                                      </p:cBhvr>
                                      <p:to>
                                        <p:strVal val="visible"/>
                                      </p:to>
                                    </p:set>
                                    <p:animEffect transition="in" filter="blinds(horizontal)">
                                      <p:cBhvr additive="repl">
                                        <p:cTn id="9" dur="500"/>
                                        <p:tgtEl>
                                          <p:spTgt spid="246"/>
                                        </p:tgtEl>
                                      </p:cBhvr>
                                    </p:animEffect>
                                  </p:childTnLst>
                                </p:cTn>
                              </p:par>
                              <p:par>
                                <p:cTn id="10" presetID="3" presetClass="entr" presetSubtype="10" fill="hold" nodeType="withEffect">
                                  <p:stCondLst>
                                    <p:cond delay="0"/>
                                  </p:stCondLst>
                                  <p:childTnLst>
                                    <p:set>
                                      <p:cBhvr>
                                        <p:cTn id="11" dur="1" fill="hold">
                                          <p:stCondLst>
                                            <p:cond delay="0"/>
                                          </p:stCondLst>
                                        </p:cTn>
                                        <p:tgtEl>
                                          <p:spTgt spid="245"/>
                                        </p:tgtEl>
                                        <p:attrNameLst>
                                          <p:attrName>style.visibility</p:attrName>
                                        </p:attrNameLst>
                                      </p:cBhvr>
                                      <p:to>
                                        <p:strVal val="visible"/>
                                      </p:to>
                                    </p:set>
                                    <p:animEffect transition="in" filter="blinds(horizontal)">
                                      <p:cBhvr additive="repl">
                                        <p:cTn id="12" dur="500"/>
                                        <p:tgtEl>
                                          <p:spTgt spid="245"/>
                                        </p:tgtEl>
                                      </p:cBhvr>
                                    </p:animEffect>
                                  </p:childTnLst>
                                </p:cTn>
                              </p:par>
                              <p:par>
                                <p:cTn id="13" presetID="1" presetClass="entr" fill="hold" nodeType="withEffect">
                                  <p:stCondLst>
                                    <p:cond delay="0"/>
                                  </p:stCondLst>
                                  <p:childTnLst>
                                    <p:set>
                                      <p:cBhvr>
                                        <p:cTn id="14" dur="1" fill="hold">
                                          <p:stCondLst>
                                            <p:cond delay="0"/>
                                          </p:stCondLst>
                                        </p:cTn>
                                        <p:tgtEl>
                                          <p:spTgt spid="262"/>
                                        </p:tgtEl>
                                        <p:attrNameLst>
                                          <p:attrName>style.visibility</p:attrName>
                                        </p:attrNameLst>
                                      </p:cBhvr>
                                      <p:to>
                                        <p:strVal val="visible"/>
                                      </p:to>
                                    </p:set>
                                  </p:childTnLst>
                                </p:cTn>
                              </p:par>
                              <p:par>
                                <p:cTn id="15" presetID="1" presetClass="entr" fill="hold" nodeType="withEffect">
                                  <p:stCondLst>
                                    <p:cond delay="0"/>
                                  </p:stCondLst>
                                  <p:childTnLst>
                                    <p:set>
                                      <p:cBhvr>
                                        <p:cTn id="16" dur="1" fill="hold">
                                          <p:stCondLst>
                                            <p:cond delay="0"/>
                                          </p:stCondLst>
                                        </p:cTn>
                                        <p:tgtEl>
                                          <p:spTgt spid="259"/>
                                        </p:tgtEl>
                                        <p:attrNameLst>
                                          <p:attrName>style.visibility</p:attrName>
                                        </p:attrNameLst>
                                      </p:cBhvr>
                                      <p:to>
                                        <p:strVal val="visible"/>
                                      </p:to>
                                    </p:set>
                                  </p:childTnLst>
                                </p:cTn>
                              </p:par>
                              <p:par>
                                <p:cTn id="17" presetID="1" presetClass="entr" fill="hold" nodeType="withEffect">
                                  <p:stCondLst>
                                    <p:cond delay="0"/>
                                  </p:stCondLst>
                                  <p:childTnLst>
                                    <p:set>
                                      <p:cBhvr>
                                        <p:cTn id="18" dur="1" fill="hold">
                                          <p:stCondLst>
                                            <p:cond delay="0"/>
                                          </p:stCondLst>
                                        </p:cTn>
                                        <p:tgtEl>
                                          <p:spTgt spid="261"/>
                                        </p:tgtEl>
                                        <p:attrNameLst>
                                          <p:attrName>style.visibility</p:attrName>
                                        </p:attrNameLst>
                                      </p:cBhvr>
                                      <p:to>
                                        <p:strVal val="visible"/>
                                      </p:to>
                                    </p:set>
                                  </p:childTnLst>
                                </p:cTn>
                              </p:par>
                              <p:par>
                                <p:cTn id="19" presetID="1" presetClass="entr" fill="hold" nodeType="withEffect">
                                  <p:stCondLst>
                                    <p:cond delay="0"/>
                                  </p:stCondLst>
                                  <p:childTnLst>
                                    <p:set>
                                      <p:cBhvr>
                                        <p:cTn id="20" dur="1" fill="hold">
                                          <p:stCondLst>
                                            <p:cond delay="0"/>
                                          </p:stCondLst>
                                        </p:cTn>
                                        <p:tgtEl>
                                          <p:spTgt spid="260"/>
                                        </p:tgtEl>
                                        <p:attrNameLst>
                                          <p:attrName>style.visibility</p:attrName>
                                        </p:attrNameLst>
                                      </p:cBhvr>
                                      <p:to>
                                        <p:strVal val="visible"/>
                                      </p:to>
                                    </p:set>
                                  </p:childTnLst>
                                </p:cTn>
                              </p:par>
                            </p:childTnLst>
                          </p:cTn>
                        </p:par>
                        <p:par>
                          <p:cTn id="21" fill="hold">
                            <p:stCondLst>
                              <p:cond delay="500"/>
                            </p:stCondLst>
                            <p:childTnLst>
                              <p:par>
                                <p:cTn id="22" presetID="3" presetClass="entr" presetSubtype="10" fill="hold" nodeType="afterEffect">
                                  <p:stCondLst>
                                    <p:cond delay="100"/>
                                  </p:stCondLst>
                                  <p:childTnLst>
                                    <p:set>
                                      <p:cBhvr>
                                        <p:cTn id="23" dur="1" fill="hold">
                                          <p:stCondLst>
                                            <p:cond delay="0"/>
                                          </p:stCondLst>
                                        </p:cTn>
                                        <p:tgtEl>
                                          <p:spTgt spid="248"/>
                                        </p:tgtEl>
                                        <p:attrNameLst>
                                          <p:attrName>style.visibility</p:attrName>
                                        </p:attrNameLst>
                                      </p:cBhvr>
                                      <p:to>
                                        <p:strVal val="visible"/>
                                      </p:to>
                                    </p:set>
                                    <p:animEffect transition="in" filter="blinds(horizontal)">
                                      <p:cBhvr additive="repl">
                                        <p:cTn id="24" dur="500"/>
                                        <p:tgtEl>
                                          <p:spTgt spid="248"/>
                                        </p:tgtEl>
                                      </p:cBhvr>
                                    </p:animEffect>
                                  </p:childTnLst>
                                </p:cTn>
                              </p:par>
                              <p:par>
                                <p:cTn id="25" presetID="3" presetClass="entr" presetSubtype="10" fill="hold" nodeType="withEffect">
                                  <p:stCondLst>
                                    <p:cond delay="0"/>
                                  </p:stCondLst>
                                  <p:childTnLst>
                                    <p:set>
                                      <p:cBhvr>
                                        <p:cTn id="26" dur="1" fill="hold">
                                          <p:stCondLst>
                                            <p:cond delay="0"/>
                                          </p:stCondLst>
                                        </p:cTn>
                                        <p:tgtEl>
                                          <p:spTgt spid="247"/>
                                        </p:tgtEl>
                                        <p:attrNameLst>
                                          <p:attrName>style.visibility</p:attrName>
                                        </p:attrNameLst>
                                      </p:cBhvr>
                                      <p:to>
                                        <p:strVal val="visible"/>
                                      </p:to>
                                    </p:set>
                                    <p:animEffect transition="in" filter="blinds(horizontal)">
                                      <p:cBhvr additive="repl">
                                        <p:cTn id="27" dur="500"/>
                                        <p:tgtEl>
                                          <p:spTgt spid="247"/>
                                        </p:tgtEl>
                                      </p:cBhvr>
                                    </p:animEffect>
                                  </p:childTnLst>
                                </p:cTn>
                              </p:par>
                            </p:childTnLst>
                          </p:cTn>
                        </p:par>
                        <p:par>
                          <p:cTn id="28" fill="hold">
                            <p:stCondLst>
                              <p:cond delay="1100"/>
                            </p:stCondLst>
                            <p:childTnLst>
                              <p:par>
                                <p:cTn id="29" presetID="3" presetClass="entr" presetSubtype="10" fill="hold" nodeType="afterEffect">
                                  <p:stCondLst>
                                    <p:cond delay="100"/>
                                  </p:stCondLst>
                                  <p:childTnLst>
                                    <p:set>
                                      <p:cBhvr>
                                        <p:cTn id="30" dur="1" fill="hold">
                                          <p:stCondLst>
                                            <p:cond delay="0"/>
                                          </p:stCondLst>
                                        </p:cTn>
                                        <p:tgtEl>
                                          <p:spTgt spid="251"/>
                                        </p:tgtEl>
                                        <p:attrNameLst>
                                          <p:attrName>style.visibility</p:attrName>
                                        </p:attrNameLst>
                                      </p:cBhvr>
                                      <p:to>
                                        <p:strVal val="visible"/>
                                      </p:to>
                                    </p:set>
                                    <p:animEffect transition="in" filter="blinds(horizontal)">
                                      <p:cBhvr additive="repl">
                                        <p:cTn id="31" dur="500"/>
                                        <p:tgtEl>
                                          <p:spTgt spid="251"/>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fill="hold" nodeType="clickEffect">
                                  <p:stCondLst>
                                    <p:cond delay="0"/>
                                  </p:stCondLst>
                                  <p:childTnLst>
                                    <p:set>
                                      <p:cBhvr>
                                        <p:cTn id="35" dur="1" fill="hold">
                                          <p:stCondLst>
                                            <p:cond delay="0"/>
                                          </p:stCondLst>
                                        </p:cTn>
                                        <p:tgtEl>
                                          <p:spTgt spid="258"/>
                                        </p:tgtEl>
                                        <p:attrNameLst>
                                          <p:attrName>style.visibility</p:attrName>
                                        </p:attrNameLst>
                                      </p:cBhvr>
                                      <p:to>
                                        <p:strVal val="visible"/>
                                      </p:to>
                                    </p:set>
                                  </p:childTnLst>
                                </p:cTn>
                              </p:par>
                              <p:par>
                                <p:cTn id="36" presetID="3" presetClass="entr" presetSubtype="10" fill="hold" nodeType="withEffect">
                                  <p:stCondLst>
                                    <p:cond delay="0"/>
                                  </p:stCondLst>
                                  <p:childTnLst>
                                    <p:set>
                                      <p:cBhvr>
                                        <p:cTn id="37" dur="1" fill="hold">
                                          <p:stCondLst>
                                            <p:cond delay="0"/>
                                          </p:stCondLst>
                                        </p:cTn>
                                        <p:tgtEl>
                                          <p:spTgt spid="250"/>
                                        </p:tgtEl>
                                        <p:attrNameLst>
                                          <p:attrName>style.visibility</p:attrName>
                                        </p:attrNameLst>
                                      </p:cBhvr>
                                      <p:to>
                                        <p:strVal val="visible"/>
                                      </p:to>
                                    </p:set>
                                    <p:animEffect transition="in" filter="blinds(horizontal)">
                                      <p:cBhvr additive="repl">
                                        <p:cTn id="38" dur="500"/>
                                        <p:tgtEl>
                                          <p:spTgt spid="250"/>
                                        </p:tgtEl>
                                      </p:cBhvr>
                                    </p:animEffect>
                                  </p:childTnLst>
                                </p:cTn>
                              </p:par>
                              <p:par>
                                <p:cTn id="39" presetID="3" presetClass="entr" presetSubtype="10" fill="hold" nodeType="withEffect">
                                  <p:stCondLst>
                                    <p:cond delay="0"/>
                                  </p:stCondLst>
                                  <p:childTnLst>
                                    <p:set>
                                      <p:cBhvr>
                                        <p:cTn id="40" dur="1" fill="hold">
                                          <p:stCondLst>
                                            <p:cond delay="0"/>
                                          </p:stCondLst>
                                        </p:cTn>
                                        <p:tgtEl>
                                          <p:spTgt spid="249"/>
                                        </p:tgtEl>
                                        <p:attrNameLst>
                                          <p:attrName>style.visibility</p:attrName>
                                        </p:attrNameLst>
                                      </p:cBhvr>
                                      <p:to>
                                        <p:strVal val="visible"/>
                                      </p:to>
                                    </p:set>
                                    <p:animEffect transition="in" filter="blinds(horizontal)">
                                      <p:cBhvr additive="repl">
                                        <p:cTn id="41" dur="500"/>
                                        <p:tgtEl>
                                          <p:spTgt spid="249"/>
                                        </p:tgtEl>
                                      </p:cBhvr>
                                    </p:animEffect>
                                  </p:childTnLst>
                                </p:cTn>
                              </p:par>
                              <p:par>
                                <p:cTn id="42" presetID="1" presetClass="entr" fill="hold" nodeType="withEffect">
                                  <p:stCondLst>
                                    <p:cond delay="0"/>
                                  </p:stCondLst>
                                  <p:childTnLst>
                                    <p:set>
                                      <p:cBhvr>
                                        <p:cTn id="43" dur="1" fill="hold">
                                          <p:stCondLst>
                                            <p:cond delay="0"/>
                                          </p:stCondLst>
                                        </p:cTn>
                                        <p:tgtEl>
                                          <p:spTgt spid="264"/>
                                        </p:tgtEl>
                                        <p:attrNameLst>
                                          <p:attrName>style.visibility</p:attrName>
                                        </p:attrNameLst>
                                      </p:cBhvr>
                                      <p:to>
                                        <p:strVal val="visible"/>
                                      </p:to>
                                    </p:set>
                                  </p:childTnLst>
                                </p:cTn>
                              </p:par>
                              <p:par>
                                <p:cTn id="44" presetID="1" presetClass="entr" fill="hold" nodeType="withEffect">
                                  <p:stCondLst>
                                    <p:cond delay="0"/>
                                  </p:stCondLst>
                                  <p:childTnLst>
                                    <p:set>
                                      <p:cBhvr>
                                        <p:cTn id="45" dur="1" fill="hold">
                                          <p:stCondLst>
                                            <p:cond delay="0"/>
                                          </p:stCondLst>
                                        </p:cTn>
                                        <p:tgtEl>
                                          <p:spTgt spid="263"/>
                                        </p:tgtEl>
                                        <p:attrNameLst>
                                          <p:attrName>style.visibility</p:attrName>
                                        </p:attrNameLst>
                                      </p:cBhvr>
                                      <p:to>
                                        <p:strVal val="visible"/>
                                      </p:to>
                                    </p:set>
                                  </p:childTnLst>
                                </p:cTn>
                              </p:par>
                              <p:par>
                                <p:cTn id="46" presetID="1" presetClass="entr" fill="hold" nodeType="withEffect">
                                  <p:stCondLst>
                                    <p:cond delay="0"/>
                                  </p:stCondLst>
                                  <p:childTnLst>
                                    <p:set>
                                      <p:cBhvr>
                                        <p:cTn id="47" dur="1" fill="hold">
                                          <p:stCondLst>
                                            <p:cond delay="0"/>
                                          </p:stCondLst>
                                        </p:cTn>
                                        <p:tgtEl>
                                          <p:spTgt spid="266"/>
                                        </p:tgtEl>
                                        <p:attrNameLst>
                                          <p:attrName>style.visibility</p:attrName>
                                        </p:attrNameLst>
                                      </p:cBhvr>
                                      <p:to>
                                        <p:strVal val="visible"/>
                                      </p:to>
                                    </p:set>
                                  </p:childTnLst>
                                </p:cTn>
                              </p:par>
                              <p:par>
                                <p:cTn id="48" presetID="1" presetClass="entr" fill="hold" nodeType="withEffect">
                                  <p:stCondLst>
                                    <p:cond delay="0"/>
                                  </p:stCondLst>
                                  <p:childTnLst>
                                    <p:set>
                                      <p:cBhvr>
                                        <p:cTn id="49" dur="1" fill="hold">
                                          <p:stCondLst>
                                            <p:cond delay="0"/>
                                          </p:stCondLst>
                                        </p:cTn>
                                        <p:tgtEl>
                                          <p:spTgt spid="265"/>
                                        </p:tgtEl>
                                        <p:attrNameLst>
                                          <p:attrName>style.visibility</p:attrName>
                                        </p:attrNameLst>
                                      </p:cBhvr>
                                      <p:to>
                                        <p:strVal val="visible"/>
                                      </p:to>
                                    </p:set>
                                  </p:childTnLst>
                                </p:cTn>
                              </p:par>
                            </p:childTnLst>
                          </p:cTn>
                        </p:par>
                        <p:par>
                          <p:cTn id="50" fill="hold">
                            <p:stCondLst>
                              <p:cond delay="500"/>
                            </p:stCondLst>
                            <p:childTnLst>
                              <p:par>
                                <p:cTn id="51" presetID="1" presetClass="entr" fill="hold" nodeType="afterEffect">
                                  <p:stCondLst>
                                    <p:cond delay="100"/>
                                  </p:stCondLst>
                                  <p:childTnLst>
                                    <p:set>
                                      <p:cBhvr>
                                        <p:cTn id="52" dur="1" fill="hold">
                                          <p:stCondLst>
                                            <p:cond delay="0"/>
                                          </p:stCondLst>
                                        </p:cTn>
                                        <p:tgtEl>
                                          <p:spTgt spid="25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nodeType="clickEffect">
                                  <p:stCondLst>
                                    <p:cond delay="0"/>
                                  </p:stCondLst>
                                  <p:childTnLst>
                                    <p:set>
                                      <p:cBhvr>
                                        <p:cTn id="56" dur="1" fill="hold">
                                          <p:stCondLst>
                                            <p:cond delay="0"/>
                                          </p:stCondLst>
                                        </p:cTn>
                                        <p:tgtEl>
                                          <p:spTgt spid="255"/>
                                        </p:tgtEl>
                                        <p:attrNameLst>
                                          <p:attrName>style.visibility</p:attrName>
                                        </p:attrNameLst>
                                      </p:cBhvr>
                                      <p:to>
                                        <p:strVal val="visible"/>
                                      </p:to>
                                    </p:set>
                                    <p:anim calcmode="lin" valueType="num">
                                      <p:cBhvr additive="repl">
                                        <p:cTn id="57" dur="500" fill="hold"/>
                                        <p:tgtEl>
                                          <p:spTgt spid="255"/>
                                        </p:tgtEl>
                                        <p:attrNameLst>
                                          <p:attrName>ppt_w</p:attrName>
                                        </p:attrNameLst>
                                      </p:cBhvr>
                                      <p:tavLst>
                                        <p:tav tm="0">
                                          <p:val>
                                            <p:fltVal val="0"/>
                                          </p:val>
                                        </p:tav>
                                        <p:tav tm="100000">
                                          <p:val>
                                            <p:strVal val="#ppt_w"/>
                                          </p:val>
                                        </p:tav>
                                      </p:tavLst>
                                    </p:anim>
                                    <p:anim calcmode="lin" valueType="num">
                                      <p:cBhvr additive="repl">
                                        <p:cTn id="58" dur="500" fill="hold"/>
                                        <p:tgtEl>
                                          <p:spTgt spid="255"/>
                                        </p:tgtEl>
                                        <p:attrNameLst>
                                          <p:attrName>ppt_h</p:attrName>
                                        </p:attrNameLst>
                                      </p:cBhvr>
                                      <p:tavLst>
                                        <p:tav tm="0">
                                          <p:val>
                                            <p:fltVal val="0"/>
                                          </p:val>
                                        </p:tav>
                                        <p:tav tm="100000">
                                          <p:val>
                                            <p:strVal val="#ppt_h"/>
                                          </p:val>
                                        </p:tav>
                                      </p:tavLst>
                                    </p:anim>
                                    <p:animEffect transition="in" filter="fade">
                                      <p:cBhvr additive="repl">
                                        <p:cTn id="59" dur="500"/>
                                        <p:tgtEl>
                                          <p:spTgt spid="255"/>
                                        </p:tgtEl>
                                      </p:cBhvr>
                                    </p:animEffect>
                                  </p:childTnLst>
                                </p:cTn>
                              </p:par>
                              <p:par>
                                <p:cTn id="60" presetID="53" presetClass="entr" presetSubtype="16" fill="hold" nodeType="withEffect">
                                  <p:stCondLst>
                                    <p:cond delay="0"/>
                                  </p:stCondLst>
                                  <p:childTnLst>
                                    <p:set>
                                      <p:cBhvr>
                                        <p:cTn id="61" dur="1" fill="hold">
                                          <p:stCondLst>
                                            <p:cond delay="0"/>
                                          </p:stCondLst>
                                        </p:cTn>
                                        <p:tgtEl>
                                          <p:spTgt spid="256"/>
                                        </p:tgtEl>
                                        <p:attrNameLst>
                                          <p:attrName>style.visibility</p:attrName>
                                        </p:attrNameLst>
                                      </p:cBhvr>
                                      <p:to>
                                        <p:strVal val="visible"/>
                                      </p:to>
                                    </p:set>
                                    <p:anim calcmode="lin" valueType="num">
                                      <p:cBhvr additive="repl">
                                        <p:cTn id="62" dur="500" fill="hold"/>
                                        <p:tgtEl>
                                          <p:spTgt spid="256"/>
                                        </p:tgtEl>
                                        <p:attrNameLst>
                                          <p:attrName>ppt_w</p:attrName>
                                        </p:attrNameLst>
                                      </p:cBhvr>
                                      <p:tavLst>
                                        <p:tav tm="0">
                                          <p:val>
                                            <p:fltVal val="0"/>
                                          </p:val>
                                        </p:tav>
                                        <p:tav tm="100000">
                                          <p:val>
                                            <p:strVal val="#ppt_w"/>
                                          </p:val>
                                        </p:tav>
                                      </p:tavLst>
                                    </p:anim>
                                    <p:anim calcmode="lin" valueType="num">
                                      <p:cBhvr additive="repl">
                                        <p:cTn id="63" dur="500" fill="hold"/>
                                        <p:tgtEl>
                                          <p:spTgt spid="256"/>
                                        </p:tgtEl>
                                        <p:attrNameLst>
                                          <p:attrName>ppt_h</p:attrName>
                                        </p:attrNameLst>
                                      </p:cBhvr>
                                      <p:tavLst>
                                        <p:tav tm="0">
                                          <p:val>
                                            <p:fltVal val="0"/>
                                          </p:val>
                                        </p:tav>
                                        <p:tav tm="100000">
                                          <p:val>
                                            <p:strVal val="#ppt_h"/>
                                          </p:val>
                                        </p:tav>
                                      </p:tavLst>
                                    </p:anim>
                                    <p:animEffect transition="in" filter="fade">
                                      <p:cBhvr additive="repl">
                                        <p:cTn id="64" dur="500"/>
                                        <p:tgtEl>
                                          <p:spTgt spid="256"/>
                                        </p:tgtEl>
                                      </p:cBhvr>
                                    </p:animEffect>
                                  </p:childTnLst>
                                </p:cTn>
                              </p:par>
                              <p:par>
                                <p:cTn id="65" presetID="9" presetClass="entr" fill="hold" nodeType="withEffect">
                                  <p:stCondLst>
                                    <p:cond delay="0"/>
                                  </p:stCondLst>
                                  <p:childTnLst>
                                    <p:set>
                                      <p:cBhvr>
                                        <p:cTn id="66" dur="1" fill="hold">
                                          <p:stCondLst>
                                            <p:cond delay="0"/>
                                          </p:stCondLst>
                                        </p:cTn>
                                        <p:tgtEl>
                                          <p:spTgt spid="253"/>
                                        </p:tgtEl>
                                        <p:attrNameLst>
                                          <p:attrName>style.visibility</p:attrName>
                                        </p:attrNameLst>
                                      </p:cBhvr>
                                      <p:to>
                                        <p:strVal val="visible"/>
                                      </p:to>
                                    </p:set>
                                    <p:animEffect transition="in" filter="dissolve">
                                      <p:cBhvr additive="repl">
                                        <p:cTn id="67" dur="500"/>
                                        <p:tgtEl>
                                          <p:spTgt spid="253"/>
                                        </p:tgtEl>
                                      </p:cBhvr>
                                    </p:animEffect>
                                  </p:childTnLst>
                                </p:cTn>
                              </p:par>
                              <p:par>
                                <p:cTn id="68" presetID="53" presetClass="entr" presetSubtype="16" fill="hold" nodeType="withEffect">
                                  <p:stCondLst>
                                    <p:cond delay="0"/>
                                  </p:stCondLst>
                                  <p:childTnLst>
                                    <p:set>
                                      <p:cBhvr>
                                        <p:cTn id="69" dur="1" fill="hold">
                                          <p:stCondLst>
                                            <p:cond delay="0"/>
                                          </p:stCondLst>
                                        </p:cTn>
                                        <p:tgtEl>
                                          <p:spTgt spid="254"/>
                                        </p:tgtEl>
                                        <p:attrNameLst>
                                          <p:attrName>style.visibility</p:attrName>
                                        </p:attrNameLst>
                                      </p:cBhvr>
                                      <p:to>
                                        <p:strVal val="visible"/>
                                      </p:to>
                                    </p:set>
                                    <p:anim calcmode="lin" valueType="num">
                                      <p:cBhvr additive="repl">
                                        <p:cTn id="70" dur="500" fill="hold"/>
                                        <p:tgtEl>
                                          <p:spTgt spid="254"/>
                                        </p:tgtEl>
                                        <p:attrNameLst>
                                          <p:attrName>ppt_w</p:attrName>
                                        </p:attrNameLst>
                                      </p:cBhvr>
                                      <p:tavLst>
                                        <p:tav tm="0">
                                          <p:val>
                                            <p:fltVal val="0"/>
                                          </p:val>
                                        </p:tav>
                                        <p:tav tm="100000">
                                          <p:val>
                                            <p:strVal val="#ppt_w"/>
                                          </p:val>
                                        </p:tav>
                                      </p:tavLst>
                                    </p:anim>
                                    <p:anim calcmode="lin" valueType="num">
                                      <p:cBhvr additive="repl">
                                        <p:cTn id="71" dur="500" fill="hold"/>
                                        <p:tgtEl>
                                          <p:spTgt spid="254"/>
                                        </p:tgtEl>
                                        <p:attrNameLst>
                                          <p:attrName>ppt_h</p:attrName>
                                        </p:attrNameLst>
                                      </p:cBhvr>
                                      <p:tavLst>
                                        <p:tav tm="0">
                                          <p:val>
                                            <p:fltVal val="0"/>
                                          </p:val>
                                        </p:tav>
                                        <p:tav tm="100000">
                                          <p:val>
                                            <p:strVal val="#ppt_h"/>
                                          </p:val>
                                        </p:tav>
                                      </p:tavLst>
                                    </p:anim>
                                    <p:animEffect transition="in" filter="fade">
                                      <p:cBhvr additive="repl">
                                        <p:cTn id="72" dur="500"/>
                                        <p:tgtEl>
                                          <p:spTgt spid="254"/>
                                        </p:tgtEl>
                                      </p:cBhvr>
                                    </p:animEffect>
                                  </p:childTnLst>
                                </p:cTn>
                              </p:par>
                            </p:childTnLst>
                          </p:cTn>
                        </p:par>
                      </p:childTnLst>
                    </p:cTn>
                  </p:par>
                  <p:par>
                    <p:cTn id="73" fill="hold">
                      <p:stCondLst>
                        <p:cond delay="indefinite"/>
                      </p:stCondLst>
                      <p:childTnLst>
                        <p:par>
                          <p:cTn id="74" fill="hold">
                            <p:stCondLst>
                              <p:cond delay="0"/>
                            </p:stCondLst>
                            <p:childTnLst>
                              <p:par>
                                <p:cTn id="75" presetID="1" presetClass="entr" fill="hold" nodeType="clickEffect">
                                  <p:stCondLst>
                                    <p:cond delay="0"/>
                                  </p:stCondLst>
                                  <p:childTnLst>
                                    <p:set>
                                      <p:cBhvr>
                                        <p:cTn id="76" dur="1" fill="hold">
                                          <p:stCondLst>
                                            <p:cond delay="0"/>
                                          </p:stCondLst>
                                        </p:cTn>
                                        <p:tgtEl>
                                          <p:spTgt spid="267">
                                            <p:txEl>
                                              <p:pRg st="0" end="0"/>
                                            </p:txEl>
                                          </p:spTgt>
                                        </p:tgtEl>
                                        <p:attrNameLst>
                                          <p:attrName>style.visibility</p:attrName>
                                        </p:attrNameLst>
                                      </p:cBhvr>
                                      <p:to>
                                        <p:strVal val="visible"/>
                                      </p:to>
                                    </p:set>
                                  </p:childTnLst>
                                </p:cTn>
                              </p:par>
                              <p:par>
                                <p:cTn id="77" presetID="1" presetClass="entr" fill="hold" nodeType="withEffect">
                                  <p:stCondLst>
                                    <p:cond delay="0"/>
                                  </p:stCondLst>
                                  <p:childTnLst>
                                    <p:set>
                                      <p:cBhvr>
                                        <p:cTn id="78" dur="1" fill="hold">
                                          <p:stCondLst>
                                            <p:cond delay="0"/>
                                          </p:stCondLst>
                                        </p:cTn>
                                        <p:tgtEl>
                                          <p:spTgt spid="267">
                                            <p:txEl>
                                              <p:pRg st="1" end="1"/>
                                            </p:txEl>
                                          </p:spTgt>
                                        </p:tgtEl>
                                        <p:attrNameLst>
                                          <p:attrName>style.visibility</p:attrName>
                                        </p:attrNameLst>
                                      </p:cBhvr>
                                      <p:to>
                                        <p:strVal val="visible"/>
                                      </p:to>
                                    </p:set>
                                  </p:childTnLst>
                                </p:cTn>
                              </p:par>
                              <p:par>
                                <p:cTn id="79" presetID="1" presetClass="entr" fill="hold" nodeType="withEffect">
                                  <p:stCondLst>
                                    <p:cond delay="0"/>
                                  </p:stCondLst>
                                  <p:childTnLst>
                                    <p:set>
                                      <p:cBhvr>
                                        <p:cTn id="80" dur="1" fill="hold">
                                          <p:stCondLst>
                                            <p:cond delay="0"/>
                                          </p:stCondLst>
                                        </p:cTn>
                                        <p:tgtEl>
                                          <p:spTgt spid="267">
                                            <p:txEl>
                                              <p:pRg st="2" end="2"/>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fill="hold" nodeType="clickEffect">
                                  <p:stCondLst>
                                    <p:cond delay="0"/>
                                  </p:stCondLst>
                                  <p:childTnLst>
                                    <p:set>
                                      <p:cBhvr>
                                        <p:cTn id="84" dur="1" fill="hold">
                                          <p:stCondLst>
                                            <p:cond delay="0"/>
                                          </p:stCondLst>
                                        </p:cTn>
                                        <p:tgtEl>
                                          <p:spTgt spid="26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 name="Rounded Rectangle 19"/>
          <p:cNvSpPr/>
          <p:nvPr/>
        </p:nvSpPr>
        <p:spPr>
          <a:xfrm>
            <a:off x="7835760" y="3720960"/>
            <a:ext cx="2784960" cy="596160"/>
          </a:xfrm>
          <a:prstGeom prst="roundRect">
            <a:avLst>
              <a:gd name="adj" fmla="val 16667"/>
            </a:avLst>
          </a:prstGeom>
          <a:solidFill>
            <a:schemeClr val="tx2">
              <a:lumMod val="10000"/>
              <a:lumOff val="90000"/>
            </a:schemeClr>
          </a:solidFill>
          <a:ln>
            <a:solidFill>
              <a:srgbClr val="D5EDF4"/>
            </a:solidFill>
            <a:round/>
          </a:ln>
          <a:effectLst>
            <a:outerShdw blurRad="63360" dist="25560" dir="5400000" sx="101000" sy="101000"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strike="noStrike" spc="-1">
              <a:solidFill>
                <a:schemeClr val="lt1"/>
              </a:solidFill>
              <a:latin typeface="News Gothic MT"/>
            </a:endParaRPr>
          </a:p>
        </p:txBody>
      </p:sp>
      <p:sp>
        <p:nvSpPr>
          <p:cNvPr id="271" name="Rounded Rectangle 10"/>
          <p:cNvSpPr/>
          <p:nvPr/>
        </p:nvSpPr>
        <p:spPr>
          <a:xfrm>
            <a:off x="7835760" y="3026520"/>
            <a:ext cx="2784960" cy="731880"/>
          </a:xfrm>
          <a:prstGeom prst="roundRect">
            <a:avLst>
              <a:gd name="adj" fmla="val 16667"/>
            </a:avLst>
          </a:prstGeom>
          <a:solidFill>
            <a:schemeClr val="accent5">
              <a:lumMod val="20000"/>
              <a:lumOff val="80000"/>
              <a:alpha val="48000"/>
            </a:schemeClr>
          </a:solidFill>
          <a:ln>
            <a:solidFill>
              <a:srgbClr val="D5EDF4"/>
            </a:solidFill>
            <a:round/>
          </a:ln>
          <a:effectLst>
            <a:outerShdw blurRad="63360" dist="25560" dir="5400000" sx="101000" sy="101000"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strike="noStrike" spc="-1">
              <a:solidFill>
                <a:schemeClr val="lt1"/>
              </a:solidFill>
              <a:latin typeface="News Gothic MT"/>
            </a:endParaRPr>
          </a:p>
        </p:txBody>
      </p:sp>
      <p:sp>
        <p:nvSpPr>
          <p:cNvPr id="272" name="Rounded Rectangle 11"/>
          <p:cNvSpPr/>
          <p:nvPr/>
        </p:nvSpPr>
        <p:spPr>
          <a:xfrm>
            <a:off x="7882560" y="2255040"/>
            <a:ext cx="2707200" cy="731880"/>
          </a:xfrm>
          <a:prstGeom prst="roundRect">
            <a:avLst>
              <a:gd name="adj" fmla="val 16667"/>
            </a:avLst>
          </a:prstGeom>
          <a:solidFill>
            <a:schemeClr val="tx2">
              <a:lumMod val="10000"/>
              <a:lumOff val="90000"/>
            </a:schemeClr>
          </a:solidFill>
          <a:ln>
            <a:solidFill>
              <a:srgbClr val="D5EDF4"/>
            </a:solidFill>
            <a:round/>
          </a:ln>
          <a:effectLst>
            <a:outerShdw blurRad="63360" dist="25560" dir="5400000" sx="101000" sy="101000"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strike="noStrike" spc="-1">
              <a:solidFill>
                <a:schemeClr val="lt1"/>
              </a:solidFill>
              <a:latin typeface="News Gothic MT"/>
            </a:endParaRPr>
          </a:p>
        </p:txBody>
      </p:sp>
      <p:sp>
        <p:nvSpPr>
          <p:cNvPr id="273" name="TextBox 1"/>
          <p:cNvSpPr/>
          <p:nvPr/>
        </p:nvSpPr>
        <p:spPr>
          <a:xfrm>
            <a:off x="8126280" y="2298960"/>
            <a:ext cx="23011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800" b="0" strike="noStrike" spc="-1">
                <a:solidFill>
                  <a:schemeClr val="lt2">
                    <a:lumMod val="25000"/>
                  </a:schemeClr>
                </a:solidFill>
                <a:latin typeface="News Gothic MT"/>
              </a:rPr>
              <a:t>initial key establishment</a:t>
            </a:r>
            <a:endParaRPr lang="en-US" sz="1800" b="0" strike="noStrike" spc="-1">
              <a:solidFill>
                <a:srgbClr val="000000"/>
              </a:solidFill>
              <a:latin typeface="Arial"/>
            </a:endParaRPr>
          </a:p>
        </p:txBody>
      </p:sp>
      <p:sp>
        <p:nvSpPr>
          <p:cNvPr id="274" name="TextBox 24"/>
          <p:cNvSpPr/>
          <p:nvPr/>
        </p:nvSpPr>
        <p:spPr>
          <a:xfrm>
            <a:off x="8028720" y="3518280"/>
            <a:ext cx="24883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800" b="0" strike="noStrike" spc="-1">
                <a:solidFill>
                  <a:schemeClr val="lt2">
                    <a:lumMod val="25000"/>
                  </a:schemeClr>
                </a:solidFill>
                <a:latin typeface="News Gothic MT"/>
              </a:rPr>
              <a:t>session key establishment</a:t>
            </a:r>
            <a:endParaRPr lang="en-US" sz="1800" b="0" strike="noStrike" spc="-1">
              <a:solidFill>
                <a:srgbClr val="000000"/>
              </a:solidFill>
              <a:latin typeface="Arial"/>
            </a:endParaRPr>
          </a:p>
        </p:txBody>
      </p:sp>
      <p:sp>
        <p:nvSpPr>
          <p:cNvPr id="275" name="Rounded Rectangle 12"/>
          <p:cNvSpPr/>
          <p:nvPr/>
        </p:nvSpPr>
        <p:spPr>
          <a:xfrm>
            <a:off x="7835760" y="4354560"/>
            <a:ext cx="2809800" cy="731880"/>
          </a:xfrm>
          <a:prstGeom prst="roundRect">
            <a:avLst>
              <a:gd name="adj" fmla="val 16667"/>
            </a:avLst>
          </a:prstGeom>
          <a:solidFill>
            <a:schemeClr val="accent5">
              <a:lumMod val="20000"/>
              <a:lumOff val="80000"/>
              <a:alpha val="48000"/>
            </a:schemeClr>
          </a:solidFill>
          <a:ln>
            <a:solidFill>
              <a:srgbClr val="D5EDF4"/>
            </a:solidFill>
            <a:round/>
          </a:ln>
          <a:effectLst>
            <a:outerShdw blurRad="63360" dist="25560" dir="5400000" sx="101000" sy="101000"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strike="noStrike" spc="-1">
              <a:solidFill>
                <a:schemeClr val="lt1"/>
              </a:solidFill>
              <a:latin typeface="News Gothic MT"/>
            </a:endParaRPr>
          </a:p>
        </p:txBody>
      </p:sp>
      <p:sp>
        <p:nvSpPr>
          <p:cNvPr id="276" name="TextBox 55"/>
          <p:cNvSpPr/>
          <p:nvPr/>
        </p:nvSpPr>
        <p:spPr>
          <a:xfrm>
            <a:off x="7907400" y="4402800"/>
            <a:ext cx="26323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800" b="0" strike="noStrike" spc="-1">
                <a:solidFill>
                  <a:srgbClr val="008000"/>
                </a:solidFill>
                <a:latin typeface="News Gothic MT"/>
              </a:rPr>
              <a:t>data exchange </a:t>
            </a:r>
            <a:endParaRPr lang="en-US" sz="1800" b="0" strike="noStrike" spc="-1">
              <a:solidFill>
                <a:srgbClr val="000000"/>
              </a:solidFill>
              <a:latin typeface="Arial"/>
            </a:endParaRPr>
          </a:p>
          <a:p>
            <a:pPr algn="ctr" defTabSz="914400">
              <a:lnSpc>
                <a:spcPct val="100000"/>
              </a:lnSpc>
            </a:pPr>
            <a:r>
              <a:rPr lang="en-US" sz="1800" b="0" strike="noStrike" spc="-1">
                <a:solidFill>
                  <a:srgbClr val="008000"/>
                </a:solidFill>
                <a:latin typeface="News Gothic MT"/>
              </a:rPr>
              <a:t>with session key</a:t>
            </a:r>
            <a:endParaRPr lang="en-US" sz="1800" b="0" strike="noStrike" spc="-1">
              <a:solidFill>
                <a:srgbClr val="000000"/>
              </a:solidFill>
              <a:latin typeface="Arial"/>
            </a:endParaRPr>
          </a:p>
        </p:txBody>
      </p:sp>
      <p:sp>
        <p:nvSpPr>
          <p:cNvPr id="277" name="TextBox 56"/>
          <p:cNvSpPr/>
          <p:nvPr/>
        </p:nvSpPr>
        <p:spPr>
          <a:xfrm>
            <a:off x="6515640" y="1735920"/>
            <a:ext cx="140796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strike="noStrike" spc="-1">
                <a:solidFill>
                  <a:schemeClr val="accent2">
                    <a:lumMod val="75000"/>
                  </a:schemeClr>
                </a:solidFill>
                <a:latin typeface="News Gothic MT"/>
              </a:rPr>
              <a:t>client</a:t>
            </a:r>
            <a:endParaRPr lang="en-US" sz="1800" b="0" strike="noStrike" spc="-1">
              <a:solidFill>
                <a:srgbClr val="000000"/>
              </a:solidFill>
              <a:latin typeface="Arial"/>
            </a:endParaRPr>
          </a:p>
        </p:txBody>
      </p:sp>
      <p:sp>
        <p:nvSpPr>
          <p:cNvPr id="278" name="TextBox 57"/>
          <p:cNvSpPr/>
          <p:nvPr/>
        </p:nvSpPr>
        <p:spPr>
          <a:xfrm>
            <a:off x="10977840" y="1706760"/>
            <a:ext cx="128628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strike="noStrike" spc="-1">
                <a:solidFill>
                  <a:schemeClr val="accent2">
                    <a:lumMod val="75000"/>
                  </a:schemeClr>
                </a:solidFill>
                <a:latin typeface="News Gothic MT"/>
              </a:rPr>
              <a:t>server</a:t>
            </a:r>
            <a:endParaRPr lang="en-US" sz="1800" b="0" strike="noStrike" spc="-1">
              <a:solidFill>
                <a:srgbClr val="000000"/>
              </a:solidFill>
              <a:latin typeface="Arial"/>
            </a:endParaRPr>
          </a:p>
        </p:txBody>
      </p:sp>
      <p:pic>
        <p:nvPicPr>
          <p:cNvPr id="279" name="Picture 1"/>
          <p:cNvPicPr/>
          <p:nvPr/>
        </p:nvPicPr>
        <p:blipFill>
          <a:blip r:embed="rId3"/>
          <a:stretch/>
        </p:blipFill>
        <p:spPr>
          <a:xfrm>
            <a:off x="11183040" y="2132280"/>
            <a:ext cx="700200" cy="688680"/>
          </a:xfrm>
          <a:prstGeom prst="rect">
            <a:avLst/>
          </a:prstGeom>
          <a:ln w="0">
            <a:noFill/>
          </a:ln>
        </p:spPr>
      </p:pic>
      <p:pic>
        <p:nvPicPr>
          <p:cNvPr id="280" name="Picture 24"/>
          <p:cNvPicPr/>
          <p:nvPr/>
        </p:nvPicPr>
        <p:blipFill>
          <a:blip r:embed="rId4"/>
          <a:stretch/>
        </p:blipFill>
        <p:spPr>
          <a:xfrm>
            <a:off x="6749280" y="2192400"/>
            <a:ext cx="628920" cy="568800"/>
          </a:xfrm>
          <a:prstGeom prst="rect">
            <a:avLst/>
          </a:prstGeom>
          <a:ln w="0">
            <a:noFill/>
          </a:ln>
        </p:spPr>
      </p:pic>
      <p:sp>
        <p:nvSpPr>
          <p:cNvPr id="281" name="TextBox 58"/>
          <p:cNvSpPr/>
          <p:nvPr/>
        </p:nvSpPr>
        <p:spPr>
          <a:xfrm>
            <a:off x="8051040" y="2990520"/>
            <a:ext cx="24577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800" b="0" strike="noStrike" spc="-1">
                <a:solidFill>
                  <a:srgbClr val="008000"/>
                </a:solidFill>
                <a:latin typeface="News Gothic MT"/>
              </a:rPr>
              <a:t>data exchange</a:t>
            </a:r>
            <a:endParaRPr lang="en-US" sz="1800" b="0" strike="noStrike" spc="-1">
              <a:solidFill>
                <a:srgbClr val="000000"/>
              </a:solidFill>
              <a:latin typeface="Arial"/>
            </a:endParaRPr>
          </a:p>
          <a:p>
            <a:pPr algn="ctr" defTabSz="914400">
              <a:lnSpc>
                <a:spcPct val="100000"/>
              </a:lnSpc>
            </a:pPr>
            <a:r>
              <a:rPr lang="en-US" sz="1800" b="0" strike="noStrike" spc="-1">
                <a:solidFill>
                  <a:srgbClr val="008000"/>
                </a:solidFill>
                <a:latin typeface="News Gothic MT"/>
              </a:rPr>
              <a:t>with initial key</a:t>
            </a:r>
            <a:endParaRPr lang="en-US" sz="1800" b="0" strike="noStrike" spc="-1">
              <a:solidFill>
                <a:srgbClr val="000000"/>
              </a:solidFill>
              <a:latin typeface="Arial"/>
            </a:endParaRPr>
          </a:p>
        </p:txBody>
      </p:sp>
      <p:sp>
        <p:nvSpPr>
          <p:cNvPr id="282" name="Rounded Rectangle 13"/>
          <p:cNvSpPr/>
          <p:nvPr/>
        </p:nvSpPr>
        <p:spPr>
          <a:xfrm>
            <a:off x="1404000" y="2256480"/>
            <a:ext cx="2811960" cy="731880"/>
          </a:xfrm>
          <a:prstGeom prst="roundRect">
            <a:avLst>
              <a:gd name="adj" fmla="val 16667"/>
            </a:avLst>
          </a:prstGeom>
          <a:solidFill>
            <a:schemeClr val="tx2">
              <a:lumMod val="10000"/>
              <a:lumOff val="90000"/>
            </a:schemeClr>
          </a:solidFill>
          <a:ln>
            <a:solidFill>
              <a:srgbClr val="D5EDF4"/>
            </a:solidFill>
            <a:round/>
          </a:ln>
          <a:effectLst>
            <a:outerShdw blurRad="63360" dist="25560" dir="5400000" sx="101000" sy="101000"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strike="noStrike" spc="-1">
              <a:solidFill>
                <a:schemeClr val="lt1"/>
              </a:solidFill>
              <a:latin typeface="News Gothic MT"/>
            </a:endParaRPr>
          </a:p>
        </p:txBody>
      </p:sp>
      <p:sp>
        <p:nvSpPr>
          <p:cNvPr id="283" name="TextBox 59"/>
          <p:cNvSpPr/>
          <p:nvPr/>
        </p:nvSpPr>
        <p:spPr>
          <a:xfrm>
            <a:off x="1671840" y="2284920"/>
            <a:ext cx="232596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800" b="0" strike="noStrike" spc="-1">
                <a:solidFill>
                  <a:schemeClr val="dk2">
                    <a:lumMod val="75000"/>
                    <a:lumOff val="25000"/>
                  </a:schemeClr>
                </a:solidFill>
                <a:latin typeface="News Gothic MT"/>
              </a:rPr>
              <a:t>session key establishment</a:t>
            </a:r>
            <a:endParaRPr lang="en-US" sz="1800" b="0" strike="noStrike" spc="-1">
              <a:solidFill>
                <a:srgbClr val="000000"/>
              </a:solidFill>
              <a:latin typeface="Arial"/>
            </a:endParaRPr>
          </a:p>
        </p:txBody>
      </p:sp>
      <p:sp>
        <p:nvSpPr>
          <p:cNvPr id="284" name="Rounded Rectangle 14"/>
          <p:cNvSpPr/>
          <p:nvPr/>
        </p:nvSpPr>
        <p:spPr>
          <a:xfrm>
            <a:off x="1404000" y="3034800"/>
            <a:ext cx="2811960" cy="731880"/>
          </a:xfrm>
          <a:prstGeom prst="roundRect">
            <a:avLst>
              <a:gd name="adj" fmla="val 16667"/>
            </a:avLst>
          </a:prstGeom>
          <a:solidFill>
            <a:schemeClr val="accent5">
              <a:lumMod val="20000"/>
              <a:lumOff val="80000"/>
              <a:alpha val="48000"/>
            </a:schemeClr>
          </a:solidFill>
          <a:ln>
            <a:solidFill>
              <a:srgbClr val="D5EDF4"/>
            </a:solidFill>
            <a:round/>
          </a:ln>
          <a:effectLst>
            <a:outerShdw blurRad="63360" dist="25560" dir="5400000" sx="101000" sy="101000"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strike="noStrike" spc="-1">
              <a:solidFill>
                <a:schemeClr val="lt1"/>
              </a:solidFill>
              <a:latin typeface="News Gothic MT"/>
            </a:endParaRPr>
          </a:p>
        </p:txBody>
      </p:sp>
      <p:sp>
        <p:nvSpPr>
          <p:cNvPr id="285" name="TextBox 60"/>
          <p:cNvSpPr/>
          <p:nvPr/>
        </p:nvSpPr>
        <p:spPr>
          <a:xfrm>
            <a:off x="1448280" y="3077280"/>
            <a:ext cx="267336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800" b="0" strike="noStrike" spc="-1">
                <a:solidFill>
                  <a:srgbClr val="008000"/>
                </a:solidFill>
                <a:latin typeface="News Gothic MT"/>
              </a:rPr>
              <a:t>data exchange with session key</a:t>
            </a:r>
            <a:endParaRPr lang="en-US" sz="1800" b="0" strike="noStrike" spc="-1">
              <a:solidFill>
                <a:srgbClr val="000000"/>
              </a:solidFill>
              <a:latin typeface="Arial"/>
            </a:endParaRPr>
          </a:p>
        </p:txBody>
      </p:sp>
      <p:sp>
        <p:nvSpPr>
          <p:cNvPr id="286" name="TextBox 61"/>
          <p:cNvSpPr/>
          <p:nvPr/>
        </p:nvSpPr>
        <p:spPr>
          <a:xfrm>
            <a:off x="2421000" y="1235880"/>
            <a:ext cx="697680" cy="4554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2400" b="1" strike="noStrike" spc="-1">
                <a:solidFill>
                  <a:schemeClr val="accent2">
                    <a:lumMod val="75000"/>
                  </a:schemeClr>
                </a:solidFill>
                <a:latin typeface="News Gothic MT"/>
              </a:rPr>
              <a:t>TLS</a:t>
            </a:r>
            <a:endParaRPr lang="en-US" sz="2400" b="0" strike="noStrike" spc="-1">
              <a:solidFill>
                <a:srgbClr val="000000"/>
              </a:solidFill>
              <a:latin typeface="Arial"/>
            </a:endParaRPr>
          </a:p>
        </p:txBody>
      </p:sp>
      <p:sp>
        <p:nvSpPr>
          <p:cNvPr id="287" name="TextBox 62"/>
          <p:cNvSpPr/>
          <p:nvPr/>
        </p:nvSpPr>
        <p:spPr>
          <a:xfrm>
            <a:off x="8775000" y="1304280"/>
            <a:ext cx="965880" cy="4554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2400" b="1" strike="noStrike" spc="-1">
                <a:solidFill>
                  <a:schemeClr val="accent2">
                    <a:lumMod val="75000"/>
                  </a:schemeClr>
                </a:solidFill>
                <a:latin typeface="News Gothic MT"/>
              </a:rPr>
              <a:t>QUIC</a:t>
            </a:r>
            <a:endParaRPr lang="en-US" sz="2400" b="0" strike="noStrike" spc="-1">
              <a:solidFill>
                <a:srgbClr val="000000"/>
              </a:solidFill>
              <a:latin typeface="Arial"/>
            </a:endParaRPr>
          </a:p>
        </p:txBody>
      </p:sp>
      <p:sp>
        <p:nvSpPr>
          <p:cNvPr id="288" name="TextBox 63"/>
          <p:cNvSpPr/>
          <p:nvPr/>
        </p:nvSpPr>
        <p:spPr>
          <a:xfrm>
            <a:off x="226800" y="1779480"/>
            <a:ext cx="140796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strike="noStrike" spc="-1">
                <a:solidFill>
                  <a:schemeClr val="accent2">
                    <a:lumMod val="75000"/>
                  </a:schemeClr>
                </a:solidFill>
                <a:latin typeface="News Gothic MT"/>
              </a:rPr>
              <a:t>client</a:t>
            </a:r>
            <a:endParaRPr lang="en-US" sz="1800" b="0" strike="noStrike" spc="-1">
              <a:solidFill>
                <a:srgbClr val="000000"/>
              </a:solidFill>
              <a:latin typeface="Arial"/>
            </a:endParaRPr>
          </a:p>
        </p:txBody>
      </p:sp>
      <p:sp>
        <p:nvSpPr>
          <p:cNvPr id="289" name="TextBox 64"/>
          <p:cNvSpPr/>
          <p:nvPr/>
        </p:nvSpPr>
        <p:spPr>
          <a:xfrm>
            <a:off x="4559040" y="1750320"/>
            <a:ext cx="128628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strike="noStrike" spc="-1">
                <a:solidFill>
                  <a:schemeClr val="accent2">
                    <a:lumMod val="75000"/>
                  </a:schemeClr>
                </a:solidFill>
                <a:latin typeface="News Gothic MT"/>
              </a:rPr>
              <a:t>server</a:t>
            </a:r>
            <a:endParaRPr lang="en-US" sz="1800" b="0" strike="noStrike" spc="-1">
              <a:solidFill>
                <a:srgbClr val="000000"/>
              </a:solidFill>
              <a:latin typeface="Arial"/>
            </a:endParaRPr>
          </a:p>
        </p:txBody>
      </p:sp>
      <p:pic>
        <p:nvPicPr>
          <p:cNvPr id="290" name="Picture 25"/>
          <p:cNvPicPr/>
          <p:nvPr/>
        </p:nvPicPr>
        <p:blipFill>
          <a:blip r:embed="rId3"/>
          <a:stretch/>
        </p:blipFill>
        <p:spPr>
          <a:xfrm>
            <a:off x="4764240" y="2175840"/>
            <a:ext cx="700200" cy="688680"/>
          </a:xfrm>
          <a:prstGeom prst="rect">
            <a:avLst/>
          </a:prstGeom>
          <a:ln w="0">
            <a:noFill/>
          </a:ln>
        </p:spPr>
      </p:pic>
      <p:pic>
        <p:nvPicPr>
          <p:cNvPr id="291" name="Picture 26"/>
          <p:cNvPicPr/>
          <p:nvPr/>
        </p:nvPicPr>
        <p:blipFill>
          <a:blip r:embed="rId4"/>
          <a:stretch/>
        </p:blipFill>
        <p:spPr>
          <a:xfrm>
            <a:off x="422280" y="2235960"/>
            <a:ext cx="628920" cy="568800"/>
          </a:xfrm>
          <a:prstGeom prst="rect">
            <a:avLst/>
          </a:prstGeom>
          <a:ln w="0">
            <a:noFill/>
          </a:ln>
        </p:spPr>
      </p:pic>
      <p:sp>
        <p:nvSpPr>
          <p:cNvPr id="292" name="PlaceHolder 1"/>
          <p:cNvSpPr>
            <a:spLocks noGrp="1"/>
          </p:cNvSpPr>
          <p:nvPr>
            <p:ph/>
          </p:nvPr>
        </p:nvSpPr>
        <p:spPr>
          <a:xfrm>
            <a:off x="299520" y="4254480"/>
            <a:ext cx="7264080" cy="1093320"/>
          </a:xfrm>
          <a:prstGeom prst="rect">
            <a:avLst/>
          </a:prstGeom>
          <a:noFill/>
          <a:ln w="0">
            <a:noFill/>
          </a:ln>
        </p:spPr>
        <p:txBody>
          <a:bodyPr lIns="91440" tIns="45720" rIns="91440" bIns="45720" anchor="t">
            <a:normAutofit/>
          </a:bodyPr>
          <a:lstStyle/>
          <a:p>
            <a:pPr marL="349200" indent="-349200" defTabSz="914400">
              <a:lnSpc>
                <a:spcPct val="100000"/>
              </a:lnSpc>
              <a:spcBef>
                <a:spcPts val="2001"/>
              </a:spcBef>
              <a:buClr>
                <a:srgbClr val="1B3742"/>
              </a:buClr>
              <a:buSzPct val="110000"/>
              <a:buFont typeface="Arial"/>
              <a:buChar char="•"/>
            </a:pPr>
            <a:r>
              <a:rPr lang="en-US" sz="1900" b="0" strike="noStrike" spc="-1">
                <a:solidFill>
                  <a:schemeClr val="accent2">
                    <a:lumMod val="75000"/>
                  </a:schemeClr>
                </a:solidFill>
                <a:latin typeface="News Gothic MT"/>
              </a:rPr>
              <a:t>Parties can often avoid 1 RTT in initial key establishment of QUIC by caching some parameters (achieving 0-RTT connections)</a:t>
            </a:r>
          </a:p>
        </p:txBody>
      </p:sp>
      <p:sp>
        <p:nvSpPr>
          <p:cNvPr id="293" name="TextBox 65"/>
          <p:cNvSpPr/>
          <p:nvPr/>
        </p:nvSpPr>
        <p:spPr>
          <a:xfrm>
            <a:off x="750600" y="5477400"/>
            <a:ext cx="245880" cy="6458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US" sz="1800" b="0" strike="noStrike" spc="-1">
              <a:solidFill>
                <a:srgbClr val="000000"/>
              </a:solidFill>
              <a:latin typeface="Arial"/>
            </a:endParaRPr>
          </a:p>
        </p:txBody>
      </p:sp>
      <p:sp>
        <p:nvSpPr>
          <p:cNvPr id="294" name="Content Placeholder 12"/>
          <p:cNvSpPr/>
          <p:nvPr/>
        </p:nvSpPr>
        <p:spPr>
          <a:xfrm>
            <a:off x="280800" y="5477400"/>
            <a:ext cx="8069760" cy="64116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marL="349200" indent="-349200" defTabSz="914400">
              <a:lnSpc>
                <a:spcPct val="100000"/>
              </a:lnSpc>
              <a:spcBef>
                <a:spcPts val="2001"/>
              </a:spcBef>
              <a:buClr>
                <a:srgbClr val="1B3742"/>
              </a:buClr>
              <a:buSzPct val="110000"/>
              <a:buFont typeface="Arial"/>
              <a:buChar char="•"/>
            </a:pPr>
            <a:r>
              <a:rPr lang="en-US" sz="1900" b="0" strike="noStrike" spc="-1">
                <a:solidFill>
                  <a:schemeClr val="accent2">
                    <a:lumMod val="75000"/>
                  </a:schemeClr>
                </a:solidFill>
                <a:latin typeface="News Gothic MT"/>
              </a:rPr>
              <a:t>What implications does this have on security?</a:t>
            </a:r>
            <a:endParaRPr lang="en-US" sz="1900" b="0" strike="noStrike" spc="-1">
              <a:solidFill>
                <a:srgbClr val="000000"/>
              </a:solidFill>
              <a:latin typeface="Arial"/>
            </a:endParaRPr>
          </a:p>
        </p:txBody>
      </p:sp>
      <p:sp>
        <p:nvSpPr>
          <p:cNvPr id="295" name="Title 7"/>
          <p:cNvSpPr/>
          <p:nvPr/>
        </p:nvSpPr>
        <p:spPr>
          <a:xfrm>
            <a:off x="-93960" y="107640"/>
            <a:ext cx="12436560" cy="823320"/>
          </a:xfrm>
          <a:prstGeom prst="rect">
            <a:avLst/>
          </a:prstGeom>
          <a:noFill/>
          <a:ln w="0">
            <a:noFill/>
          </a:ln>
        </p:spPr>
        <p:style>
          <a:lnRef idx="0">
            <a:scrgbClr r="0" g="0" b="0"/>
          </a:lnRef>
          <a:fillRef idx="0">
            <a:scrgbClr r="0" g="0" b="0"/>
          </a:fillRef>
          <a:effectRef idx="0">
            <a:scrgbClr r="0" g="0" b="0"/>
          </a:effectRef>
          <a:fontRef idx="minor"/>
        </p:style>
        <p:txBody>
          <a:bodyPr anchor="b">
            <a:noAutofit/>
          </a:bodyPr>
          <a:lstStyle/>
          <a:p>
            <a:pPr algn="ctr" defTabSz="914400">
              <a:lnSpc>
                <a:spcPct val="100000"/>
              </a:lnSpc>
            </a:pPr>
            <a:r>
              <a:rPr lang="en-US" sz="4000" b="0" strike="noStrike" spc="-1">
                <a:solidFill>
                  <a:schemeClr val="accent2">
                    <a:lumMod val="75000"/>
                  </a:schemeClr>
                </a:solidFill>
                <a:latin typeface="News Gothic MT"/>
              </a:rPr>
              <a:t>Starting Data Exchange: QUIC vs TLS</a:t>
            </a:r>
            <a:endParaRPr lang="en-US" sz="4000" b="0" strike="noStrike" spc="-1">
              <a:solidFill>
                <a:srgbClr val="000000"/>
              </a:solidFill>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286"/>
                                        </p:tgtEl>
                                        <p:attrNameLst>
                                          <p:attrName>style.visibility</p:attrName>
                                        </p:attrNameLst>
                                      </p:cBhvr>
                                      <p:to>
                                        <p:strVal val="visible"/>
                                      </p:to>
                                    </p:set>
                                  </p:childTnLst>
                                </p:cTn>
                              </p:par>
                            </p:childTnLst>
                          </p:cTn>
                        </p:par>
                        <p:par>
                          <p:cTn id="7" fill="hold">
                            <p:stCondLst>
                              <p:cond delay="0"/>
                            </p:stCondLst>
                            <p:childTnLst>
                              <p:par>
                                <p:cTn id="8" presetID="1" presetClass="entr" fill="hold" nodeType="afterEffect">
                                  <p:stCondLst>
                                    <p:cond delay="0"/>
                                  </p:stCondLst>
                                  <p:childTnLst>
                                    <p:set>
                                      <p:cBhvr>
                                        <p:cTn id="9" dur="1" fill="hold">
                                          <p:stCondLst>
                                            <p:cond delay="0"/>
                                          </p:stCondLst>
                                        </p:cTn>
                                        <p:tgtEl>
                                          <p:spTgt spid="291"/>
                                        </p:tgtEl>
                                        <p:attrNameLst>
                                          <p:attrName>style.visibility</p:attrName>
                                        </p:attrNameLst>
                                      </p:cBhvr>
                                      <p:to>
                                        <p:strVal val="visible"/>
                                      </p:to>
                                    </p:set>
                                  </p:childTnLst>
                                </p:cTn>
                              </p:par>
                              <p:par>
                                <p:cTn id="10" presetID="1" presetClass="entr" fill="hold" nodeType="withEffect">
                                  <p:stCondLst>
                                    <p:cond delay="0"/>
                                  </p:stCondLst>
                                  <p:childTnLst>
                                    <p:set>
                                      <p:cBhvr>
                                        <p:cTn id="11" dur="1" fill="hold">
                                          <p:stCondLst>
                                            <p:cond delay="0"/>
                                          </p:stCondLst>
                                        </p:cTn>
                                        <p:tgtEl>
                                          <p:spTgt spid="288"/>
                                        </p:tgtEl>
                                        <p:attrNameLst>
                                          <p:attrName>style.visibility</p:attrName>
                                        </p:attrNameLst>
                                      </p:cBhvr>
                                      <p:to>
                                        <p:strVal val="visible"/>
                                      </p:to>
                                    </p:set>
                                  </p:childTnLst>
                                </p:cTn>
                              </p:par>
                              <p:par>
                                <p:cTn id="12" presetID="1" presetClass="entr" fill="hold" nodeType="withEffect">
                                  <p:stCondLst>
                                    <p:cond delay="0"/>
                                  </p:stCondLst>
                                  <p:childTnLst>
                                    <p:set>
                                      <p:cBhvr>
                                        <p:cTn id="13" dur="1" fill="hold">
                                          <p:stCondLst>
                                            <p:cond delay="0"/>
                                          </p:stCondLst>
                                        </p:cTn>
                                        <p:tgtEl>
                                          <p:spTgt spid="290"/>
                                        </p:tgtEl>
                                        <p:attrNameLst>
                                          <p:attrName>style.visibility</p:attrName>
                                        </p:attrNameLst>
                                      </p:cBhvr>
                                      <p:to>
                                        <p:strVal val="visible"/>
                                      </p:to>
                                    </p:set>
                                  </p:childTnLst>
                                </p:cTn>
                              </p:par>
                              <p:par>
                                <p:cTn id="14" presetID="1" presetClass="entr" fill="hold" nodeType="withEffect">
                                  <p:stCondLst>
                                    <p:cond delay="0"/>
                                  </p:stCondLst>
                                  <p:childTnLst>
                                    <p:set>
                                      <p:cBhvr>
                                        <p:cTn id="15" dur="1" fill="hold">
                                          <p:stCondLst>
                                            <p:cond delay="0"/>
                                          </p:stCondLst>
                                        </p:cTn>
                                        <p:tgtEl>
                                          <p:spTgt spid="289"/>
                                        </p:tgtEl>
                                        <p:attrNameLst>
                                          <p:attrName>style.visibility</p:attrName>
                                        </p:attrNameLst>
                                      </p:cBhvr>
                                      <p:to>
                                        <p:strVal val="visible"/>
                                      </p:to>
                                    </p:set>
                                  </p:childTnLst>
                                </p:cTn>
                              </p:par>
                              <p:par>
                                <p:cTn id="16" presetID="3" presetClass="entr" presetSubtype="10" fill="hold" nodeType="withEffect">
                                  <p:stCondLst>
                                    <p:cond delay="0"/>
                                  </p:stCondLst>
                                  <p:childTnLst>
                                    <p:set>
                                      <p:cBhvr>
                                        <p:cTn id="17" dur="1" fill="hold">
                                          <p:stCondLst>
                                            <p:cond delay="0"/>
                                          </p:stCondLst>
                                        </p:cTn>
                                        <p:tgtEl>
                                          <p:spTgt spid="283"/>
                                        </p:tgtEl>
                                        <p:attrNameLst>
                                          <p:attrName>style.visibility</p:attrName>
                                        </p:attrNameLst>
                                      </p:cBhvr>
                                      <p:to>
                                        <p:strVal val="visible"/>
                                      </p:to>
                                    </p:set>
                                    <p:animEffect transition="in" filter="blinds(horizontal)">
                                      <p:cBhvr additive="repl">
                                        <p:cTn id="18" dur="500"/>
                                        <p:tgtEl>
                                          <p:spTgt spid="283"/>
                                        </p:tgtEl>
                                      </p:cBhvr>
                                    </p:animEffect>
                                  </p:childTnLst>
                                </p:cTn>
                              </p:par>
                              <p:par>
                                <p:cTn id="19" presetID="3" presetClass="entr" presetSubtype="10" fill="hold" nodeType="withEffect">
                                  <p:stCondLst>
                                    <p:cond delay="0"/>
                                  </p:stCondLst>
                                  <p:childTnLst>
                                    <p:set>
                                      <p:cBhvr>
                                        <p:cTn id="20" dur="1" fill="hold">
                                          <p:stCondLst>
                                            <p:cond delay="0"/>
                                          </p:stCondLst>
                                        </p:cTn>
                                        <p:tgtEl>
                                          <p:spTgt spid="282"/>
                                        </p:tgtEl>
                                        <p:attrNameLst>
                                          <p:attrName>style.visibility</p:attrName>
                                        </p:attrNameLst>
                                      </p:cBhvr>
                                      <p:to>
                                        <p:strVal val="visible"/>
                                      </p:to>
                                    </p:set>
                                    <p:animEffect transition="in" filter="blinds(horizontal)">
                                      <p:cBhvr additive="repl">
                                        <p:cTn id="21" dur="500"/>
                                        <p:tgtEl>
                                          <p:spTgt spid="282"/>
                                        </p:tgtEl>
                                      </p:cBhvr>
                                    </p:animEffect>
                                  </p:childTnLst>
                                </p:cTn>
                              </p:par>
                            </p:childTnLst>
                          </p:cTn>
                        </p:par>
                        <p:par>
                          <p:cTn id="22" fill="hold">
                            <p:stCondLst>
                              <p:cond delay="500"/>
                            </p:stCondLst>
                            <p:childTnLst>
                              <p:par>
                                <p:cTn id="23" presetID="3" presetClass="entr" presetSubtype="10" fill="hold" nodeType="afterEffect">
                                  <p:stCondLst>
                                    <p:cond delay="0"/>
                                  </p:stCondLst>
                                  <p:childTnLst>
                                    <p:set>
                                      <p:cBhvr>
                                        <p:cTn id="24" dur="1" fill="hold">
                                          <p:stCondLst>
                                            <p:cond delay="0"/>
                                          </p:stCondLst>
                                        </p:cTn>
                                        <p:tgtEl>
                                          <p:spTgt spid="284"/>
                                        </p:tgtEl>
                                        <p:attrNameLst>
                                          <p:attrName>style.visibility</p:attrName>
                                        </p:attrNameLst>
                                      </p:cBhvr>
                                      <p:to>
                                        <p:strVal val="visible"/>
                                      </p:to>
                                    </p:set>
                                    <p:animEffect transition="in" filter="blinds(horizontal)">
                                      <p:cBhvr additive="repl">
                                        <p:cTn id="25" dur="500"/>
                                        <p:tgtEl>
                                          <p:spTgt spid="284"/>
                                        </p:tgtEl>
                                      </p:cBhvr>
                                    </p:animEffect>
                                  </p:childTnLst>
                                </p:cTn>
                              </p:par>
                              <p:par>
                                <p:cTn id="26" presetID="3" presetClass="entr" presetSubtype="10" fill="hold" nodeType="withEffect">
                                  <p:stCondLst>
                                    <p:cond delay="0"/>
                                  </p:stCondLst>
                                  <p:childTnLst>
                                    <p:set>
                                      <p:cBhvr>
                                        <p:cTn id="27" dur="1" fill="hold">
                                          <p:stCondLst>
                                            <p:cond delay="0"/>
                                          </p:stCondLst>
                                        </p:cTn>
                                        <p:tgtEl>
                                          <p:spTgt spid="285"/>
                                        </p:tgtEl>
                                        <p:attrNameLst>
                                          <p:attrName>style.visibility</p:attrName>
                                        </p:attrNameLst>
                                      </p:cBhvr>
                                      <p:to>
                                        <p:strVal val="visible"/>
                                      </p:to>
                                    </p:set>
                                    <p:animEffect transition="in" filter="blinds(horizontal)">
                                      <p:cBhvr additive="repl">
                                        <p:cTn id="28" dur="500"/>
                                        <p:tgtEl>
                                          <p:spTgt spid="285"/>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fill="hold" nodeType="clickEffect">
                                  <p:stCondLst>
                                    <p:cond delay="0"/>
                                  </p:stCondLst>
                                  <p:childTnLst>
                                    <p:set>
                                      <p:cBhvr>
                                        <p:cTn id="32" dur="1" fill="hold">
                                          <p:stCondLst>
                                            <p:cond delay="0"/>
                                          </p:stCondLst>
                                        </p:cTn>
                                        <p:tgtEl>
                                          <p:spTgt spid="280"/>
                                        </p:tgtEl>
                                        <p:attrNameLst>
                                          <p:attrName>style.visibility</p:attrName>
                                        </p:attrNameLst>
                                      </p:cBhvr>
                                      <p:to>
                                        <p:strVal val="visible"/>
                                      </p:to>
                                    </p:set>
                                  </p:childTnLst>
                                </p:cTn>
                              </p:par>
                              <p:par>
                                <p:cTn id="33" presetID="1" presetClass="entr" fill="hold" nodeType="withEffect">
                                  <p:stCondLst>
                                    <p:cond delay="0"/>
                                  </p:stCondLst>
                                  <p:childTnLst>
                                    <p:set>
                                      <p:cBhvr>
                                        <p:cTn id="34" dur="1" fill="hold">
                                          <p:stCondLst>
                                            <p:cond delay="0"/>
                                          </p:stCondLst>
                                        </p:cTn>
                                        <p:tgtEl>
                                          <p:spTgt spid="277"/>
                                        </p:tgtEl>
                                        <p:attrNameLst>
                                          <p:attrName>style.visibility</p:attrName>
                                        </p:attrNameLst>
                                      </p:cBhvr>
                                      <p:to>
                                        <p:strVal val="visible"/>
                                      </p:to>
                                    </p:set>
                                  </p:childTnLst>
                                </p:cTn>
                              </p:par>
                              <p:par>
                                <p:cTn id="35" presetID="1" presetClass="entr" fill="hold" nodeType="withEffect">
                                  <p:stCondLst>
                                    <p:cond delay="0"/>
                                  </p:stCondLst>
                                  <p:childTnLst>
                                    <p:set>
                                      <p:cBhvr>
                                        <p:cTn id="36" dur="1" fill="hold">
                                          <p:stCondLst>
                                            <p:cond delay="0"/>
                                          </p:stCondLst>
                                        </p:cTn>
                                        <p:tgtEl>
                                          <p:spTgt spid="278"/>
                                        </p:tgtEl>
                                        <p:attrNameLst>
                                          <p:attrName>style.visibility</p:attrName>
                                        </p:attrNameLst>
                                      </p:cBhvr>
                                      <p:to>
                                        <p:strVal val="visible"/>
                                      </p:to>
                                    </p:set>
                                  </p:childTnLst>
                                </p:cTn>
                              </p:par>
                              <p:par>
                                <p:cTn id="37" presetID="1" presetClass="entr" fill="hold" nodeType="withEffect">
                                  <p:stCondLst>
                                    <p:cond delay="0"/>
                                  </p:stCondLst>
                                  <p:childTnLst>
                                    <p:set>
                                      <p:cBhvr>
                                        <p:cTn id="38" dur="1" fill="hold">
                                          <p:stCondLst>
                                            <p:cond delay="0"/>
                                          </p:stCondLst>
                                        </p:cTn>
                                        <p:tgtEl>
                                          <p:spTgt spid="279"/>
                                        </p:tgtEl>
                                        <p:attrNameLst>
                                          <p:attrName>style.visibility</p:attrName>
                                        </p:attrNameLst>
                                      </p:cBhvr>
                                      <p:to>
                                        <p:strVal val="visible"/>
                                      </p:to>
                                    </p:set>
                                  </p:childTnLst>
                                </p:cTn>
                              </p:par>
                              <p:par>
                                <p:cTn id="39" presetID="1" presetClass="entr" fill="hold" nodeType="withEffect">
                                  <p:stCondLst>
                                    <p:cond delay="0"/>
                                  </p:stCondLst>
                                  <p:childTnLst>
                                    <p:set>
                                      <p:cBhvr>
                                        <p:cTn id="40" dur="1" fill="hold">
                                          <p:stCondLst>
                                            <p:cond delay="0"/>
                                          </p:stCondLst>
                                        </p:cTn>
                                        <p:tgtEl>
                                          <p:spTgt spid="287"/>
                                        </p:tgtEl>
                                        <p:attrNameLst>
                                          <p:attrName>style.visibility</p:attrName>
                                        </p:attrNameLst>
                                      </p:cBhvr>
                                      <p:to>
                                        <p:strVal val="visible"/>
                                      </p:to>
                                    </p:set>
                                  </p:childTnLst>
                                </p:cTn>
                              </p:par>
                              <p:par>
                                <p:cTn id="41" presetID="3" presetClass="entr" presetSubtype="10" fill="hold" nodeType="withEffect">
                                  <p:stCondLst>
                                    <p:cond delay="0"/>
                                  </p:stCondLst>
                                  <p:childTnLst>
                                    <p:set>
                                      <p:cBhvr>
                                        <p:cTn id="42" dur="1" fill="hold">
                                          <p:stCondLst>
                                            <p:cond delay="0"/>
                                          </p:stCondLst>
                                        </p:cTn>
                                        <p:tgtEl>
                                          <p:spTgt spid="272"/>
                                        </p:tgtEl>
                                        <p:attrNameLst>
                                          <p:attrName>style.visibility</p:attrName>
                                        </p:attrNameLst>
                                      </p:cBhvr>
                                      <p:to>
                                        <p:strVal val="visible"/>
                                      </p:to>
                                    </p:set>
                                    <p:animEffect transition="in" filter="blinds(horizontal)">
                                      <p:cBhvr additive="repl">
                                        <p:cTn id="43" dur="500"/>
                                        <p:tgtEl>
                                          <p:spTgt spid="272"/>
                                        </p:tgtEl>
                                      </p:cBhvr>
                                    </p:animEffect>
                                  </p:childTnLst>
                                </p:cTn>
                              </p:par>
                              <p:par>
                                <p:cTn id="44" presetID="3" presetClass="entr" presetSubtype="10" fill="hold" nodeType="withEffect">
                                  <p:stCondLst>
                                    <p:cond delay="0"/>
                                  </p:stCondLst>
                                  <p:childTnLst>
                                    <p:set>
                                      <p:cBhvr>
                                        <p:cTn id="45" dur="1" fill="hold">
                                          <p:stCondLst>
                                            <p:cond delay="0"/>
                                          </p:stCondLst>
                                        </p:cTn>
                                        <p:tgtEl>
                                          <p:spTgt spid="273"/>
                                        </p:tgtEl>
                                        <p:attrNameLst>
                                          <p:attrName>style.visibility</p:attrName>
                                        </p:attrNameLst>
                                      </p:cBhvr>
                                      <p:to>
                                        <p:strVal val="visible"/>
                                      </p:to>
                                    </p:set>
                                    <p:animEffect transition="in" filter="blinds(horizontal)">
                                      <p:cBhvr additive="repl">
                                        <p:cTn id="46" dur="500"/>
                                        <p:tgtEl>
                                          <p:spTgt spid="273"/>
                                        </p:tgtEl>
                                      </p:cBhvr>
                                    </p:animEffect>
                                  </p:childTnLst>
                                </p:cTn>
                              </p:par>
                            </p:childTnLst>
                          </p:cTn>
                        </p:par>
                        <p:par>
                          <p:cTn id="47" fill="hold">
                            <p:stCondLst>
                              <p:cond delay="500"/>
                            </p:stCondLst>
                            <p:childTnLst>
                              <p:par>
                                <p:cTn id="48" presetID="3" presetClass="entr" presetSubtype="10" fill="hold" nodeType="afterEffect">
                                  <p:stCondLst>
                                    <p:cond delay="0"/>
                                  </p:stCondLst>
                                  <p:childTnLst>
                                    <p:set>
                                      <p:cBhvr>
                                        <p:cTn id="49" dur="1" fill="hold">
                                          <p:stCondLst>
                                            <p:cond delay="0"/>
                                          </p:stCondLst>
                                        </p:cTn>
                                        <p:tgtEl>
                                          <p:spTgt spid="281"/>
                                        </p:tgtEl>
                                        <p:attrNameLst>
                                          <p:attrName>style.visibility</p:attrName>
                                        </p:attrNameLst>
                                      </p:cBhvr>
                                      <p:to>
                                        <p:strVal val="visible"/>
                                      </p:to>
                                    </p:set>
                                    <p:animEffect transition="in" filter="blinds(horizontal)">
                                      <p:cBhvr additive="repl">
                                        <p:cTn id="50" dur="500"/>
                                        <p:tgtEl>
                                          <p:spTgt spid="281"/>
                                        </p:tgtEl>
                                      </p:cBhvr>
                                    </p:animEffect>
                                  </p:childTnLst>
                                </p:cTn>
                              </p:par>
                              <p:par>
                                <p:cTn id="51" presetID="3" presetClass="entr" presetSubtype="10" fill="hold" nodeType="withEffect">
                                  <p:stCondLst>
                                    <p:cond delay="0"/>
                                  </p:stCondLst>
                                  <p:childTnLst>
                                    <p:set>
                                      <p:cBhvr>
                                        <p:cTn id="52" dur="1" fill="hold">
                                          <p:stCondLst>
                                            <p:cond delay="0"/>
                                          </p:stCondLst>
                                        </p:cTn>
                                        <p:tgtEl>
                                          <p:spTgt spid="271"/>
                                        </p:tgtEl>
                                        <p:attrNameLst>
                                          <p:attrName>style.visibility</p:attrName>
                                        </p:attrNameLst>
                                      </p:cBhvr>
                                      <p:to>
                                        <p:strVal val="visible"/>
                                      </p:to>
                                    </p:set>
                                    <p:animEffect transition="in" filter="blinds(horizontal)">
                                      <p:cBhvr additive="repl">
                                        <p:cTn id="53" dur="500"/>
                                        <p:tgtEl>
                                          <p:spTgt spid="271"/>
                                        </p:tgtEl>
                                      </p:cBhvr>
                                    </p:animEffect>
                                  </p:childTnLst>
                                </p:cTn>
                              </p:par>
                            </p:childTnLst>
                          </p:cTn>
                        </p:par>
                        <p:par>
                          <p:cTn id="54" fill="hold">
                            <p:stCondLst>
                              <p:cond delay="1000"/>
                            </p:stCondLst>
                            <p:childTnLst>
                              <p:par>
                                <p:cTn id="55" presetID="3" presetClass="entr" presetSubtype="10" fill="hold" nodeType="afterEffect">
                                  <p:stCondLst>
                                    <p:cond delay="0"/>
                                  </p:stCondLst>
                                  <p:childTnLst>
                                    <p:set>
                                      <p:cBhvr>
                                        <p:cTn id="56" dur="1" fill="hold">
                                          <p:stCondLst>
                                            <p:cond delay="0"/>
                                          </p:stCondLst>
                                        </p:cTn>
                                        <p:tgtEl>
                                          <p:spTgt spid="270"/>
                                        </p:tgtEl>
                                        <p:attrNameLst>
                                          <p:attrName>style.visibility</p:attrName>
                                        </p:attrNameLst>
                                      </p:cBhvr>
                                      <p:to>
                                        <p:strVal val="visible"/>
                                      </p:to>
                                    </p:set>
                                    <p:animEffect transition="in" filter="blinds(horizontal)">
                                      <p:cBhvr additive="repl">
                                        <p:cTn id="57" dur="500"/>
                                        <p:tgtEl>
                                          <p:spTgt spid="270"/>
                                        </p:tgtEl>
                                      </p:cBhvr>
                                    </p:animEffect>
                                  </p:childTnLst>
                                </p:cTn>
                              </p:par>
                              <p:par>
                                <p:cTn id="58" presetID="3" presetClass="entr" presetSubtype="10" fill="hold" nodeType="withEffect">
                                  <p:stCondLst>
                                    <p:cond delay="0"/>
                                  </p:stCondLst>
                                  <p:childTnLst>
                                    <p:set>
                                      <p:cBhvr>
                                        <p:cTn id="59" dur="1" fill="hold">
                                          <p:stCondLst>
                                            <p:cond delay="0"/>
                                          </p:stCondLst>
                                        </p:cTn>
                                        <p:tgtEl>
                                          <p:spTgt spid="274"/>
                                        </p:tgtEl>
                                        <p:attrNameLst>
                                          <p:attrName>style.visibility</p:attrName>
                                        </p:attrNameLst>
                                      </p:cBhvr>
                                      <p:to>
                                        <p:strVal val="visible"/>
                                      </p:to>
                                    </p:set>
                                    <p:animEffect transition="in" filter="blinds(horizontal)">
                                      <p:cBhvr additive="repl">
                                        <p:cTn id="60" dur="500"/>
                                        <p:tgtEl>
                                          <p:spTgt spid="274"/>
                                        </p:tgtEl>
                                      </p:cBhvr>
                                    </p:animEffect>
                                  </p:childTnLst>
                                </p:cTn>
                              </p:par>
                            </p:childTnLst>
                          </p:cTn>
                        </p:par>
                        <p:par>
                          <p:cTn id="61" fill="hold">
                            <p:stCondLst>
                              <p:cond delay="1500"/>
                            </p:stCondLst>
                            <p:childTnLst>
                              <p:par>
                                <p:cTn id="62" presetID="3" presetClass="entr" presetSubtype="10" fill="hold" nodeType="afterEffect">
                                  <p:stCondLst>
                                    <p:cond delay="0"/>
                                  </p:stCondLst>
                                  <p:childTnLst>
                                    <p:set>
                                      <p:cBhvr>
                                        <p:cTn id="63" dur="1" fill="hold">
                                          <p:stCondLst>
                                            <p:cond delay="0"/>
                                          </p:stCondLst>
                                        </p:cTn>
                                        <p:tgtEl>
                                          <p:spTgt spid="276"/>
                                        </p:tgtEl>
                                        <p:attrNameLst>
                                          <p:attrName>style.visibility</p:attrName>
                                        </p:attrNameLst>
                                      </p:cBhvr>
                                      <p:to>
                                        <p:strVal val="visible"/>
                                      </p:to>
                                    </p:set>
                                    <p:animEffect transition="in" filter="blinds(horizontal)">
                                      <p:cBhvr additive="repl">
                                        <p:cTn id="64" dur="500"/>
                                        <p:tgtEl>
                                          <p:spTgt spid="276"/>
                                        </p:tgtEl>
                                      </p:cBhvr>
                                    </p:animEffect>
                                  </p:childTnLst>
                                </p:cTn>
                              </p:par>
                              <p:par>
                                <p:cTn id="65" presetID="3" presetClass="entr" presetSubtype="10" fill="hold" nodeType="withEffect">
                                  <p:stCondLst>
                                    <p:cond delay="0"/>
                                  </p:stCondLst>
                                  <p:childTnLst>
                                    <p:set>
                                      <p:cBhvr>
                                        <p:cTn id="66" dur="1" fill="hold">
                                          <p:stCondLst>
                                            <p:cond delay="0"/>
                                          </p:stCondLst>
                                        </p:cTn>
                                        <p:tgtEl>
                                          <p:spTgt spid="275"/>
                                        </p:tgtEl>
                                        <p:attrNameLst>
                                          <p:attrName>style.visibility</p:attrName>
                                        </p:attrNameLst>
                                      </p:cBhvr>
                                      <p:to>
                                        <p:strVal val="visible"/>
                                      </p:to>
                                    </p:set>
                                    <p:animEffect transition="in" filter="blinds(horizontal)">
                                      <p:cBhvr additive="repl">
                                        <p:cTn id="67" dur="500"/>
                                        <p:tgtEl>
                                          <p:spTgt spid="275"/>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ntr" fill="hold" nodeType="clickEffect">
                                  <p:stCondLst>
                                    <p:cond delay="0"/>
                                  </p:stCondLst>
                                  <p:childTnLst>
                                    <p:set>
                                      <p:cBhvr>
                                        <p:cTn id="71" dur="1" fill="hold">
                                          <p:stCondLst>
                                            <p:cond delay="0"/>
                                          </p:stCondLst>
                                        </p:cTn>
                                        <p:tgtEl>
                                          <p:spTgt spid="292">
                                            <p:txEl>
                                              <p:pRg st="0" end="0"/>
                                            </p:txEl>
                                          </p:spTgt>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fill="hold" nodeType="clickEffect">
                                  <p:stCondLst>
                                    <p:cond delay="0"/>
                                  </p:stCondLst>
                                  <p:childTnLst>
                                    <p:set>
                                      <p:cBhvr>
                                        <p:cTn id="75" dur="1" fill="hold">
                                          <p:stCondLst>
                                            <p:cond delay="0"/>
                                          </p:stCondLst>
                                        </p:cTn>
                                        <p:tgtEl>
                                          <p:spTgt spid="29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 name="PlaceHolder 1"/>
          <p:cNvSpPr>
            <a:spLocks noGrp="1"/>
          </p:cNvSpPr>
          <p:nvPr>
            <p:ph/>
          </p:nvPr>
        </p:nvSpPr>
        <p:spPr>
          <a:xfrm>
            <a:off x="732240" y="1199520"/>
            <a:ext cx="10722960" cy="4814280"/>
          </a:xfrm>
          <a:prstGeom prst="rect">
            <a:avLst/>
          </a:prstGeom>
          <a:noFill/>
          <a:ln w="0">
            <a:noFill/>
          </a:ln>
        </p:spPr>
        <p:txBody>
          <a:bodyPr lIns="91440" tIns="45720" rIns="91440" bIns="45720" anchor="t">
            <a:normAutofit/>
          </a:bodyPr>
          <a:lstStyle/>
          <a:p>
            <a:pPr marL="349200" indent="-349200" defTabSz="914400">
              <a:lnSpc>
                <a:spcPct val="100000"/>
              </a:lnSpc>
              <a:spcBef>
                <a:spcPts val="2001"/>
              </a:spcBef>
              <a:buClr>
                <a:srgbClr val="1B3742"/>
              </a:buClr>
              <a:buSzPct val="110000"/>
              <a:buFont typeface="Arial"/>
              <a:buChar char="•"/>
            </a:pPr>
            <a:r>
              <a:rPr lang="en-US" sz="2200" b="0" strike="noStrike" spc="-1">
                <a:solidFill>
                  <a:schemeClr val="accent2">
                    <a:lumMod val="75000"/>
                  </a:schemeClr>
                </a:solidFill>
                <a:latin typeface="News Gothic MT"/>
              </a:rPr>
              <a:t>Fischlin &amp; Günther, </a:t>
            </a:r>
            <a:r>
              <a:rPr lang="en-US" sz="2200" b="0" i="1" strike="noStrike" spc="-1">
                <a:solidFill>
                  <a:schemeClr val="accent2">
                    <a:lumMod val="75000"/>
                  </a:schemeClr>
                </a:solidFill>
                <a:latin typeface="News Gothic MT"/>
              </a:rPr>
              <a:t>ACM</a:t>
            </a:r>
            <a:r>
              <a:rPr lang="en-US" sz="2200" b="0" strike="noStrike" spc="-1">
                <a:solidFill>
                  <a:schemeClr val="accent2">
                    <a:lumMod val="75000"/>
                  </a:schemeClr>
                </a:solidFill>
                <a:latin typeface="News Gothic MT"/>
              </a:rPr>
              <a:t> </a:t>
            </a:r>
            <a:r>
              <a:rPr lang="en-US" sz="2200" b="0" i="1" strike="noStrike" spc="-1">
                <a:solidFill>
                  <a:schemeClr val="accent2">
                    <a:lumMod val="75000"/>
                  </a:schemeClr>
                </a:solidFill>
                <a:latin typeface="News Gothic MT"/>
              </a:rPr>
              <a:t>CCS</a:t>
            </a:r>
            <a:r>
              <a:rPr lang="en-US" sz="2200" b="0" strike="noStrike" spc="-1">
                <a:solidFill>
                  <a:schemeClr val="accent2">
                    <a:lumMod val="75000"/>
                  </a:schemeClr>
                </a:solidFill>
                <a:latin typeface="News Gothic MT"/>
              </a:rPr>
              <a:t> 2014</a:t>
            </a:r>
          </a:p>
          <a:p>
            <a:pPr marL="692280" lvl="1" indent="-343080" defTabSz="914400">
              <a:lnSpc>
                <a:spcPct val="100000"/>
              </a:lnSpc>
              <a:spcBef>
                <a:spcPts val="601"/>
              </a:spcBef>
              <a:buClr>
                <a:srgbClr val="1B3742"/>
              </a:buClr>
              <a:buSzPct val="110000"/>
              <a:buFont typeface="Lucida Grande"/>
              <a:buChar char="-"/>
            </a:pPr>
            <a:r>
              <a:rPr lang="en-US" sz="2000" b="0" strike="noStrike" spc="-1">
                <a:solidFill>
                  <a:schemeClr val="accent2">
                    <a:lumMod val="75000"/>
                  </a:schemeClr>
                </a:solidFill>
                <a:latin typeface="News Gothic MT"/>
              </a:rPr>
              <a:t>develop a security definition for multi-stage key agreement and show that QUIC’s key exchange meets this definition</a:t>
            </a:r>
            <a:endParaRPr lang="en-US" sz="2000" b="0" strike="noStrike" spc="-1">
              <a:solidFill>
                <a:schemeClr val="dk1">
                  <a:lumMod val="65000"/>
                  <a:lumOff val="35000"/>
                </a:schemeClr>
              </a:solidFill>
              <a:latin typeface="News Gothic MT"/>
            </a:endParaRPr>
          </a:p>
          <a:p>
            <a:pPr marL="692280" lvl="1" indent="-343080" defTabSz="914400">
              <a:lnSpc>
                <a:spcPct val="100000"/>
              </a:lnSpc>
              <a:spcBef>
                <a:spcPts val="601"/>
              </a:spcBef>
              <a:buClr>
                <a:srgbClr val="1B3742"/>
              </a:buClr>
              <a:buSzPct val="110000"/>
              <a:buFont typeface="Lucida Grande"/>
              <a:buChar char="-"/>
            </a:pPr>
            <a:r>
              <a:rPr lang="en-US" sz="2000" b="0" strike="noStrike" spc="-1">
                <a:solidFill>
                  <a:schemeClr val="accent2">
                    <a:lumMod val="75000"/>
                  </a:schemeClr>
                </a:solidFill>
                <a:latin typeface="News Gothic MT"/>
              </a:rPr>
              <a:t>show how to modify QUIC so that it can compose with any secure data exchange protocol</a:t>
            </a:r>
            <a:endParaRPr lang="en-US" sz="2000" b="0" strike="noStrike" spc="-1">
              <a:solidFill>
                <a:schemeClr val="dk1">
                  <a:lumMod val="65000"/>
                  <a:lumOff val="35000"/>
                </a:schemeClr>
              </a:solidFill>
              <a:latin typeface="News Gothic MT"/>
            </a:endParaRPr>
          </a:p>
          <a:p>
            <a:pPr marL="692280" lvl="1" indent="-343080" defTabSz="914400">
              <a:lnSpc>
                <a:spcPct val="100000"/>
              </a:lnSpc>
              <a:spcBef>
                <a:spcPts val="601"/>
              </a:spcBef>
              <a:buClr>
                <a:srgbClr val="1B3742"/>
              </a:buClr>
              <a:buSzPct val="110000"/>
              <a:buFont typeface="Lucida Grande"/>
              <a:buChar char="-"/>
            </a:pPr>
            <a:r>
              <a:rPr lang="en-US" sz="2000" b="0" strike="noStrike" spc="-1">
                <a:solidFill>
                  <a:schemeClr val="accent2">
                    <a:lumMod val="75000"/>
                  </a:schemeClr>
                </a:solidFill>
                <a:latin typeface="News Gothic MT"/>
              </a:rPr>
              <a:t>prove QUIC’s key exchange with a modification is secure</a:t>
            </a:r>
            <a:endParaRPr lang="en-US" sz="2000" b="0" strike="noStrike" spc="-1">
              <a:solidFill>
                <a:schemeClr val="dk1">
                  <a:lumMod val="65000"/>
                  <a:lumOff val="35000"/>
                </a:schemeClr>
              </a:solidFill>
              <a:latin typeface="News Gothic MT"/>
            </a:endParaRPr>
          </a:p>
        </p:txBody>
      </p:sp>
      <p:sp>
        <p:nvSpPr>
          <p:cNvPr id="297" name="Title 8"/>
          <p:cNvSpPr/>
          <p:nvPr/>
        </p:nvSpPr>
        <p:spPr>
          <a:xfrm>
            <a:off x="-93960" y="107640"/>
            <a:ext cx="12436560" cy="823320"/>
          </a:xfrm>
          <a:prstGeom prst="rect">
            <a:avLst/>
          </a:prstGeom>
          <a:noFill/>
          <a:ln w="0">
            <a:noFill/>
          </a:ln>
        </p:spPr>
        <p:style>
          <a:lnRef idx="0">
            <a:scrgbClr r="0" g="0" b="0"/>
          </a:lnRef>
          <a:fillRef idx="0">
            <a:scrgbClr r="0" g="0" b="0"/>
          </a:fillRef>
          <a:effectRef idx="0">
            <a:scrgbClr r="0" g="0" b="0"/>
          </a:effectRef>
          <a:fontRef idx="minor"/>
        </p:style>
        <p:txBody>
          <a:bodyPr anchor="b">
            <a:noAutofit/>
          </a:bodyPr>
          <a:lstStyle/>
          <a:p>
            <a:pPr algn="ctr" defTabSz="914400">
              <a:lnSpc>
                <a:spcPct val="100000"/>
              </a:lnSpc>
            </a:pPr>
            <a:r>
              <a:rPr lang="en-US" sz="4000" b="0" strike="noStrike" spc="-1">
                <a:solidFill>
                  <a:schemeClr val="accent2">
                    <a:lumMod val="75000"/>
                  </a:schemeClr>
                </a:solidFill>
                <a:latin typeface="News Gothic MT"/>
              </a:rPr>
              <a:t>Previous Work on QUIC</a:t>
            </a:r>
            <a:endParaRPr lang="en-US" sz="4000" b="0" strike="noStrike" spc="-1">
              <a:solidFill>
                <a:srgbClr val="000000"/>
              </a:solidFill>
              <a:latin typeface="Arial"/>
            </a:endParaRPr>
          </a:p>
        </p:txBody>
      </p:sp>
      <p:sp>
        <p:nvSpPr>
          <p:cNvPr id="298" name="TextBox 66"/>
          <p:cNvSpPr/>
          <p:nvPr/>
        </p:nvSpPr>
        <p:spPr>
          <a:xfrm>
            <a:off x="2998080" y="3838680"/>
            <a:ext cx="6513480" cy="881640"/>
          </a:xfrm>
          <a:prstGeom prst="rect">
            <a:avLst/>
          </a:prstGeom>
          <a:noFill/>
          <a:ln w="28575">
            <a:solidFill>
              <a:srgbClr val="800000"/>
            </a:solidFill>
            <a:round/>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2200" b="0" strike="noStrike" spc="-1">
                <a:solidFill>
                  <a:srgbClr val="800000"/>
                </a:solidFill>
                <a:latin typeface="News Gothic MT"/>
              </a:rPr>
              <a:t> What about security of the whole protocol as is?</a:t>
            </a:r>
            <a:endParaRPr lang="en-US" sz="2200" b="0" strike="noStrike" spc="-1">
              <a:solidFill>
                <a:srgbClr val="000000"/>
              </a:solidFill>
              <a:latin typeface="Arial"/>
            </a:endParaRPr>
          </a:p>
          <a:p>
            <a:pPr defTabSz="914400">
              <a:lnSpc>
                <a:spcPct val="100000"/>
              </a:lnSpc>
            </a:pPr>
            <a:endParaRPr lang="en-US" sz="800" b="0" strike="noStrike" spc="-1">
              <a:solidFill>
                <a:srgbClr val="000000"/>
              </a:solidFill>
              <a:latin typeface="Arial"/>
            </a:endParaRPr>
          </a:p>
          <a:p>
            <a:pPr defTabSz="914400">
              <a:lnSpc>
                <a:spcPct val="100000"/>
              </a:lnSpc>
            </a:pPr>
            <a:r>
              <a:rPr lang="en-US" sz="2200" b="0" strike="noStrike" spc="-1">
                <a:solidFill>
                  <a:srgbClr val="800000"/>
                </a:solidFill>
                <a:latin typeface="News Gothic MT"/>
              </a:rPr>
              <a:t> What about its latency in presence of attackers?</a:t>
            </a:r>
            <a:endParaRPr lang="en-US" sz="2200" b="0" strike="noStrike" spc="-1">
              <a:solidFill>
                <a:srgbClr val="000000"/>
              </a:solidFill>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55" presetClass="entr" fill="hold" nodeType="clickEffect">
                                  <p:stCondLst>
                                    <p:cond delay="0"/>
                                  </p:stCondLst>
                                  <p:childTnLst>
                                    <p:set>
                                      <p:cBhvr>
                                        <p:cTn id="6" dur="1" fill="hold">
                                          <p:stCondLst>
                                            <p:cond delay="0"/>
                                          </p:stCondLst>
                                        </p:cTn>
                                        <p:tgtEl>
                                          <p:spTgt spid="298"/>
                                        </p:tgtEl>
                                        <p:attrNameLst>
                                          <p:attrName>style.visibility</p:attrName>
                                        </p:attrNameLst>
                                      </p:cBhvr>
                                      <p:to>
                                        <p:strVal val="visible"/>
                                      </p:to>
                                    </p:set>
                                    <p:anim calcmode="lin" valueType="num">
                                      <p:cBhvr additive="repl">
                                        <p:cTn id="7" dur="500" fill="hold"/>
                                        <p:tgtEl>
                                          <p:spTgt spid="298"/>
                                        </p:tgtEl>
                                        <p:attrNameLst>
                                          <p:attrName>ppt_w</p:attrName>
                                        </p:attrNameLst>
                                      </p:cBhvr>
                                      <p:tavLst>
                                        <p:tav tm="0">
                                          <p:val>
                                            <p:strVal val="#ppt_w*0.70"/>
                                          </p:val>
                                        </p:tav>
                                        <p:tav tm="100000">
                                          <p:val>
                                            <p:strVal val="#ppt_w"/>
                                          </p:val>
                                        </p:tav>
                                      </p:tavLst>
                                    </p:anim>
                                    <p:anim calcmode="lin" valueType="num">
                                      <p:cBhvr additive="repl">
                                        <p:cTn id="8" dur="500" fill="hold"/>
                                        <p:tgtEl>
                                          <p:spTgt spid="298"/>
                                        </p:tgtEl>
                                        <p:attrNameLst>
                                          <p:attrName>ppt_h</p:attrName>
                                        </p:attrNameLst>
                                      </p:cBhvr>
                                      <p:tavLst>
                                        <p:tav tm="0">
                                          <p:val>
                                            <p:strVal val="#ppt_h"/>
                                          </p:val>
                                        </p:tav>
                                        <p:tav tm="100000">
                                          <p:val>
                                            <p:strVal val="#ppt_h"/>
                                          </p:val>
                                        </p:tav>
                                      </p:tavLst>
                                    </p:anim>
                                    <p:animEffect transition="in" filter="fade">
                                      <p:cBhvr additive="repl">
                                        <p:cTn id="9" dur="500"/>
                                        <p:tgtEl>
                                          <p:spTgt spid="2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 name="PlaceHolder 1"/>
          <p:cNvSpPr>
            <a:spLocks noGrp="1"/>
          </p:cNvSpPr>
          <p:nvPr>
            <p:ph/>
          </p:nvPr>
        </p:nvSpPr>
        <p:spPr>
          <a:xfrm>
            <a:off x="732240" y="1226520"/>
            <a:ext cx="10722960" cy="4814280"/>
          </a:xfrm>
          <a:prstGeom prst="rect">
            <a:avLst/>
          </a:prstGeom>
          <a:noFill/>
          <a:ln w="0">
            <a:noFill/>
          </a:ln>
        </p:spPr>
        <p:txBody>
          <a:bodyPr lIns="91440" tIns="45720" rIns="91440" bIns="45720" anchor="t">
            <a:noAutofit/>
          </a:bodyPr>
          <a:lstStyle/>
          <a:p>
            <a:pPr marL="457200" indent="-457200" defTabSz="914400">
              <a:lnSpc>
                <a:spcPct val="100000"/>
              </a:lnSpc>
              <a:spcBef>
                <a:spcPts val="2001"/>
              </a:spcBef>
              <a:buClr>
                <a:srgbClr val="1B3742"/>
              </a:buClr>
              <a:buSzPct val="110000"/>
              <a:buFont typeface="News Gothic MT"/>
              <a:buAutoNum type="arabicPeriod"/>
            </a:pPr>
            <a:r>
              <a:rPr lang="en-US" sz="2200" b="0" strike="noStrike" spc="-1">
                <a:solidFill>
                  <a:schemeClr val="accent2">
                    <a:lumMod val="75000"/>
                  </a:schemeClr>
                </a:solidFill>
                <a:latin typeface="News Gothic MT"/>
              </a:rPr>
              <a:t>What provable security guarantees does QUIC provide, and under which assumptions?</a:t>
            </a:r>
          </a:p>
          <a:p>
            <a:pPr marL="457200" indent="-457200" defTabSz="914400">
              <a:lnSpc>
                <a:spcPct val="100000"/>
              </a:lnSpc>
              <a:spcBef>
                <a:spcPts val="2001"/>
              </a:spcBef>
              <a:buClr>
                <a:srgbClr val="1B3742"/>
              </a:buClr>
              <a:buSzPct val="110000"/>
              <a:buFont typeface="News Gothic MT"/>
              <a:buAutoNum type="arabicPeriod"/>
            </a:pPr>
            <a:r>
              <a:rPr lang="en-US" sz="2200" b="0" strike="noStrike" spc="-1">
                <a:solidFill>
                  <a:schemeClr val="accent2">
                    <a:lumMod val="75000"/>
                  </a:schemeClr>
                </a:solidFill>
                <a:latin typeface="News Gothic MT"/>
              </a:rPr>
              <a:t>How effective is QUIC at minimizing latency in presence of attackers?</a:t>
            </a:r>
          </a:p>
        </p:txBody>
      </p:sp>
      <p:sp>
        <p:nvSpPr>
          <p:cNvPr id="300" name="PlaceHolder 2"/>
          <p:cNvSpPr>
            <a:spLocks noGrp="1"/>
          </p:cNvSpPr>
          <p:nvPr>
            <p:ph type="title"/>
          </p:nvPr>
        </p:nvSpPr>
        <p:spPr>
          <a:xfrm>
            <a:off x="732240" y="147960"/>
            <a:ext cx="10722960" cy="744840"/>
          </a:xfrm>
          <a:prstGeom prst="rect">
            <a:avLst/>
          </a:prstGeom>
          <a:noFill/>
          <a:ln w="0">
            <a:noFill/>
          </a:ln>
        </p:spPr>
        <p:txBody>
          <a:bodyPr lIns="91440" tIns="45720" rIns="91440" bIns="45720" anchor="b">
            <a:noAutofit/>
          </a:bodyPr>
          <a:lstStyle/>
          <a:p>
            <a:pPr indent="0" algn="ctr" defTabSz="914400">
              <a:lnSpc>
                <a:spcPct val="100000"/>
              </a:lnSpc>
              <a:buNone/>
            </a:pPr>
            <a:r>
              <a:rPr lang="en-US" sz="4000" b="0" strike="noStrike" spc="-1">
                <a:solidFill>
                  <a:schemeClr val="accent2">
                    <a:lumMod val="75000"/>
                  </a:schemeClr>
                </a:solidFill>
                <a:latin typeface="News Gothic MT"/>
              </a:rPr>
              <a:t>Main Questions We Address</a:t>
            </a:r>
            <a:endParaRPr lang="en-US" sz="4000" b="0" strike="noStrike" spc="-1">
              <a:solidFill>
                <a:schemeClr val="dk1"/>
              </a:solidFill>
              <a:latin typeface="News Gothic M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PlaceHolder 1"/>
          <p:cNvSpPr>
            <a:spLocks noGrp="1"/>
          </p:cNvSpPr>
          <p:nvPr>
            <p:ph/>
          </p:nvPr>
        </p:nvSpPr>
        <p:spPr>
          <a:xfrm>
            <a:off x="732240" y="1226520"/>
            <a:ext cx="10722960" cy="5164200"/>
          </a:xfrm>
          <a:prstGeom prst="rect">
            <a:avLst/>
          </a:prstGeom>
          <a:noFill/>
          <a:ln w="0">
            <a:noFill/>
          </a:ln>
        </p:spPr>
        <p:txBody>
          <a:bodyPr lIns="91440" tIns="45720" rIns="91440" bIns="45720" anchor="t">
            <a:normAutofit/>
          </a:bodyPr>
          <a:lstStyle/>
          <a:p>
            <a:pPr marL="457200" indent="-457200" defTabSz="914400">
              <a:lnSpc>
                <a:spcPct val="100000"/>
              </a:lnSpc>
              <a:spcBef>
                <a:spcPts val="2001"/>
              </a:spcBef>
              <a:buClr>
                <a:srgbClr val="1B3742"/>
              </a:buClr>
              <a:buSzPct val="110000"/>
              <a:buFont typeface="News Gothic MT"/>
              <a:buAutoNum type="arabicPeriod"/>
            </a:pPr>
            <a:r>
              <a:rPr lang="en-US" sz="2200" b="0" strike="noStrike" spc="-1">
                <a:solidFill>
                  <a:schemeClr val="accent2">
                    <a:lumMod val="75000"/>
                  </a:schemeClr>
                </a:solidFill>
                <a:latin typeface="News Gothic MT"/>
              </a:rPr>
              <a:t>What provable security guarantees does QUIC provide, and under which assumptions?</a:t>
            </a:r>
          </a:p>
          <a:p>
            <a:pPr marL="692280" lvl="1" indent="-343080" defTabSz="914400">
              <a:lnSpc>
                <a:spcPct val="100000"/>
              </a:lnSpc>
              <a:spcBef>
                <a:spcPts val="601"/>
              </a:spcBef>
              <a:buClr>
                <a:srgbClr val="800000"/>
              </a:buClr>
              <a:buSzPct val="110000"/>
              <a:buFont typeface="Lucida Grande"/>
              <a:buChar char="-"/>
            </a:pPr>
            <a:r>
              <a:rPr lang="en-US" sz="2000" b="0" strike="noStrike" spc="-1">
                <a:solidFill>
                  <a:srgbClr val="800000"/>
                </a:solidFill>
                <a:latin typeface="News Gothic MT"/>
              </a:rPr>
              <a:t>we develop a security definition suitable for performance driven protocols and show that QUIC satisfies it</a:t>
            </a:r>
            <a:endParaRPr lang="en-US" sz="2000" b="0" strike="noStrike" spc="-1">
              <a:solidFill>
                <a:schemeClr val="dk1">
                  <a:lumMod val="65000"/>
                  <a:lumOff val="35000"/>
                </a:schemeClr>
              </a:solidFill>
              <a:latin typeface="News Gothic MT"/>
            </a:endParaRPr>
          </a:p>
          <a:p>
            <a:pPr marL="692280" lvl="1" indent="-343080" defTabSz="914400">
              <a:lnSpc>
                <a:spcPct val="100000"/>
              </a:lnSpc>
              <a:spcBef>
                <a:spcPts val="601"/>
              </a:spcBef>
              <a:buClr>
                <a:srgbClr val="800000"/>
              </a:buClr>
              <a:buSzPct val="110000"/>
              <a:buFont typeface="Lucida Grande"/>
              <a:buChar char="-"/>
            </a:pPr>
            <a:r>
              <a:rPr lang="en-US" sz="2000" b="0" strike="noStrike" spc="-1">
                <a:solidFill>
                  <a:srgbClr val="800000"/>
                </a:solidFill>
                <a:latin typeface="News Gothic MT"/>
              </a:rPr>
              <a:t>QUIC does not satisfy the traditional notion of forward secrecy, provided by some TLS modes, e.g., TLS-DHE</a:t>
            </a:r>
            <a:endParaRPr lang="en-US" sz="2000" b="0" strike="noStrike" spc="-1">
              <a:solidFill>
                <a:schemeClr val="dk1">
                  <a:lumMod val="65000"/>
                  <a:lumOff val="35000"/>
                </a:schemeClr>
              </a:solidFill>
              <a:latin typeface="News Gothic MT"/>
            </a:endParaRPr>
          </a:p>
          <a:p>
            <a:pPr marL="349200" indent="0" defTabSz="914400">
              <a:lnSpc>
                <a:spcPct val="100000"/>
              </a:lnSpc>
              <a:spcBef>
                <a:spcPts val="601"/>
              </a:spcBef>
              <a:buNone/>
              <a:tabLst>
                <a:tab pos="0" algn="l"/>
              </a:tabLst>
            </a:pPr>
            <a:endParaRPr lang="en-US" sz="1400" b="0" strike="noStrike" spc="-1">
              <a:solidFill>
                <a:schemeClr val="accent2">
                  <a:lumMod val="75000"/>
                </a:schemeClr>
              </a:solidFill>
              <a:latin typeface="News Gothic MT"/>
            </a:endParaRPr>
          </a:p>
          <a:p>
            <a:pPr marL="457200" indent="-457200" defTabSz="914400">
              <a:lnSpc>
                <a:spcPct val="100000"/>
              </a:lnSpc>
              <a:spcBef>
                <a:spcPts val="2001"/>
              </a:spcBef>
              <a:buClr>
                <a:srgbClr val="1B3742"/>
              </a:buClr>
              <a:buSzPct val="110000"/>
              <a:buFont typeface="News Gothic MT"/>
              <a:buAutoNum type="arabicPeriod"/>
              <a:tabLst>
                <a:tab pos="0" algn="l"/>
              </a:tabLst>
            </a:pPr>
            <a:r>
              <a:rPr lang="en-US" sz="2200" b="0" strike="noStrike" spc="-1">
                <a:solidFill>
                  <a:schemeClr val="accent2">
                    <a:lumMod val="75000"/>
                  </a:schemeClr>
                </a:solidFill>
                <a:latin typeface="News Gothic MT"/>
              </a:rPr>
              <a:t>How effective is QUIC at minimizing latency in presence of attackers?</a:t>
            </a:r>
          </a:p>
          <a:p>
            <a:pPr marL="692280" lvl="1" indent="-343080" defTabSz="914400">
              <a:lnSpc>
                <a:spcPct val="100000"/>
              </a:lnSpc>
              <a:spcBef>
                <a:spcPts val="601"/>
              </a:spcBef>
              <a:buClr>
                <a:srgbClr val="800000"/>
              </a:buClr>
              <a:buSzPct val="110000"/>
              <a:buFont typeface="Lucida Grande"/>
              <a:buChar char="-"/>
              <a:tabLst>
                <a:tab pos="0" algn="l"/>
              </a:tabLst>
            </a:pPr>
            <a:r>
              <a:rPr lang="en-US" sz="2000" b="0" strike="noStrike" spc="-1">
                <a:solidFill>
                  <a:srgbClr val="800000"/>
                </a:solidFill>
                <a:latin typeface="News Gothic MT"/>
              </a:rPr>
              <a:t>with simple attacks on some parameters, it is easy to prevent QUIC from achieving its minimal latency goals</a:t>
            </a:r>
            <a:endParaRPr lang="en-US" sz="2000" b="0" strike="noStrike" spc="-1">
              <a:solidFill>
                <a:schemeClr val="dk1">
                  <a:lumMod val="65000"/>
                  <a:lumOff val="35000"/>
                </a:schemeClr>
              </a:solidFill>
              <a:latin typeface="News Gothic MT"/>
            </a:endParaRPr>
          </a:p>
          <a:p>
            <a:pPr marL="692280" lvl="1" indent="-343080" defTabSz="914400">
              <a:lnSpc>
                <a:spcPct val="100000"/>
              </a:lnSpc>
              <a:spcBef>
                <a:spcPts val="601"/>
              </a:spcBef>
              <a:buClr>
                <a:srgbClr val="800000"/>
              </a:buClr>
              <a:buSzPct val="110000"/>
              <a:buFont typeface="Lucida Grande"/>
              <a:buChar char="-"/>
              <a:tabLst>
                <a:tab pos="0" algn="l"/>
              </a:tabLst>
            </a:pPr>
            <a:r>
              <a:rPr lang="en-US" sz="2000" b="0" strike="noStrike" spc="-1">
                <a:solidFill>
                  <a:srgbClr val="800000"/>
                </a:solidFill>
                <a:latin typeface="News Gothic MT"/>
              </a:rPr>
              <a:t>we have implemented these attacks and demonstrated that they are practical</a:t>
            </a:r>
            <a:endParaRPr lang="en-US" sz="2000" b="0" strike="noStrike" spc="-1">
              <a:solidFill>
                <a:schemeClr val="dk1">
                  <a:lumMod val="65000"/>
                  <a:lumOff val="35000"/>
                </a:schemeClr>
              </a:solidFill>
              <a:latin typeface="News Gothic MT"/>
            </a:endParaRPr>
          </a:p>
        </p:txBody>
      </p:sp>
      <p:sp>
        <p:nvSpPr>
          <p:cNvPr id="302" name="PlaceHolder 2"/>
          <p:cNvSpPr>
            <a:spLocks noGrp="1"/>
          </p:cNvSpPr>
          <p:nvPr>
            <p:ph type="title"/>
          </p:nvPr>
        </p:nvSpPr>
        <p:spPr>
          <a:xfrm>
            <a:off x="732240" y="147960"/>
            <a:ext cx="10722960" cy="744840"/>
          </a:xfrm>
          <a:prstGeom prst="rect">
            <a:avLst/>
          </a:prstGeom>
          <a:noFill/>
          <a:ln w="0">
            <a:noFill/>
          </a:ln>
        </p:spPr>
        <p:txBody>
          <a:bodyPr lIns="91440" tIns="45720" rIns="91440" bIns="45720" anchor="b">
            <a:noAutofit/>
          </a:bodyPr>
          <a:lstStyle/>
          <a:p>
            <a:pPr indent="0" algn="ctr" defTabSz="914400">
              <a:lnSpc>
                <a:spcPct val="100000"/>
              </a:lnSpc>
              <a:buNone/>
            </a:pPr>
            <a:r>
              <a:rPr lang="en-US" sz="4000" b="0" strike="noStrike" spc="-1">
                <a:solidFill>
                  <a:schemeClr val="accent2">
                    <a:lumMod val="75000"/>
                  </a:schemeClr>
                </a:solidFill>
                <a:latin typeface="News Gothic MT"/>
              </a:rPr>
              <a:t>Summary of Our Results</a:t>
            </a:r>
            <a:endParaRPr lang="en-US" sz="4000" b="0" strike="noStrike" spc="-1">
              <a:solidFill>
                <a:schemeClr val="dk1"/>
              </a:solidFill>
              <a:latin typeface="News Gothic MT"/>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30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30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301">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30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 name="PlaceHolder 1"/>
          <p:cNvSpPr>
            <a:spLocks noGrp="1"/>
          </p:cNvSpPr>
          <p:nvPr>
            <p:ph type="title"/>
          </p:nvPr>
        </p:nvSpPr>
        <p:spPr>
          <a:xfrm>
            <a:off x="732240" y="210600"/>
            <a:ext cx="10722960" cy="980640"/>
          </a:xfrm>
          <a:prstGeom prst="rect">
            <a:avLst/>
          </a:prstGeom>
          <a:noFill/>
          <a:ln w="0">
            <a:noFill/>
          </a:ln>
        </p:spPr>
        <p:txBody>
          <a:bodyPr lIns="91440" tIns="45720" rIns="91440" bIns="45720" anchor="b">
            <a:noAutofit/>
          </a:bodyPr>
          <a:lstStyle/>
          <a:p>
            <a:pPr indent="0" algn="ctr" defTabSz="914400">
              <a:lnSpc>
                <a:spcPct val="100000"/>
              </a:lnSpc>
              <a:buNone/>
            </a:pPr>
            <a:r>
              <a:rPr lang="en-US" sz="4000" b="0" strike="noStrike" spc="-1">
                <a:solidFill>
                  <a:schemeClr val="accent2">
                    <a:lumMod val="75000"/>
                  </a:schemeClr>
                </a:solidFill>
                <a:latin typeface="News Gothic MT"/>
              </a:rPr>
              <a:t>QUIC Protocol</a:t>
            </a:r>
            <a:br>
              <a:rPr sz="4000"/>
            </a:br>
            <a:r>
              <a:rPr lang="en-US" sz="2000" b="0" strike="noStrike" spc="-1">
                <a:solidFill>
                  <a:schemeClr val="accent2">
                    <a:lumMod val="75000"/>
                  </a:schemeClr>
                </a:solidFill>
                <a:latin typeface="News Gothic MT"/>
              </a:rPr>
              <a:t>Connection Resumption</a:t>
            </a:r>
            <a:endParaRPr lang="en-US" sz="2000" b="0" strike="noStrike" spc="-1">
              <a:solidFill>
                <a:schemeClr val="dk1"/>
              </a:solidFill>
              <a:latin typeface="News Gothic MT"/>
            </a:endParaRPr>
          </a:p>
        </p:txBody>
      </p:sp>
      <p:grpSp>
        <p:nvGrpSpPr>
          <p:cNvPr id="304" name="Group 2"/>
          <p:cNvGrpSpPr/>
          <p:nvPr/>
        </p:nvGrpSpPr>
        <p:grpSpPr>
          <a:xfrm>
            <a:off x="948600" y="2085480"/>
            <a:ext cx="1450800" cy="346680"/>
            <a:chOff x="948600" y="2085480"/>
            <a:chExt cx="1450800" cy="346680"/>
          </a:xfrm>
        </p:grpSpPr>
        <p:sp>
          <p:nvSpPr>
            <p:cNvPr id="305" name="TextBox 67"/>
            <p:cNvSpPr/>
            <p:nvPr/>
          </p:nvSpPr>
          <p:spPr>
            <a:xfrm>
              <a:off x="948600" y="2098800"/>
              <a:ext cx="1450800" cy="3333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600" b="0" strike="noStrike" spc="-1">
                  <a:solidFill>
                    <a:schemeClr val="dk1"/>
                  </a:solidFill>
                  <a:latin typeface="News Gothic MT"/>
                </a:rPr>
                <a:t>cid        {0,1}</a:t>
              </a:r>
              <a:r>
                <a:rPr lang="en-US" sz="1600" b="0" strike="noStrike" spc="-1" baseline="30000">
                  <a:solidFill>
                    <a:schemeClr val="dk1"/>
                  </a:solidFill>
                  <a:latin typeface="News Gothic MT"/>
                </a:rPr>
                <a:t>64</a:t>
              </a:r>
              <a:endParaRPr lang="en-US" sz="1600" b="0" strike="noStrike" spc="-1">
                <a:solidFill>
                  <a:srgbClr val="000000"/>
                </a:solidFill>
                <a:latin typeface="Arial"/>
              </a:endParaRPr>
            </a:p>
          </p:txBody>
        </p:sp>
        <p:cxnSp>
          <p:nvCxnSpPr>
            <p:cNvPr id="306" name="Straight Arrow Connector 6"/>
            <p:cNvCxnSpPr/>
            <p:nvPr/>
          </p:nvCxnSpPr>
          <p:spPr>
            <a:xfrm flipH="1">
              <a:off x="1211040" y="2322360"/>
              <a:ext cx="428040" cy="360"/>
            </a:xfrm>
            <a:prstGeom prst="straightConnector1">
              <a:avLst/>
            </a:prstGeom>
            <a:ln w="19050">
              <a:solidFill>
                <a:srgbClr val="000000"/>
              </a:solidFill>
              <a:round/>
              <a:tailEnd type="arrow" w="med" len="med"/>
            </a:ln>
          </p:spPr>
        </p:cxnSp>
        <p:sp>
          <p:nvSpPr>
            <p:cNvPr id="307" name="TextBox 68"/>
            <p:cNvSpPr/>
            <p:nvPr/>
          </p:nvSpPr>
          <p:spPr>
            <a:xfrm>
              <a:off x="1367640" y="2085480"/>
              <a:ext cx="267840" cy="2725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200" b="0" strike="noStrike" spc="-1">
                  <a:solidFill>
                    <a:schemeClr val="dk1"/>
                  </a:solidFill>
                  <a:latin typeface="News Gothic MT"/>
                </a:rPr>
                <a:t>$</a:t>
              </a:r>
              <a:endParaRPr lang="en-US" sz="1200" b="0" strike="noStrike" spc="-1">
                <a:solidFill>
                  <a:srgbClr val="000000"/>
                </a:solidFill>
                <a:latin typeface="Arial"/>
              </a:endParaRPr>
            </a:p>
          </p:txBody>
        </p:sp>
      </p:grpSp>
      <p:sp>
        <p:nvSpPr>
          <p:cNvPr id="308" name="TextBox 69"/>
          <p:cNvSpPr/>
          <p:nvPr/>
        </p:nvSpPr>
        <p:spPr>
          <a:xfrm>
            <a:off x="495720" y="2124000"/>
            <a:ext cx="2855880" cy="85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0" strike="noStrike" spc="-1">
                <a:solidFill>
                  <a:schemeClr val="dk1"/>
                </a:solidFill>
                <a:latin typeface="News Gothic MT"/>
              </a:rPr>
              <a:t>-</a:t>
            </a:r>
            <a:endParaRPr lang="en-US" sz="1600" b="0" strike="noStrike" spc="-1">
              <a:solidFill>
                <a:srgbClr val="000000"/>
              </a:solidFill>
              <a:latin typeface="Arial"/>
            </a:endParaRPr>
          </a:p>
          <a:p>
            <a:pPr defTabSz="914400">
              <a:lnSpc>
                <a:spcPct val="100000"/>
              </a:lnSpc>
            </a:pPr>
            <a:r>
              <a:rPr lang="en-US" sz="1600" b="0" strike="noStrike" spc="-1">
                <a:solidFill>
                  <a:schemeClr val="dk1"/>
                </a:solidFill>
                <a:latin typeface="News Gothic MT"/>
              </a:rPr>
              <a:t>-generate DH values</a:t>
            </a:r>
            <a:endParaRPr lang="en-US" sz="1600" b="0" strike="noStrike" spc="-1">
              <a:solidFill>
                <a:srgbClr val="000000"/>
              </a:solidFill>
              <a:latin typeface="Arial"/>
            </a:endParaRPr>
          </a:p>
          <a:p>
            <a:pPr defTabSz="914400">
              <a:lnSpc>
                <a:spcPct val="100000"/>
              </a:lnSpc>
            </a:pPr>
            <a:r>
              <a:rPr lang="en-US" sz="1600" b="0" strike="noStrike" spc="-1">
                <a:solidFill>
                  <a:schemeClr val="dk1"/>
                </a:solidFill>
                <a:latin typeface="News Gothic MT"/>
              </a:rPr>
              <a:t> (</a:t>
            </a:r>
            <a:r>
              <a:rPr lang="en-US" sz="1600" b="0" i="1" strike="noStrike" spc="-1">
                <a:solidFill>
                  <a:schemeClr val="dk1"/>
                </a:solidFill>
                <a:latin typeface="News Gothic MT"/>
              </a:rPr>
              <a:t>sec</a:t>
            </a:r>
            <a:r>
              <a:rPr lang="en-US" sz="1600" b="0" i="1" strike="noStrike" spc="-1" baseline="-25000">
                <a:solidFill>
                  <a:schemeClr val="dk1"/>
                </a:solidFill>
                <a:latin typeface="News Gothic MT"/>
              </a:rPr>
              <a:t>c</a:t>
            </a:r>
            <a:r>
              <a:rPr lang="en-US" sz="1600" b="0" i="1" strike="noStrike" spc="-1">
                <a:solidFill>
                  <a:schemeClr val="dk1"/>
                </a:solidFill>
                <a:latin typeface="News Gothic MT"/>
              </a:rPr>
              <a:t>, pub</a:t>
            </a:r>
            <a:r>
              <a:rPr lang="en-US" sz="1600" b="0" i="1" strike="noStrike" spc="-1" baseline="-25000">
                <a:solidFill>
                  <a:schemeClr val="dk1"/>
                </a:solidFill>
                <a:latin typeface="News Gothic MT"/>
              </a:rPr>
              <a:t>c</a:t>
            </a:r>
            <a:r>
              <a:rPr lang="en-US" sz="1600" b="0" strike="noStrike" spc="-1">
                <a:solidFill>
                  <a:schemeClr val="dk1"/>
                </a:solidFill>
                <a:latin typeface="News Gothic MT"/>
              </a:rPr>
              <a:t>)</a:t>
            </a:r>
            <a:endParaRPr lang="en-US" sz="1600" b="0" strike="noStrike" spc="-1">
              <a:solidFill>
                <a:srgbClr val="000000"/>
              </a:solidFill>
              <a:latin typeface="Arial"/>
            </a:endParaRPr>
          </a:p>
        </p:txBody>
      </p:sp>
      <p:cxnSp>
        <p:nvCxnSpPr>
          <p:cNvPr id="309" name="Straight Arrow Connector 7"/>
          <p:cNvCxnSpPr/>
          <p:nvPr/>
        </p:nvCxnSpPr>
        <p:spPr>
          <a:xfrm>
            <a:off x="3014640" y="2830680"/>
            <a:ext cx="3233520" cy="360"/>
          </a:xfrm>
          <a:prstGeom prst="straightConnector1">
            <a:avLst/>
          </a:prstGeom>
          <a:ln w="28575">
            <a:solidFill>
              <a:srgbClr val="000000"/>
            </a:solidFill>
            <a:round/>
            <a:tailEnd type="arrow" w="med" len="med"/>
          </a:ln>
        </p:spPr>
      </p:cxnSp>
      <p:cxnSp>
        <p:nvCxnSpPr>
          <p:cNvPr id="310" name="Straight Arrow Connector 8"/>
          <p:cNvCxnSpPr/>
          <p:nvPr/>
        </p:nvCxnSpPr>
        <p:spPr>
          <a:xfrm>
            <a:off x="3014640" y="4420080"/>
            <a:ext cx="3233520" cy="360"/>
          </a:xfrm>
          <a:prstGeom prst="straightConnector1">
            <a:avLst/>
          </a:prstGeom>
          <a:ln w="28575">
            <a:solidFill>
              <a:srgbClr val="000000"/>
            </a:solidFill>
            <a:round/>
            <a:headEnd type="arrow" w="med" len="med"/>
          </a:ln>
        </p:spPr>
      </p:cxnSp>
      <p:sp>
        <p:nvSpPr>
          <p:cNvPr id="311" name="TextBox 70"/>
          <p:cNvSpPr/>
          <p:nvPr/>
        </p:nvSpPr>
        <p:spPr>
          <a:xfrm>
            <a:off x="4860360" y="2435760"/>
            <a:ext cx="2656080" cy="3668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600" b="0" strike="noStrike" spc="-1">
                <a:solidFill>
                  <a:schemeClr val="dk1"/>
                </a:solidFill>
                <a:latin typeface="News Gothic MT"/>
              </a:rPr>
              <a:t>c_hello: (</a:t>
            </a:r>
            <a:r>
              <a:rPr lang="en-US" sz="1600" b="0" i="1" strike="noStrike" spc="-1">
                <a:solidFill>
                  <a:schemeClr val="dk1"/>
                </a:solidFill>
                <a:latin typeface="News Gothic MT"/>
              </a:rPr>
              <a:t>cid, stk, scfg, pub</a:t>
            </a:r>
            <a:r>
              <a:rPr lang="en-US" sz="1600" b="0" i="1" strike="noStrike" spc="-1" baseline="-25000">
                <a:solidFill>
                  <a:schemeClr val="dk1"/>
                </a:solidFill>
                <a:latin typeface="News Gothic MT"/>
              </a:rPr>
              <a:t>c</a:t>
            </a:r>
            <a:r>
              <a:rPr lang="en-US" sz="1600" b="0" strike="noStrike" spc="-1">
                <a:solidFill>
                  <a:schemeClr val="dk1"/>
                </a:solidFill>
                <a:latin typeface="News Gothic MT"/>
              </a:rPr>
              <a:t>)</a:t>
            </a:r>
            <a:endParaRPr lang="en-US" sz="1600" b="0" strike="noStrike" spc="-1">
              <a:solidFill>
                <a:srgbClr val="000000"/>
              </a:solidFill>
              <a:latin typeface="Arial"/>
            </a:endParaRPr>
          </a:p>
        </p:txBody>
      </p:sp>
      <p:sp>
        <p:nvSpPr>
          <p:cNvPr id="312" name="TextBox 71"/>
          <p:cNvSpPr/>
          <p:nvPr/>
        </p:nvSpPr>
        <p:spPr>
          <a:xfrm>
            <a:off x="5542200" y="3998880"/>
            <a:ext cx="1830240" cy="3668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600" b="0" strike="noStrike" spc="-1">
                <a:solidFill>
                  <a:schemeClr val="dk1"/>
                </a:solidFill>
                <a:latin typeface="News Gothic MT"/>
              </a:rPr>
              <a:t>s_hello: (</a:t>
            </a:r>
            <a:r>
              <a:rPr lang="en-US" sz="1600" b="0" i="1" strike="noStrike" spc="-1">
                <a:solidFill>
                  <a:schemeClr val="dk1"/>
                </a:solidFill>
                <a:latin typeface="News Gothic MT"/>
              </a:rPr>
              <a:t>cid, pub</a:t>
            </a:r>
            <a:r>
              <a:rPr lang="en-US" sz="1600" b="0" i="1" strike="noStrike" spc="-1" baseline="-25000">
                <a:solidFill>
                  <a:schemeClr val="dk1"/>
                </a:solidFill>
                <a:latin typeface="News Gothic MT"/>
              </a:rPr>
              <a:t>s</a:t>
            </a:r>
            <a:r>
              <a:rPr lang="en-US" sz="1600" b="0" strike="noStrike" spc="-1">
                <a:solidFill>
                  <a:schemeClr val="dk1"/>
                </a:solidFill>
                <a:latin typeface="News Gothic MT"/>
              </a:rPr>
              <a:t>)</a:t>
            </a:r>
            <a:endParaRPr lang="en-US" sz="1600" b="0" strike="noStrike" spc="-1">
              <a:solidFill>
                <a:srgbClr val="000000"/>
              </a:solidFill>
              <a:latin typeface="Arial"/>
            </a:endParaRPr>
          </a:p>
        </p:txBody>
      </p:sp>
      <p:sp>
        <p:nvSpPr>
          <p:cNvPr id="313" name="TextBox 72"/>
          <p:cNvSpPr/>
          <p:nvPr/>
        </p:nvSpPr>
        <p:spPr>
          <a:xfrm>
            <a:off x="4052520" y="5342040"/>
            <a:ext cx="5538960" cy="9126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marL="285840" indent="-285840" defTabSz="914400">
              <a:lnSpc>
                <a:spcPct val="100000"/>
              </a:lnSpc>
              <a:buClr>
                <a:srgbClr val="1B3742"/>
              </a:buClr>
              <a:buFont typeface="Lucida Grande"/>
              <a:buChar char="-"/>
            </a:pPr>
            <a:r>
              <a:rPr lang="en-US" sz="1800" b="0" i="1" strike="noStrike" spc="-1">
                <a:solidFill>
                  <a:schemeClr val="accent2">
                    <a:lumMod val="75000"/>
                  </a:schemeClr>
                </a:solidFill>
                <a:latin typeface="News Gothic MT"/>
              </a:rPr>
              <a:t>cid</a:t>
            </a:r>
            <a:r>
              <a:rPr lang="en-US" sz="1800" b="0" strike="noStrike" spc="-1">
                <a:solidFill>
                  <a:schemeClr val="accent2">
                    <a:lumMod val="75000"/>
                  </a:schemeClr>
                </a:solidFill>
                <a:latin typeface="News Gothic MT"/>
              </a:rPr>
              <a:t> is the new connection id picked by the client</a:t>
            </a:r>
            <a:endParaRPr lang="en-US" sz="1800" b="0" strike="noStrike" spc="-1">
              <a:solidFill>
                <a:srgbClr val="000000"/>
              </a:solidFill>
              <a:latin typeface="Arial"/>
            </a:endParaRPr>
          </a:p>
          <a:p>
            <a:pPr marL="285840" indent="-285840" defTabSz="914400">
              <a:lnSpc>
                <a:spcPct val="100000"/>
              </a:lnSpc>
              <a:buClr>
                <a:srgbClr val="1B3742"/>
              </a:buClr>
              <a:buFont typeface="Lucida Grande"/>
              <a:buChar char="-"/>
            </a:pPr>
            <a:r>
              <a:rPr lang="en-US" sz="1800" b="0" i="1" strike="noStrike" spc="-1">
                <a:solidFill>
                  <a:schemeClr val="accent2">
                    <a:lumMod val="75000"/>
                  </a:schemeClr>
                </a:solidFill>
                <a:latin typeface="News Gothic MT"/>
              </a:rPr>
              <a:t>stk</a:t>
            </a:r>
            <a:r>
              <a:rPr lang="en-US" sz="1800" b="0" strike="noStrike" spc="-1">
                <a:solidFill>
                  <a:schemeClr val="accent2">
                    <a:lumMod val="75000"/>
                  </a:schemeClr>
                </a:solidFill>
                <a:latin typeface="News Gothic MT"/>
              </a:rPr>
              <a:t> can be reused before expiration</a:t>
            </a:r>
            <a:endParaRPr lang="en-US" sz="1800" b="0" strike="noStrike" spc="-1">
              <a:solidFill>
                <a:srgbClr val="000000"/>
              </a:solidFill>
              <a:latin typeface="Arial"/>
            </a:endParaRPr>
          </a:p>
          <a:p>
            <a:pPr marL="285840" indent="-285840" defTabSz="914400">
              <a:lnSpc>
                <a:spcPct val="100000"/>
              </a:lnSpc>
              <a:buClr>
                <a:srgbClr val="1B3742"/>
              </a:buClr>
              <a:buFont typeface="Lucida Grande"/>
              <a:buChar char="-"/>
            </a:pPr>
            <a:r>
              <a:rPr lang="en-US" sz="1800" b="0" i="1" strike="noStrike" spc="-1">
                <a:solidFill>
                  <a:schemeClr val="accent2">
                    <a:lumMod val="75000"/>
                  </a:schemeClr>
                </a:solidFill>
                <a:latin typeface="News Gothic MT"/>
              </a:rPr>
              <a:t>scfg</a:t>
            </a:r>
            <a:r>
              <a:rPr lang="en-US" sz="1800" b="0" strike="noStrike" spc="-1">
                <a:solidFill>
                  <a:schemeClr val="accent2">
                    <a:lumMod val="75000"/>
                  </a:schemeClr>
                </a:solidFill>
                <a:latin typeface="News Gothic MT"/>
              </a:rPr>
              <a:t> can be reused before expiration </a:t>
            </a:r>
            <a:endParaRPr lang="en-US" sz="1800" b="0" strike="noStrike" spc="-1">
              <a:solidFill>
                <a:srgbClr val="000000"/>
              </a:solidFill>
              <a:latin typeface="Arial"/>
            </a:endParaRPr>
          </a:p>
        </p:txBody>
      </p:sp>
      <p:cxnSp>
        <p:nvCxnSpPr>
          <p:cNvPr id="314" name="Straight Arrow Connector 9"/>
          <p:cNvCxnSpPr/>
          <p:nvPr/>
        </p:nvCxnSpPr>
        <p:spPr>
          <a:xfrm>
            <a:off x="3014640" y="3540240"/>
            <a:ext cx="3233520" cy="360"/>
          </a:xfrm>
          <a:prstGeom prst="straightConnector1">
            <a:avLst/>
          </a:prstGeom>
          <a:ln w="28575">
            <a:solidFill>
              <a:srgbClr val="000000"/>
            </a:solidFill>
            <a:prstDash val="sysDash"/>
            <a:round/>
            <a:headEnd type="arrow" w="med" len="med"/>
            <a:tailEnd type="arrow" w="med" len="med"/>
          </a:ln>
        </p:spPr>
      </p:cxnSp>
      <p:sp>
        <p:nvSpPr>
          <p:cNvPr id="315" name="TextBox 73"/>
          <p:cNvSpPr/>
          <p:nvPr/>
        </p:nvSpPr>
        <p:spPr>
          <a:xfrm>
            <a:off x="5101200" y="3119400"/>
            <a:ext cx="2145600" cy="3333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600" b="0" strike="noStrike" spc="-1">
                <a:solidFill>
                  <a:schemeClr val="dk1"/>
                </a:solidFill>
                <a:latin typeface="News Gothic MT"/>
              </a:rPr>
              <a:t>initial data exchange</a:t>
            </a:r>
            <a:endParaRPr lang="en-US" sz="1600" b="0" strike="noStrike" spc="-1">
              <a:solidFill>
                <a:srgbClr val="000000"/>
              </a:solidFill>
              <a:latin typeface="Arial"/>
            </a:endParaRPr>
          </a:p>
        </p:txBody>
      </p:sp>
      <p:cxnSp>
        <p:nvCxnSpPr>
          <p:cNvPr id="316" name="Straight Arrow Connector 10"/>
          <p:cNvCxnSpPr/>
          <p:nvPr/>
        </p:nvCxnSpPr>
        <p:spPr>
          <a:xfrm>
            <a:off x="3014640" y="4905720"/>
            <a:ext cx="3233520" cy="360"/>
          </a:xfrm>
          <a:prstGeom prst="straightConnector1">
            <a:avLst/>
          </a:prstGeom>
          <a:ln w="28575">
            <a:solidFill>
              <a:srgbClr val="000000"/>
            </a:solidFill>
            <a:prstDash val="sysDash"/>
            <a:round/>
            <a:headEnd type="arrow" w="med" len="med"/>
            <a:tailEnd type="arrow" w="med" len="med"/>
          </a:ln>
        </p:spPr>
      </p:cxnSp>
      <p:sp>
        <p:nvSpPr>
          <p:cNvPr id="317" name="TextBox 74"/>
          <p:cNvSpPr/>
          <p:nvPr/>
        </p:nvSpPr>
        <p:spPr>
          <a:xfrm>
            <a:off x="5302080" y="4511520"/>
            <a:ext cx="1572480" cy="3333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600" b="0" strike="noStrike" spc="-1">
                <a:solidFill>
                  <a:schemeClr val="dk1"/>
                </a:solidFill>
                <a:latin typeface="News Gothic MT"/>
              </a:rPr>
              <a:t>data exchange</a:t>
            </a:r>
            <a:endParaRPr lang="en-US" sz="1600" b="0" strike="noStrike" spc="-1">
              <a:solidFill>
                <a:srgbClr val="000000"/>
              </a:solidFill>
              <a:latin typeface="Arial"/>
            </a:endParaRPr>
          </a:p>
        </p:txBody>
      </p:sp>
      <p:sp>
        <p:nvSpPr>
          <p:cNvPr id="318" name="TextBox 75"/>
          <p:cNvSpPr/>
          <p:nvPr/>
        </p:nvSpPr>
        <p:spPr>
          <a:xfrm>
            <a:off x="8917560" y="3640320"/>
            <a:ext cx="3119760" cy="610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0" strike="noStrike" spc="-1">
                <a:solidFill>
                  <a:schemeClr val="dk1"/>
                </a:solidFill>
                <a:latin typeface="News Gothic MT"/>
              </a:rPr>
              <a:t>-generate session</a:t>
            </a:r>
            <a:endParaRPr lang="en-US" sz="1600" b="0" strike="noStrike" spc="-1">
              <a:solidFill>
                <a:srgbClr val="000000"/>
              </a:solidFill>
              <a:latin typeface="Arial"/>
            </a:endParaRPr>
          </a:p>
          <a:p>
            <a:pPr defTabSz="914400">
              <a:lnSpc>
                <a:spcPct val="100000"/>
              </a:lnSpc>
            </a:pPr>
            <a:r>
              <a:rPr lang="en-US" sz="1600" b="0" strike="noStrike" spc="-1">
                <a:solidFill>
                  <a:schemeClr val="dk1"/>
                </a:solidFill>
                <a:latin typeface="News Gothic MT"/>
              </a:rPr>
              <a:t> DH values (</a:t>
            </a:r>
            <a:r>
              <a:rPr lang="en-US" sz="1600" b="0" i="1" strike="noStrike" spc="-1">
                <a:solidFill>
                  <a:schemeClr val="dk1"/>
                </a:solidFill>
                <a:latin typeface="News Gothic MT"/>
              </a:rPr>
              <a:t>sec</a:t>
            </a:r>
            <a:r>
              <a:rPr lang="en-US" sz="1600" b="0" i="1" strike="noStrike" spc="-1" baseline="-25000">
                <a:solidFill>
                  <a:schemeClr val="dk1"/>
                </a:solidFill>
                <a:latin typeface="News Gothic MT"/>
              </a:rPr>
              <a:t>s</a:t>
            </a:r>
            <a:r>
              <a:rPr lang="en-US" sz="1600" b="0" i="1" strike="noStrike" spc="-1">
                <a:solidFill>
                  <a:schemeClr val="dk1"/>
                </a:solidFill>
                <a:latin typeface="News Gothic MT"/>
              </a:rPr>
              <a:t>,pub</a:t>
            </a:r>
            <a:r>
              <a:rPr lang="en-US" sz="1600" b="0" i="1" strike="noStrike" spc="-1" baseline="-25000">
                <a:solidFill>
                  <a:schemeClr val="dk1"/>
                </a:solidFill>
                <a:latin typeface="News Gothic MT"/>
              </a:rPr>
              <a:t>s</a:t>
            </a:r>
            <a:r>
              <a:rPr lang="en-US" sz="1600" b="0" strike="noStrike" spc="-1">
                <a:solidFill>
                  <a:schemeClr val="dk1"/>
                </a:solidFill>
                <a:latin typeface="News Gothic MT"/>
              </a:rPr>
              <a:t>)</a:t>
            </a:r>
            <a:endParaRPr lang="en-US" sz="1600" b="0" strike="noStrike" spc="-1">
              <a:solidFill>
                <a:srgbClr val="000000"/>
              </a:solidFill>
              <a:latin typeface="Arial"/>
            </a:endParaRPr>
          </a:p>
        </p:txBody>
      </p:sp>
      <p:sp>
        <p:nvSpPr>
          <p:cNvPr id="319" name="TextBox 76"/>
          <p:cNvSpPr/>
          <p:nvPr/>
        </p:nvSpPr>
        <p:spPr>
          <a:xfrm>
            <a:off x="473760" y="4374000"/>
            <a:ext cx="3032640" cy="611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0" strike="noStrike" spc="-1">
                <a:solidFill>
                  <a:schemeClr val="dk1"/>
                </a:solidFill>
                <a:latin typeface="News Gothic MT"/>
              </a:rPr>
              <a:t>-establish session key  </a:t>
            </a:r>
            <a:endParaRPr lang="en-US" sz="1600" b="0" strike="noStrike" spc="-1">
              <a:solidFill>
                <a:srgbClr val="000000"/>
              </a:solidFill>
              <a:latin typeface="Arial"/>
            </a:endParaRPr>
          </a:p>
          <a:p>
            <a:pPr defTabSz="914400">
              <a:lnSpc>
                <a:spcPct val="100000"/>
              </a:lnSpc>
            </a:pPr>
            <a:r>
              <a:rPr lang="en-US" sz="1600" b="0" strike="noStrike" spc="-1">
                <a:solidFill>
                  <a:schemeClr val="dk1"/>
                </a:solidFill>
                <a:latin typeface="News Gothic MT"/>
              </a:rPr>
              <a:t> using </a:t>
            </a:r>
            <a:r>
              <a:rPr lang="en-US" sz="1600" b="0" i="1" strike="noStrike" spc="-1">
                <a:solidFill>
                  <a:schemeClr val="dk1"/>
                </a:solidFill>
                <a:latin typeface="News Gothic MT"/>
              </a:rPr>
              <a:t>pub</a:t>
            </a:r>
            <a:r>
              <a:rPr lang="en-US" sz="1600" b="0" i="1" strike="noStrike" spc="-1" baseline="-25000">
                <a:solidFill>
                  <a:schemeClr val="dk1"/>
                </a:solidFill>
                <a:latin typeface="News Gothic MT"/>
              </a:rPr>
              <a:t>s</a:t>
            </a:r>
            <a:endParaRPr lang="en-US" sz="1600" b="0" strike="noStrike" spc="-1">
              <a:solidFill>
                <a:srgbClr val="000000"/>
              </a:solidFill>
              <a:latin typeface="Arial"/>
            </a:endParaRPr>
          </a:p>
        </p:txBody>
      </p:sp>
      <p:sp>
        <p:nvSpPr>
          <p:cNvPr id="320" name="TextBox 77"/>
          <p:cNvSpPr/>
          <p:nvPr/>
        </p:nvSpPr>
        <p:spPr>
          <a:xfrm>
            <a:off x="495720" y="2975400"/>
            <a:ext cx="2855880" cy="577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0" strike="noStrike" spc="-1">
                <a:solidFill>
                  <a:schemeClr val="dk1"/>
                </a:solidFill>
                <a:latin typeface="News Gothic MT"/>
              </a:rPr>
              <a:t>-establish initial </a:t>
            </a:r>
            <a:endParaRPr lang="en-US" sz="1600" b="0" strike="noStrike" spc="-1">
              <a:solidFill>
                <a:srgbClr val="000000"/>
              </a:solidFill>
              <a:latin typeface="Arial"/>
            </a:endParaRPr>
          </a:p>
          <a:p>
            <a:pPr defTabSz="914400">
              <a:lnSpc>
                <a:spcPct val="100000"/>
              </a:lnSpc>
            </a:pPr>
            <a:r>
              <a:rPr lang="en-US" sz="1600" b="0" strike="noStrike" spc="-1">
                <a:solidFill>
                  <a:schemeClr val="dk1"/>
                </a:solidFill>
                <a:latin typeface="News Gothic MT"/>
              </a:rPr>
              <a:t> key using </a:t>
            </a:r>
            <a:r>
              <a:rPr lang="en-US" sz="1600" b="0" i="1" strike="noStrike" spc="-1">
                <a:solidFill>
                  <a:schemeClr val="dk1"/>
                </a:solidFill>
                <a:latin typeface="News Gothic MT"/>
              </a:rPr>
              <a:t>scfg</a:t>
            </a:r>
            <a:endParaRPr lang="en-US" sz="1600" b="0" strike="noStrike" spc="-1">
              <a:solidFill>
                <a:srgbClr val="000000"/>
              </a:solidFill>
              <a:latin typeface="Arial"/>
            </a:endParaRPr>
          </a:p>
        </p:txBody>
      </p:sp>
      <p:sp>
        <p:nvSpPr>
          <p:cNvPr id="321" name="TextBox 78"/>
          <p:cNvSpPr/>
          <p:nvPr/>
        </p:nvSpPr>
        <p:spPr>
          <a:xfrm>
            <a:off x="8974440" y="2629080"/>
            <a:ext cx="2855880" cy="85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0" strike="noStrike" spc="-1">
                <a:solidFill>
                  <a:schemeClr val="dk1"/>
                </a:solidFill>
                <a:latin typeface="News Gothic MT"/>
              </a:rPr>
              <a:t>-verify </a:t>
            </a:r>
            <a:r>
              <a:rPr lang="en-US" sz="1600" b="0" i="1" strike="noStrike" spc="-1">
                <a:solidFill>
                  <a:schemeClr val="dk1"/>
                </a:solidFill>
                <a:latin typeface="News Gothic MT"/>
              </a:rPr>
              <a:t>stk</a:t>
            </a:r>
            <a:endParaRPr lang="en-US" sz="1600" b="0" strike="noStrike" spc="-1">
              <a:solidFill>
                <a:srgbClr val="000000"/>
              </a:solidFill>
              <a:latin typeface="Arial"/>
            </a:endParaRPr>
          </a:p>
          <a:p>
            <a:pPr defTabSz="914400">
              <a:lnSpc>
                <a:spcPct val="100000"/>
              </a:lnSpc>
            </a:pPr>
            <a:r>
              <a:rPr lang="en-US" sz="1600" b="0" strike="noStrike" spc="-1">
                <a:solidFill>
                  <a:schemeClr val="dk1"/>
                </a:solidFill>
                <a:latin typeface="News Gothic MT"/>
              </a:rPr>
              <a:t>-establish initial </a:t>
            </a:r>
            <a:endParaRPr lang="en-US" sz="1600" b="0" strike="noStrike" spc="-1">
              <a:solidFill>
                <a:srgbClr val="000000"/>
              </a:solidFill>
              <a:latin typeface="Arial"/>
            </a:endParaRPr>
          </a:p>
          <a:p>
            <a:pPr defTabSz="914400">
              <a:lnSpc>
                <a:spcPct val="100000"/>
              </a:lnSpc>
            </a:pPr>
            <a:r>
              <a:rPr lang="en-US" sz="1600" b="0" strike="noStrike" spc="-1">
                <a:solidFill>
                  <a:schemeClr val="dk1"/>
                </a:solidFill>
                <a:latin typeface="News Gothic MT"/>
              </a:rPr>
              <a:t> key using </a:t>
            </a:r>
            <a:r>
              <a:rPr lang="en-US" sz="1600" b="0" i="1" strike="noStrike" spc="-1">
                <a:solidFill>
                  <a:schemeClr val="dk1"/>
                </a:solidFill>
                <a:latin typeface="News Gothic MT"/>
              </a:rPr>
              <a:t>pub</a:t>
            </a:r>
            <a:r>
              <a:rPr lang="en-US" sz="1600" b="0" i="1" strike="noStrike" spc="-1" baseline="-25000">
                <a:solidFill>
                  <a:schemeClr val="dk1"/>
                </a:solidFill>
                <a:latin typeface="News Gothic MT"/>
              </a:rPr>
              <a:t>c</a:t>
            </a:r>
            <a:endParaRPr lang="en-US" sz="1600" b="0" strike="noStrike" spc="-1">
              <a:solidFill>
                <a:srgbClr val="000000"/>
              </a:solidFill>
              <a:latin typeface="Arial"/>
            </a:endParaRPr>
          </a:p>
        </p:txBody>
      </p:sp>
      <p:sp>
        <p:nvSpPr>
          <p:cNvPr id="322" name="TextBox 79"/>
          <p:cNvSpPr/>
          <p:nvPr/>
        </p:nvSpPr>
        <p:spPr>
          <a:xfrm>
            <a:off x="8974440" y="4399560"/>
            <a:ext cx="2855880" cy="610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0" strike="noStrike" spc="-1">
                <a:solidFill>
                  <a:schemeClr val="dk1"/>
                </a:solidFill>
                <a:latin typeface="News Gothic MT"/>
              </a:rPr>
              <a:t>-establish session   </a:t>
            </a:r>
            <a:endParaRPr lang="en-US" sz="1600" b="0" strike="noStrike" spc="-1">
              <a:solidFill>
                <a:srgbClr val="000000"/>
              </a:solidFill>
              <a:latin typeface="Arial"/>
            </a:endParaRPr>
          </a:p>
          <a:p>
            <a:pPr defTabSz="914400">
              <a:lnSpc>
                <a:spcPct val="100000"/>
              </a:lnSpc>
            </a:pPr>
            <a:r>
              <a:rPr lang="en-US" sz="1600" b="0" strike="noStrike" spc="-1">
                <a:solidFill>
                  <a:schemeClr val="dk1"/>
                </a:solidFill>
                <a:latin typeface="News Gothic MT"/>
              </a:rPr>
              <a:t> key using </a:t>
            </a:r>
            <a:r>
              <a:rPr lang="en-US" sz="1600" b="0" i="1" strike="noStrike" spc="-1">
                <a:solidFill>
                  <a:schemeClr val="dk1"/>
                </a:solidFill>
                <a:latin typeface="News Gothic MT"/>
              </a:rPr>
              <a:t>pub</a:t>
            </a:r>
            <a:r>
              <a:rPr lang="en-US" sz="1600" b="0" i="1" strike="noStrike" spc="-1" baseline="-25000">
                <a:solidFill>
                  <a:schemeClr val="dk1"/>
                </a:solidFill>
                <a:latin typeface="News Gothic MT"/>
              </a:rPr>
              <a:t>c</a:t>
            </a:r>
            <a:endParaRPr lang="en-US" sz="1600" b="0" strike="noStrike" spc="-1">
              <a:solidFill>
                <a:srgbClr val="000000"/>
              </a:solidFill>
              <a:latin typeface="Arial"/>
            </a:endParaRPr>
          </a:p>
        </p:txBody>
      </p:sp>
      <p:sp>
        <p:nvSpPr>
          <p:cNvPr id="323" name="TextBox 80"/>
          <p:cNvSpPr/>
          <p:nvPr/>
        </p:nvSpPr>
        <p:spPr>
          <a:xfrm>
            <a:off x="1279080" y="325080"/>
            <a:ext cx="11660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strike="noStrike" spc="-1">
                <a:solidFill>
                  <a:schemeClr val="accent2">
                    <a:lumMod val="75000"/>
                  </a:schemeClr>
                </a:solidFill>
                <a:latin typeface="News Gothic MT"/>
              </a:rPr>
              <a:t>client</a:t>
            </a:r>
            <a:endParaRPr lang="en-US" sz="1800" b="0" strike="noStrike" spc="-1">
              <a:solidFill>
                <a:srgbClr val="000000"/>
              </a:solidFill>
              <a:latin typeface="Arial"/>
            </a:endParaRPr>
          </a:p>
        </p:txBody>
      </p:sp>
      <p:sp>
        <p:nvSpPr>
          <p:cNvPr id="324" name="TextBox 81"/>
          <p:cNvSpPr/>
          <p:nvPr/>
        </p:nvSpPr>
        <p:spPr>
          <a:xfrm>
            <a:off x="9748800" y="366120"/>
            <a:ext cx="128628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strike="noStrike" spc="-1">
                <a:solidFill>
                  <a:schemeClr val="accent2">
                    <a:lumMod val="75000"/>
                  </a:schemeClr>
                </a:solidFill>
                <a:latin typeface="News Gothic MT"/>
              </a:rPr>
              <a:t>server</a:t>
            </a:r>
            <a:endParaRPr lang="en-US" sz="1800" b="0" strike="noStrike" spc="-1">
              <a:solidFill>
                <a:srgbClr val="000000"/>
              </a:solidFill>
              <a:latin typeface="Arial"/>
            </a:endParaRPr>
          </a:p>
        </p:txBody>
      </p:sp>
      <p:pic>
        <p:nvPicPr>
          <p:cNvPr id="325" name="Picture 27"/>
          <p:cNvPicPr/>
          <p:nvPr/>
        </p:nvPicPr>
        <p:blipFill>
          <a:blip r:embed="rId2"/>
          <a:stretch/>
        </p:blipFill>
        <p:spPr>
          <a:xfrm>
            <a:off x="9953640" y="791640"/>
            <a:ext cx="700200" cy="688680"/>
          </a:xfrm>
          <a:prstGeom prst="rect">
            <a:avLst/>
          </a:prstGeom>
          <a:ln w="0">
            <a:noFill/>
          </a:ln>
        </p:spPr>
      </p:pic>
      <p:pic>
        <p:nvPicPr>
          <p:cNvPr id="326" name="Picture 28"/>
          <p:cNvPicPr/>
          <p:nvPr/>
        </p:nvPicPr>
        <p:blipFill>
          <a:blip r:embed="rId3"/>
          <a:stretch/>
        </p:blipFill>
        <p:spPr>
          <a:xfrm>
            <a:off x="1536840" y="750240"/>
            <a:ext cx="628920" cy="568800"/>
          </a:xfrm>
          <a:prstGeom prst="rect">
            <a:avLst/>
          </a:prstGeom>
          <a:ln w="0">
            <a:noFill/>
          </a:ln>
        </p:spPr>
      </p:pic>
      <p:sp>
        <p:nvSpPr>
          <p:cNvPr id="327" name="TextBox 82"/>
          <p:cNvSpPr/>
          <p:nvPr/>
        </p:nvSpPr>
        <p:spPr>
          <a:xfrm>
            <a:off x="2967840" y="1609200"/>
            <a:ext cx="77076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800" b="0" strike="noStrike" spc="-1">
                <a:solidFill>
                  <a:schemeClr val="accent2">
                    <a:lumMod val="75000"/>
                  </a:schemeClr>
                </a:solidFill>
                <a:latin typeface="News Gothic MT"/>
              </a:rPr>
              <a:t>1 RTT</a:t>
            </a:r>
            <a:endParaRPr lang="en-US" sz="1800" b="0" strike="noStrike" spc="-1">
              <a:solidFill>
                <a:srgbClr val="000000"/>
              </a:solidFill>
              <a:latin typeface="Arial"/>
            </a:endParaRPr>
          </a:p>
        </p:txBody>
      </p:sp>
      <p:sp>
        <p:nvSpPr>
          <p:cNvPr id="328" name="Left Brace 4"/>
          <p:cNvSpPr/>
          <p:nvPr/>
        </p:nvSpPr>
        <p:spPr>
          <a:xfrm>
            <a:off x="3892680" y="1332360"/>
            <a:ext cx="735480" cy="1005480"/>
          </a:xfrm>
          <a:prstGeom prst="leftBrace">
            <a:avLst>
              <a:gd name="adj1" fmla="val 8333"/>
              <a:gd name="adj2" fmla="val 50000"/>
            </a:avLst>
          </a:prstGeom>
          <a:noFill/>
          <a:ln>
            <a:solidFill>
              <a:srgbClr val="000000"/>
            </a:solidFill>
            <a:round/>
          </a:ln>
        </p:spPr>
        <p:style>
          <a:lnRef idx="2">
            <a:schemeClr val="accent1"/>
          </a:lnRef>
          <a:fillRef idx="0">
            <a:schemeClr val="accent1"/>
          </a:fillRef>
          <a:effectRef idx="1">
            <a:schemeClr val="accent1"/>
          </a:effectRef>
          <a:fontRef idx="minor"/>
        </p:style>
        <p:txBody>
          <a:bodyPr lIns="90000" tIns="45000" rIns="90000" bIns="45000" anchor="ctr">
            <a:noAutofit/>
          </a:bodyPr>
          <a:lstStyle/>
          <a:p>
            <a:endParaRPr lang="en-US" sz="1800" b="0" strike="noStrike" spc="-1">
              <a:solidFill>
                <a:schemeClr val="dk1"/>
              </a:solidFill>
              <a:latin typeface="News Gothic MT"/>
            </a:endParaRPr>
          </a:p>
        </p:txBody>
      </p:sp>
      <p:cxnSp>
        <p:nvCxnSpPr>
          <p:cNvPr id="329" name="Straight Connector 2"/>
          <p:cNvCxnSpPr/>
          <p:nvPr/>
        </p:nvCxnSpPr>
        <p:spPr>
          <a:xfrm>
            <a:off x="4561920" y="3687120"/>
            <a:ext cx="360" cy="295920"/>
          </a:xfrm>
          <a:prstGeom prst="straightConnector1">
            <a:avLst/>
          </a:prstGeom>
          <a:ln w="28575">
            <a:solidFill>
              <a:srgbClr val="000000"/>
            </a:solidFill>
            <a:prstDash val="sysDot"/>
            <a:round/>
          </a:ln>
        </p:spPr>
      </p:cxn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3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3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3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328"/>
                                        </p:tgtEl>
                                        <p:attrNameLst>
                                          <p:attrName>style.visibility</p:attrName>
                                        </p:attrNameLst>
                                      </p:cBhvr>
                                      <p:to>
                                        <p:strVal val="visible"/>
                                      </p:to>
                                    </p:set>
                                    <p:anim calcmode="lin" valueType="num">
                                      <p:cBhvr additive="repl">
                                        <p:cTn id="19" dur="500" fill="hold"/>
                                        <p:tgtEl>
                                          <p:spTgt spid="328"/>
                                        </p:tgtEl>
                                        <p:attrNameLst>
                                          <p:attrName>ppt_w</p:attrName>
                                        </p:attrNameLst>
                                      </p:cBhvr>
                                      <p:tavLst>
                                        <p:tav tm="0">
                                          <p:val>
                                            <p:fltVal val="0"/>
                                          </p:val>
                                        </p:tav>
                                        <p:tav tm="100000">
                                          <p:val>
                                            <p:strVal val="#ppt_w"/>
                                          </p:val>
                                        </p:tav>
                                      </p:tavLst>
                                    </p:anim>
                                    <p:anim calcmode="lin" valueType="num">
                                      <p:cBhvr additive="repl">
                                        <p:cTn id="20" dur="500" fill="hold"/>
                                        <p:tgtEl>
                                          <p:spTgt spid="328"/>
                                        </p:tgtEl>
                                        <p:attrNameLst>
                                          <p:attrName>ppt_h</p:attrName>
                                        </p:attrNameLst>
                                      </p:cBhvr>
                                      <p:tavLst>
                                        <p:tav tm="0">
                                          <p:val>
                                            <p:fltVal val="0"/>
                                          </p:val>
                                        </p:tav>
                                        <p:tav tm="100000">
                                          <p:val>
                                            <p:strVal val="#ppt_h"/>
                                          </p:val>
                                        </p:tav>
                                      </p:tavLst>
                                    </p:anim>
                                    <p:animEffect transition="in" filter="fade">
                                      <p:cBhvr additive="repl">
                                        <p:cTn id="21" dur="500"/>
                                        <p:tgtEl>
                                          <p:spTgt spid="328"/>
                                        </p:tgtEl>
                                      </p:cBhvr>
                                    </p:animEffect>
                                  </p:childTnLst>
                                </p:cTn>
                              </p:par>
                              <p:par>
                                <p:cTn id="22" presetID="9" presetClass="entr" fill="hold" nodeType="withEffect">
                                  <p:stCondLst>
                                    <p:cond delay="0"/>
                                  </p:stCondLst>
                                  <p:childTnLst>
                                    <p:set>
                                      <p:cBhvr>
                                        <p:cTn id="23" dur="1" fill="hold">
                                          <p:stCondLst>
                                            <p:cond delay="0"/>
                                          </p:stCondLst>
                                        </p:cTn>
                                        <p:tgtEl>
                                          <p:spTgt spid="327"/>
                                        </p:tgtEl>
                                        <p:attrNameLst>
                                          <p:attrName>style.visibility</p:attrName>
                                        </p:attrNameLst>
                                      </p:cBhvr>
                                      <p:to>
                                        <p:strVal val="visible"/>
                                      </p:to>
                                    </p:set>
                                    <p:animEffect transition="in" filter="dissolve">
                                      <p:cBhvr additive="repl">
                                        <p:cTn id="24" dur="500"/>
                                        <p:tgtEl>
                                          <p:spTgt spid="3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0" name="Group 16"/>
          <p:cNvGrpSpPr/>
          <p:nvPr/>
        </p:nvGrpSpPr>
        <p:grpSpPr>
          <a:xfrm>
            <a:off x="948600" y="2085480"/>
            <a:ext cx="1450800" cy="346680"/>
            <a:chOff x="948600" y="2085480"/>
            <a:chExt cx="1450800" cy="346680"/>
          </a:xfrm>
        </p:grpSpPr>
        <p:sp>
          <p:nvSpPr>
            <p:cNvPr id="331" name="TextBox 83"/>
            <p:cNvSpPr/>
            <p:nvPr/>
          </p:nvSpPr>
          <p:spPr>
            <a:xfrm>
              <a:off x="948600" y="2098800"/>
              <a:ext cx="1450800" cy="3333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600" b="0" strike="noStrike" spc="-1">
                  <a:solidFill>
                    <a:schemeClr val="dk1"/>
                  </a:solidFill>
                  <a:latin typeface="News Gothic MT"/>
                </a:rPr>
                <a:t>cid        {0,1}</a:t>
              </a:r>
              <a:r>
                <a:rPr lang="en-US" sz="1600" b="0" strike="noStrike" spc="-1" baseline="30000">
                  <a:solidFill>
                    <a:schemeClr val="dk1"/>
                  </a:solidFill>
                  <a:latin typeface="News Gothic MT"/>
                </a:rPr>
                <a:t>64</a:t>
              </a:r>
              <a:endParaRPr lang="en-US" sz="1600" b="0" strike="noStrike" spc="-1">
                <a:solidFill>
                  <a:srgbClr val="000000"/>
                </a:solidFill>
                <a:latin typeface="Arial"/>
              </a:endParaRPr>
            </a:p>
          </p:txBody>
        </p:sp>
        <p:cxnSp>
          <p:nvCxnSpPr>
            <p:cNvPr id="332" name="Straight Arrow Connector 1"/>
            <p:cNvCxnSpPr/>
            <p:nvPr/>
          </p:nvCxnSpPr>
          <p:spPr>
            <a:xfrm flipH="1">
              <a:off x="1211040" y="2322360"/>
              <a:ext cx="428040" cy="360"/>
            </a:xfrm>
            <a:prstGeom prst="straightConnector1">
              <a:avLst/>
            </a:prstGeom>
            <a:ln w="19050">
              <a:solidFill>
                <a:srgbClr val="000000"/>
              </a:solidFill>
              <a:round/>
              <a:tailEnd type="arrow" w="med" len="med"/>
            </a:ln>
          </p:spPr>
        </p:cxnSp>
        <p:sp>
          <p:nvSpPr>
            <p:cNvPr id="333" name="TextBox 84"/>
            <p:cNvSpPr/>
            <p:nvPr/>
          </p:nvSpPr>
          <p:spPr>
            <a:xfrm>
              <a:off x="1367640" y="2085480"/>
              <a:ext cx="267840" cy="2725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200" b="0" strike="noStrike" spc="-1">
                  <a:solidFill>
                    <a:schemeClr val="dk1"/>
                  </a:solidFill>
                  <a:latin typeface="News Gothic MT"/>
                </a:rPr>
                <a:t>$</a:t>
              </a:r>
              <a:endParaRPr lang="en-US" sz="1200" b="0" strike="noStrike" spc="-1">
                <a:solidFill>
                  <a:srgbClr val="000000"/>
                </a:solidFill>
                <a:latin typeface="Arial"/>
              </a:endParaRPr>
            </a:p>
          </p:txBody>
        </p:sp>
      </p:grpSp>
      <p:sp>
        <p:nvSpPr>
          <p:cNvPr id="334" name="TextBox 85"/>
          <p:cNvSpPr/>
          <p:nvPr/>
        </p:nvSpPr>
        <p:spPr>
          <a:xfrm>
            <a:off x="495720" y="2124000"/>
            <a:ext cx="2855880" cy="85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0" strike="noStrike" spc="-1">
                <a:solidFill>
                  <a:schemeClr val="dk1"/>
                </a:solidFill>
                <a:latin typeface="News Gothic MT"/>
              </a:rPr>
              <a:t>-</a:t>
            </a:r>
            <a:endParaRPr lang="en-US" sz="1600" b="0" strike="noStrike" spc="-1">
              <a:solidFill>
                <a:srgbClr val="000000"/>
              </a:solidFill>
              <a:latin typeface="Arial"/>
            </a:endParaRPr>
          </a:p>
          <a:p>
            <a:pPr defTabSz="914400">
              <a:lnSpc>
                <a:spcPct val="100000"/>
              </a:lnSpc>
            </a:pPr>
            <a:r>
              <a:rPr lang="en-US" sz="1600" b="0" strike="noStrike" spc="-1">
                <a:solidFill>
                  <a:schemeClr val="dk1"/>
                </a:solidFill>
                <a:latin typeface="News Gothic MT"/>
              </a:rPr>
              <a:t>-generate DH values</a:t>
            </a:r>
            <a:endParaRPr lang="en-US" sz="1600" b="0" strike="noStrike" spc="-1">
              <a:solidFill>
                <a:srgbClr val="000000"/>
              </a:solidFill>
              <a:latin typeface="Arial"/>
            </a:endParaRPr>
          </a:p>
          <a:p>
            <a:pPr defTabSz="914400">
              <a:lnSpc>
                <a:spcPct val="100000"/>
              </a:lnSpc>
            </a:pPr>
            <a:r>
              <a:rPr lang="en-US" sz="1600" b="0" strike="noStrike" spc="-1">
                <a:solidFill>
                  <a:schemeClr val="dk1"/>
                </a:solidFill>
                <a:latin typeface="News Gothic MT"/>
              </a:rPr>
              <a:t> (</a:t>
            </a:r>
            <a:r>
              <a:rPr lang="en-US" sz="1600" b="0" i="1" strike="noStrike" spc="-1">
                <a:solidFill>
                  <a:schemeClr val="dk1"/>
                </a:solidFill>
                <a:latin typeface="News Gothic MT"/>
              </a:rPr>
              <a:t>sec</a:t>
            </a:r>
            <a:r>
              <a:rPr lang="en-US" sz="1600" b="0" i="1" strike="noStrike" spc="-1" baseline="-25000">
                <a:solidFill>
                  <a:schemeClr val="dk1"/>
                </a:solidFill>
                <a:latin typeface="News Gothic MT"/>
              </a:rPr>
              <a:t>c</a:t>
            </a:r>
            <a:r>
              <a:rPr lang="en-US" sz="1600" b="0" i="1" strike="noStrike" spc="-1">
                <a:solidFill>
                  <a:schemeClr val="dk1"/>
                </a:solidFill>
                <a:latin typeface="News Gothic MT"/>
              </a:rPr>
              <a:t>, pub</a:t>
            </a:r>
            <a:r>
              <a:rPr lang="en-US" sz="1600" b="0" i="1" strike="noStrike" spc="-1" baseline="-25000">
                <a:solidFill>
                  <a:schemeClr val="dk1"/>
                </a:solidFill>
                <a:latin typeface="News Gothic MT"/>
              </a:rPr>
              <a:t>c</a:t>
            </a:r>
            <a:r>
              <a:rPr lang="en-US" sz="1600" b="0" strike="noStrike" spc="-1">
                <a:solidFill>
                  <a:schemeClr val="dk1"/>
                </a:solidFill>
                <a:latin typeface="News Gothic MT"/>
              </a:rPr>
              <a:t>)</a:t>
            </a:r>
            <a:endParaRPr lang="en-US" sz="1600" b="0" strike="noStrike" spc="-1">
              <a:solidFill>
                <a:srgbClr val="000000"/>
              </a:solidFill>
              <a:latin typeface="Arial"/>
            </a:endParaRPr>
          </a:p>
        </p:txBody>
      </p:sp>
      <p:cxnSp>
        <p:nvCxnSpPr>
          <p:cNvPr id="335" name="Straight Arrow Connector 3"/>
          <p:cNvCxnSpPr/>
          <p:nvPr/>
        </p:nvCxnSpPr>
        <p:spPr>
          <a:xfrm>
            <a:off x="3014640" y="2830680"/>
            <a:ext cx="3233520" cy="360"/>
          </a:xfrm>
          <a:prstGeom prst="straightConnector1">
            <a:avLst/>
          </a:prstGeom>
          <a:ln w="28575">
            <a:solidFill>
              <a:srgbClr val="000000"/>
            </a:solidFill>
            <a:round/>
            <a:tailEnd type="arrow" w="med" len="med"/>
          </a:ln>
        </p:spPr>
      </p:cxnSp>
      <p:cxnSp>
        <p:nvCxnSpPr>
          <p:cNvPr id="336" name="Straight Arrow Connector 4"/>
          <p:cNvCxnSpPr/>
          <p:nvPr/>
        </p:nvCxnSpPr>
        <p:spPr>
          <a:xfrm>
            <a:off x="3014640" y="4420080"/>
            <a:ext cx="3233520" cy="360"/>
          </a:xfrm>
          <a:prstGeom prst="straightConnector1">
            <a:avLst/>
          </a:prstGeom>
          <a:ln w="28575">
            <a:solidFill>
              <a:srgbClr val="000000"/>
            </a:solidFill>
            <a:round/>
            <a:headEnd type="arrow" w="med" len="med"/>
          </a:ln>
        </p:spPr>
      </p:cxnSp>
      <p:sp>
        <p:nvSpPr>
          <p:cNvPr id="337" name="TextBox 86"/>
          <p:cNvSpPr/>
          <p:nvPr/>
        </p:nvSpPr>
        <p:spPr>
          <a:xfrm>
            <a:off x="4860360" y="2435760"/>
            <a:ext cx="2656080" cy="3668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600" b="0" strike="noStrike" spc="-1">
                <a:solidFill>
                  <a:schemeClr val="dk1"/>
                </a:solidFill>
                <a:latin typeface="News Gothic MT"/>
              </a:rPr>
              <a:t>c_hello: (</a:t>
            </a:r>
            <a:r>
              <a:rPr lang="en-US" sz="1600" b="0" i="1" strike="noStrike" spc="-1">
                <a:solidFill>
                  <a:schemeClr val="dk1"/>
                </a:solidFill>
                <a:latin typeface="News Gothic MT"/>
              </a:rPr>
              <a:t>cid, stk, scfg, pub</a:t>
            </a:r>
            <a:r>
              <a:rPr lang="en-US" sz="1600" b="0" i="1" strike="noStrike" spc="-1" baseline="-25000">
                <a:solidFill>
                  <a:schemeClr val="dk1"/>
                </a:solidFill>
                <a:latin typeface="News Gothic MT"/>
              </a:rPr>
              <a:t>c</a:t>
            </a:r>
            <a:r>
              <a:rPr lang="en-US" sz="1600" b="0" strike="noStrike" spc="-1">
                <a:solidFill>
                  <a:schemeClr val="dk1"/>
                </a:solidFill>
                <a:latin typeface="News Gothic MT"/>
              </a:rPr>
              <a:t>)</a:t>
            </a:r>
            <a:endParaRPr lang="en-US" sz="1600" b="0" strike="noStrike" spc="-1">
              <a:solidFill>
                <a:srgbClr val="000000"/>
              </a:solidFill>
              <a:latin typeface="Arial"/>
            </a:endParaRPr>
          </a:p>
        </p:txBody>
      </p:sp>
      <p:sp>
        <p:nvSpPr>
          <p:cNvPr id="338" name="TextBox 87"/>
          <p:cNvSpPr/>
          <p:nvPr/>
        </p:nvSpPr>
        <p:spPr>
          <a:xfrm>
            <a:off x="5542200" y="3998880"/>
            <a:ext cx="1830240" cy="3668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600" b="0" strike="noStrike" spc="-1">
                <a:solidFill>
                  <a:schemeClr val="dk1"/>
                </a:solidFill>
                <a:latin typeface="News Gothic MT"/>
              </a:rPr>
              <a:t>s_hello: (</a:t>
            </a:r>
            <a:r>
              <a:rPr lang="en-US" sz="1600" b="0" i="1" strike="noStrike" spc="-1">
                <a:solidFill>
                  <a:schemeClr val="dk1"/>
                </a:solidFill>
                <a:latin typeface="News Gothic MT"/>
              </a:rPr>
              <a:t>cid, pub</a:t>
            </a:r>
            <a:r>
              <a:rPr lang="en-US" sz="1600" b="0" i="1" strike="noStrike" spc="-1" baseline="-25000">
                <a:solidFill>
                  <a:schemeClr val="dk1"/>
                </a:solidFill>
                <a:latin typeface="News Gothic MT"/>
              </a:rPr>
              <a:t>s</a:t>
            </a:r>
            <a:r>
              <a:rPr lang="en-US" sz="1600" b="0" strike="noStrike" spc="-1">
                <a:solidFill>
                  <a:schemeClr val="dk1"/>
                </a:solidFill>
                <a:latin typeface="News Gothic MT"/>
              </a:rPr>
              <a:t>)</a:t>
            </a:r>
            <a:endParaRPr lang="en-US" sz="1600" b="0" strike="noStrike" spc="-1">
              <a:solidFill>
                <a:srgbClr val="000000"/>
              </a:solidFill>
              <a:latin typeface="Arial"/>
            </a:endParaRPr>
          </a:p>
        </p:txBody>
      </p:sp>
      <p:cxnSp>
        <p:nvCxnSpPr>
          <p:cNvPr id="339" name="Straight Arrow Connector 5"/>
          <p:cNvCxnSpPr/>
          <p:nvPr/>
        </p:nvCxnSpPr>
        <p:spPr>
          <a:xfrm>
            <a:off x="3014640" y="3540240"/>
            <a:ext cx="3233520" cy="360"/>
          </a:xfrm>
          <a:prstGeom prst="straightConnector1">
            <a:avLst/>
          </a:prstGeom>
          <a:ln w="28575">
            <a:solidFill>
              <a:srgbClr val="000000"/>
            </a:solidFill>
            <a:prstDash val="sysDash"/>
            <a:round/>
            <a:headEnd type="arrow" w="med" len="med"/>
            <a:tailEnd type="arrow" w="med" len="med"/>
          </a:ln>
        </p:spPr>
      </p:cxnSp>
      <p:sp>
        <p:nvSpPr>
          <p:cNvPr id="340" name="TextBox 88"/>
          <p:cNvSpPr/>
          <p:nvPr/>
        </p:nvSpPr>
        <p:spPr>
          <a:xfrm>
            <a:off x="5101200" y="3119400"/>
            <a:ext cx="2145600" cy="3333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600" b="0" strike="noStrike" spc="-1">
                <a:solidFill>
                  <a:schemeClr val="dk1"/>
                </a:solidFill>
                <a:latin typeface="News Gothic MT"/>
              </a:rPr>
              <a:t>initial data exchange</a:t>
            </a:r>
            <a:endParaRPr lang="en-US" sz="1600" b="0" strike="noStrike" spc="-1">
              <a:solidFill>
                <a:srgbClr val="000000"/>
              </a:solidFill>
              <a:latin typeface="Arial"/>
            </a:endParaRPr>
          </a:p>
        </p:txBody>
      </p:sp>
      <p:cxnSp>
        <p:nvCxnSpPr>
          <p:cNvPr id="341" name="Straight Arrow Connector 11"/>
          <p:cNvCxnSpPr/>
          <p:nvPr/>
        </p:nvCxnSpPr>
        <p:spPr>
          <a:xfrm>
            <a:off x="3014640" y="4905720"/>
            <a:ext cx="3233520" cy="360"/>
          </a:xfrm>
          <a:prstGeom prst="straightConnector1">
            <a:avLst/>
          </a:prstGeom>
          <a:ln w="28575">
            <a:solidFill>
              <a:srgbClr val="000000"/>
            </a:solidFill>
            <a:prstDash val="sysDash"/>
            <a:round/>
            <a:headEnd type="arrow" w="med" len="med"/>
            <a:tailEnd type="arrow" w="med" len="med"/>
          </a:ln>
        </p:spPr>
      </p:cxnSp>
      <p:sp>
        <p:nvSpPr>
          <p:cNvPr id="342" name="TextBox 89"/>
          <p:cNvSpPr/>
          <p:nvPr/>
        </p:nvSpPr>
        <p:spPr>
          <a:xfrm>
            <a:off x="5302080" y="4511520"/>
            <a:ext cx="1572480" cy="3333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600" b="0" strike="noStrike" spc="-1">
                <a:solidFill>
                  <a:schemeClr val="dk1"/>
                </a:solidFill>
                <a:latin typeface="News Gothic MT"/>
              </a:rPr>
              <a:t>data exchange</a:t>
            </a:r>
            <a:endParaRPr lang="en-US" sz="1600" b="0" strike="noStrike" spc="-1">
              <a:solidFill>
                <a:srgbClr val="000000"/>
              </a:solidFill>
              <a:latin typeface="Arial"/>
            </a:endParaRPr>
          </a:p>
        </p:txBody>
      </p:sp>
      <p:sp>
        <p:nvSpPr>
          <p:cNvPr id="343" name="TextBox 90"/>
          <p:cNvSpPr/>
          <p:nvPr/>
        </p:nvSpPr>
        <p:spPr>
          <a:xfrm>
            <a:off x="8917560" y="3640320"/>
            <a:ext cx="3119760" cy="610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0" strike="noStrike" spc="-1">
                <a:solidFill>
                  <a:schemeClr val="dk1"/>
                </a:solidFill>
                <a:latin typeface="News Gothic MT"/>
              </a:rPr>
              <a:t>-generate session</a:t>
            </a:r>
            <a:endParaRPr lang="en-US" sz="1600" b="0" strike="noStrike" spc="-1">
              <a:solidFill>
                <a:srgbClr val="000000"/>
              </a:solidFill>
              <a:latin typeface="Arial"/>
            </a:endParaRPr>
          </a:p>
          <a:p>
            <a:pPr defTabSz="914400">
              <a:lnSpc>
                <a:spcPct val="100000"/>
              </a:lnSpc>
            </a:pPr>
            <a:r>
              <a:rPr lang="en-US" sz="1600" b="0" strike="noStrike" spc="-1">
                <a:solidFill>
                  <a:schemeClr val="dk1"/>
                </a:solidFill>
                <a:latin typeface="News Gothic MT"/>
              </a:rPr>
              <a:t> DH values (</a:t>
            </a:r>
            <a:r>
              <a:rPr lang="en-US" sz="1600" b="0" i="1" strike="noStrike" spc="-1">
                <a:solidFill>
                  <a:schemeClr val="dk1"/>
                </a:solidFill>
                <a:latin typeface="News Gothic MT"/>
              </a:rPr>
              <a:t>sec</a:t>
            </a:r>
            <a:r>
              <a:rPr lang="en-US" sz="1600" b="0" i="1" strike="noStrike" spc="-1" baseline="-25000">
                <a:solidFill>
                  <a:schemeClr val="dk1"/>
                </a:solidFill>
                <a:latin typeface="News Gothic MT"/>
              </a:rPr>
              <a:t>s</a:t>
            </a:r>
            <a:r>
              <a:rPr lang="en-US" sz="1600" b="0" i="1" strike="noStrike" spc="-1">
                <a:solidFill>
                  <a:schemeClr val="dk1"/>
                </a:solidFill>
                <a:latin typeface="News Gothic MT"/>
              </a:rPr>
              <a:t>,pub</a:t>
            </a:r>
            <a:r>
              <a:rPr lang="en-US" sz="1600" b="0" i="1" strike="noStrike" spc="-1" baseline="-25000">
                <a:solidFill>
                  <a:schemeClr val="dk1"/>
                </a:solidFill>
                <a:latin typeface="News Gothic MT"/>
              </a:rPr>
              <a:t>s</a:t>
            </a:r>
            <a:r>
              <a:rPr lang="en-US" sz="1600" b="0" strike="noStrike" spc="-1">
                <a:solidFill>
                  <a:schemeClr val="dk1"/>
                </a:solidFill>
                <a:latin typeface="News Gothic MT"/>
              </a:rPr>
              <a:t>)</a:t>
            </a:r>
            <a:endParaRPr lang="en-US" sz="1600" b="0" strike="noStrike" spc="-1">
              <a:solidFill>
                <a:srgbClr val="000000"/>
              </a:solidFill>
              <a:latin typeface="Arial"/>
            </a:endParaRPr>
          </a:p>
        </p:txBody>
      </p:sp>
      <p:sp>
        <p:nvSpPr>
          <p:cNvPr id="344" name="TextBox 91"/>
          <p:cNvSpPr/>
          <p:nvPr/>
        </p:nvSpPr>
        <p:spPr>
          <a:xfrm>
            <a:off x="473760" y="4374000"/>
            <a:ext cx="3032640" cy="611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0" strike="noStrike" spc="-1">
                <a:solidFill>
                  <a:schemeClr val="dk1"/>
                </a:solidFill>
                <a:latin typeface="News Gothic MT"/>
              </a:rPr>
              <a:t>-establish session key  </a:t>
            </a:r>
            <a:endParaRPr lang="en-US" sz="1600" b="0" strike="noStrike" spc="-1">
              <a:solidFill>
                <a:srgbClr val="000000"/>
              </a:solidFill>
              <a:latin typeface="Arial"/>
            </a:endParaRPr>
          </a:p>
          <a:p>
            <a:pPr defTabSz="914400">
              <a:lnSpc>
                <a:spcPct val="100000"/>
              </a:lnSpc>
            </a:pPr>
            <a:r>
              <a:rPr lang="en-US" sz="1600" b="0" strike="noStrike" spc="-1">
                <a:solidFill>
                  <a:schemeClr val="dk1"/>
                </a:solidFill>
                <a:latin typeface="News Gothic MT"/>
              </a:rPr>
              <a:t> using </a:t>
            </a:r>
            <a:r>
              <a:rPr lang="en-US" sz="1600" b="0" i="1" strike="noStrike" spc="-1">
                <a:solidFill>
                  <a:schemeClr val="dk1"/>
                </a:solidFill>
                <a:latin typeface="News Gothic MT"/>
              </a:rPr>
              <a:t>pub</a:t>
            </a:r>
            <a:r>
              <a:rPr lang="en-US" sz="1600" b="0" i="1" strike="noStrike" spc="-1" baseline="-25000">
                <a:solidFill>
                  <a:schemeClr val="dk1"/>
                </a:solidFill>
                <a:latin typeface="News Gothic MT"/>
              </a:rPr>
              <a:t>s</a:t>
            </a:r>
            <a:endParaRPr lang="en-US" sz="1600" b="0" strike="noStrike" spc="-1">
              <a:solidFill>
                <a:srgbClr val="000000"/>
              </a:solidFill>
              <a:latin typeface="Arial"/>
            </a:endParaRPr>
          </a:p>
        </p:txBody>
      </p:sp>
      <p:sp>
        <p:nvSpPr>
          <p:cNvPr id="345" name="TextBox 92"/>
          <p:cNvSpPr/>
          <p:nvPr/>
        </p:nvSpPr>
        <p:spPr>
          <a:xfrm>
            <a:off x="495720" y="2975400"/>
            <a:ext cx="2855880" cy="577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0" strike="noStrike" spc="-1">
                <a:solidFill>
                  <a:schemeClr val="dk1"/>
                </a:solidFill>
                <a:latin typeface="News Gothic MT"/>
              </a:rPr>
              <a:t>-establish initial </a:t>
            </a:r>
            <a:endParaRPr lang="en-US" sz="1600" b="0" strike="noStrike" spc="-1">
              <a:solidFill>
                <a:srgbClr val="000000"/>
              </a:solidFill>
              <a:latin typeface="Arial"/>
            </a:endParaRPr>
          </a:p>
          <a:p>
            <a:pPr defTabSz="914400">
              <a:lnSpc>
                <a:spcPct val="100000"/>
              </a:lnSpc>
            </a:pPr>
            <a:r>
              <a:rPr lang="en-US" sz="1600" b="0" strike="noStrike" spc="-1">
                <a:solidFill>
                  <a:schemeClr val="dk1"/>
                </a:solidFill>
                <a:latin typeface="News Gothic MT"/>
              </a:rPr>
              <a:t> key using </a:t>
            </a:r>
            <a:r>
              <a:rPr lang="en-US" sz="1600" b="0" i="1" strike="noStrike" spc="-1">
                <a:solidFill>
                  <a:schemeClr val="dk1"/>
                </a:solidFill>
                <a:latin typeface="News Gothic MT"/>
              </a:rPr>
              <a:t>scfg</a:t>
            </a:r>
            <a:endParaRPr lang="en-US" sz="1600" b="0" strike="noStrike" spc="-1">
              <a:solidFill>
                <a:srgbClr val="000000"/>
              </a:solidFill>
              <a:latin typeface="Arial"/>
            </a:endParaRPr>
          </a:p>
        </p:txBody>
      </p:sp>
      <p:sp>
        <p:nvSpPr>
          <p:cNvPr id="346" name="TextBox 93"/>
          <p:cNvSpPr/>
          <p:nvPr/>
        </p:nvSpPr>
        <p:spPr>
          <a:xfrm>
            <a:off x="8974440" y="4399560"/>
            <a:ext cx="2855880" cy="610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0" strike="noStrike" spc="-1">
                <a:solidFill>
                  <a:schemeClr val="dk1"/>
                </a:solidFill>
                <a:latin typeface="News Gothic MT"/>
              </a:rPr>
              <a:t>-establish session   </a:t>
            </a:r>
            <a:endParaRPr lang="en-US" sz="1600" b="0" strike="noStrike" spc="-1">
              <a:solidFill>
                <a:srgbClr val="000000"/>
              </a:solidFill>
              <a:latin typeface="Arial"/>
            </a:endParaRPr>
          </a:p>
          <a:p>
            <a:pPr defTabSz="914400">
              <a:lnSpc>
                <a:spcPct val="100000"/>
              </a:lnSpc>
            </a:pPr>
            <a:r>
              <a:rPr lang="en-US" sz="1600" b="0" strike="noStrike" spc="-1">
                <a:solidFill>
                  <a:schemeClr val="dk1"/>
                </a:solidFill>
                <a:latin typeface="News Gothic MT"/>
              </a:rPr>
              <a:t> key using </a:t>
            </a:r>
            <a:r>
              <a:rPr lang="en-US" sz="1600" b="0" i="1" strike="noStrike" spc="-1">
                <a:solidFill>
                  <a:schemeClr val="dk1"/>
                </a:solidFill>
                <a:latin typeface="News Gothic MT"/>
              </a:rPr>
              <a:t>pub</a:t>
            </a:r>
            <a:r>
              <a:rPr lang="en-US" sz="1600" b="0" i="1" strike="noStrike" spc="-1" baseline="-25000">
                <a:solidFill>
                  <a:schemeClr val="dk1"/>
                </a:solidFill>
                <a:latin typeface="News Gothic MT"/>
              </a:rPr>
              <a:t>c</a:t>
            </a:r>
            <a:endParaRPr lang="en-US" sz="1600" b="0" strike="noStrike" spc="-1">
              <a:solidFill>
                <a:srgbClr val="000000"/>
              </a:solidFill>
              <a:latin typeface="Arial"/>
            </a:endParaRPr>
          </a:p>
        </p:txBody>
      </p:sp>
      <p:sp>
        <p:nvSpPr>
          <p:cNvPr id="347" name="TextBox 94"/>
          <p:cNvSpPr/>
          <p:nvPr/>
        </p:nvSpPr>
        <p:spPr>
          <a:xfrm>
            <a:off x="1279080" y="325080"/>
            <a:ext cx="11660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strike="noStrike" spc="-1">
                <a:solidFill>
                  <a:schemeClr val="accent2">
                    <a:lumMod val="75000"/>
                  </a:schemeClr>
                </a:solidFill>
                <a:latin typeface="News Gothic MT"/>
              </a:rPr>
              <a:t>client</a:t>
            </a:r>
            <a:endParaRPr lang="en-US" sz="1800" b="0" strike="noStrike" spc="-1">
              <a:solidFill>
                <a:srgbClr val="000000"/>
              </a:solidFill>
              <a:latin typeface="Arial"/>
            </a:endParaRPr>
          </a:p>
        </p:txBody>
      </p:sp>
      <p:sp>
        <p:nvSpPr>
          <p:cNvPr id="348" name="TextBox 95"/>
          <p:cNvSpPr/>
          <p:nvPr/>
        </p:nvSpPr>
        <p:spPr>
          <a:xfrm>
            <a:off x="9748800" y="366120"/>
            <a:ext cx="128628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strike="noStrike" spc="-1">
                <a:solidFill>
                  <a:schemeClr val="accent2">
                    <a:lumMod val="75000"/>
                  </a:schemeClr>
                </a:solidFill>
                <a:latin typeface="News Gothic MT"/>
              </a:rPr>
              <a:t>server</a:t>
            </a:r>
            <a:endParaRPr lang="en-US" sz="1800" b="0" strike="noStrike" spc="-1">
              <a:solidFill>
                <a:srgbClr val="000000"/>
              </a:solidFill>
              <a:latin typeface="Arial"/>
            </a:endParaRPr>
          </a:p>
        </p:txBody>
      </p:sp>
      <p:pic>
        <p:nvPicPr>
          <p:cNvPr id="349" name="Picture 29"/>
          <p:cNvPicPr/>
          <p:nvPr/>
        </p:nvPicPr>
        <p:blipFill>
          <a:blip r:embed="rId2"/>
          <a:stretch/>
        </p:blipFill>
        <p:spPr>
          <a:xfrm>
            <a:off x="9953640" y="791640"/>
            <a:ext cx="700200" cy="688680"/>
          </a:xfrm>
          <a:prstGeom prst="rect">
            <a:avLst/>
          </a:prstGeom>
          <a:ln w="0">
            <a:noFill/>
          </a:ln>
        </p:spPr>
      </p:pic>
      <p:pic>
        <p:nvPicPr>
          <p:cNvPr id="350" name="Picture 30"/>
          <p:cNvPicPr/>
          <p:nvPr/>
        </p:nvPicPr>
        <p:blipFill>
          <a:blip r:embed="rId3"/>
          <a:stretch/>
        </p:blipFill>
        <p:spPr>
          <a:xfrm>
            <a:off x="1536840" y="750240"/>
            <a:ext cx="628920" cy="568800"/>
          </a:xfrm>
          <a:prstGeom prst="rect">
            <a:avLst/>
          </a:prstGeom>
          <a:ln w="0">
            <a:noFill/>
          </a:ln>
        </p:spPr>
      </p:pic>
      <p:sp>
        <p:nvSpPr>
          <p:cNvPr id="351" name="TextBox 96"/>
          <p:cNvSpPr/>
          <p:nvPr/>
        </p:nvSpPr>
        <p:spPr>
          <a:xfrm>
            <a:off x="3366360" y="5297040"/>
            <a:ext cx="5737680" cy="1247760"/>
          </a:xfrm>
          <a:prstGeom prst="rect">
            <a:avLst/>
          </a:prstGeom>
          <a:noFill/>
          <a:ln w="28575">
            <a:solidFill>
              <a:srgbClr val="800000"/>
            </a:solidFill>
            <a:round/>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800" b="0" strike="noStrike" spc="-1">
                <a:solidFill>
                  <a:srgbClr val="800000"/>
                </a:solidFill>
                <a:latin typeface="News Gothic MT"/>
              </a:rPr>
              <a:t> -client cannot initially check </a:t>
            </a:r>
            <a:r>
              <a:rPr lang="en-US" sz="1800" b="0" i="1" strike="noStrike" spc="-1">
                <a:solidFill>
                  <a:srgbClr val="800000"/>
                </a:solidFill>
                <a:latin typeface="News Gothic MT"/>
              </a:rPr>
              <a:t>stk</a:t>
            </a:r>
            <a:r>
              <a:rPr lang="en-US" sz="1800" b="0" strike="noStrike" spc="-1">
                <a:solidFill>
                  <a:srgbClr val="800000"/>
                </a:solidFill>
                <a:latin typeface="News Gothic MT"/>
              </a:rPr>
              <a:t> authenticity, so this </a:t>
            </a:r>
            <a:endParaRPr lang="en-US" sz="1800" b="0" strike="noStrike" spc="-1">
              <a:solidFill>
                <a:srgbClr val="000000"/>
              </a:solidFill>
              <a:latin typeface="Arial"/>
            </a:endParaRPr>
          </a:p>
          <a:p>
            <a:pPr defTabSz="914400">
              <a:lnSpc>
                <a:spcPct val="100000"/>
              </a:lnSpc>
            </a:pPr>
            <a:r>
              <a:rPr lang="en-US" sz="1800" b="0" strike="noStrike" spc="-1">
                <a:solidFill>
                  <a:srgbClr val="800000"/>
                </a:solidFill>
                <a:latin typeface="News Gothic MT"/>
              </a:rPr>
              <a:t>  can lead to inconsistent view of the handshake</a:t>
            </a:r>
            <a:endParaRPr lang="en-US" sz="1800" b="0" strike="noStrike" spc="-1">
              <a:solidFill>
                <a:srgbClr val="000000"/>
              </a:solidFill>
              <a:latin typeface="Arial"/>
            </a:endParaRPr>
          </a:p>
          <a:p>
            <a:pPr defTabSz="914400">
              <a:lnSpc>
                <a:spcPct val="100000"/>
              </a:lnSpc>
            </a:pPr>
            <a:r>
              <a:rPr lang="en-US" sz="2200" b="0" strike="noStrike" spc="-1">
                <a:solidFill>
                  <a:srgbClr val="800000"/>
                </a:solidFill>
                <a:latin typeface="News Gothic MT"/>
              </a:rPr>
              <a:t> -</a:t>
            </a:r>
            <a:r>
              <a:rPr lang="en-US" sz="1800" b="0" strike="noStrike" spc="-1">
                <a:solidFill>
                  <a:srgbClr val="800000"/>
                </a:solidFill>
                <a:latin typeface="News Gothic MT"/>
              </a:rPr>
              <a:t>compromising the server before </a:t>
            </a:r>
            <a:r>
              <a:rPr lang="en-US" sz="1800" b="0" i="1" strike="noStrike" spc="-1">
                <a:solidFill>
                  <a:srgbClr val="800000"/>
                </a:solidFill>
                <a:latin typeface="News Gothic MT"/>
              </a:rPr>
              <a:t>scfg</a:t>
            </a:r>
            <a:r>
              <a:rPr lang="en-US" sz="1800" b="0" strike="noStrike" spc="-1">
                <a:solidFill>
                  <a:srgbClr val="800000"/>
                </a:solidFill>
                <a:latin typeface="News Gothic MT"/>
              </a:rPr>
              <a:t> expires can </a:t>
            </a:r>
            <a:endParaRPr lang="en-US" sz="1800" b="0" strike="noStrike" spc="-1">
              <a:solidFill>
                <a:srgbClr val="000000"/>
              </a:solidFill>
              <a:latin typeface="Arial"/>
            </a:endParaRPr>
          </a:p>
          <a:p>
            <a:pPr defTabSz="914400">
              <a:lnSpc>
                <a:spcPct val="100000"/>
              </a:lnSpc>
            </a:pPr>
            <a:r>
              <a:rPr lang="en-US" sz="1800" b="0" strike="noStrike" spc="-1">
                <a:solidFill>
                  <a:srgbClr val="800000"/>
                </a:solidFill>
                <a:latin typeface="News Gothic MT"/>
              </a:rPr>
              <a:t>  reveal data encrypted with initial key</a:t>
            </a:r>
            <a:endParaRPr lang="en-US" sz="1800" b="0" strike="noStrike" spc="-1">
              <a:solidFill>
                <a:srgbClr val="000000"/>
              </a:solidFill>
              <a:latin typeface="Arial"/>
            </a:endParaRPr>
          </a:p>
        </p:txBody>
      </p:sp>
      <p:sp>
        <p:nvSpPr>
          <p:cNvPr id="352" name="PlaceHolder 1"/>
          <p:cNvSpPr>
            <a:spLocks noGrp="1"/>
          </p:cNvSpPr>
          <p:nvPr>
            <p:ph type="title"/>
          </p:nvPr>
        </p:nvSpPr>
        <p:spPr>
          <a:xfrm>
            <a:off x="732240" y="210600"/>
            <a:ext cx="10722960" cy="980640"/>
          </a:xfrm>
          <a:prstGeom prst="rect">
            <a:avLst/>
          </a:prstGeom>
          <a:noFill/>
          <a:ln w="0">
            <a:noFill/>
          </a:ln>
        </p:spPr>
        <p:txBody>
          <a:bodyPr lIns="91440" tIns="45720" rIns="91440" bIns="45720" anchor="b">
            <a:noAutofit/>
          </a:bodyPr>
          <a:lstStyle/>
          <a:p>
            <a:pPr indent="0" algn="ctr" defTabSz="914400">
              <a:lnSpc>
                <a:spcPct val="100000"/>
              </a:lnSpc>
              <a:buNone/>
            </a:pPr>
            <a:r>
              <a:rPr lang="en-US" sz="4000" b="0" strike="noStrike" spc="-1">
                <a:solidFill>
                  <a:schemeClr val="accent2">
                    <a:lumMod val="75000"/>
                  </a:schemeClr>
                </a:solidFill>
                <a:latin typeface="News Gothic MT"/>
              </a:rPr>
              <a:t>QUIC Protocol</a:t>
            </a:r>
            <a:br>
              <a:rPr sz="4000"/>
            </a:br>
            <a:r>
              <a:rPr lang="en-US" sz="2000" b="0" strike="noStrike" spc="-1">
                <a:solidFill>
                  <a:schemeClr val="accent2">
                    <a:lumMod val="75000"/>
                  </a:schemeClr>
                </a:solidFill>
                <a:latin typeface="News Gothic MT"/>
              </a:rPr>
              <a:t>Connection Resumption</a:t>
            </a:r>
            <a:endParaRPr lang="en-US" sz="2000" b="0" strike="noStrike" spc="-1">
              <a:solidFill>
                <a:schemeClr val="dk1"/>
              </a:solidFill>
              <a:latin typeface="News Gothic MT"/>
            </a:endParaRPr>
          </a:p>
        </p:txBody>
      </p:sp>
      <p:cxnSp>
        <p:nvCxnSpPr>
          <p:cNvPr id="353" name="Straight Connector 1"/>
          <p:cNvCxnSpPr/>
          <p:nvPr/>
        </p:nvCxnSpPr>
        <p:spPr>
          <a:xfrm>
            <a:off x="4561920" y="3687120"/>
            <a:ext cx="360" cy="295920"/>
          </a:xfrm>
          <a:prstGeom prst="straightConnector1">
            <a:avLst/>
          </a:prstGeom>
          <a:ln w="28575">
            <a:solidFill>
              <a:srgbClr val="000000"/>
            </a:solidFill>
            <a:prstDash val="sysDot"/>
            <a:round/>
          </a:ln>
        </p:spPr>
      </p:cxnSp>
      <p:sp>
        <p:nvSpPr>
          <p:cNvPr id="354" name="TextBox 97"/>
          <p:cNvSpPr/>
          <p:nvPr/>
        </p:nvSpPr>
        <p:spPr>
          <a:xfrm>
            <a:off x="4455000" y="1560960"/>
            <a:ext cx="3645000" cy="363960"/>
          </a:xfrm>
          <a:prstGeom prst="rect">
            <a:avLst/>
          </a:prstGeom>
          <a:noFill/>
          <a:ln w="28575">
            <a:solidFill>
              <a:srgbClr val="800000"/>
            </a:solidFill>
            <a:round/>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800" b="0" strike="noStrike" spc="-1">
                <a:solidFill>
                  <a:srgbClr val="800000"/>
                </a:solidFill>
                <a:latin typeface="News Gothic MT"/>
              </a:rPr>
              <a:t> -can achieve 0-RTT connections!</a:t>
            </a:r>
            <a:endParaRPr lang="en-US" sz="1800" b="0" strike="noStrike" spc="-1">
              <a:solidFill>
                <a:srgbClr val="000000"/>
              </a:solidFill>
              <a:latin typeface="Arial"/>
            </a:endParaRPr>
          </a:p>
        </p:txBody>
      </p:sp>
      <p:sp>
        <p:nvSpPr>
          <p:cNvPr id="355" name="TextBox 98"/>
          <p:cNvSpPr/>
          <p:nvPr/>
        </p:nvSpPr>
        <p:spPr>
          <a:xfrm>
            <a:off x="8974440" y="2629080"/>
            <a:ext cx="2855880" cy="85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0" strike="noStrike" spc="-1">
                <a:solidFill>
                  <a:schemeClr val="dk1"/>
                </a:solidFill>
                <a:latin typeface="News Gothic MT"/>
              </a:rPr>
              <a:t>-verify </a:t>
            </a:r>
            <a:r>
              <a:rPr lang="en-US" sz="1600" b="0" i="1" strike="noStrike" spc="-1">
                <a:solidFill>
                  <a:schemeClr val="dk1"/>
                </a:solidFill>
                <a:latin typeface="News Gothic MT"/>
              </a:rPr>
              <a:t>stk</a:t>
            </a:r>
            <a:endParaRPr lang="en-US" sz="1600" b="0" strike="noStrike" spc="-1">
              <a:solidFill>
                <a:srgbClr val="000000"/>
              </a:solidFill>
              <a:latin typeface="Arial"/>
            </a:endParaRPr>
          </a:p>
          <a:p>
            <a:pPr defTabSz="914400">
              <a:lnSpc>
                <a:spcPct val="100000"/>
              </a:lnSpc>
            </a:pPr>
            <a:r>
              <a:rPr lang="en-US" sz="1600" b="0" strike="noStrike" spc="-1">
                <a:solidFill>
                  <a:schemeClr val="dk1"/>
                </a:solidFill>
                <a:latin typeface="News Gothic MT"/>
              </a:rPr>
              <a:t>-establish initial </a:t>
            </a:r>
            <a:endParaRPr lang="en-US" sz="1600" b="0" strike="noStrike" spc="-1">
              <a:solidFill>
                <a:srgbClr val="000000"/>
              </a:solidFill>
              <a:latin typeface="Arial"/>
            </a:endParaRPr>
          </a:p>
          <a:p>
            <a:pPr defTabSz="914400">
              <a:lnSpc>
                <a:spcPct val="100000"/>
              </a:lnSpc>
            </a:pPr>
            <a:r>
              <a:rPr lang="en-US" sz="1600" b="0" strike="noStrike" spc="-1">
                <a:solidFill>
                  <a:schemeClr val="dk1"/>
                </a:solidFill>
                <a:latin typeface="News Gothic MT"/>
              </a:rPr>
              <a:t> key using </a:t>
            </a:r>
            <a:r>
              <a:rPr lang="en-US" sz="1600" b="0" i="1" strike="noStrike" spc="-1">
                <a:solidFill>
                  <a:schemeClr val="dk1"/>
                </a:solidFill>
                <a:latin typeface="News Gothic MT"/>
              </a:rPr>
              <a:t>pub</a:t>
            </a:r>
            <a:r>
              <a:rPr lang="en-US" sz="1600" b="0" i="1" strike="noStrike" spc="-1" baseline="-25000">
                <a:solidFill>
                  <a:schemeClr val="dk1"/>
                </a:solidFill>
                <a:latin typeface="News Gothic MT"/>
              </a:rPr>
              <a:t>c</a:t>
            </a:r>
            <a:endParaRPr lang="en-US" sz="1600" b="0" strike="noStrike" spc="-1">
              <a:solidFill>
                <a:srgbClr val="000000"/>
              </a:solidFill>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55" presetClass="entr" fill="hold" nodeType="withEffect">
                                  <p:stCondLst>
                                    <p:cond delay="0"/>
                                  </p:stCondLst>
                                  <p:childTnLst>
                                    <p:set>
                                      <p:cBhvr>
                                        <p:cTn id="6" dur="1" fill="hold">
                                          <p:stCondLst>
                                            <p:cond delay="0"/>
                                          </p:stCondLst>
                                        </p:cTn>
                                        <p:tgtEl>
                                          <p:spTgt spid="354"/>
                                        </p:tgtEl>
                                        <p:attrNameLst>
                                          <p:attrName>style.visibility</p:attrName>
                                        </p:attrNameLst>
                                      </p:cBhvr>
                                      <p:to>
                                        <p:strVal val="visible"/>
                                      </p:to>
                                    </p:set>
                                    <p:anim calcmode="lin" valueType="num">
                                      <p:cBhvr additive="repl">
                                        <p:cTn id="7" dur="500" fill="hold"/>
                                        <p:tgtEl>
                                          <p:spTgt spid="354"/>
                                        </p:tgtEl>
                                        <p:attrNameLst>
                                          <p:attrName>ppt_w</p:attrName>
                                        </p:attrNameLst>
                                      </p:cBhvr>
                                      <p:tavLst>
                                        <p:tav tm="0">
                                          <p:val>
                                            <p:strVal val="#ppt_w*0.70"/>
                                          </p:val>
                                        </p:tav>
                                        <p:tav tm="100000">
                                          <p:val>
                                            <p:strVal val="#ppt_w"/>
                                          </p:val>
                                        </p:tav>
                                      </p:tavLst>
                                    </p:anim>
                                    <p:anim calcmode="lin" valueType="num">
                                      <p:cBhvr additive="repl">
                                        <p:cTn id="8" dur="500" fill="hold"/>
                                        <p:tgtEl>
                                          <p:spTgt spid="354"/>
                                        </p:tgtEl>
                                        <p:attrNameLst>
                                          <p:attrName>ppt_h</p:attrName>
                                        </p:attrNameLst>
                                      </p:cBhvr>
                                      <p:tavLst>
                                        <p:tav tm="0">
                                          <p:val>
                                            <p:strVal val="#ppt_h"/>
                                          </p:val>
                                        </p:tav>
                                        <p:tav tm="100000">
                                          <p:val>
                                            <p:strVal val="#ppt_h"/>
                                          </p:val>
                                        </p:tav>
                                      </p:tavLst>
                                    </p:anim>
                                    <p:animEffect transition="in" filter="fade">
                                      <p:cBhvr additive="repl">
                                        <p:cTn id="9" dur="500"/>
                                        <p:tgtEl>
                                          <p:spTgt spid="354"/>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fill="hold" nodeType="clickEffect">
                                  <p:stCondLst>
                                    <p:cond delay="0"/>
                                  </p:stCondLst>
                                  <p:childTnLst>
                                    <p:set>
                                      <p:cBhvr>
                                        <p:cTn id="13" dur="1" fill="hold">
                                          <p:stCondLst>
                                            <p:cond delay="0"/>
                                          </p:stCondLst>
                                        </p:cTn>
                                        <p:tgtEl>
                                          <p:spTgt spid="351"/>
                                        </p:tgtEl>
                                        <p:attrNameLst>
                                          <p:attrName>style.visibility</p:attrName>
                                        </p:attrNameLst>
                                      </p:cBhvr>
                                      <p:to>
                                        <p:strVal val="visible"/>
                                      </p:to>
                                    </p:set>
                                    <p:anim calcmode="lin" valueType="num">
                                      <p:cBhvr additive="repl">
                                        <p:cTn id="14" dur="500" fill="hold"/>
                                        <p:tgtEl>
                                          <p:spTgt spid="351"/>
                                        </p:tgtEl>
                                        <p:attrNameLst>
                                          <p:attrName>ppt_w</p:attrName>
                                        </p:attrNameLst>
                                      </p:cBhvr>
                                      <p:tavLst>
                                        <p:tav tm="0">
                                          <p:val>
                                            <p:strVal val="#ppt_w*0.70"/>
                                          </p:val>
                                        </p:tav>
                                        <p:tav tm="100000">
                                          <p:val>
                                            <p:strVal val="#ppt_w"/>
                                          </p:val>
                                        </p:tav>
                                      </p:tavLst>
                                    </p:anim>
                                    <p:anim calcmode="lin" valueType="num">
                                      <p:cBhvr additive="repl">
                                        <p:cTn id="15" dur="500" fill="hold"/>
                                        <p:tgtEl>
                                          <p:spTgt spid="351"/>
                                        </p:tgtEl>
                                        <p:attrNameLst>
                                          <p:attrName>ppt_h</p:attrName>
                                        </p:attrNameLst>
                                      </p:cBhvr>
                                      <p:tavLst>
                                        <p:tav tm="0">
                                          <p:val>
                                            <p:strVal val="#ppt_h"/>
                                          </p:val>
                                        </p:tav>
                                        <p:tav tm="100000">
                                          <p:val>
                                            <p:strVal val="#ppt_h"/>
                                          </p:val>
                                        </p:tav>
                                      </p:tavLst>
                                    </p:anim>
                                    <p:animEffect transition="in" filter="fade">
                                      <p:cBhvr additive="repl">
                                        <p:cTn id="16" dur="500"/>
                                        <p:tgtEl>
                                          <p:spTgt spid="3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 name="PlaceHolder 1"/>
          <p:cNvSpPr>
            <a:spLocks noGrp="1"/>
          </p:cNvSpPr>
          <p:nvPr>
            <p:ph type="title"/>
          </p:nvPr>
        </p:nvSpPr>
        <p:spPr>
          <a:xfrm>
            <a:off x="732240" y="163800"/>
            <a:ext cx="11233440" cy="744840"/>
          </a:xfrm>
          <a:prstGeom prst="rect">
            <a:avLst/>
          </a:prstGeom>
          <a:noFill/>
          <a:ln w="0">
            <a:noFill/>
          </a:ln>
        </p:spPr>
        <p:txBody>
          <a:bodyPr lIns="91440" tIns="45720" rIns="91440" bIns="45720" anchor="b">
            <a:noAutofit/>
          </a:bodyPr>
          <a:lstStyle/>
          <a:p>
            <a:pPr indent="0" algn="ctr" defTabSz="914400">
              <a:lnSpc>
                <a:spcPct val="100000"/>
              </a:lnSpc>
              <a:buNone/>
            </a:pPr>
            <a:r>
              <a:rPr lang="en-US" sz="4000" b="0" strike="noStrike" spc="-1">
                <a:solidFill>
                  <a:schemeClr val="accent2">
                    <a:lumMod val="75000"/>
                  </a:schemeClr>
                </a:solidFill>
                <a:latin typeface="News Gothic MT"/>
              </a:rPr>
              <a:t>Security Analysis Main Challenges</a:t>
            </a:r>
            <a:endParaRPr lang="en-US" sz="4000" b="0" strike="noStrike" spc="-1">
              <a:solidFill>
                <a:schemeClr val="dk1"/>
              </a:solidFill>
              <a:latin typeface="News Gothic MT"/>
            </a:endParaRPr>
          </a:p>
        </p:txBody>
      </p:sp>
      <p:sp>
        <p:nvSpPr>
          <p:cNvPr id="357" name="PlaceHolder 2"/>
          <p:cNvSpPr>
            <a:spLocks noGrp="1"/>
          </p:cNvSpPr>
          <p:nvPr>
            <p:ph/>
          </p:nvPr>
        </p:nvSpPr>
        <p:spPr>
          <a:xfrm>
            <a:off x="732240" y="1330560"/>
            <a:ext cx="11101680" cy="5277240"/>
          </a:xfrm>
          <a:prstGeom prst="rect">
            <a:avLst/>
          </a:prstGeom>
          <a:noFill/>
          <a:ln w="0">
            <a:noFill/>
          </a:ln>
        </p:spPr>
        <p:txBody>
          <a:bodyPr lIns="91440" tIns="45720" rIns="91440" bIns="45720" anchor="t">
            <a:normAutofit/>
          </a:bodyPr>
          <a:lstStyle/>
          <a:p>
            <a:pPr marL="349200" indent="-349200" defTabSz="914400">
              <a:lnSpc>
                <a:spcPct val="100000"/>
              </a:lnSpc>
              <a:spcBef>
                <a:spcPts val="2001"/>
              </a:spcBef>
              <a:buClr>
                <a:srgbClr val="1B3742"/>
              </a:buClr>
              <a:buSzPct val="110000"/>
              <a:buFont typeface="Arial"/>
              <a:buChar char="•"/>
            </a:pPr>
            <a:r>
              <a:rPr lang="en-US" sz="2200" b="0" strike="noStrike" spc="-1">
                <a:solidFill>
                  <a:schemeClr val="accent2">
                    <a:lumMod val="75000"/>
                  </a:schemeClr>
                </a:solidFill>
                <a:latin typeface="News Gothic MT"/>
              </a:rPr>
              <a:t>Previous analyses of TLS are not suitable </a:t>
            </a:r>
            <a:r>
              <a:rPr lang="en-US" sz="2000" b="0" strike="noStrike" spc="-1">
                <a:solidFill>
                  <a:schemeClr val="accent2">
                    <a:lumMod val="75000"/>
                  </a:schemeClr>
                </a:solidFill>
                <a:latin typeface="News Gothic MT"/>
              </a:rPr>
              <a:t>(</a:t>
            </a:r>
            <a:r>
              <a:rPr lang="en-US" sz="2000" b="0" strike="noStrike" spc="-1">
                <a:solidFill>
                  <a:schemeClr val="dk2">
                    <a:lumMod val="75000"/>
                    <a:lumOff val="25000"/>
                  </a:schemeClr>
                </a:solidFill>
                <a:latin typeface="News Gothic MT"/>
              </a:rPr>
              <a:t>Jager et al, Krawzcyk et al, Bhargavan et al, Crypto 2012, 2013, 2014</a:t>
            </a:r>
            <a:r>
              <a:rPr lang="en-US" sz="2000" b="0" strike="noStrike" spc="-1">
                <a:solidFill>
                  <a:schemeClr val="accent2">
                    <a:lumMod val="75000"/>
                  </a:schemeClr>
                </a:solidFill>
                <a:latin typeface="News Gothic MT"/>
              </a:rPr>
              <a:t>) </a:t>
            </a:r>
          </a:p>
          <a:p>
            <a:pPr marL="692280" lvl="1" indent="-343080" defTabSz="914400">
              <a:lnSpc>
                <a:spcPct val="100000"/>
              </a:lnSpc>
              <a:spcBef>
                <a:spcPts val="601"/>
              </a:spcBef>
              <a:buClr>
                <a:srgbClr val="1B3742"/>
              </a:buClr>
              <a:buSzPct val="110000"/>
              <a:buFont typeface="Lucida Grande"/>
              <a:buChar char="-"/>
            </a:pPr>
            <a:r>
              <a:rPr lang="en-US" sz="2000" b="0" strike="noStrike" spc="-1">
                <a:solidFill>
                  <a:schemeClr val="accent2">
                    <a:lumMod val="75000"/>
                  </a:schemeClr>
                </a:solidFill>
                <a:latin typeface="News Gothic MT"/>
              </a:rPr>
              <a:t>data in QUIC can be exchanged using initial key before the session key is set</a:t>
            </a:r>
            <a:endParaRPr lang="en-US" sz="2000" b="0" strike="noStrike" spc="-1">
              <a:solidFill>
                <a:schemeClr val="dk1">
                  <a:lumMod val="65000"/>
                  <a:lumOff val="35000"/>
                </a:schemeClr>
              </a:solidFill>
              <a:latin typeface="News Gothic MT"/>
            </a:endParaRPr>
          </a:p>
          <a:p>
            <a:pPr marL="349200" indent="-349200" defTabSz="914400">
              <a:lnSpc>
                <a:spcPct val="100000"/>
              </a:lnSpc>
              <a:spcBef>
                <a:spcPts val="2001"/>
              </a:spcBef>
              <a:buClr>
                <a:srgbClr val="1B3742"/>
              </a:buClr>
              <a:buSzPct val="110000"/>
              <a:buFont typeface="Arial"/>
              <a:buChar char="•"/>
            </a:pPr>
            <a:r>
              <a:rPr lang="en-US" sz="2200" b="0" strike="noStrike" spc="-1">
                <a:solidFill>
                  <a:schemeClr val="accent2">
                    <a:lumMod val="75000"/>
                  </a:schemeClr>
                </a:solidFill>
                <a:latin typeface="News Gothic MT"/>
              </a:rPr>
              <a:t>Parties can set distinct initial keys </a:t>
            </a:r>
          </a:p>
          <a:p>
            <a:pPr marL="692280" lvl="1" indent="-343080" defTabSz="914400">
              <a:lnSpc>
                <a:spcPct val="100000"/>
              </a:lnSpc>
              <a:spcBef>
                <a:spcPts val="601"/>
              </a:spcBef>
              <a:buClr>
                <a:srgbClr val="1B3742"/>
              </a:buClr>
              <a:buSzPct val="110000"/>
              <a:buFont typeface="Lucida Grande"/>
              <a:buChar char="-"/>
            </a:pPr>
            <a:r>
              <a:rPr lang="en-US" sz="2000" b="0" strike="noStrike" spc="-1">
                <a:solidFill>
                  <a:schemeClr val="accent2">
                    <a:lumMod val="75000"/>
                  </a:schemeClr>
                </a:solidFill>
                <a:latin typeface="News Gothic MT"/>
              </a:rPr>
              <a:t>notion of having a ‘</a:t>
            </a:r>
            <a:r>
              <a:rPr lang="en-US" sz="2000" b="0" i="1" strike="noStrike" spc="-1">
                <a:solidFill>
                  <a:schemeClr val="accent2">
                    <a:lumMod val="75000"/>
                  </a:schemeClr>
                </a:solidFill>
                <a:latin typeface="News Gothic MT"/>
              </a:rPr>
              <a:t>matching conversation</a:t>
            </a:r>
            <a:r>
              <a:rPr lang="en-US" sz="2000" b="0" strike="noStrike" spc="-1">
                <a:solidFill>
                  <a:schemeClr val="accent2">
                    <a:lumMod val="75000"/>
                  </a:schemeClr>
                </a:solidFill>
                <a:latin typeface="News Gothic MT"/>
              </a:rPr>
              <a:t>’ is not sufficient </a:t>
            </a:r>
            <a:endParaRPr lang="en-US" sz="2000" b="0" strike="noStrike" spc="-1">
              <a:solidFill>
                <a:schemeClr val="dk1">
                  <a:lumMod val="65000"/>
                  <a:lumOff val="35000"/>
                </a:schemeClr>
              </a:solidFill>
              <a:latin typeface="News Gothic MT"/>
            </a:endParaRPr>
          </a:p>
          <a:p>
            <a:pPr marL="692280" lvl="1" indent="-343080" defTabSz="914400">
              <a:lnSpc>
                <a:spcPct val="100000"/>
              </a:lnSpc>
              <a:spcBef>
                <a:spcPts val="601"/>
              </a:spcBef>
              <a:buClr>
                <a:srgbClr val="1B3742"/>
              </a:buClr>
              <a:buSzPct val="110000"/>
              <a:buFont typeface="Lucida Grande"/>
              <a:buChar char="-"/>
            </a:pPr>
            <a:r>
              <a:rPr lang="en-US" sz="2000" b="0" strike="noStrike" spc="-1">
                <a:solidFill>
                  <a:schemeClr val="accent2">
                    <a:lumMod val="75000"/>
                  </a:schemeClr>
                </a:solidFill>
                <a:latin typeface="News Gothic MT"/>
              </a:rPr>
              <a:t>need new notion of ‘</a:t>
            </a:r>
            <a:r>
              <a:rPr lang="en-US" sz="2000" b="0" i="1" strike="noStrike" spc="-1">
                <a:solidFill>
                  <a:schemeClr val="accent2">
                    <a:lumMod val="75000"/>
                  </a:schemeClr>
                </a:solidFill>
                <a:latin typeface="News Gothic MT"/>
              </a:rPr>
              <a:t>setting a key with’ </a:t>
            </a:r>
            <a:r>
              <a:rPr lang="en-US" sz="2000" b="0" strike="noStrike" spc="-1">
                <a:solidFill>
                  <a:schemeClr val="accent2">
                    <a:lumMod val="75000"/>
                  </a:schemeClr>
                </a:solidFill>
                <a:latin typeface="News Gothic MT"/>
              </a:rPr>
              <a:t>to capture data privacy</a:t>
            </a:r>
            <a:endParaRPr lang="en-US" sz="2000" b="0" strike="noStrike" spc="-1">
              <a:solidFill>
                <a:schemeClr val="dk1">
                  <a:lumMod val="65000"/>
                  <a:lumOff val="35000"/>
                </a:schemeClr>
              </a:solidFill>
              <a:latin typeface="News Gothic MT"/>
            </a:endParaRPr>
          </a:p>
          <a:p>
            <a:pPr marL="349200" indent="-349200" defTabSz="914400">
              <a:lnSpc>
                <a:spcPct val="100000"/>
              </a:lnSpc>
              <a:spcBef>
                <a:spcPts val="2001"/>
              </a:spcBef>
              <a:buClr>
                <a:srgbClr val="1B3742"/>
              </a:buClr>
              <a:buSzPct val="110000"/>
              <a:buFont typeface="Arial"/>
              <a:buChar char="•"/>
            </a:pPr>
            <a:r>
              <a:rPr lang="en-US" sz="2200" b="0" i="1" strike="noStrike" spc="-1">
                <a:solidFill>
                  <a:schemeClr val="accent2">
                    <a:lumMod val="75000"/>
                  </a:schemeClr>
                </a:solidFill>
                <a:latin typeface="News Gothic MT"/>
              </a:rPr>
              <a:t>scfg</a:t>
            </a:r>
            <a:r>
              <a:rPr lang="en-US" sz="2200" b="0" strike="noStrike" spc="-1">
                <a:solidFill>
                  <a:schemeClr val="accent2">
                    <a:lumMod val="75000"/>
                  </a:schemeClr>
                </a:solidFill>
                <a:latin typeface="News Gothic MT"/>
              </a:rPr>
              <a:t> is public and can be reused before it expires </a:t>
            </a:r>
          </a:p>
          <a:p>
            <a:pPr marL="692280" lvl="1" indent="-343080" defTabSz="914400">
              <a:lnSpc>
                <a:spcPct val="100000"/>
              </a:lnSpc>
              <a:spcBef>
                <a:spcPts val="601"/>
              </a:spcBef>
              <a:buClr>
                <a:srgbClr val="1B3742"/>
              </a:buClr>
              <a:buSzPct val="110000"/>
              <a:buFont typeface="Lucida Grande"/>
              <a:buChar char="-"/>
            </a:pPr>
            <a:r>
              <a:rPr lang="en-US" sz="2000" b="0" strike="noStrike" spc="-1">
                <a:solidFill>
                  <a:schemeClr val="accent2">
                    <a:lumMod val="75000"/>
                  </a:schemeClr>
                </a:solidFill>
                <a:latin typeface="News Gothic MT"/>
              </a:rPr>
              <a:t>need weaker notion for forward secrecy for initial keys</a:t>
            </a:r>
            <a:endParaRPr lang="en-US" sz="2000" b="0" strike="noStrike" spc="-1">
              <a:solidFill>
                <a:schemeClr val="dk1">
                  <a:lumMod val="65000"/>
                  <a:lumOff val="35000"/>
                </a:schemeClr>
              </a:solidFill>
              <a:latin typeface="News Gothic MT"/>
            </a:endParaRPr>
          </a:p>
          <a:p>
            <a:pPr marL="692280" lvl="1" indent="-343080" defTabSz="914400">
              <a:lnSpc>
                <a:spcPct val="100000"/>
              </a:lnSpc>
              <a:spcBef>
                <a:spcPts val="601"/>
              </a:spcBef>
              <a:buClr>
                <a:srgbClr val="1B3742"/>
              </a:buClr>
              <a:buSzPct val="110000"/>
              <a:buFont typeface="Lucida Grande"/>
              <a:buChar char="-"/>
            </a:pPr>
            <a:r>
              <a:rPr lang="en-US" sz="2000" b="0" strike="noStrike" spc="-1">
                <a:solidFill>
                  <a:schemeClr val="accent2">
                    <a:lumMod val="75000"/>
                  </a:schemeClr>
                </a:solidFill>
                <a:latin typeface="News Gothic MT"/>
              </a:rPr>
              <a:t>use traditional notion of forward secrecy for session keys</a:t>
            </a:r>
            <a:endParaRPr lang="en-US" sz="2000" b="0" strike="noStrike" spc="-1">
              <a:solidFill>
                <a:schemeClr val="dk1">
                  <a:lumMod val="65000"/>
                  <a:lumOff val="35000"/>
                </a:schemeClr>
              </a:solidFill>
              <a:latin typeface="News Gothic MT"/>
            </a:endParaRPr>
          </a:p>
          <a:p>
            <a:pPr marL="349200" indent="-349200" defTabSz="914400">
              <a:lnSpc>
                <a:spcPct val="100000"/>
              </a:lnSpc>
              <a:spcBef>
                <a:spcPts val="2001"/>
              </a:spcBef>
              <a:buClr>
                <a:srgbClr val="1B3742"/>
              </a:buClr>
              <a:buSzPct val="110000"/>
              <a:buFont typeface="Arial"/>
              <a:buChar char="•"/>
            </a:pPr>
            <a:r>
              <a:rPr lang="en-US" sz="2200" b="0" strike="noStrike" spc="-1">
                <a:solidFill>
                  <a:schemeClr val="accent2">
                    <a:lumMod val="75000"/>
                  </a:schemeClr>
                </a:solidFill>
                <a:latin typeface="News Gothic MT"/>
              </a:rPr>
              <a:t>UDP does not address unordered delivery and spoofing</a:t>
            </a:r>
          </a:p>
          <a:p>
            <a:pPr marL="692280" lvl="1" indent="-343080" defTabSz="914400">
              <a:lnSpc>
                <a:spcPct val="100000"/>
              </a:lnSpc>
              <a:spcBef>
                <a:spcPts val="601"/>
              </a:spcBef>
              <a:buClr>
                <a:srgbClr val="1B3742"/>
              </a:buClr>
              <a:buSzPct val="110000"/>
              <a:buFont typeface="Lucida Grande"/>
              <a:buChar char="-"/>
            </a:pPr>
            <a:r>
              <a:rPr lang="en-US" sz="2000" b="0" strike="noStrike" spc="-1">
                <a:solidFill>
                  <a:schemeClr val="accent2">
                    <a:lumMod val="75000"/>
                  </a:schemeClr>
                </a:solidFill>
                <a:latin typeface="News Gothic MT"/>
              </a:rPr>
              <a:t>need to capture attacks involving misordering, selectively delaying or dropping packets, and connection spoofing</a:t>
            </a:r>
            <a:endParaRPr lang="en-US" sz="2000" b="0" strike="noStrike" spc="-1">
              <a:solidFill>
                <a:schemeClr val="dk1">
                  <a:lumMod val="65000"/>
                  <a:lumOff val="35000"/>
                </a:schemeClr>
              </a:solidFill>
              <a:latin typeface="News Gothic MT"/>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357">
                                            <p:txEl>
                                              <p:pRg st="2" end="2"/>
                                            </p:txEl>
                                          </p:spTgt>
                                        </p:tgtEl>
                                        <p:attrNameLst>
                                          <p:attrName>style.visibility</p:attrName>
                                        </p:attrNameLst>
                                      </p:cBhvr>
                                      <p:to>
                                        <p:strVal val="visible"/>
                                      </p:to>
                                    </p:set>
                                  </p:childTnLst>
                                </p:cTn>
                              </p:par>
                              <p:par>
                                <p:cTn id="7" presetID="1" presetClass="entr" fill="hold" nodeType="withEffect">
                                  <p:stCondLst>
                                    <p:cond delay="0"/>
                                  </p:stCondLst>
                                  <p:childTnLst>
                                    <p:set>
                                      <p:cBhvr>
                                        <p:cTn id="8" dur="1" fill="hold">
                                          <p:stCondLst>
                                            <p:cond delay="0"/>
                                          </p:stCondLst>
                                        </p:cTn>
                                        <p:tgtEl>
                                          <p:spTgt spid="357">
                                            <p:txEl>
                                              <p:pRg st="3" end="3"/>
                                            </p:txEl>
                                          </p:spTgt>
                                        </p:tgtEl>
                                        <p:attrNameLst>
                                          <p:attrName>style.visibility</p:attrName>
                                        </p:attrNameLst>
                                      </p:cBhvr>
                                      <p:to>
                                        <p:strVal val="visible"/>
                                      </p:to>
                                    </p:set>
                                  </p:childTnLst>
                                </p:cTn>
                              </p:par>
                              <p:par>
                                <p:cTn id="9" presetID="1" presetClass="entr" fill="hold" nodeType="withEffect">
                                  <p:stCondLst>
                                    <p:cond delay="0"/>
                                  </p:stCondLst>
                                  <p:childTnLst>
                                    <p:set>
                                      <p:cBhvr>
                                        <p:cTn id="10" dur="1" fill="hold">
                                          <p:stCondLst>
                                            <p:cond delay="0"/>
                                          </p:stCondLst>
                                        </p:cTn>
                                        <p:tgtEl>
                                          <p:spTgt spid="35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357">
                                            <p:txEl>
                                              <p:pRg st="5" end="5"/>
                                            </p:txEl>
                                          </p:spTgt>
                                        </p:tgtEl>
                                        <p:attrNameLst>
                                          <p:attrName>style.visibility</p:attrName>
                                        </p:attrNameLst>
                                      </p:cBhvr>
                                      <p:to>
                                        <p:strVal val="visible"/>
                                      </p:to>
                                    </p:set>
                                  </p:childTnLst>
                                </p:cTn>
                              </p:par>
                              <p:par>
                                <p:cTn id="15" presetID="1" presetClass="entr" fill="hold" nodeType="withEffect">
                                  <p:stCondLst>
                                    <p:cond delay="0"/>
                                  </p:stCondLst>
                                  <p:childTnLst>
                                    <p:set>
                                      <p:cBhvr>
                                        <p:cTn id="16" dur="1" fill="hold">
                                          <p:stCondLst>
                                            <p:cond delay="0"/>
                                          </p:stCondLst>
                                        </p:cTn>
                                        <p:tgtEl>
                                          <p:spTgt spid="357">
                                            <p:txEl>
                                              <p:pRg st="6" end="6"/>
                                            </p:txEl>
                                          </p:spTgt>
                                        </p:tgtEl>
                                        <p:attrNameLst>
                                          <p:attrName>style.visibility</p:attrName>
                                        </p:attrNameLst>
                                      </p:cBhvr>
                                      <p:to>
                                        <p:strVal val="visible"/>
                                      </p:to>
                                    </p:set>
                                  </p:childTnLst>
                                </p:cTn>
                              </p:par>
                              <p:par>
                                <p:cTn id="17" presetID="1" presetClass="entr" fill="hold" nodeType="withEffect">
                                  <p:stCondLst>
                                    <p:cond delay="0"/>
                                  </p:stCondLst>
                                  <p:childTnLst>
                                    <p:set>
                                      <p:cBhvr>
                                        <p:cTn id="18" dur="1" fill="hold">
                                          <p:stCondLst>
                                            <p:cond delay="0"/>
                                          </p:stCondLst>
                                        </p:cTn>
                                        <p:tgtEl>
                                          <p:spTgt spid="357">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p:cTn id="22" dur="1" fill="hold">
                                          <p:stCondLst>
                                            <p:cond delay="0"/>
                                          </p:stCondLst>
                                        </p:cTn>
                                        <p:tgtEl>
                                          <p:spTgt spid="357">
                                            <p:txEl>
                                              <p:pRg st="8" end="8"/>
                                            </p:txEl>
                                          </p:spTgt>
                                        </p:tgtEl>
                                        <p:attrNameLst>
                                          <p:attrName>style.visibility</p:attrName>
                                        </p:attrNameLst>
                                      </p:cBhvr>
                                      <p:to>
                                        <p:strVal val="visible"/>
                                      </p:to>
                                    </p:set>
                                  </p:childTnLst>
                                </p:cTn>
                              </p:par>
                              <p:par>
                                <p:cTn id="23" presetID="1" presetClass="entr" fill="hold" nodeType="withEffect">
                                  <p:stCondLst>
                                    <p:cond delay="0"/>
                                  </p:stCondLst>
                                  <p:childTnLst>
                                    <p:set>
                                      <p:cBhvr>
                                        <p:cTn id="24" dur="1" fill="hold">
                                          <p:stCondLst>
                                            <p:cond delay="0"/>
                                          </p:stCondLst>
                                        </p:cTn>
                                        <p:tgtEl>
                                          <p:spTgt spid="35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 name="PlaceHolder 1"/>
          <p:cNvSpPr>
            <a:spLocks noGrp="1"/>
          </p:cNvSpPr>
          <p:nvPr>
            <p:ph/>
          </p:nvPr>
        </p:nvSpPr>
        <p:spPr>
          <a:xfrm>
            <a:off x="732240" y="1199520"/>
            <a:ext cx="10722960" cy="4814280"/>
          </a:xfrm>
          <a:prstGeom prst="rect">
            <a:avLst/>
          </a:prstGeom>
          <a:noFill/>
          <a:ln w="0">
            <a:noFill/>
          </a:ln>
        </p:spPr>
        <p:txBody>
          <a:bodyPr lIns="91440" tIns="45720" rIns="91440" bIns="45720" anchor="t">
            <a:normAutofit/>
          </a:bodyPr>
          <a:lstStyle/>
          <a:p>
            <a:pPr marL="457200" indent="-457200" defTabSz="914400">
              <a:lnSpc>
                <a:spcPct val="100000"/>
              </a:lnSpc>
              <a:spcBef>
                <a:spcPts val="2001"/>
              </a:spcBef>
              <a:buClr>
                <a:srgbClr val="1B3742"/>
              </a:buClr>
              <a:buSzPct val="110000"/>
              <a:buFont typeface="News Gothic MT"/>
              <a:buAutoNum type="arabicPeriod"/>
            </a:pPr>
            <a:r>
              <a:rPr lang="en-US" sz="2200" b="0" strike="noStrike" spc="-1">
                <a:solidFill>
                  <a:schemeClr val="accent2">
                    <a:lumMod val="75000"/>
                  </a:schemeClr>
                </a:solidFill>
                <a:latin typeface="News Gothic MT"/>
              </a:rPr>
              <a:t>Provable Security Analysis of QUIC</a:t>
            </a:r>
            <a:r>
              <a:rPr lang="en-US" sz="2400" b="0" strike="noStrike" spc="-1">
                <a:solidFill>
                  <a:schemeClr val="accent2">
                    <a:lumMod val="75000"/>
                  </a:schemeClr>
                </a:solidFill>
                <a:latin typeface="News Gothic MT"/>
              </a:rPr>
              <a:t> </a:t>
            </a:r>
          </a:p>
          <a:p>
            <a:pPr marL="457200" indent="-457200" defTabSz="914400">
              <a:lnSpc>
                <a:spcPct val="100000"/>
              </a:lnSpc>
              <a:spcBef>
                <a:spcPts val="2001"/>
              </a:spcBef>
              <a:buClr>
                <a:srgbClr val="1B3742"/>
              </a:buClr>
              <a:buSzPct val="110000"/>
              <a:buFont typeface="News Gothic MT"/>
              <a:buAutoNum type="arabicPeriod"/>
            </a:pPr>
            <a:r>
              <a:rPr lang="en-US" sz="2200" b="0" strike="noStrike" spc="-1">
                <a:solidFill>
                  <a:schemeClr val="accent2">
                    <a:lumMod val="75000"/>
                  </a:schemeClr>
                </a:solidFill>
                <a:latin typeface="News Gothic MT"/>
              </a:rPr>
              <a:t>QUIC Performance-degradation attacks</a:t>
            </a:r>
          </a:p>
          <a:p>
            <a:pPr marL="800280" lvl="1" indent="-457200" defTabSz="914400">
              <a:lnSpc>
                <a:spcPct val="100000"/>
              </a:lnSpc>
              <a:spcBef>
                <a:spcPts val="601"/>
              </a:spcBef>
              <a:buClr>
                <a:srgbClr val="1B3742"/>
              </a:buClr>
              <a:buSzPct val="110000"/>
              <a:buFont typeface="News Gothic MT"/>
              <a:buAutoNum type="alphaLcPeriod"/>
            </a:pPr>
            <a:r>
              <a:rPr lang="en-US" sz="2000" b="0" strike="noStrike" spc="-1">
                <a:solidFill>
                  <a:schemeClr val="accent2">
                    <a:lumMod val="75000"/>
                  </a:schemeClr>
                </a:solidFill>
                <a:latin typeface="News Gothic MT"/>
              </a:rPr>
              <a:t>types of performance-degradation attacks on QUIC</a:t>
            </a:r>
            <a:endParaRPr lang="en-US" sz="2000" b="0" strike="noStrike" spc="-1">
              <a:solidFill>
                <a:schemeClr val="dk1">
                  <a:lumMod val="65000"/>
                  <a:lumOff val="35000"/>
                </a:schemeClr>
              </a:solidFill>
              <a:latin typeface="News Gothic MT"/>
            </a:endParaRPr>
          </a:p>
          <a:p>
            <a:pPr marL="800280" lvl="1" indent="-457200" defTabSz="914400">
              <a:lnSpc>
                <a:spcPct val="100000"/>
              </a:lnSpc>
              <a:spcBef>
                <a:spcPts val="601"/>
              </a:spcBef>
              <a:buClr>
                <a:srgbClr val="1B3742"/>
              </a:buClr>
              <a:buSzPct val="110000"/>
              <a:buFont typeface="News Gothic MT"/>
              <a:buAutoNum type="alphaLcPeriod"/>
            </a:pPr>
            <a:r>
              <a:rPr lang="en-US" sz="2000" b="0" strike="noStrike" spc="-1">
                <a:solidFill>
                  <a:schemeClr val="accent2">
                    <a:lumMod val="75000"/>
                  </a:schemeClr>
                </a:solidFill>
                <a:latin typeface="News Gothic MT"/>
              </a:rPr>
              <a:t>performance-degradation attacks we have implemented</a:t>
            </a:r>
            <a:endParaRPr lang="en-US" sz="2000" b="0" strike="noStrike" spc="-1">
              <a:solidFill>
                <a:schemeClr val="dk1">
                  <a:lumMod val="65000"/>
                  <a:lumOff val="35000"/>
                </a:schemeClr>
              </a:solidFill>
              <a:latin typeface="News Gothic MT"/>
            </a:endParaRPr>
          </a:p>
          <a:p>
            <a:pPr marL="457200" indent="-457200" defTabSz="914400">
              <a:lnSpc>
                <a:spcPct val="100000"/>
              </a:lnSpc>
              <a:spcBef>
                <a:spcPts val="2001"/>
              </a:spcBef>
              <a:buClr>
                <a:srgbClr val="1B3742"/>
              </a:buClr>
              <a:buSzPct val="110000"/>
              <a:buFont typeface="News Gothic MT"/>
              <a:buAutoNum type="arabicPeriod"/>
            </a:pPr>
            <a:r>
              <a:rPr lang="en-US" sz="2200" b="0" strike="noStrike" spc="-1">
                <a:solidFill>
                  <a:schemeClr val="accent2">
                    <a:lumMod val="75000"/>
                  </a:schemeClr>
                </a:solidFill>
                <a:latin typeface="News Gothic MT"/>
              </a:rPr>
              <a:t>Summary and Future Work</a:t>
            </a:r>
          </a:p>
        </p:txBody>
      </p:sp>
      <p:sp>
        <p:nvSpPr>
          <p:cNvPr id="359" name="Title 14"/>
          <p:cNvSpPr/>
          <p:nvPr/>
        </p:nvSpPr>
        <p:spPr>
          <a:xfrm>
            <a:off x="-93960" y="107640"/>
            <a:ext cx="12436560" cy="823320"/>
          </a:xfrm>
          <a:prstGeom prst="rect">
            <a:avLst/>
          </a:prstGeom>
          <a:noFill/>
          <a:ln w="0">
            <a:noFill/>
          </a:ln>
        </p:spPr>
        <p:style>
          <a:lnRef idx="0">
            <a:scrgbClr r="0" g="0" b="0"/>
          </a:lnRef>
          <a:fillRef idx="0">
            <a:scrgbClr r="0" g="0" b="0"/>
          </a:fillRef>
          <a:effectRef idx="0">
            <a:scrgbClr r="0" g="0" b="0"/>
          </a:effectRef>
          <a:fontRef idx="minor"/>
        </p:style>
        <p:txBody>
          <a:bodyPr anchor="b">
            <a:noAutofit/>
          </a:bodyPr>
          <a:lstStyle/>
          <a:p>
            <a:pPr algn="ctr" defTabSz="914400">
              <a:lnSpc>
                <a:spcPct val="100000"/>
              </a:lnSpc>
            </a:pPr>
            <a:r>
              <a:rPr lang="en-US" sz="4000" b="0" strike="noStrike" spc="-1">
                <a:solidFill>
                  <a:schemeClr val="accent2">
                    <a:lumMod val="75000"/>
                  </a:schemeClr>
                </a:solidFill>
                <a:latin typeface="News Gothic MT"/>
              </a:rPr>
              <a:t>Outline</a:t>
            </a:r>
            <a:endParaRPr lang="en-US" sz="4000" b="0" strike="noStrike" spc="-1">
              <a:solidFill>
                <a:srgbClr val="000000"/>
              </a:solidFill>
              <a:latin typeface="Arial"/>
            </a:endParaRPr>
          </a:p>
        </p:txBody>
      </p:sp>
      <p:sp>
        <p:nvSpPr>
          <p:cNvPr id="360" name="Rounded Rectangle 15"/>
          <p:cNvSpPr/>
          <p:nvPr/>
        </p:nvSpPr>
        <p:spPr>
          <a:xfrm>
            <a:off x="564480" y="1792080"/>
            <a:ext cx="10890360" cy="1297800"/>
          </a:xfrm>
          <a:prstGeom prst="roundRect">
            <a:avLst>
              <a:gd name="adj" fmla="val 16667"/>
            </a:avLst>
          </a:prstGeom>
          <a:noFill/>
          <a:ln w="31750">
            <a:solidFill>
              <a:srgbClr val="800000"/>
            </a:solidFill>
            <a:round/>
          </a:ln>
          <a:effectLst>
            <a:outerShdw blurRad="63360" dist="25560" dir="5400000" sx="101000" sy="101000"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strike="noStrike" spc="-1">
              <a:solidFill>
                <a:schemeClr val="lt1"/>
              </a:solidFill>
              <a:latin typeface="News Gothic MT"/>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 name="PlaceHolder 1"/>
          <p:cNvSpPr>
            <a:spLocks noGrp="1"/>
          </p:cNvSpPr>
          <p:nvPr>
            <p:ph/>
          </p:nvPr>
        </p:nvSpPr>
        <p:spPr>
          <a:xfrm>
            <a:off x="732240" y="1299240"/>
            <a:ext cx="10969920" cy="4876560"/>
          </a:xfrm>
          <a:prstGeom prst="rect">
            <a:avLst/>
          </a:prstGeom>
          <a:noFill/>
          <a:ln w="0">
            <a:noFill/>
          </a:ln>
        </p:spPr>
        <p:txBody>
          <a:bodyPr lIns="91440" tIns="45720" rIns="91440" bIns="45720" anchor="t">
            <a:normAutofit/>
          </a:bodyPr>
          <a:lstStyle/>
          <a:p>
            <a:pPr marL="349200" indent="-349200" defTabSz="914400">
              <a:lnSpc>
                <a:spcPct val="100000"/>
              </a:lnSpc>
              <a:spcBef>
                <a:spcPts val="2001"/>
              </a:spcBef>
              <a:buClr>
                <a:srgbClr val="1B3742"/>
              </a:buClr>
              <a:buSzPct val="110000"/>
              <a:buFont typeface="Arial"/>
              <a:buChar char="•"/>
            </a:pPr>
            <a:r>
              <a:rPr lang="en-US" sz="2200" b="0" strike="noStrike" spc="-1">
                <a:solidFill>
                  <a:schemeClr val="accent2">
                    <a:lumMod val="75000"/>
                  </a:schemeClr>
                </a:solidFill>
                <a:latin typeface="News Gothic MT"/>
              </a:rPr>
              <a:t>Replaying public, cacheable content, e.g, </a:t>
            </a:r>
            <a:r>
              <a:rPr lang="en-US" sz="2200" b="0" i="1" strike="noStrike" spc="-1">
                <a:solidFill>
                  <a:schemeClr val="accent2">
                    <a:lumMod val="75000"/>
                  </a:schemeClr>
                </a:solidFill>
                <a:latin typeface="News Gothic MT"/>
              </a:rPr>
              <a:t>scfg</a:t>
            </a:r>
            <a:r>
              <a:rPr lang="en-US" sz="2200" b="0" strike="noStrike" spc="-1">
                <a:solidFill>
                  <a:schemeClr val="accent2">
                    <a:lumMod val="75000"/>
                  </a:schemeClr>
                </a:solidFill>
                <a:latin typeface="News Gothic MT"/>
              </a:rPr>
              <a:t> and </a:t>
            </a:r>
            <a:r>
              <a:rPr lang="en-US" sz="2200" b="0" i="1" strike="noStrike" spc="-1">
                <a:solidFill>
                  <a:schemeClr val="accent2">
                    <a:lumMod val="75000"/>
                  </a:schemeClr>
                </a:solidFill>
                <a:latin typeface="News Gothic MT"/>
              </a:rPr>
              <a:t>stk</a:t>
            </a:r>
            <a:r>
              <a:rPr lang="en-US" sz="2200" b="0" strike="noStrike" spc="-1">
                <a:solidFill>
                  <a:schemeClr val="accent2">
                    <a:lumMod val="75000"/>
                  </a:schemeClr>
                </a:solidFill>
                <a:latin typeface="News Gothic MT"/>
              </a:rPr>
              <a:t> </a:t>
            </a:r>
          </a:p>
          <a:p>
            <a:pPr marL="692280" lvl="1" indent="-343080" defTabSz="914400">
              <a:lnSpc>
                <a:spcPct val="100000"/>
              </a:lnSpc>
              <a:spcBef>
                <a:spcPts val="601"/>
              </a:spcBef>
              <a:buClr>
                <a:srgbClr val="1B3742"/>
              </a:buClr>
              <a:buSzPct val="110000"/>
              <a:buFont typeface="Lucida Grande"/>
              <a:buChar char="-"/>
            </a:pPr>
            <a:r>
              <a:rPr lang="en-US" sz="2000" b="0" strike="noStrike" spc="-1">
                <a:solidFill>
                  <a:schemeClr val="accent2">
                    <a:lumMod val="75000"/>
                  </a:schemeClr>
                </a:solidFill>
                <a:latin typeface="News Gothic MT"/>
              </a:rPr>
              <a:t>results in fooling client and/or server parties into trying to achieve a connection and maintain state</a:t>
            </a:r>
            <a:endParaRPr lang="en-US" sz="2000" b="0" strike="noStrike" spc="-1">
              <a:solidFill>
                <a:schemeClr val="dk1">
                  <a:lumMod val="65000"/>
                  <a:lumOff val="35000"/>
                </a:schemeClr>
              </a:solidFill>
              <a:latin typeface="News Gothic MT"/>
            </a:endParaRPr>
          </a:p>
          <a:p>
            <a:pPr marL="349200" indent="-349200" defTabSz="914400">
              <a:lnSpc>
                <a:spcPct val="100000"/>
              </a:lnSpc>
              <a:spcBef>
                <a:spcPts val="2001"/>
              </a:spcBef>
              <a:buClr>
                <a:srgbClr val="1B3742"/>
              </a:buClr>
              <a:buSzPct val="110000"/>
              <a:buFont typeface="Arial"/>
              <a:buChar char="•"/>
            </a:pPr>
            <a:r>
              <a:rPr lang="en-US" sz="2200" b="0" strike="noStrike" spc="-1">
                <a:solidFill>
                  <a:schemeClr val="accent2">
                    <a:lumMod val="75000"/>
                  </a:schemeClr>
                </a:solidFill>
                <a:latin typeface="News Gothic MT"/>
              </a:rPr>
              <a:t>Manipulating unprotected packet fields, e.g., </a:t>
            </a:r>
            <a:r>
              <a:rPr lang="en-US" sz="2200" b="0" i="1" strike="noStrike" spc="-1">
                <a:solidFill>
                  <a:schemeClr val="accent2">
                    <a:lumMod val="75000"/>
                  </a:schemeClr>
                </a:solidFill>
                <a:latin typeface="News Gothic MT"/>
              </a:rPr>
              <a:t>cid &amp; stk</a:t>
            </a:r>
            <a:endParaRPr lang="en-US" sz="2200" b="0" strike="noStrike" spc="-1">
              <a:solidFill>
                <a:schemeClr val="accent2">
                  <a:lumMod val="75000"/>
                </a:schemeClr>
              </a:solidFill>
              <a:latin typeface="News Gothic MT"/>
            </a:endParaRPr>
          </a:p>
          <a:p>
            <a:pPr marL="692280" lvl="1" indent="-343080" defTabSz="914400">
              <a:lnSpc>
                <a:spcPct val="100000"/>
              </a:lnSpc>
              <a:spcBef>
                <a:spcPts val="601"/>
              </a:spcBef>
              <a:buClr>
                <a:srgbClr val="1B3742"/>
              </a:buClr>
              <a:buSzPct val="110000"/>
              <a:buFont typeface="Lucida Grande"/>
              <a:buChar char="-"/>
            </a:pPr>
            <a:r>
              <a:rPr lang="en-US" sz="2000" b="0" strike="noStrike" spc="-1">
                <a:solidFill>
                  <a:schemeClr val="accent2">
                    <a:lumMod val="75000"/>
                  </a:schemeClr>
                </a:solidFill>
                <a:latin typeface="News Gothic MT"/>
              </a:rPr>
              <a:t>leads clients and server to have a distinct view of the key exchange resulting in a failure to establish a session key</a:t>
            </a:r>
            <a:endParaRPr lang="en-US" sz="2000" b="0" strike="noStrike" spc="-1">
              <a:solidFill>
                <a:schemeClr val="dk1">
                  <a:lumMod val="65000"/>
                  <a:lumOff val="35000"/>
                </a:schemeClr>
              </a:solidFill>
              <a:latin typeface="News Gothic MT"/>
            </a:endParaRPr>
          </a:p>
          <a:p>
            <a:pPr marL="349200" indent="-349200" defTabSz="914400">
              <a:lnSpc>
                <a:spcPct val="100000"/>
              </a:lnSpc>
              <a:spcBef>
                <a:spcPts val="2001"/>
              </a:spcBef>
              <a:buClr>
                <a:srgbClr val="1B3742"/>
              </a:buClr>
              <a:buSzPct val="110000"/>
              <a:buFont typeface="Arial"/>
              <a:buChar char="•"/>
            </a:pPr>
            <a:r>
              <a:rPr lang="en-US" sz="2200" b="0" strike="noStrike" spc="-1">
                <a:solidFill>
                  <a:schemeClr val="accent2">
                    <a:lumMod val="75000"/>
                  </a:schemeClr>
                </a:solidFill>
                <a:latin typeface="News Gothic MT"/>
              </a:rPr>
              <a:t>The attacks we have studied</a:t>
            </a:r>
          </a:p>
          <a:p>
            <a:pPr marL="692280" lvl="1" indent="-343080" defTabSz="914400">
              <a:lnSpc>
                <a:spcPct val="100000"/>
              </a:lnSpc>
              <a:spcBef>
                <a:spcPts val="601"/>
              </a:spcBef>
              <a:buClr>
                <a:srgbClr val="1B3742"/>
              </a:buClr>
              <a:buSzPct val="110000"/>
              <a:buFont typeface="Lucida Grande"/>
              <a:buChar char="-"/>
            </a:pPr>
            <a:r>
              <a:rPr lang="en-US" sz="2000" b="0" strike="noStrike" spc="-1">
                <a:solidFill>
                  <a:schemeClr val="accent2">
                    <a:lumMod val="75000"/>
                  </a:schemeClr>
                </a:solidFill>
                <a:latin typeface="News Gothic MT"/>
              </a:rPr>
              <a:t>cause servers and clients to waste time and resources</a:t>
            </a:r>
            <a:endParaRPr lang="en-US" sz="2000" b="0" strike="noStrike" spc="-1">
              <a:solidFill>
                <a:schemeClr val="dk1">
                  <a:lumMod val="65000"/>
                  <a:lumOff val="35000"/>
                </a:schemeClr>
              </a:solidFill>
              <a:latin typeface="News Gothic MT"/>
            </a:endParaRPr>
          </a:p>
          <a:p>
            <a:pPr marL="692280" lvl="1" indent="-343080" defTabSz="914400">
              <a:lnSpc>
                <a:spcPct val="100000"/>
              </a:lnSpc>
              <a:spcBef>
                <a:spcPts val="601"/>
              </a:spcBef>
              <a:buClr>
                <a:srgbClr val="1B3742"/>
              </a:buClr>
              <a:buSzPct val="110000"/>
              <a:buFont typeface="Lucida Grande"/>
              <a:buChar char="-"/>
            </a:pPr>
            <a:r>
              <a:rPr lang="en-US" sz="2000" b="0" strike="noStrike" spc="-1">
                <a:solidFill>
                  <a:schemeClr val="accent2">
                    <a:lumMod val="75000"/>
                  </a:schemeClr>
                </a:solidFill>
                <a:latin typeface="News Gothic MT"/>
              </a:rPr>
              <a:t>stem from parameters whose purpose was to minimize latency, e.g., </a:t>
            </a:r>
            <a:r>
              <a:rPr lang="en-US" sz="2000" b="0" i="1" strike="noStrike" spc="-1">
                <a:solidFill>
                  <a:schemeClr val="accent2">
                    <a:lumMod val="75000"/>
                  </a:schemeClr>
                </a:solidFill>
                <a:latin typeface="News Gothic MT"/>
              </a:rPr>
              <a:t>scfg</a:t>
            </a:r>
            <a:r>
              <a:rPr lang="en-US" sz="2000" b="0" strike="noStrike" spc="-1">
                <a:solidFill>
                  <a:schemeClr val="accent2">
                    <a:lumMod val="75000"/>
                  </a:schemeClr>
                </a:solidFill>
                <a:latin typeface="News Gothic MT"/>
              </a:rPr>
              <a:t> and </a:t>
            </a:r>
            <a:r>
              <a:rPr lang="en-US" sz="2000" b="0" i="1" strike="noStrike" spc="-1">
                <a:solidFill>
                  <a:schemeClr val="accent2">
                    <a:lumMod val="75000"/>
                  </a:schemeClr>
                </a:solidFill>
                <a:latin typeface="News Gothic MT"/>
              </a:rPr>
              <a:t>stk</a:t>
            </a:r>
            <a:endParaRPr lang="en-US" sz="2000" b="0" strike="noStrike" spc="-1">
              <a:solidFill>
                <a:schemeClr val="dk1">
                  <a:lumMod val="65000"/>
                  <a:lumOff val="35000"/>
                </a:schemeClr>
              </a:solidFill>
              <a:latin typeface="News Gothic MT"/>
            </a:endParaRPr>
          </a:p>
          <a:p>
            <a:pPr marL="692280" lvl="1" indent="-343080" defTabSz="914400">
              <a:lnSpc>
                <a:spcPct val="100000"/>
              </a:lnSpc>
              <a:spcBef>
                <a:spcPts val="601"/>
              </a:spcBef>
              <a:buClr>
                <a:srgbClr val="1B3742"/>
              </a:buClr>
              <a:buSzPct val="110000"/>
              <a:buFont typeface="Lucida Grande"/>
              <a:buChar char="-"/>
            </a:pPr>
            <a:r>
              <a:rPr lang="en-US" sz="2000" b="0" strike="noStrike" spc="-1">
                <a:solidFill>
                  <a:schemeClr val="accent2">
                    <a:lumMod val="75000"/>
                  </a:schemeClr>
                </a:solidFill>
                <a:latin typeface="News Gothic MT"/>
              </a:rPr>
              <a:t>do not concern data authenticity and confidentiality</a:t>
            </a:r>
            <a:endParaRPr lang="en-US" sz="2000" b="0" strike="noStrike" spc="-1">
              <a:solidFill>
                <a:schemeClr val="dk1">
                  <a:lumMod val="65000"/>
                  <a:lumOff val="35000"/>
                </a:schemeClr>
              </a:solidFill>
              <a:latin typeface="News Gothic MT"/>
            </a:endParaRPr>
          </a:p>
        </p:txBody>
      </p:sp>
      <p:sp>
        <p:nvSpPr>
          <p:cNvPr id="362" name="Title 15"/>
          <p:cNvSpPr/>
          <p:nvPr/>
        </p:nvSpPr>
        <p:spPr>
          <a:xfrm>
            <a:off x="-93960" y="107640"/>
            <a:ext cx="12436560" cy="823320"/>
          </a:xfrm>
          <a:prstGeom prst="rect">
            <a:avLst/>
          </a:prstGeom>
          <a:noFill/>
          <a:ln w="0">
            <a:noFill/>
          </a:ln>
        </p:spPr>
        <p:style>
          <a:lnRef idx="0">
            <a:scrgbClr r="0" g="0" b="0"/>
          </a:lnRef>
          <a:fillRef idx="0">
            <a:scrgbClr r="0" g="0" b="0"/>
          </a:fillRef>
          <a:effectRef idx="0">
            <a:scrgbClr r="0" g="0" b="0"/>
          </a:effectRef>
          <a:fontRef idx="minor"/>
        </p:style>
        <p:txBody>
          <a:bodyPr anchor="b">
            <a:noAutofit/>
          </a:bodyPr>
          <a:lstStyle/>
          <a:p>
            <a:pPr algn="ctr" defTabSz="914400">
              <a:lnSpc>
                <a:spcPct val="100000"/>
              </a:lnSpc>
            </a:pPr>
            <a:r>
              <a:rPr lang="en-US" sz="4000" b="0" strike="noStrike" spc="-1">
                <a:solidFill>
                  <a:schemeClr val="accent2">
                    <a:lumMod val="75000"/>
                  </a:schemeClr>
                </a:solidFill>
                <a:latin typeface="News Gothic MT"/>
              </a:rPr>
              <a:t>Performance Attack Overview</a:t>
            </a:r>
            <a:endParaRPr lang="en-US" sz="4000" b="0" strike="noStrike" spc="-1">
              <a:solidFill>
                <a:srgbClr val="000000"/>
              </a:solidFill>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361">
                                            <p:txEl>
                                              <p:pRg st="2" end="2"/>
                                            </p:txEl>
                                          </p:spTgt>
                                        </p:tgtEl>
                                        <p:attrNameLst>
                                          <p:attrName>style.visibility</p:attrName>
                                        </p:attrNameLst>
                                      </p:cBhvr>
                                      <p:to>
                                        <p:strVal val="visible"/>
                                      </p:to>
                                    </p:set>
                                  </p:childTnLst>
                                </p:cTn>
                              </p:par>
                              <p:par>
                                <p:cTn id="7" presetID="1" presetClass="entr" fill="hold" nodeType="withEffect">
                                  <p:stCondLst>
                                    <p:cond delay="0"/>
                                  </p:stCondLst>
                                  <p:childTnLst>
                                    <p:set>
                                      <p:cBhvr>
                                        <p:cTn id="8" dur="1" fill="hold">
                                          <p:stCondLst>
                                            <p:cond delay="0"/>
                                          </p:stCondLst>
                                        </p:cTn>
                                        <p:tgtEl>
                                          <p:spTgt spid="361">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fill="hold" nodeType="clickEffect">
                                  <p:stCondLst>
                                    <p:cond delay="0"/>
                                  </p:stCondLst>
                                  <p:childTnLst>
                                    <p:set>
                                      <p:cBhvr>
                                        <p:cTn id="12" dur="1" fill="hold">
                                          <p:stCondLst>
                                            <p:cond delay="0"/>
                                          </p:stCondLst>
                                        </p:cTn>
                                        <p:tgtEl>
                                          <p:spTgt spid="361">
                                            <p:txEl>
                                              <p:pRg st="4" end="4"/>
                                            </p:txEl>
                                          </p:spTgt>
                                        </p:tgtEl>
                                        <p:attrNameLst>
                                          <p:attrName>style.visibility</p:attrName>
                                        </p:attrNameLst>
                                      </p:cBhvr>
                                      <p:to>
                                        <p:strVal val="visible"/>
                                      </p:to>
                                    </p:set>
                                  </p:childTnLst>
                                </p:cTn>
                              </p:par>
                              <p:par>
                                <p:cTn id="13" presetID="1" presetClass="entr" fill="hold" nodeType="withEffect">
                                  <p:stCondLst>
                                    <p:cond delay="0"/>
                                  </p:stCondLst>
                                  <p:childTnLst>
                                    <p:set>
                                      <p:cBhvr>
                                        <p:cTn id="14" dur="1" fill="hold">
                                          <p:stCondLst>
                                            <p:cond delay="0"/>
                                          </p:stCondLst>
                                        </p:cTn>
                                        <p:tgtEl>
                                          <p:spTgt spid="361">
                                            <p:txEl>
                                              <p:pRg st="5" end="5"/>
                                            </p:txEl>
                                          </p:spTgt>
                                        </p:tgtEl>
                                        <p:attrNameLst>
                                          <p:attrName>style.visibility</p:attrName>
                                        </p:attrNameLst>
                                      </p:cBhvr>
                                      <p:to>
                                        <p:strVal val="visible"/>
                                      </p:to>
                                    </p:set>
                                  </p:childTnLst>
                                </p:cTn>
                              </p:par>
                              <p:par>
                                <p:cTn id="15" presetID="1" presetClass="entr" fill="hold" nodeType="withEffect">
                                  <p:stCondLst>
                                    <p:cond delay="0"/>
                                  </p:stCondLst>
                                  <p:childTnLst>
                                    <p:set>
                                      <p:cBhvr>
                                        <p:cTn id="16" dur="1" fill="hold">
                                          <p:stCondLst>
                                            <p:cond delay="0"/>
                                          </p:stCondLst>
                                        </p:cTn>
                                        <p:tgtEl>
                                          <p:spTgt spid="361">
                                            <p:txEl>
                                              <p:pRg st="6" end="6"/>
                                            </p:txEl>
                                          </p:spTgt>
                                        </p:tgtEl>
                                        <p:attrNameLst>
                                          <p:attrName>style.visibility</p:attrName>
                                        </p:attrNameLst>
                                      </p:cBhvr>
                                      <p:to>
                                        <p:strVal val="visible"/>
                                      </p:to>
                                    </p:set>
                                  </p:childTnLst>
                                </p:cTn>
                              </p:par>
                              <p:par>
                                <p:cTn id="17" presetID="1" presetClass="entr" fill="hold" nodeType="withEffect">
                                  <p:stCondLst>
                                    <p:cond delay="0"/>
                                  </p:stCondLst>
                                  <p:childTnLst>
                                    <p:set>
                                      <p:cBhvr>
                                        <p:cTn id="18" dur="1" fill="hold">
                                          <p:stCondLst>
                                            <p:cond delay="0"/>
                                          </p:stCondLst>
                                        </p:cTn>
                                        <p:tgtEl>
                                          <p:spTgt spid="36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3" name="Table 7"/>
          <p:cNvGraphicFramePr/>
          <p:nvPr/>
        </p:nvGraphicFramePr>
        <p:xfrm>
          <a:off x="1698120" y="2199600"/>
          <a:ext cx="8443440" cy="2910240"/>
        </p:xfrm>
        <a:graphic>
          <a:graphicData uri="http://schemas.openxmlformats.org/drawingml/2006/table">
            <a:tbl>
              <a:tblPr/>
              <a:tblGrid>
                <a:gridCol w="3224160">
                  <a:extLst>
                    <a:ext uri="{9D8B030D-6E8A-4147-A177-3AD203B41FA5}">
                      <a16:colId xmlns:a16="http://schemas.microsoft.com/office/drawing/2014/main" val="20000"/>
                    </a:ext>
                  </a:extLst>
                </a:gridCol>
                <a:gridCol w="2110680">
                  <a:extLst>
                    <a:ext uri="{9D8B030D-6E8A-4147-A177-3AD203B41FA5}">
                      <a16:colId xmlns:a16="http://schemas.microsoft.com/office/drawing/2014/main" val="20001"/>
                    </a:ext>
                  </a:extLst>
                </a:gridCol>
                <a:gridCol w="3108600">
                  <a:extLst>
                    <a:ext uri="{9D8B030D-6E8A-4147-A177-3AD203B41FA5}">
                      <a16:colId xmlns:a16="http://schemas.microsoft.com/office/drawing/2014/main" val="20002"/>
                    </a:ext>
                  </a:extLst>
                </a:gridCol>
              </a:tblGrid>
              <a:tr h="370800">
                <a:tc>
                  <a:txBody>
                    <a:bodyPr/>
                    <a:lstStyle/>
                    <a:p>
                      <a:pPr algn="ctr" defTabSz="914400">
                        <a:lnSpc>
                          <a:spcPct val="100000"/>
                        </a:lnSpc>
                      </a:pPr>
                      <a:r>
                        <a:rPr lang="en-US" sz="1600" b="1" strike="noStrike" spc="-1">
                          <a:solidFill>
                            <a:schemeClr val="dk1"/>
                          </a:solidFill>
                          <a:latin typeface="News Gothic MT"/>
                        </a:rPr>
                        <a:t>Attack Name</a:t>
                      </a:r>
                      <a:endParaRPr lang="en-US" sz="1600" b="0" strike="noStrike" spc="-1">
                        <a:solidFill>
                          <a:srgbClr val="000000"/>
                        </a:solidFill>
                        <a:latin typeface="Times New Roman"/>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ctr" defTabSz="914400">
                        <a:lnSpc>
                          <a:spcPct val="100000"/>
                        </a:lnSpc>
                      </a:pPr>
                      <a:r>
                        <a:rPr lang="en-US" sz="1600" b="1" strike="noStrike" spc="-1">
                          <a:solidFill>
                            <a:schemeClr val="dk1"/>
                          </a:solidFill>
                          <a:latin typeface="News Gothic MT"/>
                        </a:rPr>
                        <a:t>Attack Type</a:t>
                      </a:r>
                      <a:endParaRPr lang="en-US" sz="1600" b="0" strike="noStrike" spc="-1">
                        <a:solidFill>
                          <a:srgbClr val="000000"/>
                        </a:solidFill>
                        <a:latin typeface="Times New Roman"/>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ctr" defTabSz="914400">
                        <a:lnSpc>
                          <a:spcPct val="100000"/>
                        </a:lnSpc>
                      </a:pPr>
                      <a:r>
                        <a:rPr lang="en-US" sz="1600" b="1" strike="noStrike" spc="-1">
                          <a:solidFill>
                            <a:schemeClr val="dk1"/>
                          </a:solidFill>
                          <a:latin typeface="News Gothic MT"/>
                        </a:rPr>
                        <a:t>Impact</a:t>
                      </a:r>
                      <a:endParaRPr lang="en-US" sz="1600" b="0" strike="noStrike" spc="-1">
                        <a:solidFill>
                          <a:srgbClr val="000000"/>
                        </a:solidFill>
                        <a:latin typeface="Times New Roman"/>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0"/>
                  </a:ext>
                </a:extLst>
              </a:tr>
              <a:tr h="370800">
                <a:tc>
                  <a:txBody>
                    <a:bodyPr/>
                    <a:lstStyle/>
                    <a:p>
                      <a:pPr algn="ctr" defTabSz="914400">
                        <a:lnSpc>
                          <a:spcPct val="100000"/>
                        </a:lnSpc>
                      </a:pPr>
                      <a:r>
                        <a:rPr lang="en-US" sz="1400" b="0" i="1" strike="noStrike" spc="-1">
                          <a:solidFill>
                            <a:schemeClr val="dk1"/>
                          </a:solidFill>
                          <a:latin typeface="News Gothic MT"/>
                        </a:rPr>
                        <a:t>scfg</a:t>
                      </a:r>
                      <a:r>
                        <a:rPr lang="en-US" sz="1400" b="0" strike="noStrike" spc="-1">
                          <a:solidFill>
                            <a:schemeClr val="dk1"/>
                          </a:solidFill>
                          <a:latin typeface="News Gothic MT"/>
                        </a:rPr>
                        <a:t> Replay Attack</a:t>
                      </a:r>
                      <a:endParaRPr lang="en-US" sz="1400" b="0" strike="noStrike" spc="-1">
                        <a:solidFill>
                          <a:srgbClr val="000000"/>
                        </a:solidFill>
                        <a:latin typeface="Times New Roman"/>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ctr" defTabSz="914400">
                        <a:lnSpc>
                          <a:spcPct val="100000"/>
                        </a:lnSpc>
                      </a:pPr>
                      <a:r>
                        <a:rPr lang="en-US" sz="1400" b="0" strike="noStrike" spc="-1">
                          <a:solidFill>
                            <a:schemeClr val="dk1"/>
                          </a:solidFill>
                          <a:latin typeface="News Gothic MT"/>
                        </a:rPr>
                        <a:t>Replay</a:t>
                      </a:r>
                      <a:endParaRPr lang="en-US" sz="1400" b="0" strike="noStrike" spc="-1">
                        <a:solidFill>
                          <a:srgbClr val="000000"/>
                        </a:solidFill>
                        <a:latin typeface="Times New Roman"/>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ctr" defTabSz="914400">
                        <a:lnSpc>
                          <a:spcPct val="100000"/>
                        </a:lnSpc>
                      </a:pPr>
                      <a:r>
                        <a:rPr lang="en-US" sz="1400" b="0" strike="noStrike" spc="-1">
                          <a:solidFill>
                            <a:schemeClr val="dk1"/>
                          </a:solidFill>
                          <a:latin typeface="News Gothic MT"/>
                        </a:rPr>
                        <a:t>Connection Failure</a:t>
                      </a:r>
                      <a:endParaRPr lang="en-US" sz="1400" b="0" strike="noStrike" spc="-1">
                        <a:solidFill>
                          <a:srgbClr val="000000"/>
                        </a:solidFill>
                        <a:latin typeface="Times New Roman"/>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1"/>
                  </a:ext>
                </a:extLst>
              </a:tr>
              <a:tr h="370800">
                <a:tc>
                  <a:txBody>
                    <a:bodyPr/>
                    <a:lstStyle/>
                    <a:p>
                      <a:pPr algn="ctr" defTabSz="914400">
                        <a:lnSpc>
                          <a:spcPct val="100000"/>
                        </a:lnSpc>
                      </a:pPr>
                      <a:r>
                        <a:rPr lang="en-US" sz="1400" b="0" i="1" strike="noStrike" spc="-1">
                          <a:solidFill>
                            <a:schemeClr val="dk1"/>
                          </a:solidFill>
                          <a:latin typeface="News Gothic MT"/>
                        </a:rPr>
                        <a:t>stk</a:t>
                      </a:r>
                      <a:r>
                        <a:rPr lang="en-US" sz="1400" b="0" strike="noStrike" spc="-1">
                          <a:solidFill>
                            <a:schemeClr val="dk1"/>
                          </a:solidFill>
                          <a:latin typeface="News Gothic MT"/>
                        </a:rPr>
                        <a:t> Replay Attack</a:t>
                      </a:r>
                      <a:endParaRPr lang="en-US" sz="1400" b="0" strike="noStrike" spc="-1">
                        <a:solidFill>
                          <a:srgbClr val="000000"/>
                        </a:solidFill>
                        <a:latin typeface="Times New Roman"/>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ctr" defTabSz="914400">
                        <a:lnSpc>
                          <a:spcPct val="100000"/>
                        </a:lnSpc>
                      </a:pPr>
                      <a:r>
                        <a:rPr lang="en-US" sz="1400" b="0" strike="noStrike" spc="-1">
                          <a:solidFill>
                            <a:schemeClr val="dk1"/>
                          </a:solidFill>
                          <a:latin typeface="News Gothic MT"/>
                        </a:rPr>
                        <a:t>Replay</a:t>
                      </a:r>
                      <a:endParaRPr lang="en-US" sz="1400" b="0" strike="noStrike" spc="-1">
                        <a:solidFill>
                          <a:srgbClr val="000000"/>
                        </a:solidFill>
                        <a:latin typeface="Times New Roman"/>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ctr" defTabSz="914400">
                        <a:lnSpc>
                          <a:spcPct val="100000"/>
                        </a:lnSpc>
                      </a:pPr>
                      <a:r>
                        <a:rPr lang="en-US" sz="1400" b="0" strike="noStrike" spc="-1">
                          <a:solidFill>
                            <a:schemeClr val="dk1"/>
                          </a:solidFill>
                          <a:latin typeface="News Gothic MT"/>
                        </a:rPr>
                        <a:t>Server DoS</a:t>
                      </a:r>
                      <a:endParaRPr lang="en-US" sz="1400" b="0" strike="noStrike" spc="-1">
                        <a:solidFill>
                          <a:srgbClr val="000000"/>
                        </a:solidFill>
                        <a:latin typeface="Times New Roman"/>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2"/>
                  </a:ext>
                </a:extLst>
              </a:tr>
              <a:tr h="370800">
                <a:tc>
                  <a:txBody>
                    <a:bodyPr/>
                    <a:lstStyle/>
                    <a:p>
                      <a:pPr algn="ctr" defTabSz="914400">
                        <a:lnSpc>
                          <a:spcPct val="100000"/>
                        </a:lnSpc>
                      </a:pPr>
                      <a:r>
                        <a:rPr lang="en-US" sz="1400" b="0" i="1" strike="noStrike" spc="-1">
                          <a:solidFill>
                            <a:schemeClr val="dk1"/>
                          </a:solidFill>
                          <a:latin typeface="News Gothic MT"/>
                        </a:rPr>
                        <a:t>cid</a:t>
                      </a:r>
                      <a:r>
                        <a:rPr lang="en-US" sz="1400" b="0" strike="noStrike" spc="-1">
                          <a:solidFill>
                            <a:schemeClr val="dk1"/>
                          </a:solidFill>
                          <a:latin typeface="News Gothic MT"/>
                        </a:rPr>
                        <a:t> Manipulation Attack</a:t>
                      </a:r>
                      <a:endParaRPr lang="en-US" sz="1400" b="0" strike="noStrike" spc="-1">
                        <a:solidFill>
                          <a:srgbClr val="000000"/>
                        </a:solidFill>
                        <a:latin typeface="Times New Roman"/>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ctr" defTabSz="914400">
                        <a:lnSpc>
                          <a:spcPct val="100000"/>
                        </a:lnSpc>
                      </a:pPr>
                      <a:r>
                        <a:rPr lang="en-US" sz="1400" b="0" strike="noStrike" spc="-1">
                          <a:solidFill>
                            <a:schemeClr val="dk1"/>
                          </a:solidFill>
                          <a:latin typeface="News Gothic MT"/>
                        </a:rPr>
                        <a:t>Manipulation</a:t>
                      </a:r>
                      <a:endParaRPr lang="en-US" sz="1400" b="0" strike="noStrike" spc="-1">
                        <a:solidFill>
                          <a:srgbClr val="000000"/>
                        </a:solidFill>
                        <a:latin typeface="Times New Roman"/>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ctr" defTabSz="914400">
                        <a:lnSpc>
                          <a:spcPct val="100000"/>
                        </a:lnSpc>
                      </a:pPr>
                      <a:r>
                        <a:rPr lang="en-US" sz="1400" b="0" strike="noStrike" spc="-1">
                          <a:solidFill>
                            <a:schemeClr val="dk1"/>
                          </a:solidFill>
                          <a:latin typeface="News Gothic MT"/>
                        </a:rPr>
                        <a:t>Connection Failure, Server Load</a:t>
                      </a:r>
                      <a:endParaRPr lang="en-US" sz="1400" b="0" strike="noStrike" spc="-1">
                        <a:solidFill>
                          <a:srgbClr val="000000"/>
                        </a:solidFill>
                        <a:latin typeface="Times New Roman"/>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3"/>
                  </a:ext>
                </a:extLst>
              </a:tr>
              <a:tr h="370800">
                <a:tc>
                  <a:txBody>
                    <a:bodyPr/>
                    <a:lstStyle/>
                    <a:p>
                      <a:pPr algn="ctr" defTabSz="914400">
                        <a:lnSpc>
                          <a:spcPct val="100000"/>
                        </a:lnSpc>
                      </a:pPr>
                      <a:r>
                        <a:rPr lang="en-US" sz="1400" b="0" i="1" strike="noStrike" spc="-1">
                          <a:solidFill>
                            <a:schemeClr val="dk1"/>
                          </a:solidFill>
                          <a:latin typeface="News Gothic MT"/>
                        </a:rPr>
                        <a:t>stk</a:t>
                      </a:r>
                      <a:r>
                        <a:rPr lang="en-US" sz="1400" b="0" strike="noStrike" spc="-1">
                          <a:solidFill>
                            <a:schemeClr val="dk1"/>
                          </a:solidFill>
                          <a:latin typeface="News Gothic MT"/>
                        </a:rPr>
                        <a:t> Manipulation Attack</a:t>
                      </a:r>
                      <a:r>
                        <a:rPr lang="en-US" sz="1800" b="0" strike="noStrike" spc="-1">
                          <a:solidFill>
                            <a:schemeClr val="dk1"/>
                          </a:solidFill>
                          <a:latin typeface="News Gothic MT"/>
                        </a:rPr>
                        <a:t> </a:t>
                      </a:r>
                      <a:endParaRPr lang="en-US" sz="1800" b="0" strike="noStrike" spc="-1">
                        <a:solidFill>
                          <a:srgbClr val="000000"/>
                        </a:solidFill>
                        <a:latin typeface="Times New Roman"/>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ctr" defTabSz="914400">
                        <a:lnSpc>
                          <a:spcPct val="100000"/>
                        </a:lnSpc>
                      </a:pPr>
                      <a:r>
                        <a:rPr lang="en-US" sz="1400" b="0" strike="noStrike" spc="-1">
                          <a:solidFill>
                            <a:schemeClr val="dk1"/>
                          </a:solidFill>
                          <a:latin typeface="News Gothic MT"/>
                        </a:rPr>
                        <a:t>Manipulation</a:t>
                      </a:r>
                      <a:endParaRPr lang="en-US" sz="1400" b="0" strike="noStrike" spc="-1">
                        <a:solidFill>
                          <a:srgbClr val="000000"/>
                        </a:solidFill>
                        <a:latin typeface="Times New Roman"/>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ctr" defTabSz="914400">
                        <a:lnSpc>
                          <a:spcPct val="100000"/>
                        </a:lnSpc>
                      </a:pPr>
                      <a:r>
                        <a:rPr lang="en-US" sz="1400" b="0" strike="noStrike" spc="-1">
                          <a:solidFill>
                            <a:schemeClr val="dk1"/>
                          </a:solidFill>
                          <a:latin typeface="News Gothic MT"/>
                        </a:rPr>
                        <a:t>Connection Failure, Server Load</a:t>
                      </a:r>
                      <a:endParaRPr lang="en-US" sz="1400" b="0" strike="noStrike" spc="-1">
                        <a:solidFill>
                          <a:srgbClr val="000000"/>
                        </a:solidFill>
                        <a:latin typeface="Times New Roman"/>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4"/>
                  </a:ext>
                </a:extLst>
              </a:tr>
              <a:tr h="370800">
                <a:tc>
                  <a:txBody>
                    <a:bodyPr/>
                    <a:lstStyle/>
                    <a:p>
                      <a:pPr algn="ctr" defTabSz="914400">
                        <a:lnSpc>
                          <a:spcPct val="100000"/>
                        </a:lnSpc>
                      </a:pPr>
                      <a:r>
                        <a:rPr lang="en-US" sz="1400" b="0" strike="noStrike" spc="-1">
                          <a:solidFill>
                            <a:schemeClr val="dk1"/>
                          </a:solidFill>
                          <a:latin typeface="News Gothic MT"/>
                        </a:rPr>
                        <a:t>Crypto Stream Offset Attack</a:t>
                      </a:r>
                      <a:r>
                        <a:rPr lang="en-US" sz="1800" b="0" strike="noStrike" spc="-1">
                          <a:solidFill>
                            <a:schemeClr val="dk1"/>
                          </a:solidFill>
                          <a:latin typeface="News Gothic MT"/>
                        </a:rPr>
                        <a:t> </a:t>
                      </a:r>
                      <a:endParaRPr lang="en-US" sz="1800" b="0" strike="noStrike" spc="-1">
                        <a:solidFill>
                          <a:srgbClr val="000000"/>
                        </a:solidFill>
                        <a:latin typeface="Times New Roman"/>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ctr" defTabSz="914400">
                        <a:lnSpc>
                          <a:spcPct val="100000"/>
                        </a:lnSpc>
                      </a:pPr>
                      <a:r>
                        <a:rPr lang="en-US" sz="1400" b="0" strike="noStrike" spc="-1">
                          <a:solidFill>
                            <a:schemeClr val="dk1"/>
                          </a:solidFill>
                          <a:latin typeface="News Gothic MT"/>
                        </a:rPr>
                        <a:t>Other</a:t>
                      </a:r>
                      <a:endParaRPr lang="en-US" sz="1400" b="0" strike="noStrike" spc="-1">
                        <a:solidFill>
                          <a:srgbClr val="000000"/>
                        </a:solidFill>
                        <a:latin typeface="Times New Roman"/>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ctr" defTabSz="914400">
                        <a:lnSpc>
                          <a:spcPct val="100000"/>
                        </a:lnSpc>
                      </a:pPr>
                      <a:r>
                        <a:rPr lang="en-US" sz="1400" b="0" strike="noStrike" spc="-1">
                          <a:solidFill>
                            <a:schemeClr val="dk1"/>
                          </a:solidFill>
                          <a:latin typeface="News Gothic MT"/>
                        </a:rPr>
                        <a:t>Connection Failure</a:t>
                      </a:r>
                      <a:endParaRPr lang="en-US" sz="1400" b="0" strike="noStrike" spc="-1">
                        <a:solidFill>
                          <a:srgbClr val="000000"/>
                        </a:solidFill>
                        <a:latin typeface="Times New Roman"/>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5"/>
                  </a:ext>
                </a:extLst>
              </a:tr>
            </a:tbl>
          </a:graphicData>
        </a:graphic>
      </p:graphicFrame>
      <p:sp>
        <p:nvSpPr>
          <p:cNvPr id="364" name="TextBox 99"/>
          <p:cNvSpPr/>
          <p:nvPr/>
        </p:nvSpPr>
        <p:spPr>
          <a:xfrm>
            <a:off x="2737440" y="1243080"/>
            <a:ext cx="6452280" cy="6091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600" b="0" strike="noStrike" spc="-1">
                <a:solidFill>
                  <a:schemeClr val="accent2">
                    <a:lumMod val="75000"/>
                  </a:schemeClr>
                </a:solidFill>
                <a:latin typeface="News Gothic MT"/>
              </a:rPr>
              <a:t>targeted QUIC Chromium implementation from October 1, 2014 </a:t>
            </a:r>
            <a:endParaRPr lang="en-US" sz="1600" b="0" strike="noStrike" spc="-1">
              <a:solidFill>
                <a:srgbClr val="000000"/>
              </a:solidFill>
              <a:latin typeface="Arial"/>
            </a:endParaRPr>
          </a:p>
          <a:p>
            <a:pPr defTabSz="914400">
              <a:lnSpc>
                <a:spcPct val="100000"/>
              </a:lnSpc>
            </a:pPr>
            <a:r>
              <a:rPr lang="en-US" sz="1600" b="0" strike="noStrike" spc="-1">
                <a:solidFill>
                  <a:schemeClr val="accent2">
                    <a:lumMod val="75000"/>
                  </a:schemeClr>
                </a:solidFill>
                <a:latin typeface="News Gothic MT"/>
              </a:rPr>
              <a:t>used Python scapy library (</a:t>
            </a:r>
            <a:r>
              <a:rPr lang="en-US" sz="1600" b="0" u="sng" strike="noStrike" spc="-1">
                <a:solidFill>
                  <a:schemeClr val="accent2">
                    <a:lumMod val="75000"/>
                  </a:schemeClr>
                </a:solidFill>
                <a:uFillTx/>
                <a:latin typeface="News Gothic MT"/>
                <a:hlinkClick r:id="rId2"/>
              </a:rPr>
              <a:t>http://www.secdev.org/projects/scapy</a:t>
            </a:r>
            <a:r>
              <a:rPr lang="en-US" sz="1600" b="0" u="sng" strike="noStrike" spc="-1">
                <a:solidFill>
                  <a:schemeClr val="accent2">
                    <a:lumMod val="75000"/>
                  </a:schemeClr>
                </a:solidFill>
                <a:uFillTx/>
                <a:latin typeface="News Gothic MT"/>
                <a:hlinkClick r:id="rId2"/>
              </a:rPr>
              <a:t>/</a:t>
            </a:r>
            <a:r>
              <a:rPr lang="en-US" sz="1600" b="0" strike="noStrike" spc="-1">
                <a:solidFill>
                  <a:schemeClr val="accent2">
                    <a:lumMod val="75000"/>
                  </a:schemeClr>
                </a:solidFill>
                <a:latin typeface="News Gothic MT"/>
              </a:rPr>
              <a:t>)</a:t>
            </a:r>
            <a:endParaRPr lang="en-US" sz="1600" b="0" strike="noStrike" spc="-1">
              <a:solidFill>
                <a:srgbClr val="000000"/>
              </a:solidFill>
              <a:latin typeface="Arial"/>
            </a:endParaRPr>
          </a:p>
        </p:txBody>
      </p:sp>
      <p:sp>
        <p:nvSpPr>
          <p:cNvPr id="365" name="Title 16"/>
          <p:cNvSpPr/>
          <p:nvPr/>
        </p:nvSpPr>
        <p:spPr>
          <a:xfrm>
            <a:off x="-93960" y="107640"/>
            <a:ext cx="12436560" cy="823320"/>
          </a:xfrm>
          <a:prstGeom prst="rect">
            <a:avLst/>
          </a:prstGeom>
          <a:noFill/>
          <a:ln w="0">
            <a:noFill/>
          </a:ln>
        </p:spPr>
        <p:style>
          <a:lnRef idx="0">
            <a:scrgbClr r="0" g="0" b="0"/>
          </a:lnRef>
          <a:fillRef idx="0">
            <a:scrgbClr r="0" g="0" b="0"/>
          </a:fillRef>
          <a:effectRef idx="0">
            <a:scrgbClr r="0" g="0" b="0"/>
          </a:effectRef>
          <a:fontRef idx="minor"/>
        </p:style>
        <p:txBody>
          <a:bodyPr anchor="b">
            <a:noAutofit/>
          </a:bodyPr>
          <a:lstStyle/>
          <a:p>
            <a:pPr algn="ctr" defTabSz="914400">
              <a:lnSpc>
                <a:spcPct val="100000"/>
              </a:lnSpc>
            </a:pPr>
            <a:r>
              <a:rPr lang="en-US" sz="4000" b="0" strike="noStrike" spc="-1">
                <a:solidFill>
                  <a:schemeClr val="accent2">
                    <a:lumMod val="75000"/>
                  </a:schemeClr>
                </a:solidFill>
                <a:latin typeface="News Gothic MT"/>
              </a:rPr>
              <a:t>Attacks Implemented</a:t>
            </a:r>
            <a:endParaRPr lang="en-US" sz="4000" b="0" strike="noStrike" spc="-1">
              <a:solidFill>
                <a:srgbClr val="000000"/>
              </a:solidFill>
              <a:latin typeface="Arial"/>
            </a:endParaRPr>
          </a:p>
        </p:txBody>
      </p:sp>
      <p:sp>
        <p:nvSpPr>
          <p:cNvPr id="366" name="TextBox 100"/>
          <p:cNvSpPr/>
          <p:nvPr/>
        </p:nvSpPr>
        <p:spPr>
          <a:xfrm>
            <a:off x="509040" y="5243760"/>
            <a:ext cx="106855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algn="ctr" defTabSz="914400">
              <a:lnSpc>
                <a:spcPct val="100000"/>
              </a:lnSpc>
            </a:pPr>
            <a:r>
              <a:rPr lang="en-US" sz="1800" b="0" strike="noStrike" spc="-1">
                <a:solidFill>
                  <a:srgbClr val="800000"/>
                </a:solidFill>
                <a:latin typeface="News Gothic MT"/>
              </a:rPr>
              <a:t>Attacks can be used to deny clients access to any </a:t>
            </a:r>
            <a:endParaRPr lang="en-US" sz="1800" b="0" strike="noStrike" spc="-1">
              <a:solidFill>
                <a:srgbClr val="000000"/>
              </a:solidFill>
              <a:latin typeface="Arial"/>
            </a:endParaRPr>
          </a:p>
          <a:p>
            <a:pPr marL="343080" algn="ctr" defTabSz="914400">
              <a:lnSpc>
                <a:spcPct val="100000"/>
              </a:lnSpc>
            </a:pPr>
            <a:r>
              <a:rPr lang="en-US" sz="1800" b="0" strike="noStrike" spc="-1">
                <a:solidFill>
                  <a:srgbClr val="800000"/>
                </a:solidFill>
                <a:latin typeface="News Gothic MT"/>
              </a:rPr>
              <a:t>application of choice and cause servers to waste resources!</a:t>
            </a:r>
            <a:endParaRPr lang="en-US" sz="1800" b="0" strike="noStrike" spc="-1">
              <a:solidFill>
                <a:srgbClr val="000000"/>
              </a:solidFill>
              <a:latin typeface="Arial"/>
            </a:endParaRPr>
          </a:p>
        </p:txBody>
      </p:sp>
      <p:sp>
        <p:nvSpPr>
          <p:cNvPr id="367" name="Rounded Rectangle 1"/>
          <p:cNvSpPr/>
          <p:nvPr/>
        </p:nvSpPr>
        <p:spPr>
          <a:xfrm>
            <a:off x="1397160" y="5246640"/>
            <a:ext cx="9063360" cy="642960"/>
          </a:xfrm>
          <a:prstGeom prst="roundRect">
            <a:avLst>
              <a:gd name="adj" fmla="val 16667"/>
            </a:avLst>
          </a:prstGeom>
          <a:noFill/>
          <a:ln w="31750">
            <a:solidFill>
              <a:srgbClr val="800000"/>
            </a:solidFill>
            <a:round/>
          </a:ln>
          <a:effectLst>
            <a:outerShdw blurRad="63360" dist="25560" dir="5400000" sx="101000" sy="101000"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strike="noStrike" spc="-1">
              <a:solidFill>
                <a:schemeClr val="lt1"/>
              </a:solidFill>
              <a:latin typeface="News Gothic MT"/>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9" presetClass="entr" fill="hold" nodeType="clickEffect">
                                  <p:stCondLst>
                                    <p:cond delay="0"/>
                                  </p:stCondLst>
                                  <p:childTnLst>
                                    <p:set>
                                      <p:cBhvr>
                                        <p:cTn id="6" dur="1" fill="hold">
                                          <p:stCondLst>
                                            <p:cond delay="0"/>
                                          </p:stCondLst>
                                        </p:cTn>
                                        <p:tgtEl>
                                          <p:spTgt spid="366">
                                            <p:txEl>
                                              <p:pRg st="0" end="0"/>
                                            </p:txEl>
                                          </p:spTgt>
                                        </p:tgtEl>
                                        <p:attrNameLst>
                                          <p:attrName>style.visibility</p:attrName>
                                        </p:attrNameLst>
                                      </p:cBhvr>
                                      <p:to>
                                        <p:strVal val="visible"/>
                                      </p:to>
                                    </p:set>
                                    <p:animEffect transition="in" filter="dissolve">
                                      <p:cBhvr additive="repl">
                                        <p:cTn id="7" dur="500"/>
                                        <p:tgtEl>
                                          <p:spTgt spid="366">
                                            <p:txEl>
                                              <p:pRg st="0" end="0"/>
                                            </p:txEl>
                                          </p:spTgt>
                                        </p:tgtEl>
                                      </p:cBhvr>
                                    </p:animEffect>
                                  </p:childTnLst>
                                </p:cTn>
                              </p:par>
                              <p:par>
                                <p:cTn id="8" presetID="9" presetClass="entr" fill="hold" nodeType="withEffect">
                                  <p:stCondLst>
                                    <p:cond delay="0"/>
                                  </p:stCondLst>
                                  <p:childTnLst>
                                    <p:set>
                                      <p:cBhvr>
                                        <p:cTn id="9" dur="1" fill="hold">
                                          <p:stCondLst>
                                            <p:cond delay="0"/>
                                          </p:stCondLst>
                                        </p:cTn>
                                        <p:tgtEl>
                                          <p:spTgt spid="366">
                                            <p:txEl>
                                              <p:pRg st="1" end="1"/>
                                            </p:txEl>
                                          </p:spTgt>
                                        </p:tgtEl>
                                        <p:attrNameLst>
                                          <p:attrName>style.visibility</p:attrName>
                                        </p:attrNameLst>
                                      </p:cBhvr>
                                      <p:to>
                                        <p:strVal val="visible"/>
                                      </p:to>
                                    </p:set>
                                    <p:animEffect transition="in" filter="dissolve">
                                      <p:cBhvr additive="repl">
                                        <p:cTn id="10" dur="500"/>
                                        <p:tgtEl>
                                          <p:spTgt spid="366">
                                            <p:txEl>
                                              <p:pRg st="1" end="1"/>
                                            </p:txEl>
                                          </p:spTgt>
                                        </p:tgtEl>
                                      </p:cBhvr>
                                    </p:animEffect>
                                  </p:childTnLst>
                                </p:cTn>
                              </p:par>
                              <p:par>
                                <p:cTn id="11" presetID="9" presetClass="entr" fill="hold" nodeType="withEffect">
                                  <p:stCondLst>
                                    <p:cond delay="0"/>
                                  </p:stCondLst>
                                  <p:childTnLst>
                                    <p:set>
                                      <p:cBhvr>
                                        <p:cTn id="12" dur="1" fill="hold">
                                          <p:stCondLst>
                                            <p:cond delay="0"/>
                                          </p:stCondLst>
                                        </p:cTn>
                                        <p:tgtEl>
                                          <p:spTgt spid="367"/>
                                        </p:tgtEl>
                                        <p:attrNameLst>
                                          <p:attrName>style.visibility</p:attrName>
                                        </p:attrNameLst>
                                      </p:cBhvr>
                                      <p:to>
                                        <p:strVal val="visible"/>
                                      </p:to>
                                    </p:set>
                                    <p:animEffect transition="in" filter="dissolve">
                                      <p:cBhvr additive="repl">
                                        <p:cTn id="13" dur="500"/>
                                        <p:tgtEl>
                                          <p:spTgt spid="3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 name="PlaceHolder 1"/>
          <p:cNvSpPr>
            <a:spLocks noGrp="1"/>
          </p:cNvSpPr>
          <p:nvPr>
            <p:ph type="title"/>
          </p:nvPr>
        </p:nvSpPr>
        <p:spPr>
          <a:xfrm>
            <a:off x="732240" y="183600"/>
            <a:ext cx="10722960" cy="766800"/>
          </a:xfrm>
          <a:prstGeom prst="rect">
            <a:avLst/>
          </a:prstGeom>
          <a:noFill/>
          <a:ln w="0">
            <a:noFill/>
          </a:ln>
        </p:spPr>
        <p:txBody>
          <a:bodyPr lIns="91440" tIns="45720" rIns="91440" bIns="45720" anchor="b">
            <a:noAutofit/>
          </a:bodyPr>
          <a:lstStyle/>
          <a:p>
            <a:pPr indent="0" algn="ctr" defTabSz="914400">
              <a:lnSpc>
                <a:spcPct val="100000"/>
              </a:lnSpc>
              <a:buNone/>
            </a:pPr>
            <a:r>
              <a:rPr lang="en-US" sz="4500" b="0" strike="noStrike" spc="-1">
                <a:solidFill>
                  <a:schemeClr val="accent2">
                    <a:lumMod val="75000"/>
                  </a:schemeClr>
                </a:solidFill>
                <a:latin typeface="News Gothic MT"/>
              </a:rPr>
              <a:t>Summary and Future Work</a:t>
            </a:r>
            <a:endParaRPr lang="en-US" sz="4500" b="0" strike="noStrike" spc="-1">
              <a:solidFill>
                <a:schemeClr val="dk1"/>
              </a:solidFill>
              <a:latin typeface="News Gothic MT"/>
            </a:endParaRPr>
          </a:p>
        </p:txBody>
      </p:sp>
      <p:sp>
        <p:nvSpPr>
          <p:cNvPr id="369" name="PlaceHolder 2"/>
          <p:cNvSpPr>
            <a:spLocks noGrp="1"/>
          </p:cNvSpPr>
          <p:nvPr>
            <p:ph/>
          </p:nvPr>
        </p:nvSpPr>
        <p:spPr>
          <a:xfrm>
            <a:off x="228600" y="1829160"/>
            <a:ext cx="10722960" cy="5257440"/>
          </a:xfrm>
          <a:prstGeom prst="rect">
            <a:avLst/>
          </a:prstGeom>
          <a:noFill/>
          <a:ln w="0">
            <a:noFill/>
          </a:ln>
        </p:spPr>
        <p:txBody>
          <a:bodyPr lIns="91440" tIns="45720" rIns="91440" bIns="45720" anchor="t">
            <a:normAutofit/>
          </a:bodyPr>
          <a:lstStyle/>
          <a:p>
            <a:pPr marL="349200" indent="-349200" defTabSz="914400">
              <a:lnSpc>
                <a:spcPct val="100000"/>
              </a:lnSpc>
              <a:spcBef>
                <a:spcPts val="2001"/>
              </a:spcBef>
              <a:buClr>
                <a:srgbClr val="1B3742"/>
              </a:buClr>
              <a:buSzPct val="110000"/>
              <a:buFont typeface="Arial"/>
              <a:buChar char="•"/>
            </a:pPr>
            <a:r>
              <a:rPr lang="en-US" sz="2200" b="0" strike="noStrike" spc="-1">
                <a:solidFill>
                  <a:schemeClr val="accent2">
                    <a:lumMod val="75000"/>
                  </a:schemeClr>
                </a:solidFill>
                <a:latin typeface="News Gothic MT"/>
              </a:rPr>
              <a:t>Quic the new de-facto protocol for the web</a:t>
            </a:r>
          </a:p>
          <a:p>
            <a:pPr marL="349200" indent="-349200" defTabSz="914400">
              <a:lnSpc>
                <a:spcPct val="100000"/>
              </a:lnSpc>
              <a:spcBef>
                <a:spcPts val="2001"/>
              </a:spcBef>
              <a:buClr>
                <a:srgbClr val="1B3742"/>
              </a:buClr>
              <a:buSzPct val="110000"/>
              <a:buFont typeface="Arial"/>
              <a:buChar char="•"/>
            </a:pPr>
            <a:r>
              <a:rPr lang="en-US" sz="2200" b="0" strike="noStrike" spc="-1">
                <a:solidFill>
                  <a:schemeClr val="accent2">
                    <a:lumMod val="75000"/>
                  </a:schemeClr>
                </a:solidFill>
                <a:latin typeface="News Gothic MT"/>
              </a:rPr>
              <a:t>As always, there is a balance between security and other properties</a:t>
            </a:r>
          </a:p>
          <a:p>
            <a:pPr marL="349200" indent="-349200" defTabSz="914400">
              <a:lnSpc>
                <a:spcPct val="100000"/>
              </a:lnSpc>
              <a:spcBef>
                <a:spcPts val="2001"/>
              </a:spcBef>
              <a:buClr>
                <a:srgbClr val="1B3742"/>
              </a:buClr>
              <a:buSzPct val="110000"/>
              <a:buFont typeface="Arial"/>
              <a:buChar char="•"/>
            </a:pPr>
            <a:r>
              <a:rPr lang="en-US" sz="2200" b="0" strike="noStrike" spc="-1">
                <a:solidFill>
                  <a:schemeClr val="accent2">
                    <a:lumMod val="75000"/>
                  </a:schemeClr>
                </a:solidFill>
                <a:latin typeface="News Gothic MT"/>
              </a:rPr>
              <a:t>It might be over for TCP in a few years but who knows.</a:t>
            </a:r>
          </a:p>
          <a:p>
            <a:pPr marL="349200" indent="-349200" defTabSz="914400">
              <a:lnSpc>
                <a:spcPct val="100000"/>
              </a:lnSpc>
              <a:spcBef>
                <a:spcPts val="2001"/>
              </a:spcBef>
              <a:buClr>
                <a:srgbClr val="1B3742"/>
              </a:buClr>
              <a:buSzPct val="110000"/>
              <a:buFont typeface="Arial"/>
              <a:buChar char="•"/>
            </a:pPr>
            <a:r>
              <a:rPr lang="en-US" sz="2200" b="0" strike="noStrike" spc="-1">
                <a:solidFill>
                  <a:schemeClr val="accent2">
                    <a:lumMod val="75000"/>
                  </a:schemeClr>
                </a:solidFill>
                <a:latin typeface="News Gothic MT"/>
                <a:ea typeface="Noto Sans CJK SC"/>
              </a:rPr>
              <a:t>Application takeover of the Internet as carriers fade away.</a:t>
            </a:r>
            <a:endParaRPr lang="en-US" sz="2200" b="0" strike="noStrike" spc="-1">
              <a:solidFill>
                <a:schemeClr val="accent2">
                  <a:lumMod val="75000"/>
                </a:schemeClr>
              </a:solidFill>
              <a:latin typeface="News Gothic MT"/>
            </a:endParaRPr>
          </a:p>
          <a:p>
            <a:pPr marL="349200" indent="-349200" defTabSz="914400">
              <a:lnSpc>
                <a:spcPct val="100000"/>
              </a:lnSpc>
              <a:spcBef>
                <a:spcPts val="2001"/>
              </a:spcBef>
              <a:buClr>
                <a:srgbClr val="1B3742"/>
              </a:buClr>
              <a:buSzPct val="110000"/>
              <a:buFont typeface="Arial"/>
              <a:buChar char="•"/>
            </a:pPr>
            <a:r>
              <a:rPr lang="en-US" sz="2200" b="0" strike="noStrike" spc="-1">
                <a:solidFill>
                  <a:schemeClr val="accent2">
                    <a:lumMod val="75000"/>
                  </a:schemeClr>
                </a:solidFill>
                <a:latin typeface="News Gothic MT"/>
                <a:ea typeface="Noto Sans CJK SC"/>
              </a:rPr>
              <a:t>“The challenges of epistemic justice and epistemic rights in this new era are summarized in three essential questions about knowledge, authority and power: Who knows? Who decides who knows? Who decides who decides who knows?” - </a:t>
            </a:r>
            <a:r>
              <a:rPr lang="en-US" sz="2200" b="0" strike="noStrike" spc="-1">
                <a:solidFill>
                  <a:schemeClr val="accent2">
                    <a:lumMod val="75000"/>
                  </a:schemeClr>
                </a:solidFill>
                <a:latin typeface="News Gothic MT"/>
              </a:rPr>
              <a:t>Age of Surveillance Capitalism (Shoshana Zuboff)</a:t>
            </a:r>
          </a:p>
          <a:p>
            <a:pPr marL="349200" indent="0" defTabSz="914400">
              <a:lnSpc>
                <a:spcPct val="100000"/>
              </a:lnSpc>
              <a:spcBef>
                <a:spcPts val="2001"/>
              </a:spcBef>
              <a:buNone/>
            </a:pPr>
            <a:endParaRPr lang="en-US" sz="2200" b="0" strike="noStrike" spc="-1">
              <a:solidFill>
                <a:schemeClr val="accent2">
                  <a:lumMod val="75000"/>
                </a:schemeClr>
              </a:solidFill>
              <a:latin typeface="News Gothic MT"/>
            </a:endParaRPr>
          </a:p>
        </p:txBody>
      </p:sp>
      <p:grpSp>
        <p:nvGrpSpPr>
          <p:cNvPr id="370" name="Group 4"/>
          <p:cNvGrpSpPr/>
          <p:nvPr/>
        </p:nvGrpSpPr>
        <p:grpSpPr>
          <a:xfrm>
            <a:off x="7811280" y="3058920"/>
            <a:ext cx="3945960" cy="1078200"/>
            <a:chOff x="7811280" y="3058920"/>
            <a:chExt cx="3945960" cy="1078200"/>
          </a:xfrm>
        </p:grpSpPr>
        <p:grpSp>
          <p:nvGrpSpPr>
            <p:cNvPr id="371" name="Group 5"/>
            <p:cNvGrpSpPr/>
            <p:nvPr/>
          </p:nvGrpSpPr>
          <p:grpSpPr>
            <a:xfrm>
              <a:off x="10271160" y="3103560"/>
              <a:ext cx="1128960" cy="692640"/>
              <a:chOff x="10271160" y="3103560"/>
              <a:chExt cx="1128960" cy="692640"/>
            </a:xfrm>
          </p:grpSpPr>
          <p:sp>
            <p:nvSpPr>
              <p:cNvPr id="372" name="Flowchart: Extract 3"/>
              <p:cNvSpPr/>
              <p:nvPr/>
            </p:nvSpPr>
            <p:spPr>
              <a:xfrm flipH="1">
                <a:off x="10466280" y="3103560"/>
                <a:ext cx="747720" cy="570960"/>
              </a:xfrm>
              <a:prstGeom prst="flowChartExtract">
                <a:avLst/>
              </a:prstGeom>
              <a:noFill/>
              <a:ln w="28575">
                <a:solidFill>
                  <a:srgbClr val="09213B"/>
                </a:solidFill>
                <a:round/>
              </a:ln>
              <a:effectLst>
                <a:outerShdw blurRad="63360" dist="25560" dir="5400000" sx="101000" sy="101000" rotWithShape="0">
                  <a:srgbClr val="000000">
                    <a:alpha val="40000"/>
                  </a:srgbClr>
                </a:outerShdw>
              </a:effectLst>
            </p:spPr>
            <p:style>
              <a:lnRef idx="1">
                <a:schemeClr val="accent1"/>
              </a:lnRef>
              <a:fillRef idx="3">
                <a:schemeClr val="accent1"/>
              </a:fillRef>
              <a:effectRef idx="2">
                <a:schemeClr val="accent1"/>
              </a:effectRef>
              <a:fontRef idx="minor"/>
            </p:style>
            <p:txBody>
              <a:bodyPr horzOverflow="overflow" numCol="1" spcCol="0" anchor="ctr">
                <a:noAutofit/>
              </a:bodyPr>
              <a:lstStyle/>
              <a:p>
                <a:endParaRPr lang="en-US" sz="1800" b="0" strike="noStrike" spc="-1">
                  <a:solidFill>
                    <a:schemeClr val="dk1"/>
                  </a:solidFill>
                  <a:latin typeface="News Gothic MT"/>
                </a:endParaRPr>
              </a:p>
            </p:txBody>
          </p:sp>
          <p:sp>
            <p:nvSpPr>
              <p:cNvPr id="373" name="Flowchart: Delay 3"/>
              <p:cNvSpPr/>
              <p:nvPr/>
            </p:nvSpPr>
            <p:spPr>
              <a:xfrm rot="16200000" flipH="1">
                <a:off x="10751400" y="3147480"/>
                <a:ext cx="168120" cy="1128960"/>
              </a:xfrm>
              <a:prstGeom prst="flowChartDelay">
                <a:avLst/>
              </a:prstGeom>
              <a:solidFill>
                <a:schemeClr val="accent1">
                  <a:lumMod val="50000"/>
                </a:schemeClr>
              </a:solidFill>
              <a:ln w="28575">
                <a:solidFill>
                  <a:srgbClr val="2C7C9F">
                    <a:lumMod val="50000"/>
                  </a:srgbClr>
                </a:solidFill>
                <a:round/>
              </a:ln>
              <a:effectLst>
                <a:outerShdw blurRad="63360" dist="25560" dir="5400000" sx="101000" sy="101000" rotWithShape="0">
                  <a:srgbClr val="000000">
                    <a:alpha val="40000"/>
                  </a:srgbClr>
                </a:outerShdw>
              </a:effectLst>
            </p:spPr>
            <p:style>
              <a:lnRef idx="1">
                <a:schemeClr val="accent1"/>
              </a:lnRef>
              <a:fillRef idx="3">
                <a:schemeClr val="accent1"/>
              </a:fillRef>
              <a:effectRef idx="2">
                <a:schemeClr val="accent1"/>
              </a:effectRef>
              <a:fontRef idx="minor"/>
            </p:style>
            <p:txBody>
              <a:bodyPr horzOverflow="overflow" numCol="1" spcCol="0" anchor="ctr">
                <a:noAutofit/>
              </a:bodyPr>
              <a:lstStyle/>
              <a:p>
                <a:endParaRPr lang="en-US" sz="1800" b="0" strike="noStrike" spc="-1">
                  <a:solidFill>
                    <a:schemeClr val="dk1"/>
                  </a:solidFill>
                  <a:latin typeface="News Gothic MT"/>
                </a:endParaRPr>
              </a:p>
            </p:txBody>
          </p:sp>
        </p:grpSp>
        <p:grpSp>
          <p:nvGrpSpPr>
            <p:cNvPr id="374" name="Group 6"/>
            <p:cNvGrpSpPr/>
            <p:nvPr/>
          </p:nvGrpSpPr>
          <p:grpSpPr>
            <a:xfrm>
              <a:off x="8044920" y="3058920"/>
              <a:ext cx="1128960" cy="736920"/>
              <a:chOff x="8044920" y="3058920"/>
              <a:chExt cx="1128960" cy="736920"/>
            </a:xfrm>
          </p:grpSpPr>
          <p:sp>
            <p:nvSpPr>
              <p:cNvPr id="375" name="Flowchart: Extract 4"/>
              <p:cNvSpPr/>
              <p:nvPr/>
            </p:nvSpPr>
            <p:spPr>
              <a:xfrm flipH="1">
                <a:off x="8240040" y="3058920"/>
                <a:ext cx="747720" cy="570960"/>
              </a:xfrm>
              <a:prstGeom prst="flowChartExtract">
                <a:avLst/>
              </a:prstGeom>
              <a:noFill/>
              <a:ln w="28575">
                <a:solidFill>
                  <a:srgbClr val="09213B"/>
                </a:solidFill>
                <a:round/>
              </a:ln>
              <a:effectLst>
                <a:outerShdw blurRad="63360" dist="25560" dir="5400000" sx="101000" sy="101000" rotWithShape="0">
                  <a:srgbClr val="000000">
                    <a:alpha val="40000"/>
                  </a:srgbClr>
                </a:outerShdw>
              </a:effectLst>
            </p:spPr>
            <p:style>
              <a:lnRef idx="1">
                <a:schemeClr val="accent1"/>
              </a:lnRef>
              <a:fillRef idx="3">
                <a:schemeClr val="accent1"/>
              </a:fillRef>
              <a:effectRef idx="2">
                <a:schemeClr val="accent1"/>
              </a:effectRef>
              <a:fontRef idx="minor"/>
            </p:style>
            <p:txBody>
              <a:bodyPr horzOverflow="overflow" numCol="1" spcCol="0" anchor="ctr">
                <a:noAutofit/>
              </a:bodyPr>
              <a:lstStyle/>
              <a:p>
                <a:endParaRPr lang="en-US" sz="1800" b="0" strike="noStrike" spc="-1">
                  <a:solidFill>
                    <a:schemeClr val="dk1"/>
                  </a:solidFill>
                  <a:latin typeface="News Gothic MT"/>
                </a:endParaRPr>
              </a:p>
            </p:txBody>
          </p:sp>
          <p:sp>
            <p:nvSpPr>
              <p:cNvPr id="376" name="Flowchart: Delay 4"/>
              <p:cNvSpPr/>
              <p:nvPr/>
            </p:nvSpPr>
            <p:spPr>
              <a:xfrm rot="16200000" flipH="1">
                <a:off x="8525160" y="3147120"/>
                <a:ext cx="168120" cy="1128960"/>
              </a:xfrm>
              <a:prstGeom prst="flowChartDelay">
                <a:avLst/>
              </a:prstGeom>
              <a:solidFill>
                <a:schemeClr val="accent1">
                  <a:lumMod val="50000"/>
                </a:schemeClr>
              </a:solidFill>
              <a:ln w="28575">
                <a:solidFill>
                  <a:srgbClr val="2C7C9F">
                    <a:lumMod val="50000"/>
                  </a:srgbClr>
                </a:solidFill>
                <a:round/>
              </a:ln>
              <a:effectLst>
                <a:outerShdw blurRad="63360" dist="25560" dir="5400000" sx="101000" sy="101000" rotWithShape="0">
                  <a:srgbClr val="000000">
                    <a:alpha val="40000"/>
                  </a:srgbClr>
                </a:outerShdw>
              </a:effectLst>
            </p:spPr>
            <p:style>
              <a:lnRef idx="1">
                <a:schemeClr val="accent1"/>
              </a:lnRef>
              <a:fillRef idx="3">
                <a:schemeClr val="accent1"/>
              </a:fillRef>
              <a:effectRef idx="2">
                <a:schemeClr val="accent1"/>
              </a:effectRef>
              <a:fontRef idx="minor"/>
            </p:style>
            <p:txBody>
              <a:bodyPr horzOverflow="overflow" numCol="1" spcCol="0" anchor="ctr">
                <a:noAutofit/>
              </a:bodyPr>
              <a:lstStyle/>
              <a:p>
                <a:endParaRPr lang="en-US" sz="1800" b="0" strike="noStrike" spc="-1">
                  <a:solidFill>
                    <a:schemeClr val="dk1"/>
                  </a:solidFill>
                  <a:latin typeface="News Gothic MT"/>
                </a:endParaRPr>
              </a:p>
            </p:txBody>
          </p:sp>
        </p:grpSp>
        <p:cxnSp>
          <p:nvCxnSpPr>
            <p:cNvPr id="377" name="Straight Connector 4"/>
            <p:cNvCxnSpPr/>
            <p:nvPr/>
          </p:nvCxnSpPr>
          <p:spPr>
            <a:xfrm flipH="1">
              <a:off x="8609040" y="3071880"/>
              <a:ext cx="2226600" cy="360"/>
            </a:xfrm>
            <a:prstGeom prst="straightConnector1">
              <a:avLst/>
            </a:prstGeom>
            <a:ln w="28575">
              <a:solidFill>
                <a:srgbClr val="09213B"/>
              </a:solidFill>
              <a:round/>
              <a:headEnd type="oval" w="med" len="med"/>
              <a:tailEnd type="oval" w="med" len="med"/>
            </a:ln>
          </p:spPr>
        </p:cxnSp>
        <p:cxnSp>
          <p:nvCxnSpPr>
            <p:cNvPr id="378" name="Straight Connector 5"/>
            <p:cNvCxnSpPr/>
            <p:nvPr/>
          </p:nvCxnSpPr>
          <p:spPr>
            <a:xfrm>
              <a:off x="9722160" y="3071880"/>
              <a:ext cx="360" cy="1065600"/>
            </a:xfrm>
            <a:prstGeom prst="straightConnector1">
              <a:avLst/>
            </a:prstGeom>
            <a:ln w="76200">
              <a:solidFill>
                <a:srgbClr val="244A58">
                  <a:lumMod val="75000"/>
                </a:srgbClr>
              </a:solidFill>
              <a:round/>
            </a:ln>
          </p:spPr>
        </p:cxnSp>
        <p:cxnSp>
          <p:nvCxnSpPr>
            <p:cNvPr id="379" name="Straight Connector 6"/>
            <p:cNvCxnSpPr/>
            <p:nvPr/>
          </p:nvCxnSpPr>
          <p:spPr>
            <a:xfrm flipH="1">
              <a:off x="8422200" y="4137120"/>
              <a:ext cx="2712960" cy="360"/>
            </a:xfrm>
            <a:prstGeom prst="straightConnector1">
              <a:avLst/>
            </a:prstGeom>
            <a:ln w="76200">
              <a:solidFill>
                <a:srgbClr val="09213B"/>
              </a:solidFill>
              <a:round/>
            </a:ln>
          </p:spPr>
        </p:cxnSp>
        <p:sp>
          <p:nvSpPr>
            <p:cNvPr id="380" name="TextBox 101"/>
            <p:cNvSpPr/>
            <p:nvPr/>
          </p:nvSpPr>
          <p:spPr>
            <a:xfrm flipH="1">
              <a:off x="9940680" y="3304080"/>
              <a:ext cx="1816200" cy="333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600" b="1" strike="noStrike" spc="-1">
                  <a:solidFill>
                    <a:srgbClr val="800000"/>
                  </a:solidFill>
                  <a:latin typeface="Arial"/>
                  <a:ea typeface="MS PGothic"/>
                </a:rPr>
                <a:t>security</a:t>
              </a:r>
              <a:endParaRPr lang="en-US" sz="1600" b="0" strike="noStrike" spc="-1">
                <a:solidFill>
                  <a:srgbClr val="000000"/>
                </a:solidFill>
                <a:latin typeface="Arial"/>
              </a:endParaRPr>
            </a:p>
          </p:txBody>
        </p:sp>
        <p:sp>
          <p:nvSpPr>
            <p:cNvPr id="381" name="TextBox 102"/>
            <p:cNvSpPr/>
            <p:nvPr/>
          </p:nvSpPr>
          <p:spPr>
            <a:xfrm flipH="1">
              <a:off x="7811280" y="3309480"/>
              <a:ext cx="1595520" cy="333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600" b="1" strike="noStrike" spc="-1">
                  <a:solidFill>
                    <a:srgbClr val="800000"/>
                  </a:solidFill>
                  <a:latin typeface="Arial"/>
                  <a:ea typeface="MS PGothic"/>
                </a:rPr>
                <a:t>latency</a:t>
              </a:r>
              <a:endParaRPr lang="en-US" sz="1600" b="0" strike="noStrike" spc="-1">
                <a:solidFill>
                  <a:srgbClr val="000000"/>
                </a:solidFill>
                <a:latin typeface="Arial"/>
              </a:endParaRPr>
            </a:p>
          </p:txBody>
        </p:sp>
      </p:grpSp>
      <p:sp>
        <p:nvSpPr>
          <p:cNvPr id="382" name="TextBox 103"/>
          <p:cNvSpPr/>
          <p:nvPr/>
        </p:nvSpPr>
        <p:spPr>
          <a:xfrm flipH="1">
            <a:off x="7781040" y="3149280"/>
            <a:ext cx="1595520" cy="333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600" b="1" strike="noStrike" spc="-1">
                <a:solidFill>
                  <a:srgbClr val="800000"/>
                </a:solidFill>
                <a:latin typeface="Arial"/>
                <a:ea typeface="MS PGothic"/>
              </a:rPr>
              <a:t>low</a:t>
            </a:r>
            <a:endParaRPr lang="en-US" sz="1600" b="0" strike="noStrike" spc="-1">
              <a:solidFill>
                <a:srgbClr val="000000"/>
              </a:solidFill>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370"/>
                                        </p:tgtEl>
                                        <p:attrNameLst>
                                          <p:attrName>style.visibility</p:attrName>
                                        </p:attrNameLst>
                                      </p:cBhvr>
                                      <p:to>
                                        <p:strVal val="visible"/>
                                      </p:to>
                                    </p:set>
                                    <p:animEffect transition="in" filter="blinds(horizontal)">
                                      <p:cBhvr additive="repl">
                                        <p:cTn id="7" dur="500"/>
                                        <p:tgtEl>
                                          <p:spTgt spid="370"/>
                                        </p:tgtEl>
                                      </p:cBhvr>
                                    </p:animEffect>
                                  </p:childTnLst>
                                </p:cTn>
                              </p:par>
                              <p:par>
                                <p:cTn id="8" presetID="3" presetClass="entr" presetSubtype="10" fill="hold" nodeType="withEffect">
                                  <p:stCondLst>
                                    <p:cond delay="0"/>
                                  </p:stCondLst>
                                  <p:childTnLst>
                                    <p:set>
                                      <p:cBhvr>
                                        <p:cTn id="9" dur="1" fill="hold">
                                          <p:stCondLst>
                                            <p:cond delay="0"/>
                                          </p:stCondLst>
                                        </p:cTn>
                                        <p:tgtEl>
                                          <p:spTgt spid="382"/>
                                        </p:tgtEl>
                                        <p:attrNameLst>
                                          <p:attrName>style.visibility</p:attrName>
                                        </p:attrNameLst>
                                      </p:cBhvr>
                                      <p:to>
                                        <p:strVal val="visible"/>
                                      </p:to>
                                    </p:set>
                                    <p:animEffect transition="in" filter="blinds(horizontal)">
                                      <p:cBhvr additive="repl">
                                        <p:cTn id="10" dur="500"/>
                                        <p:tgtEl>
                                          <p:spTgt spid="382"/>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36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3" name="PlaceHolder 1"/>
          <p:cNvSpPr>
            <a:spLocks noGrp="1"/>
          </p:cNvSpPr>
          <p:nvPr>
            <p:ph type="title"/>
          </p:nvPr>
        </p:nvSpPr>
        <p:spPr>
          <a:xfrm>
            <a:off x="732240" y="183600"/>
            <a:ext cx="10722960" cy="766800"/>
          </a:xfrm>
          <a:prstGeom prst="rect">
            <a:avLst/>
          </a:prstGeom>
          <a:noFill/>
          <a:ln w="0">
            <a:noFill/>
          </a:ln>
        </p:spPr>
        <p:txBody>
          <a:bodyPr lIns="91440" tIns="45720" rIns="91440" bIns="45720" anchor="b">
            <a:noAutofit/>
          </a:bodyPr>
          <a:lstStyle/>
          <a:p>
            <a:pPr indent="0" algn="ctr" defTabSz="914400">
              <a:lnSpc>
                <a:spcPct val="100000"/>
              </a:lnSpc>
              <a:buNone/>
            </a:pPr>
            <a:r>
              <a:rPr lang="en-US" sz="4500" b="0" strike="noStrike" spc="-1">
                <a:solidFill>
                  <a:schemeClr val="accent2">
                    <a:lumMod val="75000"/>
                  </a:schemeClr>
                </a:solidFill>
                <a:latin typeface="News Gothic MT"/>
              </a:rPr>
              <a:t>References</a:t>
            </a:r>
            <a:endParaRPr lang="en-US" sz="4500" b="0" strike="noStrike" spc="-1">
              <a:solidFill>
                <a:schemeClr val="dk1"/>
              </a:solidFill>
              <a:latin typeface="News Gothic MT"/>
            </a:endParaRPr>
          </a:p>
        </p:txBody>
      </p:sp>
      <p:sp>
        <p:nvSpPr>
          <p:cNvPr id="384" name="TextBox 383"/>
          <p:cNvSpPr txBox="1"/>
          <p:nvPr/>
        </p:nvSpPr>
        <p:spPr>
          <a:xfrm>
            <a:off x="914400" y="2057400"/>
            <a:ext cx="8006400" cy="1626120"/>
          </a:xfrm>
          <a:prstGeom prst="rect">
            <a:avLst/>
          </a:prstGeom>
          <a:noFill/>
          <a:ln w="0">
            <a:noFill/>
          </a:ln>
        </p:spPr>
        <p:txBody>
          <a:bodyPr wrap="none" lIns="90000" tIns="45000" rIns="90000" bIns="45000" anchor="t">
            <a:noAutofit/>
          </a:bodyPr>
          <a:lstStyle/>
          <a:p>
            <a:r>
              <a:rPr lang="en-US" sz="1800" b="0" strike="noStrike" spc="-1">
                <a:solidFill>
                  <a:srgbClr val="000000"/>
                </a:solidFill>
                <a:latin typeface="Arial"/>
                <a:hlinkClick r:id="rId3"/>
              </a:rPr>
              <a:t>https://ieeexplore.ieee.org/document/7163028</a:t>
            </a:r>
            <a:br>
              <a:rPr sz="1800"/>
            </a:br>
            <a:br>
              <a:rPr sz="1800"/>
            </a:br>
            <a:br>
              <a:rPr sz="1800"/>
            </a:br>
            <a:r>
              <a:rPr lang="en-US" sz="1800" b="0" strike="noStrike" spc="-1">
                <a:solidFill>
                  <a:srgbClr val="000000"/>
                </a:solidFill>
                <a:latin typeface="Arial"/>
                <a:hlinkClick r:id="rId4"/>
              </a:rPr>
              <a:t>https://blog.apnic.net/2019/03/04/a-quick-look-at-quic/</a:t>
            </a:r>
            <a:br>
              <a:rPr sz="1800"/>
            </a:br>
            <a:br>
              <a:rPr sz="1800"/>
            </a:br>
            <a:r>
              <a:rPr lang="en-US" sz="1800" b="0" strike="noStrike" spc="-1">
                <a:solidFill>
                  <a:srgbClr val="000000"/>
                </a:solidFill>
                <a:latin typeface="Arial"/>
              </a:rPr>
              <a:t>https://www.cerias.purdue.edu/assets/symposium/2015-posters/D58-DCA.pdf</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85"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AU" sz="4400" b="0" strike="noStrike" spc="-1">
                <a:solidFill>
                  <a:schemeClr val="accent2">
                    <a:lumMod val="50000"/>
                  </a:schemeClr>
                </a:solidFill>
                <a:latin typeface="Powderfinger Type"/>
              </a:rPr>
              <a:t>Almost Everywhere</a:t>
            </a:r>
            <a:endParaRPr lang="en-US" sz="4400" b="0" strike="noStrike" spc="-1">
              <a:solidFill>
                <a:schemeClr val="dk1"/>
              </a:solidFill>
              <a:latin typeface="Calibri"/>
            </a:endParaRPr>
          </a:p>
        </p:txBody>
      </p:sp>
      <p:pic>
        <p:nvPicPr>
          <p:cNvPr id="386" name="Picture 7"/>
          <p:cNvPicPr/>
          <p:nvPr/>
        </p:nvPicPr>
        <p:blipFill>
          <a:blip r:embed="rId2"/>
          <a:stretch/>
        </p:blipFill>
        <p:spPr>
          <a:xfrm>
            <a:off x="259920" y="1552320"/>
            <a:ext cx="5680800" cy="2884680"/>
          </a:xfrm>
          <a:prstGeom prst="rect">
            <a:avLst/>
          </a:prstGeom>
          <a:ln w="0">
            <a:noFill/>
          </a:ln>
        </p:spPr>
      </p:pic>
      <p:pic>
        <p:nvPicPr>
          <p:cNvPr id="387" name="Picture 31"/>
          <p:cNvPicPr/>
          <p:nvPr/>
        </p:nvPicPr>
        <p:blipFill>
          <a:blip r:embed="rId3"/>
          <a:stretch/>
        </p:blipFill>
        <p:spPr>
          <a:xfrm>
            <a:off x="5334120" y="2994840"/>
            <a:ext cx="6364440" cy="3232080"/>
          </a:xfrm>
          <a:prstGeom prst="rect">
            <a:avLst/>
          </a:prstGeom>
          <a:ln w="0">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8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AU" sz="4400" b="0" strike="noStrike" spc="-1">
                <a:solidFill>
                  <a:schemeClr val="accent2">
                    <a:lumMod val="50000"/>
                  </a:schemeClr>
                </a:solidFill>
                <a:latin typeface="Powderfinger Type"/>
              </a:rPr>
              <a:t>Almost Everywhere</a:t>
            </a:r>
            <a:endParaRPr lang="en-US" sz="4400" b="0" strike="noStrike" spc="-1">
              <a:solidFill>
                <a:schemeClr val="dk1"/>
              </a:solidFill>
              <a:latin typeface="Calibri"/>
            </a:endParaRPr>
          </a:p>
        </p:txBody>
      </p:sp>
      <p:pic>
        <p:nvPicPr>
          <p:cNvPr id="389" name="Picture 32"/>
          <p:cNvPicPr/>
          <p:nvPr/>
        </p:nvPicPr>
        <p:blipFill>
          <a:blip r:embed="rId2"/>
          <a:stretch/>
        </p:blipFill>
        <p:spPr>
          <a:xfrm>
            <a:off x="259920" y="1552320"/>
            <a:ext cx="5680800" cy="2884680"/>
          </a:xfrm>
          <a:prstGeom prst="rect">
            <a:avLst/>
          </a:prstGeom>
          <a:ln w="0">
            <a:noFill/>
          </a:ln>
        </p:spPr>
      </p:pic>
      <p:pic>
        <p:nvPicPr>
          <p:cNvPr id="390" name="Picture 33"/>
          <p:cNvPicPr/>
          <p:nvPr/>
        </p:nvPicPr>
        <p:blipFill>
          <a:blip r:embed="rId3"/>
          <a:stretch/>
        </p:blipFill>
        <p:spPr>
          <a:xfrm>
            <a:off x="5335920" y="2958120"/>
            <a:ext cx="6461640" cy="3262320"/>
          </a:xfrm>
          <a:prstGeom prst="rect">
            <a:avLst/>
          </a:prstGeom>
          <a:ln w="0">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AU" sz="4400" b="0" strike="noStrike" spc="-1">
                <a:solidFill>
                  <a:schemeClr val="accent2">
                    <a:lumMod val="50000"/>
                  </a:schemeClr>
                </a:solidFill>
                <a:latin typeface="Powderfinger Type"/>
              </a:rPr>
              <a:t>Almost Everywhere</a:t>
            </a:r>
            <a:endParaRPr lang="en-US" sz="4400" b="0" strike="noStrike" spc="-1">
              <a:solidFill>
                <a:schemeClr val="dk1"/>
              </a:solidFill>
              <a:latin typeface="Calibri"/>
            </a:endParaRPr>
          </a:p>
        </p:txBody>
      </p:sp>
      <p:pic>
        <p:nvPicPr>
          <p:cNvPr id="392" name="Picture 34"/>
          <p:cNvPicPr/>
          <p:nvPr/>
        </p:nvPicPr>
        <p:blipFill>
          <a:blip r:embed="rId2"/>
          <a:stretch/>
        </p:blipFill>
        <p:spPr>
          <a:xfrm>
            <a:off x="259920" y="1552320"/>
            <a:ext cx="5680800" cy="2884680"/>
          </a:xfrm>
          <a:prstGeom prst="rect">
            <a:avLst/>
          </a:prstGeom>
          <a:ln w="0">
            <a:noFill/>
          </a:ln>
        </p:spPr>
      </p:pic>
      <p:pic>
        <p:nvPicPr>
          <p:cNvPr id="393" name="Picture 35"/>
          <p:cNvPicPr/>
          <p:nvPr/>
        </p:nvPicPr>
        <p:blipFill>
          <a:blip r:embed="rId3"/>
          <a:stretch/>
        </p:blipFill>
        <p:spPr>
          <a:xfrm>
            <a:off x="5335920" y="2958120"/>
            <a:ext cx="6461640" cy="3262320"/>
          </a:xfrm>
          <a:prstGeom prst="rect">
            <a:avLst/>
          </a:prstGeom>
          <a:ln w="0">
            <a:noFill/>
          </a:ln>
        </p:spPr>
      </p:pic>
      <p:pic>
        <p:nvPicPr>
          <p:cNvPr id="394" name="Picture 36"/>
          <p:cNvPicPr/>
          <p:nvPr/>
        </p:nvPicPr>
        <p:blipFill>
          <a:blip r:embed="rId4"/>
          <a:stretch/>
        </p:blipFill>
        <p:spPr>
          <a:xfrm>
            <a:off x="298440" y="1552320"/>
            <a:ext cx="5643360" cy="2886480"/>
          </a:xfrm>
          <a:prstGeom prst="rect">
            <a:avLst/>
          </a:prstGeom>
          <a:ln w="0">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5" name="PlaceHolder 1"/>
          <p:cNvSpPr>
            <a:spLocks noGrp="1"/>
          </p:cNvSpPr>
          <p:nvPr>
            <p:ph type="title"/>
          </p:nvPr>
        </p:nvSpPr>
        <p:spPr>
          <a:xfrm>
            <a:off x="838080" y="365040"/>
            <a:ext cx="10893600" cy="1325160"/>
          </a:xfrm>
          <a:prstGeom prst="rect">
            <a:avLst/>
          </a:prstGeom>
          <a:noFill/>
          <a:ln w="0">
            <a:noFill/>
          </a:ln>
        </p:spPr>
        <p:txBody>
          <a:bodyPr lIns="91440" tIns="45720" rIns="91440" bIns="45720" anchor="ctr">
            <a:noAutofit/>
          </a:bodyPr>
          <a:lstStyle/>
          <a:p>
            <a:pPr indent="0" defTabSz="914400">
              <a:lnSpc>
                <a:spcPct val="90000"/>
              </a:lnSpc>
              <a:buNone/>
            </a:pPr>
            <a:r>
              <a:rPr lang="en-AU" sz="4400" b="0" strike="noStrike" spc="-1">
                <a:solidFill>
                  <a:schemeClr val="accent2">
                    <a:lumMod val="50000"/>
                  </a:schemeClr>
                </a:solidFill>
                <a:latin typeface="Powderfinger Type"/>
              </a:rPr>
              <a:t>QUIC is…</a:t>
            </a:r>
            <a:endParaRPr lang="en-US" sz="4400" b="0" strike="noStrike" spc="-1">
              <a:solidFill>
                <a:schemeClr val="dk1"/>
              </a:solidFill>
              <a:latin typeface="Calibri"/>
            </a:endParaRPr>
          </a:p>
        </p:txBody>
      </p:sp>
      <p:sp>
        <p:nvSpPr>
          <p:cNvPr id="396" name="PlaceHolder 2"/>
          <p:cNvSpPr>
            <a:spLocks noGrp="1"/>
          </p:cNvSpPr>
          <p:nvPr>
            <p:ph/>
          </p:nvPr>
        </p:nvSpPr>
        <p:spPr>
          <a:xfrm>
            <a:off x="701640" y="1825560"/>
            <a:ext cx="11174760" cy="4911120"/>
          </a:xfrm>
          <a:prstGeom prst="rect">
            <a:avLst/>
          </a:prstGeom>
          <a:noFill/>
          <a:ln w="0">
            <a:noFill/>
          </a:ln>
        </p:spPr>
        <p:txBody>
          <a:bodyPr lIns="91440" tIns="45720" rIns="91440" bIns="45720" anchor="t">
            <a:normAutofit/>
          </a:bodyPr>
          <a:lstStyle/>
          <a:p>
            <a:pPr indent="0" defTabSz="914400">
              <a:lnSpc>
                <a:spcPct val="90000"/>
              </a:lnSpc>
              <a:spcBef>
                <a:spcPts val="1001"/>
              </a:spcBef>
              <a:buNone/>
              <a:tabLst>
                <a:tab pos="0" algn="l"/>
              </a:tabLst>
            </a:pPr>
            <a:r>
              <a:rPr lang="en-AU" sz="2800" b="0" strike="noStrike" spc="-1">
                <a:solidFill>
                  <a:schemeClr val="dk1"/>
                </a:solidFill>
                <a:latin typeface="Calibri"/>
              </a:rPr>
              <a:t>So much more than just “encrypted TCP over UDP”:</a:t>
            </a:r>
            <a:endParaRPr lang="en-US" sz="28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tabLst>
                <a:tab pos="0" algn="l"/>
              </a:tabLst>
            </a:pPr>
            <a:r>
              <a:rPr lang="en-AU" sz="2400" b="0" strike="noStrike" spc="-1">
                <a:solidFill>
                  <a:schemeClr val="dk1"/>
                </a:solidFill>
                <a:latin typeface="Calibri"/>
              </a:rPr>
              <a:t>More Flexible - Support for multi-stream multiplexing that avoids head-of-line blocking and exploits a shared congestion and encryption state</a:t>
            </a:r>
            <a:endParaRPr lang="en-US" sz="24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tabLst>
                <a:tab pos="0" algn="l"/>
              </a:tabLst>
            </a:pPr>
            <a:r>
              <a:rPr lang="en-AU" sz="2400" b="0" strike="noStrike" spc="-1">
                <a:solidFill>
                  <a:schemeClr val="dk1"/>
                </a:solidFill>
                <a:latin typeface="Calibri"/>
              </a:rPr>
              <a:t>Faster - Combines transport and encryption setup exchange in a single 3-way exchange</a:t>
            </a:r>
            <a:endParaRPr lang="en-US" sz="24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tabLst>
                <a:tab pos="0" algn="l"/>
              </a:tabLst>
            </a:pPr>
            <a:r>
              <a:rPr lang="en-AU" sz="2400" b="0" strike="noStrike" spc="-1">
                <a:solidFill>
                  <a:schemeClr val="dk1"/>
                </a:solidFill>
                <a:latin typeface="Calibri"/>
              </a:rPr>
              <a:t>Customisable - QUIC implementations can use individual flow controllers per flow</a:t>
            </a:r>
            <a:endParaRPr lang="en-US" sz="24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tabLst>
                <a:tab pos="0" algn="l"/>
              </a:tabLst>
            </a:pPr>
            <a:r>
              <a:rPr lang="en-AU" sz="2400" b="0" strike="noStrike" spc="-1">
                <a:solidFill>
                  <a:schemeClr val="dk1"/>
                </a:solidFill>
                <a:latin typeface="Calibri"/>
              </a:rPr>
              <a:t>QUIC places its transport control fields inside the encryption envelope, so QUIC has minimal exposure to the network</a:t>
            </a:r>
            <a:endParaRPr lang="en-US" sz="24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tabLst>
                <a:tab pos="0" algn="l"/>
              </a:tabLst>
            </a:pPr>
            <a:r>
              <a:rPr lang="en-AU" sz="2400" b="0" strike="noStrike" spc="-1">
                <a:solidFill>
                  <a:schemeClr val="dk1"/>
                </a:solidFill>
                <a:latin typeface="Calibri"/>
              </a:rPr>
              <a:t>Supports record and RPC service models as well as streaming and datagram</a:t>
            </a:r>
            <a:endParaRPr lang="en-US" sz="2400" b="0" strike="noStrike" spc="-1">
              <a:solidFill>
                <a:schemeClr val="dk1"/>
              </a:solidFill>
              <a:latin typeface="Calibri"/>
            </a:endParaRPr>
          </a:p>
          <a:p>
            <a:pPr indent="0" defTabSz="914400">
              <a:lnSpc>
                <a:spcPct val="90000"/>
              </a:lnSpc>
              <a:spcBef>
                <a:spcPts val="1001"/>
              </a:spcBef>
              <a:buNone/>
              <a:tabLst>
                <a:tab pos="0" algn="l"/>
              </a:tabLst>
            </a:pPr>
            <a:endParaRPr lang="en-US" sz="2800" b="0" strike="noStrike" spc="-1">
              <a:solidFill>
                <a:schemeClr val="dk1"/>
              </a:solidFill>
              <a:latin typeface="Calibri"/>
            </a:endParaRPr>
          </a:p>
          <a:p>
            <a:pPr indent="0" defTabSz="914400">
              <a:lnSpc>
                <a:spcPct val="90000"/>
              </a:lnSpc>
              <a:spcBef>
                <a:spcPts val="1001"/>
              </a:spcBef>
              <a:buNone/>
              <a:tabLst>
                <a:tab pos="0" algn="l"/>
              </a:tabLst>
            </a:pPr>
            <a:endParaRPr lang="en-US" sz="2800" b="0" strike="noStrike" spc="-1">
              <a:solidFill>
                <a:schemeClr val="dk1"/>
              </a:solidFill>
              <a:latin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AU" sz="4400" b="0" strike="noStrike" spc="-1">
                <a:solidFill>
                  <a:schemeClr val="accent2">
                    <a:lumMod val="50000"/>
                  </a:schemeClr>
                </a:solidFill>
                <a:latin typeface="Powderfinger Type"/>
              </a:rPr>
              <a:t>QUIC is…</a:t>
            </a:r>
            <a:endParaRPr lang="en-US" sz="4400" b="0" strike="noStrike" spc="-1">
              <a:solidFill>
                <a:schemeClr val="dk1"/>
              </a:solidFill>
              <a:latin typeface="Calibri"/>
            </a:endParaRPr>
          </a:p>
        </p:txBody>
      </p:sp>
      <p:sp>
        <p:nvSpPr>
          <p:cNvPr id="398" name="PlaceHolder 2"/>
          <p:cNvSpPr>
            <a:spLocks noGrp="1"/>
          </p:cNvSpPr>
          <p:nvPr>
            <p:ph/>
          </p:nvPr>
        </p:nvSpPr>
        <p:spPr>
          <a:xfrm>
            <a:off x="838080" y="1825560"/>
            <a:ext cx="10515240" cy="4350960"/>
          </a:xfrm>
          <a:prstGeom prst="rect">
            <a:avLst/>
          </a:prstGeom>
          <a:noFill/>
          <a:ln w="0">
            <a:noFill/>
          </a:ln>
        </p:spPr>
        <p:txBody>
          <a:bodyPr lIns="91440" tIns="45720" rIns="91440" bIns="45720" anchor="t">
            <a:normAutofit lnSpcReduction="10000"/>
          </a:bodyPr>
          <a:lstStyle/>
          <a:p>
            <a:pPr indent="0" defTabSz="914400">
              <a:lnSpc>
                <a:spcPct val="90000"/>
              </a:lnSpc>
              <a:spcBef>
                <a:spcPts val="1001"/>
              </a:spcBef>
              <a:buNone/>
              <a:tabLst>
                <a:tab pos="0" algn="l"/>
              </a:tabLst>
            </a:pPr>
            <a:r>
              <a:rPr lang="en-AU" sz="3200" b="0" strike="noStrike" spc="-1">
                <a:solidFill>
                  <a:schemeClr val="dk1"/>
                </a:solidFill>
                <a:latin typeface="Calibri"/>
              </a:rPr>
              <a:t>Endpoint address agile</a:t>
            </a:r>
            <a:endParaRPr lang="en-US" sz="32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tabLst>
                <a:tab pos="0" algn="l"/>
              </a:tabLst>
            </a:pPr>
            <a:r>
              <a:rPr lang="en-AU" sz="2800" b="0" strike="noStrike" spc="-1">
                <a:solidFill>
                  <a:schemeClr val="dk1"/>
                </a:solidFill>
                <a:latin typeface="Calibri"/>
              </a:rPr>
              <a:t>NATs are potentially hostile to QUIC because of the outer UDP wrapper</a:t>
            </a:r>
            <a:endParaRPr lang="en-US" sz="28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tabLst>
                <a:tab pos="0" algn="l"/>
              </a:tabLst>
            </a:pPr>
            <a:r>
              <a:rPr lang="en-AU" sz="2400" b="0" strike="noStrike" spc="-1">
                <a:solidFill>
                  <a:schemeClr val="dk1"/>
                </a:solidFill>
                <a:latin typeface="Calibri"/>
              </a:rPr>
              <a:t>A NAT may rebind (shift the externally visible address/port of a host during a session), as NATs are not generally aware of UDP streaming states </a:t>
            </a:r>
            <a:endParaRPr lang="en-US" sz="24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tabLst>
                <a:tab pos="0" algn="l"/>
              </a:tabLst>
            </a:pPr>
            <a:r>
              <a:rPr lang="en-AU" sz="2800" b="0" strike="noStrike" spc="-1">
                <a:solidFill>
                  <a:schemeClr val="dk1"/>
                </a:solidFill>
                <a:latin typeface="Calibri"/>
              </a:rPr>
              <a:t>QUIC uses a persistent “connection ID”</a:t>
            </a:r>
            <a:endParaRPr lang="en-US" sz="28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tabLst>
                <a:tab pos="0" algn="l"/>
              </a:tabLst>
            </a:pPr>
            <a:r>
              <a:rPr lang="en-AU" sz="2400" b="0" strike="noStrike" spc="-1">
                <a:solidFill>
                  <a:schemeClr val="dk1"/>
                </a:solidFill>
                <a:latin typeface="Calibri"/>
              </a:rPr>
              <a:t>If a host receives a QUIC frame with the same connection ID and a new IP address / port it will send a challenge by way of a random value that should be echoed back. This is all performed within the e2e encryption envelope. That way a QUIC e2e session can map into new address/port associations on the fly</a:t>
            </a:r>
            <a:endParaRPr lang="en-US" sz="2400" b="0" strike="noStrike" spc="-1">
              <a:solidFill>
                <a:schemeClr val="dk1"/>
              </a:solidFill>
              <a:latin typeface="Calibri"/>
            </a:endParaRPr>
          </a:p>
          <a:p>
            <a:pPr indent="0" defTabSz="914400">
              <a:lnSpc>
                <a:spcPct val="90000"/>
              </a:lnSpc>
              <a:spcBef>
                <a:spcPts val="1001"/>
              </a:spcBef>
              <a:buNone/>
              <a:tabLst>
                <a:tab pos="0" algn="l"/>
              </a:tabLst>
            </a:pPr>
            <a:endParaRPr lang="en-US" sz="2800" b="0" strike="noStrike" spc="-1">
              <a:solidFill>
                <a:schemeClr val="dk1"/>
              </a:solidFill>
              <a:latin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9"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AU" sz="4400" b="0" strike="noStrike" spc="-1">
                <a:solidFill>
                  <a:schemeClr val="accent2">
                    <a:lumMod val="50000"/>
                  </a:schemeClr>
                </a:solidFill>
                <a:latin typeface="Powderfinger Type"/>
              </a:rPr>
              <a:t>QUIC is…</a:t>
            </a:r>
            <a:endParaRPr lang="en-US" sz="4400" b="0" strike="noStrike" spc="-1">
              <a:solidFill>
                <a:schemeClr val="dk1"/>
              </a:solidFill>
              <a:latin typeface="Calibri"/>
            </a:endParaRPr>
          </a:p>
        </p:txBody>
      </p:sp>
      <p:sp>
        <p:nvSpPr>
          <p:cNvPr id="400"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AU" sz="2800" b="0" strike="noStrike" spc="-1">
                <a:solidFill>
                  <a:schemeClr val="dk1"/>
                </a:solidFill>
                <a:latin typeface="Calibri"/>
              </a:rPr>
              <a:t>IP fragmentation intolerant – QUIC uses PMTUD, or defaults to 1,200 octet UDP payloads</a:t>
            </a:r>
            <a:endParaRPr lang="en-US" sz="28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pPr>
            <a:r>
              <a:rPr lang="en-AU" sz="2800" b="0" strike="noStrike" spc="-1">
                <a:solidFill>
                  <a:schemeClr val="dk1"/>
                </a:solidFill>
                <a:latin typeface="Calibri"/>
              </a:rPr>
              <a:t>Never retransmits a QUIC packet – retransmitted data is sent in the next QUIC packet number – this avoids ambiguity about packet retransmission</a:t>
            </a:r>
            <a:endParaRPr lang="en-US" sz="28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pPr>
            <a:r>
              <a:rPr lang="en-AU" sz="2800" b="0" strike="noStrike" spc="-1">
                <a:solidFill>
                  <a:schemeClr val="dk1"/>
                </a:solidFill>
                <a:latin typeface="Calibri"/>
              </a:rPr>
              <a:t>Extends TCP SACK to 256 packet number ranges (up from 3)</a:t>
            </a:r>
            <a:endParaRPr lang="en-US" sz="28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pPr>
            <a:r>
              <a:rPr lang="en-AU" sz="2800" b="0" strike="noStrike" spc="-1">
                <a:solidFill>
                  <a:schemeClr val="dk1"/>
                </a:solidFill>
                <a:latin typeface="Calibri"/>
              </a:rPr>
              <a:t>Separately encrypts each QUIC packet</a:t>
            </a:r>
            <a:endParaRPr lang="en-US" sz="28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pPr>
            <a:r>
              <a:rPr lang="en-AU" sz="2800" b="0" strike="noStrike" spc="-1">
                <a:solidFill>
                  <a:schemeClr val="dk1"/>
                </a:solidFill>
                <a:latin typeface="Calibri"/>
              </a:rPr>
              <a:t>May load multiple QUIC packets in a single UDP frame (countering some forms of network level packet fingerprinting efforts)</a:t>
            </a:r>
            <a:endParaRPr lang="en-US" sz="2800" b="0" strike="noStrike" spc="-1">
              <a:solidFill>
                <a:schemeClr val="dk1"/>
              </a:solidFill>
              <a:latin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AU" sz="4400" b="0" strike="noStrike" spc="-1">
                <a:solidFill>
                  <a:schemeClr val="accent2">
                    <a:lumMod val="50000"/>
                  </a:schemeClr>
                </a:solidFill>
                <a:latin typeface="Powderfinger Type"/>
              </a:rPr>
              <a:t>What does this mean for TCP?</a:t>
            </a:r>
            <a:endParaRPr lang="en-US" sz="4400" b="0" strike="noStrike" spc="-1">
              <a:solidFill>
                <a:schemeClr val="dk1"/>
              </a:solidFill>
              <a:latin typeface="Calibri"/>
            </a:endParaRPr>
          </a:p>
        </p:txBody>
      </p:sp>
      <p:sp>
        <p:nvSpPr>
          <p:cNvPr id="402" name="PlaceHolder 2"/>
          <p:cNvSpPr>
            <a:spLocks noGrp="1"/>
          </p:cNvSpPr>
          <p:nvPr>
            <p:ph/>
          </p:nvPr>
        </p:nvSpPr>
        <p:spPr>
          <a:xfrm>
            <a:off x="838080" y="1825560"/>
            <a:ext cx="10515240" cy="4350960"/>
          </a:xfrm>
          <a:prstGeom prst="rect">
            <a:avLst/>
          </a:prstGeom>
          <a:noFill/>
          <a:ln w="0">
            <a:noFill/>
          </a:ln>
        </p:spPr>
        <p:txBody>
          <a:bodyPr lIns="91440" tIns="45720" rIns="91440" bIns="45720" anchor="t">
            <a:normAutofit fontScale="96763" lnSpcReduction="10000"/>
          </a:bodyPr>
          <a:lstStyle/>
          <a:p>
            <a:pPr indent="0" defTabSz="914400">
              <a:lnSpc>
                <a:spcPct val="90000"/>
              </a:lnSpc>
              <a:spcBef>
                <a:spcPts val="1001"/>
              </a:spcBef>
              <a:buNone/>
              <a:tabLst>
                <a:tab pos="0" algn="l"/>
              </a:tabLst>
            </a:pPr>
            <a:r>
              <a:rPr lang="en-AU" sz="2800" b="0" strike="noStrike" spc="-1">
                <a:solidFill>
                  <a:schemeClr val="dk1"/>
                </a:solidFill>
                <a:latin typeface="Calibri"/>
              </a:rPr>
              <a:t>Normally you would expect any  transition from TCP to QUIC to take forever</a:t>
            </a:r>
            <a:endParaRPr lang="en-US" sz="2800" b="0" strike="noStrike" spc="-1">
              <a:solidFill>
                <a:schemeClr val="dk1"/>
              </a:solidFill>
              <a:latin typeface="Calibri"/>
            </a:endParaRPr>
          </a:p>
          <a:p>
            <a:pPr indent="0" defTabSz="914400">
              <a:lnSpc>
                <a:spcPct val="90000"/>
              </a:lnSpc>
              <a:spcBef>
                <a:spcPts val="1001"/>
              </a:spcBef>
              <a:buNone/>
              <a:tabLst>
                <a:tab pos="0" algn="l"/>
              </a:tabLst>
            </a:pPr>
            <a:r>
              <a:rPr lang="en-AU" sz="2800" b="0" strike="noStrike" spc="-1">
                <a:solidFill>
                  <a:schemeClr val="dk1"/>
                </a:solidFill>
                <a:latin typeface="Calibri"/>
              </a:rPr>
              <a:t>BUT:</a:t>
            </a:r>
            <a:endParaRPr lang="en-US" sz="28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tabLst>
                <a:tab pos="0" algn="l"/>
              </a:tabLst>
            </a:pPr>
            <a:r>
              <a:rPr lang="en-AU" sz="2800" b="0" strike="noStrike" spc="-1">
                <a:solidFill>
                  <a:schemeClr val="dk1"/>
                </a:solidFill>
                <a:latin typeface="Calibri"/>
              </a:rPr>
              <a:t>QUIC gives benefit to adopters through more responsive web services</a:t>
            </a:r>
            <a:endParaRPr lang="en-US" sz="28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tabLst>
                <a:tab pos="0" algn="l"/>
              </a:tabLst>
            </a:pPr>
            <a:r>
              <a:rPr lang="en-AU" sz="2800" b="0" strike="noStrike" spc="-1">
                <a:solidFill>
                  <a:schemeClr val="dk1"/>
                </a:solidFill>
                <a:latin typeface="Calibri"/>
              </a:rPr>
              <a:t>QUIC does a better job of hiding content, which is a benefit to the service operator</a:t>
            </a:r>
            <a:endParaRPr lang="en-US" sz="28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tabLst>
                <a:tab pos="0" algn="l"/>
              </a:tabLst>
            </a:pPr>
            <a:r>
              <a:rPr lang="en-AU" sz="2800" b="0" strike="noStrike" spc="-1">
                <a:solidFill>
                  <a:schemeClr val="dk1"/>
                </a:solidFill>
                <a:latin typeface="Calibri"/>
              </a:rPr>
              <a:t>QUIC has fewer external dependencies</a:t>
            </a:r>
            <a:endParaRPr lang="en-US" sz="28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tabLst>
                <a:tab pos="0" algn="l"/>
              </a:tabLst>
            </a:pPr>
            <a:r>
              <a:rPr lang="en-AU" sz="2800" b="0" strike="noStrike" spc="-1">
                <a:solidFill>
                  <a:schemeClr val="dk1"/>
                </a:solidFill>
                <a:latin typeface="Calibri"/>
              </a:rPr>
              <a:t>QUIC can be deployed on a piecemeal basis</a:t>
            </a:r>
            <a:endParaRPr lang="en-US" sz="2800" b="0" strike="noStrike" spc="-1">
              <a:solidFill>
                <a:schemeClr val="dk1"/>
              </a:solidFill>
              <a:latin typeface="Calibri"/>
            </a:endParaRPr>
          </a:p>
          <a:p>
            <a:pPr indent="0" defTabSz="914400">
              <a:lnSpc>
                <a:spcPct val="90000"/>
              </a:lnSpc>
              <a:spcBef>
                <a:spcPts val="1001"/>
              </a:spcBef>
              <a:buNone/>
              <a:tabLst>
                <a:tab pos="0" algn="l"/>
              </a:tabLst>
            </a:pPr>
            <a:endParaRPr lang="en-US" sz="2800" b="0" strike="noStrike" spc="-1">
              <a:solidFill>
                <a:schemeClr val="dk1"/>
              </a:solidFill>
              <a:latin typeface="Calibri"/>
            </a:endParaRPr>
          </a:p>
          <a:p>
            <a:pPr indent="0" defTabSz="914400">
              <a:lnSpc>
                <a:spcPct val="90000"/>
              </a:lnSpc>
              <a:spcBef>
                <a:spcPts val="1001"/>
              </a:spcBef>
              <a:buNone/>
              <a:tabLst>
                <a:tab pos="0" algn="l"/>
              </a:tabLst>
            </a:pPr>
            <a:r>
              <a:rPr lang="en-AU" sz="2800" b="0" strike="noStrike" spc="-1">
                <a:solidFill>
                  <a:schemeClr val="dk1"/>
                </a:solidFill>
                <a:latin typeface="Calibri"/>
              </a:rPr>
              <a:t>So it all may be over for TCP in a very small number of years!</a:t>
            </a:r>
            <a:endParaRPr lang="en-US" sz="2800" b="0" strike="noStrike" spc="-1">
              <a:solidFill>
                <a:schemeClr val="dk1"/>
              </a:solidFill>
              <a:latin typeface="Calibri"/>
            </a:endParaRPr>
          </a:p>
          <a:p>
            <a:pPr indent="0" defTabSz="914400">
              <a:lnSpc>
                <a:spcPct val="90000"/>
              </a:lnSpc>
              <a:spcBef>
                <a:spcPts val="1001"/>
              </a:spcBef>
              <a:buNone/>
              <a:tabLst>
                <a:tab pos="0" algn="l"/>
              </a:tabLst>
            </a:pPr>
            <a:endParaRPr lang="en-US" sz="2800" b="0" strike="noStrike" spc="-1">
              <a:solidFill>
                <a:schemeClr val="dk1"/>
              </a:solidFill>
              <a:latin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3" name="PlaceHolder 1"/>
          <p:cNvSpPr>
            <a:spLocks noGrp="1"/>
          </p:cNvSpPr>
          <p:nvPr>
            <p:ph type="title"/>
          </p:nvPr>
        </p:nvSpPr>
        <p:spPr>
          <a:xfrm>
            <a:off x="921960" y="365040"/>
            <a:ext cx="11546640" cy="1325160"/>
          </a:xfrm>
          <a:prstGeom prst="rect">
            <a:avLst/>
          </a:prstGeom>
          <a:noFill/>
          <a:ln w="0">
            <a:noFill/>
          </a:ln>
        </p:spPr>
        <p:txBody>
          <a:bodyPr lIns="91440" tIns="45720" rIns="91440" bIns="45720" anchor="ctr">
            <a:noAutofit/>
          </a:bodyPr>
          <a:lstStyle/>
          <a:p>
            <a:pPr indent="0" defTabSz="914400">
              <a:lnSpc>
                <a:spcPct val="90000"/>
              </a:lnSpc>
              <a:buNone/>
            </a:pPr>
            <a:r>
              <a:rPr lang="en-AU" sz="4400" b="0" strike="noStrike" spc="-1">
                <a:solidFill>
                  <a:schemeClr val="accent2">
                    <a:lumMod val="50000"/>
                  </a:schemeClr>
                </a:solidFill>
                <a:latin typeface="Powderfinger Type"/>
              </a:rPr>
              <a:t>What does this mean for the Internet?</a:t>
            </a:r>
            <a:endParaRPr lang="en-US" sz="4400" b="0" strike="noStrike" spc="-1">
              <a:solidFill>
                <a:schemeClr val="dk1"/>
              </a:solidFill>
              <a:latin typeface="Calibri"/>
            </a:endParaRPr>
          </a:p>
        </p:txBody>
      </p:sp>
      <p:sp>
        <p:nvSpPr>
          <p:cNvPr id="404" name="PlaceHolder 2"/>
          <p:cNvSpPr>
            <a:spLocks noGrp="1"/>
          </p:cNvSpPr>
          <p:nvPr>
            <p:ph/>
          </p:nvPr>
        </p:nvSpPr>
        <p:spPr>
          <a:xfrm>
            <a:off x="838080" y="1825560"/>
            <a:ext cx="8694000" cy="4350960"/>
          </a:xfrm>
          <a:prstGeom prst="rect">
            <a:avLst/>
          </a:prstGeom>
          <a:noFill/>
          <a:ln w="0">
            <a:noFill/>
          </a:ln>
        </p:spPr>
        <p:txBody>
          <a:bodyPr lIns="91440" tIns="45720" rIns="91440" bIns="45720" anchor="t">
            <a:normAutofit fontScale="88553" lnSpcReduction="20000"/>
          </a:bodyPr>
          <a:lstStyle/>
          <a:p>
            <a:pPr marL="228600" indent="-228600" defTabSz="914400">
              <a:lnSpc>
                <a:spcPct val="90000"/>
              </a:lnSpc>
              <a:spcBef>
                <a:spcPts val="1001"/>
              </a:spcBef>
              <a:buClr>
                <a:srgbClr val="000000"/>
              </a:buClr>
              <a:buFont typeface="Arial"/>
              <a:buChar char="•"/>
            </a:pPr>
            <a:r>
              <a:rPr lang="en-AU" sz="2800" b="0" strike="noStrike" spc="-1">
                <a:solidFill>
                  <a:schemeClr val="dk1"/>
                </a:solidFill>
                <a:latin typeface="Calibri"/>
              </a:rPr>
              <a:t>IP was a </a:t>
            </a:r>
            <a:r>
              <a:rPr lang="en-AU" sz="2800" b="1" i="1" strike="noStrike" spc="-1">
                <a:solidFill>
                  <a:schemeClr val="dk1"/>
                </a:solidFill>
                <a:latin typeface="Calibri"/>
              </a:rPr>
              <a:t>network</a:t>
            </a:r>
            <a:r>
              <a:rPr lang="en-AU" sz="2800" b="0" i="1" strike="noStrike" spc="-1">
                <a:solidFill>
                  <a:schemeClr val="dk1"/>
                </a:solidFill>
                <a:latin typeface="Calibri"/>
              </a:rPr>
              <a:t> protocol</a:t>
            </a:r>
            <a:r>
              <a:rPr lang="en-AU" sz="2800" b="0" strike="noStrike" spc="-1">
                <a:solidFill>
                  <a:schemeClr val="dk1"/>
                </a:solidFill>
                <a:latin typeface="Calibri"/>
              </a:rPr>
              <a:t> that provided services to attached devices</a:t>
            </a:r>
            <a:endParaRPr lang="en-US" sz="28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pPr>
            <a:r>
              <a:rPr lang="en-AU" sz="2800" b="0" strike="noStrike" spc="-1">
                <a:solidFill>
                  <a:schemeClr val="dk1"/>
                </a:solidFill>
                <a:latin typeface="Calibri"/>
              </a:rPr>
              <a:t>The network service model used by IP was minimal</a:t>
            </a:r>
            <a:endParaRPr lang="en-US" sz="28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pPr>
            <a:r>
              <a:rPr lang="en-AU" sz="2400" b="0" strike="noStrike" spc="-1">
                <a:solidFill>
                  <a:schemeClr val="dk1"/>
                </a:solidFill>
                <a:latin typeface="Calibri"/>
              </a:rPr>
              <a:t>Packets may be dropped, fragmented, duplicated, corrupted and/or reordered on their path through the network </a:t>
            </a:r>
            <a:endParaRPr lang="en-US" sz="24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pPr>
            <a:r>
              <a:rPr lang="en-AU" sz="2400" b="0" strike="noStrike" spc="-1">
                <a:solidFill>
                  <a:schemeClr val="dk1"/>
                </a:solidFill>
                <a:latin typeface="Calibri"/>
              </a:rPr>
              <a:t>Its left to the edge systems to recover from this network behaviour.</a:t>
            </a:r>
            <a:endParaRPr lang="en-US" sz="24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pPr>
            <a:r>
              <a:rPr lang="en-AU" sz="2800" b="0" strike="noStrike" spc="-1">
                <a:solidFill>
                  <a:schemeClr val="dk1"/>
                </a:solidFill>
                <a:latin typeface="Calibri"/>
              </a:rPr>
              <a:t>Efforts to expand the network’s role have foundered</a:t>
            </a:r>
            <a:endParaRPr lang="en-US" sz="28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pPr>
            <a:r>
              <a:rPr lang="en-AU" sz="2400" b="0" strike="noStrike" spc="-1">
                <a:solidFill>
                  <a:schemeClr val="dk1"/>
                </a:solidFill>
                <a:latin typeface="Calibri"/>
              </a:rPr>
              <a:t>QoS has just got nowhere!</a:t>
            </a:r>
            <a:endParaRPr lang="en-US" sz="24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pPr>
            <a:r>
              <a:rPr lang="en-AU" sz="2400" b="0" strike="noStrike" spc="-1">
                <a:solidFill>
                  <a:schemeClr val="dk1"/>
                </a:solidFill>
                <a:latin typeface="Calibri"/>
              </a:rPr>
              <a:t>Various forms of source-directed forwarding are resisted by network operators who want control over traffic engineering</a:t>
            </a:r>
            <a:endParaRPr lang="en-US" sz="24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pPr>
            <a:r>
              <a:rPr lang="en-AU" sz="2800" b="0" strike="noStrike" spc="-1">
                <a:solidFill>
                  <a:schemeClr val="dk1"/>
                </a:solidFill>
                <a:latin typeface="Calibri"/>
              </a:rPr>
              <a:t>Networks took up a role of defending the network resource against aggressive application behaviour</a:t>
            </a:r>
            <a:endParaRPr lang="en-US" sz="28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pPr>
            <a:r>
              <a:rPr lang="en-AU" sz="2800" b="0" strike="noStrike" spc="-1">
                <a:solidFill>
                  <a:schemeClr val="dk1"/>
                </a:solidFill>
                <a:latin typeface="Calibri"/>
              </a:rPr>
              <a:t>Some networks enabled user surveillance</a:t>
            </a:r>
            <a:endParaRPr lang="en-US" sz="2800" b="0" strike="noStrike" spc="-1">
              <a:solidFill>
                <a:schemeClr val="dk1"/>
              </a:solidFill>
              <a:latin typeface="Calibri"/>
            </a:endParaRPr>
          </a:p>
        </p:txBody>
      </p:sp>
      <p:sp>
        <p:nvSpPr>
          <p:cNvPr id="405" name="Freeform 3"/>
          <p:cNvSpPr/>
          <p:nvPr/>
        </p:nvSpPr>
        <p:spPr>
          <a:xfrm>
            <a:off x="10114920" y="2536560"/>
            <a:ext cx="13680" cy="2261160"/>
          </a:xfrm>
          <a:custGeom>
            <a:avLst/>
            <a:gdLst>
              <a:gd name="textAreaLeft" fmla="*/ 0 w 13680"/>
              <a:gd name="textAreaRight" fmla="*/ 14040 w 13680"/>
              <a:gd name="textAreaTop" fmla="*/ 0 h 2261160"/>
              <a:gd name="textAreaBottom" fmla="*/ 2261520 h 2261160"/>
            </a:gdLst>
            <a:ahLst/>
            <a:cxnLst/>
            <a:rect l="textAreaLeft" t="textAreaTop" r="textAreaRight" b="textAreaBottom"/>
            <a:pathLst>
              <a:path w="13960" h="2261570">
                <a:moveTo>
                  <a:pt x="0" y="0"/>
                </a:moveTo>
                <a:cubicBezTo>
                  <a:pt x="6980" y="157054"/>
                  <a:pt x="13960" y="314108"/>
                  <a:pt x="13960" y="691036"/>
                </a:cubicBezTo>
                <a:cubicBezTo>
                  <a:pt x="13960" y="1067964"/>
                  <a:pt x="6980" y="1664767"/>
                  <a:pt x="0" y="2261570"/>
                </a:cubicBezTo>
              </a:path>
            </a:pathLst>
          </a:custGeom>
          <a:no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AU" sz="1800" b="0" strike="noStrike" spc="-1">
              <a:solidFill>
                <a:schemeClr val="lt1"/>
              </a:solidFill>
              <a:latin typeface="Calibri"/>
            </a:endParaRPr>
          </a:p>
        </p:txBody>
      </p:sp>
      <p:sp>
        <p:nvSpPr>
          <p:cNvPr id="406" name="Freeform 4"/>
          <p:cNvSpPr/>
          <p:nvPr/>
        </p:nvSpPr>
        <p:spPr>
          <a:xfrm>
            <a:off x="11353680" y="2474280"/>
            <a:ext cx="13680" cy="2261160"/>
          </a:xfrm>
          <a:custGeom>
            <a:avLst/>
            <a:gdLst>
              <a:gd name="textAreaLeft" fmla="*/ 0 w 13680"/>
              <a:gd name="textAreaRight" fmla="*/ 14040 w 13680"/>
              <a:gd name="textAreaTop" fmla="*/ 0 h 2261160"/>
              <a:gd name="textAreaBottom" fmla="*/ 2261520 h 2261160"/>
            </a:gdLst>
            <a:ahLst/>
            <a:cxnLst/>
            <a:rect l="textAreaLeft" t="textAreaTop" r="textAreaRight" b="textAreaBottom"/>
            <a:pathLst>
              <a:path w="13960" h="2261570">
                <a:moveTo>
                  <a:pt x="0" y="0"/>
                </a:moveTo>
                <a:cubicBezTo>
                  <a:pt x="6980" y="157054"/>
                  <a:pt x="13960" y="314108"/>
                  <a:pt x="13960" y="691036"/>
                </a:cubicBezTo>
                <a:cubicBezTo>
                  <a:pt x="13960" y="1067964"/>
                  <a:pt x="6980" y="1664767"/>
                  <a:pt x="0" y="2261570"/>
                </a:cubicBezTo>
              </a:path>
            </a:pathLst>
          </a:custGeom>
          <a:no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AU" sz="1800" b="0" strike="noStrike" spc="-1">
              <a:solidFill>
                <a:schemeClr val="lt1"/>
              </a:solidFill>
              <a:latin typeface="Calibri"/>
            </a:endParaRPr>
          </a:p>
        </p:txBody>
      </p:sp>
      <p:sp>
        <p:nvSpPr>
          <p:cNvPr id="407" name="TextBox 5"/>
          <p:cNvSpPr/>
          <p:nvPr/>
        </p:nvSpPr>
        <p:spPr>
          <a:xfrm>
            <a:off x="10252080" y="4407480"/>
            <a:ext cx="89136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AU" sz="1800" b="1" strike="noStrike" spc="-1">
                <a:solidFill>
                  <a:schemeClr val="dk1"/>
                </a:solidFill>
                <a:latin typeface="Max's Handwritin"/>
              </a:rPr>
              <a:t>media</a:t>
            </a:r>
            <a:endParaRPr lang="en-US" sz="1800" b="0" strike="noStrike" spc="-1">
              <a:solidFill>
                <a:srgbClr val="000000"/>
              </a:solidFill>
              <a:latin typeface="Arial"/>
            </a:endParaRPr>
          </a:p>
        </p:txBody>
      </p:sp>
      <p:sp>
        <p:nvSpPr>
          <p:cNvPr id="408" name="TextBox 6"/>
          <p:cNvSpPr/>
          <p:nvPr/>
        </p:nvSpPr>
        <p:spPr>
          <a:xfrm>
            <a:off x="9852480" y="3405240"/>
            <a:ext cx="1900080" cy="57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AU" sz="3200" b="1" strike="noStrike" spc="-1">
                <a:solidFill>
                  <a:srgbClr val="FF0000"/>
                </a:solidFill>
                <a:latin typeface="Max's Handwritin"/>
              </a:rPr>
              <a:t>network</a:t>
            </a:r>
            <a:endParaRPr lang="en-US" sz="3200" b="0" strike="noStrike" spc="-1">
              <a:solidFill>
                <a:srgbClr val="000000"/>
              </a:solidFill>
              <a:latin typeface="Arial"/>
            </a:endParaRPr>
          </a:p>
        </p:txBody>
      </p:sp>
      <p:sp>
        <p:nvSpPr>
          <p:cNvPr id="409" name="TextBox 7"/>
          <p:cNvSpPr/>
          <p:nvPr/>
        </p:nvSpPr>
        <p:spPr>
          <a:xfrm>
            <a:off x="9894960" y="2933280"/>
            <a:ext cx="176616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AU" sz="1800" b="1" strike="noStrike" spc="-1">
                <a:solidFill>
                  <a:schemeClr val="accent1">
                    <a:lumMod val="75000"/>
                  </a:schemeClr>
                </a:solidFill>
                <a:latin typeface="Max's Handwritin"/>
              </a:rPr>
              <a:t>TCP Transport</a:t>
            </a:r>
            <a:endParaRPr lang="en-US" sz="1800" b="0" strike="noStrike" spc="-1">
              <a:solidFill>
                <a:srgbClr val="000000"/>
              </a:solidFill>
              <a:latin typeface="Arial"/>
            </a:endParaRPr>
          </a:p>
        </p:txBody>
      </p:sp>
      <p:sp>
        <p:nvSpPr>
          <p:cNvPr id="410" name="TextBox 8"/>
          <p:cNvSpPr/>
          <p:nvPr/>
        </p:nvSpPr>
        <p:spPr>
          <a:xfrm>
            <a:off x="10320120" y="2507040"/>
            <a:ext cx="72072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AU" sz="1800" b="1" strike="noStrike" spc="-1">
                <a:solidFill>
                  <a:schemeClr val="accent6">
                    <a:lumMod val="75000"/>
                  </a:schemeClr>
                </a:solidFill>
                <a:latin typeface="Max's Handwritin"/>
              </a:rPr>
              <a:t>apps</a:t>
            </a:r>
            <a:endParaRPr lang="en-US" sz="1800" b="0" strike="noStrike" spc="-1">
              <a:solidFill>
                <a:srgbClr val="000000"/>
              </a:solidFill>
              <a:latin typeface="Arial"/>
            </a:endParaRPr>
          </a:p>
        </p:txBody>
      </p:sp>
      <p:sp>
        <p:nvSpPr>
          <p:cNvPr id="411" name="Freeform 9"/>
          <p:cNvSpPr/>
          <p:nvPr/>
        </p:nvSpPr>
        <p:spPr>
          <a:xfrm>
            <a:off x="10212120" y="2499840"/>
            <a:ext cx="1088640" cy="13680"/>
          </a:xfrm>
          <a:custGeom>
            <a:avLst/>
            <a:gdLst>
              <a:gd name="textAreaLeft" fmla="*/ 0 w 1088640"/>
              <a:gd name="textAreaRight" fmla="*/ 1089000 w 1088640"/>
              <a:gd name="textAreaTop" fmla="*/ 0 h 13680"/>
              <a:gd name="textAreaBottom" fmla="*/ 14040 h 13680"/>
            </a:gdLst>
            <a:ahLst/>
            <a:cxnLst/>
            <a:rect l="textAreaLeft" t="textAreaTop" r="textAreaRight" b="textAreaBottom"/>
            <a:pathLst>
              <a:path w="1088904" h="13960">
                <a:moveTo>
                  <a:pt x="0" y="13960"/>
                </a:moveTo>
                <a:lnTo>
                  <a:pt x="453710" y="6980"/>
                </a:lnTo>
                <a:lnTo>
                  <a:pt x="1088904" y="0"/>
                </a:lnTo>
              </a:path>
            </a:pathLst>
          </a:custGeom>
          <a:no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30960" rIns="90000" bIns="-30960" anchor="ctr">
            <a:noAutofit/>
          </a:bodyPr>
          <a:lstStyle/>
          <a:p>
            <a:pPr algn="ctr" defTabSz="914400">
              <a:lnSpc>
                <a:spcPct val="100000"/>
              </a:lnSpc>
            </a:pPr>
            <a:endParaRPr lang="en-AU" sz="1800" b="0" strike="noStrike" spc="-1">
              <a:solidFill>
                <a:schemeClr val="lt1"/>
              </a:solidFill>
              <a:latin typeface="Calibri"/>
            </a:endParaRPr>
          </a:p>
        </p:txBody>
      </p:sp>
      <p:sp>
        <p:nvSpPr>
          <p:cNvPr id="412" name="Freeform 10"/>
          <p:cNvSpPr/>
          <p:nvPr/>
        </p:nvSpPr>
        <p:spPr>
          <a:xfrm>
            <a:off x="10233000" y="2954520"/>
            <a:ext cx="1046520" cy="34920"/>
          </a:xfrm>
          <a:custGeom>
            <a:avLst/>
            <a:gdLst>
              <a:gd name="textAreaLeft" fmla="*/ 0 w 1046520"/>
              <a:gd name="textAreaRight" fmla="*/ 1046880 w 1046520"/>
              <a:gd name="textAreaTop" fmla="*/ 0 h 34920"/>
              <a:gd name="textAreaBottom" fmla="*/ 35280 h 34920"/>
            </a:gdLst>
            <a:ahLst/>
            <a:cxnLst/>
            <a:rect l="textAreaLeft" t="textAreaTop" r="textAreaRight" b="textAreaBottom"/>
            <a:pathLst>
              <a:path w="1047023" h="35200">
                <a:moveTo>
                  <a:pt x="0" y="13960"/>
                </a:moveTo>
                <a:cubicBezTo>
                  <a:pt x="125642" y="25594"/>
                  <a:pt x="251285" y="37228"/>
                  <a:pt x="425789" y="34901"/>
                </a:cubicBezTo>
                <a:cubicBezTo>
                  <a:pt x="600293" y="32574"/>
                  <a:pt x="823658" y="16287"/>
                  <a:pt x="1047023" y="0"/>
                </a:cubicBezTo>
              </a:path>
            </a:pathLst>
          </a:custGeom>
          <a:no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9720" rIns="90000" bIns="-9720" anchor="ctr">
            <a:noAutofit/>
          </a:bodyPr>
          <a:lstStyle/>
          <a:p>
            <a:pPr algn="ctr" defTabSz="914400">
              <a:lnSpc>
                <a:spcPct val="100000"/>
              </a:lnSpc>
            </a:pPr>
            <a:endParaRPr lang="en-AU" sz="1800" b="0" strike="noStrike" spc="-1">
              <a:solidFill>
                <a:schemeClr val="lt1"/>
              </a:solidFill>
              <a:latin typeface="Calibri"/>
            </a:endParaRPr>
          </a:p>
        </p:txBody>
      </p:sp>
      <p:sp>
        <p:nvSpPr>
          <p:cNvPr id="413" name="Freeform 11"/>
          <p:cNvSpPr/>
          <p:nvPr/>
        </p:nvSpPr>
        <p:spPr>
          <a:xfrm>
            <a:off x="10302840" y="3212640"/>
            <a:ext cx="955800" cy="37800"/>
          </a:xfrm>
          <a:custGeom>
            <a:avLst/>
            <a:gdLst>
              <a:gd name="textAreaLeft" fmla="*/ 0 w 955800"/>
              <a:gd name="textAreaRight" fmla="*/ 956160 w 955800"/>
              <a:gd name="textAreaTop" fmla="*/ 0 h 37800"/>
              <a:gd name="textAreaBottom" fmla="*/ 38160 h 37800"/>
            </a:gdLst>
            <a:ahLst/>
            <a:cxnLst/>
            <a:rect l="textAreaLeft" t="textAreaTop" r="textAreaRight" b="textAreaBottom"/>
            <a:pathLst>
              <a:path w="956281" h="38258">
                <a:moveTo>
                  <a:pt x="0" y="34900"/>
                </a:moveTo>
                <a:cubicBezTo>
                  <a:pt x="185556" y="37808"/>
                  <a:pt x="371112" y="40717"/>
                  <a:pt x="530492" y="34900"/>
                </a:cubicBezTo>
                <a:cubicBezTo>
                  <a:pt x="689872" y="29083"/>
                  <a:pt x="823076" y="14541"/>
                  <a:pt x="956281" y="0"/>
                </a:cubicBezTo>
              </a:path>
            </a:pathLst>
          </a:custGeom>
          <a:no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6840" rIns="90000" bIns="-6840" anchor="ctr">
            <a:noAutofit/>
          </a:bodyPr>
          <a:lstStyle/>
          <a:p>
            <a:pPr algn="ctr" defTabSz="914400">
              <a:lnSpc>
                <a:spcPct val="100000"/>
              </a:lnSpc>
            </a:pPr>
            <a:endParaRPr lang="en-AU" sz="1800" b="0" strike="noStrike" spc="-1">
              <a:solidFill>
                <a:schemeClr val="lt1"/>
              </a:solidFill>
              <a:latin typeface="Calibri"/>
            </a:endParaRPr>
          </a:p>
        </p:txBody>
      </p:sp>
      <p:sp>
        <p:nvSpPr>
          <p:cNvPr id="414" name="Freeform 12"/>
          <p:cNvSpPr/>
          <p:nvPr/>
        </p:nvSpPr>
        <p:spPr>
          <a:xfrm>
            <a:off x="10149120" y="4322520"/>
            <a:ext cx="1130400" cy="27720"/>
          </a:xfrm>
          <a:custGeom>
            <a:avLst/>
            <a:gdLst>
              <a:gd name="textAreaLeft" fmla="*/ 0 w 1130400"/>
              <a:gd name="textAreaRight" fmla="*/ 1130760 w 1130400"/>
              <a:gd name="textAreaTop" fmla="*/ 0 h 27720"/>
              <a:gd name="textAreaBottom" fmla="*/ 28080 h 27720"/>
            </a:gdLst>
            <a:ahLst/>
            <a:cxnLst/>
            <a:rect l="textAreaLeft" t="textAreaTop" r="textAreaRight" b="textAreaBottom"/>
            <a:pathLst>
              <a:path w="1130785" h="28010">
                <a:moveTo>
                  <a:pt x="0" y="0"/>
                </a:moveTo>
                <a:cubicBezTo>
                  <a:pt x="73873" y="4653"/>
                  <a:pt x="293166" y="13960"/>
                  <a:pt x="293166" y="13960"/>
                </a:cubicBezTo>
                <a:cubicBezTo>
                  <a:pt x="438586" y="18613"/>
                  <a:pt x="732916" y="29084"/>
                  <a:pt x="872519" y="27921"/>
                </a:cubicBezTo>
                <a:cubicBezTo>
                  <a:pt x="1012122" y="26758"/>
                  <a:pt x="1071453" y="16869"/>
                  <a:pt x="1130785" y="6980"/>
                </a:cubicBezTo>
              </a:path>
            </a:pathLst>
          </a:custGeom>
          <a:no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16920" rIns="90000" bIns="-16920" anchor="ctr">
            <a:noAutofit/>
          </a:bodyPr>
          <a:lstStyle/>
          <a:p>
            <a:pPr algn="ctr" defTabSz="914400">
              <a:lnSpc>
                <a:spcPct val="100000"/>
              </a:lnSpc>
            </a:pPr>
            <a:endParaRPr lang="en-AU" sz="1800" b="0" strike="noStrike" spc="-1">
              <a:solidFill>
                <a:schemeClr val="lt1"/>
              </a:solidFill>
              <a:latin typeface="Calibri"/>
            </a:endParaRPr>
          </a:p>
        </p:txBody>
      </p:sp>
      <p:sp>
        <p:nvSpPr>
          <p:cNvPr id="415" name="TextBox 13"/>
          <p:cNvSpPr/>
          <p:nvPr/>
        </p:nvSpPr>
        <p:spPr>
          <a:xfrm>
            <a:off x="8874720" y="3378240"/>
            <a:ext cx="963000" cy="638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AU" sz="3600" b="1" strike="noStrike" spc="-1">
                <a:solidFill>
                  <a:srgbClr val="FF0000"/>
                </a:solidFill>
                <a:latin typeface="Max's Handwritin"/>
              </a:rPr>
              <a:t>$$$</a:t>
            </a:r>
            <a:endParaRPr lang="en-US" sz="3600" b="0" strike="noStrike" spc="-1">
              <a:solidFill>
                <a:srgbClr val="000000"/>
              </a:solidFill>
              <a:latin typeface="Arial"/>
            </a:endParaRPr>
          </a:p>
        </p:txBody>
      </p:sp>
      <p:sp>
        <p:nvSpPr>
          <p:cNvPr id="416" name="Freeform 14"/>
          <p:cNvSpPr/>
          <p:nvPr/>
        </p:nvSpPr>
        <p:spPr>
          <a:xfrm>
            <a:off x="10149120" y="4797360"/>
            <a:ext cx="1130400" cy="27720"/>
          </a:xfrm>
          <a:custGeom>
            <a:avLst/>
            <a:gdLst>
              <a:gd name="textAreaLeft" fmla="*/ 0 w 1130400"/>
              <a:gd name="textAreaRight" fmla="*/ 1130760 w 1130400"/>
              <a:gd name="textAreaTop" fmla="*/ 0 h 27720"/>
              <a:gd name="textAreaBottom" fmla="*/ 28080 h 27720"/>
            </a:gdLst>
            <a:ahLst/>
            <a:cxnLst/>
            <a:rect l="textAreaLeft" t="textAreaTop" r="textAreaRight" b="textAreaBottom"/>
            <a:pathLst>
              <a:path w="1130785" h="28010">
                <a:moveTo>
                  <a:pt x="0" y="0"/>
                </a:moveTo>
                <a:cubicBezTo>
                  <a:pt x="73873" y="4653"/>
                  <a:pt x="293166" y="13960"/>
                  <a:pt x="293166" y="13960"/>
                </a:cubicBezTo>
                <a:cubicBezTo>
                  <a:pt x="438586" y="18613"/>
                  <a:pt x="732916" y="29084"/>
                  <a:pt x="872519" y="27921"/>
                </a:cubicBezTo>
                <a:cubicBezTo>
                  <a:pt x="1012122" y="26758"/>
                  <a:pt x="1071453" y="16869"/>
                  <a:pt x="1130785" y="6980"/>
                </a:cubicBezTo>
              </a:path>
            </a:pathLst>
          </a:custGeom>
          <a:no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16920" rIns="90000" bIns="-16920" anchor="ctr">
            <a:noAutofit/>
          </a:bodyPr>
          <a:lstStyle/>
          <a:p>
            <a:pPr algn="ctr" defTabSz="914400">
              <a:lnSpc>
                <a:spcPct val="100000"/>
              </a:lnSpc>
            </a:pPr>
            <a:endParaRPr lang="en-AU" sz="1800" b="0" strike="noStrike" spc="-1">
              <a:solidFill>
                <a:schemeClr val="lt1"/>
              </a:solidFill>
              <a:latin typeface="Calibri"/>
            </a:endParaRPr>
          </a:p>
        </p:txBody>
      </p:sp>
      <p:sp>
        <p:nvSpPr>
          <p:cNvPr id="417" name="Freeform 15"/>
          <p:cNvSpPr/>
          <p:nvPr/>
        </p:nvSpPr>
        <p:spPr>
          <a:xfrm>
            <a:off x="9950760" y="3576960"/>
            <a:ext cx="268560" cy="386640"/>
          </a:xfrm>
          <a:custGeom>
            <a:avLst/>
            <a:gdLst>
              <a:gd name="textAreaLeft" fmla="*/ 0 w 268560"/>
              <a:gd name="textAreaRight" fmla="*/ 268920 w 268560"/>
              <a:gd name="textAreaTop" fmla="*/ 0 h 386640"/>
              <a:gd name="textAreaBottom" fmla="*/ 387000 h 386640"/>
            </a:gdLst>
            <a:ahLst/>
            <a:cxnLst/>
            <a:rect l="textAreaLeft" t="textAreaTop" r="textAreaRight" b="textAreaBottom"/>
            <a:pathLst>
              <a:path w="268941" h="386853">
                <a:moveTo>
                  <a:pt x="0" y="107640"/>
                </a:moveTo>
                <a:cubicBezTo>
                  <a:pt x="112806" y="121087"/>
                  <a:pt x="225612" y="134534"/>
                  <a:pt x="242047" y="116605"/>
                </a:cubicBezTo>
                <a:cubicBezTo>
                  <a:pt x="258482" y="98676"/>
                  <a:pt x="94129" y="-2924"/>
                  <a:pt x="98611" y="64"/>
                </a:cubicBezTo>
                <a:cubicBezTo>
                  <a:pt x="103093" y="3052"/>
                  <a:pt x="268941" y="70287"/>
                  <a:pt x="268941" y="134534"/>
                </a:cubicBezTo>
                <a:cubicBezTo>
                  <a:pt x="268941" y="198781"/>
                  <a:pt x="104587" y="369111"/>
                  <a:pt x="98611" y="385546"/>
                </a:cubicBezTo>
                <a:cubicBezTo>
                  <a:pt x="92635" y="401981"/>
                  <a:pt x="243541" y="258546"/>
                  <a:pt x="233082" y="233146"/>
                </a:cubicBezTo>
                <a:cubicBezTo>
                  <a:pt x="222623" y="207746"/>
                  <a:pt x="129240" y="220446"/>
                  <a:pt x="35858" y="233146"/>
                </a:cubicBezTo>
              </a:path>
            </a:pathLst>
          </a:custGeom>
          <a:noFill/>
          <a:ln>
            <a:solidFill>
              <a:srgbClr val="FF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AU" sz="1800" b="0" strike="noStrike" spc="-1">
              <a:solidFill>
                <a:schemeClr val="lt1"/>
              </a:solidFill>
              <a:latin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AU" sz="4400" b="0" strike="noStrike" spc="-1">
                <a:solidFill>
                  <a:schemeClr val="accent2">
                    <a:lumMod val="50000"/>
                  </a:schemeClr>
                </a:solidFill>
                <a:latin typeface="Powderfinger Type"/>
              </a:rPr>
              <a:t>The new Network Space</a:t>
            </a:r>
            <a:endParaRPr lang="en-US" sz="4400" b="0" strike="noStrike" spc="-1">
              <a:solidFill>
                <a:schemeClr val="dk1"/>
              </a:solidFill>
              <a:latin typeface="Calibri"/>
            </a:endParaRPr>
          </a:p>
        </p:txBody>
      </p:sp>
      <p:sp>
        <p:nvSpPr>
          <p:cNvPr id="419" name="PlaceHolder 2"/>
          <p:cNvSpPr>
            <a:spLocks noGrp="1"/>
          </p:cNvSpPr>
          <p:nvPr>
            <p:ph/>
          </p:nvPr>
        </p:nvSpPr>
        <p:spPr>
          <a:xfrm>
            <a:off x="838080" y="1825560"/>
            <a:ext cx="10515240" cy="4350960"/>
          </a:xfrm>
          <a:prstGeom prst="rect">
            <a:avLst/>
          </a:prstGeom>
          <a:noFill/>
          <a:ln w="0">
            <a:noFill/>
          </a:ln>
        </p:spPr>
        <p:txBody>
          <a:bodyPr lIns="91440" tIns="45720" rIns="91440" bIns="45720" anchor="t">
            <a:normAutofit/>
          </a:bodyPr>
          <a:lstStyle/>
          <a:p>
            <a:pPr indent="0" defTabSz="914400">
              <a:lnSpc>
                <a:spcPct val="90000"/>
              </a:lnSpc>
              <a:spcBef>
                <a:spcPts val="839"/>
              </a:spcBef>
              <a:spcAft>
                <a:spcPts val="839"/>
              </a:spcAft>
              <a:buNone/>
              <a:tabLst>
                <a:tab pos="0" algn="l"/>
              </a:tabLst>
            </a:pPr>
            <a:r>
              <a:rPr lang="en-US" sz="2800" b="0" strike="noStrike" spc="-1">
                <a:solidFill>
                  <a:schemeClr val="dk1"/>
                </a:solidFill>
                <a:latin typeface="Calibri"/>
              </a:rPr>
              <a:t>And this is why QUIC is so interesting – it is pushing both carriage and platform into commodity roles in networking and allowing applications to effectively customize the way in which they want to deliver services and dominating the entire networked environment</a:t>
            </a:r>
          </a:p>
          <a:p>
            <a:pPr indent="0" defTabSz="914400">
              <a:lnSpc>
                <a:spcPct val="90000"/>
              </a:lnSpc>
              <a:spcBef>
                <a:spcPts val="839"/>
              </a:spcBef>
              <a:spcAft>
                <a:spcPts val="839"/>
              </a:spcAft>
              <a:buNone/>
              <a:tabLst>
                <a:tab pos="0" algn="l"/>
              </a:tabLst>
            </a:pPr>
            <a:r>
              <a:rPr lang="en-US" sz="2800" b="0" strike="noStrike" spc="-1">
                <a:solidFill>
                  <a:schemeClr val="dk1"/>
                </a:solidFill>
                <a:latin typeface="Calibri"/>
              </a:rPr>
              <a:t>QUIC is the application’s view of what Transport should be!</a:t>
            </a:r>
          </a:p>
          <a:p>
            <a:pPr indent="0" defTabSz="914400">
              <a:lnSpc>
                <a:spcPct val="90000"/>
              </a:lnSpc>
              <a:spcBef>
                <a:spcPts val="1001"/>
              </a:spcBef>
              <a:buNone/>
              <a:tabLst>
                <a:tab pos="0" algn="l"/>
              </a:tabLst>
            </a:pPr>
            <a:endParaRPr lang="en-US" sz="2800" b="0" strike="noStrike" spc="-1">
              <a:solidFill>
                <a:schemeClr val="dk1"/>
              </a:solidFill>
              <a:latin typeface="Calibri"/>
            </a:endParaRPr>
          </a:p>
        </p:txBody>
      </p:sp>
      <p:sp>
        <p:nvSpPr>
          <p:cNvPr id="420" name="Freeform 3"/>
          <p:cNvSpPr/>
          <p:nvPr/>
        </p:nvSpPr>
        <p:spPr>
          <a:xfrm>
            <a:off x="2569680" y="4293720"/>
            <a:ext cx="13680" cy="2261160"/>
          </a:xfrm>
          <a:custGeom>
            <a:avLst/>
            <a:gdLst>
              <a:gd name="textAreaLeft" fmla="*/ 0 w 13680"/>
              <a:gd name="textAreaRight" fmla="*/ 14040 w 13680"/>
              <a:gd name="textAreaTop" fmla="*/ 0 h 2261160"/>
              <a:gd name="textAreaBottom" fmla="*/ 2261520 h 2261160"/>
            </a:gdLst>
            <a:ahLst/>
            <a:cxnLst/>
            <a:rect l="textAreaLeft" t="textAreaTop" r="textAreaRight" b="textAreaBottom"/>
            <a:pathLst>
              <a:path w="13960" h="2261570">
                <a:moveTo>
                  <a:pt x="0" y="0"/>
                </a:moveTo>
                <a:cubicBezTo>
                  <a:pt x="6980" y="157054"/>
                  <a:pt x="13960" y="314108"/>
                  <a:pt x="13960" y="691036"/>
                </a:cubicBezTo>
                <a:cubicBezTo>
                  <a:pt x="13960" y="1067964"/>
                  <a:pt x="6980" y="1664767"/>
                  <a:pt x="0" y="2261570"/>
                </a:cubicBezTo>
              </a:path>
            </a:pathLst>
          </a:custGeom>
          <a:no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AU" sz="1800" b="0" strike="noStrike" spc="-1">
              <a:solidFill>
                <a:schemeClr val="lt1"/>
              </a:solidFill>
              <a:latin typeface="Calibri"/>
            </a:endParaRPr>
          </a:p>
        </p:txBody>
      </p:sp>
      <p:sp>
        <p:nvSpPr>
          <p:cNvPr id="421" name="Freeform 4"/>
          <p:cNvSpPr/>
          <p:nvPr/>
        </p:nvSpPr>
        <p:spPr>
          <a:xfrm>
            <a:off x="3808440" y="4231440"/>
            <a:ext cx="13680" cy="2261160"/>
          </a:xfrm>
          <a:custGeom>
            <a:avLst/>
            <a:gdLst>
              <a:gd name="textAreaLeft" fmla="*/ 0 w 13680"/>
              <a:gd name="textAreaRight" fmla="*/ 14040 w 13680"/>
              <a:gd name="textAreaTop" fmla="*/ 0 h 2261160"/>
              <a:gd name="textAreaBottom" fmla="*/ 2261520 h 2261160"/>
            </a:gdLst>
            <a:ahLst/>
            <a:cxnLst/>
            <a:rect l="textAreaLeft" t="textAreaTop" r="textAreaRight" b="textAreaBottom"/>
            <a:pathLst>
              <a:path w="13960" h="2261570">
                <a:moveTo>
                  <a:pt x="0" y="0"/>
                </a:moveTo>
                <a:cubicBezTo>
                  <a:pt x="6980" y="157054"/>
                  <a:pt x="13960" y="314108"/>
                  <a:pt x="13960" y="691036"/>
                </a:cubicBezTo>
                <a:cubicBezTo>
                  <a:pt x="13960" y="1067964"/>
                  <a:pt x="6980" y="1664767"/>
                  <a:pt x="0" y="2261570"/>
                </a:cubicBezTo>
              </a:path>
            </a:pathLst>
          </a:custGeom>
          <a:no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AU" sz="1800" b="0" strike="noStrike" spc="-1">
              <a:solidFill>
                <a:schemeClr val="lt1"/>
              </a:solidFill>
              <a:latin typeface="Calibri"/>
            </a:endParaRPr>
          </a:p>
        </p:txBody>
      </p:sp>
      <p:sp>
        <p:nvSpPr>
          <p:cNvPr id="422" name="TextBox 5"/>
          <p:cNvSpPr/>
          <p:nvPr/>
        </p:nvSpPr>
        <p:spPr>
          <a:xfrm>
            <a:off x="2706480" y="6164640"/>
            <a:ext cx="89136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AU" sz="1800" b="1" strike="noStrike" spc="-1">
                <a:solidFill>
                  <a:schemeClr val="dk1"/>
                </a:solidFill>
                <a:latin typeface="Max's Handwritin"/>
              </a:rPr>
              <a:t>media</a:t>
            </a:r>
            <a:endParaRPr lang="en-US" sz="1800" b="0" strike="noStrike" spc="-1">
              <a:solidFill>
                <a:srgbClr val="000000"/>
              </a:solidFill>
              <a:latin typeface="Arial"/>
            </a:endParaRPr>
          </a:p>
        </p:txBody>
      </p:sp>
      <p:sp>
        <p:nvSpPr>
          <p:cNvPr id="423" name="TextBox 6"/>
          <p:cNvSpPr/>
          <p:nvPr/>
        </p:nvSpPr>
        <p:spPr>
          <a:xfrm>
            <a:off x="2403720" y="5450400"/>
            <a:ext cx="1468800" cy="4554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AU" sz="2400" b="1" strike="noStrike" spc="-1">
                <a:solidFill>
                  <a:srgbClr val="FF0000"/>
                </a:solidFill>
                <a:latin typeface="Max's Handwritin"/>
              </a:rPr>
              <a:t>network</a:t>
            </a:r>
            <a:endParaRPr lang="en-US" sz="2400" b="0" strike="noStrike" spc="-1">
              <a:solidFill>
                <a:srgbClr val="000000"/>
              </a:solidFill>
              <a:latin typeface="Arial"/>
            </a:endParaRPr>
          </a:p>
        </p:txBody>
      </p:sp>
      <p:sp>
        <p:nvSpPr>
          <p:cNvPr id="424" name="TextBox 7"/>
          <p:cNvSpPr/>
          <p:nvPr/>
        </p:nvSpPr>
        <p:spPr>
          <a:xfrm>
            <a:off x="2349360" y="4690440"/>
            <a:ext cx="176616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AU" sz="1800" b="1" strike="noStrike" spc="-1">
                <a:solidFill>
                  <a:schemeClr val="accent1">
                    <a:lumMod val="75000"/>
                  </a:schemeClr>
                </a:solidFill>
                <a:latin typeface="Max's Handwritin"/>
              </a:rPr>
              <a:t>TCP Transport</a:t>
            </a:r>
            <a:endParaRPr lang="en-US" sz="1800" b="0" strike="noStrike" spc="-1">
              <a:solidFill>
                <a:srgbClr val="000000"/>
              </a:solidFill>
              <a:latin typeface="Arial"/>
            </a:endParaRPr>
          </a:p>
        </p:txBody>
      </p:sp>
      <p:sp>
        <p:nvSpPr>
          <p:cNvPr id="425" name="TextBox 8"/>
          <p:cNvSpPr/>
          <p:nvPr/>
        </p:nvSpPr>
        <p:spPr>
          <a:xfrm>
            <a:off x="2774520" y="4264200"/>
            <a:ext cx="72072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AU" sz="1800" b="1" strike="noStrike" spc="-1">
                <a:solidFill>
                  <a:schemeClr val="accent6">
                    <a:lumMod val="75000"/>
                  </a:schemeClr>
                </a:solidFill>
                <a:latin typeface="Max's Handwritin"/>
              </a:rPr>
              <a:t>apps</a:t>
            </a:r>
            <a:endParaRPr lang="en-US" sz="1800" b="0" strike="noStrike" spc="-1">
              <a:solidFill>
                <a:srgbClr val="000000"/>
              </a:solidFill>
              <a:latin typeface="Arial"/>
            </a:endParaRPr>
          </a:p>
        </p:txBody>
      </p:sp>
      <p:sp>
        <p:nvSpPr>
          <p:cNvPr id="426" name="Freeform 9"/>
          <p:cNvSpPr/>
          <p:nvPr/>
        </p:nvSpPr>
        <p:spPr>
          <a:xfrm>
            <a:off x="2666520" y="4257000"/>
            <a:ext cx="1088640" cy="13680"/>
          </a:xfrm>
          <a:custGeom>
            <a:avLst/>
            <a:gdLst>
              <a:gd name="textAreaLeft" fmla="*/ 0 w 1088640"/>
              <a:gd name="textAreaRight" fmla="*/ 1089000 w 1088640"/>
              <a:gd name="textAreaTop" fmla="*/ 0 h 13680"/>
              <a:gd name="textAreaBottom" fmla="*/ 14040 h 13680"/>
            </a:gdLst>
            <a:ahLst/>
            <a:cxnLst/>
            <a:rect l="textAreaLeft" t="textAreaTop" r="textAreaRight" b="textAreaBottom"/>
            <a:pathLst>
              <a:path w="1088904" h="13960">
                <a:moveTo>
                  <a:pt x="0" y="13960"/>
                </a:moveTo>
                <a:lnTo>
                  <a:pt x="453710" y="6980"/>
                </a:lnTo>
                <a:lnTo>
                  <a:pt x="1088904" y="0"/>
                </a:lnTo>
              </a:path>
            </a:pathLst>
          </a:custGeom>
          <a:no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30960" rIns="90000" bIns="-30960" anchor="ctr">
            <a:noAutofit/>
          </a:bodyPr>
          <a:lstStyle/>
          <a:p>
            <a:pPr algn="ctr" defTabSz="914400">
              <a:lnSpc>
                <a:spcPct val="100000"/>
              </a:lnSpc>
            </a:pPr>
            <a:endParaRPr lang="en-AU" sz="1800" b="0" strike="noStrike" spc="-1">
              <a:solidFill>
                <a:schemeClr val="lt1"/>
              </a:solidFill>
              <a:latin typeface="Calibri"/>
            </a:endParaRPr>
          </a:p>
        </p:txBody>
      </p:sp>
      <p:sp>
        <p:nvSpPr>
          <p:cNvPr id="427" name="Freeform 10"/>
          <p:cNvSpPr/>
          <p:nvPr/>
        </p:nvSpPr>
        <p:spPr>
          <a:xfrm>
            <a:off x="2687400" y="4711680"/>
            <a:ext cx="1046520" cy="34920"/>
          </a:xfrm>
          <a:custGeom>
            <a:avLst/>
            <a:gdLst>
              <a:gd name="textAreaLeft" fmla="*/ 0 w 1046520"/>
              <a:gd name="textAreaRight" fmla="*/ 1046880 w 1046520"/>
              <a:gd name="textAreaTop" fmla="*/ 0 h 34920"/>
              <a:gd name="textAreaBottom" fmla="*/ 35280 h 34920"/>
            </a:gdLst>
            <a:ahLst/>
            <a:cxnLst/>
            <a:rect l="textAreaLeft" t="textAreaTop" r="textAreaRight" b="textAreaBottom"/>
            <a:pathLst>
              <a:path w="1047023" h="35200">
                <a:moveTo>
                  <a:pt x="0" y="13960"/>
                </a:moveTo>
                <a:cubicBezTo>
                  <a:pt x="125642" y="25594"/>
                  <a:pt x="251285" y="37228"/>
                  <a:pt x="425789" y="34901"/>
                </a:cubicBezTo>
                <a:cubicBezTo>
                  <a:pt x="600293" y="32574"/>
                  <a:pt x="823658" y="16287"/>
                  <a:pt x="1047023" y="0"/>
                </a:cubicBezTo>
              </a:path>
            </a:pathLst>
          </a:custGeom>
          <a:no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9720" rIns="90000" bIns="-9720" anchor="ctr">
            <a:noAutofit/>
          </a:bodyPr>
          <a:lstStyle/>
          <a:p>
            <a:pPr algn="ctr" defTabSz="914400">
              <a:lnSpc>
                <a:spcPct val="100000"/>
              </a:lnSpc>
            </a:pPr>
            <a:endParaRPr lang="en-AU" sz="1800" b="0" strike="noStrike" spc="-1">
              <a:solidFill>
                <a:schemeClr val="lt1"/>
              </a:solidFill>
              <a:latin typeface="Calibri"/>
            </a:endParaRPr>
          </a:p>
        </p:txBody>
      </p:sp>
      <p:sp>
        <p:nvSpPr>
          <p:cNvPr id="428" name="Freeform 11"/>
          <p:cNvSpPr/>
          <p:nvPr/>
        </p:nvSpPr>
        <p:spPr>
          <a:xfrm>
            <a:off x="2757240" y="4969800"/>
            <a:ext cx="955800" cy="37800"/>
          </a:xfrm>
          <a:custGeom>
            <a:avLst/>
            <a:gdLst>
              <a:gd name="textAreaLeft" fmla="*/ 0 w 955800"/>
              <a:gd name="textAreaRight" fmla="*/ 956160 w 955800"/>
              <a:gd name="textAreaTop" fmla="*/ 0 h 37800"/>
              <a:gd name="textAreaBottom" fmla="*/ 38160 h 37800"/>
            </a:gdLst>
            <a:ahLst/>
            <a:cxnLst/>
            <a:rect l="textAreaLeft" t="textAreaTop" r="textAreaRight" b="textAreaBottom"/>
            <a:pathLst>
              <a:path w="956281" h="38258">
                <a:moveTo>
                  <a:pt x="0" y="34900"/>
                </a:moveTo>
                <a:cubicBezTo>
                  <a:pt x="185556" y="37808"/>
                  <a:pt x="371112" y="40717"/>
                  <a:pt x="530492" y="34900"/>
                </a:cubicBezTo>
                <a:cubicBezTo>
                  <a:pt x="689872" y="29083"/>
                  <a:pt x="823076" y="14541"/>
                  <a:pt x="956281" y="0"/>
                </a:cubicBezTo>
              </a:path>
            </a:pathLst>
          </a:custGeom>
          <a:no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6840" rIns="90000" bIns="-6840" anchor="ctr">
            <a:noAutofit/>
          </a:bodyPr>
          <a:lstStyle/>
          <a:p>
            <a:pPr algn="ctr" defTabSz="914400">
              <a:lnSpc>
                <a:spcPct val="100000"/>
              </a:lnSpc>
            </a:pPr>
            <a:endParaRPr lang="en-AU" sz="1800" b="0" strike="noStrike" spc="-1">
              <a:solidFill>
                <a:schemeClr val="lt1"/>
              </a:solidFill>
              <a:latin typeface="Calibri"/>
            </a:endParaRPr>
          </a:p>
        </p:txBody>
      </p:sp>
      <p:sp>
        <p:nvSpPr>
          <p:cNvPr id="429" name="Freeform 12"/>
          <p:cNvSpPr/>
          <p:nvPr/>
        </p:nvSpPr>
        <p:spPr>
          <a:xfrm>
            <a:off x="2603520" y="6079680"/>
            <a:ext cx="1130400" cy="27720"/>
          </a:xfrm>
          <a:custGeom>
            <a:avLst/>
            <a:gdLst>
              <a:gd name="textAreaLeft" fmla="*/ 0 w 1130400"/>
              <a:gd name="textAreaRight" fmla="*/ 1130760 w 1130400"/>
              <a:gd name="textAreaTop" fmla="*/ 0 h 27720"/>
              <a:gd name="textAreaBottom" fmla="*/ 28080 h 27720"/>
            </a:gdLst>
            <a:ahLst/>
            <a:cxnLst/>
            <a:rect l="textAreaLeft" t="textAreaTop" r="textAreaRight" b="textAreaBottom"/>
            <a:pathLst>
              <a:path w="1130785" h="28010">
                <a:moveTo>
                  <a:pt x="0" y="0"/>
                </a:moveTo>
                <a:cubicBezTo>
                  <a:pt x="73873" y="4653"/>
                  <a:pt x="293166" y="13960"/>
                  <a:pt x="293166" y="13960"/>
                </a:cubicBezTo>
                <a:cubicBezTo>
                  <a:pt x="438586" y="18613"/>
                  <a:pt x="732916" y="29084"/>
                  <a:pt x="872519" y="27921"/>
                </a:cubicBezTo>
                <a:cubicBezTo>
                  <a:pt x="1012122" y="26758"/>
                  <a:pt x="1071453" y="16869"/>
                  <a:pt x="1130785" y="6980"/>
                </a:cubicBezTo>
              </a:path>
            </a:pathLst>
          </a:custGeom>
          <a:no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16920" rIns="90000" bIns="-16920" anchor="ctr">
            <a:noAutofit/>
          </a:bodyPr>
          <a:lstStyle/>
          <a:p>
            <a:pPr algn="ctr" defTabSz="914400">
              <a:lnSpc>
                <a:spcPct val="100000"/>
              </a:lnSpc>
            </a:pPr>
            <a:endParaRPr lang="en-AU" sz="1800" b="0" strike="noStrike" spc="-1">
              <a:solidFill>
                <a:schemeClr val="lt1"/>
              </a:solidFill>
              <a:latin typeface="Calibri"/>
            </a:endParaRPr>
          </a:p>
        </p:txBody>
      </p:sp>
      <p:sp>
        <p:nvSpPr>
          <p:cNvPr id="430" name="Freeform 14"/>
          <p:cNvSpPr/>
          <p:nvPr/>
        </p:nvSpPr>
        <p:spPr>
          <a:xfrm>
            <a:off x="2603520" y="6554520"/>
            <a:ext cx="1130400" cy="27720"/>
          </a:xfrm>
          <a:custGeom>
            <a:avLst/>
            <a:gdLst>
              <a:gd name="textAreaLeft" fmla="*/ 0 w 1130400"/>
              <a:gd name="textAreaRight" fmla="*/ 1130760 w 1130400"/>
              <a:gd name="textAreaTop" fmla="*/ 0 h 27720"/>
              <a:gd name="textAreaBottom" fmla="*/ 28080 h 27720"/>
            </a:gdLst>
            <a:ahLst/>
            <a:cxnLst/>
            <a:rect l="textAreaLeft" t="textAreaTop" r="textAreaRight" b="textAreaBottom"/>
            <a:pathLst>
              <a:path w="1130785" h="28010">
                <a:moveTo>
                  <a:pt x="0" y="0"/>
                </a:moveTo>
                <a:cubicBezTo>
                  <a:pt x="73873" y="4653"/>
                  <a:pt x="293166" y="13960"/>
                  <a:pt x="293166" y="13960"/>
                </a:cubicBezTo>
                <a:cubicBezTo>
                  <a:pt x="438586" y="18613"/>
                  <a:pt x="732916" y="29084"/>
                  <a:pt x="872519" y="27921"/>
                </a:cubicBezTo>
                <a:cubicBezTo>
                  <a:pt x="1012122" y="26758"/>
                  <a:pt x="1071453" y="16869"/>
                  <a:pt x="1130785" y="6980"/>
                </a:cubicBezTo>
              </a:path>
            </a:pathLst>
          </a:custGeom>
          <a:no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16920" rIns="90000" bIns="-16920" anchor="ctr">
            <a:noAutofit/>
          </a:bodyPr>
          <a:lstStyle/>
          <a:p>
            <a:pPr algn="ctr" defTabSz="914400">
              <a:lnSpc>
                <a:spcPct val="100000"/>
              </a:lnSpc>
            </a:pPr>
            <a:endParaRPr lang="en-AU" sz="1800" b="0" strike="noStrike" spc="-1">
              <a:solidFill>
                <a:schemeClr val="lt1"/>
              </a:solidFill>
              <a:latin typeface="Calibri"/>
            </a:endParaRPr>
          </a:p>
        </p:txBody>
      </p:sp>
      <p:sp>
        <p:nvSpPr>
          <p:cNvPr id="431" name="Freeform 15"/>
          <p:cNvSpPr/>
          <p:nvPr/>
        </p:nvSpPr>
        <p:spPr>
          <a:xfrm>
            <a:off x="4306680" y="4758120"/>
            <a:ext cx="1313640" cy="987120"/>
          </a:xfrm>
          <a:custGeom>
            <a:avLst/>
            <a:gdLst>
              <a:gd name="textAreaLeft" fmla="*/ 0 w 1313640"/>
              <a:gd name="textAreaRight" fmla="*/ 1314000 w 1313640"/>
              <a:gd name="textAreaTop" fmla="*/ 0 h 987120"/>
              <a:gd name="textAreaBottom" fmla="*/ 987480 h 987120"/>
            </a:gdLst>
            <a:ahLst/>
            <a:cxnLst/>
            <a:rect l="textAreaLeft" t="textAreaTop" r="textAreaRight" b="textAreaBottom"/>
            <a:pathLst>
              <a:path w="1313992" h="987514">
                <a:moveTo>
                  <a:pt x="0" y="253737"/>
                </a:moveTo>
                <a:cubicBezTo>
                  <a:pt x="285605" y="274677"/>
                  <a:pt x="571210" y="295618"/>
                  <a:pt x="656135" y="253737"/>
                </a:cubicBezTo>
                <a:cubicBezTo>
                  <a:pt x="741060" y="211856"/>
                  <a:pt x="400195" y="-26633"/>
                  <a:pt x="509551" y="2451"/>
                </a:cubicBezTo>
                <a:cubicBezTo>
                  <a:pt x="618907" y="31535"/>
                  <a:pt x="1276205" y="265370"/>
                  <a:pt x="1312269" y="428240"/>
                </a:cubicBezTo>
                <a:cubicBezTo>
                  <a:pt x="1348333" y="591110"/>
                  <a:pt x="807371" y="926157"/>
                  <a:pt x="725936" y="979672"/>
                </a:cubicBezTo>
                <a:cubicBezTo>
                  <a:pt x="644501" y="1033187"/>
                  <a:pt x="934177" y="797025"/>
                  <a:pt x="823658" y="749327"/>
                </a:cubicBezTo>
                <a:cubicBezTo>
                  <a:pt x="713139" y="701629"/>
                  <a:pt x="387980" y="697557"/>
                  <a:pt x="62822" y="693486"/>
                </a:cubicBezTo>
              </a:path>
            </a:pathLst>
          </a:custGeom>
          <a:no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AU" sz="1800" b="0" strike="noStrike" spc="-1">
              <a:solidFill>
                <a:schemeClr val="lt1"/>
              </a:solidFill>
              <a:latin typeface="Calibri"/>
            </a:endParaRPr>
          </a:p>
        </p:txBody>
      </p:sp>
      <p:sp>
        <p:nvSpPr>
          <p:cNvPr id="432" name="Freeform 16"/>
          <p:cNvSpPr/>
          <p:nvPr/>
        </p:nvSpPr>
        <p:spPr>
          <a:xfrm>
            <a:off x="6105240" y="4319640"/>
            <a:ext cx="13680" cy="2261160"/>
          </a:xfrm>
          <a:custGeom>
            <a:avLst/>
            <a:gdLst>
              <a:gd name="textAreaLeft" fmla="*/ 0 w 13680"/>
              <a:gd name="textAreaRight" fmla="*/ 14040 w 13680"/>
              <a:gd name="textAreaTop" fmla="*/ 0 h 2261160"/>
              <a:gd name="textAreaBottom" fmla="*/ 2261520 h 2261160"/>
            </a:gdLst>
            <a:ahLst/>
            <a:cxnLst/>
            <a:rect l="textAreaLeft" t="textAreaTop" r="textAreaRight" b="textAreaBottom"/>
            <a:pathLst>
              <a:path w="13960" h="2261570">
                <a:moveTo>
                  <a:pt x="0" y="0"/>
                </a:moveTo>
                <a:cubicBezTo>
                  <a:pt x="6980" y="157054"/>
                  <a:pt x="13960" y="314108"/>
                  <a:pt x="13960" y="691036"/>
                </a:cubicBezTo>
                <a:cubicBezTo>
                  <a:pt x="13960" y="1067964"/>
                  <a:pt x="6980" y="1664767"/>
                  <a:pt x="0" y="2261570"/>
                </a:cubicBezTo>
              </a:path>
            </a:pathLst>
          </a:custGeom>
          <a:no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AU" sz="1800" b="0" strike="noStrike" spc="-1">
              <a:solidFill>
                <a:schemeClr val="lt1"/>
              </a:solidFill>
              <a:latin typeface="Calibri"/>
            </a:endParaRPr>
          </a:p>
        </p:txBody>
      </p:sp>
      <p:sp>
        <p:nvSpPr>
          <p:cNvPr id="433" name="Freeform 17"/>
          <p:cNvSpPr/>
          <p:nvPr/>
        </p:nvSpPr>
        <p:spPr>
          <a:xfrm>
            <a:off x="7344000" y="4257000"/>
            <a:ext cx="13680" cy="2261160"/>
          </a:xfrm>
          <a:custGeom>
            <a:avLst/>
            <a:gdLst>
              <a:gd name="textAreaLeft" fmla="*/ 0 w 13680"/>
              <a:gd name="textAreaRight" fmla="*/ 14040 w 13680"/>
              <a:gd name="textAreaTop" fmla="*/ 0 h 2261160"/>
              <a:gd name="textAreaBottom" fmla="*/ 2261520 h 2261160"/>
            </a:gdLst>
            <a:ahLst/>
            <a:cxnLst/>
            <a:rect l="textAreaLeft" t="textAreaTop" r="textAreaRight" b="textAreaBottom"/>
            <a:pathLst>
              <a:path w="13960" h="2261570">
                <a:moveTo>
                  <a:pt x="0" y="0"/>
                </a:moveTo>
                <a:cubicBezTo>
                  <a:pt x="6980" y="157054"/>
                  <a:pt x="13960" y="314108"/>
                  <a:pt x="13960" y="691036"/>
                </a:cubicBezTo>
                <a:cubicBezTo>
                  <a:pt x="13960" y="1067964"/>
                  <a:pt x="6980" y="1664767"/>
                  <a:pt x="0" y="2261570"/>
                </a:cubicBezTo>
              </a:path>
            </a:pathLst>
          </a:custGeom>
          <a:no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AU" sz="1800" b="0" strike="noStrike" spc="-1">
              <a:solidFill>
                <a:schemeClr val="lt1"/>
              </a:solidFill>
              <a:latin typeface="Calibri"/>
            </a:endParaRPr>
          </a:p>
        </p:txBody>
      </p:sp>
      <p:sp>
        <p:nvSpPr>
          <p:cNvPr id="434" name="TextBox 18"/>
          <p:cNvSpPr/>
          <p:nvPr/>
        </p:nvSpPr>
        <p:spPr>
          <a:xfrm>
            <a:off x="6242040" y="6267240"/>
            <a:ext cx="89136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AU" sz="1800" b="1" strike="noStrike" spc="-1">
                <a:solidFill>
                  <a:schemeClr val="dk1"/>
                </a:solidFill>
                <a:latin typeface="Max's Handwritin"/>
              </a:rPr>
              <a:t>media</a:t>
            </a:r>
            <a:endParaRPr lang="en-US" sz="1800" b="0" strike="noStrike" spc="-1">
              <a:solidFill>
                <a:srgbClr val="000000"/>
              </a:solidFill>
              <a:latin typeface="Arial"/>
            </a:endParaRPr>
          </a:p>
        </p:txBody>
      </p:sp>
      <p:sp>
        <p:nvSpPr>
          <p:cNvPr id="435" name="TextBox 19"/>
          <p:cNvSpPr/>
          <p:nvPr/>
        </p:nvSpPr>
        <p:spPr>
          <a:xfrm>
            <a:off x="6068880" y="5979960"/>
            <a:ext cx="114588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AU" sz="1800" b="1" strike="noStrike" spc="-1">
                <a:solidFill>
                  <a:srgbClr val="FF0000"/>
                </a:solidFill>
                <a:latin typeface="Max's Handwritin"/>
              </a:rPr>
              <a:t>network</a:t>
            </a:r>
            <a:endParaRPr lang="en-US" sz="1800" b="0" strike="noStrike" spc="-1">
              <a:solidFill>
                <a:srgbClr val="000000"/>
              </a:solidFill>
              <a:latin typeface="Arial"/>
            </a:endParaRPr>
          </a:p>
        </p:txBody>
      </p:sp>
      <p:sp>
        <p:nvSpPr>
          <p:cNvPr id="436" name="TextBox 20"/>
          <p:cNvSpPr/>
          <p:nvPr/>
        </p:nvSpPr>
        <p:spPr>
          <a:xfrm>
            <a:off x="5826240" y="5718240"/>
            <a:ext cx="183456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AU" sz="1800" b="1" strike="noStrike" spc="-1">
                <a:solidFill>
                  <a:schemeClr val="accent1">
                    <a:lumMod val="75000"/>
                  </a:schemeClr>
                </a:solidFill>
                <a:latin typeface="Max's Handwritin"/>
              </a:rPr>
              <a:t>UDP Transport</a:t>
            </a:r>
            <a:endParaRPr lang="en-US" sz="1800" b="0" strike="noStrike" spc="-1">
              <a:solidFill>
                <a:srgbClr val="000000"/>
              </a:solidFill>
              <a:latin typeface="Arial"/>
            </a:endParaRPr>
          </a:p>
        </p:txBody>
      </p:sp>
      <p:sp>
        <p:nvSpPr>
          <p:cNvPr id="437" name="TextBox 21"/>
          <p:cNvSpPr/>
          <p:nvPr/>
        </p:nvSpPr>
        <p:spPr>
          <a:xfrm>
            <a:off x="5969520" y="4336560"/>
            <a:ext cx="1380600" cy="6991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AU" sz="4000" b="1" strike="noStrike" spc="-1">
                <a:solidFill>
                  <a:schemeClr val="accent6">
                    <a:lumMod val="75000"/>
                  </a:schemeClr>
                </a:solidFill>
                <a:latin typeface="Max's Handwritin"/>
              </a:rPr>
              <a:t>apps</a:t>
            </a:r>
            <a:endParaRPr lang="en-US" sz="4000" b="0" strike="noStrike" spc="-1">
              <a:solidFill>
                <a:srgbClr val="000000"/>
              </a:solidFill>
              <a:latin typeface="Arial"/>
            </a:endParaRPr>
          </a:p>
        </p:txBody>
      </p:sp>
      <p:sp>
        <p:nvSpPr>
          <p:cNvPr id="438" name="Freeform 22"/>
          <p:cNvSpPr/>
          <p:nvPr/>
        </p:nvSpPr>
        <p:spPr>
          <a:xfrm>
            <a:off x="6202080" y="4282920"/>
            <a:ext cx="1088640" cy="13680"/>
          </a:xfrm>
          <a:custGeom>
            <a:avLst/>
            <a:gdLst>
              <a:gd name="textAreaLeft" fmla="*/ 0 w 1088640"/>
              <a:gd name="textAreaRight" fmla="*/ 1089000 w 1088640"/>
              <a:gd name="textAreaTop" fmla="*/ 0 h 13680"/>
              <a:gd name="textAreaBottom" fmla="*/ 14040 h 13680"/>
            </a:gdLst>
            <a:ahLst/>
            <a:cxnLst/>
            <a:rect l="textAreaLeft" t="textAreaTop" r="textAreaRight" b="textAreaBottom"/>
            <a:pathLst>
              <a:path w="1088904" h="13960">
                <a:moveTo>
                  <a:pt x="0" y="13960"/>
                </a:moveTo>
                <a:lnTo>
                  <a:pt x="453710" y="6980"/>
                </a:lnTo>
                <a:lnTo>
                  <a:pt x="1088904" y="0"/>
                </a:lnTo>
              </a:path>
            </a:pathLst>
          </a:custGeom>
          <a:no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30960" rIns="90000" bIns="-30960" anchor="ctr">
            <a:noAutofit/>
          </a:bodyPr>
          <a:lstStyle/>
          <a:p>
            <a:pPr algn="ctr" defTabSz="914400">
              <a:lnSpc>
                <a:spcPct val="100000"/>
              </a:lnSpc>
            </a:pPr>
            <a:endParaRPr lang="en-AU" sz="1800" b="0" strike="noStrike" spc="-1">
              <a:solidFill>
                <a:schemeClr val="lt1"/>
              </a:solidFill>
              <a:latin typeface="Calibri"/>
            </a:endParaRPr>
          </a:p>
        </p:txBody>
      </p:sp>
      <p:sp>
        <p:nvSpPr>
          <p:cNvPr id="439" name="Freeform 23"/>
          <p:cNvSpPr/>
          <p:nvPr/>
        </p:nvSpPr>
        <p:spPr>
          <a:xfrm>
            <a:off x="6230160" y="5727960"/>
            <a:ext cx="1046520" cy="34920"/>
          </a:xfrm>
          <a:custGeom>
            <a:avLst/>
            <a:gdLst>
              <a:gd name="textAreaLeft" fmla="*/ 0 w 1046520"/>
              <a:gd name="textAreaRight" fmla="*/ 1046880 w 1046520"/>
              <a:gd name="textAreaTop" fmla="*/ 0 h 34920"/>
              <a:gd name="textAreaBottom" fmla="*/ 35280 h 34920"/>
            </a:gdLst>
            <a:ahLst/>
            <a:cxnLst/>
            <a:rect l="textAreaLeft" t="textAreaTop" r="textAreaRight" b="textAreaBottom"/>
            <a:pathLst>
              <a:path w="1047023" h="35200">
                <a:moveTo>
                  <a:pt x="0" y="13960"/>
                </a:moveTo>
                <a:cubicBezTo>
                  <a:pt x="125642" y="25594"/>
                  <a:pt x="251285" y="37228"/>
                  <a:pt x="425789" y="34901"/>
                </a:cubicBezTo>
                <a:cubicBezTo>
                  <a:pt x="600293" y="32574"/>
                  <a:pt x="823658" y="16287"/>
                  <a:pt x="1047023" y="0"/>
                </a:cubicBezTo>
              </a:path>
            </a:pathLst>
          </a:custGeom>
          <a:no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9720" rIns="90000" bIns="-9720" anchor="ctr">
            <a:noAutofit/>
          </a:bodyPr>
          <a:lstStyle/>
          <a:p>
            <a:pPr algn="ctr" defTabSz="914400">
              <a:lnSpc>
                <a:spcPct val="100000"/>
              </a:lnSpc>
            </a:pPr>
            <a:endParaRPr lang="en-AU" sz="1800" b="0" strike="noStrike" spc="-1">
              <a:solidFill>
                <a:schemeClr val="lt1"/>
              </a:solidFill>
              <a:latin typeface="Calibri"/>
            </a:endParaRPr>
          </a:p>
        </p:txBody>
      </p:sp>
      <p:sp>
        <p:nvSpPr>
          <p:cNvPr id="440" name="Freeform 24"/>
          <p:cNvSpPr/>
          <p:nvPr/>
        </p:nvSpPr>
        <p:spPr>
          <a:xfrm>
            <a:off x="6222240" y="6055560"/>
            <a:ext cx="955800" cy="37800"/>
          </a:xfrm>
          <a:custGeom>
            <a:avLst/>
            <a:gdLst>
              <a:gd name="textAreaLeft" fmla="*/ 0 w 955800"/>
              <a:gd name="textAreaRight" fmla="*/ 956160 w 955800"/>
              <a:gd name="textAreaTop" fmla="*/ 0 h 37800"/>
              <a:gd name="textAreaBottom" fmla="*/ 38160 h 37800"/>
            </a:gdLst>
            <a:ahLst/>
            <a:cxnLst/>
            <a:rect l="textAreaLeft" t="textAreaTop" r="textAreaRight" b="textAreaBottom"/>
            <a:pathLst>
              <a:path w="956281" h="38258">
                <a:moveTo>
                  <a:pt x="0" y="34900"/>
                </a:moveTo>
                <a:cubicBezTo>
                  <a:pt x="185556" y="37808"/>
                  <a:pt x="371112" y="40717"/>
                  <a:pt x="530492" y="34900"/>
                </a:cubicBezTo>
                <a:cubicBezTo>
                  <a:pt x="689872" y="29083"/>
                  <a:pt x="823076" y="14541"/>
                  <a:pt x="956281" y="0"/>
                </a:cubicBezTo>
              </a:path>
            </a:pathLst>
          </a:custGeom>
          <a:no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6840" rIns="90000" bIns="-6840" anchor="ctr">
            <a:noAutofit/>
          </a:bodyPr>
          <a:lstStyle/>
          <a:p>
            <a:pPr algn="ctr" defTabSz="914400">
              <a:lnSpc>
                <a:spcPct val="100000"/>
              </a:lnSpc>
            </a:pPr>
            <a:endParaRPr lang="en-AU" sz="1800" b="0" strike="noStrike" spc="-1">
              <a:solidFill>
                <a:schemeClr val="lt1"/>
              </a:solidFill>
              <a:latin typeface="Calibri"/>
            </a:endParaRPr>
          </a:p>
        </p:txBody>
      </p:sp>
      <p:sp>
        <p:nvSpPr>
          <p:cNvPr id="441" name="Freeform 25"/>
          <p:cNvSpPr/>
          <p:nvPr/>
        </p:nvSpPr>
        <p:spPr>
          <a:xfrm>
            <a:off x="6146280" y="6293880"/>
            <a:ext cx="1130400" cy="27720"/>
          </a:xfrm>
          <a:custGeom>
            <a:avLst/>
            <a:gdLst>
              <a:gd name="textAreaLeft" fmla="*/ 0 w 1130400"/>
              <a:gd name="textAreaRight" fmla="*/ 1130760 w 1130400"/>
              <a:gd name="textAreaTop" fmla="*/ 0 h 27720"/>
              <a:gd name="textAreaBottom" fmla="*/ 28080 h 27720"/>
            </a:gdLst>
            <a:ahLst/>
            <a:cxnLst/>
            <a:rect l="textAreaLeft" t="textAreaTop" r="textAreaRight" b="textAreaBottom"/>
            <a:pathLst>
              <a:path w="1130785" h="28010">
                <a:moveTo>
                  <a:pt x="0" y="0"/>
                </a:moveTo>
                <a:cubicBezTo>
                  <a:pt x="73873" y="4653"/>
                  <a:pt x="293166" y="13960"/>
                  <a:pt x="293166" y="13960"/>
                </a:cubicBezTo>
                <a:cubicBezTo>
                  <a:pt x="438586" y="18613"/>
                  <a:pt x="732916" y="29084"/>
                  <a:pt x="872519" y="27921"/>
                </a:cubicBezTo>
                <a:cubicBezTo>
                  <a:pt x="1012122" y="26758"/>
                  <a:pt x="1071453" y="16869"/>
                  <a:pt x="1130785" y="6980"/>
                </a:cubicBezTo>
              </a:path>
            </a:pathLst>
          </a:custGeom>
          <a:no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16920" rIns="90000" bIns="-16920" anchor="ctr">
            <a:noAutofit/>
          </a:bodyPr>
          <a:lstStyle/>
          <a:p>
            <a:pPr algn="ctr" defTabSz="914400">
              <a:lnSpc>
                <a:spcPct val="100000"/>
              </a:lnSpc>
            </a:pPr>
            <a:endParaRPr lang="en-AU" sz="1800" b="0" strike="noStrike" spc="-1">
              <a:solidFill>
                <a:schemeClr val="lt1"/>
              </a:solidFill>
              <a:latin typeface="Calibri"/>
            </a:endParaRPr>
          </a:p>
        </p:txBody>
      </p:sp>
      <p:sp>
        <p:nvSpPr>
          <p:cNvPr id="442" name="Freeform 26"/>
          <p:cNvSpPr/>
          <p:nvPr/>
        </p:nvSpPr>
        <p:spPr>
          <a:xfrm>
            <a:off x="6139440" y="6580080"/>
            <a:ext cx="1130400" cy="27720"/>
          </a:xfrm>
          <a:custGeom>
            <a:avLst/>
            <a:gdLst>
              <a:gd name="textAreaLeft" fmla="*/ 0 w 1130400"/>
              <a:gd name="textAreaRight" fmla="*/ 1130760 w 1130400"/>
              <a:gd name="textAreaTop" fmla="*/ 0 h 27720"/>
              <a:gd name="textAreaBottom" fmla="*/ 28080 h 27720"/>
            </a:gdLst>
            <a:ahLst/>
            <a:cxnLst/>
            <a:rect l="textAreaLeft" t="textAreaTop" r="textAreaRight" b="textAreaBottom"/>
            <a:pathLst>
              <a:path w="1130785" h="28010">
                <a:moveTo>
                  <a:pt x="0" y="0"/>
                </a:moveTo>
                <a:cubicBezTo>
                  <a:pt x="73873" y="4653"/>
                  <a:pt x="293166" y="13960"/>
                  <a:pt x="293166" y="13960"/>
                </a:cubicBezTo>
                <a:cubicBezTo>
                  <a:pt x="438586" y="18613"/>
                  <a:pt x="732916" y="29084"/>
                  <a:pt x="872519" y="27921"/>
                </a:cubicBezTo>
                <a:cubicBezTo>
                  <a:pt x="1012122" y="26758"/>
                  <a:pt x="1071453" y="16869"/>
                  <a:pt x="1130785" y="6980"/>
                </a:cubicBezTo>
              </a:path>
            </a:pathLst>
          </a:custGeom>
          <a:no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16920" rIns="90000" bIns="-16920" anchor="ctr">
            <a:noAutofit/>
          </a:bodyPr>
          <a:lstStyle/>
          <a:p>
            <a:pPr algn="ctr" defTabSz="914400">
              <a:lnSpc>
                <a:spcPct val="100000"/>
              </a:lnSpc>
            </a:pPr>
            <a:endParaRPr lang="en-AU" sz="1800" b="0" strike="noStrike" spc="-1">
              <a:solidFill>
                <a:schemeClr val="lt1"/>
              </a:solidFill>
              <a:latin typeface="Calibri"/>
            </a:endParaRPr>
          </a:p>
        </p:txBody>
      </p:sp>
      <p:sp>
        <p:nvSpPr>
          <p:cNvPr id="443" name="TextBox 27"/>
          <p:cNvSpPr/>
          <p:nvPr/>
        </p:nvSpPr>
        <p:spPr>
          <a:xfrm>
            <a:off x="6095160" y="5082480"/>
            <a:ext cx="1232640" cy="5691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AU" sz="1050" b="1" strike="noStrike" spc="-1">
                <a:solidFill>
                  <a:schemeClr val="accent1">
                    <a:lumMod val="75000"/>
                  </a:schemeClr>
                </a:solidFill>
                <a:latin typeface="Max's Handwritin"/>
              </a:rPr>
              <a:t>Internal</a:t>
            </a:r>
            <a:endParaRPr lang="en-US" sz="1050" b="0" strike="noStrike" spc="-1">
              <a:solidFill>
                <a:srgbClr val="000000"/>
              </a:solidFill>
              <a:latin typeface="Arial"/>
            </a:endParaRPr>
          </a:p>
          <a:p>
            <a:pPr defTabSz="914400">
              <a:lnSpc>
                <a:spcPct val="100000"/>
              </a:lnSpc>
            </a:pPr>
            <a:r>
              <a:rPr lang="en-AU" sz="1050" b="1" strike="noStrike" spc="-1">
                <a:solidFill>
                  <a:schemeClr val="accent1">
                    <a:lumMod val="75000"/>
                  </a:schemeClr>
                </a:solidFill>
                <a:latin typeface="Max's Handwritin"/>
              </a:rPr>
              <a:t>Transport + </a:t>
            </a:r>
            <a:endParaRPr lang="en-US" sz="1050" b="0" strike="noStrike" spc="-1">
              <a:solidFill>
                <a:srgbClr val="000000"/>
              </a:solidFill>
              <a:latin typeface="Arial"/>
            </a:endParaRPr>
          </a:p>
          <a:p>
            <a:pPr defTabSz="914400">
              <a:lnSpc>
                <a:spcPct val="100000"/>
              </a:lnSpc>
            </a:pPr>
            <a:r>
              <a:rPr lang="en-AU" sz="1050" b="1" strike="noStrike" spc="-1">
                <a:solidFill>
                  <a:schemeClr val="accent1">
                    <a:lumMod val="75000"/>
                  </a:schemeClr>
                </a:solidFill>
                <a:latin typeface="Max's Handwritin"/>
              </a:rPr>
              <a:t>session security</a:t>
            </a:r>
            <a:endParaRPr lang="en-US" sz="1050" b="0" strike="noStrike" spc="-1">
              <a:solidFill>
                <a:srgbClr val="000000"/>
              </a:solidFill>
              <a:latin typeface="Arial"/>
            </a:endParaRPr>
          </a:p>
        </p:txBody>
      </p:sp>
      <p:sp>
        <p:nvSpPr>
          <p:cNvPr id="444" name="TextBox 28"/>
          <p:cNvSpPr/>
          <p:nvPr/>
        </p:nvSpPr>
        <p:spPr>
          <a:xfrm>
            <a:off x="5128560" y="4304880"/>
            <a:ext cx="1049760" cy="6991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AU" sz="4000" b="1" strike="noStrike" spc="-1">
                <a:solidFill>
                  <a:schemeClr val="accent6">
                    <a:lumMod val="75000"/>
                  </a:schemeClr>
                </a:solidFill>
                <a:latin typeface="Max's Handwritin"/>
              </a:rPr>
              <a:t>$$$</a:t>
            </a:r>
            <a:endParaRPr lang="en-US" sz="4000" b="0" strike="noStrike" spc="-1">
              <a:solidFill>
                <a:srgbClr val="000000"/>
              </a:solidFill>
              <a:latin typeface="Arial"/>
            </a:endParaRPr>
          </a:p>
        </p:txBody>
      </p:sp>
      <p:sp>
        <p:nvSpPr>
          <p:cNvPr id="445" name="TextBox 29"/>
          <p:cNvSpPr/>
          <p:nvPr/>
        </p:nvSpPr>
        <p:spPr>
          <a:xfrm>
            <a:off x="7036560" y="4988880"/>
            <a:ext cx="3220200" cy="638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AU" sz="1800" b="1" strike="noStrike" spc="-1">
                <a:solidFill>
                  <a:schemeClr val="dk1"/>
                </a:solidFill>
                <a:latin typeface="Max's Handwritin"/>
              </a:rPr>
              <a:t>QUIC and value transform </a:t>
            </a:r>
            <a:endParaRPr lang="en-US" sz="1800" b="0" strike="noStrike" spc="-1">
              <a:solidFill>
                <a:srgbClr val="000000"/>
              </a:solidFill>
              <a:latin typeface="Arial"/>
            </a:endParaRPr>
          </a:p>
          <a:p>
            <a:pPr defTabSz="914400">
              <a:lnSpc>
                <a:spcPct val="100000"/>
              </a:lnSpc>
            </a:pPr>
            <a:r>
              <a:rPr lang="en-AU" sz="1800" b="1" strike="noStrike" spc="-1">
                <a:solidFill>
                  <a:schemeClr val="dk1"/>
                </a:solidFill>
                <a:latin typeface="Max's Handwritin"/>
              </a:rPr>
              <a:t>in the network stack</a:t>
            </a:r>
            <a:endParaRPr lang="en-US" sz="1800" b="0" strike="noStrike" spc="-1">
              <a:solidFill>
                <a:srgbClr val="000000"/>
              </a:solidFill>
              <a:latin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AU" sz="4400" b="0" strike="noStrike" spc="-1">
                <a:solidFill>
                  <a:schemeClr val="accent2">
                    <a:lumMod val="50000"/>
                  </a:schemeClr>
                </a:solidFill>
                <a:latin typeface="Powderfinger Type"/>
              </a:rPr>
              <a:t>What does this mean for the Internet?</a:t>
            </a:r>
            <a:endParaRPr lang="en-US" sz="4400" b="0" strike="noStrike" spc="-1">
              <a:solidFill>
                <a:schemeClr val="dk1"/>
              </a:solidFill>
              <a:latin typeface="Calibri"/>
            </a:endParaRPr>
          </a:p>
        </p:txBody>
      </p:sp>
      <p:sp>
        <p:nvSpPr>
          <p:cNvPr id="447" name="PlaceHolder 2"/>
          <p:cNvSpPr>
            <a:spLocks noGrp="1"/>
          </p:cNvSpPr>
          <p:nvPr>
            <p:ph/>
          </p:nvPr>
        </p:nvSpPr>
        <p:spPr>
          <a:xfrm>
            <a:off x="838080" y="1825560"/>
            <a:ext cx="10515240" cy="435096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en-AU" sz="2800" b="0" strike="noStrike" spc="-1">
                <a:solidFill>
                  <a:schemeClr val="dk1"/>
                </a:solidFill>
                <a:latin typeface="Calibri"/>
              </a:rPr>
              <a:t>The relationship between hosts and networks has soured into mutual distrust and suspicion</a:t>
            </a:r>
            <a:endParaRPr lang="en-US" sz="28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pPr>
            <a:r>
              <a:rPr lang="en-AU" sz="2800" b="0" strike="noStrike" spc="-1">
                <a:solidFill>
                  <a:schemeClr val="dk1"/>
                </a:solidFill>
                <a:latin typeface="Calibri"/>
              </a:rPr>
              <a:t>The application now defends its integrity by wrapping up as much of the service transaction with encryption and indirection</a:t>
            </a:r>
            <a:endParaRPr lang="en-US" sz="28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pPr>
            <a:r>
              <a:rPr lang="en-AU" sz="2800" b="0" strike="noStrike" spc="-1">
                <a:solidFill>
                  <a:schemeClr val="dk1"/>
                </a:solidFill>
                <a:latin typeface="Calibri"/>
              </a:rPr>
              <a:t>QUIC (and MASQUE) is an intrinsic part of this process of wrapping up traffic in encryption and redirection</a:t>
            </a:r>
            <a:endParaRPr lang="en-US" sz="28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pPr>
            <a:r>
              <a:rPr lang="en-AU" sz="2800" b="0" strike="noStrike" spc="-1">
                <a:solidFill>
                  <a:schemeClr val="dk1"/>
                </a:solidFill>
                <a:latin typeface="Calibri"/>
              </a:rPr>
              <a:t>For the network operator there is little left to see</a:t>
            </a:r>
            <a:endParaRPr lang="en-US" sz="28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pPr>
            <a:r>
              <a:rPr lang="en-AU" sz="2800" b="0" strike="noStrike" spc="-1">
                <a:solidFill>
                  <a:schemeClr val="dk1"/>
                </a:solidFill>
                <a:latin typeface="Calibri"/>
              </a:rPr>
              <a:t>And I suspect that there is no coming back from here!</a:t>
            </a:r>
            <a:endParaRPr lang="en-US" sz="2800" b="0" strike="noStrike" spc="-1">
              <a:solidFill>
                <a:schemeClr val="dk1"/>
              </a:solidFill>
              <a:latin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8" name="PlaceHolder 1"/>
          <p:cNvSpPr>
            <a:spLocks noGrp="1"/>
          </p:cNvSpPr>
          <p:nvPr>
            <p:ph type="title"/>
          </p:nvPr>
        </p:nvSpPr>
        <p:spPr>
          <a:xfrm>
            <a:off x="838080" y="365040"/>
            <a:ext cx="11244600" cy="1325160"/>
          </a:xfrm>
          <a:prstGeom prst="rect">
            <a:avLst/>
          </a:prstGeom>
          <a:noFill/>
          <a:ln w="0">
            <a:noFill/>
          </a:ln>
        </p:spPr>
        <p:txBody>
          <a:bodyPr lIns="91440" tIns="45720" rIns="91440" bIns="45720" anchor="ctr">
            <a:noAutofit/>
          </a:bodyPr>
          <a:lstStyle/>
          <a:p>
            <a:pPr indent="0" defTabSz="914400">
              <a:lnSpc>
                <a:spcPct val="90000"/>
              </a:lnSpc>
              <a:buNone/>
            </a:pPr>
            <a:r>
              <a:rPr lang="en-AU" sz="4400" b="0" strike="noStrike" spc="-1">
                <a:solidFill>
                  <a:schemeClr val="accent2">
                    <a:lumMod val="50000"/>
                  </a:schemeClr>
                </a:solidFill>
                <a:latin typeface="Powderfinger Type"/>
              </a:rPr>
              <a:t>What can a Network Operator Do?</a:t>
            </a:r>
            <a:endParaRPr lang="en-US" sz="4400" b="0" strike="noStrike" spc="-1">
              <a:solidFill>
                <a:schemeClr val="dk1"/>
              </a:solidFill>
              <a:latin typeface="Calibri"/>
            </a:endParaRPr>
          </a:p>
        </p:txBody>
      </p:sp>
      <p:sp>
        <p:nvSpPr>
          <p:cNvPr id="449"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AU" sz="2800" b="0" strike="noStrike" spc="-1">
                <a:solidFill>
                  <a:schemeClr val="dk1"/>
                </a:solidFill>
                <a:latin typeface="Calibri"/>
              </a:rPr>
              <a:t>When </a:t>
            </a:r>
            <a:r>
              <a:rPr lang="en-AU" sz="2800" b="1" strike="noStrike" spc="-1">
                <a:solidFill>
                  <a:schemeClr val="dk1"/>
                </a:solidFill>
                <a:latin typeface="Calibri"/>
              </a:rPr>
              <a:t>all</a:t>
            </a:r>
            <a:r>
              <a:rPr lang="en-AU" sz="2800" b="0" strike="noStrike" spc="-1">
                <a:solidFill>
                  <a:schemeClr val="dk1"/>
                </a:solidFill>
                <a:latin typeface="Calibri"/>
              </a:rPr>
              <a:t> customer traffic is completely obscured and encrypted?</a:t>
            </a:r>
            <a:endParaRPr lang="en-US" sz="28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pPr>
            <a:r>
              <a:rPr lang="en-AU" sz="2400" b="0" strike="noStrike" spc="-1">
                <a:solidFill>
                  <a:schemeClr val="dk1"/>
                </a:solidFill>
                <a:latin typeface="Calibri"/>
              </a:rPr>
              <a:t>Traffic Shaping?</a:t>
            </a:r>
            <a:endParaRPr lang="en-US" sz="24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pPr>
            <a:r>
              <a:rPr lang="en-AU" sz="2400" b="0" strike="noStrike" spc="-1">
                <a:solidFill>
                  <a:schemeClr val="dk1"/>
                </a:solidFill>
                <a:latin typeface="Calibri"/>
              </a:rPr>
              <a:t>Regulatory Requirements for traffic interception?</a:t>
            </a:r>
            <a:endParaRPr lang="en-US" sz="24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pPr>
            <a:r>
              <a:rPr lang="en-AU" sz="2400" b="0" strike="noStrike" spc="-1">
                <a:solidFill>
                  <a:schemeClr val="dk1"/>
                </a:solidFill>
                <a:latin typeface="Calibri"/>
              </a:rPr>
              <a:t>Load Balancing / ECMP</a:t>
            </a:r>
            <a:endParaRPr lang="en-US" sz="2400" b="0" strike="noStrike" spc="-1">
              <a:solidFill>
                <a:schemeClr val="dk1"/>
              </a:solidFill>
              <a:latin typeface="Calibri"/>
            </a:endParaRPr>
          </a:p>
          <a:p>
            <a:pPr indent="0" defTabSz="914400">
              <a:lnSpc>
                <a:spcPct val="90000"/>
              </a:lnSpc>
              <a:spcBef>
                <a:spcPts val="499"/>
              </a:spcBef>
              <a:buNone/>
            </a:pPr>
            <a:endParaRPr lang="en-US" sz="2400" b="0" strike="noStrike" spc="-1">
              <a:solidFill>
                <a:schemeClr val="dk1"/>
              </a:solidFill>
              <a:latin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5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AU" sz="4400" b="0" strike="noStrike" spc="-1">
                <a:solidFill>
                  <a:schemeClr val="accent2">
                    <a:lumMod val="50000"/>
                  </a:schemeClr>
                </a:solidFill>
                <a:latin typeface="Powderfinger Type"/>
              </a:rPr>
              <a:t>The new Internet Space</a:t>
            </a:r>
            <a:endParaRPr lang="en-US" sz="4400" b="0" strike="noStrike" spc="-1">
              <a:solidFill>
                <a:schemeClr val="dk1"/>
              </a:solidFill>
              <a:latin typeface="Calibri"/>
            </a:endParaRPr>
          </a:p>
        </p:txBody>
      </p:sp>
      <p:sp>
        <p:nvSpPr>
          <p:cNvPr id="451" name="PlaceHolder 2"/>
          <p:cNvSpPr>
            <a:spLocks noGrp="1"/>
          </p:cNvSpPr>
          <p:nvPr>
            <p:ph/>
          </p:nvPr>
        </p:nvSpPr>
        <p:spPr>
          <a:xfrm>
            <a:off x="838080" y="1825560"/>
            <a:ext cx="10515240" cy="4350960"/>
          </a:xfrm>
          <a:prstGeom prst="rect">
            <a:avLst/>
          </a:prstGeom>
          <a:noFill/>
          <a:ln w="0">
            <a:noFill/>
          </a:ln>
        </p:spPr>
        <p:txBody>
          <a:bodyPr lIns="91440" tIns="45720" rIns="91440" bIns="45720" anchor="t">
            <a:normAutofit fontScale="93550" lnSpcReduction="10000"/>
          </a:bodyPr>
          <a:lstStyle/>
          <a:p>
            <a:pPr indent="0" defTabSz="914400">
              <a:lnSpc>
                <a:spcPct val="90000"/>
              </a:lnSpc>
              <a:spcBef>
                <a:spcPts val="1001"/>
              </a:spcBef>
              <a:buNone/>
              <a:tabLst>
                <a:tab pos="0" algn="l"/>
              </a:tabLst>
            </a:pPr>
            <a:r>
              <a:rPr lang="en-AU" sz="2800" b="0" strike="noStrike" spc="-1">
                <a:solidFill>
                  <a:schemeClr val="dk1"/>
                </a:solidFill>
                <a:latin typeface="Calibri"/>
              </a:rPr>
              <a:t>“What you can’t dominate, you commoditise*”</a:t>
            </a:r>
            <a:endParaRPr lang="en-US" sz="2800" b="0" strike="noStrike" spc="-1">
              <a:solidFill>
                <a:schemeClr val="dk1"/>
              </a:solidFill>
              <a:latin typeface="Calibri"/>
            </a:endParaRPr>
          </a:p>
          <a:p>
            <a:pPr indent="0" defTabSz="914400">
              <a:lnSpc>
                <a:spcPct val="90000"/>
              </a:lnSpc>
              <a:spcBef>
                <a:spcPts val="1001"/>
              </a:spcBef>
              <a:buNone/>
              <a:tabLst>
                <a:tab pos="0" algn="l"/>
              </a:tabLst>
            </a:pPr>
            <a:endParaRPr lang="en-US" sz="2800" b="0" strike="noStrike" spc="-1">
              <a:solidFill>
                <a:schemeClr val="dk1"/>
              </a:solidFill>
              <a:latin typeface="Calibri"/>
            </a:endParaRPr>
          </a:p>
          <a:p>
            <a:pPr marL="228600" indent="-228600" defTabSz="914400">
              <a:lnSpc>
                <a:spcPct val="90000"/>
              </a:lnSpc>
              <a:spcBef>
                <a:spcPts val="839"/>
              </a:spcBef>
              <a:spcAft>
                <a:spcPts val="839"/>
              </a:spcAft>
              <a:buClr>
                <a:srgbClr val="000000"/>
              </a:buClr>
              <a:buFont typeface="Arial"/>
              <a:buChar char="•"/>
              <a:tabLst>
                <a:tab pos="0" algn="l"/>
              </a:tabLst>
            </a:pPr>
            <a:r>
              <a:rPr lang="en-US" sz="2800" b="0" strike="noStrike" spc="-1">
                <a:solidFill>
                  <a:schemeClr val="dk1"/>
                </a:solidFill>
                <a:latin typeface="Calibri"/>
              </a:rPr>
              <a:t>Vertically integrated service providers have faded away into history - the deregulated competitive service industry continues to specialize rather than generalize at every level</a:t>
            </a:r>
          </a:p>
          <a:p>
            <a:pPr marL="228600" indent="-228600" defTabSz="914400">
              <a:lnSpc>
                <a:spcPct val="90000"/>
              </a:lnSpc>
              <a:spcBef>
                <a:spcPts val="839"/>
              </a:spcBef>
              <a:spcAft>
                <a:spcPts val="839"/>
              </a:spcAft>
              <a:buClr>
                <a:srgbClr val="000000"/>
              </a:buClr>
              <a:buFont typeface="Arial"/>
              <a:buChar char="•"/>
              <a:tabLst>
                <a:tab pos="0" algn="l"/>
              </a:tabLst>
            </a:pPr>
            <a:r>
              <a:rPr lang="en-US" sz="2800" b="0" strike="noStrike" spc="-1">
                <a:solidFill>
                  <a:schemeClr val="dk1"/>
                </a:solidFill>
                <a:latin typeface="Calibri"/>
              </a:rPr>
              <a:t>Carriage is no longer an inescapable monopoly - massively replicated content can be used as a substitute for many carriage service elements</a:t>
            </a:r>
          </a:p>
          <a:p>
            <a:pPr marL="228600" indent="-228600" defTabSz="914400">
              <a:lnSpc>
                <a:spcPct val="90000"/>
              </a:lnSpc>
              <a:spcBef>
                <a:spcPts val="839"/>
              </a:spcBef>
              <a:spcAft>
                <a:spcPts val="839"/>
              </a:spcAft>
              <a:buClr>
                <a:srgbClr val="000000"/>
              </a:buClr>
              <a:buFont typeface="Arial"/>
              <a:buChar char="•"/>
              <a:tabLst>
                <a:tab pos="0" algn="l"/>
              </a:tabLst>
            </a:pPr>
            <a:r>
              <a:rPr lang="en-US" sz="2800" b="0" strike="noStrike" spc="-1">
                <a:solidFill>
                  <a:schemeClr val="dk1"/>
                </a:solidFill>
                <a:latin typeface="Calibri"/>
              </a:rPr>
              <a:t>Control over the platform is no longer control over the user. Operating systems have been pushed back into a basic task scheduling role, while functions are being absorbed into the application space</a:t>
            </a:r>
          </a:p>
          <a:p>
            <a:pPr indent="0" defTabSz="914400">
              <a:lnSpc>
                <a:spcPct val="90000"/>
              </a:lnSpc>
              <a:spcBef>
                <a:spcPts val="1001"/>
              </a:spcBef>
              <a:buNone/>
              <a:tabLst>
                <a:tab pos="0" algn="l"/>
              </a:tabLst>
            </a:pPr>
            <a:endParaRPr lang="en-US" sz="2800" b="0" strike="noStrike" spc="-1">
              <a:solidFill>
                <a:schemeClr val="dk1"/>
              </a:solidFill>
              <a:latin typeface="Calibri"/>
            </a:endParaRPr>
          </a:p>
        </p:txBody>
      </p:sp>
      <p:sp>
        <p:nvSpPr>
          <p:cNvPr id="452" name="TextBox 3"/>
          <p:cNvSpPr/>
          <p:nvPr/>
        </p:nvSpPr>
        <p:spPr>
          <a:xfrm>
            <a:off x="7655040" y="6492960"/>
            <a:ext cx="4513680" cy="3031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AU" sz="1400" b="0" strike="noStrike" spc="-1">
                <a:solidFill>
                  <a:schemeClr val="dk1"/>
                </a:solidFill>
                <a:latin typeface="Calibri"/>
              </a:rPr>
              <a:t>* A related quote is Peter Thiel’s “Competition is for losers!”</a:t>
            </a:r>
            <a:endParaRPr lang="en-US" sz="1400" b="0" strike="noStrike" spc="-1">
              <a:solidFill>
                <a:srgbClr val="000000"/>
              </a:solidFill>
              <a:latin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53" name="TextBox 3"/>
          <p:cNvSpPr/>
          <p:nvPr/>
        </p:nvSpPr>
        <p:spPr>
          <a:xfrm>
            <a:off x="2370240" y="3313800"/>
            <a:ext cx="6455520" cy="759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AU" sz="4400" b="0" strike="noStrike" spc="-1">
                <a:solidFill>
                  <a:schemeClr val="dk1"/>
                </a:solidFill>
                <a:latin typeface="AhnbergHand"/>
              </a:rPr>
              <a:t>Comments / Questions?</a:t>
            </a:r>
            <a:endParaRPr lang="en-US" sz="4400" b="0" strike="noStrike" spc="-1">
              <a:solidFill>
                <a:srgbClr val="000000"/>
              </a:solidFill>
              <a:latin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Slide Number Placeholder 4">
            <a:extLst>
              <a:ext uri="{FF2B5EF4-FFF2-40B4-BE49-F238E27FC236}">
                <a16:creationId xmlns:a16="http://schemas.microsoft.com/office/drawing/2014/main" id="{0BD48BF1-ED61-E032-1E40-F42484158061}"/>
              </a:ext>
            </a:extLst>
          </p:cNvPr>
          <p:cNvSpPr>
            <a:spLocks noGrp="1"/>
          </p:cNvSpPr>
          <p:nvPr>
            <p:ph type="sldNum" sz="quarter" idx="12"/>
          </p:nvPr>
        </p:nvSpPr>
        <p:spPr>
          <a:xfrm>
            <a:off x="4648200" y="6248400"/>
            <a:ext cx="2895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algn="ctr"/>
            <a:fld id="{AF40EC16-4573-1E49-92CA-9177F603BA8C}" type="slidenum">
              <a:rPr lang="en-US" altLang="en-US" sz="1400"/>
              <a:pPr algn="ctr"/>
              <a:t>56</a:t>
            </a:fld>
            <a:endParaRPr lang="en-US" altLang="en-US" sz="1400"/>
          </a:p>
        </p:txBody>
      </p:sp>
      <p:sp>
        <p:nvSpPr>
          <p:cNvPr id="3076" name="Rectangle 2">
            <a:extLst>
              <a:ext uri="{FF2B5EF4-FFF2-40B4-BE49-F238E27FC236}">
                <a16:creationId xmlns:a16="http://schemas.microsoft.com/office/drawing/2014/main" id="{7095798A-E67F-9931-2B49-E02FBD95255A}"/>
              </a:ext>
            </a:extLst>
          </p:cNvPr>
          <p:cNvSpPr>
            <a:spLocks noGrp="1" noChangeArrowheads="1"/>
          </p:cNvSpPr>
          <p:nvPr>
            <p:ph type="title"/>
          </p:nvPr>
        </p:nvSpPr>
        <p:spPr/>
        <p:txBody>
          <a:bodyPr/>
          <a:lstStyle/>
          <a:p>
            <a:r>
              <a:rPr lang="en-US" altLang="en-US"/>
              <a:t>Recall: Secret (Symmetric) Key </a:t>
            </a:r>
            <a:br>
              <a:rPr lang="en-US" altLang="en-US"/>
            </a:br>
            <a:r>
              <a:rPr lang="en-US" altLang="en-US"/>
              <a:t>(DES, 3DES, AES)</a:t>
            </a:r>
          </a:p>
        </p:txBody>
      </p:sp>
      <p:grpSp>
        <p:nvGrpSpPr>
          <p:cNvPr id="3077" name="Group 21">
            <a:extLst>
              <a:ext uri="{FF2B5EF4-FFF2-40B4-BE49-F238E27FC236}">
                <a16:creationId xmlns:a16="http://schemas.microsoft.com/office/drawing/2014/main" id="{8FBC6569-82E0-1E5C-D6ED-C06574BCC5A9}"/>
              </a:ext>
            </a:extLst>
          </p:cNvPr>
          <p:cNvGrpSpPr>
            <a:grpSpLocks/>
          </p:cNvGrpSpPr>
          <p:nvPr/>
        </p:nvGrpSpPr>
        <p:grpSpPr bwMode="auto">
          <a:xfrm>
            <a:off x="2438400" y="2438400"/>
            <a:ext cx="7010400" cy="2133600"/>
            <a:chOff x="773" y="672"/>
            <a:chExt cx="4139" cy="1222"/>
          </a:xfrm>
        </p:grpSpPr>
        <p:sp>
          <p:nvSpPr>
            <p:cNvPr id="3084" name="Rectangle 4">
              <a:extLst>
                <a:ext uri="{FF2B5EF4-FFF2-40B4-BE49-F238E27FC236}">
                  <a16:creationId xmlns:a16="http://schemas.microsoft.com/office/drawing/2014/main" id="{8FB0F541-A404-0FB9-7B67-7527971CDD25}"/>
                </a:ext>
              </a:extLst>
            </p:cNvPr>
            <p:cNvSpPr>
              <a:spLocks noChangeArrowheads="1"/>
            </p:cNvSpPr>
            <p:nvPr/>
          </p:nvSpPr>
          <p:spPr bwMode="auto">
            <a:xfrm>
              <a:off x="1120" y="672"/>
              <a:ext cx="581"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r>
                <a:rPr lang="en-US" altLang="en-US" sz="2000">
                  <a:solidFill>
                    <a:srgbClr val="000000"/>
                  </a:solidFill>
                  <a:latin typeface="Arial" panose="020B0604020202020204" pitchFamily="34" charset="0"/>
                </a:rPr>
                <a:t>Plaintext</a:t>
              </a:r>
              <a:endParaRPr lang="en-US" altLang="en-US" sz="2000"/>
            </a:p>
          </p:txBody>
        </p:sp>
        <p:sp>
          <p:nvSpPr>
            <p:cNvPr id="3085" name="Rectangle 5">
              <a:extLst>
                <a:ext uri="{FF2B5EF4-FFF2-40B4-BE49-F238E27FC236}">
                  <a16:creationId xmlns:a16="http://schemas.microsoft.com/office/drawing/2014/main" id="{C8E1882C-35EB-1034-0640-A2BBE36A0A45}"/>
                </a:ext>
              </a:extLst>
            </p:cNvPr>
            <p:cNvSpPr>
              <a:spLocks noChangeArrowheads="1"/>
            </p:cNvSpPr>
            <p:nvPr/>
          </p:nvSpPr>
          <p:spPr bwMode="auto">
            <a:xfrm>
              <a:off x="997" y="1243"/>
              <a:ext cx="824"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r>
                <a:rPr lang="en-US" altLang="en-US" sz="2000">
                  <a:solidFill>
                    <a:srgbClr val="000000"/>
                  </a:solidFill>
                  <a:latin typeface="Arial" panose="020B0604020202020204" pitchFamily="34" charset="0"/>
                </a:rPr>
                <a:t>Encrypt with</a:t>
              </a:r>
              <a:endParaRPr lang="en-US" altLang="en-US" sz="2000"/>
            </a:p>
          </p:txBody>
        </p:sp>
        <p:sp>
          <p:nvSpPr>
            <p:cNvPr id="3086" name="Rectangle 6">
              <a:extLst>
                <a:ext uri="{FF2B5EF4-FFF2-40B4-BE49-F238E27FC236}">
                  <a16:creationId xmlns:a16="http://schemas.microsoft.com/office/drawing/2014/main" id="{E0B7ABD6-C7BB-B262-C508-3C6845760395}"/>
                </a:ext>
              </a:extLst>
            </p:cNvPr>
            <p:cNvSpPr>
              <a:spLocks noChangeArrowheads="1"/>
            </p:cNvSpPr>
            <p:nvPr/>
          </p:nvSpPr>
          <p:spPr bwMode="auto">
            <a:xfrm>
              <a:off x="1088" y="1428"/>
              <a:ext cx="689"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r>
                <a:rPr lang="en-US" altLang="en-US" sz="2000">
                  <a:solidFill>
                    <a:srgbClr val="000000"/>
                  </a:solidFill>
                  <a:latin typeface="Arial" panose="020B0604020202020204" pitchFamily="34" charset="0"/>
                </a:rPr>
                <a:t>secret key</a:t>
              </a:r>
              <a:endParaRPr lang="en-US" altLang="en-US" sz="2000"/>
            </a:p>
          </p:txBody>
        </p:sp>
        <p:sp>
          <p:nvSpPr>
            <p:cNvPr id="3087" name="Rectangle 7">
              <a:extLst>
                <a:ext uri="{FF2B5EF4-FFF2-40B4-BE49-F238E27FC236}">
                  <a16:creationId xmlns:a16="http://schemas.microsoft.com/office/drawing/2014/main" id="{9592C477-235B-0D42-98D3-3720F19808AC}"/>
                </a:ext>
              </a:extLst>
            </p:cNvPr>
            <p:cNvSpPr>
              <a:spLocks noChangeArrowheads="1"/>
            </p:cNvSpPr>
            <p:nvPr/>
          </p:nvSpPr>
          <p:spPr bwMode="auto">
            <a:xfrm>
              <a:off x="1791" y="1428"/>
              <a:ext cx="0"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endParaRPr lang="en-US" altLang="en-US" sz="2000"/>
            </a:p>
          </p:txBody>
        </p:sp>
        <p:sp>
          <p:nvSpPr>
            <p:cNvPr id="3088" name="Rectangle 8">
              <a:extLst>
                <a:ext uri="{FF2B5EF4-FFF2-40B4-BE49-F238E27FC236}">
                  <a16:creationId xmlns:a16="http://schemas.microsoft.com/office/drawing/2014/main" id="{1F0363D5-DF44-8475-398A-867AB58594FA}"/>
                </a:ext>
              </a:extLst>
            </p:cNvPr>
            <p:cNvSpPr>
              <a:spLocks noChangeArrowheads="1"/>
            </p:cNvSpPr>
            <p:nvPr/>
          </p:nvSpPr>
          <p:spPr bwMode="auto">
            <a:xfrm>
              <a:off x="2843" y="1632"/>
              <a:ext cx="690"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r>
                <a:rPr lang="en-US" altLang="en-US" sz="2000">
                  <a:solidFill>
                    <a:srgbClr val="000000"/>
                  </a:solidFill>
                  <a:latin typeface="Arial" panose="020B0604020202020204" pitchFamily="34" charset="0"/>
                </a:rPr>
                <a:t>Ciphertext</a:t>
              </a:r>
              <a:endParaRPr lang="en-US" altLang="en-US" sz="2000"/>
            </a:p>
          </p:txBody>
        </p:sp>
        <p:sp>
          <p:nvSpPr>
            <p:cNvPr id="3089" name="Rectangle 9">
              <a:extLst>
                <a:ext uri="{FF2B5EF4-FFF2-40B4-BE49-F238E27FC236}">
                  <a16:creationId xmlns:a16="http://schemas.microsoft.com/office/drawing/2014/main" id="{85ABB361-B7D7-20FD-432E-7A8D8A045158}"/>
                </a:ext>
              </a:extLst>
            </p:cNvPr>
            <p:cNvSpPr>
              <a:spLocks noChangeArrowheads="1"/>
            </p:cNvSpPr>
            <p:nvPr/>
          </p:nvSpPr>
          <p:spPr bwMode="auto">
            <a:xfrm>
              <a:off x="3950" y="672"/>
              <a:ext cx="576"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r>
                <a:rPr lang="en-US" altLang="en-US" sz="2000">
                  <a:solidFill>
                    <a:srgbClr val="000000"/>
                  </a:solidFill>
                  <a:latin typeface="Arial" panose="020B0604020202020204" pitchFamily="34" charset="0"/>
                </a:rPr>
                <a:t>Plaintext</a:t>
              </a:r>
              <a:endParaRPr lang="en-US" altLang="en-US" sz="2000"/>
            </a:p>
          </p:txBody>
        </p:sp>
        <p:sp>
          <p:nvSpPr>
            <p:cNvPr id="3090" name="Rectangle 10">
              <a:extLst>
                <a:ext uri="{FF2B5EF4-FFF2-40B4-BE49-F238E27FC236}">
                  <a16:creationId xmlns:a16="http://schemas.microsoft.com/office/drawing/2014/main" id="{F884D231-1E0F-D1B3-E5AA-B9BD02A82AE8}"/>
                </a:ext>
              </a:extLst>
            </p:cNvPr>
            <p:cNvSpPr>
              <a:spLocks noChangeArrowheads="1"/>
            </p:cNvSpPr>
            <p:nvPr/>
          </p:nvSpPr>
          <p:spPr bwMode="auto">
            <a:xfrm>
              <a:off x="3814" y="1244"/>
              <a:ext cx="833"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r>
                <a:rPr lang="en-US" altLang="en-US" sz="2000">
                  <a:solidFill>
                    <a:srgbClr val="000000"/>
                  </a:solidFill>
                  <a:latin typeface="Arial" panose="020B0604020202020204" pitchFamily="34" charset="0"/>
                </a:rPr>
                <a:t>Decrypt with</a:t>
              </a:r>
              <a:endParaRPr lang="en-US" altLang="en-US" sz="2000"/>
            </a:p>
          </p:txBody>
        </p:sp>
        <p:sp>
          <p:nvSpPr>
            <p:cNvPr id="3091" name="Rectangle 11">
              <a:extLst>
                <a:ext uri="{FF2B5EF4-FFF2-40B4-BE49-F238E27FC236}">
                  <a16:creationId xmlns:a16="http://schemas.microsoft.com/office/drawing/2014/main" id="{AA882DB2-7BCA-F2AF-3F26-914E914AEB7E}"/>
                </a:ext>
              </a:extLst>
            </p:cNvPr>
            <p:cNvSpPr>
              <a:spLocks noChangeArrowheads="1"/>
            </p:cNvSpPr>
            <p:nvPr/>
          </p:nvSpPr>
          <p:spPr bwMode="auto">
            <a:xfrm>
              <a:off x="3884" y="1428"/>
              <a:ext cx="689"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r>
                <a:rPr lang="en-US" altLang="en-US" sz="2000">
                  <a:solidFill>
                    <a:srgbClr val="000000"/>
                  </a:solidFill>
                  <a:latin typeface="Arial" panose="020B0604020202020204" pitchFamily="34" charset="0"/>
                </a:rPr>
                <a:t>secret key</a:t>
              </a:r>
              <a:endParaRPr lang="en-US" altLang="en-US" sz="2000"/>
            </a:p>
          </p:txBody>
        </p:sp>
        <p:sp>
          <p:nvSpPr>
            <p:cNvPr id="3092" name="Rectangle 12">
              <a:extLst>
                <a:ext uri="{FF2B5EF4-FFF2-40B4-BE49-F238E27FC236}">
                  <a16:creationId xmlns:a16="http://schemas.microsoft.com/office/drawing/2014/main" id="{8777BAD2-BC2C-BDFC-0EF4-8AB53BFCB787}"/>
                </a:ext>
              </a:extLst>
            </p:cNvPr>
            <p:cNvSpPr>
              <a:spLocks noChangeArrowheads="1"/>
            </p:cNvSpPr>
            <p:nvPr/>
          </p:nvSpPr>
          <p:spPr bwMode="auto">
            <a:xfrm>
              <a:off x="4649" y="1428"/>
              <a:ext cx="0"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endParaRPr lang="en-US" altLang="en-US" sz="2000"/>
            </a:p>
          </p:txBody>
        </p:sp>
        <p:sp>
          <p:nvSpPr>
            <p:cNvPr id="3093" name="Freeform 13">
              <a:extLst>
                <a:ext uri="{FF2B5EF4-FFF2-40B4-BE49-F238E27FC236}">
                  <a16:creationId xmlns:a16="http://schemas.microsoft.com/office/drawing/2014/main" id="{B7B2282F-EE52-F258-670A-BA1A60D38F90}"/>
                </a:ext>
              </a:extLst>
            </p:cNvPr>
            <p:cNvSpPr>
              <a:spLocks/>
            </p:cNvSpPr>
            <p:nvPr/>
          </p:nvSpPr>
          <p:spPr bwMode="auto">
            <a:xfrm>
              <a:off x="773" y="1185"/>
              <a:ext cx="1308" cy="486"/>
            </a:xfrm>
            <a:custGeom>
              <a:avLst/>
              <a:gdLst>
                <a:gd name="T0" fmla="*/ 656 w 1308"/>
                <a:gd name="T1" fmla="*/ 0 h 486"/>
                <a:gd name="T2" fmla="*/ 552 w 1308"/>
                <a:gd name="T3" fmla="*/ 5 h 486"/>
                <a:gd name="T4" fmla="*/ 447 w 1308"/>
                <a:gd name="T5" fmla="*/ 15 h 486"/>
                <a:gd name="T6" fmla="*/ 357 w 1308"/>
                <a:gd name="T7" fmla="*/ 29 h 486"/>
                <a:gd name="T8" fmla="*/ 271 w 1308"/>
                <a:gd name="T9" fmla="*/ 48 h 486"/>
                <a:gd name="T10" fmla="*/ 195 w 1308"/>
                <a:gd name="T11" fmla="*/ 72 h 486"/>
                <a:gd name="T12" fmla="*/ 128 w 1308"/>
                <a:gd name="T13" fmla="*/ 100 h 486"/>
                <a:gd name="T14" fmla="*/ 76 w 1308"/>
                <a:gd name="T15" fmla="*/ 134 h 486"/>
                <a:gd name="T16" fmla="*/ 33 w 1308"/>
                <a:gd name="T17" fmla="*/ 167 h 486"/>
                <a:gd name="T18" fmla="*/ 9 w 1308"/>
                <a:gd name="T19" fmla="*/ 205 h 486"/>
                <a:gd name="T20" fmla="*/ 0 w 1308"/>
                <a:gd name="T21" fmla="*/ 243 h 486"/>
                <a:gd name="T22" fmla="*/ 9 w 1308"/>
                <a:gd name="T23" fmla="*/ 286 h 486"/>
                <a:gd name="T24" fmla="*/ 33 w 1308"/>
                <a:gd name="T25" fmla="*/ 324 h 486"/>
                <a:gd name="T26" fmla="*/ 76 w 1308"/>
                <a:gd name="T27" fmla="*/ 357 h 486"/>
                <a:gd name="T28" fmla="*/ 128 w 1308"/>
                <a:gd name="T29" fmla="*/ 391 h 486"/>
                <a:gd name="T30" fmla="*/ 195 w 1308"/>
                <a:gd name="T31" fmla="*/ 419 h 486"/>
                <a:gd name="T32" fmla="*/ 271 w 1308"/>
                <a:gd name="T33" fmla="*/ 443 h 486"/>
                <a:gd name="T34" fmla="*/ 357 w 1308"/>
                <a:gd name="T35" fmla="*/ 462 h 486"/>
                <a:gd name="T36" fmla="*/ 447 w 1308"/>
                <a:gd name="T37" fmla="*/ 476 h 486"/>
                <a:gd name="T38" fmla="*/ 552 w 1308"/>
                <a:gd name="T39" fmla="*/ 486 h 486"/>
                <a:gd name="T40" fmla="*/ 656 w 1308"/>
                <a:gd name="T41" fmla="*/ 486 h 486"/>
                <a:gd name="T42" fmla="*/ 761 w 1308"/>
                <a:gd name="T43" fmla="*/ 486 h 486"/>
                <a:gd name="T44" fmla="*/ 861 w 1308"/>
                <a:gd name="T45" fmla="*/ 476 h 486"/>
                <a:gd name="T46" fmla="*/ 956 w 1308"/>
                <a:gd name="T47" fmla="*/ 462 h 486"/>
                <a:gd name="T48" fmla="*/ 1042 w 1308"/>
                <a:gd name="T49" fmla="*/ 443 h 486"/>
                <a:gd name="T50" fmla="*/ 1118 w 1308"/>
                <a:gd name="T51" fmla="*/ 419 h 486"/>
                <a:gd name="T52" fmla="*/ 1184 w 1308"/>
                <a:gd name="T53" fmla="*/ 391 h 486"/>
                <a:gd name="T54" fmla="*/ 1237 w 1308"/>
                <a:gd name="T55" fmla="*/ 357 h 486"/>
                <a:gd name="T56" fmla="*/ 1275 w 1308"/>
                <a:gd name="T57" fmla="*/ 324 h 486"/>
                <a:gd name="T58" fmla="*/ 1303 w 1308"/>
                <a:gd name="T59" fmla="*/ 286 h 486"/>
                <a:gd name="T60" fmla="*/ 1308 w 1308"/>
                <a:gd name="T61" fmla="*/ 243 h 486"/>
                <a:gd name="T62" fmla="*/ 1303 w 1308"/>
                <a:gd name="T63" fmla="*/ 205 h 486"/>
                <a:gd name="T64" fmla="*/ 1275 w 1308"/>
                <a:gd name="T65" fmla="*/ 167 h 486"/>
                <a:gd name="T66" fmla="*/ 1237 w 1308"/>
                <a:gd name="T67" fmla="*/ 134 h 486"/>
                <a:gd name="T68" fmla="*/ 1184 w 1308"/>
                <a:gd name="T69" fmla="*/ 100 h 486"/>
                <a:gd name="T70" fmla="*/ 1118 w 1308"/>
                <a:gd name="T71" fmla="*/ 72 h 486"/>
                <a:gd name="T72" fmla="*/ 1042 w 1308"/>
                <a:gd name="T73" fmla="*/ 48 h 486"/>
                <a:gd name="T74" fmla="*/ 956 w 1308"/>
                <a:gd name="T75" fmla="*/ 29 h 486"/>
                <a:gd name="T76" fmla="*/ 861 w 1308"/>
                <a:gd name="T77" fmla="*/ 15 h 486"/>
                <a:gd name="T78" fmla="*/ 761 w 1308"/>
                <a:gd name="T79" fmla="*/ 5 h 486"/>
                <a:gd name="T80" fmla="*/ 656 w 1308"/>
                <a:gd name="T81" fmla="*/ 0 h 486"/>
                <a:gd name="T82" fmla="*/ 656 w 1308"/>
                <a:gd name="T83" fmla="*/ 0 h 48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308"/>
                <a:gd name="T127" fmla="*/ 0 h 486"/>
                <a:gd name="T128" fmla="*/ 1308 w 1308"/>
                <a:gd name="T129" fmla="*/ 486 h 48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308" h="486">
                  <a:moveTo>
                    <a:pt x="656" y="0"/>
                  </a:moveTo>
                  <a:lnTo>
                    <a:pt x="552" y="5"/>
                  </a:lnTo>
                  <a:lnTo>
                    <a:pt x="447" y="15"/>
                  </a:lnTo>
                  <a:lnTo>
                    <a:pt x="357" y="29"/>
                  </a:lnTo>
                  <a:lnTo>
                    <a:pt x="271" y="48"/>
                  </a:lnTo>
                  <a:lnTo>
                    <a:pt x="195" y="72"/>
                  </a:lnTo>
                  <a:lnTo>
                    <a:pt x="128" y="100"/>
                  </a:lnTo>
                  <a:lnTo>
                    <a:pt x="76" y="134"/>
                  </a:lnTo>
                  <a:lnTo>
                    <a:pt x="33" y="167"/>
                  </a:lnTo>
                  <a:lnTo>
                    <a:pt x="9" y="205"/>
                  </a:lnTo>
                  <a:lnTo>
                    <a:pt x="0" y="243"/>
                  </a:lnTo>
                  <a:lnTo>
                    <a:pt x="9" y="286"/>
                  </a:lnTo>
                  <a:lnTo>
                    <a:pt x="33" y="324"/>
                  </a:lnTo>
                  <a:lnTo>
                    <a:pt x="76" y="357"/>
                  </a:lnTo>
                  <a:lnTo>
                    <a:pt x="128" y="391"/>
                  </a:lnTo>
                  <a:lnTo>
                    <a:pt x="195" y="419"/>
                  </a:lnTo>
                  <a:lnTo>
                    <a:pt x="271" y="443"/>
                  </a:lnTo>
                  <a:lnTo>
                    <a:pt x="357" y="462"/>
                  </a:lnTo>
                  <a:lnTo>
                    <a:pt x="447" y="476"/>
                  </a:lnTo>
                  <a:lnTo>
                    <a:pt x="552" y="486"/>
                  </a:lnTo>
                  <a:lnTo>
                    <a:pt x="656" y="486"/>
                  </a:lnTo>
                  <a:lnTo>
                    <a:pt x="761" y="486"/>
                  </a:lnTo>
                  <a:lnTo>
                    <a:pt x="861" y="476"/>
                  </a:lnTo>
                  <a:lnTo>
                    <a:pt x="956" y="462"/>
                  </a:lnTo>
                  <a:lnTo>
                    <a:pt x="1042" y="443"/>
                  </a:lnTo>
                  <a:lnTo>
                    <a:pt x="1118" y="419"/>
                  </a:lnTo>
                  <a:lnTo>
                    <a:pt x="1184" y="391"/>
                  </a:lnTo>
                  <a:lnTo>
                    <a:pt x="1237" y="357"/>
                  </a:lnTo>
                  <a:lnTo>
                    <a:pt x="1275" y="324"/>
                  </a:lnTo>
                  <a:lnTo>
                    <a:pt x="1303" y="286"/>
                  </a:lnTo>
                  <a:lnTo>
                    <a:pt x="1308" y="243"/>
                  </a:lnTo>
                  <a:lnTo>
                    <a:pt x="1303" y="205"/>
                  </a:lnTo>
                  <a:lnTo>
                    <a:pt x="1275" y="167"/>
                  </a:lnTo>
                  <a:lnTo>
                    <a:pt x="1237" y="134"/>
                  </a:lnTo>
                  <a:lnTo>
                    <a:pt x="1184" y="100"/>
                  </a:lnTo>
                  <a:lnTo>
                    <a:pt x="1118" y="72"/>
                  </a:lnTo>
                  <a:lnTo>
                    <a:pt x="1042" y="48"/>
                  </a:lnTo>
                  <a:lnTo>
                    <a:pt x="956" y="29"/>
                  </a:lnTo>
                  <a:lnTo>
                    <a:pt x="861" y="15"/>
                  </a:lnTo>
                  <a:lnTo>
                    <a:pt x="761" y="5"/>
                  </a:lnTo>
                  <a:lnTo>
                    <a:pt x="656"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094" name="Freeform 14">
              <a:extLst>
                <a:ext uri="{FF2B5EF4-FFF2-40B4-BE49-F238E27FC236}">
                  <a16:creationId xmlns:a16="http://schemas.microsoft.com/office/drawing/2014/main" id="{34F4856E-47FF-C958-83E7-042B04A4366F}"/>
                </a:ext>
              </a:extLst>
            </p:cNvPr>
            <p:cNvSpPr>
              <a:spLocks/>
            </p:cNvSpPr>
            <p:nvPr/>
          </p:nvSpPr>
          <p:spPr bwMode="auto">
            <a:xfrm>
              <a:off x="3604" y="1185"/>
              <a:ext cx="1308" cy="486"/>
            </a:xfrm>
            <a:custGeom>
              <a:avLst/>
              <a:gdLst>
                <a:gd name="T0" fmla="*/ 651 w 1308"/>
                <a:gd name="T1" fmla="*/ 0 h 486"/>
                <a:gd name="T2" fmla="*/ 547 w 1308"/>
                <a:gd name="T3" fmla="*/ 5 h 486"/>
                <a:gd name="T4" fmla="*/ 447 w 1308"/>
                <a:gd name="T5" fmla="*/ 15 h 486"/>
                <a:gd name="T6" fmla="*/ 352 w 1308"/>
                <a:gd name="T7" fmla="*/ 29 h 486"/>
                <a:gd name="T8" fmla="*/ 266 w 1308"/>
                <a:gd name="T9" fmla="*/ 48 h 486"/>
                <a:gd name="T10" fmla="*/ 190 w 1308"/>
                <a:gd name="T11" fmla="*/ 72 h 486"/>
                <a:gd name="T12" fmla="*/ 123 w 1308"/>
                <a:gd name="T13" fmla="*/ 100 h 486"/>
                <a:gd name="T14" fmla="*/ 71 w 1308"/>
                <a:gd name="T15" fmla="*/ 134 h 486"/>
                <a:gd name="T16" fmla="*/ 33 w 1308"/>
                <a:gd name="T17" fmla="*/ 167 h 486"/>
                <a:gd name="T18" fmla="*/ 9 w 1308"/>
                <a:gd name="T19" fmla="*/ 205 h 486"/>
                <a:gd name="T20" fmla="*/ 0 w 1308"/>
                <a:gd name="T21" fmla="*/ 243 h 486"/>
                <a:gd name="T22" fmla="*/ 9 w 1308"/>
                <a:gd name="T23" fmla="*/ 286 h 486"/>
                <a:gd name="T24" fmla="*/ 33 w 1308"/>
                <a:gd name="T25" fmla="*/ 324 h 486"/>
                <a:gd name="T26" fmla="*/ 71 w 1308"/>
                <a:gd name="T27" fmla="*/ 357 h 486"/>
                <a:gd name="T28" fmla="*/ 123 w 1308"/>
                <a:gd name="T29" fmla="*/ 391 h 486"/>
                <a:gd name="T30" fmla="*/ 190 w 1308"/>
                <a:gd name="T31" fmla="*/ 419 h 486"/>
                <a:gd name="T32" fmla="*/ 266 w 1308"/>
                <a:gd name="T33" fmla="*/ 443 h 486"/>
                <a:gd name="T34" fmla="*/ 352 w 1308"/>
                <a:gd name="T35" fmla="*/ 462 h 486"/>
                <a:gd name="T36" fmla="*/ 447 w 1308"/>
                <a:gd name="T37" fmla="*/ 476 h 486"/>
                <a:gd name="T38" fmla="*/ 547 w 1308"/>
                <a:gd name="T39" fmla="*/ 486 h 486"/>
                <a:gd name="T40" fmla="*/ 651 w 1308"/>
                <a:gd name="T41" fmla="*/ 486 h 486"/>
                <a:gd name="T42" fmla="*/ 761 w 1308"/>
                <a:gd name="T43" fmla="*/ 486 h 486"/>
                <a:gd name="T44" fmla="*/ 861 w 1308"/>
                <a:gd name="T45" fmla="*/ 476 h 486"/>
                <a:gd name="T46" fmla="*/ 956 w 1308"/>
                <a:gd name="T47" fmla="*/ 462 h 486"/>
                <a:gd name="T48" fmla="*/ 1042 w 1308"/>
                <a:gd name="T49" fmla="*/ 443 h 486"/>
                <a:gd name="T50" fmla="*/ 1118 w 1308"/>
                <a:gd name="T51" fmla="*/ 419 h 486"/>
                <a:gd name="T52" fmla="*/ 1180 w 1308"/>
                <a:gd name="T53" fmla="*/ 391 h 486"/>
                <a:gd name="T54" fmla="*/ 1237 w 1308"/>
                <a:gd name="T55" fmla="*/ 357 h 486"/>
                <a:gd name="T56" fmla="*/ 1275 w 1308"/>
                <a:gd name="T57" fmla="*/ 324 h 486"/>
                <a:gd name="T58" fmla="*/ 1298 w 1308"/>
                <a:gd name="T59" fmla="*/ 286 h 486"/>
                <a:gd name="T60" fmla="*/ 1308 w 1308"/>
                <a:gd name="T61" fmla="*/ 243 h 486"/>
                <a:gd name="T62" fmla="*/ 1298 w 1308"/>
                <a:gd name="T63" fmla="*/ 205 h 486"/>
                <a:gd name="T64" fmla="*/ 1275 w 1308"/>
                <a:gd name="T65" fmla="*/ 167 h 486"/>
                <a:gd name="T66" fmla="*/ 1237 w 1308"/>
                <a:gd name="T67" fmla="*/ 134 h 486"/>
                <a:gd name="T68" fmla="*/ 1180 w 1308"/>
                <a:gd name="T69" fmla="*/ 100 h 486"/>
                <a:gd name="T70" fmla="*/ 1118 w 1308"/>
                <a:gd name="T71" fmla="*/ 72 h 486"/>
                <a:gd name="T72" fmla="*/ 1042 w 1308"/>
                <a:gd name="T73" fmla="*/ 48 h 486"/>
                <a:gd name="T74" fmla="*/ 956 w 1308"/>
                <a:gd name="T75" fmla="*/ 29 h 486"/>
                <a:gd name="T76" fmla="*/ 861 w 1308"/>
                <a:gd name="T77" fmla="*/ 15 h 486"/>
                <a:gd name="T78" fmla="*/ 761 w 1308"/>
                <a:gd name="T79" fmla="*/ 5 h 486"/>
                <a:gd name="T80" fmla="*/ 651 w 1308"/>
                <a:gd name="T81" fmla="*/ 0 h 486"/>
                <a:gd name="T82" fmla="*/ 651 w 1308"/>
                <a:gd name="T83" fmla="*/ 0 h 48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308"/>
                <a:gd name="T127" fmla="*/ 0 h 486"/>
                <a:gd name="T128" fmla="*/ 1308 w 1308"/>
                <a:gd name="T129" fmla="*/ 486 h 48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308" h="486">
                  <a:moveTo>
                    <a:pt x="651" y="0"/>
                  </a:moveTo>
                  <a:lnTo>
                    <a:pt x="547" y="5"/>
                  </a:lnTo>
                  <a:lnTo>
                    <a:pt x="447" y="15"/>
                  </a:lnTo>
                  <a:lnTo>
                    <a:pt x="352" y="29"/>
                  </a:lnTo>
                  <a:lnTo>
                    <a:pt x="266" y="48"/>
                  </a:lnTo>
                  <a:lnTo>
                    <a:pt x="190" y="72"/>
                  </a:lnTo>
                  <a:lnTo>
                    <a:pt x="123" y="100"/>
                  </a:lnTo>
                  <a:lnTo>
                    <a:pt x="71" y="134"/>
                  </a:lnTo>
                  <a:lnTo>
                    <a:pt x="33" y="167"/>
                  </a:lnTo>
                  <a:lnTo>
                    <a:pt x="9" y="205"/>
                  </a:lnTo>
                  <a:lnTo>
                    <a:pt x="0" y="243"/>
                  </a:lnTo>
                  <a:lnTo>
                    <a:pt x="9" y="286"/>
                  </a:lnTo>
                  <a:lnTo>
                    <a:pt x="33" y="324"/>
                  </a:lnTo>
                  <a:lnTo>
                    <a:pt x="71" y="357"/>
                  </a:lnTo>
                  <a:lnTo>
                    <a:pt x="123" y="391"/>
                  </a:lnTo>
                  <a:lnTo>
                    <a:pt x="190" y="419"/>
                  </a:lnTo>
                  <a:lnTo>
                    <a:pt x="266" y="443"/>
                  </a:lnTo>
                  <a:lnTo>
                    <a:pt x="352" y="462"/>
                  </a:lnTo>
                  <a:lnTo>
                    <a:pt x="447" y="476"/>
                  </a:lnTo>
                  <a:lnTo>
                    <a:pt x="547" y="486"/>
                  </a:lnTo>
                  <a:lnTo>
                    <a:pt x="651" y="486"/>
                  </a:lnTo>
                  <a:lnTo>
                    <a:pt x="761" y="486"/>
                  </a:lnTo>
                  <a:lnTo>
                    <a:pt x="861" y="476"/>
                  </a:lnTo>
                  <a:lnTo>
                    <a:pt x="956" y="462"/>
                  </a:lnTo>
                  <a:lnTo>
                    <a:pt x="1042" y="443"/>
                  </a:lnTo>
                  <a:lnTo>
                    <a:pt x="1118" y="419"/>
                  </a:lnTo>
                  <a:lnTo>
                    <a:pt x="1180" y="391"/>
                  </a:lnTo>
                  <a:lnTo>
                    <a:pt x="1237" y="357"/>
                  </a:lnTo>
                  <a:lnTo>
                    <a:pt x="1275" y="324"/>
                  </a:lnTo>
                  <a:lnTo>
                    <a:pt x="1298" y="286"/>
                  </a:lnTo>
                  <a:lnTo>
                    <a:pt x="1308" y="243"/>
                  </a:lnTo>
                  <a:lnTo>
                    <a:pt x="1298" y="205"/>
                  </a:lnTo>
                  <a:lnTo>
                    <a:pt x="1275" y="167"/>
                  </a:lnTo>
                  <a:lnTo>
                    <a:pt x="1237" y="134"/>
                  </a:lnTo>
                  <a:lnTo>
                    <a:pt x="1180" y="100"/>
                  </a:lnTo>
                  <a:lnTo>
                    <a:pt x="1118" y="72"/>
                  </a:lnTo>
                  <a:lnTo>
                    <a:pt x="1042" y="48"/>
                  </a:lnTo>
                  <a:lnTo>
                    <a:pt x="956" y="29"/>
                  </a:lnTo>
                  <a:lnTo>
                    <a:pt x="861" y="15"/>
                  </a:lnTo>
                  <a:lnTo>
                    <a:pt x="761" y="5"/>
                  </a:lnTo>
                  <a:lnTo>
                    <a:pt x="651"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095" name="Line 15">
              <a:extLst>
                <a:ext uri="{FF2B5EF4-FFF2-40B4-BE49-F238E27FC236}">
                  <a16:creationId xmlns:a16="http://schemas.microsoft.com/office/drawing/2014/main" id="{350FB79F-4F7F-73CF-B0FD-210AD262EEC0}"/>
                </a:ext>
              </a:extLst>
            </p:cNvPr>
            <p:cNvSpPr>
              <a:spLocks noChangeShapeType="1"/>
            </p:cNvSpPr>
            <p:nvPr/>
          </p:nvSpPr>
          <p:spPr bwMode="auto">
            <a:xfrm flipH="1">
              <a:off x="1440" y="859"/>
              <a:ext cx="0" cy="24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96" name="Freeform 16">
              <a:extLst>
                <a:ext uri="{FF2B5EF4-FFF2-40B4-BE49-F238E27FC236}">
                  <a16:creationId xmlns:a16="http://schemas.microsoft.com/office/drawing/2014/main" id="{9BAA6550-45B0-2942-5EE2-507A4E02DBCF}"/>
                </a:ext>
              </a:extLst>
            </p:cNvPr>
            <p:cNvSpPr>
              <a:spLocks/>
            </p:cNvSpPr>
            <p:nvPr/>
          </p:nvSpPr>
          <p:spPr bwMode="auto">
            <a:xfrm>
              <a:off x="1396" y="1076"/>
              <a:ext cx="62" cy="109"/>
            </a:xfrm>
            <a:custGeom>
              <a:avLst/>
              <a:gdLst>
                <a:gd name="T0" fmla="*/ 0 w 62"/>
                <a:gd name="T1" fmla="*/ 0 h 109"/>
                <a:gd name="T2" fmla="*/ 33 w 62"/>
                <a:gd name="T3" fmla="*/ 109 h 109"/>
                <a:gd name="T4" fmla="*/ 62 w 62"/>
                <a:gd name="T5" fmla="*/ 5 h 109"/>
                <a:gd name="T6" fmla="*/ 5 w 62"/>
                <a:gd name="T7" fmla="*/ 5 h 109"/>
                <a:gd name="T8" fmla="*/ 5 w 62"/>
                <a:gd name="T9" fmla="*/ 5 h 109"/>
                <a:gd name="T10" fmla="*/ 0 w 62"/>
                <a:gd name="T11" fmla="*/ 0 h 109"/>
                <a:gd name="T12" fmla="*/ 0 60000 65536"/>
                <a:gd name="T13" fmla="*/ 0 60000 65536"/>
                <a:gd name="T14" fmla="*/ 0 60000 65536"/>
                <a:gd name="T15" fmla="*/ 0 60000 65536"/>
                <a:gd name="T16" fmla="*/ 0 60000 65536"/>
                <a:gd name="T17" fmla="*/ 0 60000 65536"/>
                <a:gd name="T18" fmla="*/ 0 w 62"/>
                <a:gd name="T19" fmla="*/ 0 h 109"/>
                <a:gd name="T20" fmla="*/ 62 w 62"/>
                <a:gd name="T21" fmla="*/ 109 h 109"/>
              </a:gdLst>
              <a:ahLst/>
              <a:cxnLst>
                <a:cxn ang="T12">
                  <a:pos x="T0" y="T1"/>
                </a:cxn>
                <a:cxn ang="T13">
                  <a:pos x="T2" y="T3"/>
                </a:cxn>
                <a:cxn ang="T14">
                  <a:pos x="T4" y="T5"/>
                </a:cxn>
                <a:cxn ang="T15">
                  <a:pos x="T6" y="T7"/>
                </a:cxn>
                <a:cxn ang="T16">
                  <a:pos x="T8" y="T9"/>
                </a:cxn>
                <a:cxn ang="T17">
                  <a:pos x="T10" y="T11"/>
                </a:cxn>
              </a:cxnLst>
              <a:rect l="T18" t="T19" r="T20" b="T21"/>
              <a:pathLst>
                <a:path w="62" h="109">
                  <a:moveTo>
                    <a:pt x="0" y="0"/>
                  </a:moveTo>
                  <a:lnTo>
                    <a:pt x="33" y="109"/>
                  </a:lnTo>
                  <a:lnTo>
                    <a:pt x="62" y="5"/>
                  </a:lnTo>
                  <a:lnTo>
                    <a:pt x="5" y="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97" name="Line 17">
              <a:extLst>
                <a:ext uri="{FF2B5EF4-FFF2-40B4-BE49-F238E27FC236}">
                  <a16:creationId xmlns:a16="http://schemas.microsoft.com/office/drawing/2014/main" id="{D2DDAC5A-403B-C20C-581A-17CAD7C56656}"/>
                </a:ext>
              </a:extLst>
            </p:cNvPr>
            <p:cNvSpPr>
              <a:spLocks noChangeShapeType="1"/>
            </p:cNvSpPr>
            <p:nvPr/>
          </p:nvSpPr>
          <p:spPr bwMode="auto">
            <a:xfrm flipV="1">
              <a:off x="4255" y="967"/>
              <a:ext cx="1" cy="209"/>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98" name="Freeform 18">
              <a:extLst>
                <a:ext uri="{FF2B5EF4-FFF2-40B4-BE49-F238E27FC236}">
                  <a16:creationId xmlns:a16="http://schemas.microsoft.com/office/drawing/2014/main" id="{4290C2AA-8F8F-9578-686A-6ACB215F1DA8}"/>
                </a:ext>
              </a:extLst>
            </p:cNvPr>
            <p:cNvSpPr>
              <a:spLocks/>
            </p:cNvSpPr>
            <p:nvPr/>
          </p:nvSpPr>
          <p:spPr bwMode="auto">
            <a:xfrm>
              <a:off x="4227" y="881"/>
              <a:ext cx="57" cy="105"/>
            </a:xfrm>
            <a:custGeom>
              <a:avLst/>
              <a:gdLst>
                <a:gd name="T0" fmla="*/ 57 w 57"/>
                <a:gd name="T1" fmla="*/ 105 h 105"/>
                <a:gd name="T2" fmla="*/ 28 w 57"/>
                <a:gd name="T3" fmla="*/ 0 h 105"/>
                <a:gd name="T4" fmla="*/ 0 w 57"/>
                <a:gd name="T5" fmla="*/ 105 h 105"/>
                <a:gd name="T6" fmla="*/ 57 w 57"/>
                <a:gd name="T7" fmla="*/ 105 h 105"/>
                <a:gd name="T8" fmla="*/ 57 w 57"/>
                <a:gd name="T9" fmla="*/ 105 h 105"/>
                <a:gd name="T10" fmla="*/ 0 60000 65536"/>
                <a:gd name="T11" fmla="*/ 0 60000 65536"/>
                <a:gd name="T12" fmla="*/ 0 60000 65536"/>
                <a:gd name="T13" fmla="*/ 0 60000 65536"/>
                <a:gd name="T14" fmla="*/ 0 60000 65536"/>
                <a:gd name="T15" fmla="*/ 0 w 57"/>
                <a:gd name="T16" fmla="*/ 0 h 105"/>
                <a:gd name="T17" fmla="*/ 57 w 57"/>
                <a:gd name="T18" fmla="*/ 105 h 105"/>
              </a:gdLst>
              <a:ahLst/>
              <a:cxnLst>
                <a:cxn ang="T10">
                  <a:pos x="T0" y="T1"/>
                </a:cxn>
                <a:cxn ang="T11">
                  <a:pos x="T2" y="T3"/>
                </a:cxn>
                <a:cxn ang="T12">
                  <a:pos x="T4" y="T5"/>
                </a:cxn>
                <a:cxn ang="T13">
                  <a:pos x="T6" y="T7"/>
                </a:cxn>
                <a:cxn ang="T14">
                  <a:pos x="T8" y="T9"/>
                </a:cxn>
              </a:cxnLst>
              <a:rect l="T15" t="T16" r="T17" b="T18"/>
              <a:pathLst>
                <a:path w="57" h="105">
                  <a:moveTo>
                    <a:pt x="57" y="105"/>
                  </a:moveTo>
                  <a:lnTo>
                    <a:pt x="28" y="0"/>
                  </a:lnTo>
                  <a:lnTo>
                    <a:pt x="0" y="105"/>
                  </a:lnTo>
                  <a:lnTo>
                    <a:pt x="57" y="10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99" name="Freeform 19">
              <a:extLst>
                <a:ext uri="{FF2B5EF4-FFF2-40B4-BE49-F238E27FC236}">
                  <a16:creationId xmlns:a16="http://schemas.microsoft.com/office/drawing/2014/main" id="{E2781A14-B6B1-02A7-B409-035912EA7F75}"/>
                </a:ext>
              </a:extLst>
            </p:cNvPr>
            <p:cNvSpPr>
              <a:spLocks/>
            </p:cNvSpPr>
            <p:nvPr/>
          </p:nvSpPr>
          <p:spPr bwMode="auto">
            <a:xfrm>
              <a:off x="1425" y="1671"/>
              <a:ext cx="2830" cy="223"/>
            </a:xfrm>
            <a:custGeom>
              <a:avLst/>
              <a:gdLst>
                <a:gd name="T0" fmla="*/ 0 w 2830"/>
                <a:gd name="T1" fmla="*/ 0 h 223"/>
                <a:gd name="T2" fmla="*/ 4 w 2830"/>
                <a:gd name="T3" fmla="*/ 223 h 223"/>
                <a:gd name="T4" fmla="*/ 2830 w 2830"/>
                <a:gd name="T5" fmla="*/ 223 h 223"/>
                <a:gd name="T6" fmla="*/ 2830 w 2830"/>
                <a:gd name="T7" fmla="*/ 109 h 223"/>
                <a:gd name="T8" fmla="*/ 0 60000 65536"/>
                <a:gd name="T9" fmla="*/ 0 60000 65536"/>
                <a:gd name="T10" fmla="*/ 0 60000 65536"/>
                <a:gd name="T11" fmla="*/ 0 60000 65536"/>
                <a:gd name="T12" fmla="*/ 0 w 2830"/>
                <a:gd name="T13" fmla="*/ 0 h 223"/>
                <a:gd name="T14" fmla="*/ 2830 w 2830"/>
                <a:gd name="T15" fmla="*/ 223 h 223"/>
              </a:gdLst>
              <a:ahLst/>
              <a:cxnLst>
                <a:cxn ang="T8">
                  <a:pos x="T0" y="T1"/>
                </a:cxn>
                <a:cxn ang="T9">
                  <a:pos x="T2" y="T3"/>
                </a:cxn>
                <a:cxn ang="T10">
                  <a:pos x="T4" y="T5"/>
                </a:cxn>
                <a:cxn ang="T11">
                  <a:pos x="T6" y="T7"/>
                </a:cxn>
              </a:cxnLst>
              <a:rect l="T12" t="T13" r="T14" b="T15"/>
              <a:pathLst>
                <a:path w="2830" h="223">
                  <a:moveTo>
                    <a:pt x="0" y="0"/>
                  </a:moveTo>
                  <a:lnTo>
                    <a:pt x="4" y="223"/>
                  </a:lnTo>
                  <a:lnTo>
                    <a:pt x="2830" y="223"/>
                  </a:lnTo>
                  <a:lnTo>
                    <a:pt x="2830" y="109"/>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100" name="Freeform 20">
              <a:extLst>
                <a:ext uri="{FF2B5EF4-FFF2-40B4-BE49-F238E27FC236}">
                  <a16:creationId xmlns:a16="http://schemas.microsoft.com/office/drawing/2014/main" id="{DF80A8A8-2155-EF82-4EA5-380836102C5B}"/>
                </a:ext>
              </a:extLst>
            </p:cNvPr>
            <p:cNvSpPr>
              <a:spLocks/>
            </p:cNvSpPr>
            <p:nvPr/>
          </p:nvSpPr>
          <p:spPr bwMode="auto">
            <a:xfrm>
              <a:off x="4227" y="1675"/>
              <a:ext cx="57" cy="110"/>
            </a:xfrm>
            <a:custGeom>
              <a:avLst/>
              <a:gdLst>
                <a:gd name="T0" fmla="*/ 57 w 57"/>
                <a:gd name="T1" fmla="*/ 105 h 110"/>
                <a:gd name="T2" fmla="*/ 28 w 57"/>
                <a:gd name="T3" fmla="*/ 0 h 110"/>
                <a:gd name="T4" fmla="*/ 0 w 57"/>
                <a:gd name="T5" fmla="*/ 110 h 110"/>
                <a:gd name="T6" fmla="*/ 57 w 57"/>
                <a:gd name="T7" fmla="*/ 110 h 110"/>
                <a:gd name="T8" fmla="*/ 57 w 57"/>
                <a:gd name="T9" fmla="*/ 110 h 110"/>
                <a:gd name="T10" fmla="*/ 57 w 57"/>
                <a:gd name="T11" fmla="*/ 105 h 110"/>
                <a:gd name="T12" fmla="*/ 0 60000 65536"/>
                <a:gd name="T13" fmla="*/ 0 60000 65536"/>
                <a:gd name="T14" fmla="*/ 0 60000 65536"/>
                <a:gd name="T15" fmla="*/ 0 60000 65536"/>
                <a:gd name="T16" fmla="*/ 0 60000 65536"/>
                <a:gd name="T17" fmla="*/ 0 60000 65536"/>
                <a:gd name="T18" fmla="*/ 0 w 57"/>
                <a:gd name="T19" fmla="*/ 0 h 110"/>
                <a:gd name="T20" fmla="*/ 57 w 57"/>
                <a:gd name="T21" fmla="*/ 110 h 110"/>
              </a:gdLst>
              <a:ahLst/>
              <a:cxnLst>
                <a:cxn ang="T12">
                  <a:pos x="T0" y="T1"/>
                </a:cxn>
                <a:cxn ang="T13">
                  <a:pos x="T2" y="T3"/>
                </a:cxn>
                <a:cxn ang="T14">
                  <a:pos x="T4" y="T5"/>
                </a:cxn>
                <a:cxn ang="T15">
                  <a:pos x="T6" y="T7"/>
                </a:cxn>
                <a:cxn ang="T16">
                  <a:pos x="T8" y="T9"/>
                </a:cxn>
                <a:cxn ang="T17">
                  <a:pos x="T10" y="T11"/>
                </a:cxn>
              </a:cxnLst>
              <a:rect l="T18" t="T19" r="T20" b="T21"/>
              <a:pathLst>
                <a:path w="57" h="110">
                  <a:moveTo>
                    <a:pt x="57" y="105"/>
                  </a:moveTo>
                  <a:lnTo>
                    <a:pt x="28" y="0"/>
                  </a:lnTo>
                  <a:lnTo>
                    <a:pt x="0" y="110"/>
                  </a:lnTo>
                  <a:lnTo>
                    <a:pt x="57" y="110"/>
                  </a:lnTo>
                  <a:lnTo>
                    <a:pt x="57" y="10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3078" name="Text Box 170">
            <a:extLst>
              <a:ext uri="{FF2B5EF4-FFF2-40B4-BE49-F238E27FC236}">
                <a16:creationId xmlns:a16="http://schemas.microsoft.com/office/drawing/2014/main" id="{19C85E40-6417-BA3E-0D4A-1802C36199B1}"/>
              </a:ext>
            </a:extLst>
          </p:cNvPr>
          <p:cNvSpPr txBox="1">
            <a:spLocks noChangeArrowheads="1"/>
          </p:cNvSpPr>
          <p:nvPr/>
        </p:nvSpPr>
        <p:spPr bwMode="auto">
          <a:xfrm>
            <a:off x="2346326" y="4994276"/>
            <a:ext cx="7178675"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a:buFontTx/>
              <a:buChar char="•"/>
            </a:pPr>
            <a:r>
              <a:rPr lang="en-US" altLang="en-US"/>
              <a:t>3DES applies DES 3 times with 3 different keys</a:t>
            </a:r>
          </a:p>
          <a:p>
            <a:pPr>
              <a:buFontTx/>
              <a:buChar char="•"/>
            </a:pPr>
            <a:r>
              <a:rPr lang="en-US" altLang="en-US"/>
              <a:t>AES (Advanced Encryption Standard)  uses larger blocks (128-bits), larger keys (128-, 192-, or 256-bit), is fast in both hardware and software, and doesn’t require much memory (so it works well on mobile devices)</a:t>
            </a:r>
          </a:p>
        </p:txBody>
      </p:sp>
      <p:pic>
        <p:nvPicPr>
          <p:cNvPr id="3079" name="Picture 171" descr="C:\Users\agember\AppData\Local\Microsoft\Windows\Temporary Internet Files\Content.IE5\4A6BAF6Z\MC900232769[1].wmf">
            <a:extLst>
              <a:ext uri="{FF2B5EF4-FFF2-40B4-BE49-F238E27FC236}">
                <a16:creationId xmlns:a16="http://schemas.microsoft.com/office/drawing/2014/main" id="{2D627CAA-AE02-4EAF-3703-3919AB3D6F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1" y="3200401"/>
            <a:ext cx="511175" cy="102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0" name="Picture 172" descr="C:\Users\agember\AppData\Local\Microsoft\Windows\Temporary Internet Files\Content.IE5\TY9XCEY2\MC900432599[1].png">
            <a:extLst>
              <a:ext uri="{FF2B5EF4-FFF2-40B4-BE49-F238E27FC236}">
                <a16:creationId xmlns:a16="http://schemas.microsoft.com/office/drawing/2014/main" id="{C4C977A8-422C-B3EE-A31F-1A2B1CA245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8600" y="2057400"/>
            <a:ext cx="12192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1" name="Picture 172" descr="C:\Users\agember\AppData\Local\Microsoft\Windows\Temporary Internet Files\Content.IE5\TY9XCEY2\MC900432599[1].png">
            <a:extLst>
              <a:ext uri="{FF2B5EF4-FFF2-40B4-BE49-F238E27FC236}">
                <a16:creationId xmlns:a16="http://schemas.microsoft.com/office/drawing/2014/main" id="{CC1FE062-30AC-7EBA-A278-B8CEA8C8C5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63000" y="1981200"/>
            <a:ext cx="12192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2" name="Picture 171" descr="C:\Users\agember\AppData\Local\Microsoft\Windows\Temporary Internet Files\Content.IE5\4A6BAF6Z\MC900232769[1].wmf">
            <a:extLst>
              <a:ext uri="{FF2B5EF4-FFF2-40B4-BE49-F238E27FC236}">
                <a16:creationId xmlns:a16="http://schemas.microsoft.com/office/drawing/2014/main" id="{BE61CCE0-5B3F-C18F-2B70-140D36214D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6601" y="3200401"/>
            <a:ext cx="511175" cy="102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3" name="Picture 174" descr="C:\Users\agember\AppData\Local\Microsoft\Windows\Temporary Internet Files\Content.IE5\6PLB7JPJ\MC900441313[1].png">
            <a:extLst>
              <a:ext uri="{FF2B5EF4-FFF2-40B4-BE49-F238E27FC236}">
                <a16:creationId xmlns:a16="http://schemas.microsoft.com/office/drawing/2014/main" id="{1FF3EABB-B5FB-13D7-B4BC-42C7FCAD12A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00600" y="3886200"/>
            <a:ext cx="1066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Slide Number Placeholder 4">
            <a:extLst>
              <a:ext uri="{FF2B5EF4-FFF2-40B4-BE49-F238E27FC236}">
                <a16:creationId xmlns:a16="http://schemas.microsoft.com/office/drawing/2014/main" id="{8BF24ACC-C963-3B82-568C-8E7D1DC245AC}"/>
              </a:ext>
            </a:extLst>
          </p:cNvPr>
          <p:cNvSpPr>
            <a:spLocks noGrp="1"/>
          </p:cNvSpPr>
          <p:nvPr>
            <p:ph type="sldNum" sz="quarter" idx="12"/>
          </p:nvPr>
        </p:nvSpPr>
        <p:spPr>
          <a:xfrm>
            <a:off x="4648200" y="6248400"/>
            <a:ext cx="2895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algn="ctr"/>
            <a:fld id="{70233382-E28E-3B48-900F-BB88F7742160}" type="slidenum">
              <a:rPr lang="en-US" altLang="en-US" sz="1400"/>
              <a:pPr algn="ctr"/>
              <a:t>57</a:t>
            </a:fld>
            <a:endParaRPr lang="en-US" altLang="en-US" sz="1400"/>
          </a:p>
        </p:txBody>
      </p:sp>
      <p:sp>
        <p:nvSpPr>
          <p:cNvPr id="4100" name="Rectangle 2">
            <a:extLst>
              <a:ext uri="{FF2B5EF4-FFF2-40B4-BE49-F238E27FC236}">
                <a16:creationId xmlns:a16="http://schemas.microsoft.com/office/drawing/2014/main" id="{C29A2233-4248-B29B-3B3D-BA483568692D}"/>
              </a:ext>
            </a:extLst>
          </p:cNvPr>
          <p:cNvSpPr>
            <a:spLocks noGrp="1" noChangeArrowheads="1"/>
          </p:cNvSpPr>
          <p:nvPr>
            <p:ph type="title"/>
          </p:nvPr>
        </p:nvSpPr>
        <p:spPr>
          <a:xfrm>
            <a:off x="2209800" y="609600"/>
            <a:ext cx="7772400" cy="685800"/>
          </a:xfrm>
        </p:spPr>
        <p:txBody>
          <a:bodyPr>
            <a:normAutofit fontScale="90000"/>
          </a:bodyPr>
          <a:lstStyle/>
          <a:p>
            <a:r>
              <a:rPr lang="en-US" altLang="en-US"/>
              <a:t>Recall: Public Key (RSA)</a:t>
            </a:r>
          </a:p>
        </p:txBody>
      </p:sp>
      <p:sp>
        <p:nvSpPr>
          <p:cNvPr id="4101" name="Rectangle 3">
            <a:extLst>
              <a:ext uri="{FF2B5EF4-FFF2-40B4-BE49-F238E27FC236}">
                <a16:creationId xmlns:a16="http://schemas.microsoft.com/office/drawing/2014/main" id="{0D637D3B-F0D8-C961-7DB5-4B9A7B178D71}"/>
              </a:ext>
            </a:extLst>
          </p:cNvPr>
          <p:cNvSpPr>
            <a:spLocks noGrp="1" noChangeArrowheads="1"/>
          </p:cNvSpPr>
          <p:nvPr>
            <p:ph type="body" idx="1"/>
          </p:nvPr>
        </p:nvSpPr>
        <p:spPr>
          <a:xfrm>
            <a:off x="2209800" y="3962400"/>
            <a:ext cx="7772400" cy="1905000"/>
          </a:xfrm>
        </p:spPr>
        <p:txBody>
          <a:bodyPr/>
          <a:lstStyle/>
          <a:p>
            <a:pPr>
              <a:lnSpc>
                <a:spcPct val="80000"/>
              </a:lnSpc>
            </a:pPr>
            <a:r>
              <a:rPr lang="en-US" altLang="en-US" sz="1800"/>
              <a:t>First published by Diffie and Hellman (others like NSA claim to have invented it earlier)</a:t>
            </a:r>
          </a:p>
          <a:p>
            <a:pPr>
              <a:lnSpc>
                <a:spcPct val="80000"/>
              </a:lnSpc>
            </a:pPr>
            <a:r>
              <a:rPr lang="en-US" altLang="en-US" sz="1800"/>
              <a:t>Several orders of magnitude slower than symmetric key</a:t>
            </a:r>
          </a:p>
        </p:txBody>
      </p:sp>
      <p:grpSp>
        <p:nvGrpSpPr>
          <p:cNvPr id="4102" name="Group 4">
            <a:extLst>
              <a:ext uri="{FF2B5EF4-FFF2-40B4-BE49-F238E27FC236}">
                <a16:creationId xmlns:a16="http://schemas.microsoft.com/office/drawing/2014/main" id="{C102B81C-9928-0E71-45A1-7F62D1CD52BD}"/>
              </a:ext>
            </a:extLst>
          </p:cNvPr>
          <p:cNvGrpSpPr>
            <a:grpSpLocks/>
          </p:cNvGrpSpPr>
          <p:nvPr/>
        </p:nvGrpSpPr>
        <p:grpSpPr bwMode="auto">
          <a:xfrm>
            <a:off x="3276600" y="1600200"/>
            <a:ext cx="5562600" cy="1905000"/>
            <a:chOff x="773" y="672"/>
            <a:chExt cx="4139" cy="1222"/>
          </a:xfrm>
        </p:grpSpPr>
        <p:sp>
          <p:nvSpPr>
            <p:cNvPr id="4108" name="Rectangle 5">
              <a:extLst>
                <a:ext uri="{FF2B5EF4-FFF2-40B4-BE49-F238E27FC236}">
                  <a16:creationId xmlns:a16="http://schemas.microsoft.com/office/drawing/2014/main" id="{2F7274C7-7061-282B-C02C-E23D8AF0C5E1}"/>
                </a:ext>
              </a:extLst>
            </p:cNvPr>
            <p:cNvSpPr>
              <a:spLocks noChangeArrowheads="1"/>
            </p:cNvSpPr>
            <p:nvPr/>
          </p:nvSpPr>
          <p:spPr bwMode="auto">
            <a:xfrm>
              <a:off x="1119" y="672"/>
              <a:ext cx="658"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r>
                <a:rPr lang="en-US" altLang="en-US" sz="1800">
                  <a:solidFill>
                    <a:srgbClr val="000000"/>
                  </a:solidFill>
                  <a:latin typeface="Arial" panose="020B0604020202020204" pitchFamily="34" charset="0"/>
                </a:rPr>
                <a:t>Plaintext</a:t>
              </a:r>
              <a:endParaRPr lang="en-US" altLang="en-US" sz="1800"/>
            </a:p>
          </p:txBody>
        </p:sp>
        <p:sp>
          <p:nvSpPr>
            <p:cNvPr id="4109" name="Rectangle 6">
              <a:extLst>
                <a:ext uri="{FF2B5EF4-FFF2-40B4-BE49-F238E27FC236}">
                  <a16:creationId xmlns:a16="http://schemas.microsoft.com/office/drawing/2014/main" id="{8609E76E-DA06-4D44-D20F-6AADE1A28E87}"/>
                </a:ext>
              </a:extLst>
            </p:cNvPr>
            <p:cNvSpPr>
              <a:spLocks noChangeArrowheads="1"/>
            </p:cNvSpPr>
            <p:nvPr/>
          </p:nvSpPr>
          <p:spPr bwMode="auto">
            <a:xfrm>
              <a:off x="997" y="1243"/>
              <a:ext cx="927"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r>
                <a:rPr lang="en-US" altLang="en-US" sz="1800">
                  <a:solidFill>
                    <a:srgbClr val="000000"/>
                  </a:solidFill>
                  <a:latin typeface="Arial" panose="020B0604020202020204" pitchFamily="34" charset="0"/>
                </a:rPr>
                <a:t>Encrypt with</a:t>
              </a:r>
              <a:endParaRPr lang="en-US" altLang="en-US" sz="1800"/>
            </a:p>
          </p:txBody>
        </p:sp>
        <p:sp>
          <p:nvSpPr>
            <p:cNvPr id="4110" name="Rectangle 7">
              <a:extLst>
                <a:ext uri="{FF2B5EF4-FFF2-40B4-BE49-F238E27FC236}">
                  <a16:creationId xmlns:a16="http://schemas.microsoft.com/office/drawing/2014/main" id="{F0C50F37-0FB5-C6B6-EB4C-B6EAF2BFED58}"/>
                </a:ext>
              </a:extLst>
            </p:cNvPr>
            <p:cNvSpPr>
              <a:spLocks noChangeArrowheads="1"/>
            </p:cNvSpPr>
            <p:nvPr/>
          </p:nvSpPr>
          <p:spPr bwMode="auto">
            <a:xfrm>
              <a:off x="1088" y="1429"/>
              <a:ext cx="75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r>
                <a:rPr lang="en-US" altLang="en-US" sz="1800">
                  <a:solidFill>
                    <a:srgbClr val="000000"/>
                  </a:solidFill>
                  <a:latin typeface="Arial" panose="020B0604020202020204" pitchFamily="34" charset="0"/>
                </a:rPr>
                <a:t>public key</a:t>
              </a:r>
              <a:endParaRPr lang="en-US" altLang="en-US" sz="1800"/>
            </a:p>
          </p:txBody>
        </p:sp>
        <p:sp>
          <p:nvSpPr>
            <p:cNvPr id="4111" name="Rectangle 8">
              <a:extLst>
                <a:ext uri="{FF2B5EF4-FFF2-40B4-BE49-F238E27FC236}">
                  <a16:creationId xmlns:a16="http://schemas.microsoft.com/office/drawing/2014/main" id="{019A63F7-FF92-C88C-7362-ADF2B0270FCB}"/>
                </a:ext>
              </a:extLst>
            </p:cNvPr>
            <p:cNvSpPr>
              <a:spLocks noChangeArrowheads="1"/>
            </p:cNvSpPr>
            <p:nvPr/>
          </p:nvSpPr>
          <p:spPr bwMode="auto">
            <a:xfrm>
              <a:off x="1791" y="1429"/>
              <a:ext cx="0"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endParaRPr lang="en-US" altLang="en-US" sz="1800"/>
            </a:p>
          </p:txBody>
        </p:sp>
        <p:sp>
          <p:nvSpPr>
            <p:cNvPr id="4112" name="Rectangle 9">
              <a:extLst>
                <a:ext uri="{FF2B5EF4-FFF2-40B4-BE49-F238E27FC236}">
                  <a16:creationId xmlns:a16="http://schemas.microsoft.com/office/drawing/2014/main" id="{67B0F5D9-4053-C70F-37D7-C473630E00F3}"/>
                </a:ext>
              </a:extLst>
            </p:cNvPr>
            <p:cNvSpPr>
              <a:spLocks noChangeArrowheads="1"/>
            </p:cNvSpPr>
            <p:nvPr/>
          </p:nvSpPr>
          <p:spPr bwMode="auto">
            <a:xfrm>
              <a:off x="2701" y="1650"/>
              <a:ext cx="775"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r>
                <a:rPr lang="en-US" altLang="en-US" sz="1800">
                  <a:solidFill>
                    <a:srgbClr val="000000"/>
                  </a:solidFill>
                  <a:latin typeface="Arial" panose="020B0604020202020204" pitchFamily="34" charset="0"/>
                </a:rPr>
                <a:t>Ciphertext</a:t>
              </a:r>
              <a:endParaRPr lang="en-US" altLang="en-US" sz="1800"/>
            </a:p>
          </p:txBody>
        </p:sp>
        <p:sp>
          <p:nvSpPr>
            <p:cNvPr id="4113" name="Rectangle 10">
              <a:extLst>
                <a:ext uri="{FF2B5EF4-FFF2-40B4-BE49-F238E27FC236}">
                  <a16:creationId xmlns:a16="http://schemas.microsoft.com/office/drawing/2014/main" id="{2282E9B5-FC10-73D9-1BFE-A4193A38D8DB}"/>
                </a:ext>
              </a:extLst>
            </p:cNvPr>
            <p:cNvSpPr>
              <a:spLocks noChangeArrowheads="1"/>
            </p:cNvSpPr>
            <p:nvPr/>
          </p:nvSpPr>
          <p:spPr bwMode="auto">
            <a:xfrm>
              <a:off x="3950" y="672"/>
              <a:ext cx="653"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r>
                <a:rPr lang="en-US" altLang="en-US" sz="1800">
                  <a:solidFill>
                    <a:srgbClr val="000000"/>
                  </a:solidFill>
                  <a:latin typeface="Arial" panose="020B0604020202020204" pitchFamily="34" charset="0"/>
                </a:rPr>
                <a:t>Plaintext</a:t>
              </a:r>
              <a:endParaRPr lang="en-US" altLang="en-US" sz="1800"/>
            </a:p>
          </p:txBody>
        </p:sp>
        <p:sp>
          <p:nvSpPr>
            <p:cNvPr id="4114" name="Rectangle 11">
              <a:extLst>
                <a:ext uri="{FF2B5EF4-FFF2-40B4-BE49-F238E27FC236}">
                  <a16:creationId xmlns:a16="http://schemas.microsoft.com/office/drawing/2014/main" id="{E1AA1148-6F05-BF80-CC23-21C6676ACB74}"/>
                </a:ext>
              </a:extLst>
            </p:cNvPr>
            <p:cNvSpPr>
              <a:spLocks noChangeArrowheads="1"/>
            </p:cNvSpPr>
            <p:nvPr/>
          </p:nvSpPr>
          <p:spPr bwMode="auto">
            <a:xfrm>
              <a:off x="3813" y="1243"/>
              <a:ext cx="93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r>
                <a:rPr lang="en-US" altLang="en-US" sz="1800">
                  <a:solidFill>
                    <a:srgbClr val="000000"/>
                  </a:solidFill>
                  <a:latin typeface="Arial" panose="020B0604020202020204" pitchFamily="34" charset="0"/>
                </a:rPr>
                <a:t>Decrypt with</a:t>
              </a:r>
              <a:endParaRPr lang="en-US" altLang="en-US" sz="1800"/>
            </a:p>
          </p:txBody>
        </p:sp>
        <p:sp>
          <p:nvSpPr>
            <p:cNvPr id="4115" name="Rectangle 12">
              <a:extLst>
                <a:ext uri="{FF2B5EF4-FFF2-40B4-BE49-F238E27FC236}">
                  <a16:creationId xmlns:a16="http://schemas.microsoft.com/office/drawing/2014/main" id="{3255307C-6E60-ED25-0A7A-071907ED49CD}"/>
                </a:ext>
              </a:extLst>
            </p:cNvPr>
            <p:cNvSpPr>
              <a:spLocks noChangeArrowheads="1"/>
            </p:cNvSpPr>
            <p:nvPr/>
          </p:nvSpPr>
          <p:spPr bwMode="auto">
            <a:xfrm>
              <a:off x="3884" y="1429"/>
              <a:ext cx="830"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r>
                <a:rPr lang="en-US" altLang="en-US" sz="1800">
                  <a:solidFill>
                    <a:srgbClr val="000000"/>
                  </a:solidFill>
                  <a:latin typeface="Arial" panose="020B0604020202020204" pitchFamily="34" charset="0"/>
                </a:rPr>
                <a:t>private key</a:t>
              </a:r>
              <a:endParaRPr lang="en-US" altLang="en-US" sz="1800"/>
            </a:p>
          </p:txBody>
        </p:sp>
        <p:sp>
          <p:nvSpPr>
            <p:cNvPr id="4116" name="Rectangle 13">
              <a:extLst>
                <a:ext uri="{FF2B5EF4-FFF2-40B4-BE49-F238E27FC236}">
                  <a16:creationId xmlns:a16="http://schemas.microsoft.com/office/drawing/2014/main" id="{B911AE76-3F7A-0330-A9B9-9504744F2696}"/>
                </a:ext>
              </a:extLst>
            </p:cNvPr>
            <p:cNvSpPr>
              <a:spLocks noChangeArrowheads="1"/>
            </p:cNvSpPr>
            <p:nvPr/>
          </p:nvSpPr>
          <p:spPr bwMode="auto">
            <a:xfrm>
              <a:off x="4649" y="1429"/>
              <a:ext cx="0"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endParaRPr lang="en-US" altLang="en-US" sz="1800"/>
            </a:p>
          </p:txBody>
        </p:sp>
        <p:sp>
          <p:nvSpPr>
            <p:cNvPr id="4117" name="Freeform 14">
              <a:extLst>
                <a:ext uri="{FF2B5EF4-FFF2-40B4-BE49-F238E27FC236}">
                  <a16:creationId xmlns:a16="http://schemas.microsoft.com/office/drawing/2014/main" id="{C798D59C-01E1-BE85-20E7-9F538C86BB5F}"/>
                </a:ext>
              </a:extLst>
            </p:cNvPr>
            <p:cNvSpPr>
              <a:spLocks/>
            </p:cNvSpPr>
            <p:nvPr/>
          </p:nvSpPr>
          <p:spPr bwMode="auto">
            <a:xfrm>
              <a:off x="773" y="1185"/>
              <a:ext cx="1308" cy="486"/>
            </a:xfrm>
            <a:custGeom>
              <a:avLst/>
              <a:gdLst>
                <a:gd name="T0" fmla="*/ 656 w 1308"/>
                <a:gd name="T1" fmla="*/ 0 h 486"/>
                <a:gd name="T2" fmla="*/ 552 w 1308"/>
                <a:gd name="T3" fmla="*/ 5 h 486"/>
                <a:gd name="T4" fmla="*/ 447 w 1308"/>
                <a:gd name="T5" fmla="*/ 15 h 486"/>
                <a:gd name="T6" fmla="*/ 357 w 1308"/>
                <a:gd name="T7" fmla="*/ 29 h 486"/>
                <a:gd name="T8" fmla="*/ 271 w 1308"/>
                <a:gd name="T9" fmla="*/ 48 h 486"/>
                <a:gd name="T10" fmla="*/ 195 w 1308"/>
                <a:gd name="T11" fmla="*/ 72 h 486"/>
                <a:gd name="T12" fmla="*/ 128 w 1308"/>
                <a:gd name="T13" fmla="*/ 100 h 486"/>
                <a:gd name="T14" fmla="*/ 76 w 1308"/>
                <a:gd name="T15" fmla="*/ 134 h 486"/>
                <a:gd name="T16" fmla="*/ 33 w 1308"/>
                <a:gd name="T17" fmla="*/ 167 h 486"/>
                <a:gd name="T18" fmla="*/ 9 w 1308"/>
                <a:gd name="T19" fmla="*/ 205 h 486"/>
                <a:gd name="T20" fmla="*/ 0 w 1308"/>
                <a:gd name="T21" fmla="*/ 243 h 486"/>
                <a:gd name="T22" fmla="*/ 9 w 1308"/>
                <a:gd name="T23" fmla="*/ 286 h 486"/>
                <a:gd name="T24" fmla="*/ 33 w 1308"/>
                <a:gd name="T25" fmla="*/ 324 h 486"/>
                <a:gd name="T26" fmla="*/ 76 w 1308"/>
                <a:gd name="T27" fmla="*/ 357 h 486"/>
                <a:gd name="T28" fmla="*/ 128 w 1308"/>
                <a:gd name="T29" fmla="*/ 391 h 486"/>
                <a:gd name="T30" fmla="*/ 195 w 1308"/>
                <a:gd name="T31" fmla="*/ 419 h 486"/>
                <a:gd name="T32" fmla="*/ 271 w 1308"/>
                <a:gd name="T33" fmla="*/ 443 h 486"/>
                <a:gd name="T34" fmla="*/ 357 w 1308"/>
                <a:gd name="T35" fmla="*/ 462 h 486"/>
                <a:gd name="T36" fmla="*/ 447 w 1308"/>
                <a:gd name="T37" fmla="*/ 476 h 486"/>
                <a:gd name="T38" fmla="*/ 552 w 1308"/>
                <a:gd name="T39" fmla="*/ 486 h 486"/>
                <a:gd name="T40" fmla="*/ 656 w 1308"/>
                <a:gd name="T41" fmla="*/ 486 h 486"/>
                <a:gd name="T42" fmla="*/ 761 w 1308"/>
                <a:gd name="T43" fmla="*/ 486 h 486"/>
                <a:gd name="T44" fmla="*/ 861 w 1308"/>
                <a:gd name="T45" fmla="*/ 476 h 486"/>
                <a:gd name="T46" fmla="*/ 956 w 1308"/>
                <a:gd name="T47" fmla="*/ 462 h 486"/>
                <a:gd name="T48" fmla="*/ 1042 w 1308"/>
                <a:gd name="T49" fmla="*/ 443 h 486"/>
                <a:gd name="T50" fmla="*/ 1118 w 1308"/>
                <a:gd name="T51" fmla="*/ 419 h 486"/>
                <a:gd name="T52" fmla="*/ 1184 w 1308"/>
                <a:gd name="T53" fmla="*/ 391 h 486"/>
                <a:gd name="T54" fmla="*/ 1237 w 1308"/>
                <a:gd name="T55" fmla="*/ 357 h 486"/>
                <a:gd name="T56" fmla="*/ 1275 w 1308"/>
                <a:gd name="T57" fmla="*/ 324 h 486"/>
                <a:gd name="T58" fmla="*/ 1303 w 1308"/>
                <a:gd name="T59" fmla="*/ 286 h 486"/>
                <a:gd name="T60" fmla="*/ 1308 w 1308"/>
                <a:gd name="T61" fmla="*/ 243 h 486"/>
                <a:gd name="T62" fmla="*/ 1303 w 1308"/>
                <a:gd name="T63" fmla="*/ 205 h 486"/>
                <a:gd name="T64" fmla="*/ 1275 w 1308"/>
                <a:gd name="T65" fmla="*/ 167 h 486"/>
                <a:gd name="T66" fmla="*/ 1237 w 1308"/>
                <a:gd name="T67" fmla="*/ 134 h 486"/>
                <a:gd name="T68" fmla="*/ 1184 w 1308"/>
                <a:gd name="T69" fmla="*/ 100 h 486"/>
                <a:gd name="T70" fmla="*/ 1118 w 1308"/>
                <a:gd name="T71" fmla="*/ 72 h 486"/>
                <a:gd name="T72" fmla="*/ 1042 w 1308"/>
                <a:gd name="T73" fmla="*/ 48 h 486"/>
                <a:gd name="T74" fmla="*/ 956 w 1308"/>
                <a:gd name="T75" fmla="*/ 29 h 486"/>
                <a:gd name="T76" fmla="*/ 861 w 1308"/>
                <a:gd name="T77" fmla="*/ 15 h 486"/>
                <a:gd name="T78" fmla="*/ 761 w 1308"/>
                <a:gd name="T79" fmla="*/ 5 h 486"/>
                <a:gd name="T80" fmla="*/ 656 w 1308"/>
                <a:gd name="T81" fmla="*/ 0 h 486"/>
                <a:gd name="T82" fmla="*/ 656 w 1308"/>
                <a:gd name="T83" fmla="*/ 0 h 48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308"/>
                <a:gd name="T127" fmla="*/ 0 h 486"/>
                <a:gd name="T128" fmla="*/ 1308 w 1308"/>
                <a:gd name="T129" fmla="*/ 486 h 48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308" h="486">
                  <a:moveTo>
                    <a:pt x="656" y="0"/>
                  </a:moveTo>
                  <a:lnTo>
                    <a:pt x="552" y="5"/>
                  </a:lnTo>
                  <a:lnTo>
                    <a:pt x="447" y="15"/>
                  </a:lnTo>
                  <a:lnTo>
                    <a:pt x="357" y="29"/>
                  </a:lnTo>
                  <a:lnTo>
                    <a:pt x="271" y="48"/>
                  </a:lnTo>
                  <a:lnTo>
                    <a:pt x="195" y="72"/>
                  </a:lnTo>
                  <a:lnTo>
                    <a:pt x="128" y="100"/>
                  </a:lnTo>
                  <a:lnTo>
                    <a:pt x="76" y="134"/>
                  </a:lnTo>
                  <a:lnTo>
                    <a:pt x="33" y="167"/>
                  </a:lnTo>
                  <a:lnTo>
                    <a:pt x="9" y="205"/>
                  </a:lnTo>
                  <a:lnTo>
                    <a:pt x="0" y="243"/>
                  </a:lnTo>
                  <a:lnTo>
                    <a:pt x="9" y="286"/>
                  </a:lnTo>
                  <a:lnTo>
                    <a:pt x="33" y="324"/>
                  </a:lnTo>
                  <a:lnTo>
                    <a:pt x="76" y="357"/>
                  </a:lnTo>
                  <a:lnTo>
                    <a:pt x="128" y="391"/>
                  </a:lnTo>
                  <a:lnTo>
                    <a:pt x="195" y="419"/>
                  </a:lnTo>
                  <a:lnTo>
                    <a:pt x="271" y="443"/>
                  </a:lnTo>
                  <a:lnTo>
                    <a:pt x="357" y="462"/>
                  </a:lnTo>
                  <a:lnTo>
                    <a:pt x="447" y="476"/>
                  </a:lnTo>
                  <a:lnTo>
                    <a:pt x="552" y="486"/>
                  </a:lnTo>
                  <a:lnTo>
                    <a:pt x="656" y="486"/>
                  </a:lnTo>
                  <a:lnTo>
                    <a:pt x="761" y="486"/>
                  </a:lnTo>
                  <a:lnTo>
                    <a:pt x="861" y="476"/>
                  </a:lnTo>
                  <a:lnTo>
                    <a:pt x="956" y="462"/>
                  </a:lnTo>
                  <a:lnTo>
                    <a:pt x="1042" y="443"/>
                  </a:lnTo>
                  <a:lnTo>
                    <a:pt x="1118" y="419"/>
                  </a:lnTo>
                  <a:lnTo>
                    <a:pt x="1184" y="391"/>
                  </a:lnTo>
                  <a:lnTo>
                    <a:pt x="1237" y="357"/>
                  </a:lnTo>
                  <a:lnTo>
                    <a:pt x="1275" y="324"/>
                  </a:lnTo>
                  <a:lnTo>
                    <a:pt x="1303" y="286"/>
                  </a:lnTo>
                  <a:lnTo>
                    <a:pt x="1308" y="243"/>
                  </a:lnTo>
                  <a:lnTo>
                    <a:pt x="1303" y="205"/>
                  </a:lnTo>
                  <a:lnTo>
                    <a:pt x="1275" y="167"/>
                  </a:lnTo>
                  <a:lnTo>
                    <a:pt x="1237" y="134"/>
                  </a:lnTo>
                  <a:lnTo>
                    <a:pt x="1184" y="100"/>
                  </a:lnTo>
                  <a:lnTo>
                    <a:pt x="1118" y="72"/>
                  </a:lnTo>
                  <a:lnTo>
                    <a:pt x="1042" y="48"/>
                  </a:lnTo>
                  <a:lnTo>
                    <a:pt x="956" y="29"/>
                  </a:lnTo>
                  <a:lnTo>
                    <a:pt x="861" y="15"/>
                  </a:lnTo>
                  <a:lnTo>
                    <a:pt x="761" y="5"/>
                  </a:lnTo>
                  <a:lnTo>
                    <a:pt x="656"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118" name="Freeform 15">
              <a:extLst>
                <a:ext uri="{FF2B5EF4-FFF2-40B4-BE49-F238E27FC236}">
                  <a16:creationId xmlns:a16="http://schemas.microsoft.com/office/drawing/2014/main" id="{8424FECA-7D41-4E96-1CCF-EC45BD6EABD5}"/>
                </a:ext>
              </a:extLst>
            </p:cNvPr>
            <p:cNvSpPr>
              <a:spLocks/>
            </p:cNvSpPr>
            <p:nvPr/>
          </p:nvSpPr>
          <p:spPr bwMode="auto">
            <a:xfrm>
              <a:off x="3604" y="1185"/>
              <a:ext cx="1308" cy="486"/>
            </a:xfrm>
            <a:custGeom>
              <a:avLst/>
              <a:gdLst>
                <a:gd name="T0" fmla="*/ 651 w 1308"/>
                <a:gd name="T1" fmla="*/ 0 h 486"/>
                <a:gd name="T2" fmla="*/ 547 w 1308"/>
                <a:gd name="T3" fmla="*/ 5 h 486"/>
                <a:gd name="T4" fmla="*/ 447 w 1308"/>
                <a:gd name="T5" fmla="*/ 15 h 486"/>
                <a:gd name="T6" fmla="*/ 352 w 1308"/>
                <a:gd name="T7" fmla="*/ 29 h 486"/>
                <a:gd name="T8" fmla="*/ 266 w 1308"/>
                <a:gd name="T9" fmla="*/ 48 h 486"/>
                <a:gd name="T10" fmla="*/ 190 w 1308"/>
                <a:gd name="T11" fmla="*/ 72 h 486"/>
                <a:gd name="T12" fmla="*/ 123 w 1308"/>
                <a:gd name="T13" fmla="*/ 100 h 486"/>
                <a:gd name="T14" fmla="*/ 71 w 1308"/>
                <a:gd name="T15" fmla="*/ 134 h 486"/>
                <a:gd name="T16" fmla="*/ 33 w 1308"/>
                <a:gd name="T17" fmla="*/ 167 h 486"/>
                <a:gd name="T18" fmla="*/ 9 w 1308"/>
                <a:gd name="T19" fmla="*/ 205 h 486"/>
                <a:gd name="T20" fmla="*/ 0 w 1308"/>
                <a:gd name="T21" fmla="*/ 243 h 486"/>
                <a:gd name="T22" fmla="*/ 9 w 1308"/>
                <a:gd name="T23" fmla="*/ 286 h 486"/>
                <a:gd name="T24" fmla="*/ 33 w 1308"/>
                <a:gd name="T25" fmla="*/ 324 h 486"/>
                <a:gd name="T26" fmla="*/ 71 w 1308"/>
                <a:gd name="T27" fmla="*/ 357 h 486"/>
                <a:gd name="T28" fmla="*/ 123 w 1308"/>
                <a:gd name="T29" fmla="*/ 391 h 486"/>
                <a:gd name="T30" fmla="*/ 190 w 1308"/>
                <a:gd name="T31" fmla="*/ 419 h 486"/>
                <a:gd name="T32" fmla="*/ 266 w 1308"/>
                <a:gd name="T33" fmla="*/ 443 h 486"/>
                <a:gd name="T34" fmla="*/ 352 w 1308"/>
                <a:gd name="T35" fmla="*/ 462 h 486"/>
                <a:gd name="T36" fmla="*/ 447 w 1308"/>
                <a:gd name="T37" fmla="*/ 476 h 486"/>
                <a:gd name="T38" fmla="*/ 547 w 1308"/>
                <a:gd name="T39" fmla="*/ 486 h 486"/>
                <a:gd name="T40" fmla="*/ 651 w 1308"/>
                <a:gd name="T41" fmla="*/ 486 h 486"/>
                <a:gd name="T42" fmla="*/ 761 w 1308"/>
                <a:gd name="T43" fmla="*/ 486 h 486"/>
                <a:gd name="T44" fmla="*/ 861 w 1308"/>
                <a:gd name="T45" fmla="*/ 476 h 486"/>
                <a:gd name="T46" fmla="*/ 956 w 1308"/>
                <a:gd name="T47" fmla="*/ 462 h 486"/>
                <a:gd name="T48" fmla="*/ 1042 w 1308"/>
                <a:gd name="T49" fmla="*/ 443 h 486"/>
                <a:gd name="T50" fmla="*/ 1118 w 1308"/>
                <a:gd name="T51" fmla="*/ 419 h 486"/>
                <a:gd name="T52" fmla="*/ 1180 w 1308"/>
                <a:gd name="T53" fmla="*/ 391 h 486"/>
                <a:gd name="T54" fmla="*/ 1237 w 1308"/>
                <a:gd name="T55" fmla="*/ 357 h 486"/>
                <a:gd name="T56" fmla="*/ 1275 w 1308"/>
                <a:gd name="T57" fmla="*/ 324 h 486"/>
                <a:gd name="T58" fmla="*/ 1298 w 1308"/>
                <a:gd name="T59" fmla="*/ 286 h 486"/>
                <a:gd name="T60" fmla="*/ 1308 w 1308"/>
                <a:gd name="T61" fmla="*/ 243 h 486"/>
                <a:gd name="T62" fmla="*/ 1298 w 1308"/>
                <a:gd name="T63" fmla="*/ 205 h 486"/>
                <a:gd name="T64" fmla="*/ 1275 w 1308"/>
                <a:gd name="T65" fmla="*/ 167 h 486"/>
                <a:gd name="T66" fmla="*/ 1237 w 1308"/>
                <a:gd name="T67" fmla="*/ 134 h 486"/>
                <a:gd name="T68" fmla="*/ 1180 w 1308"/>
                <a:gd name="T69" fmla="*/ 100 h 486"/>
                <a:gd name="T70" fmla="*/ 1118 w 1308"/>
                <a:gd name="T71" fmla="*/ 72 h 486"/>
                <a:gd name="T72" fmla="*/ 1042 w 1308"/>
                <a:gd name="T73" fmla="*/ 48 h 486"/>
                <a:gd name="T74" fmla="*/ 956 w 1308"/>
                <a:gd name="T75" fmla="*/ 29 h 486"/>
                <a:gd name="T76" fmla="*/ 861 w 1308"/>
                <a:gd name="T77" fmla="*/ 15 h 486"/>
                <a:gd name="T78" fmla="*/ 761 w 1308"/>
                <a:gd name="T79" fmla="*/ 5 h 486"/>
                <a:gd name="T80" fmla="*/ 651 w 1308"/>
                <a:gd name="T81" fmla="*/ 0 h 486"/>
                <a:gd name="T82" fmla="*/ 651 w 1308"/>
                <a:gd name="T83" fmla="*/ 0 h 48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308"/>
                <a:gd name="T127" fmla="*/ 0 h 486"/>
                <a:gd name="T128" fmla="*/ 1308 w 1308"/>
                <a:gd name="T129" fmla="*/ 486 h 48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308" h="486">
                  <a:moveTo>
                    <a:pt x="651" y="0"/>
                  </a:moveTo>
                  <a:lnTo>
                    <a:pt x="547" y="5"/>
                  </a:lnTo>
                  <a:lnTo>
                    <a:pt x="447" y="15"/>
                  </a:lnTo>
                  <a:lnTo>
                    <a:pt x="352" y="29"/>
                  </a:lnTo>
                  <a:lnTo>
                    <a:pt x="266" y="48"/>
                  </a:lnTo>
                  <a:lnTo>
                    <a:pt x="190" y="72"/>
                  </a:lnTo>
                  <a:lnTo>
                    <a:pt x="123" y="100"/>
                  </a:lnTo>
                  <a:lnTo>
                    <a:pt x="71" y="134"/>
                  </a:lnTo>
                  <a:lnTo>
                    <a:pt x="33" y="167"/>
                  </a:lnTo>
                  <a:lnTo>
                    <a:pt x="9" y="205"/>
                  </a:lnTo>
                  <a:lnTo>
                    <a:pt x="0" y="243"/>
                  </a:lnTo>
                  <a:lnTo>
                    <a:pt x="9" y="286"/>
                  </a:lnTo>
                  <a:lnTo>
                    <a:pt x="33" y="324"/>
                  </a:lnTo>
                  <a:lnTo>
                    <a:pt x="71" y="357"/>
                  </a:lnTo>
                  <a:lnTo>
                    <a:pt x="123" y="391"/>
                  </a:lnTo>
                  <a:lnTo>
                    <a:pt x="190" y="419"/>
                  </a:lnTo>
                  <a:lnTo>
                    <a:pt x="266" y="443"/>
                  </a:lnTo>
                  <a:lnTo>
                    <a:pt x="352" y="462"/>
                  </a:lnTo>
                  <a:lnTo>
                    <a:pt x="447" y="476"/>
                  </a:lnTo>
                  <a:lnTo>
                    <a:pt x="547" y="486"/>
                  </a:lnTo>
                  <a:lnTo>
                    <a:pt x="651" y="486"/>
                  </a:lnTo>
                  <a:lnTo>
                    <a:pt x="761" y="486"/>
                  </a:lnTo>
                  <a:lnTo>
                    <a:pt x="861" y="476"/>
                  </a:lnTo>
                  <a:lnTo>
                    <a:pt x="956" y="462"/>
                  </a:lnTo>
                  <a:lnTo>
                    <a:pt x="1042" y="443"/>
                  </a:lnTo>
                  <a:lnTo>
                    <a:pt x="1118" y="419"/>
                  </a:lnTo>
                  <a:lnTo>
                    <a:pt x="1180" y="391"/>
                  </a:lnTo>
                  <a:lnTo>
                    <a:pt x="1237" y="357"/>
                  </a:lnTo>
                  <a:lnTo>
                    <a:pt x="1275" y="324"/>
                  </a:lnTo>
                  <a:lnTo>
                    <a:pt x="1298" y="286"/>
                  </a:lnTo>
                  <a:lnTo>
                    <a:pt x="1308" y="243"/>
                  </a:lnTo>
                  <a:lnTo>
                    <a:pt x="1298" y="205"/>
                  </a:lnTo>
                  <a:lnTo>
                    <a:pt x="1275" y="167"/>
                  </a:lnTo>
                  <a:lnTo>
                    <a:pt x="1237" y="134"/>
                  </a:lnTo>
                  <a:lnTo>
                    <a:pt x="1180" y="100"/>
                  </a:lnTo>
                  <a:lnTo>
                    <a:pt x="1118" y="72"/>
                  </a:lnTo>
                  <a:lnTo>
                    <a:pt x="1042" y="48"/>
                  </a:lnTo>
                  <a:lnTo>
                    <a:pt x="956" y="29"/>
                  </a:lnTo>
                  <a:lnTo>
                    <a:pt x="861" y="15"/>
                  </a:lnTo>
                  <a:lnTo>
                    <a:pt x="761" y="5"/>
                  </a:lnTo>
                  <a:lnTo>
                    <a:pt x="651"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119" name="Line 16">
              <a:extLst>
                <a:ext uri="{FF2B5EF4-FFF2-40B4-BE49-F238E27FC236}">
                  <a16:creationId xmlns:a16="http://schemas.microsoft.com/office/drawing/2014/main" id="{CAB3B83B-03DD-D43F-04F9-34C198AF3AC4}"/>
                </a:ext>
              </a:extLst>
            </p:cNvPr>
            <p:cNvSpPr>
              <a:spLocks noChangeShapeType="1"/>
            </p:cNvSpPr>
            <p:nvPr/>
          </p:nvSpPr>
          <p:spPr bwMode="auto">
            <a:xfrm flipH="1">
              <a:off x="1440" y="859"/>
              <a:ext cx="0" cy="24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20" name="Freeform 17">
              <a:extLst>
                <a:ext uri="{FF2B5EF4-FFF2-40B4-BE49-F238E27FC236}">
                  <a16:creationId xmlns:a16="http://schemas.microsoft.com/office/drawing/2014/main" id="{FCCF0005-CB94-7147-1A71-F23056EBB166}"/>
                </a:ext>
              </a:extLst>
            </p:cNvPr>
            <p:cNvSpPr>
              <a:spLocks/>
            </p:cNvSpPr>
            <p:nvPr/>
          </p:nvSpPr>
          <p:spPr bwMode="auto">
            <a:xfrm>
              <a:off x="1396" y="1076"/>
              <a:ext cx="62" cy="109"/>
            </a:xfrm>
            <a:custGeom>
              <a:avLst/>
              <a:gdLst>
                <a:gd name="T0" fmla="*/ 0 w 62"/>
                <a:gd name="T1" fmla="*/ 0 h 109"/>
                <a:gd name="T2" fmla="*/ 33 w 62"/>
                <a:gd name="T3" fmla="*/ 109 h 109"/>
                <a:gd name="T4" fmla="*/ 62 w 62"/>
                <a:gd name="T5" fmla="*/ 5 h 109"/>
                <a:gd name="T6" fmla="*/ 5 w 62"/>
                <a:gd name="T7" fmla="*/ 5 h 109"/>
                <a:gd name="T8" fmla="*/ 5 w 62"/>
                <a:gd name="T9" fmla="*/ 5 h 109"/>
                <a:gd name="T10" fmla="*/ 0 w 62"/>
                <a:gd name="T11" fmla="*/ 0 h 109"/>
                <a:gd name="T12" fmla="*/ 0 60000 65536"/>
                <a:gd name="T13" fmla="*/ 0 60000 65536"/>
                <a:gd name="T14" fmla="*/ 0 60000 65536"/>
                <a:gd name="T15" fmla="*/ 0 60000 65536"/>
                <a:gd name="T16" fmla="*/ 0 60000 65536"/>
                <a:gd name="T17" fmla="*/ 0 60000 65536"/>
                <a:gd name="T18" fmla="*/ 0 w 62"/>
                <a:gd name="T19" fmla="*/ 0 h 109"/>
                <a:gd name="T20" fmla="*/ 62 w 62"/>
                <a:gd name="T21" fmla="*/ 109 h 109"/>
              </a:gdLst>
              <a:ahLst/>
              <a:cxnLst>
                <a:cxn ang="T12">
                  <a:pos x="T0" y="T1"/>
                </a:cxn>
                <a:cxn ang="T13">
                  <a:pos x="T2" y="T3"/>
                </a:cxn>
                <a:cxn ang="T14">
                  <a:pos x="T4" y="T5"/>
                </a:cxn>
                <a:cxn ang="T15">
                  <a:pos x="T6" y="T7"/>
                </a:cxn>
                <a:cxn ang="T16">
                  <a:pos x="T8" y="T9"/>
                </a:cxn>
                <a:cxn ang="T17">
                  <a:pos x="T10" y="T11"/>
                </a:cxn>
              </a:cxnLst>
              <a:rect l="T18" t="T19" r="T20" b="T21"/>
              <a:pathLst>
                <a:path w="62" h="109">
                  <a:moveTo>
                    <a:pt x="0" y="0"/>
                  </a:moveTo>
                  <a:lnTo>
                    <a:pt x="33" y="109"/>
                  </a:lnTo>
                  <a:lnTo>
                    <a:pt x="62" y="5"/>
                  </a:lnTo>
                  <a:lnTo>
                    <a:pt x="5" y="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1" name="Line 18">
              <a:extLst>
                <a:ext uri="{FF2B5EF4-FFF2-40B4-BE49-F238E27FC236}">
                  <a16:creationId xmlns:a16="http://schemas.microsoft.com/office/drawing/2014/main" id="{DDB28AFA-46C4-3D90-BB24-65BBCC545E87}"/>
                </a:ext>
              </a:extLst>
            </p:cNvPr>
            <p:cNvSpPr>
              <a:spLocks noChangeShapeType="1"/>
            </p:cNvSpPr>
            <p:nvPr/>
          </p:nvSpPr>
          <p:spPr bwMode="auto">
            <a:xfrm flipV="1">
              <a:off x="4255" y="967"/>
              <a:ext cx="1" cy="209"/>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22" name="Freeform 19">
              <a:extLst>
                <a:ext uri="{FF2B5EF4-FFF2-40B4-BE49-F238E27FC236}">
                  <a16:creationId xmlns:a16="http://schemas.microsoft.com/office/drawing/2014/main" id="{C9110A9F-B03F-14FE-019A-FAD31A019175}"/>
                </a:ext>
              </a:extLst>
            </p:cNvPr>
            <p:cNvSpPr>
              <a:spLocks/>
            </p:cNvSpPr>
            <p:nvPr/>
          </p:nvSpPr>
          <p:spPr bwMode="auto">
            <a:xfrm>
              <a:off x="4227" y="881"/>
              <a:ext cx="57" cy="105"/>
            </a:xfrm>
            <a:custGeom>
              <a:avLst/>
              <a:gdLst>
                <a:gd name="T0" fmla="*/ 57 w 57"/>
                <a:gd name="T1" fmla="*/ 105 h 105"/>
                <a:gd name="T2" fmla="*/ 28 w 57"/>
                <a:gd name="T3" fmla="*/ 0 h 105"/>
                <a:gd name="T4" fmla="*/ 0 w 57"/>
                <a:gd name="T5" fmla="*/ 105 h 105"/>
                <a:gd name="T6" fmla="*/ 57 w 57"/>
                <a:gd name="T7" fmla="*/ 105 h 105"/>
                <a:gd name="T8" fmla="*/ 57 w 57"/>
                <a:gd name="T9" fmla="*/ 105 h 105"/>
                <a:gd name="T10" fmla="*/ 0 60000 65536"/>
                <a:gd name="T11" fmla="*/ 0 60000 65536"/>
                <a:gd name="T12" fmla="*/ 0 60000 65536"/>
                <a:gd name="T13" fmla="*/ 0 60000 65536"/>
                <a:gd name="T14" fmla="*/ 0 60000 65536"/>
                <a:gd name="T15" fmla="*/ 0 w 57"/>
                <a:gd name="T16" fmla="*/ 0 h 105"/>
                <a:gd name="T17" fmla="*/ 57 w 57"/>
                <a:gd name="T18" fmla="*/ 105 h 105"/>
              </a:gdLst>
              <a:ahLst/>
              <a:cxnLst>
                <a:cxn ang="T10">
                  <a:pos x="T0" y="T1"/>
                </a:cxn>
                <a:cxn ang="T11">
                  <a:pos x="T2" y="T3"/>
                </a:cxn>
                <a:cxn ang="T12">
                  <a:pos x="T4" y="T5"/>
                </a:cxn>
                <a:cxn ang="T13">
                  <a:pos x="T6" y="T7"/>
                </a:cxn>
                <a:cxn ang="T14">
                  <a:pos x="T8" y="T9"/>
                </a:cxn>
              </a:cxnLst>
              <a:rect l="T15" t="T16" r="T17" b="T18"/>
              <a:pathLst>
                <a:path w="57" h="105">
                  <a:moveTo>
                    <a:pt x="57" y="105"/>
                  </a:moveTo>
                  <a:lnTo>
                    <a:pt x="28" y="0"/>
                  </a:lnTo>
                  <a:lnTo>
                    <a:pt x="0" y="105"/>
                  </a:lnTo>
                  <a:lnTo>
                    <a:pt x="57" y="10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3" name="Freeform 20">
              <a:extLst>
                <a:ext uri="{FF2B5EF4-FFF2-40B4-BE49-F238E27FC236}">
                  <a16:creationId xmlns:a16="http://schemas.microsoft.com/office/drawing/2014/main" id="{3EC57615-B93C-11EC-0EA4-0D4B4C8B9831}"/>
                </a:ext>
              </a:extLst>
            </p:cNvPr>
            <p:cNvSpPr>
              <a:spLocks/>
            </p:cNvSpPr>
            <p:nvPr/>
          </p:nvSpPr>
          <p:spPr bwMode="auto">
            <a:xfrm>
              <a:off x="1425" y="1671"/>
              <a:ext cx="2830" cy="223"/>
            </a:xfrm>
            <a:custGeom>
              <a:avLst/>
              <a:gdLst>
                <a:gd name="T0" fmla="*/ 0 w 2830"/>
                <a:gd name="T1" fmla="*/ 0 h 223"/>
                <a:gd name="T2" fmla="*/ 4 w 2830"/>
                <a:gd name="T3" fmla="*/ 223 h 223"/>
                <a:gd name="T4" fmla="*/ 2830 w 2830"/>
                <a:gd name="T5" fmla="*/ 223 h 223"/>
                <a:gd name="T6" fmla="*/ 2830 w 2830"/>
                <a:gd name="T7" fmla="*/ 109 h 223"/>
                <a:gd name="T8" fmla="*/ 0 60000 65536"/>
                <a:gd name="T9" fmla="*/ 0 60000 65536"/>
                <a:gd name="T10" fmla="*/ 0 60000 65536"/>
                <a:gd name="T11" fmla="*/ 0 60000 65536"/>
                <a:gd name="T12" fmla="*/ 0 w 2830"/>
                <a:gd name="T13" fmla="*/ 0 h 223"/>
                <a:gd name="T14" fmla="*/ 2830 w 2830"/>
                <a:gd name="T15" fmla="*/ 223 h 223"/>
              </a:gdLst>
              <a:ahLst/>
              <a:cxnLst>
                <a:cxn ang="T8">
                  <a:pos x="T0" y="T1"/>
                </a:cxn>
                <a:cxn ang="T9">
                  <a:pos x="T2" y="T3"/>
                </a:cxn>
                <a:cxn ang="T10">
                  <a:pos x="T4" y="T5"/>
                </a:cxn>
                <a:cxn ang="T11">
                  <a:pos x="T6" y="T7"/>
                </a:cxn>
              </a:cxnLst>
              <a:rect l="T12" t="T13" r="T14" b="T15"/>
              <a:pathLst>
                <a:path w="2830" h="223">
                  <a:moveTo>
                    <a:pt x="0" y="0"/>
                  </a:moveTo>
                  <a:lnTo>
                    <a:pt x="4" y="223"/>
                  </a:lnTo>
                  <a:lnTo>
                    <a:pt x="2830" y="223"/>
                  </a:lnTo>
                  <a:lnTo>
                    <a:pt x="2830" y="109"/>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124" name="Freeform 21">
              <a:extLst>
                <a:ext uri="{FF2B5EF4-FFF2-40B4-BE49-F238E27FC236}">
                  <a16:creationId xmlns:a16="http://schemas.microsoft.com/office/drawing/2014/main" id="{A8F917DC-935F-126A-CF4F-1D77DFA78927}"/>
                </a:ext>
              </a:extLst>
            </p:cNvPr>
            <p:cNvSpPr>
              <a:spLocks/>
            </p:cNvSpPr>
            <p:nvPr/>
          </p:nvSpPr>
          <p:spPr bwMode="auto">
            <a:xfrm>
              <a:off x="4227" y="1675"/>
              <a:ext cx="57" cy="110"/>
            </a:xfrm>
            <a:custGeom>
              <a:avLst/>
              <a:gdLst>
                <a:gd name="T0" fmla="*/ 57 w 57"/>
                <a:gd name="T1" fmla="*/ 105 h 110"/>
                <a:gd name="T2" fmla="*/ 28 w 57"/>
                <a:gd name="T3" fmla="*/ 0 h 110"/>
                <a:gd name="T4" fmla="*/ 0 w 57"/>
                <a:gd name="T5" fmla="*/ 110 h 110"/>
                <a:gd name="T6" fmla="*/ 57 w 57"/>
                <a:gd name="T7" fmla="*/ 110 h 110"/>
                <a:gd name="T8" fmla="*/ 57 w 57"/>
                <a:gd name="T9" fmla="*/ 110 h 110"/>
                <a:gd name="T10" fmla="*/ 57 w 57"/>
                <a:gd name="T11" fmla="*/ 105 h 110"/>
                <a:gd name="T12" fmla="*/ 0 60000 65536"/>
                <a:gd name="T13" fmla="*/ 0 60000 65536"/>
                <a:gd name="T14" fmla="*/ 0 60000 65536"/>
                <a:gd name="T15" fmla="*/ 0 60000 65536"/>
                <a:gd name="T16" fmla="*/ 0 60000 65536"/>
                <a:gd name="T17" fmla="*/ 0 60000 65536"/>
                <a:gd name="T18" fmla="*/ 0 w 57"/>
                <a:gd name="T19" fmla="*/ 0 h 110"/>
                <a:gd name="T20" fmla="*/ 57 w 57"/>
                <a:gd name="T21" fmla="*/ 110 h 110"/>
              </a:gdLst>
              <a:ahLst/>
              <a:cxnLst>
                <a:cxn ang="T12">
                  <a:pos x="T0" y="T1"/>
                </a:cxn>
                <a:cxn ang="T13">
                  <a:pos x="T2" y="T3"/>
                </a:cxn>
                <a:cxn ang="T14">
                  <a:pos x="T4" y="T5"/>
                </a:cxn>
                <a:cxn ang="T15">
                  <a:pos x="T6" y="T7"/>
                </a:cxn>
                <a:cxn ang="T16">
                  <a:pos x="T8" y="T9"/>
                </a:cxn>
                <a:cxn ang="T17">
                  <a:pos x="T10" y="T11"/>
                </a:cxn>
              </a:cxnLst>
              <a:rect l="T18" t="T19" r="T20" b="T21"/>
              <a:pathLst>
                <a:path w="57" h="110">
                  <a:moveTo>
                    <a:pt x="57" y="105"/>
                  </a:moveTo>
                  <a:lnTo>
                    <a:pt x="28" y="0"/>
                  </a:lnTo>
                  <a:lnTo>
                    <a:pt x="0" y="110"/>
                  </a:lnTo>
                  <a:lnTo>
                    <a:pt x="57" y="110"/>
                  </a:lnTo>
                  <a:lnTo>
                    <a:pt x="57" y="10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pic>
        <p:nvPicPr>
          <p:cNvPr id="4103" name="Picture 172" descr="C:\Users\agember\AppData\Local\Microsoft\Windows\Temporary Internet Files\Content.IE5\TY9XCEY2\MC900432599[1].png">
            <a:extLst>
              <a:ext uri="{FF2B5EF4-FFF2-40B4-BE49-F238E27FC236}">
                <a16:creationId xmlns:a16="http://schemas.microsoft.com/office/drawing/2014/main" id="{194E4E81-0CFD-1282-236E-F51C9EC9A2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200" y="1219200"/>
            <a:ext cx="12192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4" name="Picture 172" descr="C:\Users\agember\AppData\Local\Microsoft\Windows\Temporary Internet Files\Content.IE5\TY9XCEY2\MC900432599[1].png">
            <a:extLst>
              <a:ext uri="{FF2B5EF4-FFF2-40B4-BE49-F238E27FC236}">
                <a16:creationId xmlns:a16="http://schemas.microsoft.com/office/drawing/2014/main" id="{FC1A9420-D990-3942-737B-025CFF8430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4400" y="1143000"/>
            <a:ext cx="12192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5" name="Picture 22" descr="C:\Users\agember\AppData\Local\Microsoft\Windows\Temporary Internet Files\Content.IE5\4A6BAF6Z\MC900238179[1].wmf">
            <a:extLst>
              <a:ext uri="{FF2B5EF4-FFF2-40B4-BE49-F238E27FC236}">
                <a16:creationId xmlns:a16="http://schemas.microsoft.com/office/drawing/2014/main" id="{7305E08A-CFDE-3A13-10B0-73FF11A175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6703219" y="2467769"/>
            <a:ext cx="12207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6" name="Picture 174" descr="C:\Users\agember\AppData\Local\Microsoft\Windows\Temporary Internet Files\Content.IE5\6PLB7JPJ\MC900441313[1].png">
            <a:extLst>
              <a:ext uri="{FF2B5EF4-FFF2-40B4-BE49-F238E27FC236}">
                <a16:creationId xmlns:a16="http://schemas.microsoft.com/office/drawing/2014/main" id="{EFB6B381-4533-9832-C1D4-125FCAA92F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2895600"/>
            <a:ext cx="1066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7" name="Picture 23" descr="C:\Users\agember\AppData\Local\Microsoft\Windows\Temporary Internet Files\Content.IE5\L9GE7RXR\MC900238171[1].wmf">
            <a:extLst>
              <a:ext uri="{FF2B5EF4-FFF2-40B4-BE49-F238E27FC236}">
                <a16:creationId xmlns:a16="http://schemas.microsoft.com/office/drawing/2014/main" id="{060D335D-D777-12FA-BA47-5ED3CEC22B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5400000">
            <a:off x="2628107" y="2477294"/>
            <a:ext cx="1295400" cy="91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753A5-6DDA-66DE-8955-DDD673787271}"/>
            </a:ext>
          </a:extLst>
        </p:cNvPr>
        <p:cNvGrpSpPr/>
        <p:nvPr/>
      </p:nvGrpSpPr>
      <p:grpSpPr>
        <a:xfrm>
          <a:off x="0" y="0"/>
          <a:ext cx="0" cy="0"/>
          <a:chOff x="0" y="0"/>
          <a:chExt cx="0" cy="0"/>
        </a:xfrm>
      </p:grpSpPr>
      <p:sp>
        <p:nvSpPr>
          <p:cNvPr id="4100" name="Rectangle 2">
            <a:extLst>
              <a:ext uri="{FF2B5EF4-FFF2-40B4-BE49-F238E27FC236}">
                <a16:creationId xmlns:a16="http://schemas.microsoft.com/office/drawing/2014/main" id="{7E6DCB23-0D9B-4FC5-4740-1E91CBAFCB57}"/>
              </a:ext>
            </a:extLst>
          </p:cNvPr>
          <p:cNvSpPr>
            <a:spLocks noGrp="1" noChangeArrowheads="1"/>
          </p:cNvSpPr>
          <p:nvPr>
            <p:ph type="title"/>
          </p:nvPr>
        </p:nvSpPr>
        <p:spPr>
          <a:xfrm>
            <a:off x="838200" y="365125"/>
            <a:ext cx="10515600" cy="1325563"/>
          </a:xfrm>
        </p:spPr>
        <p:txBody>
          <a:bodyPr anchor="ctr">
            <a:normAutofit/>
          </a:bodyPr>
          <a:lstStyle/>
          <a:p>
            <a:r>
              <a:rPr lang="en-US" altLang="en-US" dirty="0"/>
              <a:t>Recall: Daffie-Hellman Key Exchange</a:t>
            </a:r>
          </a:p>
        </p:txBody>
      </p:sp>
      <p:sp>
        <p:nvSpPr>
          <p:cNvPr id="4101" name="Rectangle 3">
            <a:extLst>
              <a:ext uri="{FF2B5EF4-FFF2-40B4-BE49-F238E27FC236}">
                <a16:creationId xmlns:a16="http://schemas.microsoft.com/office/drawing/2014/main" id="{14BCD43B-EDC4-8CE3-0E59-0F695DE26481}"/>
              </a:ext>
            </a:extLst>
          </p:cNvPr>
          <p:cNvSpPr>
            <a:spLocks noGrp="1" noChangeArrowheads="1"/>
          </p:cNvSpPr>
          <p:nvPr>
            <p:ph sz="half" idx="1"/>
          </p:nvPr>
        </p:nvSpPr>
        <p:spPr>
          <a:xfrm>
            <a:off x="838200" y="1825625"/>
            <a:ext cx="5181600" cy="4351338"/>
          </a:xfrm>
        </p:spPr>
        <p:txBody>
          <a:bodyPr>
            <a:normAutofit/>
          </a:bodyPr>
          <a:lstStyle/>
          <a:p>
            <a:r>
              <a:rPr lang="en-US" dirty="0"/>
              <a:t>The Diffie–Hellman key exchange method allows two parties that have no prior knowledge of each other to jointly establish a </a:t>
            </a:r>
            <a:r>
              <a:rPr lang="en-US" dirty="0">
                <a:hlinkClick r:id="rId2" tooltip="Shared secret"/>
              </a:rPr>
              <a:t>shared secret</a:t>
            </a:r>
            <a:r>
              <a:rPr lang="en-US" dirty="0"/>
              <a:t> key over an </a:t>
            </a:r>
            <a:r>
              <a:rPr lang="en-US" dirty="0">
                <a:hlinkClick r:id="rId3" tooltip="Insecure channel"/>
              </a:rPr>
              <a:t>insecure channel</a:t>
            </a:r>
            <a:r>
              <a:rPr lang="en-US" dirty="0"/>
              <a:t>.</a:t>
            </a:r>
            <a:endParaRPr lang="en-US" altLang="en-US" dirty="0"/>
          </a:p>
        </p:txBody>
      </p:sp>
      <p:pic>
        <p:nvPicPr>
          <p:cNvPr id="6146" name="Picture 2">
            <a:extLst>
              <a:ext uri="{FF2B5EF4-FFF2-40B4-BE49-F238E27FC236}">
                <a16:creationId xmlns:a16="http://schemas.microsoft.com/office/drawing/2014/main" id="{52D97F09-CD9A-0AEA-B816-2D1938F335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4300"/>
          <a:stretch>
            <a:fillRect/>
          </a:stretch>
        </p:blipFill>
        <p:spPr bwMode="auto">
          <a:xfrm>
            <a:off x="6172200" y="1825625"/>
            <a:ext cx="5181600" cy="4351338"/>
          </a:xfrm>
          <a:prstGeom prst="rect">
            <a:avLst/>
          </a:prstGeom>
          <a:solidFill>
            <a:srgbClr val="FFFFFF"/>
          </a:solidFill>
        </p:spPr>
      </p:pic>
      <p:sp>
        <p:nvSpPr>
          <p:cNvPr id="4099" name="Slide Number Placeholder 4" hidden="1">
            <a:extLst>
              <a:ext uri="{FF2B5EF4-FFF2-40B4-BE49-F238E27FC236}">
                <a16:creationId xmlns:a16="http://schemas.microsoft.com/office/drawing/2014/main" id="{132CA378-96D9-E06B-AF4B-B0CC1BA4347C}"/>
              </a:ext>
            </a:extLst>
          </p:cNvPr>
          <p:cNvSpPr>
            <a:spLocks noGrp="1"/>
          </p:cNvSpPr>
          <p:nvPr>
            <p:ph type="sldNum" sz="quarter" idx="12"/>
          </p:nvPr>
        </p:nvSpPr>
        <p:spPr>
          <a:xfrm>
            <a:off x="4648200" y="6248400"/>
            <a:ext cx="2895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algn="ctr">
              <a:spcAft>
                <a:spcPts val="600"/>
              </a:spcAft>
            </a:pPr>
            <a:fld id="{70233382-E28E-3B48-900F-BB88F7742160}" type="slidenum">
              <a:rPr lang="en-US" altLang="en-US" sz="1400"/>
              <a:pPr algn="ctr">
                <a:spcAft>
                  <a:spcPts val="600"/>
                </a:spcAft>
              </a:pPr>
              <a:t>58</a:t>
            </a:fld>
            <a:endParaRPr lang="en-US" altLang="en-US" sz="1400"/>
          </a:p>
        </p:txBody>
      </p:sp>
    </p:spTree>
    <p:extLst>
      <p:ext uri="{BB962C8B-B14F-4D97-AF65-F5344CB8AC3E}">
        <p14:creationId xmlns:p14="http://schemas.microsoft.com/office/powerpoint/2010/main" val="145882691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Slide Number Placeholder 4">
            <a:extLst>
              <a:ext uri="{FF2B5EF4-FFF2-40B4-BE49-F238E27FC236}">
                <a16:creationId xmlns:a16="http://schemas.microsoft.com/office/drawing/2014/main" id="{98B06BEA-D512-8187-69B9-AD5F35779787}"/>
              </a:ext>
            </a:extLst>
          </p:cNvPr>
          <p:cNvSpPr>
            <a:spLocks noGrp="1"/>
          </p:cNvSpPr>
          <p:nvPr>
            <p:ph type="sldNum" sz="quarter" idx="12"/>
          </p:nvPr>
        </p:nvSpPr>
        <p:spPr>
          <a:xfrm>
            <a:off x="4648200" y="6248400"/>
            <a:ext cx="2895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algn="ctr"/>
            <a:fld id="{7B081C78-6067-EB4C-A65B-9A7E9588763E}" type="slidenum">
              <a:rPr lang="en-US" altLang="en-US" sz="1400"/>
              <a:pPr algn="ctr"/>
              <a:t>59</a:t>
            </a:fld>
            <a:endParaRPr lang="en-US" altLang="en-US" sz="1400"/>
          </a:p>
        </p:txBody>
      </p:sp>
      <p:sp>
        <p:nvSpPr>
          <p:cNvPr id="17412" name="Rectangle 3">
            <a:extLst>
              <a:ext uri="{FF2B5EF4-FFF2-40B4-BE49-F238E27FC236}">
                <a16:creationId xmlns:a16="http://schemas.microsoft.com/office/drawing/2014/main" id="{C4D61EFE-C4BD-D4D6-207E-EF11C2CD9736}"/>
              </a:ext>
            </a:extLst>
          </p:cNvPr>
          <p:cNvSpPr>
            <a:spLocks noGrp="1" noChangeArrowheads="1"/>
          </p:cNvSpPr>
          <p:nvPr>
            <p:ph type="body" idx="1"/>
          </p:nvPr>
        </p:nvSpPr>
        <p:spPr>
          <a:xfrm>
            <a:off x="2209800" y="685800"/>
            <a:ext cx="7772400" cy="609600"/>
          </a:xfrm>
        </p:spPr>
        <p:txBody>
          <a:bodyPr>
            <a:normAutofit lnSpcReduction="10000"/>
          </a:bodyPr>
          <a:lstStyle/>
          <a:p>
            <a:pPr algn="ctr">
              <a:buFontTx/>
              <a:buNone/>
              <a:defRPr/>
            </a:pPr>
            <a:r>
              <a:rPr lang="en-US" sz="4000" dirty="0">
                <a:solidFill>
                  <a:srgbClr val="3333CC"/>
                </a:solidFill>
                <a:latin typeface="+mj-lt"/>
                <a:ea typeface="+mj-ea"/>
                <a:cs typeface="+mj-cs"/>
              </a:rPr>
              <a:t>Recall: Public key authentication</a:t>
            </a:r>
          </a:p>
        </p:txBody>
      </p:sp>
      <p:pic>
        <p:nvPicPr>
          <p:cNvPr id="5125" name="Picture 4" descr="PE08F11">
            <a:extLst>
              <a:ext uri="{FF2B5EF4-FFF2-40B4-BE49-F238E27FC236}">
                <a16:creationId xmlns:a16="http://schemas.microsoft.com/office/drawing/2014/main" id="{C78B0F9D-65EC-5C56-DD56-1A926ECEDA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200" y="1828800"/>
            <a:ext cx="2806700" cy="3436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6" name="Text Box 5">
            <a:extLst>
              <a:ext uri="{FF2B5EF4-FFF2-40B4-BE49-F238E27FC236}">
                <a16:creationId xmlns:a16="http://schemas.microsoft.com/office/drawing/2014/main" id="{337DBCD5-9121-15E7-6B1C-3325E6906EEA}"/>
              </a:ext>
            </a:extLst>
          </p:cNvPr>
          <p:cNvSpPr txBox="1">
            <a:spLocks noChangeArrowheads="1"/>
          </p:cNvSpPr>
          <p:nvPr/>
        </p:nvSpPr>
        <p:spPr bwMode="auto">
          <a:xfrm>
            <a:off x="2730500" y="3810001"/>
            <a:ext cx="2070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r>
              <a:rPr lang="en-US" altLang="en-US" sz="1800"/>
              <a:t>B authenticated to A</a:t>
            </a:r>
          </a:p>
        </p:txBody>
      </p:sp>
      <p:sp>
        <p:nvSpPr>
          <p:cNvPr id="5127" name="TextBox 6">
            <a:extLst>
              <a:ext uri="{FF2B5EF4-FFF2-40B4-BE49-F238E27FC236}">
                <a16:creationId xmlns:a16="http://schemas.microsoft.com/office/drawing/2014/main" id="{0E707F11-0BBA-3519-F04E-C527662C4BC6}"/>
              </a:ext>
            </a:extLst>
          </p:cNvPr>
          <p:cNvSpPr txBox="1">
            <a:spLocks noChangeArrowheads="1"/>
          </p:cNvSpPr>
          <p:nvPr/>
        </p:nvSpPr>
        <p:spPr bwMode="auto">
          <a:xfrm>
            <a:off x="2819400" y="5486400"/>
            <a:ext cx="7391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r>
              <a:rPr lang="en-US" altLang="en-US"/>
              <a:t>Key can be signed by having server encrypt message with private key; client can verify </a:t>
            </a:r>
            <a:br>
              <a:rPr lang="en-US" altLang="en-US"/>
            </a:br>
            <a:r>
              <a:rPr lang="en-US" altLang="en-US"/>
              <a:t>the message came from the server by decrypting the message with the public key</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838200" y="365125"/>
            <a:ext cx="10515600" cy="1325563"/>
          </a:xfrm>
        </p:spPr>
        <p:txBody>
          <a:bodyPr vert="horz" lIns="91440" tIns="45720" rIns="91440" bIns="45720" rtlCol="0" anchor="ctr">
            <a:normAutofit/>
          </a:bodyPr>
          <a:lstStyle/>
          <a:p>
            <a:pPr marL="2035517"/>
            <a:r>
              <a:rPr lang="en-US" kern="1200">
                <a:latin typeface="+mj-lt"/>
                <a:ea typeface="+mj-ea"/>
                <a:cs typeface="+mj-cs"/>
              </a:rPr>
              <a:t>What</a:t>
            </a:r>
            <a:r>
              <a:rPr lang="en-US" kern="1200" spc="-18">
                <a:latin typeface="+mj-lt"/>
                <a:ea typeface="+mj-ea"/>
                <a:cs typeface="+mj-cs"/>
              </a:rPr>
              <a:t> </a:t>
            </a:r>
            <a:r>
              <a:rPr lang="en-US" kern="1200">
                <a:latin typeface="+mj-lt"/>
                <a:ea typeface="+mj-ea"/>
                <a:cs typeface="+mj-cs"/>
              </a:rPr>
              <a:t>is</a:t>
            </a:r>
            <a:r>
              <a:rPr lang="en-US" kern="1200" spc="-63">
                <a:latin typeface="+mj-lt"/>
                <a:ea typeface="+mj-ea"/>
                <a:cs typeface="+mj-cs"/>
              </a:rPr>
              <a:t> </a:t>
            </a:r>
            <a:r>
              <a:rPr lang="en-US" kern="1200" spc="-18">
                <a:latin typeface="+mj-lt"/>
                <a:ea typeface="+mj-ea"/>
                <a:cs typeface="+mj-cs"/>
              </a:rPr>
              <a:t>SSH?</a:t>
            </a:r>
          </a:p>
        </p:txBody>
      </p:sp>
      <p:graphicFrame>
        <p:nvGraphicFramePr>
          <p:cNvPr id="5" name="object 3">
            <a:extLst>
              <a:ext uri="{FF2B5EF4-FFF2-40B4-BE49-F238E27FC236}">
                <a16:creationId xmlns:a16="http://schemas.microsoft.com/office/drawing/2014/main" id="{08F8837E-4583-1E0A-9BF7-F253FA1A13CB}"/>
              </a:ext>
            </a:extLst>
          </p:cNvPr>
          <p:cNvGraphicFramePr/>
          <p:nvPr>
            <p:extLst>
              <p:ext uri="{D42A27DB-BD31-4B8C-83A1-F6EECF244321}">
                <p14:modId xmlns:p14="http://schemas.microsoft.com/office/powerpoint/2010/main" val="177663456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838200" y="365125"/>
            <a:ext cx="10515600" cy="1325563"/>
          </a:xfrm>
        </p:spPr>
        <p:txBody>
          <a:bodyPr vert="horz" lIns="91440" tIns="45720" rIns="91440" bIns="45720" rtlCol="0" anchor="ctr">
            <a:normAutofit/>
          </a:bodyPr>
          <a:lstStyle/>
          <a:p>
            <a:pPr marL="73129"/>
            <a:r>
              <a:rPr lang="en-US" kern="1200">
                <a:latin typeface="+mj-lt"/>
                <a:ea typeface="+mj-ea"/>
                <a:cs typeface="+mj-cs"/>
              </a:rPr>
              <a:t>Motivations</a:t>
            </a:r>
            <a:r>
              <a:rPr lang="en-US" kern="1200" spc="-73">
                <a:latin typeface="+mj-lt"/>
                <a:ea typeface="+mj-ea"/>
                <a:cs typeface="+mj-cs"/>
              </a:rPr>
              <a:t> </a:t>
            </a:r>
            <a:r>
              <a:rPr lang="en-US" kern="1200">
                <a:latin typeface="+mj-lt"/>
                <a:ea typeface="+mj-ea"/>
                <a:cs typeface="+mj-cs"/>
              </a:rPr>
              <a:t>of</a:t>
            </a:r>
            <a:r>
              <a:rPr lang="en-US" kern="1200" spc="-5">
                <a:latin typeface="+mj-lt"/>
                <a:ea typeface="+mj-ea"/>
                <a:cs typeface="+mj-cs"/>
              </a:rPr>
              <a:t> </a:t>
            </a:r>
            <a:r>
              <a:rPr lang="en-US" kern="1200">
                <a:latin typeface="+mj-lt"/>
                <a:ea typeface="+mj-ea"/>
                <a:cs typeface="+mj-cs"/>
              </a:rPr>
              <a:t>Designing</a:t>
            </a:r>
            <a:r>
              <a:rPr lang="en-US" kern="1200" spc="-77">
                <a:latin typeface="+mj-lt"/>
                <a:ea typeface="+mj-ea"/>
                <a:cs typeface="+mj-cs"/>
              </a:rPr>
              <a:t> </a:t>
            </a:r>
            <a:r>
              <a:rPr lang="en-US" kern="1200">
                <a:latin typeface="+mj-lt"/>
                <a:ea typeface="+mj-ea"/>
                <a:cs typeface="+mj-cs"/>
              </a:rPr>
              <a:t>the</a:t>
            </a:r>
            <a:r>
              <a:rPr lang="en-US" kern="1200" spc="-95">
                <a:latin typeface="+mj-lt"/>
                <a:ea typeface="+mj-ea"/>
                <a:cs typeface="+mj-cs"/>
              </a:rPr>
              <a:t> </a:t>
            </a:r>
            <a:r>
              <a:rPr lang="en-US" kern="1200" spc="-23">
                <a:latin typeface="+mj-lt"/>
                <a:ea typeface="+mj-ea"/>
                <a:cs typeface="+mj-cs"/>
              </a:rPr>
              <a:t>SSH</a:t>
            </a:r>
          </a:p>
        </p:txBody>
      </p:sp>
      <p:sp>
        <p:nvSpPr>
          <p:cNvPr id="3" name="object 3"/>
          <p:cNvSpPr txBox="1"/>
          <p:nvPr/>
        </p:nvSpPr>
        <p:spPr>
          <a:xfrm>
            <a:off x="838200" y="1825625"/>
            <a:ext cx="5181600" cy="4351338"/>
          </a:xfrm>
          <a:prstGeom prst="rect">
            <a:avLst/>
          </a:prstGeom>
        </p:spPr>
        <p:txBody>
          <a:bodyPr vert="horz" lIns="91440" tIns="45720" rIns="91440" bIns="45720" rtlCol="0">
            <a:normAutofit/>
          </a:bodyPr>
          <a:lstStyle/>
          <a:p>
            <a:pPr marL="228600" indent="-228600">
              <a:lnSpc>
                <a:spcPct val="90000"/>
              </a:lnSpc>
              <a:spcBef>
                <a:spcPts val="1000"/>
              </a:spcBef>
              <a:buFont typeface="Arial" panose="020B0604020202020204" pitchFamily="34" charset="0"/>
              <a:buChar char="•"/>
              <a:tabLst>
                <a:tab pos="321306" algn="l"/>
              </a:tabLst>
            </a:pPr>
            <a:r>
              <a:rPr lang="en-US" sz="2000"/>
              <a:t>The</a:t>
            </a:r>
            <a:r>
              <a:rPr lang="en-US" sz="2000" spc="18"/>
              <a:t> </a:t>
            </a:r>
            <a:r>
              <a:rPr lang="en-US" sz="2000"/>
              <a:t>following</a:t>
            </a:r>
            <a:r>
              <a:rPr lang="en-US" sz="2000" spc="59"/>
              <a:t> </a:t>
            </a:r>
            <a:r>
              <a:rPr lang="en-US" sz="2000"/>
              <a:t>is</a:t>
            </a:r>
            <a:r>
              <a:rPr lang="en-US" sz="2000" spc="32"/>
              <a:t> </a:t>
            </a:r>
            <a:r>
              <a:rPr lang="en-US" sz="2000"/>
              <a:t>a</a:t>
            </a:r>
            <a:r>
              <a:rPr lang="en-US" sz="2000" spc="113"/>
              <a:t> </a:t>
            </a:r>
            <a:r>
              <a:rPr lang="en-US" sz="2000"/>
              <a:t>list</a:t>
            </a:r>
            <a:r>
              <a:rPr lang="en-US" sz="2000" spc="9"/>
              <a:t> </a:t>
            </a:r>
            <a:r>
              <a:rPr lang="en-US" sz="2000"/>
              <a:t>of</a:t>
            </a:r>
            <a:r>
              <a:rPr lang="en-US" sz="2000" spc="50"/>
              <a:t> </a:t>
            </a:r>
            <a:r>
              <a:rPr lang="en-US" sz="2000"/>
              <a:t>drawbacks</a:t>
            </a:r>
            <a:r>
              <a:rPr lang="en-US" sz="2000" spc="103"/>
              <a:t> </a:t>
            </a:r>
            <a:r>
              <a:rPr lang="en-US" sz="2000"/>
              <a:t>in</a:t>
            </a:r>
            <a:r>
              <a:rPr lang="en-US" sz="2000" spc="82"/>
              <a:t> </a:t>
            </a:r>
            <a:r>
              <a:rPr lang="en-US" sz="2000" spc="-18"/>
              <a:t>some </a:t>
            </a:r>
            <a:r>
              <a:rPr lang="en-US" sz="2000" i="1"/>
              <a:t>traditional</a:t>
            </a:r>
            <a:r>
              <a:rPr lang="en-US" sz="2000" i="1" spc="150"/>
              <a:t> </a:t>
            </a:r>
            <a:r>
              <a:rPr lang="en-US" sz="2000" spc="-9"/>
              <a:t>applications:</a:t>
            </a:r>
            <a:endParaRPr lang="en-US" sz="2000"/>
          </a:p>
          <a:p>
            <a:pPr marL="228600" lvl="2" indent="-228600">
              <a:lnSpc>
                <a:spcPct val="90000"/>
              </a:lnSpc>
              <a:spcBef>
                <a:spcPts val="1000"/>
              </a:spcBef>
              <a:buFont typeface="Arial" panose="020B0604020202020204" pitchFamily="34" charset="0"/>
              <a:buChar char="•"/>
              <a:tabLst>
                <a:tab pos="683496" algn="l"/>
              </a:tabLst>
            </a:pPr>
            <a:r>
              <a:rPr lang="en-US" sz="2000"/>
              <a:t>Authentication</a:t>
            </a:r>
            <a:r>
              <a:rPr lang="en-US" sz="2000" spc="18"/>
              <a:t> </a:t>
            </a:r>
            <a:r>
              <a:rPr lang="en-US" sz="2000"/>
              <a:t>is</a:t>
            </a:r>
            <a:r>
              <a:rPr lang="en-US" sz="2000" spc="-23"/>
              <a:t> </a:t>
            </a:r>
            <a:r>
              <a:rPr lang="en-US" sz="2000"/>
              <a:t>based</a:t>
            </a:r>
            <a:r>
              <a:rPr lang="en-US" sz="2000" spc="-59"/>
              <a:t> </a:t>
            </a:r>
            <a:r>
              <a:rPr lang="en-US" sz="2000"/>
              <a:t>on</a:t>
            </a:r>
            <a:r>
              <a:rPr lang="en-US" sz="2000" spc="-41"/>
              <a:t> </a:t>
            </a:r>
            <a:r>
              <a:rPr lang="en-US" sz="2000"/>
              <a:t>IP</a:t>
            </a:r>
            <a:r>
              <a:rPr lang="en-US" sz="2000" spc="-36"/>
              <a:t> </a:t>
            </a:r>
            <a:r>
              <a:rPr lang="en-US" sz="2000" spc="-9"/>
              <a:t>address</a:t>
            </a:r>
            <a:endParaRPr lang="en-US" sz="2000"/>
          </a:p>
          <a:p>
            <a:pPr marL="228600" lvl="2" indent="-228600">
              <a:lnSpc>
                <a:spcPct val="90000"/>
              </a:lnSpc>
              <a:spcBef>
                <a:spcPts val="1000"/>
              </a:spcBef>
              <a:buFont typeface="Arial" panose="020B0604020202020204" pitchFamily="34" charset="0"/>
              <a:buChar char="•"/>
              <a:tabLst>
                <a:tab pos="683496" algn="l"/>
              </a:tabLst>
            </a:pPr>
            <a:r>
              <a:rPr lang="en-US" sz="2000"/>
              <a:t>Authentication</a:t>
            </a:r>
            <a:r>
              <a:rPr lang="en-US" sz="2000" spc="5"/>
              <a:t> </a:t>
            </a:r>
            <a:r>
              <a:rPr lang="en-US" sz="2000"/>
              <a:t>is</a:t>
            </a:r>
            <a:r>
              <a:rPr lang="en-US" sz="2000" spc="-41"/>
              <a:t> </a:t>
            </a:r>
            <a:r>
              <a:rPr lang="en-US" sz="2000"/>
              <a:t>based</a:t>
            </a:r>
            <a:r>
              <a:rPr lang="en-US" sz="2000" spc="-77"/>
              <a:t> </a:t>
            </a:r>
            <a:r>
              <a:rPr lang="en-US" sz="2000"/>
              <a:t>on</a:t>
            </a:r>
            <a:r>
              <a:rPr lang="en-US" sz="2000" spc="-54"/>
              <a:t> </a:t>
            </a:r>
            <a:r>
              <a:rPr lang="en-US" sz="2000"/>
              <a:t>reusable</a:t>
            </a:r>
            <a:r>
              <a:rPr lang="en-US" sz="2000" spc="-45"/>
              <a:t> </a:t>
            </a:r>
            <a:r>
              <a:rPr lang="en-US" sz="2000" spc="-9"/>
              <a:t>password</a:t>
            </a:r>
            <a:endParaRPr lang="en-US" sz="2000"/>
          </a:p>
          <a:p>
            <a:pPr marL="228600" lvl="2" indent="-228600">
              <a:lnSpc>
                <a:spcPct val="90000"/>
              </a:lnSpc>
              <a:spcBef>
                <a:spcPts val="1000"/>
              </a:spcBef>
              <a:buFont typeface="Arial" panose="020B0604020202020204" pitchFamily="34" charset="0"/>
              <a:buChar char="•"/>
              <a:tabLst>
                <a:tab pos="683496" algn="l"/>
              </a:tabLst>
            </a:pPr>
            <a:r>
              <a:rPr lang="en-US" sz="2000"/>
              <a:t>Data</a:t>
            </a:r>
            <a:r>
              <a:rPr lang="en-US" sz="2000" spc="-18"/>
              <a:t> </a:t>
            </a:r>
            <a:r>
              <a:rPr lang="en-US" sz="2000"/>
              <a:t>is</a:t>
            </a:r>
            <a:r>
              <a:rPr lang="en-US" sz="2000" spc="-27"/>
              <a:t> </a:t>
            </a:r>
            <a:r>
              <a:rPr lang="en-US" sz="2000"/>
              <a:t>transmitted</a:t>
            </a:r>
            <a:r>
              <a:rPr lang="en-US" sz="2000" spc="-63"/>
              <a:t> </a:t>
            </a:r>
            <a:r>
              <a:rPr lang="en-US" sz="2000"/>
              <a:t>in</a:t>
            </a:r>
            <a:r>
              <a:rPr lang="en-US" sz="2000" spc="18"/>
              <a:t> </a:t>
            </a:r>
            <a:r>
              <a:rPr lang="en-US" sz="2000"/>
              <a:t>clear</a:t>
            </a:r>
            <a:r>
              <a:rPr lang="en-US" sz="2000" spc="-9"/>
              <a:t> </a:t>
            </a:r>
            <a:r>
              <a:rPr lang="en-US" sz="2000" spc="-18"/>
              <a:t>text</a:t>
            </a:r>
            <a:endParaRPr lang="en-US" sz="2000"/>
          </a:p>
          <a:p>
            <a:pPr marL="228600" lvl="2" indent="-228600">
              <a:lnSpc>
                <a:spcPct val="90000"/>
              </a:lnSpc>
              <a:spcBef>
                <a:spcPts val="1000"/>
              </a:spcBef>
              <a:buFont typeface="Arial" panose="020B0604020202020204" pitchFamily="34" charset="0"/>
              <a:buChar char="•"/>
              <a:tabLst>
                <a:tab pos="683496" algn="l"/>
              </a:tabLst>
            </a:pPr>
            <a:r>
              <a:rPr lang="en-US" sz="2000"/>
              <a:t>X</a:t>
            </a:r>
            <a:r>
              <a:rPr lang="en-US" sz="2000" spc="-54"/>
              <a:t> </a:t>
            </a:r>
            <a:r>
              <a:rPr lang="en-US" sz="2000"/>
              <a:t>protocol is</a:t>
            </a:r>
            <a:r>
              <a:rPr lang="en-US" sz="2000" spc="-32"/>
              <a:t> </a:t>
            </a:r>
            <a:r>
              <a:rPr lang="en-US" sz="2000"/>
              <a:t>vulnerable</a:t>
            </a:r>
            <a:r>
              <a:rPr lang="en-US" sz="2000" spc="-36"/>
              <a:t> </a:t>
            </a:r>
            <a:r>
              <a:rPr lang="en-US" sz="2000"/>
              <a:t>to</a:t>
            </a:r>
            <a:r>
              <a:rPr lang="en-US" sz="2000" spc="9"/>
              <a:t> </a:t>
            </a:r>
            <a:r>
              <a:rPr lang="en-US" sz="2000" spc="-9"/>
              <a:t>attack</a:t>
            </a:r>
            <a:endParaRPr lang="en-US" sz="2000"/>
          </a:p>
          <a:p>
            <a:pPr marL="228600" lvl="2" indent="-228600">
              <a:lnSpc>
                <a:spcPct val="90000"/>
              </a:lnSpc>
              <a:spcBef>
                <a:spcPts val="1000"/>
              </a:spcBef>
              <a:buFont typeface="Arial" panose="020B0604020202020204" pitchFamily="34" charset="0"/>
              <a:buChar char="•"/>
              <a:tabLst>
                <a:tab pos="683496" algn="l"/>
              </a:tabLst>
            </a:pPr>
            <a:r>
              <a:rPr lang="en-US" sz="2000"/>
              <a:t>Intermediate</a:t>
            </a:r>
            <a:r>
              <a:rPr lang="en-US" sz="2000" spc="-54"/>
              <a:t> </a:t>
            </a:r>
            <a:r>
              <a:rPr lang="en-US" sz="2000"/>
              <a:t>hosts</a:t>
            </a:r>
            <a:r>
              <a:rPr lang="en-US" sz="2000" spc="-41"/>
              <a:t> </a:t>
            </a:r>
            <a:r>
              <a:rPr lang="en-US" sz="2000"/>
              <a:t>can hijack</a:t>
            </a:r>
            <a:r>
              <a:rPr lang="en-US" sz="2000" spc="-36"/>
              <a:t> </a:t>
            </a:r>
            <a:r>
              <a:rPr lang="en-US" sz="2000" spc="-9"/>
              <a:t>sessions</a:t>
            </a:r>
            <a:endParaRPr lang="en-US" sz="2000"/>
          </a:p>
          <a:p>
            <a:pPr marL="228600" indent="-228600">
              <a:lnSpc>
                <a:spcPct val="90000"/>
              </a:lnSpc>
              <a:spcBef>
                <a:spcPts val="1000"/>
              </a:spcBef>
              <a:buFont typeface="Arial" panose="020B0604020202020204" pitchFamily="34" charset="0"/>
              <a:buChar char="•"/>
            </a:pPr>
            <a:endParaRPr lang="en-US" sz="2000"/>
          </a:p>
          <a:p>
            <a:pPr marL="228600" indent="-228600">
              <a:lnSpc>
                <a:spcPct val="90000"/>
              </a:lnSpc>
              <a:spcBef>
                <a:spcPts val="1000"/>
              </a:spcBef>
              <a:buFont typeface="Arial" panose="020B0604020202020204" pitchFamily="34" charset="0"/>
              <a:buChar char="•"/>
            </a:pPr>
            <a:r>
              <a:rPr lang="en-US" sz="2000"/>
              <a:t>For</a:t>
            </a:r>
            <a:r>
              <a:rPr lang="en-US" sz="2000" spc="-50"/>
              <a:t> </a:t>
            </a:r>
            <a:r>
              <a:rPr lang="en-US" sz="2000"/>
              <a:t>X</a:t>
            </a:r>
            <a:r>
              <a:rPr lang="en-US" sz="2000" spc="-41"/>
              <a:t> </a:t>
            </a:r>
            <a:r>
              <a:rPr lang="en-US" sz="2000"/>
              <a:t>protocol,</a:t>
            </a:r>
            <a:r>
              <a:rPr lang="en-US" sz="2000" spc="-14"/>
              <a:t> </a:t>
            </a:r>
            <a:r>
              <a:rPr lang="en-US" sz="2000"/>
              <a:t>see</a:t>
            </a:r>
            <a:r>
              <a:rPr lang="en-US" sz="2000" spc="-45"/>
              <a:t> </a:t>
            </a:r>
            <a:r>
              <a:rPr lang="en-US" sz="2000" spc="-9">
                <a:hlinkClick r:id="rId2">
                  <a:extLst>
                    <a:ext uri="{A12FA001-AC4F-418D-AE19-62706E023703}">
                      <ahyp:hlinkClr xmlns:ahyp="http://schemas.microsoft.com/office/drawing/2018/hyperlinkcolor" val="tx"/>
                    </a:ext>
                  </a:extLst>
                </a:hlinkClick>
              </a:rPr>
              <a:t>http://en.wikipedia.org/wiki/X_Window_System</a:t>
            </a:r>
            <a:endParaRPr lang="en-US" sz="2000"/>
          </a:p>
        </p:txBody>
      </p:sp>
      <p:pic>
        <p:nvPicPr>
          <p:cNvPr id="1026" name="Picture 2" descr="X Window System Influenced Modern Computing">
            <a:extLst>
              <a:ext uri="{FF2B5EF4-FFF2-40B4-BE49-F238E27FC236}">
                <a16:creationId xmlns:a16="http://schemas.microsoft.com/office/drawing/2014/main" id="{F5E06600-D4F8-FF87-A210-2172085376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66"/>
          <a:stretch>
            <a:fillRect/>
          </a:stretch>
        </p:blipFill>
        <p:spPr bwMode="auto">
          <a:xfrm>
            <a:off x="6172200" y="1825625"/>
            <a:ext cx="5181600" cy="4351338"/>
          </a:xfrm>
          <a:prstGeom prst="rect">
            <a:avLst/>
          </a:prstGeom>
          <a:solidFill>
            <a:srgbClr val="FFFFFF"/>
          </a:solidFill>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838200" y="365125"/>
            <a:ext cx="10515600" cy="1325563"/>
          </a:xfrm>
        </p:spPr>
        <p:txBody>
          <a:bodyPr vert="horz" lIns="91440" tIns="45720" rIns="91440" bIns="45720" rtlCol="0" anchor="ctr">
            <a:normAutofit/>
          </a:bodyPr>
          <a:lstStyle/>
          <a:p>
            <a:pPr marL="1461426"/>
            <a:r>
              <a:rPr lang="en-US" kern="1200">
                <a:latin typeface="+mj-lt"/>
                <a:ea typeface="+mj-ea"/>
                <a:cs typeface="+mj-cs"/>
              </a:rPr>
              <a:t>Applications</a:t>
            </a:r>
            <a:r>
              <a:rPr lang="en-US" kern="1200" spc="-73">
                <a:latin typeface="+mj-lt"/>
                <a:ea typeface="+mj-ea"/>
                <a:cs typeface="+mj-cs"/>
              </a:rPr>
              <a:t> </a:t>
            </a:r>
            <a:r>
              <a:rPr lang="en-US" kern="1200">
                <a:latin typeface="+mj-lt"/>
                <a:ea typeface="+mj-ea"/>
                <a:cs typeface="+mj-cs"/>
              </a:rPr>
              <a:t>of</a:t>
            </a:r>
            <a:r>
              <a:rPr lang="en-US" kern="1200" spc="-68">
                <a:latin typeface="+mj-lt"/>
                <a:ea typeface="+mj-ea"/>
                <a:cs typeface="+mj-cs"/>
              </a:rPr>
              <a:t> </a:t>
            </a:r>
            <a:r>
              <a:rPr lang="en-US" kern="1200" spc="-23">
                <a:latin typeface="+mj-lt"/>
                <a:ea typeface="+mj-ea"/>
                <a:cs typeface="+mj-cs"/>
              </a:rPr>
              <a:t>SSH</a:t>
            </a:r>
          </a:p>
        </p:txBody>
      </p:sp>
      <p:sp>
        <p:nvSpPr>
          <p:cNvPr id="3" name="object 3"/>
          <p:cNvSpPr txBox="1"/>
          <p:nvPr/>
        </p:nvSpPr>
        <p:spPr>
          <a:xfrm>
            <a:off x="838200" y="1825625"/>
            <a:ext cx="5181600" cy="4351338"/>
          </a:xfrm>
          <a:prstGeom prst="rect">
            <a:avLst/>
          </a:prstGeom>
        </p:spPr>
        <p:txBody>
          <a:bodyPr vert="horz" lIns="91440" tIns="45720" rIns="91440" bIns="45720" rtlCol="0">
            <a:normAutofit/>
          </a:bodyPr>
          <a:lstStyle/>
          <a:p>
            <a:pPr marL="228600" indent="-228600">
              <a:lnSpc>
                <a:spcPct val="90000"/>
              </a:lnSpc>
              <a:spcBef>
                <a:spcPts val="1000"/>
              </a:spcBef>
              <a:buSzPct val="45454"/>
              <a:buFont typeface="Arial" panose="020B0604020202020204" pitchFamily="34" charset="0"/>
              <a:buChar char="•"/>
              <a:tabLst>
                <a:tab pos="305184" algn="l"/>
              </a:tabLst>
            </a:pPr>
            <a:r>
              <a:rPr lang="en-US" sz="2200" dirty="0"/>
              <a:t>Secure</a:t>
            </a:r>
            <a:r>
              <a:rPr lang="en-US" sz="2200" spc="32" dirty="0"/>
              <a:t> </a:t>
            </a:r>
            <a:r>
              <a:rPr lang="en-US" sz="2200" dirty="0"/>
              <a:t>remote</a:t>
            </a:r>
            <a:r>
              <a:rPr lang="en-US" sz="2200" spc="103" dirty="0"/>
              <a:t> </a:t>
            </a:r>
            <a:r>
              <a:rPr lang="en-US" sz="2200" dirty="0"/>
              <a:t>login</a:t>
            </a:r>
            <a:r>
              <a:rPr lang="en-US" sz="2200" spc="103" dirty="0"/>
              <a:t> </a:t>
            </a:r>
            <a:r>
              <a:rPr lang="en-US" sz="2200" dirty="0"/>
              <a:t>(ssh</a:t>
            </a:r>
            <a:r>
              <a:rPr lang="en-US" sz="2200" spc="23" dirty="0"/>
              <a:t> </a:t>
            </a:r>
            <a:r>
              <a:rPr lang="en-US" sz="2200" spc="-9" dirty="0"/>
              <a:t>client)</a:t>
            </a:r>
            <a:endParaRPr lang="en-US" sz="2200" dirty="0"/>
          </a:p>
          <a:p>
            <a:pPr marL="228600" indent="-228600">
              <a:lnSpc>
                <a:spcPct val="90000"/>
              </a:lnSpc>
              <a:spcBef>
                <a:spcPts val="1000"/>
              </a:spcBef>
              <a:buSzPct val="45454"/>
              <a:buFont typeface="Arial" panose="020B0604020202020204" pitchFamily="34" charset="0"/>
              <a:buChar char="•"/>
              <a:tabLst>
                <a:tab pos="305184" algn="l"/>
              </a:tabLst>
            </a:pPr>
            <a:r>
              <a:rPr lang="en-US" sz="2200" dirty="0"/>
              <a:t>Secure</a:t>
            </a:r>
            <a:r>
              <a:rPr lang="en-US" sz="2200" spc="41" dirty="0"/>
              <a:t> </a:t>
            </a:r>
            <a:r>
              <a:rPr lang="en-US" sz="2200" dirty="0"/>
              <a:t>remote</a:t>
            </a:r>
            <a:r>
              <a:rPr lang="en-US" sz="2200" spc="122" dirty="0"/>
              <a:t> </a:t>
            </a:r>
            <a:r>
              <a:rPr lang="en-US" sz="2200" dirty="0"/>
              <a:t>command</a:t>
            </a:r>
            <a:r>
              <a:rPr lang="en-US" sz="2200" spc="159" dirty="0"/>
              <a:t> </a:t>
            </a:r>
            <a:r>
              <a:rPr lang="en-US" sz="2200" spc="-9" dirty="0"/>
              <a:t>execution</a:t>
            </a:r>
            <a:endParaRPr lang="en-US" sz="2200" dirty="0"/>
          </a:p>
          <a:p>
            <a:pPr marL="228600" marR="1728606" indent="-228600">
              <a:lnSpc>
                <a:spcPct val="90000"/>
              </a:lnSpc>
              <a:spcBef>
                <a:spcPts val="1000"/>
              </a:spcBef>
              <a:buSzPct val="45454"/>
              <a:buFont typeface="Arial" panose="020B0604020202020204" pitchFamily="34" charset="0"/>
              <a:buChar char="•"/>
              <a:tabLst>
                <a:tab pos="305184" algn="l"/>
              </a:tabLst>
            </a:pPr>
            <a:r>
              <a:rPr lang="en-US" sz="2200" dirty="0"/>
              <a:t>Secure</a:t>
            </a:r>
            <a:r>
              <a:rPr lang="en-US" sz="2200" spc="45" dirty="0"/>
              <a:t> </a:t>
            </a:r>
            <a:r>
              <a:rPr lang="en-US" sz="2200" dirty="0"/>
              <a:t>file</a:t>
            </a:r>
            <a:r>
              <a:rPr lang="en-US" sz="2200" spc="113" dirty="0"/>
              <a:t> </a:t>
            </a:r>
            <a:r>
              <a:rPr lang="en-US" sz="2200" dirty="0"/>
              <a:t>transfer</a:t>
            </a:r>
            <a:r>
              <a:rPr lang="en-US" sz="2200" spc="82" dirty="0"/>
              <a:t> </a:t>
            </a:r>
            <a:r>
              <a:rPr lang="en-US" sz="2200" dirty="0"/>
              <a:t>and</a:t>
            </a:r>
            <a:r>
              <a:rPr lang="en-US" sz="2200" spc="77" dirty="0"/>
              <a:t> </a:t>
            </a:r>
            <a:r>
              <a:rPr lang="en-US" sz="2200" spc="-9" dirty="0"/>
              <a:t>backup (</a:t>
            </a:r>
            <a:r>
              <a:rPr lang="en-US" sz="2200" spc="-9"/>
              <a:t>sftp/rsync/scp)</a:t>
            </a:r>
            <a:endParaRPr lang="en-US" sz="2200" dirty="0"/>
          </a:p>
          <a:p>
            <a:pPr marL="228600" marR="4607" indent="-228600">
              <a:lnSpc>
                <a:spcPct val="90000"/>
              </a:lnSpc>
              <a:spcBef>
                <a:spcPts val="1000"/>
              </a:spcBef>
              <a:buSzPct val="45454"/>
              <a:buFont typeface="Arial" panose="020B0604020202020204" pitchFamily="34" charset="0"/>
              <a:buChar char="•"/>
              <a:tabLst>
                <a:tab pos="305184" algn="l"/>
              </a:tabLst>
            </a:pPr>
            <a:r>
              <a:rPr lang="en-US" sz="2200" dirty="0"/>
              <a:t>Public-private</a:t>
            </a:r>
            <a:r>
              <a:rPr lang="en-US" sz="2200" spc="127" dirty="0"/>
              <a:t> </a:t>
            </a:r>
            <a:r>
              <a:rPr lang="en-US" sz="2200" dirty="0"/>
              <a:t>key</a:t>
            </a:r>
            <a:r>
              <a:rPr lang="en-US" sz="2200" spc="59" dirty="0"/>
              <a:t> </a:t>
            </a:r>
            <a:r>
              <a:rPr lang="en-US" sz="2200" dirty="0"/>
              <a:t>pair</a:t>
            </a:r>
            <a:r>
              <a:rPr lang="en-US" sz="2200" spc="95" dirty="0"/>
              <a:t> </a:t>
            </a:r>
            <a:r>
              <a:rPr lang="en-US" sz="2200" dirty="0"/>
              <a:t>generation</a:t>
            </a:r>
            <a:r>
              <a:rPr lang="en-US" sz="2200" spc="54" dirty="0"/>
              <a:t> </a:t>
            </a:r>
            <a:r>
              <a:rPr lang="en-US" sz="2200" dirty="0"/>
              <a:t>for</a:t>
            </a:r>
            <a:r>
              <a:rPr lang="en-US" sz="2200" spc="91" dirty="0"/>
              <a:t> </a:t>
            </a:r>
            <a:r>
              <a:rPr lang="en-US" sz="2200" spc="-23" dirty="0"/>
              <a:t>you </a:t>
            </a:r>
            <a:r>
              <a:rPr lang="en-US" sz="2200" dirty="0"/>
              <a:t>and</a:t>
            </a:r>
            <a:r>
              <a:rPr lang="en-US" sz="2200" spc="45" dirty="0"/>
              <a:t> </a:t>
            </a:r>
            <a:r>
              <a:rPr lang="en-US" sz="2200" dirty="0"/>
              <a:t>an</a:t>
            </a:r>
            <a:r>
              <a:rPr lang="en-US" sz="2200" spc="73" dirty="0"/>
              <a:t> </a:t>
            </a:r>
            <a:r>
              <a:rPr lang="en-US" sz="2200" dirty="0"/>
              <a:t>agent</a:t>
            </a:r>
            <a:r>
              <a:rPr lang="en-US" sz="2200" spc="5" dirty="0"/>
              <a:t> </a:t>
            </a:r>
            <a:r>
              <a:rPr lang="en-US" sz="2200" dirty="0"/>
              <a:t>for</a:t>
            </a:r>
            <a:r>
              <a:rPr lang="en-US" sz="2200" spc="54" dirty="0"/>
              <a:t> </a:t>
            </a:r>
            <a:r>
              <a:rPr lang="en-US" sz="2200" dirty="0"/>
              <a:t>taking</a:t>
            </a:r>
            <a:r>
              <a:rPr lang="en-US" sz="2200" spc="59" dirty="0"/>
              <a:t> </a:t>
            </a:r>
            <a:r>
              <a:rPr lang="en-US" sz="2200" dirty="0"/>
              <a:t>care</a:t>
            </a:r>
            <a:r>
              <a:rPr lang="en-US" sz="2200" spc="18" dirty="0"/>
              <a:t> </a:t>
            </a:r>
            <a:r>
              <a:rPr lang="en-US" sz="2200" dirty="0"/>
              <a:t>of</a:t>
            </a:r>
            <a:r>
              <a:rPr lang="en-US" sz="2200" spc="45" dirty="0"/>
              <a:t> </a:t>
            </a:r>
            <a:r>
              <a:rPr lang="en-US" sz="2200" dirty="0"/>
              <a:t>your</a:t>
            </a:r>
            <a:r>
              <a:rPr lang="en-US" sz="2200" spc="113" dirty="0"/>
              <a:t> </a:t>
            </a:r>
            <a:r>
              <a:rPr lang="en-US" sz="2200" spc="-9" dirty="0"/>
              <a:t>public-</a:t>
            </a:r>
            <a:endParaRPr lang="en-US" sz="2200" dirty="0"/>
          </a:p>
          <a:p>
            <a:pPr marL="228600" indent="-228600">
              <a:lnSpc>
                <a:spcPct val="90000"/>
              </a:lnSpc>
              <a:spcBef>
                <a:spcPts val="1000"/>
              </a:spcBef>
              <a:buFont typeface="Arial" panose="020B0604020202020204" pitchFamily="34" charset="0"/>
              <a:buChar char="•"/>
            </a:pPr>
            <a:r>
              <a:rPr lang="en-US" sz="2200" dirty="0"/>
              <a:t>private</a:t>
            </a:r>
            <a:r>
              <a:rPr lang="en-US" sz="2200" spc="77" dirty="0"/>
              <a:t> </a:t>
            </a:r>
            <a:r>
              <a:rPr lang="en-US" sz="2200" dirty="0"/>
              <a:t>key</a:t>
            </a:r>
            <a:r>
              <a:rPr lang="en-US" sz="2200" spc="18" dirty="0"/>
              <a:t> </a:t>
            </a:r>
            <a:r>
              <a:rPr lang="en-US" sz="2200" spc="-18" dirty="0"/>
              <a:t>pair</a:t>
            </a:r>
            <a:endParaRPr lang="en-US" sz="2200" dirty="0"/>
          </a:p>
          <a:p>
            <a:pPr marL="228600" marR="988680" indent="-228600">
              <a:lnSpc>
                <a:spcPct val="90000"/>
              </a:lnSpc>
              <a:spcBef>
                <a:spcPts val="1000"/>
              </a:spcBef>
              <a:buSzPct val="45454"/>
              <a:buFont typeface="Arial" panose="020B0604020202020204" pitchFamily="34" charset="0"/>
              <a:buChar char="•"/>
              <a:tabLst>
                <a:tab pos="305184" algn="l"/>
              </a:tabLst>
            </a:pPr>
            <a:r>
              <a:rPr lang="en-US" sz="2200" dirty="0"/>
              <a:t>Port</a:t>
            </a:r>
            <a:r>
              <a:rPr lang="en-US" sz="2200" spc="103" dirty="0"/>
              <a:t> </a:t>
            </a:r>
            <a:r>
              <a:rPr lang="en-US" sz="2200" dirty="0"/>
              <a:t>forwarding</a:t>
            </a:r>
            <a:r>
              <a:rPr lang="en-US" sz="2200" spc="86" dirty="0"/>
              <a:t> </a:t>
            </a:r>
            <a:r>
              <a:rPr lang="en-US" sz="2200" dirty="0"/>
              <a:t>and</a:t>
            </a:r>
            <a:r>
              <a:rPr lang="en-US" sz="2200" spc="77" dirty="0"/>
              <a:t> </a:t>
            </a:r>
            <a:r>
              <a:rPr lang="en-US" sz="2200" dirty="0"/>
              <a:t>tunnelling</a:t>
            </a:r>
            <a:r>
              <a:rPr lang="en-US" sz="2200" spc="86" dirty="0"/>
              <a:t> </a:t>
            </a:r>
            <a:r>
              <a:rPr lang="en-US" sz="2200" spc="-18" dirty="0"/>
              <a:t>(x11 </a:t>
            </a:r>
            <a:r>
              <a:rPr lang="en-US" sz="2200" dirty="0"/>
              <a:t>forwarding</a:t>
            </a:r>
            <a:r>
              <a:rPr lang="en-US" sz="2200" spc="91" dirty="0"/>
              <a:t> </a:t>
            </a:r>
            <a:r>
              <a:rPr lang="en-US" sz="2200" dirty="0"/>
              <a:t>and</a:t>
            </a:r>
            <a:r>
              <a:rPr lang="en-US" sz="2200" spc="82" dirty="0"/>
              <a:t> </a:t>
            </a:r>
            <a:r>
              <a:rPr lang="en-US" sz="2200" dirty="0"/>
              <a:t>tunnelling</a:t>
            </a:r>
            <a:r>
              <a:rPr lang="en-US" sz="2200" spc="91" dirty="0"/>
              <a:t> </a:t>
            </a:r>
            <a:r>
              <a:rPr lang="en-US" sz="2200" dirty="0"/>
              <a:t>using</a:t>
            </a:r>
            <a:r>
              <a:rPr lang="en-US" sz="2200" spc="86" dirty="0"/>
              <a:t> </a:t>
            </a:r>
            <a:r>
              <a:rPr lang="en-US" sz="2200" spc="-18" dirty="0"/>
              <a:t>SSH)</a:t>
            </a:r>
            <a:endParaRPr lang="en-US" sz="2200" dirty="0"/>
          </a:p>
        </p:txBody>
      </p:sp>
      <p:pic>
        <p:nvPicPr>
          <p:cNvPr id="2050" name="Picture 2" descr="Introduction to SSH (Secure Shell) | by Aqeel Abbas | Medium">
            <a:extLst>
              <a:ext uri="{FF2B5EF4-FFF2-40B4-BE49-F238E27FC236}">
                <a16:creationId xmlns:a16="http://schemas.microsoft.com/office/drawing/2014/main" id="{60136BB8-8709-87D6-5824-6C433E02F9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6564" r="16452" b="-1"/>
          <a:stretch>
            <a:fillRect/>
          </a:stretch>
        </p:blipFill>
        <p:spPr bwMode="auto">
          <a:xfrm>
            <a:off x="6172200" y="1825625"/>
            <a:ext cx="5181600" cy="4351338"/>
          </a:xfrm>
          <a:prstGeom prst="rect">
            <a:avLst/>
          </a:prstGeom>
          <a:solidFill>
            <a:srgbClr val="FFFFFF"/>
          </a:solidFill>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289839" y="458368"/>
            <a:ext cx="9535557" cy="947479"/>
          </a:xfrm>
          <a:prstGeom prst="rect">
            <a:avLst/>
          </a:prstGeom>
        </p:spPr>
        <p:txBody>
          <a:bodyPr vert="horz" wrap="square" lIns="0" tIns="267756" rIns="0" bIns="0" rtlCol="0" anchor="ctr">
            <a:spAutoFit/>
          </a:bodyPr>
          <a:lstStyle/>
          <a:p>
            <a:pPr marL="2148953">
              <a:lnSpc>
                <a:spcPct val="100000"/>
              </a:lnSpc>
              <a:spcBef>
                <a:spcPts val="95"/>
              </a:spcBef>
            </a:pPr>
            <a:r>
              <a:rPr dirty="0"/>
              <a:t>Brief</a:t>
            </a:r>
            <a:r>
              <a:rPr spc="-36" dirty="0"/>
              <a:t> </a:t>
            </a:r>
            <a:r>
              <a:rPr spc="-9" dirty="0"/>
              <a:t>History</a:t>
            </a:r>
          </a:p>
        </p:txBody>
      </p:sp>
      <p:sp>
        <p:nvSpPr>
          <p:cNvPr id="3" name="object 3"/>
          <p:cNvSpPr txBox="1"/>
          <p:nvPr/>
        </p:nvSpPr>
        <p:spPr>
          <a:xfrm>
            <a:off x="2025491" y="2774415"/>
            <a:ext cx="7051474" cy="3418037"/>
          </a:xfrm>
          <a:prstGeom prst="rect">
            <a:avLst/>
          </a:prstGeom>
        </p:spPr>
        <p:txBody>
          <a:bodyPr vert="horz" wrap="square" lIns="0" tIns="23608" rIns="0" bIns="0" rtlCol="0">
            <a:spAutoFit/>
          </a:bodyPr>
          <a:lstStyle/>
          <a:p>
            <a:pPr marL="321306" marR="4607" indent="-310366">
              <a:lnSpc>
                <a:spcPct val="97600"/>
              </a:lnSpc>
              <a:spcBef>
                <a:spcPts val="185"/>
              </a:spcBef>
              <a:buChar char="•"/>
              <a:tabLst>
                <a:tab pos="321306" algn="l"/>
              </a:tabLst>
            </a:pPr>
            <a:r>
              <a:rPr sz="2358" dirty="0">
                <a:cs typeface="Comic Sans MS"/>
              </a:rPr>
              <a:t>Tatu</a:t>
            </a:r>
            <a:r>
              <a:rPr sz="2358" spc="-14" dirty="0">
                <a:cs typeface="Comic Sans MS"/>
              </a:rPr>
              <a:t> </a:t>
            </a:r>
            <a:r>
              <a:rPr sz="2358" dirty="0">
                <a:cs typeface="Comic Sans MS"/>
              </a:rPr>
              <a:t>Ylönen,</a:t>
            </a:r>
            <a:r>
              <a:rPr sz="2358" spc="-45" dirty="0">
                <a:cs typeface="Comic Sans MS"/>
              </a:rPr>
              <a:t> </a:t>
            </a:r>
            <a:r>
              <a:rPr sz="2358" dirty="0">
                <a:cs typeface="Comic Sans MS"/>
              </a:rPr>
              <a:t>a</a:t>
            </a:r>
            <a:r>
              <a:rPr sz="2358" spc="-54" dirty="0">
                <a:cs typeface="Comic Sans MS"/>
              </a:rPr>
              <a:t> </a:t>
            </a:r>
            <a:r>
              <a:rPr sz="2358" dirty="0">
                <a:cs typeface="Comic Sans MS"/>
              </a:rPr>
              <a:t>researcher</a:t>
            </a:r>
            <a:r>
              <a:rPr sz="2358" spc="-50" dirty="0">
                <a:cs typeface="Comic Sans MS"/>
              </a:rPr>
              <a:t> </a:t>
            </a:r>
            <a:r>
              <a:rPr sz="2358" dirty="0">
                <a:cs typeface="Comic Sans MS"/>
              </a:rPr>
              <a:t>at</a:t>
            </a:r>
            <a:r>
              <a:rPr sz="2358" spc="-27" dirty="0">
                <a:cs typeface="Comic Sans MS"/>
              </a:rPr>
              <a:t> </a:t>
            </a:r>
            <a:r>
              <a:rPr sz="2358" dirty="0">
                <a:cs typeface="Comic Sans MS"/>
              </a:rPr>
              <a:t>Helsinki</a:t>
            </a:r>
            <a:r>
              <a:rPr sz="2358" spc="-50" dirty="0">
                <a:cs typeface="Comic Sans MS"/>
              </a:rPr>
              <a:t> </a:t>
            </a:r>
            <a:r>
              <a:rPr sz="2358" spc="-9" dirty="0">
                <a:cs typeface="Comic Sans MS"/>
              </a:rPr>
              <a:t>University </a:t>
            </a:r>
            <a:r>
              <a:rPr sz="2358" dirty="0">
                <a:cs typeface="Comic Sans MS"/>
              </a:rPr>
              <a:t>of</a:t>
            </a:r>
            <a:r>
              <a:rPr sz="2358" spc="-50" dirty="0">
                <a:cs typeface="Comic Sans MS"/>
              </a:rPr>
              <a:t> </a:t>
            </a:r>
            <a:r>
              <a:rPr sz="2358" dirty="0">
                <a:cs typeface="Comic Sans MS"/>
              </a:rPr>
              <a:t>Technology,</a:t>
            </a:r>
            <a:r>
              <a:rPr sz="2358" spc="-41" dirty="0">
                <a:cs typeface="Comic Sans MS"/>
              </a:rPr>
              <a:t> </a:t>
            </a:r>
            <a:r>
              <a:rPr sz="2358" dirty="0">
                <a:cs typeface="Comic Sans MS"/>
              </a:rPr>
              <a:t>Finland,</a:t>
            </a:r>
            <a:r>
              <a:rPr sz="2358" spc="-41" dirty="0">
                <a:cs typeface="Comic Sans MS"/>
              </a:rPr>
              <a:t> </a:t>
            </a:r>
            <a:r>
              <a:rPr sz="2358" dirty="0">
                <a:cs typeface="Comic Sans MS"/>
              </a:rPr>
              <a:t>developed</a:t>
            </a:r>
            <a:r>
              <a:rPr sz="2358" spc="-95" dirty="0">
                <a:cs typeface="Comic Sans MS"/>
              </a:rPr>
              <a:t> </a:t>
            </a:r>
            <a:r>
              <a:rPr sz="2358" dirty="0">
                <a:cs typeface="Comic Sans MS"/>
              </a:rPr>
              <a:t>the</a:t>
            </a:r>
            <a:r>
              <a:rPr sz="2358" spc="-5" dirty="0">
                <a:cs typeface="Comic Sans MS"/>
              </a:rPr>
              <a:t> </a:t>
            </a:r>
            <a:r>
              <a:rPr sz="2358" spc="-9" dirty="0">
                <a:cs typeface="Comic Sans MS"/>
              </a:rPr>
              <a:t>first </a:t>
            </a:r>
            <a:r>
              <a:rPr sz="2358" dirty="0">
                <a:cs typeface="Comic Sans MS"/>
              </a:rPr>
              <a:t>version</a:t>
            </a:r>
            <a:r>
              <a:rPr sz="2358" spc="-9" dirty="0">
                <a:cs typeface="Comic Sans MS"/>
              </a:rPr>
              <a:t> </a:t>
            </a:r>
            <a:r>
              <a:rPr sz="2358" dirty="0">
                <a:cs typeface="Comic Sans MS"/>
              </a:rPr>
              <a:t>of</a:t>
            </a:r>
            <a:r>
              <a:rPr sz="2358" spc="-32" dirty="0">
                <a:cs typeface="Comic Sans MS"/>
              </a:rPr>
              <a:t> </a:t>
            </a:r>
            <a:r>
              <a:rPr sz="2358" dirty="0">
                <a:cs typeface="Comic Sans MS"/>
              </a:rPr>
              <a:t>SSH</a:t>
            </a:r>
            <a:r>
              <a:rPr sz="2358" spc="-45" dirty="0">
                <a:cs typeface="Comic Sans MS"/>
              </a:rPr>
              <a:t> </a:t>
            </a:r>
            <a:r>
              <a:rPr sz="2358" dirty="0">
                <a:cs typeface="Comic Sans MS"/>
              </a:rPr>
              <a:t>in</a:t>
            </a:r>
            <a:r>
              <a:rPr sz="2358" spc="-5" dirty="0">
                <a:cs typeface="Comic Sans MS"/>
              </a:rPr>
              <a:t> </a:t>
            </a:r>
            <a:r>
              <a:rPr sz="2358" spc="-9" dirty="0">
                <a:cs typeface="Comic Sans MS"/>
              </a:rPr>
              <a:t>1995.</a:t>
            </a:r>
            <a:endParaRPr sz="2358" dirty="0">
              <a:cs typeface="Comic Sans MS"/>
            </a:endParaRPr>
          </a:p>
          <a:p>
            <a:pPr marL="321306" marR="332823" indent="-310366">
              <a:lnSpc>
                <a:spcPts val="2793"/>
              </a:lnSpc>
              <a:spcBef>
                <a:spcPts val="562"/>
              </a:spcBef>
              <a:buChar char="•"/>
              <a:tabLst>
                <a:tab pos="321306" algn="l"/>
              </a:tabLst>
            </a:pPr>
            <a:r>
              <a:rPr sz="2358" dirty="0">
                <a:cs typeface="Comic Sans MS"/>
              </a:rPr>
              <a:t>Very</a:t>
            </a:r>
            <a:r>
              <a:rPr sz="2358" spc="-59" dirty="0">
                <a:cs typeface="Comic Sans MS"/>
              </a:rPr>
              <a:t> </a:t>
            </a:r>
            <a:r>
              <a:rPr sz="2358" dirty="0">
                <a:cs typeface="Comic Sans MS"/>
              </a:rPr>
              <a:t>popular,</a:t>
            </a:r>
            <a:r>
              <a:rPr sz="2358" spc="-18" dirty="0">
                <a:cs typeface="Comic Sans MS"/>
              </a:rPr>
              <a:t> </a:t>
            </a:r>
            <a:r>
              <a:rPr sz="2358" dirty="0">
                <a:cs typeface="Comic Sans MS"/>
              </a:rPr>
              <a:t>20K</a:t>
            </a:r>
            <a:r>
              <a:rPr sz="2358" spc="-63" dirty="0">
                <a:cs typeface="Comic Sans MS"/>
              </a:rPr>
              <a:t> </a:t>
            </a:r>
            <a:r>
              <a:rPr sz="2358" dirty="0">
                <a:cs typeface="Comic Sans MS"/>
              </a:rPr>
              <a:t>users</a:t>
            </a:r>
            <a:r>
              <a:rPr sz="2358" spc="-45" dirty="0">
                <a:cs typeface="Comic Sans MS"/>
              </a:rPr>
              <a:t> </a:t>
            </a:r>
            <a:r>
              <a:rPr sz="2358" dirty="0">
                <a:cs typeface="Comic Sans MS"/>
              </a:rPr>
              <a:t>in</a:t>
            </a:r>
            <a:r>
              <a:rPr sz="2358" spc="-59" dirty="0">
                <a:cs typeface="Comic Sans MS"/>
              </a:rPr>
              <a:t> </a:t>
            </a:r>
            <a:r>
              <a:rPr sz="2358" dirty="0">
                <a:cs typeface="Comic Sans MS"/>
              </a:rPr>
              <a:t>50 countries</a:t>
            </a:r>
            <a:r>
              <a:rPr sz="2358" spc="23" dirty="0">
                <a:cs typeface="Comic Sans MS"/>
              </a:rPr>
              <a:t> </a:t>
            </a:r>
            <a:r>
              <a:rPr sz="2358" dirty="0">
                <a:cs typeface="Comic Sans MS"/>
              </a:rPr>
              <a:t>in </a:t>
            </a:r>
            <a:r>
              <a:rPr sz="2358" spc="-23" dirty="0">
                <a:cs typeface="Comic Sans MS"/>
              </a:rPr>
              <a:t>the </a:t>
            </a:r>
            <a:r>
              <a:rPr sz="2358" dirty="0">
                <a:cs typeface="Comic Sans MS"/>
              </a:rPr>
              <a:t>first</a:t>
            </a:r>
            <a:r>
              <a:rPr sz="2358" spc="-86" dirty="0">
                <a:cs typeface="Comic Sans MS"/>
              </a:rPr>
              <a:t> </a:t>
            </a:r>
            <a:r>
              <a:rPr sz="2358" spc="-18" dirty="0">
                <a:cs typeface="Comic Sans MS"/>
              </a:rPr>
              <a:t>year.</a:t>
            </a:r>
            <a:endParaRPr sz="2358" dirty="0">
              <a:cs typeface="Comic Sans MS"/>
            </a:endParaRPr>
          </a:p>
          <a:p>
            <a:pPr marL="321306" marR="55853" indent="-310366">
              <a:lnSpc>
                <a:spcPct val="97500"/>
              </a:lnSpc>
              <a:spcBef>
                <a:spcPts val="426"/>
              </a:spcBef>
              <a:buChar char="•"/>
              <a:tabLst>
                <a:tab pos="321306" algn="l"/>
              </a:tabLst>
            </a:pPr>
            <a:r>
              <a:rPr sz="2358" dirty="0">
                <a:cs typeface="Comic Sans MS"/>
              </a:rPr>
              <a:t>Ylönen</a:t>
            </a:r>
            <a:r>
              <a:rPr sz="2358" spc="-63" dirty="0">
                <a:cs typeface="Comic Sans MS"/>
              </a:rPr>
              <a:t> </a:t>
            </a:r>
            <a:r>
              <a:rPr sz="2358" dirty="0">
                <a:cs typeface="Comic Sans MS"/>
              </a:rPr>
              <a:t>found</a:t>
            </a:r>
            <a:r>
              <a:rPr sz="2358" spc="-18" dirty="0">
                <a:cs typeface="Comic Sans MS"/>
              </a:rPr>
              <a:t> </a:t>
            </a:r>
            <a:r>
              <a:rPr sz="2358" dirty="0">
                <a:cs typeface="Comic Sans MS"/>
              </a:rPr>
              <a:t>the</a:t>
            </a:r>
            <a:r>
              <a:rPr sz="2358" spc="14" dirty="0">
                <a:cs typeface="Comic Sans MS"/>
              </a:rPr>
              <a:t> </a:t>
            </a:r>
            <a:r>
              <a:rPr sz="2358" dirty="0">
                <a:cs typeface="Comic Sans MS"/>
              </a:rPr>
              <a:t>SSH</a:t>
            </a:r>
            <a:r>
              <a:rPr sz="2358" spc="-36" dirty="0">
                <a:cs typeface="Comic Sans MS"/>
              </a:rPr>
              <a:t> </a:t>
            </a:r>
            <a:r>
              <a:rPr sz="2358" spc="-9" dirty="0">
                <a:cs typeface="Comic Sans MS"/>
              </a:rPr>
              <a:t>Communications</a:t>
            </a:r>
            <a:r>
              <a:rPr sz="2358" spc="-45" dirty="0">
                <a:cs typeface="Comic Sans MS"/>
              </a:rPr>
              <a:t> </a:t>
            </a:r>
            <a:r>
              <a:rPr sz="2358" spc="-9" dirty="0">
                <a:cs typeface="Comic Sans MS"/>
              </a:rPr>
              <a:t>Security </a:t>
            </a:r>
            <a:r>
              <a:rPr sz="1632" u="sng" dirty="0">
                <a:uFill>
                  <a:solidFill>
                    <a:srgbClr val="000000"/>
                  </a:solidFill>
                </a:uFill>
                <a:cs typeface="Comic Sans MS"/>
              </a:rPr>
              <a:t>(</a:t>
            </a:r>
            <a:r>
              <a:rPr sz="1632" u="sng" dirty="0">
                <a:uFill>
                  <a:solidFill>
                    <a:srgbClr val="000000"/>
                  </a:solidFill>
                </a:uFill>
                <a:cs typeface="Comic Sans MS"/>
                <a:hlinkClick r:id="rId2"/>
              </a:rPr>
              <a:t>www.ssh.com)</a:t>
            </a:r>
            <a:r>
              <a:rPr sz="1632" spc="185" dirty="0">
                <a:cs typeface="Comic Sans MS"/>
              </a:rPr>
              <a:t> </a:t>
            </a:r>
            <a:r>
              <a:rPr sz="2358" dirty="0">
                <a:cs typeface="Comic Sans MS"/>
              </a:rPr>
              <a:t>to</a:t>
            </a:r>
            <a:r>
              <a:rPr sz="2358" spc="-45" dirty="0">
                <a:cs typeface="Comic Sans MS"/>
              </a:rPr>
              <a:t> </a:t>
            </a:r>
            <a:r>
              <a:rPr sz="2358" dirty="0">
                <a:cs typeface="Comic Sans MS"/>
              </a:rPr>
              <a:t>maintain,</a:t>
            </a:r>
            <a:r>
              <a:rPr sz="2358" spc="-63" dirty="0">
                <a:cs typeface="Comic Sans MS"/>
              </a:rPr>
              <a:t> </a:t>
            </a:r>
            <a:r>
              <a:rPr sz="2358" dirty="0">
                <a:cs typeface="Comic Sans MS"/>
              </a:rPr>
              <a:t>develop</a:t>
            </a:r>
            <a:r>
              <a:rPr sz="2358" spc="-63" dirty="0">
                <a:cs typeface="Comic Sans MS"/>
              </a:rPr>
              <a:t> </a:t>
            </a:r>
            <a:r>
              <a:rPr sz="2358" spc="-23" dirty="0">
                <a:cs typeface="Comic Sans MS"/>
              </a:rPr>
              <a:t>and </a:t>
            </a:r>
            <a:r>
              <a:rPr sz="2358" dirty="0">
                <a:cs typeface="Comic Sans MS"/>
              </a:rPr>
              <a:t>commercialize</a:t>
            </a:r>
            <a:r>
              <a:rPr sz="2358" spc="-73" dirty="0">
                <a:cs typeface="Comic Sans MS"/>
              </a:rPr>
              <a:t> </a:t>
            </a:r>
            <a:r>
              <a:rPr sz="2358" dirty="0">
                <a:cs typeface="Comic Sans MS"/>
              </a:rPr>
              <a:t>SSH,</a:t>
            </a:r>
            <a:r>
              <a:rPr sz="2358" spc="-41" dirty="0">
                <a:cs typeface="Comic Sans MS"/>
              </a:rPr>
              <a:t> </a:t>
            </a:r>
            <a:r>
              <a:rPr sz="2358" dirty="0">
                <a:cs typeface="Comic Sans MS"/>
              </a:rPr>
              <a:t>in</a:t>
            </a:r>
            <a:r>
              <a:rPr sz="2358" spc="-18" dirty="0">
                <a:cs typeface="Comic Sans MS"/>
              </a:rPr>
              <a:t> </a:t>
            </a:r>
            <a:r>
              <a:rPr sz="2358" dirty="0">
                <a:cs typeface="Comic Sans MS"/>
              </a:rPr>
              <a:t>Dec.</a:t>
            </a:r>
            <a:r>
              <a:rPr sz="2358" spc="-45" dirty="0">
                <a:cs typeface="Comic Sans MS"/>
              </a:rPr>
              <a:t> </a:t>
            </a:r>
            <a:r>
              <a:rPr sz="2358" spc="-9" dirty="0">
                <a:cs typeface="Comic Sans MS"/>
              </a:rPr>
              <a:t>1995.</a:t>
            </a:r>
            <a:endParaRPr sz="2358" dirty="0">
              <a:cs typeface="Comic Sans MS"/>
            </a:endParaRPr>
          </a:p>
          <a:p>
            <a:pPr marL="321306" indent="-309790">
              <a:spcBef>
                <a:spcPts val="444"/>
              </a:spcBef>
              <a:buChar char="•"/>
              <a:tabLst>
                <a:tab pos="321306" algn="l"/>
              </a:tabLst>
            </a:pPr>
            <a:r>
              <a:rPr sz="2358" dirty="0">
                <a:cs typeface="Comic Sans MS"/>
              </a:rPr>
              <a:t>SSH2</a:t>
            </a:r>
            <a:r>
              <a:rPr sz="2358" spc="-68" dirty="0">
                <a:cs typeface="Comic Sans MS"/>
              </a:rPr>
              <a:t> </a:t>
            </a:r>
            <a:r>
              <a:rPr sz="2358" dirty="0">
                <a:cs typeface="Comic Sans MS"/>
              </a:rPr>
              <a:t>was</a:t>
            </a:r>
            <a:r>
              <a:rPr sz="2358" spc="18" dirty="0">
                <a:cs typeface="Comic Sans MS"/>
              </a:rPr>
              <a:t> </a:t>
            </a:r>
            <a:r>
              <a:rPr sz="2358" dirty="0">
                <a:cs typeface="Comic Sans MS"/>
              </a:rPr>
              <a:t>released</a:t>
            </a:r>
            <a:r>
              <a:rPr sz="2358" spc="-14" dirty="0">
                <a:cs typeface="Comic Sans MS"/>
              </a:rPr>
              <a:t> </a:t>
            </a:r>
            <a:r>
              <a:rPr sz="2358" dirty="0">
                <a:cs typeface="Comic Sans MS"/>
              </a:rPr>
              <a:t>in</a:t>
            </a:r>
            <a:r>
              <a:rPr sz="2358" spc="-68" dirty="0">
                <a:cs typeface="Comic Sans MS"/>
              </a:rPr>
              <a:t> </a:t>
            </a:r>
            <a:r>
              <a:rPr sz="2358" spc="-9" dirty="0">
                <a:cs typeface="Comic Sans MS"/>
              </a:rPr>
              <a:t>1998.</a:t>
            </a:r>
            <a:endParaRPr sz="2358" dirty="0">
              <a:cs typeface="Comic Sans MS"/>
            </a:endParaRPr>
          </a:p>
        </p:txBody>
      </p:sp>
      <p:pic>
        <p:nvPicPr>
          <p:cNvPr id="4" name="object 4"/>
          <p:cNvPicPr/>
          <p:nvPr/>
        </p:nvPicPr>
        <p:blipFill>
          <a:blip r:embed="rId3" cstate="print"/>
          <a:stretch>
            <a:fillRect/>
          </a:stretch>
        </p:blipFill>
        <p:spPr>
          <a:xfrm>
            <a:off x="2479859" y="1080489"/>
            <a:ext cx="1269680" cy="1071805"/>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839788" y="457200"/>
            <a:ext cx="3932237" cy="1600200"/>
          </a:xfrm>
        </p:spPr>
        <p:txBody>
          <a:bodyPr vert="horz" lIns="91440" tIns="45720" rIns="91440" bIns="45720" rtlCol="0" anchor="b">
            <a:normAutofit/>
          </a:bodyPr>
          <a:lstStyle/>
          <a:p>
            <a:pPr marL="1395783"/>
            <a:r>
              <a:rPr lang="en-US" kern="1200">
                <a:latin typeface="+mj-lt"/>
                <a:ea typeface="+mj-ea"/>
                <a:cs typeface="+mj-cs"/>
              </a:rPr>
              <a:t>Brief</a:t>
            </a:r>
            <a:r>
              <a:rPr lang="en-US" kern="1200" spc="-63">
                <a:latin typeface="+mj-lt"/>
                <a:ea typeface="+mj-ea"/>
                <a:cs typeface="+mj-cs"/>
              </a:rPr>
              <a:t> </a:t>
            </a:r>
            <a:r>
              <a:rPr lang="en-US" kern="1200">
                <a:latin typeface="+mj-lt"/>
                <a:ea typeface="+mj-ea"/>
                <a:cs typeface="+mj-cs"/>
              </a:rPr>
              <a:t>History</a:t>
            </a:r>
            <a:r>
              <a:rPr lang="en-US" kern="1200" spc="-14">
                <a:latin typeface="+mj-lt"/>
                <a:ea typeface="+mj-ea"/>
                <a:cs typeface="+mj-cs"/>
              </a:rPr>
              <a:t> </a:t>
            </a:r>
            <a:r>
              <a:rPr lang="en-US" kern="1200" spc="-9">
                <a:latin typeface="+mj-lt"/>
                <a:ea typeface="+mj-ea"/>
                <a:cs typeface="+mj-cs"/>
              </a:rPr>
              <a:t>(cont.)</a:t>
            </a:r>
          </a:p>
        </p:txBody>
      </p:sp>
      <p:sp>
        <p:nvSpPr>
          <p:cNvPr id="11" name="object 3"/>
          <p:cNvSpPr txBox="1"/>
          <p:nvPr/>
        </p:nvSpPr>
        <p:spPr>
          <a:xfrm>
            <a:off x="5183188" y="987425"/>
            <a:ext cx="6172200" cy="4873625"/>
          </a:xfrm>
          <a:prstGeom prst="rect">
            <a:avLst/>
          </a:prstGeom>
        </p:spPr>
        <p:txBody>
          <a:bodyPr vert="horz" lIns="91440" tIns="45720" rIns="91440" bIns="45720" rtlCol="0">
            <a:normAutofit/>
          </a:bodyPr>
          <a:lstStyle/>
          <a:p>
            <a:pPr marL="228600" indent="-228600">
              <a:lnSpc>
                <a:spcPct val="90000"/>
              </a:lnSpc>
              <a:spcBef>
                <a:spcPts val="1000"/>
              </a:spcBef>
              <a:buSzPct val="46153"/>
              <a:buFont typeface="Arial" panose="020B0604020202020204" pitchFamily="34" charset="0"/>
              <a:buChar char="•"/>
              <a:tabLst>
                <a:tab pos="544148" algn="l"/>
              </a:tabLst>
            </a:pPr>
            <a:r>
              <a:rPr lang="en-US" sz="2200"/>
              <a:t>1999,</a:t>
            </a:r>
            <a:r>
              <a:rPr lang="en-US" sz="2200" spc="-32"/>
              <a:t> </a:t>
            </a:r>
            <a:r>
              <a:rPr lang="en-US" sz="2200"/>
              <a:t>Björn</a:t>
            </a:r>
            <a:r>
              <a:rPr lang="en-US" sz="2200" spc="-68"/>
              <a:t> </a:t>
            </a:r>
            <a:r>
              <a:rPr lang="en-US" sz="2200"/>
              <a:t>Grönvall</a:t>
            </a:r>
            <a:r>
              <a:rPr lang="en-US" sz="2200" spc="-18"/>
              <a:t> </a:t>
            </a:r>
            <a:r>
              <a:rPr lang="en-US" sz="2200"/>
              <a:t>developed</a:t>
            </a:r>
            <a:r>
              <a:rPr lang="en-US" sz="2200" spc="-23"/>
              <a:t> </a:t>
            </a:r>
            <a:r>
              <a:rPr lang="en-US" sz="2200"/>
              <a:t>the</a:t>
            </a:r>
            <a:r>
              <a:rPr lang="en-US" sz="2200" spc="-59"/>
              <a:t> </a:t>
            </a:r>
            <a:r>
              <a:rPr lang="en-US" sz="2200" spc="-9"/>
              <a:t>OSSH.</a:t>
            </a:r>
            <a:endParaRPr lang="en-US" sz="2200"/>
          </a:p>
          <a:p>
            <a:pPr marL="228600" indent="-228600">
              <a:lnSpc>
                <a:spcPct val="90000"/>
              </a:lnSpc>
              <a:spcBef>
                <a:spcPts val="1000"/>
              </a:spcBef>
              <a:buSzPct val="46153"/>
              <a:buFont typeface="Arial" panose="020B0604020202020204" pitchFamily="34" charset="0"/>
              <a:buChar char="•"/>
              <a:tabLst>
                <a:tab pos="544148" algn="l"/>
              </a:tabLst>
            </a:pPr>
            <a:r>
              <a:rPr lang="en-US" sz="2200"/>
              <a:t>“OpenBSD”</a:t>
            </a:r>
            <a:r>
              <a:rPr lang="en-US" sz="2200" spc="-73"/>
              <a:t> </a:t>
            </a:r>
            <a:r>
              <a:rPr lang="en-US" sz="2200"/>
              <a:t>then</a:t>
            </a:r>
            <a:r>
              <a:rPr lang="en-US" sz="2200" spc="-41"/>
              <a:t> </a:t>
            </a:r>
            <a:r>
              <a:rPr lang="en-US" sz="2200"/>
              <a:t>extended</a:t>
            </a:r>
            <a:r>
              <a:rPr lang="en-US" sz="2200" spc="-50"/>
              <a:t> </a:t>
            </a:r>
            <a:r>
              <a:rPr lang="en-US" sz="2200"/>
              <a:t>Grönvall's</a:t>
            </a:r>
            <a:r>
              <a:rPr lang="en-US" sz="2200" spc="-77"/>
              <a:t> </a:t>
            </a:r>
            <a:r>
              <a:rPr lang="en-US" sz="2200" spc="-9"/>
              <a:t>work,and</a:t>
            </a:r>
            <a:endParaRPr lang="en-US" sz="2200"/>
          </a:p>
          <a:p>
            <a:pPr marL="228600" indent="-228600">
              <a:lnSpc>
                <a:spcPct val="90000"/>
              </a:lnSpc>
              <a:spcBef>
                <a:spcPts val="1000"/>
              </a:spcBef>
              <a:buFont typeface="Arial" panose="020B0604020202020204" pitchFamily="34" charset="0"/>
              <a:buChar char="•"/>
            </a:pPr>
            <a:r>
              <a:rPr lang="en-US" sz="2200"/>
              <a:t>launched</a:t>
            </a:r>
            <a:r>
              <a:rPr lang="en-US" sz="2200" spc="-18"/>
              <a:t> </a:t>
            </a:r>
            <a:r>
              <a:rPr lang="en-US" sz="2200"/>
              <a:t>the</a:t>
            </a:r>
            <a:r>
              <a:rPr lang="en-US" sz="2200" spc="-54"/>
              <a:t> </a:t>
            </a:r>
            <a:r>
              <a:rPr lang="en-US" sz="2200"/>
              <a:t>OpenSSH</a:t>
            </a:r>
            <a:r>
              <a:rPr lang="en-US" sz="2200" spc="-36"/>
              <a:t> </a:t>
            </a:r>
            <a:r>
              <a:rPr lang="en-US" sz="2200"/>
              <a:t>project </a:t>
            </a:r>
            <a:r>
              <a:rPr lang="en-US" sz="2200" spc="-9"/>
              <a:t>(</a:t>
            </a:r>
            <a:r>
              <a:rPr lang="en-US" sz="2200" u="sng" spc="-9">
                <a:uFill>
                  <a:solidFill>
                    <a:srgbClr val="CCCCFF"/>
                  </a:solidFill>
                </a:uFill>
                <a:hlinkClick r:id="rId2">
                  <a:extLst>
                    <a:ext uri="{A12FA001-AC4F-418D-AE19-62706E023703}">
                      <ahyp:hlinkClr xmlns:ahyp="http://schemas.microsoft.com/office/drawing/2018/hyperlinkcolor" val="tx"/>
                    </a:ext>
                  </a:extLst>
                </a:hlinkClick>
              </a:rPr>
              <a:t>www.openssh.org</a:t>
            </a:r>
            <a:r>
              <a:rPr lang="en-US" sz="2200" spc="-9"/>
              <a:t>),</a:t>
            </a:r>
            <a:endParaRPr lang="en-US" sz="2200"/>
          </a:p>
          <a:p>
            <a:pPr marL="228600" marR="1307107" indent="-228600">
              <a:lnSpc>
                <a:spcPct val="90000"/>
              </a:lnSpc>
              <a:spcBef>
                <a:spcPts val="1000"/>
              </a:spcBef>
              <a:buSzPct val="46153"/>
              <a:buFont typeface="Arial" panose="020B0604020202020204" pitchFamily="34" charset="0"/>
              <a:buChar char="•"/>
              <a:tabLst>
                <a:tab pos="544724" algn="l"/>
              </a:tabLst>
            </a:pPr>
            <a:r>
              <a:rPr lang="en-US" sz="2200"/>
              <a:t>OpenSSH</a:t>
            </a:r>
            <a:r>
              <a:rPr lang="en-US" sz="2200" spc="-45"/>
              <a:t> </a:t>
            </a:r>
            <a:r>
              <a:rPr lang="en-US" sz="2200"/>
              <a:t>was</a:t>
            </a:r>
            <a:r>
              <a:rPr lang="en-US" sz="2200" spc="-54"/>
              <a:t> </a:t>
            </a:r>
            <a:r>
              <a:rPr lang="en-US" sz="2200"/>
              <a:t>ported</a:t>
            </a:r>
            <a:r>
              <a:rPr lang="en-US" sz="2200" spc="-23"/>
              <a:t> </a:t>
            </a:r>
            <a:r>
              <a:rPr lang="en-US" sz="2200"/>
              <a:t>to</a:t>
            </a:r>
            <a:r>
              <a:rPr lang="en-US" sz="2200" spc="-18"/>
              <a:t> </a:t>
            </a:r>
            <a:r>
              <a:rPr lang="en-US" sz="2200"/>
              <a:t>Linux,</a:t>
            </a:r>
            <a:r>
              <a:rPr lang="en-US" sz="2200" spc="-36"/>
              <a:t> </a:t>
            </a:r>
            <a:r>
              <a:rPr lang="en-US" sz="2200"/>
              <a:t>Solaris,</a:t>
            </a:r>
            <a:r>
              <a:rPr lang="en-US" sz="2200" spc="-36"/>
              <a:t> </a:t>
            </a:r>
            <a:r>
              <a:rPr lang="en-US" sz="2200" spc="-18"/>
              <a:t>AIX, </a:t>
            </a:r>
            <a:r>
              <a:rPr lang="en-US" sz="2200"/>
              <a:t>Mac</a:t>
            </a:r>
            <a:r>
              <a:rPr lang="en-US" sz="2200" spc="-32"/>
              <a:t> </a:t>
            </a:r>
            <a:r>
              <a:rPr lang="en-US" sz="2200"/>
              <a:t>OS</a:t>
            </a:r>
            <a:r>
              <a:rPr lang="en-US" sz="2200" spc="-50"/>
              <a:t> </a:t>
            </a:r>
            <a:r>
              <a:rPr lang="en-US" sz="2200"/>
              <a:t>X,</a:t>
            </a:r>
            <a:r>
              <a:rPr lang="en-US" sz="2200" spc="-9"/>
              <a:t> </a:t>
            </a:r>
            <a:r>
              <a:rPr lang="en-US" sz="2200"/>
              <a:t>Windows</a:t>
            </a:r>
            <a:r>
              <a:rPr lang="en-US" sz="2200" spc="-36"/>
              <a:t> </a:t>
            </a:r>
            <a:r>
              <a:rPr lang="en-US" sz="2200"/>
              <a:t>(cygwin)</a:t>
            </a:r>
            <a:r>
              <a:rPr lang="en-US" sz="2200" spc="-23"/>
              <a:t> </a:t>
            </a:r>
            <a:r>
              <a:rPr lang="en-US" sz="2200"/>
              <a:t>and</a:t>
            </a:r>
            <a:r>
              <a:rPr lang="en-US" sz="2200" spc="-68"/>
              <a:t> </a:t>
            </a:r>
            <a:r>
              <a:rPr lang="en-US" sz="2200" spc="-18"/>
              <a:t>etc.</a:t>
            </a:r>
            <a:endParaRPr lang="en-US" sz="2200"/>
          </a:p>
          <a:p>
            <a:pPr marL="228600" marR="864303" indent="-228600">
              <a:lnSpc>
                <a:spcPct val="90000"/>
              </a:lnSpc>
              <a:spcBef>
                <a:spcPts val="1000"/>
              </a:spcBef>
              <a:buSzPct val="46153"/>
              <a:buFont typeface="Arial" panose="020B0604020202020204" pitchFamily="34" charset="0"/>
              <a:buChar char="•"/>
              <a:tabLst>
                <a:tab pos="544724" algn="l"/>
              </a:tabLst>
            </a:pPr>
            <a:r>
              <a:rPr lang="en-US" sz="2200"/>
              <a:t>Currently,</a:t>
            </a:r>
            <a:r>
              <a:rPr lang="en-US" sz="2200" spc="-27"/>
              <a:t> </a:t>
            </a:r>
            <a:r>
              <a:rPr lang="en-US" sz="2200"/>
              <a:t>OpenSSH</a:t>
            </a:r>
            <a:r>
              <a:rPr lang="en-US" sz="2200" spc="-32"/>
              <a:t> </a:t>
            </a:r>
            <a:r>
              <a:rPr lang="en-US" sz="2200"/>
              <a:t>is</a:t>
            </a:r>
            <a:r>
              <a:rPr lang="en-US" sz="2200" spc="-50"/>
              <a:t> </a:t>
            </a:r>
            <a:r>
              <a:rPr lang="en-US" sz="2200"/>
              <a:t>the</a:t>
            </a:r>
            <a:r>
              <a:rPr lang="en-US" sz="2200" spc="-54"/>
              <a:t> </a:t>
            </a:r>
            <a:r>
              <a:rPr lang="en-US" sz="2200"/>
              <a:t>single</a:t>
            </a:r>
            <a:r>
              <a:rPr lang="en-US" sz="2200" spc="9"/>
              <a:t> </a:t>
            </a:r>
            <a:r>
              <a:rPr lang="en-US" sz="2200"/>
              <a:t>most</a:t>
            </a:r>
            <a:r>
              <a:rPr lang="en-US" sz="2200" spc="-82"/>
              <a:t> </a:t>
            </a:r>
            <a:r>
              <a:rPr lang="en-US" sz="2200" spc="-9"/>
              <a:t>popular </a:t>
            </a:r>
            <a:r>
              <a:rPr lang="en-US" sz="2200"/>
              <a:t>SSH</a:t>
            </a:r>
            <a:r>
              <a:rPr lang="en-US" sz="2200" spc="-54"/>
              <a:t> </a:t>
            </a:r>
            <a:r>
              <a:rPr lang="en-US" sz="2200"/>
              <a:t>implementation</a:t>
            </a:r>
            <a:r>
              <a:rPr lang="en-US" sz="2200" spc="-82"/>
              <a:t> </a:t>
            </a:r>
            <a:r>
              <a:rPr lang="en-US" sz="2200"/>
              <a:t>in</a:t>
            </a:r>
            <a:r>
              <a:rPr lang="en-US" sz="2200" spc="-18"/>
              <a:t> </a:t>
            </a:r>
            <a:r>
              <a:rPr lang="en-US" sz="2200"/>
              <a:t>most</a:t>
            </a:r>
            <a:r>
              <a:rPr lang="en-US" sz="2200" spc="-95"/>
              <a:t> </a:t>
            </a:r>
            <a:r>
              <a:rPr lang="en-US" sz="2200"/>
              <a:t>operating</a:t>
            </a:r>
            <a:r>
              <a:rPr lang="en-US" sz="2200" spc="-36"/>
              <a:t> </a:t>
            </a:r>
            <a:r>
              <a:rPr lang="en-US" sz="2200" spc="-9"/>
              <a:t>systems.</a:t>
            </a:r>
            <a:endParaRPr lang="en-US" sz="2200"/>
          </a:p>
          <a:p>
            <a:pPr marL="228600" indent="-228600">
              <a:lnSpc>
                <a:spcPct val="90000"/>
              </a:lnSpc>
              <a:spcBef>
                <a:spcPts val="1000"/>
              </a:spcBef>
              <a:buFont typeface="Arial" panose="020B0604020202020204" pitchFamily="34" charset="0"/>
              <a:buChar char="•"/>
            </a:pPr>
            <a:r>
              <a:rPr lang="en-US" sz="2200"/>
              <a:t>Remark:</a:t>
            </a:r>
            <a:r>
              <a:rPr lang="en-US" sz="2200" spc="168"/>
              <a:t> </a:t>
            </a:r>
            <a:r>
              <a:rPr lang="en-US" sz="2200"/>
              <a:t>The</a:t>
            </a:r>
            <a:r>
              <a:rPr lang="en-US" sz="2200" spc="150"/>
              <a:t> </a:t>
            </a:r>
            <a:r>
              <a:rPr lang="en-US" sz="2200"/>
              <a:t>OpenBSD</a:t>
            </a:r>
            <a:r>
              <a:rPr lang="en-US" sz="2200" spc="177"/>
              <a:t> </a:t>
            </a:r>
            <a:r>
              <a:rPr lang="en-US" sz="2200"/>
              <a:t>project</a:t>
            </a:r>
            <a:r>
              <a:rPr lang="en-US" sz="2200" spc="118"/>
              <a:t> </a:t>
            </a:r>
            <a:r>
              <a:rPr lang="en-US" sz="2200"/>
              <a:t>produces</a:t>
            </a:r>
            <a:r>
              <a:rPr lang="en-US" sz="2200" spc="82"/>
              <a:t> </a:t>
            </a:r>
            <a:r>
              <a:rPr lang="en-US" sz="2200"/>
              <a:t>a</a:t>
            </a:r>
            <a:r>
              <a:rPr lang="en-US" sz="2200" spc="204"/>
              <a:t> </a:t>
            </a:r>
            <a:r>
              <a:rPr lang="en-US" sz="2200" b="1"/>
              <a:t>FREE</a:t>
            </a:r>
            <a:r>
              <a:rPr lang="en-US" sz="2200"/>
              <a:t>,</a:t>
            </a:r>
            <a:r>
              <a:rPr lang="en-US" sz="2200" spc="127"/>
              <a:t> </a:t>
            </a:r>
            <a:r>
              <a:rPr lang="en-US" sz="2200"/>
              <a:t>multi-platform</a:t>
            </a:r>
            <a:r>
              <a:rPr lang="en-US" sz="2200" spc="163"/>
              <a:t> </a:t>
            </a:r>
            <a:r>
              <a:rPr lang="en-US" sz="2200"/>
              <a:t>UNIX-like</a:t>
            </a:r>
            <a:r>
              <a:rPr lang="en-US" sz="2200" spc="150"/>
              <a:t> </a:t>
            </a:r>
            <a:r>
              <a:rPr lang="en-US" sz="2200"/>
              <a:t>operating</a:t>
            </a:r>
            <a:r>
              <a:rPr lang="en-US" sz="2200" spc="181"/>
              <a:t> </a:t>
            </a:r>
            <a:r>
              <a:rPr lang="en-US" sz="2200" spc="-9"/>
              <a:t>system.</a:t>
            </a:r>
            <a:endParaRPr lang="en-US" sz="2200"/>
          </a:p>
        </p:txBody>
      </p:sp>
      <p:sp>
        <p:nvSpPr>
          <p:cNvPr id="8" name="Text Placeholder 3">
            <a:extLst>
              <a:ext uri="{FF2B5EF4-FFF2-40B4-BE49-F238E27FC236}">
                <a16:creationId xmlns:a16="http://schemas.microsoft.com/office/drawing/2014/main" id="{5C7063C7-8EE8-837C-3276-94F2D680ACD4}"/>
              </a:ext>
            </a:extLst>
          </p:cNvPr>
          <p:cNvSpPr>
            <a:spLocks noGrp="1"/>
          </p:cNvSpPr>
          <p:nvPr>
            <p:ph type="body" sz="half" idx="2"/>
          </p:nvPr>
        </p:nvSpPr>
        <p:spPr>
          <a:xfrm>
            <a:off x="839788" y="2057400"/>
            <a:ext cx="3932237" cy="3811588"/>
          </a:xfrm>
        </p:spPr>
        <p:txBody>
          <a:bodyPr/>
          <a:lstStyle/>
          <a:p>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838200" y="365125"/>
            <a:ext cx="10515600" cy="1325563"/>
          </a:xfrm>
        </p:spPr>
        <p:txBody>
          <a:bodyPr vert="horz" lIns="0" tIns="267756" rIns="0" bIns="0" rtlCol="0" anchor="ctr">
            <a:normAutofit/>
          </a:bodyPr>
          <a:lstStyle/>
          <a:p>
            <a:pPr marL="1318623">
              <a:spcBef>
                <a:spcPts val="95"/>
              </a:spcBef>
            </a:pPr>
            <a:r>
              <a:rPr lang="en-US"/>
              <a:t>SSH</a:t>
            </a:r>
            <a:r>
              <a:rPr lang="en-US" spc="-54"/>
              <a:t> </a:t>
            </a:r>
            <a:r>
              <a:rPr lang="en-US" spc="-9"/>
              <a:t>Implementations</a:t>
            </a:r>
          </a:p>
        </p:txBody>
      </p:sp>
      <p:graphicFrame>
        <p:nvGraphicFramePr>
          <p:cNvPr id="3" name="object 3"/>
          <p:cNvGraphicFramePr>
            <a:graphicFrameLocks noGrp="1"/>
          </p:cNvGraphicFramePr>
          <p:nvPr>
            <p:extLst>
              <p:ext uri="{D42A27DB-BD31-4B8C-83A1-F6EECF244321}">
                <p14:modId xmlns:p14="http://schemas.microsoft.com/office/powerpoint/2010/main" val="1333029869"/>
              </p:ext>
            </p:extLst>
          </p:nvPr>
        </p:nvGraphicFramePr>
        <p:xfrm>
          <a:off x="1073790" y="1825625"/>
          <a:ext cx="10044423" cy="4351347"/>
        </p:xfrm>
        <a:graphic>
          <a:graphicData uri="http://schemas.openxmlformats.org/drawingml/2006/table">
            <a:tbl>
              <a:tblPr firstRow="1" bandRow="1">
                <a:tableStyleId>{2D5ABB26-0587-4C30-8999-92F81FD0307C}</a:tableStyleId>
              </a:tblPr>
              <a:tblGrid>
                <a:gridCol w="3771871">
                  <a:extLst>
                    <a:ext uri="{9D8B030D-6E8A-4147-A177-3AD203B41FA5}">
                      <a16:colId xmlns:a16="http://schemas.microsoft.com/office/drawing/2014/main" val="20000"/>
                    </a:ext>
                  </a:extLst>
                </a:gridCol>
                <a:gridCol w="964234">
                  <a:extLst>
                    <a:ext uri="{9D8B030D-6E8A-4147-A177-3AD203B41FA5}">
                      <a16:colId xmlns:a16="http://schemas.microsoft.com/office/drawing/2014/main" val="20001"/>
                    </a:ext>
                  </a:extLst>
                </a:gridCol>
                <a:gridCol w="822551">
                  <a:extLst>
                    <a:ext uri="{9D8B030D-6E8A-4147-A177-3AD203B41FA5}">
                      <a16:colId xmlns:a16="http://schemas.microsoft.com/office/drawing/2014/main" val="20002"/>
                    </a:ext>
                  </a:extLst>
                </a:gridCol>
                <a:gridCol w="916568">
                  <a:extLst>
                    <a:ext uri="{9D8B030D-6E8A-4147-A177-3AD203B41FA5}">
                      <a16:colId xmlns:a16="http://schemas.microsoft.com/office/drawing/2014/main" val="20003"/>
                    </a:ext>
                  </a:extLst>
                </a:gridCol>
                <a:gridCol w="1331123">
                  <a:extLst>
                    <a:ext uri="{9D8B030D-6E8A-4147-A177-3AD203B41FA5}">
                      <a16:colId xmlns:a16="http://schemas.microsoft.com/office/drawing/2014/main" val="20004"/>
                    </a:ext>
                  </a:extLst>
                </a:gridCol>
                <a:gridCol w="1178512">
                  <a:extLst>
                    <a:ext uri="{9D8B030D-6E8A-4147-A177-3AD203B41FA5}">
                      <a16:colId xmlns:a16="http://schemas.microsoft.com/office/drawing/2014/main" val="20005"/>
                    </a:ext>
                  </a:extLst>
                </a:gridCol>
                <a:gridCol w="1059564">
                  <a:extLst>
                    <a:ext uri="{9D8B030D-6E8A-4147-A177-3AD203B41FA5}">
                      <a16:colId xmlns:a16="http://schemas.microsoft.com/office/drawing/2014/main" val="20006"/>
                    </a:ext>
                  </a:extLst>
                </a:gridCol>
              </a:tblGrid>
              <a:tr h="438868">
                <a:tc>
                  <a:txBody>
                    <a:bodyPr/>
                    <a:lstStyle/>
                    <a:p>
                      <a:pPr marL="56515">
                        <a:lnSpc>
                          <a:spcPct val="100000"/>
                        </a:lnSpc>
                        <a:spcBef>
                          <a:spcPts val="244"/>
                        </a:spcBef>
                      </a:pPr>
                      <a:r>
                        <a:rPr lang="en-US" sz="2400" spc="-20">
                          <a:latin typeface="Comic Sans MS"/>
                          <a:cs typeface="Comic Sans MS"/>
                        </a:rPr>
                        <a:t>Name</a:t>
                      </a:r>
                      <a:endParaRPr lang="en-US" sz="2400">
                        <a:latin typeface="Comic Sans MS"/>
                        <a:cs typeface="Comic Sans MS"/>
                      </a:endParaRPr>
                    </a:p>
                  </a:txBody>
                  <a:tcPr marL="0" marR="0" marT="313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545"/>
                        </a:spcBef>
                      </a:pPr>
                      <a:r>
                        <a:rPr lang="en-US" sz="2100" spc="-20">
                          <a:solidFill>
                            <a:srgbClr val="008000"/>
                          </a:solidFill>
                          <a:latin typeface="Microsoft Sans Serif"/>
                          <a:cs typeface="Microsoft Sans Serif"/>
                        </a:rPr>
                        <a:t>UNIX</a:t>
                      </a:r>
                      <a:endParaRPr lang="en-US" sz="2100">
                        <a:latin typeface="Microsoft Sans Serif"/>
                        <a:cs typeface="Microsoft Sans Serif"/>
                      </a:endParaRPr>
                    </a:p>
                  </a:txBody>
                  <a:tcPr marL="0" marR="0" marT="6979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 algn="ctr">
                        <a:lnSpc>
                          <a:spcPct val="100000"/>
                        </a:lnSpc>
                        <a:spcBef>
                          <a:spcPts val="545"/>
                        </a:spcBef>
                      </a:pPr>
                      <a:r>
                        <a:rPr lang="en-US" sz="2100" spc="-25">
                          <a:solidFill>
                            <a:srgbClr val="008000"/>
                          </a:solidFill>
                          <a:latin typeface="Microsoft Sans Serif"/>
                          <a:cs typeface="Microsoft Sans Serif"/>
                        </a:rPr>
                        <a:t>WIN</a:t>
                      </a:r>
                      <a:endParaRPr lang="en-US" sz="2100">
                        <a:latin typeface="Microsoft Sans Serif"/>
                        <a:cs typeface="Microsoft Sans Serif"/>
                      </a:endParaRPr>
                    </a:p>
                  </a:txBody>
                  <a:tcPr marL="0" marR="0" marT="6979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 algn="ctr">
                        <a:lnSpc>
                          <a:spcPct val="100000"/>
                        </a:lnSpc>
                        <a:spcBef>
                          <a:spcPts val="545"/>
                        </a:spcBef>
                      </a:pPr>
                      <a:r>
                        <a:rPr lang="en-US" sz="2100" spc="-25">
                          <a:solidFill>
                            <a:srgbClr val="008000"/>
                          </a:solidFill>
                          <a:latin typeface="Microsoft Sans Serif"/>
                          <a:cs typeface="Microsoft Sans Serif"/>
                        </a:rPr>
                        <a:t>MAC</a:t>
                      </a:r>
                      <a:endParaRPr lang="en-US" sz="2100">
                        <a:latin typeface="Microsoft Sans Serif"/>
                        <a:cs typeface="Microsoft Sans Serif"/>
                      </a:endParaRPr>
                    </a:p>
                  </a:txBody>
                  <a:tcPr marL="0" marR="0" marT="6979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0320" algn="ctr">
                        <a:lnSpc>
                          <a:spcPct val="100000"/>
                        </a:lnSpc>
                        <a:spcBef>
                          <a:spcPts val="545"/>
                        </a:spcBef>
                      </a:pPr>
                      <a:r>
                        <a:rPr lang="en-US" sz="2100" spc="80">
                          <a:solidFill>
                            <a:srgbClr val="008000"/>
                          </a:solidFill>
                          <a:latin typeface="Microsoft Sans Serif"/>
                          <a:cs typeface="Microsoft Sans Serif"/>
                        </a:rPr>
                        <a:t>Clients</a:t>
                      </a:r>
                      <a:endParaRPr lang="en-US" sz="2100">
                        <a:latin typeface="Microsoft Sans Serif"/>
                        <a:cs typeface="Microsoft Sans Serif"/>
                      </a:endParaRPr>
                    </a:p>
                  </a:txBody>
                  <a:tcPr marL="0" marR="0" marT="69796" marB="0">
                    <a:lnL w="1270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545"/>
                        </a:spcBef>
                      </a:pPr>
                      <a:r>
                        <a:rPr lang="en-US" sz="2100" spc="-10">
                          <a:solidFill>
                            <a:srgbClr val="008000"/>
                          </a:solidFill>
                          <a:latin typeface="Microsoft Sans Serif"/>
                          <a:cs typeface="Microsoft Sans Serif"/>
                        </a:rPr>
                        <a:t>Server</a:t>
                      </a:r>
                      <a:endParaRPr lang="en-US" sz="2100">
                        <a:latin typeface="Microsoft Sans Serif"/>
                        <a:cs typeface="Microsoft Sans Serif"/>
                      </a:endParaRPr>
                    </a:p>
                  </a:txBody>
                  <a:tcPr marL="0" marR="0" marT="69796" marB="0">
                    <a:lnL w="190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4445" algn="ctr">
                        <a:lnSpc>
                          <a:spcPct val="100000"/>
                        </a:lnSpc>
                        <a:spcBef>
                          <a:spcPts val="545"/>
                        </a:spcBef>
                      </a:pPr>
                      <a:r>
                        <a:rPr lang="en-US" sz="2100" spc="-20">
                          <a:solidFill>
                            <a:srgbClr val="008000"/>
                          </a:solidFill>
                          <a:latin typeface="Microsoft Sans Serif"/>
                          <a:cs typeface="Microsoft Sans Serif"/>
                        </a:rPr>
                        <a:t>FREE</a:t>
                      </a:r>
                      <a:endParaRPr lang="en-US" sz="2100">
                        <a:latin typeface="Microsoft Sans Serif"/>
                        <a:cs typeface="Microsoft Sans Serif"/>
                      </a:endParaRPr>
                    </a:p>
                  </a:txBody>
                  <a:tcPr marL="0" marR="0" marT="6979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38229">
                <a:tc>
                  <a:txBody>
                    <a:bodyPr/>
                    <a:lstStyle/>
                    <a:p>
                      <a:pPr marL="56515">
                        <a:lnSpc>
                          <a:spcPct val="100000"/>
                        </a:lnSpc>
                        <a:spcBef>
                          <a:spcPts val="240"/>
                        </a:spcBef>
                      </a:pPr>
                      <a:r>
                        <a:rPr lang="en-US" sz="2400" spc="-10">
                          <a:solidFill>
                            <a:srgbClr val="0000FF"/>
                          </a:solidFill>
                          <a:latin typeface="Comic Sans MS"/>
                          <a:cs typeface="Comic Sans MS"/>
                        </a:rPr>
                        <a:t>SSH.COM</a:t>
                      </a:r>
                      <a:endParaRPr lang="en-US" sz="2400">
                        <a:latin typeface="Comic Sans MS"/>
                        <a:cs typeface="Comic Sans MS"/>
                      </a:endParaRPr>
                    </a:p>
                  </a:txBody>
                  <a:tcPr marL="0" marR="0" marT="3073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5240" algn="ctr">
                        <a:lnSpc>
                          <a:spcPct val="100000"/>
                        </a:lnSpc>
                        <a:spcBef>
                          <a:spcPts val="540"/>
                        </a:spcBef>
                      </a:pPr>
                      <a:r>
                        <a:rPr lang="en-US" sz="2100" spc="-50">
                          <a:solidFill>
                            <a:srgbClr val="FF0000"/>
                          </a:solidFill>
                          <a:latin typeface="Microsoft Sans Serif"/>
                          <a:cs typeface="Microsoft Sans Serif"/>
                        </a:rPr>
                        <a:t>X</a:t>
                      </a:r>
                      <a:endParaRPr lang="en-US" sz="2100">
                        <a:latin typeface="Microsoft Sans Serif"/>
                        <a:cs typeface="Microsoft Sans Serif"/>
                      </a:endParaRPr>
                    </a:p>
                  </a:txBody>
                  <a:tcPr marL="0" marR="0" marT="6915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3970" algn="ctr">
                        <a:lnSpc>
                          <a:spcPct val="100000"/>
                        </a:lnSpc>
                        <a:spcBef>
                          <a:spcPts val="540"/>
                        </a:spcBef>
                      </a:pPr>
                      <a:r>
                        <a:rPr lang="en-US" sz="2100" spc="-50">
                          <a:solidFill>
                            <a:srgbClr val="FF0000"/>
                          </a:solidFill>
                          <a:latin typeface="Microsoft Sans Serif"/>
                          <a:cs typeface="Microsoft Sans Serif"/>
                        </a:rPr>
                        <a:t>X</a:t>
                      </a:r>
                      <a:endParaRPr lang="en-US" sz="2100">
                        <a:latin typeface="Microsoft Sans Serif"/>
                        <a:cs typeface="Microsoft Sans Serif"/>
                      </a:endParaRPr>
                    </a:p>
                  </a:txBody>
                  <a:tcPr marL="0" marR="0" marT="6915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lang="en-US"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3970" algn="ctr">
                        <a:lnSpc>
                          <a:spcPct val="100000"/>
                        </a:lnSpc>
                        <a:spcBef>
                          <a:spcPts val="540"/>
                        </a:spcBef>
                      </a:pPr>
                      <a:r>
                        <a:rPr lang="en-US" sz="2100" spc="-50">
                          <a:solidFill>
                            <a:srgbClr val="FF0000"/>
                          </a:solidFill>
                          <a:latin typeface="Microsoft Sans Serif"/>
                          <a:cs typeface="Microsoft Sans Serif"/>
                        </a:rPr>
                        <a:t>X</a:t>
                      </a:r>
                      <a:endParaRPr lang="en-US" sz="2100">
                        <a:latin typeface="Microsoft Sans Serif"/>
                        <a:cs typeface="Microsoft Sans Serif"/>
                      </a:endParaRPr>
                    </a:p>
                  </a:txBody>
                  <a:tcPr marL="0" marR="0" marT="69156" marB="0">
                    <a:lnL w="1270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tcPr>
                </a:tc>
                <a:tc>
                  <a:txBody>
                    <a:bodyPr/>
                    <a:lstStyle/>
                    <a:p>
                      <a:pPr marL="14604" algn="ctr">
                        <a:lnSpc>
                          <a:spcPct val="100000"/>
                        </a:lnSpc>
                        <a:spcBef>
                          <a:spcPts val="540"/>
                        </a:spcBef>
                      </a:pPr>
                      <a:r>
                        <a:rPr lang="en-US" sz="2100" spc="-50">
                          <a:solidFill>
                            <a:srgbClr val="FF0000"/>
                          </a:solidFill>
                          <a:latin typeface="Microsoft Sans Serif"/>
                          <a:cs typeface="Microsoft Sans Serif"/>
                        </a:rPr>
                        <a:t>X</a:t>
                      </a:r>
                      <a:endParaRPr lang="en-US" sz="2100">
                        <a:latin typeface="Microsoft Sans Serif"/>
                        <a:cs typeface="Microsoft Sans Serif"/>
                      </a:endParaRPr>
                    </a:p>
                  </a:txBody>
                  <a:tcPr marL="0" marR="0" marT="69156" marB="0">
                    <a:lnL w="190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lang="en-US"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438868">
                <a:tc>
                  <a:txBody>
                    <a:bodyPr/>
                    <a:lstStyle/>
                    <a:p>
                      <a:pPr marL="56515">
                        <a:lnSpc>
                          <a:spcPct val="100000"/>
                        </a:lnSpc>
                        <a:spcBef>
                          <a:spcPts val="244"/>
                        </a:spcBef>
                      </a:pPr>
                      <a:r>
                        <a:rPr lang="en-US" sz="2400" spc="-10">
                          <a:solidFill>
                            <a:srgbClr val="0000FF"/>
                          </a:solidFill>
                          <a:latin typeface="Comic Sans MS"/>
                          <a:cs typeface="Comic Sans MS"/>
                        </a:rPr>
                        <a:t>OpenSSH</a:t>
                      </a:r>
                      <a:endParaRPr lang="en-US" sz="2400">
                        <a:latin typeface="Comic Sans MS"/>
                        <a:cs typeface="Comic Sans MS"/>
                      </a:endParaRPr>
                    </a:p>
                  </a:txBody>
                  <a:tcPr marL="0" marR="0" marT="313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5240" algn="ctr">
                        <a:lnSpc>
                          <a:spcPct val="100000"/>
                        </a:lnSpc>
                        <a:spcBef>
                          <a:spcPts val="545"/>
                        </a:spcBef>
                      </a:pPr>
                      <a:r>
                        <a:rPr lang="en-US" sz="2100" spc="-50">
                          <a:solidFill>
                            <a:srgbClr val="FF0000"/>
                          </a:solidFill>
                          <a:latin typeface="Microsoft Sans Serif"/>
                          <a:cs typeface="Microsoft Sans Serif"/>
                        </a:rPr>
                        <a:t>X</a:t>
                      </a:r>
                      <a:endParaRPr lang="en-US" sz="2100">
                        <a:latin typeface="Microsoft Sans Serif"/>
                        <a:cs typeface="Microsoft Sans Serif"/>
                      </a:endParaRPr>
                    </a:p>
                  </a:txBody>
                  <a:tcPr marL="0" marR="0" marT="6979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3970" algn="ctr">
                        <a:lnSpc>
                          <a:spcPct val="100000"/>
                        </a:lnSpc>
                        <a:spcBef>
                          <a:spcPts val="545"/>
                        </a:spcBef>
                      </a:pPr>
                      <a:r>
                        <a:rPr lang="en-US" sz="2100" spc="-50">
                          <a:solidFill>
                            <a:srgbClr val="FF0000"/>
                          </a:solidFill>
                          <a:latin typeface="Microsoft Sans Serif"/>
                          <a:cs typeface="Microsoft Sans Serif"/>
                        </a:rPr>
                        <a:t>X</a:t>
                      </a:r>
                      <a:endParaRPr lang="en-US" sz="2100">
                        <a:latin typeface="Microsoft Sans Serif"/>
                        <a:cs typeface="Microsoft Sans Serif"/>
                      </a:endParaRPr>
                    </a:p>
                  </a:txBody>
                  <a:tcPr marL="0" marR="0" marT="6979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lang="en-US"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3970" algn="ctr">
                        <a:lnSpc>
                          <a:spcPct val="100000"/>
                        </a:lnSpc>
                        <a:spcBef>
                          <a:spcPts val="545"/>
                        </a:spcBef>
                      </a:pPr>
                      <a:r>
                        <a:rPr lang="en-US" sz="2100" spc="-50">
                          <a:solidFill>
                            <a:srgbClr val="FF0000"/>
                          </a:solidFill>
                          <a:latin typeface="Microsoft Sans Serif"/>
                          <a:cs typeface="Microsoft Sans Serif"/>
                        </a:rPr>
                        <a:t>X</a:t>
                      </a:r>
                      <a:endParaRPr lang="en-US" sz="2100">
                        <a:latin typeface="Microsoft Sans Serif"/>
                        <a:cs typeface="Microsoft Sans Serif"/>
                      </a:endParaRPr>
                    </a:p>
                  </a:txBody>
                  <a:tcPr marL="0" marR="0" marT="69796" marB="0">
                    <a:lnL w="1270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tcPr>
                </a:tc>
                <a:tc>
                  <a:txBody>
                    <a:bodyPr/>
                    <a:lstStyle/>
                    <a:p>
                      <a:pPr marL="14604" algn="ctr">
                        <a:lnSpc>
                          <a:spcPct val="100000"/>
                        </a:lnSpc>
                        <a:spcBef>
                          <a:spcPts val="545"/>
                        </a:spcBef>
                      </a:pPr>
                      <a:r>
                        <a:rPr lang="en-US" sz="2100" spc="-50">
                          <a:solidFill>
                            <a:srgbClr val="FF0000"/>
                          </a:solidFill>
                          <a:latin typeface="Microsoft Sans Serif"/>
                          <a:cs typeface="Microsoft Sans Serif"/>
                        </a:rPr>
                        <a:t>X</a:t>
                      </a:r>
                      <a:endParaRPr lang="en-US" sz="2100">
                        <a:latin typeface="Microsoft Sans Serif"/>
                        <a:cs typeface="Microsoft Sans Serif"/>
                      </a:endParaRPr>
                    </a:p>
                  </a:txBody>
                  <a:tcPr marL="0" marR="0" marT="69796" marB="0">
                    <a:lnL w="190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545"/>
                        </a:spcBef>
                      </a:pPr>
                      <a:r>
                        <a:rPr lang="en-US" sz="2100" spc="-50">
                          <a:solidFill>
                            <a:srgbClr val="FF0000"/>
                          </a:solidFill>
                          <a:latin typeface="Microsoft Sans Serif"/>
                          <a:cs typeface="Microsoft Sans Serif"/>
                        </a:rPr>
                        <a:t>X</a:t>
                      </a:r>
                      <a:endParaRPr lang="en-US" sz="2100">
                        <a:latin typeface="Microsoft Sans Serif"/>
                        <a:cs typeface="Microsoft Sans Serif"/>
                      </a:endParaRPr>
                    </a:p>
                  </a:txBody>
                  <a:tcPr marL="0" marR="0" marT="6979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438229">
                <a:tc>
                  <a:txBody>
                    <a:bodyPr/>
                    <a:lstStyle/>
                    <a:p>
                      <a:pPr marL="56515">
                        <a:lnSpc>
                          <a:spcPct val="100000"/>
                        </a:lnSpc>
                        <a:spcBef>
                          <a:spcPts val="240"/>
                        </a:spcBef>
                      </a:pPr>
                      <a:r>
                        <a:rPr lang="en-US" sz="2400" spc="-10">
                          <a:solidFill>
                            <a:srgbClr val="0000FF"/>
                          </a:solidFill>
                          <a:latin typeface="Comic Sans MS"/>
                          <a:cs typeface="Comic Sans MS"/>
                        </a:rPr>
                        <a:t>F-</a:t>
                      </a:r>
                      <a:r>
                        <a:rPr lang="en-US" sz="2400" spc="-20">
                          <a:solidFill>
                            <a:srgbClr val="0000FF"/>
                          </a:solidFill>
                          <a:latin typeface="Comic Sans MS"/>
                          <a:cs typeface="Comic Sans MS"/>
                        </a:rPr>
                        <a:t>Secure</a:t>
                      </a:r>
                      <a:r>
                        <a:rPr lang="en-US" sz="2400" spc="-125">
                          <a:solidFill>
                            <a:srgbClr val="0000FF"/>
                          </a:solidFill>
                          <a:latin typeface="Comic Sans MS"/>
                          <a:cs typeface="Comic Sans MS"/>
                        </a:rPr>
                        <a:t> </a:t>
                      </a:r>
                      <a:r>
                        <a:rPr lang="en-US" sz="2400" spc="-25">
                          <a:solidFill>
                            <a:srgbClr val="0000FF"/>
                          </a:solidFill>
                          <a:latin typeface="Comic Sans MS"/>
                          <a:cs typeface="Comic Sans MS"/>
                        </a:rPr>
                        <a:t>SSH</a:t>
                      </a:r>
                      <a:endParaRPr lang="en-US" sz="2400">
                        <a:latin typeface="Comic Sans MS"/>
                        <a:cs typeface="Comic Sans MS"/>
                      </a:endParaRPr>
                    </a:p>
                  </a:txBody>
                  <a:tcPr marL="0" marR="0" marT="3073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5240" algn="ctr">
                        <a:lnSpc>
                          <a:spcPct val="100000"/>
                        </a:lnSpc>
                        <a:spcBef>
                          <a:spcPts val="540"/>
                        </a:spcBef>
                      </a:pPr>
                      <a:r>
                        <a:rPr lang="en-US" sz="2100" spc="-50">
                          <a:solidFill>
                            <a:srgbClr val="FF0000"/>
                          </a:solidFill>
                          <a:latin typeface="Microsoft Sans Serif"/>
                          <a:cs typeface="Microsoft Sans Serif"/>
                        </a:rPr>
                        <a:t>X</a:t>
                      </a:r>
                      <a:endParaRPr lang="en-US" sz="2100">
                        <a:latin typeface="Microsoft Sans Serif"/>
                        <a:cs typeface="Microsoft Sans Serif"/>
                      </a:endParaRPr>
                    </a:p>
                  </a:txBody>
                  <a:tcPr marL="0" marR="0" marT="6915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3970" algn="ctr">
                        <a:lnSpc>
                          <a:spcPct val="100000"/>
                        </a:lnSpc>
                        <a:spcBef>
                          <a:spcPts val="540"/>
                        </a:spcBef>
                      </a:pPr>
                      <a:r>
                        <a:rPr lang="en-US" sz="2100" spc="-50">
                          <a:solidFill>
                            <a:srgbClr val="FF0000"/>
                          </a:solidFill>
                          <a:latin typeface="Microsoft Sans Serif"/>
                          <a:cs typeface="Microsoft Sans Serif"/>
                        </a:rPr>
                        <a:t>X</a:t>
                      </a:r>
                      <a:endParaRPr lang="en-US" sz="2100">
                        <a:latin typeface="Microsoft Sans Serif"/>
                        <a:cs typeface="Microsoft Sans Serif"/>
                      </a:endParaRPr>
                    </a:p>
                  </a:txBody>
                  <a:tcPr marL="0" marR="0" marT="6915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540"/>
                        </a:spcBef>
                      </a:pPr>
                      <a:r>
                        <a:rPr lang="en-US" sz="2100" spc="-50">
                          <a:solidFill>
                            <a:srgbClr val="FF0000"/>
                          </a:solidFill>
                          <a:latin typeface="Microsoft Sans Serif"/>
                          <a:cs typeface="Microsoft Sans Serif"/>
                        </a:rPr>
                        <a:t>X</a:t>
                      </a:r>
                      <a:endParaRPr lang="en-US" sz="2100">
                        <a:latin typeface="Microsoft Sans Serif"/>
                        <a:cs typeface="Microsoft Sans Serif"/>
                      </a:endParaRPr>
                    </a:p>
                  </a:txBody>
                  <a:tcPr marL="0" marR="0" marT="6915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3970" algn="ctr">
                        <a:lnSpc>
                          <a:spcPct val="100000"/>
                        </a:lnSpc>
                        <a:spcBef>
                          <a:spcPts val="540"/>
                        </a:spcBef>
                      </a:pPr>
                      <a:r>
                        <a:rPr lang="en-US" sz="2100" spc="-50">
                          <a:solidFill>
                            <a:srgbClr val="FF0000"/>
                          </a:solidFill>
                          <a:latin typeface="Microsoft Sans Serif"/>
                          <a:cs typeface="Microsoft Sans Serif"/>
                        </a:rPr>
                        <a:t>X</a:t>
                      </a:r>
                      <a:endParaRPr lang="en-US" sz="2100">
                        <a:latin typeface="Microsoft Sans Serif"/>
                        <a:cs typeface="Microsoft Sans Serif"/>
                      </a:endParaRPr>
                    </a:p>
                  </a:txBody>
                  <a:tcPr marL="0" marR="0" marT="69156" marB="0">
                    <a:lnL w="1270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tcPr>
                </a:tc>
                <a:tc>
                  <a:txBody>
                    <a:bodyPr/>
                    <a:lstStyle/>
                    <a:p>
                      <a:pPr marL="14604" algn="ctr">
                        <a:lnSpc>
                          <a:spcPct val="100000"/>
                        </a:lnSpc>
                        <a:spcBef>
                          <a:spcPts val="540"/>
                        </a:spcBef>
                      </a:pPr>
                      <a:r>
                        <a:rPr lang="en-US" sz="2100" spc="-50">
                          <a:solidFill>
                            <a:srgbClr val="FF0000"/>
                          </a:solidFill>
                          <a:latin typeface="Microsoft Sans Serif"/>
                          <a:cs typeface="Microsoft Sans Serif"/>
                        </a:rPr>
                        <a:t>X</a:t>
                      </a:r>
                      <a:endParaRPr lang="en-US" sz="2100">
                        <a:latin typeface="Microsoft Sans Serif"/>
                        <a:cs typeface="Microsoft Sans Serif"/>
                      </a:endParaRPr>
                    </a:p>
                  </a:txBody>
                  <a:tcPr marL="0" marR="0" marT="69156" marB="0">
                    <a:lnL w="190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lang="en-US"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438868">
                <a:tc>
                  <a:txBody>
                    <a:bodyPr/>
                    <a:lstStyle/>
                    <a:p>
                      <a:pPr marL="56515">
                        <a:lnSpc>
                          <a:spcPct val="100000"/>
                        </a:lnSpc>
                        <a:spcBef>
                          <a:spcPts val="244"/>
                        </a:spcBef>
                      </a:pPr>
                      <a:r>
                        <a:rPr lang="en-US" sz="2400" spc="-10">
                          <a:solidFill>
                            <a:srgbClr val="0000FF"/>
                          </a:solidFill>
                          <a:latin typeface="Comic Sans MS"/>
                          <a:cs typeface="Comic Sans MS"/>
                        </a:rPr>
                        <a:t>PuTTY</a:t>
                      </a:r>
                      <a:endParaRPr lang="en-US" sz="2400">
                        <a:latin typeface="Comic Sans MS"/>
                        <a:cs typeface="Comic Sans MS"/>
                      </a:endParaRPr>
                    </a:p>
                  </a:txBody>
                  <a:tcPr marL="0" marR="0" marT="313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lang="en-US"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3970" algn="ctr">
                        <a:lnSpc>
                          <a:spcPct val="100000"/>
                        </a:lnSpc>
                        <a:spcBef>
                          <a:spcPts val="545"/>
                        </a:spcBef>
                      </a:pPr>
                      <a:r>
                        <a:rPr lang="en-US" sz="2100" spc="-50">
                          <a:solidFill>
                            <a:srgbClr val="FF0000"/>
                          </a:solidFill>
                          <a:latin typeface="Microsoft Sans Serif"/>
                          <a:cs typeface="Microsoft Sans Serif"/>
                        </a:rPr>
                        <a:t>X</a:t>
                      </a:r>
                      <a:endParaRPr lang="en-US" sz="2100">
                        <a:latin typeface="Microsoft Sans Serif"/>
                        <a:cs typeface="Microsoft Sans Serif"/>
                      </a:endParaRPr>
                    </a:p>
                  </a:txBody>
                  <a:tcPr marL="0" marR="0" marT="6979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lang="en-US"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3970" algn="ctr">
                        <a:lnSpc>
                          <a:spcPct val="100000"/>
                        </a:lnSpc>
                        <a:spcBef>
                          <a:spcPts val="545"/>
                        </a:spcBef>
                      </a:pPr>
                      <a:r>
                        <a:rPr lang="en-US" sz="2100" spc="-50">
                          <a:solidFill>
                            <a:srgbClr val="FF0000"/>
                          </a:solidFill>
                          <a:latin typeface="Microsoft Sans Serif"/>
                          <a:cs typeface="Microsoft Sans Serif"/>
                        </a:rPr>
                        <a:t>X</a:t>
                      </a:r>
                      <a:endParaRPr lang="en-US" sz="2100">
                        <a:latin typeface="Microsoft Sans Serif"/>
                        <a:cs typeface="Microsoft Sans Serif"/>
                      </a:endParaRPr>
                    </a:p>
                  </a:txBody>
                  <a:tcPr marL="0" marR="0" marT="69796" marB="0">
                    <a:lnL w="1270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lang="en-US" sz="2300">
                        <a:latin typeface="Times New Roman"/>
                        <a:cs typeface="Times New Roman"/>
                      </a:endParaRPr>
                    </a:p>
                  </a:txBody>
                  <a:tcPr marL="0" marR="0" marT="0" marB="0">
                    <a:lnL w="190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545"/>
                        </a:spcBef>
                      </a:pPr>
                      <a:r>
                        <a:rPr lang="en-US" sz="2100" spc="-50">
                          <a:solidFill>
                            <a:srgbClr val="FF0000"/>
                          </a:solidFill>
                          <a:latin typeface="Microsoft Sans Serif"/>
                          <a:cs typeface="Microsoft Sans Serif"/>
                        </a:rPr>
                        <a:t>X</a:t>
                      </a:r>
                      <a:endParaRPr lang="en-US" sz="2100">
                        <a:latin typeface="Microsoft Sans Serif"/>
                        <a:cs typeface="Microsoft Sans Serif"/>
                      </a:endParaRPr>
                    </a:p>
                  </a:txBody>
                  <a:tcPr marL="0" marR="0" marT="6979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392562">
                <a:tc>
                  <a:txBody>
                    <a:bodyPr/>
                    <a:lstStyle/>
                    <a:p>
                      <a:pPr marL="56515">
                        <a:lnSpc>
                          <a:spcPct val="100000"/>
                        </a:lnSpc>
                        <a:spcBef>
                          <a:spcPts val="244"/>
                        </a:spcBef>
                      </a:pPr>
                      <a:r>
                        <a:rPr lang="en-US" sz="2100" spc="-10">
                          <a:solidFill>
                            <a:srgbClr val="0000FF"/>
                          </a:solidFill>
                          <a:latin typeface="Comic Sans MS"/>
                          <a:cs typeface="Comic Sans MS"/>
                        </a:rPr>
                        <a:t>SecureCRT,</a:t>
                      </a:r>
                      <a:r>
                        <a:rPr lang="en-US" sz="2100" spc="-135">
                          <a:solidFill>
                            <a:srgbClr val="0000FF"/>
                          </a:solidFill>
                          <a:latin typeface="Comic Sans MS"/>
                          <a:cs typeface="Comic Sans MS"/>
                        </a:rPr>
                        <a:t> </a:t>
                      </a:r>
                      <a:r>
                        <a:rPr lang="en-US" sz="2100" spc="-10">
                          <a:solidFill>
                            <a:srgbClr val="0000FF"/>
                          </a:solidFill>
                          <a:latin typeface="Comic Sans MS"/>
                          <a:cs typeface="Comic Sans MS"/>
                        </a:rPr>
                        <a:t>SecureFX</a:t>
                      </a:r>
                      <a:endParaRPr lang="en-US" sz="2100">
                        <a:latin typeface="Comic Sans MS"/>
                        <a:cs typeface="Comic Sans MS"/>
                      </a:endParaRPr>
                    </a:p>
                  </a:txBody>
                  <a:tcPr marL="0" marR="0" marT="313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lang="en-US"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3970" algn="ctr">
                        <a:lnSpc>
                          <a:spcPct val="100000"/>
                        </a:lnSpc>
                        <a:spcBef>
                          <a:spcPts val="244"/>
                        </a:spcBef>
                      </a:pPr>
                      <a:r>
                        <a:rPr lang="en-US" sz="2100" spc="-50">
                          <a:solidFill>
                            <a:srgbClr val="FF0000"/>
                          </a:solidFill>
                          <a:latin typeface="Microsoft Sans Serif"/>
                          <a:cs typeface="Microsoft Sans Serif"/>
                        </a:rPr>
                        <a:t>X</a:t>
                      </a:r>
                      <a:endParaRPr lang="en-US" sz="2100">
                        <a:latin typeface="Microsoft Sans Serif"/>
                        <a:cs typeface="Microsoft Sans Serif"/>
                      </a:endParaRPr>
                    </a:p>
                  </a:txBody>
                  <a:tcPr marL="0" marR="0" marT="313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lang="en-US"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3970" algn="ctr">
                        <a:lnSpc>
                          <a:spcPct val="100000"/>
                        </a:lnSpc>
                        <a:spcBef>
                          <a:spcPts val="244"/>
                        </a:spcBef>
                      </a:pPr>
                      <a:r>
                        <a:rPr lang="en-US" sz="2100" spc="-50">
                          <a:solidFill>
                            <a:srgbClr val="FF0000"/>
                          </a:solidFill>
                          <a:latin typeface="Microsoft Sans Serif"/>
                          <a:cs typeface="Microsoft Sans Serif"/>
                        </a:rPr>
                        <a:t>X</a:t>
                      </a:r>
                      <a:endParaRPr lang="en-US" sz="2100">
                        <a:latin typeface="Microsoft Sans Serif"/>
                        <a:cs typeface="Microsoft Sans Serif"/>
                      </a:endParaRPr>
                    </a:p>
                  </a:txBody>
                  <a:tcPr marL="0" marR="0" marT="31375" marB="0">
                    <a:lnL w="1270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lang="en-US" sz="2300">
                        <a:latin typeface="Times New Roman"/>
                        <a:cs typeface="Times New Roman"/>
                      </a:endParaRPr>
                    </a:p>
                  </a:txBody>
                  <a:tcPr marL="0" marR="0" marT="0" marB="0">
                    <a:lnL w="190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lang="en-US"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451036">
                <a:tc>
                  <a:txBody>
                    <a:bodyPr/>
                    <a:lstStyle/>
                    <a:p>
                      <a:pPr marL="56515">
                        <a:lnSpc>
                          <a:spcPct val="100000"/>
                        </a:lnSpc>
                        <a:spcBef>
                          <a:spcPts val="340"/>
                        </a:spcBef>
                      </a:pPr>
                      <a:r>
                        <a:rPr lang="en-US" sz="2400" spc="-10">
                          <a:solidFill>
                            <a:srgbClr val="0000FF"/>
                          </a:solidFill>
                          <a:latin typeface="Comic Sans MS"/>
                          <a:cs typeface="Comic Sans MS"/>
                        </a:rPr>
                        <a:t>VShell</a:t>
                      </a:r>
                      <a:endParaRPr lang="en-US" sz="2400">
                        <a:latin typeface="Comic Sans MS"/>
                        <a:cs typeface="Comic Sans MS"/>
                      </a:endParaRPr>
                    </a:p>
                  </a:txBody>
                  <a:tcPr marL="0" marR="0" marT="4354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lang="en-US"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3970" algn="ctr">
                        <a:lnSpc>
                          <a:spcPct val="100000"/>
                        </a:lnSpc>
                        <a:spcBef>
                          <a:spcPts val="640"/>
                        </a:spcBef>
                      </a:pPr>
                      <a:r>
                        <a:rPr lang="en-US" sz="2100" spc="-50">
                          <a:solidFill>
                            <a:srgbClr val="FF0000"/>
                          </a:solidFill>
                          <a:latin typeface="Microsoft Sans Serif"/>
                          <a:cs typeface="Microsoft Sans Serif"/>
                        </a:rPr>
                        <a:t>X</a:t>
                      </a:r>
                      <a:endParaRPr lang="en-US" sz="2100">
                        <a:latin typeface="Microsoft Sans Serif"/>
                        <a:cs typeface="Microsoft Sans Serif"/>
                      </a:endParaRPr>
                    </a:p>
                  </a:txBody>
                  <a:tcPr marL="0" marR="0" marT="8196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lang="en-US"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lang="en-US" sz="2300">
                        <a:latin typeface="Times New Roman"/>
                        <a:cs typeface="Times New Roman"/>
                      </a:endParaRPr>
                    </a:p>
                  </a:txBody>
                  <a:tcPr marL="0" marR="0" marT="0" marB="0">
                    <a:lnL w="1270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tcPr>
                </a:tc>
                <a:tc>
                  <a:txBody>
                    <a:bodyPr/>
                    <a:lstStyle/>
                    <a:p>
                      <a:pPr marL="14604" algn="ctr">
                        <a:lnSpc>
                          <a:spcPct val="100000"/>
                        </a:lnSpc>
                        <a:spcBef>
                          <a:spcPts val="640"/>
                        </a:spcBef>
                      </a:pPr>
                      <a:r>
                        <a:rPr lang="en-US" sz="2100" spc="-50">
                          <a:solidFill>
                            <a:srgbClr val="FF0000"/>
                          </a:solidFill>
                          <a:latin typeface="Microsoft Sans Serif"/>
                          <a:cs typeface="Microsoft Sans Serif"/>
                        </a:rPr>
                        <a:t>X</a:t>
                      </a:r>
                      <a:endParaRPr lang="en-US" sz="2100">
                        <a:latin typeface="Microsoft Sans Serif"/>
                        <a:cs typeface="Microsoft Sans Serif"/>
                      </a:endParaRPr>
                    </a:p>
                  </a:txBody>
                  <a:tcPr marL="0" marR="0" marT="81963" marB="0">
                    <a:lnL w="190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lang="en-US"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438229">
                <a:tc>
                  <a:txBody>
                    <a:bodyPr/>
                    <a:lstStyle/>
                    <a:p>
                      <a:pPr marL="56515">
                        <a:lnSpc>
                          <a:spcPct val="100000"/>
                        </a:lnSpc>
                        <a:spcBef>
                          <a:spcPts val="240"/>
                        </a:spcBef>
                      </a:pPr>
                      <a:r>
                        <a:rPr lang="en-US" sz="2400" spc="-10">
                          <a:solidFill>
                            <a:srgbClr val="0000FF"/>
                          </a:solidFill>
                          <a:latin typeface="Comic Sans MS"/>
                          <a:cs typeface="Comic Sans MS"/>
                        </a:rPr>
                        <a:t>TeraTerm</a:t>
                      </a:r>
                      <a:endParaRPr lang="en-US" sz="2400">
                        <a:latin typeface="Comic Sans MS"/>
                        <a:cs typeface="Comic Sans MS"/>
                      </a:endParaRPr>
                    </a:p>
                  </a:txBody>
                  <a:tcPr marL="0" marR="0" marT="3073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lang="en-US"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3970" algn="ctr">
                        <a:lnSpc>
                          <a:spcPct val="100000"/>
                        </a:lnSpc>
                        <a:spcBef>
                          <a:spcPts val="540"/>
                        </a:spcBef>
                      </a:pPr>
                      <a:r>
                        <a:rPr lang="en-US" sz="2100" spc="-50">
                          <a:solidFill>
                            <a:srgbClr val="FF0000"/>
                          </a:solidFill>
                          <a:latin typeface="Microsoft Sans Serif"/>
                          <a:cs typeface="Microsoft Sans Serif"/>
                        </a:rPr>
                        <a:t>X</a:t>
                      </a:r>
                      <a:endParaRPr lang="en-US" sz="2100">
                        <a:latin typeface="Microsoft Sans Serif"/>
                        <a:cs typeface="Microsoft Sans Serif"/>
                      </a:endParaRPr>
                    </a:p>
                  </a:txBody>
                  <a:tcPr marL="0" marR="0" marT="6915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lang="en-US"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3970" algn="ctr">
                        <a:lnSpc>
                          <a:spcPct val="100000"/>
                        </a:lnSpc>
                        <a:spcBef>
                          <a:spcPts val="540"/>
                        </a:spcBef>
                      </a:pPr>
                      <a:r>
                        <a:rPr lang="en-US" sz="2100" spc="-50">
                          <a:solidFill>
                            <a:srgbClr val="FF0000"/>
                          </a:solidFill>
                          <a:latin typeface="Microsoft Sans Serif"/>
                          <a:cs typeface="Microsoft Sans Serif"/>
                        </a:rPr>
                        <a:t>X</a:t>
                      </a:r>
                      <a:endParaRPr lang="en-US" sz="2100">
                        <a:latin typeface="Microsoft Sans Serif"/>
                        <a:cs typeface="Microsoft Sans Serif"/>
                      </a:endParaRPr>
                    </a:p>
                  </a:txBody>
                  <a:tcPr marL="0" marR="0" marT="69156" marB="0">
                    <a:lnL w="1270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lang="en-US" sz="2300">
                        <a:latin typeface="Times New Roman"/>
                        <a:cs typeface="Times New Roman"/>
                      </a:endParaRPr>
                    </a:p>
                  </a:txBody>
                  <a:tcPr marL="0" marR="0" marT="0" marB="0">
                    <a:lnL w="190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540"/>
                        </a:spcBef>
                      </a:pPr>
                      <a:r>
                        <a:rPr lang="en-US" sz="2100" spc="-50">
                          <a:solidFill>
                            <a:srgbClr val="FF0000"/>
                          </a:solidFill>
                          <a:latin typeface="Microsoft Sans Serif"/>
                          <a:cs typeface="Microsoft Sans Serif"/>
                        </a:rPr>
                        <a:t>X</a:t>
                      </a:r>
                      <a:endParaRPr lang="en-US" sz="2100">
                        <a:latin typeface="Microsoft Sans Serif"/>
                        <a:cs typeface="Microsoft Sans Serif"/>
                      </a:endParaRPr>
                    </a:p>
                  </a:txBody>
                  <a:tcPr marL="0" marR="0" marT="6915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r h="438229">
                <a:tc>
                  <a:txBody>
                    <a:bodyPr/>
                    <a:lstStyle/>
                    <a:p>
                      <a:pPr marL="56515">
                        <a:lnSpc>
                          <a:spcPct val="100000"/>
                        </a:lnSpc>
                        <a:spcBef>
                          <a:spcPts val="240"/>
                        </a:spcBef>
                      </a:pPr>
                      <a:r>
                        <a:rPr lang="en-US" sz="2400" spc="-10">
                          <a:solidFill>
                            <a:srgbClr val="0000FF"/>
                          </a:solidFill>
                          <a:latin typeface="Comic Sans MS"/>
                          <a:cs typeface="Comic Sans MS"/>
                        </a:rPr>
                        <a:t>MindTerm</a:t>
                      </a:r>
                      <a:endParaRPr lang="en-US" sz="2400">
                        <a:latin typeface="Comic Sans MS"/>
                        <a:cs typeface="Comic Sans MS"/>
                      </a:endParaRPr>
                    </a:p>
                  </a:txBody>
                  <a:tcPr marL="0" marR="0" marT="3073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5240" algn="ctr">
                        <a:lnSpc>
                          <a:spcPct val="100000"/>
                        </a:lnSpc>
                        <a:spcBef>
                          <a:spcPts val="540"/>
                        </a:spcBef>
                      </a:pPr>
                      <a:r>
                        <a:rPr lang="en-US" sz="2100" spc="-50">
                          <a:solidFill>
                            <a:srgbClr val="FF0000"/>
                          </a:solidFill>
                          <a:latin typeface="Microsoft Sans Serif"/>
                          <a:cs typeface="Microsoft Sans Serif"/>
                        </a:rPr>
                        <a:t>X</a:t>
                      </a:r>
                      <a:endParaRPr lang="en-US" sz="2100">
                        <a:latin typeface="Microsoft Sans Serif"/>
                        <a:cs typeface="Microsoft Sans Serif"/>
                      </a:endParaRPr>
                    </a:p>
                  </a:txBody>
                  <a:tcPr marL="0" marR="0" marT="6915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3970" algn="ctr">
                        <a:lnSpc>
                          <a:spcPct val="100000"/>
                        </a:lnSpc>
                        <a:spcBef>
                          <a:spcPts val="540"/>
                        </a:spcBef>
                      </a:pPr>
                      <a:r>
                        <a:rPr lang="en-US" sz="2100" spc="-50">
                          <a:solidFill>
                            <a:srgbClr val="FF0000"/>
                          </a:solidFill>
                          <a:latin typeface="Microsoft Sans Serif"/>
                          <a:cs typeface="Microsoft Sans Serif"/>
                        </a:rPr>
                        <a:t>X</a:t>
                      </a:r>
                      <a:endParaRPr lang="en-US" sz="2100">
                        <a:latin typeface="Microsoft Sans Serif"/>
                        <a:cs typeface="Microsoft Sans Serif"/>
                      </a:endParaRPr>
                    </a:p>
                  </a:txBody>
                  <a:tcPr marL="0" marR="0" marT="6915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540"/>
                        </a:spcBef>
                      </a:pPr>
                      <a:r>
                        <a:rPr lang="en-US" sz="2100" spc="-50">
                          <a:solidFill>
                            <a:srgbClr val="FF0000"/>
                          </a:solidFill>
                          <a:latin typeface="Microsoft Sans Serif"/>
                          <a:cs typeface="Microsoft Sans Serif"/>
                        </a:rPr>
                        <a:t>X</a:t>
                      </a:r>
                      <a:endParaRPr lang="en-US" sz="2100">
                        <a:latin typeface="Microsoft Sans Serif"/>
                        <a:cs typeface="Microsoft Sans Serif"/>
                      </a:endParaRPr>
                    </a:p>
                  </a:txBody>
                  <a:tcPr marL="0" marR="0" marT="6915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3970" algn="ctr">
                        <a:lnSpc>
                          <a:spcPct val="100000"/>
                        </a:lnSpc>
                        <a:spcBef>
                          <a:spcPts val="540"/>
                        </a:spcBef>
                      </a:pPr>
                      <a:r>
                        <a:rPr lang="en-US" sz="2100" spc="-50">
                          <a:solidFill>
                            <a:srgbClr val="FF0000"/>
                          </a:solidFill>
                          <a:latin typeface="Microsoft Sans Serif"/>
                          <a:cs typeface="Microsoft Sans Serif"/>
                        </a:rPr>
                        <a:t>X</a:t>
                      </a:r>
                      <a:endParaRPr lang="en-US" sz="2100">
                        <a:latin typeface="Microsoft Sans Serif"/>
                        <a:cs typeface="Microsoft Sans Serif"/>
                      </a:endParaRPr>
                    </a:p>
                  </a:txBody>
                  <a:tcPr marL="0" marR="0" marT="69156" marB="0">
                    <a:lnL w="1270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lang="en-US" sz="2300">
                        <a:latin typeface="Times New Roman"/>
                        <a:cs typeface="Times New Roman"/>
                      </a:endParaRPr>
                    </a:p>
                  </a:txBody>
                  <a:tcPr marL="0" marR="0" marT="0" marB="0">
                    <a:lnL w="190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540"/>
                        </a:spcBef>
                      </a:pPr>
                      <a:r>
                        <a:rPr lang="en-US" sz="2100" spc="-50">
                          <a:solidFill>
                            <a:srgbClr val="FF0000"/>
                          </a:solidFill>
                          <a:latin typeface="Microsoft Sans Serif"/>
                          <a:cs typeface="Microsoft Sans Serif"/>
                        </a:rPr>
                        <a:t>X</a:t>
                      </a:r>
                      <a:endParaRPr lang="en-US" sz="2100">
                        <a:latin typeface="Microsoft Sans Serif"/>
                        <a:cs typeface="Microsoft Sans Serif"/>
                      </a:endParaRPr>
                    </a:p>
                  </a:txBody>
                  <a:tcPr marL="0" marR="0" marT="6915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438229">
                <a:tc>
                  <a:txBody>
                    <a:bodyPr/>
                    <a:lstStyle/>
                    <a:p>
                      <a:pPr marL="56515">
                        <a:lnSpc>
                          <a:spcPct val="100000"/>
                        </a:lnSpc>
                        <a:spcBef>
                          <a:spcPts val="240"/>
                        </a:spcBef>
                      </a:pPr>
                      <a:r>
                        <a:rPr lang="en-US" sz="2400" spc="-10">
                          <a:solidFill>
                            <a:srgbClr val="0000FF"/>
                          </a:solidFill>
                          <a:latin typeface="Comic Sans MS"/>
                          <a:cs typeface="Comic Sans MS"/>
                        </a:rPr>
                        <a:t>MacSSH</a:t>
                      </a:r>
                      <a:endParaRPr lang="en-US" sz="2400">
                        <a:latin typeface="Comic Sans MS"/>
                        <a:cs typeface="Comic Sans MS"/>
                      </a:endParaRPr>
                    </a:p>
                  </a:txBody>
                  <a:tcPr marL="0" marR="0" marT="3073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lang="en-US"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lang="en-US"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540"/>
                        </a:spcBef>
                      </a:pPr>
                      <a:r>
                        <a:rPr lang="en-US" sz="2100" spc="-50">
                          <a:solidFill>
                            <a:srgbClr val="FF0000"/>
                          </a:solidFill>
                          <a:latin typeface="Microsoft Sans Serif"/>
                          <a:cs typeface="Microsoft Sans Serif"/>
                        </a:rPr>
                        <a:t>X</a:t>
                      </a:r>
                      <a:endParaRPr lang="en-US" sz="2100">
                        <a:latin typeface="Microsoft Sans Serif"/>
                        <a:cs typeface="Microsoft Sans Serif"/>
                      </a:endParaRPr>
                    </a:p>
                  </a:txBody>
                  <a:tcPr marL="0" marR="0" marT="6915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3970" algn="ctr">
                        <a:lnSpc>
                          <a:spcPct val="100000"/>
                        </a:lnSpc>
                        <a:spcBef>
                          <a:spcPts val="540"/>
                        </a:spcBef>
                      </a:pPr>
                      <a:r>
                        <a:rPr lang="en-US" sz="2100" spc="-50">
                          <a:solidFill>
                            <a:srgbClr val="FF0000"/>
                          </a:solidFill>
                          <a:latin typeface="Microsoft Sans Serif"/>
                          <a:cs typeface="Microsoft Sans Serif"/>
                        </a:rPr>
                        <a:t>X</a:t>
                      </a:r>
                      <a:endParaRPr lang="en-US" sz="2100">
                        <a:latin typeface="Microsoft Sans Serif"/>
                        <a:cs typeface="Microsoft Sans Serif"/>
                      </a:endParaRPr>
                    </a:p>
                  </a:txBody>
                  <a:tcPr marL="0" marR="0" marT="69156" marB="0">
                    <a:lnL w="1270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lang="en-US" sz="2300">
                        <a:latin typeface="Times New Roman"/>
                        <a:cs typeface="Times New Roman"/>
                      </a:endParaRPr>
                    </a:p>
                  </a:txBody>
                  <a:tcPr marL="0" marR="0" marT="0" marB="0">
                    <a:lnL w="190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540"/>
                        </a:spcBef>
                      </a:pPr>
                      <a:r>
                        <a:rPr lang="en-US" sz="2100" spc="-50">
                          <a:solidFill>
                            <a:srgbClr val="FF0000"/>
                          </a:solidFill>
                          <a:latin typeface="Microsoft Sans Serif"/>
                          <a:cs typeface="Microsoft Sans Serif"/>
                        </a:rPr>
                        <a:t>X</a:t>
                      </a:r>
                      <a:endParaRPr lang="en-US" sz="2100">
                        <a:latin typeface="Microsoft Sans Serif"/>
                        <a:cs typeface="Microsoft Sans Serif"/>
                      </a:endParaRPr>
                    </a:p>
                  </a:txBody>
                  <a:tcPr marL="0" marR="0" marT="6915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descr="$PPTXTitle"/>
          <p:cNvSpPr txBox="1">
            <a:spLocks noGrp="1"/>
          </p:cNvSpPr>
          <p:nvPr>
            <p:ph type="title"/>
          </p:nvPr>
        </p:nvSpPr>
        <p:spPr>
          <a:xfrm>
            <a:off x="838200" y="365125"/>
            <a:ext cx="10515600" cy="1325563"/>
          </a:xfrm>
        </p:spPr>
        <p:txBody>
          <a:bodyPr vert="horz" lIns="91440" tIns="45720" rIns="91440" bIns="45720" rtlCol="0" anchor="ctr">
            <a:normAutofit/>
          </a:bodyPr>
          <a:lstStyle/>
          <a:p>
            <a:pPr marL="1122845"/>
            <a:r>
              <a:rPr lang="en-US" kern="1200">
                <a:latin typeface="+mj-lt"/>
                <a:ea typeface="+mj-ea"/>
                <a:cs typeface="+mj-cs"/>
              </a:rPr>
              <a:t>IPSec</a:t>
            </a:r>
            <a:r>
              <a:rPr lang="en-US" kern="1200" spc="-36">
                <a:latin typeface="+mj-lt"/>
                <a:ea typeface="+mj-ea"/>
                <a:cs typeface="+mj-cs"/>
              </a:rPr>
              <a:t> </a:t>
            </a:r>
            <a:r>
              <a:rPr lang="en-US" kern="1200">
                <a:latin typeface="+mj-lt"/>
                <a:ea typeface="+mj-ea"/>
                <a:cs typeface="+mj-cs"/>
              </a:rPr>
              <a:t>&amp;</a:t>
            </a:r>
            <a:r>
              <a:rPr lang="en-US" kern="1200" spc="-23">
                <a:latin typeface="+mj-lt"/>
                <a:ea typeface="+mj-ea"/>
                <a:cs typeface="+mj-cs"/>
              </a:rPr>
              <a:t> </a:t>
            </a:r>
            <a:r>
              <a:rPr lang="en-US" kern="1200">
                <a:latin typeface="+mj-lt"/>
                <a:ea typeface="+mj-ea"/>
                <a:cs typeface="+mj-cs"/>
              </a:rPr>
              <a:t>SSL</a:t>
            </a:r>
            <a:r>
              <a:rPr lang="en-US" kern="1200" spc="-23">
                <a:latin typeface="+mj-lt"/>
                <a:ea typeface="+mj-ea"/>
                <a:cs typeface="+mj-cs"/>
              </a:rPr>
              <a:t> </a:t>
            </a:r>
            <a:r>
              <a:rPr lang="en-US" kern="1200">
                <a:latin typeface="+mj-lt"/>
                <a:ea typeface="+mj-ea"/>
                <a:cs typeface="+mj-cs"/>
              </a:rPr>
              <a:t>vs.</a:t>
            </a:r>
            <a:r>
              <a:rPr lang="en-US" kern="1200" spc="18">
                <a:latin typeface="+mj-lt"/>
                <a:ea typeface="+mj-ea"/>
                <a:cs typeface="+mj-cs"/>
              </a:rPr>
              <a:t> </a:t>
            </a:r>
            <a:r>
              <a:rPr lang="en-US" kern="1200" spc="-23">
                <a:latin typeface="+mj-lt"/>
                <a:ea typeface="+mj-ea"/>
                <a:cs typeface="+mj-cs"/>
              </a:rPr>
              <a:t>SSH</a:t>
            </a:r>
          </a:p>
        </p:txBody>
      </p:sp>
      <p:graphicFrame>
        <p:nvGraphicFramePr>
          <p:cNvPr id="12" name="object 2">
            <a:extLst>
              <a:ext uri="{FF2B5EF4-FFF2-40B4-BE49-F238E27FC236}">
                <a16:creationId xmlns:a16="http://schemas.microsoft.com/office/drawing/2014/main" id="{D02ED45F-AC0E-21A7-109E-4F24ACCCFE0B}"/>
              </a:ext>
            </a:extLst>
          </p:cNvPr>
          <p:cNvGraphicFramePr/>
          <p:nvPr>
            <p:extLst>
              <p:ext uri="{D42A27DB-BD31-4B8C-83A1-F6EECF244321}">
                <p14:modId xmlns:p14="http://schemas.microsoft.com/office/powerpoint/2010/main" val="371900337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289839" y="458368"/>
            <a:ext cx="9535557" cy="947479"/>
          </a:xfrm>
          <a:prstGeom prst="rect">
            <a:avLst/>
          </a:prstGeom>
        </p:spPr>
        <p:txBody>
          <a:bodyPr vert="horz" wrap="square" lIns="0" tIns="267756" rIns="0" bIns="0" rtlCol="0" anchor="ctr">
            <a:spAutoFit/>
          </a:bodyPr>
          <a:lstStyle/>
          <a:p>
            <a:pPr marL="1534555">
              <a:lnSpc>
                <a:spcPct val="100000"/>
              </a:lnSpc>
              <a:spcBef>
                <a:spcPts val="95"/>
              </a:spcBef>
            </a:pPr>
            <a:r>
              <a:rPr dirty="0"/>
              <a:t>SSH</a:t>
            </a:r>
            <a:r>
              <a:rPr spc="-36" dirty="0"/>
              <a:t> </a:t>
            </a:r>
            <a:r>
              <a:rPr spc="-9" dirty="0"/>
              <a:t>Architecture</a:t>
            </a:r>
          </a:p>
        </p:txBody>
      </p:sp>
      <p:sp>
        <p:nvSpPr>
          <p:cNvPr id="3" name="object 3"/>
          <p:cNvSpPr txBox="1"/>
          <p:nvPr/>
        </p:nvSpPr>
        <p:spPr>
          <a:xfrm>
            <a:off x="2222179" y="1285226"/>
            <a:ext cx="7589290" cy="4825601"/>
          </a:xfrm>
          <a:prstGeom prst="rect">
            <a:avLst/>
          </a:prstGeom>
        </p:spPr>
        <p:txBody>
          <a:bodyPr vert="horz" wrap="square" lIns="0" tIns="14971" rIns="0" bIns="0" rtlCol="0">
            <a:spAutoFit/>
          </a:bodyPr>
          <a:lstStyle/>
          <a:p>
            <a:pPr marL="321306" indent="-309790">
              <a:spcBef>
                <a:spcPts val="118"/>
              </a:spcBef>
              <a:buChar char="•"/>
              <a:tabLst>
                <a:tab pos="321306" algn="l"/>
              </a:tabLst>
            </a:pPr>
            <a:r>
              <a:rPr sz="2494" dirty="0">
                <a:cs typeface="Comic Sans MS"/>
              </a:rPr>
              <a:t>SSH protocol</a:t>
            </a:r>
            <a:r>
              <a:rPr sz="2494" spc="86" dirty="0">
                <a:cs typeface="Comic Sans MS"/>
              </a:rPr>
              <a:t> </a:t>
            </a:r>
            <a:r>
              <a:rPr sz="2494" dirty="0">
                <a:cs typeface="Comic Sans MS"/>
              </a:rPr>
              <a:t>is</a:t>
            </a:r>
            <a:r>
              <a:rPr sz="2494" spc="23" dirty="0">
                <a:cs typeface="Comic Sans MS"/>
              </a:rPr>
              <a:t> </a:t>
            </a:r>
            <a:r>
              <a:rPr sz="2494" dirty="0">
                <a:cs typeface="Comic Sans MS"/>
              </a:rPr>
              <a:t>based</a:t>
            </a:r>
            <a:r>
              <a:rPr sz="2494" spc="109" dirty="0">
                <a:cs typeface="Comic Sans MS"/>
              </a:rPr>
              <a:t> </a:t>
            </a:r>
            <a:r>
              <a:rPr sz="2494" dirty="0">
                <a:cs typeface="Comic Sans MS"/>
              </a:rPr>
              <a:t>on</a:t>
            </a:r>
            <a:r>
              <a:rPr sz="2494" spc="68" dirty="0">
                <a:cs typeface="Comic Sans MS"/>
              </a:rPr>
              <a:t> </a:t>
            </a:r>
            <a:r>
              <a:rPr sz="2494" dirty="0">
                <a:cs typeface="Comic Sans MS"/>
              </a:rPr>
              <a:t>a</a:t>
            </a:r>
            <a:r>
              <a:rPr sz="2494" spc="82" dirty="0">
                <a:cs typeface="Comic Sans MS"/>
              </a:rPr>
              <a:t> </a:t>
            </a:r>
            <a:r>
              <a:rPr sz="2494" i="1" spc="-9" dirty="0">
                <a:cs typeface="Comic Sans MS"/>
              </a:rPr>
              <a:t>client/server</a:t>
            </a:r>
            <a:endParaRPr sz="2494" dirty="0">
              <a:cs typeface="Comic Sans MS"/>
            </a:endParaRPr>
          </a:p>
          <a:p>
            <a:pPr marL="321306">
              <a:spcBef>
                <a:spcPts val="5"/>
              </a:spcBef>
            </a:pPr>
            <a:r>
              <a:rPr sz="2494" spc="-9" dirty="0">
                <a:cs typeface="Comic Sans MS"/>
              </a:rPr>
              <a:t>architecture</a:t>
            </a:r>
            <a:endParaRPr sz="2494" dirty="0">
              <a:cs typeface="Comic Sans MS"/>
            </a:endParaRPr>
          </a:p>
          <a:p>
            <a:pPr marL="684072" marR="4607" lvl="1" indent="-258542">
              <a:lnSpc>
                <a:spcPts val="2521"/>
              </a:lnSpc>
              <a:spcBef>
                <a:spcPts val="621"/>
              </a:spcBef>
              <a:buChar char="–"/>
              <a:tabLst>
                <a:tab pos="684072" algn="l"/>
              </a:tabLst>
            </a:pPr>
            <a:r>
              <a:rPr sz="2176" dirty="0">
                <a:cs typeface="Comic Sans MS"/>
              </a:rPr>
              <a:t>A</a:t>
            </a:r>
            <a:r>
              <a:rPr sz="2176" spc="-45" dirty="0">
                <a:cs typeface="Comic Sans MS"/>
              </a:rPr>
              <a:t> </a:t>
            </a:r>
            <a:r>
              <a:rPr sz="2176" dirty="0">
                <a:cs typeface="Comic Sans MS"/>
              </a:rPr>
              <a:t>ssh</a:t>
            </a:r>
            <a:r>
              <a:rPr sz="2176" spc="-50" dirty="0">
                <a:cs typeface="Comic Sans MS"/>
              </a:rPr>
              <a:t> </a:t>
            </a:r>
            <a:r>
              <a:rPr sz="2176" dirty="0">
                <a:cs typeface="Comic Sans MS"/>
              </a:rPr>
              <a:t>server</a:t>
            </a:r>
            <a:r>
              <a:rPr sz="2176" spc="-41" dirty="0">
                <a:cs typeface="Comic Sans MS"/>
              </a:rPr>
              <a:t> </a:t>
            </a:r>
            <a:r>
              <a:rPr sz="2176" dirty="0">
                <a:cs typeface="Comic Sans MS"/>
              </a:rPr>
              <a:t>running</a:t>
            </a:r>
            <a:r>
              <a:rPr sz="2176" spc="-23" dirty="0">
                <a:cs typeface="Comic Sans MS"/>
              </a:rPr>
              <a:t> </a:t>
            </a:r>
            <a:r>
              <a:rPr sz="2176" dirty="0">
                <a:cs typeface="Comic Sans MS"/>
              </a:rPr>
              <a:t>on</a:t>
            </a:r>
            <a:r>
              <a:rPr sz="2176" spc="-63" dirty="0">
                <a:cs typeface="Comic Sans MS"/>
              </a:rPr>
              <a:t> </a:t>
            </a:r>
            <a:r>
              <a:rPr sz="2176" dirty="0">
                <a:cs typeface="Comic Sans MS"/>
              </a:rPr>
              <a:t>the</a:t>
            </a:r>
            <a:r>
              <a:rPr sz="2176" spc="-54" dirty="0">
                <a:cs typeface="Comic Sans MS"/>
              </a:rPr>
              <a:t> </a:t>
            </a:r>
            <a:r>
              <a:rPr sz="2176" dirty="0">
                <a:cs typeface="Comic Sans MS"/>
              </a:rPr>
              <a:t>server</a:t>
            </a:r>
            <a:r>
              <a:rPr sz="2176" spc="-41" dirty="0">
                <a:cs typeface="Comic Sans MS"/>
              </a:rPr>
              <a:t> </a:t>
            </a:r>
            <a:r>
              <a:rPr sz="2176" dirty="0">
                <a:cs typeface="Comic Sans MS"/>
              </a:rPr>
              <a:t>side</a:t>
            </a:r>
            <a:r>
              <a:rPr sz="2176" spc="-54" dirty="0">
                <a:cs typeface="Comic Sans MS"/>
              </a:rPr>
              <a:t> </a:t>
            </a:r>
            <a:r>
              <a:rPr sz="2176" dirty="0">
                <a:cs typeface="Comic Sans MS"/>
              </a:rPr>
              <a:t>is</a:t>
            </a:r>
            <a:r>
              <a:rPr sz="2176" spc="-54" dirty="0">
                <a:cs typeface="Comic Sans MS"/>
              </a:rPr>
              <a:t> </a:t>
            </a:r>
            <a:r>
              <a:rPr sz="2176" dirty="0">
                <a:cs typeface="Comic Sans MS"/>
              </a:rPr>
              <a:t>listening</a:t>
            </a:r>
            <a:r>
              <a:rPr sz="2176" spc="-18" dirty="0">
                <a:cs typeface="Comic Sans MS"/>
              </a:rPr>
              <a:t> </a:t>
            </a:r>
            <a:r>
              <a:rPr sz="2176" spc="-23" dirty="0">
                <a:cs typeface="Comic Sans MS"/>
              </a:rPr>
              <a:t>on </a:t>
            </a:r>
            <a:r>
              <a:rPr sz="2176" dirty="0">
                <a:cs typeface="Comic Sans MS"/>
              </a:rPr>
              <a:t>the</a:t>
            </a:r>
            <a:r>
              <a:rPr sz="2176" spc="-36" dirty="0">
                <a:cs typeface="Comic Sans MS"/>
              </a:rPr>
              <a:t> </a:t>
            </a:r>
            <a:r>
              <a:rPr sz="2176" dirty="0">
                <a:cs typeface="Comic Sans MS"/>
              </a:rPr>
              <a:t>22</a:t>
            </a:r>
            <a:r>
              <a:rPr sz="2176" spc="-36" dirty="0">
                <a:cs typeface="Comic Sans MS"/>
              </a:rPr>
              <a:t> </a:t>
            </a:r>
            <a:r>
              <a:rPr sz="2176" dirty="0">
                <a:cs typeface="Comic Sans MS"/>
              </a:rPr>
              <a:t>TCP</a:t>
            </a:r>
            <a:r>
              <a:rPr sz="2176" spc="-45" dirty="0">
                <a:cs typeface="Comic Sans MS"/>
              </a:rPr>
              <a:t> </a:t>
            </a:r>
            <a:r>
              <a:rPr sz="2176" dirty="0">
                <a:cs typeface="Comic Sans MS"/>
              </a:rPr>
              <a:t>port</a:t>
            </a:r>
            <a:r>
              <a:rPr sz="2176" spc="-68" dirty="0">
                <a:cs typeface="Comic Sans MS"/>
              </a:rPr>
              <a:t> </a:t>
            </a:r>
            <a:r>
              <a:rPr sz="2176" dirty="0">
                <a:cs typeface="Comic Sans MS"/>
              </a:rPr>
              <a:t>for</a:t>
            </a:r>
            <a:r>
              <a:rPr sz="2176" spc="-23" dirty="0">
                <a:cs typeface="Comic Sans MS"/>
              </a:rPr>
              <a:t> </a:t>
            </a:r>
            <a:r>
              <a:rPr sz="2176" dirty="0">
                <a:cs typeface="Comic Sans MS"/>
              </a:rPr>
              <a:t>incoming</a:t>
            </a:r>
            <a:r>
              <a:rPr sz="2176" spc="-63" dirty="0">
                <a:cs typeface="Comic Sans MS"/>
              </a:rPr>
              <a:t> </a:t>
            </a:r>
            <a:r>
              <a:rPr sz="2176" spc="-9" dirty="0">
                <a:cs typeface="Comic Sans MS"/>
              </a:rPr>
              <a:t>connection</a:t>
            </a:r>
            <a:endParaRPr sz="2176" dirty="0">
              <a:cs typeface="Comic Sans MS"/>
            </a:endParaRPr>
          </a:p>
          <a:p>
            <a:pPr marL="201536" marR="2516900">
              <a:lnSpc>
                <a:spcPct val="118300"/>
              </a:lnSpc>
              <a:spcBef>
                <a:spcPts val="27"/>
              </a:spcBef>
              <a:tabLst>
                <a:tab pos="2237053" algn="l"/>
                <a:tab pos="3051260" algn="l"/>
              </a:tabLst>
            </a:pPr>
            <a:r>
              <a:rPr sz="1632" spc="-9" dirty="0">
                <a:solidFill>
                  <a:srgbClr val="B80046"/>
                </a:solidFill>
                <a:cs typeface="Calibri"/>
              </a:rPr>
              <a:t>joseph@hlt029:~&gt;</a:t>
            </a:r>
            <a:r>
              <a:rPr sz="1632" spc="-32" dirty="0">
                <a:solidFill>
                  <a:srgbClr val="B80046"/>
                </a:solidFill>
                <a:cs typeface="Calibri"/>
              </a:rPr>
              <a:t> </a:t>
            </a:r>
            <a:r>
              <a:rPr sz="1632" dirty="0">
                <a:solidFill>
                  <a:srgbClr val="B80046"/>
                </a:solidFill>
                <a:cs typeface="Calibri"/>
              </a:rPr>
              <a:t>sudo</a:t>
            </a:r>
            <a:r>
              <a:rPr sz="1632" spc="-14" dirty="0">
                <a:solidFill>
                  <a:srgbClr val="B80046"/>
                </a:solidFill>
                <a:cs typeface="Calibri"/>
              </a:rPr>
              <a:t> </a:t>
            </a:r>
            <a:r>
              <a:rPr sz="1632" spc="-9" dirty="0">
                <a:solidFill>
                  <a:srgbClr val="B80046"/>
                </a:solidFill>
                <a:cs typeface="Calibri"/>
              </a:rPr>
              <a:t>netstat</a:t>
            </a:r>
            <a:r>
              <a:rPr sz="1632" spc="5" dirty="0">
                <a:solidFill>
                  <a:srgbClr val="B80046"/>
                </a:solidFill>
                <a:cs typeface="Calibri"/>
              </a:rPr>
              <a:t> </a:t>
            </a:r>
            <a:r>
              <a:rPr sz="1632" spc="-27" dirty="0">
                <a:solidFill>
                  <a:srgbClr val="B80046"/>
                </a:solidFill>
                <a:cs typeface="Calibri"/>
              </a:rPr>
              <a:t>-</a:t>
            </a:r>
            <a:r>
              <a:rPr sz="1632" dirty="0">
                <a:solidFill>
                  <a:srgbClr val="B80046"/>
                </a:solidFill>
                <a:cs typeface="Calibri"/>
              </a:rPr>
              <a:t>-tcp</a:t>
            </a:r>
            <a:r>
              <a:rPr sz="1632" spc="-14" dirty="0">
                <a:solidFill>
                  <a:srgbClr val="B80046"/>
                </a:solidFill>
                <a:cs typeface="Calibri"/>
              </a:rPr>
              <a:t> </a:t>
            </a:r>
            <a:r>
              <a:rPr sz="1632" spc="-23" dirty="0">
                <a:solidFill>
                  <a:srgbClr val="B80046"/>
                </a:solidFill>
                <a:cs typeface="Calibri"/>
              </a:rPr>
              <a:t>-</a:t>
            </a:r>
            <a:r>
              <a:rPr sz="1632" dirty="0">
                <a:solidFill>
                  <a:srgbClr val="B80046"/>
                </a:solidFill>
                <a:cs typeface="Calibri"/>
              </a:rPr>
              <a:t>-listening</a:t>
            </a:r>
            <a:r>
              <a:rPr sz="1632" spc="-18" dirty="0">
                <a:solidFill>
                  <a:srgbClr val="B80046"/>
                </a:solidFill>
                <a:cs typeface="Calibri"/>
              </a:rPr>
              <a:t> </a:t>
            </a:r>
            <a:r>
              <a:rPr sz="1632" spc="-27" dirty="0">
                <a:solidFill>
                  <a:srgbClr val="B80046"/>
                </a:solidFill>
                <a:cs typeface="Calibri"/>
              </a:rPr>
              <a:t>-</a:t>
            </a:r>
            <a:r>
              <a:rPr sz="1632" dirty="0">
                <a:solidFill>
                  <a:srgbClr val="B80046"/>
                </a:solidFill>
                <a:cs typeface="Calibri"/>
              </a:rPr>
              <a:t>-</a:t>
            </a:r>
            <a:r>
              <a:rPr sz="1632" spc="-9" dirty="0">
                <a:solidFill>
                  <a:srgbClr val="B80046"/>
                </a:solidFill>
                <a:cs typeface="Calibri"/>
              </a:rPr>
              <a:t>program </a:t>
            </a:r>
            <a:r>
              <a:rPr sz="1632" dirty="0">
                <a:solidFill>
                  <a:srgbClr val="800000"/>
                </a:solidFill>
                <a:cs typeface="Calibri"/>
              </a:rPr>
              <a:t>tcp6</a:t>
            </a:r>
            <a:r>
              <a:rPr sz="1632" spc="363" dirty="0">
                <a:solidFill>
                  <a:srgbClr val="800000"/>
                </a:solidFill>
                <a:cs typeface="Calibri"/>
              </a:rPr>
              <a:t> </a:t>
            </a:r>
            <a:r>
              <a:rPr sz="1632" dirty="0">
                <a:solidFill>
                  <a:srgbClr val="800000"/>
                </a:solidFill>
                <a:cs typeface="Calibri"/>
              </a:rPr>
              <a:t>0</a:t>
            </a:r>
            <a:r>
              <a:rPr sz="1632" spc="363" dirty="0">
                <a:solidFill>
                  <a:srgbClr val="800000"/>
                </a:solidFill>
                <a:cs typeface="Calibri"/>
              </a:rPr>
              <a:t> </a:t>
            </a:r>
            <a:r>
              <a:rPr sz="1632" dirty="0">
                <a:solidFill>
                  <a:srgbClr val="800000"/>
                </a:solidFill>
                <a:cs typeface="Calibri"/>
              </a:rPr>
              <a:t>0</a:t>
            </a:r>
            <a:r>
              <a:rPr sz="1632" spc="18" dirty="0">
                <a:solidFill>
                  <a:srgbClr val="800000"/>
                </a:solidFill>
                <a:cs typeface="Calibri"/>
              </a:rPr>
              <a:t> </a:t>
            </a:r>
            <a:r>
              <a:rPr sz="1632" dirty="0">
                <a:solidFill>
                  <a:srgbClr val="800000"/>
                </a:solidFill>
                <a:cs typeface="Calibri"/>
              </a:rPr>
              <a:t>*:ssh</a:t>
            </a:r>
            <a:r>
              <a:rPr sz="1632" spc="-9" dirty="0">
                <a:solidFill>
                  <a:srgbClr val="800000"/>
                </a:solidFill>
                <a:cs typeface="Calibri"/>
              </a:rPr>
              <a:t> </a:t>
            </a:r>
            <a:r>
              <a:rPr sz="1632" spc="-23" dirty="0">
                <a:solidFill>
                  <a:srgbClr val="800000"/>
                </a:solidFill>
                <a:cs typeface="Calibri"/>
              </a:rPr>
              <a:t>*:*</a:t>
            </a:r>
            <a:r>
              <a:rPr sz="1632" dirty="0">
                <a:solidFill>
                  <a:srgbClr val="800000"/>
                </a:solidFill>
                <a:cs typeface="Calibri"/>
              </a:rPr>
              <a:t>	</a:t>
            </a:r>
            <a:r>
              <a:rPr sz="1632" spc="-9" dirty="0">
                <a:solidFill>
                  <a:srgbClr val="800000"/>
                </a:solidFill>
                <a:cs typeface="Calibri"/>
              </a:rPr>
              <a:t>LISTEN</a:t>
            </a:r>
            <a:r>
              <a:rPr sz="1632" dirty="0">
                <a:solidFill>
                  <a:srgbClr val="800000"/>
                </a:solidFill>
                <a:cs typeface="Calibri"/>
              </a:rPr>
              <a:t>	</a:t>
            </a:r>
            <a:r>
              <a:rPr sz="1632" spc="-9" dirty="0">
                <a:solidFill>
                  <a:srgbClr val="800000"/>
                </a:solidFill>
                <a:cs typeface="Calibri"/>
              </a:rPr>
              <a:t>3075/sshd</a:t>
            </a:r>
            <a:endParaRPr sz="1632" dirty="0">
              <a:cs typeface="Calibri"/>
            </a:endParaRPr>
          </a:p>
          <a:p>
            <a:pPr>
              <a:spcBef>
                <a:spcPts val="1537"/>
              </a:spcBef>
            </a:pPr>
            <a:endParaRPr sz="1632" dirty="0">
              <a:cs typeface="Calibri"/>
            </a:endParaRPr>
          </a:p>
          <a:p>
            <a:pPr marL="684072" marR="322458" lvl="1" indent="-258542">
              <a:lnSpc>
                <a:spcPts val="2584"/>
              </a:lnSpc>
              <a:spcBef>
                <a:spcPts val="5"/>
              </a:spcBef>
              <a:buChar char="–"/>
              <a:tabLst>
                <a:tab pos="684072" algn="l"/>
              </a:tabLst>
            </a:pPr>
            <a:r>
              <a:rPr sz="2176" dirty="0">
                <a:cs typeface="Comic Sans MS"/>
              </a:rPr>
              <a:t>A</a:t>
            </a:r>
            <a:r>
              <a:rPr sz="2176" spc="-41" dirty="0">
                <a:cs typeface="Comic Sans MS"/>
              </a:rPr>
              <a:t> </a:t>
            </a:r>
            <a:r>
              <a:rPr sz="2176" dirty="0">
                <a:cs typeface="Comic Sans MS"/>
              </a:rPr>
              <a:t>client</a:t>
            </a:r>
            <a:r>
              <a:rPr sz="2176" spc="-14" dirty="0">
                <a:cs typeface="Comic Sans MS"/>
              </a:rPr>
              <a:t> </a:t>
            </a:r>
            <a:r>
              <a:rPr sz="2176" dirty="0">
                <a:cs typeface="Comic Sans MS"/>
              </a:rPr>
              <a:t>who wants</a:t>
            </a:r>
            <a:r>
              <a:rPr sz="2176" spc="-50" dirty="0">
                <a:cs typeface="Comic Sans MS"/>
              </a:rPr>
              <a:t> </a:t>
            </a:r>
            <a:r>
              <a:rPr sz="2176" dirty="0">
                <a:cs typeface="Comic Sans MS"/>
              </a:rPr>
              <a:t>to</a:t>
            </a:r>
            <a:r>
              <a:rPr sz="2176" spc="-59" dirty="0">
                <a:cs typeface="Comic Sans MS"/>
              </a:rPr>
              <a:t> </a:t>
            </a:r>
            <a:r>
              <a:rPr sz="2176" dirty="0">
                <a:cs typeface="Comic Sans MS"/>
              </a:rPr>
              <a:t>connect</a:t>
            </a:r>
            <a:r>
              <a:rPr sz="2176" spc="-77" dirty="0">
                <a:cs typeface="Comic Sans MS"/>
              </a:rPr>
              <a:t> </a:t>
            </a:r>
            <a:r>
              <a:rPr sz="2176" dirty="0">
                <a:cs typeface="Comic Sans MS"/>
              </a:rPr>
              <a:t>to a</a:t>
            </a:r>
            <a:r>
              <a:rPr sz="2176" spc="-36" dirty="0">
                <a:cs typeface="Comic Sans MS"/>
              </a:rPr>
              <a:t> </a:t>
            </a:r>
            <a:r>
              <a:rPr sz="2176" dirty="0">
                <a:cs typeface="Comic Sans MS"/>
              </a:rPr>
              <a:t>remote</a:t>
            </a:r>
            <a:r>
              <a:rPr sz="2176" spc="-45" dirty="0">
                <a:cs typeface="Comic Sans MS"/>
              </a:rPr>
              <a:t> </a:t>
            </a:r>
            <a:r>
              <a:rPr sz="2176" dirty="0">
                <a:cs typeface="Comic Sans MS"/>
              </a:rPr>
              <a:t>host</a:t>
            </a:r>
            <a:r>
              <a:rPr sz="2176" spc="-73" dirty="0">
                <a:cs typeface="Comic Sans MS"/>
              </a:rPr>
              <a:t> </a:t>
            </a:r>
            <a:r>
              <a:rPr sz="2176" spc="-18" dirty="0">
                <a:cs typeface="Comic Sans MS"/>
              </a:rPr>
              <a:t>will </a:t>
            </a:r>
            <a:r>
              <a:rPr sz="2176" dirty="0">
                <a:cs typeface="Comic Sans MS"/>
              </a:rPr>
              <a:t>execute</a:t>
            </a:r>
            <a:r>
              <a:rPr sz="2176" spc="-50" dirty="0">
                <a:cs typeface="Comic Sans MS"/>
              </a:rPr>
              <a:t> </a:t>
            </a:r>
            <a:r>
              <a:rPr sz="2176" dirty="0">
                <a:cs typeface="Comic Sans MS"/>
              </a:rPr>
              <a:t>the</a:t>
            </a:r>
            <a:r>
              <a:rPr sz="2176" spc="-5" dirty="0">
                <a:cs typeface="Comic Sans MS"/>
              </a:rPr>
              <a:t> </a:t>
            </a:r>
            <a:r>
              <a:rPr sz="2176" i="1" dirty="0">
                <a:cs typeface="Comic Sans MS"/>
              </a:rPr>
              <a:t>ssh</a:t>
            </a:r>
            <a:r>
              <a:rPr sz="2176" i="1" spc="-45" dirty="0">
                <a:cs typeface="Comic Sans MS"/>
              </a:rPr>
              <a:t> </a:t>
            </a:r>
            <a:r>
              <a:rPr sz="2176" spc="-9" dirty="0">
                <a:cs typeface="Comic Sans MS"/>
              </a:rPr>
              <a:t>command</a:t>
            </a:r>
            <a:endParaRPr sz="2176" dirty="0">
              <a:cs typeface="Comic Sans MS"/>
            </a:endParaRPr>
          </a:p>
          <a:p>
            <a:pPr marL="201536">
              <a:spcBef>
                <a:spcPts val="308"/>
              </a:spcBef>
            </a:pPr>
            <a:r>
              <a:rPr sz="1632" spc="-9" dirty="0">
                <a:solidFill>
                  <a:srgbClr val="B80046"/>
                </a:solidFill>
                <a:cs typeface="Calibri"/>
              </a:rPr>
              <a:t>joseph@PeT43:~&gt; </a:t>
            </a:r>
            <a:r>
              <a:rPr sz="1632" dirty="0">
                <a:solidFill>
                  <a:srgbClr val="B80046"/>
                </a:solidFill>
                <a:cs typeface="Calibri"/>
              </a:rPr>
              <a:t>ssh</a:t>
            </a:r>
            <a:r>
              <a:rPr sz="1632" spc="9" dirty="0">
                <a:solidFill>
                  <a:srgbClr val="B80046"/>
                </a:solidFill>
                <a:cs typeface="Calibri"/>
              </a:rPr>
              <a:t> </a:t>
            </a:r>
            <a:r>
              <a:rPr sz="1632" spc="-9" dirty="0">
                <a:solidFill>
                  <a:srgbClr val="B80046"/>
                </a:solidFill>
                <a:cs typeface="Calibri"/>
              </a:rPr>
              <a:t>hlt029</a:t>
            </a:r>
            <a:endParaRPr sz="1632" dirty="0">
              <a:cs typeface="Calibri"/>
            </a:endParaRPr>
          </a:p>
          <a:p>
            <a:pPr>
              <a:spcBef>
                <a:spcPts val="1709"/>
              </a:spcBef>
            </a:pPr>
            <a:endParaRPr sz="1632" dirty="0">
              <a:cs typeface="Calibri"/>
            </a:endParaRPr>
          </a:p>
          <a:p>
            <a:pPr marL="92131"/>
            <a:r>
              <a:rPr sz="1632" dirty="0">
                <a:cs typeface="Comic Sans MS"/>
              </a:rPr>
              <a:t>Remark:</a:t>
            </a:r>
            <a:r>
              <a:rPr sz="1632" spc="-68" dirty="0">
                <a:cs typeface="Comic Sans MS"/>
              </a:rPr>
              <a:t> </a:t>
            </a:r>
            <a:r>
              <a:rPr sz="1632" dirty="0">
                <a:cs typeface="Comic Sans MS"/>
              </a:rPr>
              <a:t>Port</a:t>
            </a:r>
            <a:r>
              <a:rPr sz="1632" spc="-68" dirty="0">
                <a:cs typeface="Comic Sans MS"/>
              </a:rPr>
              <a:t> </a:t>
            </a:r>
            <a:r>
              <a:rPr sz="1632" dirty="0">
                <a:cs typeface="Comic Sans MS"/>
              </a:rPr>
              <a:t>22/TCP,UDP:</a:t>
            </a:r>
            <a:r>
              <a:rPr sz="1632" spc="5" dirty="0">
                <a:cs typeface="Comic Sans MS"/>
              </a:rPr>
              <a:t> </a:t>
            </a:r>
            <a:r>
              <a:rPr sz="1632" dirty="0">
                <a:cs typeface="Comic Sans MS"/>
              </a:rPr>
              <a:t>for</a:t>
            </a:r>
            <a:r>
              <a:rPr sz="1632" spc="18" dirty="0">
                <a:cs typeface="Comic Sans MS"/>
              </a:rPr>
              <a:t> </a:t>
            </a:r>
            <a:r>
              <a:rPr sz="1632" u="sng" dirty="0">
                <a:solidFill>
                  <a:srgbClr val="CCCCFF"/>
                </a:solidFill>
                <a:uFill>
                  <a:solidFill>
                    <a:srgbClr val="CCCCFF"/>
                  </a:solidFill>
                </a:uFill>
                <a:cs typeface="Comic Sans MS"/>
                <a:hlinkClick r:id="rId2"/>
              </a:rPr>
              <a:t>SSH</a:t>
            </a:r>
            <a:r>
              <a:rPr sz="1632" spc="-5" dirty="0">
                <a:solidFill>
                  <a:srgbClr val="CCCCFF"/>
                </a:solidFill>
                <a:cs typeface="Comic Sans MS"/>
              </a:rPr>
              <a:t> </a:t>
            </a:r>
            <a:r>
              <a:rPr sz="1632" dirty="0">
                <a:cs typeface="Comic Sans MS"/>
              </a:rPr>
              <a:t>(Secure</a:t>
            </a:r>
            <a:r>
              <a:rPr sz="1632" spc="-59" dirty="0">
                <a:cs typeface="Comic Sans MS"/>
              </a:rPr>
              <a:t> </a:t>
            </a:r>
            <a:r>
              <a:rPr sz="1632" dirty="0">
                <a:cs typeface="Comic Sans MS"/>
              </a:rPr>
              <a:t>Shell)</a:t>
            </a:r>
            <a:r>
              <a:rPr sz="1632" spc="-18" dirty="0">
                <a:cs typeface="Comic Sans MS"/>
              </a:rPr>
              <a:t> </a:t>
            </a:r>
            <a:r>
              <a:rPr sz="1632" dirty="0">
                <a:cs typeface="Comic Sans MS"/>
              </a:rPr>
              <a:t>-</a:t>
            </a:r>
            <a:r>
              <a:rPr sz="1632" spc="-36" dirty="0">
                <a:cs typeface="Comic Sans MS"/>
              </a:rPr>
              <a:t> </a:t>
            </a:r>
            <a:r>
              <a:rPr sz="1632" dirty="0">
                <a:cs typeface="Comic Sans MS"/>
              </a:rPr>
              <a:t>used</a:t>
            </a:r>
            <a:r>
              <a:rPr sz="1632" spc="9" dirty="0">
                <a:cs typeface="Comic Sans MS"/>
              </a:rPr>
              <a:t> </a:t>
            </a:r>
            <a:r>
              <a:rPr sz="1632" dirty="0">
                <a:cs typeface="Comic Sans MS"/>
              </a:rPr>
              <a:t>for</a:t>
            </a:r>
            <a:r>
              <a:rPr sz="1632" spc="-18" dirty="0">
                <a:cs typeface="Comic Sans MS"/>
              </a:rPr>
              <a:t> </a:t>
            </a:r>
            <a:r>
              <a:rPr sz="1632" dirty="0">
                <a:cs typeface="Comic Sans MS"/>
              </a:rPr>
              <a:t>secure</a:t>
            </a:r>
            <a:r>
              <a:rPr sz="1632" spc="9" dirty="0">
                <a:cs typeface="Comic Sans MS"/>
              </a:rPr>
              <a:t> </a:t>
            </a:r>
            <a:r>
              <a:rPr sz="1632" spc="-9" dirty="0">
                <a:cs typeface="Comic Sans MS"/>
              </a:rPr>
              <a:t>logins,</a:t>
            </a:r>
            <a:endParaRPr sz="1632" dirty="0">
              <a:cs typeface="Comic Sans MS"/>
            </a:endParaRPr>
          </a:p>
          <a:p>
            <a:pPr marL="959313">
              <a:spcBef>
                <a:spcPts val="494"/>
              </a:spcBef>
            </a:pPr>
            <a:r>
              <a:rPr sz="1632" dirty="0">
                <a:cs typeface="Comic Sans MS"/>
              </a:rPr>
              <a:t>file</a:t>
            </a:r>
            <a:r>
              <a:rPr sz="1632" spc="5" dirty="0">
                <a:cs typeface="Comic Sans MS"/>
              </a:rPr>
              <a:t> </a:t>
            </a:r>
            <a:r>
              <a:rPr sz="1632" dirty="0">
                <a:cs typeface="Comic Sans MS"/>
              </a:rPr>
              <a:t>transfers</a:t>
            </a:r>
            <a:r>
              <a:rPr sz="1632" spc="-27" dirty="0">
                <a:cs typeface="Comic Sans MS"/>
              </a:rPr>
              <a:t> </a:t>
            </a:r>
            <a:r>
              <a:rPr sz="1632" dirty="0">
                <a:cs typeface="Comic Sans MS"/>
              </a:rPr>
              <a:t>(</a:t>
            </a:r>
            <a:r>
              <a:rPr sz="1632" u="sng" dirty="0">
                <a:solidFill>
                  <a:srgbClr val="CCCCFF"/>
                </a:solidFill>
                <a:uFill>
                  <a:solidFill>
                    <a:srgbClr val="CCCCFF"/>
                  </a:solidFill>
                </a:uFill>
                <a:cs typeface="Comic Sans MS"/>
                <a:hlinkClick r:id="rId3"/>
              </a:rPr>
              <a:t>scp</a:t>
            </a:r>
            <a:r>
              <a:rPr sz="1632" dirty="0">
                <a:cs typeface="Comic Sans MS"/>
              </a:rPr>
              <a:t>,</a:t>
            </a:r>
            <a:r>
              <a:rPr sz="1632" spc="-32" dirty="0">
                <a:cs typeface="Comic Sans MS"/>
              </a:rPr>
              <a:t> </a:t>
            </a:r>
            <a:r>
              <a:rPr sz="1632" u="sng" dirty="0">
                <a:solidFill>
                  <a:srgbClr val="CCCCFF"/>
                </a:solidFill>
                <a:uFill>
                  <a:solidFill>
                    <a:srgbClr val="CCCCFF"/>
                  </a:solidFill>
                </a:uFill>
                <a:cs typeface="Comic Sans MS"/>
                <a:hlinkClick r:id="rId4"/>
              </a:rPr>
              <a:t>sftp</a:t>
            </a:r>
            <a:r>
              <a:rPr sz="1632" dirty="0">
                <a:cs typeface="Comic Sans MS"/>
              </a:rPr>
              <a:t>)</a:t>
            </a:r>
            <a:r>
              <a:rPr sz="1632" spc="-36" dirty="0">
                <a:cs typeface="Comic Sans MS"/>
              </a:rPr>
              <a:t> </a:t>
            </a:r>
            <a:r>
              <a:rPr sz="1632" dirty="0">
                <a:cs typeface="Comic Sans MS"/>
              </a:rPr>
              <a:t>and</a:t>
            </a:r>
            <a:r>
              <a:rPr sz="1632" spc="-54" dirty="0">
                <a:cs typeface="Comic Sans MS"/>
              </a:rPr>
              <a:t> </a:t>
            </a:r>
            <a:r>
              <a:rPr sz="1632" dirty="0">
                <a:cs typeface="Comic Sans MS"/>
              </a:rPr>
              <a:t>port </a:t>
            </a:r>
            <a:r>
              <a:rPr sz="1632" spc="-9" dirty="0">
                <a:cs typeface="Comic Sans MS"/>
              </a:rPr>
              <a:t>forwarding</a:t>
            </a:r>
            <a:endParaRPr sz="1632" dirty="0">
              <a:cs typeface="Comic Sans MS"/>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22180" y="1216993"/>
            <a:ext cx="7495431" cy="4464574"/>
          </a:xfrm>
          <a:prstGeom prst="rect">
            <a:avLst/>
          </a:prstGeom>
        </p:spPr>
        <p:txBody>
          <a:bodyPr vert="horz" wrap="square" lIns="0" tIns="61613" rIns="0" bIns="0" rtlCol="0">
            <a:spAutoFit/>
          </a:bodyPr>
          <a:lstStyle/>
          <a:p>
            <a:pPr marL="321306" marR="279272" indent="-310366">
              <a:lnSpc>
                <a:spcPts val="2657"/>
              </a:lnSpc>
              <a:spcBef>
                <a:spcPts val="485"/>
              </a:spcBef>
            </a:pPr>
            <a:r>
              <a:rPr sz="2494" dirty="0">
                <a:cs typeface="Comic Sans MS"/>
              </a:rPr>
              <a:t>SSH-2</a:t>
            </a:r>
            <a:r>
              <a:rPr sz="2494" spc="68" dirty="0">
                <a:cs typeface="Comic Sans MS"/>
              </a:rPr>
              <a:t> </a:t>
            </a:r>
            <a:r>
              <a:rPr sz="2494" dirty="0">
                <a:cs typeface="Comic Sans MS"/>
              </a:rPr>
              <a:t>Protocol</a:t>
            </a:r>
            <a:r>
              <a:rPr sz="2494" spc="95" dirty="0">
                <a:cs typeface="Comic Sans MS"/>
              </a:rPr>
              <a:t> </a:t>
            </a:r>
            <a:r>
              <a:rPr sz="2494" dirty="0">
                <a:cs typeface="Comic Sans MS"/>
              </a:rPr>
              <a:t>has</a:t>
            </a:r>
            <a:r>
              <a:rPr sz="2494" spc="103" dirty="0">
                <a:cs typeface="Comic Sans MS"/>
              </a:rPr>
              <a:t> </a:t>
            </a:r>
            <a:r>
              <a:rPr sz="2494" dirty="0">
                <a:cs typeface="Comic Sans MS"/>
              </a:rPr>
              <a:t>the</a:t>
            </a:r>
            <a:r>
              <a:rPr sz="2494" spc="23" dirty="0">
                <a:cs typeface="Comic Sans MS"/>
              </a:rPr>
              <a:t> </a:t>
            </a:r>
            <a:r>
              <a:rPr sz="2494" dirty="0">
                <a:cs typeface="Comic Sans MS"/>
              </a:rPr>
              <a:t>following</a:t>
            </a:r>
            <a:r>
              <a:rPr sz="2494" spc="54" dirty="0">
                <a:cs typeface="Comic Sans MS"/>
              </a:rPr>
              <a:t> </a:t>
            </a:r>
            <a:r>
              <a:rPr sz="2494" dirty="0">
                <a:cs typeface="Comic Sans MS"/>
              </a:rPr>
              <a:t>three</a:t>
            </a:r>
            <a:r>
              <a:rPr sz="2494" spc="91" dirty="0">
                <a:cs typeface="Comic Sans MS"/>
              </a:rPr>
              <a:t> </a:t>
            </a:r>
            <a:r>
              <a:rPr sz="2494" spc="-9" dirty="0">
                <a:cs typeface="Comic Sans MS"/>
              </a:rPr>
              <a:t>building </a:t>
            </a:r>
            <a:r>
              <a:rPr sz="2494" dirty="0">
                <a:cs typeface="Comic Sans MS"/>
              </a:rPr>
              <a:t>blocks</a:t>
            </a:r>
            <a:r>
              <a:rPr sz="2494" spc="95" dirty="0">
                <a:cs typeface="Comic Sans MS"/>
              </a:rPr>
              <a:t> </a:t>
            </a:r>
            <a:r>
              <a:rPr sz="2494" dirty="0">
                <a:cs typeface="Comic Sans MS"/>
              </a:rPr>
              <a:t>(RFC</a:t>
            </a:r>
            <a:r>
              <a:rPr sz="2494" spc="86" dirty="0">
                <a:cs typeface="Comic Sans MS"/>
              </a:rPr>
              <a:t> </a:t>
            </a:r>
            <a:r>
              <a:rPr sz="2494" dirty="0">
                <a:cs typeface="Comic Sans MS"/>
              </a:rPr>
              <a:t>4251,</a:t>
            </a:r>
            <a:r>
              <a:rPr sz="2494" spc="91" dirty="0">
                <a:cs typeface="Comic Sans MS"/>
              </a:rPr>
              <a:t> </a:t>
            </a:r>
            <a:r>
              <a:rPr sz="2494" dirty="0">
                <a:cs typeface="Comic Sans MS"/>
              </a:rPr>
              <a:t>29</a:t>
            </a:r>
            <a:r>
              <a:rPr sz="2494" spc="68" dirty="0">
                <a:cs typeface="Comic Sans MS"/>
              </a:rPr>
              <a:t> </a:t>
            </a:r>
            <a:r>
              <a:rPr sz="2494" spc="-9" dirty="0">
                <a:cs typeface="Comic Sans MS"/>
              </a:rPr>
              <a:t>pages)</a:t>
            </a:r>
            <a:r>
              <a:rPr sz="1814" spc="-9" dirty="0">
                <a:cs typeface="Comic Sans MS"/>
              </a:rPr>
              <a:t>:</a:t>
            </a:r>
            <a:endParaRPr sz="1814" dirty="0">
              <a:cs typeface="Comic Sans MS"/>
            </a:endParaRPr>
          </a:p>
          <a:p>
            <a:pPr marL="684072" indent="-257966">
              <a:spcBef>
                <a:spcPts val="159"/>
              </a:spcBef>
              <a:buClr>
                <a:srgbClr val="000000"/>
              </a:buClr>
              <a:buChar char="–"/>
              <a:tabLst>
                <a:tab pos="684072" algn="l"/>
              </a:tabLst>
            </a:pPr>
            <a:r>
              <a:rPr sz="2176" dirty="0">
                <a:solidFill>
                  <a:srgbClr val="0000FF"/>
                </a:solidFill>
                <a:cs typeface="Comic Sans MS"/>
              </a:rPr>
              <a:t>Transport</a:t>
            </a:r>
            <a:r>
              <a:rPr sz="2176" spc="-23" dirty="0">
                <a:solidFill>
                  <a:srgbClr val="0000FF"/>
                </a:solidFill>
                <a:cs typeface="Comic Sans MS"/>
              </a:rPr>
              <a:t> </a:t>
            </a:r>
            <a:r>
              <a:rPr sz="2176" dirty="0">
                <a:solidFill>
                  <a:srgbClr val="0000FF"/>
                </a:solidFill>
                <a:cs typeface="Comic Sans MS"/>
              </a:rPr>
              <a:t>Layer</a:t>
            </a:r>
            <a:r>
              <a:rPr sz="2176" spc="-36" dirty="0">
                <a:solidFill>
                  <a:srgbClr val="0000FF"/>
                </a:solidFill>
                <a:cs typeface="Comic Sans MS"/>
              </a:rPr>
              <a:t> </a:t>
            </a:r>
            <a:r>
              <a:rPr sz="2176" dirty="0">
                <a:cs typeface="Comic Sans MS"/>
              </a:rPr>
              <a:t>(RFC</a:t>
            </a:r>
            <a:r>
              <a:rPr sz="2176" spc="-32" dirty="0">
                <a:cs typeface="Comic Sans MS"/>
              </a:rPr>
              <a:t> </a:t>
            </a:r>
            <a:r>
              <a:rPr sz="2176" dirty="0">
                <a:cs typeface="Comic Sans MS"/>
              </a:rPr>
              <a:t>4253,</a:t>
            </a:r>
            <a:r>
              <a:rPr sz="2176" spc="-68" dirty="0">
                <a:cs typeface="Comic Sans MS"/>
              </a:rPr>
              <a:t> </a:t>
            </a:r>
            <a:r>
              <a:rPr sz="2176" dirty="0">
                <a:cs typeface="Comic Sans MS"/>
              </a:rPr>
              <a:t>31</a:t>
            </a:r>
            <a:r>
              <a:rPr sz="2176" spc="-36" dirty="0">
                <a:cs typeface="Comic Sans MS"/>
              </a:rPr>
              <a:t> </a:t>
            </a:r>
            <a:r>
              <a:rPr sz="2176" spc="-9" dirty="0">
                <a:cs typeface="Comic Sans MS"/>
              </a:rPr>
              <a:t>pages):</a:t>
            </a:r>
            <a:endParaRPr sz="2176" dirty="0">
              <a:cs typeface="Comic Sans MS"/>
            </a:endParaRPr>
          </a:p>
          <a:p>
            <a:pPr marL="841270" marR="146258">
              <a:lnSpc>
                <a:spcPct val="87700"/>
              </a:lnSpc>
              <a:spcBef>
                <a:spcPts val="608"/>
              </a:spcBef>
            </a:pPr>
            <a:r>
              <a:rPr sz="1814" spc="86" dirty="0">
                <a:cs typeface="Microsoft Sans Serif"/>
              </a:rPr>
              <a:t>Initial </a:t>
            </a:r>
            <a:r>
              <a:rPr sz="1814" spc="73" dirty="0">
                <a:cs typeface="Microsoft Sans Serif"/>
              </a:rPr>
              <a:t>key</a:t>
            </a:r>
            <a:r>
              <a:rPr sz="1814" spc="59" dirty="0">
                <a:cs typeface="Microsoft Sans Serif"/>
              </a:rPr>
              <a:t> </a:t>
            </a:r>
            <a:r>
              <a:rPr sz="1814" spc="63" dirty="0">
                <a:cs typeface="Microsoft Sans Serif"/>
              </a:rPr>
              <a:t>exchange,</a:t>
            </a:r>
            <a:r>
              <a:rPr sz="1814" spc="141" dirty="0">
                <a:cs typeface="Microsoft Sans Serif"/>
              </a:rPr>
              <a:t> </a:t>
            </a:r>
            <a:r>
              <a:rPr sz="1814" i="1" spc="73" dirty="0">
                <a:solidFill>
                  <a:srgbClr val="FF0000"/>
                </a:solidFill>
                <a:cs typeface="Arial"/>
              </a:rPr>
              <a:t>server</a:t>
            </a:r>
            <a:r>
              <a:rPr sz="1814" i="1" spc="100" dirty="0">
                <a:solidFill>
                  <a:srgbClr val="FF0000"/>
                </a:solidFill>
                <a:cs typeface="Arial"/>
              </a:rPr>
              <a:t> </a:t>
            </a:r>
            <a:r>
              <a:rPr sz="1814" spc="86" dirty="0">
                <a:solidFill>
                  <a:srgbClr val="FF0000"/>
                </a:solidFill>
                <a:cs typeface="Microsoft Sans Serif"/>
              </a:rPr>
              <a:t>authentication</a:t>
            </a:r>
            <a:r>
              <a:rPr sz="1814" spc="86" dirty="0">
                <a:cs typeface="Microsoft Sans Serif"/>
              </a:rPr>
              <a:t>,</a:t>
            </a:r>
            <a:r>
              <a:rPr sz="1814" spc="103" dirty="0">
                <a:cs typeface="Microsoft Sans Serif"/>
              </a:rPr>
              <a:t> </a:t>
            </a:r>
            <a:r>
              <a:rPr sz="1814" spc="41" dirty="0">
                <a:cs typeface="Microsoft Sans Serif"/>
              </a:rPr>
              <a:t>data </a:t>
            </a:r>
            <a:r>
              <a:rPr sz="1814" spc="91" dirty="0">
                <a:cs typeface="Microsoft Sans Serif"/>
              </a:rPr>
              <a:t>confidentiality,</a:t>
            </a:r>
            <a:r>
              <a:rPr sz="1814" spc="127" dirty="0">
                <a:cs typeface="Microsoft Sans Serif"/>
              </a:rPr>
              <a:t> </a:t>
            </a:r>
            <a:r>
              <a:rPr sz="1814" spc="59" dirty="0">
                <a:cs typeface="Microsoft Sans Serif"/>
              </a:rPr>
              <a:t>data</a:t>
            </a:r>
            <a:r>
              <a:rPr sz="1814" spc="95" dirty="0">
                <a:cs typeface="Microsoft Sans Serif"/>
              </a:rPr>
              <a:t> </a:t>
            </a:r>
            <a:r>
              <a:rPr sz="1814" spc="103" dirty="0">
                <a:cs typeface="Microsoft Sans Serif"/>
              </a:rPr>
              <a:t>integrity,</a:t>
            </a:r>
            <a:r>
              <a:rPr sz="1814" spc="131" dirty="0">
                <a:cs typeface="Microsoft Sans Serif"/>
              </a:rPr>
              <a:t> </a:t>
            </a:r>
            <a:r>
              <a:rPr sz="1814" spc="73" dirty="0">
                <a:cs typeface="Microsoft Sans Serif"/>
              </a:rPr>
              <a:t>compression</a:t>
            </a:r>
            <a:r>
              <a:rPr sz="1814" spc="103" dirty="0">
                <a:cs typeface="Microsoft Sans Serif"/>
              </a:rPr>
              <a:t> </a:t>
            </a:r>
            <a:r>
              <a:rPr sz="1814" spc="73" dirty="0">
                <a:cs typeface="Microsoft Sans Serif"/>
              </a:rPr>
              <a:t>(optional),</a:t>
            </a:r>
            <a:r>
              <a:rPr sz="1814" spc="131" dirty="0">
                <a:cs typeface="Microsoft Sans Serif"/>
              </a:rPr>
              <a:t> </a:t>
            </a:r>
            <a:r>
              <a:rPr sz="1814" spc="73" dirty="0">
                <a:cs typeface="Microsoft Sans Serif"/>
              </a:rPr>
              <a:t>and </a:t>
            </a:r>
            <a:r>
              <a:rPr sz="1814" spc="50" dirty="0">
                <a:cs typeface="Microsoft Sans Serif"/>
              </a:rPr>
              <a:t>key</a:t>
            </a:r>
            <a:r>
              <a:rPr sz="1814" spc="236" dirty="0">
                <a:cs typeface="Microsoft Sans Serif"/>
              </a:rPr>
              <a:t> </a:t>
            </a:r>
            <a:r>
              <a:rPr sz="1814" dirty="0">
                <a:cs typeface="Microsoft Sans Serif"/>
              </a:rPr>
              <a:t>re-</a:t>
            </a:r>
            <a:r>
              <a:rPr sz="1814" spc="54" dirty="0">
                <a:cs typeface="Microsoft Sans Serif"/>
              </a:rPr>
              <a:t>exchange.</a:t>
            </a:r>
            <a:endParaRPr sz="1814" dirty="0">
              <a:cs typeface="Microsoft Sans Serif"/>
            </a:endParaRPr>
          </a:p>
          <a:p>
            <a:pPr marL="684072" indent="-257966">
              <a:spcBef>
                <a:spcPts val="2027"/>
              </a:spcBef>
              <a:buClr>
                <a:srgbClr val="000000"/>
              </a:buClr>
              <a:buChar char="–"/>
              <a:tabLst>
                <a:tab pos="684072" algn="l"/>
              </a:tabLst>
            </a:pPr>
            <a:r>
              <a:rPr sz="2176" dirty="0">
                <a:solidFill>
                  <a:srgbClr val="0000FF"/>
                </a:solidFill>
                <a:cs typeface="Comic Sans MS"/>
              </a:rPr>
              <a:t>User</a:t>
            </a:r>
            <a:r>
              <a:rPr sz="2176" spc="-45" dirty="0">
                <a:solidFill>
                  <a:srgbClr val="0000FF"/>
                </a:solidFill>
                <a:cs typeface="Comic Sans MS"/>
              </a:rPr>
              <a:t> </a:t>
            </a:r>
            <a:r>
              <a:rPr sz="2176" dirty="0">
                <a:solidFill>
                  <a:srgbClr val="0000FF"/>
                </a:solidFill>
                <a:cs typeface="Comic Sans MS"/>
              </a:rPr>
              <a:t>Authentication</a:t>
            </a:r>
            <a:r>
              <a:rPr sz="2176" spc="-63" dirty="0">
                <a:solidFill>
                  <a:srgbClr val="0000FF"/>
                </a:solidFill>
                <a:cs typeface="Comic Sans MS"/>
              </a:rPr>
              <a:t> </a:t>
            </a:r>
            <a:r>
              <a:rPr sz="2176" dirty="0">
                <a:solidFill>
                  <a:srgbClr val="0000FF"/>
                </a:solidFill>
                <a:cs typeface="Comic Sans MS"/>
              </a:rPr>
              <a:t>Layer </a:t>
            </a:r>
            <a:r>
              <a:rPr sz="2176" dirty="0">
                <a:cs typeface="Comic Sans MS"/>
              </a:rPr>
              <a:t>(RFC</a:t>
            </a:r>
            <a:r>
              <a:rPr sz="2176" spc="-32" dirty="0">
                <a:cs typeface="Comic Sans MS"/>
              </a:rPr>
              <a:t> </a:t>
            </a:r>
            <a:r>
              <a:rPr sz="2176" dirty="0">
                <a:cs typeface="Comic Sans MS"/>
              </a:rPr>
              <a:t>4252,</a:t>
            </a:r>
            <a:r>
              <a:rPr sz="2176" spc="-68" dirty="0">
                <a:cs typeface="Comic Sans MS"/>
              </a:rPr>
              <a:t> </a:t>
            </a:r>
            <a:r>
              <a:rPr sz="2176" dirty="0">
                <a:cs typeface="Comic Sans MS"/>
              </a:rPr>
              <a:t>16</a:t>
            </a:r>
            <a:r>
              <a:rPr sz="2176" spc="-50" dirty="0">
                <a:cs typeface="Comic Sans MS"/>
              </a:rPr>
              <a:t> </a:t>
            </a:r>
            <a:r>
              <a:rPr sz="2176" spc="-9" dirty="0">
                <a:cs typeface="Comic Sans MS"/>
              </a:rPr>
              <a:t>pages):</a:t>
            </a:r>
            <a:endParaRPr sz="2176" dirty="0">
              <a:cs typeface="Comic Sans MS"/>
            </a:endParaRPr>
          </a:p>
          <a:p>
            <a:pPr marL="841270">
              <a:lnSpc>
                <a:spcPts val="2040"/>
              </a:lnSpc>
              <a:spcBef>
                <a:spcPts val="340"/>
              </a:spcBef>
            </a:pPr>
            <a:r>
              <a:rPr sz="1814" i="1" spc="59" dirty="0">
                <a:solidFill>
                  <a:srgbClr val="FF0000"/>
                </a:solidFill>
                <a:cs typeface="Arial"/>
              </a:rPr>
              <a:t>Client</a:t>
            </a:r>
            <a:r>
              <a:rPr sz="1814" i="1" spc="95" dirty="0">
                <a:solidFill>
                  <a:srgbClr val="FF0000"/>
                </a:solidFill>
                <a:cs typeface="Arial"/>
              </a:rPr>
              <a:t> </a:t>
            </a:r>
            <a:r>
              <a:rPr sz="1814" spc="86" dirty="0">
                <a:solidFill>
                  <a:srgbClr val="FF0000"/>
                </a:solidFill>
                <a:cs typeface="Microsoft Sans Serif"/>
              </a:rPr>
              <a:t>authentication</a:t>
            </a:r>
            <a:r>
              <a:rPr sz="1814" spc="86" dirty="0">
                <a:cs typeface="Microsoft Sans Serif"/>
              </a:rPr>
              <a:t>,</a:t>
            </a:r>
            <a:r>
              <a:rPr sz="1814" spc="113" dirty="0">
                <a:cs typeface="Microsoft Sans Serif"/>
              </a:rPr>
              <a:t> </a:t>
            </a:r>
            <a:r>
              <a:rPr sz="1814" spc="86" dirty="0">
                <a:cs typeface="Microsoft Sans Serif"/>
              </a:rPr>
              <a:t>provide</a:t>
            </a:r>
            <a:r>
              <a:rPr sz="1814" spc="145" dirty="0">
                <a:cs typeface="Microsoft Sans Serif"/>
              </a:rPr>
              <a:t> </a:t>
            </a:r>
            <a:r>
              <a:rPr sz="1814" spc="59" dirty="0">
                <a:cs typeface="Microsoft Sans Serif"/>
              </a:rPr>
              <a:t>various</a:t>
            </a:r>
            <a:r>
              <a:rPr sz="1814" spc="163" dirty="0">
                <a:cs typeface="Microsoft Sans Serif"/>
              </a:rPr>
              <a:t> </a:t>
            </a:r>
            <a:r>
              <a:rPr sz="1814" spc="77" dirty="0">
                <a:cs typeface="Microsoft Sans Serif"/>
              </a:rPr>
              <a:t>authentication</a:t>
            </a:r>
            <a:endParaRPr sz="1814" dirty="0">
              <a:cs typeface="Microsoft Sans Serif"/>
            </a:endParaRPr>
          </a:p>
          <a:p>
            <a:pPr marL="841270">
              <a:lnSpc>
                <a:spcPts val="2040"/>
              </a:lnSpc>
            </a:pPr>
            <a:r>
              <a:rPr sz="1814" spc="86" dirty="0">
                <a:cs typeface="Microsoft Sans Serif"/>
              </a:rPr>
              <a:t>methods.</a:t>
            </a:r>
            <a:endParaRPr sz="1814" dirty="0">
              <a:cs typeface="Microsoft Sans Serif"/>
            </a:endParaRPr>
          </a:p>
          <a:p>
            <a:pPr marL="684072" indent="-257966">
              <a:spcBef>
                <a:spcPts val="1959"/>
              </a:spcBef>
              <a:buClr>
                <a:srgbClr val="000000"/>
              </a:buClr>
              <a:buChar char="–"/>
              <a:tabLst>
                <a:tab pos="684072" algn="l"/>
              </a:tabLst>
            </a:pPr>
            <a:r>
              <a:rPr sz="2176" dirty="0">
                <a:solidFill>
                  <a:srgbClr val="0000FF"/>
                </a:solidFill>
                <a:cs typeface="Comic Sans MS"/>
              </a:rPr>
              <a:t>Connection</a:t>
            </a:r>
            <a:r>
              <a:rPr sz="2176" spc="-68" dirty="0">
                <a:solidFill>
                  <a:srgbClr val="0000FF"/>
                </a:solidFill>
                <a:cs typeface="Comic Sans MS"/>
              </a:rPr>
              <a:t> </a:t>
            </a:r>
            <a:r>
              <a:rPr sz="2176" dirty="0">
                <a:solidFill>
                  <a:srgbClr val="0000FF"/>
                </a:solidFill>
                <a:cs typeface="Comic Sans MS"/>
              </a:rPr>
              <a:t>Layer</a:t>
            </a:r>
            <a:r>
              <a:rPr sz="2176" spc="-14" dirty="0">
                <a:solidFill>
                  <a:srgbClr val="0000FF"/>
                </a:solidFill>
                <a:cs typeface="Comic Sans MS"/>
              </a:rPr>
              <a:t> </a:t>
            </a:r>
            <a:r>
              <a:rPr sz="2176" dirty="0">
                <a:cs typeface="Comic Sans MS"/>
              </a:rPr>
              <a:t>(RFC</a:t>
            </a:r>
            <a:r>
              <a:rPr sz="2176" spc="-32" dirty="0">
                <a:cs typeface="Comic Sans MS"/>
              </a:rPr>
              <a:t> </a:t>
            </a:r>
            <a:r>
              <a:rPr sz="2176" dirty="0">
                <a:cs typeface="Comic Sans MS"/>
              </a:rPr>
              <a:t>4254,</a:t>
            </a:r>
            <a:r>
              <a:rPr sz="2176" spc="-73" dirty="0">
                <a:cs typeface="Comic Sans MS"/>
              </a:rPr>
              <a:t> </a:t>
            </a:r>
            <a:r>
              <a:rPr sz="2176" dirty="0">
                <a:cs typeface="Comic Sans MS"/>
              </a:rPr>
              <a:t>28</a:t>
            </a:r>
            <a:r>
              <a:rPr sz="2176" spc="-50" dirty="0">
                <a:cs typeface="Comic Sans MS"/>
              </a:rPr>
              <a:t> </a:t>
            </a:r>
            <a:r>
              <a:rPr sz="2176" spc="-9" dirty="0">
                <a:cs typeface="Comic Sans MS"/>
              </a:rPr>
              <a:t>pages):</a:t>
            </a:r>
            <a:endParaRPr sz="2176" dirty="0">
              <a:cs typeface="Comic Sans MS"/>
            </a:endParaRPr>
          </a:p>
          <a:p>
            <a:pPr marL="841270" marR="4607">
              <a:lnSpc>
                <a:spcPct val="87700"/>
              </a:lnSpc>
              <a:spcBef>
                <a:spcPts val="540"/>
              </a:spcBef>
            </a:pPr>
            <a:r>
              <a:rPr sz="1814" spc="63" dirty="0">
                <a:cs typeface="Microsoft Sans Serif"/>
              </a:rPr>
              <a:t>Defines</a:t>
            </a:r>
            <a:r>
              <a:rPr sz="1814" spc="73" dirty="0">
                <a:cs typeface="Microsoft Sans Serif"/>
              </a:rPr>
              <a:t> </a:t>
            </a:r>
            <a:r>
              <a:rPr sz="1814" spc="86" dirty="0">
                <a:cs typeface="Microsoft Sans Serif"/>
              </a:rPr>
              <a:t>the</a:t>
            </a:r>
            <a:r>
              <a:rPr sz="1814" spc="131" dirty="0">
                <a:cs typeface="Microsoft Sans Serif"/>
              </a:rPr>
              <a:t> </a:t>
            </a:r>
            <a:r>
              <a:rPr sz="1814" spc="68" dirty="0">
                <a:cs typeface="Microsoft Sans Serif"/>
              </a:rPr>
              <a:t>logical</a:t>
            </a:r>
            <a:r>
              <a:rPr sz="1814" spc="131" dirty="0">
                <a:cs typeface="Microsoft Sans Serif"/>
              </a:rPr>
              <a:t> </a:t>
            </a:r>
            <a:r>
              <a:rPr sz="1814" i="1" spc="63" dirty="0">
                <a:solidFill>
                  <a:srgbClr val="FF0000"/>
                </a:solidFill>
                <a:cs typeface="Arial"/>
              </a:rPr>
              <a:t>channel</a:t>
            </a:r>
            <a:r>
              <a:rPr sz="1814" spc="63" dirty="0">
                <a:solidFill>
                  <a:srgbClr val="FF0000"/>
                </a:solidFill>
                <a:cs typeface="Microsoft Sans Serif"/>
              </a:rPr>
              <a:t>s</a:t>
            </a:r>
            <a:r>
              <a:rPr sz="1814" spc="95" dirty="0">
                <a:solidFill>
                  <a:srgbClr val="FF0000"/>
                </a:solidFill>
                <a:cs typeface="Microsoft Sans Serif"/>
              </a:rPr>
              <a:t> </a:t>
            </a:r>
            <a:r>
              <a:rPr sz="1814" spc="73" dirty="0">
                <a:cs typeface="Microsoft Sans Serif"/>
              </a:rPr>
              <a:t>and</a:t>
            </a:r>
            <a:r>
              <a:rPr sz="1814" spc="68" dirty="0">
                <a:cs typeface="Microsoft Sans Serif"/>
              </a:rPr>
              <a:t> </a:t>
            </a:r>
            <a:r>
              <a:rPr sz="1814" spc="109" dirty="0">
                <a:cs typeface="Microsoft Sans Serif"/>
              </a:rPr>
              <a:t>the</a:t>
            </a:r>
            <a:r>
              <a:rPr sz="1814" spc="86" dirty="0">
                <a:cs typeface="Microsoft Sans Serif"/>
              </a:rPr>
              <a:t> </a:t>
            </a:r>
            <a:r>
              <a:rPr sz="1814" i="1" spc="63" dirty="0">
                <a:solidFill>
                  <a:srgbClr val="FF0000"/>
                </a:solidFill>
                <a:cs typeface="Arial"/>
              </a:rPr>
              <a:t>requests</a:t>
            </a:r>
            <a:r>
              <a:rPr sz="1814" i="1" spc="45" dirty="0">
                <a:solidFill>
                  <a:srgbClr val="FF0000"/>
                </a:solidFill>
                <a:cs typeface="Arial"/>
              </a:rPr>
              <a:t> </a:t>
            </a:r>
            <a:r>
              <a:rPr sz="1814" spc="145" dirty="0">
                <a:cs typeface="Microsoft Sans Serif"/>
              </a:rPr>
              <a:t>to</a:t>
            </a:r>
            <a:r>
              <a:rPr sz="1814" spc="91" dirty="0">
                <a:cs typeface="Microsoft Sans Serif"/>
              </a:rPr>
              <a:t> </a:t>
            </a:r>
            <a:r>
              <a:rPr sz="1814" spc="73" dirty="0">
                <a:cs typeface="Microsoft Sans Serif"/>
              </a:rPr>
              <a:t>handle</a:t>
            </a:r>
            <a:r>
              <a:rPr sz="1814" spc="68" dirty="0">
                <a:cs typeface="Microsoft Sans Serif"/>
              </a:rPr>
              <a:t> </a:t>
            </a:r>
            <a:r>
              <a:rPr sz="1814" spc="86" dirty="0">
                <a:cs typeface="Microsoft Sans Serif"/>
              </a:rPr>
              <a:t>the </a:t>
            </a:r>
            <a:r>
              <a:rPr sz="1814" dirty="0">
                <a:cs typeface="Microsoft Sans Serif"/>
              </a:rPr>
              <a:t>services</a:t>
            </a:r>
            <a:r>
              <a:rPr sz="1814" spc="86" dirty="0">
                <a:cs typeface="Microsoft Sans Serif"/>
              </a:rPr>
              <a:t> </a:t>
            </a:r>
            <a:r>
              <a:rPr sz="1814" spc="91" dirty="0">
                <a:cs typeface="Microsoft Sans Serif"/>
              </a:rPr>
              <a:t>like:</a:t>
            </a:r>
            <a:r>
              <a:rPr sz="1814" spc="109" dirty="0">
                <a:cs typeface="Microsoft Sans Serif"/>
              </a:rPr>
              <a:t> </a:t>
            </a:r>
            <a:r>
              <a:rPr sz="1814" spc="45" dirty="0">
                <a:cs typeface="Microsoft Sans Serif"/>
              </a:rPr>
              <a:t>secure</a:t>
            </a:r>
            <a:r>
              <a:rPr sz="1814" spc="73" dirty="0">
                <a:cs typeface="Microsoft Sans Serif"/>
              </a:rPr>
              <a:t> </a:t>
            </a:r>
            <a:r>
              <a:rPr sz="1814" spc="77" dirty="0">
                <a:cs typeface="Microsoft Sans Serif"/>
              </a:rPr>
              <a:t>interactive</a:t>
            </a:r>
            <a:r>
              <a:rPr sz="1814" spc="73" dirty="0">
                <a:cs typeface="Microsoft Sans Serif"/>
              </a:rPr>
              <a:t> </a:t>
            </a:r>
            <a:r>
              <a:rPr sz="1814" spc="68" dirty="0">
                <a:cs typeface="Microsoft Sans Serif"/>
              </a:rPr>
              <a:t>shell</a:t>
            </a:r>
            <a:r>
              <a:rPr sz="1814" spc="95" dirty="0">
                <a:cs typeface="Microsoft Sans Serif"/>
              </a:rPr>
              <a:t> </a:t>
            </a:r>
            <a:r>
              <a:rPr sz="1814" spc="50" dirty="0">
                <a:cs typeface="Microsoft Sans Serif"/>
              </a:rPr>
              <a:t>session,</a:t>
            </a:r>
            <a:r>
              <a:rPr sz="1814" spc="113" dirty="0">
                <a:cs typeface="Microsoft Sans Serif"/>
              </a:rPr>
              <a:t> </a:t>
            </a:r>
            <a:r>
              <a:rPr sz="1814" spc="-27" dirty="0">
                <a:cs typeface="Microsoft Sans Serif"/>
              </a:rPr>
              <a:t>TCP</a:t>
            </a:r>
            <a:r>
              <a:rPr sz="1814" spc="159" dirty="0">
                <a:cs typeface="Microsoft Sans Serif"/>
              </a:rPr>
              <a:t> </a:t>
            </a:r>
            <a:r>
              <a:rPr sz="1814" spc="118" dirty="0">
                <a:cs typeface="Microsoft Sans Serif"/>
              </a:rPr>
              <a:t>port </a:t>
            </a:r>
            <a:r>
              <a:rPr sz="1814" spc="100" dirty="0">
                <a:cs typeface="Microsoft Sans Serif"/>
              </a:rPr>
              <a:t>forwarding</a:t>
            </a:r>
            <a:r>
              <a:rPr sz="1814" spc="82" dirty="0">
                <a:cs typeface="Microsoft Sans Serif"/>
              </a:rPr>
              <a:t> </a:t>
            </a:r>
            <a:r>
              <a:rPr sz="1814" spc="73" dirty="0">
                <a:cs typeface="Microsoft Sans Serif"/>
              </a:rPr>
              <a:t>and</a:t>
            </a:r>
            <a:r>
              <a:rPr sz="1814" spc="145" dirty="0">
                <a:cs typeface="Microsoft Sans Serif"/>
              </a:rPr>
              <a:t> </a:t>
            </a:r>
            <a:r>
              <a:rPr sz="1814" spc="54" dirty="0">
                <a:cs typeface="Microsoft Sans Serif"/>
              </a:rPr>
              <a:t>X11</a:t>
            </a:r>
            <a:r>
              <a:rPr sz="1814" spc="73" dirty="0">
                <a:cs typeface="Microsoft Sans Serif"/>
              </a:rPr>
              <a:t> </a:t>
            </a:r>
            <a:r>
              <a:rPr sz="1814" spc="91" dirty="0">
                <a:cs typeface="Microsoft Sans Serif"/>
              </a:rPr>
              <a:t>forwarding.</a:t>
            </a:r>
            <a:endParaRPr sz="1814" dirty="0">
              <a:cs typeface="Microsoft Sans Serif"/>
            </a:endParaRPr>
          </a:p>
        </p:txBody>
      </p:sp>
      <p:sp>
        <p:nvSpPr>
          <p:cNvPr id="3" name="object 3" descr="$PPTXTitle"/>
          <p:cNvSpPr txBox="1">
            <a:spLocks noGrp="1"/>
          </p:cNvSpPr>
          <p:nvPr>
            <p:ph type="title"/>
          </p:nvPr>
        </p:nvSpPr>
        <p:spPr>
          <a:xfrm>
            <a:off x="1328221" y="0"/>
            <a:ext cx="9535557" cy="947479"/>
          </a:xfrm>
          <a:prstGeom prst="rect">
            <a:avLst/>
          </a:prstGeom>
        </p:spPr>
        <p:txBody>
          <a:bodyPr vert="horz" wrap="square" lIns="0" tIns="267756" rIns="0" bIns="0" rtlCol="0" anchor="ctr">
            <a:spAutoFit/>
          </a:bodyPr>
          <a:lstStyle/>
          <a:p>
            <a:pPr marL="1889259">
              <a:lnSpc>
                <a:spcPct val="100000"/>
              </a:lnSpc>
              <a:spcBef>
                <a:spcPts val="95"/>
              </a:spcBef>
            </a:pPr>
            <a:r>
              <a:rPr dirty="0"/>
              <a:t>Building</a:t>
            </a:r>
            <a:r>
              <a:rPr spc="-86" dirty="0"/>
              <a:t> </a:t>
            </a:r>
            <a:r>
              <a:rPr spc="-9" dirty="0"/>
              <a:t>Blocks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1AC0B-E4A6-296C-EAC6-CD1FB7CECA1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35E11EE-3B4E-2C82-458A-9368403E543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8584808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82FE9146-34D2-4DCD-6EA0-7D3EE7E86C4E}"/>
              </a:ext>
            </a:extLst>
          </p:cNvPr>
          <p:cNvSpPr>
            <a:spLocks noGrp="1"/>
          </p:cNvSpPr>
          <p:nvPr>
            <p:ph type="sldNum" sz="quarter" idx="10"/>
          </p:nvPr>
        </p:nvSpPr>
        <p:spPr/>
        <p:txBody>
          <a:bodyPr/>
          <a:lstStyle/>
          <a:p>
            <a:fld id="{6CA130AF-7280-FF4B-9410-83CB3C133785}" type="slidenum">
              <a:rPr lang="en-US" altLang="en-US"/>
              <a:pPr/>
              <a:t>70</a:t>
            </a:fld>
            <a:endParaRPr lang="en-US" altLang="en-US"/>
          </a:p>
        </p:txBody>
      </p:sp>
      <p:sp>
        <p:nvSpPr>
          <p:cNvPr id="32770" name="Rectangle 2">
            <a:extLst>
              <a:ext uri="{FF2B5EF4-FFF2-40B4-BE49-F238E27FC236}">
                <a16:creationId xmlns:a16="http://schemas.microsoft.com/office/drawing/2014/main" id="{E4ED4323-78B1-F22D-2F73-6B0E3E77F8DD}"/>
              </a:ext>
            </a:extLst>
          </p:cNvPr>
          <p:cNvSpPr>
            <a:spLocks noGrp="1" noChangeArrowheads="1"/>
          </p:cNvSpPr>
          <p:nvPr>
            <p:ph type="title"/>
          </p:nvPr>
        </p:nvSpPr>
        <p:spPr/>
        <p:txBody>
          <a:bodyPr/>
          <a:lstStyle/>
          <a:p>
            <a:r>
              <a:rPr lang="en-US" altLang="en-US"/>
              <a:t>SSH security features</a:t>
            </a:r>
          </a:p>
        </p:txBody>
      </p:sp>
      <p:sp>
        <p:nvSpPr>
          <p:cNvPr id="32771" name="Rectangle 3">
            <a:extLst>
              <a:ext uri="{FF2B5EF4-FFF2-40B4-BE49-F238E27FC236}">
                <a16:creationId xmlns:a16="http://schemas.microsoft.com/office/drawing/2014/main" id="{99921AB0-0F56-8DAD-0AD8-A53548D7E3D2}"/>
              </a:ext>
            </a:extLst>
          </p:cNvPr>
          <p:cNvSpPr>
            <a:spLocks noGrp="1" noChangeArrowheads="1"/>
          </p:cNvSpPr>
          <p:nvPr>
            <p:ph type="body" idx="1"/>
          </p:nvPr>
        </p:nvSpPr>
        <p:spPr/>
        <p:txBody>
          <a:bodyPr>
            <a:normAutofit lnSpcReduction="10000"/>
          </a:bodyPr>
          <a:lstStyle/>
          <a:p>
            <a:r>
              <a:rPr lang="en-US" altLang="en-US"/>
              <a:t>strong algorithms</a:t>
            </a:r>
          </a:p>
          <a:p>
            <a:pPr lvl="1"/>
            <a:r>
              <a:rPr lang="en-US" altLang="en-US"/>
              <a:t>uses well established strong algorithms for encryption, integrity, key exchange, and public key management </a:t>
            </a:r>
          </a:p>
          <a:p>
            <a:r>
              <a:rPr lang="en-US" altLang="en-US"/>
              <a:t>large key size</a:t>
            </a:r>
          </a:p>
          <a:p>
            <a:pPr lvl="1"/>
            <a:r>
              <a:rPr lang="en-US" altLang="en-US"/>
              <a:t>requires encryption to be used with at least 128 bit keys</a:t>
            </a:r>
          </a:p>
          <a:p>
            <a:pPr lvl="1"/>
            <a:r>
              <a:rPr lang="en-US" altLang="en-US"/>
              <a:t>supports larger keys too</a:t>
            </a:r>
          </a:p>
          <a:p>
            <a:r>
              <a:rPr lang="en-US" altLang="en-US"/>
              <a:t>algorithm negotiation</a:t>
            </a:r>
          </a:p>
          <a:p>
            <a:pPr lvl="1"/>
            <a:r>
              <a:rPr lang="en-US" altLang="en-US"/>
              <a:t>encryption, integrity, key exchange, and public key algorithms are negotiated</a:t>
            </a:r>
          </a:p>
          <a:p>
            <a:pPr lvl="1"/>
            <a:r>
              <a:rPr lang="en-US" altLang="en-US"/>
              <a:t>it is easy to switch to some other algorithm without modifying the base protocol</a:t>
            </a:r>
          </a:p>
          <a:p>
            <a:endParaRPr lang="en-US" altLang="en-US"/>
          </a:p>
          <a:p>
            <a:endParaRPr lang="en-US"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838200" y="365125"/>
            <a:ext cx="10515600" cy="1325563"/>
          </a:xfrm>
        </p:spPr>
        <p:txBody>
          <a:bodyPr vert="horz" lIns="0" tIns="267756" rIns="0" bIns="0" rtlCol="0" anchor="ctr">
            <a:normAutofit/>
          </a:bodyPr>
          <a:lstStyle/>
          <a:p>
            <a:pPr marL="95010">
              <a:spcBef>
                <a:spcPts val="95"/>
              </a:spcBef>
            </a:pPr>
            <a:r>
              <a:rPr dirty="0"/>
              <a:t>Structure</a:t>
            </a:r>
            <a:r>
              <a:rPr spc="-18" dirty="0"/>
              <a:t> </a:t>
            </a:r>
            <a:r>
              <a:rPr dirty="0"/>
              <a:t>of</a:t>
            </a:r>
            <a:r>
              <a:rPr spc="-50" dirty="0"/>
              <a:t> </a:t>
            </a:r>
            <a:r>
              <a:rPr dirty="0"/>
              <a:t>the</a:t>
            </a:r>
            <a:r>
              <a:rPr spc="-86" dirty="0"/>
              <a:t> </a:t>
            </a:r>
            <a:r>
              <a:rPr dirty="0"/>
              <a:t>Building</a:t>
            </a:r>
            <a:r>
              <a:rPr spc="-63" dirty="0"/>
              <a:t> </a:t>
            </a:r>
            <a:r>
              <a:rPr spc="-9" dirty="0"/>
              <a:t>Blocks</a:t>
            </a:r>
            <a:endParaRPr lang="en-US" spc="-9"/>
          </a:p>
        </p:txBody>
      </p:sp>
      <p:pic>
        <p:nvPicPr>
          <p:cNvPr id="3" name="object 3"/>
          <p:cNvPicPr/>
          <p:nvPr/>
        </p:nvPicPr>
        <p:blipFill>
          <a:blip r:embed="rId2" cstate="print"/>
          <a:srcRect t="12142" r="-1" b="23748"/>
          <a:stretch>
            <a:fillRect/>
          </a:stretch>
        </p:blipFill>
        <p:spPr>
          <a:xfrm>
            <a:off x="838200" y="1825625"/>
            <a:ext cx="10515600" cy="4351338"/>
          </a:xfrm>
          <a:prstGeom prst="rect">
            <a:avLst/>
          </a:prstGeom>
          <a:noFill/>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03467" y="23"/>
            <a:ext cx="7799463" cy="907582"/>
          </a:xfrm>
          <a:prstGeom prst="rect">
            <a:avLst/>
          </a:prstGeom>
        </p:spPr>
      </p:pic>
      <p:sp>
        <p:nvSpPr>
          <p:cNvPr id="3" name="object 3" descr="$PPTXTitle"/>
          <p:cNvSpPr txBox="1">
            <a:spLocks noGrp="1"/>
          </p:cNvSpPr>
          <p:nvPr>
            <p:ph type="title"/>
          </p:nvPr>
        </p:nvSpPr>
        <p:spPr>
          <a:xfrm>
            <a:off x="2289839" y="587447"/>
            <a:ext cx="9535557" cy="689319"/>
          </a:xfrm>
          <a:prstGeom prst="rect">
            <a:avLst/>
          </a:prstGeom>
        </p:spPr>
        <p:txBody>
          <a:bodyPr vert="horz" wrap="square" lIns="0" tIns="12092" rIns="0" bIns="0" rtlCol="0" anchor="ctr">
            <a:spAutoFit/>
          </a:bodyPr>
          <a:lstStyle/>
          <a:p>
            <a:pPr marL="3171605">
              <a:lnSpc>
                <a:spcPct val="100000"/>
              </a:lnSpc>
              <a:spcBef>
                <a:spcPts val="95"/>
              </a:spcBef>
            </a:pPr>
            <a:r>
              <a:rPr spc="-9" dirty="0">
                <a:latin typeface="+mn-lt"/>
                <a:cs typeface="Comic Sans MS"/>
              </a:rPr>
              <a:t>Outline</a:t>
            </a:r>
          </a:p>
        </p:txBody>
      </p:sp>
      <p:sp>
        <p:nvSpPr>
          <p:cNvPr id="4" name="object 4"/>
          <p:cNvSpPr txBox="1">
            <a:spLocks noGrp="1"/>
          </p:cNvSpPr>
          <p:nvPr>
            <p:ph type="body" idx="1"/>
          </p:nvPr>
        </p:nvSpPr>
        <p:spPr>
          <a:xfrm>
            <a:off x="2289839" y="1655479"/>
            <a:ext cx="9535557" cy="2105936"/>
          </a:xfrm>
          <a:prstGeom prst="rect">
            <a:avLst/>
          </a:prstGeom>
        </p:spPr>
        <p:txBody>
          <a:bodyPr vert="horz" wrap="square" lIns="0" tIns="199809" rIns="0" bIns="0" rtlCol="0">
            <a:spAutoFit/>
          </a:bodyPr>
          <a:lstStyle/>
          <a:p>
            <a:pPr marL="304608" indent="-293091">
              <a:lnSpc>
                <a:spcPct val="100000"/>
              </a:lnSpc>
              <a:spcBef>
                <a:spcPts val="1573"/>
              </a:spcBef>
              <a:buClr>
                <a:srgbClr val="000000"/>
              </a:buClr>
              <a:buSzPct val="43750"/>
              <a:buFont typeface="Wingdings"/>
              <a:buChar char=""/>
              <a:tabLst>
                <a:tab pos="304608" algn="l"/>
              </a:tabLst>
            </a:pPr>
            <a:r>
              <a:rPr dirty="0"/>
              <a:t>Protocol</a:t>
            </a:r>
            <a:r>
              <a:rPr spc="-45" dirty="0"/>
              <a:t> </a:t>
            </a:r>
            <a:r>
              <a:rPr spc="-9" dirty="0"/>
              <a:t>Details</a:t>
            </a:r>
          </a:p>
          <a:p>
            <a:pPr marL="696740" lvl="1" indent="-260846">
              <a:lnSpc>
                <a:spcPct val="100000"/>
              </a:lnSpc>
              <a:spcBef>
                <a:spcPts val="1215"/>
              </a:spcBef>
              <a:buClr>
                <a:srgbClr val="000000"/>
              </a:buClr>
              <a:buSzPct val="75000"/>
              <a:buFont typeface="Symbol"/>
              <a:buChar char=""/>
              <a:tabLst>
                <a:tab pos="696740" algn="l"/>
              </a:tabLst>
            </a:pPr>
            <a:r>
              <a:rPr sz="2358" dirty="0">
                <a:solidFill>
                  <a:srgbClr val="0000FF"/>
                </a:solidFill>
                <a:cs typeface="Comic Sans MS"/>
              </a:rPr>
              <a:t>Transport</a:t>
            </a:r>
            <a:r>
              <a:rPr sz="2358" spc="-27" dirty="0">
                <a:solidFill>
                  <a:srgbClr val="0000FF"/>
                </a:solidFill>
                <a:cs typeface="Comic Sans MS"/>
              </a:rPr>
              <a:t> </a:t>
            </a:r>
            <a:r>
              <a:rPr sz="2358" spc="-18" dirty="0">
                <a:solidFill>
                  <a:srgbClr val="0000FF"/>
                </a:solidFill>
                <a:cs typeface="Comic Sans MS"/>
              </a:rPr>
              <a:t>Layer</a:t>
            </a:r>
            <a:endParaRPr sz="2358" dirty="0">
              <a:cs typeface="Comic Sans MS"/>
            </a:endParaRPr>
          </a:p>
          <a:p>
            <a:pPr marL="696740" lvl="1" indent="-260846">
              <a:lnSpc>
                <a:spcPct val="100000"/>
              </a:lnSpc>
              <a:spcBef>
                <a:spcPts val="920"/>
              </a:spcBef>
              <a:buClr>
                <a:srgbClr val="000000"/>
              </a:buClr>
              <a:buSzPct val="75000"/>
              <a:buFont typeface="Symbol"/>
              <a:buChar char=""/>
              <a:tabLst>
                <a:tab pos="696740" algn="l"/>
              </a:tabLst>
            </a:pPr>
            <a:r>
              <a:rPr sz="2358" dirty="0">
                <a:solidFill>
                  <a:srgbClr val="808080"/>
                </a:solidFill>
                <a:cs typeface="Comic Sans MS"/>
              </a:rPr>
              <a:t>User</a:t>
            </a:r>
            <a:r>
              <a:rPr sz="2358" spc="-32" dirty="0">
                <a:solidFill>
                  <a:srgbClr val="808080"/>
                </a:solidFill>
                <a:cs typeface="Comic Sans MS"/>
              </a:rPr>
              <a:t> </a:t>
            </a:r>
            <a:r>
              <a:rPr sz="2358" dirty="0">
                <a:solidFill>
                  <a:srgbClr val="808080"/>
                </a:solidFill>
                <a:cs typeface="Comic Sans MS"/>
              </a:rPr>
              <a:t>Authentication</a:t>
            </a:r>
            <a:r>
              <a:rPr sz="2358" spc="-59" dirty="0">
                <a:solidFill>
                  <a:srgbClr val="808080"/>
                </a:solidFill>
                <a:cs typeface="Comic Sans MS"/>
              </a:rPr>
              <a:t> </a:t>
            </a:r>
            <a:r>
              <a:rPr sz="2358" spc="-9" dirty="0">
                <a:solidFill>
                  <a:srgbClr val="808080"/>
                </a:solidFill>
                <a:cs typeface="Comic Sans MS"/>
              </a:rPr>
              <a:t>Layer</a:t>
            </a:r>
            <a:endParaRPr sz="2358" dirty="0">
              <a:cs typeface="Comic Sans MS"/>
            </a:endParaRPr>
          </a:p>
          <a:p>
            <a:pPr marL="696740" lvl="1" indent="-260846">
              <a:lnSpc>
                <a:spcPct val="100000"/>
              </a:lnSpc>
              <a:spcBef>
                <a:spcPts val="920"/>
              </a:spcBef>
              <a:buClr>
                <a:srgbClr val="000000"/>
              </a:buClr>
              <a:buSzPct val="75000"/>
              <a:buFont typeface="Symbol"/>
              <a:buChar char=""/>
              <a:tabLst>
                <a:tab pos="696740" algn="l"/>
              </a:tabLst>
            </a:pPr>
            <a:r>
              <a:rPr sz="2358" dirty="0">
                <a:solidFill>
                  <a:srgbClr val="808080"/>
                </a:solidFill>
                <a:cs typeface="Comic Sans MS"/>
              </a:rPr>
              <a:t>Connection</a:t>
            </a:r>
            <a:r>
              <a:rPr sz="2358" spc="-27" dirty="0">
                <a:solidFill>
                  <a:srgbClr val="808080"/>
                </a:solidFill>
                <a:cs typeface="Comic Sans MS"/>
              </a:rPr>
              <a:t> </a:t>
            </a:r>
            <a:r>
              <a:rPr sz="2358" spc="-18" dirty="0">
                <a:solidFill>
                  <a:srgbClr val="808080"/>
                </a:solidFill>
                <a:cs typeface="Comic Sans MS"/>
              </a:rPr>
              <a:t>Layer</a:t>
            </a:r>
            <a:endParaRPr sz="2358" dirty="0">
              <a:cs typeface="Comic Sans MS"/>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descr="$PPTXTitle"/>
          <p:cNvSpPr txBox="1">
            <a:spLocks noGrp="1"/>
          </p:cNvSpPr>
          <p:nvPr>
            <p:ph type="title"/>
          </p:nvPr>
        </p:nvSpPr>
        <p:spPr>
          <a:xfrm>
            <a:off x="838200" y="365125"/>
            <a:ext cx="10515600" cy="1325563"/>
          </a:xfrm>
        </p:spPr>
        <p:txBody>
          <a:bodyPr vert="horz" lIns="91440" tIns="45720" rIns="91440" bIns="45720" rtlCol="0" anchor="ctr">
            <a:normAutofit/>
          </a:bodyPr>
          <a:lstStyle/>
          <a:p>
            <a:pPr marL="1714786"/>
            <a:r>
              <a:rPr lang="en-US" kern="1200">
                <a:latin typeface="+mj-lt"/>
                <a:ea typeface="+mj-ea"/>
                <a:cs typeface="+mj-cs"/>
              </a:rPr>
              <a:t>Transport</a:t>
            </a:r>
            <a:r>
              <a:rPr lang="en-US" kern="1200" spc="-41">
                <a:latin typeface="+mj-lt"/>
                <a:ea typeface="+mj-ea"/>
                <a:cs typeface="+mj-cs"/>
              </a:rPr>
              <a:t> </a:t>
            </a:r>
            <a:r>
              <a:rPr lang="en-US" kern="1200" spc="-9">
                <a:latin typeface="+mj-lt"/>
                <a:ea typeface="+mj-ea"/>
                <a:cs typeface="+mj-cs"/>
              </a:rPr>
              <a:t>Layer</a:t>
            </a:r>
          </a:p>
        </p:txBody>
      </p:sp>
      <p:graphicFrame>
        <p:nvGraphicFramePr>
          <p:cNvPr id="5" name="object 2">
            <a:extLst>
              <a:ext uri="{FF2B5EF4-FFF2-40B4-BE49-F238E27FC236}">
                <a16:creationId xmlns:a16="http://schemas.microsoft.com/office/drawing/2014/main" id="{95FD96D2-0F1C-97D1-756F-EB24B2EDCA7E}"/>
              </a:ext>
            </a:extLst>
          </p:cNvPr>
          <p:cNvGraphicFramePr/>
          <p:nvPr>
            <p:extLst>
              <p:ext uri="{D42A27DB-BD31-4B8C-83A1-F6EECF244321}">
                <p14:modId xmlns:p14="http://schemas.microsoft.com/office/powerpoint/2010/main" val="374697267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EC18DDA6-AD21-89EB-7934-7E63C16ACC7D}"/>
              </a:ext>
            </a:extLst>
          </p:cNvPr>
          <p:cNvSpPr>
            <a:spLocks noGrp="1"/>
          </p:cNvSpPr>
          <p:nvPr>
            <p:ph type="sldNum" sz="quarter" idx="10"/>
          </p:nvPr>
        </p:nvSpPr>
        <p:spPr/>
        <p:txBody>
          <a:bodyPr/>
          <a:lstStyle/>
          <a:p>
            <a:fld id="{C412CE29-56FE-4849-9424-CAB85AF9B91E}" type="slidenum">
              <a:rPr lang="en-US" altLang="en-US"/>
              <a:pPr/>
              <a:t>74</a:t>
            </a:fld>
            <a:endParaRPr lang="en-US" altLang="en-US"/>
          </a:p>
        </p:txBody>
      </p:sp>
      <p:sp>
        <p:nvSpPr>
          <p:cNvPr id="33794" name="Rectangle 2">
            <a:extLst>
              <a:ext uri="{FF2B5EF4-FFF2-40B4-BE49-F238E27FC236}">
                <a16:creationId xmlns:a16="http://schemas.microsoft.com/office/drawing/2014/main" id="{8F8B4BE1-ACE4-D1FE-65FA-E16069712AD3}"/>
              </a:ext>
            </a:extLst>
          </p:cNvPr>
          <p:cNvSpPr>
            <a:spLocks noGrp="1" noChangeArrowheads="1"/>
          </p:cNvSpPr>
          <p:nvPr>
            <p:ph type="title"/>
          </p:nvPr>
        </p:nvSpPr>
        <p:spPr/>
        <p:txBody>
          <a:bodyPr/>
          <a:lstStyle/>
          <a:p>
            <a:r>
              <a:rPr lang="en-US" altLang="en-US"/>
              <a:t>SSH TLP – Overview </a:t>
            </a:r>
          </a:p>
        </p:txBody>
      </p:sp>
      <p:sp>
        <p:nvSpPr>
          <p:cNvPr id="33796" name="Line 4">
            <a:extLst>
              <a:ext uri="{FF2B5EF4-FFF2-40B4-BE49-F238E27FC236}">
                <a16:creationId xmlns:a16="http://schemas.microsoft.com/office/drawing/2014/main" id="{33844A8D-A686-0A95-9FE4-2DFB1B9BB05D}"/>
              </a:ext>
            </a:extLst>
          </p:cNvPr>
          <p:cNvSpPr>
            <a:spLocks noChangeShapeType="1"/>
          </p:cNvSpPr>
          <p:nvPr/>
        </p:nvSpPr>
        <p:spPr bwMode="auto">
          <a:xfrm>
            <a:off x="4257675" y="1990725"/>
            <a:ext cx="0" cy="36195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797" name="Line 5">
            <a:extLst>
              <a:ext uri="{FF2B5EF4-FFF2-40B4-BE49-F238E27FC236}">
                <a16:creationId xmlns:a16="http://schemas.microsoft.com/office/drawing/2014/main" id="{7D7A811D-B1F8-9E62-DD60-7597B9D18092}"/>
              </a:ext>
            </a:extLst>
          </p:cNvPr>
          <p:cNvSpPr>
            <a:spLocks noChangeShapeType="1"/>
          </p:cNvSpPr>
          <p:nvPr/>
        </p:nvSpPr>
        <p:spPr bwMode="auto">
          <a:xfrm>
            <a:off x="8259763" y="1979613"/>
            <a:ext cx="0" cy="36195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798" name="Text Box 6">
            <a:extLst>
              <a:ext uri="{FF2B5EF4-FFF2-40B4-BE49-F238E27FC236}">
                <a16:creationId xmlns:a16="http://schemas.microsoft.com/office/drawing/2014/main" id="{F003D1C4-370F-D45A-78B3-01A3FFB4582C}"/>
              </a:ext>
            </a:extLst>
          </p:cNvPr>
          <p:cNvSpPr txBox="1">
            <a:spLocks noChangeArrowheads="1"/>
          </p:cNvSpPr>
          <p:nvPr/>
        </p:nvSpPr>
        <p:spPr bwMode="auto">
          <a:xfrm>
            <a:off x="3940176" y="1571625"/>
            <a:ext cx="68159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client</a:t>
            </a:r>
          </a:p>
        </p:txBody>
      </p:sp>
      <p:sp>
        <p:nvSpPr>
          <p:cNvPr id="33799" name="Text Box 7">
            <a:extLst>
              <a:ext uri="{FF2B5EF4-FFF2-40B4-BE49-F238E27FC236}">
                <a16:creationId xmlns:a16="http://schemas.microsoft.com/office/drawing/2014/main" id="{28865260-4245-2461-C7C8-4DF67E77F16B}"/>
              </a:ext>
            </a:extLst>
          </p:cNvPr>
          <p:cNvSpPr txBox="1">
            <a:spLocks noChangeArrowheads="1"/>
          </p:cNvSpPr>
          <p:nvPr/>
        </p:nvSpPr>
        <p:spPr bwMode="auto">
          <a:xfrm>
            <a:off x="7861300" y="1571625"/>
            <a:ext cx="749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server</a:t>
            </a:r>
          </a:p>
        </p:txBody>
      </p:sp>
      <p:sp>
        <p:nvSpPr>
          <p:cNvPr id="33800" name="Text Box 8">
            <a:extLst>
              <a:ext uri="{FF2B5EF4-FFF2-40B4-BE49-F238E27FC236}">
                <a16:creationId xmlns:a16="http://schemas.microsoft.com/office/drawing/2014/main" id="{BB0ED30F-6FD8-5BD9-1127-91DF05FC7446}"/>
              </a:ext>
            </a:extLst>
          </p:cNvPr>
          <p:cNvSpPr txBox="1">
            <a:spLocks noChangeArrowheads="1"/>
          </p:cNvSpPr>
          <p:nvPr/>
        </p:nvSpPr>
        <p:spPr bwMode="auto">
          <a:xfrm>
            <a:off x="5224464" y="2130425"/>
            <a:ext cx="21812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TCP connection setup</a:t>
            </a:r>
          </a:p>
        </p:txBody>
      </p:sp>
      <p:sp>
        <p:nvSpPr>
          <p:cNvPr id="33801" name="Line 9">
            <a:extLst>
              <a:ext uri="{FF2B5EF4-FFF2-40B4-BE49-F238E27FC236}">
                <a16:creationId xmlns:a16="http://schemas.microsoft.com/office/drawing/2014/main" id="{0D32277B-327C-12C1-9BDF-9AF292CD6A4F}"/>
              </a:ext>
            </a:extLst>
          </p:cNvPr>
          <p:cNvSpPr>
            <a:spLocks noChangeShapeType="1"/>
          </p:cNvSpPr>
          <p:nvPr/>
        </p:nvSpPr>
        <p:spPr bwMode="auto">
          <a:xfrm>
            <a:off x="4267201" y="2452688"/>
            <a:ext cx="3984625"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802" name="Text Box 10">
            <a:extLst>
              <a:ext uri="{FF2B5EF4-FFF2-40B4-BE49-F238E27FC236}">
                <a16:creationId xmlns:a16="http://schemas.microsoft.com/office/drawing/2014/main" id="{57B9FADC-3F74-752B-ADEA-C312A19EC122}"/>
              </a:ext>
            </a:extLst>
          </p:cNvPr>
          <p:cNvSpPr txBox="1">
            <a:spLocks noChangeArrowheads="1"/>
          </p:cNvSpPr>
          <p:nvPr/>
        </p:nvSpPr>
        <p:spPr bwMode="auto">
          <a:xfrm>
            <a:off x="4913313" y="2733675"/>
            <a:ext cx="266585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SSH version string exchange</a:t>
            </a:r>
          </a:p>
        </p:txBody>
      </p:sp>
      <p:sp>
        <p:nvSpPr>
          <p:cNvPr id="33803" name="Text Box 11">
            <a:extLst>
              <a:ext uri="{FF2B5EF4-FFF2-40B4-BE49-F238E27FC236}">
                <a16:creationId xmlns:a16="http://schemas.microsoft.com/office/drawing/2014/main" id="{6CDA73E3-A6E9-85F7-C60D-84B9E20AE72C}"/>
              </a:ext>
            </a:extLst>
          </p:cNvPr>
          <p:cNvSpPr txBox="1">
            <a:spLocks noChangeArrowheads="1"/>
          </p:cNvSpPr>
          <p:nvPr/>
        </p:nvSpPr>
        <p:spPr bwMode="auto">
          <a:xfrm>
            <a:off x="4811714" y="3357564"/>
            <a:ext cx="3005137"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SSH key exchange</a:t>
            </a:r>
          </a:p>
          <a:p>
            <a:r>
              <a:rPr lang="en-US" altLang="en-US" sz="1600"/>
              <a:t>(includes algorithm negotiation)</a:t>
            </a:r>
          </a:p>
        </p:txBody>
      </p:sp>
      <p:sp>
        <p:nvSpPr>
          <p:cNvPr id="33804" name="Text Box 12">
            <a:extLst>
              <a:ext uri="{FF2B5EF4-FFF2-40B4-BE49-F238E27FC236}">
                <a16:creationId xmlns:a16="http://schemas.microsoft.com/office/drawing/2014/main" id="{CA6869E4-7CE2-531F-B7D6-3E64889A89DD}"/>
              </a:ext>
            </a:extLst>
          </p:cNvPr>
          <p:cNvSpPr txBox="1">
            <a:spLocks noChangeArrowheads="1"/>
          </p:cNvSpPr>
          <p:nvPr/>
        </p:nvSpPr>
        <p:spPr bwMode="auto">
          <a:xfrm>
            <a:off x="5321301" y="4222750"/>
            <a:ext cx="188295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SSH data exchange</a:t>
            </a:r>
          </a:p>
        </p:txBody>
      </p:sp>
      <p:sp>
        <p:nvSpPr>
          <p:cNvPr id="33806" name="Line 14">
            <a:extLst>
              <a:ext uri="{FF2B5EF4-FFF2-40B4-BE49-F238E27FC236}">
                <a16:creationId xmlns:a16="http://schemas.microsoft.com/office/drawing/2014/main" id="{D5EA55B9-6750-9A08-5AB7-5A1803315C75}"/>
              </a:ext>
            </a:extLst>
          </p:cNvPr>
          <p:cNvSpPr>
            <a:spLocks noChangeShapeType="1"/>
          </p:cNvSpPr>
          <p:nvPr/>
        </p:nvSpPr>
        <p:spPr bwMode="auto">
          <a:xfrm>
            <a:off x="4275139" y="3048000"/>
            <a:ext cx="3984625"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807" name="Line 15">
            <a:extLst>
              <a:ext uri="{FF2B5EF4-FFF2-40B4-BE49-F238E27FC236}">
                <a16:creationId xmlns:a16="http://schemas.microsoft.com/office/drawing/2014/main" id="{8DEFA032-AEB6-C7DA-462A-1FC66F3910BF}"/>
              </a:ext>
            </a:extLst>
          </p:cNvPr>
          <p:cNvSpPr>
            <a:spLocks noChangeShapeType="1"/>
          </p:cNvSpPr>
          <p:nvPr/>
        </p:nvSpPr>
        <p:spPr bwMode="auto">
          <a:xfrm>
            <a:off x="4284664" y="3924300"/>
            <a:ext cx="3984625"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808" name="Line 16">
            <a:extLst>
              <a:ext uri="{FF2B5EF4-FFF2-40B4-BE49-F238E27FC236}">
                <a16:creationId xmlns:a16="http://schemas.microsoft.com/office/drawing/2014/main" id="{A869D0E4-3601-FF5A-4FA5-6F2E526CB868}"/>
              </a:ext>
            </a:extLst>
          </p:cNvPr>
          <p:cNvSpPr>
            <a:spLocks noChangeShapeType="1"/>
          </p:cNvSpPr>
          <p:nvPr/>
        </p:nvSpPr>
        <p:spPr bwMode="auto">
          <a:xfrm>
            <a:off x="4295776" y="4570413"/>
            <a:ext cx="3984625"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809" name="Text Box 17">
            <a:extLst>
              <a:ext uri="{FF2B5EF4-FFF2-40B4-BE49-F238E27FC236}">
                <a16:creationId xmlns:a16="http://schemas.microsoft.com/office/drawing/2014/main" id="{3D58EDBA-C808-4328-79F3-BD2523B84323}"/>
              </a:ext>
            </a:extLst>
          </p:cNvPr>
          <p:cNvSpPr txBox="1">
            <a:spLocks noChangeArrowheads="1"/>
          </p:cNvSpPr>
          <p:nvPr/>
        </p:nvSpPr>
        <p:spPr bwMode="auto">
          <a:xfrm>
            <a:off x="4718051" y="4921250"/>
            <a:ext cx="32559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termination of the TCP connection</a:t>
            </a:r>
          </a:p>
        </p:txBody>
      </p:sp>
      <p:sp>
        <p:nvSpPr>
          <p:cNvPr id="33810" name="Line 18">
            <a:extLst>
              <a:ext uri="{FF2B5EF4-FFF2-40B4-BE49-F238E27FC236}">
                <a16:creationId xmlns:a16="http://schemas.microsoft.com/office/drawing/2014/main" id="{761DF5E8-A535-C9F7-37FB-0CD1058CD0AD}"/>
              </a:ext>
            </a:extLst>
          </p:cNvPr>
          <p:cNvSpPr>
            <a:spLocks noChangeShapeType="1"/>
          </p:cNvSpPr>
          <p:nvPr/>
        </p:nvSpPr>
        <p:spPr bwMode="auto">
          <a:xfrm>
            <a:off x="4284664" y="5243513"/>
            <a:ext cx="3984625"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359287722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4FE6CB44-F7F7-FF14-D104-05F7E4C22A19}"/>
              </a:ext>
            </a:extLst>
          </p:cNvPr>
          <p:cNvSpPr>
            <a:spLocks noGrp="1"/>
          </p:cNvSpPr>
          <p:nvPr>
            <p:ph type="sldNum" sz="quarter" idx="10"/>
          </p:nvPr>
        </p:nvSpPr>
        <p:spPr/>
        <p:txBody>
          <a:bodyPr/>
          <a:lstStyle/>
          <a:p>
            <a:fld id="{1DAD928E-5557-4948-A6AA-DE5F660DDB68}" type="slidenum">
              <a:rPr lang="en-US" altLang="en-US"/>
              <a:pPr/>
              <a:t>75</a:t>
            </a:fld>
            <a:endParaRPr lang="en-US" altLang="en-US"/>
          </a:p>
        </p:txBody>
      </p:sp>
      <p:sp>
        <p:nvSpPr>
          <p:cNvPr id="34818" name="Rectangle 2">
            <a:extLst>
              <a:ext uri="{FF2B5EF4-FFF2-40B4-BE49-F238E27FC236}">
                <a16:creationId xmlns:a16="http://schemas.microsoft.com/office/drawing/2014/main" id="{4F783EBB-F6BB-A5AF-C07B-5826194EA3F0}"/>
              </a:ext>
            </a:extLst>
          </p:cNvPr>
          <p:cNvSpPr>
            <a:spLocks noGrp="1" noChangeArrowheads="1"/>
          </p:cNvSpPr>
          <p:nvPr>
            <p:ph type="title"/>
          </p:nvPr>
        </p:nvSpPr>
        <p:spPr/>
        <p:txBody>
          <a:bodyPr/>
          <a:lstStyle/>
          <a:p>
            <a:r>
              <a:rPr lang="en-US" altLang="en-US"/>
              <a:t>Connection setup and version string exchange</a:t>
            </a:r>
          </a:p>
        </p:txBody>
      </p:sp>
      <p:sp>
        <p:nvSpPr>
          <p:cNvPr id="34819" name="Rectangle 3">
            <a:extLst>
              <a:ext uri="{FF2B5EF4-FFF2-40B4-BE49-F238E27FC236}">
                <a16:creationId xmlns:a16="http://schemas.microsoft.com/office/drawing/2014/main" id="{69915EB8-2F2E-369E-4A6B-005AAA3C909C}"/>
              </a:ext>
            </a:extLst>
          </p:cNvPr>
          <p:cNvSpPr>
            <a:spLocks noGrp="1" noChangeArrowheads="1"/>
          </p:cNvSpPr>
          <p:nvPr>
            <p:ph type="body" idx="1"/>
          </p:nvPr>
        </p:nvSpPr>
        <p:spPr/>
        <p:txBody>
          <a:bodyPr>
            <a:normAutofit fontScale="92500" lnSpcReduction="10000"/>
          </a:bodyPr>
          <a:lstStyle/>
          <a:p>
            <a:r>
              <a:rPr lang="en-US" altLang="en-US"/>
              <a:t>TCP connection setup</a:t>
            </a:r>
          </a:p>
          <a:p>
            <a:pPr lvl="1"/>
            <a:r>
              <a:rPr lang="en-US" altLang="en-US"/>
              <a:t>the server listens on port 22</a:t>
            </a:r>
          </a:p>
          <a:p>
            <a:pPr lvl="1"/>
            <a:r>
              <a:rPr lang="en-US" altLang="en-US"/>
              <a:t>the client initiates the connection</a:t>
            </a:r>
          </a:p>
          <a:p>
            <a:endParaRPr lang="en-US" altLang="en-US"/>
          </a:p>
          <a:p>
            <a:r>
              <a:rPr lang="en-US" altLang="en-US"/>
              <a:t>SSH version string exchange</a:t>
            </a:r>
          </a:p>
          <a:p>
            <a:pPr lvl="1"/>
            <a:r>
              <a:rPr lang="en-US" altLang="en-US"/>
              <a:t>both side must send a version string of the following form:</a:t>
            </a:r>
          </a:p>
          <a:p>
            <a:pPr lvl="1">
              <a:buFontTx/>
              <a:buNone/>
            </a:pPr>
            <a:r>
              <a:rPr lang="en-US" altLang="en-US"/>
              <a:t>		“SSH-protoversion-softwareversion comments” \CR \LF</a:t>
            </a:r>
          </a:p>
          <a:p>
            <a:pPr lvl="1"/>
            <a:r>
              <a:rPr lang="en-US" altLang="en-US"/>
              <a:t>used to indicate the capabilities of an implementation</a:t>
            </a:r>
          </a:p>
          <a:p>
            <a:pPr lvl="1"/>
            <a:r>
              <a:rPr lang="en-US" altLang="en-US"/>
              <a:t>triggers compatibility extensions</a:t>
            </a:r>
          </a:p>
          <a:p>
            <a:pPr lvl="1"/>
            <a:r>
              <a:rPr lang="en-US" altLang="en-US"/>
              <a:t>current protocol version is 2.0</a:t>
            </a:r>
          </a:p>
          <a:p>
            <a:pPr lvl="1"/>
            <a:r>
              <a:rPr lang="en-US" altLang="en-US"/>
              <a:t>all packets that follow the version string exchange is sent using the Binary Packet Protocol </a:t>
            </a:r>
          </a:p>
        </p:txBody>
      </p:sp>
    </p:spTree>
    <p:extLst>
      <p:ext uri="{BB962C8B-B14F-4D97-AF65-F5344CB8AC3E}">
        <p14:creationId xmlns:p14="http://schemas.microsoft.com/office/powerpoint/2010/main" val="24397125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descr="$PPTXTitle"/>
          <p:cNvSpPr txBox="1">
            <a:spLocks noGrp="1"/>
          </p:cNvSpPr>
          <p:nvPr>
            <p:ph type="title"/>
          </p:nvPr>
        </p:nvSpPr>
        <p:spPr>
          <a:xfrm>
            <a:off x="838200" y="365125"/>
            <a:ext cx="10515600" cy="1325563"/>
          </a:xfrm>
        </p:spPr>
        <p:txBody>
          <a:bodyPr vert="horz" lIns="91440" tIns="45720" rIns="91440" bIns="45720" rtlCol="0" anchor="ctr">
            <a:normAutofit/>
          </a:bodyPr>
          <a:lstStyle/>
          <a:p>
            <a:pPr marL="1177548"/>
            <a:r>
              <a:rPr lang="en-US" kern="1200">
                <a:latin typeface="+mj-lt"/>
                <a:ea typeface="+mj-ea"/>
                <a:cs typeface="+mj-cs"/>
              </a:rPr>
              <a:t>Computing</a:t>
            </a:r>
            <a:r>
              <a:rPr lang="en-US" kern="1200" spc="-54">
                <a:latin typeface="+mj-lt"/>
                <a:ea typeface="+mj-ea"/>
                <a:cs typeface="+mj-cs"/>
              </a:rPr>
              <a:t> </a:t>
            </a:r>
            <a:r>
              <a:rPr lang="en-US" kern="1200">
                <a:latin typeface="+mj-lt"/>
                <a:ea typeface="+mj-ea"/>
                <a:cs typeface="+mj-cs"/>
              </a:rPr>
              <a:t>other</a:t>
            </a:r>
            <a:r>
              <a:rPr lang="en-US" kern="1200" spc="-18">
                <a:latin typeface="+mj-lt"/>
                <a:ea typeface="+mj-ea"/>
                <a:cs typeface="+mj-cs"/>
              </a:rPr>
              <a:t> Keys</a:t>
            </a:r>
          </a:p>
        </p:txBody>
      </p:sp>
      <p:graphicFrame>
        <p:nvGraphicFramePr>
          <p:cNvPr id="5" name="object 2">
            <a:extLst>
              <a:ext uri="{FF2B5EF4-FFF2-40B4-BE49-F238E27FC236}">
                <a16:creationId xmlns:a16="http://schemas.microsoft.com/office/drawing/2014/main" id="{80EF7CFF-E298-3027-47B7-40C418B93AD8}"/>
              </a:ext>
            </a:extLst>
          </p:cNvPr>
          <p:cNvGraphicFramePr/>
          <p:nvPr>
            <p:extLst>
              <p:ext uri="{D42A27DB-BD31-4B8C-83A1-F6EECF244321}">
                <p14:modId xmlns:p14="http://schemas.microsoft.com/office/powerpoint/2010/main" val="150826628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03467" y="35"/>
            <a:ext cx="7799463" cy="898933"/>
          </a:xfrm>
          <a:prstGeom prst="rect">
            <a:avLst/>
          </a:prstGeom>
        </p:spPr>
      </p:pic>
      <p:sp>
        <p:nvSpPr>
          <p:cNvPr id="3" name="object 3" descr="$PPTXTitle"/>
          <p:cNvSpPr txBox="1">
            <a:spLocks noGrp="1"/>
          </p:cNvSpPr>
          <p:nvPr>
            <p:ph type="title"/>
          </p:nvPr>
        </p:nvSpPr>
        <p:spPr>
          <a:xfrm>
            <a:off x="2289839" y="628693"/>
            <a:ext cx="9535557" cy="606827"/>
          </a:xfrm>
          <a:prstGeom prst="rect">
            <a:avLst/>
          </a:prstGeom>
        </p:spPr>
        <p:txBody>
          <a:bodyPr vert="horz" wrap="square" lIns="0" tIns="55048" rIns="0" bIns="0" rtlCol="0" anchor="ctr">
            <a:spAutoFit/>
          </a:bodyPr>
          <a:lstStyle/>
          <a:p>
            <a:pPr marL="189444">
              <a:lnSpc>
                <a:spcPct val="100000"/>
              </a:lnSpc>
              <a:spcBef>
                <a:spcPts val="118"/>
              </a:spcBef>
            </a:pPr>
            <a:r>
              <a:rPr sz="3582" dirty="0">
                <a:solidFill>
                  <a:srgbClr val="4B4B4B"/>
                </a:solidFill>
                <a:latin typeface="+mn-lt"/>
                <a:cs typeface="Comic Sans MS"/>
              </a:rPr>
              <a:t>Server</a:t>
            </a:r>
            <a:r>
              <a:rPr sz="3582" spc="103" dirty="0">
                <a:solidFill>
                  <a:srgbClr val="4B4B4B"/>
                </a:solidFill>
                <a:latin typeface="+mn-lt"/>
                <a:cs typeface="Comic Sans MS"/>
              </a:rPr>
              <a:t> </a:t>
            </a:r>
            <a:r>
              <a:rPr sz="3582" dirty="0">
                <a:solidFill>
                  <a:srgbClr val="4B4B4B"/>
                </a:solidFill>
                <a:latin typeface="+mn-lt"/>
                <a:cs typeface="Comic Sans MS"/>
              </a:rPr>
              <a:t>Authentication</a:t>
            </a:r>
            <a:r>
              <a:rPr sz="3582" spc="82" dirty="0">
                <a:solidFill>
                  <a:srgbClr val="4B4B4B"/>
                </a:solidFill>
                <a:latin typeface="+mn-lt"/>
                <a:cs typeface="Comic Sans MS"/>
              </a:rPr>
              <a:t> </a:t>
            </a:r>
            <a:r>
              <a:rPr sz="3582" spc="-9" dirty="0">
                <a:solidFill>
                  <a:srgbClr val="4B4B4B"/>
                </a:solidFill>
                <a:latin typeface="+mn-lt"/>
                <a:cs typeface="Comic Sans MS"/>
              </a:rPr>
              <a:t>(continued)</a:t>
            </a:r>
            <a:endParaRPr sz="3582" dirty="0">
              <a:latin typeface="+mn-lt"/>
              <a:cs typeface="Comic Sans MS"/>
            </a:endParaRPr>
          </a:p>
        </p:txBody>
      </p:sp>
      <p:sp>
        <p:nvSpPr>
          <p:cNvPr id="4" name="object 4"/>
          <p:cNvSpPr txBox="1"/>
          <p:nvPr/>
        </p:nvSpPr>
        <p:spPr>
          <a:xfrm>
            <a:off x="2677365" y="1450258"/>
            <a:ext cx="7318079" cy="3903351"/>
          </a:xfrm>
          <a:prstGeom prst="rect">
            <a:avLst/>
          </a:prstGeom>
        </p:spPr>
        <p:txBody>
          <a:bodyPr vert="horz" wrap="square" lIns="0" tIns="5182" rIns="0" bIns="0" rtlCol="0">
            <a:spAutoFit/>
          </a:bodyPr>
          <a:lstStyle/>
          <a:p>
            <a:pPr marL="300577" marR="270059" indent="-289636">
              <a:lnSpc>
                <a:spcPct val="102499"/>
              </a:lnSpc>
              <a:spcBef>
                <a:spcPts val="41"/>
              </a:spcBef>
              <a:buChar char="•"/>
              <a:tabLst>
                <a:tab pos="300577" algn="l"/>
                <a:tab pos="321882" algn="l"/>
              </a:tabLst>
            </a:pPr>
            <a:r>
              <a:rPr sz="2494" dirty="0">
                <a:cs typeface="Arial"/>
              </a:rPr>
              <a:t>	</a:t>
            </a:r>
            <a:r>
              <a:rPr sz="2494" dirty="0">
                <a:cs typeface="Comic Sans MS"/>
              </a:rPr>
              <a:t>It</a:t>
            </a:r>
            <a:r>
              <a:rPr sz="2494" spc="68" dirty="0">
                <a:cs typeface="Comic Sans MS"/>
              </a:rPr>
              <a:t> </a:t>
            </a:r>
            <a:r>
              <a:rPr sz="2494" dirty="0">
                <a:cs typeface="Comic Sans MS"/>
              </a:rPr>
              <a:t>is</a:t>
            </a:r>
            <a:r>
              <a:rPr sz="2494" spc="45" dirty="0">
                <a:cs typeface="Comic Sans MS"/>
              </a:rPr>
              <a:t> </a:t>
            </a:r>
            <a:r>
              <a:rPr sz="2494" dirty="0">
                <a:cs typeface="Comic Sans MS"/>
              </a:rPr>
              <a:t>done</a:t>
            </a:r>
            <a:r>
              <a:rPr sz="2494" spc="82" dirty="0">
                <a:cs typeface="Comic Sans MS"/>
              </a:rPr>
              <a:t> </a:t>
            </a:r>
            <a:r>
              <a:rPr sz="2494" dirty="0">
                <a:cs typeface="Comic Sans MS"/>
              </a:rPr>
              <a:t>by</a:t>
            </a:r>
            <a:r>
              <a:rPr sz="2494" spc="91" dirty="0">
                <a:cs typeface="Comic Sans MS"/>
              </a:rPr>
              <a:t> </a:t>
            </a:r>
            <a:r>
              <a:rPr sz="2494" dirty="0">
                <a:cs typeface="Comic Sans MS"/>
              </a:rPr>
              <a:t>verifying</a:t>
            </a:r>
            <a:r>
              <a:rPr sz="2494" spc="59" dirty="0">
                <a:cs typeface="Comic Sans MS"/>
              </a:rPr>
              <a:t> </a:t>
            </a:r>
            <a:r>
              <a:rPr sz="2494" dirty="0">
                <a:cs typeface="Comic Sans MS"/>
              </a:rPr>
              <a:t>the</a:t>
            </a:r>
            <a:r>
              <a:rPr sz="2494" spc="82" dirty="0">
                <a:cs typeface="Comic Sans MS"/>
              </a:rPr>
              <a:t> </a:t>
            </a:r>
            <a:r>
              <a:rPr sz="2494" dirty="0">
                <a:cs typeface="Comic Sans MS"/>
              </a:rPr>
              <a:t>server’s</a:t>
            </a:r>
            <a:r>
              <a:rPr sz="2494" spc="45" dirty="0">
                <a:cs typeface="Comic Sans MS"/>
              </a:rPr>
              <a:t> </a:t>
            </a:r>
            <a:r>
              <a:rPr sz="2494" spc="-9" dirty="0">
                <a:cs typeface="Comic Sans MS"/>
              </a:rPr>
              <a:t>digital </a:t>
            </a:r>
            <a:r>
              <a:rPr sz="2494" dirty="0">
                <a:cs typeface="Comic Sans MS"/>
              </a:rPr>
              <a:t>signature</a:t>
            </a:r>
            <a:r>
              <a:rPr sz="2494" spc="50" dirty="0">
                <a:cs typeface="Comic Sans MS"/>
              </a:rPr>
              <a:t> </a:t>
            </a:r>
            <a:r>
              <a:rPr sz="2494" dirty="0">
                <a:cs typeface="Comic Sans MS"/>
              </a:rPr>
              <a:t>with</a:t>
            </a:r>
            <a:r>
              <a:rPr sz="2494" spc="54" dirty="0">
                <a:cs typeface="Comic Sans MS"/>
              </a:rPr>
              <a:t> </a:t>
            </a:r>
            <a:r>
              <a:rPr sz="2494" dirty="0">
                <a:cs typeface="Comic Sans MS"/>
              </a:rPr>
              <a:t>the</a:t>
            </a:r>
            <a:r>
              <a:rPr sz="2494" spc="59" dirty="0">
                <a:cs typeface="Comic Sans MS"/>
              </a:rPr>
              <a:t> </a:t>
            </a:r>
            <a:r>
              <a:rPr sz="2494" dirty="0">
                <a:cs typeface="Comic Sans MS"/>
              </a:rPr>
              <a:t>RSA</a:t>
            </a:r>
            <a:r>
              <a:rPr sz="2494" spc="73" dirty="0">
                <a:cs typeface="Comic Sans MS"/>
              </a:rPr>
              <a:t> </a:t>
            </a:r>
            <a:r>
              <a:rPr sz="2494" dirty="0">
                <a:cs typeface="Comic Sans MS"/>
              </a:rPr>
              <a:t>or</a:t>
            </a:r>
            <a:r>
              <a:rPr sz="2494" spc="95" dirty="0">
                <a:cs typeface="Comic Sans MS"/>
              </a:rPr>
              <a:t> </a:t>
            </a:r>
            <a:r>
              <a:rPr sz="2494" dirty="0">
                <a:cs typeface="Comic Sans MS"/>
              </a:rPr>
              <a:t>DSS</a:t>
            </a:r>
            <a:r>
              <a:rPr sz="2494" spc="36" dirty="0">
                <a:cs typeface="Comic Sans MS"/>
              </a:rPr>
              <a:t> </a:t>
            </a:r>
            <a:r>
              <a:rPr sz="2494" dirty="0">
                <a:cs typeface="Comic Sans MS"/>
              </a:rPr>
              <a:t>public</a:t>
            </a:r>
            <a:r>
              <a:rPr sz="2494" spc="77" dirty="0">
                <a:cs typeface="Comic Sans MS"/>
              </a:rPr>
              <a:t> </a:t>
            </a:r>
            <a:r>
              <a:rPr sz="2494" dirty="0">
                <a:cs typeface="Comic Sans MS"/>
              </a:rPr>
              <a:t>key</a:t>
            </a:r>
            <a:r>
              <a:rPr sz="2494" spc="63" dirty="0">
                <a:cs typeface="Comic Sans MS"/>
              </a:rPr>
              <a:t> </a:t>
            </a:r>
            <a:r>
              <a:rPr sz="2494" spc="-23" dirty="0">
                <a:cs typeface="Comic Sans MS"/>
              </a:rPr>
              <a:t>of </a:t>
            </a:r>
            <a:r>
              <a:rPr sz="2494" dirty="0">
                <a:cs typeface="Comic Sans MS"/>
              </a:rPr>
              <a:t>the</a:t>
            </a:r>
            <a:r>
              <a:rPr sz="2494" spc="73" dirty="0">
                <a:cs typeface="Comic Sans MS"/>
              </a:rPr>
              <a:t> </a:t>
            </a:r>
            <a:r>
              <a:rPr sz="2494" spc="-9" dirty="0">
                <a:cs typeface="Comic Sans MS"/>
              </a:rPr>
              <a:t>server.</a:t>
            </a:r>
            <a:endParaRPr sz="2494" dirty="0">
              <a:cs typeface="Comic Sans MS"/>
            </a:endParaRPr>
          </a:p>
          <a:p>
            <a:pPr marL="397314" marR="4607" indent="-385798">
              <a:lnSpc>
                <a:spcPct val="101299"/>
              </a:lnSpc>
              <a:spcBef>
                <a:spcPts val="3106"/>
              </a:spcBef>
              <a:buChar char="•"/>
              <a:tabLst>
                <a:tab pos="397314" algn="l"/>
                <a:tab pos="426105" algn="l"/>
              </a:tabLst>
            </a:pPr>
            <a:r>
              <a:rPr sz="2494" dirty="0">
                <a:cs typeface="Arial"/>
              </a:rPr>
              <a:t>	</a:t>
            </a:r>
            <a:r>
              <a:rPr sz="2494" dirty="0">
                <a:cs typeface="Comic Sans MS"/>
              </a:rPr>
              <a:t>If</a:t>
            </a:r>
            <a:r>
              <a:rPr sz="2494" spc="41" dirty="0">
                <a:cs typeface="Comic Sans MS"/>
              </a:rPr>
              <a:t> </a:t>
            </a:r>
            <a:r>
              <a:rPr sz="2494" dirty="0">
                <a:cs typeface="Comic Sans MS"/>
              </a:rPr>
              <a:t>a</a:t>
            </a:r>
            <a:r>
              <a:rPr sz="2494" spc="103" dirty="0">
                <a:cs typeface="Comic Sans MS"/>
              </a:rPr>
              <a:t> </a:t>
            </a:r>
            <a:r>
              <a:rPr sz="2494" dirty="0">
                <a:cs typeface="Comic Sans MS"/>
              </a:rPr>
              <a:t>client</a:t>
            </a:r>
            <a:r>
              <a:rPr sz="2494" spc="14" dirty="0">
                <a:cs typeface="Comic Sans MS"/>
              </a:rPr>
              <a:t> </a:t>
            </a:r>
            <a:r>
              <a:rPr sz="2494" dirty="0">
                <a:cs typeface="Comic Sans MS"/>
              </a:rPr>
              <a:t>is</a:t>
            </a:r>
            <a:r>
              <a:rPr sz="2494" spc="27" dirty="0">
                <a:cs typeface="Comic Sans MS"/>
              </a:rPr>
              <a:t> </a:t>
            </a:r>
            <a:r>
              <a:rPr sz="2494" dirty="0">
                <a:cs typeface="Comic Sans MS"/>
              </a:rPr>
              <a:t>contacting</a:t>
            </a:r>
            <a:r>
              <a:rPr sz="2494" spc="63" dirty="0">
                <a:cs typeface="Comic Sans MS"/>
              </a:rPr>
              <a:t> </a:t>
            </a:r>
            <a:r>
              <a:rPr sz="2494" dirty="0">
                <a:cs typeface="Comic Sans MS"/>
              </a:rPr>
              <a:t>a</a:t>
            </a:r>
            <a:r>
              <a:rPr sz="2494" spc="100" dirty="0">
                <a:cs typeface="Comic Sans MS"/>
              </a:rPr>
              <a:t> </a:t>
            </a:r>
            <a:r>
              <a:rPr sz="2494" dirty="0">
                <a:cs typeface="Comic Sans MS"/>
              </a:rPr>
              <a:t>server</a:t>
            </a:r>
            <a:r>
              <a:rPr sz="2494" spc="54" dirty="0">
                <a:cs typeface="Comic Sans MS"/>
              </a:rPr>
              <a:t> </a:t>
            </a:r>
            <a:r>
              <a:rPr sz="2494" dirty="0">
                <a:cs typeface="Comic Sans MS"/>
              </a:rPr>
              <a:t>with</a:t>
            </a:r>
            <a:r>
              <a:rPr sz="2494" spc="14" dirty="0">
                <a:cs typeface="Comic Sans MS"/>
              </a:rPr>
              <a:t> </a:t>
            </a:r>
            <a:r>
              <a:rPr sz="2494" spc="-23" dirty="0">
                <a:cs typeface="Comic Sans MS"/>
              </a:rPr>
              <a:t>SSH </a:t>
            </a:r>
            <a:r>
              <a:rPr sz="2494" dirty="0">
                <a:cs typeface="Comic Sans MS"/>
              </a:rPr>
              <a:t>the</a:t>
            </a:r>
            <a:r>
              <a:rPr sz="2494" spc="103" dirty="0">
                <a:cs typeface="Comic Sans MS"/>
              </a:rPr>
              <a:t> </a:t>
            </a:r>
            <a:r>
              <a:rPr sz="2494" dirty="0">
                <a:cs typeface="Comic Sans MS"/>
              </a:rPr>
              <a:t>first</a:t>
            </a:r>
            <a:r>
              <a:rPr sz="2494" spc="91" dirty="0">
                <a:cs typeface="Comic Sans MS"/>
              </a:rPr>
              <a:t> </a:t>
            </a:r>
            <a:r>
              <a:rPr sz="2494" dirty="0">
                <a:cs typeface="Comic Sans MS"/>
              </a:rPr>
              <a:t>time,</a:t>
            </a:r>
            <a:r>
              <a:rPr sz="2494" spc="41" dirty="0">
                <a:cs typeface="Comic Sans MS"/>
              </a:rPr>
              <a:t> </a:t>
            </a:r>
            <a:r>
              <a:rPr sz="2494" dirty="0">
                <a:cs typeface="Comic Sans MS"/>
              </a:rPr>
              <a:t>the</a:t>
            </a:r>
            <a:r>
              <a:rPr sz="2494" spc="36" dirty="0">
                <a:cs typeface="Comic Sans MS"/>
              </a:rPr>
              <a:t> </a:t>
            </a:r>
            <a:r>
              <a:rPr sz="2494" dirty="0">
                <a:cs typeface="Comic Sans MS"/>
              </a:rPr>
              <a:t>client</a:t>
            </a:r>
            <a:r>
              <a:rPr sz="2494" spc="100" dirty="0">
                <a:cs typeface="Comic Sans MS"/>
              </a:rPr>
              <a:t> </a:t>
            </a:r>
            <a:r>
              <a:rPr sz="2494" dirty="0">
                <a:cs typeface="Comic Sans MS"/>
              </a:rPr>
              <a:t>needs</a:t>
            </a:r>
            <a:r>
              <a:rPr sz="2494" spc="122" dirty="0">
                <a:cs typeface="Comic Sans MS"/>
              </a:rPr>
              <a:t> </a:t>
            </a:r>
            <a:r>
              <a:rPr sz="2494" dirty="0">
                <a:cs typeface="Comic Sans MS"/>
              </a:rPr>
              <a:t>the</a:t>
            </a:r>
            <a:r>
              <a:rPr sz="2494" spc="32" dirty="0">
                <a:cs typeface="Comic Sans MS"/>
              </a:rPr>
              <a:t> </a:t>
            </a:r>
            <a:r>
              <a:rPr sz="2494" dirty="0">
                <a:cs typeface="Comic Sans MS"/>
              </a:rPr>
              <a:t>public</a:t>
            </a:r>
            <a:r>
              <a:rPr sz="2494" spc="59" dirty="0">
                <a:cs typeface="Comic Sans MS"/>
              </a:rPr>
              <a:t> </a:t>
            </a:r>
            <a:r>
              <a:rPr sz="2494" spc="-23" dirty="0">
                <a:cs typeface="Comic Sans MS"/>
              </a:rPr>
              <a:t>key </a:t>
            </a:r>
            <a:r>
              <a:rPr sz="2494" dirty="0">
                <a:cs typeface="Comic Sans MS"/>
              </a:rPr>
              <a:t>of</a:t>
            </a:r>
            <a:r>
              <a:rPr sz="2494" spc="32" dirty="0">
                <a:cs typeface="Comic Sans MS"/>
              </a:rPr>
              <a:t> </a:t>
            </a:r>
            <a:r>
              <a:rPr sz="2494" dirty="0">
                <a:cs typeface="Comic Sans MS"/>
              </a:rPr>
              <a:t>the</a:t>
            </a:r>
            <a:r>
              <a:rPr sz="2494" spc="73" dirty="0">
                <a:cs typeface="Comic Sans MS"/>
              </a:rPr>
              <a:t> </a:t>
            </a:r>
            <a:r>
              <a:rPr sz="2494" dirty="0">
                <a:cs typeface="Comic Sans MS"/>
              </a:rPr>
              <a:t>server</a:t>
            </a:r>
            <a:r>
              <a:rPr sz="2494" spc="41" dirty="0">
                <a:cs typeface="Comic Sans MS"/>
              </a:rPr>
              <a:t> </a:t>
            </a:r>
            <a:r>
              <a:rPr sz="2494" dirty="0">
                <a:cs typeface="Comic Sans MS"/>
              </a:rPr>
              <a:t>for</a:t>
            </a:r>
            <a:r>
              <a:rPr sz="2494" spc="45" dirty="0">
                <a:cs typeface="Comic Sans MS"/>
              </a:rPr>
              <a:t> </a:t>
            </a:r>
            <a:r>
              <a:rPr sz="2494" dirty="0">
                <a:cs typeface="Comic Sans MS"/>
              </a:rPr>
              <a:t>server</a:t>
            </a:r>
            <a:r>
              <a:rPr sz="2494" spc="45" dirty="0">
                <a:cs typeface="Comic Sans MS"/>
              </a:rPr>
              <a:t> </a:t>
            </a:r>
            <a:r>
              <a:rPr sz="2494" spc="-9" dirty="0">
                <a:cs typeface="Comic Sans MS"/>
              </a:rPr>
              <a:t>authentication.</a:t>
            </a:r>
            <a:endParaRPr sz="2494" dirty="0">
              <a:cs typeface="Comic Sans MS"/>
            </a:endParaRPr>
          </a:p>
          <a:p>
            <a:pPr marL="397314" marR="688678" indent="-385798">
              <a:lnSpc>
                <a:spcPct val="102499"/>
              </a:lnSpc>
              <a:spcBef>
                <a:spcPts val="3064"/>
              </a:spcBef>
              <a:buChar char="•"/>
              <a:tabLst>
                <a:tab pos="397314" algn="l"/>
                <a:tab pos="426105" algn="l"/>
              </a:tabLst>
            </a:pPr>
            <a:r>
              <a:rPr sz="2494" dirty="0">
                <a:cs typeface="Arial"/>
              </a:rPr>
              <a:t>	</a:t>
            </a:r>
            <a:r>
              <a:rPr sz="2494" dirty="0">
                <a:cs typeface="Comic Sans MS"/>
              </a:rPr>
              <a:t>How</a:t>
            </a:r>
            <a:r>
              <a:rPr sz="2494" spc="73" dirty="0">
                <a:cs typeface="Comic Sans MS"/>
              </a:rPr>
              <a:t> </a:t>
            </a:r>
            <a:r>
              <a:rPr sz="2494" dirty="0">
                <a:cs typeface="Comic Sans MS"/>
              </a:rPr>
              <a:t>does</a:t>
            </a:r>
            <a:r>
              <a:rPr sz="2494" spc="32" dirty="0">
                <a:cs typeface="Comic Sans MS"/>
              </a:rPr>
              <a:t> </a:t>
            </a:r>
            <a:r>
              <a:rPr sz="2494" dirty="0">
                <a:cs typeface="Comic Sans MS"/>
              </a:rPr>
              <a:t>the</a:t>
            </a:r>
            <a:r>
              <a:rPr sz="2494" spc="18" dirty="0">
                <a:cs typeface="Comic Sans MS"/>
              </a:rPr>
              <a:t> </a:t>
            </a:r>
            <a:r>
              <a:rPr sz="2494" dirty="0">
                <a:cs typeface="Comic Sans MS"/>
              </a:rPr>
              <a:t>client</a:t>
            </a:r>
            <a:r>
              <a:rPr sz="2494" spc="82" dirty="0">
                <a:cs typeface="Comic Sans MS"/>
              </a:rPr>
              <a:t> </a:t>
            </a:r>
            <a:r>
              <a:rPr sz="2494" dirty="0">
                <a:cs typeface="Comic Sans MS"/>
              </a:rPr>
              <a:t>get</a:t>
            </a:r>
            <a:r>
              <a:rPr sz="2494" spc="77" dirty="0">
                <a:cs typeface="Comic Sans MS"/>
              </a:rPr>
              <a:t> </a:t>
            </a:r>
            <a:r>
              <a:rPr sz="2494" dirty="0">
                <a:cs typeface="Comic Sans MS"/>
              </a:rPr>
              <a:t>the</a:t>
            </a:r>
            <a:r>
              <a:rPr sz="2494" spc="86" dirty="0">
                <a:cs typeface="Comic Sans MS"/>
              </a:rPr>
              <a:t> </a:t>
            </a:r>
            <a:r>
              <a:rPr sz="2494" dirty="0">
                <a:cs typeface="Comic Sans MS"/>
              </a:rPr>
              <a:t>public</a:t>
            </a:r>
            <a:r>
              <a:rPr sz="2494" spc="36" dirty="0">
                <a:cs typeface="Comic Sans MS"/>
              </a:rPr>
              <a:t> </a:t>
            </a:r>
            <a:r>
              <a:rPr sz="2494" dirty="0">
                <a:cs typeface="Comic Sans MS"/>
              </a:rPr>
              <a:t>key</a:t>
            </a:r>
            <a:r>
              <a:rPr sz="2494" spc="82" dirty="0">
                <a:cs typeface="Comic Sans MS"/>
              </a:rPr>
              <a:t> </a:t>
            </a:r>
            <a:r>
              <a:rPr sz="2494" spc="-23" dirty="0">
                <a:cs typeface="Comic Sans MS"/>
              </a:rPr>
              <a:t>of </a:t>
            </a:r>
            <a:r>
              <a:rPr sz="2494" dirty="0">
                <a:cs typeface="Comic Sans MS"/>
              </a:rPr>
              <a:t>the</a:t>
            </a:r>
            <a:r>
              <a:rPr sz="2494" spc="86" dirty="0">
                <a:cs typeface="Comic Sans MS"/>
              </a:rPr>
              <a:t> </a:t>
            </a:r>
            <a:r>
              <a:rPr sz="2494" dirty="0">
                <a:cs typeface="Comic Sans MS"/>
              </a:rPr>
              <a:t>server</a:t>
            </a:r>
            <a:r>
              <a:rPr sz="2494" spc="50" dirty="0">
                <a:cs typeface="Comic Sans MS"/>
              </a:rPr>
              <a:t> </a:t>
            </a:r>
            <a:r>
              <a:rPr sz="2494" dirty="0">
                <a:cs typeface="Comic Sans MS"/>
              </a:rPr>
              <a:t>the</a:t>
            </a:r>
            <a:r>
              <a:rPr sz="2494" spc="86" dirty="0">
                <a:cs typeface="Comic Sans MS"/>
              </a:rPr>
              <a:t> </a:t>
            </a:r>
            <a:r>
              <a:rPr sz="2494" dirty="0">
                <a:cs typeface="Comic Sans MS"/>
              </a:rPr>
              <a:t>first</a:t>
            </a:r>
            <a:r>
              <a:rPr sz="2494" spc="77" dirty="0">
                <a:cs typeface="Comic Sans MS"/>
              </a:rPr>
              <a:t> </a:t>
            </a:r>
            <a:r>
              <a:rPr sz="2494" spc="-9" dirty="0">
                <a:cs typeface="Comic Sans MS"/>
              </a:rPr>
              <a:t>time???</a:t>
            </a:r>
            <a:endParaRPr sz="2494" dirty="0">
              <a:cs typeface="Comic Sans MS"/>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10664" y="1175501"/>
            <a:ext cx="7430940" cy="4313476"/>
          </a:xfrm>
          <a:prstGeom prst="rect">
            <a:avLst/>
          </a:prstGeom>
        </p:spPr>
        <p:txBody>
          <a:bodyPr vert="horz" wrap="square" lIns="0" tIns="91555" rIns="0" bIns="0" rtlCol="0">
            <a:spAutoFit/>
          </a:bodyPr>
          <a:lstStyle/>
          <a:p>
            <a:pPr marL="332823" indent="-309790">
              <a:spcBef>
                <a:spcPts val="721"/>
              </a:spcBef>
              <a:buFont typeface="Comic Sans MS"/>
              <a:buChar char="•"/>
              <a:tabLst>
                <a:tab pos="332823" algn="l"/>
              </a:tabLst>
            </a:pPr>
            <a:r>
              <a:rPr sz="2494" dirty="0">
                <a:cs typeface="Comic Sans MS"/>
              </a:rPr>
              <a:t>Two</a:t>
            </a:r>
            <a:r>
              <a:rPr sz="2494" spc="77" dirty="0">
                <a:cs typeface="Comic Sans MS"/>
              </a:rPr>
              <a:t> </a:t>
            </a:r>
            <a:r>
              <a:rPr sz="2494" dirty="0">
                <a:cs typeface="Comic Sans MS"/>
              </a:rPr>
              <a:t>trusted</a:t>
            </a:r>
            <a:r>
              <a:rPr sz="2494" spc="68" dirty="0">
                <a:cs typeface="Comic Sans MS"/>
              </a:rPr>
              <a:t> </a:t>
            </a:r>
            <a:r>
              <a:rPr sz="2494" spc="-9" dirty="0">
                <a:cs typeface="Comic Sans MS"/>
              </a:rPr>
              <a:t>methods:</a:t>
            </a:r>
            <a:endParaRPr sz="2494" dirty="0">
              <a:cs typeface="Comic Sans MS"/>
            </a:endParaRPr>
          </a:p>
          <a:p>
            <a:pPr marL="695588" lvl="1" indent="-257966">
              <a:lnSpc>
                <a:spcPts val="2566"/>
              </a:lnSpc>
              <a:spcBef>
                <a:spcPts val="526"/>
              </a:spcBef>
              <a:buChar char="–"/>
              <a:tabLst>
                <a:tab pos="695588" algn="l"/>
              </a:tabLst>
            </a:pPr>
            <a:r>
              <a:rPr sz="2176" dirty="0">
                <a:cs typeface="Comic Sans MS"/>
              </a:rPr>
              <a:t>the</a:t>
            </a:r>
            <a:r>
              <a:rPr sz="2176" spc="-54" dirty="0">
                <a:cs typeface="Comic Sans MS"/>
              </a:rPr>
              <a:t> </a:t>
            </a:r>
            <a:r>
              <a:rPr sz="2176" dirty="0">
                <a:cs typeface="Comic Sans MS"/>
              </a:rPr>
              <a:t>client</a:t>
            </a:r>
            <a:r>
              <a:rPr sz="2176" spc="-27" dirty="0">
                <a:cs typeface="Comic Sans MS"/>
              </a:rPr>
              <a:t> </a:t>
            </a:r>
            <a:r>
              <a:rPr sz="2176" dirty="0">
                <a:cs typeface="Comic Sans MS"/>
              </a:rPr>
              <a:t>maintains</a:t>
            </a:r>
            <a:r>
              <a:rPr sz="2176" spc="-59" dirty="0">
                <a:cs typeface="Comic Sans MS"/>
              </a:rPr>
              <a:t> </a:t>
            </a:r>
            <a:r>
              <a:rPr sz="2176" dirty="0">
                <a:cs typeface="Comic Sans MS"/>
              </a:rPr>
              <a:t>a</a:t>
            </a:r>
            <a:r>
              <a:rPr sz="2176" spc="-45" dirty="0">
                <a:cs typeface="Comic Sans MS"/>
              </a:rPr>
              <a:t> </a:t>
            </a:r>
            <a:r>
              <a:rPr sz="2176" dirty="0">
                <a:cs typeface="Comic Sans MS"/>
              </a:rPr>
              <a:t>local</a:t>
            </a:r>
            <a:r>
              <a:rPr sz="2176" spc="-63" dirty="0">
                <a:cs typeface="Comic Sans MS"/>
              </a:rPr>
              <a:t> </a:t>
            </a:r>
            <a:r>
              <a:rPr sz="2176" dirty="0">
                <a:cs typeface="Comic Sans MS"/>
              </a:rPr>
              <a:t>database</a:t>
            </a:r>
            <a:r>
              <a:rPr sz="2176" spc="-54" dirty="0">
                <a:cs typeface="Comic Sans MS"/>
              </a:rPr>
              <a:t> </a:t>
            </a:r>
            <a:r>
              <a:rPr sz="2176" dirty="0">
                <a:cs typeface="Comic Sans MS"/>
              </a:rPr>
              <a:t>that</a:t>
            </a:r>
            <a:r>
              <a:rPr sz="2176" spc="-27" dirty="0">
                <a:cs typeface="Comic Sans MS"/>
              </a:rPr>
              <a:t> </a:t>
            </a:r>
            <a:r>
              <a:rPr sz="2176" spc="-9" dirty="0">
                <a:cs typeface="Comic Sans MS"/>
              </a:rPr>
              <a:t>associates</a:t>
            </a:r>
            <a:endParaRPr sz="2176" dirty="0">
              <a:cs typeface="Comic Sans MS"/>
            </a:endParaRPr>
          </a:p>
          <a:p>
            <a:pPr marL="695588">
              <a:lnSpc>
                <a:spcPts val="2566"/>
              </a:lnSpc>
            </a:pPr>
            <a:r>
              <a:rPr sz="2176" dirty="0">
                <a:cs typeface="Comic Sans MS"/>
              </a:rPr>
              <a:t>each</a:t>
            </a:r>
            <a:r>
              <a:rPr sz="2176" spc="-41" dirty="0">
                <a:cs typeface="Comic Sans MS"/>
              </a:rPr>
              <a:t> </a:t>
            </a:r>
            <a:r>
              <a:rPr sz="2176" dirty="0">
                <a:cs typeface="Comic Sans MS"/>
              </a:rPr>
              <a:t>server</a:t>
            </a:r>
            <a:r>
              <a:rPr sz="2176" spc="-95" dirty="0">
                <a:cs typeface="Comic Sans MS"/>
              </a:rPr>
              <a:t> </a:t>
            </a:r>
            <a:r>
              <a:rPr sz="2176" dirty="0">
                <a:cs typeface="Comic Sans MS"/>
              </a:rPr>
              <a:t>name</a:t>
            </a:r>
            <a:r>
              <a:rPr sz="2176" spc="-41" dirty="0">
                <a:cs typeface="Comic Sans MS"/>
              </a:rPr>
              <a:t> </a:t>
            </a:r>
            <a:r>
              <a:rPr sz="2176" dirty="0">
                <a:cs typeface="Comic Sans MS"/>
              </a:rPr>
              <a:t>and</a:t>
            </a:r>
            <a:r>
              <a:rPr sz="2176" spc="-59" dirty="0">
                <a:cs typeface="Comic Sans MS"/>
              </a:rPr>
              <a:t> </a:t>
            </a:r>
            <a:r>
              <a:rPr sz="2176" dirty="0">
                <a:cs typeface="Comic Sans MS"/>
              </a:rPr>
              <a:t>the</a:t>
            </a:r>
            <a:r>
              <a:rPr sz="2176" spc="-45" dirty="0">
                <a:cs typeface="Comic Sans MS"/>
              </a:rPr>
              <a:t> </a:t>
            </a:r>
            <a:r>
              <a:rPr sz="2176" dirty="0">
                <a:cs typeface="Comic Sans MS"/>
              </a:rPr>
              <a:t>corresponding</a:t>
            </a:r>
            <a:r>
              <a:rPr sz="2176" spc="-68" dirty="0">
                <a:cs typeface="Comic Sans MS"/>
              </a:rPr>
              <a:t> </a:t>
            </a:r>
            <a:r>
              <a:rPr sz="2176" dirty="0">
                <a:cs typeface="Comic Sans MS"/>
              </a:rPr>
              <a:t>public</a:t>
            </a:r>
            <a:r>
              <a:rPr sz="2176" spc="-32" dirty="0">
                <a:cs typeface="Comic Sans MS"/>
              </a:rPr>
              <a:t> </a:t>
            </a:r>
            <a:r>
              <a:rPr sz="2176" spc="-18" dirty="0">
                <a:cs typeface="Comic Sans MS"/>
              </a:rPr>
              <a:t>key.</a:t>
            </a:r>
            <a:endParaRPr sz="2176" dirty="0">
              <a:cs typeface="Comic Sans MS"/>
            </a:endParaRPr>
          </a:p>
          <a:p>
            <a:pPr marL="695588" marR="457775" lvl="1" indent="-258542">
              <a:lnSpc>
                <a:spcPts val="2593"/>
              </a:lnSpc>
              <a:spcBef>
                <a:spcPts val="626"/>
              </a:spcBef>
              <a:buChar char="–"/>
              <a:tabLst>
                <a:tab pos="695588" algn="l"/>
              </a:tabLst>
            </a:pPr>
            <a:r>
              <a:rPr sz="2176" dirty="0">
                <a:cs typeface="Comic Sans MS"/>
              </a:rPr>
              <a:t>The</a:t>
            </a:r>
            <a:r>
              <a:rPr sz="2176" spc="-41" dirty="0">
                <a:cs typeface="Comic Sans MS"/>
              </a:rPr>
              <a:t> </a:t>
            </a:r>
            <a:r>
              <a:rPr sz="2176" dirty="0">
                <a:cs typeface="Comic Sans MS"/>
              </a:rPr>
              <a:t>client</a:t>
            </a:r>
            <a:r>
              <a:rPr sz="2176" spc="-73" dirty="0">
                <a:cs typeface="Comic Sans MS"/>
              </a:rPr>
              <a:t> </a:t>
            </a:r>
            <a:r>
              <a:rPr sz="2176" dirty="0">
                <a:cs typeface="Comic Sans MS"/>
              </a:rPr>
              <a:t>gets</a:t>
            </a:r>
            <a:r>
              <a:rPr sz="2176" spc="-41" dirty="0">
                <a:cs typeface="Comic Sans MS"/>
              </a:rPr>
              <a:t> </a:t>
            </a:r>
            <a:r>
              <a:rPr sz="2176" dirty="0">
                <a:cs typeface="Comic Sans MS"/>
              </a:rPr>
              <a:t>the</a:t>
            </a:r>
            <a:r>
              <a:rPr sz="2176" spc="-41" dirty="0">
                <a:cs typeface="Comic Sans MS"/>
              </a:rPr>
              <a:t> </a:t>
            </a:r>
            <a:r>
              <a:rPr sz="2176" dirty="0">
                <a:cs typeface="Comic Sans MS"/>
              </a:rPr>
              <a:t>public</a:t>
            </a:r>
            <a:r>
              <a:rPr sz="2176" spc="-32" dirty="0">
                <a:cs typeface="Comic Sans MS"/>
              </a:rPr>
              <a:t> </a:t>
            </a:r>
            <a:r>
              <a:rPr sz="2176" dirty="0">
                <a:cs typeface="Comic Sans MS"/>
              </a:rPr>
              <a:t>key</a:t>
            </a:r>
            <a:r>
              <a:rPr sz="2176" spc="-50" dirty="0">
                <a:cs typeface="Comic Sans MS"/>
              </a:rPr>
              <a:t> </a:t>
            </a:r>
            <a:r>
              <a:rPr sz="2176" dirty="0">
                <a:cs typeface="Comic Sans MS"/>
              </a:rPr>
              <a:t>of</a:t>
            </a:r>
            <a:r>
              <a:rPr sz="2176" spc="-23" dirty="0">
                <a:cs typeface="Comic Sans MS"/>
              </a:rPr>
              <a:t> </a:t>
            </a:r>
            <a:r>
              <a:rPr sz="2176" dirty="0">
                <a:cs typeface="Comic Sans MS"/>
              </a:rPr>
              <a:t>a</a:t>
            </a:r>
            <a:r>
              <a:rPr sz="2176" spc="-27" dirty="0">
                <a:cs typeface="Comic Sans MS"/>
              </a:rPr>
              <a:t> </a:t>
            </a:r>
            <a:r>
              <a:rPr sz="2176" dirty="0">
                <a:cs typeface="Comic Sans MS"/>
              </a:rPr>
              <a:t>server</a:t>
            </a:r>
            <a:r>
              <a:rPr sz="2176" spc="-27" dirty="0">
                <a:cs typeface="Comic Sans MS"/>
              </a:rPr>
              <a:t> </a:t>
            </a:r>
            <a:r>
              <a:rPr sz="2176" dirty="0">
                <a:cs typeface="Comic Sans MS"/>
              </a:rPr>
              <a:t>from</a:t>
            </a:r>
            <a:r>
              <a:rPr sz="2176" spc="-63" dirty="0">
                <a:cs typeface="Comic Sans MS"/>
              </a:rPr>
              <a:t> </a:t>
            </a:r>
            <a:r>
              <a:rPr sz="2176" spc="-45" dirty="0">
                <a:cs typeface="Comic Sans MS"/>
              </a:rPr>
              <a:t>a </a:t>
            </a:r>
            <a:r>
              <a:rPr sz="2176" dirty="0">
                <a:cs typeface="Comic Sans MS"/>
              </a:rPr>
              <a:t>trusted</a:t>
            </a:r>
            <a:r>
              <a:rPr sz="2176" spc="-77" dirty="0">
                <a:cs typeface="Comic Sans MS"/>
              </a:rPr>
              <a:t> </a:t>
            </a:r>
            <a:r>
              <a:rPr sz="2176" dirty="0">
                <a:cs typeface="Comic Sans MS"/>
              </a:rPr>
              <a:t>3</a:t>
            </a:r>
            <a:r>
              <a:rPr sz="2108" baseline="30465" dirty="0">
                <a:cs typeface="Comic Sans MS"/>
              </a:rPr>
              <a:t>rd</a:t>
            </a:r>
            <a:r>
              <a:rPr sz="2108" spc="306" baseline="30465" dirty="0">
                <a:cs typeface="Comic Sans MS"/>
              </a:rPr>
              <a:t> </a:t>
            </a:r>
            <a:r>
              <a:rPr sz="2176" dirty="0">
                <a:cs typeface="Comic Sans MS"/>
              </a:rPr>
              <a:t>party</a:t>
            </a:r>
            <a:r>
              <a:rPr sz="2176" spc="-68" dirty="0">
                <a:cs typeface="Comic Sans MS"/>
              </a:rPr>
              <a:t> </a:t>
            </a:r>
            <a:r>
              <a:rPr sz="2176" dirty="0">
                <a:cs typeface="Comic Sans MS"/>
              </a:rPr>
              <a:t>(e.g.</a:t>
            </a:r>
            <a:r>
              <a:rPr sz="2176" spc="-23" dirty="0">
                <a:cs typeface="Comic Sans MS"/>
              </a:rPr>
              <a:t> </a:t>
            </a:r>
            <a:r>
              <a:rPr sz="2176" dirty="0">
                <a:cs typeface="Comic Sans MS"/>
              </a:rPr>
              <a:t>Certification</a:t>
            </a:r>
            <a:r>
              <a:rPr sz="2176" spc="-73" dirty="0">
                <a:cs typeface="Comic Sans MS"/>
              </a:rPr>
              <a:t> </a:t>
            </a:r>
            <a:r>
              <a:rPr sz="2176" spc="-9" dirty="0">
                <a:cs typeface="Comic Sans MS"/>
              </a:rPr>
              <a:t>Authority)</a:t>
            </a:r>
            <a:endParaRPr sz="2176" dirty="0">
              <a:cs typeface="Comic Sans MS"/>
            </a:endParaRPr>
          </a:p>
          <a:p>
            <a:pPr marL="695588" lvl="1" indent="-257966">
              <a:spcBef>
                <a:spcPts val="435"/>
              </a:spcBef>
              <a:buChar char="–"/>
              <a:tabLst>
                <a:tab pos="695588" algn="l"/>
              </a:tabLst>
            </a:pPr>
            <a:r>
              <a:rPr sz="2176" dirty="0">
                <a:cs typeface="Comic Sans MS"/>
              </a:rPr>
              <a:t>These</a:t>
            </a:r>
            <a:r>
              <a:rPr sz="2176" spc="-41" dirty="0">
                <a:cs typeface="Comic Sans MS"/>
              </a:rPr>
              <a:t> </a:t>
            </a:r>
            <a:r>
              <a:rPr sz="2176" dirty="0">
                <a:cs typeface="Comic Sans MS"/>
              </a:rPr>
              <a:t>two</a:t>
            </a:r>
            <a:r>
              <a:rPr sz="2176" spc="-54" dirty="0">
                <a:cs typeface="Comic Sans MS"/>
              </a:rPr>
              <a:t> </a:t>
            </a:r>
            <a:r>
              <a:rPr sz="2176" dirty="0">
                <a:cs typeface="Comic Sans MS"/>
              </a:rPr>
              <a:t>methods</a:t>
            </a:r>
            <a:r>
              <a:rPr sz="2176" spc="-41" dirty="0">
                <a:cs typeface="Comic Sans MS"/>
              </a:rPr>
              <a:t> </a:t>
            </a:r>
            <a:r>
              <a:rPr sz="2176" dirty="0">
                <a:cs typeface="Comic Sans MS"/>
              </a:rPr>
              <a:t>are</a:t>
            </a:r>
            <a:r>
              <a:rPr sz="2176" spc="-36" dirty="0">
                <a:cs typeface="Comic Sans MS"/>
              </a:rPr>
              <a:t> </a:t>
            </a:r>
            <a:r>
              <a:rPr sz="2176" dirty="0">
                <a:cs typeface="Comic Sans MS"/>
              </a:rPr>
              <a:t>rarely</a:t>
            </a:r>
            <a:r>
              <a:rPr sz="2176" spc="-50" dirty="0">
                <a:cs typeface="Comic Sans MS"/>
              </a:rPr>
              <a:t> </a:t>
            </a:r>
            <a:r>
              <a:rPr sz="2176" spc="-9" dirty="0">
                <a:cs typeface="Comic Sans MS"/>
              </a:rPr>
              <a:t>used.</a:t>
            </a:r>
            <a:endParaRPr sz="2176" dirty="0">
              <a:cs typeface="Comic Sans MS"/>
            </a:endParaRPr>
          </a:p>
          <a:p>
            <a:pPr marL="332823" marR="695588" indent="-310366">
              <a:lnSpc>
                <a:spcPts val="2928"/>
              </a:lnSpc>
              <a:spcBef>
                <a:spcPts val="765"/>
              </a:spcBef>
              <a:buChar char="•"/>
              <a:tabLst>
                <a:tab pos="332823" algn="l"/>
              </a:tabLst>
            </a:pPr>
            <a:r>
              <a:rPr sz="2494" dirty="0">
                <a:cs typeface="Comic Sans MS"/>
              </a:rPr>
              <a:t>Another</a:t>
            </a:r>
            <a:r>
              <a:rPr sz="2494" spc="122" dirty="0">
                <a:cs typeface="Comic Sans MS"/>
              </a:rPr>
              <a:t> </a:t>
            </a:r>
            <a:r>
              <a:rPr sz="2494" dirty="0">
                <a:solidFill>
                  <a:srgbClr val="0000FF"/>
                </a:solidFill>
                <a:cs typeface="Comic Sans MS"/>
              </a:rPr>
              <a:t>Option</a:t>
            </a:r>
            <a:r>
              <a:rPr sz="2494" dirty="0">
                <a:cs typeface="Comic Sans MS"/>
              </a:rPr>
              <a:t>:</a:t>
            </a:r>
            <a:r>
              <a:rPr sz="2494" spc="68" dirty="0">
                <a:cs typeface="Comic Sans MS"/>
              </a:rPr>
              <a:t> </a:t>
            </a:r>
            <a:r>
              <a:rPr sz="2494" dirty="0">
                <a:cs typeface="Comic Sans MS"/>
              </a:rPr>
              <a:t>server</a:t>
            </a:r>
            <a:r>
              <a:rPr sz="2494" spc="91" dirty="0">
                <a:cs typeface="Comic Sans MS"/>
              </a:rPr>
              <a:t> </a:t>
            </a:r>
            <a:r>
              <a:rPr sz="2494" dirty="0">
                <a:cs typeface="Comic Sans MS"/>
              </a:rPr>
              <a:t>authenticity</a:t>
            </a:r>
            <a:r>
              <a:rPr sz="2494" spc="127" dirty="0">
                <a:cs typeface="Comic Sans MS"/>
              </a:rPr>
              <a:t> </a:t>
            </a:r>
            <a:r>
              <a:rPr sz="2494" dirty="0">
                <a:cs typeface="Comic Sans MS"/>
              </a:rPr>
              <a:t>is</a:t>
            </a:r>
            <a:r>
              <a:rPr sz="2494" spc="82" dirty="0">
                <a:cs typeface="Comic Sans MS"/>
              </a:rPr>
              <a:t> </a:t>
            </a:r>
            <a:r>
              <a:rPr sz="2494" spc="-23" dirty="0">
                <a:cs typeface="Comic Sans MS"/>
              </a:rPr>
              <a:t>not </a:t>
            </a:r>
            <a:r>
              <a:rPr sz="2494" dirty="0">
                <a:cs typeface="Comic Sans MS"/>
              </a:rPr>
              <a:t>checked</a:t>
            </a:r>
            <a:r>
              <a:rPr sz="2494" spc="77" dirty="0">
                <a:cs typeface="Comic Sans MS"/>
              </a:rPr>
              <a:t> </a:t>
            </a:r>
            <a:r>
              <a:rPr sz="2494" dirty="0">
                <a:cs typeface="Comic Sans MS"/>
              </a:rPr>
              <a:t>the</a:t>
            </a:r>
            <a:r>
              <a:rPr sz="2494" spc="103" dirty="0">
                <a:cs typeface="Comic Sans MS"/>
              </a:rPr>
              <a:t> </a:t>
            </a:r>
            <a:r>
              <a:rPr sz="2494" dirty="0">
                <a:cs typeface="Comic Sans MS"/>
              </a:rPr>
              <a:t>first</a:t>
            </a:r>
            <a:r>
              <a:rPr sz="2494" spc="27" dirty="0">
                <a:cs typeface="Comic Sans MS"/>
              </a:rPr>
              <a:t> </a:t>
            </a:r>
            <a:r>
              <a:rPr sz="2494" spc="-18" dirty="0">
                <a:cs typeface="Comic Sans MS"/>
              </a:rPr>
              <a:t>time</a:t>
            </a:r>
            <a:endParaRPr sz="2494" dirty="0">
              <a:cs typeface="Comic Sans MS"/>
            </a:endParaRPr>
          </a:p>
          <a:p>
            <a:pPr marL="695588" marR="456624" indent="-258542">
              <a:lnSpc>
                <a:spcPts val="2521"/>
              </a:lnSpc>
              <a:spcBef>
                <a:spcPts val="666"/>
              </a:spcBef>
              <a:buChar char="•"/>
              <a:tabLst>
                <a:tab pos="695588" algn="l"/>
              </a:tabLst>
            </a:pPr>
            <a:r>
              <a:rPr sz="2176" dirty="0">
                <a:cs typeface="Comic Sans MS"/>
              </a:rPr>
              <a:t>After</a:t>
            </a:r>
            <a:r>
              <a:rPr sz="2176" spc="-36" dirty="0">
                <a:cs typeface="Comic Sans MS"/>
              </a:rPr>
              <a:t> </a:t>
            </a:r>
            <a:r>
              <a:rPr sz="2176" dirty="0">
                <a:cs typeface="Comic Sans MS"/>
              </a:rPr>
              <a:t>the</a:t>
            </a:r>
            <a:r>
              <a:rPr sz="2176" spc="-45" dirty="0">
                <a:cs typeface="Comic Sans MS"/>
              </a:rPr>
              <a:t> </a:t>
            </a:r>
            <a:r>
              <a:rPr sz="2176" dirty="0">
                <a:cs typeface="Comic Sans MS"/>
              </a:rPr>
              <a:t>first</a:t>
            </a:r>
            <a:r>
              <a:rPr sz="2176" spc="-73" dirty="0">
                <a:cs typeface="Comic Sans MS"/>
              </a:rPr>
              <a:t> </a:t>
            </a:r>
            <a:r>
              <a:rPr sz="2176" dirty="0">
                <a:cs typeface="Comic Sans MS"/>
              </a:rPr>
              <a:t>connection,</a:t>
            </a:r>
            <a:r>
              <a:rPr sz="2176" spc="-63" dirty="0">
                <a:cs typeface="Comic Sans MS"/>
              </a:rPr>
              <a:t> </a:t>
            </a:r>
            <a:r>
              <a:rPr sz="2176" dirty="0">
                <a:cs typeface="Comic Sans MS"/>
              </a:rPr>
              <a:t>the</a:t>
            </a:r>
            <a:r>
              <a:rPr sz="2176" spc="-45" dirty="0">
                <a:cs typeface="Comic Sans MS"/>
              </a:rPr>
              <a:t> </a:t>
            </a:r>
            <a:r>
              <a:rPr sz="2176" dirty="0">
                <a:cs typeface="Comic Sans MS"/>
              </a:rPr>
              <a:t>public</a:t>
            </a:r>
            <a:r>
              <a:rPr sz="2176" spc="-36" dirty="0">
                <a:cs typeface="Comic Sans MS"/>
              </a:rPr>
              <a:t> </a:t>
            </a:r>
            <a:r>
              <a:rPr sz="2176" dirty="0">
                <a:cs typeface="Comic Sans MS"/>
              </a:rPr>
              <a:t>key</a:t>
            </a:r>
            <a:r>
              <a:rPr sz="2176" spc="-54" dirty="0">
                <a:cs typeface="Comic Sans MS"/>
              </a:rPr>
              <a:t> </a:t>
            </a:r>
            <a:r>
              <a:rPr sz="2176" dirty="0">
                <a:cs typeface="Comic Sans MS"/>
              </a:rPr>
              <a:t>of</a:t>
            </a:r>
            <a:r>
              <a:rPr sz="2176" spc="-32" dirty="0">
                <a:cs typeface="Comic Sans MS"/>
              </a:rPr>
              <a:t> </a:t>
            </a:r>
            <a:r>
              <a:rPr sz="2176" spc="-23" dirty="0">
                <a:cs typeface="Comic Sans MS"/>
              </a:rPr>
              <a:t>the </a:t>
            </a:r>
            <a:r>
              <a:rPr sz="2176" dirty="0">
                <a:cs typeface="Comic Sans MS"/>
              </a:rPr>
              <a:t>server</a:t>
            </a:r>
            <a:r>
              <a:rPr sz="2176" spc="-18" dirty="0">
                <a:cs typeface="Comic Sans MS"/>
              </a:rPr>
              <a:t> </a:t>
            </a:r>
            <a:r>
              <a:rPr sz="2176" dirty="0">
                <a:cs typeface="Comic Sans MS"/>
              </a:rPr>
              <a:t>is</a:t>
            </a:r>
            <a:r>
              <a:rPr sz="2176" spc="-27" dirty="0">
                <a:cs typeface="Comic Sans MS"/>
              </a:rPr>
              <a:t> </a:t>
            </a:r>
            <a:r>
              <a:rPr sz="2176" dirty="0">
                <a:cs typeface="Comic Sans MS"/>
              </a:rPr>
              <a:t>saved</a:t>
            </a:r>
            <a:r>
              <a:rPr sz="2176" spc="-45" dirty="0">
                <a:cs typeface="Comic Sans MS"/>
              </a:rPr>
              <a:t> </a:t>
            </a:r>
            <a:r>
              <a:rPr sz="2176" dirty="0">
                <a:cs typeface="Comic Sans MS"/>
              </a:rPr>
              <a:t>in</a:t>
            </a:r>
            <a:r>
              <a:rPr sz="2176" spc="27" dirty="0">
                <a:cs typeface="Comic Sans MS"/>
              </a:rPr>
              <a:t> </a:t>
            </a:r>
            <a:r>
              <a:rPr sz="2176" dirty="0">
                <a:cs typeface="Comic Sans MS"/>
              </a:rPr>
              <a:t>a</a:t>
            </a:r>
            <a:r>
              <a:rPr sz="2176" spc="-82" dirty="0">
                <a:cs typeface="Comic Sans MS"/>
              </a:rPr>
              <a:t> </a:t>
            </a:r>
            <a:r>
              <a:rPr sz="2176" dirty="0">
                <a:cs typeface="Comic Sans MS"/>
              </a:rPr>
              <a:t>database</a:t>
            </a:r>
            <a:r>
              <a:rPr sz="2176" spc="-27" dirty="0">
                <a:cs typeface="Comic Sans MS"/>
              </a:rPr>
              <a:t> </a:t>
            </a:r>
            <a:r>
              <a:rPr sz="2176" dirty="0">
                <a:cs typeface="Comic Sans MS"/>
              </a:rPr>
              <a:t>of</a:t>
            </a:r>
            <a:r>
              <a:rPr sz="2176" spc="-73" dirty="0">
                <a:cs typeface="Comic Sans MS"/>
              </a:rPr>
              <a:t> </a:t>
            </a:r>
            <a:r>
              <a:rPr sz="2176" dirty="0">
                <a:cs typeface="Comic Sans MS"/>
              </a:rPr>
              <a:t>the</a:t>
            </a:r>
            <a:r>
              <a:rPr sz="2176" spc="-27" dirty="0">
                <a:cs typeface="Comic Sans MS"/>
              </a:rPr>
              <a:t> </a:t>
            </a:r>
            <a:r>
              <a:rPr sz="2176" spc="-9" dirty="0">
                <a:cs typeface="Comic Sans MS"/>
              </a:rPr>
              <a:t>client.</a:t>
            </a:r>
            <a:endParaRPr sz="2176" dirty="0">
              <a:cs typeface="Comic Sans MS"/>
            </a:endParaRPr>
          </a:p>
          <a:p>
            <a:pPr marL="695588" indent="-257966">
              <a:spcBef>
                <a:spcPts val="526"/>
              </a:spcBef>
              <a:buChar char="•"/>
              <a:tabLst>
                <a:tab pos="695588" algn="l"/>
              </a:tabLst>
            </a:pPr>
            <a:r>
              <a:rPr sz="2176" dirty="0">
                <a:cs typeface="Comic Sans MS"/>
              </a:rPr>
              <a:t>This</a:t>
            </a:r>
            <a:r>
              <a:rPr sz="2176" spc="-27" dirty="0">
                <a:cs typeface="Comic Sans MS"/>
              </a:rPr>
              <a:t> </a:t>
            </a:r>
            <a:r>
              <a:rPr sz="2176" dirty="0">
                <a:cs typeface="Comic Sans MS"/>
              </a:rPr>
              <a:t>is</a:t>
            </a:r>
            <a:r>
              <a:rPr sz="2176" spc="-23" dirty="0">
                <a:cs typeface="Comic Sans MS"/>
              </a:rPr>
              <a:t> </a:t>
            </a:r>
            <a:r>
              <a:rPr sz="2176" dirty="0">
                <a:cs typeface="Comic Sans MS"/>
              </a:rPr>
              <a:t>the</a:t>
            </a:r>
            <a:r>
              <a:rPr sz="2176" spc="-27" dirty="0">
                <a:cs typeface="Comic Sans MS"/>
              </a:rPr>
              <a:t> </a:t>
            </a:r>
            <a:r>
              <a:rPr sz="2176" dirty="0">
                <a:cs typeface="Comic Sans MS"/>
              </a:rPr>
              <a:t>most</a:t>
            </a:r>
            <a:r>
              <a:rPr sz="2176" spc="-54" dirty="0">
                <a:cs typeface="Comic Sans MS"/>
              </a:rPr>
              <a:t> </a:t>
            </a:r>
            <a:r>
              <a:rPr sz="2176" dirty="0">
                <a:cs typeface="Comic Sans MS"/>
              </a:rPr>
              <a:t>used</a:t>
            </a:r>
            <a:r>
              <a:rPr sz="2176" spc="-45" dirty="0">
                <a:cs typeface="Comic Sans MS"/>
              </a:rPr>
              <a:t> </a:t>
            </a:r>
            <a:r>
              <a:rPr sz="2176" spc="-9" dirty="0">
                <a:cs typeface="Comic Sans MS"/>
              </a:rPr>
              <a:t>method.</a:t>
            </a:r>
            <a:endParaRPr sz="2176" dirty="0">
              <a:cs typeface="Comic Sans MS"/>
            </a:endParaRPr>
          </a:p>
        </p:txBody>
      </p:sp>
      <p:sp>
        <p:nvSpPr>
          <p:cNvPr id="3" name="object 3" descr="$PPTXTitle"/>
          <p:cNvSpPr txBox="1">
            <a:spLocks noGrp="1"/>
          </p:cNvSpPr>
          <p:nvPr>
            <p:ph type="title"/>
          </p:nvPr>
        </p:nvSpPr>
        <p:spPr>
          <a:xfrm>
            <a:off x="2659802" y="285243"/>
            <a:ext cx="6111163" cy="776929"/>
          </a:xfrm>
          <a:prstGeom prst="rect">
            <a:avLst/>
          </a:prstGeom>
        </p:spPr>
        <p:txBody>
          <a:bodyPr vert="horz" wrap="square" lIns="0" tIns="14971" rIns="0" bIns="0" rtlCol="0" anchor="ctr">
            <a:spAutoFit/>
          </a:bodyPr>
          <a:lstStyle/>
          <a:p>
            <a:pPr algn="ctr">
              <a:lnSpc>
                <a:spcPts val="2961"/>
              </a:lnSpc>
              <a:spcBef>
                <a:spcPts val="118"/>
              </a:spcBef>
            </a:pPr>
            <a:r>
              <a:rPr sz="2494" dirty="0">
                <a:latin typeface="+mn-lt"/>
              </a:rPr>
              <a:t>How</a:t>
            </a:r>
            <a:r>
              <a:rPr sz="2494" spc="100" dirty="0">
                <a:latin typeface="+mn-lt"/>
              </a:rPr>
              <a:t> </a:t>
            </a:r>
            <a:r>
              <a:rPr sz="2494" dirty="0">
                <a:latin typeface="+mn-lt"/>
              </a:rPr>
              <a:t>to</a:t>
            </a:r>
            <a:r>
              <a:rPr sz="2494" spc="18" dirty="0">
                <a:latin typeface="+mn-lt"/>
              </a:rPr>
              <a:t> </a:t>
            </a:r>
            <a:r>
              <a:rPr sz="2494" dirty="0">
                <a:latin typeface="+mn-lt"/>
              </a:rPr>
              <a:t>get</a:t>
            </a:r>
            <a:r>
              <a:rPr sz="2494" spc="91" dirty="0">
                <a:latin typeface="+mn-lt"/>
              </a:rPr>
              <a:t> </a:t>
            </a:r>
            <a:r>
              <a:rPr sz="2494" dirty="0">
                <a:latin typeface="+mn-lt"/>
              </a:rPr>
              <a:t>server’s</a:t>
            </a:r>
            <a:r>
              <a:rPr sz="2494" spc="118" dirty="0">
                <a:latin typeface="+mn-lt"/>
              </a:rPr>
              <a:t> </a:t>
            </a:r>
            <a:r>
              <a:rPr sz="2494" dirty="0">
                <a:latin typeface="+mn-lt"/>
              </a:rPr>
              <a:t>public</a:t>
            </a:r>
            <a:r>
              <a:rPr sz="2494" spc="54" dirty="0">
                <a:latin typeface="+mn-lt"/>
              </a:rPr>
              <a:t> </a:t>
            </a:r>
            <a:r>
              <a:rPr sz="2494" dirty="0">
                <a:latin typeface="+mn-lt"/>
              </a:rPr>
              <a:t>key</a:t>
            </a:r>
            <a:r>
              <a:rPr sz="2494" spc="91" dirty="0">
                <a:latin typeface="+mn-lt"/>
              </a:rPr>
              <a:t> </a:t>
            </a:r>
            <a:r>
              <a:rPr sz="2494" dirty="0">
                <a:latin typeface="+mn-lt"/>
              </a:rPr>
              <a:t>the</a:t>
            </a:r>
            <a:r>
              <a:rPr sz="2494" spc="68" dirty="0">
                <a:latin typeface="+mn-lt"/>
              </a:rPr>
              <a:t> </a:t>
            </a:r>
            <a:r>
              <a:rPr sz="2494" spc="-23" dirty="0">
                <a:latin typeface="+mn-lt"/>
              </a:rPr>
              <a:t>1st</a:t>
            </a:r>
            <a:endParaRPr sz="2494" dirty="0">
              <a:latin typeface="+mn-lt"/>
            </a:endParaRPr>
          </a:p>
          <a:p>
            <a:pPr marL="2879" algn="ctr">
              <a:lnSpc>
                <a:spcPts val="2961"/>
              </a:lnSpc>
            </a:pPr>
            <a:r>
              <a:rPr sz="2494" spc="-9" dirty="0">
                <a:latin typeface="+mn-lt"/>
              </a:rPr>
              <a:t>time?</a:t>
            </a:r>
            <a:endParaRPr sz="2494" dirty="0">
              <a:latin typeface="+mn-lt"/>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94589" y="1405847"/>
            <a:ext cx="5326322" cy="4697503"/>
          </a:xfrm>
          <a:prstGeom prst="rect">
            <a:avLst/>
          </a:prstGeom>
        </p:spPr>
        <p:txBody>
          <a:bodyPr vert="horz" wrap="square" lIns="0" tIns="84645" rIns="0" bIns="0" rtlCol="0">
            <a:spAutoFit/>
          </a:bodyPr>
          <a:lstStyle/>
          <a:p>
            <a:pPr marL="321306" indent="-309790">
              <a:spcBef>
                <a:spcPts val="666"/>
              </a:spcBef>
              <a:buFont typeface="Comic Sans MS"/>
              <a:buChar char="•"/>
              <a:tabLst>
                <a:tab pos="321306" algn="l"/>
              </a:tabLst>
            </a:pPr>
            <a:r>
              <a:rPr sz="2176" dirty="0">
                <a:cs typeface="Comic Sans MS"/>
              </a:rPr>
              <a:t>Key</a:t>
            </a:r>
            <a:r>
              <a:rPr sz="2176" spc="-41" dirty="0">
                <a:cs typeface="Comic Sans MS"/>
              </a:rPr>
              <a:t> </a:t>
            </a:r>
            <a:r>
              <a:rPr sz="2176" spc="-9" dirty="0">
                <a:cs typeface="Comic Sans MS"/>
              </a:rPr>
              <a:t>Exchange:</a:t>
            </a:r>
            <a:endParaRPr sz="2176" dirty="0">
              <a:cs typeface="Comic Sans MS"/>
            </a:endParaRPr>
          </a:p>
          <a:p>
            <a:pPr marL="684072" lvl="1" indent="-257966">
              <a:spcBef>
                <a:spcPts val="544"/>
              </a:spcBef>
              <a:buChar char="–"/>
              <a:tabLst>
                <a:tab pos="684072" algn="l"/>
              </a:tabLst>
            </a:pPr>
            <a:r>
              <a:rPr sz="1950" dirty="0">
                <a:cs typeface="Comic Sans MS"/>
              </a:rPr>
              <a:t>diffie-hellman-group1-sha1</a:t>
            </a:r>
            <a:r>
              <a:rPr sz="1950" spc="358" dirty="0">
                <a:cs typeface="Comic Sans MS"/>
              </a:rPr>
              <a:t> </a:t>
            </a:r>
            <a:r>
              <a:rPr sz="1950" spc="-9" dirty="0">
                <a:cs typeface="Comic Sans MS"/>
              </a:rPr>
              <a:t>[Required]</a:t>
            </a:r>
            <a:endParaRPr sz="1950" dirty="0">
              <a:cs typeface="Comic Sans MS"/>
            </a:endParaRPr>
          </a:p>
          <a:p>
            <a:pPr marL="684072" lvl="1" indent="-257966">
              <a:spcBef>
                <a:spcPts val="521"/>
              </a:spcBef>
              <a:buChar char="–"/>
              <a:tabLst>
                <a:tab pos="684072" algn="l"/>
              </a:tabLst>
            </a:pPr>
            <a:r>
              <a:rPr sz="1950" dirty="0">
                <a:cs typeface="Comic Sans MS"/>
              </a:rPr>
              <a:t>diffie-hellman-group14-sha1</a:t>
            </a:r>
            <a:r>
              <a:rPr sz="1950" spc="376" dirty="0">
                <a:cs typeface="Comic Sans MS"/>
              </a:rPr>
              <a:t> </a:t>
            </a:r>
            <a:r>
              <a:rPr sz="1950" spc="-9" dirty="0">
                <a:cs typeface="Comic Sans MS"/>
              </a:rPr>
              <a:t>[Required]</a:t>
            </a:r>
            <a:endParaRPr sz="1950" dirty="0">
              <a:cs typeface="Comic Sans MS"/>
            </a:endParaRPr>
          </a:p>
          <a:p>
            <a:pPr marL="321306" indent="-309790">
              <a:spcBef>
                <a:spcPts val="1319"/>
              </a:spcBef>
              <a:buChar char="•"/>
              <a:tabLst>
                <a:tab pos="321306" algn="l"/>
              </a:tabLst>
            </a:pPr>
            <a:r>
              <a:rPr sz="2176" dirty="0">
                <a:cs typeface="Comic Sans MS"/>
              </a:rPr>
              <a:t>Data</a:t>
            </a:r>
            <a:r>
              <a:rPr sz="2176" spc="-73" dirty="0">
                <a:cs typeface="Comic Sans MS"/>
              </a:rPr>
              <a:t> </a:t>
            </a:r>
            <a:r>
              <a:rPr sz="2176" spc="-9" dirty="0">
                <a:cs typeface="Comic Sans MS"/>
              </a:rPr>
              <a:t>Encryption:</a:t>
            </a:r>
            <a:endParaRPr sz="2176" dirty="0">
              <a:cs typeface="Comic Sans MS"/>
            </a:endParaRPr>
          </a:p>
          <a:p>
            <a:pPr marL="684072" lvl="1" indent="-257966">
              <a:spcBef>
                <a:spcPts val="748"/>
              </a:spcBef>
              <a:buChar char="–"/>
              <a:tabLst>
                <a:tab pos="684072" algn="l"/>
              </a:tabLst>
            </a:pPr>
            <a:r>
              <a:rPr sz="1950" dirty="0">
                <a:cs typeface="Comic Sans MS"/>
              </a:rPr>
              <a:t>3des-cbc</a:t>
            </a:r>
            <a:r>
              <a:rPr sz="1950" spc="127" dirty="0">
                <a:cs typeface="Comic Sans MS"/>
              </a:rPr>
              <a:t> </a:t>
            </a:r>
            <a:r>
              <a:rPr sz="1950" spc="-9" dirty="0">
                <a:cs typeface="Comic Sans MS"/>
              </a:rPr>
              <a:t>[Required]</a:t>
            </a:r>
            <a:endParaRPr sz="1950" dirty="0">
              <a:cs typeface="Comic Sans MS"/>
            </a:endParaRPr>
          </a:p>
          <a:p>
            <a:pPr marL="684072" lvl="1" indent="-257966">
              <a:spcBef>
                <a:spcPts val="526"/>
              </a:spcBef>
              <a:buChar char="–"/>
              <a:tabLst>
                <a:tab pos="684072" algn="l"/>
              </a:tabLst>
            </a:pPr>
            <a:r>
              <a:rPr sz="1950" dirty="0">
                <a:cs typeface="Comic Sans MS"/>
              </a:rPr>
              <a:t>aes128-cbc</a:t>
            </a:r>
            <a:r>
              <a:rPr sz="1950" spc="136" dirty="0">
                <a:cs typeface="Comic Sans MS"/>
              </a:rPr>
              <a:t> </a:t>
            </a:r>
            <a:r>
              <a:rPr sz="1950" spc="-9" dirty="0">
                <a:cs typeface="Comic Sans MS"/>
              </a:rPr>
              <a:t>[</a:t>
            </a:r>
            <a:r>
              <a:rPr sz="1950" spc="-9" dirty="0">
                <a:solidFill>
                  <a:srgbClr val="800000"/>
                </a:solidFill>
                <a:cs typeface="Comic Sans MS"/>
              </a:rPr>
              <a:t>Recommended</a:t>
            </a:r>
            <a:r>
              <a:rPr sz="1950" spc="-9" dirty="0">
                <a:cs typeface="Comic Sans MS"/>
              </a:rPr>
              <a:t>]</a:t>
            </a:r>
            <a:endParaRPr sz="1950" dirty="0">
              <a:cs typeface="Comic Sans MS"/>
            </a:endParaRPr>
          </a:p>
          <a:p>
            <a:pPr marL="321306" indent="-309790">
              <a:spcBef>
                <a:spcPts val="635"/>
              </a:spcBef>
              <a:buChar char="•"/>
              <a:tabLst>
                <a:tab pos="321306" algn="l"/>
              </a:tabLst>
            </a:pPr>
            <a:r>
              <a:rPr sz="2176" dirty="0">
                <a:cs typeface="Comic Sans MS"/>
              </a:rPr>
              <a:t>Data</a:t>
            </a:r>
            <a:r>
              <a:rPr sz="2176" spc="-73" dirty="0">
                <a:cs typeface="Comic Sans MS"/>
              </a:rPr>
              <a:t> </a:t>
            </a:r>
            <a:r>
              <a:rPr sz="2176" spc="-9" dirty="0">
                <a:cs typeface="Comic Sans MS"/>
              </a:rPr>
              <a:t>Integrity:</a:t>
            </a:r>
            <a:endParaRPr sz="2176" dirty="0">
              <a:cs typeface="Comic Sans MS"/>
            </a:endParaRPr>
          </a:p>
          <a:p>
            <a:pPr marL="684072" lvl="1" indent="-257966">
              <a:spcBef>
                <a:spcPts val="549"/>
              </a:spcBef>
              <a:buChar char="–"/>
              <a:tabLst>
                <a:tab pos="684072" algn="l"/>
              </a:tabLst>
            </a:pPr>
            <a:r>
              <a:rPr sz="1950" dirty="0">
                <a:cs typeface="Comic Sans MS"/>
              </a:rPr>
              <a:t>hmac-sha1</a:t>
            </a:r>
            <a:r>
              <a:rPr sz="1950" spc="145" dirty="0">
                <a:cs typeface="Comic Sans MS"/>
              </a:rPr>
              <a:t> </a:t>
            </a:r>
            <a:r>
              <a:rPr sz="1950" spc="-9" dirty="0">
                <a:cs typeface="Comic Sans MS"/>
              </a:rPr>
              <a:t>[Required],</a:t>
            </a:r>
            <a:endParaRPr sz="1950" dirty="0">
              <a:cs typeface="Comic Sans MS"/>
            </a:endParaRPr>
          </a:p>
          <a:p>
            <a:pPr marL="684072" lvl="1" indent="-257966">
              <a:spcBef>
                <a:spcPts val="517"/>
              </a:spcBef>
              <a:buChar char="–"/>
              <a:tabLst>
                <a:tab pos="684072" algn="l"/>
              </a:tabLst>
            </a:pPr>
            <a:r>
              <a:rPr sz="1950" dirty="0">
                <a:cs typeface="Comic Sans MS"/>
              </a:rPr>
              <a:t>hmac-sha1-96</a:t>
            </a:r>
            <a:r>
              <a:rPr sz="1950" spc="172" dirty="0">
                <a:cs typeface="Comic Sans MS"/>
              </a:rPr>
              <a:t> </a:t>
            </a:r>
            <a:r>
              <a:rPr sz="1950" spc="-9" dirty="0">
                <a:cs typeface="Comic Sans MS"/>
              </a:rPr>
              <a:t>[</a:t>
            </a:r>
            <a:r>
              <a:rPr sz="1950" spc="-9" dirty="0">
                <a:solidFill>
                  <a:srgbClr val="800000"/>
                </a:solidFill>
                <a:cs typeface="Comic Sans MS"/>
              </a:rPr>
              <a:t>Recommended</a:t>
            </a:r>
            <a:r>
              <a:rPr sz="1950" spc="-9" dirty="0">
                <a:cs typeface="Comic Sans MS"/>
              </a:rPr>
              <a:t>]</a:t>
            </a:r>
            <a:endParaRPr sz="1950" dirty="0">
              <a:cs typeface="Comic Sans MS"/>
            </a:endParaRPr>
          </a:p>
          <a:p>
            <a:pPr marL="321306" indent="-309790">
              <a:spcBef>
                <a:spcPts val="639"/>
              </a:spcBef>
              <a:buChar char="•"/>
              <a:tabLst>
                <a:tab pos="321306" algn="l"/>
              </a:tabLst>
            </a:pPr>
            <a:r>
              <a:rPr sz="2176" dirty="0">
                <a:cs typeface="Comic Sans MS"/>
              </a:rPr>
              <a:t>Public</a:t>
            </a:r>
            <a:r>
              <a:rPr sz="2176" spc="-41" dirty="0">
                <a:cs typeface="Comic Sans MS"/>
              </a:rPr>
              <a:t> </a:t>
            </a:r>
            <a:r>
              <a:rPr sz="2176" dirty="0">
                <a:cs typeface="Comic Sans MS"/>
              </a:rPr>
              <a:t>Key</a:t>
            </a:r>
            <a:r>
              <a:rPr sz="2176" spc="-59" dirty="0">
                <a:cs typeface="Comic Sans MS"/>
              </a:rPr>
              <a:t> </a:t>
            </a:r>
            <a:r>
              <a:rPr sz="2176" dirty="0">
                <a:cs typeface="Comic Sans MS"/>
              </a:rPr>
              <a:t>for</a:t>
            </a:r>
            <a:r>
              <a:rPr sz="2176" spc="-36" dirty="0">
                <a:cs typeface="Comic Sans MS"/>
              </a:rPr>
              <a:t> </a:t>
            </a:r>
            <a:r>
              <a:rPr sz="2176" spc="-9" dirty="0">
                <a:cs typeface="Comic Sans MS"/>
              </a:rPr>
              <a:t>Authentication:</a:t>
            </a:r>
            <a:endParaRPr sz="2176" dirty="0">
              <a:cs typeface="Comic Sans MS"/>
            </a:endParaRPr>
          </a:p>
          <a:p>
            <a:pPr marL="684072" lvl="1" indent="-257966">
              <a:spcBef>
                <a:spcPts val="544"/>
              </a:spcBef>
              <a:buChar char="–"/>
              <a:tabLst>
                <a:tab pos="684072" algn="l"/>
              </a:tabLst>
            </a:pPr>
            <a:r>
              <a:rPr sz="1950" dirty="0">
                <a:cs typeface="Comic Sans MS"/>
              </a:rPr>
              <a:t>ssh-dss</a:t>
            </a:r>
            <a:r>
              <a:rPr sz="1950" spc="163" dirty="0">
                <a:cs typeface="Comic Sans MS"/>
              </a:rPr>
              <a:t> </a:t>
            </a:r>
            <a:r>
              <a:rPr sz="1950" spc="-9" dirty="0">
                <a:cs typeface="Comic Sans MS"/>
              </a:rPr>
              <a:t>[Required]</a:t>
            </a:r>
            <a:endParaRPr sz="1950" dirty="0">
              <a:cs typeface="Comic Sans MS"/>
            </a:endParaRPr>
          </a:p>
          <a:p>
            <a:pPr marL="684072" lvl="1" indent="-257966">
              <a:spcBef>
                <a:spcPts val="594"/>
              </a:spcBef>
              <a:buFont typeface="Comic Sans MS"/>
              <a:buChar char="–"/>
              <a:tabLst>
                <a:tab pos="684072" algn="l"/>
              </a:tabLst>
            </a:pPr>
            <a:r>
              <a:rPr sz="1950" spc="50" dirty="0">
                <a:cs typeface="Microsoft Sans Serif"/>
              </a:rPr>
              <a:t>ssh-</a:t>
            </a:r>
            <a:r>
              <a:rPr sz="1950" spc="68" dirty="0">
                <a:cs typeface="Microsoft Sans Serif"/>
              </a:rPr>
              <a:t>rsa</a:t>
            </a:r>
            <a:r>
              <a:rPr sz="1950" spc="82" dirty="0">
                <a:cs typeface="Microsoft Sans Serif"/>
              </a:rPr>
              <a:t> [</a:t>
            </a:r>
            <a:r>
              <a:rPr sz="1950" spc="82" dirty="0">
                <a:solidFill>
                  <a:srgbClr val="800000"/>
                </a:solidFill>
                <a:cs typeface="Microsoft Sans Serif"/>
              </a:rPr>
              <a:t>Recommended</a:t>
            </a:r>
            <a:r>
              <a:rPr sz="1950" spc="82" dirty="0">
                <a:cs typeface="Microsoft Sans Serif"/>
              </a:rPr>
              <a:t>]</a:t>
            </a:r>
            <a:endParaRPr sz="1950" dirty="0">
              <a:cs typeface="Microsoft Sans Serif"/>
            </a:endParaRPr>
          </a:p>
        </p:txBody>
      </p:sp>
      <p:sp>
        <p:nvSpPr>
          <p:cNvPr id="3" name="object 3" descr="$PPTXTitle"/>
          <p:cNvSpPr txBox="1">
            <a:spLocks noGrp="1"/>
          </p:cNvSpPr>
          <p:nvPr>
            <p:ph type="title"/>
          </p:nvPr>
        </p:nvSpPr>
        <p:spPr>
          <a:xfrm>
            <a:off x="2289839" y="458368"/>
            <a:ext cx="9535557" cy="947479"/>
          </a:xfrm>
          <a:prstGeom prst="rect">
            <a:avLst/>
          </a:prstGeom>
        </p:spPr>
        <p:txBody>
          <a:bodyPr vert="horz" wrap="square" lIns="0" tIns="267756" rIns="0" bIns="0" rtlCol="0" anchor="ctr">
            <a:spAutoFit/>
          </a:bodyPr>
          <a:lstStyle/>
          <a:p>
            <a:pPr marL="222266">
              <a:lnSpc>
                <a:spcPct val="100000"/>
              </a:lnSpc>
              <a:spcBef>
                <a:spcPts val="95"/>
              </a:spcBef>
            </a:pPr>
            <a:r>
              <a:rPr dirty="0"/>
              <a:t>Required/Recommended</a:t>
            </a:r>
            <a:r>
              <a:rPr spc="-159" dirty="0"/>
              <a:t> </a:t>
            </a:r>
            <a:r>
              <a:rPr spc="-9" dirty="0"/>
              <a:t>Algorithms</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03467" y="23"/>
            <a:ext cx="7799463" cy="907582"/>
          </a:xfrm>
          <a:prstGeom prst="rect">
            <a:avLst/>
          </a:prstGeom>
        </p:spPr>
      </p:pic>
      <p:sp>
        <p:nvSpPr>
          <p:cNvPr id="3" name="object 3" descr="$PPTXTitle"/>
          <p:cNvSpPr txBox="1">
            <a:spLocks noGrp="1"/>
          </p:cNvSpPr>
          <p:nvPr>
            <p:ph type="title"/>
          </p:nvPr>
        </p:nvSpPr>
        <p:spPr>
          <a:xfrm>
            <a:off x="2289839" y="587447"/>
            <a:ext cx="9535557" cy="689319"/>
          </a:xfrm>
          <a:prstGeom prst="rect">
            <a:avLst/>
          </a:prstGeom>
        </p:spPr>
        <p:txBody>
          <a:bodyPr vert="horz" wrap="square" lIns="0" tIns="12092" rIns="0" bIns="0" rtlCol="0" anchor="ctr">
            <a:spAutoFit/>
          </a:bodyPr>
          <a:lstStyle/>
          <a:p>
            <a:pPr marL="3171605">
              <a:lnSpc>
                <a:spcPct val="100000"/>
              </a:lnSpc>
              <a:spcBef>
                <a:spcPts val="95"/>
              </a:spcBef>
            </a:pPr>
            <a:r>
              <a:rPr spc="-9" dirty="0">
                <a:latin typeface="+mn-lt"/>
                <a:cs typeface="Comic Sans MS"/>
              </a:rPr>
              <a:t>Outline</a:t>
            </a:r>
          </a:p>
        </p:txBody>
      </p:sp>
      <p:sp>
        <p:nvSpPr>
          <p:cNvPr id="4" name="object 4"/>
          <p:cNvSpPr txBox="1">
            <a:spLocks noGrp="1"/>
          </p:cNvSpPr>
          <p:nvPr>
            <p:ph type="body" idx="1"/>
          </p:nvPr>
        </p:nvSpPr>
        <p:spPr>
          <a:xfrm>
            <a:off x="2289839" y="1655479"/>
            <a:ext cx="9535557" cy="2105936"/>
          </a:xfrm>
          <a:prstGeom prst="rect">
            <a:avLst/>
          </a:prstGeom>
        </p:spPr>
        <p:txBody>
          <a:bodyPr vert="horz" wrap="square" lIns="0" tIns="199809" rIns="0" bIns="0" rtlCol="0">
            <a:spAutoFit/>
          </a:bodyPr>
          <a:lstStyle/>
          <a:p>
            <a:pPr marL="304608" indent="-293091">
              <a:lnSpc>
                <a:spcPct val="100000"/>
              </a:lnSpc>
              <a:spcBef>
                <a:spcPts val="1573"/>
              </a:spcBef>
              <a:buClr>
                <a:srgbClr val="000000"/>
              </a:buClr>
              <a:buSzPct val="43750"/>
              <a:buFont typeface="Wingdings"/>
              <a:buChar char=""/>
              <a:tabLst>
                <a:tab pos="304608" algn="l"/>
              </a:tabLst>
            </a:pPr>
            <a:r>
              <a:rPr dirty="0"/>
              <a:t>Protocol</a:t>
            </a:r>
            <a:r>
              <a:rPr spc="-45" dirty="0"/>
              <a:t> </a:t>
            </a:r>
            <a:r>
              <a:rPr spc="-9" dirty="0"/>
              <a:t>Details</a:t>
            </a:r>
          </a:p>
          <a:p>
            <a:pPr marL="696740" lvl="1" indent="-260846">
              <a:lnSpc>
                <a:spcPct val="100000"/>
              </a:lnSpc>
              <a:spcBef>
                <a:spcPts val="1215"/>
              </a:spcBef>
              <a:buSzPct val="75000"/>
              <a:buFont typeface="Symbol"/>
              <a:buChar char=""/>
              <a:tabLst>
                <a:tab pos="696740" algn="l"/>
              </a:tabLst>
            </a:pPr>
            <a:r>
              <a:rPr sz="2358" dirty="0">
                <a:cs typeface="Comic Sans MS"/>
              </a:rPr>
              <a:t>Transport</a:t>
            </a:r>
            <a:r>
              <a:rPr sz="2358" spc="-27" dirty="0">
                <a:cs typeface="Comic Sans MS"/>
              </a:rPr>
              <a:t> </a:t>
            </a:r>
            <a:r>
              <a:rPr sz="2358" spc="-18" dirty="0">
                <a:cs typeface="Comic Sans MS"/>
              </a:rPr>
              <a:t>Layer</a:t>
            </a:r>
            <a:endParaRPr sz="2358" dirty="0">
              <a:cs typeface="Comic Sans MS"/>
            </a:endParaRPr>
          </a:p>
          <a:p>
            <a:pPr marL="696740" lvl="1" indent="-260846">
              <a:lnSpc>
                <a:spcPct val="100000"/>
              </a:lnSpc>
              <a:spcBef>
                <a:spcPts val="920"/>
              </a:spcBef>
              <a:buClr>
                <a:srgbClr val="000000"/>
              </a:buClr>
              <a:buSzPct val="75000"/>
              <a:buFont typeface="Symbol"/>
              <a:buChar char=""/>
              <a:tabLst>
                <a:tab pos="696740" algn="l"/>
              </a:tabLst>
            </a:pPr>
            <a:r>
              <a:rPr sz="2358" dirty="0">
                <a:solidFill>
                  <a:srgbClr val="0000FF"/>
                </a:solidFill>
                <a:cs typeface="Comic Sans MS"/>
              </a:rPr>
              <a:t>User</a:t>
            </a:r>
            <a:r>
              <a:rPr sz="2358" spc="-32" dirty="0">
                <a:solidFill>
                  <a:srgbClr val="0000FF"/>
                </a:solidFill>
                <a:cs typeface="Comic Sans MS"/>
              </a:rPr>
              <a:t> </a:t>
            </a:r>
            <a:r>
              <a:rPr sz="2358" dirty="0">
                <a:solidFill>
                  <a:srgbClr val="0000FF"/>
                </a:solidFill>
                <a:cs typeface="Comic Sans MS"/>
              </a:rPr>
              <a:t>Authentication</a:t>
            </a:r>
            <a:r>
              <a:rPr sz="2358" spc="-59" dirty="0">
                <a:solidFill>
                  <a:srgbClr val="0000FF"/>
                </a:solidFill>
                <a:cs typeface="Comic Sans MS"/>
              </a:rPr>
              <a:t> </a:t>
            </a:r>
            <a:r>
              <a:rPr sz="2358" spc="-9" dirty="0">
                <a:solidFill>
                  <a:srgbClr val="0000FF"/>
                </a:solidFill>
                <a:cs typeface="Comic Sans MS"/>
              </a:rPr>
              <a:t>Layer</a:t>
            </a:r>
            <a:endParaRPr sz="2358" dirty="0">
              <a:cs typeface="Comic Sans MS"/>
            </a:endParaRPr>
          </a:p>
          <a:p>
            <a:pPr marL="696740" lvl="1" indent="-260846">
              <a:lnSpc>
                <a:spcPct val="100000"/>
              </a:lnSpc>
              <a:spcBef>
                <a:spcPts val="920"/>
              </a:spcBef>
              <a:buClr>
                <a:srgbClr val="000000"/>
              </a:buClr>
              <a:buSzPct val="75000"/>
              <a:buFont typeface="Symbol"/>
              <a:buChar char=""/>
              <a:tabLst>
                <a:tab pos="696740" algn="l"/>
              </a:tabLst>
            </a:pPr>
            <a:r>
              <a:rPr sz="2358" dirty="0">
                <a:solidFill>
                  <a:srgbClr val="808080"/>
                </a:solidFill>
                <a:cs typeface="Comic Sans MS"/>
              </a:rPr>
              <a:t>Connection</a:t>
            </a:r>
            <a:r>
              <a:rPr sz="2358" spc="-27" dirty="0">
                <a:solidFill>
                  <a:srgbClr val="808080"/>
                </a:solidFill>
                <a:cs typeface="Comic Sans MS"/>
              </a:rPr>
              <a:t> </a:t>
            </a:r>
            <a:r>
              <a:rPr sz="2358" spc="-18" dirty="0">
                <a:solidFill>
                  <a:srgbClr val="808080"/>
                </a:solidFill>
                <a:cs typeface="Comic Sans MS"/>
              </a:rPr>
              <a:t>Layer</a:t>
            </a:r>
            <a:endParaRPr sz="2358" dirty="0">
              <a:cs typeface="Comic Sans MS"/>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89839" y="1794238"/>
            <a:ext cx="6714620" cy="2614661"/>
          </a:xfrm>
          <a:prstGeom prst="rect">
            <a:avLst/>
          </a:prstGeom>
        </p:spPr>
        <p:txBody>
          <a:bodyPr vert="horz" wrap="square" lIns="0" tIns="89252" rIns="0" bIns="0" rtlCol="0">
            <a:spAutoFit/>
          </a:bodyPr>
          <a:lstStyle/>
          <a:p>
            <a:pPr marL="321306" indent="-309790">
              <a:spcBef>
                <a:spcPts val="703"/>
              </a:spcBef>
              <a:buFont typeface="Comic Sans MS"/>
              <a:buChar char="•"/>
              <a:tabLst>
                <a:tab pos="321306" algn="l"/>
              </a:tabLst>
            </a:pPr>
            <a:r>
              <a:rPr sz="2494" dirty="0">
                <a:cs typeface="Comic Sans MS"/>
              </a:rPr>
              <a:t>It</a:t>
            </a:r>
            <a:r>
              <a:rPr sz="2494" spc="54" dirty="0">
                <a:cs typeface="Comic Sans MS"/>
              </a:rPr>
              <a:t> </a:t>
            </a:r>
            <a:r>
              <a:rPr sz="2494" dirty="0">
                <a:cs typeface="Comic Sans MS"/>
              </a:rPr>
              <a:t>runs</a:t>
            </a:r>
            <a:r>
              <a:rPr sz="2494" spc="18" dirty="0">
                <a:cs typeface="Comic Sans MS"/>
              </a:rPr>
              <a:t> </a:t>
            </a:r>
            <a:r>
              <a:rPr sz="2494" dirty="0">
                <a:cs typeface="Comic Sans MS"/>
              </a:rPr>
              <a:t>atop</a:t>
            </a:r>
            <a:r>
              <a:rPr sz="2494" spc="45" dirty="0">
                <a:cs typeface="Comic Sans MS"/>
              </a:rPr>
              <a:t> </a:t>
            </a:r>
            <a:r>
              <a:rPr sz="2494" dirty="0">
                <a:cs typeface="Comic Sans MS"/>
              </a:rPr>
              <a:t>of</a:t>
            </a:r>
            <a:r>
              <a:rPr sz="2494" spc="36" dirty="0">
                <a:cs typeface="Comic Sans MS"/>
              </a:rPr>
              <a:t> </a:t>
            </a:r>
            <a:r>
              <a:rPr sz="2494" dirty="0">
                <a:cs typeface="Comic Sans MS"/>
              </a:rPr>
              <a:t>the</a:t>
            </a:r>
            <a:r>
              <a:rPr sz="2494" spc="68" dirty="0">
                <a:cs typeface="Comic Sans MS"/>
              </a:rPr>
              <a:t> </a:t>
            </a:r>
            <a:r>
              <a:rPr sz="2494" dirty="0">
                <a:cs typeface="Comic Sans MS"/>
              </a:rPr>
              <a:t>Transport</a:t>
            </a:r>
            <a:r>
              <a:rPr sz="2494" spc="68" dirty="0">
                <a:cs typeface="Comic Sans MS"/>
              </a:rPr>
              <a:t> </a:t>
            </a:r>
            <a:r>
              <a:rPr sz="2494" spc="-9" dirty="0">
                <a:cs typeface="Comic Sans MS"/>
              </a:rPr>
              <a:t>Layer</a:t>
            </a:r>
            <a:endParaRPr sz="2494" dirty="0">
              <a:cs typeface="Comic Sans MS"/>
            </a:endParaRPr>
          </a:p>
          <a:p>
            <a:pPr marL="321306" marR="4607" indent="-310366">
              <a:lnSpc>
                <a:spcPts val="2928"/>
              </a:lnSpc>
              <a:spcBef>
                <a:spcPts val="771"/>
              </a:spcBef>
              <a:buChar char="•"/>
              <a:tabLst>
                <a:tab pos="321306" algn="l"/>
              </a:tabLst>
            </a:pPr>
            <a:r>
              <a:rPr sz="2494" dirty="0">
                <a:cs typeface="Comic Sans MS"/>
              </a:rPr>
              <a:t>It</a:t>
            </a:r>
            <a:r>
              <a:rPr sz="2494" spc="82" dirty="0">
                <a:cs typeface="Comic Sans MS"/>
              </a:rPr>
              <a:t> </a:t>
            </a:r>
            <a:r>
              <a:rPr sz="2494" dirty="0">
                <a:cs typeface="Comic Sans MS"/>
              </a:rPr>
              <a:t>relies</a:t>
            </a:r>
            <a:r>
              <a:rPr sz="2494" spc="41" dirty="0">
                <a:cs typeface="Comic Sans MS"/>
              </a:rPr>
              <a:t> </a:t>
            </a:r>
            <a:r>
              <a:rPr sz="2494" dirty="0">
                <a:cs typeface="Comic Sans MS"/>
              </a:rPr>
              <a:t>on</a:t>
            </a:r>
            <a:r>
              <a:rPr sz="2494" spc="23" dirty="0">
                <a:cs typeface="Comic Sans MS"/>
              </a:rPr>
              <a:t> </a:t>
            </a:r>
            <a:r>
              <a:rPr sz="2494" dirty="0">
                <a:cs typeface="Comic Sans MS"/>
              </a:rPr>
              <a:t>the</a:t>
            </a:r>
            <a:r>
              <a:rPr sz="2494" spc="32" dirty="0">
                <a:cs typeface="Comic Sans MS"/>
              </a:rPr>
              <a:t> </a:t>
            </a:r>
            <a:r>
              <a:rPr sz="2494" dirty="0">
                <a:cs typeface="Comic Sans MS"/>
              </a:rPr>
              <a:t>data</a:t>
            </a:r>
            <a:r>
              <a:rPr sz="2494" spc="59" dirty="0">
                <a:cs typeface="Comic Sans MS"/>
              </a:rPr>
              <a:t> </a:t>
            </a:r>
            <a:r>
              <a:rPr sz="2494" dirty="0">
                <a:cs typeface="Comic Sans MS"/>
              </a:rPr>
              <a:t>privacy</a:t>
            </a:r>
            <a:r>
              <a:rPr sz="2494" spc="95" dirty="0">
                <a:cs typeface="Comic Sans MS"/>
              </a:rPr>
              <a:t> </a:t>
            </a:r>
            <a:r>
              <a:rPr sz="2494" dirty="0">
                <a:cs typeface="Comic Sans MS"/>
              </a:rPr>
              <a:t>and</a:t>
            </a:r>
            <a:r>
              <a:rPr sz="2494" spc="73" dirty="0">
                <a:cs typeface="Comic Sans MS"/>
              </a:rPr>
              <a:t> </a:t>
            </a:r>
            <a:r>
              <a:rPr sz="2494" spc="-9" dirty="0">
                <a:cs typeface="Comic Sans MS"/>
              </a:rPr>
              <a:t>integrity, </a:t>
            </a:r>
            <a:r>
              <a:rPr sz="2494" dirty="0">
                <a:cs typeface="Comic Sans MS"/>
              </a:rPr>
              <a:t>provided</a:t>
            </a:r>
            <a:r>
              <a:rPr sz="2494" spc="45" dirty="0">
                <a:cs typeface="Comic Sans MS"/>
              </a:rPr>
              <a:t> </a:t>
            </a:r>
            <a:r>
              <a:rPr sz="2494" dirty="0">
                <a:cs typeface="Comic Sans MS"/>
              </a:rPr>
              <a:t>by</a:t>
            </a:r>
            <a:r>
              <a:rPr sz="2494" spc="82" dirty="0">
                <a:cs typeface="Comic Sans MS"/>
              </a:rPr>
              <a:t> </a:t>
            </a:r>
            <a:r>
              <a:rPr sz="2494" dirty="0">
                <a:cs typeface="Comic Sans MS"/>
              </a:rPr>
              <a:t>the</a:t>
            </a:r>
            <a:r>
              <a:rPr sz="2494" spc="77" dirty="0">
                <a:cs typeface="Comic Sans MS"/>
              </a:rPr>
              <a:t> </a:t>
            </a:r>
            <a:r>
              <a:rPr sz="2494" dirty="0">
                <a:cs typeface="Comic Sans MS"/>
              </a:rPr>
              <a:t>Transport</a:t>
            </a:r>
            <a:r>
              <a:rPr sz="2494" spc="77" dirty="0">
                <a:cs typeface="Comic Sans MS"/>
              </a:rPr>
              <a:t> </a:t>
            </a:r>
            <a:r>
              <a:rPr sz="2494" spc="-9" dirty="0">
                <a:cs typeface="Comic Sans MS"/>
              </a:rPr>
              <a:t>Layer</a:t>
            </a:r>
            <a:endParaRPr sz="2494" dirty="0">
              <a:cs typeface="Comic Sans MS"/>
            </a:endParaRPr>
          </a:p>
          <a:p>
            <a:pPr marL="321306" indent="-309790">
              <a:spcBef>
                <a:spcPts val="535"/>
              </a:spcBef>
              <a:buChar char="•"/>
              <a:tabLst>
                <a:tab pos="321306" algn="l"/>
              </a:tabLst>
            </a:pPr>
            <a:r>
              <a:rPr sz="2494" dirty="0">
                <a:cs typeface="Comic Sans MS"/>
              </a:rPr>
              <a:t>Service</a:t>
            </a:r>
            <a:r>
              <a:rPr sz="2494" spc="113" dirty="0">
                <a:cs typeface="Comic Sans MS"/>
              </a:rPr>
              <a:t> </a:t>
            </a:r>
            <a:r>
              <a:rPr sz="2494" dirty="0">
                <a:cs typeface="Comic Sans MS"/>
              </a:rPr>
              <a:t>ID:</a:t>
            </a:r>
            <a:r>
              <a:rPr sz="2494" spc="68" dirty="0">
                <a:cs typeface="Comic Sans MS"/>
              </a:rPr>
              <a:t> </a:t>
            </a:r>
            <a:r>
              <a:rPr sz="2494" dirty="0">
                <a:cs typeface="Comic Sans MS"/>
              </a:rPr>
              <a:t>“</a:t>
            </a:r>
            <a:r>
              <a:rPr sz="2494" dirty="0">
                <a:solidFill>
                  <a:srgbClr val="0000FF"/>
                </a:solidFill>
                <a:cs typeface="Comic Sans MS"/>
              </a:rPr>
              <a:t>ssh-</a:t>
            </a:r>
            <a:r>
              <a:rPr sz="2494" spc="-9" dirty="0">
                <a:solidFill>
                  <a:srgbClr val="0000FF"/>
                </a:solidFill>
                <a:cs typeface="Comic Sans MS"/>
              </a:rPr>
              <a:t>userauth</a:t>
            </a:r>
            <a:r>
              <a:rPr sz="2494" spc="-9" dirty="0">
                <a:cs typeface="Comic Sans MS"/>
              </a:rPr>
              <a:t>”</a:t>
            </a:r>
            <a:endParaRPr sz="2494" dirty="0">
              <a:cs typeface="Comic Sans MS"/>
            </a:endParaRPr>
          </a:p>
          <a:p>
            <a:pPr marL="321306" marR="253936" indent="-310366">
              <a:lnSpc>
                <a:spcPts val="2928"/>
              </a:lnSpc>
              <a:spcBef>
                <a:spcPts val="765"/>
              </a:spcBef>
              <a:buChar char="•"/>
              <a:tabLst>
                <a:tab pos="321306" algn="l"/>
              </a:tabLst>
            </a:pPr>
            <a:r>
              <a:rPr sz="2494" dirty="0">
                <a:cs typeface="Comic Sans MS"/>
              </a:rPr>
              <a:t>Several</a:t>
            </a:r>
            <a:r>
              <a:rPr sz="2494" spc="68" dirty="0">
                <a:cs typeface="Comic Sans MS"/>
              </a:rPr>
              <a:t> </a:t>
            </a:r>
            <a:r>
              <a:rPr sz="2494" dirty="0">
                <a:cs typeface="Comic Sans MS"/>
              </a:rPr>
              <a:t>user</a:t>
            </a:r>
            <a:r>
              <a:rPr sz="2494" spc="168" dirty="0">
                <a:cs typeface="Comic Sans MS"/>
              </a:rPr>
              <a:t> </a:t>
            </a:r>
            <a:r>
              <a:rPr sz="2494" dirty="0">
                <a:cs typeface="Comic Sans MS"/>
              </a:rPr>
              <a:t>authentication</a:t>
            </a:r>
            <a:r>
              <a:rPr sz="2494" spc="59" dirty="0">
                <a:cs typeface="Comic Sans MS"/>
              </a:rPr>
              <a:t> </a:t>
            </a:r>
            <a:r>
              <a:rPr sz="2494" dirty="0">
                <a:cs typeface="Comic Sans MS"/>
              </a:rPr>
              <a:t>methods</a:t>
            </a:r>
            <a:r>
              <a:rPr sz="2494" spc="159" dirty="0">
                <a:cs typeface="Comic Sans MS"/>
              </a:rPr>
              <a:t> </a:t>
            </a:r>
            <a:r>
              <a:rPr sz="2494" spc="-23" dirty="0">
                <a:cs typeface="Comic Sans MS"/>
              </a:rPr>
              <a:t>are </a:t>
            </a:r>
            <a:r>
              <a:rPr sz="2494" spc="-9" dirty="0">
                <a:cs typeface="Comic Sans MS"/>
              </a:rPr>
              <a:t>available</a:t>
            </a:r>
            <a:endParaRPr sz="2494" dirty="0">
              <a:cs typeface="Comic Sans MS"/>
            </a:endParaRPr>
          </a:p>
        </p:txBody>
      </p:sp>
      <p:sp>
        <p:nvSpPr>
          <p:cNvPr id="3" name="object 3" descr="$PPTXTitle"/>
          <p:cNvSpPr txBox="1">
            <a:spLocks noGrp="1"/>
          </p:cNvSpPr>
          <p:nvPr>
            <p:ph type="title"/>
          </p:nvPr>
        </p:nvSpPr>
        <p:spPr>
          <a:xfrm>
            <a:off x="2289839" y="458368"/>
            <a:ext cx="9535557" cy="947479"/>
          </a:xfrm>
          <a:prstGeom prst="rect">
            <a:avLst/>
          </a:prstGeom>
        </p:spPr>
        <p:txBody>
          <a:bodyPr vert="horz" wrap="square" lIns="0" tIns="267756" rIns="0" bIns="0" rtlCol="0" anchor="ctr">
            <a:spAutoFit/>
          </a:bodyPr>
          <a:lstStyle/>
          <a:p>
            <a:pPr marL="319003">
              <a:lnSpc>
                <a:spcPct val="100000"/>
              </a:lnSpc>
              <a:spcBef>
                <a:spcPts val="95"/>
              </a:spcBef>
            </a:pPr>
            <a:r>
              <a:rPr dirty="0"/>
              <a:t>User</a:t>
            </a:r>
            <a:r>
              <a:rPr spc="-59" dirty="0"/>
              <a:t> </a:t>
            </a:r>
            <a:r>
              <a:rPr dirty="0"/>
              <a:t>Authentication</a:t>
            </a:r>
            <a:r>
              <a:rPr spc="-54" dirty="0"/>
              <a:t> </a:t>
            </a:r>
            <a:r>
              <a:rPr dirty="0"/>
              <a:t>Layer</a:t>
            </a:r>
            <a:r>
              <a:rPr spc="-54" dirty="0"/>
              <a:t> </a:t>
            </a:r>
            <a:r>
              <a:rPr spc="-23" dirty="0"/>
              <a:t>(1)</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5691F847-6D1C-CB56-01B3-2DC2CBBB57F3}"/>
              </a:ext>
            </a:extLst>
          </p:cNvPr>
          <p:cNvSpPr>
            <a:spLocks noGrp="1"/>
          </p:cNvSpPr>
          <p:nvPr>
            <p:ph type="sldNum" sz="quarter" idx="10"/>
          </p:nvPr>
        </p:nvSpPr>
        <p:spPr/>
        <p:txBody>
          <a:bodyPr/>
          <a:lstStyle/>
          <a:p>
            <a:fld id="{9A2D6D2F-D71D-7A47-9F9A-7946A3539DB5}" type="slidenum">
              <a:rPr lang="en-US" altLang="en-US"/>
              <a:pPr/>
              <a:t>82</a:t>
            </a:fld>
            <a:endParaRPr lang="en-US" altLang="en-US"/>
          </a:p>
        </p:txBody>
      </p:sp>
      <p:sp>
        <p:nvSpPr>
          <p:cNvPr id="47106" name="Rectangle 2">
            <a:extLst>
              <a:ext uri="{FF2B5EF4-FFF2-40B4-BE49-F238E27FC236}">
                <a16:creationId xmlns:a16="http://schemas.microsoft.com/office/drawing/2014/main" id="{E17316D9-8F0C-A2F3-7292-C81BA23E00E3}"/>
              </a:ext>
            </a:extLst>
          </p:cNvPr>
          <p:cNvSpPr>
            <a:spLocks noGrp="1" noChangeArrowheads="1"/>
          </p:cNvSpPr>
          <p:nvPr>
            <p:ph type="title"/>
          </p:nvPr>
        </p:nvSpPr>
        <p:spPr/>
        <p:txBody>
          <a:bodyPr/>
          <a:lstStyle/>
          <a:p>
            <a:r>
              <a:rPr lang="en-US" altLang="en-US"/>
              <a:t>User authentication overview</a:t>
            </a:r>
          </a:p>
        </p:txBody>
      </p:sp>
      <p:sp>
        <p:nvSpPr>
          <p:cNvPr id="47107" name="Rectangle 3">
            <a:extLst>
              <a:ext uri="{FF2B5EF4-FFF2-40B4-BE49-F238E27FC236}">
                <a16:creationId xmlns:a16="http://schemas.microsoft.com/office/drawing/2014/main" id="{1FC727D5-0F8F-E3F4-90EC-E1FA0A04547E}"/>
              </a:ext>
            </a:extLst>
          </p:cNvPr>
          <p:cNvSpPr>
            <a:spLocks noGrp="1" noChangeArrowheads="1"/>
          </p:cNvSpPr>
          <p:nvPr>
            <p:ph type="body" idx="1"/>
          </p:nvPr>
        </p:nvSpPr>
        <p:spPr>
          <a:xfrm>
            <a:off x="6781800" y="1066800"/>
            <a:ext cx="3581400" cy="5257800"/>
          </a:xfrm>
        </p:spPr>
        <p:txBody>
          <a:bodyPr>
            <a:normAutofit lnSpcReduction="10000"/>
          </a:bodyPr>
          <a:lstStyle/>
          <a:p>
            <a:pPr>
              <a:lnSpc>
                <a:spcPct val="90000"/>
              </a:lnSpc>
            </a:pPr>
            <a:r>
              <a:rPr lang="en-US" altLang="en-US" sz="1800"/>
              <a:t>USERAUTH_REQUEST</a:t>
            </a:r>
          </a:p>
          <a:p>
            <a:pPr lvl="1">
              <a:lnSpc>
                <a:spcPct val="90000"/>
              </a:lnSpc>
            </a:pPr>
            <a:r>
              <a:rPr lang="en-US" altLang="en-US" sz="1600"/>
              <a:t>user name</a:t>
            </a:r>
          </a:p>
          <a:p>
            <a:pPr lvl="1">
              <a:lnSpc>
                <a:spcPct val="90000"/>
              </a:lnSpc>
            </a:pPr>
            <a:r>
              <a:rPr lang="en-US" altLang="en-US" sz="1600"/>
              <a:t>service name</a:t>
            </a:r>
          </a:p>
          <a:p>
            <a:pPr lvl="1">
              <a:lnSpc>
                <a:spcPct val="90000"/>
              </a:lnSpc>
            </a:pPr>
            <a:r>
              <a:rPr lang="en-US" altLang="en-US" sz="1600"/>
              <a:t>method name</a:t>
            </a:r>
          </a:p>
          <a:p>
            <a:pPr lvl="1">
              <a:lnSpc>
                <a:spcPct val="90000"/>
              </a:lnSpc>
            </a:pPr>
            <a:r>
              <a:rPr lang="en-US" altLang="en-US" sz="1600"/>
              <a:t>… method specific fields …</a:t>
            </a:r>
          </a:p>
          <a:p>
            <a:pPr lvl="1">
              <a:lnSpc>
                <a:spcPct val="90000"/>
              </a:lnSpc>
            </a:pPr>
            <a:endParaRPr lang="en-US" altLang="en-US" sz="1600"/>
          </a:p>
          <a:p>
            <a:pPr>
              <a:lnSpc>
                <a:spcPct val="90000"/>
              </a:lnSpc>
            </a:pPr>
            <a:r>
              <a:rPr lang="en-US" altLang="en-US" sz="1800"/>
              <a:t>USERAUTH_FAILURE</a:t>
            </a:r>
          </a:p>
          <a:p>
            <a:pPr lvl="1">
              <a:lnSpc>
                <a:spcPct val="90000"/>
              </a:lnSpc>
            </a:pPr>
            <a:r>
              <a:rPr lang="en-US" altLang="en-US" sz="1600"/>
              <a:t>list of authentication methods that can continue</a:t>
            </a:r>
          </a:p>
          <a:p>
            <a:pPr lvl="1">
              <a:lnSpc>
                <a:spcPct val="90000"/>
              </a:lnSpc>
            </a:pPr>
            <a:r>
              <a:rPr lang="en-US" altLang="en-US" sz="1600"/>
              <a:t>partial success flag</a:t>
            </a:r>
          </a:p>
          <a:p>
            <a:pPr lvl="2">
              <a:lnSpc>
                <a:spcPct val="90000"/>
              </a:lnSpc>
            </a:pPr>
            <a:r>
              <a:rPr lang="en-US" altLang="en-US" sz="1400"/>
              <a:t>TRUE: previous request was successful, but further authentication is needed</a:t>
            </a:r>
          </a:p>
          <a:p>
            <a:pPr lvl="2">
              <a:lnSpc>
                <a:spcPct val="90000"/>
              </a:lnSpc>
            </a:pPr>
            <a:r>
              <a:rPr lang="en-US" altLang="en-US" sz="1400"/>
              <a:t>FALSE: previous request was not successful</a:t>
            </a:r>
          </a:p>
          <a:p>
            <a:pPr lvl="2">
              <a:lnSpc>
                <a:spcPct val="90000"/>
              </a:lnSpc>
            </a:pPr>
            <a:endParaRPr lang="en-US" altLang="en-US" sz="1400"/>
          </a:p>
          <a:p>
            <a:pPr>
              <a:lnSpc>
                <a:spcPct val="90000"/>
              </a:lnSpc>
            </a:pPr>
            <a:r>
              <a:rPr lang="en-US" altLang="en-US" sz="1800"/>
              <a:t>USERAUTH_SUCCESS</a:t>
            </a:r>
          </a:p>
          <a:p>
            <a:pPr lvl="1">
              <a:lnSpc>
                <a:spcPct val="90000"/>
              </a:lnSpc>
              <a:buFontTx/>
              <a:buNone/>
            </a:pPr>
            <a:r>
              <a:rPr lang="en-US" altLang="en-US" sz="1600"/>
              <a:t>	(authentication is complete, the server starts the requested service)</a:t>
            </a:r>
          </a:p>
        </p:txBody>
      </p:sp>
      <p:sp>
        <p:nvSpPr>
          <p:cNvPr id="47108" name="Line 4">
            <a:extLst>
              <a:ext uri="{FF2B5EF4-FFF2-40B4-BE49-F238E27FC236}">
                <a16:creationId xmlns:a16="http://schemas.microsoft.com/office/drawing/2014/main" id="{55111DC6-465A-EDCB-E536-ECCE093C3B12}"/>
              </a:ext>
            </a:extLst>
          </p:cNvPr>
          <p:cNvSpPr>
            <a:spLocks noChangeShapeType="1"/>
          </p:cNvSpPr>
          <p:nvPr/>
        </p:nvSpPr>
        <p:spPr bwMode="auto">
          <a:xfrm>
            <a:off x="3048000" y="1752600"/>
            <a:ext cx="0" cy="441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09" name="Line 5">
            <a:extLst>
              <a:ext uri="{FF2B5EF4-FFF2-40B4-BE49-F238E27FC236}">
                <a16:creationId xmlns:a16="http://schemas.microsoft.com/office/drawing/2014/main" id="{9CC95F36-CE34-6240-8195-13070F99AAF8}"/>
              </a:ext>
            </a:extLst>
          </p:cNvPr>
          <p:cNvSpPr>
            <a:spLocks noChangeShapeType="1"/>
          </p:cNvSpPr>
          <p:nvPr/>
        </p:nvSpPr>
        <p:spPr bwMode="auto">
          <a:xfrm>
            <a:off x="5791200" y="1752600"/>
            <a:ext cx="0" cy="441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10" name="Text Box 6">
            <a:extLst>
              <a:ext uri="{FF2B5EF4-FFF2-40B4-BE49-F238E27FC236}">
                <a16:creationId xmlns:a16="http://schemas.microsoft.com/office/drawing/2014/main" id="{8038D50E-E264-F37B-E131-922822FCECCE}"/>
              </a:ext>
            </a:extLst>
          </p:cNvPr>
          <p:cNvSpPr txBox="1">
            <a:spLocks noChangeArrowheads="1"/>
          </p:cNvSpPr>
          <p:nvPr/>
        </p:nvSpPr>
        <p:spPr bwMode="auto">
          <a:xfrm>
            <a:off x="2667001" y="1371600"/>
            <a:ext cx="68159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client</a:t>
            </a:r>
          </a:p>
        </p:txBody>
      </p:sp>
      <p:sp>
        <p:nvSpPr>
          <p:cNvPr id="47111" name="Text Box 7">
            <a:extLst>
              <a:ext uri="{FF2B5EF4-FFF2-40B4-BE49-F238E27FC236}">
                <a16:creationId xmlns:a16="http://schemas.microsoft.com/office/drawing/2014/main" id="{4B75E6D0-05C6-AB53-E299-9F20A987A0A0}"/>
              </a:ext>
            </a:extLst>
          </p:cNvPr>
          <p:cNvSpPr txBox="1">
            <a:spLocks noChangeArrowheads="1"/>
          </p:cNvSpPr>
          <p:nvPr/>
        </p:nvSpPr>
        <p:spPr bwMode="auto">
          <a:xfrm>
            <a:off x="5367338" y="1371600"/>
            <a:ext cx="749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server</a:t>
            </a:r>
          </a:p>
        </p:txBody>
      </p:sp>
      <p:sp>
        <p:nvSpPr>
          <p:cNvPr id="47112" name="Text Box 8">
            <a:extLst>
              <a:ext uri="{FF2B5EF4-FFF2-40B4-BE49-F238E27FC236}">
                <a16:creationId xmlns:a16="http://schemas.microsoft.com/office/drawing/2014/main" id="{C61257BB-3322-1031-8AB9-0CAA1456E7AE}"/>
              </a:ext>
            </a:extLst>
          </p:cNvPr>
          <p:cNvSpPr txBox="1">
            <a:spLocks noChangeArrowheads="1"/>
          </p:cNvSpPr>
          <p:nvPr/>
        </p:nvSpPr>
        <p:spPr bwMode="auto">
          <a:xfrm>
            <a:off x="3071814" y="2062164"/>
            <a:ext cx="237488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a:t>SSH_MSG_USERAUTH_REQUEST</a:t>
            </a:r>
          </a:p>
        </p:txBody>
      </p:sp>
      <p:sp>
        <p:nvSpPr>
          <p:cNvPr id="47113" name="Line 9">
            <a:extLst>
              <a:ext uri="{FF2B5EF4-FFF2-40B4-BE49-F238E27FC236}">
                <a16:creationId xmlns:a16="http://schemas.microsoft.com/office/drawing/2014/main" id="{5F4C6528-FCD1-CF7F-F53D-A878291F35C4}"/>
              </a:ext>
            </a:extLst>
          </p:cNvPr>
          <p:cNvSpPr>
            <a:spLocks noChangeShapeType="1"/>
          </p:cNvSpPr>
          <p:nvPr/>
        </p:nvSpPr>
        <p:spPr bwMode="auto">
          <a:xfrm>
            <a:off x="3044826" y="2319338"/>
            <a:ext cx="27527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14" name="Line 10">
            <a:extLst>
              <a:ext uri="{FF2B5EF4-FFF2-40B4-BE49-F238E27FC236}">
                <a16:creationId xmlns:a16="http://schemas.microsoft.com/office/drawing/2014/main" id="{B2909CD1-0C8F-E7B4-3DED-6B8D11DF3FFF}"/>
              </a:ext>
            </a:extLst>
          </p:cNvPr>
          <p:cNvSpPr>
            <a:spLocks noChangeShapeType="1"/>
          </p:cNvSpPr>
          <p:nvPr/>
        </p:nvSpPr>
        <p:spPr bwMode="auto">
          <a:xfrm flipH="1">
            <a:off x="3054350" y="2935288"/>
            <a:ext cx="272415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15" name="Text Box 11">
            <a:extLst>
              <a:ext uri="{FF2B5EF4-FFF2-40B4-BE49-F238E27FC236}">
                <a16:creationId xmlns:a16="http://schemas.microsoft.com/office/drawing/2014/main" id="{89B53000-D6F3-B95D-E96F-9C5936D897DE}"/>
              </a:ext>
            </a:extLst>
          </p:cNvPr>
          <p:cNvSpPr txBox="1">
            <a:spLocks noChangeArrowheads="1"/>
          </p:cNvSpPr>
          <p:nvPr/>
        </p:nvSpPr>
        <p:spPr bwMode="auto">
          <a:xfrm>
            <a:off x="3117850" y="2484439"/>
            <a:ext cx="230063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a:t>SSH_MSG_USERAUTH_FAILURE</a:t>
            </a:r>
          </a:p>
          <a:p>
            <a:r>
              <a:rPr lang="en-US" altLang="en-US" sz="1200"/>
              <a:t>(further authentication needed)</a:t>
            </a:r>
          </a:p>
        </p:txBody>
      </p:sp>
      <p:sp>
        <p:nvSpPr>
          <p:cNvPr id="47116" name="Text Box 12">
            <a:extLst>
              <a:ext uri="{FF2B5EF4-FFF2-40B4-BE49-F238E27FC236}">
                <a16:creationId xmlns:a16="http://schemas.microsoft.com/office/drawing/2014/main" id="{832D4215-A4D3-A0A3-6852-B787265E0A52}"/>
              </a:ext>
            </a:extLst>
          </p:cNvPr>
          <p:cNvSpPr txBox="1">
            <a:spLocks noChangeArrowheads="1"/>
          </p:cNvSpPr>
          <p:nvPr/>
        </p:nvSpPr>
        <p:spPr bwMode="auto">
          <a:xfrm>
            <a:off x="3071814" y="3263901"/>
            <a:ext cx="237488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a:t>SSH_MSG_USERAUTH_REQUEST</a:t>
            </a:r>
          </a:p>
        </p:txBody>
      </p:sp>
      <p:sp>
        <p:nvSpPr>
          <p:cNvPr id="47117" name="Line 13">
            <a:extLst>
              <a:ext uri="{FF2B5EF4-FFF2-40B4-BE49-F238E27FC236}">
                <a16:creationId xmlns:a16="http://schemas.microsoft.com/office/drawing/2014/main" id="{7C01CAAD-96DA-46E6-0B2B-3C0C8E76B10E}"/>
              </a:ext>
            </a:extLst>
          </p:cNvPr>
          <p:cNvSpPr>
            <a:spLocks noChangeShapeType="1"/>
          </p:cNvSpPr>
          <p:nvPr/>
        </p:nvSpPr>
        <p:spPr bwMode="auto">
          <a:xfrm>
            <a:off x="3054351" y="3521075"/>
            <a:ext cx="27527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18" name="Line 14">
            <a:extLst>
              <a:ext uri="{FF2B5EF4-FFF2-40B4-BE49-F238E27FC236}">
                <a16:creationId xmlns:a16="http://schemas.microsoft.com/office/drawing/2014/main" id="{750AA962-6F19-DD7E-48F1-F3D453F9FA2A}"/>
              </a:ext>
            </a:extLst>
          </p:cNvPr>
          <p:cNvSpPr>
            <a:spLocks noChangeShapeType="1"/>
          </p:cNvSpPr>
          <p:nvPr/>
        </p:nvSpPr>
        <p:spPr bwMode="auto">
          <a:xfrm flipH="1">
            <a:off x="3062288" y="4252913"/>
            <a:ext cx="272415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19" name="Text Box 15">
            <a:extLst>
              <a:ext uri="{FF2B5EF4-FFF2-40B4-BE49-F238E27FC236}">
                <a16:creationId xmlns:a16="http://schemas.microsoft.com/office/drawing/2014/main" id="{8C61DC5C-B719-2498-0602-14E863CE2807}"/>
              </a:ext>
            </a:extLst>
          </p:cNvPr>
          <p:cNvSpPr txBox="1">
            <a:spLocks noChangeArrowheads="1"/>
          </p:cNvSpPr>
          <p:nvPr/>
        </p:nvSpPr>
        <p:spPr bwMode="auto">
          <a:xfrm>
            <a:off x="3117850" y="3802064"/>
            <a:ext cx="230063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a:t>SSH_MSG_USERAUTH_FAILURE</a:t>
            </a:r>
          </a:p>
          <a:p>
            <a:r>
              <a:rPr lang="en-US" altLang="en-US" sz="1200"/>
              <a:t>(further authentication needed)</a:t>
            </a:r>
          </a:p>
        </p:txBody>
      </p:sp>
      <p:sp>
        <p:nvSpPr>
          <p:cNvPr id="47120" name="Text Box 16">
            <a:extLst>
              <a:ext uri="{FF2B5EF4-FFF2-40B4-BE49-F238E27FC236}">
                <a16:creationId xmlns:a16="http://schemas.microsoft.com/office/drawing/2014/main" id="{32F45534-0F59-C3E0-CE02-7A37A9CFB245}"/>
              </a:ext>
            </a:extLst>
          </p:cNvPr>
          <p:cNvSpPr txBox="1">
            <a:spLocks noChangeArrowheads="1"/>
          </p:cNvSpPr>
          <p:nvPr/>
        </p:nvSpPr>
        <p:spPr bwMode="auto">
          <a:xfrm rot="16200000">
            <a:off x="4254122" y="4407972"/>
            <a:ext cx="37382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a:t>
            </a:r>
          </a:p>
        </p:txBody>
      </p:sp>
      <p:sp>
        <p:nvSpPr>
          <p:cNvPr id="47121" name="Text Box 17">
            <a:extLst>
              <a:ext uri="{FF2B5EF4-FFF2-40B4-BE49-F238E27FC236}">
                <a16:creationId xmlns:a16="http://schemas.microsoft.com/office/drawing/2014/main" id="{F29EBF68-44EE-3725-0381-A59FB967895A}"/>
              </a:ext>
            </a:extLst>
          </p:cNvPr>
          <p:cNvSpPr txBox="1">
            <a:spLocks noChangeArrowheads="1"/>
          </p:cNvSpPr>
          <p:nvPr/>
        </p:nvSpPr>
        <p:spPr bwMode="auto">
          <a:xfrm>
            <a:off x="3071814" y="4840289"/>
            <a:ext cx="237488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a:t>SSH_MSG_USERAUTH_REQUEST</a:t>
            </a:r>
          </a:p>
        </p:txBody>
      </p:sp>
      <p:sp>
        <p:nvSpPr>
          <p:cNvPr id="47122" name="Line 18">
            <a:extLst>
              <a:ext uri="{FF2B5EF4-FFF2-40B4-BE49-F238E27FC236}">
                <a16:creationId xmlns:a16="http://schemas.microsoft.com/office/drawing/2014/main" id="{C99E8D73-0058-493E-E83E-9B527E40DA0E}"/>
              </a:ext>
            </a:extLst>
          </p:cNvPr>
          <p:cNvSpPr>
            <a:spLocks noChangeShapeType="1"/>
          </p:cNvSpPr>
          <p:nvPr/>
        </p:nvSpPr>
        <p:spPr bwMode="auto">
          <a:xfrm>
            <a:off x="3054351" y="5097463"/>
            <a:ext cx="27527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23" name="Line 19">
            <a:extLst>
              <a:ext uri="{FF2B5EF4-FFF2-40B4-BE49-F238E27FC236}">
                <a16:creationId xmlns:a16="http://schemas.microsoft.com/office/drawing/2014/main" id="{9E264816-FFC3-D227-DE7F-657EBF65C7A8}"/>
              </a:ext>
            </a:extLst>
          </p:cNvPr>
          <p:cNvSpPr>
            <a:spLocks noChangeShapeType="1"/>
          </p:cNvSpPr>
          <p:nvPr/>
        </p:nvSpPr>
        <p:spPr bwMode="auto">
          <a:xfrm flipH="1">
            <a:off x="3062288" y="5581650"/>
            <a:ext cx="272415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24" name="Text Box 20">
            <a:extLst>
              <a:ext uri="{FF2B5EF4-FFF2-40B4-BE49-F238E27FC236}">
                <a16:creationId xmlns:a16="http://schemas.microsoft.com/office/drawing/2014/main" id="{49EF5D4A-7382-F47D-EB95-D52E4156EC90}"/>
              </a:ext>
            </a:extLst>
          </p:cNvPr>
          <p:cNvSpPr txBox="1">
            <a:spLocks noChangeArrowheads="1"/>
          </p:cNvSpPr>
          <p:nvPr/>
        </p:nvSpPr>
        <p:spPr bwMode="auto">
          <a:xfrm>
            <a:off x="3073401" y="5321301"/>
            <a:ext cx="239937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a:t>SSH_MSG_USERAUTH_SUCCESS</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89839" y="1405847"/>
            <a:ext cx="6712318" cy="2599273"/>
          </a:xfrm>
          <a:prstGeom prst="rect">
            <a:avLst/>
          </a:prstGeom>
        </p:spPr>
        <p:txBody>
          <a:bodyPr vert="horz" wrap="square" lIns="0" tIns="97889" rIns="0" bIns="0" rtlCol="0">
            <a:spAutoFit/>
          </a:bodyPr>
          <a:lstStyle/>
          <a:p>
            <a:pPr marL="321306" indent="-309790">
              <a:spcBef>
                <a:spcPts val="771"/>
              </a:spcBef>
              <a:buFont typeface="Comic Sans MS"/>
              <a:buChar char="•"/>
              <a:tabLst>
                <a:tab pos="321306" algn="l"/>
              </a:tabLst>
            </a:pPr>
            <a:r>
              <a:rPr sz="2494" dirty="0">
                <a:cs typeface="Comic Sans MS"/>
              </a:rPr>
              <a:t>Client</a:t>
            </a:r>
            <a:r>
              <a:rPr sz="2494" spc="91" dirty="0">
                <a:cs typeface="Comic Sans MS"/>
              </a:rPr>
              <a:t> </a:t>
            </a:r>
            <a:r>
              <a:rPr sz="2494" dirty="0">
                <a:cs typeface="Comic Sans MS"/>
              </a:rPr>
              <a:t>requests</a:t>
            </a:r>
            <a:r>
              <a:rPr sz="2494" spc="118" dirty="0">
                <a:cs typeface="Comic Sans MS"/>
              </a:rPr>
              <a:t> </a:t>
            </a:r>
            <a:r>
              <a:rPr sz="2494" dirty="0">
                <a:cs typeface="Comic Sans MS"/>
              </a:rPr>
              <a:t>the</a:t>
            </a:r>
            <a:r>
              <a:rPr sz="2494" spc="95" dirty="0">
                <a:cs typeface="Comic Sans MS"/>
              </a:rPr>
              <a:t> </a:t>
            </a:r>
            <a:r>
              <a:rPr sz="2494" dirty="0">
                <a:cs typeface="Comic Sans MS"/>
              </a:rPr>
              <a:t>service</a:t>
            </a:r>
            <a:r>
              <a:rPr sz="2494" spc="91" dirty="0">
                <a:cs typeface="Comic Sans MS"/>
              </a:rPr>
              <a:t> </a:t>
            </a:r>
            <a:r>
              <a:rPr sz="2494" dirty="0">
                <a:cs typeface="Comic Sans MS"/>
              </a:rPr>
              <a:t>“ssh-</a:t>
            </a:r>
            <a:r>
              <a:rPr sz="2494" spc="-9" dirty="0">
                <a:cs typeface="Comic Sans MS"/>
              </a:rPr>
              <a:t>userauth”</a:t>
            </a:r>
            <a:endParaRPr sz="2494" dirty="0">
              <a:cs typeface="Comic Sans MS"/>
            </a:endParaRPr>
          </a:p>
          <a:p>
            <a:pPr marL="321306" marR="148561" indent="-310366">
              <a:lnSpc>
                <a:spcPct val="102499"/>
              </a:lnSpc>
              <a:spcBef>
                <a:spcPts val="612"/>
              </a:spcBef>
              <a:buChar char="•"/>
              <a:tabLst>
                <a:tab pos="321306" algn="l"/>
                <a:tab pos="4896180" algn="l"/>
              </a:tabLst>
            </a:pPr>
            <a:r>
              <a:rPr sz="2494" dirty="0">
                <a:cs typeface="Comic Sans MS"/>
              </a:rPr>
              <a:t>Server</a:t>
            </a:r>
            <a:r>
              <a:rPr sz="2494" spc="68" dirty="0">
                <a:cs typeface="Comic Sans MS"/>
              </a:rPr>
              <a:t> </a:t>
            </a:r>
            <a:r>
              <a:rPr sz="2494" dirty="0">
                <a:cs typeface="Comic Sans MS"/>
              </a:rPr>
              <a:t>responds</a:t>
            </a:r>
            <a:r>
              <a:rPr sz="2494" spc="41" dirty="0">
                <a:cs typeface="Comic Sans MS"/>
              </a:rPr>
              <a:t> </a:t>
            </a:r>
            <a:r>
              <a:rPr sz="2494" dirty="0">
                <a:cs typeface="Comic Sans MS"/>
              </a:rPr>
              <a:t>with</a:t>
            </a:r>
            <a:r>
              <a:rPr sz="2494" spc="91" dirty="0">
                <a:cs typeface="Comic Sans MS"/>
              </a:rPr>
              <a:t> </a:t>
            </a:r>
            <a:r>
              <a:rPr sz="2494" dirty="0">
                <a:cs typeface="Comic Sans MS"/>
              </a:rPr>
              <a:t>the</a:t>
            </a:r>
            <a:r>
              <a:rPr sz="2494" spc="36" dirty="0">
                <a:cs typeface="Comic Sans MS"/>
              </a:rPr>
              <a:t> </a:t>
            </a:r>
            <a:r>
              <a:rPr sz="2494" dirty="0">
                <a:cs typeface="Comic Sans MS"/>
              </a:rPr>
              <a:t>list</a:t>
            </a:r>
            <a:r>
              <a:rPr sz="2494" spc="86" dirty="0">
                <a:cs typeface="Comic Sans MS"/>
              </a:rPr>
              <a:t> </a:t>
            </a:r>
            <a:r>
              <a:rPr sz="2494" dirty="0">
                <a:cs typeface="Comic Sans MS"/>
              </a:rPr>
              <a:t>of</a:t>
            </a:r>
            <a:r>
              <a:rPr sz="2494" spc="59" dirty="0">
                <a:cs typeface="Comic Sans MS"/>
              </a:rPr>
              <a:t> </a:t>
            </a:r>
            <a:r>
              <a:rPr sz="2494" spc="-9" dirty="0">
                <a:cs typeface="Comic Sans MS"/>
              </a:rPr>
              <a:t>available </a:t>
            </a:r>
            <a:r>
              <a:rPr sz="2494" dirty="0">
                <a:cs typeface="Comic Sans MS"/>
              </a:rPr>
              <a:t>user</a:t>
            </a:r>
            <a:r>
              <a:rPr sz="2494" spc="109" dirty="0">
                <a:cs typeface="Comic Sans MS"/>
              </a:rPr>
              <a:t> </a:t>
            </a:r>
            <a:r>
              <a:rPr sz="2494" dirty="0">
                <a:cs typeface="Comic Sans MS"/>
              </a:rPr>
              <a:t>authentication</a:t>
            </a:r>
            <a:r>
              <a:rPr sz="2494" spc="136" dirty="0">
                <a:cs typeface="Comic Sans MS"/>
              </a:rPr>
              <a:t> </a:t>
            </a:r>
            <a:r>
              <a:rPr sz="2494" spc="-9" dirty="0">
                <a:cs typeface="Comic Sans MS"/>
              </a:rPr>
              <a:t>methods.</a:t>
            </a:r>
            <a:r>
              <a:rPr sz="2494" dirty="0">
                <a:cs typeface="Comic Sans MS"/>
              </a:rPr>
              <a:t>	More</a:t>
            </a:r>
            <a:r>
              <a:rPr sz="2494" spc="54" dirty="0">
                <a:cs typeface="Comic Sans MS"/>
              </a:rPr>
              <a:t> </a:t>
            </a:r>
            <a:r>
              <a:rPr sz="2494" spc="-18" dirty="0">
                <a:cs typeface="Comic Sans MS"/>
              </a:rPr>
              <a:t>than </a:t>
            </a:r>
            <a:r>
              <a:rPr sz="2494" dirty="0">
                <a:cs typeface="Comic Sans MS"/>
              </a:rPr>
              <a:t>one</a:t>
            </a:r>
            <a:r>
              <a:rPr sz="2494" spc="103" dirty="0">
                <a:cs typeface="Comic Sans MS"/>
              </a:rPr>
              <a:t> </a:t>
            </a:r>
            <a:r>
              <a:rPr sz="2494" dirty="0">
                <a:cs typeface="Comic Sans MS"/>
              </a:rPr>
              <a:t>user</a:t>
            </a:r>
            <a:r>
              <a:rPr sz="2494" spc="82" dirty="0">
                <a:cs typeface="Comic Sans MS"/>
              </a:rPr>
              <a:t> </a:t>
            </a:r>
            <a:r>
              <a:rPr sz="2494" dirty="0">
                <a:cs typeface="Comic Sans MS"/>
              </a:rPr>
              <a:t>authentication</a:t>
            </a:r>
            <a:r>
              <a:rPr sz="2494" spc="103" dirty="0">
                <a:cs typeface="Comic Sans MS"/>
              </a:rPr>
              <a:t> </a:t>
            </a:r>
            <a:r>
              <a:rPr sz="2494" dirty="0">
                <a:cs typeface="Comic Sans MS"/>
              </a:rPr>
              <a:t>methods</a:t>
            </a:r>
            <a:r>
              <a:rPr sz="2494" spc="54" dirty="0">
                <a:cs typeface="Comic Sans MS"/>
              </a:rPr>
              <a:t> </a:t>
            </a:r>
            <a:r>
              <a:rPr sz="2494" dirty="0">
                <a:cs typeface="Comic Sans MS"/>
              </a:rPr>
              <a:t>may</a:t>
            </a:r>
            <a:r>
              <a:rPr sz="2494" spc="118" dirty="0">
                <a:cs typeface="Comic Sans MS"/>
              </a:rPr>
              <a:t> </a:t>
            </a:r>
            <a:r>
              <a:rPr sz="2494" spc="-23" dirty="0">
                <a:cs typeface="Comic Sans MS"/>
              </a:rPr>
              <a:t>be </a:t>
            </a:r>
            <a:r>
              <a:rPr sz="2494" spc="-9" dirty="0">
                <a:cs typeface="Comic Sans MS"/>
              </a:rPr>
              <a:t>required.</a:t>
            </a:r>
            <a:endParaRPr sz="2494" dirty="0">
              <a:cs typeface="Comic Sans MS"/>
            </a:endParaRPr>
          </a:p>
          <a:p>
            <a:pPr marL="321306" indent="-309790">
              <a:spcBef>
                <a:spcPts val="689"/>
              </a:spcBef>
              <a:buChar char="•"/>
              <a:tabLst>
                <a:tab pos="321306" algn="l"/>
              </a:tabLst>
            </a:pPr>
            <a:r>
              <a:rPr sz="2494" spc="-9" dirty="0">
                <a:cs typeface="Comic Sans MS"/>
              </a:rPr>
              <a:t>Methods:</a:t>
            </a:r>
            <a:endParaRPr sz="2494" dirty="0">
              <a:cs typeface="Comic Sans MS"/>
            </a:endParaRPr>
          </a:p>
        </p:txBody>
      </p:sp>
      <p:sp>
        <p:nvSpPr>
          <p:cNvPr id="3" name="object 3"/>
          <p:cNvSpPr txBox="1"/>
          <p:nvPr/>
        </p:nvSpPr>
        <p:spPr>
          <a:xfrm>
            <a:off x="4578099" y="3796371"/>
            <a:ext cx="1373327" cy="347045"/>
          </a:xfrm>
          <a:prstGeom prst="rect">
            <a:avLst/>
          </a:prstGeom>
        </p:spPr>
        <p:txBody>
          <a:bodyPr vert="horz" wrap="square" lIns="0" tIns="12092" rIns="0" bIns="0" rtlCol="0">
            <a:spAutoFit/>
          </a:bodyPr>
          <a:lstStyle/>
          <a:p>
            <a:pPr marL="11516">
              <a:spcBef>
                <a:spcPts val="95"/>
              </a:spcBef>
            </a:pPr>
            <a:r>
              <a:rPr sz="2176" spc="-9" dirty="0">
                <a:latin typeface="Comic Sans MS"/>
                <a:cs typeface="Comic Sans MS"/>
              </a:rPr>
              <a:t>[</a:t>
            </a:r>
            <a:r>
              <a:rPr sz="2176" spc="-9" dirty="0">
                <a:solidFill>
                  <a:srgbClr val="800000"/>
                </a:solidFill>
                <a:latin typeface="Comic Sans MS"/>
                <a:cs typeface="Comic Sans MS"/>
              </a:rPr>
              <a:t>Required</a:t>
            </a:r>
            <a:r>
              <a:rPr sz="2176" spc="-9" dirty="0">
                <a:latin typeface="Comic Sans MS"/>
                <a:cs typeface="Comic Sans MS"/>
              </a:rPr>
              <a:t>]</a:t>
            </a:r>
            <a:endParaRPr sz="2176">
              <a:latin typeface="Comic Sans MS"/>
              <a:cs typeface="Comic Sans MS"/>
            </a:endParaRPr>
          </a:p>
        </p:txBody>
      </p:sp>
      <p:sp>
        <p:nvSpPr>
          <p:cNvPr id="4" name="object 4"/>
          <p:cNvSpPr txBox="1"/>
          <p:nvPr/>
        </p:nvSpPr>
        <p:spPr>
          <a:xfrm>
            <a:off x="2488202" y="4197127"/>
            <a:ext cx="1768339" cy="1211241"/>
          </a:xfrm>
          <a:prstGeom prst="rect">
            <a:avLst/>
          </a:prstGeom>
        </p:spPr>
        <p:txBody>
          <a:bodyPr vert="horz" wrap="square" lIns="0" tIns="77736" rIns="0" bIns="0" rtlCol="0">
            <a:spAutoFit/>
          </a:bodyPr>
          <a:lstStyle/>
          <a:p>
            <a:pPr marL="269483" indent="-257966">
              <a:spcBef>
                <a:spcPts val="612"/>
              </a:spcBef>
              <a:buChar char="–"/>
              <a:tabLst>
                <a:tab pos="269483" algn="l"/>
              </a:tabLst>
            </a:pPr>
            <a:r>
              <a:rPr sz="2176" dirty="0">
                <a:cs typeface="Comic Sans MS"/>
              </a:rPr>
              <a:t>Public</a:t>
            </a:r>
            <a:r>
              <a:rPr sz="2176" spc="-63" dirty="0">
                <a:cs typeface="Comic Sans MS"/>
              </a:rPr>
              <a:t> </a:t>
            </a:r>
            <a:r>
              <a:rPr sz="2176" spc="-23" dirty="0">
                <a:cs typeface="Comic Sans MS"/>
              </a:rPr>
              <a:t>key</a:t>
            </a:r>
            <a:endParaRPr sz="2176" dirty="0">
              <a:cs typeface="Comic Sans MS"/>
            </a:endParaRPr>
          </a:p>
          <a:p>
            <a:pPr marL="269483" indent="-257966">
              <a:spcBef>
                <a:spcPts val="521"/>
              </a:spcBef>
              <a:buChar char="–"/>
              <a:tabLst>
                <a:tab pos="269483" algn="l"/>
              </a:tabLst>
            </a:pPr>
            <a:r>
              <a:rPr sz="2176" spc="-9" dirty="0">
                <a:cs typeface="Comic Sans MS"/>
              </a:rPr>
              <a:t>Password</a:t>
            </a:r>
            <a:endParaRPr sz="2176" dirty="0">
              <a:cs typeface="Comic Sans MS"/>
            </a:endParaRPr>
          </a:p>
          <a:p>
            <a:pPr marL="269483" indent="-257966">
              <a:spcBef>
                <a:spcPts val="458"/>
              </a:spcBef>
              <a:buChar char="–"/>
              <a:tabLst>
                <a:tab pos="269483" algn="l"/>
              </a:tabLst>
            </a:pPr>
            <a:r>
              <a:rPr sz="2176" spc="-9" dirty="0">
                <a:cs typeface="Comic Sans MS"/>
              </a:rPr>
              <a:t>Host-based</a:t>
            </a:r>
            <a:endParaRPr sz="2176" dirty="0">
              <a:cs typeface="Comic Sans MS"/>
            </a:endParaRPr>
          </a:p>
        </p:txBody>
      </p:sp>
      <p:sp>
        <p:nvSpPr>
          <p:cNvPr id="5" name="object 5" descr="$PPTXTitle"/>
          <p:cNvSpPr txBox="1">
            <a:spLocks noGrp="1"/>
          </p:cNvSpPr>
          <p:nvPr>
            <p:ph type="title"/>
          </p:nvPr>
        </p:nvSpPr>
        <p:spPr>
          <a:xfrm>
            <a:off x="2289839" y="458368"/>
            <a:ext cx="9535557" cy="947479"/>
          </a:xfrm>
          <a:prstGeom prst="rect">
            <a:avLst/>
          </a:prstGeom>
        </p:spPr>
        <p:txBody>
          <a:bodyPr vert="horz" wrap="square" lIns="0" tIns="267756" rIns="0" bIns="0" rtlCol="0" anchor="ctr">
            <a:spAutoFit/>
          </a:bodyPr>
          <a:lstStyle/>
          <a:p>
            <a:pPr marL="319003">
              <a:lnSpc>
                <a:spcPct val="100000"/>
              </a:lnSpc>
              <a:spcBef>
                <a:spcPts val="95"/>
              </a:spcBef>
            </a:pPr>
            <a:r>
              <a:rPr dirty="0"/>
              <a:t>User</a:t>
            </a:r>
            <a:r>
              <a:rPr spc="-59" dirty="0"/>
              <a:t> </a:t>
            </a:r>
            <a:r>
              <a:rPr dirty="0"/>
              <a:t>Authentication</a:t>
            </a:r>
            <a:r>
              <a:rPr spc="-54" dirty="0"/>
              <a:t> </a:t>
            </a:r>
            <a:r>
              <a:rPr dirty="0"/>
              <a:t>Layer</a:t>
            </a:r>
            <a:r>
              <a:rPr spc="-54" dirty="0"/>
              <a:t> </a:t>
            </a:r>
            <a:r>
              <a:rPr spc="-23" dirty="0"/>
              <a:t>(2)</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DF3C88F6-C131-064C-919D-FCC54E580B07}"/>
              </a:ext>
            </a:extLst>
          </p:cNvPr>
          <p:cNvSpPr>
            <a:spLocks noGrp="1"/>
          </p:cNvSpPr>
          <p:nvPr>
            <p:ph type="sldNum" sz="quarter" idx="10"/>
          </p:nvPr>
        </p:nvSpPr>
        <p:spPr/>
        <p:txBody>
          <a:bodyPr/>
          <a:lstStyle/>
          <a:p>
            <a:fld id="{4EF45476-63A3-D744-8CFA-16E42DFCB353}" type="slidenum">
              <a:rPr lang="en-US" altLang="en-US"/>
              <a:pPr/>
              <a:t>84</a:t>
            </a:fld>
            <a:endParaRPr lang="en-US" altLang="en-US"/>
          </a:p>
        </p:txBody>
      </p:sp>
      <p:sp>
        <p:nvSpPr>
          <p:cNvPr id="48130" name="Rectangle 2">
            <a:extLst>
              <a:ext uri="{FF2B5EF4-FFF2-40B4-BE49-F238E27FC236}">
                <a16:creationId xmlns:a16="http://schemas.microsoft.com/office/drawing/2014/main" id="{C40854E3-786B-514D-8499-B992275C5A76}"/>
              </a:ext>
            </a:extLst>
          </p:cNvPr>
          <p:cNvSpPr>
            <a:spLocks noGrp="1" noChangeArrowheads="1"/>
          </p:cNvSpPr>
          <p:nvPr>
            <p:ph type="title"/>
          </p:nvPr>
        </p:nvSpPr>
        <p:spPr/>
        <p:txBody>
          <a:bodyPr/>
          <a:lstStyle/>
          <a:p>
            <a:r>
              <a:rPr lang="en-US" altLang="en-US"/>
              <a:t>The “publickey” method</a:t>
            </a:r>
          </a:p>
        </p:txBody>
      </p:sp>
      <p:sp>
        <p:nvSpPr>
          <p:cNvPr id="48131" name="Rectangle 3">
            <a:extLst>
              <a:ext uri="{FF2B5EF4-FFF2-40B4-BE49-F238E27FC236}">
                <a16:creationId xmlns:a16="http://schemas.microsoft.com/office/drawing/2014/main" id="{B53E9B24-ADBA-4D63-355D-8A35EF92D8CD}"/>
              </a:ext>
            </a:extLst>
          </p:cNvPr>
          <p:cNvSpPr>
            <a:spLocks noGrp="1" noChangeArrowheads="1"/>
          </p:cNvSpPr>
          <p:nvPr>
            <p:ph type="body" idx="1"/>
          </p:nvPr>
        </p:nvSpPr>
        <p:spPr/>
        <p:txBody>
          <a:bodyPr/>
          <a:lstStyle/>
          <a:p>
            <a:r>
              <a:rPr lang="en-US" altLang="en-US"/>
              <a:t>all implementations must support this method</a:t>
            </a:r>
          </a:p>
          <a:p>
            <a:r>
              <a:rPr lang="en-US" altLang="en-US"/>
              <a:t>however, most local policies will not require authentication with this method in the near future, as users don’t have public keys</a:t>
            </a:r>
          </a:p>
          <a:p>
            <a:r>
              <a:rPr lang="en-US" altLang="en-US"/>
              <a:t>authentication is based on demonstration of the knowledge of the private key (the client signs with the private key)</a:t>
            </a:r>
          </a:p>
          <a:p>
            <a:r>
              <a:rPr lang="en-US" altLang="en-US"/>
              <a:t>the server verifies that</a:t>
            </a:r>
          </a:p>
          <a:p>
            <a:pPr lvl="1"/>
            <a:r>
              <a:rPr lang="en-US" altLang="en-US"/>
              <a:t>the public key really belongs to the user specified in the authentication request</a:t>
            </a:r>
          </a:p>
          <a:p>
            <a:pPr lvl="1"/>
            <a:r>
              <a:rPr lang="en-US" altLang="en-US"/>
              <a:t>the signature is correct</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B1E1CC73-8251-A7CF-D6B0-2C9EA80247B6}"/>
              </a:ext>
            </a:extLst>
          </p:cNvPr>
          <p:cNvSpPr>
            <a:spLocks noGrp="1"/>
          </p:cNvSpPr>
          <p:nvPr>
            <p:ph type="sldNum" sz="quarter" idx="10"/>
          </p:nvPr>
        </p:nvSpPr>
        <p:spPr/>
        <p:txBody>
          <a:bodyPr/>
          <a:lstStyle/>
          <a:p>
            <a:fld id="{A29939C7-E3A7-C741-8A66-D56B40BBD130}" type="slidenum">
              <a:rPr lang="en-US" altLang="en-US"/>
              <a:pPr/>
              <a:t>85</a:t>
            </a:fld>
            <a:endParaRPr lang="en-US" altLang="en-US" dirty="0"/>
          </a:p>
        </p:txBody>
      </p:sp>
      <p:sp>
        <p:nvSpPr>
          <p:cNvPr id="49154" name="Rectangle 2">
            <a:extLst>
              <a:ext uri="{FF2B5EF4-FFF2-40B4-BE49-F238E27FC236}">
                <a16:creationId xmlns:a16="http://schemas.microsoft.com/office/drawing/2014/main" id="{523EC63B-8CE8-2079-8364-A61F181602E8}"/>
              </a:ext>
            </a:extLst>
          </p:cNvPr>
          <p:cNvSpPr>
            <a:spLocks noGrp="1" noChangeArrowheads="1"/>
          </p:cNvSpPr>
          <p:nvPr>
            <p:ph type="title"/>
          </p:nvPr>
        </p:nvSpPr>
        <p:spPr/>
        <p:txBody>
          <a:bodyPr/>
          <a:lstStyle/>
          <a:p>
            <a:r>
              <a:rPr lang="en-US" altLang="en-US"/>
              <a:t>The “publickey” method cont’d</a:t>
            </a:r>
          </a:p>
        </p:txBody>
      </p:sp>
      <p:sp>
        <p:nvSpPr>
          <p:cNvPr id="49155" name="Rectangle 3">
            <a:extLst>
              <a:ext uri="{FF2B5EF4-FFF2-40B4-BE49-F238E27FC236}">
                <a16:creationId xmlns:a16="http://schemas.microsoft.com/office/drawing/2014/main" id="{1DADB8A7-AECF-4A0E-4DB6-0C29FC67B323}"/>
              </a:ext>
            </a:extLst>
          </p:cNvPr>
          <p:cNvSpPr>
            <a:spLocks noGrp="1" noChangeArrowheads="1"/>
          </p:cNvSpPr>
          <p:nvPr>
            <p:ph type="body" idx="1"/>
          </p:nvPr>
        </p:nvSpPr>
        <p:spPr/>
        <p:txBody>
          <a:bodyPr>
            <a:normAutofit fontScale="92500" lnSpcReduction="10000"/>
          </a:bodyPr>
          <a:lstStyle/>
          <a:p>
            <a:r>
              <a:rPr lang="en-US" altLang="en-US"/>
              <a:t>SSH_MSG_USERAUTH_REQUEST</a:t>
            </a:r>
          </a:p>
          <a:p>
            <a:pPr lvl="1"/>
            <a:r>
              <a:rPr lang="en-US" altLang="en-US"/>
              <a:t>user name</a:t>
            </a:r>
          </a:p>
          <a:p>
            <a:pPr lvl="1"/>
            <a:r>
              <a:rPr lang="en-US" altLang="en-US"/>
              <a:t>service name</a:t>
            </a:r>
          </a:p>
          <a:p>
            <a:pPr lvl="1"/>
            <a:r>
              <a:rPr lang="en-US" altLang="en-US"/>
              <a:t>“publickey”</a:t>
            </a:r>
          </a:p>
          <a:p>
            <a:pPr lvl="1"/>
            <a:r>
              <a:rPr lang="en-US" altLang="en-US"/>
              <a:t>TRUE (a flag set to TRUE)</a:t>
            </a:r>
          </a:p>
          <a:p>
            <a:pPr lvl="1"/>
            <a:r>
              <a:rPr lang="en-US" altLang="en-US"/>
              <a:t>public key algorithm name (e.g., ssh-dss)</a:t>
            </a:r>
          </a:p>
          <a:p>
            <a:pPr lvl="1"/>
            <a:r>
              <a:rPr lang="en-US" altLang="en-US"/>
              <a:t>public key</a:t>
            </a:r>
          </a:p>
          <a:p>
            <a:pPr lvl="1"/>
            <a:r>
              <a:rPr lang="en-US" altLang="en-US"/>
              <a:t>signature (computed over the session ID and the data in the request)</a:t>
            </a:r>
          </a:p>
          <a:p>
            <a:pPr lvl="1"/>
            <a:endParaRPr lang="en-US" altLang="en-US"/>
          </a:p>
          <a:p>
            <a:r>
              <a:rPr lang="en-US" altLang="en-US"/>
              <a:t>the server responds with SSH_MSG_USERAUTH_FAILURE if the request failed or more authentication is needed, or SSH_MSG_USERAUTH_SUCCESS otherwise</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CC10672D-1DBA-6386-7AD6-25C69116DD15}"/>
              </a:ext>
            </a:extLst>
          </p:cNvPr>
          <p:cNvSpPr>
            <a:spLocks noGrp="1"/>
          </p:cNvSpPr>
          <p:nvPr>
            <p:ph type="sldNum" sz="quarter" idx="10"/>
          </p:nvPr>
        </p:nvSpPr>
        <p:spPr/>
        <p:txBody>
          <a:bodyPr/>
          <a:lstStyle/>
          <a:p>
            <a:fld id="{4B484262-CABF-AA40-BE80-CE6A01AF8128}" type="slidenum">
              <a:rPr lang="en-US" altLang="en-US"/>
              <a:pPr/>
              <a:t>86</a:t>
            </a:fld>
            <a:endParaRPr lang="en-US" altLang="en-US"/>
          </a:p>
        </p:txBody>
      </p:sp>
      <p:sp>
        <p:nvSpPr>
          <p:cNvPr id="50178" name="Rectangle 2">
            <a:extLst>
              <a:ext uri="{FF2B5EF4-FFF2-40B4-BE49-F238E27FC236}">
                <a16:creationId xmlns:a16="http://schemas.microsoft.com/office/drawing/2014/main" id="{893186B9-3571-1587-54E9-D343B80F7B56}"/>
              </a:ext>
            </a:extLst>
          </p:cNvPr>
          <p:cNvSpPr>
            <a:spLocks noGrp="1" noChangeArrowheads="1"/>
          </p:cNvSpPr>
          <p:nvPr>
            <p:ph type="title"/>
          </p:nvPr>
        </p:nvSpPr>
        <p:spPr/>
        <p:txBody>
          <a:bodyPr/>
          <a:lstStyle/>
          <a:p>
            <a:r>
              <a:rPr lang="en-US" altLang="en-US"/>
              <a:t>The “publickey” method cont’d</a:t>
            </a:r>
          </a:p>
        </p:txBody>
      </p:sp>
      <p:sp>
        <p:nvSpPr>
          <p:cNvPr id="50179" name="Rectangle 3">
            <a:extLst>
              <a:ext uri="{FF2B5EF4-FFF2-40B4-BE49-F238E27FC236}">
                <a16:creationId xmlns:a16="http://schemas.microsoft.com/office/drawing/2014/main" id="{EEEE647C-0321-F89A-BBFA-3CEA464C9727}"/>
              </a:ext>
            </a:extLst>
          </p:cNvPr>
          <p:cNvSpPr>
            <a:spLocks noGrp="1" noChangeArrowheads="1"/>
          </p:cNvSpPr>
          <p:nvPr>
            <p:ph type="body" idx="1"/>
          </p:nvPr>
        </p:nvSpPr>
        <p:spPr/>
        <p:txBody>
          <a:bodyPr>
            <a:normAutofit fontScale="92500" lnSpcReduction="20000"/>
          </a:bodyPr>
          <a:lstStyle/>
          <a:p>
            <a:pPr>
              <a:lnSpc>
                <a:spcPct val="90000"/>
              </a:lnSpc>
            </a:pPr>
            <a:r>
              <a:rPr lang="en-US" altLang="en-US"/>
              <a:t>using the private key</a:t>
            </a:r>
          </a:p>
          <a:p>
            <a:pPr lvl="1">
              <a:lnSpc>
                <a:spcPct val="90000"/>
              </a:lnSpc>
            </a:pPr>
            <a:r>
              <a:rPr lang="en-US" altLang="en-US"/>
              <a:t>involves expensive computations</a:t>
            </a:r>
          </a:p>
          <a:p>
            <a:pPr lvl="1">
              <a:lnSpc>
                <a:spcPct val="90000"/>
              </a:lnSpc>
            </a:pPr>
            <a:r>
              <a:rPr lang="en-US" altLang="en-US"/>
              <a:t>may require the user to type a password if the private key is stored in encrypted form on the client machine</a:t>
            </a:r>
          </a:p>
          <a:p>
            <a:pPr>
              <a:lnSpc>
                <a:spcPct val="90000"/>
              </a:lnSpc>
            </a:pPr>
            <a:r>
              <a:rPr lang="en-US" altLang="en-US"/>
              <a:t>in order to avoid unnecessary processing, the client may check whether authentication using the public key would be acceptable</a:t>
            </a:r>
          </a:p>
          <a:p>
            <a:pPr lvl="1">
              <a:lnSpc>
                <a:spcPct val="90000"/>
              </a:lnSpc>
            </a:pPr>
            <a:r>
              <a:rPr lang="en-US" altLang="en-US"/>
              <a:t>SSH_MSG_USERAUTH_REQUEST</a:t>
            </a:r>
          </a:p>
          <a:p>
            <a:pPr lvl="2">
              <a:lnSpc>
                <a:spcPct val="90000"/>
              </a:lnSpc>
            </a:pPr>
            <a:r>
              <a:rPr lang="en-US" altLang="en-US"/>
              <a:t>user name</a:t>
            </a:r>
          </a:p>
          <a:p>
            <a:pPr lvl="2">
              <a:lnSpc>
                <a:spcPct val="90000"/>
              </a:lnSpc>
            </a:pPr>
            <a:r>
              <a:rPr lang="en-US" altLang="en-US"/>
              <a:t>service name</a:t>
            </a:r>
          </a:p>
          <a:p>
            <a:pPr lvl="2">
              <a:lnSpc>
                <a:spcPct val="90000"/>
              </a:lnSpc>
            </a:pPr>
            <a:r>
              <a:rPr lang="en-US" altLang="en-US"/>
              <a:t>“publickey”</a:t>
            </a:r>
          </a:p>
          <a:p>
            <a:pPr lvl="2">
              <a:lnSpc>
                <a:spcPct val="90000"/>
              </a:lnSpc>
            </a:pPr>
            <a:r>
              <a:rPr lang="en-US" altLang="en-US"/>
              <a:t>FALSE</a:t>
            </a:r>
          </a:p>
          <a:p>
            <a:pPr lvl="2">
              <a:lnSpc>
                <a:spcPct val="90000"/>
              </a:lnSpc>
            </a:pPr>
            <a:r>
              <a:rPr lang="en-US" altLang="en-US"/>
              <a:t>public key algorithm name</a:t>
            </a:r>
          </a:p>
          <a:p>
            <a:pPr lvl="2">
              <a:lnSpc>
                <a:spcPct val="90000"/>
              </a:lnSpc>
            </a:pPr>
            <a:r>
              <a:rPr lang="en-US" altLang="en-US"/>
              <a:t>public key</a:t>
            </a:r>
          </a:p>
          <a:p>
            <a:pPr lvl="1">
              <a:lnSpc>
                <a:spcPct val="90000"/>
              </a:lnSpc>
            </a:pPr>
            <a:r>
              <a:rPr lang="en-US" altLang="en-US"/>
              <a:t>if OK then the server responds with SSH_MSG_USERAUTH_PK_OK</a:t>
            </a:r>
          </a:p>
          <a:p>
            <a:pPr lvl="2">
              <a:lnSpc>
                <a:spcPct val="90000"/>
              </a:lnSpc>
            </a:pPr>
            <a:endParaRPr lang="en-US" alt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53B223B0-0A81-AE83-7072-26E18CE38B01}"/>
              </a:ext>
            </a:extLst>
          </p:cNvPr>
          <p:cNvSpPr>
            <a:spLocks noGrp="1"/>
          </p:cNvSpPr>
          <p:nvPr>
            <p:ph type="sldNum" sz="quarter" idx="10"/>
          </p:nvPr>
        </p:nvSpPr>
        <p:spPr/>
        <p:txBody>
          <a:bodyPr/>
          <a:lstStyle/>
          <a:p>
            <a:fld id="{95E02112-146C-754F-9E9E-ABEB54BA3E55}" type="slidenum">
              <a:rPr lang="en-US" altLang="en-US"/>
              <a:pPr/>
              <a:t>87</a:t>
            </a:fld>
            <a:endParaRPr lang="en-US" altLang="en-US"/>
          </a:p>
        </p:txBody>
      </p:sp>
      <p:sp>
        <p:nvSpPr>
          <p:cNvPr id="51202" name="Rectangle 2">
            <a:extLst>
              <a:ext uri="{FF2B5EF4-FFF2-40B4-BE49-F238E27FC236}">
                <a16:creationId xmlns:a16="http://schemas.microsoft.com/office/drawing/2014/main" id="{B4BC7219-AFF6-3112-878D-E12B7343D0DC}"/>
              </a:ext>
            </a:extLst>
          </p:cNvPr>
          <p:cNvSpPr>
            <a:spLocks noGrp="1" noChangeArrowheads="1"/>
          </p:cNvSpPr>
          <p:nvPr>
            <p:ph type="title"/>
          </p:nvPr>
        </p:nvSpPr>
        <p:spPr/>
        <p:txBody>
          <a:bodyPr/>
          <a:lstStyle/>
          <a:p>
            <a:r>
              <a:rPr lang="en-US" altLang="en-US"/>
              <a:t>The “password” method</a:t>
            </a:r>
          </a:p>
        </p:txBody>
      </p:sp>
      <p:sp>
        <p:nvSpPr>
          <p:cNvPr id="51203" name="Rectangle 3">
            <a:extLst>
              <a:ext uri="{FF2B5EF4-FFF2-40B4-BE49-F238E27FC236}">
                <a16:creationId xmlns:a16="http://schemas.microsoft.com/office/drawing/2014/main" id="{40FD0A92-D4BE-4AAA-E349-192094719970}"/>
              </a:ext>
            </a:extLst>
          </p:cNvPr>
          <p:cNvSpPr>
            <a:spLocks noGrp="1" noChangeArrowheads="1"/>
          </p:cNvSpPr>
          <p:nvPr>
            <p:ph type="body" idx="1"/>
          </p:nvPr>
        </p:nvSpPr>
        <p:spPr/>
        <p:txBody>
          <a:bodyPr>
            <a:normAutofit fontScale="92500" lnSpcReduction="20000"/>
          </a:bodyPr>
          <a:lstStyle/>
          <a:p>
            <a:r>
              <a:rPr lang="en-US" altLang="en-US"/>
              <a:t>all implementations should support this method</a:t>
            </a:r>
          </a:p>
          <a:p>
            <a:r>
              <a:rPr lang="en-US" altLang="en-US"/>
              <a:t>this method is likely the most widely used</a:t>
            </a:r>
          </a:p>
          <a:p>
            <a:r>
              <a:rPr lang="en-US" altLang="en-US"/>
              <a:t>SSH_MSG_USERAUTH_REQUEST</a:t>
            </a:r>
          </a:p>
          <a:p>
            <a:pPr lvl="1"/>
            <a:r>
              <a:rPr lang="en-US" altLang="en-US"/>
              <a:t>user name</a:t>
            </a:r>
          </a:p>
          <a:p>
            <a:pPr lvl="1"/>
            <a:r>
              <a:rPr lang="en-US" altLang="en-US"/>
              <a:t>service name</a:t>
            </a:r>
          </a:p>
          <a:p>
            <a:pPr lvl="1"/>
            <a:r>
              <a:rPr lang="en-US" altLang="en-US"/>
              <a:t>“password”</a:t>
            </a:r>
          </a:p>
          <a:p>
            <a:pPr lvl="1"/>
            <a:r>
              <a:rPr lang="en-US" altLang="en-US"/>
              <a:t>FALSE (a flag set to FALSE)</a:t>
            </a:r>
          </a:p>
          <a:p>
            <a:pPr lvl="1"/>
            <a:r>
              <a:rPr lang="en-US" altLang="en-US"/>
              <a:t>password (plaintext)</a:t>
            </a:r>
          </a:p>
          <a:p>
            <a:pPr lvl="1"/>
            <a:endParaRPr lang="en-US" altLang="en-US"/>
          </a:p>
          <a:p>
            <a:r>
              <a:rPr lang="en-US" altLang="en-US"/>
              <a:t>the server may respond with SSH_MSG_USERAUTH_FAILURE, SSH_MSG_USERAUTH_SUCCESS, or SSH_MSG_USERAUTH_PASSWD_CHANGEREQ</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89A8A017-5801-D11E-7350-E815E8B4E2E9}"/>
              </a:ext>
            </a:extLst>
          </p:cNvPr>
          <p:cNvSpPr>
            <a:spLocks noGrp="1"/>
          </p:cNvSpPr>
          <p:nvPr>
            <p:ph type="sldNum" sz="quarter" idx="10"/>
          </p:nvPr>
        </p:nvSpPr>
        <p:spPr/>
        <p:txBody>
          <a:bodyPr/>
          <a:lstStyle/>
          <a:p>
            <a:fld id="{9CCE2829-9D4E-F24E-AC41-9ADA66600E0F}" type="slidenum">
              <a:rPr lang="en-US" altLang="en-US"/>
              <a:pPr/>
              <a:t>88</a:t>
            </a:fld>
            <a:endParaRPr lang="en-US" altLang="en-US"/>
          </a:p>
        </p:txBody>
      </p:sp>
      <p:sp>
        <p:nvSpPr>
          <p:cNvPr id="52226" name="Rectangle 2">
            <a:extLst>
              <a:ext uri="{FF2B5EF4-FFF2-40B4-BE49-F238E27FC236}">
                <a16:creationId xmlns:a16="http://schemas.microsoft.com/office/drawing/2014/main" id="{8228F3C3-8E95-7673-B538-CB27C895CD5D}"/>
              </a:ext>
            </a:extLst>
          </p:cNvPr>
          <p:cNvSpPr>
            <a:spLocks noGrp="1" noChangeArrowheads="1"/>
          </p:cNvSpPr>
          <p:nvPr>
            <p:ph type="title"/>
          </p:nvPr>
        </p:nvSpPr>
        <p:spPr/>
        <p:txBody>
          <a:bodyPr/>
          <a:lstStyle/>
          <a:p>
            <a:r>
              <a:rPr lang="en-US" altLang="en-US"/>
              <a:t>The “password” method cont’d</a:t>
            </a:r>
          </a:p>
        </p:txBody>
      </p:sp>
      <p:sp>
        <p:nvSpPr>
          <p:cNvPr id="52227" name="Rectangle 3">
            <a:extLst>
              <a:ext uri="{FF2B5EF4-FFF2-40B4-BE49-F238E27FC236}">
                <a16:creationId xmlns:a16="http://schemas.microsoft.com/office/drawing/2014/main" id="{3CF64A3B-A704-88FB-8FA6-7A9A37C459F8}"/>
              </a:ext>
            </a:extLst>
          </p:cNvPr>
          <p:cNvSpPr>
            <a:spLocks noGrp="1" noChangeArrowheads="1"/>
          </p:cNvSpPr>
          <p:nvPr>
            <p:ph type="body" idx="1"/>
          </p:nvPr>
        </p:nvSpPr>
        <p:spPr/>
        <p:txBody>
          <a:bodyPr/>
          <a:lstStyle/>
          <a:p>
            <a:r>
              <a:rPr lang="en-US" altLang="en-US"/>
              <a:t>changing the password</a:t>
            </a:r>
          </a:p>
          <a:p>
            <a:pPr lvl="1"/>
            <a:r>
              <a:rPr lang="en-US" altLang="en-US"/>
              <a:t>SSH_MSG_USERAUTH_REQUEST</a:t>
            </a:r>
          </a:p>
          <a:p>
            <a:pPr lvl="2"/>
            <a:r>
              <a:rPr lang="en-US" altLang="en-US"/>
              <a:t>user name</a:t>
            </a:r>
          </a:p>
          <a:p>
            <a:pPr lvl="2"/>
            <a:r>
              <a:rPr lang="en-US" altLang="en-US"/>
              <a:t>service name</a:t>
            </a:r>
          </a:p>
          <a:p>
            <a:pPr lvl="2"/>
            <a:r>
              <a:rPr lang="en-US" altLang="en-US"/>
              <a:t>“password”</a:t>
            </a:r>
          </a:p>
          <a:p>
            <a:pPr lvl="2"/>
            <a:r>
              <a:rPr lang="en-US" altLang="en-US"/>
              <a:t>TRUE</a:t>
            </a:r>
          </a:p>
          <a:p>
            <a:pPr lvl="2"/>
            <a:r>
              <a:rPr lang="en-US" altLang="en-US"/>
              <a:t>old password (plaintext)</a:t>
            </a:r>
          </a:p>
          <a:p>
            <a:pPr lvl="2"/>
            <a:r>
              <a:rPr lang="en-US" altLang="en-US"/>
              <a:t>new password (plaintext)</a:t>
            </a:r>
          </a:p>
          <a:p>
            <a:endParaRPr lang="en-US" alt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3BBF3210-5F2B-BE35-0E0C-92C062C6CC35}"/>
              </a:ext>
            </a:extLst>
          </p:cNvPr>
          <p:cNvSpPr>
            <a:spLocks noGrp="1"/>
          </p:cNvSpPr>
          <p:nvPr>
            <p:ph type="sldNum" sz="quarter" idx="10"/>
          </p:nvPr>
        </p:nvSpPr>
        <p:spPr/>
        <p:txBody>
          <a:bodyPr/>
          <a:lstStyle/>
          <a:p>
            <a:fld id="{9AC25BE6-766C-6B40-9847-0AD0EB144278}" type="slidenum">
              <a:rPr lang="en-US" altLang="en-US"/>
              <a:pPr/>
              <a:t>89</a:t>
            </a:fld>
            <a:endParaRPr lang="en-US" altLang="en-US"/>
          </a:p>
        </p:txBody>
      </p:sp>
      <p:sp>
        <p:nvSpPr>
          <p:cNvPr id="53250" name="Rectangle 2">
            <a:extLst>
              <a:ext uri="{FF2B5EF4-FFF2-40B4-BE49-F238E27FC236}">
                <a16:creationId xmlns:a16="http://schemas.microsoft.com/office/drawing/2014/main" id="{681F2B45-02FF-9213-A5B6-E638FED43104}"/>
              </a:ext>
            </a:extLst>
          </p:cNvPr>
          <p:cNvSpPr>
            <a:spLocks noGrp="1" noChangeArrowheads="1"/>
          </p:cNvSpPr>
          <p:nvPr>
            <p:ph type="title"/>
          </p:nvPr>
        </p:nvSpPr>
        <p:spPr/>
        <p:txBody>
          <a:bodyPr/>
          <a:lstStyle/>
          <a:p>
            <a:r>
              <a:rPr lang="en-US" altLang="en-US"/>
              <a:t>The “hostbased” method</a:t>
            </a:r>
          </a:p>
        </p:txBody>
      </p:sp>
      <p:sp>
        <p:nvSpPr>
          <p:cNvPr id="53251" name="Rectangle 3">
            <a:extLst>
              <a:ext uri="{FF2B5EF4-FFF2-40B4-BE49-F238E27FC236}">
                <a16:creationId xmlns:a16="http://schemas.microsoft.com/office/drawing/2014/main" id="{06EE1852-DD85-5E23-2F81-18C6712CB753}"/>
              </a:ext>
            </a:extLst>
          </p:cNvPr>
          <p:cNvSpPr>
            <a:spLocks noGrp="1" noChangeArrowheads="1"/>
          </p:cNvSpPr>
          <p:nvPr>
            <p:ph type="body" idx="1"/>
          </p:nvPr>
        </p:nvSpPr>
        <p:spPr/>
        <p:txBody>
          <a:bodyPr/>
          <a:lstStyle/>
          <a:p>
            <a:r>
              <a:rPr lang="en-US" altLang="en-US"/>
              <a:t>authentication is based on the host where the user is  coming from</a:t>
            </a:r>
          </a:p>
          <a:p>
            <a:r>
              <a:rPr lang="en-US" altLang="en-US"/>
              <a:t>this method is optional</a:t>
            </a:r>
          </a:p>
          <a:p>
            <a:r>
              <a:rPr lang="en-US" altLang="en-US"/>
              <a:t>the client sends a signature that has been generated with the private host key of the client</a:t>
            </a:r>
          </a:p>
          <a:p>
            <a:r>
              <a:rPr lang="en-US" altLang="en-US"/>
              <a:t>the server verifies that</a:t>
            </a:r>
          </a:p>
          <a:p>
            <a:pPr lvl="1"/>
            <a:r>
              <a:rPr lang="en-US" altLang="en-US"/>
              <a:t>the public key really belongs to the host specified in the authentication request</a:t>
            </a:r>
          </a:p>
          <a:p>
            <a:pPr lvl="1"/>
            <a:r>
              <a:rPr lang="en-US" altLang="en-US"/>
              <a:t>the signature is correct</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2EDB92B9-6183-2910-0D7D-2505E02D5179}"/>
              </a:ext>
            </a:extLst>
          </p:cNvPr>
          <p:cNvSpPr>
            <a:spLocks noGrp="1"/>
          </p:cNvSpPr>
          <p:nvPr>
            <p:ph type="sldNum" sz="quarter" idx="10"/>
          </p:nvPr>
        </p:nvSpPr>
        <p:spPr/>
        <p:txBody>
          <a:bodyPr/>
          <a:lstStyle/>
          <a:p>
            <a:fld id="{7F49F6BE-6A17-3B43-AFE9-56BDB9340E97}" type="slidenum">
              <a:rPr lang="en-US" altLang="en-US"/>
              <a:pPr/>
              <a:t>90</a:t>
            </a:fld>
            <a:endParaRPr lang="en-US" altLang="en-US"/>
          </a:p>
        </p:txBody>
      </p:sp>
      <p:sp>
        <p:nvSpPr>
          <p:cNvPr id="54274" name="Rectangle 2">
            <a:extLst>
              <a:ext uri="{FF2B5EF4-FFF2-40B4-BE49-F238E27FC236}">
                <a16:creationId xmlns:a16="http://schemas.microsoft.com/office/drawing/2014/main" id="{BBF56108-9FA4-5C09-4B8F-B9FD8DA5E0EE}"/>
              </a:ext>
            </a:extLst>
          </p:cNvPr>
          <p:cNvSpPr>
            <a:spLocks noGrp="1" noChangeArrowheads="1"/>
          </p:cNvSpPr>
          <p:nvPr>
            <p:ph type="title"/>
          </p:nvPr>
        </p:nvSpPr>
        <p:spPr/>
        <p:txBody>
          <a:bodyPr/>
          <a:lstStyle/>
          <a:p>
            <a:r>
              <a:rPr lang="en-US" altLang="en-US"/>
              <a:t>The “hostbased” method cont’d</a:t>
            </a:r>
          </a:p>
        </p:txBody>
      </p:sp>
      <p:sp>
        <p:nvSpPr>
          <p:cNvPr id="54275" name="Rectangle 3">
            <a:extLst>
              <a:ext uri="{FF2B5EF4-FFF2-40B4-BE49-F238E27FC236}">
                <a16:creationId xmlns:a16="http://schemas.microsoft.com/office/drawing/2014/main" id="{424F29AD-0885-927C-8AF5-571C939684D7}"/>
              </a:ext>
            </a:extLst>
          </p:cNvPr>
          <p:cNvSpPr>
            <a:spLocks noGrp="1" noChangeArrowheads="1"/>
          </p:cNvSpPr>
          <p:nvPr>
            <p:ph type="body" idx="1"/>
          </p:nvPr>
        </p:nvSpPr>
        <p:spPr/>
        <p:txBody>
          <a:bodyPr/>
          <a:lstStyle/>
          <a:p>
            <a:r>
              <a:rPr lang="en-US" altLang="en-US"/>
              <a:t>SSH_MSG_USERAUTH_REQUEST</a:t>
            </a:r>
          </a:p>
          <a:p>
            <a:pPr lvl="1"/>
            <a:r>
              <a:rPr lang="en-US" altLang="en-US"/>
              <a:t>user name</a:t>
            </a:r>
          </a:p>
          <a:p>
            <a:pPr lvl="1"/>
            <a:r>
              <a:rPr lang="en-US" altLang="en-US"/>
              <a:t>service name</a:t>
            </a:r>
          </a:p>
          <a:p>
            <a:pPr lvl="1"/>
            <a:r>
              <a:rPr lang="en-US" altLang="en-US"/>
              <a:t>“hostbased”</a:t>
            </a:r>
          </a:p>
          <a:p>
            <a:pPr lvl="1"/>
            <a:r>
              <a:rPr lang="en-US" altLang="en-US"/>
              <a:t>public key algorithm name</a:t>
            </a:r>
          </a:p>
          <a:p>
            <a:pPr lvl="1"/>
            <a:r>
              <a:rPr lang="en-US" altLang="en-US"/>
              <a:t>public key and certificates for client host </a:t>
            </a:r>
          </a:p>
          <a:p>
            <a:pPr lvl="1"/>
            <a:r>
              <a:rPr lang="en-US" altLang="en-US"/>
              <a:t>client host name</a:t>
            </a:r>
          </a:p>
          <a:p>
            <a:pPr lvl="1"/>
            <a:r>
              <a:rPr lang="en-US" altLang="en-US"/>
              <a:t>user name on client host</a:t>
            </a:r>
          </a:p>
          <a:p>
            <a:pPr lvl="1"/>
            <a:r>
              <a:rPr lang="en-US" altLang="en-US"/>
              <a:t>signature (computed over the session ID and the data in the request)</a:t>
            </a:r>
          </a:p>
          <a:p>
            <a:pPr lvl="1"/>
            <a:endParaRPr lang="en-US" alt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descr="$PPTXTitle"/>
          <p:cNvSpPr txBox="1">
            <a:spLocks noGrp="1"/>
          </p:cNvSpPr>
          <p:nvPr>
            <p:ph type="title"/>
          </p:nvPr>
        </p:nvSpPr>
        <p:spPr>
          <a:xfrm>
            <a:off x="838200" y="365125"/>
            <a:ext cx="10515600" cy="1325563"/>
          </a:xfrm>
        </p:spPr>
        <p:txBody>
          <a:bodyPr vert="horz" lIns="91440" tIns="45720" rIns="91440" bIns="45720" rtlCol="0" anchor="ctr">
            <a:normAutofit/>
          </a:bodyPr>
          <a:lstStyle/>
          <a:p>
            <a:pPr marL="11516"/>
            <a:r>
              <a:rPr lang="en-US" kern="1200">
                <a:latin typeface="+mj-lt"/>
                <a:ea typeface="+mj-ea"/>
                <a:cs typeface="+mj-cs"/>
              </a:rPr>
              <a:t>User</a:t>
            </a:r>
            <a:r>
              <a:rPr lang="en-US" kern="1200" spc="131">
                <a:latin typeface="+mj-lt"/>
                <a:ea typeface="+mj-ea"/>
                <a:cs typeface="+mj-cs"/>
              </a:rPr>
              <a:t> </a:t>
            </a:r>
            <a:r>
              <a:rPr lang="en-US" kern="1200">
                <a:latin typeface="+mj-lt"/>
                <a:ea typeface="+mj-ea"/>
                <a:cs typeface="+mj-cs"/>
              </a:rPr>
              <a:t>Authent.</a:t>
            </a:r>
            <a:r>
              <a:rPr lang="en-US" kern="1200" spc="118">
                <a:latin typeface="+mj-lt"/>
                <a:ea typeface="+mj-ea"/>
                <a:cs typeface="+mj-cs"/>
              </a:rPr>
              <a:t> </a:t>
            </a:r>
            <a:r>
              <a:rPr lang="en-US" kern="1200">
                <a:latin typeface="+mj-lt"/>
                <a:ea typeface="+mj-ea"/>
                <a:cs typeface="+mj-cs"/>
              </a:rPr>
              <a:t>Request</a:t>
            </a:r>
            <a:r>
              <a:rPr lang="en-US" kern="1200" spc="86">
                <a:latin typeface="+mj-lt"/>
                <a:ea typeface="+mj-ea"/>
                <a:cs typeface="+mj-cs"/>
              </a:rPr>
              <a:t> </a:t>
            </a:r>
            <a:r>
              <a:rPr lang="en-US" kern="1200">
                <a:latin typeface="+mj-lt"/>
                <a:ea typeface="+mj-ea"/>
                <a:cs typeface="+mj-cs"/>
              </a:rPr>
              <a:t>&amp;</a:t>
            </a:r>
            <a:r>
              <a:rPr lang="en-US" kern="1200" spc="100">
                <a:latin typeface="+mj-lt"/>
                <a:ea typeface="+mj-ea"/>
                <a:cs typeface="+mj-cs"/>
              </a:rPr>
              <a:t> </a:t>
            </a:r>
            <a:r>
              <a:rPr lang="en-US" kern="1200">
                <a:latin typeface="+mj-lt"/>
                <a:ea typeface="+mj-ea"/>
                <a:cs typeface="+mj-cs"/>
              </a:rPr>
              <a:t>Server</a:t>
            </a:r>
            <a:r>
              <a:rPr lang="en-US" kern="1200" spc="63">
                <a:latin typeface="+mj-lt"/>
                <a:ea typeface="+mj-ea"/>
                <a:cs typeface="+mj-cs"/>
              </a:rPr>
              <a:t> </a:t>
            </a:r>
            <a:r>
              <a:rPr lang="en-US" kern="1200" spc="-9">
                <a:latin typeface="+mj-lt"/>
                <a:ea typeface="+mj-ea"/>
                <a:cs typeface="+mj-cs"/>
              </a:rPr>
              <a:t>Response</a:t>
            </a:r>
            <a:endParaRPr lang="en-US" kern="1200">
              <a:latin typeface="+mj-lt"/>
              <a:ea typeface="+mj-ea"/>
              <a:cs typeface="+mj-cs"/>
            </a:endParaRPr>
          </a:p>
        </p:txBody>
      </p:sp>
      <p:graphicFrame>
        <p:nvGraphicFramePr>
          <p:cNvPr id="5" name="object 2">
            <a:extLst>
              <a:ext uri="{FF2B5EF4-FFF2-40B4-BE49-F238E27FC236}">
                <a16:creationId xmlns:a16="http://schemas.microsoft.com/office/drawing/2014/main" id="{CED4E315-EBBC-0B59-85C1-7CDC5C4A312F}"/>
              </a:ext>
            </a:extLst>
          </p:cNvPr>
          <p:cNvGraphicFramePr/>
          <p:nvPr>
            <p:extLst>
              <p:ext uri="{D42A27DB-BD31-4B8C-83A1-F6EECF244321}">
                <p14:modId xmlns:p14="http://schemas.microsoft.com/office/powerpoint/2010/main" val="53212179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03467" y="23"/>
            <a:ext cx="7799463" cy="907582"/>
          </a:xfrm>
          <a:prstGeom prst="rect">
            <a:avLst/>
          </a:prstGeom>
        </p:spPr>
      </p:pic>
      <p:sp>
        <p:nvSpPr>
          <p:cNvPr id="3" name="object 3" descr="$PPTXTitle"/>
          <p:cNvSpPr txBox="1">
            <a:spLocks noGrp="1"/>
          </p:cNvSpPr>
          <p:nvPr>
            <p:ph type="title"/>
          </p:nvPr>
        </p:nvSpPr>
        <p:spPr>
          <a:xfrm>
            <a:off x="2289839" y="587447"/>
            <a:ext cx="9535557" cy="689319"/>
          </a:xfrm>
          <a:prstGeom prst="rect">
            <a:avLst/>
          </a:prstGeom>
        </p:spPr>
        <p:txBody>
          <a:bodyPr vert="horz" wrap="square" lIns="0" tIns="12092" rIns="0" bIns="0" rtlCol="0" anchor="ctr">
            <a:spAutoFit/>
          </a:bodyPr>
          <a:lstStyle/>
          <a:p>
            <a:pPr marL="3171605">
              <a:lnSpc>
                <a:spcPct val="100000"/>
              </a:lnSpc>
              <a:spcBef>
                <a:spcPts val="95"/>
              </a:spcBef>
            </a:pPr>
            <a:r>
              <a:rPr spc="-9" dirty="0">
                <a:latin typeface="+mn-lt"/>
                <a:cs typeface="Comic Sans MS"/>
              </a:rPr>
              <a:t>Outline</a:t>
            </a:r>
          </a:p>
        </p:txBody>
      </p:sp>
      <p:sp>
        <p:nvSpPr>
          <p:cNvPr id="4" name="object 4"/>
          <p:cNvSpPr txBox="1">
            <a:spLocks noGrp="1"/>
          </p:cNvSpPr>
          <p:nvPr>
            <p:ph type="body" idx="1"/>
          </p:nvPr>
        </p:nvSpPr>
        <p:spPr>
          <a:xfrm>
            <a:off x="2289839" y="1655479"/>
            <a:ext cx="9535557" cy="2105936"/>
          </a:xfrm>
          <a:prstGeom prst="rect">
            <a:avLst/>
          </a:prstGeom>
        </p:spPr>
        <p:txBody>
          <a:bodyPr vert="horz" wrap="square" lIns="0" tIns="199809" rIns="0" bIns="0" rtlCol="0">
            <a:spAutoFit/>
          </a:bodyPr>
          <a:lstStyle/>
          <a:p>
            <a:pPr marL="304608" indent="-293091">
              <a:lnSpc>
                <a:spcPct val="100000"/>
              </a:lnSpc>
              <a:spcBef>
                <a:spcPts val="1573"/>
              </a:spcBef>
              <a:buClr>
                <a:srgbClr val="000000"/>
              </a:buClr>
              <a:buSzPct val="43750"/>
              <a:buFont typeface="Wingdings"/>
              <a:buChar char=""/>
              <a:tabLst>
                <a:tab pos="304608" algn="l"/>
              </a:tabLst>
            </a:pPr>
            <a:r>
              <a:rPr dirty="0"/>
              <a:t>Protocol</a:t>
            </a:r>
            <a:r>
              <a:rPr spc="-45" dirty="0"/>
              <a:t> </a:t>
            </a:r>
            <a:r>
              <a:rPr spc="-9" dirty="0"/>
              <a:t>Details</a:t>
            </a:r>
          </a:p>
          <a:p>
            <a:pPr marL="696740" lvl="1" indent="-260846">
              <a:lnSpc>
                <a:spcPct val="100000"/>
              </a:lnSpc>
              <a:spcBef>
                <a:spcPts val="1215"/>
              </a:spcBef>
              <a:buSzPct val="75000"/>
              <a:buFont typeface="Symbol"/>
              <a:buChar char=""/>
              <a:tabLst>
                <a:tab pos="696740" algn="l"/>
              </a:tabLst>
            </a:pPr>
            <a:r>
              <a:rPr sz="2358" dirty="0">
                <a:cs typeface="Comic Sans MS"/>
              </a:rPr>
              <a:t>Transport</a:t>
            </a:r>
            <a:r>
              <a:rPr sz="2358" spc="-27" dirty="0">
                <a:cs typeface="Comic Sans MS"/>
              </a:rPr>
              <a:t> </a:t>
            </a:r>
            <a:r>
              <a:rPr sz="2358" spc="-18" dirty="0">
                <a:cs typeface="Comic Sans MS"/>
              </a:rPr>
              <a:t>Layer</a:t>
            </a:r>
            <a:endParaRPr sz="2358" dirty="0">
              <a:cs typeface="Comic Sans MS"/>
            </a:endParaRPr>
          </a:p>
          <a:p>
            <a:pPr marL="696740" lvl="1" indent="-260846">
              <a:lnSpc>
                <a:spcPct val="100000"/>
              </a:lnSpc>
              <a:spcBef>
                <a:spcPts val="920"/>
              </a:spcBef>
              <a:buSzPct val="75000"/>
              <a:buFont typeface="Symbol"/>
              <a:buChar char=""/>
              <a:tabLst>
                <a:tab pos="696740" algn="l"/>
              </a:tabLst>
            </a:pPr>
            <a:r>
              <a:rPr sz="2358" dirty="0">
                <a:cs typeface="Comic Sans MS"/>
              </a:rPr>
              <a:t>User</a:t>
            </a:r>
            <a:r>
              <a:rPr sz="2358" spc="-32" dirty="0">
                <a:cs typeface="Comic Sans MS"/>
              </a:rPr>
              <a:t> </a:t>
            </a:r>
            <a:r>
              <a:rPr sz="2358" dirty="0">
                <a:cs typeface="Comic Sans MS"/>
              </a:rPr>
              <a:t>Authentication</a:t>
            </a:r>
            <a:r>
              <a:rPr sz="2358" spc="-59" dirty="0">
                <a:cs typeface="Comic Sans MS"/>
              </a:rPr>
              <a:t> </a:t>
            </a:r>
            <a:r>
              <a:rPr sz="2358" spc="-9" dirty="0">
                <a:cs typeface="Comic Sans MS"/>
              </a:rPr>
              <a:t>Layer</a:t>
            </a:r>
            <a:endParaRPr sz="2358" dirty="0">
              <a:cs typeface="Comic Sans MS"/>
            </a:endParaRPr>
          </a:p>
          <a:p>
            <a:pPr marL="696740" lvl="1" indent="-260846">
              <a:lnSpc>
                <a:spcPct val="100000"/>
              </a:lnSpc>
              <a:spcBef>
                <a:spcPts val="920"/>
              </a:spcBef>
              <a:buClr>
                <a:srgbClr val="000000"/>
              </a:buClr>
              <a:buSzPct val="75000"/>
              <a:buFont typeface="Symbol"/>
              <a:buChar char=""/>
              <a:tabLst>
                <a:tab pos="696740" algn="l"/>
              </a:tabLst>
            </a:pPr>
            <a:r>
              <a:rPr sz="2358" dirty="0">
                <a:solidFill>
                  <a:srgbClr val="0000FF"/>
                </a:solidFill>
                <a:cs typeface="Comic Sans MS"/>
              </a:rPr>
              <a:t>Connection</a:t>
            </a:r>
            <a:r>
              <a:rPr sz="2358" spc="-27" dirty="0">
                <a:solidFill>
                  <a:srgbClr val="0000FF"/>
                </a:solidFill>
                <a:cs typeface="Comic Sans MS"/>
              </a:rPr>
              <a:t> </a:t>
            </a:r>
            <a:r>
              <a:rPr sz="2358" spc="-18" dirty="0">
                <a:solidFill>
                  <a:srgbClr val="0000FF"/>
                </a:solidFill>
                <a:cs typeface="Comic Sans MS"/>
              </a:rPr>
              <a:t>Layer</a:t>
            </a:r>
            <a:endParaRPr sz="2358" dirty="0">
              <a:cs typeface="Comic Sans MS"/>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66604" y="1405847"/>
            <a:ext cx="6395041" cy="2279873"/>
          </a:xfrm>
          <a:prstGeom prst="rect">
            <a:avLst/>
          </a:prstGeom>
        </p:spPr>
        <p:txBody>
          <a:bodyPr vert="horz" wrap="square" lIns="0" tIns="61613" rIns="0" bIns="0" rtlCol="0">
            <a:spAutoFit/>
          </a:bodyPr>
          <a:lstStyle/>
          <a:p>
            <a:pPr marL="321306" marR="256239" indent="-310366">
              <a:lnSpc>
                <a:spcPts val="2657"/>
              </a:lnSpc>
              <a:spcBef>
                <a:spcPts val="485"/>
              </a:spcBef>
              <a:buFont typeface="Comic Sans MS"/>
              <a:buChar char="•"/>
              <a:tabLst>
                <a:tab pos="321306" algn="l"/>
              </a:tabLst>
            </a:pPr>
            <a:r>
              <a:rPr lang="en-US" sz="2494" dirty="0">
                <a:cs typeface="Comic Sans MS"/>
              </a:rPr>
              <a:t>It</a:t>
            </a:r>
            <a:r>
              <a:rPr lang="en-US" sz="2494" spc="77" dirty="0">
                <a:cs typeface="Comic Sans MS"/>
              </a:rPr>
              <a:t> </a:t>
            </a:r>
            <a:r>
              <a:rPr lang="en-US" sz="2494" dirty="0">
                <a:cs typeface="Comic Sans MS"/>
              </a:rPr>
              <a:t>runs</a:t>
            </a:r>
            <a:r>
              <a:rPr lang="en-US" sz="2494" spc="36" dirty="0">
                <a:cs typeface="Comic Sans MS"/>
              </a:rPr>
              <a:t> </a:t>
            </a:r>
            <a:r>
              <a:rPr lang="en-US" sz="2494" dirty="0">
                <a:cs typeface="Comic Sans MS"/>
              </a:rPr>
              <a:t>over</a:t>
            </a:r>
            <a:r>
              <a:rPr lang="en-US" sz="2494" spc="59" dirty="0">
                <a:cs typeface="Comic Sans MS"/>
              </a:rPr>
              <a:t> </a:t>
            </a:r>
            <a:r>
              <a:rPr lang="en-US" sz="2494" dirty="0">
                <a:cs typeface="Comic Sans MS"/>
              </a:rPr>
              <a:t>the</a:t>
            </a:r>
            <a:r>
              <a:rPr lang="en-US" sz="2494" spc="86" dirty="0">
                <a:cs typeface="Comic Sans MS"/>
              </a:rPr>
              <a:t> </a:t>
            </a:r>
            <a:r>
              <a:rPr lang="en-US" sz="2494" dirty="0">
                <a:cs typeface="Comic Sans MS"/>
              </a:rPr>
              <a:t>Transport</a:t>
            </a:r>
            <a:r>
              <a:rPr lang="en-US" sz="2494" spc="86" dirty="0">
                <a:cs typeface="Comic Sans MS"/>
              </a:rPr>
              <a:t> </a:t>
            </a:r>
            <a:r>
              <a:rPr lang="en-US" sz="2494" dirty="0">
                <a:cs typeface="Comic Sans MS"/>
              </a:rPr>
              <a:t>Layer,</a:t>
            </a:r>
            <a:r>
              <a:rPr lang="en-US" sz="2494" spc="32" dirty="0">
                <a:cs typeface="Comic Sans MS"/>
              </a:rPr>
              <a:t> </a:t>
            </a:r>
            <a:r>
              <a:rPr lang="en-US" sz="2494" spc="-23" dirty="0">
                <a:cs typeface="Comic Sans MS"/>
              </a:rPr>
              <a:t>and </a:t>
            </a:r>
            <a:r>
              <a:rPr lang="en-US" sz="2494" dirty="0">
                <a:cs typeface="Comic Sans MS"/>
              </a:rPr>
              <a:t>utilizes</a:t>
            </a:r>
            <a:r>
              <a:rPr lang="en-US" sz="2494" spc="68" dirty="0">
                <a:cs typeface="Comic Sans MS"/>
              </a:rPr>
              <a:t> </a:t>
            </a:r>
            <a:r>
              <a:rPr lang="en-US" sz="2494" dirty="0">
                <a:cs typeface="Comic Sans MS"/>
              </a:rPr>
              <a:t>the</a:t>
            </a:r>
            <a:r>
              <a:rPr lang="en-US" sz="2494" spc="141" dirty="0">
                <a:cs typeface="Comic Sans MS"/>
              </a:rPr>
              <a:t> </a:t>
            </a:r>
            <a:r>
              <a:rPr lang="en-US" sz="2494" dirty="0">
                <a:cs typeface="Comic Sans MS"/>
              </a:rPr>
              <a:t>User</a:t>
            </a:r>
            <a:r>
              <a:rPr lang="en-US" sz="2494" spc="100" dirty="0">
                <a:cs typeface="Comic Sans MS"/>
              </a:rPr>
              <a:t> </a:t>
            </a:r>
            <a:r>
              <a:rPr lang="en-US" sz="2494" dirty="0">
                <a:cs typeface="Comic Sans MS"/>
              </a:rPr>
              <a:t>Authentication</a:t>
            </a:r>
            <a:r>
              <a:rPr lang="en-US" sz="2494" spc="136" dirty="0">
                <a:cs typeface="Comic Sans MS"/>
              </a:rPr>
              <a:t> </a:t>
            </a:r>
            <a:r>
              <a:rPr lang="en-US" sz="2494" spc="-9" dirty="0">
                <a:cs typeface="Comic Sans MS"/>
              </a:rPr>
              <a:t>Layer</a:t>
            </a:r>
            <a:endParaRPr lang="en-US" sz="2494" dirty="0">
              <a:cs typeface="Comic Sans MS"/>
            </a:endParaRPr>
          </a:p>
          <a:p>
            <a:pPr marL="321306" marR="4607" indent="-310366">
              <a:lnSpc>
                <a:spcPts val="2657"/>
              </a:lnSpc>
              <a:spcBef>
                <a:spcPts val="617"/>
              </a:spcBef>
              <a:buChar char="•"/>
              <a:tabLst>
                <a:tab pos="321306" algn="l"/>
              </a:tabLst>
            </a:pPr>
            <a:r>
              <a:rPr lang="en-US" sz="2494" dirty="0">
                <a:cs typeface="Comic Sans MS"/>
              </a:rPr>
              <a:t>It</a:t>
            </a:r>
            <a:r>
              <a:rPr lang="en-US" sz="2494" spc="103" dirty="0">
                <a:cs typeface="Comic Sans MS"/>
              </a:rPr>
              <a:t> </a:t>
            </a:r>
            <a:r>
              <a:rPr lang="en-US" sz="2494" dirty="0">
                <a:cs typeface="Comic Sans MS"/>
              </a:rPr>
              <a:t>multiplexes</a:t>
            </a:r>
            <a:r>
              <a:rPr lang="en-US" sz="2494" spc="50" dirty="0">
                <a:cs typeface="Comic Sans MS"/>
              </a:rPr>
              <a:t> </a:t>
            </a:r>
            <a:r>
              <a:rPr lang="en-US" sz="2494" dirty="0">
                <a:cs typeface="Comic Sans MS"/>
              </a:rPr>
              <a:t>the</a:t>
            </a:r>
            <a:r>
              <a:rPr lang="en-US" sz="2494" spc="113" dirty="0">
                <a:cs typeface="Comic Sans MS"/>
              </a:rPr>
              <a:t> </a:t>
            </a:r>
            <a:r>
              <a:rPr lang="en-US" sz="2494" dirty="0">
                <a:cs typeface="Comic Sans MS"/>
              </a:rPr>
              <a:t>encrypted</a:t>
            </a:r>
            <a:r>
              <a:rPr lang="en-US" sz="2494" spc="131" dirty="0">
                <a:cs typeface="Comic Sans MS"/>
              </a:rPr>
              <a:t> </a:t>
            </a:r>
            <a:r>
              <a:rPr lang="en-US" sz="2494" spc="-9" dirty="0">
                <a:solidFill>
                  <a:srgbClr val="0000FF"/>
                </a:solidFill>
                <a:cs typeface="Comic Sans MS"/>
              </a:rPr>
              <a:t>connection </a:t>
            </a:r>
            <a:r>
              <a:rPr lang="en-US" sz="2494" dirty="0">
                <a:cs typeface="Comic Sans MS"/>
              </a:rPr>
              <a:t>provided</a:t>
            </a:r>
            <a:r>
              <a:rPr lang="en-US" sz="2494" spc="50" dirty="0">
                <a:cs typeface="Comic Sans MS"/>
              </a:rPr>
              <a:t> </a:t>
            </a:r>
            <a:r>
              <a:rPr lang="en-US" sz="2494" dirty="0">
                <a:cs typeface="Comic Sans MS"/>
              </a:rPr>
              <a:t>by</a:t>
            </a:r>
            <a:r>
              <a:rPr lang="en-US" sz="2494" spc="82" dirty="0">
                <a:cs typeface="Comic Sans MS"/>
              </a:rPr>
              <a:t> </a:t>
            </a:r>
            <a:r>
              <a:rPr lang="en-US" sz="2494" dirty="0">
                <a:cs typeface="Comic Sans MS"/>
              </a:rPr>
              <a:t>the</a:t>
            </a:r>
            <a:r>
              <a:rPr lang="en-US" sz="2494" spc="82" dirty="0">
                <a:cs typeface="Comic Sans MS"/>
              </a:rPr>
              <a:t> </a:t>
            </a:r>
            <a:r>
              <a:rPr lang="en-US" sz="2494" dirty="0">
                <a:cs typeface="Comic Sans MS"/>
              </a:rPr>
              <a:t>Transport</a:t>
            </a:r>
            <a:r>
              <a:rPr lang="en-US" sz="2494" spc="77" dirty="0">
                <a:cs typeface="Comic Sans MS"/>
              </a:rPr>
              <a:t> </a:t>
            </a:r>
            <a:r>
              <a:rPr lang="en-US" sz="2494" dirty="0">
                <a:cs typeface="Comic Sans MS"/>
              </a:rPr>
              <a:t>Layer</a:t>
            </a:r>
            <a:r>
              <a:rPr lang="en-US" sz="2494" spc="54" dirty="0">
                <a:cs typeface="Comic Sans MS"/>
              </a:rPr>
              <a:t> </a:t>
            </a:r>
            <a:r>
              <a:rPr lang="en-US" sz="2494" spc="-18" dirty="0">
                <a:cs typeface="Comic Sans MS"/>
              </a:rPr>
              <a:t>into </a:t>
            </a:r>
            <a:r>
              <a:rPr lang="en-US" sz="2494" dirty="0">
                <a:cs typeface="Comic Sans MS"/>
              </a:rPr>
              <a:t>several</a:t>
            </a:r>
            <a:r>
              <a:rPr lang="en-US" sz="2494" spc="86" dirty="0">
                <a:cs typeface="Comic Sans MS"/>
              </a:rPr>
              <a:t> </a:t>
            </a:r>
            <a:r>
              <a:rPr lang="en-US" sz="2494" dirty="0">
                <a:solidFill>
                  <a:srgbClr val="FF0000"/>
                </a:solidFill>
                <a:cs typeface="Comic Sans MS"/>
              </a:rPr>
              <a:t>logical</a:t>
            </a:r>
            <a:r>
              <a:rPr lang="en-US" sz="2494" spc="109" dirty="0">
                <a:solidFill>
                  <a:srgbClr val="FF0000"/>
                </a:solidFill>
                <a:cs typeface="Comic Sans MS"/>
              </a:rPr>
              <a:t> </a:t>
            </a:r>
            <a:r>
              <a:rPr lang="en-US" sz="2494" spc="-9" dirty="0">
                <a:solidFill>
                  <a:srgbClr val="FF0000"/>
                </a:solidFill>
                <a:cs typeface="Comic Sans MS"/>
              </a:rPr>
              <a:t>channels</a:t>
            </a:r>
            <a:endParaRPr lang="en-US" sz="2494" dirty="0">
              <a:cs typeface="Comic Sans MS"/>
            </a:endParaRPr>
          </a:p>
          <a:p>
            <a:pPr marL="321306" indent="-309790">
              <a:spcBef>
                <a:spcPts val="249"/>
              </a:spcBef>
              <a:buChar char="•"/>
              <a:tabLst>
                <a:tab pos="321306" algn="l"/>
              </a:tabLst>
            </a:pPr>
            <a:r>
              <a:rPr lang="en-US" sz="2494" dirty="0">
                <a:cs typeface="Comic Sans MS"/>
              </a:rPr>
              <a:t>Channel</a:t>
            </a:r>
            <a:r>
              <a:rPr lang="en-US" sz="2494" spc="86" dirty="0">
                <a:cs typeface="Comic Sans MS"/>
              </a:rPr>
              <a:t> </a:t>
            </a:r>
            <a:r>
              <a:rPr lang="en-US" sz="2494" spc="-18" dirty="0">
                <a:cs typeface="Comic Sans MS"/>
              </a:rPr>
              <a:t>type:</a:t>
            </a:r>
            <a:endParaRPr lang="en-US" sz="2494" dirty="0">
              <a:cs typeface="Comic Sans MS"/>
            </a:endParaRPr>
          </a:p>
        </p:txBody>
      </p:sp>
      <p:sp>
        <p:nvSpPr>
          <p:cNvPr id="3" name="object 3"/>
          <p:cNvSpPr txBox="1"/>
          <p:nvPr/>
        </p:nvSpPr>
        <p:spPr>
          <a:xfrm>
            <a:off x="2637057" y="3453876"/>
            <a:ext cx="3826891" cy="1824479"/>
          </a:xfrm>
          <a:prstGeom prst="rect">
            <a:avLst/>
          </a:prstGeom>
        </p:spPr>
        <p:txBody>
          <a:bodyPr vert="horz" wrap="square" lIns="0" tIns="34549" rIns="0" bIns="0" rtlCol="0">
            <a:spAutoFit/>
          </a:bodyPr>
          <a:lstStyle/>
          <a:p>
            <a:pPr marL="269483" indent="-257966">
              <a:spcBef>
                <a:spcPts val="272"/>
              </a:spcBef>
              <a:buChar char="–"/>
              <a:tabLst>
                <a:tab pos="269483" algn="l"/>
              </a:tabLst>
            </a:pPr>
            <a:r>
              <a:rPr lang="en-US" sz="2176" dirty="0">
                <a:cs typeface="Comic Sans MS"/>
              </a:rPr>
              <a:t>Interactive</a:t>
            </a:r>
            <a:r>
              <a:rPr lang="en-US" sz="2176" spc="-131" dirty="0">
                <a:cs typeface="Comic Sans MS"/>
              </a:rPr>
              <a:t> </a:t>
            </a:r>
            <a:r>
              <a:rPr lang="en-US" sz="2176" spc="-9" dirty="0">
                <a:cs typeface="Comic Sans MS"/>
              </a:rPr>
              <a:t>session</a:t>
            </a:r>
            <a:endParaRPr lang="en-US" sz="2176" dirty="0">
              <a:cs typeface="Comic Sans MS"/>
            </a:endParaRPr>
          </a:p>
          <a:p>
            <a:pPr marL="269483" indent="-257966">
              <a:spcBef>
                <a:spcPts val="181"/>
              </a:spcBef>
              <a:buChar char="–"/>
              <a:tabLst>
                <a:tab pos="269483" algn="l"/>
              </a:tabLst>
            </a:pPr>
            <a:r>
              <a:rPr lang="en-US" sz="2176" dirty="0">
                <a:cs typeface="Comic Sans MS"/>
              </a:rPr>
              <a:t>Remote</a:t>
            </a:r>
            <a:r>
              <a:rPr lang="en-US" sz="2176" spc="-82" dirty="0">
                <a:cs typeface="Comic Sans MS"/>
              </a:rPr>
              <a:t> </a:t>
            </a:r>
            <a:r>
              <a:rPr lang="en-US" sz="2176" dirty="0">
                <a:cs typeface="Comic Sans MS"/>
              </a:rPr>
              <a:t>command</a:t>
            </a:r>
            <a:r>
              <a:rPr lang="en-US" sz="2176" spc="-36" dirty="0">
                <a:cs typeface="Comic Sans MS"/>
              </a:rPr>
              <a:t> </a:t>
            </a:r>
            <a:r>
              <a:rPr lang="en-US" sz="2176" spc="-9" dirty="0">
                <a:cs typeface="Comic Sans MS"/>
              </a:rPr>
              <a:t>execution</a:t>
            </a:r>
            <a:endParaRPr lang="en-US" sz="2176" dirty="0">
              <a:cs typeface="Comic Sans MS"/>
            </a:endParaRPr>
          </a:p>
          <a:p>
            <a:pPr marL="269483" indent="-257966">
              <a:spcBef>
                <a:spcPts val="249"/>
              </a:spcBef>
              <a:buChar char="–"/>
              <a:tabLst>
                <a:tab pos="269483" algn="l"/>
              </a:tabLst>
            </a:pPr>
            <a:r>
              <a:rPr lang="en-US" sz="2176" dirty="0">
                <a:cs typeface="Comic Sans MS"/>
              </a:rPr>
              <a:t>An</a:t>
            </a:r>
            <a:r>
              <a:rPr lang="en-US" sz="2176" spc="-5" dirty="0">
                <a:cs typeface="Comic Sans MS"/>
              </a:rPr>
              <a:t> </a:t>
            </a:r>
            <a:r>
              <a:rPr lang="en-US" sz="2176" dirty="0">
                <a:cs typeface="Comic Sans MS"/>
              </a:rPr>
              <a:t>X11</a:t>
            </a:r>
            <a:r>
              <a:rPr lang="en-US" sz="2176" spc="-45" dirty="0">
                <a:cs typeface="Comic Sans MS"/>
              </a:rPr>
              <a:t> </a:t>
            </a:r>
            <a:r>
              <a:rPr lang="en-US" sz="2176" dirty="0">
                <a:cs typeface="Comic Sans MS"/>
              </a:rPr>
              <a:t>client</a:t>
            </a:r>
            <a:r>
              <a:rPr lang="en-US" sz="2176" spc="-77" dirty="0">
                <a:cs typeface="Comic Sans MS"/>
              </a:rPr>
              <a:t> </a:t>
            </a:r>
            <a:r>
              <a:rPr lang="en-US" sz="2176" spc="-9" dirty="0">
                <a:cs typeface="Comic Sans MS"/>
              </a:rPr>
              <a:t>connection</a:t>
            </a:r>
            <a:endParaRPr lang="en-US" sz="2176" dirty="0">
              <a:cs typeface="Comic Sans MS"/>
            </a:endParaRPr>
          </a:p>
          <a:p>
            <a:pPr marL="269483" indent="-257966">
              <a:spcBef>
                <a:spcPts val="181"/>
              </a:spcBef>
              <a:buChar char="–"/>
              <a:tabLst>
                <a:tab pos="269483" algn="l"/>
              </a:tabLst>
            </a:pPr>
            <a:r>
              <a:rPr lang="en-US" sz="2176" dirty="0">
                <a:cs typeface="Comic Sans MS"/>
              </a:rPr>
              <a:t>TCP/IP</a:t>
            </a:r>
            <a:r>
              <a:rPr lang="en-US" sz="2176" spc="-63" dirty="0">
                <a:cs typeface="Comic Sans MS"/>
              </a:rPr>
              <a:t> </a:t>
            </a:r>
            <a:r>
              <a:rPr lang="en-US" sz="2176" dirty="0">
                <a:cs typeface="Comic Sans MS"/>
              </a:rPr>
              <a:t>port</a:t>
            </a:r>
            <a:r>
              <a:rPr lang="en-US" sz="2176" spc="-18" dirty="0">
                <a:cs typeface="Comic Sans MS"/>
              </a:rPr>
              <a:t> </a:t>
            </a:r>
            <a:r>
              <a:rPr lang="en-US" sz="2176" spc="-9" dirty="0">
                <a:cs typeface="Comic Sans MS"/>
              </a:rPr>
              <a:t>forwarding</a:t>
            </a:r>
            <a:endParaRPr lang="en-US" sz="2176" dirty="0">
              <a:cs typeface="Comic Sans MS"/>
            </a:endParaRPr>
          </a:p>
          <a:p>
            <a:pPr marL="269483" indent="-257966">
              <a:spcBef>
                <a:spcPts val="254"/>
              </a:spcBef>
              <a:buChar char="–"/>
              <a:tabLst>
                <a:tab pos="269483" algn="l"/>
              </a:tabLst>
            </a:pPr>
            <a:r>
              <a:rPr lang="en-US" sz="2176" spc="-23" dirty="0">
                <a:cs typeface="Comic Sans MS"/>
              </a:rPr>
              <a:t>...</a:t>
            </a:r>
            <a:endParaRPr lang="en-US" sz="2176" dirty="0">
              <a:cs typeface="Comic Sans MS"/>
            </a:endParaRPr>
          </a:p>
        </p:txBody>
      </p:sp>
      <p:sp>
        <p:nvSpPr>
          <p:cNvPr id="4" name="object 4" descr="$PPTXTitle"/>
          <p:cNvSpPr txBox="1">
            <a:spLocks noGrp="1"/>
          </p:cNvSpPr>
          <p:nvPr>
            <p:ph type="title"/>
          </p:nvPr>
        </p:nvSpPr>
        <p:spPr>
          <a:xfrm>
            <a:off x="2289839" y="458368"/>
            <a:ext cx="9535557" cy="947479"/>
          </a:xfrm>
          <a:prstGeom prst="rect">
            <a:avLst/>
          </a:prstGeom>
        </p:spPr>
        <p:txBody>
          <a:bodyPr vert="horz" wrap="square" lIns="0" tIns="267756" rIns="0" bIns="0" rtlCol="0" anchor="ctr">
            <a:spAutoFit/>
          </a:bodyPr>
          <a:lstStyle/>
          <a:p>
            <a:pPr marL="1649142">
              <a:lnSpc>
                <a:spcPct val="100000"/>
              </a:lnSpc>
              <a:spcBef>
                <a:spcPts val="95"/>
              </a:spcBef>
            </a:pPr>
            <a:r>
              <a:rPr lang="en-US"/>
              <a:t>Connection</a:t>
            </a:r>
            <a:r>
              <a:rPr lang="en-US" spc="-95"/>
              <a:t> </a:t>
            </a:r>
            <a:r>
              <a:rPr lang="en-US" spc="-9"/>
              <a:t>Layer</a:t>
            </a:r>
            <a:endParaRPr lang="en-US" spc="-9"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07137DA9-69EC-0E1B-02DB-0D8A708C1DF3}"/>
              </a:ext>
            </a:extLst>
          </p:cNvPr>
          <p:cNvSpPr>
            <a:spLocks noGrp="1"/>
          </p:cNvSpPr>
          <p:nvPr>
            <p:ph type="sldNum" sz="quarter" idx="10"/>
          </p:nvPr>
        </p:nvSpPr>
        <p:spPr/>
        <p:txBody>
          <a:bodyPr/>
          <a:lstStyle/>
          <a:p>
            <a:fld id="{A2329DAE-9697-774F-82D6-C2176CFAC44A}" type="slidenum">
              <a:rPr lang="en-US" altLang="en-US"/>
              <a:pPr/>
              <a:t>94</a:t>
            </a:fld>
            <a:endParaRPr lang="en-US" altLang="en-US"/>
          </a:p>
        </p:txBody>
      </p:sp>
      <p:sp>
        <p:nvSpPr>
          <p:cNvPr id="55298" name="Rectangle 2">
            <a:extLst>
              <a:ext uri="{FF2B5EF4-FFF2-40B4-BE49-F238E27FC236}">
                <a16:creationId xmlns:a16="http://schemas.microsoft.com/office/drawing/2014/main" id="{F4F27915-4CDE-C398-80AE-8911EDED6D87}"/>
              </a:ext>
            </a:extLst>
          </p:cNvPr>
          <p:cNvSpPr>
            <a:spLocks noGrp="1" noChangeArrowheads="1"/>
          </p:cNvSpPr>
          <p:nvPr>
            <p:ph type="title"/>
          </p:nvPr>
        </p:nvSpPr>
        <p:spPr/>
        <p:txBody>
          <a:bodyPr/>
          <a:lstStyle/>
          <a:p>
            <a:r>
              <a:rPr lang="en-US" altLang="en-US"/>
              <a:t>SSH – Connection Protocol</a:t>
            </a:r>
          </a:p>
        </p:txBody>
      </p:sp>
      <p:sp>
        <p:nvSpPr>
          <p:cNvPr id="55299" name="Rectangle 3">
            <a:extLst>
              <a:ext uri="{FF2B5EF4-FFF2-40B4-BE49-F238E27FC236}">
                <a16:creationId xmlns:a16="http://schemas.microsoft.com/office/drawing/2014/main" id="{369EFA16-581D-5109-BFBF-12009E436A6F}"/>
              </a:ext>
            </a:extLst>
          </p:cNvPr>
          <p:cNvSpPr>
            <a:spLocks noGrp="1" noChangeArrowheads="1"/>
          </p:cNvSpPr>
          <p:nvPr>
            <p:ph type="body" idx="1"/>
          </p:nvPr>
        </p:nvSpPr>
        <p:spPr/>
        <p:txBody>
          <a:bodyPr>
            <a:normAutofit fontScale="92500" lnSpcReduction="20000"/>
          </a:bodyPr>
          <a:lstStyle/>
          <a:p>
            <a:r>
              <a:rPr lang="en-US" altLang="en-US"/>
              <a:t>provides </a:t>
            </a:r>
          </a:p>
          <a:p>
            <a:pPr lvl="1"/>
            <a:r>
              <a:rPr lang="en-US" altLang="en-US"/>
              <a:t>interactive login sessions</a:t>
            </a:r>
          </a:p>
          <a:p>
            <a:pPr lvl="1"/>
            <a:r>
              <a:rPr lang="en-US" altLang="en-US"/>
              <a:t>remote execution of commands</a:t>
            </a:r>
          </a:p>
          <a:p>
            <a:pPr lvl="1"/>
            <a:r>
              <a:rPr lang="en-US" altLang="en-US"/>
              <a:t>forwarded TCP/IP connections</a:t>
            </a:r>
          </a:p>
          <a:p>
            <a:pPr lvl="1"/>
            <a:r>
              <a:rPr lang="en-US" altLang="en-US"/>
              <a:t>forwarded X11 connections</a:t>
            </a:r>
          </a:p>
          <a:p>
            <a:r>
              <a:rPr lang="en-US" altLang="en-US"/>
              <a:t>all these applications are implemented as “channels”</a:t>
            </a:r>
          </a:p>
          <a:p>
            <a:r>
              <a:rPr lang="en-US" altLang="en-US"/>
              <a:t>all channels are multiplexed into the single encrypted tunnel provided by the SSH Transport Layer Protocol</a:t>
            </a:r>
          </a:p>
          <a:p>
            <a:r>
              <a:rPr lang="en-US" altLang="en-US"/>
              <a:t>channels are identified by channel numbers at both ends of the connection</a:t>
            </a:r>
          </a:p>
          <a:p>
            <a:r>
              <a:rPr lang="en-US" altLang="en-US"/>
              <a:t>channel numbers for the same channel at the client and server sides may differ</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E2F69D6B-F97E-8E72-36FB-D0F1F6BE9892}"/>
              </a:ext>
            </a:extLst>
          </p:cNvPr>
          <p:cNvSpPr>
            <a:spLocks noGrp="1"/>
          </p:cNvSpPr>
          <p:nvPr>
            <p:ph type="sldNum" sz="quarter" idx="10"/>
          </p:nvPr>
        </p:nvSpPr>
        <p:spPr/>
        <p:txBody>
          <a:bodyPr/>
          <a:lstStyle/>
          <a:p>
            <a:fld id="{4707F89B-D9DF-014E-9D17-4281B3D987C3}" type="slidenum">
              <a:rPr lang="en-US" altLang="en-US"/>
              <a:pPr/>
              <a:t>95</a:t>
            </a:fld>
            <a:endParaRPr lang="en-US" altLang="en-US"/>
          </a:p>
        </p:txBody>
      </p:sp>
      <p:sp>
        <p:nvSpPr>
          <p:cNvPr id="56322" name="Rectangle 2">
            <a:extLst>
              <a:ext uri="{FF2B5EF4-FFF2-40B4-BE49-F238E27FC236}">
                <a16:creationId xmlns:a16="http://schemas.microsoft.com/office/drawing/2014/main" id="{460973D2-D6E4-8AD9-0E2C-EEF20DADD3AB}"/>
              </a:ext>
            </a:extLst>
          </p:cNvPr>
          <p:cNvSpPr>
            <a:spLocks noGrp="1" noChangeArrowheads="1"/>
          </p:cNvSpPr>
          <p:nvPr>
            <p:ph type="title"/>
          </p:nvPr>
        </p:nvSpPr>
        <p:spPr/>
        <p:txBody>
          <a:bodyPr/>
          <a:lstStyle/>
          <a:p>
            <a:r>
              <a:rPr lang="en-US" altLang="en-US"/>
              <a:t>Channel mechanisms</a:t>
            </a:r>
          </a:p>
        </p:txBody>
      </p:sp>
      <p:sp>
        <p:nvSpPr>
          <p:cNvPr id="56323" name="Rectangle 3">
            <a:extLst>
              <a:ext uri="{FF2B5EF4-FFF2-40B4-BE49-F238E27FC236}">
                <a16:creationId xmlns:a16="http://schemas.microsoft.com/office/drawing/2014/main" id="{72641D85-7AC8-8D20-7975-42E4F2BC9306}"/>
              </a:ext>
            </a:extLst>
          </p:cNvPr>
          <p:cNvSpPr>
            <a:spLocks noGrp="1" noChangeArrowheads="1"/>
          </p:cNvSpPr>
          <p:nvPr>
            <p:ph type="body" idx="1"/>
          </p:nvPr>
        </p:nvSpPr>
        <p:spPr/>
        <p:txBody>
          <a:bodyPr>
            <a:normAutofit fontScale="85000" lnSpcReduction="20000"/>
          </a:bodyPr>
          <a:lstStyle/>
          <a:p>
            <a:pPr>
              <a:lnSpc>
                <a:spcPct val="90000"/>
              </a:lnSpc>
            </a:pPr>
            <a:r>
              <a:rPr lang="en-US" altLang="en-US"/>
              <a:t>opening a channel</a:t>
            </a:r>
          </a:p>
          <a:p>
            <a:pPr lvl="1">
              <a:lnSpc>
                <a:spcPct val="90000"/>
              </a:lnSpc>
            </a:pPr>
            <a:r>
              <a:rPr lang="en-US" altLang="en-US"/>
              <a:t>SSH_MSG_CHANNEL_OPEN</a:t>
            </a:r>
          </a:p>
          <a:p>
            <a:pPr lvl="2">
              <a:lnSpc>
                <a:spcPct val="90000"/>
              </a:lnSpc>
            </a:pPr>
            <a:r>
              <a:rPr lang="en-US" altLang="en-US"/>
              <a:t>channel type</a:t>
            </a:r>
          </a:p>
          <a:p>
            <a:pPr lvl="2">
              <a:lnSpc>
                <a:spcPct val="90000"/>
              </a:lnSpc>
            </a:pPr>
            <a:r>
              <a:rPr lang="en-US" altLang="en-US"/>
              <a:t>sender channel number</a:t>
            </a:r>
          </a:p>
          <a:p>
            <a:pPr lvl="2">
              <a:lnSpc>
                <a:spcPct val="90000"/>
              </a:lnSpc>
            </a:pPr>
            <a:r>
              <a:rPr lang="en-US" altLang="en-US"/>
              <a:t>initial window size</a:t>
            </a:r>
          </a:p>
          <a:p>
            <a:pPr lvl="2">
              <a:lnSpc>
                <a:spcPct val="90000"/>
              </a:lnSpc>
            </a:pPr>
            <a:r>
              <a:rPr lang="en-US" altLang="en-US"/>
              <a:t>maximum packet size</a:t>
            </a:r>
          </a:p>
          <a:p>
            <a:pPr lvl="2">
              <a:lnSpc>
                <a:spcPct val="90000"/>
              </a:lnSpc>
            </a:pPr>
            <a:r>
              <a:rPr lang="en-US" altLang="en-US"/>
              <a:t>… channel type specific data …</a:t>
            </a:r>
          </a:p>
          <a:p>
            <a:pPr lvl="1">
              <a:lnSpc>
                <a:spcPct val="90000"/>
              </a:lnSpc>
            </a:pPr>
            <a:r>
              <a:rPr lang="en-US" altLang="en-US"/>
              <a:t>SSH_MSG_CHANNEL_OPEN_CONFIRMATION</a:t>
            </a:r>
          </a:p>
          <a:p>
            <a:pPr lvl="2">
              <a:lnSpc>
                <a:spcPct val="90000"/>
              </a:lnSpc>
            </a:pPr>
            <a:r>
              <a:rPr lang="en-US" altLang="en-US"/>
              <a:t>recipient channel number (sender channel number from the open request)</a:t>
            </a:r>
          </a:p>
          <a:p>
            <a:pPr lvl="2">
              <a:lnSpc>
                <a:spcPct val="90000"/>
              </a:lnSpc>
            </a:pPr>
            <a:r>
              <a:rPr lang="en-US" altLang="en-US"/>
              <a:t>sender channel number</a:t>
            </a:r>
          </a:p>
          <a:p>
            <a:pPr lvl="2">
              <a:lnSpc>
                <a:spcPct val="90000"/>
              </a:lnSpc>
            </a:pPr>
            <a:r>
              <a:rPr lang="en-US" altLang="en-US"/>
              <a:t>initial window size</a:t>
            </a:r>
          </a:p>
          <a:p>
            <a:pPr lvl="2">
              <a:lnSpc>
                <a:spcPct val="90000"/>
              </a:lnSpc>
            </a:pPr>
            <a:r>
              <a:rPr lang="en-US" altLang="en-US"/>
              <a:t>maximum packet size</a:t>
            </a:r>
          </a:p>
          <a:p>
            <a:pPr lvl="2">
              <a:lnSpc>
                <a:spcPct val="90000"/>
              </a:lnSpc>
            </a:pPr>
            <a:r>
              <a:rPr lang="en-US" altLang="en-US"/>
              <a:t>… channel type specific data …</a:t>
            </a:r>
          </a:p>
          <a:p>
            <a:pPr lvl="1">
              <a:lnSpc>
                <a:spcPct val="90000"/>
              </a:lnSpc>
            </a:pPr>
            <a:r>
              <a:rPr lang="en-US" altLang="en-US"/>
              <a:t>SSH_MSG_CHANNEL_OPEN_FAILURE</a:t>
            </a:r>
          </a:p>
          <a:p>
            <a:pPr lvl="2">
              <a:lnSpc>
                <a:spcPct val="90000"/>
              </a:lnSpc>
            </a:pPr>
            <a:r>
              <a:rPr lang="en-US" altLang="en-US"/>
              <a:t>recipient channel number (sender channel number from the open request)</a:t>
            </a:r>
          </a:p>
          <a:p>
            <a:pPr lvl="2">
              <a:lnSpc>
                <a:spcPct val="90000"/>
              </a:lnSpc>
            </a:pPr>
            <a:r>
              <a:rPr lang="en-US" altLang="en-US"/>
              <a:t>reason code and additional textual information</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8675708D-E748-287C-5335-AD51A07937C7}"/>
              </a:ext>
            </a:extLst>
          </p:cNvPr>
          <p:cNvSpPr>
            <a:spLocks noGrp="1"/>
          </p:cNvSpPr>
          <p:nvPr>
            <p:ph type="sldNum" sz="quarter" idx="10"/>
          </p:nvPr>
        </p:nvSpPr>
        <p:spPr/>
        <p:txBody>
          <a:bodyPr/>
          <a:lstStyle/>
          <a:p>
            <a:fld id="{E100F343-A6CF-5A47-B7D7-567BB3ED45FA}" type="slidenum">
              <a:rPr lang="en-US" altLang="en-US"/>
              <a:pPr/>
              <a:t>96</a:t>
            </a:fld>
            <a:endParaRPr lang="en-US" altLang="en-US"/>
          </a:p>
        </p:txBody>
      </p:sp>
      <p:sp>
        <p:nvSpPr>
          <p:cNvPr id="58370" name="Rectangle 2">
            <a:extLst>
              <a:ext uri="{FF2B5EF4-FFF2-40B4-BE49-F238E27FC236}">
                <a16:creationId xmlns:a16="http://schemas.microsoft.com/office/drawing/2014/main" id="{B366DAF8-16B8-8ECD-9C2D-3C3FCF013C72}"/>
              </a:ext>
            </a:extLst>
          </p:cNvPr>
          <p:cNvSpPr>
            <a:spLocks noGrp="1" noChangeArrowheads="1"/>
          </p:cNvSpPr>
          <p:nvPr>
            <p:ph type="title"/>
          </p:nvPr>
        </p:nvSpPr>
        <p:spPr/>
        <p:txBody>
          <a:bodyPr/>
          <a:lstStyle/>
          <a:p>
            <a:r>
              <a:rPr lang="en-US" altLang="en-US"/>
              <a:t>Channel mechanisms cont’d</a:t>
            </a:r>
          </a:p>
        </p:txBody>
      </p:sp>
      <p:sp>
        <p:nvSpPr>
          <p:cNvPr id="58371" name="Rectangle 3">
            <a:extLst>
              <a:ext uri="{FF2B5EF4-FFF2-40B4-BE49-F238E27FC236}">
                <a16:creationId xmlns:a16="http://schemas.microsoft.com/office/drawing/2014/main" id="{A1BDEB33-3D3F-018E-E672-06B832378E57}"/>
              </a:ext>
            </a:extLst>
          </p:cNvPr>
          <p:cNvSpPr>
            <a:spLocks noGrp="1" noChangeArrowheads="1"/>
          </p:cNvSpPr>
          <p:nvPr>
            <p:ph type="body" idx="1"/>
          </p:nvPr>
        </p:nvSpPr>
        <p:spPr/>
        <p:txBody>
          <a:bodyPr>
            <a:normAutofit fontScale="85000" lnSpcReduction="20000"/>
          </a:bodyPr>
          <a:lstStyle/>
          <a:p>
            <a:pPr>
              <a:lnSpc>
                <a:spcPct val="90000"/>
              </a:lnSpc>
            </a:pPr>
            <a:r>
              <a:rPr lang="en-US" altLang="en-US"/>
              <a:t>data transfer over a channel</a:t>
            </a:r>
          </a:p>
          <a:p>
            <a:pPr lvl="1">
              <a:lnSpc>
                <a:spcPct val="90000"/>
              </a:lnSpc>
            </a:pPr>
            <a:r>
              <a:rPr lang="en-US" altLang="en-US"/>
              <a:t>SSH_MSG_CHANNEL_DATA</a:t>
            </a:r>
          </a:p>
          <a:p>
            <a:pPr lvl="2">
              <a:lnSpc>
                <a:spcPct val="90000"/>
              </a:lnSpc>
            </a:pPr>
            <a:r>
              <a:rPr lang="en-US" altLang="en-US"/>
              <a:t>recipient channel number</a:t>
            </a:r>
          </a:p>
          <a:p>
            <a:pPr lvl="2">
              <a:lnSpc>
                <a:spcPct val="90000"/>
              </a:lnSpc>
            </a:pPr>
            <a:r>
              <a:rPr lang="en-US" altLang="en-US"/>
              <a:t>data</a:t>
            </a:r>
          </a:p>
          <a:p>
            <a:pPr lvl="1">
              <a:lnSpc>
                <a:spcPct val="90000"/>
              </a:lnSpc>
            </a:pPr>
            <a:r>
              <a:rPr lang="en-US" altLang="en-US"/>
              <a:t>SSH_MSG_CHANNEL_WINDOW_ADJUST</a:t>
            </a:r>
          </a:p>
          <a:p>
            <a:pPr lvl="2">
              <a:lnSpc>
                <a:spcPct val="90000"/>
              </a:lnSpc>
            </a:pPr>
            <a:r>
              <a:rPr lang="en-US" altLang="en-US"/>
              <a:t>recipient channel number</a:t>
            </a:r>
          </a:p>
          <a:p>
            <a:pPr lvl="2">
              <a:lnSpc>
                <a:spcPct val="90000"/>
              </a:lnSpc>
            </a:pPr>
            <a:r>
              <a:rPr lang="en-US" altLang="en-US"/>
              <a:t>bytes to add to the window size</a:t>
            </a:r>
          </a:p>
          <a:p>
            <a:pPr>
              <a:lnSpc>
                <a:spcPct val="90000"/>
              </a:lnSpc>
            </a:pPr>
            <a:r>
              <a:rPr lang="en-US" altLang="en-US"/>
              <a:t>closing a channel</a:t>
            </a:r>
          </a:p>
          <a:p>
            <a:pPr lvl="1">
              <a:lnSpc>
                <a:spcPct val="90000"/>
              </a:lnSpc>
            </a:pPr>
            <a:r>
              <a:rPr lang="en-US" altLang="en-US"/>
              <a:t>SSH_MSG_CHANNEL_EOF</a:t>
            </a:r>
          </a:p>
          <a:p>
            <a:pPr lvl="2">
              <a:lnSpc>
                <a:spcPct val="90000"/>
              </a:lnSpc>
            </a:pPr>
            <a:r>
              <a:rPr lang="en-US" altLang="en-US"/>
              <a:t>recipient channel number</a:t>
            </a:r>
          </a:p>
          <a:p>
            <a:pPr lvl="2">
              <a:lnSpc>
                <a:spcPct val="90000"/>
              </a:lnSpc>
              <a:buFontTx/>
              <a:buNone/>
            </a:pPr>
            <a:r>
              <a:rPr lang="en-US" altLang="en-US"/>
              <a:t>(sent if the party doesn’t want to send more data)</a:t>
            </a:r>
          </a:p>
          <a:p>
            <a:pPr lvl="1">
              <a:lnSpc>
                <a:spcPct val="90000"/>
              </a:lnSpc>
            </a:pPr>
            <a:r>
              <a:rPr lang="en-US" altLang="en-US"/>
              <a:t>SSH_MSG_CHANNEL_CLOSE</a:t>
            </a:r>
          </a:p>
          <a:p>
            <a:pPr lvl="2">
              <a:lnSpc>
                <a:spcPct val="90000"/>
              </a:lnSpc>
            </a:pPr>
            <a:r>
              <a:rPr lang="en-US" altLang="en-US"/>
              <a:t>recipient channel</a:t>
            </a:r>
          </a:p>
          <a:p>
            <a:pPr lvl="2">
              <a:lnSpc>
                <a:spcPct val="90000"/>
              </a:lnSpc>
              <a:buFontTx/>
              <a:buNone/>
            </a:pPr>
            <a:r>
              <a:rPr lang="en-US" altLang="en-US"/>
              <a:t>(receiving party must respond with an SSH_MSG_CHANNEL_CLOSE,</a:t>
            </a:r>
          </a:p>
          <a:p>
            <a:pPr lvl="2">
              <a:lnSpc>
                <a:spcPct val="90000"/>
              </a:lnSpc>
              <a:buFontTx/>
              <a:buNone/>
            </a:pPr>
            <a:r>
              <a:rPr lang="en-US" altLang="en-US"/>
              <a:t>  the channel is closed if the party has sent and received the closing msg)</a:t>
            </a:r>
          </a:p>
          <a:p>
            <a:pPr>
              <a:lnSpc>
                <a:spcPct val="90000"/>
              </a:lnSpc>
            </a:pPr>
            <a:endParaRPr lang="en-US" alt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FF494A2C-F371-1572-9D62-1F86A534CF54}"/>
              </a:ext>
            </a:extLst>
          </p:cNvPr>
          <p:cNvSpPr>
            <a:spLocks noGrp="1" noChangeArrowheads="1"/>
          </p:cNvSpPr>
          <p:nvPr>
            <p:ph type="title"/>
          </p:nvPr>
        </p:nvSpPr>
        <p:spPr/>
        <p:txBody>
          <a:bodyPr/>
          <a:lstStyle/>
          <a:p>
            <a:r>
              <a:rPr lang="en-US" altLang="en-US"/>
              <a:t>Channel mechanisms cont’d</a:t>
            </a:r>
          </a:p>
        </p:txBody>
      </p:sp>
      <p:sp>
        <p:nvSpPr>
          <p:cNvPr id="59395" name="Rectangle 3">
            <a:extLst>
              <a:ext uri="{FF2B5EF4-FFF2-40B4-BE49-F238E27FC236}">
                <a16:creationId xmlns:a16="http://schemas.microsoft.com/office/drawing/2014/main" id="{CF678A5E-7D6D-D36C-7A23-5FC5E1E73617}"/>
              </a:ext>
            </a:extLst>
          </p:cNvPr>
          <p:cNvSpPr>
            <a:spLocks noGrp="1" noChangeArrowheads="1"/>
          </p:cNvSpPr>
          <p:nvPr>
            <p:ph type="body" idx="1"/>
          </p:nvPr>
        </p:nvSpPr>
        <p:spPr/>
        <p:txBody>
          <a:bodyPr/>
          <a:lstStyle/>
          <a:p>
            <a:r>
              <a:rPr lang="en-US" altLang="en-US"/>
              <a:t>channel type specific requests</a:t>
            </a:r>
          </a:p>
          <a:p>
            <a:pPr lvl="1"/>
            <a:r>
              <a:rPr lang="en-US" altLang="en-US"/>
              <a:t>SSH_MSG_CHANNEL_REQUEST</a:t>
            </a:r>
          </a:p>
          <a:p>
            <a:pPr lvl="2"/>
            <a:r>
              <a:rPr lang="en-US" altLang="en-US"/>
              <a:t>recipient channel number</a:t>
            </a:r>
          </a:p>
          <a:p>
            <a:pPr lvl="2"/>
            <a:r>
              <a:rPr lang="en-US" altLang="en-US"/>
              <a:t>request type</a:t>
            </a:r>
          </a:p>
          <a:p>
            <a:pPr lvl="2"/>
            <a:r>
              <a:rPr lang="en-US" altLang="en-US"/>
              <a:t>want reply flag (TRUE if reply is needed)</a:t>
            </a:r>
          </a:p>
          <a:p>
            <a:pPr lvl="2"/>
            <a:r>
              <a:rPr lang="en-US" altLang="en-US"/>
              <a:t>… request type specific data …</a:t>
            </a:r>
          </a:p>
          <a:p>
            <a:pPr lvl="1"/>
            <a:r>
              <a:rPr lang="en-US" altLang="en-US"/>
              <a:t>SSH_MSG_CHANNEL_SUCCESS</a:t>
            </a:r>
          </a:p>
          <a:p>
            <a:pPr lvl="2"/>
            <a:r>
              <a:rPr lang="en-US" altLang="en-US"/>
              <a:t>recipient channel</a:t>
            </a:r>
          </a:p>
          <a:p>
            <a:pPr lvl="1"/>
            <a:r>
              <a:rPr lang="en-US" altLang="en-US"/>
              <a:t>SSH_MSG_CHANNEL_FAILURE</a:t>
            </a:r>
          </a:p>
          <a:p>
            <a:pPr lvl="2"/>
            <a:r>
              <a:rPr lang="en-US" altLang="en-US"/>
              <a:t>recipient channel</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6D1C7882-7F6C-F0F8-DEAD-0B3B9D014F83}"/>
              </a:ext>
            </a:extLst>
          </p:cNvPr>
          <p:cNvSpPr>
            <a:spLocks noGrp="1"/>
          </p:cNvSpPr>
          <p:nvPr>
            <p:ph type="sldNum" sz="quarter" idx="10"/>
          </p:nvPr>
        </p:nvSpPr>
        <p:spPr/>
        <p:txBody>
          <a:bodyPr/>
          <a:lstStyle/>
          <a:p>
            <a:fld id="{4FB3BB2B-BA4E-DF45-BCF4-93C15A91A519}" type="slidenum">
              <a:rPr lang="en-US" altLang="en-US"/>
              <a:pPr/>
              <a:t>98</a:t>
            </a:fld>
            <a:endParaRPr lang="en-US" altLang="en-US"/>
          </a:p>
        </p:txBody>
      </p:sp>
      <p:sp>
        <p:nvSpPr>
          <p:cNvPr id="57346" name="Rectangle 2">
            <a:extLst>
              <a:ext uri="{FF2B5EF4-FFF2-40B4-BE49-F238E27FC236}">
                <a16:creationId xmlns:a16="http://schemas.microsoft.com/office/drawing/2014/main" id="{9CC26B45-7A63-C6BC-FC3B-65F1E4BC92D9}"/>
              </a:ext>
            </a:extLst>
          </p:cNvPr>
          <p:cNvSpPr>
            <a:spLocks noGrp="1" noChangeArrowheads="1"/>
          </p:cNvSpPr>
          <p:nvPr>
            <p:ph type="title"/>
          </p:nvPr>
        </p:nvSpPr>
        <p:spPr/>
        <p:txBody>
          <a:bodyPr/>
          <a:lstStyle/>
          <a:p>
            <a:r>
              <a:rPr lang="en-US" altLang="en-US"/>
              <a:t>Example: Starting a remote shell</a:t>
            </a:r>
          </a:p>
        </p:txBody>
      </p:sp>
      <p:sp>
        <p:nvSpPr>
          <p:cNvPr id="57347" name="Rectangle 3">
            <a:extLst>
              <a:ext uri="{FF2B5EF4-FFF2-40B4-BE49-F238E27FC236}">
                <a16:creationId xmlns:a16="http://schemas.microsoft.com/office/drawing/2014/main" id="{5E910775-33BA-B8BB-33F1-1952A9782F54}"/>
              </a:ext>
            </a:extLst>
          </p:cNvPr>
          <p:cNvSpPr>
            <a:spLocks noGrp="1" noChangeArrowheads="1"/>
          </p:cNvSpPr>
          <p:nvPr>
            <p:ph type="body" idx="1"/>
          </p:nvPr>
        </p:nvSpPr>
        <p:spPr/>
        <p:txBody>
          <a:bodyPr/>
          <a:lstStyle/>
          <a:p>
            <a:pPr>
              <a:buFont typeface="Wingdings" pitchFamily="2" charset="2"/>
              <a:buNone/>
            </a:pPr>
            <a:r>
              <a:rPr lang="en-US" altLang="en-US" sz="2000"/>
              <a:t>C </a:t>
            </a:r>
            <a:r>
              <a:rPr lang="en-US" altLang="en-US" sz="2000">
                <a:sym typeface="Wingdings" pitchFamily="2" charset="2"/>
              </a:rPr>
              <a:t> S: SSH_MSG_CHANNEL_OPEN</a:t>
            </a:r>
          </a:p>
          <a:p>
            <a:pPr lvl="2"/>
            <a:r>
              <a:rPr lang="en-US" altLang="en-US"/>
              <a:t>channel type = “session”</a:t>
            </a:r>
          </a:p>
          <a:p>
            <a:pPr lvl="2"/>
            <a:r>
              <a:rPr lang="en-US" altLang="en-US"/>
              <a:t>sender channel number = 5</a:t>
            </a:r>
          </a:p>
          <a:p>
            <a:pPr lvl="2"/>
            <a:r>
              <a:rPr lang="en-US" altLang="en-US"/>
              <a:t>initial window size</a:t>
            </a:r>
          </a:p>
          <a:p>
            <a:pPr lvl="2"/>
            <a:r>
              <a:rPr lang="en-US" altLang="en-US"/>
              <a:t>maximum packet size</a:t>
            </a:r>
          </a:p>
          <a:p>
            <a:pPr lvl="2"/>
            <a:endParaRPr lang="en-US" altLang="en-US"/>
          </a:p>
          <a:p>
            <a:pPr>
              <a:buFont typeface="Wingdings" pitchFamily="2" charset="2"/>
              <a:buNone/>
            </a:pPr>
            <a:r>
              <a:rPr lang="en-US" altLang="en-US" sz="2000"/>
              <a:t>C </a:t>
            </a:r>
            <a:r>
              <a:rPr lang="en-US" altLang="en-US" sz="2000">
                <a:sym typeface="Wingdings" pitchFamily="2" charset="2"/>
              </a:rPr>
              <a:t> S: SSH_MSG_CHANNEL_OPEN_CONFIRMATION</a:t>
            </a:r>
          </a:p>
          <a:p>
            <a:pPr lvl="2"/>
            <a:r>
              <a:rPr lang="en-US" altLang="en-US"/>
              <a:t>recipient channel number = 5</a:t>
            </a:r>
          </a:p>
          <a:p>
            <a:pPr lvl="2"/>
            <a:r>
              <a:rPr lang="en-US" altLang="en-US"/>
              <a:t>sender channel number = 21</a:t>
            </a:r>
          </a:p>
          <a:p>
            <a:pPr lvl="2"/>
            <a:r>
              <a:rPr lang="en-US" altLang="en-US"/>
              <a:t>initial window size</a:t>
            </a:r>
          </a:p>
          <a:p>
            <a:pPr lvl="2"/>
            <a:r>
              <a:rPr lang="en-US" altLang="en-US"/>
              <a:t>maximum packet size</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B5ECA122-F849-68AB-F96C-5C93405D03B3}"/>
              </a:ext>
            </a:extLst>
          </p:cNvPr>
          <p:cNvSpPr>
            <a:spLocks noGrp="1"/>
          </p:cNvSpPr>
          <p:nvPr>
            <p:ph type="sldNum" sz="quarter" idx="10"/>
          </p:nvPr>
        </p:nvSpPr>
        <p:spPr/>
        <p:txBody>
          <a:bodyPr/>
          <a:lstStyle/>
          <a:p>
            <a:fld id="{13688D5D-8655-1442-9EB7-5D1CA021C5B7}" type="slidenum">
              <a:rPr lang="en-US" altLang="en-US"/>
              <a:pPr/>
              <a:t>99</a:t>
            </a:fld>
            <a:endParaRPr lang="en-US" altLang="en-US"/>
          </a:p>
        </p:txBody>
      </p:sp>
      <p:sp>
        <p:nvSpPr>
          <p:cNvPr id="60418" name="Rectangle 2">
            <a:extLst>
              <a:ext uri="{FF2B5EF4-FFF2-40B4-BE49-F238E27FC236}">
                <a16:creationId xmlns:a16="http://schemas.microsoft.com/office/drawing/2014/main" id="{63C32BB7-C5B0-5A45-0C13-77D23597E987}"/>
              </a:ext>
            </a:extLst>
          </p:cNvPr>
          <p:cNvSpPr>
            <a:spLocks noGrp="1" noChangeArrowheads="1"/>
          </p:cNvSpPr>
          <p:nvPr>
            <p:ph type="title"/>
          </p:nvPr>
        </p:nvSpPr>
        <p:spPr/>
        <p:txBody>
          <a:bodyPr/>
          <a:lstStyle/>
          <a:p>
            <a:r>
              <a:rPr lang="en-US" altLang="en-US"/>
              <a:t>Example: Starting a remote shell cont’d</a:t>
            </a:r>
          </a:p>
        </p:txBody>
      </p:sp>
      <p:sp>
        <p:nvSpPr>
          <p:cNvPr id="60419" name="Rectangle 3">
            <a:extLst>
              <a:ext uri="{FF2B5EF4-FFF2-40B4-BE49-F238E27FC236}">
                <a16:creationId xmlns:a16="http://schemas.microsoft.com/office/drawing/2014/main" id="{83073492-9560-ABA4-B4F1-3F84E0FEBE94}"/>
              </a:ext>
            </a:extLst>
          </p:cNvPr>
          <p:cNvSpPr>
            <a:spLocks noGrp="1" noChangeArrowheads="1"/>
          </p:cNvSpPr>
          <p:nvPr>
            <p:ph type="body" idx="1"/>
          </p:nvPr>
        </p:nvSpPr>
        <p:spPr/>
        <p:txBody>
          <a:bodyPr/>
          <a:lstStyle/>
          <a:p>
            <a:pPr>
              <a:buFont typeface="Wingdings" pitchFamily="2" charset="2"/>
              <a:buNone/>
            </a:pPr>
            <a:r>
              <a:rPr lang="en-US" altLang="en-US" sz="2000"/>
              <a:t>C </a:t>
            </a:r>
            <a:r>
              <a:rPr lang="en-US" altLang="en-US" sz="2000">
                <a:sym typeface="Wingdings" pitchFamily="2" charset="2"/>
              </a:rPr>
              <a:t> S: SSH_MSG_CHANNEL_REQUEST</a:t>
            </a:r>
          </a:p>
          <a:p>
            <a:pPr lvl="2"/>
            <a:r>
              <a:rPr lang="en-US" altLang="en-US">
                <a:sym typeface="Wingdings" pitchFamily="2" charset="2"/>
              </a:rPr>
              <a:t>recipient channel number = 21</a:t>
            </a:r>
          </a:p>
          <a:p>
            <a:pPr lvl="2"/>
            <a:r>
              <a:rPr lang="en-US" altLang="en-US">
                <a:sym typeface="Wingdings" pitchFamily="2" charset="2"/>
              </a:rPr>
              <a:t>request type = “pty-req” (pseudo terminal request)</a:t>
            </a:r>
          </a:p>
          <a:p>
            <a:pPr lvl="2"/>
            <a:r>
              <a:rPr lang="en-US" altLang="en-US">
                <a:sym typeface="Wingdings" pitchFamily="2" charset="2"/>
              </a:rPr>
              <a:t>want reply flag = TRUE</a:t>
            </a:r>
          </a:p>
          <a:p>
            <a:pPr lvl="2"/>
            <a:r>
              <a:rPr lang="en-US" altLang="en-US">
                <a:sym typeface="Wingdings" pitchFamily="2" charset="2"/>
              </a:rPr>
              <a:t>TERM environment variable value (e.g., vt100)</a:t>
            </a:r>
          </a:p>
          <a:p>
            <a:pPr lvl="2"/>
            <a:r>
              <a:rPr lang="en-US" altLang="en-US">
                <a:sym typeface="Wingdings" pitchFamily="2" charset="2"/>
              </a:rPr>
              <a:t>terminal width in characters (e.g., 80)</a:t>
            </a:r>
          </a:p>
          <a:p>
            <a:pPr lvl="2"/>
            <a:r>
              <a:rPr lang="en-US" altLang="en-US">
                <a:sym typeface="Wingdings" pitchFamily="2" charset="2"/>
              </a:rPr>
              <a:t>terminal height in rows (e.g., 24)</a:t>
            </a:r>
          </a:p>
          <a:p>
            <a:pPr lvl="2"/>
            <a:r>
              <a:rPr lang="en-US" altLang="en-US">
                <a:sym typeface="Wingdings" pitchFamily="2" charset="2"/>
              </a:rPr>
              <a:t>…</a:t>
            </a:r>
          </a:p>
          <a:p>
            <a:pPr lvl="2"/>
            <a:endParaRPr lang="en-US" altLang="en-US">
              <a:sym typeface="Wingdings" pitchFamily="2" charset="2"/>
            </a:endParaRPr>
          </a:p>
          <a:p>
            <a:pPr>
              <a:buFont typeface="Wingdings" pitchFamily="2" charset="2"/>
              <a:buNone/>
            </a:pPr>
            <a:r>
              <a:rPr lang="en-US" altLang="en-US" sz="2000"/>
              <a:t>C </a:t>
            </a:r>
            <a:r>
              <a:rPr lang="en-US" altLang="en-US" sz="2000">
                <a:sym typeface="Wingdings" pitchFamily="2" charset="2"/>
              </a:rPr>
              <a:t> S: SSH_MSG_CHANNEL_SUCCESS</a:t>
            </a:r>
          </a:p>
          <a:p>
            <a:pPr lvl="2"/>
            <a:r>
              <a:rPr lang="en-US" altLang="en-US">
                <a:sym typeface="Wingdings" pitchFamily="2" charset="2"/>
              </a:rPr>
              <a:t>recipient channel number = 5</a:t>
            </a:r>
          </a:p>
          <a:p>
            <a:endParaRPr lang="en-US" altLang="en-US">
              <a:sym typeface="Wingdings" pitchFamily="2" charset="2"/>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B597A59D-E07D-4027-CE58-5F69B5E98590}"/>
              </a:ext>
            </a:extLst>
          </p:cNvPr>
          <p:cNvSpPr>
            <a:spLocks noGrp="1"/>
          </p:cNvSpPr>
          <p:nvPr>
            <p:ph type="sldNum" sz="quarter" idx="10"/>
          </p:nvPr>
        </p:nvSpPr>
        <p:spPr/>
        <p:txBody>
          <a:bodyPr/>
          <a:lstStyle/>
          <a:p>
            <a:fld id="{795AB42E-9445-F540-B3A0-6832B7DC77AE}" type="slidenum">
              <a:rPr lang="en-US" altLang="en-US"/>
              <a:pPr/>
              <a:t>100</a:t>
            </a:fld>
            <a:endParaRPr lang="en-US" altLang="en-US"/>
          </a:p>
        </p:txBody>
      </p:sp>
      <p:sp>
        <p:nvSpPr>
          <p:cNvPr id="61442" name="Rectangle 2">
            <a:extLst>
              <a:ext uri="{FF2B5EF4-FFF2-40B4-BE49-F238E27FC236}">
                <a16:creationId xmlns:a16="http://schemas.microsoft.com/office/drawing/2014/main" id="{6D815F6D-A2E3-16A3-7763-F4653C6BEEB6}"/>
              </a:ext>
            </a:extLst>
          </p:cNvPr>
          <p:cNvSpPr>
            <a:spLocks noGrp="1" noChangeArrowheads="1"/>
          </p:cNvSpPr>
          <p:nvPr>
            <p:ph type="title"/>
          </p:nvPr>
        </p:nvSpPr>
        <p:spPr/>
        <p:txBody>
          <a:bodyPr/>
          <a:lstStyle/>
          <a:p>
            <a:r>
              <a:rPr lang="en-US" altLang="en-US"/>
              <a:t>Example: Starting a remote shell cont’d</a:t>
            </a:r>
          </a:p>
        </p:txBody>
      </p:sp>
      <p:sp>
        <p:nvSpPr>
          <p:cNvPr id="61443" name="Rectangle 3">
            <a:extLst>
              <a:ext uri="{FF2B5EF4-FFF2-40B4-BE49-F238E27FC236}">
                <a16:creationId xmlns:a16="http://schemas.microsoft.com/office/drawing/2014/main" id="{1FBEBC9B-D1D0-F0FF-5032-1B3FA146C8D8}"/>
              </a:ext>
            </a:extLst>
          </p:cNvPr>
          <p:cNvSpPr>
            <a:spLocks noGrp="1" noChangeArrowheads="1"/>
          </p:cNvSpPr>
          <p:nvPr>
            <p:ph type="body" idx="1"/>
          </p:nvPr>
        </p:nvSpPr>
        <p:spPr/>
        <p:txBody>
          <a:bodyPr/>
          <a:lstStyle/>
          <a:p>
            <a:pPr>
              <a:buFont typeface="Wingdings" pitchFamily="2" charset="2"/>
              <a:buNone/>
            </a:pPr>
            <a:r>
              <a:rPr lang="en-US" altLang="en-US" sz="2000" dirty="0"/>
              <a:t>C </a:t>
            </a:r>
            <a:r>
              <a:rPr lang="en-US" altLang="en-US" sz="2000" dirty="0">
                <a:sym typeface="Wingdings" pitchFamily="2" charset="2"/>
              </a:rPr>
              <a:t> S: SSH_MSG_CHANNEL_REQUEST</a:t>
            </a:r>
          </a:p>
          <a:p>
            <a:pPr lvl="2"/>
            <a:r>
              <a:rPr lang="en-US" altLang="en-US" dirty="0">
                <a:sym typeface="Wingdings" pitchFamily="2" charset="2"/>
              </a:rPr>
              <a:t>recipient channel number = 21</a:t>
            </a:r>
          </a:p>
          <a:p>
            <a:pPr lvl="2"/>
            <a:r>
              <a:rPr lang="en-US" altLang="en-US" dirty="0">
                <a:sym typeface="Wingdings" pitchFamily="2" charset="2"/>
              </a:rPr>
              <a:t>request type = “shell” </a:t>
            </a:r>
          </a:p>
          <a:p>
            <a:pPr lvl="2"/>
            <a:r>
              <a:rPr lang="en-US" altLang="en-US" dirty="0">
                <a:sym typeface="Wingdings" pitchFamily="2" charset="2"/>
              </a:rPr>
              <a:t>want reply flag = TRUE</a:t>
            </a:r>
          </a:p>
          <a:p>
            <a:pPr lvl="2"/>
            <a:endParaRPr lang="en-US" altLang="en-US" dirty="0">
              <a:sym typeface="Wingdings" pitchFamily="2" charset="2"/>
            </a:endParaRPr>
          </a:p>
          <a:p>
            <a:pPr>
              <a:buFont typeface="Wingdings" pitchFamily="2" charset="2"/>
              <a:buNone/>
            </a:pPr>
            <a:r>
              <a:rPr lang="en-US" altLang="en-US" sz="2000" dirty="0"/>
              <a:t>C </a:t>
            </a:r>
            <a:r>
              <a:rPr lang="en-US" altLang="en-US" sz="2000" dirty="0">
                <a:sym typeface="Wingdings" pitchFamily="2" charset="2"/>
              </a:rPr>
              <a:t> S: SSH_MSG_CHANNEL_SUCCESS</a:t>
            </a:r>
          </a:p>
          <a:p>
            <a:pPr lvl="2"/>
            <a:r>
              <a:rPr lang="en-US" altLang="en-US" dirty="0">
                <a:sym typeface="Wingdings" pitchFamily="2" charset="2"/>
              </a:rPr>
              <a:t>recipient channel number = 5</a:t>
            </a:r>
          </a:p>
          <a:p>
            <a:pPr lvl="2"/>
            <a:endParaRPr lang="en-US" altLang="en-US" dirty="0">
              <a:sym typeface="Wingdings" pitchFamily="2" charset="2"/>
            </a:endParaRPr>
          </a:p>
          <a:p>
            <a:pPr>
              <a:buFont typeface="Wingdings" pitchFamily="2" charset="2"/>
              <a:buNone/>
            </a:pPr>
            <a:r>
              <a:rPr lang="en-US" altLang="en-US" sz="2000" dirty="0"/>
              <a:t>C </a:t>
            </a:r>
            <a:r>
              <a:rPr lang="en-US" altLang="en-US" sz="2000" dirty="0">
                <a:sym typeface="Wingdings" pitchFamily="2" charset="2"/>
              </a:rPr>
              <a:t> S: SSH_MSG_CHANNEL_DATA,</a:t>
            </a:r>
          </a:p>
          <a:p>
            <a:pPr>
              <a:buFont typeface="Wingdings" pitchFamily="2" charset="2"/>
              <a:buNone/>
            </a:pPr>
            <a:r>
              <a:rPr lang="en-US" altLang="en-US" sz="2000" dirty="0">
                <a:sym typeface="Wingdings" pitchFamily="2" charset="2"/>
              </a:rPr>
              <a:t>		  SSH_MSG_CHANNEL_WINDOW_ADJUST</a:t>
            </a:r>
          </a:p>
          <a:p>
            <a:pPr>
              <a:buFont typeface="Wingdings" pitchFamily="2" charset="2"/>
              <a:buNone/>
            </a:pPr>
            <a:r>
              <a:rPr lang="en-US" altLang="en-US" sz="2000" dirty="0">
                <a:sym typeface="Wingdings" pitchFamily="2" charset="2"/>
              </a:rPr>
              <a:t>		  …</a:t>
            </a:r>
          </a:p>
          <a:p>
            <a:pPr>
              <a:buFont typeface="Wingdings" pitchFamily="2" charset="2"/>
              <a:buNone/>
            </a:pPr>
            <a:endParaRPr lang="en-US" altLang="en-US" dirty="0">
              <a:sym typeface="Wingdings" pitchFamily="2" charset="2"/>
            </a:endParaRPr>
          </a:p>
          <a:p>
            <a:endParaRPr lang="en-US" altLang="en-US"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12103" y="2126382"/>
            <a:ext cx="7773552" cy="1478011"/>
          </a:xfrm>
          <a:prstGeom prst="rect">
            <a:avLst/>
          </a:prstGeom>
        </p:spPr>
      </p:pic>
      <p:sp>
        <p:nvSpPr>
          <p:cNvPr id="3" name="object 3" descr="$PPTXTitle"/>
          <p:cNvSpPr txBox="1">
            <a:spLocks noGrp="1"/>
          </p:cNvSpPr>
          <p:nvPr>
            <p:ph type="title"/>
          </p:nvPr>
        </p:nvSpPr>
        <p:spPr>
          <a:xfrm>
            <a:off x="3696334" y="2567404"/>
            <a:ext cx="4814420" cy="629713"/>
          </a:xfrm>
          <a:prstGeom prst="rect">
            <a:avLst/>
          </a:prstGeom>
        </p:spPr>
        <p:txBody>
          <a:bodyPr vert="horz" wrap="square" lIns="0" tIns="15547" rIns="0" bIns="0" rtlCol="0" anchor="ctr">
            <a:spAutoFit/>
          </a:bodyPr>
          <a:lstStyle/>
          <a:p>
            <a:pPr marL="11516">
              <a:lnSpc>
                <a:spcPct val="100000"/>
              </a:lnSpc>
              <a:spcBef>
                <a:spcPts val="122"/>
              </a:spcBef>
            </a:pPr>
            <a:r>
              <a:rPr sz="3990" dirty="0">
                <a:solidFill>
                  <a:srgbClr val="4B4B4B"/>
                </a:solidFill>
                <a:latin typeface="Comic Sans MS"/>
                <a:cs typeface="Comic Sans MS"/>
              </a:rPr>
              <a:t>Applications</a:t>
            </a:r>
            <a:r>
              <a:rPr sz="3990" spc="-109" dirty="0">
                <a:solidFill>
                  <a:srgbClr val="4B4B4B"/>
                </a:solidFill>
                <a:latin typeface="Comic Sans MS"/>
                <a:cs typeface="Comic Sans MS"/>
              </a:rPr>
              <a:t> </a:t>
            </a:r>
            <a:r>
              <a:rPr sz="3990" dirty="0">
                <a:solidFill>
                  <a:srgbClr val="4B4B4B"/>
                </a:solidFill>
                <a:latin typeface="Comic Sans MS"/>
                <a:cs typeface="Comic Sans MS"/>
              </a:rPr>
              <a:t>of</a:t>
            </a:r>
            <a:r>
              <a:rPr sz="3990" spc="-131" dirty="0">
                <a:solidFill>
                  <a:srgbClr val="4B4B4B"/>
                </a:solidFill>
                <a:latin typeface="Comic Sans MS"/>
                <a:cs typeface="Comic Sans MS"/>
              </a:rPr>
              <a:t> </a:t>
            </a:r>
            <a:r>
              <a:rPr sz="3990" spc="-23" dirty="0">
                <a:solidFill>
                  <a:srgbClr val="4B4B4B"/>
                </a:solidFill>
                <a:latin typeface="Comic Sans MS"/>
                <a:cs typeface="Comic Sans MS"/>
              </a:rPr>
              <a:t>SSH</a:t>
            </a:r>
            <a:endParaRPr sz="3990">
              <a:latin typeface="Comic Sans MS"/>
              <a:cs typeface="Comic Sans MS"/>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289839" y="458368"/>
            <a:ext cx="9535557" cy="947479"/>
          </a:xfrm>
          <a:prstGeom prst="rect">
            <a:avLst/>
          </a:prstGeom>
        </p:spPr>
        <p:txBody>
          <a:bodyPr vert="horz" wrap="square" lIns="0" tIns="267756" rIns="0" bIns="0" rtlCol="0" anchor="ctr">
            <a:spAutoFit/>
          </a:bodyPr>
          <a:lstStyle/>
          <a:p>
            <a:pPr marL="1766610">
              <a:lnSpc>
                <a:spcPct val="100000"/>
              </a:lnSpc>
              <a:spcBef>
                <a:spcPts val="95"/>
              </a:spcBef>
            </a:pPr>
            <a:r>
              <a:rPr dirty="0"/>
              <a:t>X11</a:t>
            </a:r>
            <a:r>
              <a:rPr spc="-41" dirty="0"/>
              <a:t> </a:t>
            </a:r>
            <a:r>
              <a:rPr spc="-9" dirty="0"/>
              <a:t>Forwarding</a:t>
            </a:r>
          </a:p>
        </p:txBody>
      </p:sp>
      <p:pic>
        <p:nvPicPr>
          <p:cNvPr id="3" name="object 3"/>
          <p:cNvPicPr/>
          <p:nvPr/>
        </p:nvPicPr>
        <p:blipFill>
          <a:blip r:embed="rId2" cstate="print"/>
          <a:stretch>
            <a:fillRect/>
          </a:stretch>
        </p:blipFill>
        <p:spPr>
          <a:xfrm>
            <a:off x="2186191" y="1140984"/>
            <a:ext cx="7341688" cy="4736684"/>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descr="$PPTXTitle"/>
          <p:cNvSpPr txBox="1">
            <a:spLocks noGrp="1"/>
          </p:cNvSpPr>
          <p:nvPr>
            <p:ph type="title"/>
          </p:nvPr>
        </p:nvSpPr>
        <p:spPr>
          <a:xfrm>
            <a:off x="1928332" y="249701"/>
            <a:ext cx="9535557" cy="854449"/>
          </a:xfrm>
          <a:prstGeom prst="rect">
            <a:avLst/>
          </a:prstGeom>
        </p:spPr>
        <p:txBody>
          <a:bodyPr vert="horz" wrap="square" lIns="0" tIns="175625" rIns="0" bIns="0" rtlCol="0" anchor="ctr">
            <a:spAutoFit/>
          </a:bodyPr>
          <a:lstStyle/>
          <a:p>
            <a:pPr marL="1216128">
              <a:lnSpc>
                <a:spcPct val="100000"/>
              </a:lnSpc>
              <a:spcBef>
                <a:spcPts val="118"/>
              </a:spcBef>
            </a:pPr>
            <a:r>
              <a:rPr lang="en-US" spc="-32" dirty="0"/>
              <a:t>Port Forwarding</a:t>
            </a:r>
            <a:endParaRPr sz="5985" baseline="17676" dirty="0">
              <a:latin typeface="Comic Sans MS"/>
              <a:cs typeface="Comic Sans MS"/>
            </a:endParaRPr>
          </a:p>
        </p:txBody>
      </p:sp>
      <p:sp>
        <p:nvSpPr>
          <p:cNvPr id="4" name="object 4"/>
          <p:cNvSpPr txBox="1"/>
          <p:nvPr/>
        </p:nvSpPr>
        <p:spPr>
          <a:xfrm>
            <a:off x="2272565" y="1578549"/>
            <a:ext cx="7442456" cy="3519593"/>
          </a:xfrm>
          <a:prstGeom prst="rect">
            <a:avLst/>
          </a:prstGeom>
        </p:spPr>
        <p:txBody>
          <a:bodyPr vert="horz" wrap="square" lIns="0" tIns="5182" rIns="0" bIns="0" rtlCol="0">
            <a:spAutoFit/>
          </a:bodyPr>
          <a:lstStyle/>
          <a:p>
            <a:pPr marL="322458" marR="186565" indent="-310942">
              <a:lnSpc>
                <a:spcPct val="102499"/>
              </a:lnSpc>
              <a:spcBef>
                <a:spcPts val="41"/>
              </a:spcBef>
              <a:buFont typeface="Arial"/>
              <a:buChar char="•"/>
              <a:tabLst>
                <a:tab pos="322458" algn="l"/>
              </a:tabLst>
            </a:pPr>
            <a:r>
              <a:rPr sz="2494" dirty="0">
                <a:cs typeface="Comic Sans MS"/>
              </a:rPr>
              <a:t>SSH</a:t>
            </a:r>
            <a:r>
              <a:rPr sz="2494" spc="27" dirty="0">
                <a:cs typeface="Comic Sans MS"/>
              </a:rPr>
              <a:t> </a:t>
            </a:r>
            <a:r>
              <a:rPr sz="2494" dirty="0">
                <a:cs typeface="Comic Sans MS"/>
              </a:rPr>
              <a:t>port</a:t>
            </a:r>
            <a:r>
              <a:rPr sz="2494" spc="109" dirty="0">
                <a:cs typeface="Comic Sans MS"/>
              </a:rPr>
              <a:t> </a:t>
            </a:r>
            <a:r>
              <a:rPr sz="2494" dirty="0">
                <a:cs typeface="Comic Sans MS"/>
              </a:rPr>
              <a:t>forwarding</a:t>
            </a:r>
            <a:r>
              <a:rPr sz="2494" spc="91" dirty="0">
                <a:cs typeface="Comic Sans MS"/>
              </a:rPr>
              <a:t> </a:t>
            </a:r>
            <a:r>
              <a:rPr sz="2494" dirty="0">
                <a:cs typeface="Comic Sans MS"/>
              </a:rPr>
              <a:t>is</a:t>
            </a:r>
            <a:r>
              <a:rPr sz="2494" spc="73" dirty="0">
                <a:cs typeface="Comic Sans MS"/>
              </a:rPr>
              <a:t> </a:t>
            </a:r>
            <a:r>
              <a:rPr sz="2494" dirty="0">
                <a:cs typeface="Comic Sans MS"/>
              </a:rPr>
              <a:t>a</a:t>
            </a:r>
            <a:r>
              <a:rPr sz="2494" spc="68" dirty="0">
                <a:cs typeface="Comic Sans MS"/>
              </a:rPr>
              <a:t> </a:t>
            </a:r>
            <a:r>
              <a:rPr sz="2494" dirty="0">
                <a:cs typeface="Comic Sans MS"/>
              </a:rPr>
              <a:t>mechanism</a:t>
            </a:r>
            <a:r>
              <a:rPr sz="2494" spc="82" dirty="0">
                <a:cs typeface="Comic Sans MS"/>
              </a:rPr>
              <a:t> </a:t>
            </a:r>
            <a:r>
              <a:rPr sz="2494" dirty="0">
                <a:cs typeface="Comic Sans MS"/>
              </a:rPr>
              <a:t>in</a:t>
            </a:r>
            <a:r>
              <a:rPr sz="2494" spc="141" dirty="0">
                <a:cs typeface="Comic Sans MS"/>
              </a:rPr>
              <a:t> </a:t>
            </a:r>
            <a:r>
              <a:rPr sz="2494" b="1" spc="-23" dirty="0">
                <a:solidFill>
                  <a:srgbClr val="3146FF"/>
                </a:solidFill>
                <a:cs typeface="Comic Sans MS"/>
              </a:rPr>
              <a:t>SSH </a:t>
            </a:r>
            <a:r>
              <a:rPr sz="2494" dirty="0">
                <a:cs typeface="Comic Sans MS"/>
              </a:rPr>
              <a:t>for</a:t>
            </a:r>
            <a:r>
              <a:rPr sz="2494" spc="68" dirty="0">
                <a:cs typeface="Comic Sans MS"/>
              </a:rPr>
              <a:t> </a:t>
            </a:r>
            <a:r>
              <a:rPr sz="2494" dirty="0">
                <a:cs typeface="Comic Sans MS"/>
              </a:rPr>
              <a:t>tunneling</a:t>
            </a:r>
            <a:r>
              <a:rPr sz="2494" spc="73" dirty="0">
                <a:cs typeface="Comic Sans MS"/>
              </a:rPr>
              <a:t> </a:t>
            </a:r>
            <a:r>
              <a:rPr sz="2494" dirty="0">
                <a:cs typeface="Comic Sans MS"/>
              </a:rPr>
              <a:t>application</a:t>
            </a:r>
            <a:r>
              <a:rPr sz="2494" spc="103" dirty="0">
                <a:cs typeface="Comic Sans MS"/>
              </a:rPr>
              <a:t> </a:t>
            </a:r>
            <a:r>
              <a:rPr sz="2494" dirty="0">
                <a:cs typeface="Comic Sans MS"/>
              </a:rPr>
              <a:t>ports</a:t>
            </a:r>
            <a:r>
              <a:rPr sz="2494" spc="54" dirty="0">
                <a:cs typeface="Comic Sans MS"/>
              </a:rPr>
              <a:t> </a:t>
            </a:r>
            <a:r>
              <a:rPr sz="2494" dirty="0">
                <a:cs typeface="Comic Sans MS"/>
              </a:rPr>
              <a:t>from</a:t>
            </a:r>
            <a:r>
              <a:rPr sz="2494" spc="77" dirty="0">
                <a:cs typeface="Comic Sans MS"/>
              </a:rPr>
              <a:t> </a:t>
            </a:r>
            <a:r>
              <a:rPr sz="2494" dirty="0">
                <a:cs typeface="Comic Sans MS"/>
              </a:rPr>
              <a:t>the</a:t>
            </a:r>
            <a:r>
              <a:rPr sz="2494" spc="113" dirty="0">
                <a:cs typeface="Comic Sans MS"/>
              </a:rPr>
              <a:t> </a:t>
            </a:r>
            <a:r>
              <a:rPr sz="2494" spc="-9" dirty="0">
                <a:cs typeface="Comic Sans MS"/>
              </a:rPr>
              <a:t>client </a:t>
            </a:r>
            <a:r>
              <a:rPr sz="2494" dirty="0">
                <a:cs typeface="Comic Sans MS"/>
              </a:rPr>
              <a:t>machine</a:t>
            </a:r>
            <a:r>
              <a:rPr sz="2494" spc="36" dirty="0">
                <a:cs typeface="Comic Sans MS"/>
              </a:rPr>
              <a:t> </a:t>
            </a:r>
            <a:r>
              <a:rPr sz="2494" dirty="0">
                <a:cs typeface="Comic Sans MS"/>
              </a:rPr>
              <a:t>to</a:t>
            </a:r>
            <a:r>
              <a:rPr sz="2494" spc="95" dirty="0">
                <a:cs typeface="Comic Sans MS"/>
              </a:rPr>
              <a:t> </a:t>
            </a:r>
            <a:r>
              <a:rPr sz="2494" dirty="0">
                <a:cs typeface="Comic Sans MS"/>
              </a:rPr>
              <a:t>the</a:t>
            </a:r>
            <a:r>
              <a:rPr sz="2494" spc="109" dirty="0">
                <a:cs typeface="Comic Sans MS"/>
              </a:rPr>
              <a:t> </a:t>
            </a:r>
            <a:r>
              <a:rPr sz="2494" dirty="0">
                <a:cs typeface="Comic Sans MS"/>
              </a:rPr>
              <a:t>server</a:t>
            </a:r>
            <a:r>
              <a:rPr sz="2494" spc="73" dirty="0">
                <a:cs typeface="Comic Sans MS"/>
              </a:rPr>
              <a:t> </a:t>
            </a:r>
            <a:r>
              <a:rPr sz="2494" dirty="0">
                <a:cs typeface="Comic Sans MS"/>
              </a:rPr>
              <a:t>machine,</a:t>
            </a:r>
            <a:r>
              <a:rPr sz="2494" spc="109" dirty="0">
                <a:cs typeface="Comic Sans MS"/>
              </a:rPr>
              <a:t> </a:t>
            </a:r>
            <a:r>
              <a:rPr sz="2494" dirty="0">
                <a:cs typeface="Comic Sans MS"/>
              </a:rPr>
              <a:t>or</a:t>
            </a:r>
            <a:r>
              <a:rPr sz="2494" spc="73" dirty="0">
                <a:cs typeface="Comic Sans MS"/>
              </a:rPr>
              <a:t> </a:t>
            </a:r>
            <a:r>
              <a:rPr sz="2494" dirty="0">
                <a:cs typeface="Comic Sans MS"/>
              </a:rPr>
              <a:t>vice</a:t>
            </a:r>
            <a:r>
              <a:rPr sz="2494" spc="36" dirty="0">
                <a:cs typeface="Comic Sans MS"/>
              </a:rPr>
              <a:t> </a:t>
            </a:r>
            <a:r>
              <a:rPr sz="2494" spc="-9" dirty="0">
                <a:cs typeface="Comic Sans MS"/>
              </a:rPr>
              <a:t>versa.</a:t>
            </a:r>
            <a:endParaRPr sz="2494" dirty="0">
              <a:cs typeface="Comic Sans MS"/>
            </a:endParaRPr>
          </a:p>
          <a:p>
            <a:pPr marL="322458" marR="4607" indent="-310942">
              <a:lnSpc>
                <a:spcPct val="101699"/>
              </a:lnSpc>
              <a:spcBef>
                <a:spcPts val="27"/>
              </a:spcBef>
              <a:buFont typeface="Arial"/>
              <a:buChar char="•"/>
              <a:tabLst>
                <a:tab pos="322458" algn="l"/>
              </a:tabLst>
            </a:pPr>
            <a:r>
              <a:rPr sz="2494" dirty="0">
                <a:cs typeface="Comic Sans MS"/>
              </a:rPr>
              <a:t>The</a:t>
            </a:r>
            <a:r>
              <a:rPr sz="2494" spc="32" dirty="0">
                <a:cs typeface="Comic Sans MS"/>
              </a:rPr>
              <a:t> </a:t>
            </a:r>
            <a:r>
              <a:rPr sz="2494" dirty="0">
                <a:cs typeface="Comic Sans MS"/>
              </a:rPr>
              <a:t>application</a:t>
            </a:r>
            <a:r>
              <a:rPr sz="2494" spc="109" dirty="0">
                <a:cs typeface="Comic Sans MS"/>
              </a:rPr>
              <a:t> </a:t>
            </a:r>
            <a:r>
              <a:rPr sz="2494" dirty="0">
                <a:cs typeface="Comic Sans MS"/>
              </a:rPr>
              <a:t>data</a:t>
            </a:r>
            <a:r>
              <a:rPr sz="2494" spc="63" dirty="0">
                <a:cs typeface="Comic Sans MS"/>
              </a:rPr>
              <a:t> </a:t>
            </a:r>
            <a:r>
              <a:rPr sz="2494" dirty="0">
                <a:cs typeface="Comic Sans MS"/>
              </a:rPr>
              <a:t>traffic</a:t>
            </a:r>
            <a:r>
              <a:rPr sz="2494" spc="68" dirty="0">
                <a:cs typeface="Comic Sans MS"/>
              </a:rPr>
              <a:t> </a:t>
            </a:r>
            <a:r>
              <a:rPr sz="2494" dirty="0">
                <a:cs typeface="Comic Sans MS"/>
              </a:rPr>
              <a:t>is</a:t>
            </a:r>
            <a:r>
              <a:rPr sz="2494" spc="131" dirty="0">
                <a:cs typeface="Comic Sans MS"/>
              </a:rPr>
              <a:t> </a:t>
            </a:r>
            <a:r>
              <a:rPr sz="2494" dirty="0">
                <a:cs typeface="Comic Sans MS"/>
              </a:rPr>
              <a:t>directed</a:t>
            </a:r>
            <a:r>
              <a:rPr sz="2494" spc="82" dirty="0">
                <a:cs typeface="Comic Sans MS"/>
              </a:rPr>
              <a:t> </a:t>
            </a:r>
            <a:r>
              <a:rPr sz="2494" dirty="0">
                <a:cs typeface="Comic Sans MS"/>
              </a:rPr>
              <a:t>to</a:t>
            </a:r>
            <a:r>
              <a:rPr sz="2494" spc="95" dirty="0">
                <a:cs typeface="Comic Sans MS"/>
              </a:rPr>
              <a:t> </a:t>
            </a:r>
            <a:r>
              <a:rPr sz="2494" spc="-18" dirty="0">
                <a:cs typeface="Comic Sans MS"/>
              </a:rPr>
              <a:t>flow </a:t>
            </a:r>
            <a:r>
              <a:rPr sz="2494" dirty="0">
                <a:cs typeface="Comic Sans MS"/>
              </a:rPr>
              <a:t>inside</a:t>
            </a:r>
            <a:r>
              <a:rPr sz="2494" spc="45" dirty="0">
                <a:cs typeface="Comic Sans MS"/>
              </a:rPr>
              <a:t> </a:t>
            </a:r>
            <a:r>
              <a:rPr sz="2494" dirty="0">
                <a:cs typeface="Comic Sans MS"/>
              </a:rPr>
              <a:t>an</a:t>
            </a:r>
            <a:r>
              <a:rPr sz="2494" spc="118" dirty="0">
                <a:cs typeface="Comic Sans MS"/>
              </a:rPr>
              <a:t> </a:t>
            </a:r>
            <a:r>
              <a:rPr sz="2494" dirty="0">
                <a:cs typeface="Comic Sans MS"/>
              </a:rPr>
              <a:t>encrypted</a:t>
            </a:r>
            <a:r>
              <a:rPr sz="2494" spc="95" dirty="0">
                <a:cs typeface="Comic Sans MS"/>
              </a:rPr>
              <a:t> </a:t>
            </a:r>
            <a:r>
              <a:rPr sz="2494" dirty="0">
                <a:cs typeface="Comic Sans MS"/>
              </a:rPr>
              <a:t>SSH</a:t>
            </a:r>
            <a:r>
              <a:rPr sz="2494" spc="109" dirty="0">
                <a:cs typeface="Comic Sans MS"/>
              </a:rPr>
              <a:t> </a:t>
            </a:r>
            <a:r>
              <a:rPr sz="2494" dirty="0">
                <a:cs typeface="Comic Sans MS"/>
              </a:rPr>
              <a:t>connection</a:t>
            </a:r>
            <a:r>
              <a:rPr sz="2494" spc="50" dirty="0">
                <a:cs typeface="Comic Sans MS"/>
              </a:rPr>
              <a:t> </a:t>
            </a:r>
            <a:r>
              <a:rPr sz="2494" dirty="0">
                <a:cs typeface="Comic Sans MS"/>
              </a:rPr>
              <a:t>so</a:t>
            </a:r>
            <a:r>
              <a:rPr sz="2494" spc="36" dirty="0">
                <a:cs typeface="Comic Sans MS"/>
              </a:rPr>
              <a:t> </a:t>
            </a:r>
            <a:r>
              <a:rPr sz="2494" dirty="0">
                <a:cs typeface="Comic Sans MS"/>
              </a:rPr>
              <a:t>that</a:t>
            </a:r>
            <a:r>
              <a:rPr sz="2494" spc="118" dirty="0">
                <a:cs typeface="Comic Sans MS"/>
              </a:rPr>
              <a:t> </a:t>
            </a:r>
            <a:r>
              <a:rPr sz="2494" spc="-23" dirty="0">
                <a:cs typeface="Comic Sans MS"/>
              </a:rPr>
              <a:t>it </a:t>
            </a:r>
            <a:r>
              <a:rPr sz="2494" dirty="0">
                <a:cs typeface="Comic Sans MS"/>
              </a:rPr>
              <a:t>cannot</a:t>
            </a:r>
            <a:r>
              <a:rPr sz="2494" spc="109" dirty="0">
                <a:cs typeface="Comic Sans MS"/>
              </a:rPr>
              <a:t> </a:t>
            </a:r>
            <a:r>
              <a:rPr sz="2494" dirty="0">
                <a:cs typeface="Comic Sans MS"/>
              </a:rPr>
              <a:t>be</a:t>
            </a:r>
            <a:r>
              <a:rPr sz="2494" spc="113" dirty="0">
                <a:cs typeface="Comic Sans MS"/>
              </a:rPr>
              <a:t> </a:t>
            </a:r>
            <a:r>
              <a:rPr sz="2494" dirty="0">
                <a:cs typeface="Comic Sans MS"/>
              </a:rPr>
              <a:t>eavesdropped</a:t>
            </a:r>
            <a:r>
              <a:rPr sz="2494" spc="86" dirty="0">
                <a:cs typeface="Comic Sans MS"/>
              </a:rPr>
              <a:t> </a:t>
            </a:r>
            <a:r>
              <a:rPr sz="2494" dirty="0">
                <a:cs typeface="Comic Sans MS"/>
              </a:rPr>
              <a:t>or</a:t>
            </a:r>
            <a:r>
              <a:rPr sz="2494" spc="86" dirty="0">
                <a:cs typeface="Comic Sans MS"/>
              </a:rPr>
              <a:t> </a:t>
            </a:r>
            <a:r>
              <a:rPr sz="2494" dirty="0">
                <a:cs typeface="Comic Sans MS"/>
              </a:rPr>
              <a:t>intercepted</a:t>
            </a:r>
            <a:r>
              <a:rPr sz="2494" spc="86" dirty="0">
                <a:cs typeface="Comic Sans MS"/>
              </a:rPr>
              <a:t> </a:t>
            </a:r>
            <a:r>
              <a:rPr sz="2494" dirty="0">
                <a:cs typeface="Comic Sans MS"/>
              </a:rPr>
              <a:t>while</a:t>
            </a:r>
            <a:r>
              <a:rPr sz="2494" spc="118" dirty="0">
                <a:cs typeface="Comic Sans MS"/>
              </a:rPr>
              <a:t> </a:t>
            </a:r>
            <a:r>
              <a:rPr sz="2494" spc="-23" dirty="0">
                <a:cs typeface="Comic Sans MS"/>
              </a:rPr>
              <a:t>it </a:t>
            </a:r>
            <a:r>
              <a:rPr sz="2494" dirty="0">
                <a:cs typeface="Comic Sans MS"/>
              </a:rPr>
              <a:t>is</a:t>
            </a:r>
            <a:r>
              <a:rPr sz="2494" spc="41" dirty="0">
                <a:cs typeface="Comic Sans MS"/>
              </a:rPr>
              <a:t> </a:t>
            </a:r>
            <a:r>
              <a:rPr sz="2494" dirty="0">
                <a:cs typeface="Comic Sans MS"/>
              </a:rPr>
              <a:t>in</a:t>
            </a:r>
            <a:r>
              <a:rPr sz="2494" spc="32" dirty="0">
                <a:cs typeface="Comic Sans MS"/>
              </a:rPr>
              <a:t> </a:t>
            </a:r>
            <a:r>
              <a:rPr sz="2494" spc="-9" dirty="0">
                <a:cs typeface="Comic Sans MS"/>
              </a:rPr>
              <a:t>transit.</a:t>
            </a:r>
            <a:endParaRPr sz="2494" dirty="0">
              <a:cs typeface="Comic Sans MS"/>
            </a:endParaRPr>
          </a:p>
          <a:p>
            <a:pPr marL="322458" marR="72553" indent="-310942">
              <a:lnSpc>
                <a:spcPct val="102499"/>
              </a:lnSpc>
              <a:buFont typeface="Arial"/>
              <a:buChar char="•"/>
              <a:tabLst>
                <a:tab pos="322458" algn="l"/>
              </a:tabLst>
            </a:pPr>
            <a:r>
              <a:rPr sz="2494" dirty="0">
                <a:cs typeface="Comic Sans MS"/>
              </a:rPr>
              <a:t>SSH</a:t>
            </a:r>
            <a:r>
              <a:rPr sz="2494" spc="73" dirty="0">
                <a:cs typeface="Comic Sans MS"/>
              </a:rPr>
              <a:t> </a:t>
            </a:r>
            <a:r>
              <a:rPr sz="2494" dirty="0">
                <a:cs typeface="Comic Sans MS"/>
              </a:rPr>
              <a:t>tunneling</a:t>
            </a:r>
            <a:r>
              <a:rPr sz="2494" spc="73" dirty="0">
                <a:cs typeface="Comic Sans MS"/>
              </a:rPr>
              <a:t> </a:t>
            </a:r>
            <a:r>
              <a:rPr sz="2494" dirty="0">
                <a:cs typeface="Comic Sans MS"/>
              </a:rPr>
              <a:t>adds</a:t>
            </a:r>
            <a:r>
              <a:rPr sz="2494" spc="77" dirty="0">
                <a:cs typeface="Comic Sans MS"/>
              </a:rPr>
              <a:t> </a:t>
            </a:r>
            <a:r>
              <a:rPr sz="2494" dirty="0">
                <a:cs typeface="Comic Sans MS"/>
              </a:rPr>
              <a:t>network</a:t>
            </a:r>
            <a:r>
              <a:rPr sz="2494" spc="136" dirty="0">
                <a:cs typeface="Comic Sans MS"/>
              </a:rPr>
              <a:t> </a:t>
            </a:r>
            <a:r>
              <a:rPr sz="2494" dirty="0">
                <a:cs typeface="Comic Sans MS"/>
              </a:rPr>
              <a:t>security</a:t>
            </a:r>
            <a:r>
              <a:rPr sz="2494" spc="118" dirty="0">
                <a:cs typeface="Comic Sans MS"/>
              </a:rPr>
              <a:t> </a:t>
            </a:r>
            <a:r>
              <a:rPr sz="2494" dirty="0">
                <a:cs typeface="Comic Sans MS"/>
              </a:rPr>
              <a:t>to</a:t>
            </a:r>
            <a:r>
              <a:rPr sz="2494" spc="103" dirty="0">
                <a:cs typeface="Comic Sans MS"/>
              </a:rPr>
              <a:t> </a:t>
            </a:r>
            <a:r>
              <a:rPr sz="2494" spc="-9" dirty="0">
                <a:cs typeface="Comic Sans MS"/>
              </a:rPr>
              <a:t>legacy </a:t>
            </a:r>
            <a:r>
              <a:rPr sz="2494" dirty="0">
                <a:cs typeface="Comic Sans MS"/>
              </a:rPr>
              <a:t>applications</a:t>
            </a:r>
            <a:r>
              <a:rPr sz="2494" spc="91" dirty="0">
                <a:cs typeface="Comic Sans MS"/>
              </a:rPr>
              <a:t> </a:t>
            </a:r>
            <a:r>
              <a:rPr sz="2494" dirty="0">
                <a:cs typeface="Comic Sans MS"/>
              </a:rPr>
              <a:t>that</a:t>
            </a:r>
            <a:r>
              <a:rPr sz="2494" spc="73" dirty="0">
                <a:cs typeface="Comic Sans MS"/>
              </a:rPr>
              <a:t> </a:t>
            </a:r>
            <a:r>
              <a:rPr sz="2494" dirty="0">
                <a:cs typeface="Comic Sans MS"/>
              </a:rPr>
              <a:t>do</a:t>
            </a:r>
            <a:r>
              <a:rPr sz="2494" spc="68" dirty="0">
                <a:cs typeface="Comic Sans MS"/>
              </a:rPr>
              <a:t> </a:t>
            </a:r>
            <a:r>
              <a:rPr sz="2494" dirty="0">
                <a:cs typeface="Comic Sans MS"/>
              </a:rPr>
              <a:t>not</a:t>
            </a:r>
            <a:r>
              <a:rPr sz="2494" spc="73" dirty="0">
                <a:cs typeface="Comic Sans MS"/>
              </a:rPr>
              <a:t> </a:t>
            </a:r>
            <a:r>
              <a:rPr sz="2494" dirty="0">
                <a:cs typeface="Comic Sans MS"/>
              </a:rPr>
              <a:t>natively</a:t>
            </a:r>
            <a:r>
              <a:rPr sz="2494" spc="82" dirty="0">
                <a:cs typeface="Comic Sans MS"/>
              </a:rPr>
              <a:t> </a:t>
            </a:r>
            <a:r>
              <a:rPr sz="2494" spc="-9" dirty="0">
                <a:cs typeface="Comic Sans MS"/>
              </a:rPr>
              <a:t>support encryption.</a:t>
            </a:r>
            <a:endParaRPr sz="2494" dirty="0">
              <a:cs typeface="Comic Sans MS"/>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03467" y="35"/>
            <a:ext cx="7799463" cy="898933"/>
          </a:xfrm>
          <a:prstGeom prst="rect">
            <a:avLst/>
          </a:prstGeom>
        </p:spPr>
      </p:pic>
      <p:sp>
        <p:nvSpPr>
          <p:cNvPr id="3" name="object 3" descr="$PPTXTitle"/>
          <p:cNvSpPr txBox="1">
            <a:spLocks noGrp="1"/>
          </p:cNvSpPr>
          <p:nvPr>
            <p:ph type="title"/>
          </p:nvPr>
        </p:nvSpPr>
        <p:spPr>
          <a:xfrm>
            <a:off x="2289839" y="617542"/>
            <a:ext cx="9535557" cy="629131"/>
          </a:xfrm>
          <a:prstGeom prst="rect">
            <a:avLst/>
          </a:prstGeom>
        </p:spPr>
        <p:txBody>
          <a:bodyPr vert="horz" wrap="square" lIns="0" tIns="14971" rIns="0" bIns="0" rtlCol="0" anchor="ctr">
            <a:spAutoFit/>
          </a:bodyPr>
          <a:lstStyle/>
          <a:p>
            <a:pPr marL="553361">
              <a:lnSpc>
                <a:spcPct val="100000"/>
              </a:lnSpc>
              <a:spcBef>
                <a:spcPts val="118"/>
              </a:spcBef>
            </a:pPr>
            <a:r>
              <a:rPr sz="3990" dirty="0">
                <a:solidFill>
                  <a:srgbClr val="4B4B4B"/>
                </a:solidFill>
                <a:latin typeface="+mn-lt"/>
                <a:cs typeface="Comic Sans MS"/>
              </a:rPr>
              <a:t>Port</a:t>
            </a:r>
            <a:r>
              <a:rPr sz="3990" spc="-122" dirty="0">
                <a:solidFill>
                  <a:srgbClr val="4B4B4B"/>
                </a:solidFill>
                <a:latin typeface="+mn-lt"/>
                <a:cs typeface="Comic Sans MS"/>
              </a:rPr>
              <a:t> </a:t>
            </a:r>
            <a:r>
              <a:rPr sz="3990" dirty="0">
                <a:solidFill>
                  <a:srgbClr val="4B4B4B"/>
                </a:solidFill>
                <a:latin typeface="+mn-lt"/>
                <a:cs typeface="Comic Sans MS"/>
              </a:rPr>
              <a:t>Forwarding</a:t>
            </a:r>
            <a:r>
              <a:rPr sz="3990" spc="-136" dirty="0">
                <a:solidFill>
                  <a:srgbClr val="4B4B4B"/>
                </a:solidFill>
                <a:latin typeface="+mn-lt"/>
                <a:cs typeface="Comic Sans MS"/>
              </a:rPr>
              <a:t> </a:t>
            </a:r>
            <a:r>
              <a:rPr sz="3990" spc="-9" dirty="0">
                <a:solidFill>
                  <a:srgbClr val="4B4B4B"/>
                </a:solidFill>
                <a:latin typeface="+mn-lt"/>
                <a:cs typeface="Comic Sans MS"/>
              </a:rPr>
              <a:t>(Continued)</a:t>
            </a:r>
            <a:endParaRPr sz="3990" dirty="0">
              <a:latin typeface="+mn-lt"/>
              <a:cs typeface="Comic Sans MS"/>
            </a:endParaRPr>
          </a:p>
        </p:txBody>
      </p:sp>
      <p:pic>
        <p:nvPicPr>
          <p:cNvPr id="4" name="object 4" descr="Securing applications with ssh tunneling / port forwarding"/>
          <p:cNvPicPr/>
          <p:nvPr/>
        </p:nvPicPr>
        <p:blipFill>
          <a:blip r:embed="rId3" cstate="print"/>
          <a:stretch>
            <a:fillRect/>
          </a:stretch>
        </p:blipFill>
        <p:spPr>
          <a:xfrm>
            <a:off x="1529759" y="2031258"/>
            <a:ext cx="9138241" cy="2791914"/>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913777" y="2226877"/>
            <a:ext cx="7337081" cy="1542158"/>
          </a:xfrm>
          <a:prstGeom prst="rect">
            <a:avLst/>
          </a:prstGeom>
        </p:spPr>
        <p:txBody>
          <a:bodyPr vert="horz" wrap="square" lIns="0" tIns="68522" rIns="0" bIns="0" rtlCol="0">
            <a:spAutoFit/>
          </a:bodyPr>
          <a:lstStyle/>
          <a:p>
            <a:pPr marL="321306" marR="4607" indent="-310366">
              <a:lnSpc>
                <a:spcPts val="2593"/>
              </a:lnSpc>
              <a:spcBef>
                <a:spcPts val="540"/>
              </a:spcBef>
              <a:buFont typeface="Comic Sans MS"/>
              <a:buChar char="•"/>
              <a:tabLst>
                <a:tab pos="321306" algn="l"/>
              </a:tabLst>
            </a:pPr>
            <a:r>
              <a:rPr sz="2494" dirty="0">
                <a:solidFill>
                  <a:srgbClr val="0000FF"/>
                </a:solidFill>
                <a:cs typeface="Comic Sans MS"/>
              </a:rPr>
              <a:t>SCP</a:t>
            </a:r>
            <a:r>
              <a:rPr sz="2494" dirty="0">
                <a:cs typeface="Comic Sans MS"/>
              </a:rPr>
              <a:t>:</a:t>
            </a:r>
            <a:r>
              <a:rPr sz="2494" spc="27" dirty="0">
                <a:cs typeface="Comic Sans MS"/>
              </a:rPr>
              <a:t> </a:t>
            </a:r>
            <a:r>
              <a:rPr sz="2494" dirty="0">
                <a:cs typeface="Comic Sans MS"/>
              </a:rPr>
              <a:t>copying</a:t>
            </a:r>
            <a:r>
              <a:rPr sz="2494" spc="63" dirty="0">
                <a:cs typeface="Comic Sans MS"/>
              </a:rPr>
              <a:t> </a:t>
            </a:r>
            <a:r>
              <a:rPr sz="2494" dirty="0">
                <a:cs typeface="Comic Sans MS"/>
              </a:rPr>
              <a:t>files</a:t>
            </a:r>
            <a:r>
              <a:rPr sz="2494" spc="36" dirty="0">
                <a:cs typeface="Comic Sans MS"/>
              </a:rPr>
              <a:t> </a:t>
            </a:r>
            <a:r>
              <a:rPr sz="2494" dirty="0">
                <a:cs typeface="Comic Sans MS"/>
              </a:rPr>
              <a:t>btw.</a:t>
            </a:r>
            <a:r>
              <a:rPr sz="2494" spc="103" dirty="0">
                <a:cs typeface="Comic Sans MS"/>
              </a:rPr>
              <a:t> </a:t>
            </a:r>
            <a:r>
              <a:rPr sz="2494" dirty="0">
                <a:cs typeface="Comic Sans MS"/>
              </a:rPr>
              <a:t>hosts</a:t>
            </a:r>
            <a:r>
              <a:rPr sz="2494" spc="36" dirty="0">
                <a:cs typeface="Comic Sans MS"/>
              </a:rPr>
              <a:t> </a:t>
            </a:r>
            <a:r>
              <a:rPr sz="2494" dirty="0">
                <a:cs typeface="Comic Sans MS"/>
              </a:rPr>
              <a:t>by</a:t>
            </a:r>
            <a:r>
              <a:rPr sz="2494" spc="100" dirty="0">
                <a:cs typeface="Comic Sans MS"/>
              </a:rPr>
              <a:t> </a:t>
            </a:r>
            <a:r>
              <a:rPr sz="2494" dirty="0">
                <a:cs typeface="Comic Sans MS"/>
              </a:rPr>
              <a:t>using</a:t>
            </a:r>
            <a:r>
              <a:rPr sz="2494" spc="73" dirty="0">
                <a:cs typeface="Comic Sans MS"/>
              </a:rPr>
              <a:t> </a:t>
            </a:r>
            <a:r>
              <a:rPr sz="2494" dirty="0">
                <a:cs typeface="Comic Sans MS"/>
              </a:rPr>
              <a:t>SSH</a:t>
            </a:r>
            <a:r>
              <a:rPr sz="2494" spc="86" dirty="0">
                <a:cs typeface="Comic Sans MS"/>
              </a:rPr>
              <a:t> </a:t>
            </a:r>
            <a:r>
              <a:rPr sz="2494" spc="-23" dirty="0">
                <a:cs typeface="Comic Sans MS"/>
              </a:rPr>
              <a:t>for </a:t>
            </a:r>
            <a:r>
              <a:rPr sz="2494" dirty="0">
                <a:cs typeface="Comic Sans MS"/>
              </a:rPr>
              <a:t>data</a:t>
            </a:r>
            <a:r>
              <a:rPr sz="2494" spc="63" dirty="0">
                <a:cs typeface="Comic Sans MS"/>
              </a:rPr>
              <a:t> </a:t>
            </a:r>
            <a:r>
              <a:rPr sz="2494" spc="-9" dirty="0">
                <a:cs typeface="Comic Sans MS"/>
              </a:rPr>
              <a:t>transfer.</a:t>
            </a:r>
            <a:endParaRPr sz="2494" dirty="0">
              <a:cs typeface="Comic Sans MS"/>
            </a:endParaRPr>
          </a:p>
          <a:p>
            <a:pPr>
              <a:spcBef>
                <a:spcPts val="254"/>
              </a:spcBef>
              <a:buFont typeface="Comic Sans MS"/>
              <a:buChar char="•"/>
            </a:pPr>
            <a:endParaRPr sz="2494" dirty="0">
              <a:cs typeface="Comic Sans MS"/>
            </a:endParaRPr>
          </a:p>
          <a:p>
            <a:pPr marL="321306" indent="-309790">
              <a:buClr>
                <a:srgbClr val="000000"/>
              </a:buClr>
              <a:buChar char="•"/>
              <a:tabLst>
                <a:tab pos="321306" algn="l"/>
              </a:tabLst>
            </a:pPr>
            <a:r>
              <a:rPr sz="2494" dirty="0">
                <a:solidFill>
                  <a:srgbClr val="0000FF"/>
                </a:solidFill>
                <a:cs typeface="Comic Sans MS"/>
              </a:rPr>
              <a:t>SFTP</a:t>
            </a:r>
            <a:r>
              <a:rPr sz="2494" dirty="0">
                <a:cs typeface="Comic Sans MS"/>
              </a:rPr>
              <a:t>:</a:t>
            </a:r>
            <a:r>
              <a:rPr sz="2494" spc="45" dirty="0">
                <a:cs typeface="Comic Sans MS"/>
              </a:rPr>
              <a:t> </a:t>
            </a:r>
            <a:r>
              <a:rPr sz="2494" dirty="0">
                <a:cs typeface="Comic Sans MS"/>
              </a:rPr>
              <a:t>Secure</a:t>
            </a:r>
            <a:r>
              <a:rPr sz="2494" spc="100" dirty="0">
                <a:cs typeface="Comic Sans MS"/>
              </a:rPr>
              <a:t> </a:t>
            </a:r>
            <a:r>
              <a:rPr sz="2494" dirty="0">
                <a:cs typeface="Comic Sans MS"/>
              </a:rPr>
              <a:t>FTP</a:t>
            </a:r>
            <a:r>
              <a:rPr sz="2494" spc="36" dirty="0">
                <a:cs typeface="Comic Sans MS"/>
              </a:rPr>
              <a:t> </a:t>
            </a:r>
            <a:r>
              <a:rPr sz="2494" dirty="0">
                <a:cs typeface="Comic Sans MS"/>
              </a:rPr>
              <a:t>over</a:t>
            </a:r>
            <a:r>
              <a:rPr sz="2494" spc="68" dirty="0">
                <a:cs typeface="Comic Sans MS"/>
              </a:rPr>
              <a:t> </a:t>
            </a:r>
            <a:r>
              <a:rPr sz="2494" spc="-18" dirty="0">
                <a:cs typeface="Comic Sans MS"/>
              </a:rPr>
              <a:t>SSH</a:t>
            </a:r>
            <a:r>
              <a:rPr sz="2494" spc="-18" dirty="0">
                <a:solidFill>
                  <a:srgbClr val="008000"/>
                </a:solidFill>
                <a:cs typeface="Calibri"/>
              </a:rPr>
              <a:t>.</a:t>
            </a:r>
            <a:endParaRPr sz="2494" dirty="0">
              <a:cs typeface="Calibri"/>
            </a:endParaRPr>
          </a:p>
        </p:txBody>
      </p:sp>
      <p:sp>
        <p:nvSpPr>
          <p:cNvPr id="3" name="object 3" descr="$PPTXTitle"/>
          <p:cNvSpPr txBox="1">
            <a:spLocks noGrp="1"/>
          </p:cNvSpPr>
          <p:nvPr>
            <p:ph type="title"/>
          </p:nvPr>
        </p:nvSpPr>
        <p:spPr>
          <a:xfrm>
            <a:off x="2289839" y="458368"/>
            <a:ext cx="9535557" cy="947479"/>
          </a:xfrm>
          <a:prstGeom prst="rect">
            <a:avLst/>
          </a:prstGeom>
        </p:spPr>
        <p:txBody>
          <a:bodyPr vert="horz" wrap="square" lIns="0" tIns="267756" rIns="0" bIns="0" rtlCol="0" anchor="ctr">
            <a:spAutoFit/>
          </a:bodyPr>
          <a:lstStyle/>
          <a:p>
            <a:pPr marL="1827071">
              <a:lnSpc>
                <a:spcPct val="100000"/>
              </a:lnSpc>
              <a:spcBef>
                <a:spcPts val="95"/>
              </a:spcBef>
            </a:pPr>
            <a:r>
              <a:rPr dirty="0"/>
              <a:t>SCP,</a:t>
            </a:r>
            <a:r>
              <a:rPr spc="-14" dirty="0"/>
              <a:t> </a:t>
            </a:r>
            <a:r>
              <a:rPr dirty="0"/>
              <a:t>and</a:t>
            </a:r>
            <a:r>
              <a:rPr spc="-36" dirty="0"/>
              <a:t> </a:t>
            </a:r>
            <a:r>
              <a:rPr spc="-18" dirty="0"/>
              <a:t>SFTP</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903525" y="2005205"/>
            <a:ext cx="7622111" cy="3202595"/>
          </a:xfrm>
          <a:prstGeom prst="rect">
            <a:avLst/>
          </a:prstGeom>
        </p:spPr>
        <p:txBody>
          <a:bodyPr vert="horz" wrap="square" lIns="0" tIns="57582" rIns="0" bIns="0" rtlCol="0">
            <a:spAutoFit/>
          </a:bodyPr>
          <a:lstStyle/>
          <a:p>
            <a:pPr marL="321306" marR="4607" indent="-310366" algn="just">
              <a:lnSpc>
                <a:spcPct val="88800"/>
              </a:lnSpc>
              <a:spcBef>
                <a:spcPts val="453"/>
              </a:spcBef>
              <a:buFont typeface="Comic Sans MS"/>
              <a:buChar char="•"/>
              <a:tabLst>
                <a:tab pos="321306" algn="l"/>
              </a:tabLst>
            </a:pPr>
            <a:r>
              <a:rPr sz="2494" dirty="0">
                <a:cs typeface="Comic Sans MS"/>
              </a:rPr>
              <a:t>Using</a:t>
            </a:r>
            <a:r>
              <a:rPr sz="2494" spc="77" dirty="0">
                <a:cs typeface="Comic Sans MS"/>
              </a:rPr>
              <a:t> </a:t>
            </a:r>
            <a:r>
              <a:rPr sz="2494" dirty="0">
                <a:cs typeface="Comic Sans MS"/>
              </a:rPr>
              <a:t>“</a:t>
            </a:r>
            <a:r>
              <a:rPr sz="2494" i="1" dirty="0">
                <a:cs typeface="Comic Sans MS"/>
              </a:rPr>
              <a:t>ssh-keygen</a:t>
            </a:r>
            <a:r>
              <a:rPr sz="2494" dirty="0">
                <a:cs typeface="Comic Sans MS"/>
              </a:rPr>
              <a:t>”</a:t>
            </a:r>
            <a:r>
              <a:rPr sz="2494" spc="91" dirty="0">
                <a:cs typeface="Comic Sans MS"/>
              </a:rPr>
              <a:t> </a:t>
            </a:r>
            <a:r>
              <a:rPr sz="2494" dirty="0">
                <a:cs typeface="Comic Sans MS"/>
              </a:rPr>
              <a:t>you</a:t>
            </a:r>
            <a:r>
              <a:rPr sz="2494" spc="41" dirty="0">
                <a:cs typeface="Comic Sans MS"/>
              </a:rPr>
              <a:t> </a:t>
            </a:r>
            <a:r>
              <a:rPr sz="2494" dirty="0">
                <a:cs typeface="Comic Sans MS"/>
              </a:rPr>
              <a:t>can</a:t>
            </a:r>
            <a:r>
              <a:rPr sz="2494" spc="32" dirty="0">
                <a:cs typeface="Comic Sans MS"/>
              </a:rPr>
              <a:t> </a:t>
            </a:r>
            <a:r>
              <a:rPr sz="2494" dirty="0">
                <a:cs typeface="Comic Sans MS"/>
              </a:rPr>
              <a:t>ask</a:t>
            </a:r>
            <a:r>
              <a:rPr sz="2494" spc="54" dirty="0">
                <a:cs typeface="Comic Sans MS"/>
              </a:rPr>
              <a:t> </a:t>
            </a:r>
            <a:r>
              <a:rPr sz="2494" dirty="0">
                <a:cs typeface="Comic Sans MS"/>
              </a:rPr>
              <a:t>SSH</a:t>
            </a:r>
            <a:r>
              <a:rPr sz="2494" spc="95" dirty="0">
                <a:cs typeface="Comic Sans MS"/>
              </a:rPr>
              <a:t> </a:t>
            </a:r>
            <a:r>
              <a:rPr sz="2494" dirty="0">
                <a:cs typeface="Comic Sans MS"/>
              </a:rPr>
              <a:t>to</a:t>
            </a:r>
            <a:r>
              <a:rPr sz="2494" spc="95" dirty="0">
                <a:cs typeface="Comic Sans MS"/>
              </a:rPr>
              <a:t> </a:t>
            </a:r>
            <a:r>
              <a:rPr sz="2494" spc="-9" dirty="0">
                <a:cs typeface="Comic Sans MS"/>
              </a:rPr>
              <a:t>generate </a:t>
            </a:r>
            <a:r>
              <a:rPr sz="2494" dirty="0">
                <a:cs typeface="Comic Sans MS"/>
              </a:rPr>
              <a:t>an</a:t>
            </a:r>
            <a:r>
              <a:rPr sz="2494" spc="54" dirty="0">
                <a:cs typeface="Comic Sans MS"/>
              </a:rPr>
              <a:t> </a:t>
            </a:r>
            <a:r>
              <a:rPr sz="2494" dirty="0">
                <a:cs typeface="Comic Sans MS"/>
              </a:rPr>
              <a:t>RSA</a:t>
            </a:r>
            <a:r>
              <a:rPr sz="2494" spc="68" dirty="0">
                <a:cs typeface="Comic Sans MS"/>
              </a:rPr>
              <a:t> </a:t>
            </a:r>
            <a:r>
              <a:rPr sz="2494" dirty="0">
                <a:cs typeface="Comic Sans MS"/>
              </a:rPr>
              <a:t>or</a:t>
            </a:r>
            <a:r>
              <a:rPr sz="2494" spc="27" dirty="0">
                <a:cs typeface="Comic Sans MS"/>
              </a:rPr>
              <a:t> </a:t>
            </a:r>
            <a:r>
              <a:rPr sz="2494" dirty="0">
                <a:cs typeface="Comic Sans MS"/>
              </a:rPr>
              <a:t>DSA</a:t>
            </a:r>
            <a:r>
              <a:rPr sz="2494" spc="73" dirty="0">
                <a:cs typeface="Comic Sans MS"/>
              </a:rPr>
              <a:t> </a:t>
            </a:r>
            <a:r>
              <a:rPr sz="2494" dirty="0">
                <a:cs typeface="Comic Sans MS"/>
              </a:rPr>
              <a:t>key</a:t>
            </a:r>
            <a:r>
              <a:rPr sz="2494" spc="63" dirty="0">
                <a:cs typeface="Comic Sans MS"/>
              </a:rPr>
              <a:t> </a:t>
            </a:r>
            <a:r>
              <a:rPr sz="2494" dirty="0">
                <a:cs typeface="Comic Sans MS"/>
              </a:rPr>
              <a:t>pair</a:t>
            </a:r>
            <a:r>
              <a:rPr sz="2494" spc="27" dirty="0">
                <a:cs typeface="Comic Sans MS"/>
              </a:rPr>
              <a:t> </a:t>
            </a:r>
            <a:r>
              <a:rPr sz="2494" dirty="0">
                <a:cs typeface="Comic Sans MS"/>
              </a:rPr>
              <a:t>for</a:t>
            </a:r>
            <a:r>
              <a:rPr sz="2494" spc="23" dirty="0">
                <a:cs typeface="Comic Sans MS"/>
              </a:rPr>
              <a:t> </a:t>
            </a:r>
            <a:r>
              <a:rPr sz="2494" dirty="0">
                <a:cs typeface="Comic Sans MS"/>
              </a:rPr>
              <a:t>you,</a:t>
            </a:r>
            <a:r>
              <a:rPr sz="2494" spc="59" dirty="0">
                <a:cs typeface="Comic Sans MS"/>
              </a:rPr>
              <a:t> </a:t>
            </a:r>
            <a:r>
              <a:rPr sz="2494" dirty="0">
                <a:cs typeface="Comic Sans MS"/>
              </a:rPr>
              <a:t>with</a:t>
            </a:r>
            <a:r>
              <a:rPr sz="2494" spc="54" dirty="0">
                <a:cs typeface="Comic Sans MS"/>
              </a:rPr>
              <a:t> </a:t>
            </a:r>
            <a:r>
              <a:rPr sz="2494" spc="-9" dirty="0">
                <a:cs typeface="Comic Sans MS"/>
              </a:rPr>
              <a:t>protection </a:t>
            </a:r>
            <a:r>
              <a:rPr sz="2494" dirty="0">
                <a:cs typeface="Comic Sans MS"/>
              </a:rPr>
              <a:t>of</a:t>
            </a:r>
            <a:r>
              <a:rPr sz="2494" spc="36" dirty="0">
                <a:cs typeface="Comic Sans MS"/>
              </a:rPr>
              <a:t> </a:t>
            </a:r>
            <a:r>
              <a:rPr sz="2494" dirty="0">
                <a:cs typeface="Comic Sans MS"/>
              </a:rPr>
              <a:t>your</a:t>
            </a:r>
            <a:r>
              <a:rPr sz="2494" spc="41" dirty="0">
                <a:cs typeface="Comic Sans MS"/>
              </a:rPr>
              <a:t> </a:t>
            </a:r>
            <a:r>
              <a:rPr sz="2494" dirty="0">
                <a:cs typeface="Comic Sans MS"/>
              </a:rPr>
              <a:t>private</a:t>
            </a:r>
            <a:r>
              <a:rPr sz="2494" spc="68" dirty="0">
                <a:cs typeface="Comic Sans MS"/>
              </a:rPr>
              <a:t> </a:t>
            </a:r>
            <a:r>
              <a:rPr sz="2494" dirty="0">
                <a:cs typeface="Comic Sans MS"/>
              </a:rPr>
              <a:t>key</a:t>
            </a:r>
            <a:r>
              <a:rPr sz="2494" spc="77" dirty="0">
                <a:cs typeface="Comic Sans MS"/>
              </a:rPr>
              <a:t> </a:t>
            </a:r>
            <a:r>
              <a:rPr sz="2494" dirty="0">
                <a:cs typeface="Comic Sans MS"/>
              </a:rPr>
              <a:t>from</a:t>
            </a:r>
            <a:r>
              <a:rPr sz="2494" spc="41" dirty="0">
                <a:cs typeface="Comic Sans MS"/>
              </a:rPr>
              <a:t> </a:t>
            </a:r>
            <a:r>
              <a:rPr sz="2494" dirty="0">
                <a:cs typeface="Comic Sans MS"/>
              </a:rPr>
              <a:t>a</a:t>
            </a:r>
            <a:r>
              <a:rPr sz="2494" spc="18" dirty="0">
                <a:cs typeface="Comic Sans MS"/>
              </a:rPr>
              <a:t> </a:t>
            </a:r>
            <a:r>
              <a:rPr sz="2494" spc="-9" dirty="0">
                <a:cs typeface="Comic Sans MS"/>
              </a:rPr>
              <a:t>passphrase:</a:t>
            </a:r>
            <a:endParaRPr sz="2494" dirty="0">
              <a:cs typeface="Comic Sans MS"/>
            </a:endParaRPr>
          </a:p>
          <a:p>
            <a:pPr marL="321306" marR="963344" indent="-310366">
              <a:lnSpc>
                <a:spcPct val="102499"/>
              </a:lnSpc>
              <a:spcBef>
                <a:spcPts val="680"/>
              </a:spcBef>
              <a:buChar char="•"/>
              <a:tabLst>
                <a:tab pos="321306" algn="l"/>
              </a:tabLst>
            </a:pPr>
            <a:r>
              <a:rPr sz="2494" dirty="0">
                <a:cs typeface="Comic Sans MS"/>
              </a:rPr>
              <a:t>SSH</a:t>
            </a:r>
            <a:r>
              <a:rPr sz="2494" spc="18" dirty="0">
                <a:cs typeface="Comic Sans MS"/>
              </a:rPr>
              <a:t> </a:t>
            </a:r>
            <a:r>
              <a:rPr sz="2494" dirty="0">
                <a:cs typeface="Comic Sans MS"/>
              </a:rPr>
              <a:t>will</a:t>
            </a:r>
            <a:r>
              <a:rPr sz="2494" spc="36" dirty="0">
                <a:cs typeface="Comic Sans MS"/>
              </a:rPr>
              <a:t> </a:t>
            </a:r>
            <a:r>
              <a:rPr sz="2494" dirty="0">
                <a:cs typeface="Comic Sans MS"/>
              </a:rPr>
              <a:t>then</a:t>
            </a:r>
            <a:r>
              <a:rPr sz="2494" spc="14" dirty="0">
                <a:cs typeface="Comic Sans MS"/>
              </a:rPr>
              <a:t> </a:t>
            </a:r>
            <a:r>
              <a:rPr sz="2494" dirty="0">
                <a:cs typeface="Comic Sans MS"/>
              </a:rPr>
              <a:t>add</a:t>
            </a:r>
            <a:r>
              <a:rPr sz="2494" spc="122" dirty="0">
                <a:cs typeface="Comic Sans MS"/>
              </a:rPr>
              <a:t> </a:t>
            </a:r>
            <a:r>
              <a:rPr sz="2494" dirty="0">
                <a:cs typeface="Comic Sans MS"/>
              </a:rPr>
              <a:t>your</a:t>
            </a:r>
            <a:r>
              <a:rPr sz="2494" spc="59" dirty="0">
                <a:cs typeface="Comic Sans MS"/>
              </a:rPr>
              <a:t> </a:t>
            </a:r>
            <a:r>
              <a:rPr sz="2494" dirty="0">
                <a:cs typeface="Comic Sans MS"/>
              </a:rPr>
              <a:t>public</a:t>
            </a:r>
            <a:r>
              <a:rPr sz="2494" spc="113" dirty="0">
                <a:cs typeface="Comic Sans MS"/>
              </a:rPr>
              <a:t> </a:t>
            </a:r>
            <a:r>
              <a:rPr sz="2494" dirty="0">
                <a:cs typeface="Comic Sans MS"/>
              </a:rPr>
              <a:t>key</a:t>
            </a:r>
            <a:r>
              <a:rPr sz="2494" spc="95" dirty="0">
                <a:cs typeface="Comic Sans MS"/>
              </a:rPr>
              <a:t> </a:t>
            </a:r>
            <a:r>
              <a:rPr sz="2494" dirty="0">
                <a:cs typeface="Comic Sans MS"/>
              </a:rPr>
              <a:t>into</a:t>
            </a:r>
            <a:r>
              <a:rPr sz="2494" spc="9" dirty="0">
                <a:cs typeface="Comic Sans MS"/>
              </a:rPr>
              <a:t> </a:t>
            </a:r>
            <a:r>
              <a:rPr sz="2494" spc="-23" dirty="0">
                <a:cs typeface="Comic Sans MS"/>
              </a:rPr>
              <a:t>the </a:t>
            </a:r>
            <a:r>
              <a:rPr sz="2494" dirty="0">
                <a:cs typeface="Comic Sans MS"/>
              </a:rPr>
              <a:t>server's</a:t>
            </a:r>
            <a:r>
              <a:rPr sz="2494" spc="159" dirty="0">
                <a:cs typeface="Comic Sans MS"/>
              </a:rPr>
              <a:t> </a:t>
            </a:r>
            <a:r>
              <a:rPr sz="2494" dirty="0">
                <a:cs typeface="Comic Sans MS"/>
              </a:rPr>
              <a:t>“authorized_keys”</a:t>
            </a:r>
            <a:r>
              <a:rPr sz="2494" spc="195" dirty="0">
                <a:cs typeface="Comic Sans MS"/>
              </a:rPr>
              <a:t> </a:t>
            </a:r>
            <a:r>
              <a:rPr sz="2494" spc="-9" dirty="0">
                <a:cs typeface="Comic Sans MS"/>
              </a:rPr>
              <a:t>database. (~/.ssh/authorized_keys)</a:t>
            </a:r>
            <a:endParaRPr sz="2494" dirty="0">
              <a:cs typeface="Comic Sans MS"/>
            </a:endParaRPr>
          </a:p>
          <a:p>
            <a:pPr marL="321306" marR="609215" indent="-310366">
              <a:lnSpc>
                <a:spcPct val="102499"/>
              </a:lnSpc>
              <a:spcBef>
                <a:spcPts val="680"/>
              </a:spcBef>
              <a:buChar char="•"/>
              <a:tabLst>
                <a:tab pos="321306" algn="l"/>
              </a:tabLst>
            </a:pPr>
            <a:r>
              <a:rPr sz="2494" dirty="0">
                <a:cs typeface="Comic Sans MS"/>
              </a:rPr>
              <a:t>Later</a:t>
            </a:r>
            <a:r>
              <a:rPr sz="2494" spc="59" dirty="0">
                <a:cs typeface="Comic Sans MS"/>
              </a:rPr>
              <a:t> </a:t>
            </a:r>
            <a:r>
              <a:rPr sz="2494" dirty="0">
                <a:cs typeface="Comic Sans MS"/>
              </a:rPr>
              <a:t>you</a:t>
            </a:r>
            <a:r>
              <a:rPr sz="2494" spc="91" dirty="0">
                <a:cs typeface="Comic Sans MS"/>
              </a:rPr>
              <a:t> </a:t>
            </a:r>
            <a:r>
              <a:rPr sz="2494" dirty="0">
                <a:cs typeface="Comic Sans MS"/>
              </a:rPr>
              <a:t>can</a:t>
            </a:r>
            <a:r>
              <a:rPr sz="2494" spc="77" dirty="0">
                <a:cs typeface="Comic Sans MS"/>
              </a:rPr>
              <a:t> </a:t>
            </a:r>
            <a:r>
              <a:rPr sz="2494" dirty="0">
                <a:cs typeface="Comic Sans MS"/>
              </a:rPr>
              <a:t>connect</a:t>
            </a:r>
            <a:r>
              <a:rPr sz="2494" spc="77" dirty="0">
                <a:cs typeface="Comic Sans MS"/>
              </a:rPr>
              <a:t> </a:t>
            </a:r>
            <a:r>
              <a:rPr sz="2494" dirty="0">
                <a:cs typeface="Comic Sans MS"/>
              </a:rPr>
              <a:t>to</a:t>
            </a:r>
            <a:r>
              <a:rPr sz="2494" spc="14" dirty="0">
                <a:cs typeface="Comic Sans MS"/>
              </a:rPr>
              <a:t> </a:t>
            </a:r>
            <a:r>
              <a:rPr sz="2494" dirty="0">
                <a:cs typeface="Comic Sans MS"/>
              </a:rPr>
              <a:t>the</a:t>
            </a:r>
            <a:r>
              <a:rPr sz="2494" spc="23" dirty="0">
                <a:cs typeface="Comic Sans MS"/>
              </a:rPr>
              <a:t> </a:t>
            </a:r>
            <a:r>
              <a:rPr sz="2494" dirty="0">
                <a:cs typeface="Comic Sans MS"/>
              </a:rPr>
              <a:t>server</a:t>
            </a:r>
            <a:r>
              <a:rPr sz="2494" spc="122" dirty="0">
                <a:cs typeface="Comic Sans MS"/>
              </a:rPr>
              <a:t> </a:t>
            </a:r>
            <a:r>
              <a:rPr sz="2494" spc="-23" dirty="0">
                <a:cs typeface="Comic Sans MS"/>
              </a:rPr>
              <a:t>by </a:t>
            </a:r>
            <a:r>
              <a:rPr sz="2494" dirty="0">
                <a:cs typeface="Comic Sans MS"/>
              </a:rPr>
              <a:t>authenticating</a:t>
            </a:r>
            <a:r>
              <a:rPr sz="2494" spc="82" dirty="0">
                <a:cs typeface="Comic Sans MS"/>
              </a:rPr>
              <a:t> </a:t>
            </a:r>
            <a:r>
              <a:rPr sz="2494" dirty="0">
                <a:cs typeface="Comic Sans MS"/>
              </a:rPr>
              <a:t>yourself</a:t>
            </a:r>
            <a:r>
              <a:rPr sz="2494" spc="77" dirty="0">
                <a:cs typeface="Comic Sans MS"/>
              </a:rPr>
              <a:t> </a:t>
            </a:r>
            <a:r>
              <a:rPr sz="2494" dirty="0">
                <a:cs typeface="Comic Sans MS"/>
              </a:rPr>
              <a:t>with</a:t>
            </a:r>
            <a:r>
              <a:rPr sz="2494" spc="109" dirty="0">
                <a:cs typeface="Comic Sans MS"/>
              </a:rPr>
              <a:t> </a:t>
            </a:r>
            <a:r>
              <a:rPr sz="2494" dirty="0">
                <a:cs typeface="Comic Sans MS"/>
              </a:rPr>
              <a:t>your</a:t>
            </a:r>
            <a:r>
              <a:rPr sz="2494" spc="82" dirty="0">
                <a:cs typeface="Comic Sans MS"/>
              </a:rPr>
              <a:t> </a:t>
            </a:r>
            <a:r>
              <a:rPr sz="2494" dirty="0">
                <a:cs typeface="Comic Sans MS"/>
              </a:rPr>
              <a:t>public</a:t>
            </a:r>
            <a:r>
              <a:rPr sz="2494" spc="131" dirty="0">
                <a:cs typeface="Comic Sans MS"/>
              </a:rPr>
              <a:t> </a:t>
            </a:r>
            <a:r>
              <a:rPr sz="2494" spc="-18" dirty="0">
                <a:cs typeface="Comic Sans MS"/>
              </a:rPr>
              <a:t>key.</a:t>
            </a:r>
            <a:endParaRPr sz="2494" dirty="0">
              <a:cs typeface="Comic Sans MS"/>
            </a:endParaRPr>
          </a:p>
        </p:txBody>
      </p:sp>
      <p:sp>
        <p:nvSpPr>
          <p:cNvPr id="3" name="object 3" descr="$PPTXTitle"/>
          <p:cNvSpPr txBox="1">
            <a:spLocks noGrp="1"/>
          </p:cNvSpPr>
          <p:nvPr>
            <p:ph type="title"/>
          </p:nvPr>
        </p:nvSpPr>
        <p:spPr>
          <a:xfrm>
            <a:off x="2289839" y="458368"/>
            <a:ext cx="9535557" cy="947479"/>
          </a:xfrm>
          <a:prstGeom prst="rect">
            <a:avLst/>
          </a:prstGeom>
        </p:spPr>
        <p:txBody>
          <a:bodyPr vert="horz" wrap="square" lIns="0" tIns="267756" rIns="0" bIns="0" rtlCol="0" anchor="ctr">
            <a:spAutoFit/>
          </a:bodyPr>
          <a:lstStyle/>
          <a:p>
            <a:pPr marL="688678">
              <a:lnSpc>
                <a:spcPct val="100000"/>
              </a:lnSpc>
              <a:spcBef>
                <a:spcPts val="95"/>
              </a:spcBef>
            </a:pPr>
            <a:r>
              <a:rPr dirty="0"/>
              <a:t>SSH</a:t>
            </a:r>
            <a:r>
              <a:rPr spc="-41" dirty="0"/>
              <a:t> </a:t>
            </a:r>
            <a:r>
              <a:rPr dirty="0"/>
              <a:t>Public</a:t>
            </a:r>
            <a:r>
              <a:rPr spc="-23" dirty="0"/>
              <a:t> </a:t>
            </a:r>
            <a:r>
              <a:rPr dirty="0"/>
              <a:t>Key</a:t>
            </a:r>
            <a:r>
              <a:rPr spc="-18" dirty="0"/>
              <a:t> </a:t>
            </a:r>
            <a:r>
              <a:rPr spc="-9" dirty="0"/>
              <a:t>Authentication</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3EEE9-9833-4CE7-9391-F70894219B52}"/>
            </a:ext>
          </a:extLst>
        </p:cNvPr>
        <p:cNvGrpSpPr/>
        <p:nvPr/>
      </p:nvGrpSpPr>
      <p:grpSpPr>
        <a:xfrm>
          <a:off x="0" y="0"/>
          <a:ext cx="0" cy="0"/>
          <a:chOff x="0" y="0"/>
          <a:chExt cx="0" cy="0"/>
        </a:xfrm>
      </p:grpSpPr>
      <p:sp>
        <p:nvSpPr>
          <p:cNvPr id="3" name="object 3" descr="$PPTXTitle">
            <a:extLst>
              <a:ext uri="{FF2B5EF4-FFF2-40B4-BE49-F238E27FC236}">
                <a16:creationId xmlns:a16="http://schemas.microsoft.com/office/drawing/2014/main" id="{0C5ADEAA-1030-F510-1B0D-F76910CF532B}"/>
              </a:ext>
            </a:extLst>
          </p:cNvPr>
          <p:cNvSpPr txBox="1">
            <a:spLocks noGrp="1"/>
          </p:cNvSpPr>
          <p:nvPr>
            <p:ph type="title"/>
          </p:nvPr>
        </p:nvSpPr>
        <p:spPr>
          <a:xfrm>
            <a:off x="838200" y="365125"/>
            <a:ext cx="10515600" cy="1325563"/>
          </a:xfrm>
        </p:spPr>
        <p:txBody>
          <a:bodyPr vert="horz" lIns="91440" tIns="45720" rIns="91440" bIns="45720" rtlCol="0" anchor="ctr">
            <a:normAutofit/>
          </a:bodyPr>
          <a:lstStyle/>
          <a:p>
            <a:pPr marL="688678"/>
            <a:r>
              <a:rPr lang="en-US" kern="1200">
                <a:latin typeface="+mj-lt"/>
                <a:ea typeface="+mj-ea"/>
                <a:cs typeface="+mj-cs"/>
              </a:rPr>
              <a:t>Question for you</a:t>
            </a:r>
            <a:endParaRPr lang="en-US" kern="1200" spc="-9">
              <a:latin typeface="+mj-lt"/>
              <a:ea typeface="+mj-ea"/>
              <a:cs typeface="+mj-cs"/>
            </a:endParaRPr>
          </a:p>
        </p:txBody>
      </p:sp>
      <p:sp>
        <p:nvSpPr>
          <p:cNvPr id="2" name="object 2">
            <a:extLst>
              <a:ext uri="{FF2B5EF4-FFF2-40B4-BE49-F238E27FC236}">
                <a16:creationId xmlns:a16="http://schemas.microsoft.com/office/drawing/2014/main" id="{7A8FC62C-31B0-D91E-B8F2-412B67CEFD29}"/>
              </a:ext>
            </a:extLst>
          </p:cNvPr>
          <p:cNvSpPr txBox="1"/>
          <p:nvPr/>
        </p:nvSpPr>
        <p:spPr>
          <a:xfrm>
            <a:off x="838200" y="1825625"/>
            <a:ext cx="5181600" cy="4351338"/>
          </a:xfrm>
          <a:prstGeom prst="rect">
            <a:avLst/>
          </a:prstGeom>
        </p:spPr>
        <p:txBody>
          <a:bodyPr vert="horz" lIns="91440" tIns="45720" rIns="91440" bIns="45720" rtlCol="0">
            <a:normAutofit/>
          </a:bodyPr>
          <a:lstStyle/>
          <a:p>
            <a:pPr marL="228600" lvl="1" indent="-228600">
              <a:lnSpc>
                <a:spcPct val="90000"/>
              </a:lnSpc>
              <a:spcBef>
                <a:spcPts val="1000"/>
              </a:spcBef>
              <a:buFont typeface="Arial" panose="020B0604020202020204" pitchFamily="34" charset="0"/>
              <a:buChar char="•"/>
            </a:pPr>
            <a:r>
              <a:rPr lang="en-US" sz="2400"/>
              <a:t>* SSH relies heavily on Trust On First Use (TOFU) where public keys are stored in ~/.ssh/known_hosts – what can go wrong?</a:t>
            </a:r>
            <a:br>
              <a:rPr lang="en-US" sz="2400"/>
            </a:br>
            <a:endParaRPr lang="en-US" sz="2400"/>
          </a:p>
          <a:p>
            <a:pPr marL="228600" lvl="1" indent="-228600">
              <a:lnSpc>
                <a:spcPct val="90000"/>
              </a:lnSpc>
              <a:spcBef>
                <a:spcPts val="1000"/>
              </a:spcBef>
              <a:buFont typeface="Arial" panose="020B0604020202020204" pitchFamily="34" charset="0"/>
              <a:buChar char="•"/>
            </a:pPr>
            <a:r>
              <a:rPr lang="en-US" sz="2400"/>
              <a:t>* If an attacker steals your server's private host key tomorrow, can they decrypt the SSH traffic they recorded yesterday?</a:t>
            </a:r>
          </a:p>
          <a:p>
            <a:pPr marL="228600" indent="-228600">
              <a:lnSpc>
                <a:spcPct val="90000"/>
              </a:lnSpc>
              <a:spcBef>
                <a:spcPts val="1000"/>
              </a:spcBef>
              <a:buFont typeface="Arial" panose="020B0604020202020204" pitchFamily="34" charset="0"/>
              <a:buChar char="•"/>
            </a:pPr>
            <a:br>
              <a:rPr lang="en-US" sz="2400"/>
            </a:br>
            <a:endParaRPr lang="en-US" sz="2400"/>
          </a:p>
        </p:txBody>
      </p:sp>
      <p:sp>
        <p:nvSpPr>
          <p:cNvPr id="8" name="Content Placeholder 3">
            <a:extLst>
              <a:ext uri="{FF2B5EF4-FFF2-40B4-BE49-F238E27FC236}">
                <a16:creationId xmlns:a16="http://schemas.microsoft.com/office/drawing/2014/main" id="{7F302744-70AA-48A4-BA26-5BF6ACA57342}"/>
              </a:ext>
            </a:extLst>
          </p:cNvPr>
          <p:cNvSpPr>
            <a:spLocks noGrp="1"/>
          </p:cNvSpPr>
          <p:nvPr>
            <p:ph sz="half" idx="2"/>
          </p:nvPr>
        </p:nvSpPr>
        <p:spPr>
          <a:xfrm>
            <a:off x="6172200" y="1825625"/>
            <a:ext cx="5181600" cy="4351338"/>
          </a:xfrm>
        </p:spPr>
        <p:txBody>
          <a:bodyPr/>
          <a:lstStyle/>
          <a:p>
            <a:endParaRPr lang="en-US"/>
          </a:p>
        </p:txBody>
      </p:sp>
    </p:spTree>
    <p:extLst>
      <p:ext uri="{BB962C8B-B14F-4D97-AF65-F5344CB8AC3E}">
        <p14:creationId xmlns:p14="http://schemas.microsoft.com/office/powerpoint/2010/main" val="128655493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descr="$PPTXTitle"/>
          <p:cNvSpPr txBox="1">
            <a:spLocks noGrp="1"/>
          </p:cNvSpPr>
          <p:nvPr>
            <p:ph type="title"/>
          </p:nvPr>
        </p:nvSpPr>
        <p:spPr>
          <a:xfrm>
            <a:off x="838200" y="365125"/>
            <a:ext cx="10515600" cy="1325563"/>
          </a:xfrm>
        </p:spPr>
        <p:txBody>
          <a:bodyPr vert="horz" lIns="91440" tIns="45720" rIns="91440" bIns="45720" rtlCol="0" anchor="ctr">
            <a:normAutofit/>
          </a:bodyPr>
          <a:lstStyle/>
          <a:p>
            <a:pPr marL="2232446"/>
            <a:r>
              <a:rPr lang="en-US" kern="1200" spc="-9">
                <a:latin typeface="+mj-lt"/>
                <a:ea typeface="+mj-ea"/>
                <a:cs typeface="+mj-cs"/>
              </a:rPr>
              <a:t>References</a:t>
            </a:r>
          </a:p>
        </p:txBody>
      </p:sp>
      <p:sp>
        <p:nvSpPr>
          <p:cNvPr id="2" name="object 2"/>
          <p:cNvSpPr txBox="1"/>
          <p:nvPr/>
        </p:nvSpPr>
        <p:spPr>
          <a:xfrm>
            <a:off x="838200" y="1825625"/>
            <a:ext cx="10515600" cy="4351338"/>
          </a:xfrm>
          <a:prstGeom prst="rect">
            <a:avLst/>
          </a:prstGeom>
        </p:spPr>
        <p:txBody>
          <a:bodyPr vert="horz" lIns="91440" tIns="45720" rIns="91440" bIns="45720" rtlCol="0">
            <a:normAutofit/>
          </a:bodyPr>
          <a:lstStyle/>
          <a:p>
            <a:pPr marL="228600" indent="-228600">
              <a:lnSpc>
                <a:spcPct val="90000"/>
              </a:lnSpc>
              <a:spcBef>
                <a:spcPts val="1000"/>
              </a:spcBef>
              <a:buFont typeface="Arial" panose="020B0604020202020204" pitchFamily="34" charset="0"/>
              <a:buChar char="•"/>
              <a:tabLst>
                <a:tab pos="321306" algn="l"/>
              </a:tabLst>
            </a:pPr>
            <a:r>
              <a:rPr lang="en-US" sz="2800" u="sng">
                <a:uFill>
                  <a:solidFill>
                    <a:srgbClr val="CCCCFF"/>
                  </a:solidFill>
                </a:uFill>
                <a:hlinkClick r:id="rId2">
                  <a:extLst>
                    <a:ext uri="{A12FA001-AC4F-418D-AE19-62706E023703}">
                      <ahyp:hlinkClr xmlns:ahyp="http://schemas.microsoft.com/office/drawing/2018/hyperlinkcolor" val="tx"/>
                    </a:ext>
                  </a:extLst>
                </a:hlinkClick>
              </a:rPr>
              <a:t>SSH:</a:t>
            </a:r>
            <a:r>
              <a:rPr lang="en-US" sz="2800" u="sng" spc="-68">
                <a:uFill>
                  <a:solidFill>
                    <a:srgbClr val="CCCCFF"/>
                  </a:solidFill>
                </a:uFill>
                <a:hlinkClick r:id="rId2">
                  <a:extLst>
                    <a:ext uri="{A12FA001-AC4F-418D-AE19-62706E023703}">
                      <ahyp:hlinkClr xmlns:ahyp="http://schemas.microsoft.com/office/drawing/2018/hyperlinkcolor" val="tx"/>
                    </a:ext>
                  </a:extLst>
                </a:hlinkClick>
              </a:rPr>
              <a:t> </a:t>
            </a:r>
            <a:r>
              <a:rPr lang="en-US" sz="2800" u="sng">
                <a:uFill>
                  <a:solidFill>
                    <a:srgbClr val="CCCCFF"/>
                  </a:solidFill>
                </a:uFill>
                <a:hlinkClick r:id="rId2">
                  <a:extLst>
                    <a:ext uri="{A12FA001-AC4F-418D-AE19-62706E023703}">
                      <ahyp:hlinkClr xmlns:ahyp="http://schemas.microsoft.com/office/drawing/2018/hyperlinkcolor" val="tx"/>
                    </a:ext>
                  </a:extLst>
                </a:hlinkClick>
              </a:rPr>
              <a:t>The</a:t>
            </a:r>
            <a:r>
              <a:rPr lang="en-US" sz="2800" u="sng" spc="-63">
                <a:uFill>
                  <a:solidFill>
                    <a:srgbClr val="CCCCFF"/>
                  </a:solidFill>
                </a:uFill>
                <a:hlinkClick r:id="rId2">
                  <a:extLst>
                    <a:ext uri="{A12FA001-AC4F-418D-AE19-62706E023703}">
                      <ahyp:hlinkClr xmlns:ahyp="http://schemas.microsoft.com/office/drawing/2018/hyperlinkcolor" val="tx"/>
                    </a:ext>
                  </a:extLst>
                </a:hlinkClick>
              </a:rPr>
              <a:t> </a:t>
            </a:r>
            <a:r>
              <a:rPr lang="en-US" sz="2800" u="sng">
                <a:uFill>
                  <a:solidFill>
                    <a:srgbClr val="CCCCFF"/>
                  </a:solidFill>
                </a:uFill>
                <a:hlinkClick r:id="rId2">
                  <a:extLst>
                    <a:ext uri="{A12FA001-AC4F-418D-AE19-62706E023703}">
                      <ahyp:hlinkClr xmlns:ahyp="http://schemas.microsoft.com/office/drawing/2018/hyperlinkcolor" val="tx"/>
                    </a:ext>
                  </a:extLst>
                </a:hlinkClick>
              </a:rPr>
              <a:t>Secure</a:t>
            </a:r>
            <a:r>
              <a:rPr lang="en-US" sz="2800" u="sng" spc="-63">
                <a:uFill>
                  <a:solidFill>
                    <a:srgbClr val="CCCCFF"/>
                  </a:solidFill>
                </a:uFill>
                <a:hlinkClick r:id="rId2">
                  <a:extLst>
                    <a:ext uri="{A12FA001-AC4F-418D-AE19-62706E023703}">
                      <ahyp:hlinkClr xmlns:ahyp="http://schemas.microsoft.com/office/drawing/2018/hyperlinkcolor" val="tx"/>
                    </a:ext>
                  </a:extLst>
                </a:hlinkClick>
              </a:rPr>
              <a:t> </a:t>
            </a:r>
            <a:r>
              <a:rPr lang="en-US" sz="2800" u="sng">
                <a:uFill>
                  <a:solidFill>
                    <a:srgbClr val="CCCCFF"/>
                  </a:solidFill>
                </a:uFill>
                <a:hlinkClick r:id="rId2">
                  <a:extLst>
                    <a:ext uri="{A12FA001-AC4F-418D-AE19-62706E023703}">
                      <ahyp:hlinkClr xmlns:ahyp="http://schemas.microsoft.com/office/drawing/2018/hyperlinkcolor" val="tx"/>
                    </a:ext>
                  </a:extLst>
                </a:hlinkClick>
              </a:rPr>
              <a:t>Shell</a:t>
            </a:r>
            <a:r>
              <a:rPr lang="en-US" sz="2800" u="sng" spc="-18">
                <a:uFill>
                  <a:solidFill>
                    <a:srgbClr val="CCCCFF"/>
                  </a:solidFill>
                </a:uFill>
                <a:hlinkClick r:id="rId2">
                  <a:extLst>
                    <a:ext uri="{A12FA001-AC4F-418D-AE19-62706E023703}">
                      <ahyp:hlinkClr xmlns:ahyp="http://schemas.microsoft.com/office/drawing/2018/hyperlinkcolor" val="tx"/>
                    </a:ext>
                  </a:extLst>
                </a:hlinkClick>
              </a:rPr>
              <a:t> </a:t>
            </a:r>
            <a:r>
              <a:rPr lang="en-US" sz="2800" u="sng">
                <a:uFill>
                  <a:solidFill>
                    <a:srgbClr val="CCCCFF"/>
                  </a:solidFill>
                </a:uFill>
                <a:hlinkClick r:id="rId2">
                  <a:extLst>
                    <a:ext uri="{A12FA001-AC4F-418D-AE19-62706E023703}">
                      <ahyp:hlinkClr xmlns:ahyp="http://schemas.microsoft.com/office/drawing/2018/hyperlinkcolor" val="tx"/>
                    </a:ext>
                  </a:extLst>
                </a:hlinkClick>
              </a:rPr>
              <a:t>The</a:t>
            </a:r>
            <a:r>
              <a:rPr lang="en-US" sz="2800" u="sng" spc="-63">
                <a:uFill>
                  <a:solidFill>
                    <a:srgbClr val="CCCCFF"/>
                  </a:solidFill>
                </a:uFill>
                <a:hlinkClick r:id="rId2">
                  <a:extLst>
                    <a:ext uri="{A12FA001-AC4F-418D-AE19-62706E023703}">
                      <ahyp:hlinkClr xmlns:ahyp="http://schemas.microsoft.com/office/drawing/2018/hyperlinkcolor" val="tx"/>
                    </a:ext>
                  </a:extLst>
                </a:hlinkClick>
              </a:rPr>
              <a:t> </a:t>
            </a:r>
            <a:r>
              <a:rPr lang="en-US" sz="2800" u="sng">
                <a:uFill>
                  <a:solidFill>
                    <a:srgbClr val="CCCCFF"/>
                  </a:solidFill>
                </a:uFill>
                <a:hlinkClick r:id="rId2">
                  <a:extLst>
                    <a:ext uri="{A12FA001-AC4F-418D-AE19-62706E023703}">
                      <ahyp:hlinkClr xmlns:ahyp="http://schemas.microsoft.com/office/drawing/2018/hyperlinkcolor" val="tx"/>
                    </a:ext>
                  </a:extLst>
                </a:hlinkClick>
              </a:rPr>
              <a:t>Definitive</a:t>
            </a:r>
            <a:r>
              <a:rPr lang="en-US" sz="2800" u="sng" spc="-63">
                <a:uFill>
                  <a:solidFill>
                    <a:srgbClr val="CCCCFF"/>
                  </a:solidFill>
                </a:uFill>
                <a:hlinkClick r:id="rId2">
                  <a:extLst>
                    <a:ext uri="{A12FA001-AC4F-418D-AE19-62706E023703}">
                      <ahyp:hlinkClr xmlns:ahyp="http://schemas.microsoft.com/office/drawing/2018/hyperlinkcolor" val="tx"/>
                    </a:ext>
                  </a:extLst>
                </a:hlinkClick>
              </a:rPr>
              <a:t> </a:t>
            </a:r>
            <a:r>
              <a:rPr lang="en-US" sz="2800" u="sng">
                <a:uFill>
                  <a:solidFill>
                    <a:srgbClr val="CCCCFF"/>
                  </a:solidFill>
                </a:uFill>
                <a:hlinkClick r:id="rId2">
                  <a:extLst>
                    <a:ext uri="{A12FA001-AC4F-418D-AE19-62706E023703}">
                      <ahyp:hlinkClr xmlns:ahyp="http://schemas.microsoft.com/office/drawing/2018/hyperlinkcolor" val="tx"/>
                    </a:ext>
                  </a:extLst>
                </a:hlinkClick>
              </a:rPr>
              <a:t>Guide</a:t>
            </a:r>
            <a:r>
              <a:rPr lang="en-US" sz="2800" u="sng" spc="-63">
                <a:uFill>
                  <a:solidFill>
                    <a:srgbClr val="CCCCFF"/>
                  </a:solidFill>
                </a:uFill>
                <a:hlinkClick r:id="rId2">
                  <a:extLst>
                    <a:ext uri="{A12FA001-AC4F-418D-AE19-62706E023703}">
                      <ahyp:hlinkClr xmlns:ahyp="http://schemas.microsoft.com/office/drawing/2018/hyperlinkcolor" val="tx"/>
                    </a:ext>
                  </a:extLst>
                </a:hlinkClick>
              </a:rPr>
              <a:t> </a:t>
            </a:r>
            <a:r>
              <a:rPr lang="en-US" sz="2800" u="sng" spc="-23">
                <a:uFill>
                  <a:solidFill>
                    <a:srgbClr val="CCCCFF"/>
                  </a:solidFill>
                </a:uFill>
                <a:hlinkClick r:id="rId2">
                  <a:extLst>
                    <a:ext uri="{A12FA001-AC4F-418D-AE19-62706E023703}">
                      <ahyp:hlinkClr xmlns:ahyp="http://schemas.microsoft.com/office/drawing/2018/hyperlinkcolor" val="tx"/>
                    </a:ext>
                  </a:extLst>
                </a:hlinkClick>
              </a:rPr>
              <a:t>2E</a:t>
            </a:r>
            <a:endParaRPr lang="en-US" sz="2800"/>
          </a:p>
          <a:p>
            <a:pPr marL="228600" indent="-228600">
              <a:lnSpc>
                <a:spcPct val="90000"/>
              </a:lnSpc>
              <a:spcBef>
                <a:spcPts val="1000"/>
              </a:spcBef>
              <a:buClr>
                <a:srgbClr val="000000"/>
              </a:buClr>
              <a:buFont typeface="Arial" panose="020B0604020202020204" pitchFamily="34" charset="0"/>
              <a:buChar char="•"/>
              <a:tabLst>
                <a:tab pos="321306" algn="l"/>
              </a:tabLst>
            </a:pPr>
            <a:r>
              <a:rPr lang="en-US" sz="2800" u="sng">
                <a:uFill>
                  <a:solidFill>
                    <a:srgbClr val="CCCCFF"/>
                  </a:solidFill>
                </a:uFill>
              </a:rPr>
              <a:t>SSH</a:t>
            </a:r>
            <a:r>
              <a:rPr lang="en-US" sz="2800" u="sng" spc="-54">
                <a:uFill>
                  <a:solidFill>
                    <a:srgbClr val="CCCCFF"/>
                  </a:solidFill>
                </a:uFill>
              </a:rPr>
              <a:t> </a:t>
            </a:r>
            <a:r>
              <a:rPr lang="en-US" sz="2800" u="sng" spc="-23">
                <a:uFill>
                  <a:solidFill>
                    <a:srgbClr val="CCCCFF"/>
                  </a:solidFill>
                </a:uFill>
              </a:rPr>
              <a:t>FAQ</a:t>
            </a:r>
            <a:endParaRPr lang="en-US" sz="2800"/>
          </a:p>
          <a:p>
            <a:pPr marL="228600" indent="-228600">
              <a:lnSpc>
                <a:spcPct val="90000"/>
              </a:lnSpc>
              <a:spcBef>
                <a:spcPts val="1000"/>
              </a:spcBef>
              <a:buClr>
                <a:srgbClr val="000000"/>
              </a:buClr>
              <a:buFont typeface="Arial" panose="020B0604020202020204" pitchFamily="34" charset="0"/>
              <a:buChar char="•"/>
              <a:tabLst>
                <a:tab pos="321306" algn="l"/>
              </a:tabLst>
            </a:pPr>
            <a:r>
              <a:rPr lang="en-US" sz="2800" u="sng">
                <a:uFill>
                  <a:solidFill>
                    <a:srgbClr val="CCCCFF"/>
                  </a:solidFill>
                </a:uFill>
                <a:hlinkClick r:id="rId3">
                  <a:extLst>
                    <a:ext uri="{A12FA001-AC4F-418D-AE19-62706E023703}">
                      <ahyp:hlinkClr xmlns:ahyp="http://schemas.microsoft.com/office/drawing/2018/hyperlinkcolor" val="tx"/>
                    </a:ext>
                  </a:extLst>
                </a:hlinkClick>
              </a:rPr>
              <a:t>OPENSSH</a:t>
            </a:r>
            <a:r>
              <a:rPr lang="en-US" sz="2800" u="sng" spc="-59">
                <a:uFill>
                  <a:solidFill>
                    <a:srgbClr val="CCCCFF"/>
                  </a:solidFill>
                </a:uFill>
                <a:hlinkClick r:id="rId3">
                  <a:extLst>
                    <a:ext uri="{A12FA001-AC4F-418D-AE19-62706E023703}">
                      <ahyp:hlinkClr xmlns:ahyp="http://schemas.microsoft.com/office/drawing/2018/hyperlinkcolor" val="tx"/>
                    </a:ext>
                  </a:extLst>
                </a:hlinkClick>
              </a:rPr>
              <a:t> </a:t>
            </a:r>
            <a:r>
              <a:rPr lang="en-US" sz="2800" u="sng">
                <a:uFill>
                  <a:solidFill>
                    <a:srgbClr val="CCCCFF"/>
                  </a:solidFill>
                </a:uFill>
                <a:hlinkClick r:id="rId3">
                  <a:extLst>
                    <a:ext uri="{A12FA001-AC4F-418D-AE19-62706E023703}">
                      <ahyp:hlinkClr xmlns:ahyp="http://schemas.microsoft.com/office/drawing/2018/hyperlinkcolor" val="tx"/>
                    </a:ext>
                  </a:extLst>
                </a:hlinkClick>
              </a:rPr>
              <a:t>Project</a:t>
            </a:r>
            <a:r>
              <a:rPr lang="en-US" sz="2800" u="sng" spc="-82">
                <a:uFill>
                  <a:solidFill>
                    <a:srgbClr val="CCCCFF"/>
                  </a:solidFill>
                </a:uFill>
                <a:hlinkClick r:id="rId3">
                  <a:extLst>
                    <a:ext uri="{A12FA001-AC4F-418D-AE19-62706E023703}">
                      <ahyp:hlinkClr xmlns:ahyp="http://schemas.microsoft.com/office/drawing/2018/hyperlinkcolor" val="tx"/>
                    </a:ext>
                  </a:extLst>
                </a:hlinkClick>
              </a:rPr>
              <a:t> </a:t>
            </a:r>
            <a:r>
              <a:rPr lang="en-US" sz="2800" u="sng">
                <a:uFill>
                  <a:solidFill>
                    <a:srgbClr val="CCCCFF"/>
                  </a:solidFill>
                </a:uFill>
                <a:hlinkClick r:id="rId3">
                  <a:extLst>
                    <a:ext uri="{A12FA001-AC4F-418D-AE19-62706E023703}">
                      <ahyp:hlinkClr xmlns:ahyp="http://schemas.microsoft.com/office/drawing/2018/hyperlinkcolor" val="tx"/>
                    </a:ext>
                  </a:extLst>
                </a:hlinkClick>
              </a:rPr>
              <a:t>Official</a:t>
            </a:r>
            <a:r>
              <a:rPr lang="en-US" sz="2800" u="sng" spc="-63">
                <a:uFill>
                  <a:solidFill>
                    <a:srgbClr val="CCCCFF"/>
                  </a:solidFill>
                </a:uFill>
                <a:hlinkClick r:id="rId3">
                  <a:extLst>
                    <a:ext uri="{A12FA001-AC4F-418D-AE19-62706E023703}">
                      <ahyp:hlinkClr xmlns:ahyp="http://schemas.microsoft.com/office/drawing/2018/hyperlinkcolor" val="tx"/>
                    </a:ext>
                  </a:extLst>
                </a:hlinkClick>
              </a:rPr>
              <a:t> </a:t>
            </a:r>
            <a:r>
              <a:rPr lang="en-US" sz="2800" u="sng" spc="-18">
                <a:uFill>
                  <a:solidFill>
                    <a:srgbClr val="CCCCFF"/>
                  </a:solidFill>
                </a:uFill>
                <a:hlinkClick r:id="rId3">
                  <a:extLst>
                    <a:ext uri="{A12FA001-AC4F-418D-AE19-62706E023703}">
                      <ahyp:hlinkClr xmlns:ahyp="http://schemas.microsoft.com/office/drawing/2018/hyperlinkcolor" val="tx"/>
                    </a:ext>
                  </a:extLst>
                </a:hlinkClick>
              </a:rPr>
              <a:t>Site</a:t>
            </a:r>
            <a:endParaRPr lang="en-US" sz="2800"/>
          </a:p>
          <a:p>
            <a:pPr marL="228600" indent="-228600">
              <a:lnSpc>
                <a:spcPct val="90000"/>
              </a:lnSpc>
              <a:spcBef>
                <a:spcPts val="1000"/>
              </a:spcBef>
              <a:buClr>
                <a:srgbClr val="000000"/>
              </a:buClr>
              <a:buFont typeface="Arial" panose="020B0604020202020204" pitchFamily="34" charset="0"/>
              <a:buChar char="•"/>
              <a:tabLst>
                <a:tab pos="321306" algn="l"/>
              </a:tabLst>
            </a:pPr>
            <a:r>
              <a:rPr lang="en-US" sz="2800" u="sng">
                <a:uFill>
                  <a:solidFill>
                    <a:srgbClr val="CCCCFF"/>
                  </a:solidFill>
                </a:uFill>
                <a:hlinkClick r:id="rId4">
                  <a:extLst>
                    <a:ext uri="{A12FA001-AC4F-418D-AE19-62706E023703}">
                      <ahyp:hlinkClr xmlns:ahyp="http://schemas.microsoft.com/office/drawing/2018/hyperlinkcolor" val="tx"/>
                    </a:ext>
                  </a:extLst>
                </a:hlinkClick>
              </a:rPr>
              <a:t>SSH</a:t>
            </a:r>
            <a:r>
              <a:rPr lang="en-US" sz="2800" u="sng" spc="-86">
                <a:uFill>
                  <a:solidFill>
                    <a:srgbClr val="CCCCFF"/>
                  </a:solidFill>
                </a:uFill>
                <a:hlinkClick r:id="rId4">
                  <a:extLst>
                    <a:ext uri="{A12FA001-AC4F-418D-AE19-62706E023703}">
                      <ahyp:hlinkClr xmlns:ahyp="http://schemas.microsoft.com/office/drawing/2018/hyperlinkcolor" val="tx"/>
                    </a:ext>
                  </a:extLst>
                </a:hlinkClick>
              </a:rPr>
              <a:t> </a:t>
            </a:r>
            <a:r>
              <a:rPr lang="en-US" sz="2800" u="sng">
                <a:uFill>
                  <a:solidFill>
                    <a:srgbClr val="CCCCFF"/>
                  </a:solidFill>
                </a:uFill>
                <a:hlinkClick r:id="rId4">
                  <a:extLst>
                    <a:ext uri="{A12FA001-AC4F-418D-AE19-62706E023703}">
                      <ahyp:hlinkClr xmlns:ahyp="http://schemas.microsoft.com/office/drawing/2018/hyperlinkcolor" val="tx"/>
                    </a:ext>
                  </a:extLst>
                </a:hlinkClick>
              </a:rPr>
              <a:t>Communications</a:t>
            </a:r>
            <a:r>
              <a:rPr lang="en-US" sz="2800" u="sng" spc="-77">
                <a:uFill>
                  <a:solidFill>
                    <a:srgbClr val="CCCCFF"/>
                  </a:solidFill>
                </a:uFill>
                <a:hlinkClick r:id="rId4">
                  <a:extLst>
                    <a:ext uri="{A12FA001-AC4F-418D-AE19-62706E023703}">
                      <ahyp:hlinkClr xmlns:ahyp="http://schemas.microsoft.com/office/drawing/2018/hyperlinkcolor" val="tx"/>
                    </a:ext>
                  </a:extLst>
                </a:hlinkClick>
              </a:rPr>
              <a:t> </a:t>
            </a:r>
            <a:r>
              <a:rPr lang="en-US" sz="2800" u="sng" spc="-9">
                <a:uFill>
                  <a:solidFill>
                    <a:srgbClr val="CCCCFF"/>
                  </a:solidFill>
                </a:uFill>
                <a:hlinkClick r:id="rId4">
                  <a:extLst>
                    <a:ext uri="{A12FA001-AC4F-418D-AE19-62706E023703}">
                      <ahyp:hlinkClr xmlns:ahyp="http://schemas.microsoft.com/office/drawing/2018/hyperlinkcolor" val="tx"/>
                    </a:ext>
                  </a:extLst>
                </a:hlinkClick>
              </a:rPr>
              <a:t>Security</a:t>
            </a:r>
            <a:endParaRPr lang="en-US" sz="2800"/>
          </a:p>
          <a:p>
            <a:pPr marL="228600" marR="776203" indent="-228600">
              <a:lnSpc>
                <a:spcPct val="90000"/>
              </a:lnSpc>
              <a:spcBef>
                <a:spcPts val="1000"/>
              </a:spcBef>
              <a:buClr>
                <a:srgbClr val="000000"/>
              </a:buClr>
              <a:buFont typeface="Arial" panose="020B0604020202020204" pitchFamily="34" charset="0"/>
              <a:buChar char="•"/>
              <a:tabLst>
                <a:tab pos="374282" algn="l"/>
              </a:tabLst>
            </a:pPr>
            <a:r>
              <a:rPr lang="en-US" sz="2800" u="sng">
                <a:uFill>
                  <a:solidFill>
                    <a:srgbClr val="CCCCFF"/>
                  </a:solidFill>
                </a:uFill>
                <a:hlinkClick r:id="rId4">
                  <a:extLst>
                    <a:ext uri="{A12FA001-AC4F-418D-AE19-62706E023703}">
                      <ahyp:hlinkClr xmlns:ahyp="http://schemas.microsoft.com/office/drawing/2018/hyperlinkcolor" val="tx"/>
                    </a:ext>
                  </a:extLst>
                </a:hlinkClick>
              </a:rPr>
              <a:t>The</a:t>
            </a:r>
            <a:r>
              <a:rPr lang="en-US" sz="2800" u="sng" spc="-63">
                <a:uFill>
                  <a:solidFill>
                    <a:srgbClr val="CCCCFF"/>
                  </a:solidFill>
                </a:uFill>
                <a:hlinkClick r:id="rId4">
                  <a:extLst>
                    <a:ext uri="{A12FA001-AC4F-418D-AE19-62706E023703}">
                      <ahyp:hlinkClr xmlns:ahyp="http://schemas.microsoft.com/office/drawing/2018/hyperlinkcolor" val="tx"/>
                    </a:ext>
                  </a:extLst>
                </a:hlinkClick>
              </a:rPr>
              <a:t> </a:t>
            </a:r>
            <a:r>
              <a:rPr lang="en-US" sz="2800" u="sng">
                <a:uFill>
                  <a:solidFill>
                    <a:srgbClr val="CCCCFF"/>
                  </a:solidFill>
                </a:uFill>
                <a:hlinkClick r:id="rId4">
                  <a:extLst>
                    <a:ext uri="{A12FA001-AC4F-418D-AE19-62706E023703}">
                      <ahyp:hlinkClr xmlns:ahyp="http://schemas.microsoft.com/office/drawing/2018/hyperlinkcolor" val="tx"/>
                    </a:ext>
                  </a:extLst>
                </a:hlinkClick>
              </a:rPr>
              <a:t>Secure</a:t>
            </a:r>
            <a:r>
              <a:rPr lang="en-US" sz="2800" u="sng" spc="-63">
                <a:uFill>
                  <a:solidFill>
                    <a:srgbClr val="CCCCFF"/>
                  </a:solidFill>
                </a:uFill>
                <a:hlinkClick r:id="rId4">
                  <a:extLst>
                    <a:ext uri="{A12FA001-AC4F-418D-AE19-62706E023703}">
                      <ahyp:hlinkClr xmlns:ahyp="http://schemas.microsoft.com/office/drawing/2018/hyperlinkcolor" val="tx"/>
                    </a:ext>
                  </a:extLst>
                </a:hlinkClick>
              </a:rPr>
              <a:t> </a:t>
            </a:r>
            <a:r>
              <a:rPr lang="en-US" sz="2800" u="sng">
                <a:uFill>
                  <a:solidFill>
                    <a:srgbClr val="CCCCFF"/>
                  </a:solidFill>
                </a:uFill>
                <a:hlinkClick r:id="rId4">
                  <a:extLst>
                    <a:ext uri="{A12FA001-AC4F-418D-AE19-62706E023703}">
                      <ahyp:hlinkClr xmlns:ahyp="http://schemas.microsoft.com/office/drawing/2018/hyperlinkcolor" val="tx"/>
                    </a:ext>
                  </a:extLst>
                </a:hlinkClick>
              </a:rPr>
              <a:t>Shell</a:t>
            </a:r>
            <a:r>
              <a:rPr lang="en-US" sz="2800" u="sng" spc="-14">
                <a:uFill>
                  <a:solidFill>
                    <a:srgbClr val="CCCCFF"/>
                  </a:solidFill>
                </a:uFill>
                <a:hlinkClick r:id="rId4">
                  <a:extLst>
                    <a:ext uri="{A12FA001-AC4F-418D-AE19-62706E023703}">
                      <ahyp:hlinkClr xmlns:ahyp="http://schemas.microsoft.com/office/drawing/2018/hyperlinkcolor" val="tx"/>
                    </a:ext>
                  </a:extLst>
                </a:hlinkClick>
              </a:rPr>
              <a:t> </a:t>
            </a:r>
            <a:r>
              <a:rPr lang="en-US" sz="2800" u="sng">
                <a:uFill>
                  <a:solidFill>
                    <a:srgbClr val="CCCCFF"/>
                  </a:solidFill>
                </a:uFill>
                <a:hlinkClick r:id="rId4">
                  <a:extLst>
                    <a:ext uri="{A12FA001-AC4F-418D-AE19-62706E023703}">
                      <ahyp:hlinkClr xmlns:ahyp="http://schemas.microsoft.com/office/drawing/2018/hyperlinkcolor" val="tx"/>
                    </a:ext>
                  </a:extLst>
                </a:hlinkClick>
              </a:rPr>
              <a:t>(SSH)</a:t>
            </a:r>
            <a:r>
              <a:rPr lang="en-US" sz="2800" u="sng" spc="-77">
                <a:uFill>
                  <a:solidFill>
                    <a:srgbClr val="CCCCFF"/>
                  </a:solidFill>
                </a:uFill>
                <a:hlinkClick r:id="rId4">
                  <a:extLst>
                    <a:ext uri="{A12FA001-AC4F-418D-AE19-62706E023703}">
                      <ahyp:hlinkClr xmlns:ahyp="http://schemas.microsoft.com/office/drawing/2018/hyperlinkcolor" val="tx"/>
                    </a:ext>
                  </a:extLst>
                </a:hlinkClick>
              </a:rPr>
              <a:t> </a:t>
            </a:r>
            <a:r>
              <a:rPr lang="en-US" sz="2800" u="sng">
                <a:uFill>
                  <a:solidFill>
                    <a:srgbClr val="CCCCFF"/>
                  </a:solidFill>
                </a:uFill>
                <a:hlinkClick r:id="rId4">
                  <a:extLst>
                    <a:ext uri="{A12FA001-AC4F-418D-AE19-62706E023703}">
                      <ahyp:hlinkClr xmlns:ahyp="http://schemas.microsoft.com/office/drawing/2018/hyperlinkcolor" val="tx"/>
                    </a:ext>
                  </a:extLst>
                </a:hlinkClick>
              </a:rPr>
              <a:t>Protocol</a:t>
            </a:r>
            <a:r>
              <a:rPr lang="en-US" sz="2800" u="sng" spc="-14">
                <a:uFill>
                  <a:solidFill>
                    <a:srgbClr val="CCCCFF"/>
                  </a:solidFill>
                </a:uFill>
                <a:hlinkClick r:id="rId4">
                  <a:extLst>
                    <a:ext uri="{A12FA001-AC4F-418D-AE19-62706E023703}">
                      <ahyp:hlinkClr xmlns:ahyp="http://schemas.microsoft.com/office/drawing/2018/hyperlinkcolor" val="tx"/>
                    </a:ext>
                  </a:extLst>
                </a:hlinkClick>
              </a:rPr>
              <a:t> </a:t>
            </a:r>
            <a:r>
              <a:rPr lang="en-US" sz="2800" u="sng" spc="-9">
                <a:uFill>
                  <a:solidFill>
                    <a:srgbClr val="CCCCFF"/>
                  </a:solidFill>
                </a:uFill>
                <a:hlinkClick r:id="rId4">
                  <a:extLst>
                    <a:ext uri="{A12FA001-AC4F-418D-AE19-62706E023703}">
                      <ahyp:hlinkClr xmlns:ahyp="http://schemas.microsoft.com/office/drawing/2018/hyperlinkcolor" val="tx"/>
                    </a:ext>
                  </a:extLst>
                </a:hlinkClick>
              </a:rPr>
              <a:t>Architechture</a:t>
            </a:r>
            <a:r>
              <a:rPr lang="en-US" sz="2800" spc="-9"/>
              <a:t> 	</a:t>
            </a:r>
            <a:r>
              <a:rPr lang="en-US" sz="2800" u="sng" spc="-9">
                <a:uFill>
                  <a:solidFill>
                    <a:srgbClr val="CCCCFF"/>
                  </a:solidFill>
                </a:uFill>
                <a:hlinkClick r:id="rId4">
                  <a:extLst>
                    <a:ext uri="{A12FA001-AC4F-418D-AE19-62706E023703}">
                      <ahyp:hlinkClr xmlns:ahyp="http://schemas.microsoft.com/office/drawing/2018/hyperlinkcolor" val="tx"/>
                    </a:ext>
                  </a:extLst>
                </a:hlinkClick>
              </a:rPr>
              <a:t>https://datatracker.ietf.org/doc/html/rfc4251</a:t>
            </a:r>
            <a:endParaRPr lang="en-US" sz="2800"/>
          </a:p>
          <a:p>
            <a:pPr marL="228600" indent="-228600">
              <a:lnSpc>
                <a:spcPct val="90000"/>
              </a:lnSpc>
              <a:spcBef>
                <a:spcPts val="1000"/>
              </a:spcBef>
              <a:buClr>
                <a:srgbClr val="000000"/>
              </a:buClr>
              <a:buFont typeface="Arial" panose="020B0604020202020204" pitchFamily="34" charset="0"/>
              <a:buChar char="•"/>
              <a:tabLst>
                <a:tab pos="321306" algn="l"/>
              </a:tabLst>
            </a:pPr>
            <a:r>
              <a:rPr lang="en-US" sz="2800" u="sng">
                <a:uFill>
                  <a:solidFill>
                    <a:srgbClr val="CCCCFF"/>
                  </a:solidFill>
                </a:uFill>
                <a:hlinkClick r:id="rId4">
                  <a:extLst>
                    <a:ext uri="{A12FA001-AC4F-418D-AE19-62706E023703}">
                      <ahyp:hlinkClr xmlns:ahyp="http://schemas.microsoft.com/office/drawing/2018/hyperlinkcolor" val="tx"/>
                    </a:ext>
                  </a:extLst>
                </a:hlinkClick>
              </a:rPr>
              <a:t>The</a:t>
            </a:r>
            <a:r>
              <a:rPr lang="en-US" sz="2800" u="sng" spc="-54">
                <a:uFill>
                  <a:solidFill>
                    <a:srgbClr val="CCCCFF"/>
                  </a:solidFill>
                </a:uFill>
                <a:hlinkClick r:id="rId4">
                  <a:extLst>
                    <a:ext uri="{A12FA001-AC4F-418D-AE19-62706E023703}">
                      <ahyp:hlinkClr xmlns:ahyp="http://schemas.microsoft.com/office/drawing/2018/hyperlinkcolor" val="tx"/>
                    </a:ext>
                  </a:extLst>
                </a:hlinkClick>
              </a:rPr>
              <a:t> </a:t>
            </a:r>
            <a:r>
              <a:rPr lang="en-US" sz="2800" u="sng">
                <a:uFill>
                  <a:solidFill>
                    <a:srgbClr val="CCCCFF"/>
                  </a:solidFill>
                </a:uFill>
                <a:hlinkClick r:id="rId4">
                  <a:extLst>
                    <a:ext uri="{A12FA001-AC4F-418D-AE19-62706E023703}">
                      <ahyp:hlinkClr xmlns:ahyp="http://schemas.microsoft.com/office/drawing/2018/hyperlinkcolor" val="tx"/>
                    </a:ext>
                  </a:extLst>
                </a:hlinkClick>
              </a:rPr>
              <a:t>SSH</a:t>
            </a:r>
            <a:r>
              <a:rPr lang="en-US" sz="2800" u="sng" spc="-59">
                <a:uFill>
                  <a:solidFill>
                    <a:srgbClr val="CCCCFF"/>
                  </a:solidFill>
                </a:uFill>
                <a:hlinkClick r:id="rId4">
                  <a:extLst>
                    <a:ext uri="{A12FA001-AC4F-418D-AE19-62706E023703}">
                      <ahyp:hlinkClr xmlns:ahyp="http://schemas.microsoft.com/office/drawing/2018/hyperlinkcolor" val="tx"/>
                    </a:ext>
                  </a:extLst>
                </a:hlinkClick>
              </a:rPr>
              <a:t> </a:t>
            </a:r>
            <a:r>
              <a:rPr lang="en-US" sz="2800" u="sng">
                <a:uFill>
                  <a:solidFill>
                    <a:srgbClr val="CCCCFF"/>
                  </a:solidFill>
                </a:uFill>
                <a:hlinkClick r:id="rId4">
                  <a:extLst>
                    <a:ext uri="{A12FA001-AC4F-418D-AE19-62706E023703}">
                      <ahyp:hlinkClr xmlns:ahyp="http://schemas.microsoft.com/office/drawing/2018/hyperlinkcolor" val="tx"/>
                    </a:ext>
                  </a:extLst>
                </a:hlinkClick>
              </a:rPr>
              <a:t>Transport</a:t>
            </a:r>
            <a:r>
              <a:rPr lang="en-US" sz="2800" u="sng" spc="-82">
                <a:uFill>
                  <a:solidFill>
                    <a:srgbClr val="CCCCFF"/>
                  </a:solidFill>
                </a:uFill>
                <a:hlinkClick r:id="rId4">
                  <a:extLst>
                    <a:ext uri="{A12FA001-AC4F-418D-AE19-62706E023703}">
                      <ahyp:hlinkClr xmlns:ahyp="http://schemas.microsoft.com/office/drawing/2018/hyperlinkcolor" val="tx"/>
                    </a:ext>
                  </a:extLst>
                </a:hlinkClick>
              </a:rPr>
              <a:t> </a:t>
            </a:r>
            <a:r>
              <a:rPr lang="en-US" sz="2800" u="sng">
                <a:uFill>
                  <a:solidFill>
                    <a:srgbClr val="CCCCFF"/>
                  </a:solidFill>
                </a:uFill>
                <a:hlinkClick r:id="rId4">
                  <a:extLst>
                    <a:ext uri="{A12FA001-AC4F-418D-AE19-62706E023703}">
                      <ahyp:hlinkClr xmlns:ahyp="http://schemas.microsoft.com/office/drawing/2018/hyperlinkcolor" val="tx"/>
                    </a:ext>
                  </a:extLst>
                </a:hlinkClick>
              </a:rPr>
              <a:t>Layer</a:t>
            </a:r>
            <a:r>
              <a:rPr lang="en-US" sz="2800" u="sng" spc="-41">
                <a:uFill>
                  <a:solidFill>
                    <a:srgbClr val="CCCCFF"/>
                  </a:solidFill>
                </a:uFill>
                <a:hlinkClick r:id="rId4">
                  <a:extLst>
                    <a:ext uri="{A12FA001-AC4F-418D-AE19-62706E023703}">
                      <ahyp:hlinkClr xmlns:ahyp="http://schemas.microsoft.com/office/drawing/2018/hyperlinkcolor" val="tx"/>
                    </a:ext>
                  </a:extLst>
                </a:hlinkClick>
              </a:rPr>
              <a:t> </a:t>
            </a:r>
            <a:r>
              <a:rPr lang="en-US" sz="2800" u="sng" spc="-9">
                <a:uFill>
                  <a:solidFill>
                    <a:srgbClr val="CCCCFF"/>
                  </a:solidFill>
                </a:uFill>
                <a:hlinkClick r:id="rId4">
                  <a:extLst>
                    <a:ext uri="{A12FA001-AC4F-418D-AE19-62706E023703}">
                      <ahyp:hlinkClr xmlns:ahyp="http://schemas.microsoft.com/office/drawing/2018/hyperlinkcolor" val="tx"/>
                    </a:ext>
                  </a:extLst>
                </a:hlinkClick>
              </a:rPr>
              <a:t>Protocol</a:t>
            </a:r>
            <a:endParaRPr lang="en-US" sz="2800"/>
          </a:p>
          <a:p>
            <a:pPr marL="228600" indent="-228600">
              <a:lnSpc>
                <a:spcPct val="90000"/>
              </a:lnSpc>
              <a:spcBef>
                <a:spcPts val="1000"/>
              </a:spcBef>
              <a:buFont typeface="Arial" panose="020B0604020202020204" pitchFamily="34" charset="0"/>
              <a:buChar char="•"/>
            </a:pPr>
            <a:r>
              <a:rPr lang="en-US" sz="2800" u="sng" spc="-9">
                <a:uFill>
                  <a:solidFill>
                    <a:srgbClr val="CCCCFF"/>
                  </a:solidFill>
                </a:uFill>
                <a:hlinkClick r:id="rId4">
                  <a:extLst>
                    <a:ext uri="{A12FA001-AC4F-418D-AE19-62706E023703}">
                      <ahyp:hlinkClr xmlns:ahyp="http://schemas.microsoft.com/office/drawing/2018/hyperlinkcolor" val="tx"/>
                    </a:ext>
                  </a:extLst>
                </a:hlinkClick>
              </a:rPr>
              <a:t>https://www.rfc-editor.org/rfc/rfc4253#section-</a:t>
            </a:r>
            <a:r>
              <a:rPr lang="en-US" sz="2800" u="sng" spc="-23">
                <a:uFill>
                  <a:solidFill>
                    <a:srgbClr val="CCCCFF"/>
                  </a:solidFill>
                </a:uFill>
                <a:hlinkClick r:id="rId4">
                  <a:extLst>
                    <a:ext uri="{A12FA001-AC4F-418D-AE19-62706E023703}">
                      <ahyp:hlinkClr xmlns:ahyp="http://schemas.microsoft.com/office/drawing/2018/hyperlinkcolor" val="tx"/>
                    </a:ext>
                  </a:extLst>
                </a:hlinkClick>
              </a:rPr>
              <a:t>7.1</a:t>
            </a:r>
            <a:endParaRPr lang="en-US" sz="28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8503</TotalTime>
  <Words>6474</Words>
  <Application>Microsoft Macintosh PowerPoint</Application>
  <PresentationFormat>Widescreen</PresentationFormat>
  <Paragraphs>932</Paragraphs>
  <Slides>108</Slides>
  <Notes>10</Notes>
  <HiddenSlides>13</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108</vt:i4>
      </vt:variant>
    </vt:vector>
  </HeadingPairs>
  <TitlesOfParts>
    <vt:vector size="123" baseType="lpstr">
      <vt:lpstr>AhnbergHand</vt:lpstr>
      <vt:lpstr>Aptos</vt:lpstr>
      <vt:lpstr>Aptos Display</vt:lpstr>
      <vt:lpstr>Arial</vt:lpstr>
      <vt:lpstr>Calibri</vt:lpstr>
      <vt:lpstr>Comic Sans MS</vt:lpstr>
      <vt:lpstr>Lucida Grande</vt:lpstr>
      <vt:lpstr>Max's Handwritin</vt:lpstr>
      <vt:lpstr>Microsoft Sans Serif</vt:lpstr>
      <vt:lpstr>News Gothic MT</vt:lpstr>
      <vt:lpstr>Powderfinger Type</vt:lpstr>
      <vt:lpstr>Symbol</vt:lpstr>
      <vt:lpstr>Times New Roman</vt:lpstr>
      <vt:lpstr>Wingdings</vt:lpstr>
      <vt:lpstr>Office Theme</vt:lpstr>
      <vt:lpstr>CSC 4780 – QUIC and Security</vt:lpstr>
      <vt:lpstr>What have we done to the Internet?</vt:lpstr>
      <vt:lpstr>What have we done to the Internet?</vt:lpstr>
      <vt:lpstr>What have we done to the Internet?</vt:lpstr>
      <vt:lpstr>What have we done to the Internet?</vt:lpstr>
      <vt:lpstr>Why was the Internet Protocol so special?</vt:lpstr>
      <vt:lpstr>TCP is..</vt:lpstr>
      <vt:lpstr>TCP is highly efficient</vt:lpstr>
      <vt:lpstr>TCP is friendly!</vt:lpstr>
      <vt:lpstr>TCP is flexible</vt:lpstr>
      <vt:lpstr>Pushing TCP harder</vt:lpstr>
      <vt:lpstr>But</vt:lpstr>
      <vt:lpstr>PowerPoint Presentation</vt:lpstr>
      <vt:lpstr>TCP isn’t…</vt:lpstr>
      <vt:lpstr>Choices:</vt:lpstr>
      <vt:lpstr>QUIC is…</vt:lpstr>
      <vt:lpstr>QUIC is…</vt:lpstr>
      <vt:lpstr>QUIC is…</vt:lpstr>
      <vt:lpstr>PowerPoint Presentation</vt:lpstr>
      <vt:lpstr>QUIC flow structuring</vt:lpstr>
      <vt:lpstr>Where can we see QUIC capability today?</vt:lpstr>
      <vt:lpstr>Almost Everywhere</vt:lpstr>
      <vt:lpstr>Overall Uptake</vt:lpstr>
      <vt:lpstr>Measuring QUIC Use</vt:lpstr>
      <vt:lpstr>Other Measures: Network Traffic Volume</vt:lpstr>
      <vt:lpstr>Measuring QUIC Performance</vt:lpstr>
      <vt:lpstr>Why is QUIC important?</vt:lpstr>
      <vt:lpstr>What does this mean for TCP?</vt:lpstr>
      <vt:lpstr>PowerPoint Presentation</vt:lpstr>
      <vt:lpstr>PowerPoint Presentation</vt:lpstr>
      <vt:lpstr>PowerPoint Presentation</vt:lpstr>
      <vt:lpstr>PowerPoint Presentation</vt:lpstr>
      <vt:lpstr>Main Questions We Address</vt:lpstr>
      <vt:lpstr>Summary of Our Results</vt:lpstr>
      <vt:lpstr>QUIC Protocol Connection Resumption</vt:lpstr>
      <vt:lpstr>QUIC Protocol Connection Resumption</vt:lpstr>
      <vt:lpstr>Security Analysis Main Challenges</vt:lpstr>
      <vt:lpstr>PowerPoint Presentation</vt:lpstr>
      <vt:lpstr>PowerPoint Presentation</vt:lpstr>
      <vt:lpstr>PowerPoint Presentation</vt:lpstr>
      <vt:lpstr>Summary and Future Work</vt:lpstr>
      <vt:lpstr>References</vt:lpstr>
      <vt:lpstr>Almost Everywhere</vt:lpstr>
      <vt:lpstr>Almost Everywhere</vt:lpstr>
      <vt:lpstr>Almost Everywhere</vt:lpstr>
      <vt:lpstr>QUIC is…</vt:lpstr>
      <vt:lpstr>QUIC is…</vt:lpstr>
      <vt:lpstr>QUIC is…</vt:lpstr>
      <vt:lpstr>What does this mean for TCP?</vt:lpstr>
      <vt:lpstr>What does this mean for the Internet?</vt:lpstr>
      <vt:lpstr>The new Network Space</vt:lpstr>
      <vt:lpstr>What does this mean for the Internet?</vt:lpstr>
      <vt:lpstr>What can a Network Operator Do?</vt:lpstr>
      <vt:lpstr>The new Internet Space</vt:lpstr>
      <vt:lpstr>PowerPoint Presentation</vt:lpstr>
      <vt:lpstr>Recall: Secret (Symmetric) Key  (DES, 3DES, AES)</vt:lpstr>
      <vt:lpstr>Recall: Public Key (RSA)</vt:lpstr>
      <vt:lpstr>Recall: Daffie-Hellman Key Exchange</vt:lpstr>
      <vt:lpstr>PowerPoint Presentation</vt:lpstr>
      <vt:lpstr>What is SSH?</vt:lpstr>
      <vt:lpstr>Motivations of Designing the SSH</vt:lpstr>
      <vt:lpstr>Applications of SSH</vt:lpstr>
      <vt:lpstr>Brief History</vt:lpstr>
      <vt:lpstr>Brief History (cont.)</vt:lpstr>
      <vt:lpstr>SSH Implementations</vt:lpstr>
      <vt:lpstr>IPSec &amp; SSL vs. SSH</vt:lpstr>
      <vt:lpstr>SSH Architecture</vt:lpstr>
      <vt:lpstr>Building Blocks</vt:lpstr>
      <vt:lpstr>PowerPoint Presentation</vt:lpstr>
      <vt:lpstr>SSH security features</vt:lpstr>
      <vt:lpstr>Structure of the Building Blocks</vt:lpstr>
      <vt:lpstr>Outline</vt:lpstr>
      <vt:lpstr>Transport Layer</vt:lpstr>
      <vt:lpstr>SSH TLP – Overview </vt:lpstr>
      <vt:lpstr>Connection setup and version string exchange</vt:lpstr>
      <vt:lpstr>Computing other Keys</vt:lpstr>
      <vt:lpstr>Server Authentication (continued)</vt:lpstr>
      <vt:lpstr>How to get server’s public key the 1st time?</vt:lpstr>
      <vt:lpstr>Required/Recommended Algorithms</vt:lpstr>
      <vt:lpstr>Outline</vt:lpstr>
      <vt:lpstr>User Authentication Layer (1)</vt:lpstr>
      <vt:lpstr>User authentication overview</vt:lpstr>
      <vt:lpstr>User Authentication Layer (2)</vt:lpstr>
      <vt:lpstr>The “publickey” method</vt:lpstr>
      <vt:lpstr>The “publickey” method cont’d</vt:lpstr>
      <vt:lpstr>The “publickey” method cont’d</vt:lpstr>
      <vt:lpstr>The “password” method</vt:lpstr>
      <vt:lpstr>The “password” method cont’d</vt:lpstr>
      <vt:lpstr>The “hostbased” method</vt:lpstr>
      <vt:lpstr>The “hostbased” method cont’d</vt:lpstr>
      <vt:lpstr>User Authent. Request &amp; Server Response</vt:lpstr>
      <vt:lpstr>Outline</vt:lpstr>
      <vt:lpstr>Connection Layer</vt:lpstr>
      <vt:lpstr>SSH – Connection Protocol</vt:lpstr>
      <vt:lpstr>Channel mechanisms</vt:lpstr>
      <vt:lpstr>Channel mechanisms cont’d</vt:lpstr>
      <vt:lpstr>Channel mechanisms cont’d</vt:lpstr>
      <vt:lpstr>Example: Starting a remote shell</vt:lpstr>
      <vt:lpstr>Example: Starting a remote shell cont’d</vt:lpstr>
      <vt:lpstr>Example: Starting a remote shell cont’d</vt:lpstr>
      <vt:lpstr>Applications of SSH</vt:lpstr>
      <vt:lpstr>X11 Forwarding</vt:lpstr>
      <vt:lpstr>Port Forwarding</vt:lpstr>
      <vt:lpstr>Port Forwarding (Continued)</vt:lpstr>
      <vt:lpstr>SCP, and SFTP</vt:lpstr>
      <vt:lpstr>SSH Public Key Authentication</vt:lpstr>
      <vt:lpstr>Question for you</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Shannigrahi, Susmit</dc:creator>
  <cp:lastModifiedBy>Shannigrahi, Susmit</cp:lastModifiedBy>
  <cp:revision>17</cp:revision>
  <dcterms:created xsi:type="dcterms:W3CDTF">2026-02-09T16:40:55Z</dcterms:created>
  <dcterms:modified xsi:type="dcterms:W3CDTF">2026-04-06T19:30:02Z</dcterms:modified>
</cp:coreProperties>
</file>