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 id="2147483663" r:id="rId2"/>
    <p:sldMasterId id="2147483664" r:id="rId3"/>
  </p:sldMasterIdLst>
  <p:notesMasterIdLst>
    <p:notesMasterId r:id="rId44"/>
  </p:notesMasterIdLst>
  <p:sldIdLst>
    <p:sldId id="256" r:id="rId4"/>
    <p:sldId id="257" r:id="rId5"/>
    <p:sldId id="279" r:id="rId6"/>
    <p:sldId id="280" r:id="rId7"/>
    <p:sldId id="281" r:id="rId8"/>
    <p:sldId id="282" r:id="rId9"/>
    <p:sldId id="300" r:id="rId10"/>
    <p:sldId id="301" r:id="rId11"/>
    <p:sldId id="283" r:id="rId12"/>
    <p:sldId id="284" r:id="rId13"/>
    <p:sldId id="286" r:id="rId14"/>
    <p:sldId id="302" r:id="rId15"/>
    <p:sldId id="303" r:id="rId16"/>
    <p:sldId id="287" r:id="rId17"/>
    <p:sldId id="258" r:id="rId18"/>
    <p:sldId id="259" r:id="rId19"/>
    <p:sldId id="260" r:id="rId20"/>
    <p:sldId id="261" r:id="rId21"/>
    <p:sldId id="262" r:id="rId22"/>
    <p:sldId id="263" r:id="rId23"/>
    <p:sldId id="264" r:id="rId24"/>
    <p:sldId id="304" r:id="rId25"/>
    <p:sldId id="305" r:id="rId26"/>
    <p:sldId id="265" r:id="rId27"/>
    <p:sldId id="266" r:id="rId28"/>
    <p:sldId id="268" r:id="rId29"/>
    <p:sldId id="269" r:id="rId30"/>
    <p:sldId id="270" r:id="rId31"/>
    <p:sldId id="271" r:id="rId32"/>
    <p:sldId id="272" r:id="rId33"/>
    <p:sldId id="273" r:id="rId34"/>
    <p:sldId id="274" r:id="rId35"/>
    <p:sldId id="275" r:id="rId36"/>
    <p:sldId id="276" r:id="rId37"/>
    <p:sldId id="288" r:id="rId38"/>
    <p:sldId id="289" r:id="rId39"/>
    <p:sldId id="290" r:id="rId40"/>
    <p:sldId id="291" r:id="rId41"/>
    <p:sldId id="296" r:id="rId42"/>
    <p:sldId id="277" r:id="rId43"/>
  </p:sldIdLst>
  <p:sldSz cx="12192000" cy="6858000"/>
  <p:notesSz cx="6858000" cy="9144000"/>
  <p:embeddedFontLst>
    <p:embeddedFont>
      <p:font typeface="Comic Sans MS" panose="030F0902030302020204" pitchFamily="66" charset="0"/>
      <p:regular r:id="rId45"/>
    </p:embeddedFont>
    <p:embeddedFont>
      <p:font typeface="Montserrat" pitchFamily="2" charset="77"/>
      <p:regular r:id="rId46"/>
      <p:bold r:id="rId47"/>
      <p:italic r:id="rId48"/>
      <p:boldItalic r:id="rId49"/>
    </p:embeddedFont>
    <p:embeddedFont>
      <p:font typeface="Quintessential" panose="03020500000000020000" pitchFamily="66" charset="0"/>
      <p:regular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81"/>
  </p:normalViewPr>
  <p:slideViewPr>
    <p:cSldViewPr snapToGrid="0">
      <p:cViewPr varScale="1">
        <p:scale>
          <a:sx n="116" d="100"/>
          <a:sy n="116" d="100"/>
        </p:scale>
        <p:origin x="3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font" Target="fonts/font3.fntdata"/><Relationship Id="rId50" Type="http://schemas.openxmlformats.org/officeDocument/2006/relationships/font" Target="fonts/font6.fntdata"/><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font" Target="fonts/font1.fntdata"/><Relationship Id="rId53"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font" Target="fonts/font4.fntdata"/><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2.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371600" y="764280"/>
            <a:ext cx="5028480" cy="37713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77240" y="4777560"/>
            <a:ext cx="6217560" cy="452592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5" name="Google Shape;5;n"/>
          <p:cNvSpPr txBox="1">
            <a:spLocks noGrp="1"/>
          </p:cNvSpPr>
          <p:nvPr>
            <p:ph type="hdr" idx="3"/>
          </p:nvPr>
        </p:nvSpPr>
        <p:spPr>
          <a:xfrm>
            <a:off x="0" y="0"/>
            <a:ext cx="3372840" cy="50256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6" name="Google Shape;6;n"/>
          <p:cNvSpPr txBox="1">
            <a:spLocks noGrp="1"/>
          </p:cNvSpPr>
          <p:nvPr>
            <p:ph type="dt" idx="10"/>
          </p:nvPr>
        </p:nvSpPr>
        <p:spPr>
          <a:xfrm>
            <a:off x="4399200" y="0"/>
            <a:ext cx="3372840" cy="50256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9555480"/>
            <a:ext cx="3372840" cy="502560"/>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4399200" y="9555480"/>
            <a:ext cx="3372840" cy="50256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fld id="{00000000-1234-1234-1234-123412341234}" type="slidenum">
              <a:rPr lang="en-US" sz="1400" b="0" i="0" u="none" strike="noStrike" cap="none">
                <a:latin typeface="Times New Roman"/>
                <a:ea typeface="Times New Roman"/>
                <a:cs typeface="Times New Roman"/>
                <a:sym typeface="Times New Roman"/>
              </a:rPr>
              <a:t>‹#›</a:t>
            </a:fld>
            <a:endParaRPr sz="1400" b="0" i="0" u="none" strike="noStrike" cap="none">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777240" y="4777560"/>
            <a:ext cx="6217560" cy="452592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9" name="Google Shape;89;p1: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b59fe0459d_4_136:notes"/>
          <p:cNvSpPr>
            <a:spLocks noGrp="1" noRot="1" noChangeAspect="1"/>
          </p:cNvSpPr>
          <p:nvPr>
            <p:ph type="sldImg" idx="2"/>
          </p:nvPr>
        </p:nvSpPr>
        <p:spPr>
          <a:xfrm>
            <a:off x="411163" y="703263"/>
            <a:ext cx="6038850" cy="3397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5" name="Google Shape;95;g2b59fe0459d_4_136:notes"/>
          <p:cNvSpPr txBox="1">
            <a:spLocks noGrp="1"/>
          </p:cNvSpPr>
          <p:nvPr>
            <p:ph type="body" idx="1"/>
          </p:nvPr>
        </p:nvSpPr>
        <p:spPr>
          <a:xfrm>
            <a:off x="927419" y="4339403"/>
            <a:ext cx="5002780" cy="4108393"/>
          </a:xfrm>
          <a:prstGeom prst="rect">
            <a:avLst/>
          </a:prstGeom>
          <a:noFill/>
          <a:ln>
            <a:noFill/>
          </a:ln>
        </p:spPr>
        <p:txBody>
          <a:bodyPr spcFirstLastPara="1" wrap="square" lIns="93225" tIns="46800" rIns="93225" bIns="46800" anchor="t" anchorCtr="0">
            <a:noAutofit/>
          </a:bodyPr>
          <a:lstStyle/>
          <a:p>
            <a:pPr marL="216000" lvl="0" indent="0" algn="l" rtl="0">
              <a:spcBef>
                <a:spcPts val="0"/>
              </a:spcBef>
              <a:spcAft>
                <a:spcPts val="0"/>
              </a:spcAft>
              <a:buSzPts val="1800"/>
              <a:buNone/>
            </a:pPr>
            <a:endParaRPr sz="1800" b="0" strike="noStrike">
              <a:solidFill>
                <a:srgbClr val="000000"/>
              </a:solidFill>
              <a:latin typeface="Arial"/>
              <a:ea typeface="Arial"/>
              <a:cs typeface="Arial"/>
              <a:sym typeface="Arial"/>
            </a:endParaRPr>
          </a:p>
        </p:txBody>
      </p:sp>
      <p:sp>
        <p:nvSpPr>
          <p:cNvPr id="96" name="Google Shape;96;g2b59fe0459d_4_136:notes"/>
          <p:cNvSpPr txBox="1">
            <a:spLocks noGrp="1"/>
          </p:cNvSpPr>
          <p:nvPr>
            <p:ph type="sldNum" idx="12"/>
          </p:nvPr>
        </p:nvSpPr>
        <p:spPr>
          <a:xfrm>
            <a:off x="3868882" y="8679173"/>
            <a:ext cx="3016198" cy="464583"/>
          </a:xfrm>
          <a:prstGeom prst="rect">
            <a:avLst/>
          </a:prstGeom>
          <a:noFill/>
          <a:ln>
            <a:noFill/>
          </a:ln>
        </p:spPr>
        <p:txBody>
          <a:bodyPr spcFirstLastPara="1" wrap="square" lIns="19425" tIns="0" rIns="19425" bIns="0" anchor="b" anchorCtr="0">
            <a:noAutofit/>
          </a:bodyPr>
          <a:lstStyle/>
          <a:p>
            <a:pPr marL="0" marR="0" lvl="0" indent="0" algn="r" rtl="0">
              <a:lnSpc>
                <a:spcPct val="100000"/>
              </a:lnSpc>
              <a:spcBef>
                <a:spcPts val="0"/>
              </a:spcBef>
              <a:spcAft>
                <a:spcPts val="0"/>
              </a:spcAft>
              <a:buClr>
                <a:srgbClr val="000000"/>
              </a:buClr>
              <a:buSzPts val="1000"/>
              <a:buFont typeface="Times New Roman"/>
              <a:buNone/>
            </a:pPr>
            <a:fld id="{00000000-1234-1234-1234-123412341234}" type="slidenum">
              <a:rPr lang="en-US" sz="1000" b="0" i="1" u="none" strike="noStrike" cap="none">
                <a:solidFill>
                  <a:srgbClr val="000000"/>
                </a:solidFill>
                <a:latin typeface="Times New Roman"/>
                <a:ea typeface="Times New Roman"/>
                <a:cs typeface="Times New Roman"/>
                <a:sym typeface="Times New Roman"/>
              </a:rPr>
              <a:t>2</a:t>
            </a:fld>
            <a:endParaRPr sz="1000" b="0" i="1"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2b59fe0459d_4_144:notes"/>
          <p:cNvSpPr>
            <a:spLocks noGrp="1" noRot="1" noChangeAspect="1"/>
          </p:cNvSpPr>
          <p:nvPr>
            <p:ph type="sldImg" idx="2"/>
          </p:nvPr>
        </p:nvSpPr>
        <p:spPr>
          <a:xfrm>
            <a:off x="411163" y="703263"/>
            <a:ext cx="6038850" cy="3397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3" name="Google Shape;103;g2b59fe0459d_4_144:notes"/>
          <p:cNvSpPr txBox="1">
            <a:spLocks noGrp="1"/>
          </p:cNvSpPr>
          <p:nvPr>
            <p:ph type="body" idx="1"/>
          </p:nvPr>
        </p:nvSpPr>
        <p:spPr>
          <a:xfrm>
            <a:off x="927419" y="4339403"/>
            <a:ext cx="5002780" cy="4108393"/>
          </a:xfrm>
          <a:prstGeom prst="rect">
            <a:avLst/>
          </a:prstGeom>
          <a:noFill/>
          <a:ln>
            <a:noFill/>
          </a:ln>
        </p:spPr>
        <p:txBody>
          <a:bodyPr spcFirstLastPara="1" wrap="square" lIns="93225" tIns="46800" rIns="93225" bIns="46800" anchor="t" anchorCtr="0">
            <a:noAutofit/>
          </a:bodyPr>
          <a:lstStyle/>
          <a:p>
            <a:pPr marL="171360" lvl="0" indent="-171360" algn="l" rtl="0">
              <a:lnSpc>
                <a:spcPct val="100000"/>
              </a:lnSpc>
              <a:spcBef>
                <a:spcPts val="0"/>
              </a:spcBef>
              <a:spcAft>
                <a:spcPts val="0"/>
              </a:spcAft>
              <a:buClr>
                <a:srgbClr val="000000"/>
              </a:buClr>
              <a:buSzPts val="2000"/>
              <a:buFont typeface="Arial"/>
              <a:buChar char="•"/>
            </a:pPr>
            <a:r>
              <a:rPr lang="en-US" sz="2000" b="0" strike="noStrike">
                <a:solidFill>
                  <a:srgbClr val="000000"/>
                </a:solidFill>
                <a:latin typeface="Arial"/>
                <a:ea typeface="Arial"/>
                <a:cs typeface="Arial"/>
                <a:sym typeface="Arial"/>
              </a:rPr>
              <a:t>The ROM is a theoretical model that is  not achievable in practice.</a:t>
            </a:r>
            <a:endParaRPr sz="2000" b="0" strike="noStrike">
              <a:solidFill>
                <a:srgbClr val="000000"/>
              </a:solidFill>
              <a:latin typeface="Arial"/>
              <a:ea typeface="Arial"/>
              <a:cs typeface="Arial"/>
              <a:sym typeface="Arial"/>
            </a:endParaRPr>
          </a:p>
          <a:p>
            <a:pPr marL="171360" lvl="0" indent="-171360" algn="l" rtl="0">
              <a:lnSpc>
                <a:spcPct val="100000"/>
              </a:lnSpc>
              <a:spcBef>
                <a:spcPts val="0"/>
              </a:spcBef>
              <a:spcAft>
                <a:spcPts val="0"/>
              </a:spcAft>
              <a:buClr>
                <a:srgbClr val="000000"/>
              </a:buClr>
              <a:buSzPts val="2000"/>
              <a:buFont typeface="Arial"/>
              <a:buChar char="•"/>
            </a:pPr>
            <a:r>
              <a:rPr lang="en-US" sz="2000" b="0" strike="noStrike">
                <a:solidFill>
                  <a:srgbClr val="000000"/>
                </a:solidFill>
                <a:latin typeface="Arial"/>
                <a:ea typeface="Arial"/>
                <a:cs typeface="Arial"/>
                <a:sym typeface="Arial"/>
              </a:rPr>
              <a:t>It models the hash function as an oracle (i.e., black box) that on any input outputs a truly random value in denoted by unless the query was already sent, in which case the oracle replies consistently.  (The oracle stores all its queries.) </a:t>
            </a:r>
            <a:endParaRPr sz="2000" b="0" strike="noStrike">
              <a:solidFill>
                <a:srgbClr val="000000"/>
              </a:solidFill>
              <a:latin typeface="Arial"/>
              <a:ea typeface="Arial"/>
              <a:cs typeface="Arial"/>
              <a:sym typeface="Arial"/>
            </a:endParaRPr>
          </a:p>
        </p:txBody>
      </p:sp>
      <p:sp>
        <p:nvSpPr>
          <p:cNvPr id="104" name="Google Shape;104;g2b59fe0459d_4_144:notes"/>
          <p:cNvSpPr txBox="1">
            <a:spLocks noGrp="1"/>
          </p:cNvSpPr>
          <p:nvPr>
            <p:ph type="sldNum" idx="12"/>
          </p:nvPr>
        </p:nvSpPr>
        <p:spPr>
          <a:xfrm>
            <a:off x="3868882" y="8679173"/>
            <a:ext cx="3016198" cy="464583"/>
          </a:xfrm>
          <a:prstGeom prst="rect">
            <a:avLst/>
          </a:prstGeom>
          <a:noFill/>
          <a:ln>
            <a:noFill/>
          </a:ln>
        </p:spPr>
        <p:txBody>
          <a:bodyPr spcFirstLastPara="1" wrap="square" lIns="19425" tIns="0" rIns="19425" bIns="0" anchor="b" anchorCtr="0">
            <a:noAutofit/>
          </a:bodyPr>
          <a:lstStyle/>
          <a:p>
            <a:pPr marL="0" marR="0" lvl="0" indent="0" algn="r" rtl="0">
              <a:lnSpc>
                <a:spcPct val="100000"/>
              </a:lnSpc>
              <a:spcBef>
                <a:spcPts val="0"/>
              </a:spcBef>
              <a:spcAft>
                <a:spcPts val="0"/>
              </a:spcAft>
              <a:buClr>
                <a:srgbClr val="000000"/>
              </a:buClr>
              <a:buSzPts val="1000"/>
              <a:buFont typeface="Times New Roman"/>
              <a:buNone/>
            </a:pPr>
            <a:fld id="{00000000-1234-1234-1234-123412341234}" type="slidenum">
              <a:rPr lang="en-US" sz="1000" b="0" i="1" u="none" strike="noStrike" cap="none">
                <a:solidFill>
                  <a:srgbClr val="000000"/>
                </a:solidFill>
                <a:latin typeface="Times New Roman"/>
                <a:ea typeface="Times New Roman"/>
                <a:cs typeface="Times New Roman"/>
                <a:sym typeface="Times New Roman"/>
              </a:rPr>
              <a:t>15</a:t>
            </a:fld>
            <a:endParaRPr sz="1000" b="0" i="1"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b59fe0459d_4_155:notes"/>
          <p:cNvSpPr>
            <a:spLocks noGrp="1" noRot="1" noChangeAspect="1"/>
          </p:cNvSpPr>
          <p:nvPr>
            <p:ph type="sldImg" idx="2"/>
          </p:nvPr>
        </p:nvSpPr>
        <p:spPr>
          <a:xfrm>
            <a:off x="411163" y="703263"/>
            <a:ext cx="6038850" cy="3397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 name="Google Shape;115;g2b59fe0459d_4_155:notes"/>
          <p:cNvSpPr txBox="1">
            <a:spLocks noGrp="1"/>
          </p:cNvSpPr>
          <p:nvPr>
            <p:ph type="body" idx="1"/>
          </p:nvPr>
        </p:nvSpPr>
        <p:spPr>
          <a:xfrm>
            <a:off x="927419" y="4339403"/>
            <a:ext cx="5002780" cy="4108393"/>
          </a:xfrm>
          <a:prstGeom prst="rect">
            <a:avLst/>
          </a:prstGeom>
          <a:noFill/>
          <a:ln>
            <a:noFill/>
          </a:ln>
        </p:spPr>
        <p:txBody>
          <a:bodyPr spcFirstLastPara="1" wrap="square" lIns="93225" tIns="46800" rIns="93225" bIns="46800" anchor="t" anchorCtr="0">
            <a:noAutofit/>
          </a:bodyPr>
          <a:lstStyle/>
          <a:p>
            <a:pPr marL="171360" lvl="0" indent="-171360" algn="l" rtl="0">
              <a:lnSpc>
                <a:spcPct val="100000"/>
              </a:lnSpc>
              <a:spcBef>
                <a:spcPts val="0"/>
              </a:spcBef>
              <a:spcAft>
                <a:spcPts val="0"/>
              </a:spcAft>
              <a:buClr>
                <a:srgbClr val="000000"/>
              </a:buClr>
              <a:buSzPts val="2000"/>
              <a:buFont typeface="Arial"/>
              <a:buChar char="•"/>
            </a:pPr>
            <a:r>
              <a:rPr lang="en-US" sz="2000" b="0" strike="noStrike">
                <a:solidFill>
                  <a:srgbClr val="000000"/>
                </a:solidFill>
                <a:latin typeface="Arial"/>
                <a:ea typeface="Arial"/>
                <a:cs typeface="Arial"/>
                <a:sym typeface="Arial"/>
              </a:rPr>
              <a:t>SHA 256 is NOT a random oracle, but hopefully it is “pseudo-random enough” that an adversary cannot exploit any flaws in it.</a:t>
            </a:r>
            <a:endParaRPr sz="2000" b="0" strike="noStrike">
              <a:solidFill>
                <a:srgbClr val="000000"/>
              </a:solidFill>
              <a:latin typeface="Arial"/>
              <a:ea typeface="Arial"/>
              <a:cs typeface="Arial"/>
              <a:sym typeface="Arial"/>
            </a:endParaRPr>
          </a:p>
        </p:txBody>
      </p:sp>
      <p:sp>
        <p:nvSpPr>
          <p:cNvPr id="116" name="Google Shape;116;g2b59fe0459d_4_155:notes"/>
          <p:cNvSpPr txBox="1">
            <a:spLocks noGrp="1"/>
          </p:cNvSpPr>
          <p:nvPr>
            <p:ph type="sldNum" idx="12"/>
          </p:nvPr>
        </p:nvSpPr>
        <p:spPr>
          <a:xfrm>
            <a:off x="3868882" y="8679173"/>
            <a:ext cx="3016198" cy="464583"/>
          </a:xfrm>
          <a:prstGeom prst="rect">
            <a:avLst/>
          </a:prstGeom>
          <a:noFill/>
          <a:ln>
            <a:noFill/>
          </a:ln>
        </p:spPr>
        <p:txBody>
          <a:bodyPr spcFirstLastPara="1" wrap="square" lIns="19425" tIns="0" rIns="19425" bIns="0" anchor="b" anchorCtr="0">
            <a:noAutofit/>
          </a:bodyPr>
          <a:lstStyle/>
          <a:p>
            <a:pPr marL="0" marR="0" lvl="0" indent="0" algn="r" rtl="0">
              <a:lnSpc>
                <a:spcPct val="100000"/>
              </a:lnSpc>
              <a:spcBef>
                <a:spcPts val="0"/>
              </a:spcBef>
              <a:spcAft>
                <a:spcPts val="0"/>
              </a:spcAft>
              <a:buClr>
                <a:srgbClr val="000000"/>
              </a:buClr>
              <a:buSzPts val="1000"/>
              <a:buFont typeface="Times New Roman"/>
              <a:buNone/>
            </a:pPr>
            <a:fld id="{00000000-1234-1234-1234-123412341234}" type="slidenum">
              <a:rPr lang="en-US" sz="1000" b="0" i="1" u="none" strike="noStrike" cap="none">
                <a:solidFill>
                  <a:srgbClr val="000000"/>
                </a:solidFill>
                <a:latin typeface="Times New Roman"/>
                <a:ea typeface="Times New Roman"/>
                <a:cs typeface="Times New Roman"/>
                <a:sym typeface="Times New Roman"/>
              </a:rPr>
              <a:t>16</a:t>
            </a:fld>
            <a:endParaRPr sz="1000" b="0" i="1"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b59fe0459d_4_168:notes"/>
          <p:cNvSpPr>
            <a:spLocks noGrp="1" noRot="1" noChangeAspect="1"/>
          </p:cNvSpPr>
          <p:nvPr>
            <p:ph type="sldImg" idx="2"/>
          </p:nvPr>
        </p:nvSpPr>
        <p:spPr>
          <a:xfrm>
            <a:off x="563068" y="704014"/>
            <a:ext cx="5734612" cy="33963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7" name="Google Shape;127;g2b59fe0459d_4_168:notes"/>
          <p:cNvSpPr txBox="1">
            <a:spLocks noGrp="1"/>
          </p:cNvSpPr>
          <p:nvPr>
            <p:ph type="body" idx="1"/>
          </p:nvPr>
        </p:nvSpPr>
        <p:spPr>
          <a:xfrm>
            <a:off x="927419" y="4339403"/>
            <a:ext cx="5002780" cy="4108393"/>
          </a:xfrm>
          <a:prstGeom prst="rect">
            <a:avLst/>
          </a:prstGeom>
          <a:noFill/>
          <a:ln>
            <a:noFill/>
          </a:ln>
        </p:spPr>
        <p:txBody>
          <a:bodyPr spcFirstLastPara="1" wrap="square" lIns="93225" tIns="46800" rIns="93225" bIns="46800" anchor="t" anchorCtr="0">
            <a:noAutofit/>
          </a:bodyPr>
          <a:lstStyle/>
          <a:p>
            <a:pPr marL="216000" lvl="0" indent="0" algn="l" rtl="0">
              <a:spcBef>
                <a:spcPts val="0"/>
              </a:spcBef>
              <a:spcAft>
                <a:spcPts val="0"/>
              </a:spcAft>
              <a:buSzPts val="1800"/>
              <a:buNone/>
            </a:pPr>
            <a:endParaRPr sz="1800" b="0" strike="noStrike">
              <a:solidFill>
                <a:srgbClr val="000000"/>
              </a:solidFill>
              <a:latin typeface="Arial"/>
              <a:ea typeface="Arial"/>
              <a:cs typeface="Arial"/>
              <a:sym typeface="Arial"/>
            </a:endParaRPr>
          </a:p>
        </p:txBody>
      </p:sp>
      <p:sp>
        <p:nvSpPr>
          <p:cNvPr id="128" name="Google Shape;128;g2b59fe0459d_4_168:notes"/>
          <p:cNvSpPr txBox="1">
            <a:spLocks noGrp="1"/>
          </p:cNvSpPr>
          <p:nvPr>
            <p:ph type="sldNum" idx="12"/>
          </p:nvPr>
        </p:nvSpPr>
        <p:spPr>
          <a:xfrm>
            <a:off x="3868882" y="8679173"/>
            <a:ext cx="3016198" cy="464583"/>
          </a:xfrm>
          <a:prstGeom prst="rect">
            <a:avLst/>
          </a:prstGeom>
          <a:noFill/>
          <a:ln>
            <a:noFill/>
          </a:ln>
        </p:spPr>
        <p:txBody>
          <a:bodyPr spcFirstLastPara="1" wrap="square" lIns="19425" tIns="0" rIns="19425" bIns="0" anchor="b" anchorCtr="0">
            <a:noAutofit/>
          </a:bodyPr>
          <a:lstStyle/>
          <a:p>
            <a:pPr marL="0" marR="0" lvl="0" indent="0" algn="r" rtl="0">
              <a:lnSpc>
                <a:spcPct val="100000"/>
              </a:lnSpc>
              <a:spcBef>
                <a:spcPts val="0"/>
              </a:spcBef>
              <a:spcAft>
                <a:spcPts val="0"/>
              </a:spcAft>
              <a:buClr>
                <a:srgbClr val="000000"/>
              </a:buClr>
              <a:buSzPts val="1000"/>
              <a:buFont typeface="Times New Roman"/>
              <a:buNone/>
            </a:pPr>
            <a:fld id="{00000000-1234-1234-1234-123412341234}" type="slidenum">
              <a:rPr lang="en-US" sz="1000" b="0" i="1" u="none" strike="noStrike" cap="none">
                <a:solidFill>
                  <a:srgbClr val="000000"/>
                </a:solidFill>
                <a:latin typeface="Times New Roman"/>
                <a:ea typeface="Times New Roman"/>
                <a:cs typeface="Times New Roman"/>
                <a:sym typeface="Times New Roman"/>
              </a:rPr>
              <a:t>17</a:t>
            </a:fld>
            <a:endParaRPr sz="1000" b="0" i="1"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b6a390cede_2_99:notes"/>
          <p:cNvSpPr>
            <a:spLocks noGrp="1" noRot="1" noChangeAspect="1"/>
          </p:cNvSpPr>
          <p:nvPr>
            <p:ph type="sldImg" idx="2"/>
          </p:nvPr>
        </p:nvSpPr>
        <p:spPr>
          <a:xfrm>
            <a:off x="382588" y="685800"/>
            <a:ext cx="6097587" cy="34305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5" name="Google Shape;135;g2b6a390cede_2_99:notes"/>
          <p:cNvSpPr txBox="1">
            <a:spLocks noGrp="1"/>
          </p:cNvSpPr>
          <p:nvPr>
            <p:ph type="body" idx="1"/>
          </p:nvPr>
        </p:nvSpPr>
        <p:spPr>
          <a:xfrm>
            <a:off x="913991" y="4344362"/>
            <a:ext cx="5030018" cy="4113174"/>
          </a:xfrm>
          <a:prstGeom prst="rect">
            <a:avLst/>
          </a:prstGeom>
          <a:noFill/>
          <a:ln>
            <a:noFill/>
          </a:ln>
        </p:spPr>
        <p:txBody>
          <a:bodyPr spcFirstLastPara="1" wrap="square" lIns="93250" tIns="46625" rIns="93250" bIns="46625" anchor="t" anchorCtr="0">
            <a:noAutofit/>
          </a:bodyPr>
          <a:lstStyle/>
          <a:p>
            <a:pPr marL="0" lvl="0" indent="0" algn="l" rtl="0">
              <a:spcBef>
                <a:spcPts val="0"/>
              </a:spcBef>
              <a:spcAft>
                <a:spcPts val="0"/>
              </a:spcAft>
              <a:buNone/>
            </a:pPr>
            <a:endParaRPr sz="1300"/>
          </a:p>
        </p:txBody>
      </p:sp>
      <p:sp>
        <p:nvSpPr>
          <p:cNvPr id="136" name="Google Shape;136;g2b6a390cede_2_99:notes"/>
          <p:cNvSpPr txBox="1"/>
          <p:nvPr/>
        </p:nvSpPr>
        <p:spPr>
          <a:xfrm>
            <a:off x="3885996" y="8687307"/>
            <a:ext cx="2972004" cy="456704"/>
          </a:xfrm>
          <a:prstGeom prst="rect">
            <a:avLst/>
          </a:prstGeom>
          <a:noFill/>
          <a:ln>
            <a:noFill/>
          </a:ln>
        </p:spPr>
        <p:txBody>
          <a:bodyPr spcFirstLastPara="1" wrap="square" lIns="93250" tIns="46625" rIns="93250" bIns="4662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18</a:t>
            </a:fld>
            <a:endParaRPr sz="13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b6a390cede_2_108:notes"/>
          <p:cNvSpPr txBox="1">
            <a:spLocks noGrp="1"/>
          </p:cNvSpPr>
          <p:nvPr>
            <p:ph type="body" idx="1"/>
          </p:nvPr>
        </p:nvSpPr>
        <p:spPr>
          <a:xfrm>
            <a:off x="913991" y="4344362"/>
            <a:ext cx="5030100" cy="4113300"/>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142" name="Google Shape;142;g2b6a390cede_2_108:notes"/>
          <p:cNvSpPr>
            <a:spLocks noGrp="1" noRot="1" noChangeAspect="1"/>
          </p:cNvSpPr>
          <p:nvPr>
            <p:ph type="sldImg" idx="2"/>
          </p:nvPr>
        </p:nvSpPr>
        <p:spPr>
          <a:xfrm>
            <a:off x="382588" y="685800"/>
            <a:ext cx="6097587" cy="3430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b6a390cede_2_116:notes"/>
          <p:cNvSpPr txBox="1">
            <a:spLocks noGrp="1"/>
          </p:cNvSpPr>
          <p:nvPr>
            <p:ph type="body" idx="1"/>
          </p:nvPr>
        </p:nvSpPr>
        <p:spPr>
          <a:xfrm>
            <a:off x="913991" y="4344362"/>
            <a:ext cx="5030018" cy="4113174"/>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148" name="Google Shape;148;g2b6a390cede_2_116:notes"/>
          <p:cNvSpPr>
            <a:spLocks noGrp="1" noRot="1" noChangeAspect="1"/>
          </p:cNvSpPr>
          <p:nvPr>
            <p:ph type="sldImg" idx="2"/>
          </p:nvPr>
        </p:nvSpPr>
        <p:spPr>
          <a:xfrm>
            <a:off x="136230" y="686475"/>
            <a:ext cx="6590141" cy="3429536"/>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b6a390cede_2_124:notes"/>
          <p:cNvSpPr txBox="1">
            <a:spLocks noGrp="1"/>
          </p:cNvSpPr>
          <p:nvPr>
            <p:ph type="body" idx="1"/>
          </p:nvPr>
        </p:nvSpPr>
        <p:spPr>
          <a:xfrm>
            <a:off x="913991" y="4344362"/>
            <a:ext cx="5030018" cy="4113174"/>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154" name="Google Shape;154;g2b6a390cede_2_124:notes"/>
          <p:cNvSpPr>
            <a:spLocks noGrp="1" noRot="1" noChangeAspect="1"/>
          </p:cNvSpPr>
          <p:nvPr>
            <p:ph type="sldImg" idx="2"/>
          </p:nvPr>
        </p:nvSpPr>
        <p:spPr>
          <a:xfrm>
            <a:off x="382588" y="685800"/>
            <a:ext cx="6097587" cy="3430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b6a390cede_2_133:notes"/>
          <p:cNvSpPr>
            <a:spLocks noGrp="1" noRot="1" noChangeAspect="1"/>
          </p:cNvSpPr>
          <p:nvPr>
            <p:ph type="sldImg" idx="2"/>
          </p:nvPr>
        </p:nvSpPr>
        <p:spPr>
          <a:xfrm>
            <a:off x="136230" y="686475"/>
            <a:ext cx="6590141" cy="3429536"/>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2" name="Google Shape;162;g2b6a390cede_2_133:notes"/>
          <p:cNvSpPr txBox="1">
            <a:spLocks noGrp="1"/>
          </p:cNvSpPr>
          <p:nvPr>
            <p:ph type="body" idx="1"/>
          </p:nvPr>
        </p:nvSpPr>
        <p:spPr>
          <a:xfrm>
            <a:off x="913991" y="4344362"/>
            <a:ext cx="5030018" cy="4113174"/>
          </a:xfrm>
          <a:prstGeom prst="rect">
            <a:avLst/>
          </a:prstGeom>
          <a:noFill/>
          <a:ln>
            <a:noFill/>
          </a:ln>
        </p:spPr>
        <p:txBody>
          <a:bodyPr spcFirstLastPara="1" wrap="square" lIns="93250" tIns="46625" rIns="93250" bIns="46625" anchor="t" anchorCtr="0">
            <a:noAutofit/>
          </a:bodyPr>
          <a:lstStyle/>
          <a:p>
            <a:pPr marL="0" lvl="0" indent="0" algn="l" rtl="0">
              <a:spcBef>
                <a:spcPts val="0"/>
              </a:spcBef>
              <a:spcAft>
                <a:spcPts val="0"/>
              </a:spcAft>
              <a:buNone/>
            </a:pPr>
            <a:endParaRPr sz="1300"/>
          </a:p>
        </p:txBody>
      </p:sp>
      <p:sp>
        <p:nvSpPr>
          <p:cNvPr id="163" name="Google Shape;163;g2b6a390cede_2_133:notes"/>
          <p:cNvSpPr txBox="1"/>
          <p:nvPr/>
        </p:nvSpPr>
        <p:spPr>
          <a:xfrm>
            <a:off x="3885996" y="8687307"/>
            <a:ext cx="2972004" cy="456704"/>
          </a:xfrm>
          <a:prstGeom prst="rect">
            <a:avLst/>
          </a:prstGeom>
          <a:noFill/>
          <a:ln>
            <a:noFill/>
          </a:ln>
        </p:spPr>
        <p:txBody>
          <a:bodyPr spcFirstLastPara="1" wrap="square" lIns="93250" tIns="46625" rIns="93250" bIns="4662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24</a:t>
            </a:fld>
            <a:endParaRPr sz="13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b6a390cede_2_155:notes"/>
          <p:cNvSpPr>
            <a:spLocks noGrp="1" noRot="1" noChangeAspect="1"/>
          </p:cNvSpPr>
          <p:nvPr>
            <p:ph type="sldImg" idx="2"/>
          </p:nvPr>
        </p:nvSpPr>
        <p:spPr>
          <a:xfrm>
            <a:off x="382588" y="685800"/>
            <a:ext cx="6097587" cy="34305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0" name="Google Shape;170;g2b6a390cede_2_155:notes"/>
          <p:cNvSpPr txBox="1">
            <a:spLocks noGrp="1"/>
          </p:cNvSpPr>
          <p:nvPr>
            <p:ph type="body" idx="1"/>
          </p:nvPr>
        </p:nvSpPr>
        <p:spPr>
          <a:xfrm>
            <a:off x="913991" y="4344362"/>
            <a:ext cx="5030018" cy="4113174"/>
          </a:xfrm>
          <a:prstGeom prst="rect">
            <a:avLst/>
          </a:prstGeom>
          <a:noFill/>
          <a:ln>
            <a:noFill/>
          </a:ln>
        </p:spPr>
        <p:txBody>
          <a:bodyPr spcFirstLastPara="1" wrap="square" lIns="93250" tIns="46625" rIns="93250" bIns="46625" anchor="t" anchorCtr="0">
            <a:noAutofit/>
          </a:bodyPr>
          <a:lstStyle/>
          <a:p>
            <a:pPr marL="0" lvl="0" indent="0" algn="l" rtl="0">
              <a:spcBef>
                <a:spcPts val="0"/>
              </a:spcBef>
              <a:spcAft>
                <a:spcPts val="0"/>
              </a:spcAft>
              <a:buNone/>
            </a:pPr>
            <a:endParaRPr sz="1300"/>
          </a:p>
        </p:txBody>
      </p:sp>
      <p:sp>
        <p:nvSpPr>
          <p:cNvPr id="171" name="Google Shape;171;g2b6a390cede_2_155:notes"/>
          <p:cNvSpPr txBox="1"/>
          <p:nvPr/>
        </p:nvSpPr>
        <p:spPr>
          <a:xfrm>
            <a:off x="3885996" y="8687307"/>
            <a:ext cx="2972004" cy="456704"/>
          </a:xfrm>
          <a:prstGeom prst="rect">
            <a:avLst/>
          </a:prstGeom>
          <a:noFill/>
          <a:ln>
            <a:noFill/>
          </a:ln>
        </p:spPr>
        <p:txBody>
          <a:bodyPr spcFirstLastPara="1" wrap="square" lIns="93250" tIns="46625" rIns="93250" bIns="4662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25</a:t>
            </a:fld>
            <a:endParaRPr sz="13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b6a390cede_2_175:notes"/>
          <p:cNvSpPr txBox="1">
            <a:spLocks noGrp="1"/>
          </p:cNvSpPr>
          <p:nvPr>
            <p:ph type="body" idx="1"/>
          </p:nvPr>
        </p:nvSpPr>
        <p:spPr>
          <a:xfrm>
            <a:off x="913991" y="4344362"/>
            <a:ext cx="5030018" cy="4113174"/>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188" name="Google Shape;188;g2b6a390cede_2_175:notes"/>
          <p:cNvSpPr>
            <a:spLocks noGrp="1" noRot="1" noChangeAspect="1"/>
          </p:cNvSpPr>
          <p:nvPr>
            <p:ph type="sldImg" idx="2"/>
          </p:nvPr>
        </p:nvSpPr>
        <p:spPr>
          <a:xfrm>
            <a:off x="136230" y="686475"/>
            <a:ext cx="6590141" cy="3429536"/>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b6a390cede_2_183:notes"/>
          <p:cNvSpPr>
            <a:spLocks noGrp="1" noRot="1" noChangeAspect="1"/>
          </p:cNvSpPr>
          <p:nvPr>
            <p:ph type="sldImg" idx="2"/>
          </p:nvPr>
        </p:nvSpPr>
        <p:spPr>
          <a:xfrm>
            <a:off x="136230" y="686475"/>
            <a:ext cx="6590141" cy="3429536"/>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4" name="Google Shape;194;g2b6a390cede_2_183:notes"/>
          <p:cNvSpPr txBox="1">
            <a:spLocks noGrp="1"/>
          </p:cNvSpPr>
          <p:nvPr>
            <p:ph type="body" idx="1"/>
          </p:nvPr>
        </p:nvSpPr>
        <p:spPr>
          <a:xfrm>
            <a:off x="913991" y="4344362"/>
            <a:ext cx="5030018" cy="4113174"/>
          </a:xfrm>
          <a:prstGeom prst="rect">
            <a:avLst/>
          </a:prstGeom>
          <a:noFill/>
          <a:ln>
            <a:noFill/>
          </a:ln>
        </p:spPr>
        <p:txBody>
          <a:bodyPr spcFirstLastPara="1" wrap="square" lIns="93250" tIns="46625" rIns="93250" bIns="46625" anchor="t" anchorCtr="0">
            <a:noAutofit/>
          </a:bodyPr>
          <a:lstStyle/>
          <a:p>
            <a:pPr marL="0" lvl="0" indent="0" algn="l" rtl="0">
              <a:spcBef>
                <a:spcPts val="0"/>
              </a:spcBef>
              <a:spcAft>
                <a:spcPts val="0"/>
              </a:spcAft>
              <a:buSzPts val="1700"/>
              <a:buNone/>
            </a:pPr>
            <a:r>
              <a:rPr lang="en-US" sz="1300"/>
              <a:t>Which hash function to use?</a:t>
            </a:r>
            <a:endParaRPr sz="1300"/>
          </a:p>
          <a:p>
            <a:pPr marL="0" lvl="0" indent="0" algn="l" rtl="0">
              <a:spcBef>
                <a:spcPts val="0"/>
              </a:spcBef>
              <a:spcAft>
                <a:spcPts val="0"/>
              </a:spcAft>
              <a:buSzPts val="1700"/>
              <a:buNone/>
            </a:pPr>
            <a:endParaRPr sz="1300"/>
          </a:p>
          <a:p>
            <a:pPr marL="0" lvl="0" indent="0" algn="l" rtl="0">
              <a:spcBef>
                <a:spcPts val="0"/>
              </a:spcBef>
              <a:spcAft>
                <a:spcPts val="0"/>
              </a:spcAft>
              <a:buNone/>
            </a:pPr>
            <a:endParaRPr sz="1300"/>
          </a:p>
        </p:txBody>
      </p:sp>
      <p:sp>
        <p:nvSpPr>
          <p:cNvPr id="195" name="Google Shape;195;g2b6a390cede_2_183:notes"/>
          <p:cNvSpPr txBox="1"/>
          <p:nvPr/>
        </p:nvSpPr>
        <p:spPr>
          <a:xfrm>
            <a:off x="3885996" y="8687307"/>
            <a:ext cx="2972004" cy="456704"/>
          </a:xfrm>
          <a:prstGeom prst="rect">
            <a:avLst/>
          </a:prstGeom>
          <a:noFill/>
          <a:ln>
            <a:noFill/>
          </a:ln>
        </p:spPr>
        <p:txBody>
          <a:bodyPr spcFirstLastPara="1" wrap="square" lIns="93250" tIns="46625" rIns="93250" bIns="4662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27</a:t>
            </a:fld>
            <a:endParaRPr sz="13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2b6a390cede_2_192:notes"/>
          <p:cNvSpPr txBox="1">
            <a:spLocks noGrp="1"/>
          </p:cNvSpPr>
          <p:nvPr>
            <p:ph type="body" idx="1"/>
          </p:nvPr>
        </p:nvSpPr>
        <p:spPr>
          <a:xfrm>
            <a:off x="913991" y="4344362"/>
            <a:ext cx="5030018" cy="4113174"/>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201" name="Google Shape;201;g2b6a390cede_2_192:notes"/>
          <p:cNvSpPr>
            <a:spLocks noGrp="1" noRot="1" noChangeAspect="1"/>
          </p:cNvSpPr>
          <p:nvPr>
            <p:ph type="sldImg" idx="2"/>
          </p:nvPr>
        </p:nvSpPr>
        <p:spPr>
          <a:xfrm>
            <a:off x="136230" y="686475"/>
            <a:ext cx="6590141" cy="3429536"/>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2b6a390cede_2_200:notes"/>
          <p:cNvSpPr txBox="1">
            <a:spLocks noGrp="1"/>
          </p:cNvSpPr>
          <p:nvPr>
            <p:ph type="body" idx="1"/>
          </p:nvPr>
        </p:nvSpPr>
        <p:spPr>
          <a:xfrm>
            <a:off x="913991" y="4344362"/>
            <a:ext cx="5030018" cy="4113174"/>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207" name="Google Shape;207;g2b6a390cede_2_200:notes"/>
          <p:cNvSpPr>
            <a:spLocks noGrp="1" noRot="1" noChangeAspect="1"/>
          </p:cNvSpPr>
          <p:nvPr>
            <p:ph type="sldImg" idx="2"/>
          </p:nvPr>
        </p:nvSpPr>
        <p:spPr>
          <a:xfrm>
            <a:off x="382588" y="685800"/>
            <a:ext cx="6097587" cy="3430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2b6a390cede_2_210:notes"/>
          <p:cNvSpPr txBox="1">
            <a:spLocks noGrp="1"/>
          </p:cNvSpPr>
          <p:nvPr>
            <p:ph type="body" idx="1"/>
          </p:nvPr>
        </p:nvSpPr>
        <p:spPr>
          <a:xfrm>
            <a:off x="913991" y="4344362"/>
            <a:ext cx="5030018" cy="4113174"/>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215" name="Google Shape;215;g2b6a390cede_2_210:notes"/>
          <p:cNvSpPr>
            <a:spLocks noGrp="1" noRot="1" noChangeAspect="1"/>
          </p:cNvSpPr>
          <p:nvPr>
            <p:ph type="sldImg" idx="2"/>
          </p:nvPr>
        </p:nvSpPr>
        <p:spPr>
          <a:xfrm>
            <a:off x="136230" y="686475"/>
            <a:ext cx="6590141" cy="3429536"/>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b6948ef654_0_6: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2b6948ef654_0_6:notes"/>
          <p:cNvSpPr txBox="1">
            <a:spLocks noGrp="1"/>
          </p:cNvSpPr>
          <p:nvPr>
            <p:ph type="body" idx="1"/>
          </p:nvPr>
        </p:nvSpPr>
        <p:spPr>
          <a:xfrm>
            <a:off x="777240" y="4777560"/>
            <a:ext cx="6217500" cy="4525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22" name="Google Shape;222;g2b6948ef654_0_6:notes"/>
          <p:cNvSpPr txBox="1">
            <a:spLocks noGrp="1"/>
          </p:cNvSpPr>
          <p:nvPr>
            <p:ph type="sldNum" idx="12"/>
          </p:nvPr>
        </p:nvSpPr>
        <p:spPr>
          <a:xfrm>
            <a:off x="4399200" y="9555480"/>
            <a:ext cx="3372900" cy="5025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b6a390cede_2_218:notes"/>
          <p:cNvSpPr txBox="1">
            <a:spLocks noGrp="1"/>
          </p:cNvSpPr>
          <p:nvPr>
            <p:ph type="body" idx="1"/>
          </p:nvPr>
        </p:nvSpPr>
        <p:spPr>
          <a:xfrm>
            <a:off x="913991" y="4344362"/>
            <a:ext cx="5030018" cy="4113174"/>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229" name="Google Shape;229;g2b6a390cede_2_218:notes"/>
          <p:cNvSpPr>
            <a:spLocks noGrp="1" noRot="1" noChangeAspect="1"/>
          </p:cNvSpPr>
          <p:nvPr>
            <p:ph type="sldImg" idx="2"/>
          </p:nvPr>
        </p:nvSpPr>
        <p:spPr>
          <a:xfrm>
            <a:off x="136230" y="686475"/>
            <a:ext cx="6590141" cy="3429536"/>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b6a390cede_2_234:notes"/>
          <p:cNvSpPr txBox="1">
            <a:spLocks noGrp="1"/>
          </p:cNvSpPr>
          <p:nvPr>
            <p:ph type="body" idx="1"/>
          </p:nvPr>
        </p:nvSpPr>
        <p:spPr>
          <a:xfrm>
            <a:off x="913991" y="4344362"/>
            <a:ext cx="5030100" cy="4113300"/>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235" name="Google Shape;235;g2b6a390cede_2_234:notes"/>
          <p:cNvSpPr>
            <a:spLocks noGrp="1" noRot="1" noChangeAspect="1"/>
          </p:cNvSpPr>
          <p:nvPr>
            <p:ph type="sldImg" idx="2"/>
          </p:nvPr>
        </p:nvSpPr>
        <p:spPr>
          <a:xfrm>
            <a:off x="136230" y="686475"/>
            <a:ext cx="6590100" cy="3429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b6a390cede_2_271:notes"/>
          <p:cNvSpPr txBox="1">
            <a:spLocks noGrp="1"/>
          </p:cNvSpPr>
          <p:nvPr>
            <p:ph type="body" idx="1"/>
          </p:nvPr>
        </p:nvSpPr>
        <p:spPr>
          <a:xfrm>
            <a:off x="913991" y="4344362"/>
            <a:ext cx="5030018" cy="4113174"/>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242" name="Google Shape;242;g2b6a390cede_2_271:notes"/>
          <p:cNvSpPr>
            <a:spLocks noGrp="1" noRot="1" noChangeAspect="1"/>
          </p:cNvSpPr>
          <p:nvPr>
            <p:ph type="sldImg" idx="2"/>
          </p:nvPr>
        </p:nvSpPr>
        <p:spPr>
          <a:xfrm>
            <a:off x="136230" y="686475"/>
            <a:ext cx="6590141" cy="3429536"/>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b59fe0459d_4_248:notes"/>
          <p:cNvSpPr>
            <a:spLocks noGrp="1" noRot="1" noChangeAspect="1"/>
          </p:cNvSpPr>
          <p:nvPr>
            <p:ph type="sldImg" idx="2"/>
          </p:nvPr>
        </p:nvSpPr>
        <p:spPr>
          <a:xfrm>
            <a:off x="411163" y="703263"/>
            <a:ext cx="6038850" cy="3397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8" name="Google Shape;248;g2b59fe0459d_4_248:notes"/>
          <p:cNvSpPr txBox="1">
            <a:spLocks noGrp="1"/>
          </p:cNvSpPr>
          <p:nvPr>
            <p:ph type="body" idx="1"/>
          </p:nvPr>
        </p:nvSpPr>
        <p:spPr>
          <a:xfrm>
            <a:off x="927419" y="4339403"/>
            <a:ext cx="5002780" cy="4108393"/>
          </a:xfrm>
          <a:prstGeom prst="rect">
            <a:avLst/>
          </a:prstGeom>
          <a:noFill/>
          <a:ln>
            <a:noFill/>
          </a:ln>
        </p:spPr>
        <p:txBody>
          <a:bodyPr spcFirstLastPara="1" wrap="square" lIns="93225" tIns="46800" rIns="93225" bIns="46800" anchor="t" anchorCtr="0">
            <a:noAutofit/>
          </a:bodyPr>
          <a:lstStyle/>
          <a:p>
            <a:pPr marL="216000" lvl="0" indent="0" algn="l" rtl="0">
              <a:spcBef>
                <a:spcPts val="0"/>
              </a:spcBef>
              <a:spcAft>
                <a:spcPts val="0"/>
              </a:spcAft>
              <a:buSzPts val="1800"/>
              <a:buNone/>
            </a:pPr>
            <a:endParaRPr sz="1800" b="0" strike="noStrike">
              <a:solidFill>
                <a:srgbClr val="000000"/>
              </a:solidFill>
              <a:latin typeface="Arial"/>
              <a:ea typeface="Arial"/>
              <a:cs typeface="Arial"/>
              <a:sym typeface="Arial"/>
            </a:endParaRPr>
          </a:p>
        </p:txBody>
      </p:sp>
      <p:sp>
        <p:nvSpPr>
          <p:cNvPr id="249" name="Google Shape;249;g2b59fe0459d_4_248:notes"/>
          <p:cNvSpPr txBox="1">
            <a:spLocks noGrp="1"/>
          </p:cNvSpPr>
          <p:nvPr>
            <p:ph type="sldNum" idx="12"/>
          </p:nvPr>
        </p:nvSpPr>
        <p:spPr>
          <a:xfrm>
            <a:off x="3868882" y="8679173"/>
            <a:ext cx="3016198" cy="464583"/>
          </a:xfrm>
          <a:prstGeom prst="rect">
            <a:avLst/>
          </a:prstGeom>
          <a:noFill/>
          <a:ln>
            <a:noFill/>
          </a:ln>
        </p:spPr>
        <p:txBody>
          <a:bodyPr spcFirstLastPara="1" wrap="square" lIns="19425" tIns="0" rIns="19425" bIns="0" anchor="b" anchorCtr="0">
            <a:noAutofit/>
          </a:bodyPr>
          <a:lstStyle/>
          <a:p>
            <a:pPr marL="0" marR="0" lvl="0" indent="0" algn="r" rtl="0">
              <a:lnSpc>
                <a:spcPct val="100000"/>
              </a:lnSpc>
              <a:spcBef>
                <a:spcPts val="0"/>
              </a:spcBef>
              <a:spcAft>
                <a:spcPts val="0"/>
              </a:spcAft>
              <a:buClr>
                <a:srgbClr val="000000"/>
              </a:buClr>
              <a:buSzPts val="1000"/>
              <a:buFont typeface="Times New Roman"/>
              <a:buNone/>
            </a:pPr>
            <a:fld id="{00000000-1234-1234-1234-123412341234}" type="slidenum">
              <a:rPr lang="en-US" sz="1000" b="0" i="1" u="none" strike="noStrike" cap="none">
                <a:solidFill>
                  <a:srgbClr val="000000"/>
                </a:solidFill>
                <a:latin typeface="Times New Roman"/>
                <a:ea typeface="Times New Roman"/>
                <a:cs typeface="Times New Roman"/>
                <a:sym typeface="Times New Roman"/>
              </a:rPr>
              <a:t>40</a:t>
            </a:fld>
            <a:endParaRPr sz="1000" b="0" i="1"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4"/>
        <p:cNvGrpSpPr/>
        <p:nvPr/>
      </p:nvGrpSpPr>
      <p:grpSpPr>
        <a:xfrm>
          <a:off x="0" y="0"/>
          <a:ext cx="0" cy="0"/>
          <a:chOff x="0" y="0"/>
          <a:chExt cx="0" cy="0"/>
        </a:xfrm>
      </p:grpSpPr>
      <p:sp>
        <p:nvSpPr>
          <p:cNvPr id="15" name="Google Shape;15;p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7"/>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5"/>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 name="Google Shape;24;p5"/>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7"/>
        <p:cNvGrpSpPr/>
        <p:nvPr/>
      </p:nvGrpSpPr>
      <p:grpSpPr>
        <a:xfrm>
          <a:off x="0" y="0"/>
          <a:ext cx="0" cy="0"/>
          <a:chOff x="0" y="0"/>
          <a:chExt cx="0" cy="0"/>
        </a:xfrm>
      </p:grpSpPr>
      <p:sp>
        <p:nvSpPr>
          <p:cNvPr id="28" name="Google Shape;28;p7"/>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8"/>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8"/>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8"/>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34"/>
        <p:cNvGrpSpPr/>
        <p:nvPr/>
      </p:nvGrpSpPr>
      <p:grpSpPr>
        <a:xfrm>
          <a:off x="0" y="0"/>
          <a:ext cx="0" cy="0"/>
          <a:chOff x="0" y="0"/>
          <a:chExt cx="0" cy="0"/>
        </a:xfrm>
      </p:grpSpPr>
      <p:sp>
        <p:nvSpPr>
          <p:cNvPr id="35" name="Google Shape;35;p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9"/>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7" name="Google Shape;37;p9"/>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8" name="Google Shape;38;p9"/>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39"/>
        <p:cNvGrpSpPr/>
        <p:nvPr/>
      </p:nvGrpSpPr>
      <p:grpSpPr>
        <a:xfrm>
          <a:off x="0" y="0"/>
          <a:ext cx="0" cy="0"/>
          <a:chOff x="0" y="0"/>
          <a:chExt cx="0" cy="0"/>
        </a:xfrm>
      </p:grpSpPr>
      <p:sp>
        <p:nvSpPr>
          <p:cNvPr id="40" name="Google Shape;40;p1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2" name="Google Shape;42;p10"/>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3" name="Google Shape;43;p10"/>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44"/>
        <p:cNvGrpSpPr/>
        <p:nvPr/>
      </p:nvGrpSpPr>
      <p:grpSpPr>
        <a:xfrm>
          <a:off x="0" y="0"/>
          <a:ext cx="0" cy="0"/>
          <a:chOff x="0" y="0"/>
          <a:chExt cx="0" cy="0"/>
        </a:xfrm>
      </p:grpSpPr>
      <p:sp>
        <p:nvSpPr>
          <p:cNvPr id="45" name="Google Shape;45;p1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1"/>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7" name="Google Shape;47;p11"/>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48"/>
        <p:cNvGrpSpPr/>
        <p:nvPr/>
      </p:nvGrpSpPr>
      <p:grpSpPr>
        <a:xfrm>
          <a:off x="0" y="0"/>
          <a:ext cx="0" cy="0"/>
          <a:chOff x="0" y="0"/>
          <a:chExt cx="0" cy="0"/>
        </a:xfrm>
      </p:grpSpPr>
      <p:sp>
        <p:nvSpPr>
          <p:cNvPr id="49" name="Google Shape;49;p1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2"/>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1" name="Google Shape;51;p12"/>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2" name="Google Shape;52;p12"/>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3" name="Google Shape;53;p12"/>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54"/>
        <p:cNvGrpSpPr/>
        <p:nvPr/>
      </p:nvGrpSpPr>
      <p:grpSpPr>
        <a:xfrm>
          <a:off x="0" y="0"/>
          <a:ext cx="0" cy="0"/>
          <a:chOff x="0" y="0"/>
          <a:chExt cx="0" cy="0"/>
        </a:xfrm>
      </p:grpSpPr>
      <p:sp>
        <p:nvSpPr>
          <p:cNvPr id="55" name="Google Shape;55;p1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3"/>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7" name="Google Shape;57;p13"/>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8" name="Google Shape;58;p13"/>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9" name="Google Shape;59;p13"/>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0" name="Google Shape;60;p13"/>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1" name="Google Shape;61;p13"/>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5"/>
          <p:cNvSpPr txBox="1">
            <a:spLocks noGrp="1"/>
          </p:cNvSpPr>
          <p:nvPr>
            <p:ph type="body" idx="1"/>
          </p:nvPr>
        </p:nvSpPr>
        <p:spPr>
          <a:xfrm>
            <a:off x="609600" y="1524000"/>
            <a:ext cx="110744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5"/>
          <p:cNvSpPr txBox="1">
            <a:spLocks noGrp="1"/>
          </p:cNvSpPr>
          <p:nvPr>
            <p:ph type="dt" idx="10"/>
          </p:nvPr>
        </p:nvSpPr>
        <p:spPr>
          <a:xfrm>
            <a:off x="609600" y="6400800"/>
            <a:ext cx="2540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sz="1400">
                <a:solidFill>
                  <a:srgbClr val="254C9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5"/>
          <p:cNvSpPr txBox="1">
            <a:spLocks noGrp="1"/>
          </p:cNvSpPr>
          <p:nvPr>
            <p:ph type="ftr" idx="11"/>
          </p:nvPr>
        </p:nvSpPr>
        <p:spPr>
          <a:xfrm>
            <a:off x="4165600" y="6400800"/>
            <a:ext cx="38608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00"/>
              </a:spcBef>
              <a:spcAft>
                <a:spcPts val="0"/>
              </a:spcAft>
              <a:buSzPts val="1400"/>
              <a:buNone/>
              <a:defRPr sz="1400">
                <a:solidFill>
                  <a:srgbClr val="254C9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5"/>
          <p:cNvSpPr txBox="1">
            <a:spLocks noGrp="1"/>
          </p:cNvSpPr>
          <p:nvPr>
            <p:ph type="sldNum" idx="12"/>
          </p:nvPr>
        </p:nvSpPr>
        <p:spPr>
          <a:xfrm>
            <a:off x="9144000" y="6400800"/>
            <a:ext cx="2540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1pPr>
            <a:lvl2pPr marL="0" marR="0" lvl="1"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2pPr>
            <a:lvl3pPr marL="0" marR="0" lvl="2"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3pPr>
            <a:lvl4pPr marL="0" marR="0" lvl="3"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4pPr>
            <a:lvl5pPr marL="0" marR="0" lvl="4"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5pPr>
            <a:lvl6pPr marL="0" marR="0" lvl="5"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6pPr>
            <a:lvl7pPr marL="0" marR="0" lvl="6"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7pPr>
            <a:lvl8pPr marL="0" marR="0" lvl="7"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8pPr>
            <a:lvl9pPr marL="0" marR="0" lvl="8"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7"/>
          <p:cNvSpPr txBox="1">
            <a:spLocks noGrp="1"/>
          </p:cNvSpPr>
          <p:nvPr>
            <p:ph type="body" idx="1"/>
          </p:nvPr>
        </p:nvSpPr>
        <p:spPr>
          <a:xfrm>
            <a:off x="609600" y="1524000"/>
            <a:ext cx="54356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3" name="Google Shape;83;p17"/>
          <p:cNvSpPr txBox="1">
            <a:spLocks noGrp="1"/>
          </p:cNvSpPr>
          <p:nvPr>
            <p:ph type="body" idx="2"/>
          </p:nvPr>
        </p:nvSpPr>
        <p:spPr>
          <a:xfrm>
            <a:off x="6248400" y="1524000"/>
            <a:ext cx="54356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4" name="Google Shape;84;p17"/>
          <p:cNvSpPr txBox="1">
            <a:spLocks noGrp="1"/>
          </p:cNvSpPr>
          <p:nvPr>
            <p:ph type="dt" idx="10"/>
          </p:nvPr>
        </p:nvSpPr>
        <p:spPr>
          <a:xfrm>
            <a:off x="609600" y="6400800"/>
            <a:ext cx="2540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sz="1400">
                <a:solidFill>
                  <a:srgbClr val="254C9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7"/>
          <p:cNvSpPr txBox="1">
            <a:spLocks noGrp="1"/>
          </p:cNvSpPr>
          <p:nvPr>
            <p:ph type="ftr" idx="11"/>
          </p:nvPr>
        </p:nvSpPr>
        <p:spPr>
          <a:xfrm>
            <a:off x="4165600" y="6400800"/>
            <a:ext cx="38608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00"/>
              </a:spcBef>
              <a:spcAft>
                <a:spcPts val="0"/>
              </a:spcAft>
              <a:buSzPts val="1400"/>
              <a:buNone/>
              <a:defRPr sz="1400">
                <a:solidFill>
                  <a:srgbClr val="254C9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7"/>
          <p:cNvSpPr txBox="1">
            <a:spLocks noGrp="1"/>
          </p:cNvSpPr>
          <p:nvPr>
            <p:ph type="sldNum" idx="12"/>
          </p:nvPr>
        </p:nvSpPr>
        <p:spPr>
          <a:xfrm>
            <a:off x="9144000" y="6400800"/>
            <a:ext cx="2540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1pPr>
            <a:lvl2pPr marL="0" marR="0" lvl="1"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2pPr>
            <a:lvl3pPr marL="0" marR="0" lvl="2"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3pPr>
            <a:lvl4pPr marL="0" marR="0" lvl="3"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4pPr>
            <a:lvl5pPr marL="0" marR="0" lvl="4"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5pPr>
            <a:lvl6pPr marL="0" marR="0" lvl="5"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6pPr>
            <a:lvl7pPr marL="0" marR="0" lvl="6"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7pPr>
            <a:lvl8pPr marL="0" marR="0" lvl="7"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8pPr>
            <a:lvl9pPr marL="0" marR="0" lvl="8" indent="0" algn="r">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7F464"/>
        </a:solidFill>
        <a:effectLst/>
      </p:bgPr>
    </p:bg>
    <p:spTree>
      <p:nvGrpSpPr>
        <p:cNvPr id="1" name="Shape 9"/>
        <p:cNvGrpSpPr/>
        <p:nvPr/>
      </p:nvGrpSpPr>
      <p:grpSpPr>
        <a:xfrm>
          <a:off x="0" y="0"/>
          <a:ext cx="0" cy="0"/>
          <a:chOff x="0" y="0"/>
          <a:chExt cx="0" cy="0"/>
        </a:xfrm>
      </p:grpSpPr>
      <p:sp>
        <p:nvSpPr>
          <p:cNvPr id="10" name="Google Shape;10;p1"/>
          <p:cNvSpPr/>
          <p:nvPr/>
        </p:nvSpPr>
        <p:spPr>
          <a:xfrm>
            <a:off x="8277480" y="5619600"/>
            <a:ext cx="2996280" cy="133920"/>
          </a:xfrm>
          <a:prstGeom prst="rect">
            <a:avLst/>
          </a:prstGeom>
          <a:solidFill>
            <a:srgbClr val="8000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2" name="Google Shape;12;p1"/>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pic>
        <p:nvPicPr>
          <p:cNvPr id="13" name="Google Shape;13;p1"/>
          <p:cNvPicPr preferRelativeResize="0"/>
          <p:nvPr/>
        </p:nvPicPr>
        <p:blipFill rotWithShape="1">
          <a:blip r:embed="rId14">
            <a:alphaModFix/>
          </a:blip>
          <a:srcRect/>
          <a:stretch/>
        </p:blipFill>
        <p:spPr>
          <a:xfrm>
            <a:off x="101160" y="5577840"/>
            <a:ext cx="1910520" cy="125676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1pPr>
            <a:lvl2pPr marR="0" lvl="1"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2pPr>
            <a:lvl3pPr marR="0" lvl="2"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3pPr>
            <a:lvl4pPr marR="0" lvl="3"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4pPr>
            <a:lvl5pPr marR="0" lvl="4"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5pPr>
            <a:lvl6pPr marR="0" lvl="5"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6pPr>
            <a:lvl7pPr marR="0" lvl="6"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7pPr>
            <a:lvl8pPr marR="0" lvl="7"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8pPr>
            <a:lvl9pPr marR="0" lvl="8"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9pPr>
          </a:lstStyle>
          <a:p>
            <a:endParaRPr/>
          </a:p>
        </p:txBody>
      </p:sp>
      <p:sp>
        <p:nvSpPr>
          <p:cNvPr id="64" name="Google Shape;64;p14"/>
          <p:cNvSpPr txBox="1">
            <a:spLocks noGrp="1"/>
          </p:cNvSpPr>
          <p:nvPr>
            <p:ph type="body" idx="1"/>
          </p:nvPr>
        </p:nvSpPr>
        <p:spPr>
          <a:xfrm>
            <a:off x="609600" y="1524000"/>
            <a:ext cx="11074400" cy="41148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accent2"/>
              </a:buClr>
              <a:buSzPts val="2800"/>
              <a:buFont typeface="Times"/>
              <a:buChar char="•"/>
              <a:defRPr sz="2800" b="0" i="0" u="none" strike="noStrike" cap="none">
                <a:solidFill>
                  <a:schemeClr val="dk1"/>
                </a:solidFill>
                <a:latin typeface="Arial"/>
                <a:ea typeface="Arial"/>
                <a:cs typeface="Arial"/>
                <a:sym typeface="Arial"/>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68300" algn="l" rtl="0">
              <a:spcBef>
                <a:spcPts val="440"/>
              </a:spcBef>
              <a:spcAft>
                <a:spcPts val="0"/>
              </a:spcAft>
              <a:buClr>
                <a:schemeClr val="dk1"/>
              </a:buClr>
              <a:buSzPts val="2200"/>
              <a:buFont typeface="Arial"/>
              <a:buChar char="•"/>
              <a:defRPr sz="22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65" name="Google Shape;65;p14"/>
          <p:cNvSpPr txBox="1">
            <a:spLocks noGrp="1"/>
          </p:cNvSpPr>
          <p:nvPr>
            <p:ph type="dt" idx="10"/>
          </p:nvPr>
        </p:nvSpPr>
        <p:spPr>
          <a:xfrm>
            <a:off x="609600" y="6400800"/>
            <a:ext cx="25400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700"/>
              </a:spcBef>
              <a:spcAft>
                <a:spcPts val="0"/>
              </a:spcAft>
              <a:buSzPts val="1400"/>
              <a:buNone/>
              <a:defRPr sz="1400" b="0" i="0" u="none">
                <a:solidFill>
                  <a:srgbClr val="254C9C"/>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66" name="Google Shape;66;p14"/>
          <p:cNvSpPr txBox="1">
            <a:spLocks noGrp="1"/>
          </p:cNvSpPr>
          <p:nvPr>
            <p:ph type="ftr" idx="11"/>
          </p:nvPr>
        </p:nvSpPr>
        <p:spPr>
          <a:xfrm>
            <a:off x="4165600" y="6400800"/>
            <a:ext cx="3860800" cy="4572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700"/>
              </a:spcBef>
              <a:spcAft>
                <a:spcPts val="0"/>
              </a:spcAft>
              <a:buSzPts val="1400"/>
              <a:buNone/>
              <a:defRPr sz="1400" b="0" i="0" u="none">
                <a:solidFill>
                  <a:srgbClr val="254C9C"/>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67" name="Google Shape;67;p14"/>
          <p:cNvSpPr txBox="1">
            <a:spLocks noGrp="1"/>
          </p:cNvSpPr>
          <p:nvPr>
            <p:ph type="sldNum" idx="12"/>
          </p:nvPr>
        </p:nvSpPr>
        <p:spPr>
          <a:xfrm>
            <a:off x="9144000" y="6400800"/>
            <a:ext cx="2540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1pPr>
            <a:lvl2pPr marL="0" marR="0" lvl="1"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2pPr>
            <a:lvl3pPr marL="0" marR="0" lvl="2"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3pPr>
            <a:lvl4pPr marL="0" marR="0" lvl="3"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4pPr>
            <a:lvl5pPr marL="0" marR="0" lvl="4"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5pPr>
            <a:lvl6pPr marL="0" marR="0" lvl="5"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6pPr>
            <a:lvl7pPr marL="0" marR="0" lvl="6"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7pPr>
            <a:lvl8pPr marL="0" marR="0" lvl="7"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8pPr>
            <a:lvl9pPr marL="0" marR="0" lvl="8"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000000"/>
              </a:solidFill>
            </a:endParaRPr>
          </a:p>
        </p:txBody>
      </p:sp>
    </p:spTree>
  </p:cSld>
  <p:clrMap bg1="lt1" tx1="dk1" bg2="dk2" tx2="lt2" accent1="accent1" accent2="accent2" accent3="accent3" accent4="accent4" accent5="accent5" accent6="accent6" hlink="hlink" folHlink="folHlink"/>
  <p:sldLayoutIdLst>
    <p:sldLayoutId id="214748366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1pPr>
            <a:lvl2pPr marR="0" lvl="1"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2pPr>
            <a:lvl3pPr marR="0" lvl="2"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3pPr>
            <a:lvl4pPr marR="0" lvl="3"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4pPr>
            <a:lvl5pPr marR="0" lvl="4"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5pPr>
            <a:lvl6pPr marR="0" lvl="5"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6pPr>
            <a:lvl7pPr marR="0" lvl="6"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7pPr>
            <a:lvl8pPr marR="0" lvl="7"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8pPr>
            <a:lvl9pPr marR="0" lvl="8"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9pPr>
          </a:lstStyle>
          <a:p>
            <a:endParaRPr/>
          </a:p>
        </p:txBody>
      </p:sp>
      <p:sp>
        <p:nvSpPr>
          <p:cNvPr id="76" name="Google Shape;76;p16"/>
          <p:cNvSpPr txBox="1">
            <a:spLocks noGrp="1"/>
          </p:cNvSpPr>
          <p:nvPr>
            <p:ph type="body" idx="1"/>
          </p:nvPr>
        </p:nvSpPr>
        <p:spPr>
          <a:xfrm>
            <a:off x="609600" y="1524000"/>
            <a:ext cx="11074400" cy="41148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accent2"/>
              </a:buClr>
              <a:buSzPts val="2800"/>
              <a:buFont typeface="Times"/>
              <a:buChar char="•"/>
              <a:defRPr sz="2800" b="0" i="0" u="none" strike="noStrike" cap="none">
                <a:solidFill>
                  <a:schemeClr val="dk1"/>
                </a:solidFill>
                <a:latin typeface="Arial"/>
                <a:ea typeface="Arial"/>
                <a:cs typeface="Arial"/>
                <a:sym typeface="Arial"/>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68300" algn="l" rtl="0">
              <a:spcBef>
                <a:spcPts val="440"/>
              </a:spcBef>
              <a:spcAft>
                <a:spcPts val="0"/>
              </a:spcAft>
              <a:buClr>
                <a:schemeClr val="dk1"/>
              </a:buClr>
              <a:buSzPts val="2200"/>
              <a:buFont typeface="Arial"/>
              <a:buChar char="•"/>
              <a:defRPr sz="22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77" name="Google Shape;77;p16"/>
          <p:cNvSpPr txBox="1">
            <a:spLocks noGrp="1"/>
          </p:cNvSpPr>
          <p:nvPr>
            <p:ph type="dt" idx="10"/>
          </p:nvPr>
        </p:nvSpPr>
        <p:spPr>
          <a:xfrm>
            <a:off x="609600" y="6400800"/>
            <a:ext cx="25400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700"/>
              </a:spcBef>
              <a:spcAft>
                <a:spcPts val="0"/>
              </a:spcAft>
              <a:buSzPts val="1400"/>
              <a:buNone/>
              <a:defRPr sz="1400" b="0" i="0" u="none">
                <a:solidFill>
                  <a:srgbClr val="254C9C"/>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78" name="Google Shape;78;p16"/>
          <p:cNvSpPr txBox="1">
            <a:spLocks noGrp="1"/>
          </p:cNvSpPr>
          <p:nvPr>
            <p:ph type="ftr" idx="11"/>
          </p:nvPr>
        </p:nvSpPr>
        <p:spPr>
          <a:xfrm>
            <a:off x="4165600" y="6400800"/>
            <a:ext cx="3860800" cy="4572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700"/>
              </a:spcBef>
              <a:spcAft>
                <a:spcPts val="0"/>
              </a:spcAft>
              <a:buSzPts val="1400"/>
              <a:buNone/>
              <a:defRPr sz="1400" b="0" i="0" u="none">
                <a:solidFill>
                  <a:srgbClr val="254C9C"/>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79" name="Google Shape;79;p16"/>
          <p:cNvSpPr txBox="1">
            <a:spLocks noGrp="1"/>
          </p:cNvSpPr>
          <p:nvPr>
            <p:ph type="sldNum" idx="12"/>
          </p:nvPr>
        </p:nvSpPr>
        <p:spPr>
          <a:xfrm>
            <a:off x="9144000" y="6400800"/>
            <a:ext cx="2540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1pPr>
            <a:lvl2pPr marL="0" marR="0" lvl="1"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2pPr>
            <a:lvl3pPr marL="0" marR="0" lvl="2"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3pPr>
            <a:lvl4pPr marL="0" marR="0" lvl="3"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4pPr>
            <a:lvl5pPr marL="0" marR="0" lvl="4"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5pPr>
            <a:lvl6pPr marL="0" marR="0" lvl="5"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6pPr>
            <a:lvl7pPr marL="0" marR="0" lvl="6"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7pPr>
            <a:lvl8pPr marL="0" marR="0" lvl="7"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8pPr>
            <a:lvl9pPr marL="0" marR="0" lvl="8" indent="0" algn="r" rtl="0">
              <a:lnSpc>
                <a:spcPct val="100000"/>
              </a:lnSpc>
              <a:spcBef>
                <a:spcPts val="0"/>
              </a:spcBef>
              <a:spcAft>
                <a:spcPts val="0"/>
              </a:spcAft>
              <a:buClr>
                <a:srgbClr val="254C9C"/>
              </a:buClr>
              <a:buSzPts val="1400"/>
              <a:buFont typeface="Arial"/>
              <a:buNone/>
              <a:defRPr sz="1400" b="0" i="0" u="none">
                <a:solidFill>
                  <a:srgbClr val="254C9C"/>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000000"/>
              </a:solidFill>
            </a:endParaRPr>
          </a:p>
        </p:txBody>
      </p:sp>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shannigrahi@tntech.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hyperlink" Target="https://en.wikipedia.org/wiki/Exclusive_or"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hyperlink" Target="https://icmconference.org/wp-content/uploads/A23b-Powers.pdf"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hyperlink" Target="https://www.cs.purdue.edu/homes/ninghui/courses/526_Fall15/handouts/15_526_topic04.pp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sp>
        <p:nvSpPr>
          <p:cNvPr id="91" name="Google Shape;91;p18"/>
          <p:cNvSpPr/>
          <p:nvPr/>
        </p:nvSpPr>
        <p:spPr>
          <a:xfrm>
            <a:off x="185400" y="2468880"/>
            <a:ext cx="11244600" cy="1828800"/>
          </a:xfrm>
          <a:prstGeom prst="rect">
            <a:avLst/>
          </a:prstGeom>
          <a:noFill/>
          <a:ln>
            <a:noFill/>
          </a:ln>
        </p:spPr>
        <p:txBody>
          <a:bodyPr spcFirstLastPara="1" wrap="square" lIns="90000" tIns="91425" rIns="90000" bIns="91425" anchor="b" anchorCtr="0">
            <a:noAutofit/>
          </a:bodyPr>
          <a:lstStyle/>
          <a:p>
            <a:pPr marL="0" marR="0" lvl="0" indent="0" algn="r" rtl="0">
              <a:lnSpc>
                <a:spcPct val="100000"/>
              </a:lnSpc>
              <a:spcBef>
                <a:spcPts val="0"/>
              </a:spcBef>
              <a:spcAft>
                <a:spcPts val="0"/>
              </a:spcAft>
              <a:buNone/>
            </a:pPr>
            <a:r>
              <a:rPr lang="en-US" sz="2600" b="1" i="0" u="none" strike="noStrike" cap="none" dirty="0">
                <a:solidFill>
                  <a:srgbClr val="000000"/>
                </a:solidFill>
                <a:latin typeface="Montserrat"/>
                <a:ea typeface="Montserrat"/>
                <a:cs typeface="Montserrat"/>
                <a:sym typeface="Montserrat"/>
              </a:rPr>
              <a:t>CSC4</a:t>
            </a:r>
            <a:r>
              <a:rPr lang="en-US" sz="2600" b="1" dirty="0">
                <a:latin typeface="Montserrat"/>
                <a:ea typeface="Montserrat"/>
                <a:cs typeface="Montserrat"/>
                <a:sym typeface="Montserrat"/>
              </a:rPr>
              <a:t>780</a:t>
            </a:r>
            <a:r>
              <a:rPr lang="en-US" sz="2600" b="1" i="0" u="none" strike="noStrike" cap="none" dirty="0">
                <a:solidFill>
                  <a:srgbClr val="000000"/>
                </a:solidFill>
                <a:latin typeface="Montserrat"/>
                <a:ea typeface="Montserrat"/>
                <a:cs typeface="Montserrat"/>
                <a:sym typeface="Montserrat"/>
              </a:rPr>
              <a:t> – COMPUTER </a:t>
            </a:r>
            <a:r>
              <a:rPr lang="en-US" sz="2600" b="1" dirty="0">
                <a:latin typeface="Montserrat"/>
                <a:ea typeface="Montserrat"/>
                <a:cs typeface="Montserrat"/>
                <a:sym typeface="Montserrat"/>
              </a:rPr>
              <a:t>Networks and Security</a:t>
            </a:r>
            <a:endParaRPr sz="2600" b="1" i="0" u="none" strike="noStrike" cap="none" dirty="0">
              <a:solidFill>
                <a:srgbClr val="000000"/>
              </a:solidFill>
              <a:latin typeface="Montserrat"/>
              <a:ea typeface="Montserrat"/>
              <a:cs typeface="Montserrat"/>
              <a:sym typeface="Montserrat"/>
            </a:endParaRPr>
          </a:p>
          <a:p>
            <a:pPr marL="0" lvl="0" indent="0" algn="r" rtl="0">
              <a:spcBef>
                <a:spcPts val="0"/>
              </a:spcBef>
              <a:spcAft>
                <a:spcPts val="0"/>
              </a:spcAft>
              <a:buClr>
                <a:schemeClr val="dk1"/>
              </a:buClr>
              <a:buFont typeface="Arial"/>
              <a:buNone/>
            </a:pPr>
            <a:r>
              <a:rPr lang="en-US" sz="2400" b="1" dirty="0">
                <a:solidFill>
                  <a:srgbClr val="454F5B"/>
                </a:solidFill>
                <a:latin typeface="Montserrat"/>
                <a:ea typeface="Montserrat"/>
                <a:cs typeface="Montserrat"/>
                <a:sym typeface="Montserrat"/>
              </a:rPr>
              <a:t>Instructor: Susmit Shannigrahi</a:t>
            </a:r>
            <a:br>
              <a:rPr lang="en-US" sz="1800" dirty="0">
                <a:solidFill>
                  <a:schemeClr val="dk1"/>
                </a:solidFill>
              </a:rPr>
            </a:br>
            <a:endParaRPr sz="2400" dirty="0">
              <a:solidFill>
                <a:schemeClr val="dk1"/>
              </a:solidFill>
            </a:endParaRPr>
          </a:p>
          <a:p>
            <a:pPr marL="0" marR="0" lvl="0" indent="0" algn="r" rtl="0">
              <a:lnSpc>
                <a:spcPct val="100000"/>
              </a:lnSpc>
              <a:spcBef>
                <a:spcPts val="0"/>
              </a:spcBef>
              <a:spcAft>
                <a:spcPts val="0"/>
              </a:spcAft>
              <a:buNone/>
            </a:pPr>
            <a:br>
              <a:rPr lang="en-US" sz="1800" b="0" i="0" u="none" strike="noStrike" cap="none" dirty="0">
                <a:latin typeface="Arial"/>
                <a:ea typeface="Arial"/>
                <a:cs typeface="Arial"/>
                <a:sym typeface="Arial"/>
              </a:rPr>
            </a:br>
            <a:br>
              <a:rPr lang="en-US" sz="1800" b="0" i="0" u="none" strike="noStrike" cap="none" dirty="0">
                <a:latin typeface="Arial"/>
                <a:ea typeface="Arial"/>
                <a:cs typeface="Arial"/>
                <a:sym typeface="Arial"/>
              </a:rPr>
            </a:br>
            <a:r>
              <a:rPr lang="en-US" sz="2600" b="1" dirty="0">
                <a:solidFill>
                  <a:srgbClr val="CE181E"/>
                </a:solidFill>
                <a:latin typeface="Montserrat"/>
                <a:ea typeface="Montserrat"/>
                <a:cs typeface="Montserrat"/>
                <a:sym typeface="Montserrat"/>
              </a:rPr>
              <a:t>Hash Functions, Merkle Tree</a:t>
            </a:r>
            <a:endParaRPr sz="2600" b="0" i="0" u="none" strike="noStrike" cap="none" dirty="0">
              <a:latin typeface="Arial"/>
              <a:ea typeface="Arial"/>
              <a:cs typeface="Arial"/>
              <a:sym typeface="Arial"/>
            </a:endParaRPr>
          </a:p>
        </p:txBody>
      </p:sp>
      <p:sp>
        <p:nvSpPr>
          <p:cNvPr id="92" name="Google Shape;92;p18"/>
          <p:cNvSpPr/>
          <p:nvPr/>
        </p:nvSpPr>
        <p:spPr>
          <a:xfrm>
            <a:off x="2817720" y="5402880"/>
            <a:ext cx="8623800" cy="1146240"/>
          </a:xfrm>
          <a:prstGeom prst="rect">
            <a:avLst/>
          </a:prstGeom>
          <a:noFill/>
          <a:ln>
            <a:noFill/>
          </a:ln>
        </p:spPr>
        <p:txBody>
          <a:bodyPr spcFirstLastPara="1" wrap="square" lIns="90000" tIns="91425" rIns="90000" bIns="91425" anchor="b" anchorCtr="0">
            <a:noAutofit/>
          </a:bodyPr>
          <a:lstStyle/>
          <a:p>
            <a:pPr marL="0" marR="0" lvl="0" indent="0" algn="r" rtl="0">
              <a:lnSpc>
                <a:spcPct val="100000"/>
              </a:lnSpc>
              <a:spcBef>
                <a:spcPts val="0"/>
              </a:spcBef>
              <a:spcAft>
                <a:spcPts val="0"/>
              </a:spcAft>
              <a:buNone/>
            </a:pPr>
            <a:endParaRPr sz="1800" b="0" i="0" u="none" strike="noStrike" cap="none" dirty="0">
              <a:latin typeface="Arial"/>
              <a:ea typeface="Arial"/>
              <a:cs typeface="Arial"/>
              <a:sym typeface="Arial"/>
            </a:endParaRPr>
          </a:p>
          <a:p>
            <a:pPr marL="0" marR="0" lvl="0" indent="0" algn="ctr" rtl="0">
              <a:lnSpc>
                <a:spcPct val="100000"/>
              </a:lnSpc>
              <a:spcBef>
                <a:spcPts val="0"/>
              </a:spcBef>
              <a:spcAft>
                <a:spcPts val="0"/>
              </a:spcAft>
              <a:buNone/>
            </a:pPr>
            <a:endParaRPr sz="1800" b="0" i="0" u="none" strike="noStrike" cap="none" dirty="0">
              <a:latin typeface="Arial"/>
              <a:ea typeface="Arial"/>
              <a:cs typeface="Arial"/>
              <a:sym typeface="Arial"/>
            </a:endParaRPr>
          </a:p>
          <a:p>
            <a:pPr marL="0" marR="0" lvl="0" indent="0" algn="r" rtl="0">
              <a:lnSpc>
                <a:spcPct val="100000"/>
              </a:lnSpc>
              <a:spcBef>
                <a:spcPts val="0"/>
              </a:spcBef>
              <a:spcAft>
                <a:spcPts val="0"/>
              </a:spcAft>
              <a:buNone/>
            </a:pPr>
            <a:endParaRPr sz="1800" b="0" i="0" u="none" strike="noStrike" cap="none" dirty="0">
              <a:latin typeface="Arial"/>
              <a:ea typeface="Arial"/>
              <a:cs typeface="Arial"/>
              <a:sym typeface="Arial"/>
            </a:endParaRPr>
          </a:p>
          <a:p>
            <a:pPr marL="0" marR="0" lvl="0" indent="0" algn="r" rtl="0">
              <a:lnSpc>
                <a:spcPct val="100000"/>
              </a:lnSpc>
              <a:spcBef>
                <a:spcPts val="0"/>
              </a:spcBef>
              <a:spcAft>
                <a:spcPts val="0"/>
              </a:spcAft>
              <a:buNone/>
            </a:pPr>
            <a:endParaRPr sz="1800" b="0" i="0" u="none" strike="noStrike" cap="none" dirty="0">
              <a:latin typeface="Arial"/>
              <a:ea typeface="Arial"/>
              <a:cs typeface="Arial"/>
              <a:sym typeface="Arial"/>
            </a:endParaRPr>
          </a:p>
          <a:p>
            <a:pPr marL="0" marR="0" lvl="0" indent="0" algn="r" rtl="0">
              <a:lnSpc>
                <a:spcPct val="100000"/>
              </a:lnSpc>
              <a:spcBef>
                <a:spcPts val="0"/>
              </a:spcBef>
              <a:spcAft>
                <a:spcPts val="0"/>
              </a:spcAft>
              <a:buNone/>
            </a:pPr>
            <a:r>
              <a:rPr lang="en-US" sz="2400" b="1" i="0" u="sng" strike="noStrike" cap="none" dirty="0">
                <a:solidFill>
                  <a:schemeClr val="hlink"/>
                </a:solidFill>
                <a:latin typeface="Montserrat"/>
                <a:ea typeface="Montserrat"/>
                <a:cs typeface="Montserrat"/>
                <a:sym typeface="Montserrat"/>
                <a:hlinkClick r:id="rId3"/>
              </a:rPr>
              <a:t>sshannigrahi@tntech.edu</a:t>
            </a:r>
            <a:endParaRPr sz="2400" b="0" i="0" u="none" strike="noStrike" cap="none" dirty="0">
              <a:latin typeface="Arial"/>
              <a:ea typeface="Arial"/>
              <a:cs typeface="Arial"/>
              <a:sym typeface="Arial"/>
            </a:endParaRPr>
          </a:p>
          <a:p>
            <a:pPr marL="0" marR="0" lvl="0" indent="0" algn="r" rtl="0">
              <a:lnSpc>
                <a:spcPct val="100000"/>
              </a:lnSpc>
              <a:spcBef>
                <a:spcPts val="0"/>
              </a:spcBef>
              <a:spcAft>
                <a:spcPts val="0"/>
              </a:spcAft>
              <a:buNone/>
            </a:pPr>
            <a:endParaRPr sz="2400" b="0" i="0" u="none" strike="noStrike" cap="none" dirty="0">
              <a:latin typeface="Arial"/>
              <a:ea typeface="Arial"/>
              <a:cs typeface="Arial"/>
              <a:sym typeface="Arial"/>
            </a:endParaRPr>
          </a:p>
          <a:p>
            <a:pPr marL="0" marR="0" lvl="0" indent="0" algn="r" rtl="0">
              <a:lnSpc>
                <a:spcPct val="100000"/>
              </a:lnSpc>
              <a:spcBef>
                <a:spcPts val="0"/>
              </a:spcBef>
              <a:spcAft>
                <a:spcPts val="0"/>
              </a:spcAft>
              <a:buNone/>
            </a:pPr>
            <a:endParaRPr sz="2400" b="0" i="0" u="none" strike="noStrike" cap="none" dirty="0">
              <a:latin typeface="Arial"/>
              <a:ea typeface="Arial"/>
              <a:cs typeface="Arial"/>
              <a:sym typeface="Arial"/>
            </a:endParaRPr>
          </a:p>
          <a:p>
            <a:pPr marL="0" marR="0" lvl="0" indent="0" algn="r" rtl="0">
              <a:lnSpc>
                <a:spcPct val="100000"/>
              </a:lnSpc>
              <a:spcBef>
                <a:spcPts val="0"/>
              </a:spcBef>
              <a:spcAft>
                <a:spcPts val="0"/>
              </a:spcAft>
              <a:buNone/>
            </a:pPr>
            <a:endParaRPr sz="2400" b="0" i="0" u="none" strike="noStrike" cap="none" dirty="0">
              <a:latin typeface="Arial"/>
              <a:ea typeface="Arial"/>
              <a:cs typeface="Arial"/>
              <a:sym typeface="Arial"/>
            </a:endParaRPr>
          </a:p>
          <a:p>
            <a:pPr marL="0" marR="0" lvl="0" indent="0" algn="r" rtl="0">
              <a:lnSpc>
                <a:spcPct val="100000"/>
              </a:lnSpc>
              <a:spcBef>
                <a:spcPts val="0"/>
              </a:spcBef>
              <a:spcAft>
                <a:spcPts val="0"/>
              </a:spcAft>
              <a:buNone/>
            </a:pPr>
            <a:endParaRPr sz="2400" b="0" i="0" u="none" strike="noStrike" cap="none" dirty="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7"/>
        <p:cNvGrpSpPr/>
        <p:nvPr/>
      </p:nvGrpSpPr>
      <p:grpSpPr>
        <a:xfrm>
          <a:off x="0" y="0"/>
          <a:ext cx="0" cy="0"/>
          <a:chOff x="0" y="0"/>
          <a:chExt cx="0" cy="0"/>
        </a:xfrm>
      </p:grpSpPr>
      <p:sp>
        <p:nvSpPr>
          <p:cNvPr id="98" name="Google Shape;98;p19"/>
          <p:cNvSpPr txBox="1">
            <a:spLocks noGrp="1"/>
          </p:cNvSpPr>
          <p:nvPr>
            <p:ph type="title" idx="4294967295"/>
          </p:nvPr>
        </p:nvSpPr>
        <p:spPr>
          <a:xfrm>
            <a:off x="609600" y="274680"/>
            <a:ext cx="10972320" cy="114264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Calibri"/>
              <a:buNone/>
            </a:pPr>
            <a:r>
              <a:rPr lang="en-US" sz="4400" b="1" i="0" u="none" strike="noStrike" cap="none">
                <a:solidFill>
                  <a:srgbClr val="FF0000"/>
                </a:solidFill>
                <a:latin typeface="Calibri"/>
                <a:ea typeface="Calibri"/>
                <a:cs typeface="Calibri"/>
                <a:sym typeface="Calibri"/>
              </a:rPr>
              <a:t>Hash Functions</a:t>
            </a:r>
            <a:endParaRPr sz="4400" b="0" i="0" u="none" strike="noStrike" cap="none">
              <a:solidFill>
                <a:srgbClr val="000000"/>
              </a:solidFill>
              <a:latin typeface="Quintessential"/>
              <a:ea typeface="Quintessential"/>
              <a:cs typeface="Quintessential"/>
              <a:sym typeface="Quintessential"/>
            </a:endParaRPr>
          </a:p>
        </p:txBody>
      </p:sp>
      <p:sp>
        <p:nvSpPr>
          <p:cNvPr id="99" name="Google Shape;99;p19"/>
          <p:cNvSpPr txBox="1">
            <a:spLocks noGrp="1"/>
          </p:cNvSpPr>
          <p:nvPr>
            <p:ph type="body" idx="4294967295"/>
          </p:nvPr>
        </p:nvSpPr>
        <p:spPr>
          <a:xfrm>
            <a:off x="304800" y="1569960"/>
            <a:ext cx="11784960" cy="452556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00"/>
              </a:buClr>
              <a:buSzPts val="3200"/>
              <a:buFont typeface="Calibri"/>
              <a:buNone/>
            </a:pPr>
            <a:r>
              <a:rPr lang="en-US" sz="3200">
                <a:latin typeface="Calibri"/>
                <a:ea typeface="Calibri"/>
                <a:cs typeface="Calibri"/>
                <a:sym typeface="Calibri"/>
              </a:rPr>
              <a:t>Any function that can be used to map data of arbitrary size to fixed-size values</a:t>
            </a:r>
            <a:endParaRPr sz="3200" b="0" i="0" u="none" strike="noStrike" cap="none">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SzPts val="3200"/>
              <a:buFont typeface="Arial"/>
              <a:buNone/>
            </a:pPr>
            <a:endParaRPr sz="3200" b="0" i="0" u="none" strike="noStrike" cap="none">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SzPts val="3200"/>
              <a:buFont typeface="Arial"/>
              <a:buNone/>
            </a:pPr>
            <a:endParaRPr sz="3200" b="0" i="0" u="none" strike="noStrike" cap="none">
              <a:solidFill>
                <a:srgbClr val="000000"/>
              </a:solidFill>
              <a:latin typeface="Calibri"/>
              <a:ea typeface="Calibri"/>
              <a:cs typeface="Calibri"/>
              <a:sym typeface="Calibri"/>
            </a:endParaRPr>
          </a:p>
          <a:p>
            <a:pPr marL="343080" marR="0" lvl="0" indent="-343080" algn="l" rtl="0">
              <a:lnSpc>
                <a:spcPct val="100000"/>
              </a:lnSpc>
              <a:spcBef>
                <a:spcPts val="641"/>
              </a:spcBef>
              <a:spcAft>
                <a:spcPts val="0"/>
              </a:spcAft>
              <a:buClr>
                <a:srgbClr val="000000"/>
              </a:buClr>
              <a:buSzPts val="3200"/>
              <a:buFont typeface="Arial"/>
              <a:buChar char="•"/>
            </a:pPr>
            <a:r>
              <a:rPr lang="en-US" sz="3200">
                <a:latin typeface="Calibri"/>
                <a:ea typeface="Calibri"/>
                <a:cs typeface="Calibri"/>
                <a:sym typeface="Calibri"/>
              </a:rPr>
              <a:t>Input - </a:t>
            </a:r>
            <a:r>
              <a:rPr lang="en-US" sz="3200" b="0" i="0" u="none" strike="noStrike" cap="none">
                <a:solidFill>
                  <a:srgbClr val="000000"/>
                </a:solidFill>
                <a:latin typeface="Calibri"/>
                <a:ea typeface="Calibri"/>
                <a:cs typeface="Calibri"/>
                <a:sym typeface="Calibri"/>
              </a:rPr>
              <a:t>is called the </a:t>
            </a:r>
            <a:r>
              <a:rPr lang="en-US" sz="3200" b="0" i="0" u="none" strike="noStrike" cap="none">
                <a:solidFill>
                  <a:srgbClr val="FF0000"/>
                </a:solidFill>
                <a:latin typeface="Calibri"/>
                <a:ea typeface="Calibri"/>
                <a:cs typeface="Calibri"/>
                <a:sym typeface="Calibri"/>
              </a:rPr>
              <a:t>seed</a:t>
            </a:r>
            <a:r>
              <a:rPr lang="en-US" sz="3200" b="0" i="0" u="none" strike="noStrike" cap="none">
                <a:solidFill>
                  <a:srgbClr val="000000"/>
                </a:solidFill>
                <a:latin typeface="Calibri"/>
                <a:ea typeface="Calibri"/>
                <a:cs typeface="Calibri"/>
                <a:sym typeface="Calibri"/>
              </a:rPr>
              <a:t>, and is public.</a:t>
            </a:r>
            <a:endParaRPr sz="3200" b="0" i="0" u="none" strike="noStrike" cap="none">
              <a:solidFill>
                <a:srgbClr val="000000"/>
              </a:solidFill>
              <a:latin typeface="Calibri"/>
              <a:ea typeface="Calibri"/>
              <a:cs typeface="Calibri"/>
              <a:sym typeface="Calibri"/>
            </a:endParaRPr>
          </a:p>
          <a:p>
            <a:pPr marL="343080" marR="0" lvl="0" indent="-343080" algn="l" rtl="0">
              <a:lnSpc>
                <a:spcPct val="100000"/>
              </a:lnSpc>
              <a:spcBef>
                <a:spcPts val="641"/>
              </a:spcBef>
              <a:spcAft>
                <a:spcPts val="0"/>
              </a:spcAft>
              <a:buClr>
                <a:srgbClr val="000000"/>
              </a:buClr>
              <a:buSzPts val="3200"/>
              <a:buFont typeface="Arial"/>
              <a:buChar char="•"/>
            </a:pPr>
            <a:r>
              <a:rPr lang="en-US" sz="3200">
                <a:latin typeface="Calibri"/>
                <a:ea typeface="Calibri"/>
                <a:cs typeface="Calibri"/>
                <a:sym typeface="Calibri"/>
              </a:rPr>
              <a:t>Output </a:t>
            </a:r>
            <a:r>
              <a:rPr lang="en-US" sz="3200" b="0" i="0" u="none" strike="noStrike" cap="none">
                <a:solidFill>
                  <a:srgbClr val="000000"/>
                </a:solidFill>
                <a:latin typeface="Calibri"/>
                <a:ea typeface="Calibri"/>
                <a:cs typeface="Calibri"/>
                <a:sym typeface="Calibri"/>
              </a:rPr>
              <a:t>is called the </a:t>
            </a:r>
            <a:r>
              <a:rPr lang="en-US" sz="3200" b="0" i="0" u="none" strike="noStrike" cap="none">
                <a:solidFill>
                  <a:srgbClr val="FF0000"/>
                </a:solidFill>
                <a:latin typeface="Calibri"/>
                <a:ea typeface="Calibri"/>
                <a:cs typeface="Calibri"/>
                <a:sym typeface="Calibri"/>
              </a:rPr>
              <a:t>hash value </a:t>
            </a:r>
            <a:r>
              <a:rPr lang="en-US" sz="3200" b="0" i="0" u="none" strike="noStrike" cap="none">
                <a:solidFill>
                  <a:srgbClr val="000000"/>
                </a:solidFill>
                <a:latin typeface="Calibri"/>
                <a:ea typeface="Calibri"/>
                <a:cs typeface="Calibri"/>
                <a:sym typeface="Calibri"/>
              </a:rPr>
              <a:t>(or message digest)</a:t>
            </a:r>
            <a:endParaRPr sz="3200" b="0" i="0" u="none" strike="noStrike" cap="none">
              <a:solidFill>
                <a:srgbClr val="000000"/>
              </a:solidFill>
              <a:latin typeface="Calibri"/>
              <a:ea typeface="Calibri"/>
              <a:cs typeface="Calibri"/>
              <a:sym typeface="Calibri"/>
            </a:endParaRPr>
          </a:p>
        </p:txBody>
      </p:sp>
      <p:sp>
        <p:nvSpPr>
          <p:cNvPr id="100" name="Google Shape;100;p19"/>
          <p:cNvSpPr txBox="1">
            <a:spLocks noGrp="1"/>
          </p:cNvSpPr>
          <p:nvPr>
            <p:ph type="sldNum" idx="12"/>
          </p:nvPr>
        </p:nvSpPr>
        <p:spPr>
          <a:xfrm>
            <a:off x="8737440" y="6356520"/>
            <a:ext cx="284448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Quintessential"/>
              <a:buNone/>
            </a:pPr>
            <a:fld id="{00000000-1234-1234-1234-123412341234}" type="slidenum">
              <a:rPr lang="en-US" sz="1200" b="0" i="0" u="none" strike="noStrike" cap="none">
                <a:solidFill>
                  <a:srgbClr val="898989"/>
                </a:solidFill>
                <a:latin typeface="Quintessential"/>
                <a:ea typeface="Quintessential"/>
                <a:cs typeface="Quintessential"/>
                <a:sym typeface="Quintessential"/>
              </a:rPr>
              <a:t>2</a:t>
            </a:fld>
            <a:endParaRPr sz="1200" b="0" i="0" u="none" strike="noStrike" cap="none">
              <a:solidFill>
                <a:srgbClr val="000000"/>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Motivation</a:t>
            </a:r>
          </a:p>
        </p:txBody>
      </p:sp>
      <p:sp>
        <p:nvSpPr>
          <p:cNvPr id="3" name="Content Placeholder 2"/>
          <p:cNvSpPr>
            <a:spLocks noGrp="1"/>
          </p:cNvSpPr>
          <p:nvPr>
            <p:ph type="body" idx="1"/>
          </p:nvPr>
        </p:nvSpPr>
        <p:spPr/>
        <p:txBody>
          <a:bodyPr/>
          <a:lstStyle/>
          <a:p>
            <a:r>
              <a:t>Data integrity over networks</a:t>
            </a:r>
          </a:p>
          <a:p>
            <a:r>
              <a:t>How detect modification of a file?</a:t>
            </a:r>
          </a:p>
          <a:p>
            <a:r>
              <a:t>Idea: compute a fingerprint of data</a:t>
            </a:r>
          </a:p>
        </p:txBody>
      </p:sp>
      <p:pic>
        <p:nvPicPr>
          <p:cNvPr id="1026" name="Picture 2" descr="Illustration of a Man-in-the-Middle attack. | Download Scientific Diagram">
            <a:extLst>
              <a:ext uri="{FF2B5EF4-FFF2-40B4-BE49-F238E27FC236}">
                <a16:creationId xmlns:a16="http://schemas.microsoft.com/office/drawing/2014/main" id="{B6D2DE41-FBC0-FC48-66B1-5B315E2D12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5840" y="3084723"/>
            <a:ext cx="5620157" cy="36631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2145"/>
            <a:ext cx="10972800" cy="1143000"/>
          </a:xfrm>
        </p:spPr>
        <p:txBody>
          <a:bodyPr/>
          <a:lstStyle/>
          <a:p>
            <a:r>
              <a:rPr dirty="0"/>
              <a:t>Avalanche Effect</a:t>
            </a:r>
          </a:p>
        </p:txBody>
      </p:sp>
      <p:sp>
        <p:nvSpPr>
          <p:cNvPr id="3" name="Content Placeholder 2"/>
          <p:cNvSpPr>
            <a:spLocks noGrp="1"/>
          </p:cNvSpPr>
          <p:nvPr>
            <p:ph type="body" idx="1"/>
          </p:nvPr>
        </p:nvSpPr>
        <p:spPr/>
        <p:txBody>
          <a:bodyPr/>
          <a:lstStyle/>
          <a:p>
            <a:r>
              <a:rPr dirty="0"/>
              <a:t>Small input change → large output change</a:t>
            </a:r>
          </a:p>
          <a:p>
            <a:r>
              <a:rPr dirty="0"/>
              <a:t>Example:</a:t>
            </a:r>
          </a:p>
          <a:p>
            <a:r>
              <a:rPr dirty="0"/>
              <a:t>SHA256('hello') vs SHA256('Hello')</a:t>
            </a:r>
          </a:p>
        </p:txBody>
      </p:sp>
      <p:sp>
        <p:nvSpPr>
          <p:cNvPr id="6" name="AutoShape 6" descr="Avalanche effect - Wikipedia">
            <a:extLst>
              <a:ext uri="{FF2B5EF4-FFF2-40B4-BE49-F238E27FC236}">
                <a16:creationId xmlns:a16="http://schemas.microsoft.com/office/drawing/2014/main" id="{C32C12A1-3E5A-C3F5-CC1D-4BCB429F055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8" descr="Avalanche effect - Wikipedia">
            <a:extLst>
              <a:ext uri="{FF2B5EF4-FFF2-40B4-BE49-F238E27FC236}">
                <a16:creationId xmlns:a16="http://schemas.microsoft.com/office/drawing/2014/main" id="{B2B9ACC7-A6EE-167A-5EC9-528C26533DB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10" descr="Avalanche effect - Wikipedia">
            <a:extLst>
              <a:ext uri="{FF2B5EF4-FFF2-40B4-BE49-F238E27FC236}">
                <a16:creationId xmlns:a16="http://schemas.microsoft.com/office/drawing/2014/main" id="{DDC0E519-4979-53AF-D955-01DE6CC9CEB2}"/>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12" descr="Avalanche effect - Wikipedia">
            <a:extLst>
              <a:ext uri="{FF2B5EF4-FFF2-40B4-BE49-F238E27FC236}">
                <a16:creationId xmlns:a16="http://schemas.microsoft.com/office/drawing/2014/main" id="{AEE2C19B-ACE6-33A1-9186-370A353616EE}"/>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3EDA5B3B-D589-B44C-F2AD-8A145C552CA7}"/>
              </a:ext>
            </a:extLst>
          </p:cNvPr>
          <p:cNvPicPr>
            <a:picLocks noChangeAspect="1"/>
          </p:cNvPicPr>
          <p:nvPr/>
        </p:nvPicPr>
        <p:blipFill>
          <a:blip r:embed="rId2"/>
          <a:stretch>
            <a:fillRect/>
          </a:stretch>
        </p:blipFill>
        <p:spPr>
          <a:xfrm>
            <a:off x="6316988" y="3196679"/>
            <a:ext cx="5450825" cy="322301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Real-world Failure</a:t>
            </a:r>
          </a:p>
        </p:txBody>
      </p:sp>
      <p:sp>
        <p:nvSpPr>
          <p:cNvPr id="3" name="Content Placeholder 2"/>
          <p:cNvSpPr>
            <a:spLocks noGrp="1"/>
          </p:cNvSpPr>
          <p:nvPr>
            <p:ph type="body" idx="1"/>
          </p:nvPr>
        </p:nvSpPr>
        <p:spPr/>
        <p:txBody>
          <a:bodyPr/>
          <a:lstStyle/>
          <a:p>
            <a:r>
              <a:t>MD5 used for certificates</a:t>
            </a:r>
          </a:p>
          <a:p>
            <a:r>
              <a:t>Researchers created fake certificate using collisions</a:t>
            </a:r>
          </a:p>
          <a:p>
            <a:r>
              <a:t>Broken hash → broken security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Birthday Paradox</a:t>
            </a:r>
          </a:p>
        </p:txBody>
      </p:sp>
      <p:sp>
        <p:nvSpPr>
          <p:cNvPr id="3" name="Content Placeholder 2"/>
          <p:cNvSpPr>
            <a:spLocks noGrp="1"/>
          </p:cNvSpPr>
          <p:nvPr>
            <p:ph type="body" idx="1"/>
          </p:nvPr>
        </p:nvSpPr>
        <p:spPr/>
        <p:txBody>
          <a:bodyPr/>
          <a:lstStyle/>
          <a:p>
            <a:r>
              <a:t>How many people needed for shared birthday?</a:t>
            </a:r>
          </a:p>
          <a:p>
            <a:r>
              <a:t>≈23 people → 50% probability</a:t>
            </a:r>
          </a:p>
          <a:p>
            <a:r>
              <a:t>Surprisingly small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Idea</a:t>
            </a:r>
          </a:p>
        </p:txBody>
      </p:sp>
      <p:sp>
        <p:nvSpPr>
          <p:cNvPr id="3" name="Content Placeholder 2"/>
          <p:cNvSpPr>
            <a:spLocks noGrp="1"/>
          </p:cNvSpPr>
          <p:nvPr>
            <p:ph idx="1"/>
          </p:nvPr>
        </p:nvSpPr>
        <p:spPr/>
        <p:txBody>
          <a:bodyPr/>
          <a:lstStyle/>
          <a:p>
            <a:r>
              <a:rPr dirty="0"/>
              <a:t>Question: In a group of people, what is the chance two share the same birthday?</a:t>
            </a:r>
          </a:p>
          <a:p>
            <a:endParaRPr dirty="0"/>
          </a:p>
          <a:p>
            <a:r>
              <a:rPr dirty="0"/>
              <a:t>Instead of computing this directly, compute the opposite:</a:t>
            </a:r>
          </a:p>
          <a:p>
            <a:r>
              <a:rPr dirty="0"/>
              <a:t>Probability that everyone has different birthdays.</a:t>
            </a:r>
          </a:p>
          <a:p>
            <a:endParaRPr dirty="0"/>
          </a:p>
          <a:p>
            <a:r>
              <a:rPr dirty="0"/>
              <a:t>1st person: 365/365</a:t>
            </a:r>
          </a:p>
          <a:p>
            <a:r>
              <a:rPr dirty="0"/>
              <a:t>2nd person: 364/365</a:t>
            </a:r>
          </a:p>
          <a:p>
            <a:r>
              <a:rPr dirty="0"/>
              <a:t>3rd person: 363/365</a:t>
            </a:r>
          </a:p>
          <a:p>
            <a:r>
              <a:rPr dirty="0"/>
              <a:t>... continue multiplying</a:t>
            </a:r>
          </a:p>
          <a:p>
            <a:endParaRPr dirty="0"/>
          </a:p>
          <a:p>
            <a:r>
              <a:rPr dirty="0"/>
              <a:t>P(no shared birthday) ≈ 0.49 for 23 people</a:t>
            </a:r>
          </a:p>
          <a:p>
            <a:r>
              <a:rPr dirty="0"/>
              <a:t>So P(shared birthday) = 1 − 0.49 ≈ 0.51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Result</a:t>
            </a:r>
          </a:p>
        </p:txBody>
      </p:sp>
      <p:sp>
        <p:nvSpPr>
          <p:cNvPr id="3" name="Content Placeholder 2"/>
          <p:cNvSpPr>
            <a:spLocks noGrp="1"/>
          </p:cNvSpPr>
          <p:nvPr>
            <p:ph idx="1"/>
          </p:nvPr>
        </p:nvSpPr>
        <p:spPr/>
        <p:txBody>
          <a:bodyPr/>
          <a:lstStyle/>
          <a:p>
            <a:r>
              <a:t>With only 23 people,</a:t>
            </a:r>
          </a:p>
          <a:p>
            <a:r>
              <a:t>there is about a 50% chance that two people share a birthday.</a:t>
            </a:r>
          </a:p>
          <a:p>
            <a:endParaRPr/>
          </a:p>
          <a:p>
            <a:r>
              <a:t>This surprising result explains why</a:t>
            </a:r>
          </a:p>
          <a:p>
            <a:r>
              <a:t>hash collisions appear much earlier than expected.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Birthday Math</a:t>
            </a:r>
          </a:p>
        </p:txBody>
      </p:sp>
      <p:sp>
        <p:nvSpPr>
          <p:cNvPr id="3" name="Content Placeholder 2"/>
          <p:cNvSpPr>
            <a:spLocks noGrp="1"/>
          </p:cNvSpPr>
          <p:nvPr>
            <p:ph type="body" idx="1"/>
          </p:nvPr>
        </p:nvSpPr>
        <p:spPr/>
        <p:txBody>
          <a:bodyPr/>
          <a:lstStyle/>
          <a:p>
            <a:r>
              <a:rPr dirty="0"/>
              <a:t>For N possible outputs</a:t>
            </a:r>
          </a:p>
          <a:p>
            <a:r>
              <a:rPr dirty="0"/>
              <a:t>Probability ≈ q² / (2N)</a:t>
            </a:r>
          </a:p>
          <a:p>
            <a:r>
              <a:rPr dirty="0"/>
              <a:t>Collision when q ≈ √N</a:t>
            </a:r>
            <a:endParaRPr lang="en-US" dirty="0"/>
          </a:p>
          <a:p>
            <a:endParaRPr lang="en-US" dirty="0"/>
          </a:p>
          <a:p>
            <a:endParaRPr dirty="0"/>
          </a:p>
        </p:txBody>
      </p:sp>
      <p:pic>
        <p:nvPicPr>
          <p:cNvPr id="3074" name="Picture 2">
            <a:extLst>
              <a:ext uri="{FF2B5EF4-FFF2-40B4-BE49-F238E27FC236}">
                <a16:creationId xmlns:a16="http://schemas.microsoft.com/office/drawing/2014/main" id="{949ABE4D-A60B-D013-C79A-A0B3B5A7EA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7205" y="1524000"/>
            <a:ext cx="6704266" cy="43069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Birthday Attack on Hashes</a:t>
            </a:r>
          </a:p>
        </p:txBody>
      </p:sp>
      <p:sp>
        <p:nvSpPr>
          <p:cNvPr id="3" name="Content Placeholder 2"/>
          <p:cNvSpPr>
            <a:spLocks noGrp="1"/>
          </p:cNvSpPr>
          <p:nvPr>
            <p:ph type="body" idx="1"/>
          </p:nvPr>
        </p:nvSpPr>
        <p:spPr/>
        <p:txBody>
          <a:bodyPr/>
          <a:lstStyle/>
          <a:p>
            <a:r>
              <a:rPr dirty="0"/>
              <a:t>n-bit hash → N = 2ⁿ outputs</a:t>
            </a:r>
          </a:p>
          <a:p>
            <a:r>
              <a:rPr dirty="0"/>
              <a:t>Collision complexity ≈ 2^(n/2)</a:t>
            </a:r>
          </a:p>
          <a:p>
            <a:r>
              <a:rPr dirty="0"/>
              <a:t>Example: SHA‑256 → 2^128 work</a:t>
            </a:r>
            <a:endParaRPr lang="en-US" dirty="0"/>
          </a:p>
          <a:p>
            <a:pPr lvl="1"/>
            <a:r>
              <a:rPr lang="en-US" dirty="0"/>
              <a:t>Many different inputs are hashed.</a:t>
            </a:r>
          </a:p>
          <a:p>
            <a:pPr lvl="1"/>
            <a:r>
              <a:rPr lang="en-US" dirty="0"/>
              <a:t>Eventually two inputs produce the </a:t>
            </a:r>
            <a:br>
              <a:rPr lang="en-US" dirty="0"/>
            </a:br>
            <a:r>
              <a:rPr lang="en-US" dirty="0"/>
              <a:t>same hash.</a:t>
            </a:r>
          </a:p>
          <a:p>
            <a:pPr lvl="1"/>
            <a:r>
              <a:rPr lang="en-US" dirty="0"/>
              <a:t>Instead of attacking one hash,</a:t>
            </a:r>
            <a:br>
              <a:rPr lang="en-US" dirty="0"/>
            </a:br>
            <a:r>
              <a:rPr lang="en-US" dirty="0"/>
              <a:t>the attacker compares many hashes</a:t>
            </a:r>
            <a:br>
              <a:rPr lang="en-US" dirty="0"/>
            </a:br>
            <a:r>
              <a:rPr lang="en-US" dirty="0"/>
              <a:t>with each other.</a:t>
            </a:r>
          </a:p>
          <a:p>
            <a:pPr lvl="2"/>
            <a:r>
              <a:rPr lang="en-US" dirty="0"/>
              <a:t>Message A (harmless)</a:t>
            </a:r>
          </a:p>
          <a:p>
            <a:pPr lvl="2"/>
            <a:r>
              <a:rPr lang="en-US" dirty="0"/>
              <a:t>Message B (malicious)</a:t>
            </a:r>
          </a:p>
          <a:p>
            <a:pPr lvl="1"/>
            <a:r>
              <a:rPr lang="en-US" dirty="0"/>
              <a:t> Sign(H(A)), attacker replaces with H(B)</a:t>
            </a:r>
            <a:br>
              <a:rPr lang="en-US" dirty="0"/>
            </a:br>
            <a:endParaRPr dirty="0"/>
          </a:p>
        </p:txBody>
      </p:sp>
      <p:pic>
        <p:nvPicPr>
          <p:cNvPr id="1026" name="Picture 2" descr="Collision and Birthday Attack — MCSI Library">
            <a:extLst>
              <a:ext uri="{FF2B5EF4-FFF2-40B4-BE49-F238E27FC236}">
                <a16:creationId xmlns:a16="http://schemas.microsoft.com/office/drawing/2014/main" id="{AC4FFD15-1397-8A24-A6F1-CB28F9C083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3619" y="1046602"/>
            <a:ext cx="5581986" cy="33436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Definition of Hash Function</a:t>
            </a:r>
          </a:p>
        </p:txBody>
      </p:sp>
      <p:sp>
        <p:nvSpPr>
          <p:cNvPr id="3" name="Content Placeholder 2"/>
          <p:cNvSpPr>
            <a:spLocks noGrp="1"/>
          </p:cNvSpPr>
          <p:nvPr>
            <p:ph type="body" idx="1"/>
          </p:nvPr>
        </p:nvSpPr>
        <p:spPr/>
        <p:txBody>
          <a:bodyPr/>
          <a:lstStyle/>
          <a:p>
            <a:r>
              <a:t>H : {0,1}* → {0,1}ⁿ</a:t>
            </a:r>
          </a:p>
          <a:p>
            <a:r>
              <a:t>Arbitrary length input</a:t>
            </a:r>
          </a:p>
          <a:p>
            <a:r>
              <a:t>Fixed length output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Timeline</a:t>
            </a:r>
          </a:p>
        </p:txBody>
      </p:sp>
      <p:sp>
        <p:nvSpPr>
          <p:cNvPr id="3" name="Content Placeholder 2"/>
          <p:cNvSpPr>
            <a:spLocks noGrp="1"/>
          </p:cNvSpPr>
          <p:nvPr>
            <p:ph idx="1"/>
          </p:nvPr>
        </p:nvSpPr>
        <p:spPr/>
        <p:txBody>
          <a:bodyPr/>
          <a:lstStyle/>
          <a:p>
            <a:r>
              <a:t>1990  MD4</a:t>
            </a:r>
          </a:p>
          <a:p>
            <a:r>
              <a:t>1992  MD5</a:t>
            </a:r>
          </a:p>
          <a:p>
            <a:r>
              <a:t>1995  SHA-1</a:t>
            </a:r>
          </a:p>
          <a:p>
            <a:r>
              <a:t>2001  SHA-2</a:t>
            </a:r>
          </a:p>
          <a:p>
            <a:r>
              <a:t>2015  SHA-3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Security Status</a:t>
            </a:r>
          </a:p>
        </p:txBody>
      </p:sp>
      <p:sp>
        <p:nvSpPr>
          <p:cNvPr id="3" name="Content Placeholder 2"/>
          <p:cNvSpPr>
            <a:spLocks noGrp="1"/>
          </p:cNvSpPr>
          <p:nvPr>
            <p:ph idx="1"/>
          </p:nvPr>
        </p:nvSpPr>
        <p:spPr/>
        <p:txBody>
          <a:bodyPr/>
          <a:lstStyle/>
          <a:p>
            <a:r>
              <a:t>MD5  -&gt; Broken (collisions)</a:t>
            </a:r>
          </a:p>
          <a:p>
            <a:r>
              <a:t>SHA-1 -&gt; Broken (collisions)</a:t>
            </a:r>
          </a:p>
          <a:p>
            <a:r>
              <a:t>SHA-2 -&gt; Secure</a:t>
            </a:r>
          </a:p>
          <a:p>
            <a:r>
              <a:t>SHA-3 -&gt; Secure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Security Properties</a:t>
            </a:r>
          </a:p>
        </p:txBody>
      </p:sp>
      <p:sp>
        <p:nvSpPr>
          <p:cNvPr id="3" name="Content Placeholder 2"/>
          <p:cNvSpPr>
            <a:spLocks noGrp="1"/>
          </p:cNvSpPr>
          <p:nvPr>
            <p:ph type="body" idx="1"/>
          </p:nvPr>
        </p:nvSpPr>
        <p:spPr/>
        <p:txBody>
          <a:bodyPr/>
          <a:lstStyle/>
          <a:p>
            <a:r>
              <a:rPr dirty="0"/>
              <a:t>Preimage resistance</a:t>
            </a:r>
            <a:endParaRPr lang="en-US" dirty="0"/>
          </a:p>
          <a:p>
            <a:pPr lvl="1"/>
            <a:r>
              <a:rPr lang="en-US" dirty="0"/>
              <a:t>Given a hash value H(x), it should be hard to find any input x that produces it.</a:t>
            </a:r>
            <a:endParaRPr dirty="0"/>
          </a:p>
          <a:p>
            <a:r>
              <a:rPr dirty="0"/>
              <a:t>Second-preimage resistance</a:t>
            </a:r>
            <a:endParaRPr lang="en-US" dirty="0"/>
          </a:p>
          <a:p>
            <a:pPr lvl="1"/>
            <a:r>
              <a:rPr lang="en-US" dirty="0"/>
              <a:t>Given an input x, it should be hard to find a different input x′ with the same hash.</a:t>
            </a:r>
            <a:endParaRPr dirty="0"/>
          </a:p>
          <a:p>
            <a:r>
              <a:rPr dirty="0"/>
              <a:t>Collision resistance</a:t>
            </a:r>
            <a:endParaRPr lang="en-US" dirty="0"/>
          </a:p>
          <a:p>
            <a:pPr lvl="1"/>
            <a:r>
              <a:rPr lang="en-US" dirty="0"/>
              <a:t>It should be hard to find any two different inputs x and y such that H(x) = H(y).</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
        <p:cNvGrpSpPr/>
        <p:nvPr/>
      </p:nvGrpSpPr>
      <p:grpSpPr>
        <a:xfrm>
          <a:off x="0" y="0"/>
          <a:ext cx="0" cy="0"/>
          <a:chOff x="0" y="0"/>
          <a:chExt cx="0" cy="0"/>
        </a:xfrm>
      </p:grpSpPr>
      <p:sp>
        <p:nvSpPr>
          <p:cNvPr id="106" name="Google Shape;106;p20"/>
          <p:cNvSpPr txBox="1">
            <a:spLocks noGrp="1"/>
          </p:cNvSpPr>
          <p:nvPr>
            <p:ph type="title" idx="4294967295"/>
          </p:nvPr>
        </p:nvSpPr>
        <p:spPr>
          <a:xfrm>
            <a:off x="609600" y="274680"/>
            <a:ext cx="10972320" cy="114264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Calibri"/>
              <a:buNone/>
            </a:pPr>
            <a:r>
              <a:rPr lang="en-US" sz="4400" b="0" i="0" u="none" strike="noStrike" cap="none">
                <a:solidFill>
                  <a:srgbClr val="000000"/>
                </a:solidFill>
                <a:latin typeface="Calibri"/>
                <a:ea typeface="Calibri"/>
                <a:cs typeface="Calibri"/>
                <a:sym typeface="Calibri"/>
              </a:rPr>
              <a:t>Ideal Hash Function:</a:t>
            </a:r>
            <a:endParaRPr sz="4400" b="0" i="0" u="none" strike="noStrike" cap="none">
              <a:solidFill>
                <a:srgbClr val="000000"/>
              </a:solidFill>
              <a:latin typeface="Quintessential"/>
              <a:ea typeface="Quintessential"/>
              <a:cs typeface="Quintessential"/>
              <a:sym typeface="Quintessential"/>
            </a:endParaRPr>
          </a:p>
        </p:txBody>
      </p:sp>
      <p:sp>
        <p:nvSpPr>
          <p:cNvPr id="107" name="Google Shape;107;p20"/>
          <p:cNvSpPr txBox="1">
            <a:spLocks noGrp="1"/>
          </p:cNvSpPr>
          <p:nvPr>
            <p:ph type="body" idx="4294967295"/>
          </p:nvPr>
        </p:nvSpPr>
        <p:spPr>
          <a:xfrm>
            <a:off x="609600" y="1371600"/>
            <a:ext cx="11277120" cy="5409720"/>
          </a:xfrm>
          <a:prstGeom prst="rect">
            <a:avLst/>
          </a:prstGeom>
          <a:noFill/>
          <a:ln>
            <a:noFill/>
          </a:ln>
        </p:spPr>
        <p:txBody>
          <a:bodyPr spcFirstLastPara="1" wrap="square" lIns="91425" tIns="45700" rIns="91425" bIns="45700" anchor="t" anchorCtr="0">
            <a:noAutofit/>
          </a:bodyPr>
          <a:lstStyle/>
          <a:p>
            <a:pPr marL="343080" marR="0" lvl="0" indent="-343080" algn="l" rtl="0">
              <a:lnSpc>
                <a:spcPct val="100000"/>
              </a:lnSpc>
              <a:spcBef>
                <a:spcPts val="0"/>
              </a:spcBef>
              <a:spcAft>
                <a:spcPts val="0"/>
              </a:spcAft>
              <a:buClr>
                <a:srgbClr val="000000"/>
              </a:buClr>
              <a:buSzPts val="3200"/>
              <a:buFont typeface="Arial"/>
              <a:buChar char="•"/>
            </a:pPr>
            <a:r>
              <a:rPr lang="en-US" sz="3200" b="0" i="0" u="none" strike="noStrike" cap="none" dirty="0">
                <a:solidFill>
                  <a:srgbClr val="000000"/>
                </a:solidFill>
                <a:latin typeface="Calibri"/>
                <a:ea typeface="Calibri"/>
                <a:cs typeface="Calibri"/>
                <a:sym typeface="Calibri"/>
              </a:rPr>
              <a:t>Truly random function </a:t>
            </a:r>
            <a:endParaRPr sz="32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241"/>
              </a:spcBef>
              <a:spcAft>
                <a:spcPts val="0"/>
              </a:spcAft>
              <a:buSzPts val="1200"/>
              <a:buFont typeface="Arial"/>
              <a:buNone/>
            </a:pPr>
            <a:endParaRPr sz="12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SzPts val="3200"/>
              <a:buFont typeface="Arial"/>
              <a:buNone/>
            </a:pPr>
            <a:endParaRPr sz="32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SzPts val="3200"/>
              <a:buFont typeface="Arial"/>
              <a:buNone/>
            </a:pPr>
            <a:endParaRPr sz="32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SzPts val="3200"/>
              <a:buFont typeface="Arial"/>
              <a:buNone/>
            </a:pPr>
            <a:endParaRPr sz="32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SzPts val="3200"/>
              <a:buFont typeface="Arial"/>
              <a:buNone/>
            </a:pPr>
            <a:endParaRPr sz="3200" b="0" i="0" u="none" strike="noStrike" cap="none" dirty="0">
              <a:solidFill>
                <a:srgbClr val="000000"/>
              </a:solidFill>
              <a:latin typeface="Calibri"/>
              <a:ea typeface="Calibri"/>
              <a:cs typeface="Calibri"/>
              <a:sym typeface="Calibri"/>
            </a:endParaRPr>
          </a:p>
          <a:p>
            <a:pPr marL="343080" marR="0" lvl="0" indent="-343080" algn="l" rtl="0">
              <a:lnSpc>
                <a:spcPct val="100000"/>
              </a:lnSpc>
              <a:spcBef>
                <a:spcPts val="641"/>
              </a:spcBef>
              <a:spcAft>
                <a:spcPts val="0"/>
              </a:spcAft>
              <a:buClr>
                <a:srgbClr val="000000"/>
              </a:buClr>
              <a:buSzPts val="3200"/>
              <a:buFont typeface="Arial"/>
              <a:buChar char="•"/>
            </a:pPr>
            <a:r>
              <a:rPr lang="en-US" sz="3200" b="0" i="0" u="none" strike="noStrike" cap="none" dirty="0">
                <a:solidFill>
                  <a:srgbClr val="000000"/>
                </a:solidFill>
                <a:latin typeface="Calibri"/>
                <a:ea typeface="Calibri"/>
                <a:cs typeface="Calibri"/>
                <a:sym typeface="Calibri"/>
              </a:rPr>
              <a:t>This (idealized, theoretical model) is called the </a:t>
            </a:r>
            <a:r>
              <a:rPr lang="en-US" sz="3200" b="1" i="0" u="none" strike="noStrike" cap="none" dirty="0">
                <a:solidFill>
                  <a:srgbClr val="FF0000"/>
                </a:solidFill>
                <a:latin typeface="Calibri"/>
                <a:ea typeface="Calibri"/>
                <a:cs typeface="Calibri"/>
                <a:sym typeface="Calibri"/>
              </a:rPr>
              <a:t>Random Oracle Model (ROM)</a:t>
            </a:r>
            <a:r>
              <a:rPr lang="en-US" sz="3200" b="0" i="0" u="none" strike="noStrike" cap="none" dirty="0">
                <a:solidFill>
                  <a:srgbClr val="000000"/>
                </a:solidFill>
                <a:latin typeface="Calibri"/>
                <a:ea typeface="Calibri"/>
                <a:cs typeface="Calibri"/>
                <a:sym typeface="Calibri"/>
              </a:rPr>
              <a:t> </a:t>
            </a:r>
            <a:endParaRPr sz="32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241"/>
              </a:spcBef>
              <a:spcAft>
                <a:spcPts val="0"/>
              </a:spcAft>
              <a:buSzPts val="1200"/>
              <a:buFont typeface="Arial"/>
              <a:buNone/>
            </a:pPr>
            <a:endParaRPr sz="1200" b="0" i="0" u="none" strike="noStrike" cap="none" dirty="0">
              <a:solidFill>
                <a:srgbClr val="000000"/>
              </a:solidFill>
              <a:latin typeface="Calibri"/>
              <a:ea typeface="Calibri"/>
              <a:cs typeface="Calibri"/>
              <a:sym typeface="Calibri"/>
            </a:endParaRPr>
          </a:p>
          <a:p>
            <a:pPr marL="343080" marR="0" lvl="0" indent="-343080" algn="l" rtl="0">
              <a:lnSpc>
                <a:spcPct val="100000"/>
              </a:lnSpc>
              <a:spcBef>
                <a:spcPts val="561"/>
              </a:spcBef>
              <a:spcAft>
                <a:spcPts val="0"/>
              </a:spcAft>
              <a:buClr>
                <a:srgbClr val="000000"/>
              </a:buClr>
              <a:buSzPts val="2800"/>
              <a:buFont typeface="Arial"/>
              <a:buChar char="•"/>
            </a:pPr>
            <a:r>
              <a:rPr lang="en-US" sz="2800" b="0" i="0" u="none" strike="noStrike" cap="none" dirty="0">
                <a:solidFill>
                  <a:srgbClr val="000000"/>
                </a:solidFill>
                <a:latin typeface="Calibri"/>
                <a:ea typeface="Calibri"/>
                <a:cs typeface="Calibri"/>
                <a:sym typeface="Calibri"/>
              </a:rPr>
              <a:t>Many cryptographic primitives use hash functions, and often security is proved in the ROM.  </a:t>
            </a:r>
            <a:endParaRPr sz="2800" b="0" i="0" u="none" strike="noStrike" cap="none" dirty="0">
              <a:solidFill>
                <a:srgbClr val="000000"/>
              </a:solidFill>
              <a:latin typeface="Calibri"/>
              <a:ea typeface="Calibri"/>
              <a:cs typeface="Calibri"/>
              <a:sym typeface="Calibri"/>
            </a:endParaRPr>
          </a:p>
        </p:txBody>
      </p:sp>
      <p:sp>
        <p:nvSpPr>
          <p:cNvPr id="108" name="Google Shape;108;p20"/>
          <p:cNvSpPr txBox="1">
            <a:spLocks noGrp="1"/>
          </p:cNvSpPr>
          <p:nvPr>
            <p:ph type="sldNum" idx="12"/>
          </p:nvPr>
        </p:nvSpPr>
        <p:spPr>
          <a:xfrm>
            <a:off x="8737440" y="6356520"/>
            <a:ext cx="284448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Quintessential"/>
              <a:buNone/>
            </a:pPr>
            <a:fld id="{00000000-1234-1234-1234-123412341234}" type="slidenum">
              <a:rPr lang="en-US" sz="1200" b="0" i="0" u="none" strike="noStrike" cap="none">
                <a:solidFill>
                  <a:srgbClr val="898989"/>
                </a:solidFill>
                <a:latin typeface="Quintessential"/>
                <a:ea typeface="Quintessential"/>
                <a:cs typeface="Quintessential"/>
                <a:sym typeface="Quintessential"/>
              </a:rPr>
              <a:t>15</a:t>
            </a:fld>
            <a:endParaRPr sz="1200" b="0" i="0" u="none" strike="noStrike" cap="none">
              <a:solidFill>
                <a:srgbClr val="000000"/>
              </a:solidFill>
              <a:latin typeface="Times New Roman"/>
              <a:ea typeface="Times New Roman"/>
              <a:cs typeface="Times New Roman"/>
              <a:sym typeface="Times New Roman"/>
            </a:endParaRPr>
          </a:p>
        </p:txBody>
      </p:sp>
      <p:cxnSp>
        <p:nvCxnSpPr>
          <p:cNvPr id="109" name="Google Shape;109;p20"/>
          <p:cNvCxnSpPr/>
          <p:nvPr/>
        </p:nvCxnSpPr>
        <p:spPr>
          <a:xfrm>
            <a:off x="5994240" y="2895480"/>
            <a:ext cx="1219680" cy="360"/>
          </a:xfrm>
          <a:prstGeom prst="straightConnector1">
            <a:avLst/>
          </a:prstGeom>
          <a:noFill/>
          <a:ln w="9525" cap="flat" cmpd="sng">
            <a:solidFill>
              <a:srgbClr val="4F81BD"/>
            </a:solidFill>
            <a:prstDash val="solid"/>
            <a:round/>
            <a:headEnd type="none" w="sm" len="sm"/>
            <a:tailEnd type="triangle" w="med" len="med"/>
          </a:ln>
        </p:spPr>
      </p:cxnSp>
      <p:sp>
        <p:nvSpPr>
          <p:cNvPr id="110" name="Google Shape;110;p20"/>
          <p:cNvSpPr/>
          <p:nvPr/>
        </p:nvSpPr>
        <p:spPr>
          <a:xfrm>
            <a:off x="6299040" y="2438280"/>
            <a:ext cx="646080" cy="51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2800" b="0" i="0" u="none" strike="noStrike" cap="none">
                <a:solidFill>
                  <a:srgbClr val="000000"/>
                </a:solidFill>
                <a:latin typeface="Quintessential"/>
                <a:ea typeface="Quintessential"/>
                <a:cs typeface="Quintessential"/>
                <a:sym typeface="Quintessential"/>
              </a:rPr>
              <a:t>x</a:t>
            </a:r>
            <a:endParaRPr sz="2800" b="0" i="0" u="none" strike="noStrike" cap="none">
              <a:solidFill>
                <a:srgbClr val="000000"/>
              </a:solidFill>
              <a:latin typeface="Arial"/>
              <a:ea typeface="Arial"/>
              <a:cs typeface="Arial"/>
              <a:sym typeface="Arial"/>
            </a:endParaRPr>
          </a:p>
        </p:txBody>
      </p:sp>
      <p:cxnSp>
        <p:nvCxnSpPr>
          <p:cNvPr id="111" name="Google Shape;111;p20"/>
          <p:cNvCxnSpPr/>
          <p:nvPr/>
        </p:nvCxnSpPr>
        <p:spPr>
          <a:xfrm flipH="1">
            <a:off x="5994240" y="3504960"/>
            <a:ext cx="1219680" cy="360"/>
          </a:xfrm>
          <a:prstGeom prst="straightConnector1">
            <a:avLst/>
          </a:prstGeom>
          <a:noFill/>
          <a:ln w="9525" cap="flat" cmpd="sng">
            <a:solidFill>
              <a:srgbClr val="4F81BD"/>
            </a:solidFill>
            <a:prstDash val="solid"/>
            <a:round/>
            <a:headEnd type="none" w="sm" len="sm"/>
            <a:tailEnd type="triangle" w="med" len="med"/>
          </a:ln>
        </p:spPr>
      </p:cxnSp>
      <p:sp>
        <p:nvSpPr>
          <p:cNvPr id="112" name="Google Shape;112;p20"/>
          <p:cNvSpPr/>
          <p:nvPr/>
        </p:nvSpPr>
        <p:spPr>
          <a:xfrm>
            <a:off x="304800" y="2149200"/>
            <a:ext cx="4571520" cy="2041200"/>
          </a:xfrm>
          <a:prstGeom prst="wedgeEllipseCallout">
            <a:avLst>
              <a:gd name="adj1" fmla="val 75019"/>
              <a:gd name="adj2" fmla="val 5591"/>
            </a:avLst>
          </a:prstGeom>
          <a:gradFill>
            <a:gsLst>
              <a:gs pos="0">
                <a:srgbClr val="3E7FCC"/>
              </a:gs>
              <a:gs pos="100000">
                <a:srgbClr val="A4C1FF"/>
              </a:gs>
            </a:gsLst>
            <a:lin ang="16200000" scaled="0"/>
          </a:gradFill>
          <a:ln w="9525" cap="flat" cmpd="sng">
            <a:solidFill>
              <a:srgbClr val="4A7EBB"/>
            </a:solidFill>
            <a:prstDash val="solid"/>
            <a:round/>
            <a:headEnd type="none" w="sm" len="sm"/>
            <a:tailEnd type="none" w="sm" len="sm"/>
          </a:ln>
          <a:effectLst>
            <a:outerShdw blurRad="39960" dist="23040" dir="5400000" rotWithShape="0">
              <a:srgbClr val="000000">
                <a:alpha val="34901"/>
              </a:srgbClr>
            </a:outerShdw>
          </a:effectLst>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i="0" u="none" strike="noStrike" cap="none">
                <a:solidFill>
                  <a:schemeClr val="lt1"/>
                </a:solidFill>
                <a:latin typeface="Calibri"/>
                <a:ea typeface="Calibri"/>
                <a:cs typeface="Calibri"/>
                <a:sym typeface="Calibri"/>
              </a:rPr>
              <a:t>Truly</a:t>
            </a:r>
            <a:endParaRPr sz="2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400" b="1" i="0" u="none" strike="noStrike" cap="none">
                <a:solidFill>
                  <a:schemeClr val="lt1"/>
                </a:solidFill>
                <a:latin typeface="Calibri"/>
                <a:ea typeface="Calibri"/>
                <a:cs typeface="Calibri"/>
                <a:sym typeface="Calibri"/>
              </a:rPr>
              <a:t>Random</a:t>
            </a:r>
            <a:endParaRPr sz="2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1800" b="0" i="0" u="none" strike="noStrike" cap="none">
                <a:solidFill>
                  <a:schemeClr val="lt1"/>
                </a:solidFill>
                <a:latin typeface="Calibri"/>
                <a:ea typeface="Calibri"/>
                <a:cs typeface="Calibri"/>
                <a:sym typeface="Calibri"/>
              </a:rPr>
              <a:t>unless previously queried, in which case consistent with previous answer </a:t>
            </a:r>
            <a:endParaRPr sz="18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p:cNvGrpSpPr/>
        <p:nvPr/>
      </p:nvGrpSpPr>
      <p:grpSpPr>
        <a:xfrm>
          <a:off x="0" y="0"/>
          <a:ext cx="0" cy="0"/>
          <a:chOff x="0" y="0"/>
          <a:chExt cx="0" cy="0"/>
        </a:xfrm>
      </p:grpSpPr>
      <p:sp>
        <p:nvSpPr>
          <p:cNvPr id="118" name="Google Shape;118;p21"/>
          <p:cNvSpPr txBox="1">
            <a:spLocks noGrp="1"/>
          </p:cNvSpPr>
          <p:nvPr>
            <p:ph type="title" idx="4294967295"/>
          </p:nvPr>
        </p:nvSpPr>
        <p:spPr>
          <a:xfrm>
            <a:off x="609600" y="274680"/>
            <a:ext cx="10972320" cy="114264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Calibri"/>
              <a:buNone/>
            </a:pPr>
            <a:r>
              <a:rPr lang="en-US" sz="4400" b="0" i="0" u="none" strike="noStrike" cap="none">
                <a:solidFill>
                  <a:srgbClr val="000000"/>
                </a:solidFill>
                <a:latin typeface="Calibri"/>
                <a:ea typeface="Calibri"/>
                <a:cs typeface="Calibri"/>
                <a:sym typeface="Calibri"/>
              </a:rPr>
              <a:t>Ideal Hash Function:</a:t>
            </a:r>
            <a:endParaRPr sz="4400" b="0" i="0" u="none" strike="noStrike" cap="none">
              <a:solidFill>
                <a:srgbClr val="000000"/>
              </a:solidFill>
              <a:latin typeface="Quintessential"/>
              <a:ea typeface="Quintessential"/>
              <a:cs typeface="Quintessential"/>
              <a:sym typeface="Quintessential"/>
            </a:endParaRPr>
          </a:p>
        </p:txBody>
      </p:sp>
      <p:sp>
        <p:nvSpPr>
          <p:cNvPr id="119" name="Google Shape;119;p21"/>
          <p:cNvSpPr txBox="1">
            <a:spLocks noGrp="1"/>
          </p:cNvSpPr>
          <p:nvPr>
            <p:ph type="body" idx="4294967295"/>
          </p:nvPr>
        </p:nvSpPr>
        <p:spPr>
          <a:xfrm>
            <a:off x="609600" y="1371600"/>
            <a:ext cx="11277120" cy="5409720"/>
          </a:xfrm>
          <a:prstGeom prst="rect">
            <a:avLst/>
          </a:prstGeom>
          <a:noFill/>
          <a:ln>
            <a:noFill/>
          </a:ln>
        </p:spPr>
        <p:txBody>
          <a:bodyPr spcFirstLastPara="1" wrap="square" lIns="91425" tIns="45700" rIns="91425" bIns="45700" anchor="t" anchorCtr="0">
            <a:noAutofit/>
          </a:bodyPr>
          <a:lstStyle/>
          <a:p>
            <a:pPr marL="0" lvl="0" indent="0" algn="l" rtl="0">
              <a:spcBef>
                <a:spcPts val="641"/>
              </a:spcBef>
              <a:spcAft>
                <a:spcPts val="0"/>
              </a:spcAft>
              <a:buClr>
                <a:schemeClr val="dk1"/>
              </a:buClr>
              <a:buSzPts val="3200"/>
            </a:pPr>
            <a:br>
              <a:rPr lang="en-US" sz="3200" dirty="0">
                <a:solidFill>
                  <a:schemeClr val="dk1"/>
                </a:solidFill>
                <a:latin typeface="Calibri"/>
                <a:ea typeface="Calibri"/>
                <a:cs typeface="Calibri"/>
                <a:sym typeface="Calibri"/>
              </a:rPr>
            </a:br>
            <a:br>
              <a:rPr lang="en-US" sz="3200" dirty="0">
                <a:solidFill>
                  <a:schemeClr val="dk1"/>
                </a:solidFill>
                <a:latin typeface="Calibri"/>
                <a:ea typeface="Calibri"/>
                <a:cs typeface="Calibri"/>
                <a:sym typeface="Calibri"/>
              </a:rPr>
            </a:br>
            <a:br>
              <a:rPr lang="en-US" sz="3200" dirty="0">
                <a:solidFill>
                  <a:schemeClr val="dk1"/>
                </a:solidFill>
                <a:latin typeface="Calibri"/>
                <a:ea typeface="Calibri"/>
                <a:cs typeface="Calibri"/>
                <a:sym typeface="Calibri"/>
              </a:rPr>
            </a:br>
            <a:br>
              <a:rPr lang="en-US" sz="3200" dirty="0">
                <a:solidFill>
                  <a:schemeClr val="dk1"/>
                </a:solidFill>
                <a:latin typeface="Calibri"/>
                <a:ea typeface="Calibri"/>
                <a:cs typeface="Calibri"/>
                <a:sym typeface="Calibri"/>
              </a:rPr>
            </a:br>
            <a:br>
              <a:rPr lang="en-US" sz="3200" dirty="0">
                <a:solidFill>
                  <a:schemeClr val="dk1"/>
                </a:solidFill>
                <a:latin typeface="Calibri"/>
                <a:ea typeface="Calibri"/>
                <a:cs typeface="Calibri"/>
                <a:sym typeface="Calibri"/>
              </a:rPr>
            </a:br>
            <a:br>
              <a:rPr lang="en-US" sz="3200" dirty="0">
                <a:solidFill>
                  <a:schemeClr val="dk1"/>
                </a:solidFill>
                <a:latin typeface="Calibri"/>
                <a:ea typeface="Calibri"/>
                <a:cs typeface="Calibri"/>
                <a:sym typeface="Calibri"/>
              </a:rPr>
            </a:br>
            <a:r>
              <a:rPr lang="en-US" sz="3200" dirty="0">
                <a:solidFill>
                  <a:schemeClr val="dk1"/>
                </a:solidFill>
                <a:latin typeface="Calibri"/>
                <a:ea typeface="Calibri"/>
                <a:cs typeface="Calibri"/>
                <a:sym typeface="Calibri"/>
              </a:rPr>
              <a:t>In practice, use SHA256</a:t>
            </a:r>
          </a:p>
          <a:p>
            <a:pPr marL="800280" lvl="1" indent="-343080">
              <a:spcBef>
                <a:spcPts val="641"/>
              </a:spcBef>
              <a:buClr>
                <a:schemeClr val="dk1"/>
              </a:buClr>
              <a:buSzPts val="3200"/>
              <a:buFont typeface="Arial"/>
              <a:buChar char="•"/>
            </a:pPr>
            <a:r>
              <a:rPr lang="en-US" sz="3200" dirty="0"/>
              <a:t>Real hash functions (SHA-256, SHA-3) are not true random oracles,</a:t>
            </a:r>
            <a:br>
              <a:rPr lang="en-US" sz="3200" dirty="0"/>
            </a:br>
            <a:r>
              <a:rPr lang="en-US" sz="3200" dirty="0"/>
              <a:t>but they are designed to behave similarly.</a:t>
            </a:r>
          </a:p>
          <a:p>
            <a:pPr marL="800280" lvl="1" indent="-343080">
              <a:spcBef>
                <a:spcPts val="641"/>
              </a:spcBef>
              <a:buClr>
                <a:schemeClr val="dk1"/>
              </a:buClr>
              <a:buSzPts val="3200"/>
              <a:buChar char="•"/>
            </a:pPr>
            <a:endParaRPr sz="3200" dirty="0">
              <a:solidFill>
                <a:schemeClr val="dk1"/>
              </a:solidFill>
              <a:latin typeface="Calibri"/>
              <a:ea typeface="Calibri"/>
              <a:cs typeface="Calibri"/>
              <a:sym typeface="Calibri"/>
            </a:endParaRPr>
          </a:p>
        </p:txBody>
      </p:sp>
      <p:sp>
        <p:nvSpPr>
          <p:cNvPr id="120" name="Google Shape;120;p21"/>
          <p:cNvSpPr txBox="1">
            <a:spLocks noGrp="1"/>
          </p:cNvSpPr>
          <p:nvPr>
            <p:ph type="sldNum" idx="12"/>
          </p:nvPr>
        </p:nvSpPr>
        <p:spPr>
          <a:xfrm>
            <a:off x="8737440" y="6356520"/>
            <a:ext cx="284448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Quintessential"/>
              <a:buNone/>
            </a:pPr>
            <a:fld id="{00000000-1234-1234-1234-123412341234}" type="slidenum">
              <a:rPr lang="en-US" sz="1200" b="0" i="0" u="none" strike="noStrike" cap="none">
                <a:solidFill>
                  <a:srgbClr val="898989"/>
                </a:solidFill>
                <a:latin typeface="Quintessential"/>
                <a:ea typeface="Quintessential"/>
                <a:cs typeface="Quintessential"/>
                <a:sym typeface="Quintessential"/>
              </a:rPr>
              <a:t>16</a:t>
            </a:fld>
            <a:endParaRPr sz="1200" b="0" i="0" u="none" strike="noStrike" cap="none">
              <a:solidFill>
                <a:srgbClr val="000000"/>
              </a:solidFill>
              <a:latin typeface="Times New Roman"/>
              <a:ea typeface="Times New Roman"/>
              <a:cs typeface="Times New Roman"/>
              <a:sym typeface="Times New Roman"/>
            </a:endParaRPr>
          </a:p>
        </p:txBody>
      </p:sp>
      <p:cxnSp>
        <p:nvCxnSpPr>
          <p:cNvPr id="121" name="Google Shape;121;p21"/>
          <p:cNvCxnSpPr/>
          <p:nvPr/>
        </p:nvCxnSpPr>
        <p:spPr>
          <a:xfrm>
            <a:off x="5994240" y="2895480"/>
            <a:ext cx="1219680" cy="360"/>
          </a:xfrm>
          <a:prstGeom prst="straightConnector1">
            <a:avLst/>
          </a:prstGeom>
          <a:noFill/>
          <a:ln w="9525" cap="flat" cmpd="sng">
            <a:solidFill>
              <a:srgbClr val="4F81BD"/>
            </a:solidFill>
            <a:prstDash val="solid"/>
            <a:round/>
            <a:headEnd type="none" w="sm" len="sm"/>
            <a:tailEnd type="triangle" w="med" len="med"/>
          </a:ln>
        </p:spPr>
      </p:cxnSp>
      <p:sp>
        <p:nvSpPr>
          <p:cNvPr id="122" name="Google Shape;122;p21"/>
          <p:cNvSpPr/>
          <p:nvPr/>
        </p:nvSpPr>
        <p:spPr>
          <a:xfrm>
            <a:off x="6299040" y="2438280"/>
            <a:ext cx="646080" cy="51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2800" b="0" i="0" u="none" strike="noStrike" cap="none">
                <a:solidFill>
                  <a:srgbClr val="000000"/>
                </a:solidFill>
                <a:latin typeface="Quintessential"/>
                <a:ea typeface="Quintessential"/>
                <a:cs typeface="Quintessential"/>
                <a:sym typeface="Quintessential"/>
              </a:rPr>
              <a:t>x</a:t>
            </a:r>
            <a:endParaRPr sz="2800" b="0" i="0" u="none" strike="noStrike" cap="none">
              <a:solidFill>
                <a:srgbClr val="000000"/>
              </a:solidFill>
              <a:latin typeface="Arial"/>
              <a:ea typeface="Arial"/>
              <a:cs typeface="Arial"/>
              <a:sym typeface="Arial"/>
            </a:endParaRPr>
          </a:p>
        </p:txBody>
      </p:sp>
      <p:cxnSp>
        <p:nvCxnSpPr>
          <p:cNvPr id="123" name="Google Shape;123;p21"/>
          <p:cNvCxnSpPr/>
          <p:nvPr/>
        </p:nvCxnSpPr>
        <p:spPr>
          <a:xfrm flipH="1">
            <a:off x="5994240" y="3504960"/>
            <a:ext cx="1219680" cy="360"/>
          </a:xfrm>
          <a:prstGeom prst="straightConnector1">
            <a:avLst/>
          </a:prstGeom>
          <a:noFill/>
          <a:ln w="9525" cap="flat" cmpd="sng">
            <a:solidFill>
              <a:srgbClr val="4F81BD"/>
            </a:solidFill>
            <a:prstDash val="solid"/>
            <a:round/>
            <a:headEnd type="none" w="sm" len="sm"/>
            <a:tailEnd type="triangle" w="med" len="med"/>
          </a:ln>
        </p:spPr>
      </p:cxnSp>
      <p:sp>
        <p:nvSpPr>
          <p:cNvPr id="124" name="Google Shape;124;p21"/>
          <p:cNvSpPr/>
          <p:nvPr/>
        </p:nvSpPr>
        <p:spPr>
          <a:xfrm>
            <a:off x="304800" y="2149200"/>
            <a:ext cx="4571520" cy="2041200"/>
          </a:xfrm>
          <a:prstGeom prst="wedgeEllipseCallout">
            <a:avLst>
              <a:gd name="adj1" fmla="val 75019"/>
              <a:gd name="adj2" fmla="val 5591"/>
            </a:avLst>
          </a:prstGeom>
          <a:gradFill>
            <a:gsLst>
              <a:gs pos="0">
                <a:srgbClr val="3E7FCC"/>
              </a:gs>
              <a:gs pos="100000">
                <a:srgbClr val="A4C1FF"/>
              </a:gs>
            </a:gsLst>
            <a:lin ang="16200000" scaled="0"/>
          </a:gradFill>
          <a:ln w="9525" cap="flat" cmpd="sng">
            <a:solidFill>
              <a:srgbClr val="4A7EBB"/>
            </a:solidFill>
            <a:prstDash val="solid"/>
            <a:round/>
            <a:headEnd type="none" w="sm" len="sm"/>
            <a:tailEnd type="none" w="sm" len="sm"/>
          </a:ln>
          <a:effectLst>
            <a:outerShdw blurRad="39960" dist="23040" dir="5400000" rotWithShape="0">
              <a:srgbClr val="000000">
                <a:alpha val="34901"/>
              </a:srgbClr>
            </a:outerShdw>
          </a:effectLst>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i="0" u="none" strike="noStrike" cap="none" dirty="0">
                <a:solidFill>
                  <a:schemeClr val="lt1"/>
                </a:solidFill>
                <a:latin typeface="Calibri"/>
                <a:ea typeface="Calibri"/>
                <a:cs typeface="Calibri"/>
                <a:sym typeface="Calibri"/>
              </a:rPr>
              <a:t>Truly</a:t>
            </a:r>
            <a:endParaRPr sz="2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400" b="1" i="0" u="none" strike="noStrike" cap="none" dirty="0">
                <a:solidFill>
                  <a:schemeClr val="lt1"/>
                </a:solidFill>
                <a:latin typeface="Calibri"/>
                <a:ea typeface="Calibri"/>
                <a:cs typeface="Calibri"/>
                <a:sym typeface="Calibri"/>
              </a:rPr>
              <a:t>Random</a:t>
            </a:r>
            <a:endParaRPr sz="2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1800" b="0" i="0" u="none" strike="noStrike" cap="none" dirty="0">
                <a:solidFill>
                  <a:schemeClr val="lt1"/>
                </a:solidFill>
                <a:latin typeface="Calibri"/>
                <a:ea typeface="Calibri"/>
                <a:cs typeface="Calibri"/>
                <a:sym typeface="Calibri"/>
              </a:rPr>
              <a:t>unless previously queried, in which case consistent with previous answer </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22"/>
          <p:cNvSpPr txBox="1">
            <a:spLocks noGrp="1"/>
          </p:cNvSpPr>
          <p:nvPr>
            <p:ph type="title" idx="4294967295"/>
          </p:nvPr>
        </p:nvSpPr>
        <p:spPr>
          <a:xfrm>
            <a:off x="609600" y="274680"/>
            <a:ext cx="10972320" cy="114264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Calibri"/>
              <a:buNone/>
            </a:pPr>
            <a:r>
              <a:rPr lang="en-US" sz="4400" b="0" i="0" u="none" strike="noStrike" cap="none">
                <a:solidFill>
                  <a:srgbClr val="000000"/>
                </a:solidFill>
                <a:latin typeface="Calibri"/>
                <a:ea typeface="Calibri"/>
                <a:cs typeface="Calibri"/>
                <a:sym typeface="Calibri"/>
              </a:rPr>
              <a:t>Desired Properties</a:t>
            </a:r>
            <a:endParaRPr sz="4400" b="0" i="0" u="none" strike="noStrike" cap="none">
              <a:solidFill>
                <a:srgbClr val="000000"/>
              </a:solidFill>
              <a:latin typeface="Quintessential"/>
              <a:ea typeface="Quintessential"/>
              <a:cs typeface="Quintessential"/>
              <a:sym typeface="Quintessential"/>
            </a:endParaRPr>
          </a:p>
        </p:txBody>
      </p:sp>
      <p:sp>
        <p:nvSpPr>
          <p:cNvPr id="131" name="Google Shape;131;p22"/>
          <p:cNvSpPr txBox="1">
            <a:spLocks noGrp="1"/>
          </p:cNvSpPr>
          <p:nvPr>
            <p:ph type="body" idx="4294967295"/>
          </p:nvPr>
        </p:nvSpPr>
        <p:spPr>
          <a:xfrm>
            <a:off x="101760" y="1523880"/>
            <a:ext cx="12293400" cy="4876500"/>
          </a:xfrm>
          <a:prstGeom prst="rect">
            <a:avLst/>
          </a:prstGeom>
          <a:noFill/>
          <a:ln>
            <a:noFill/>
          </a:ln>
        </p:spPr>
        <p:txBody>
          <a:bodyPr spcFirstLastPara="1" wrap="square" lIns="91425" tIns="45700" rIns="91425" bIns="45700" anchor="t" anchorCtr="0">
            <a:noAutofit/>
          </a:bodyPr>
          <a:lstStyle/>
          <a:p>
            <a:pPr marL="343080" marR="0" lvl="0" indent="-343080" algn="l" rtl="0">
              <a:lnSpc>
                <a:spcPct val="100000"/>
              </a:lnSpc>
              <a:spcBef>
                <a:spcPts val="0"/>
              </a:spcBef>
              <a:spcAft>
                <a:spcPts val="0"/>
              </a:spcAft>
              <a:buClr>
                <a:srgbClr val="FF0000"/>
              </a:buClr>
              <a:buSzPts val="3200"/>
              <a:buFont typeface="Arial"/>
              <a:buChar char="•"/>
            </a:pPr>
            <a:r>
              <a:rPr lang="en-US" sz="3200" b="1" i="0" u="none" strike="noStrike" cap="none">
                <a:solidFill>
                  <a:srgbClr val="FF0000"/>
                </a:solidFill>
                <a:latin typeface="Calibri"/>
                <a:ea typeface="Calibri"/>
                <a:cs typeface="Calibri"/>
                <a:sym typeface="Calibri"/>
              </a:rPr>
              <a:t>One-Way</a:t>
            </a:r>
            <a:endParaRPr sz="3200" b="0" i="0" u="none" strike="noStrike" cap="none">
              <a:solidFill>
                <a:srgbClr val="000000"/>
              </a:solidFill>
              <a:latin typeface="Calibri"/>
              <a:ea typeface="Calibri"/>
              <a:cs typeface="Calibri"/>
              <a:sym typeface="Calibri"/>
            </a:endParaRPr>
          </a:p>
          <a:p>
            <a:pPr marL="343080" marR="0" lvl="0" indent="-343080" algn="l" rtl="0">
              <a:lnSpc>
                <a:spcPct val="100000"/>
              </a:lnSpc>
              <a:spcBef>
                <a:spcPts val="641"/>
              </a:spcBef>
              <a:spcAft>
                <a:spcPts val="0"/>
              </a:spcAft>
              <a:buClr>
                <a:srgbClr val="FF0000"/>
              </a:buClr>
              <a:buSzPts val="3200"/>
              <a:buFont typeface="Arial"/>
              <a:buChar char="•"/>
            </a:pPr>
            <a:r>
              <a:rPr lang="en-US" sz="3200" b="1" i="0" u="none" strike="noStrike" cap="none">
                <a:solidFill>
                  <a:srgbClr val="FF0000"/>
                </a:solidFill>
                <a:latin typeface="Calibri"/>
                <a:ea typeface="Calibri"/>
                <a:cs typeface="Calibri"/>
                <a:sym typeface="Calibri"/>
              </a:rPr>
              <a:t>Collision Resistant </a:t>
            </a:r>
            <a:endParaRPr sz="3200" b="0" i="0" u="none" strike="noStrike" cap="none">
              <a:solidFill>
                <a:srgbClr val="000000"/>
              </a:solidFill>
              <a:latin typeface="Calibri"/>
              <a:ea typeface="Calibri"/>
              <a:cs typeface="Calibri"/>
              <a:sym typeface="Calibri"/>
            </a:endParaRPr>
          </a:p>
        </p:txBody>
      </p:sp>
      <p:pic>
        <p:nvPicPr>
          <p:cNvPr id="132" name="Google Shape;132;p22"/>
          <p:cNvPicPr preferRelativeResize="0"/>
          <p:nvPr/>
        </p:nvPicPr>
        <p:blipFill>
          <a:blip r:embed="rId3">
            <a:alphaModFix/>
          </a:blip>
          <a:stretch>
            <a:fillRect/>
          </a:stretch>
        </p:blipFill>
        <p:spPr>
          <a:xfrm>
            <a:off x="3810000" y="1676400"/>
            <a:ext cx="4572000" cy="3505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3"/>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imes New Roman"/>
              <a:buNone/>
            </a:pPr>
            <a:r>
              <a:rPr lang="en-US" sz="4000" b="0" i="0" u="none" dirty="0">
                <a:solidFill>
                  <a:schemeClr val="dk2"/>
                </a:solidFill>
                <a:latin typeface="Times New Roman"/>
                <a:ea typeface="Times New Roman"/>
                <a:cs typeface="Times New Roman"/>
                <a:sym typeface="Times New Roman"/>
              </a:rPr>
              <a:t>Security Requirements for </a:t>
            </a:r>
            <a:r>
              <a:rPr lang="en-US" sz="4000" b="0" i="0" u="none" dirty="0">
                <a:solidFill>
                  <a:srgbClr val="0070C0"/>
                </a:solidFill>
                <a:latin typeface="Times New Roman"/>
                <a:ea typeface="Times New Roman"/>
                <a:cs typeface="Times New Roman"/>
                <a:sym typeface="Times New Roman"/>
              </a:rPr>
              <a:t>Cryptographic</a:t>
            </a:r>
            <a:r>
              <a:rPr lang="en-US" sz="4000" b="0" i="0" u="none" dirty="0">
                <a:solidFill>
                  <a:schemeClr val="dk2"/>
                </a:solidFill>
                <a:latin typeface="Times New Roman"/>
                <a:ea typeface="Times New Roman"/>
                <a:cs typeface="Times New Roman"/>
                <a:sym typeface="Times New Roman"/>
              </a:rPr>
              <a:t> Hash Functions</a:t>
            </a:r>
            <a:endParaRPr dirty="0"/>
          </a:p>
        </p:txBody>
      </p:sp>
      <p:sp>
        <p:nvSpPr>
          <p:cNvPr id="139" name="Google Shape;139;p23"/>
          <p:cNvSpPr txBox="1">
            <a:spLocks noGrp="1"/>
          </p:cNvSpPr>
          <p:nvPr>
            <p:ph type="body" idx="1"/>
          </p:nvPr>
        </p:nvSpPr>
        <p:spPr>
          <a:xfrm>
            <a:off x="1016000" y="1447800"/>
            <a:ext cx="10464800" cy="43434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None/>
            </a:pPr>
            <a:r>
              <a:rPr lang="en-US" sz="2400" b="0" i="0" u="none" dirty="0">
                <a:solidFill>
                  <a:schemeClr val="dk1"/>
                </a:solidFill>
                <a:latin typeface="Arial"/>
                <a:ea typeface="Arial"/>
                <a:cs typeface="Arial"/>
                <a:sym typeface="Arial"/>
              </a:rPr>
              <a:t>    Given a function h</a:t>
            </a:r>
            <a:r>
              <a:rPr lang="en-US" sz="2400" dirty="0"/>
              <a:t>(</a:t>
            </a:r>
            <a:r>
              <a:rPr lang="en-US" sz="2400" b="0" i="0" u="none" dirty="0">
                <a:solidFill>
                  <a:schemeClr val="dk1"/>
                </a:solidFill>
                <a:latin typeface="Arial"/>
                <a:ea typeface="Arial"/>
                <a:cs typeface="Arial"/>
                <a:sym typeface="Arial"/>
              </a:rPr>
              <a:t>X) →Y, </a:t>
            </a:r>
            <a:endParaRPr dirty="0"/>
          </a:p>
          <a:p>
            <a:pPr marL="342900" lvl="0" indent="-342900" algn="l" rtl="0">
              <a:lnSpc>
                <a:spcPct val="100000"/>
              </a:lnSpc>
              <a:spcBef>
                <a:spcPts val="480"/>
              </a:spcBef>
              <a:spcAft>
                <a:spcPts val="0"/>
              </a:spcAft>
              <a:buClr>
                <a:schemeClr val="accent2"/>
              </a:buClr>
              <a:buSzPts val="2400"/>
              <a:buFont typeface="Times"/>
              <a:buChar char="•"/>
            </a:pPr>
            <a:r>
              <a:rPr lang="en-US" sz="2400" b="0" i="0" u="none" dirty="0">
                <a:solidFill>
                  <a:srgbClr val="CC0099"/>
                </a:solidFill>
                <a:latin typeface="Arial"/>
                <a:ea typeface="Arial"/>
                <a:cs typeface="Arial"/>
                <a:sym typeface="Arial"/>
              </a:rPr>
              <a:t>one-way:</a:t>
            </a:r>
            <a:endParaRPr lang="en-US" b="0" i="0" u="none" dirty="0">
              <a:solidFill>
                <a:srgbClr val="CC0099"/>
              </a:solidFill>
              <a:latin typeface="Arial"/>
              <a:ea typeface="Arial"/>
              <a:cs typeface="Arial"/>
              <a:sym typeface="Arial"/>
            </a:endParaRPr>
          </a:p>
          <a:p>
            <a:pPr marL="800100" lvl="1">
              <a:spcBef>
                <a:spcPts val="480"/>
              </a:spcBef>
              <a:buClr>
                <a:schemeClr val="accent2"/>
              </a:buClr>
              <a:buSzPts val="2400"/>
              <a:buFont typeface="Times"/>
              <a:buChar char="•"/>
            </a:pPr>
            <a:r>
              <a:rPr lang="en-US" sz="2000" dirty="0"/>
              <a:t>Given a hash value y, it should be hard to find any input x such that h(x) = y.</a:t>
            </a:r>
          </a:p>
          <a:p>
            <a:pPr marL="342900">
              <a:spcBef>
                <a:spcPts val="480"/>
              </a:spcBef>
              <a:buSzPts val="2400"/>
            </a:pPr>
            <a:r>
              <a:rPr lang="en-US" dirty="0"/>
              <a:t>weak collision resistant (second-preimage)</a:t>
            </a:r>
          </a:p>
          <a:p>
            <a:pPr marL="800100" lvl="1">
              <a:spcBef>
                <a:spcPts val="480"/>
              </a:spcBef>
              <a:buSzPts val="2400"/>
            </a:pPr>
            <a:r>
              <a:rPr lang="en-US" sz="2000" dirty="0"/>
              <a:t>Given an input x, it should be hard to find a different input x′ such that h(x′) = h(x).</a:t>
            </a:r>
          </a:p>
          <a:p>
            <a:pPr marL="342900">
              <a:spcBef>
                <a:spcPts val="480"/>
              </a:spcBef>
              <a:buSzPts val="2400"/>
            </a:pPr>
            <a:r>
              <a:rPr lang="en-US" dirty="0"/>
              <a:t>strong collision resistant (collision resistance)</a:t>
            </a:r>
          </a:p>
          <a:p>
            <a:pPr marL="342900" lvl="0">
              <a:spcBef>
                <a:spcPts val="480"/>
              </a:spcBef>
              <a:buSzPts val="2400"/>
              <a:buNone/>
            </a:pPr>
            <a:r>
              <a:rPr lang="en-US" sz="2400" dirty="0"/>
              <a:t>	It should be hard to find any two different inputs x and x′ such that h(x) = h(x′).</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4"/>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Times New Roman"/>
              <a:buNone/>
            </a:pPr>
            <a:r>
              <a:rPr lang="en-US" sz="4400" b="0" i="0" u="none" dirty="0">
                <a:solidFill>
                  <a:schemeClr val="dk2"/>
                </a:solidFill>
                <a:latin typeface="Times New Roman"/>
                <a:ea typeface="Times New Roman"/>
                <a:cs typeface="Times New Roman"/>
                <a:sym typeface="Times New Roman"/>
              </a:rPr>
              <a:t>Usage of Hash Functions?</a:t>
            </a:r>
            <a:endParaRPr dirty="0"/>
          </a:p>
        </p:txBody>
      </p:sp>
      <p:sp>
        <p:nvSpPr>
          <p:cNvPr id="145" name="Google Shape;145;p24"/>
          <p:cNvSpPr txBox="1">
            <a:spLocks noGrp="1"/>
          </p:cNvSpPr>
          <p:nvPr>
            <p:ph type="body" idx="1"/>
          </p:nvPr>
        </p:nvSpPr>
        <p:spPr>
          <a:xfrm>
            <a:off x="609600" y="1524000"/>
            <a:ext cx="11074500" cy="4419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2"/>
              </a:buClr>
              <a:buSzPts val="2800"/>
              <a:buFont typeface="Times"/>
              <a:buChar char="•"/>
            </a:pPr>
            <a:r>
              <a:rPr lang="en-US" dirty="0"/>
              <a:t>Authentication  - how do you ensure a password is really in a database?</a:t>
            </a:r>
          </a:p>
          <a:p>
            <a:pPr marL="800100" lvl="1">
              <a:spcBef>
                <a:spcPts val="0"/>
              </a:spcBef>
              <a:buClr>
                <a:schemeClr val="accent2"/>
              </a:buClr>
              <a:buSzPts val="2800"/>
              <a:buFont typeface="Times"/>
              <a:buChar char="•"/>
            </a:pPr>
            <a:r>
              <a:rPr lang="en-US" dirty="0"/>
              <a:t>User enters password P'</a:t>
            </a:r>
            <a:br>
              <a:rPr lang="en-US" dirty="0"/>
            </a:br>
            <a:r>
              <a:rPr lang="en-US" dirty="0"/>
              <a:t>Compute H(P')</a:t>
            </a:r>
            <a:br>
              <a:rPr lang="en-US" dirty="0"/>
            </a:br>
            <a:r>
              <a:rPr lang="en-US" dirty="0"/>
              <a:t>Compare with stored H(P)</a:t>
            </a:r>
            <a:br>
              <a:rPr lang="en-US" dirty="0"/>
            </a:br>
            <a:r>
              <a:rPr lang="en-US" dirty="0"/>
              <a:t>If equal → authentication succeeds</a:t>
            </a:r>
            <a:br>
              <a:rPr lang="en-US" dirty="0"/>
            </a:br>
            <a:endParaRPr lang="en-US" dirty="0"/>
          </a:p>
          <a:p>
            <a:pPr marL="800100" lvl="1">
              <a:spcBef>
                <a:spcPts val="0"/>
              </a:spcBef>
              <a:buClr>
                <a:schemeClr val="accent2"/>
              </a:buClr>
              <a:buSzPts val="2800"/>
              <a:buFont typeface="Times"/>
              <a:buChar char="•"/>
            </a:pPr>
            <a:r>
              <a:rPr lang="en-US" dirty="0"/>
              <a:t>In practice, needs salts</a:t>
            </a:r>
          </a:p>
          <a:p>
            <a:pPr marL="1257300" lvl="2">
              <a:spcBef>
                <a:spcPts val="0"/>
              </a:spcBef>
              <a:buClr>
                <a:schemeClr val="accent2"/>
              </a:buClr>
              <a:buSzPts val="2800"/>
              <a:buFont typeface="Times"/>
              <a:buChar char="•"/>
            </a:pPr>
            <a:r>
              <a:rPr lang="en-US" dirty="0"/>
              <a:t>Prevents identical passwords having identical hashes</a:t>
            </a:r>
            <a:endParaRPr dirty="0"/>
          </a:p>
          <a:p>
            <a:pPr marL="342900" marR="0" lvl="0" indent="-165100" algn="l" rtl="0">
              <a:lnSpc>
                <a:spcPct val="100000"/>
              </a:lnSpc>
              <a:spcBef>
                <a:spcPts val="560"/>
              </a:spcBef>
              <a:spcAft>
                <a:spcPts val="0"/>
              </a:spcAft>
              <a:buClr>
                <a:schemeClr val="accent2"/>
              </a:buClr>
              <a:buSzPts val="2800"/>
              <a:buFont typeface="Times"/>
              <a:buNone/>
            </a:pPr>
            <a:endParaRPr sz="2800" b="0" i="0" u="none" strike="noStrike" cap="none" dirty="0">
              <a:solidFill>
                <a:schemeClr val="dk1"/>
              </a:solidFill>
              <a:latin typeface="Arial"/>
              <a:ea typeface="Arial"/>
              <a:cs typeface="Arial"/>
              <a:sym typeface="Arial"/>
            </a:endParaRPr>
          </a:p>
          <a:p>
            <a:pPr marL="342900" marR="0" lvl="0" indent="-165100" algn="l" rtl="0">
              <a:spcBef>
                <a:spcPts val="560"/>
              </a:spcBef>
              <a:spcAft>
                <a:spcPts val="0"/>
              </a:spcAft>
              <a:buClr>
                <a:schemeClr val="accent2"/>
              </a:buClr>
              <a:buSzPts val="2800"/>
              <a:buFont typeface="Times"/>
              <a:buNone/>
            </a:pPr>
            <a:endParaRPr sz="2800" b="0" i="0" u="none" dirty="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5"/>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Times New Roman"/>
              <a:buNone/>
            </a:pPr>
            <a:r>
              <a:rPr lang="en-US" sz="4400" b="0" i="0" u="none" dirty="0">
                <a:solidFill>
                  <a:schemeClr val="dk2"/>
                </a:solidFill>
                <a:latin typeface="Times New Roman"/>
                <a:ea typeface="Times New Roman"/>
                <a:cs typeface="Times New Roman"/>
                <a:sym typeface="Times New Roman"/>
              </a:rPr>
              <a:t>Merkle Hash Tree for Data Authentication</a:t>
            </a:r>
            <a:endParaRPr dirty="0"/>
          </a:p>
        </p:txBody>
      </p:sp>
      <p:sp>
        <p:nvSpPr>
          <p:cNvPr id="151" name="Google Shape;151;p25"/>
          <p:cNvSpPr txBox="1">
            <a:spLocks noGrp="1"/>
          </p:cNvSpPr>
          <p:nvPr>
            <p:ph type="body" idx="1"/>
          </p:nvPr>
        </p:nvSpPr>
        <p:spPr>
          <a:xfrm>
            <a:off x="609600" y="1524000"/>
            <a:ext cx="11074400" cy="2438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2"/>
              </a:buClr>
              <a:buSzPts val="2800"/>
              <a:buFont typeface="Times"/>
              <a:buChar char="•"/>
            </a:pPr>
            <a:r>
              <a:rPr lang="en-US" sz="2800" b="0" i="0" u="none">
                <a:solidFill>
                  <a:schemeClr val="dk1"/>
                </a:solidFill>
                <a:latin typeface="Arial"/>
                <a:ea typeface="Arial"/>
                <a:cs typeface="Arial"/>
                <a:sym typeface="Arial"/>
              </a:rPr>
              <a:t>Construct a binary tree where each leaf corresponds to a piece of data</a:t>
            </a:r>
            <a:endParaRPr/>
          </a:p>
          <a:p>
            <a:pPr marL="342900" marR="0" lvl="0" indent="-342900" algn="l" rtl="0">
              <a:lnSpc>
                <a:spcPct val="100000"/>
              </a:lnSpc>
              <a:spcBef>
                <a:spcPts val="560"/>
              </a:spcBef>
              <a:spcAft>
                <a:spcPts val="0"/>
              </a:spcAft>
              <a:buClr>
                <a:schemeClr val="accent2"/>
              </a:buClr>
              <a:buSzPts val="2800"/>
              <a:buFont typeface="Times"/>
              <a:buChar char="•"/>
            </a:pPr>
            <a:r>
              <a:rPr lang="en-US" sz="2800" b="0" i="0" u="none">
                <a:solidFill>
                  <a:schemeClr val="dk1"/>
                </a:solidFill>
                <a:latin typeface="Arial"/>
                <a:ea typeface="Arial"/>
                <a:cs typeface="Arial"/>
                <a:sym typeface="Arial"/>
              </a:rPr>
              <a:t>Each internal node is hash of two children</a:t>
            </a:r>
            <a:endParaRPr/>
          </a:p>
          <a:p>
            <a:pPr marL="342900" marR="0" lvl="0" indent="-342900" algn="l" rtl="0">
              <a:lnSpc>
                <a:spcPct val="100000"/>
              </a:lnSpc>
              <a:spcBef>
                <a:spcPts val="560"/>
              </a:spcBef>
              <a:spcAft>
                <a:spcPts val="0"/>
              </a:spcAft>
              <a:buClr>
                <a:schemeClr val="accent2"/>
              </a:buClr>
              <a:buSzPts val="2800"/>
              <a:buFont typeface="Times"/>
              <a:buChar char="•"/>
            </a:pPr>
            <a:r>
              <a:rPr lang="en-US"/>
              <a:t>Authenticate</a:t>
            </a:r>
            <a:r>
              <a:rPr lang="en-US" sz="2800" b="0" i="0" u="none">
                <a:solidFill>
                  <a:schemeClr val="dk1"/>
                </a:solidFill>
                <a:latin typeface="Arial"/>
                <a:ea typeface="Arial"/>
                <a:cs typeface="Arial"/>
                <a:sym typeface="Arial"/>
              </a:rPr>
              <a:t> the root using some method</a:t>
            </a:r>
            <a:endParaRPr/>
          </a:p>
          <a:p>
            <a:pPr marL="342900" marR="0" lvl="0" indent="-342900" algn="l" rtl="0">
              <a:lnSpc>
                <a:spcPct val="100000"/>
              </a:lnSpc>
              <a:spcBef>
                <a:spcPts val="560"/>
              </a:spcBef>
              <a:spcAft>
                <a:spcPts val="0"/>
              </a:spcAft>
              <a:buClr>
                <a:schemeClr val="accent2"/>
              </a:buClr>
              <a:buSzPts val="2800"/>
              <a:buFont typeface="Times"/>
              <a:buChar char="•"/>
            </a:pPr>
            <a:r>
              <a:rPr lang="en-US" sz="2800" b="0" i="0" u="none">
                <a:solidFill>
                  <a:schemeClr val="dk1"/>
                </a:solidFill>
                <a:latin typeface="Arial"/>
                <a:ea typeface="Arial"/>
                <a:cs typeface="Arial"/>
                <a:sym typeface="Arial"/>
              </a:rPr>
              <a:t>A leaf node along with the sibling node of each node to the path suffices to authenticate the node </a:t>
            </a:r>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Needs log(n) computation to authenticate any node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6"/>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Merkle Hash Tree for Data Authentication</a:t>
            </a:r>
            <a:endParaRPr/>
          </a:p>
        </p:txBody>
      </p:sp>
      <p:sp>
        <p:nvSpPr>
          <p:cNvPr id="157" name="Google Shape;157;p26"/>
          <p:cNvSpPr txBox="1"/>
          <p:nvPr/>
        </p:nvSpPr>
        <p:spPr>
          <a:xfrm>
            <a:off x="9144000" y="6400800"/>
            <a:ext cx="2540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254C9C"/>
              </a:buClr>
              <a:buSzPts val="1400"/>
              <a:buFont typeface="Arial"/>
              <a:buNone/>
            </a:pPr>
            <a:endParaRPr/>
          </a:p>
        </p:txBody>
      </p:sp>
      <p:sp>
        <p:nvSpPr>
          <p:cNvPr id="158" name="Google Shape;158;p26"/>
          <p:cNvSpPr txBox="1"/>
          <p:nvPr/>
        </p:nvSpPr>
        <p:spPr>
          <a:xfrm>
            <a:off x="406400" y="5602287"/>
            <a:ext cx="11175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https://commons.wikimedia.org/wiki/File:MerkleTree2.svg#/media/File:MerkleTree2.svg</a:t>
            </a:r>
            <a:endParaRPr/>
          </a:p>
        </p:txBody>
      </p:sp>
      <p:pic>
        <p:nvPicPr>
          <p:cNvPr id="159" name="Google Shape;159;p26"/>
          <p:cNvPicPr preferRelativeResize="0"/>
          <p:nvPr/>
        </p:nvPicPr>
        <p:blipFill>
          <a:blip r:embed="rId3">
            <a:alphaModFix/>
          </a:blip>
          <a:stretch>
            <a:fillRect/>
          </a:stretch>
        </p:blipFill>
        <p:spPr>
          <a:xfrm>
            <a:off x="1691950" y="1143000"/>
            <a:ext cx="6529843" cy="415448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Structure</a:t>
            </a:r>
          </a:p>
        </p:txBody>
      </p:sp>
      <p:sp>
        <p:nvSpPr>
          <p:cNvPr id="3" name="Content Placeholder 2"/>
          <p:cNvSpPr>
            <a:spLocks noGrp="1"/>
          </p:cNvSpPr>
          <p:nvPr>
            <p:ph idx="1"/>
          </p:nvPr>
        </p:nvSpPr>
        <p:spPr/>
        <p:txBody>
          <a:bodyPr/>
          <a:lstStyle/>
          <a:p>
            <a:r>
              <a:t>Each data block is hashed</a:t>
            </a:r>
          </a:p>
          <a:p>
            <a:r>
              <a:t>Neighbor hashes are combined and hashed again</a:t>
            </a:r>
          </a:p>
          <a:p>
            <a:r>
              <a:t>This process continues until one hash remains (root hash)</a:t>
            </a:r>
          </a:p>
          <a:p>
            <a:endParaRPr/>
          </a:p>
          <a:p>
            <a:r>
              <a:t>Example:</a:t>
            </a:r>
          </a:p>
          <a:p>
            <a:r>
              <a:t>H(D1), H(D2), H(D3), H(D4)</a:t>
            </a:r>
          </a:p>
          <a:p>
            <a:r>
              <a:t>H(H(D1)||H(D2)), H(H(D3)||H(D4))</a:t>
            </a:r>
          </a:p>
          <a:p>
            <a:r>
              <a:t>Root hash</a:t>
            </a:r>
          </a:p>
        </p:txBody>
      </p:sp>
      <p:pic>
        <p:nvPicPr>
          <p:cNvPr id="4" name="Google Shape;159;p26">
            <a:extLst>
              <a:ext uri="{FF2B5EF4-FFF2-40B4-BE49-F238E27FC236}">
                <a16:creationId xmlns:a16="http://schemas.microsoft.com/office/drawing/2014/main" id="{EB959EAC-B8D0-0B3C-7478-0624A1994795}"/>
              </a:ext>
            </a:extLst>
          </p:cNvPr>
          <p:cNvPicPr preferRelativeResize="0"/>
          <p:nvPr/>
        </p:nvPicPr>
        <p:blipFill>
          <a:blip r:embed="rId2">
            <a:alphaModFix/>
          </a:blip>
          <a:stretch>
            <a:fillRect/>
          </a:stretch>
        </p:blipFill>
        <p:spPr>
          <a:xfrm>
            <a:off x="6594456" y="3311279"/>
            <a:ext cx="4598681" cy="270852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Authentication</a:t>
            </a:r>
          </a:p>
        </p:txBody>
      </p:sp>
      <p:sp>
        <p:nvSpPr>
          <p:cNvPr id="3" name="Content Placeholder 2"/>
          <p:cNvSpPr>
            <a:spLocks noGrp="1"/>
          </p:cNvSpPr>
          <p:nvPr>
            <p:ph idx="1"/>
          </p:nvPr>
        </p:nvSpPr>
        <p:spPr/>
        <p:txBody>
          <a:bodyPr/>
          <a:lstStyle/>
          <a:p>
            <a:r>
              <a:rPr dirty="0"/>
              <a:t>To verify a data block, only a few hashes are needed.</a:t>
            </a:r>
          </a:p>
          <a:p>
            <a:endParaRPr dirty="0"/>
          </a:p>
          <a:p>
            <a:r>
              <a:rPr dirty="0"/>
              <a:t>Example: verify D1</a:t>
            </a:r>
          </a:p>
          <a:p>
            <a:r>
              <a:rPr dirty="0"/>
              <a:t>Need: D1, H(D2), H(H(D3)||H(D4))</a:t>
            </a:r>
          </a:p>
          <a:p>
            <a:endParaRPr dirty="0"/>
          </a:p>
          <a:p>
            <a:r>
              <a:rPr dirty="0"/>
              <a:t>Verification cost: O(log n)</a:t>
            </a:r>
          </a:p>
        </p:txBody>
      </p:sp>
      <p:pic>
        <p:nvPicPr>
          <p:cNvPr id="4" name="Google Shape;159;p26">
            <a:extLst>
              <a:ext uri="{FF2B5EF4-FFF2-40B4-BE49-F238E27FC236}">
                <a16:creationId xmlns:a16="http://schemas.microsoft.com/office/drawing/2014/main" id="{C910C2C3-F628-298B-5D2B-B210F463C809}"/>
              </a:ext>
            </a:extLst>
          </p:cNvPr>
          <p:cNvPicPr preferRelativeResize="0"/>
          <p:nvPr/>
        </p:nvPicPr>
        <p:blipFill>
          <a:blip r:embed="rId2">
            <a:alphaModFix/>
          </a:blip>
          <a:stretch>
            <a:fillRect/>
          </a:stretch>
        </p:blipFill>
        <p:spPr>
          <a:xfrm>
            <a:off x="6671574" y="2760436"/>
            <a:ext cx="4598681" cy="270852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7"/>
          <p:cNvSpPr txBox="1">
            <a:spLocks noGrp="1"/>
          </p:cNvSpPr>
          <p:nvPr>
            <p:ph type="title"/>
          </p:nvPr>
        </p:nvSpPr>
        <p:spPr>
          <a:xfrm>
            <a:off x="609600" y="76200"/>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Usages of Cryptographic Hash Functions</a:t>
            </a:r>
            <a:endParaRPr/>
          </a:p>
        </p:txBody>
      </p:sp>
      <p:sp>
        <p:nvSpPr>
          <p:cNvPr id="166" name="Google Shape;166;p27"/>
          <p:cNvSpPr txBox="1">
            <a:spLocks noGrp="1"/>
          </p:cNvSpPr>
          <p:nvPr>
            <p:ph type="body" idx="1"/>
          </p:nvPr>
        </p:nvSpPr>
        <p:spPr>
          <a:xfrm>
            <a:off x="609600" y="1524000"/>
            <a:ext cx="6377700" cy="46482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accent2"/>
              </a:buClr>
              <a:buSzPts val="2800"/>
              <a:buFont typeface="Times"/>
              <a:buChar char="•"/>
            </a:pPr>
            <a:r>
              <a:rPr lang="en-US" sz="2800" b="0" i="0" u="none">
                <a:solidFill>
                  <a:schemeClr val="dk1"/>
                </a:solidFill>
                <a:latin typeface="Arial"/>
                <a:ea typeface="Arial"/>
                <a:cs typeface="Arial"/>
                <a:sym typeface="Arial"/>
              </a:rPr>
              <a:t>Software integrity</a:t>
            </a:r>
            <a:endParaRPr/>
          </a:p>
          <a:p>
            <a:pPr marL="742950" lvl="1" indent="-28575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Arial"/>
                <a:ea typeface="Arial"/>
                <a:cs typeface="Arial"/>
                <a:sym typeface="Arial"/>
              </a:rPr>
              <a:t>E.g., tripwire</a:t>
            </a:r>
            <a:endParaRPr/>
          </a:p>
          <a:p>
            <a:pPr marL="342900" lvl="0" indent="-342900" algn="l" rtl="0">
              <a:lnSpc>
                <a:spcPct val="100000"/>
              </a:lnSpc>
              <a:spcBef>
                <a:spcPts val="560"/>
              </a:spcBef>
              <a:spcAft>
                <a:spcPts val="0"/>
              </a:spcAft>
              <a:buClr>
                <a:schemeClr val="accent2"/>
              </a:buClr>
              <a:buSzPts val="2800"/>
              <a:buFont typeface="Times"/>
              <a:buChar char="•"/>
            </a:pPr>
            <a:r>
              <a:rPr lang="en-US" sz="2800" b="0" i="0" u="none">
                <a:solidFill>
                  <a:schemeClr val="dk1"/>
                </a:solidFill>
                <a:latin typeface="Arial"/>
                <a:ea typeface="Arial"/>
                <a:cs typeface="Arial"/>
                <a:sym typeface="Arial"/>
              </a:rPr>
              <a:t>Timestamping (cryptographic commitment)</a:t>
            </a:r>
            <a:endParaRPr/>
          </a:p>
          <a:p>
            <a:pPr marL="342900" lvl="0" indent="-342900" algn="l" rtl="0">
              <a:lnSpc>
                <a:spcPct val="100000"/>
              </a:lnSpc>
              <a:spcBef>
                <a:spcPts val="560"/>
              </a:spcBef>
              <a:spcAft>
                <a:spcPts val="0"/>
              </a:spcAft>
              <a:buClr>
                <a:schemeClr val="accent2"/>
              </a:buClr>
              <a:buSzPts val="2800"/>
              <a:buFont typeface="Times"/>
              <a:buChar char="•"/>
            </a:pPr>
            <a:r>
              <a:rPr lang="en-US" sz="2800" b="0" i="0" u="none">
                <a:solidFill>
                  <a:schemeClr val="dk1"/>
                </a:solidFill>
                <a:latin typeface="Arial"/>
                <a:ea typeface="Arial"/>
                <a:cs typeface="Arial"/>
                <a:sym typeface="Arial"/>
              </a:rPr>
              <a:t>Authenticating logs (a long </a:t>
            </a:r>
            <a:br>
              <a:rPr lang="en-US" sz="2800" b="0" i="0" u="none">
                <a:solidFill>
                  <a:schemeClr val="dk1"/>
                </a:solidFill>
                <a:latin typeface="Arial"/>
                <a:ea typeface="Arial"/>
                <a:cs typeface="Arial"/>
                <a:sym typeface="Arial"/>
              </a:rPr>
            </a:br>
            <a:r>
              <a:rPr lang="en-US" sz="2800" b="0" i="0" u="none">
                <a:solidFill>
                  <a:schemeClr val="dk1"/>
                </a:solidFill>
                <a:latin typeface="Arial"/>
                <a:ea typeface="Arial"/>
                <a:cs typeface="Arial"/>
                <a:sym typeface="Arial"/>
              </a:rPr>
              <a:t>history of events)</a:t>
            </a:r>
            <a:endParaRPr/>
          </a:p>
          <a:p>
            <a:pPr marL="342900" lvl="0" indent="-342900" algn="l" rtl="0">
              <a:lnSpc>
                <a:spcPct val="100000"/>
              </a:lnSpc>
              <a:spcBef>
                <a:spcPts val="560"/>
              </a:spcBef>
              <a:spcAft>
                <a:spcPts val="0"/>
              </a:spcAft>
              <a:buClr>
                <a:schemeClr val="accent2"/>
              </a:buClr>
              <a:buSzPts val="2800"/>
              <a:buFont typeface="Times"/>
              <a:buChar char="•"/>
            </a:pPr>
            <a:r>
              <a:rPr lang="en-US" sz="2800" b="0" i="0" u="none">
                <a:solidFill>
                  <a:schemeClr val="dk1"/>
                </a:solidFill>
                <a:latin typeface="Arial"/>
                <a:ea typeface="Arial"/>
                <a:cs typeface="Arial"/>
                <a:sym typeface="Arial"/>
              </a:rPr>
              <a:t>Covered later</a:t>
            </a:r>
            <a:endParaRPr/>
          </a:p>
          <a:p>
            <a:pPr marL="742950" lvl="1" indent="-28575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Arial"/>
                <a:ea typeface="Arial"/>
                <a:cs typeface="Arial"/>
                <a:sym typeface="Arial"/>
              </a:rPr>
              <a:t>Message authentication</a:t>
            </a:r>
            <a:endParaRPr/>
          </a:p>
          <a:p>
            <a:pPr marL="742950" lvl="1" indent="-28575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Arial"/>
                <a:ea typeface="Arial"/>
                <a:cs typeface="Arial"/>
                <a:sym typeface="Arial"/>
              </a:rPr>
              <a:t>One-time passwords</a:t>
            </a:r>
            <a:endParaRPr/>
          </a:p>
          <a:p>
            <a:pPr marL="742950" lvl="1" indent="-28575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Arial"/>
                <a:ea typeface="Arial"/>
                <a:cs typeface="Arial"/>
                <a:sym typeface="Arial"/>
              </a:rPr>
              <a:t>Digital signature</a:t>
            </a:r>
            <a:endParaRPr/>
          </a:p>
          <a:p>
            <a:pPr marL="342900" lvl="0" indent="-190500" algn="l" rtl="0">
              <a:spcBef>
                <a:spcPts val="480"/>
              </a:spcBef>
              <a:spcAft>
                <a:spcPts val="0"/>
              </a:spcAft>
              <a:buSzPts val="2400"/>
              <a:buNone/>
            </a:pPr>
            <a:endParaRPr sz="2400" b="0" i="0" u="none">
              <a:solidFill>
                <a:schemeClr val="dk1"/>
              </a:solidFill>
              <a:latin typeface="Arial"/>
              <a:ea typeface="Arial"/>
              <a:cs typeface="Arial"/>
              <a:sym typeface="Arial"/>
            </a:endParaRPr>
          </a:p>
        </p:txBody>
      </p:sp>
      <p:pic>
        <p:nvPicPr>
          <p:cNvPr id="167" name="Google Shape;167;p27"/>
          <p:cNvPicPr preferRelativeResize="0"/>
          <p:nvPr/>
        </p:nvPicPr>
        <p:blipFill>
          <a:blip r:embed="rId3">
            <a:alphaModFix/>
          </a:blip>
          <a:stretch>
            <a:fillRect/>
          </a:stretch>
        </p:blipFill>
        <p:spPr>
          <a:xfrm>
            <a:off x="6181000" y="1371600"/>
            <a:ext cx="5858601" cy="3561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8"/>
          <p:cNvSpPr txBox="1"/>
          <p:nvPr/>
        </p:nvSpPr>
        <p:spPr>
          <a:xfrm>
            <a:off x="4165600" y="6400800"/>
            <a:ext cx="38608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54C9C"/>
              </a:buClr>
              <a:buSzPts val="1400"/>
              <a:buFont typeface="Arial"/>
              <a:buNone/>
            </a:pPr>
            <a:endParaRPr/>
          </a:p>
        </p:txBody>
      </p:sp>
      <p:sp>
        <p:nvSpPr>
          <p:cNvPr id="174" name="Google Shape;174;p28"/>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imes New Roman"/>
              <a:buNone/>
            </a:pPr>
            <a:r>
              <a:rPr lang="en-US" sz="4000" b="0" i="0" u="none">
                <a:solidFill>
                  <a:schemeClr val="dk2"/>
                </a:solidFill>
                <a:latin typeface="Times New Roman"/>
                <a:ea typeface="Times New Roman"/>
                <a:cs typeface="Times New Roman"/>
                <a:sym typeface="Times New Roman"/>
              </a:rPr>
              <a:t>Bruteforce Attacks on Hash Functions</a:t>
            </a:r>
            <a:endParaRPr/>
          </a:p>
        </p:txBody>
      </p:sp>
      <p:sp>
        <p:nvSpPr>
          <p:cNvPr id="175" name="Google Shape;175;p28"/>
          <p:cNvSpPr txBox="1">
            <a:spLocks noGrp="1"/>
          </p:cNvSpPr>
          <p:nvPr>
            <p:ph type="body" idx="1"/>
          </p:nvPr>
        </p:nvSpPr>
        <p:spPr>
          <a:xfrm>
            <a:off x="711200" y="1219200"/>
            <a:ext cx="10566400" cy="46482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accent2"/>
              </a:buClr>
              <a:buSzPts val="2800"/>
              <a:buFont typeface="Times"/>
              <a:buChar char="•"/>
            </a:pPr>
            <a:r>
              <a:rPr lang="en-US" sz="2800" b="0" i="0" u="none" dirty="0">
                <a:solidFill>
                  <a:schemeClr val="dk1"/>
                </a:solidFill>
                <a:latin typeface="Arial"/>
                <a:ea typeface="Arial"/>
                <a:cs typeface="Arial"/>
                <a:sym typeface="Arial"/>
              </a:rPr>
              <a:t>Attacking one-</a:t>
            </a:r>
            <a:r>
              <a:rPr lang="en-US" sz="2800" b="0" i="0" u="none" dirty="0" err="1">
                <a:solidFill>
                  <a:schemeClr val="dk1"/>
                </a:solidFill>
                <a:latin typeface="Arial"/>
                <a:ea typeface="Arial"/>
                <a:cs typeface="Arial"/>
                <a:sym typeface="Arial"/>
              </a:rPr>
              <a:t>wayness</a:t>
            </a:r>
            <a:endParaRPr dirty="0"/>
          </a:p>
          <a:p>
            <a:pPr marL="742950" lvl="1" indent="-285750" algn="l" rtl="0">
              <a:lnSpc>
                <a:spcPct val="100000"/>
              </a:lnSpc>
              <a:spcBef>
                <a:spcPts val="480"/>
              </a:spcBef>
              <a:spcAft>
                <a:spcPts val="0"/>
              </a:spcAft>
              <a:buClr>
                <a:schemeClr val="dk1"/>
              </a:buClr>
              <a:buSzPts val="2400"/>
              <a:buFont typeface="Arial"/>
              <a:buChar char="–"/>
            </a:pPr>
            <a:r>
              <a:rPr lang="en-US" sz="2400" b="0" i="0" u="none" dirty="0">
                <a:solidFill>
                  <a:schemeClr val="dk1"/>
                </a:solidFill>
                <a:latin typeface="Arial"/>
                <a:ea typeface="Arial"/>
                <a:cs typeface="Arial"/>
                <a:sym typeface="Arial"/>
              </a:rPr>
              <a:t>Goal: given </a:t>
            </a:r>
            <a:r>
              <a:rPr lang="en-US" sz="2400" b="0" i="0" u="none" dirty="0" err="1">
                <a:solidFill>
                  <a:schemeClr val="dk1"/>
                </a:solidFill>
                <a:latin typeface="Arial"/>
                <a:ea typeface="Arial"/>
                <a:cs typeface="Arial"/>
                <a:sym typeface="Arial"/>
              </a:rPr>
              <a:t>h:X→Y</a:t>
            </a:r>
            <a:r>
              <a:rPr lang="en-US" sz="2400" b="0" i="0" u="none" dirty="0">
                <a:solidFill>
                  <a:schemeClr val="dk1"/>
                </a:solidFill>
                <a:latin typeface="Arial"/>
                <a:ea typeface="Arial"/>
                <a:cs typeface="Arial"/>
                <a:sym typeface="Arial"/>
              </a:rPr>
              <a:t>, </a:t>
            </a:r>
            <a:r>
              <a:rPr lang="en-US" sz="2400" b="0" i="0" u="none" dirty="0" err="1">
                <a:solidFill>
                  <a:schemeClr val="dk1"/>
                </a:solidFill>
                <a:latin typeface="Arial"/>
                <a:ea typeface="Arial"/>
                <a:cs typeface="Arial"/>
                <a:sym typeface="Arial"/>
              </a:rPr>
              <a:t>y∈Y</a:t>
            </a:r>
            <a:r>
              <a:rPr lang="en-US" sz="2400" b="0" i="0" u="none" dirty="0">
                <a:solidFill>
                  <a:schemeClr val="dk1"/>
                </a:solidFill>
                <a:latin typeface="Arial"/>
                <a:ea typeface="Arial"/>
                <a:cs typeface="Arial"/>
                <a:sym typeface="Arial"/>
              </a:rPr>
              <a:t>, find x such that h(x)=y</a:t>
            </a:r>
            <a:endParaRPr dirty="0"/>
          </a:p>
          <a:p>
            <a:pPr marL="742950" lvl="1" indent="-285750" algn="l" rtl="0">
              <a:lnSpc>
                <a:spcPct val="100000"/>
              </a:lnSpc>
              <a:spcBef>
                <a:spcPts val="480"/>
              </a:spcBef>
              <a:spcAft>
                <a:spcPts val="0"/>
              </a:spcAft>
              <a:buClr>
                <a:schemeClr val="dk1"/>
              </a:buClr>
              <a:buSzPts val="2400"/>
              <a:buFont typeface="Arial"/>
              <a:buChar char="–"/>
            </a:pPr>
            <a:r>
              <a:rPr lang="en-US" sz="2400" b="0" i="0" u="none" dirty="0">
                <a:solidFill>
                  <a:schemeClr val="dk1"/>
                </a:solidFill>
                <a:latin typeface="Arial"/>
                <a:ea typeface="Arial"/>
                <a:cs typeface="Arial"/>
                <a:sym typeface="Arial"/>
              </a:rPr>
              <a:t>Algorithm: </a:t>
            </a:r>
            <a:endParaRPr dirty="0"/>
          </a:p>
          <a:p>
            <a:pPr marL="1143000" lvl="2" indent="-228600" algn="l" rtl="0">
              <a:lnSpc>
                <a:spcPct val="100000"/>
              </a:lnSpc>
              <a:spcBef>
                <a:spcPts val="480"/>
              </a:spcBef>
              <a:spcAft>
                <a:spcPts val="0"/>
              </a:spcAft>
              <a:buClr>
                <a:schemeClr val="dk1"/>
              </a:buClr>
              <a:buSzPts val="2400"/>
              <a:buFont typeface="Arial"/>
              <a:buChar char="•"/>
            </a:pPr>
            <a:r>
              <a:rPr lang="en-US" sz="2400" b="0" i="0" u="none" dirty="0">
                <a:solidFill>
                  <a:schemeClr val="dk1"/>
                </a:solidFill>
                <a:latin typeface="Arial"/>
                <a:ea typeface="Arial"/>
                <a:cs typeface="Arial"/>
                <a:sym typeface="Arial"/>
              </a:rPr>
              <a:t>pick a random value x in X, check if h(x)=y, if h(x)=y, returns x; otherwise iterate</a:t>
            </a:r>
            <a:endParaRPr lang="en-US" dirty="0"/>
          </a:p>
          <a:p>
            <a:pPr marL="1143000" lvl="2" indent="-228600" algn="l" rtl="0">
              <a:lnSpc>
                <a:spcPct val="100000"/>
              </a:lnSpc>
              <a:spcBef>
                <a:spcPts val="480"/>
              </a:spcBef>
              <a:spcAft>
                <a:spcPts val="0"/>
              </a:spcAft>
              <a:buClr>
                <a:schemeClr val="dk1"/>
              </a:buClr>
              <a:buSzPts val="2400"/>
              <a:buFont typeface="Arial"/>
              <a:buChar char="•"/>
            </a:pPr>
            <a:r>
              <a:rPr lang="en-US" sz="2400" b="0" i="0" u="none" dirty="0">
                <a:solidFill>
                  <a:schemeClr val="dk1"/>
                </a:solidFill>
                <a:latin typeface="Arial"/>
                <a:ea typeface="Arial"/>
                <a:cs typeface="Arial"/>
                <a:sym typeface="Arial"/>
              </a:rPr>
              <a:t>after failing q iterations, return fail</a:t>
            </a:r>
            <a:endParaRPr lang="en-US" dirty="0"/>
          </a:p>
          <a:p>
            <a:pPr marL="742950" lvl="1" indent="-285750">
              <a:spcBef>
                <a:spcPts val="480"/>
              </a:spcBef>
              <a:buSzPts val="2400"/>
            </a:pPr>
            <a:r>
              <a:rPr lang="en-US" dirty="0"/>
              <a:t>If the hash output is </a:t>
            </a:r>
            <a:r>
              <a:rPr lang="en-US" b="1" dirty="0"/>
              <a:t>m bits</a:t>
            </a:r>
          </a:p>
          <a:p>
            <a:pPr marL="1200150" lvl="2" indent="-285750">
              <a:spcBef>
                <a:spcPts val="480"/>
              </a:spcBef>
              <a:buSzPts val="2400"/>
            </a:pPr>
            <a:r>
              <a:rPr lang="en-US" dirty="0"/>
              <a:t>To get about a </a:t>
            </a:r>
            <a:r>
              <a:rPr lang="en-US" b="1" dirty="0"/>
              <a:t>50% chance of success</a:t>
            </a:r>
          </a:p>
          <a:p>
            <a:pPr marL="1657350" lvl="3" indent="-285750">
              <a:spcBef>
                <a:spcPts val="480"/>
              </a:spcBef>
              <a:buSzPts val="2400"/>
            </a:pPr>
            <a:r>
              <a:rPr lang="en-US" dirty="0"/>
              <a:t>q ≈ 2^(m−1)</a:t>
            </a:r>
          </a:p>
          <a:p>
            <a:pPr marL="1657350" lvl="3" indent="-285750">
              <a:spcBef>
                <a:spcPts val="480"/>
              </a:spcBef>
              <a:buSzPts val="2400"/>
            </a:pPr>
            <a:r>
              <a:rPr lang="en-US" dirty="0"/>
              <a:t>128-bit hash → about 2^127 attempts</a:t>
            </a:r>
          </a:p>
          <a:p>
            <a:pPr marL="1657350" lvl="3" indent="-285750">
              <a:spcBef>
                <a:spcPts val="480"/>
              </a:spcBef>
              <a:buSzPts val="2400"/>
            </a:pPr>
            <a:r>
              <a:rPr lang="en-US" dirty="0"/>
              <a:t>256-bit hash → about 2^255 attempts</a:t>
            </a:r>
            <a:endParaRPr b="0" i="0" u="none" baseline="30000" dirty="0">
              <a:solidFill>
                <a:schemeClr val="dk1"/>
              </a:solidFill>
              <a:latin typeface="Arial"/>
              <a:ea typeface="Arial"/>
              <a:cs typeface="Arial"/>
              <a:sym typeface="Arial"/>
            </a:endParaRPr>
          </a:p>
        </p:txBody>
      </p:sp>
      <p:sp>
        <p:nvSpPr>
          <p:cNvPr id="177" name="Google Shape;177;p28"/>
          <p:cNvSpPr txBox="1"/>
          <p:nvPr/>
        </p:nvSpPr>
        <p:spPr>
          <a:xfrm>
            <a:off x="187175" y="6400800"/>
            <a:ext cx="10136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https://www.cs.purdue.edu/homes/ninghui/courses/526_Fall15/handouts/15_526_topic04.ppt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0"/>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Parameters</a:t>
            </a:r>
            <a:endParaRPr/>
          </a:p>
        </p:txBody>
      </p:sp>
      <p:sp>
        <p:nvSpPr>
          <p:cNvPr id="191" name="Google Shape;191;p30"/>
          <p:cNvSpPr txBox="1">
            <a:spLocks noGrp="1"/>
          </p:cNvSpPr>
          <p:nvPr>
            <p:ph type="body" idx="1"/>
          </p:nvPr>
        </p:nvSpPr>
        <p:spPr>
          <a:xfrm>
            <a:off x="609600" y="1524000"/>
            <a:ext cx="11074400" cy="4114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2"/>
              </a:buClr>
              <a:buSzPts val="2800"/>
              <a:buFont typeface="Times"/>
              <a:buChar char="•"/>
            </a:pPr>
            <a:r>
              <a:rPr lang="en-US"/>
              <a:t>C</a:t>
            </a:r>
            <a:r>
              <a:rPr lang="en-US" sz="2800" b="0" i="0" u="none">
                <a:solidFill>
                  <a:schemeClr val="dk1"/>
                </a:solidFill>
                <a:latin typeface="Arial"/>
                <a:ea typeface="Arial"/>
                <a:cs typeface="Arial"/>
                <a:sym typeface="Arial"/>
              </a:rPr>
              <a:t>ollision resistance of a hash function that outputs n bits, is about n/2 bits</a:t>
            </a:r>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i.e., it takes 2</a:t>
            </a:r>
            <a:r>
              <a:rPr lang="en-US" sz="2400" b="0" i="0" u="none" strike="noStrike" cap="none" baseline="30000">
                <a:solidFill>
                  <a:schemeClr val="dk1"/>
                </a:solidFill>
                <a:latin typeface="Arial"/>
                <a:ea typeface="Arial"/>
                <a:cs typeface="Arial"/>
                <a:sym typeface="Arial"/>
              </a:rPr>
              <a:t>n/2</a:t>
            </a:r>
            <a:r>
              <a:rPr lang="en-US" sz="2400" b="0" i="0" u="none" strike="noStrike" cap="none">
                <a:solidFill>
                  <a:schemeClr val="dk1"/>
                </a:solidFill>
                <a:latin typeface="Arial"/>
                <a:ea typeface="Arial"/>
                <a:cs typeface="Arial"/>
                <a:sym typeface="Arial"/>
              </a:rPr>
              <a:t> time to bruteforce it</a:t>
            </a:r>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Assuming that no better way of attacking the hash function is known</a:t>
            </a:r>
            <a:endParaRPr/>
          </a:p>
          <a:p>
            <a:pPr marL="342900" marR="0" lvl="0" indent="-342900" algn="l" rtl="0">
              <a:lnSpc>
                <a:spcPct val="100000"/>
              </a:lnSpc>
              <a:spcBef>
                <a:spcPts val="560"/>
              </a:spcBef>
              <a:spcAft>
                <a:spcPts val="0"/>
              </a:spcAft>
              <a:buClr>
                <a:schemeClr val="accent2"/>
              </a:buClr>
              <a:buSzPts val="2800"/>
              <a:buFont typeface="Times"/>
              <a:buChar char="•"/>
            </a:pPr>
            <a:r>
              <a:rPr lang="en-US" sz="2800" b="0" i="0" u="none">
                <a:solidFill>
                  <a:schemeClr val="dk1"/>
                </a:solidFill>
                <a:latin typeface="Arial"/>
                <a:ea typeface="Arial"/>
                <a:cs typeface="Arial"/>
                <a:sym typeface="Arial"/>
              </a:rPr>
              <a:t>Longer outputs often means more computation time and more communication overhead</a:t>
            </a:r>
            <a:endParaRPr sz="2800" b="0" i="0" u="none">
              <a:solidFill>
                <a:schemeClr val="dk1"/>
              </a:solidFill>
              <a:latin typeface="Arial"/>
              <a:ea typeface="Arial"/>
              <a:cs typeface="Arial"/>
              <a:sym typeface="Arial"/>
            </a:endParaRPr>
          </a:p>
          <a:p>
            <a:pPr marL="742950" marR="0" lvl="1" indent="-285750" algn="l" rtl="0">
              <a:lnSpc>
                <a:spcPct val="100000"/>
              </a:lnSpc>
              <a:spcBef>
                <a:spcPts val="560"/>
              </a:spcBef>
              <a:spcAft>
                <a:spcPts val="0"/>
              </a:spcAft>
              <a:buSzPts val="1800"/>
              <a:buChar char="–"/>
            </a:pPr>
            <a:r>
              <a:rPr lang="en-US"/>
              <a:t>Computationally secure</a:t>
            </a:r>
            <a:endParaRPr/>
          </a:p>
          <a:p>
            <a:pPr marL="342900" marR="0" lvl="0" indent="-342900" algn="l" rtl="0">
              <a:lnSpc>
                <a:spcPct val="100000"/>
              </a:lnSpc>
              <a:spcBef>
                <a:spcPts val="560"/>
              </a:spcBef>
              <a:spcAft>
                <a:spcPts val="0"/>
              </a:spcAft>
              <a:buClr>
                <a:schemeClr val="accent2"/>
              </a:buClr>
              <a:buSzPts val="2800"/>
              <a:buFont typeface="Times"/>
              <a:buChar char="•"/>
            </a:pPr>
            <a:endParaRPr/>
          </a:p>
          <a:p>
            <a:pPr marL="342900" marR="0" lvl="0" indent="-165100" algn="l" rtl="0">
              <a:spcBef>
                <a:spcPts val="560"/>
              </a:spcBef>
              <a:spcAft>
                <a:spcPts val="0"/>
              </a:spcAft>
              <a:buClr>
                <a:schemeClr val="accent2"/>
              </a:buClr>
              <a:buSzPts val="2800"/>
              <a:buFont typeface="Times"/>
              <a:buNone/>
            </a:pPr>
            <a:endParaRPr sz="2800" b="0" i="0" u="non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1"/>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imes New Roman"/>
              <a:buNone/>
            </a:pPr>
            <a:r>
              <a:rPr lang="en-US" sz="4000"/>
              <a:t>L</a:t>
            </a:r>
            <a:r>
              <a:rPr lang="en-US" sz="4000" b="0" i="0" u="none">
                <a:solidFill>
                  <a:schemeClr val="dk2"/>
                </a:solidFill>
                <a:latin typeface="Times New Roman"/>
                <a:ea typeface="Times New Roman"/>
                <a:cs typeface="Times New Roman"/>
                <a:sym typeface="Times New Roman"/>
              </a:rPr>
              <a:t>ength of Hash outputs</a:t>
            </a:r>
            <a:endParaRPr/>
          </a:p>
        </p:txBody>
      </p:sp>
      <p:sp>
        <p:nvSpPr>
          <p:cNvPr id="198" name="Google Shape;198;p31"/>
          <p:cNvSpPr txBox="1">
            <a:spLocks noGrp="1"/>
          </p:cNvSpPr>
          <p:nvPr>
            <p:ph type="body" idx="1"/>
          </p:nvPr>
        </p:nvSpPr>
        <p:spPr>
          <a:xfrm>
            <a:off x="609600" y="1371600"/>
            <a:ext cx="11074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accent2"/>
              </a:buClr>
              <a:buSzPts val="2800"/>
              <a:buFont typeface="Times"/>
              <a:buChar char="•"/>
            </a:pPr>
            <a:r>
              <a:rPr lang="en-US" sz="2800" b="0" i="0" u="none">
                <a:solidFill>
                  <a:srgbClr val="FF0000"/>
                </a:solidFill>
                <a:latin typeface="Arial"/>
                <a:ea typeface="Arial"/>
                <a:cs typeface="Arial"/>
                <a:sym typeface="Arial"/>
              </a:rPr>
              <a:t>The Weakest Link Principle</a:t>
            </a:r>
            <a:r>
              <a:rPr lang="en-US" sz="2800" b="0" i="0" u="none">
                <a:solidFill>
                  <a:schemeClr val="dk1"/>
                </a:solidFill>
                <a:latin typeface="Arial"/>
                <a:ea typeface="Arial"/>
                <a:cs typeface="Arial"/>
                <a:sym typeface="Arial"/>
              </a:rPr>
              <a:t>: </a:t>
            </a:r>
            <a:endParaRPr/>
          </a:p>
          <a:p>
            <a:pPr marL="742950" lvl="1" indent="-28575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Arial"/>
                <a:ea typeface="Arial"/>
                <a:cs typeface="Arial"/>
                <a:sym typeface="Arial"/>
              </a:rPr>
              <a:t>A system is only as secure as its weakest link.</a:t>
            </a:r>
            <a:endParaRPr/>
          </a:p>
          <a:p>
            <a:pPr marL="742950" lvl="1" indent="-28575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Arial"/>
                <a:ea typeface="Arial"/>
                <a:cs typeface="Arial"/>
                <a:sym typeface="Arial"/>
              </a:rPr>
              <a:t>Hence all links in a system should have similar levels of security.</a:t>
            </a:r>
            <a:endParaRPr/>
          </a:p>
          <a:p>
            <a:pPr marL="342900" lvl="0" indent="-342900" algn="l" rtl="0">
              <a:lnSpc>
                <a:spcPct val="100000"/>
              </a:lnSpc>
              <a:spcBef>
                <a:spcPts val="480"/>
              </a:spcBef>
              <a:spcAft>
                <a:spcPts val="0"/>
              </a:spcAft>
              <a:buClr>
                <a:schemeClr val="accent2"/>
              </a:buClr>
              <a:buSzPts val="2400"/>
              <a:buFont typeface="Times"/>
              <a:buChar char="•"/>
            </a:pPr>
            <a:r>
              <a:rPr lang="en-US" sz="2400" b="0" i="0" u="none">
                <a:solidFill>
                  <a:schemeClr val="dk1"/>
                </a:solidFill>
                <a:latin typeface="Arial"/>
                <a:ea typeface="Arial"/>
                <a:cs typeface="Arial"/>
                <a:sym typeface="Arial"/>
              </a:rPr>
              <a:t>Because of the birthday attack, the length of hash outputs in general should double the key length of block ciphers</a:t>
            </a:r>
            <a:r>
              <a:rPr lang="en-US" sz="2400"/>
              <a:t>:</a:t>
            </a:r>
            <a:endParaRPr/>
          </a:p>
          <a:p>
            <a:pPr marL="742950" lvl="1" indent="-28575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Arial"/>
                <a:ea typeface="Arial"/>
                <a:cs typeface="Arial"/>
                <a:sym typeface="Arial"/>
              </a:rPr>
              <a:t>SHA-256, SHA-384, SHA-512 </a:t>
            </a:r>
            <a:r>
              <a:rPr lang="en-US" sz="2000"/>
              <a:t>-&gt; </a:t>
            </a:r>
            <a:r>
              <a:rPr lang="en-US" sz="2000" b="0" i="0" u="none">
                <a:solidFill>
                  <a:schemeClr val="dk1"/>
                </a:solidFill>
                <a:latin typeface="Arial"/>
                <a:ea typeface="Arial"/>
                <a:cs typeface="Arial"/>
                <a:sym typeface="Arial"/>
              </a:rPr>
              <a:t>128,192,256</a:t>
            </a:r>
            <a:r>
              <a:rPr lang="en-US" sz="2000"/>
              <a:t> bit keys</a:t>
            </a:r>
            <a:r>
              <a:rPr lang="en-US" sz="2000" b="0" i="0" u="none">
                <a:solidFill>
                  <a:schemeClr val="dk1"/>
                </a:solidFill>
                <a:latin typeface="Arial"/>
                <a:ea typeface="Arial"/>
                <a:cs typeface="Arial"/>
                <a:sym typeface="Arial"/>
              </a:rPr>
              <a:t> in AES</a:t>
            </a:r>
            <a:endParaRPr/>
          </a:p>
          <a:p>
            <a:pPr marL="0" lvl="0" indent="0" algn="l" rtl="0">
              <a:spcBef>
                <a:spcPts val="400"/>
              </a:spcBef>
              <a:spcAft>
                <a:spcPts val="0"/>
              </a:spcAft>
              <a:buSzPts val="2000"/>
              <a:buNone/>
            </a:pPr>
            <a:endParaRPr sz="2000" b="0" i="0" u="non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2"/>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Well Known Hash Functions</a:t>
            </a:r>
            <a:endParaRPr/>
          </a:p>
        </p:txBody>
      </p:sp>
      <p:sp>
        <p:nvSpPr>
          <p:cNvPr id="204" name="Google Shape;204;p32"/>
          <p:cNvSpPr txBox="1">
            <a:spLocks noGrp="1"/>
          </p:cNvSpPr>
          <p:nvPr>
            <p:ph type="body" idx="1"/>
          </p:nvPr>
        </p:nvSpPr>
        <p:spPr>
          <a:xfrm>
            <a:off x="609600" y="1143000"/>
            <a:ext cx="11074400" cy="46482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accent2"/>
              </a:buClr>
              <a:buSzPts val="2400"/>
              <a:buFont typeface="Times"/>
              <a:buChar char="•"/>
            </a:pPr>
            <a:r>
              <a:rPr lang="en-US" sz="2400" b="0" i="0" u="none">
                <a:solidFill>
                  <a:schemeClr val="dk1"/>
                </a:solidFill>
                <a:latin typeface="Arial"/>
                <a:ea typeface="Arial"/>
                <a:cs typeface="Arial"/>
                <a:sym typeface="Arial"/>
              </a:rPr>
              <a:t>MD5 </a:t>
            </a:r>
            <a:endParaRPr/>
          </a:p>
          <a:p>
            <a:pPr marL="742950" lvl="1" indent="-28575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Arial"/>
                <a:ea typeface="Arial"/>
                <a:cs typeface="Arial"/>
                <a:sym typeface="Arial"/>
              </a:rPr>
              <a:t>output 128 bits</a:t>
            </a:r>
            <a:endParaRPr/>
          </a:p>
          <a:p>
            <a:pPr marL="742950" lvl="1" indent="-28575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Arial"/>
                <a:ea typeface="Arial"/>
                <a:cs typeface="Arial"/>
                <a:sym typeface="Arial"/>
              </a:rPr>
              <a:t>collision resistance completely broken by researchers in China in 2004</a:t>
            </a:r>
            <a:endParaRPr/>
          </a:p>
          <a:p>
            <a:pPr marL="342900" lvl="0" indent="-342900" algn="l" rtl="0">
              <a:lnSpc>
                <a:spcPct val="100000"/>
              </a:lnSpc>
              <a:spcBef>
                <a:spcPts val="480"/>
              </a:spcBef>
              <a:spcAft>
                <a:spcPts val="0"/>
              </a:spcAft>
              <a:buClr>
                <a:schemeClr val="accent2"/>
              </a:buClr>
              <a:buSzPts val="2400"/>
              <a:buFont typeface="Times"/>
              <a:buChar char="•"/>
            </a:pPr>
            <a:r>
              <a:rPr lang="en-US" sz="2400" b="0" i="0" u="none">
                <a:solidFill>
                  <a:schemeClr val="dk1"/>
                </a:solidFill>
                <a:latin typeface="Arial"/>
                <a:ea typeface="Arial"/>
                <a:cs typeface="Arial"/>
                <a:sym typeface="Arial"/>
              </a:rPr>
              <a:t>SHA1</a:t>
            </a:r>
            <a:endParaRPr/>
          </a:p>
          <a:p>
            <a:pPr marL="742950" lvl="1" indent="-28575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Arial"/>
                <a:ea typeface="Arial"/>
                <a:cs typeface="Arial"/>
                <a:sym typeface="Arial"/>
              </a:rPr>
              <a:t>output 160 bits</a:t>
            </a:r>
            <a:endParaRPr/>
          </a:p>
          <a:p>
            <a:pPr marL="742950" lvl="1" indent="-28575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Arial"/>
                <a:ea typeface="Arial"/>
                <a:cs typeface="Arial"/>
                <a:sym typeface="Arial"/>
              </a:rPr>
              <a:t>no collision found yet, but method exist to find collisions in less than 2^80</a:t>
            </a:r>
            <a:endParaRPr/>
          </a:p>
          <a:p>
            <a:pPr marL="742950" lvl="1" indent="-28575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Arial"/>
                <a:ea typeface="Arial"/>
                <a:cs typeface="Arial"/>
                <a:sym typeface="Arial"/>
              </a:rPr>
              <a:t>considered insecure for collision resistance</a:t>
            </a:r>
            <a:endParaRPr/>
          </a:p>
          <a:p>
            <a:pPr marL="742950" lvl="1" indent="-28575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Arial"/>
                <a:ea typeface="Arial"/>
                <a:cs typeface="Arial"/>
                <a:sym typeface="Arial"/>
              </a:rPr>
              <a:t>one-wayness still holds</a:t>
            </a:r>
            <a:endParaRPr/>
          </a:p>
          <a:p>
            <a:pPr marL="342900" lvl="0" indent="-342900" algn="l" rtl="0">
              <a:lnSpc>
                <a:spcPct val="100000"/>
              </a:lnSpc>
              <a:spcBef>
                <a:spcPts val="480"/>
              </a:spcBef>
              <a:spcAft>
                <a:spcPts val="0"/>
              </a:spcAft>
              <a:buClr>
                <a:schemeClr val="accent2"/>
              </a:buClr>
              <a:buSzPts val="2400"/>
              <a:buFont typeface="Times"/>
              <a:buChar char="•"/>
            </a:pPr>
            <a:r>
              <a:rPr lang="en-US" sz="2400" b="0" i="0" u="none">
                <a:solidFill>
                  <a:schemeClr val="dk1"/>
                </a:solidFill>
                <a:latin typeface="Arial"/>
                <a:ea typeface="Arial"/>
                <a:cs typeface="Arial"/>
                <a:sym typeface="Arial"/>
              </a:rPr>
              <a:t>SHA2 (SHA-224, SHA-256, SHA-384, SHA-512)</a:t>
            </a:r>
            <a:endParaRPr/>
          </a:p>
          <a:p>
            <a:pPr marL="742950" lvl="1" indent="-28575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Arial"/>
                <a:ea typeface="Arial"/>
                <a:cs typeface="Arial"/>
                <a:sym typeface="Arial"/>
              </a:rPr>
              <a:t>outputs 224, 256, 384, and 512 bits, respectively</a:t>
            </a:r>
            <a:endParaRPr/>
          </a:p>
          <a:p>
            <a:pPr marL="742950" lvl="1" indent="-28575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Arial"/>
                <a:ea typeface="Arial"/>
                <a:cs typeface="Arial"/>
                <a:sym typeface="Arial"/>
              </a:rPr>
              <a:t>No real security concerns yet</a:t>
            </a:r>
            <a:endParaRPr/>
          </a:p>
          <a:p>
            <a:pPr marL="342900" lvl="0" indent="-342900" algn="l" rtl="0">
              <a:lnSpc>
                <a:spcPct val="100000"/>
              </a:lnSpc>
              <a:spcBef>
                <a:spcPts val="480"/>
              </a:spcBef>
              <a:spcAft>
                <a:spcPts val="0"/>
              </a:spcAft>
              <a:buClr>
                <a:schemeClr val="accent2"/>
              </a:buClr>
              <a:buSzPts val="2400"/>
              <a:buFont typeface="Times"/>
              <a:buChar char="•"/>
            </a:pPr>
            <a:r>
              <a:rPr lang="en-US" sz="2400" b="0" i="0" u="none">
                <a:solidFill>
                  <a:schemeClr val="dk1"/>
                </a:solidFill>
                <a:latin typeface="Arial"/>
                <a:ea typeface="Arial"/>
                <a:cs typeface="Arial"/>
                <a:sym typeface="Arial"/>
              </a:rPr>
              <a:t>SHA3 (224, 256, 384, 512)</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3"/>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Times New Roman"/>
              <a:buNone/>
            </a:pPr>
            <a:r>
              <a:rPr lang="en-US" dirty="0"/>
              <a:t>Merkle-Damgård Construction</a:t>
            </a:r>
            <a:endParaRPr dirty="0"/>
          </a:p>
        </p:txBody>
      </p:sp>
      <p:pic>
        <p:nvPicPr>
          <p:cNvPr id="210" name="Google Shape;210;p33"/>
          <p:cNvPicPr preferRelativeResize="0"/>
          <p:nvPr/>
        </p:nvPicPr>
        <p:blipFill rotWithShape="1">
          <a:blip r:embed="rId3">
            <a:alphaModFix/>
          </a:blip>
          <a:srcRect/>
          <a:stretch/>
        </p:blipFill>
        <p:spPr>
          <a:xfrm>
            <a:off x="1727200" y="2971800"/>
            <a:ext cx="6400800" cy="2987675"/>
          </a:xfrm>
          <a:prstGeom prst="rect">
            <a:avLst/>
          </a:prstGeom>
          <a:noFill/>
          <a:ln>
            <a:noFill/>
          </a:ln>
        </p:spPr>
      </p:pic>
      <p:sp>
        <p:nvSpPr>
          <p:cNvPr id="211" name="Google Shape;211;p33"/>
          <p:cNvSpPr txBox="1"/>
          <p:nvPr/>
        </p:nvSpPr>
        <p:spPr>
          <a:xfrm>
            <a:off x="609600" y="1295400"/>
            <a:ext cx="11074400" cy="2895600"/>
          </a:xfrm>
          <a:prstGeom prst="rect">
            <a:avLst/>
          </a:prstGeom>
          <a:noFill/>
          <a:ln>
            <a:noFill/>
          </a:ln>
        </p:spPr>
        <p:txBody>
          <a:bodyPr spcFirstLastPara="1" wrap="square" lIns="91425" tIns="45700" rIns="91425" bIns="45700" anchor="t" anchorCtr="0">
            <a:noAutofit/>
          </a:bodyPr>
          <a:lstStyle/>
          <a:p>
            <a:pPr marL="342900" lvl="0" indent="-342900">
              <a:buClr>
                <a:schemeClr val="accent2"/>
              </a:buClr>
              <a:buSzPts val="2000"/>
              <a:buFont typeface="Times"/>
              <a:buChar char="•"/>
            </a:pPr>
            <a:r>
              <a:rPr lang="en-US" sz="2000" dirty="0"/>
              <a:t>Build a hash function by repeatedly applying a compression function to message blocks.</a:t>
            </a:r>
            <a:endParaRPr lang="en-US" sz="2000" b="0" i="0" u="none" dirty="0">
              <a:solidFill>
                <a:schemeClr val="dk1"/>
              </a:solidFill>
              <a:latin typeface="Arial"/>
              <a:ea typeface="Arial"/>
              <a:cs typeface="Arial"/>
              <a:sym typeface="Arial"/>
            </a:endParaRPr>
          </a:p>
          <a:p>
            <a:pPr marL="342900" lvl="2" indent="-342900">
              <a:buClr>
                <a:schemeClr val="accent2"/>
              </a:buClr>
              <a:buSzPts val="2000"/>
              <a:buFont typeface="Times"/>
              <a:buChar char="•"/>
            </a:pPr>
            <a:r>
              <a:rPr lang="en-US" sz="2000" b="0" i="0" u="none" dirty="0">
                <a:solidFill>
                  <a:schemeClr val="dk1"/>
                </a:solidFill>
                <a:latin typeface="Arial"/>
                <a:ea typeface="Arial"/>
                <a:cs typeface="Arial"/>
                <a:sym typeface="Arial"/>
              </a:rPr>
              <a:t>Message is divided into fixed-size blocks and padded</a:t>
            </a:r>
            <a:endParaRPr dirty="0"/>
          </a:p>
          <a:p>
            <a:pPr marL="342900" marR="0" lvl="0" indent="-342900" algn="l" rtl="0">
              <a:lnSpc>
                <a:spcPct val="100000"/>
              </a:lnSpc>
              <a:spcBef>
                <a:spcPts val="400"/>
              </a:spcBef>
              <a:spcAft>
                <a:spcPts val="0"/>
              </a:spcAft>
              <a:buClr>
                <a:schemeClr val="accent2"/>
              </a:buClr>
              <a:buSzPts val="2000"/>
              <a:buFont typeface="Times"/>
              <a:buChar char="•"/>
            </a:pPr>
            <a:r>
              <a:rPr lang="en-US" sz="2000" b="0" i="0" u="none" dirty="0">
                <a:solidFill>
                  <a:schemeClr val="dk1"/>
                </a:solidFill>
                <a:latin typeface="Arial"/>
                <a:ea typeface="Arial"/>
                <a:cs typeface="Arial"/>
                <a:sym typeface="Arial"/>
              </a:rPr>
              <a:t>Uses a compression function f, which takes a chaining variable (of size of hash output) and a message block, and outputs the next chaining variable</a:t>
            </a:r>
            <a:endParaRPr dirty="0"/>
          </a:p>
          <a:p>
            <a:pPr marL="342900" marR="0" lvl="0" indent="-342900" algn="l" rtl="0">
              <a:lnSpc>
                <a:spcPct val="100000"/>
              </a:lnSpc>
              <a:spcBef>
                <a:spcPts val="400"/>
              </a:spcBef>
              <a:spcAft>
                <a:spcPts val="0"/>
              </a:spcAft>
              <a:buClr>
                <a:schemeClr val="accent2"/>
              </a:buClr>
              <a:buSzPts val="2000"/>
              <a:buFont typeface="Times"/>
              <a:buChar char="•"/>
            </a:pPr>
            <a:r>
              <a:rPr lang="en-US" sz="2000" b="0" i="0" u="none" dirty="0">
                <a:solidFill>
                  <a:schemeClr val="dk1"/>
                </a:solidFill>
                <a:latin typeface="Arial"/>
                <a:ea typeface="Arial"/>
                <a:cs typeface="Arial"/>
                <a:sym typeface="Arial"/>
              </a:rPr>
              <a:t>Final chaining variable is the hash value</a:t>
            </a:r>
            <a:endParaRPr dirty="0"/>
          </a:p>
        </p:txBody>
      </p:sp>
      <p:sp>
        <p:nvSpPr>
          <p:cNvPr id="212" name="Google Shape;212;p33"/>
          <p:cNvSpPr txBox="1"/>
          <p:nvPr/>
        </p:nvSpPr>
        <p:spPr>
          <a:xfrm>
            <a:off x="1117600" y="5959475"/>
            <a:ext cx="9347200"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M=m</a:t>
            </a:r>
            <a:r>
              <a:rPr lang="en-US" sz="2400" b="0" i="0" u="none" baseline="-25000">
                <a:solidFill>
                  <a:schemeClr val="dk1"/>
                </a:solidFill>
                <a:latin typeface="Times New Roman"/>
                <a:ea typeface="Times New Roman"/>
                <a:cs typeface="Times New Roman"/>
                <a:sym typeface="Times New Roman"/>
              </a:rPr>
              <a:t>1</a:t>
            </a:r>
            <a:r>
              <a:rPr lang="en-US" sz="2400" b="0" i="0" u="none">
                <a:solidFill>
                  <a:schemeClr val="dk1"/>
                </a:solidFill>
                <a:latin typeface="Times New Roman"/>
                <a:ea typeface="Times New Roman"/>
                <a:cs typeface="Times New Roman"/>
                <a:sym typeface="Times New Roman"/>
              </a:rPr>
              <a:t>m</a:t>
            </a:r>
            <a:r>
              <a:rPr lang="en-US" sz="2400" b="0" i="0" u="none" baseline="-25000">
                <a:solidFill>
                  <a:schemeClr val="dk1"/>
                </a:solidFill>
                <a:latin typeface="Times New Roman"/>
                <a:ea typeface="Times New Roman"/>
                <a:cs typeface="Times New Roman"/>
                <a:sym typeface="Times New Roman"/>
              </a:rPr>
              <a:t>2</a:t>
            </a:r>
            <a:r>
              <a:rPr lang="en-US" sz="2400" b="0" i="0" u="none">
                <a:solidFill>
                  <a:schemeClr val="dk1"/>
                </a:solidFill>
                <a:latin typeface="Times New Roman"/>
                <a:ea typeface="Times New Roman"/>
                <a:cs typeface="Times New Roman"/>
                <a:sym typeface="Times New Roman"/>
              </a:rPr>
              <a:t>…m</a:t>
            </a:r>
            <a:r>
              <a:rPr lang="en-US" sz="2400" b="0" i="0" u="none" baseline="-25000">
                <a:solidFill>
                  <a:schemeClr val="dk1"/>
                </a:solidFill>
                <a:latin typeface="Times New Roman"/>
                <a:ea typeface="Times New Roman"/>
                <a:cs typeface="Times New Roman"/>
                <a:sym typeface="Times New Roman"/>
              </a:rPr>
              <a:t>n</a:t>
            </a:r>
            <a:r>
              <a:rPr lang="en-US" sz="2400" b="0" i="0" u="none">
                <a:solidFill>
                  <a:schemeClr val="dk1"/>
                </a:solidFill>
                <a:latin typeface="Times New Roman"/>
                <a:ea typeface="Times New Roman"/>
                <a:cs typeface="Times New Roman"/>
                <a:sym typeface="Times New Roman"/>
              </a:rPr>
              <a:t>; C</a:t>
            </a:r>
            <a:r>
              <a:rPr lang="en-US" sz="2400" b="0" i="0" u="none" baseline="-25000">
                <a:solidFill>
                  <a:schemeClr val="dk1"/>
                </a:solidFill>
                <a:latin typeface="Times New Roman"/>
                <a:ea typeface="Times New Roman"/>
                <a:cs typeface="Times New Roman"/>
                <a:sym typeface="Times New Roman"/>
              </a:rPr>
              <a:t>0</a:t>
            </a:r>
            <a:r>
              <a:rPr lang="en-US" sz="2400" b="0" i="0" u="none">
                <a:solidFill>
                  <a:schemeClr val="dk1"/>
                </a:solidFill>
                <a:latin typeface="Times New Roman"/>
                <a:ea typeface="Times New Roman"/>
                <a:cs typeface="Times New Roman"/>
                <a:sym typeface="Times New Roman"/>
              </a:rPr>
              <a:t>=IV, C</a:t>
            </a:r>
            <a:r>
              <a:rPr lang="en-US" sz="2400" b="0" i="0" u="none" baseline="-25000">
                <a:solidFill>
                  <a:schemeClr val="dk1"/>
                </a:solidFill>
                <a:latin typeface="Times New Roman"/>
                <a:ea typeface="Times New Roman"/>
                <a:cs typeface="Times New Roman"/>
                <a:sym typeface="Times New Roman"/>
              </a:rPr>
              <a:t>i+1</a:t>
            </a:r>
            <a:r>
              <a:rPr lang="en-US" sz="2400" b="0" i="0" u="none">
                <a:solidFill>
                  <a:schemeClr val="dk1"/>
                </a:solidFill>
                <a:latin typeface="Times New Roman"/>
                <a:ea typeface="Times New Roman"/>
                <a:cs typeface="Times New Roman"/>
                <a:sym typeface="Times New Roman"/>
              </a:rPr>
              <a:t>=f(C</a:t>
            </a:r>
            <a:r>
              <a:rPr lang="en-US" sz="2400" b="0" i="0" u="none" baseline="-25000">
                <a:solidFill>
                  <a:schemeClr val="dk1"/>
                </a:solidFill>
                <a:latin typeface="Times New Roman"/>
                <a:ea typeface="Times New Roman"/>
                <a:cs typeface="Times New Roman"/>
                <a:sym typeface="Times New Roman"/>
              </a:rPr>
              <a:t>i</a:t>
            </a:r>
            <a:r>
              <a:rPr lang="en-US" sz="2400" b="0" i="0" u="none">
                <a:solidFill>
                  <a:schemeClr val="dk1"/>
                </a:solidFill>
                <a:latin typeface="Times New Roman"/>
                <a:ea typeface="Times New Roman"/>
                <a:cs typeface="Times New Roman"/>
                <a:sym typeface="Times New Roman"/>
              </a:rPr>
              <a:t>,m</a:t>
            </a:r>
            <a:r>
              <a:rPr lang="en-US" sz="2400" b="0" i="0" u="none" baseline="-25000">
                <a:solidFill>
                  <a:schemeClr val="dk1"/>
                </a:solidFill>
                <a:latin typeface="Times New Roman"/>
                <a:ea typeface="Times New Roman"/>
                <a:cs typeface="Times New Roman"/>
                <a:sym typeface="Times New Roman"/>
              </a:rPr>
              <a:t>i</a:t>
            </a:r>
            <a:r>
              <a:rPr lang="en-US" sz="2400" b="0" i="0" u="none">
                <a:solidFill>
                  <a:schemeClr val="dk1"/>
                </a:solidFill>
                <a:latin typeface="Times New Roman"/>
                <a:ea typeface="Times New Roman"/>
                <a:cs typeface="Times New Roman"/>
                <a:sym typeface="Times New Roman"/>
              </a:rPr>
              <a:t>); H(M)=C</a:t>
            </a:r>
            <a:r>
              <a:rPr lang="en-US" sz="2400" b="0" i="0" u="none" baseline="-25000">
                <a:solidFill>
                  <a:schemeClr val="dk1"/>
                </a:solidFill>
                <a:latin typeface="Times New Roman"/>
                <a:ea typeface="Times New Roman"/>
                <a:cs typeface="Times New Roman"/>
                <a:sym typeface="Times New Roman"/>
              </a:rPr>
              <a:t>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4"/>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NIST SHA-3 Competition</a:t>
            </a:r>
            <a:endParaRPr/>
          </a:p>
        </p:txBody>
      </p:sp>
      <p:sp>
        <p:nvSpPr>
          <p:cNvPr id="218" name="Google Shape;218;p34"/>
          <p:cNvSpPr txBox="1">
            <a:spLocks noGrp="1"/>
          </p:cNvSpPr>
          <p:nvPr>
            <p:ph type="body" idx="1"/>
          </p:nvPr>
        </p:nvSpPr>
        <p:spPr>
          <a:xfrm>
            <a:off x="609600" y="1524000"/>
            <a:ext cx="11074400" cy="4114800"/>
          </a:xfrm>
          <a:prstGeom prst="rect">
            <a:avLst/>
          </a:prstGeom>
          <a:noFill/>
          <a:ln>
            <a:noFill/>
          </a:ln>
        </p:spPr>
        <p:txBody>
          <a:bodyPr spcFirstLastPara="1" wrap="square" lIns="91425" tIns="45700" rIns="91425" bIns="45700" anchor="t" anchorCtr="0">
            <a:noAutofit/>
          </a:bodyPr>
          <a:lstStyle/>
          <a:p>
            <a:pPr marL="342900" lvl="0" indent="-355600" algn="l" rtl="0">
              <a:spcBef>
                <a:spcPts val="0"/>
              </a:spcBef>
              <a:spcAft>
                <a:spcPts val="0"/>
              </a:spcAft>
              <a:buSzPts val="2000"/>
              <a:buChar char="•"/>
            </a:pPr>
            <a:r>
              <a:rPr lang="en-US" sz="2000"/>
              <a:t>The publication of FIPS 202 was released in August 2015. This algorithm was originally called Keccak (pronounced “Ketchak”) and was chosen in an open fashion via the NIST hash function competition, which included 51 round-1 entries.</a:t>
            </a:r>
            <a:endParaRPr sz="2000"/>
          </a:p>
          <a:p>
            <a:pPr marL="342900" lvl="0" indent="-355600" algn="l" rtl="0">
              <a:spcBef>
                <a:spcPts val="0"/>
              </a:spcBef>
              <a:spcAft>
                <a:spcPts val="0"/>
              </a:spcAft>
              <a:buSzPts val="2000"/>
              <a:buChar char="•"/>
            </a:pPr>
            <a:r>
              <a:rPr lang="en-US" sz="2000"/>
              <a:t> Designed by Guido Bertoni, Joan Daemen (co-designer of Rijndael/AES), Michael Peeters, and Gilles Van Assche.</a:t>
            </a:r>
            <a:endParaRPr sz="2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5"/>
          <p:cNvSpPr txBox="1">
            <a:spLocks noGrp="1"/>
          </p:cNvSpPr>
          <p:nvPr>
            <p:ph type="title"/>
          </p:nvPr>
        </p:nvSpPr>
        <p:spPr>
          <a:xfrm>
            <a:off x="609600" y="0"/>
            <a:ext cx="10972800" cy="11430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Sponge Function</a:t>
            </a:r>
            <a:endParaRPr dirty="0"/>
          </a:p>
        </p:txBody>
      </p:sp>
      <p:pic>
        <p:nvPicPr>
          <p:cNvPr id="225" name="Google Shape;225;p35"/>
          <p:cNvPicPr preferRelativeResize="0"/>
          <p:nvPr/>
        </p:nvPicPr>
        <p:blipFill>
          <a:blip r:embed="rId3">
            <a:alphaModFix/>
          </a:blip>
          <a:stretch>
            <a:fillRect/>
          </a:stretch>
        </p:blipFill>
        <p:spPr>
          <a:xfrm>
            <a:off x="259350" y="2091700"/>
            <a:ext cx="7567875" cy="3384850"/>
          </a:xfrm>
          <a:prstGeom prst="rect">
            <a:avLst/>
          </a:prstGeom>
          <a:noFill/>
          <a:ln>
            <a:noFill/>
          </a:ln>
        </p:spPr>
      </p:pic>
      <p:sp>
        <p:nvSpPr>
          <p:cNvPr id="226" name="Google Shape;226;p35"/>
          <p:cNvSpPr txBox="1"/>
          <p:nvPr/>
        </p:nvSpPr>
        <p:spPr>
          <a:xfrm>
            <a:off x="8395375" y="1143000"/>
            <a:ext cx="3599100" cy="5038272"/>
          </a:xfrm>
          <a:prstGeom prst="rect">
            <a:avLst/>
          </a:prstGeom>
          <a:noFill/>
          <a:ln>
            <a:noFill/>
          </a:ln>
        </p:spPr>
        <p:txBody>
          <a:bodyPr spcFirstLastPara="1" wrap="square" lIns="91425" tIns="91425" rIns="91425" bIns="91425" anchor="t" anchorCtr="0">
            <a:spAutoFit/>
          </a:bodyPr>
          <a:lstStyle/>
          <a:p>
            <a:pPr marL="457200" lvl="0" indent="-298450" algn="l" rtl="0">
              <a:lnSpc>
                <a:spcPct val="115000"/>
              </a:lnSpc>
              <a:spcBef>
                <a:spcPts val="1200"/>
              </a:spcBef>
              <a:spcAft>
                <a:spcPts val="0"/>
              </a:spcAft>
              <a:buClr>
                <a:schemeClr val="dk1"/>
              </a:buClr>
              <a:buSzPts val="1100"/>
              <a:buChar char="●"/>
            </a:pPr>
            <a:r>
              <a:rPr lang="en-US" sz="1100" dirty="0">
                <a:solidFill>
                  <a:schemeClr val="dk1"/>
                </a:solidFill>
              </a:rPr>
              <a:t>A state memory, </a:t>
            </a:r>
            <a:r>
              <a:rPr lang="en-US" sz="1100" i="1" dirty="0">
                <a:solidFill>
                  <a:schemeClr val="dk1"/>
                </a:solidFill>
              </a:rPr>
              <a:t>S</a:t>
            </a:r>
            <a:r>
              <a:rPr lang="en-US" sz="1100" dirty="0">
                <a:solidFill>
                  <a:schemeClr val="dk1"/>
                </a:solidFill>
              </a:rPr>
              <a:t>, containing </a:t>
            </a:r>
            <a:r>
              <a:rPr lang="en-US" sz="1100" i="1" dirty="0">
                <a:solidFill>
                  <a:schemeClr val="dk1"/>
                </a:solidFill>
              </a:rPr>
              <a:t>b</a:t>
            </a:r>
            <a:r>
              <a:rPr lang="en-US" sz="1100" dirty="0">
                <a:solidFill>
                  <a:schemeClr val="dk1"/>
                </a:solidFill>
              </a:rPr>
              <a:t> bits,</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US" sz="1100" i="1" dirty="0">
                <a:solidFill>
                  <a:schemeClr val="dk1"/>
                </a:solidFill>
              </a:rPr>
              <a:t>S</a:t>
            </a:r>
            <a:r>
              <a:rPr lang="en-US" sz="1100" dirty="0">
                <a:solidFill>
                  <a:schemeClr val="dk1"/>
                </a:solidFill>
              </a:rPr>
              <a:t> is initialized to zero</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a:solidFill>
                  <a:schemeClr val="dk1"/>
                </a:solidFill>
              </a:rPr>
              <a:t>for each </a:t>
            </a:r>
            <a:r>
              <a:rPr lang="en-US" sz="1100" i="1" dirty="0">
                <a:solidFill>
                  <a:schemeClr val="dk1"/>
                </a:solidFill>
              </a:rPr>
              <a:t>r</a:t>
            </a:r>
            <a:r>
              <a:rPr lang="en-US" sz="1100" dirty="0">
                <a:solidFill>
                  <a:schemeClr val="dk1"/>
                </a:solidFill>
              </a:rPr>
              <a:t>-bit block </a:t>
            </a:r>
            <a:r>
              <a:rPr lang="en-US" sz="1100" i="1" dirty="0">
                <a:solidFill>
                  <a:schemeClr val="dk1"/>
                </a:solidFill>
              </a:rPr>
              <a:t>B</a:t>
            </a:r>
            <a:r>
              <a:rPr lang="en-US" sz="1100" dirty="0">
                <a:solidFill>
                  <a:schemeClr val="dk1"/>
                </a:solidFill>
              </a:rPr>
              <a:t> of </a:t>
            </a:r>
            <a:r>
              <a:rPr lang="en-US" sz="1100" i="1" dirty="0">
                <a:solidFill>
                  <a:schemeClr val="dk1"/>
                </a:solidFill>
              </a:rPr>
              <a:t>P</a:t>
            </a:r>
            <a:r>
              <a:rPr lang="en-US" sz="1100" dirty="0">
                <a:solidFill>
                  <a:schemeClr val="dk1"/>
                </a:solidFill>
              </a:rPr>
              <a:t>(string)</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US" sz="1100" i="1" dirty="0">
                <a:solidFill>
                  <a:schemeClr val="dk1"/>
                </a:solidFill>
              </a:rPr>
              <a:t>R</a:t>
            </a:r>
            <a:r>
              <a:rPr lang="en-US" sz="1100" dirty="0">
                <a:solidFill>
                  <a:schemeClr val="dk1"/>
                </a:solidFill>
              </a:rPr>
              <a:t> is replaced with </a:t>
            </a:r>
            <a:r>
              <a:rPr lang="en-US" sz="1100" i="1" dirty="0">
                <a:solidFill>
                  <a:schemeClr val="dk1"/>
                </a:solidFill>
              </a:rPr>
              <a:t>R</a:t>
            </a:r>
            <a:r>
              <a:rPr lang="en-US" sz="1100" dirty="0">
                <a:solidFill>
                  <a:schemeClr val="dk1"/>
                </a:solidFill>
              </a:rPr>
              <a:t> XOR </a:t>
            </a:r>
            <a:r>
              <a:rPr lang="en-US" sz="1100" i="1" dirty="0">
                <a:solidFill>
                  <a:schemeClr val="dk1"/>
                </a:solidFill>
              </a:rPr>
              <a:t>B</a:t>
            </a:r>
            <a:r>
              <a:rPr lang="en-US" sz="1100" dirty="0">
                <a:solidFill>
                  <a:schemeClr val="dk1"/>
                </a:solidFill>
              </a:rPr>
              <a:t> (using bitwise</a:t>
            </a:r>
            <a:r>
              <a:rPr lang="en-US" sz="1100" dirty="0">
                <a:solidFill>
                  <a:schemeClr val="dk1"/>
                </a:solidFill>
                <a:uFill>
                  <a:noFill/>
                </a:uFill>
                <a:hlinkClick r:id="rId4">
                  <a:extLst>
                    <a:ext uri="{A12FA001-AC4F-418D-AE19-62706E023703}">
                      <ahyp:hlinkClr xmlns:ahyp="http://schemas.microsoft.com/office/drawing/2018/hyperlinkcolor" val="tx"/>
                    </a:ext>
                  </a:extLst>
                </a:hlinkClick>
              </a:rPr>
              <a:t> </a:t>
            </a:r>
            <a:r>
              <a:rPr lang="en-US" sz="1100" u="sng" dirty="0">
                <a:solidFill>
                  <a:schemeClr val="hlink"/>
                </a:solidFill>
                <a:hlinkClick r:id="rId4"/>
              </a:rPr>
              <a:t>XOR</a:t>
            </a:r>
            <a:r>
              <a:rPr lang="en-US" sz="1100" dirty="0">
                <a:solidFill>
                  <a:schemeClr val="dk1"/>
                </a:solidFill>
              </a:rPr>
              <a:t>)</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US" sz="1100" i="1" dirty="0">
                <a:solidFill>
                  <a:schemeClr val="dk1"/>
                </a:solidFill>
              </a:rPr>
              <a:t>S</a:t>
            </a:r>
            <a:r>
              <a:rPr lang="en-US" sz="1100" dirty="0">
                <a:solidFill>
                  <a:schemeClr val="dk1"/>
                </a:solidFill>
              </a:rPr>
              <a:t> is replaced by </a:t>
            </a:r>
            <a:r>
              <a:rPr lang="en-US" sz="1100" i="1" dirty="0">
                <a:solidFill>
                  <a:schemeClr val="dk1"/>
                </a:solidFill>
              </a:rPr>
              <a:t>f</a:t>
            </a:r>
            <a:r>
              <a:rPr lang="en-US" sz="1100" dirty="0">
                <a:solidFill>
                  <a:schemeClr val="dk1"/>
                </a:solidFill>
              </a:rPr>
              <a:t>(</a:t>
            </a:r>
            <a:r>
              <a:rPr lang="en-US" sz="1100" i="1" dirty="0">
                <a:solidFill>
                  <a:schemeClr val="dk1"/>
                </a:solidFill>
              </a:rPr>
              <a:t>S</a:t>
            </a:r>
            <a:r>
              <a:rPr lang="en-US" sz="1100" dirty="0">
                <a:solidFill>
                  <a:schemeClr val="dk1"/>
                </a:solidFill>
              </a:rPr>
              <a:t>)</a:t>
            </a:r>
            <a:endParaRPr sz="1100" dirty="0">
              <a:solidFill>
                <a:schemeClr val="dk1"/>
              </a:solidFill>
            </a:endParaRPr>
          </a:p>
          <a:p>
            <a:pPr marL="0" lvl="0" indent="0" algn="l" rtl="0">
              <a:lnSpc>
                <a:spcPct val="115000"/>
              </a:lnSpc>
              <a:spcBef>
                <a:spcPts val="1200"/>
              </a:spcBef>
              <a:spcAft>
                <a:spcPts val="0"/>
              </a:spcAft>
              <a:buNone/>
            </a:pPr>
            <a:r>
              <a:rPr lang="en-US" sz="1100" dirty="0">
                <a:solidFill>
                  <a:schemeClr val="dk1"/>
                </a:solidFill>
              </a:rPr>
              <a:t>The sponge function output is now ready to be produced ("squeezed out") as follows:</a:t>
            </a:r>
            <a:endParaRPr sz="110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US" sz="1100" dirty="0">
                <a:solidFill>
                  <a:schemeClr val="dk1"/>
                </a:solidFill>
              </a:rPr>
              <a:t>repeat</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US" sz="1100" dirty="0">
                <a:solidFill>
                  <a:schemeClr val="dk1"/>
                </a:solidFill>
              </a:rPr>
              <a:t>output the </a:t>
            </a:r>
            <a:r>
              <a:rPr lang="en-US" sz="1100" i="1" dirty="0">
                <a:solidFill>
                  <a:schemeClr val="dk1"/>
                </a:solidFill>
              </a:rPr>
              <a:t>R</a:t>
            </a:r>
            <a:r>
              <a:rPr lang="en-US" sz="1100" dirty="0">
                <a:solidFill>
                  <a:schemeClr val="dk1"/>
                </a:solidFill>
              </a:rPr>
              <a:t> portion of </a:t>
            </a:r>
            <a:r>
              <a:rPr lang="en-US" sz="1100" i="1" dirty="0">
                <a:solidFill>
                  <a:schemeClr val="dk1"/>
                </a:solidFill>
              </a:rPr>
              <a:t>S</a:t>
            </a:r>
            <a:endParaRPr sz="1100" i="1"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US" sz="1100" i="1" dirty="0">
                <a:solidFill>
                  <a:schemeClr val="dk1"/>
                </a:solidFill>
              </a:rPr>
              <a:t>S</a:t>
            </a:r>
            <a:r>
              <a:rPr lang="en-US" sz="1100" dirty="0">
                <a:solidFill>
                  <a:schemeClr val="dk1"/>
                </a:solidFill>
              </a:rPr>
              <a:t> is replaced by </a:t>
            </a:r>
            <a:r>
              <a:rPr lang="en-US" sz="1100" i="1" dirty="0">
                <a:solidFill>
                  <a:schemeClr val="dk1"/>
                </a:solidFill>
              </a:rPr>
              <a:t>f</a:t>
            </a:r>
            <a:r>
              <a:rPr lang="en-US" sz="1100" dirty="0">
                <a:solidFill>
                  <a:schemeClr val="dk1"/>
                </a:solidFill>
              </a:rPr>
              <a:t>(</a:t>
            </a:r>
            <a:r>
              <a:rPr lang="en-US" sz="1100" i="1" dirty="0">
                <a:solidFill>
                  <a:schemeClr val="dk1"/>
                </a:solidFill>
              </a:rPr>
              <a:t>S</a:t>
            </a:r>
            <a:r>
              <a:rPr lang="en-US" sz="1100" dirty="0">
                <a:solidFill>
                  <a:schemeClr val="dk1"/>
                </a:solidFill>
              </a:rPr>
              <a:t>) unless output is full</a:t>
            </a:r>
            <a:endParaRPr sz="1100" dirty="0">
              <a:solidFill>
                <a:schemeClr val="dk1"/>
              </a:solidFill>
            </a:endParaRPr>
          </a:p>
          <a:p>
            <a:pPr marL="0" lvl="0" indent="0" algn="l" rtl="0">
              <a:lnSpc>
                <a:spcPct val="115000"/>
              </a:lnSpc>
              <a:spcBef>
                <a:spcPts val="1200"/>
              </a:spcBef>
              <a:spcAft>
                <a:spcPts val="1200"/>
              </a:spcAft>
              <a:buNone/>
            </a:pPr>
            <a:r>
              <a:rPr lang="en-US" sz="1100" dirty="0">
                <a:solidFill>
                  <a:schemeClr val="dk1"/>
                </a:solidFill>
              </a:rPr>
              <a:t>If less than </a:t>
            </a:r>
            <a:r>
              <a:rPr lang="en-US" sz="1100" i="1" dirty="0">
                <a:solidFill>
                  <a:schemeClr val="dk1"/>
                </a:solidFill>
              </a:rPr>
              <a:t>r</a:t>
            </a:r>
            <a:r>
              <a:rPr lang="en-US" sz="1100" dirty="0">
                <a:solidFill>
                  <a:schemeClr val="dk1"/>
                </a:solidFill>
              </a:rPr>
              <a:t> bits remain to be output, then </a:t>
            </a:r>
            <a:r>
              <a:rPr lang="en-US" sz="1100" i="1" dirty="0">
                <a:solidFill>
                  <a:schemeClr val="dk1"/>
                </a:solidFill>
              </a:rPr>
              <a:t>R</a:t>
            </a:r>
            <a:r>
              <a:rPr lang="en-US" sz="1100" dirty="0">
                <a:solidFill>
                  <a:schemeClr val="dk1"/>
                </a:solidFill>
              </a:rPr>
              <a:t> will be truncated (only part of </a:t>
            </a:r>
            <a:r>
              <a:rPr lang="en-US" sz="1100" i="1" dirty="0">
                <a:solidFill>
                  <a:schemeClr val="dk1"/>
                </a:solidFill>
              </a:rPr>
              <a:t>R</a:t>
            </a:r>
            <a:r>
              <a:rPr lang="en-US" sz="1100" dirty="0">
                <a:solidFill>
                  <a:schemeClr val="dk1"/>
                </a:solidFill>
              </a:rPr>
              <a:t> will be output).</a:t>
            </a:r>
          </a:p>
          <a:p>
            <a:pPr marL="0" lvl="0" indent="0" algn="l" rtl="0">
              <a:lnSpc>
                <a:spcPct val="115000"/>
              </a:lnSpc>
              <a:spcBef>
                <a:spcPts val="1200"/>
              </a:spcBef>
              <a:spcAft>
                <a:spcPts val="1200"/>
              </a:spcAft>
              <a:buNone/>
            </a:pPr>
            <a:endParaRPr lang="en-US" sz="1100" dirty="0">
              <a:solidFill>
                <a:schemeClr val="dk1"/>
              </a:solidFill>
            </a:endParaRPr>
          </a:p>
          <a:p>
            <a:pPr lvl="0">
              <a:lnSpc>
                <a:spcPct val="115000"/>
              </a:lnSpc>
              <a:spcBef>
                <a:spcPts val="1200"/>
              </a:spcBef>
              <a:spcAft>
                <a:spcPts val="1200"/>
              </a:spcAft>
            </a:pPr>
            <a:r>
              <a:rPr lang="en-US" sz="1100" b="1" dirty="0"/>
              <a:t>Absorb: mix input into state</a:t>
            </a:r>
            <a:br>
              <a:rPr lang="en-US" sz="1100" dirty="0"/>
            </a:br>
            <a:r>
              <a:rPr lang="en-US" sz="1100" b="1" dirty="0"/>
              <a:t>Squeeze: extract hash output</a:t>
            </a:r>
            <a:br>
              <a:rPr lang="en-US" sz="1100" dirty="0"/>
            </a:br>
            <a:r>
              <a:rPr lang="en-US" sz="1100" dirty="0"/>
              <a:t>Used in SHA-3</a:t>
            </a:r>
            <a:endParaRPr sz="1100" dirty="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6"/>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imes New Roman"/>
              <a:buNone/>
            </a:pPr>
            <a:r>
              <a:rPr lang="en-US" sz="4000" b="0" i="0" u="none">
                <a:solidFill>
                  <a:schemeClr val="dk2"/>
                </a:solidFill>
                <a:latin typeface="Times New Roman"/>
                <a:ea typeface="Times New Roman"/>
                <a:cs typeface="Times New Roman"/>
                <a:sym typeface="Times New Roman"/>
              </a:rPr>
              <a:t>Limitation of Using Hash Functions for Authentication</a:t>
            </a:r>
            <a:endParaRPr/>
          </a:p>
        </p:txBody>
      </p:sp>
      <p:sp>
        <p:nvSpPr>
          <p:cNvPr id="232" name="Google Shape;232;p36"/>
          <p:cNvSpPr txBox="1">
            <a:spLocks noGrp="1"/>
          </p:cNvSpPr>
          <p:nvPr>
            <p:ph type="body" idx="1"/>
          </p:nvPr>
        </p:nvSpPr>
        <p:spPr>
          <a:xfrm>
            <a:off x="609600" y="1524000"/>
            <a:ext cx="11074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accent2"/>
              </a:buClr>
              <a:buSzPts val="2800"/>
              <a:buFont typeface="Times"/>
              <a:buChar char="•"/>
            </a:pPr>
            <a:r>
              <a:rPr lang="en-US" sz="2800" b="0" i="0" u="none">
                <a:solidFill>
                  <a:schemeClr val="dk1"/>
                </a:solidFill>
                <a:latin typeface="Arial"/>
                <a:ea typeface="Arial"/>
                <a:cs typeface="Arial"/>
                <a:sym typeface="Arial"/>
              </a:rPr>
              <a:t>Require an authentic channel to transmit the hash of a message</a:t>
            </a:r>
            <a:endParaRPr/>
          </a:p>
          <a:p>
            <a:pPr marL="742950" lvl="1" indent="-28575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Arial"/>
                <a:ea typeface="Arial"/>
                <a:cs typeface="Arial"/>
                <a:sym typeface="Arial"/>
              </a:rPr>
              <a:t>Without such a channel, it is insecure, because anyone can compute the hash value of any message, as the hash function is public</a:t>
            </a:r>
            <a:endParaRPr/>
          </a:p>
          <a:p>
            <a:pPr marL="742950" lvl="1" indent="-28575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Arial"/>
                <a:ea typeface="Arial"/>
                <a:cs typeface="Arial"/>
                <a:sym typeface="Arial"/>
              </a:rPr>
              <a:t>Such a channel may not always exist</a:t>
            </a:r>
            <a:endParaRPr/>
          </a:p>
          <a:p>
            <a:pPr marL="342900" lvl="0" indent="-165100" algn="l" rtl="0">
              <a:lnSpc>
                <a:spcPct val="100000"/>
              </a:lnSpc>
              <a:spcBef>
                <a:spcPts val="560"/>
              </a:spcBef>
              <a:spcAft>
                <a:spcPts val="0"/>
              </a:spcAft>
              <a:buClr>
                <a:schemeClr val="accent2"/>
              </a:buClr>
              <a:buSzPts val="2800"/>
              <a:buFont typeface="Times"/>
              <a:buNone/>
            </a:pPr>
            <a:endParaRPr sz="2800" b="0" i="0" u="none">
              <a:solidFill>
                <a:schemeClr val="dk1"/>
              </a:solidFill>
              <a:latin typeface="Arial"/>
              <a:ea typeface="Arial"/>
              <a:cs typeface="Arial"/>
              <a:sym typeface="Arial"/>
            </a:endParaRPr>
          </a:p>
          <a:p>
            <a:pPr marL="342900" lvl="0" indent="-342900" algn="l" rtl="0">
              <a:lnSpc>
                <a:spcPct val="100000"/>
              </a:lnSpc>
              <a:spcBef>
                <a:spcPts val="560"/>
              </a:spcBef>
              <a:spcAft>
                <a:spcPts val="0"/>
              </a:spcAft>
              <a:buClr>
                <a:schemeClr val="accent2"/>
              </a:buClr>
              <a:buSzPts val="2800"/>
              <a:buFont typeface="Times"/>
              <a:buChar char="•"/>
            </a:pPr>
            <a:r>
              <a:rPr lang="en-US" sz="2800" b="0" i="0" u="none">
                <a:solidFill>
                  <a:schemeClr val="dk1"/>
                </a:solidFill>
                <a:latin typeface="Arial"/>
                <a:ea typeface="Arial"/>
                <a:cs typeface="Arial"/>
                <a:sym typeface="Arial"/>
              </a:rPr>
              <a:t>How to address this?</a:t>
            </a:r>
            <a:endParaRPr/>
          </a:p>
          <a:p>
            <a:pPr marL="742950" lvl="1" indent="-28575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Arial"/>
                <a:ea typeface="Arial"/>
                <a:cs typeface="Arial"/>
                <a:sym typeface="Arial"/>
              </a:rPr>
              <a:t>use more than one hash functions</a:t>
            </a:r>
            <a:endParaRPr/>
          </a:p>
          <a:p>
            <a:pPr marL="742950" lvl="1" indent="-28575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Arial"/>
                <a:ea typeface="Arial"/>
                <a:cs typeface="Arial"/>
                <a:sym typeface="Arial"/>
              </a:rPr>
              <a:t>use a key to select which one to use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7"/>
          <p:cNvSpPr txBox="1">
            <a:spLocks noGrp="1"/>
          </p:cNvSpPr>
          <p:nvPr>
            <p:ph type="title"/>
          </p:nvPr>
        </p:nvSpPr>
        <p:spPr>
          <a:xfrm>
            <a:off x="609600" y="76200"/>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Message Authentication Code (MAC)</a:t>
            </a:r>
            <a:endParaRPr/>
          </a:p>
        </p:txBody>
      </p:sp>
      <p:sp>
        <p:nvSpPr>
          <p:cNvPr id="238" name="Google Shape;238;p37"/>
          <p:cNvSpPr txBox="1">
            <a:spLocks noGrp="1"/>
          </p:cNvSpPr>
          <p:nvPr>
            <p:ph type="body" idx="1"/>
          </p:nvPr>
        </p:nvSpPr>
        <p:spPr>
          <a:xfrm>
            <a:off x="609600" y="1371600"/>
            <a:ext cx="11074500" cy="37338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accent2"/>
              </a:buClr>
              <a:buSzPts val="2400"/>
              <a:buFont typeface="Times"/>
              <a:buChar char="•"/>
            </a:pPr>
            <a:r>
              <a:rPr lang="en-US" sz="2400" b="0" i="0" u="none">
                <a:solidFill>
                  <a:schemeClr val="dk1"/>
                </a:solidFill>
                <a:latin typeface="Arial"/>
                <a:ea typeface="Arial"/>
                <a:cs typeface="Arial"/>
                <a:sym typeface="Arial"/>
              </a:rPr>
              <a:t>A MAC scheme is a hash family, used for message authentication</a:t>
            </a:r>
            <a:endParaRPr/>
          </a:p>
          <a:p>
            <a:pPr marL="342900" lvl="0" indent="-342900" algn="l" rtl="0">
              <a:lnSpc>
                <a:spcPct val="90000"/>
              </a:lnSpc>
              <a:spcBef>
                <a:spcPts val="480"/>
              </a:spcBef>
              <a:spcAft>
                <a:spcPts val="0"/>
              </a:spcAft>
              <a:buClr>
                <a:schemeClr val="accent2"/>
              </a:buClr>
              <a:buSzPts val="2400"/>
              <a:buFont typeface="Times"/>
              <a:buChar char="•"/>
            </a:pPr>
            <a:r>
              <a:rPr lang="en-US" sz="2400" b="0" i="0" u="none">
                <a:solidFill>
                  <a:schemeClr val="dk1"/>
                </a:solidFill>
                <a:latin typeface="Arial"/>
                <a:ea typeface="Arial"/>
                <a:cs typeface="Arial"/>
                <a:sym typeface="Arial"/>
              </a:rPr>
              <a:t>MAC(K,M) = H</a:t>
            </a:r>
            <a:r>
              <a:rPr lang="en-US" sz="2400" b="0" i="0" u="none" baseline="-25000">
                <a:solidFill>
                  <a:schemeClr val="dk1"/>
                </a:solidFill>
                <a:latin typeface="Arial"/>
                <a:ea typeface="Arial"/>
                <a:cs typeface="Arial"/>
                <a:sym typeface="Arial"/>
              </a:rPr>
              <a:t>K</a:t>
            </a:r>
            <a:r>
              <a:rPr lang="en-US" sz="2400" b="0" i="0" u="none">
                <a:solidFill>
                  <a:schemeClr val="dk1"/>
                </a:solidFill>
                <a:latin typeface="Arial"/>
                <a:ea typeface="Arial"/>
                <a:cs typeface="Arial"/>
                <a:sym typeface="Arial"/>
              </a:rPr>
              <a:t>(M)</a:t>
            </a:r>
            <a:endParaRPr/>
          </a:p>
          <a:p>
            <a:pPr marL="342900" lvl="0" indent="-342900" algn="l" rtl="0">
              <a:lnSpc>
                <a:spcPct val="90000"/>
              </a:lnSpc>
              <a:spcBef>
                <a:spcPts val="480"/>
              </a:spcBef>
              <a:spcAft>
                <a:spcPts val="0"/>
              </a:spcAft>
              <a:buClr>
                <a:schemeClr val="accent2"/>
              </a:buClr>
              <a:buSzPts val="2400"/>
              <a:buFont typeface="Times"/>
              <a:buChar char="•"/>
            </a:pPr>
            <a:r>
              <a:rPr lang="en-US" sz="2400" b="0" i="0" u="none">
                <a:solidFill>
                  <a:schemeClr val="dk1"/>
                </a:solidFill>
                <a:latin typeface="Arial"/>
                <a:ea typeface="Arial"/>
                <a:cs typeface="Arial"/>
                <a:sym typeface="Arial"/>
              </a:rPr>
              <a:t>The sender and the receiver share secret K</a:t>
            </a:r>
            <a:endParaRPr/>
          </a:p>
          <a:p>
            <a:pPr marL="342900" lvl="0" indent="-342900" algn="l" rtl="0">
              <a:lnSpc>
                <a:spcPct val="90000"/>
              </a:lnSpc>
              <a:spcBef>
                <a:spcPts val="480"/>
              </a:spcBef>
              <a:spcAft>
                <a:spcPts val="0"/>
              </a:spcAft>
              <a:buClr>
                <a:schemeClr val="accent2"/>
              </a:buClr>
              <a:buSzPts val="2400"/>
              <a:buFont typeface="Times"/>
              <a:buChar char="•"/>
            </a:pPr>
            <a:r>
              <a:rPr lang="en-US" sz="2400" b="0" i="0" u="none">
                <a:solidFill>
                  <a:schemeClr val="dk1"/>
                </a:solidFill>
                <a:latin typeface="Arial"/>
                <a:ea typeface="Arial"/>
                <a:cs typeface="Arial"/>
                <a:sym typeface="Arial"/>
              </a:rPr>
              <a:t>The sender sends (M, H</a:t>
            </a:r>
            <a:r>
              <a:rPr lang="en-US" sz="2400" b="0" i="0" u="none" baseline="-25000">
                <a:solidFill>
                  <a:schemeClr val="dk1"/>
                </a:solidFill>
                <a:latin typeface="Arial"/>
                <a:ea typeface="Arial"/>
                <a:cs typeface="Arial"/>
                <a:sym typeface="Arial"/>
              </a:rPr>
              <a:t>k</a:t>
            </a:r>
            <a:r>
              <a:rPr lang="en-US" sz="2400" b="0" i="0" u="none">
                <a:solidFill>
                  <a:schemeClr val="dk1"/>
                </a:solidFill>
                <a:latin typeface="Arial"/>
                <a:ea typeface="Arial"/>
                <a:cs typeface="Arial"/>
                <a:sym typeface="Arial"/>
              </a:rPr>
              <a:t>(M))</a:t>
            </a:r>
            <a:endParaRPr/>
          </a:p>
          <a:p>
            <a:pPr marL="342900" lvl="0" indent="-342900" algn="l" rtl="0">
              <a:lnSpc>
                <a:spcPct val="90000"/>
              </a:lnSpc>
              <a:spcBef>
                <a:spcPts val="480"/>
              </a:spcBef>
              <a:spcAft>
                <a:spcPts val="0"/>
              </a:spcAft>
              <a:buClr>
                <a:schemeClr val="accent2"/>
              </a:buClr>
              <a:buSzPts val="2400"/>
              <a:buFont typeface="Times"/>
              <a:buChar char="•"/>
            </a:pPr>
            <a:r>
              <a:rPr lang="en-US" sz="2400" b="0" i="0" u="none">
                <a:solidFill>
                  <a:schemeClr val="dk1"/>
                </a:solidFill>
                <a:latin typeface="Arial"/>
                <a:ea typeface="Arial"/>
                <a:cs typeface="Arial"/>
                <a:sym typeface="Arial"/>
              </a:rPr>
              <a:t>The receiver receives (X,Y) and verifies that H</a:t>
            </a:r>
            <a:r>
              <a:rPr lang="en-US" sz="2400" b="0" i="0" u="none" baseline="-25000">
                <a:solidFill>
                  <a:schemeClr val="dk1"/>
                </a:solidFill>
                <a:latin typeface="Arial"/>
                <a:ea typeface="Arial"/>
                <a:cs typeface="Arial"/>
                <a:sym typeface="Arial"/>
              </a:rPr>
              <a:t>K</a:t>
            </a:r>
            <a:r>
              <a:rPr lang="en-US" sz="2400" b="0" i="0" u="none">
                <a:solidFill>
                  <a:schemeClr val="dk1"/>
                </a:solidFill>
                <a:latin typeface="Arial"/>
                <a:ea typeface="Arial"/>
                <a:cs typeface="Arial"/>
                <a:sym typeface="Arial"/>
              </a:rPr>
              <a:t>(X)=Y, if so, then accepts the message as from the sender</a:t>
            </a:r>
            <a:endParaRPr/>
          </a:p>
          <a:p>
            <a:pPr marL="342900" lvl="0" indent="-342900" algn="l" rtl="0">
              <a:lnSpc>
                <a:spcPct val="90000"/>
              </a:lnSpc>
              <a:spcBef>
                <a:spcPts val="480"/>
              </a:spcBef>
              <a:spcAft>
                <a:spcPts val="0"/>
              </a:spcAft>
              <a:buClr>
                <a:schemeClr val="accent2"/>
              </a:buClr>
              <a:buSzPts val="2400"/>
              <a:buFont typeface="Times"/>
              <a:buChar char="•"/>
            </a:pPr>
            <a:r>
              <a:rPr lang="en-US" sz="2400" b="0" i="0" u="none">
                <a:solidFill>
                  <a:schemeClr val="dk1"/>
                </a:solidFill>
                <a:latin typeface="Arial"/>
                <a:ea typeface="Arial"/>
                <a:cs typeface="Arial"/>
                <a:sym typeface="Arial"/>
              </a:rPr>
              <a:t>To be secure, an adversary shouldn’t be able to come up with (X’,Y’) such that H</a:t>
            </a:r>
            <a:r>
              <a:rPr lang="en-US" sz="2400" b="0" i="0" u="none" baseline="-25000">
                <a:solidFill>
                  <a:schemeClr val="dk1"/>
                </a:solidFill>
                <a:latin typeface="Arial"/>
                <a:ea typeface="Arial"/>
                <a:cs typeface="Arial"/>
                <a:sym typeface="Arial"/>
              </a:rPr>
              <a:t>K</a:t>
            </a:r>
            <a:r>
              <a:rPr lang="en-US" sz="2400" b="0" i="0" u="none">
                <a:solidFill>
                  <a:schemeClr val="dk1"/>
                </a:solidFill>
                <a:latin typeface="Arial"/>
                <a:ea typeface="Arial"/>
                <a:cs typeface="Arial"/>
                <a:sym typeface="Arial"/>
              </a:rPr>
              <a:t>(X’)=Y’.</a:t>
            </a:r>
            <a:endParaRPr/>
          </a:p>
        </p:txBody>
      </p:sp>
      <p:sp>
        <p:nvSpPr>
          <p:cNvPr id="239" name="Google Shape;239;p37"/>
          <p:cNvSpPr txBox="1"/>
          <p:nvPr/>
        </p:nvSpPr>
        <p:spPr>
          <a:xfrm>
            <a:off x="1219200" y="5257800"/>
            <a:ext cx="9956700" cy="830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MAC: Using a shared secret (or a limit-bandwidth confidential channel) to achieve authenticity/integrity.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8"/>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HMAC Security</a:t>
            </a:r>
            <a:endParaRPr/>
          </a:p>
        </p:txBody>
      </p:sp>
      <p:sp>
        <p:nvSpPr>
          <p:cNvPr id="245" name="Google Shape;245;p38"/>
          <p:cNvSpPr txBox="1">
            <a:spLocks noGrp="1"/>
          </p:cNvSpPr>
          <p:nvPr>
            <p:ph type="body" idx="1"/>
          </p:nvPr>
        </p:nvSpPr>
        <p:spPr>
          <a:xfrm>
            <a:off x="812800" y="1371600"/>
            <a:ext cx="10668000" cy="4876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accent2"/>
              </a:buClr>
              <a:buSzPts val="2800"/>
              <a:buFont typeface="Times"/>
              <a:buChar char="•"/>
            </a:pPr>
            <a:r>
              <a:rPr lang="en-US" sz="2800" b="0" i="0" u="none">
                <a:solidFill>
                  <a:schemeClr val="dk1"/>
                </a:solidFill>
                <a:latin typeface="Arial"/>
                <a:ea typeface="Arial"/>
                <a:cs typeface="Arial"/>
                <a:sym typeface="Arial"/>
              </a:rPr>
              <a:t>If used with a secure hash functions (e.g., SHA-256) and according to the specification (key size, and use correct output), no known practical attacks against HMAC</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Password Storage</a:t>
            </a:r>
          </a:p>
        </p:txBody>
      </p:sp>
      <p:sp>
        <p:nvSpPr>
          <p:cNvPr id="3" name="Content Placeholder 2"/>
          <p:cNvSpPr>
            <a:spLocks noGrp="1"/>
          </p:cNvSpPr>
          <p:nvPr>
            <p:ph type="body" idx="1"/>
          </p:nvPr>
        </p:nvSpPr>
        <p:spPr/>
        <p:txBody>
          <a:bodyPr/>
          <a:lstStyle/>
          <a:p>
            <a:r>
              <a:t>Store H(password)</a:t>
            </a:r>
          </a:p>
          <a:p>
            <a:r>
              <a:t>User login → hash input → compare</a:t>
            </a:r>
          </a:p>
          <a:p>
            <a:r>
              <a:t>Use salt and slow hashes (bcrypt, Argon2)</a:t>
            </a:r>
          </a:p>
        </p:txBody>
      </p:sp>
    </p:spTree>
    <p:extLst>
      <p:ext uri="{BB962C8B-B14F-4D97-AF65-F5344CB8AC3E}">
        <p14:creationId xmlns:p14="http://schemas.microsoft.com/office/powerpoint/2010/main" val="18848855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Digital Signatures</a:t>
            </a:r>
          </a:p>
        </p:txBody>
      </p:sp>
      <p:sp>
        <p:nvSpPr>
          <p:cNvPr id="3" name="Content Placeholder 2"/>
          <p:cNvSpPr>
            <a:spLocks noGrp="1"/>
          </p:cNvSpPr>
          <p:nvPr>
            <p:ph type="body" idx="1"/>
          </p:nvPr>
        </p:nvSpPr>
        <p:spPr/>
        <p:txBody>
          <a:bodyPr/>
          <a:lstStyle/>
          <a:p>
            <a:r>
              <a:t>Hash message</a:t>
            </a:r>
          </a:p>
          <a:p>
            <a:r>
              <a:t>Sign hash instead of full message</a:t>
            </a:r>
          </a:p>
          <a:p>
            <a:r>
              <a:t>Faster and secure</a:t>
            </a:r>
          </a:p>
        </p:txBody>
      </p:sp>
    </p:spTree>
    <p:extLst>
      <p:ext uri="{BB962C8B-B14F-4D97-AF65-F5344CB8AC3E}">
        <p14:creationId xmlns:p14="http://schemas.microsoft.com/office/powerpoint/2010/main" val="25529154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Hash Chains</a:t>
            </a:r>
          </a:p>
        </p:txBody>
      </p:sp>
      <p:sp>
        <p:nvSpPr>
          <p:cNvPr id="3" name="Content Placeholder 2"/>
          <p:cNvSpPr>
            <a:spLocks noGrp="1"/>
          </p:cNvSpPr>
          <p:nvPr>
            <p:ph type="body" idx="1"/>
          </p:nvPr>
        </p:nvSpPr>
        <p:spPr/>
        <p:txBody>
          <a:bodyPr/>
          <a:lstStyle/>
          <a:p>
            <a:r>
              <a:t>Repeated hashing</a:t>
            </a:r>
          </a:p>
          <a:p>
            <a:r>
              <a:t>H(H(H(x)))</a:t>
            </a:r>
          </a:p>
          <a:p>
            <a:r>
              <a:t>Used for one-time passwords and commitments</a:t>
            </a:r>
          </a:p>
        </p:txBody>
      </p:sp>
    </p:spTree>
    <p:extLst>
      <p:ext uri="{BB962C8B-B14F-4D97-AF65-F5344CB8AC3E}">
        <p14:creationId xmlns:p14="http://schemas.microsoft.com/office/powerpoint/2010/main" val="10665107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Blockchain</a:t>
            </a:r>
          </a:p>
        </p:txBody>
      </p:sp>
      <p:sp>
        <p:nvSpPr>
          <p:cNvPr id="3" name="Content Placeholder 2"/>
          <p:cNvSpPr>
            <a:spLocks noGrp="1"/>
          </p:cNvSpPr>
          <p:nvPr>
            <p:ph type="body" idx="1"/>
          </p:nvPr>
        </p:nvSpPr>
        <p:spPr/>
        <p:txBody>
          <a:bodyPr/>
          <a:lstStyle/>
          <a:p>
            <a:r>
              <a:t>Block contains previous hash</a:t>
            </a:r>
          </a:p>
          <a:p>
            <a:r>
              <a:t>Blocks linked using hashes</a:t>
            </a:r>
          </a:p>
          <a:p>
            <a:r>
              <a:t>Tampering breaks chain</a:t>
            </a:r>
          </a:p>
        </p:txBody>
      </p:sp>
    </p:spTree>
    <p:extLst>
      <p:ext uri="{BB962C8B-B14F-4D97-AF65-F5344CB8AC3E}">
        <p14:creationId xmlns:p14="http://schemas.microsoft.com/office/powerpoint/2010/main" val="16650828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Modern Hash Algorithms</a:t>
            </a:r>
          </a:p>
        </p:txBody>
      </p:sp>
      <p:sp>
        <p:nvSpPr>
          <p:cNvPr id="3" name="Content Placeholder 2"/>
          <p:cNvSpPr>
            <a:spLocks noGrp="1"/>
          </p:cNvSpPr>
          <p:nvPr>
            <p:ph type="body" idx="1"/>
          </p:nvPr>
        </p:nvSpPr>
        <p:spPr/>
        <p:txBody>
          <a:bodyPr/>
          <a:lstStyle/>
          <a:p>
            <a:r>
              <a:t>SHA‑256</a:t>
            </a:r>
          </a:p>
          <a:p>
            <a:r>
              <a:t>SHA‑3</a:t>
            </a:r>
          </a:p>
          <a:p>
            <a:r>
              <a:t>BLAKE2</a:t>
            </a:r>
          </a:p>
        </p:txBody>
      </p:sp>
    </p:spTree>
    <p:extLst>
      <p:ext uri="{BB962C8B-B14F-4D97-AF65-F5344CB8AC3E}">
        <p14:creationId xmlns:p14="http://schemas.microsoft.com/office/powerpoint/2010/main" val="37180039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chemeClr val="lt1"/>
        </a:solidFill>
        <a:effectLst/>
      </p:bgPr>
    </p:bg>
    <p:spTree>
      <p:nvGrpSpPr>
        <p:cNvPr id="1" name="Shape 250"/>
        <p:cNvGrpSpPr/>
        <p:nvPr/>
      </p:nvGrpSpPr>
      <p:grpSpPr>
        <a:xfrm>
          <a:off x="0" y="0"/>
          <a:ext cx="0" cy="0"/>
          <a:chOff x="0" y="0"/>
          <a:chExt cx="0" cy="0"/>
        </a:xfrm>
      </p:grpSpPr>
      <p:sp>
        <p:nvSpPr>
          <p:cNvPr id="251" name="Google Shape;251;p39"/>
          <p:cNvSpPr txBox="1">
            <a:spLocks noGrp="1"/>
          </p:cNvSpPr>
          <p:nvPr>
            <p:ph type="subTitle" idx="1"/>
          </p:nvPr>
        </p:nvSpPr>
        <p:spPr>
          <a:xfrm>
            <a:off x="1828800" y="3886200"/>
            <a:ext cx="8533920" cy="1752120"/>
          </a:xfrm>
          <a:prstGeom prst="rect">
            <a:avLst/>
          </a:prstGeom>
          <a:noFill/>
          <a:ln>
            <a:noFill/>
          </a:ln>
        </p:spPr>
        <p:txBody>
          <a:bodyPr spcFirstLastPara="1" wrap="square" lIns="0" tIns="0" rIns="0" bIns="0" anchor="t" anchorCtr="0">
            <a:normAutofit/>
          </a:bodyPr>
          <a:lstStyle/>
          <a:p>
            <a:pPr marL="0" marR="0" lvl="0" indent="0" algn="ctr" rtl="0">
              <a:lnSpc>
                <a:spcPct val="100000"/>
              </a:lnSpc>
              <a:spcBef>
                <a:spcPts val="0"/>
              </a:spcBef>
              <a:spcAft>
                <a:spcPts val="0"/>
              </a:spcAft>
              <a:buNone/>
            </a:pPr>
            <a:r>
              <a:rPr lang="en-US" sz="3200" b="0" i="0" u="none" strike="noStrike" cap="none">
                <a:solidFill>
                  <a:srgbClr val="8B8B8B"/>
                </a:solidFill>
                <a:latin typeface="Comic Sans MS"/>
                <a:ea typeface="Comic Sans MS"/>
                <a:cs typeface="Comic Sans MS"/>
                <a:sym typeface="Comic Sans MS"/>
              </a:rPr>
              <a:t> </a:t>
            </a:r>
            <a:endParaRPr sz="3200" b="0" i="0" u="none" strike="noStrike" cap="none">
              <a:solidFill>
                <a:srgbClr val="000000"/>
              </a:solidFill>
              <a:latin typeface="Arial"/>
              <a:ea typeface="Arial"/>
              <a:cs typeface="Arial"/>
              <a:sym typeface="Arial"/>
            </a:endParaRPr>
          </a:p>
        </p:txBody>
      </p:sp>
      <p:sp>
        <p:nvSpPr>
          <p:cNvPr id="252" name="Google Shape;252;p39"/>
          <p:cNvSpPr/>
          <p:nvPr/>
        </p:nvSpPr>
        <p:spPr>
          <a:xfrm>
            <a:off x="123425" y="3693950"/>
            <a:ext cx="11496900" cy="2405400"/>
          </a:xfrm>
          <a:prstGeom prst="rect">
            <a:avLst/>
          </a:prstGeom>
          <a:noFill/>
          <a:ln>
            <a:noFill/>
          </a:ln>
        </p:spPr>
        <p:txBody>
          <a:bodyPr spcFirstLastPara="1" wrap="square" lIns="90000" tIns="45000" rIns="90000" bIns="45000" anchor="t" anchorCtr="0">
            <a:noAutofit/>
          </a:bodyPr>
          <a:lstStyle/>
          <a:p>
            <a:pPr marL="0" marR="0" lvl="0" indent="0" rtl="0">
              <a:lnSpc>
                <a:spcPct val="100000"/>
              </a:lnSpc>
              <a:spcBef>
                <a:spcPts val="0"/>
              </a:spcBef>
              <a:spcAft>
                <a:spcPts val="0"/>
              </a:spcAft>
              <a:buNone/>
            </a:pPr>
            <a:r>
              <a:rPr lang="en-US" sz="2700" u="sng" dirty="0">
                <a:solidFill>
                  <a:schemeClr val="hlink"/>
                </a:solidFill>
                <a:hlinkClick r:id="rId3"/>
              </a:rPr>
              <a:t>* https://icmconference.org/wp-content/uploads/A23b-Powers.pdf</a:t>
            </a:r>
            <a:br>
              <a:rPr lang="en-US" sz="2700" dirty="0"/>
            </a:br>
            <a:r>
              <a:rPr lang="en-US" sz="2700" dirty="0"/>
              <a:t>* </a:t>
            </a:r>
            <a:r>
              <a:rPr lang="en-US" sz="2700" dirty="0">
                <a:hlinkClick r:id="rId4"/>
              </a:rPr>
              <a:t>https://www.cs.purdue.edu/homes/ninghui/courses/526_Fall15/handouts/15_526_topic04.ppt</a:t>
            </a:r>
            <a:br>
              <a:rPr lang="en-US" sz="2700" dirty="0"/>
            </a:br>
            <a:br>
              <a:rPr lang="en-US" sz="2700" dirty="0"/>
            </a:br>
            <a:r>
              <a:rPr lang="en-US" sz="2700" dirty="0"/>
              <a:t>* Chapter 5 of </a:t>
            </a:r>
            <a:r>
              <a:rPr lang="en-US" sz="2700" dirty="0" err="1"/>
              <a:t>Kuffman</a:t>
            </a:r>
            <a:endParaRPr sz="2700" b="0" i="0" u="none" strike="noStrike" cap="none" dirty="0">
              <a:solidFill>
                <a:srgbClr val="000000"/>
              </a:solidFill>
              <a:latin typeface="Arial"/>
              <a:ea typeface="Arial"/>
              <a:cs typeface="Arial"/>
              <a:sym typeface="Arial"/>
            </a:endParaRPr>
          </a:p>
        </p:txBody>
      </p:sp>
      <p:sp>
        <p:nvSpPr>
          <p:cNvPr id="253" name="Google Shape;253;p39"/>
          <p:cNvSpPr/>
          <p:nvPr/>
        </p:nvSpPr>
        <p:spPr>
          <a:xfrm>
            <a:off x="351400" y="383634"/>
            <a:ext cx="3902880" cy="109512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6600" b="0" i="0" u="none" strike="noStrike" cap="none" dirty="0">
                <a:solidFill>
                  <a:srgbClr val="000000"/>
                </a:solidFill>
                <a:latin typeface="Calibri"/>
                <a:ea typeface="Calibri"/>
                <a:cs typeface="Calibri"/>
                <a:sym typeface="Calibri"/>
              </a:rPr>
              <a:t>Reading</a:t>
            </a:r>
            <a:endParaRPr sz="6600" b="0" i="0" u="none" strike="noStrike" cap="none"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Dad`s Tie">
  <a:themeElements>
    <a:clrScheme name="Dad`s Tie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3_Dad`s Tie">
  <a:themeElements>
    <a:clrScheme name="Dad`s Tie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2057</Words>
  <Application>Microsoft Macintosh PowerPoint</Application>
  <PresentationFormat>Widescreen</PresentationFormat>
  <Paragraphs>274</Paragraphs>
  <Slides>40</Slides>
  <Notes>21</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40</vt:i4>
      </vt:variant>
    </vt:vector>
  </HeadingPairs>
  <TitlesOfParts>
    <vt:vector size="50" baseType="lpstr">
      <vt:lpstr>Times New Roman</vt:lpstr>
      <vt:lpstr>Comic Sans MS</vt:lpstr>
      <vt:lpstr>Quintessential</vt:lpstr>
      <vt:lpstr>Montserrat</vt:lpstr>
      <vt:lpstr>Times</vt:lpstr>
      <vt:lpstr>Arial</vt:lpstr>
      <vt:lpstr>Calibri</vt:lpstr>
      <vt:lpstr>Office Theme</vt:lpstr>
      <vt:lpstr>2_Dad`s Tie</vt:lpstr>
      <vt:lpstr>13_Dad`s Tie</vt:lpstr>
      <vt:lpstr>PowerPoint Presentation</vt:lpstr>
      <vt:lpstr>Hash Functions</vt:lpstr>
      <vt:lpstr>Motivation</vt:lpstr>
      <vt:lpstr>Avalanche Effect</vt:lpstr>
      <vt:lpstr>Real-world Failure</vt:lpstr>
      <vt:lpstr>Birthday Paradox</vt:lpstr>
      <vt:lpstr>Idea</vt:lpstr>
      <vt:lpstr>Key Result</vt:lpstr>
      <vt:lpstr>Birthday Math</vt:lpstr>
      <vt:lpstr>Birthday Attack on Hashes</vt:lpstr>
      <vt:lpstr>Definition of Hash Function</vt:lpstr>
      <vt:lpstr>Timeline</vt:lpstr>
      <vt:lpstr>Security Status</vt:lpstr>
      <vt:lpstr>Security Properties</vt:lpstr>
      <vt:lpstr>Ideal Hash Function:</vt:lpstr>
      <vt:lpstr>Ideal Hash Function:</vt:lpstr>
      <vt:lpstr>Desired Properties</vt:lpstr>
      <vt:lpstr>Security Requirements for Cryptographic Hash Functions</vt:lpstr>
      <vt:lpstr>Usage of Hash Functions?</vt:lpstr>
      <vt:lpstr>Merkle Hash Tree for Data Authentication</vt:lpstr>
      <vt:lpstr>Merkle Hash Tree for Data Authentication</vt:lpstr>
      <vt:lpstr>Structure</vt:lpstr>
      <vt:lpstr>Authentication</vt:lpstr>
      <vt:lpstr>Usages of Cryptographic Hash Functions</vt:lpstr>
      <vt:lpstr>Bruteforce Attacks on Hash Functions</vt:lpstr>
      <vt:lpstr>Parameters</vt:lpstr>
      <vt:lpstr>Length of Hash outputs</vt:lpstr>
      <vt:lpstr>Well Known Hash Functions</vt:lpstr>
      <vt:lpstr>Merkle-Damgård Construction</vt:lpstr>
      <vt:lpstr>NIST SHA-3 Competition</vt:lpstr>
      <vt:lpstr>Sponge Function</vt:lpstr>
      <vt:lpstr>Limitation of Using Hash Functions for Authentication</vt:lpstr>
      <vt:lpstr>Message Authentication Code (MAC)</vt:lpstr>
      <vt:lpstr>HMAC Security</vt:lpstr>
      <vt:lpstr>Password Storage</vt:lpstr>
      <vt:lpstr>Digital Signatures</vt:lpstr>
      <vt:lpstr>Hash Chains</vt:lpstr>
      <vt:lpstr>Blockchain</vt:lpstr>
      <vt:lpstr>Modern Hash Algorithms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Shannigrahi, Susmit</cp:lastModifiedBy>
  <cp:revision>3</cp:revision>
  <dcterms:modified xsi:type="dcterms:W3CDTF">2026-03-09T19:31:42Z</dcterms:modified>
</cp:coreProperties>
</file>