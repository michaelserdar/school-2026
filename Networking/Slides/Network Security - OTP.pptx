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slideLayouts/slideLayout8.xml" ContentType="application/vnd.openxmlformats-officedocument.presentationml.slideLayout+xml"/>
  <Override PartName="/ppt/theme/theme7.xml" ContentType="application/vnd.openxmlformats-officedocument.theme+xml"/>
  <Override PartName="/ppt/slideLayouts/slideLayout9.xml" ContentType="application/vnd.openxmlformats-officedocument.presentationml.slideLayout+xml"/>
  <Override PartName="/ppt/theme/theme8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9.xml" ContentType="application/vnd.openxmlformats-officedocument.theme+xml"/>
  <Override PartName="/ppt/slideLayouts/slideLayout12.xml" ContentType="application/vnd.openxmlformats-officedocument.presentationml.slideLayout+xml"/>
  <Override PartName="/ppt/theme/theme10.xml" ContentType="application/vnd.openxmlformats-officedocument.theme+xml"/>
  <Override PartName="/ppt/slideLayouts/slideLayout13.xml" ContentType="application/vnd.openxmlformats-officedocument.presentationml.slideLayout+xml"/>
  <Override PartName="/ppt/theme/theme11.xml" ContentType="application/vnd.openxmlformats-officedocument.theme+xml"/>
  <Override PartName="/ppt/slideLayouts/slideLayout14.xml" ContentType="application/vnd.openxmlformats-officedocument.presentationml.slideLayout+xml"/>
  <Override PartName="/ppt/theme/theme1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13.xml" ContentType="application/vnd.openxmlformats-officedocument.theme+xml"/>
  <Override PartName="/ppt/slideLayouts/slideLayout17.xml" ContentType="application/vnd.openxmlformats-officedocument.presentationml.slideLayout+xml"/>
  <Override PartName="/ppt/theme/theme14.xml" ContentType="application/vnd.openxmlformats-officedocument.theme+xml"/>
  <Override PartName="/ppt/slideLayouts/slideLayout18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1" r:id="rId7"/>
    <p:sldMasterId id="2147483663" r:id="rId8"/>
    <p:sldMasterId id="2147483665" r:id="rId9"/>
    <p:sldMasterId id="2147483667" r:id="rId10"/>
    <p:sldMasterId id="2147483669" r:id="rId11"/>
    <p:sldMasterId id="2147483671" r:id="rId12"/>
    <p:sldMasterId id="2147483673" r:id="rId13"/>
    <p:sldMasterId id="2147483676" r:id="rId14"/>
    <p:sldMasterId id="2147483678" r:id="rId15"/>
  </p:sldMasterIdLst>
  <p:notesMasterIdLst>
    <p:notesMasterId r:id="rId53"/>
  </p:notesMasterIdLst>
  <p:sldIdLst>
    <p:sldId id="256" r:id="rId16"/>
    <p:sldId id="257" r:id="rId17"/>
    <p:sldId id="258" r:id="rId18"/>
    <p:sldId id="259" r:id="rId19"/>
    <p:sldId id="260" r:id="rId20"/>
    <p:sldId id="261" r:id="rId21"/>
    <p:sldId id="262" r:id="rId22"/>
    <p:sldId id="263" r:id="rId23"/>
    <p:sldId id="264" r:id="rId24"/>
    <p:sldId id="265" r:id="rId25"/>
    <p:sldId id="266" r:id="rId26"/>
    <p:sldId id="267" r:id="rId27"/>
    <p:sldId id="268" r:id="rId28"/>
    <p:sldId id="269" r:id="rId29"/>
    <p:sldId id="270" r:id="rId30"/>
    <p:sldId id="271" r:id="rId31"/>
    <p:sldId id="272" r:id="rId32"/>
    <p:sldId id="273" r:id="rId33"/>
    <p:sldId id="274" r:id="rId34"/>
    <p:sldId id="275" r:id="rId35"/>
    <p:sldId id="276" r:id="rId36"/>
    <p:sldId id="277" r:id="rId37"/>
    <p:sldId id="278" r:id="rId38"/>
    <p:sldId id="279" r:id="rId39"/>
    <p:sldId id="280" r:id="rId40"/>
    <p:sldId id="281" r:id="rId41"/>
    <p:sldId id="282" r:id="rId42"/>
    <p:sldId id="283" r:id="rId43"/>
    <p:sldId id="284" r:id="rId44"/>
    <p:sldId id="286" r:id="rId45"/>
    <p:sldId id="287" r:id="rId46"/>
    <p:sldId id="288" r:id="rId47"/>
    <p:sldId id="289" r:id="rId48"/>
    <p:sldId id="290" r:id="rId49"/>
    <p:sldId id="291" r:id="rId50"/>
    <p:sldId id="285" r:id="rId51"/>
    <p:sldId id="295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79"/>
    <p:restoredTop sz="94681"/>
  </p:normalViewPr>
  <p:slideViewPr>
    <p:cSldViewPr snapToGrid="0">
      <p:cViewPr varScale="1">
        <p:scale>
          <a:sx n="97" d="100"/>
          <a:sy n="97" d="100"/>
        </p:scale>
        <p:origin x="232" y="592"/>
      </p:cViewPr>
      <p:guideLst/>
    </p:cSldViewPr>
  </p:slideViewPr>
  <p:outlineViewPr>
    <p:cViewPr>
      <p:scale>
        <a:sx n="33" d="100"/>
        <a:sy n="33" d="100"/>
      </p:scale>
      <p:origin x="0" y="-16344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slide" Target="slides/slide11.xml"/><Relationship Id="rId39" Type="http://schemas.openxmlformats.org/officeDocument/2006/relationships/slide" Target="slides/slide24.xml"/><Relationship Id="rId21" Type="http://schemas.openxmlformats.org/officeDocument/2006/relationships/slide" Target="slides/slide6.xml"/><Relationship Id="rId34" Type="http://schemas.openxmlformats.org/officeDocument/2006/relationships/slide" Target="slides/slide19.xml"/><Relationship Id="rId42" Type="http://schemas.openxmlformats.org/officeDocument/2006/relationships/slide" Target="slides/slide27.xml"/><Relationship Id="rId47" Type="http://schemas.openxmlformats.org/officeDocument/2006/relationships/slide" Target="slides/slide32.xml"/><Relationship Id="rId50" Type="http://schemas.openxmlformats.org/officeDocument/2006/relationships/slide" Target="slides/slide35.xml"/><Relationship Id="rId55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9" Type="http://schemas.openxmlformats.org/officeDocument/2006/relationships/slide" Target="slides/slide14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9.xml"/><Relationship Id="rId32" Type="http://schemas.openxmlformats.org/officeDocument/2006/relationships/slide" Target="slides/slide17.xml"/><Relationship Id="rId37" Type="http://schemas.openxmlformats.org/officeDocument/2006/relationships/slide" Target="slides/slide22.xml"/><Relationship Id="rId40" Type="http://schemas.openxmlformats.org/officeDocument/2006/relationships/slide" Target="slides/slide25.xml"/><Relationship Id="rId45" Type="http://schemas.openxmlformats.org/officeDocument/2006/relationships/slide" Target="slides/slide30.xml"/><Relationship Id="rId53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9" Type="http://schemas.openxmlformats.org/officeDocument/2006/relationships/slide" Target="slides/slide4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7.xml"/><Relationship Id="rId27" Type="http://schemas.openxmlformats.org/officeDocument/2006/relationships/slide" Target="slides/slide12.xml"/><Relationship Id="rId30" Type="http://schemas.openxmlformats.org/officeDocument/2006/relationships/slide" Target="slides/slide15.xml"/><Relationship Id="rId35" Type="http://schemas.openxmlformats.org/officeDocument/2006/relationships/slide" Target="slides/slide20.xml"/><Relationship Id="rId43" Type="http://schemas.openxmlformats.org/officeDocument/2006/relationships/slide" Target="slides/slide28.xml"/><Relationship Id="rId48" Type="http://schemas.openxmlformats.org/officeDocument/2006/relationships/slide" Target="slides/slide33.xml"/><Relationship Id="rId56" Type="http://schemas.openxmlformats.org/officeDocument/2006/relationships/theme" Target="theme/theme1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36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slide" Target="slides/slide10.xml"/><Relationship Id="rId33" Type="http://schemas.openxmlformats.org/officeDocument/2006/relationships/slide" Target="slides/slide18.xml"/><Relationship Id="rId38" Type="http://schemas.openxmlformats.org/officeDocument/2006/relationships/slide" Target="slides/slide23.xml"/><Relationship Id="rId46" Type="http://schemas.openxmlformats.org/officeDocument/2006/relationships/slide" Target="slides/slide31.xml"/><Relationship Id="rId20" Type="http://schemas.openxmlformats.org/officeDocument/2006/relationships/slide" Target="slides/slide5.xml"/><Relationship Id="rId41" Type="http://schemas.openxmlformats.org/officeDocument/2006/relationships/slide" Target="slides/slide26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8.xml"/><Relationship Id="rId28" Type="http://schemas.openxmlformats.org/officeDocument/2006/relationships/slide" Target="slides/slide13.xml"/><Relationship Id="rId36" Type="http://schemas.openxmlformats.org/officeDocument/2006/relationships/slide" Target="slides/slide21.xml"/><Relationship Id="rId49" Type="http://schemas.openxmlformats.org/officeDocument/2006/relationships/slide" Target="slides/slide34.xml"/><Relationship Id="rId57" Type="http://schemas.openxmlformats.org/officeDocument/2006/relationships/tableStyles" Target="tableStyles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16.xml"/><Relationship Id="rId44" Type="http://schemas.openxmlformats.org/officeDocument/2006/relationships/slide" Target="slides/slide29.xml"/><Relationship Id="rId52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10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105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106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07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92CCAE2C-2319-414F-AFAA-8AED5A72BE1F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pPr indent="0" algn="r">
              <a:buNone/>
            </a:pPr>
            <a:fld id="{92CCAE2C-2319-414F-AFAA-8AED5A72BE1F}" type="slidenum">
              <a:rPr lang="en-US" sz="1400" b="0" strike="noStrike" spc="-1" smtClean="0">
                <a:solidFill>
                  <a:srgbClr val="000000"/>
                </a:solidFill>
                <a:latin typeface="Times New Roman"/>
              </a:rPr>
              <a:t>1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490974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pPr indent="0" algn="r">
              <a:buNone/>
            </a:pPr>
            <a:fld id="{92CCAE2C-2319-414F-AFAA-8AED5A72BE1F}" type="slidenum">
              <a:rPr lang="en-US" sz="1400" b="0" strike="noStrike" spc="-1" smtClean="0">
                <a:solidFill>
                  <a:srgbClr val="000000"/>
                </a:solidFill>
                <a:latin typeface="Times New Roman"/>
              </a:rPr>
              <a:t>8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540786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pPr indent="0" algn="r">
              <a:buNone/>
            </a:pPr>
            <a:fld id="{92CCAE2C-2319-414F-AFAA-8AED5A72BE1F}" type="slidenum">
              <a:rPr lang="en-US" sz="1400" b="0" strike="noStrike" spc="-1" smtClean="0">
                <a:solidFill>
                  <a:srgbClr val="000000"/>
                </a:solidFill>
                <a:latin typeface="Times New Roman"/>
              </a:rPr>
              <a:t>15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221488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pPr indent="0" algn="r">
              <a:buNone/>
            </a:pPr>
            <a:fld id="{92CCAE2C-2319-414F-AFAA-8AED5A72BE1F}" type="slidenum">
              <a:rPr lang="en-US" sz="1400" b="0" strike="noStrike" spc="-1" smtClean="0">
                <a:solidFill>
                  <a:srgbClr val="000000"/>
                </a:solidFill>
                <a:latin typeface="Times New Roman"/>
              </a:rPr>
              <a:t>16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434960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63040" y="704160"/>
            <a:ext cx="5734080" cy="339588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927360" y="4339440"/>
            <a:ext cx="5002560" cy="4107960"/>
          </a:xfrm>
          <a:prstGeom prst="rect">
            <a:avLst/>
          </a:prstGeom>
          <a:noFill/>
          <a:ln w="0">
            <a:noFill/>
          </a:ln>
        </p:spPr>
        <p:txBody>
          <a:bodyPr lIns="93240" tIns="46800" rIns="93240" bIns="4680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34"/>
          </p:nvPr>
        </p:nvSpPr>
        <p:spPr>
          <a:xfrm>
            <a:off x="3868920" y="8679240"/>
            <a:ext cx="3015720" cy="464400"/>
          </a:xfrm>
          <a:prstGeom prst="rect">
            <a:avLst/>
          </a:prstGeom>
          <a:noFill/>
          <a:ln w="0">
            <a:noFill/>
          </a:ln>
        </p:spPr>
        <p:txBody>
          <a:bodyPr lIns="19440" tIns="0" rIns="1944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0" b="0" i="1" strike="noStrike" spc="-1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56E1E55-6067-4FDF-942F-2230137A3A37}" type="slidenum">
              <a:rPr lang="en-US" sz="1000" b="0" i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17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12750" y="704850"/>
            <a:ext cx="6035675" cy="3395663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927360" y="4339440"/>
            <a:ext cx="5002560" cy="4107960"/>
          </a:xfrm>
          <a:prstGeom prst="rect">
            <a:avLst/>
          </a:prstGeom>
          <a:noFill/>
          <a:ln w="0">
            <a:noFill/>
          </a:ln>
        </p:spPr>
        <p:txBody>
          <a:bodyPr lIns="93240" tIns="46800" rIns="93240" bIns="4680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35"/>
          </p:nvPr>
        </p:nvSpPr>
        <p:spPr>
          <a:xfrm>
            <a:off x="3868920" y="8679240"/>
            <a:ext cx="3015720" cy="464400"/>
          </a:xfrm>
          <a:prstGeom prst="rect">
            <a:avLst/>
          </a:prstGeom>
          <a:noFill/>
          <a:ln w="0">
            <a:noFill/>
          </a:ln>
        </p:spPr>
        <p:txBody>
          <a:bodyPr lIns="19440" tIns="0" rIns="1944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0" b="0" i="1" strike="noStrike" spc="-1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4D3B169-A35D-4FB1-9742-D4C9AFE5782E}" type="slidenum">
              <a:rPr lang="en-US" sz="1000" b="0" i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18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pPr indent="0" algn="r">
              <a:buNone/>
            </a:pPr>
            <a:fld id="{92CCAE2C-2319-414F-AFAA-8AED5A72BE1F}" type="slidenum">
              <a:rPr lang="en-US" sz="1400" b="0" strike="noStrike" spc="-1" smtClean="0">
                <a:solidFill>
                  <a:srgbClr val="000000"/>
                </a:solidFill>
                <a:latin typeface="Times New Roman"/>
              </a:rPr>
              <a:t>19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159174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pPr indent="0" algn="r">
              <a:buNone/>
            </a:pPr>
            <a:fld id="{92CCAE2C-2319-414F-AFAA-8AED5A72BE1F}" type="slidenum">
              <a:rPr lang="en-US" sz="1400" b="0" strike="noStrike" spc="-1" smtClean="0">
                <a:solidFill>
                  <a:srgbClr val="000000"/>
                </a:solidFill>
                <a:latin typeface="Times New Roman"/>
              </a:rPr>
              <a:t>20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823920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pPr indent="0" algn="r">
              <a:buNone/>
            </a:pPr>
            <a:fld id="{92CCAE2C-2319-414F-AFAA-8AED5A72BE1F}" type="slidenum">
              <a:rPr lang="en-US" sz="1400" b="0" strike="noStrike" spc="-1" smtClean="0">
                <a:solidFill>
                  <a:srgbClr val="000000"/>
                </a:solidFill>
                <a:latin typeface="Times New Roman"/>
              </a:rPr>
              <a:t>21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465485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12750" y="704850"/>
            <a:ext cx="6035675" cy="3395663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927360" y="4339440"/>
            <a:ext cx="5002560" cy="4107960"/>
          </a:xfrm>
          <a:prstGeom prst="rect">
            <a:avLst/>
          </a:prstGeom>
          <a:noFill/>
          <a:ln w="0">
            <a:noFill/>
          </a:ln>
        </p:spPr>
        <p:txBody>
          <a:bodyPr lIns="93240" tIns="46800" rIns="93240" bIns="4680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36"/>
          </p:nvPr>
        </p:nvSpPr>
        <p:spPr>
          <a:xfrm>
            <a:off x="3868920" y="8679240"/>
            <a:ext cx="3015720" cy="464400"/>
          </a:xfrm>
          <a:prstGeom prst="rect">
            <a:avLst/>
          </a:prstGeom>
          <a:noFill/>
          <a:ln w="0">
            <a:noFill/>
          </a:ln>
        </p:spPr>
        <p:txBody>
          <a:bodyPr lIns="19440" tIns="0" rIns="1944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0" b="0" i="1" strike="noStrike" spc="-1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DB16BD3-F09E-437C-ADCA-93BFCA9E8A19}" type="slidenum">
              <a:rPr lang="en-US" sz="1000" b="0" i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30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12750" y="704850"/>
            <a:ext cx="6035675" cy="3395663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927360" y="4339440"/>
            <a:ext cx="5002560" cy="4107960"/>
          </a:xfrm>
          <a:prstGeom prst="rect">
            <a:avLst/>
          </a:prstGeom>
          <a:noFill/>
          <a:ln w="0">
            <a:noFill/>
          </a:ln>
        </p:spPr>
        <p:txBody>
          <a:bodyPr lIns="93240" tIns="46800" rIns="93240" bIns="46800" anchor="t">
            <a:noAutofit/>
          </a:bodyPr>
          <a:lstStyle/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  <a:ea typeface="Arial"/>
              </a:rPr>
              <a:t>The ROM is a theoretical model that is  not achievable in practice.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  <a:ea typeface="Arial"/>
              </a:rPr>
              <a:t>It models the hash function as an oracle (i.e., black box) that on any input outputs a truly random value in denoted by unless the query was already sent, in which case the oracle replies consistently.  (The oracle stores all its queries.) 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37"/>
          </p:nvPr>
        </p:nvSpPr>
        <p:spPr>
          <a:xfrm>
            <a:off x="3868920" y="8679240"/>
            <a:ext cx="3015720" cy="464400"/>
          </a:xfrm>
          <a:prstGeom prst="rect">
            <a:avLst/>
          </a:prstGeom>
          <a:noFill/>
          <a:ln w="0">
            <a:noFill/>
          </a:ln>
        </p:spPr>
        <p:txBody>
          <a:bodyPr lIns="19440" tIns="0" rIns="1944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0" b="0" i="1" strike="noStrike" spc="-1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BFDD27C-DDA6-4D7A-B210-4CFCCD66344B}" type="slidenum">
              <a:rPr lang="en-US" sz="1000" b="0" i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31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12750" y="704850"/>
            <a:ext cx="6035675" cy="3395663"/>
          </a:xfrm>
          <a:prstGeom prst="rect">
            <a:avLst/>
          </a:prstGeom>
          <a:ln w="0">
            <a:noFill/>
          </a:ln>
        </p:spPr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927360" y="4339440"/>
            <a:ext cx="5002560" cy="4107960"/>
          </a:xfrm>
          <a:prstGeom prst="rect">
            <a:avLst/>
          </a:prstGeom>
          <a:noFill/>
          <a:ln w="0">
            <a:noFill/>
          </a:ln>
        </p:spPr>
        <p:txBody>
          <a:bodyPr lIns="93240" tIns="46800" rIns="93240" bIns="46800" anchor="t">
            <a:noAutofit/>
          </a:bodyPr>
          <a:lstStyle/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  <a:ea typeface="Arial"/>
              </a:rPr>
              <a:t>SHA 256 is NOT a random oracle, but hopefully it is “pseudo-random enough” that an adversary cannot exploit any flaws in it.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sldNum" idx="38"/>
          </p:nvPr>
        </p:nvSpPr>
        <p:spPr>
          <a:xfrm>
            <a:off x="3868920" y="8679240"/>
            <a:ext cx="3015720" cy="464400"/>
          </a:xfrm>
          <a:prstGeom prst="rect">
            <a:avLst/>
          </a:prstGeom>
          <a:noFill/>
          <a:ln w="0">
            <a:noFill/>
          </a:ln>
        </p:spPr>
        <p:txBody>
          <a:bodyPr lIns="19440" tIns="0" rIns="1944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0" b="0" i="1" strike="noStrike" spc="-1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0717E65-5D23-4DEA-9CD9-332F3E0876B0}" type="slidenum">
              <a:rPr lang="en-US" sz="1000" b="0" i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32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12750" y="704850"/>
            <a:ext cx="6035675" cy="3395663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927360" y="4339440"/>
            <a:ext cx="5002560" cy="4107960"/>
          </a:xfrm>
          <a:prstGeom prst="rect">
            <a:avLst/>
          </a:prstGeom>
          <a:noFill/>
          <a:ln w="0">
            <a:noFill/>
          </a:ln>
        </p:spPr>
        <p:txBody>
          <a:bodyPr lIns="93240" tIns="46800" rIns="93240" bIns="4680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39"/>
          </p:nvPr>
        </p:nvSpPr>
        <p:spPr>
          <a:xfrm>
            <a:off x="3868920" y="8679240"/>
            <a:ext cx="3015720" cy="464400"/>
          </a:xfrm>
          <a:prstGeom prst="rect">
            <a:avLst/>
          </a:prstGeom>
          <a:noFill/>
          <a:ln w="0">
            <a:noFill/>
          </a:ln>
        </p:spPr>
        <p:txBody>
          <a:bodyPr lIns="19440" tIns="0" rIns="1944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0" b="0" i="1" strike="noStrike" spc="-1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95E045E-9550-4918-91F6-1D5F8262A2F0}" type="slidenum">
              <a:rPr lang="en-US" sz="1000" b="0" i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33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12750" y="704850"/>
            <a:ext cx="6035675" cy="3395663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927360" y="4339440"/>
            <a:ext cx="5002560" cy="4107960"/>
          </a:xfrm>
          <a:prstGeom prst="rect">
            <a:avLst/>
          </a:prstGeom>
          <a:noFill/>
          <a:ln w="0">
            <a:noFill/>
          </a:ln>
        </p:spPr>
        <p:txBody>
          <a:bodyPr lIns="93240" tIns="46800" rIns="93240" bIns="4680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sldNum" idx="40"/>
          </p:nvPr>
        </p:nvSpPr>
        <p:spPr>
          <a:xfrm>
            <a:off x="3868920" y="8679240"/>
            <a:ext cx="3015720" cy="464400"/>
          </a:xfrm>
          <a:prstGeom prst="rect">
            <a:avLst/>
          </a:prstGeom>
          <a:noFill/>
          <a:ln w="0">
            <a:noFill/>
          </a:ln>
        </p:spPr>
        <p:txBody>
          <a:bodyPr lIns="19440" tIns="0" rIns="1944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0" b="0" i="1" strike="noStrike" spc="-1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B51E7CC-D8CD-4C36-A7B8-B5FBF430BD15}" type="slidenum">
              <a:rPr lang="en-US" sz="1000" b="0" i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34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12750" y="704850"/>
            <a:ext cx="6035675" cy="3395663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927360" y="4339440"/>
            <a:ext cx="5002560" cy="4107960"/>
          </a:xfrm>
          <a:prstGeom prst="rect">
            <a:avLst/>
          </a:prstGeom>
          <a:noFill/>
          <a:ln w="0">
            <a:noFill/>
          </a:ln>
        </p:spPr>
        <p:txBody>
          <a:bodyPr lIns="93240" tIns="46800" rIns="93240" bIns="4680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41"/>
          </p:nvPr>
        </p:nvSpPr>
        <p:spPr>
          <a:xfrm>
            <a:off x="3868920" y="8679240"/>
            <a:ext cx="3015720" cy="464400"/>
          </a:xfrm>
          <a:prstGeom prst="rect">
            <a:avLst/>
          </a:prstGeom>
          <a:noFill/>
          <a:ln w="0">
            <a:noFill/>
          </a:ln>
        </p:spPr>
        <p:txBody>
          <a:bodyPr lIns="19440" tIns="0" rIns="1944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0" b="0" i="1" strike="noStrike" spc="-1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95E7C72-A67C-4522-93CF-F587AF9CE02B}" type="slidenum">
              <a:rPr lang="en-US" sz="1000" b="0" i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35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D3FAD-158B-FE3A-2D9F-A49D0D046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>
            <a:extLst>
              <a:ext uri="{FF2B5EF4-FFF2-40B4-BE49-F238E27FC236}">
                <a16:creationId xmlns:a16="http://schemas.microsoft.com/office/drawing/2014/main" id="{0860CA3A-24EC-D12F-FDE9-668C5D06D4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12750" y="704850"/>
            <a:ext cx="6035675" cy="3395663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>
            <a:extLst>
              <a:ext uri="{FF2B5EF4-FFF2-40B4-BE49-F238E27FC236}">
                <a16:creationId xmlns:a16="http://schemas.microsoft.com/office/drawing/2014/main" id="{7C140904-31E4-5AFD-6218-A10E9842630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927360" y="4339440"/>
            <a:ext cx="5002560" cy="4107960"/>
          </a:xfrm>
          <a:prstGeom prst="rect">
            <a:avLst/>
          </a:prstGeom>
          <a:noFill/>
          <a:ln w="0">
            <a:noFill/>
          </a:ln>
        </p:spPr>
        <p:txBody>
          <a:bodyPr lIns="93240" tIns="46800" rIns="93240" bIns="4680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3">
            <a:extLst>
              <a:ext uri="{FF2B5EF4-FFF2-40B4-BE49-F238E27FC236}">
                <a16:creationId xmlns:a16="http://schemas.microsoft.com/office/drawing/2014/main" id="{96F088D6-CDCE-55CA-A585-0C25C0D42A4E}"/>
              </a:ext>
            </a:extLst>
          </p:cNvPr>
          <p:cNvSpPr>
            <a:spLocks noGrp="1"/>
          </p:cNvSpPr>
          <p:nvPr>
            <p:ph type="sldNum" idx="41"/>
          </p:nvPr>
        </p:nvSpPr>
        <p:spPr>
          <a:xfrm>
            <a:off x="3868920" y="8679240"/>
            <a:ext cx="3015720" cy="464400"/>
          </a:xfrm>
          <a:prstGeom prst="rect">
            <a:avLst/>
          </a:prstGeom>
          <a:noFill/>
          <a:ln w="0">
            <a:noFill/>
          </a:ln>
        </p:spPr>
        <p:txBody>
          <a:bodyPr lIns="19440" tIns="0" rIns="1944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0" b="0" i="1" strike="noStrike" spc="-1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95E7C72-A67C-4522-93CF-F587AF9CE02B}" type="slidenum">
              <a:rPr lang="en-US" sz="1000" b="0" i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37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80358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WO_OBJECTS_OVER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OBJECT_OVER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FOUR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86112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BJECT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_OBJECTS_AND_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BJECT_AND_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3AF1D95-DF7A-44F4-A956-F287C4B8DA02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BE4D05C-27B6-41E3-AB26-E90E40E9F8D8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8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9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theme" Target="../theme/theme9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.png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2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3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4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theme" Target="../theme/theme13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.png"/></Relationships>
</file>

<file path=ppt/slideMasters/_rels/slideMaster14.xml.rels><?xml version="1.0" encoding="UTF-8" standalone="yes"?>
<Relationships xmlns="http://schemas.openxmlformats.org/package/2006/relationships"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7.xml"/></Relationships>
</file>

<file path=ppt/slideMasters/_rels/slideMaster15.xml.rels><?xml version="1.0" encoding="UTF-8" standalone="yes"?>
<Relationships xmlns="http://schemas.openxmlformats.org/package/2006/relationships"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7F4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0;p1"/>
          <p:cNvSpPr/>
          <p:nvPr/>
        </p:nvSpPr>
        <p:spPr>
          <a:xfrm>
            <a:off x="8277480" y="5619600"/>
            <a:ext cx="2995920" cy="133560"/>
          </a:xfrm>
          <a:prstGeom prst="rect">
            <a:avLst/>
          </a:prstGeom>
          <a:solidFill>
            <a:srgbClr val="80008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6960" bIns="66960" anchor="ctr">
            <a:noAutofit/>
          </a:bodyPr>
          <a:lstStyle/>
          <a:p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" name="Google Shape;13;p1"/>
          <p:cNvPicPr/>
          <p:nvPr/>
        </p:nvPicPr>
        <p:blipFill>
          <a:blip r:embed="rId3"/>
          <a:stretch/>
        </p:blipFill>
        <p:spPr>
          <a:xfrm>
            <a:off x="101160" y="5577840"/>
            <a:ext cx="1910160" cy="125640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837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837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837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7F4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0;p1"/>
          <p:cNvSpPr/>
          <p:nvPr/>
        </p:nvSpPr>
        <p:spPr>
          <a:xfrm>
            <a:off x="8277480" y="5619600"/>
            <a:ext cx="2995920" cy="133560"/>
          </a:xfrm>
          <a:prstGeom prst="rect">
            <a:avLst/>
          </a:prstGeom>
          <a:solidFill>
            <a:srgbClr val="80008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6960" bIns="66960" anchor="ctr">
            <a:noAutofit/>
          </a:bodyPr>
          <a:lstStyle/>
          <a:p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" name="Google Shape;13;p1"/>
          <p:cNvPicPr/>
          <p:nvPr/>
        </p:nvPicPr>
        <p:blipFill>
          <a:blip r:embed="rId3"/>
          <a:stretch/>
        </p:blipFill>
        <p:spPr>
          <a:xfrm>
            <a:off x="101160" y="5577840"/>
            <a:ext cx="1910160" cy="1256400"/>
          </a:xfrm>
          <a:prstGeom prst="rect">
            <a:avLst/>
          </a:prstGeom>
          <a:ln w="0">
            <a:noFill/>
          </a:ln>
        </p:spPr>
      </p:pic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837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837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7F4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0;p1"/>
          <p:cNvSpPr/>
          <p:nvPr/>
        </p:nvSpPr>
        <p:spPr>
          <a:xfrm>
            <a:off x="8277480" y="5619600"/>
            <a:ext cx="2995920" cy="133560"/>
          </a:xfrm>
          <a:prstGeom prst="rect">
            <a:avLst/>
          </a:prstGeom>
          <a:solidFill>
            <a:srgbClr val="80008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6960" bIns="66960" anchor="ctr">
            <a:noAutofit/>
          </a:bodyPr>
          <a:lstStyle/>
          <a:p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" name="Google Shape;13;p1"/>
          <p:cNvPicPr/>
          <p:nvPr/>
        </p:nvPicPr>
        <p:blipFill>
          <a:blip r:embed="rId3"/>
          <a:stretch/>
        </p:blipFill>
        <p:spPr>
          <a:xfrm>
            <a:off x="101160" y="5577840"/>
            <a:ext cx="1910160" cy="1256400"/>
          </a:xfrm>
          <a:prstGeom prst="rect">
            <a:avLst/>
          </a:prstGeom>
          <a:ln w="0">
            <a:noFill/>
          </a:ln>
        </p:spPr>
      </p:pic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837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837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837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837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7F4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10;p1"/>
          <p:cNvSpPr/>
          <p:nvPr/>
        </p:nvSpPr>
        <p:spPr>
          <a:xfrm>
            <a:off x="8277480" y="5619600"/>
            <a:ext cx="2995920" cy="133560"/>
          </a:xfrm>
          <a:prstGeom prst="rect">
            <a:avLst/>
          </a:prstGeom>
          <a:solidFill>
            <a:srgbClr val="80008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6960" bIns="66960" anchor="ctr">
            <a:noAutofit/>
          </a:bodyPr>
          <a:lstStyle/>
          <a:p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5" name="Google Shape;13;p1"/>
          <p:cNvPicPr/>
          <p:nvPr/>
        </p:nvPicPr>
        <p:blipFill>
          <a:blip r:embed="rId3"/>
          <a:stretch/>
        </p:blipFill>
        <p:spPr>
          <a:xfrm>
            <a:off x="101160" y="5577840"/>
            <a:ext cx="1910160" cy="1256400"/>
          </a:xfrm>
          <a:prstGeom prst="rect">
            <a:avLst/>
          </a:prstGeom>
          <a:ln w="0">
            <a:noFill/>
          </a:ln>
        </p:spPr>
      </p:pic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701" lnSpcReduction="1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701" lnSpcReduction="1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701" lnSpcReduction="1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701" lnSpcReduction="1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31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701" lnSpcReduction="1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32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701" lnSpcReduction="1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7F4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10;p1"/>
          <p:cNvSpPr/>
          <p:nvPr/>
        </p:nvSpPr>
        <p:spPr>
          <a:xfrm>
            <a:off x="8277480" y="5619600"/>
            <a:ext cx="2995920" cy="133560"/>
          </a:xfrm>
          <a:prstGeom prst="rect">
            <a:avLst/>
          </a:prstGeom>
          <a:solidFill>
            <a:srgbClr val="80008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6960" bIns="66960" anchor="ctr">
            <a:noAutofit/>
          </a:bodyPr>
          <a:lstStyle/>
          <a:p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6" name="Google Shape;13;p1"/>
          <p:cNvPicPr/>
          <p:nvPr/>
        </p:nvPicPr>
        <p:blipFill>
          <a:blip r:embed="rId3"/>
          <a:stretch/>
        </p:blipFill>
        <p:spPr>
          <a:xfrm>
            <a:off x="101160" y="5577840"/>
            <a:ext cx="1910160" cy="1256400"/>
          </a:xfrm>
          <a:prstGeom prst="rect">
            <a:avLst/>
          </a:prstGeom>
          <a:ln w="0">
            <a:noFill/>
          </a:ln>
        </p:spPr>
      </p:pic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7F4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10;p1"/>
          <p:cNvSpPr/>
          <p:nvPr/>
        </p:nvSpPr>
        <p:spPr>
          <a:xfrm>
            <a:off x="8277480" y="5619600"/>
            <a:ext cx="2995920" cy="133560"/>
          </a:xfrm>
          <a:prstGeom prst="rect">
            <a:avLst/>
          </a:prstGeom>
          <a:solidFill>
            <a:srgbClr val="80008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6960" bIns="66960" anchor="ctr">
            <a:noAutofit/>
          </a:bodyPr>
          <a:lstStyle/>
          <a:p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2" name="Google Shape;13;p1"/>
          <p:cNvPicPr/>
          <p:nvPr/>
        </p:nvPicPr>
        <p:blipFill>
          <a:blip r:embed="rId4"/>
          <a:stretch/>
        </p:blipFill>
        <p:spPr>
          <a:xfrm>
            <a:off x="101160" y="5577840"/>
            <a:ext cx="1910160" cy="1256400"/>
          </a:xfrm>
          <a:prstGeom prst="rect">
            <a:avLst/>
          </a:prstGeom>
          <a:ln w="0">
            <a:noFill/>
          </a:ln>
        </p:spPr>
      </p:pic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7F4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10;p1"/>
          <p:cNvSpPr/>
          <p:nvPr/>
        </p:nvSpPr>
        <p:spPr>
          <a:xfrm>
            <a:off x="8277480" y="5619600"/>
            <a:ext cx="2995920" cy="133560"/>
          </a:xfrm>
          <a:prstGeom prst="rect">
            <a:avLst/>
          </a:prstGeom>
          <a:solidFill>
            <a:srgbClr val="80008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6960" bIns="66960" anchor="ctr">
            <a:noAutofit/>
          </a:bodyPr>
          <a:lstStyle/>
          <a:p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7" name="Google Shape;13;p1"/>
          <p:cNvPicPr/>
          <p:nvPr/>
        </p:nvPicPr>
        <p:blipFill>
          <a:blip r:embed="rId3"/>
          <a:stretch/>
        </p:blipFill>
        <p:spPr>
          <a:xfrm>
            <a:off x="101160" y="5577840"/>
            <a:ext cx="1910160" cy="1256400"/>
          </a:xfrm>
          <a:prstGeom prst="rect">
            <a:avLst/>
          </a:prstGeom>
          <a:ln w="0">
            <a:noFill/>
          </a:ln>
        </p:spPr>
      </p:pic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7F4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10;p1"/>
          <p:cNvSpPr/>
          <p:nvPr/>
        </p:nvSpPr>
        <p:spPr>
          <a:xfrm>
            <a:off x="8277480" y="5619600"/>
            <a:ext cx="2995920" cy="133560"/>
          </a:xfrm>
          <a:prstGeom prst="rect">
            <a:avLst/>
          </a:prstGeom>
          <a:solidFill>
            <a:srgbClr val="80008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6960" bIns="66960" anchor="ctr">
            <a:noAutofit/>
          </a:bodyPr>
          <a:lstStyle/>
          <a:p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2" name="Google Shape;13;p1"/>
          <p:cNvPicPr/>
          <p:nvPr/>
        </p:nvPicPr>
        <p:blipFill>
          <a:blip r:embed="rId3"/>
          <a:stretch/>
        </p:blipFill>
        <p:spPr>
          <a:xfrm>
            <a:off x="101160" y="5577840"/>
            <a:ext cx="1910160" cy="1256400"/>
          </a:xfrm>
          <a:prstGeom prst="rect">
            <a:avLst/>
          </a:prstGeom>
          <a:ln w="0">
            <a:noFill/>
          </a:ln>
        </p:spPr>
      </p:pic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7F4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10;p1"/>
          <p:cNvSpPr/>
          <p:nvPr/>
        </p:nvSpPr>
        <p:spPr>
          <a:xfrm>
            <a:off x="8277480" y="5619600"/>
            <a:ext cx="2995920" cy="133560"/>
          </a:xfrm>
          <a:prstGeom prst="rect">
            <a:avLst/>
          </a:prstGeom>
          <a:solidFill>
            <a:srgbClr val="80008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6960" bIns="66960" anchor="ctr">
            <a:noAutofit/>
          </a:bodyPr>
          <a:lstStyle/>
          <a:p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8" name="Google Shape;13;p1"/>
          <p:cNvPicPr/>
          <p:nvPr/>
        </p:nvPicPr>
        <p:blipFill>
          <a:blip r:embed="rId4"/>
          <a:stretch/>
        </p:blipFill>
        <p:spPr>
          <a:xfrm>
            <a:off x="101160" y="5577840"/>
            <a:ext cx="1910160" cy="1256400"/>
          </a:xfrm>
          <a:prstGeom prst="rect">
            <a:avLst/>
          </a:prstGeom>
          <a:ln w="0">
            <a:noFill/>
          </a:ln>
        </p:spPr>
      </p:pic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8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7F4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10;p1"/>
          <p:cNvSpPr/>
          <p:nvPr/>
        </p:nvSpPr>
        <p:spPr>
          <a:xfrm>
            <a:off x="8277480" y="5619600"/>
            <a:ext cx="2995920" cy="133560"/>
          </a:xfrm>
          <a:prstGeom prst="rect">
            <a:avLst/>
          </a:prstGeom>
          <a:solidFill>
            <a:srgbClr val="80008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6960" bIns="66960" anchor="ctr">
            <a:noAutofit/>
          </a:bodyPr>
          <a:lstStyle/>
          <a:p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3" name="Google Shape;13;p1"/>
          <p:cNvPicPr/>
          <p:nvPr/>
        </p:nvPicPr>
        <p:blipFill>
          <a:blip r:embed="rId3"/>
          <a:stretch/>
        </p:blipFill>
        <p:spPr>
          <a:xfrm>
            <a:off x="101160" y="5577840"/>
            <a:ext cx="1910160" cy="125640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7F4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10;p1"/>
          <p:cNvSpPr/>
          <p:nvPr/>
        </p:nvSpPr>
        <p:spPr>
          <a:xfrm>
            <a:off x="8277480" y="5619600"/>
            <a:ext cx="2995920" cy="133560"/>
          </a:xfrm>
          <a:prstGeom prst="rect">
            <a:avLst/>
          </a:prstGeom>
          <a:solidFill>
            <a:srgbClr val="80008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6960" bIns="66960" anchor="ctr">
            <a:noAutofit/>
          </a:bodyPr>
          <a:lstStyle/>
          <a:p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7" name="Google Shape;13;p1"/>
          <p:cNvPicPr/>
          <p:nvPr/>
        </p:nvPicPr>
        <p:blipFill>
          <a:blip r:embed="rId3"/>
          <a:stretch/>
        </p:blipFill>
        <p:spPr>
          <a:xfrm>
            <a:off x="101160" y="5577840"/>
            <a:ext cx="1910160" cy="1256400"/>
          </a:xfrm>
          <a:prstGeom prst="rect">
            <a:avLst/>
          </a:prstGeom>
          <a:ln w="0">
            <a:noFill/>
          </a:ln>
        </p:spPr>
      </p:pic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837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837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7F4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10;p1"/>
          <p:cNvSpPr/>
          <p:nvPr/>
        </p:nvSpPr>
        <p:spPr>
          <a:xfrm>
            <a:off x="8277480" y="5619600"/>
            <a:ext cx="2995920" cy="133560"/>
          </a:xfrm>
          <a:prstGeom prst="rect">
            <a:avLst/>
          </a:prstGeom>
          <a:solidFill>
            <a:srgbClr val="80008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6960" bIns="66960" anchor="ctr">
            <a:noAutofit/>
          </a:bodyPr>
          <a:lstStyle/>
          <a:p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5" name="Google Shape;13;p1"/>
          <p:cNvPicPr/>
          <p:nvPr/>
        </p:nvPicPr>
        <p:blipFill>
          <a:blip r:embed="rId3"/>
          <a:stretch/>
        </p:blipFill>
        <p:spPr>
          <a:xfrm>
            <a:off x="101160" y="5577840"/>
            <a:ext cx="1910160" cy="1256400"/>
          </a:xfrm>
          <a:prstGeom prst="rect">
            <a:avLst/>
          </a:prstGeom>
          <a:ln w="0">
            <a:noFill/>
          </a:ln>
        </p:spPr>
      </p:pic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837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837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7F4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10;p1"/>
          <p:cNvSpPr/>
          <p:nvPr/>
        </p:nvSpPr>
        <p:spPr>
          <a:xfrm>
            <a:off x="8277480" y="5619600"/>
            <a:ext cx="2995920" cy="133560"/>
          </a:xfrm>
          <a:prstGeom prst="rect">
            <a:avLst/>
          </a:prstGeom>
          <a:solidFill>
            <a:srgbClr val="80008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6960" bIns="66960" anchor="ctr">
            <a:noAutofit/>
          </a:bodyPr>
          <a:lstStyle/>
          <a:p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3" name="Google Shape;13;p1"/>
          <p:cNvPicPr/>
          <p:nvPr/>
        </p:nvPicPr>
        <p:blipFill>
          <a:blip r:embed="rId4"/>
          <a:stretch/>
        </p:blipFill>
        <p:spPr>
          <a:xfrm>
            <a:off x="101160" y="5577840"/>
            <a:ext cx="1910160" cy="1256400"/>
          </a:xfrm>
          <a:prstGeom prst="rect">
            <a:avLst/>
          </a:prstGeom>
          <a:ln w="0">
            <a:noFill/>
          </a:ln>
        </p:spPr>
      </p:pic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96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89" name="PlaceHolder 2"/>
          <p:cNvSpPr>
            <a:spLocks noGrp="1"/>
          </p:cNvSpPr>
          <p:nvPr>
            <p:ph type="dt" idx="1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ftr" idx="2"/>
          </p:nvPr>
        </p:nvSpPr>
        <p:spPr>
          <a:xfrm>
            <a:off x="416520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91" name="PlaceHolder 4"/>
          <p:cNvSpPr>
            <a:spLocks noGrp="1"/>
          </p:cNvSpPr>
          <p:nvPr>
            <p:ph type="sldNum" idx="3"/>
          </p:nvPr>
        </p:nvSpPr>
        <p:spPr>
          <a:xfrm>
            <a:off x="873720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65D3D50-FA88-4889-BF7F-4CB90D6756AD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864000" lvl="1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296000" lvl="2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728000" lvl="3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160000" lvl="4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97" name="PlaceHolder 3"/>
          <p:cNvSpPr>
            <a:spLocks noGrp="1"/>
          </p:cNvSpPr>
          <p:nvPr>
            <p:ph type="dt" idx="4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ftr" idx="5"/>
          </p:nvPr>
        </p:nvSpPr>
        <p:spPr>
          <a:xfrm>
            <a:off x="416520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99" name="PlaceHolder 5"/>
          <p:cNvSpPr>
            <a:spLocks noGrp="1"/>
          </p:cNvSpPr>
          <p:nvPr>
            <p:ph type="sldNum" idx="6"/>
          </p:nvPr>
        </p:nvSpPr>
        <p:spPr>
          <a:xfrm>
            <a:off x="873720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8B0B0A6-2903-44DC-8359-7D7358A47024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sshannigrahi@tntech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66;p14"/>
          <p:cNvSpPr/>
          <p:nvPr/>
        </p:nvSpPr>
        <p:spPr>
          <a:xfrm>
            <a:off x="185400" y="2468880"/>
            <a:ext cx="11244240" cy="182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2600" b="1" strike="noStrike" spc="-1" dirty="0">
                <a:solidFill>
                  <a:srgbClr val="000000"/>
                </a:solidFill>
                <a:latin typeface="Montserrat"/>
                <a:ea typeface="Montserrat"/>
              </a:rPr>
              <a:t>CSC4780 – COMPUTER Networks and Security</a:t>
            </a:r>
            <a:endParaRPr lang="en-US" sz="2600" b="0" strike="noStrike" spc="-1" dirty="0">
              <a:solidFill>
                <a:srgbClr val="000000"/>
              </a:solidFill>
              <a:latin typeface="Arial"/>
            </a:endParaRPr>
          </a:p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 dirty="0">
                <a:solidFill>
                  <a:srgbClr val="454F5B"/>
                </a:solidFill>
                <a:latin typeface="Montserrat"/>
                <a:ea typeface="Montserrat"/>
              </a:rPr>
              <a:t>Instructor: Susmit Shannigrahi</a:t>
            </a:r>
            <a:endParaRPr lang="en-US" sz="2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Google Shape;67;p14"/>
          <p:cNvSpPr/>
          <p:nvPr/>
        </p:nvSpPr>
        <p:spPr>
          <a:xfrm>
            <a:off x="2817720" y="5402880"/>
            <a:ext cx="8623440" cy="114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r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r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2400" b="1" u="sng" strike="noStrike" spc="-1" dirty="0">
                <a:solidFill>
                  <a:schemeClr val="hlink"/>
                </a:solidFill>
                <a:uFillTx/>
                <a:latin typeface="Montserrat"/>
                <a:ea typeface="Montserrat"/>
                <a:hlinkClick r:id="rId3"/>
              </a:rPr>
              <a:t>sshannigrahi@tntech.edu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algn="r">
              <a:lnSpc>
                <a:spcPct val="100000"/>
              </a:lnSpc>
              <a:tabLst>
                <a:tab pos="0" algn="l"/>
              </a:tabLst>
            </a:pP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algn="r">
              <a:lnSpc>
                <a:spcPct val="100000"/>
              </a:lnSpc>
              <a:tabLst>
                <a:tab pos="0" algn="l"/>
              </a:tabLst>
            </a:pP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algn="r">
              <a:lnSpc>
                <a:spcPct val="100000"/>
              </a:lnSpc>
              <a:tabLst>
                <a:tab pos="0" algn="l"/>
              </a:tabLst>
            </a:pP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algn="r">
              <a:lnSpc>
                <a:spcPct val="100000"/>
              </a:lnSpc>
              <a:tabLst>
                <a:tab pos="0" algn="l"/>
              </a:tabLst>
            </a:pP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459A31-7753-28C6-6805-E6D728196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2834" y="2238660"/>
            <a:ext cx="10972080" cy="1144440"/>
          </a:xfrm>
        </p:spPr>
        <p:txBody>
          <a:bodyPr/>
          <a:lstStyle/>
          <a:p>
            <a:r>
              <a:rPr lang="en-US" dirty="0"/>
              <a:t>OTP and Hash Functions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The Internet Is Public</a:t>
            </a: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Every message travels through networks you do not control.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Routers, ISPs, and servers process your data.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Yet you expect privacy when you log in or send a message.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How is private communication possible in a public system?</a:t>
            </a:r>
          </a:p>
          <a:p>
            <a:pPr marL="1296000" lvl="2" indent="-288000" defTabSz="4572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https://www.opte.org/the-internet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Infrastructure Trust vs Message Privacy</a:t>
            </a: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44197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DNSSEC → correct destination.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BGPSEC → correct path.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PKI → correct identity.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1" strike="noStrike" spc="-1">
                <a:solidFill>
                  <a:schemeClr val="dk1"/>
                </a:solidFill>
                <a:latin typeface="Calibri"/>
              </a:rPr>
              <a:t>Encryption → protects the message itself.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14" name="Picture 1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4912920" y="1371600"/>
            <a:ext cx="7201080" cy="48006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Security Foundations We Studied</a:t>
            </a: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DNSSEC protects domain name authenticity.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BGPSEC protects routing integrity.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PKI verifies digital identity.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Each solves a different trust problem.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DNSSEC: Trusting the Name</a:t>
            </a: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51055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Ensures DNS responses are authentic.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Prevents forged domain records.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Protects integrity, not confidentiality.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Builds trust in name resolution.</a:t>
            </a:r>
          </a:p>
        </p:txBody>
      </p:sp>
      <p:pic>
        <p:nvPicPr>
          <p:cNvPr id="119" name="Picture 118" descr="DNSSEC"/>
          <p:cNvPicPr/>
          <p:nvPr/>
        </p:nvPicPr>
        <p:blipFill>
          <a:blip r:embed="rId2"/>
          <a:stretch/>
        </p:blipFill>
        <p:spPr>
          <a:xfrm>
            <a:off x="5303520" y="1828800"/>
            <a:ext cx="6583680" cy="38862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BGPSEC: Trusting the Route</a:t>
            </a: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46483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Validates routing paths.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Reduces route hijacking attacks.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Protects integrity of traffic flow.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Does not encrypt the data.</a:t>
            </a:r>
          </a:p>
        </p:txBody>
      </p:sp>
      <p:pic>
        <p:nvPicPr>
          <p:cNvPr id="122" name="Picture 121" descr="BGPSEC&#10;"/>
          <p:cNvPicPr/>
          <p:nvPr/>
        </p:nvPicPr>
        <p:blipFill>
          <a:blip r:embed="rId2"/>
          <a:stretch/>
        </p:blipFill>
        <p:spPr>
          <a:xfrm>
            <a:off x="5113800" y="1824480"/>
            <a:ext cx="5630400" cy="38905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PKI: Trusting Identity</a:t>
            </a: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4191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Uses certificates and signatures.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Confirms a server is who it claims to be.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Foundation of HTTPS.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Establishes identity before encryption begins.</a:t>
            </a:r>
          </a:p>
        </p:txBody>
      </p:sp>
      <p:pic>
        <p:nvPicPr>
          <p:cNvPr id="125" name="Picture 124" descr="PKI"/>
          <p:cNvPicPr/>
          <p:nvPr/>
        </p:nvPicPr>
        <p:blipFill>
          <a:blip r:embed="rId2"/>
          <a:stretch/>
        </p:blipFill>
        <p:spPr>
          <a:xfrm>
            <a:off x="5029200" y="1828800"/>
            <a:ext cx="6419520" cy="33998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 dirty="0">
                <a:solidFill>
                  <a:schemeClr val="dk1"/>
                </a:solidFill>
                <a:latin typeface="Calibri"/>
              </a:rPr>
              <a:t>Infrastructure Trust vs Message Privacy 2</a:t>
            </a: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44197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chemeClr val="dk1"/>
                </a:solidFill>
                <a:latin typeface="Calibri"/>
              </a:rPr>
              <a:t>DNSSEC → correct destination.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chemeClr val="dk1"/>
                </a:solidFill>
                <a:latin typeface="Calibri"/>
              </a:rPr>
              <a:t>BGPSEC → correct path.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chemeClr val="dk1"/>
                </a:solidFill>
                <a:latin typeface="Calibri"/>
              </a:rPr>
              <a:t>PKI → correct identity.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1" strike="noStrike" spc="-1" dirty="0">
                <a:solidFill>
                  <a:schemeClr val="dk1"/>
                </a:solidFill>
                <a:latin typeface="Calibri"/>
              </a:rPr>
              <a:t>Encryption → protects the message itself.</a:t>
            </a:r>
            <a:endParaRPr lang="en-US" sz="2800" b="0" strike="noStrike" spc="-1" dirty="0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28" name="Picture 1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4912920" y="1371600"/>
            <a:ext cx="7201080" cy="48006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Modern Encryption</a:t>
            </a: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Uses mathematical problems that are hard to solve.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Examples: RSA, Diffie-Hellman, AES.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Secure in practice under current assumptions.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Security depends on computational limits.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The One-Time Pad</a:t>
            </a: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Uses a truly random key equal in length to the message.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Key is shared securely and used once.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Provides perfect secrecy.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Ciphertext reveals no information about plaintext.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Layered Security in a Public World</a:t>
            </a: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Infrastructure mechanisms build trust.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Encryption protects content.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One-time pad shows perfect secrecy is possible.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Real systems balance theory and practicality.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By the End of Class</a:t>
            </a: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Explain how DNSSEC, BGPSEC, and PKI build trust.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Distinguish infrastructure security from confidentiality.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Describe how encryption enables privacy.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Evaluate tradeoffs between perfect and practical security.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60948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Calibri"/>
                <a:ea typeface="Calibri"/>
              </a:rPr>
              <a:t>Outcome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711360" y="1066680"/>
            <a:ext cx="10972080" cy="5653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>
              <a:lnSpc>
                <a:spcPct val="100000"/>
              </a:lnSpc>
              <a:buClr>
                <a:srgbClr val="FF0000"/>
              </a:buClr>
              <a:buFont typeface="Arial"/>
              <a:buChar char="•"/>
            </a:pPr>
            <a:r>
              <a:rPr lang="en-US" sz="3200" b="1" strike="noStrike" spc="-1">
                <a:solidFill>
                  <a:srgbClr val="FF0000"/>
                </a:solidFill>
                <a:latin typeface="Calibri"/>
                <a:ea typeface="Calibri"/>
              </a:rPr>
              <a:t>Three fundamental ideas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1" strike="noStrike" spc="-1">
                <a:solidFill>
                  <a:srgbClr val="FF0000"/>
                </a:solidFill>
                <a:latin typeface="Calibri"/>
                <a:ea typeface="Calibri"/>
              </a:rPr>
              <a:t>Randomness matters.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1" strike="noStrike" spc="-1">
                <a:solidFill>
                  <a:srgbClr val="FF0000"/>
                </a:solidFill>
                <a:latin typeface="Calibri"/>
                <a:ea typeface="Calibri"/>
              </a:rPr>
              <a:t>Key management matters more than algorithms.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1" strike="noStrike" spc="-1">
                <a:solidFill>
                  <a:srgbClr val="FF0000"/>
                </a:solidFill>
                <a:latin typeface="Calibri"/>
                <a:ea typeface="Calibri"/>
              </a:rPr>
              <a:t>Security proofs require mathematical rigor.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0">
              <a:spcBef>
                <a:spcPts val="1191"/>
              </a:spcBef>
              <a:spcAft>
                <a:spcPts val="992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sldNum" idx="10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Quintessential"/>
                <a:ea typeface="Quintessent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97CC4D6-C5C8-42AF-8F64-9AC222FBE70B}" type="slidenum">
              <a:rPr lang="en-US" sz="1200" b="0" strike="noStrike" spc="-1">
                <a:solidFill>
                  <a:srgbClr val="898989"/>
                </a:solidFill>
                <a:latin typeface="Quintessential"/>
                <a:ea typeface="Quintessential"/>
              </a:rPr>
              <a:t>13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60948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Calibri"/>
                <a:ea typeface="Calibri"/>
              </a:rPr>
              <a:t>One Time Pad and Hash Functions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711360" y="1066680"/>
            <a:ext cx="10972080" cy="5653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>
              <a:lnSpc>
                <a:spcPct val="100000"/>
              </a:lnSpc>
              <a:buClr>
                <a:srgbClr val="FF0000"/>
              </a:buClr>
              <a:buFont typeface="Arial"/>
              <a:buChar char="•"/>
            </a:pPr>
            <a:r>
              <a:rPr lang="en-US" sz="3200" b="1" strike="noStrike" spc="-1">
                <a:solidFill>
                  <a:srgbClr val="FF0000"/>
                </a:solidFill>
                <a:latin typeface="Calibri"/>
                <a:ea typeface="Calibri"/>
              </a:rPr>
              <a:t>One-Time Pad 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marL="857160" lvl="1" indent="-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Calibri"/>
              </a:rPr>
              <a:t>Security objective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857160" lvl="1" indent="-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Calibri"/>
              <a:buChar char="–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Calibri"/>
              </a:rPr>
              <a:t>Properties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857160" lvl="1" indent="-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Calibri"/>
              </a:rPr>
              <a:t>Method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857160" lvl="1" indent="-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Calibri"/>
              </a:rPr>
              <a:t>Proof of “perfect secrecy”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457200">
              <a:lnSpc>
                <a:spcPct val="100000"/>
              </a:lnSpc>
              <a:spcBef>
                <a:spcPts val="641"/>
              </a:spcBef>
              <a:buClr>
                <a:srgbClr val="FF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1" strike="noStrike" spc="-1">
                <a:solidFill>
                  <a:srgbClr val="FF0000"/>
                </a:solidFill>
                <a:latin typeface="Calibri"/>
                <a:ea typeface="Calibri"/>
              </a:rPr>
              <a:t>Hash Functions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marL="857160" lvl="1" indent="-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Calibri"/>
              </a:rPr>
              <a:t>Security objective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857160" lvl="1" indent="-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Calibri"/>
              <a:buChar char="–"/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Calibri"/>
              </a:rPr>
              <a:t>Properties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857160" lvl="1" indent="-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Calibri"/>
              <a:buChar char="–"/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Calibri"/>
              </a:rPr>
              <a:t>Method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857160" lvl="1" indent="-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Calibri"/>
              </a:rPr>
              <a:t>Ideal security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sldNum" idx="11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Quintessential"/>
                <a:ea typeface="Quintessent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0F99DD2-F258-47D1-8254-37F4D555E91C}" type="slidenum">
              <a:rPr lang="en-US" sz="1200" b="0" strike="noStrike" spc="-1">
                <a:solidFill>
                  <a:srgbClr val="898989"/>
                </a:solidFill>
                <a:latin typeface="Quintessential"/>
                <a:ea typeface="Quintessential"/>
              </a:rPr>
              <a:t>14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0948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One Time Pad and Hash Functions 2</a:t>
            </a:r>
            <a:endParaRPr lang="en-US" sz="4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711360" y="1066680"/>
            <a:ext cx="10972080" cy="5653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>
              <a:lnSpc>
                <a:spcPct val="100000"/>
              </a:lnSpc>
              <a:buClr>
                <a:srgbClr val="FF0000"/>
              </a:buClr>
              <a:buFont typeface="Arial"/>
              <a:buChar char="•"/>
            </a:pPr>
            <a:r>
              <a:rPr lang="en-US" sz="3200" b="1" strike="noStrike" spc="-1">
                <a:solidFill>
                  <a:srgbClr val="FF0000"/>
                </a:solidFill>
                <a:latin typeface="Calibri"/>
                <a:ea typeface="Calibri"/>
              </a:rPr>
              <a:t>One-Time Pad 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marL="857160" lvl="1" indent="-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Calibri"/>
              </a:rPr>
              <a:t>Security objective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857160" lvl="1" indent="-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Calibri"/>
              <a:buChar char="–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Calibri"/>
              </a:rPr>
              <a:t>Properties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857160" lvl="1" indent="-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Calibri"/>
              </a:rPr>
              <a:t>Method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857160" lvl="1" indent="-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Calibri"/>
              </a:rPr>
              <a:t>Proof of “perfect secrecy”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457200">
              <a:lnSpc>
                <a:spcPct val="100000"/>
              </a:lnSpc>
              <a:spcBef>
                <a:spcPts val="641"/>
              </a:spcBef>
              <a:buClr>
                <a:srgbClr val="FF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1" strike="noStrike" spc="-1">
                <a:solidFill>
                  <a:srgbClr val="FF0000"/>
                </a:solidFill>
                <a:latin typeface="Calibri"/>
                <a:ea typeface="Calibri"/>
              </a:rPr>
              <a:t>Hash Functions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marL="857160" lvl="1" indent="-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Calibri"/>
              </a:rPr>
              <a:t>Security objective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857160" lvl="1" indent="-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Calibri"/>
              <a:buChar char="–"/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Calibri"/>
              </a:rPr>
              <a:t>Properties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857160" lvl="1" indent="-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Calibri"/>
              <a:buChar char="–"/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Calibri"/>
              </a:rPr>
              <a:t>Method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857160" lvl="1" indent="-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Calibri"/>
              </a:rPr>
              <a:t>Ideal security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sldNum" idx="12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Quintessential"/>
                <a:ea typeface="Quintessent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2CBDEA7-2DF9-41F7-9D5A-52AEEA485310}" type="slidenum">
              <a:rPr lang="en-US" sz="1200" b="0" strike="noStrike" spc="-1">
                <a:solidFill>
                  <a:srgbClr val="898989"/>
                </a:solidFill>
                <a:latin typeface="Quintessential"/>
                <a:ea typeface="Quintessential"/>
              </a:rPr>
              <a:t>15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strike="noStrike" spc="-1" dirty="0">
                <a:solidFill>
                  <a:srgbClr val="FF0000"/>
                </a:solidFill>
                <a:latin typeface="Calibri"/>
                <a:ea typeface="Calibri"/>
              </a:rPr>
              <a:t>One-Time Pad</a:t>
            </a:r>
            <a:endParaRPr lang="en-US" sz="4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127664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>
              <a:lnSpc>
                <a:spcPct val="100000"/>
              </a:lnSpc>
              <a:buClr>
                <a:srgbClr val="FF0000"/>
              </a:buClr>
              <a:buFont typeface="Arial"/>
              <a:buChar char="•"/>
            </a:pPr>
            <a:r>
              <a:rPr lang="en-US" sz="3200" b="1" strike="noStrike" spc="-1">
                <a:solidFill>
                  <a:srgbClr val="FF0000"/>
                </a:solidFill>
                <a:latin typeface="Calibri"/>
                <a:ea typeface="Calibri"/>
              </a:rPr>
              <a:t>Goal:</a:t>
            </a:r>
            <a:r>
              <a:rPr lang="en-US" sz="3200" b="1" strike="noStrike" spc="-1">
                <a:solidFill>
                  <a:srgbClr val="000000"/>
                </a:solidFill>
                <a:latin typeface="Calibri"/>
                <a:ea typeface="Calibri"/>
              </a:rPr>
              <a:t>  Alice secretly send Bob a message </a:t>
            </a:r>
            <a:br>
              <a:rPr sz="3200"/>
            </a:br>
            <a:br>
              <a:rPr sz="3200"/>
            </a:br>
            <a:br>
              <a:rPr sz="3200"/>
            </a:br>
            <a:br>
              <a:rPr sz="3200"/>
            </a:br>
            <a:br>
              <a:rPr sz="3200"/>
            </a:br>
            <a:r>
              <a:rPr lang="en-US" sz="3200" b="1" strike="noStrike" spc="-1">
                <a:solidFill>
                  <a:srgbClr val="000000"/>
                </a:solidFill>
                <a:latin typeface="Calibri"/>
                <a:ea typeface="Calibri"/>
              </a:rPr>
              <a:t> 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FF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1" strike="noStrike" spc="-1">
                <a:solidFill>
                  <a:srgbClr val="FF0000"/>
                </a:solidFill>
                <a:latin typeface="Calibri"/>
                <a:ea typeface="Calibri"/>
              </a:rPr>
              <a:t>Confidentiality</a:t>
            </a:r>
            <a:r>
              <a:rPr lang="en-US" sz="3200" b="1" strike="noStrike" spc="-1">
                <a:solidFill>
                  <a:srgbClr val="000000"/>
                </a:solidFill>
                <a:latin typeface="Calibri"/>
                <a:ea typeface="Calibri"/>
              </a:rPr>
              <a:t> (secrecy) in the presence of a </a:t>
            </a:r>
            <a:r>
              <a:rPr lang="en-US" sz="3200" b="1" i="1" strike="noStrike" spc="-1">
                <a:solidFill>
                  <a:srgbClr val="000000"/>
                </a:solidFill>
                <a:latin typeface="Calibri"/>
                <a:ea typeface="Calibri"/>
              </a:rPr>
              <a:t>passive </a:t>
            </a:r>
            <a:r>
              <a:rPr lang="en-US" sz="3200" b="1" strike="noStrike" spc="-1">
                <a:solidFill>
                  <a:srgbClr val="000000"/>
                </a:solidFill>
                <a:latin typeface="Calibri"/>
                <a:ea typeface="Calibri"/>
              </a:rPr>
              <a:t>eavesdropper (aka “</a:t>
            </a:r>
            <a:r>
              <a:rPr lang="en-US" sz="3200" b="1" i="1" strike="noStrike" spc="-1">
                <a:solidFill>
                  <a:srgbClr val="000000"/>
                </a:solidFill>
                <a:latin typeface="Calibri"/>
                <a:ea typeface="Calibri"/>
              </a:rPr>
              <a:t>Trudy”).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48" name="Google Shape;81;p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3250800" y="2935440"/>
            <a:ext cx="6696000" cy="720"/>
          </a:xfrm>
          <a:prstGeom prst="straightConnector1">
            <a:avLst/>
          </a:prstGeom>
          <a:ln w="7632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149" name="Google Shape;82;p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8330760" y="2935440"/>
            <a:ext cx="720" cy="847800"/>
          </a:xfrm>
          <a:prstGeom prst="straightConnector1">
            <a:avLst/>
          </a:prstGeom>
          <a:ln w="63360">
            <a:solidFill>
              <a:srgbClr val="000000"/>
            </a:solidFill>
            <a:round/>
            <a:tailEnd type="triangle" w="med" len="med"/>
          </a:ln>
        </p:spPr>
      </p:cxnSp>
      <p:pic>
        <p:nvPicPr>
          <p:cNvPr id="150" name="Google Shape;83;p16" descr="Alice"/>
          <p:cNvPicPr/>
          <p:nvPr/>
        </p:nvPicPr>
        <p:blipFill>
          <a:blip r:embed="rId3"/>
          <a:stretch/>
        </p:blipFill>
        <p:spPr>
          <a:xfrm>
            <a:off x="2320200" y="2504520"/>
            <a:ext cx="930600" cy="861840"/>
          </a:xfrm>
          <a:prstGeom prst="rect">
            <a:avLst/>
          </a:prstGeom>
          <a:ln w="0">
            <a:noFill/>
          </a:ln>
        </p:spPr>
      </p:pic>
      <p:pic>
        <p:nvPicPr>
          <p:cNvPr id="151" name="Google Shape;84;p16" descr="Eve"/>
          <p:cNvPicPr/>
          <p:nvPr/>
        </p:nvPicPr>
        <p:blipFill>
          <a:blip r:embed="rId4"/>
          <a:stretch/>
        </p:blipFill>
        <p:spPr>
          <a:xfrm>
            <a:off x="7676280" y="3782880"/>
            <a:ext cx="1443600" cy="1294920"/>
          </a:xfrm>
          <a:prstGeom prst="rect">
            <a:avLst/>
          </a:prstGeom>
          <a:ln w="0">
            <a:noFill/>
          </a:ln>
        </p:spPr>
      </p:pic>
      <p:pic>
        <p:nvPicPr>
          <p:cNvPr id="152" name="Google Shape;85;p16" descr="Bob"/>
          <p:cNvPicPr/>
          <p:nvPr/>
        </p:nvPicPr>
        <p:blipFill>
          <a:blip r:embed="rId5"/>
          <a:stretch/>
        </p:blipFill>
        <p:spPr>
          <a:xfrm>
            <a:off x="10136160" y="2520360"/>
            <a:ext cx="1083600" cy="8298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Mechanism: </a:t>
            </a:r>
            <a:r>
              <a:rPr lang="en-US" sz="4400" b="1" strike="noStrike" spc="-1" dirty="0">
                <a:solidFill>
                  <a:srgbClr val="000000"/>
                </a:solidFill>
                <a:latin typeface="Calibri"/>
                <a:ea typeface="Calibri"/>
              </a:rPr>
              <a:t>Encryption</a:t>
            </a:r>
            <a:endParaRPr lang="en-US" sz="4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09720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Calibri"/>
              </a:rPr>
              <a:t>Requires </a:t>
            </a:r>
            <a:r>
              <a:rPr lang="en-US" sz="3200" b="1" strike="noStrike" spc="-1">
                <a:solidFill>
                  <a:srgbClr val="000000"/>
                </a:solidFill>
                <a:latin typeface="Calibri"/>
                <a:ea typeface="Calibri"/>
              </a:rPr>
              <a:t>setup (“key distribution”): 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1" strike="noStrike" spc="-1">
                <a:solidFill>
                  <a:srgbClr val="000000"/>
                </a:solidFill>
                <a:latin typeface="Calibri"/>
                <a:ea typeface="Calibri"/>
              </a:rPr>
              <a:t>    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Calibri"/>
              </a:rPr>
              <a:t>Alice and Bob must have earlier created and  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Calibri"/>
              </a:rPr>
              <a:t>    shared a </a:t>
            </a:r>
            <a:r>
              <a:rPr lang="en-US" sz="3200" b="1" i="1" strike="noStrike" spc="-1">
                <a:solidFill>
                  <a:srgbClr val="000000"/>
                </a:solidFill>
                <a:latin typeface="Calibri"/>
                <a:ea typeface="Calibri"/>
              </a:rPr>
              <a:t>random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Calibri"/>
              </a:rPr>
              <a:t> </a:t>
            </a:r>
            <a:r>
              <a:rPr lang="en-US" sz="3200" b="1" i="1" strike="noStrike" spc="-1">
                <a:solidFill>
                  <a:srgbClr val="000000"/>
                </a:solidFill>
                <a:latin typeface="Calibri"/>
                <a:ea typeface="Calibri"/>
              </a:rPr>
              <a:t>secret key  (the “pad”).  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1" i="1" strike="noStrike" spc="-1">
                <a:solidFill>
                  <a:srgbClr val="C00000"/>
                </a:solidFill>
                <a:latin typeface="Calibri"/>
                <a:ea typeface="Calibri"/>
              </a:rPr>
              <a:t>	Remember symmetric key?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1" i="1" strike="noStrike" spc="-1">
                <a:solidFill>
                  <a:srgbClr val="000000"/>
                </a:solidFill>
                <a:latin typeface="Calibri"/>
                <a:ea typeface="Calibri"/>
              </a:rPr>
              <a:t>Only Alice and Bob know</a:t>
            </a:r>
            <a:r>
              <a:rPr lang="en-US" sz="3200" b="1" strike="noStrike" spc="-1">
                <a:solidFill>
                  <a:srgbClr val="000000"/>
                </a:solidFill>
                <a:latin typeface="Calibri"/>
                <a:ea typeface="Calibri"/>
              </a:rPr>
              <a:t> </a:t>
            </a:r>
            <a:r>
              <a:rPr lang="en-US" sz="3200" b="1" i="1" strike="noStrike" spc="-1">
                <a:solidFill>
                  <a:srgbClr val="000000"/>
                </a:solidFill>
                <a:latin typeface="Calibri"/>
                <a:ea typeface="Calibri"/>
              </a:rPr>
              <a:t>the key .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sldNum" idx="13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Quintessential"/>
                <a:ea typeface="Quintessent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61216CC-EAFD-4E24-AEDC-C7FFBABEC1EF}" type="slidenum">
              <a:rPr lang="en-US" sz="1200" b="0" strike="noStrike" spc="-1">
                <a:solidFill>
                  <a:srgbClr val="898989"/>
                </a:solidFill>
                <a:latin typeface="Quintessential"/>
                <a:ea typeface="Quintessential"/>
              </a:rPr>
              <a:t>17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Mechanism: </a:t>
            </a:r>
            <a:r>
              <a:rPr lang="en-US" sz="4400" b="1" strike="noStrike" spc="-1" dirty="0">
                <a:solidFill>
                  <a:srgbClr val="000000"/>
                </a:solidFill>
                <a:latin typeface="Calibri"/>
                <a:ea typeface="Calibri"/>
              </a:rPr>
              <a:t>Encryption 2</a:t>
            </a:r>
            <a:endParaRPr lang="en-US" sz="4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09720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Calibri"/>
              </a:rPr>
              <a:t>Alice </a:t>
            </a:r>
            <a:r>
              <a:rPr lang="en-US" sz="3200" b="1" strike="noStrike" spc="-1">
                <a:solidFill>
                  <a:srgbClr val="000000"/>
                </a:solidFill>
                <a:latin typeface="Calibri"/>
                <a:ea typeface="Calibri"/>
              </a:rPr>
              <a:t>encrypts C using key K(B) , 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Calibri"/>
              </a:rPr>
              <a:t>to obtain </a:t>
            </a:r>
            <a:r>
              <a:rPr lang="en-US" sz="3200" b="1" strike="noStrike" spc="-1">
                <a:solidFill>
                  <a:srgbClr val="000000"/>
                </a:solidFill>
                <a:latin typeface="Calibri"/>
                <a:ea typeface="Calibri"/>
              </a:rPr>
              <a:t>ciphertext </a:t>
            </a:r>
            <a:br>
              <a:rPr sz="3200"/>
            </a:br>
            <a:r>
              <a:rPr lang="en-US" sz="3200" b="1" strike="noStrike" spc="-1">
                <a:solidFill>
                  <a:srgbClr val="000000"/>
                </a:solidFill>
                <a:latin typeface="Calibri"/>
                <a:ea typeface="Calibri"/>
              </a:rPr>
              <a:t>						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Calibri"/>
              </a:rPr>
              <a:t>Using </a:t>
            </a:r>
            <a:r>
              <a:rPr lang="en-US" sz="3200" b="1" strike="noStrike" spc="-1">
                <a:solidFill>
                  <a:srgbClr val="000000"/>
                </a:solidFill>
                <a:latin typeface="Calibri"/>
                <a:ea typeface="Calibri"/>
              </a:rPr>
              <a:t>, 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Calibri"/>
              </a:rPr>
              <a:t>Bob </a:t>
            </a:r>
            <a:r>
              <a:rPr lang="en-US" sz="3200" b="1" strike="noStrike" spc="-1">
                <a:solidFill>
                  <a:srgbClr val="000000"/>
                </a:solidFill>
                <a:latin typeface="Calibri"/>
                <a:ea typeface="Calibri"/>
              </a:rPr>
              <a:t>decrypts </a:t>
            </a:r>
            <a:r>
              <a:rPr lang="en-US" sz="3200" b="1" strike="noStrike" spc="-1">
                <a:solidFill>
                  <a:schemeClr val="dk1"/>
                </a:solidFill>
                <a:latin typeface="Calibri"/>
                <a:ea typeface="Calibri"/>
              </a:rPr>
              <a:t>K(B)</a:t>
            </a:r>
            <a:r>
              <a:rPr lang="en-US" sz="3200" b="1" strike="noStrike" spc="-1">
                <a:solidFill>
                  <a:srgbClr val="000000"/>
                </a:solidFill>
                <a:latin typeface="Calibri"/>
                <a:ea typeface="Calibri"/>
              </a:rPr>
              <a:t> to obtain</a:t>
            </a: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Arial"/>
              </a:rPr>
              <a:t> C</a:t>
            </a:r>
            <a:r>
              <a:rPr lang="en-US" sz="3200" b="1" strike="noStrike" spc="-1">
                <a:solidFill>
                  <a:srgbClr val="000000"/>
                </a:solidFill>
                <a:latin typeface="Calibri"/>
                <a:ea typeface="Calibri"/>
              </a:rPr>
              <a:t>						</a:t>
            </a:r>
            <a:br>
              <a:rPr sz="3200"/>
            </a:br>
            <a:r>
              <a:rPr lang="en-US" sz="3200" b="1" strike="noStrike" spc="-1">
                <a:solidFill>
                  <a:srgbClr val="000000"/>
                </a:solidFill>
                <a:latin typeface="Calibri"/>
                <a:ea typeface="Calibri"/>
              </a:rPr>
              <a:t> 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Calibri"/>
              </a:rPr>
              <a:t>Trudy cannot decipher  C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sldNum" idx="14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Quintessential"/>
                <a:ea typeface="Quintessent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472B309-C919-40DB-95FD-B672A101BEE5}" type="slidenum">
              <a:rPr lang="en-US" sz="1200" b="0" strike="noStrike" spc="-1">
                <a:solidFill>
                  <a:srgbClr val="898989"/>
                </a:solidFill>
                <a:latin typeface="Quintessential"/>
                <a:ea typeface="Quintessential"/>
              </a:rPr>
              <a:t>18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59" name="Google Shape;102;p18" descr="Alice"/>
          <p:cNvPicPr/>
          <p:nvPr/>
        </p:nvPicPr>
        <p:blipFill>
          <a:blip r:embed="rId3"/>
          <a:stretch/>
        </p:blipFill>
        <p:spPr>
          <a:xfrm>
            <a:off x="2320200" y="4349520"/>
            <a:ext cx="930600" cy="861840"/>
          </a:xfrm>
          <a:prstGeom prst="rect">
            <a:avLst/>
          </a:prstGeom>
          <a:ln w="0">
            <a:noFill/>
          </a:ln>
        </p:spPr>
      </p:pic>
      <p:pic>
        <p:nvPicPr>
          <p:cNvPr id="160" name="Google Shape;103;p18" descr="Eve"/>
          <p:cNvPicPr/>
          <p:nvPr/>
        </p:nvPicPr>
        <p:blipFill>
          <a:blip r:embed="rId4"/>
          <a:stretch/>
        </p:blipFill>
        <p:spPr>
          <a:xfrm>
            <a:off x="7676280" y="5627880"/>
            <a:ext cx="1443600" cy="1294920"/>
          </a:xfrm>
          <a:prstGeom prst="rect">
            <a:avLst/>
          </a:prstGeom>
          <a:ln w="0">
            <a:noFill/>
          </a:ln>
        </p:spPr>
      </p:pic>
      <p:pic>
        <p:nvPicPr>
          <p:cNvPr id="161" name="Google Shape;104;p18" descr="Bob"/>
          <p:cNvPicPr/>
          <p:nvPr/>
        </p:nvPicPr>
        <p:blipFill>
          <a:blip r:embed="rId5"/>
          <a:stretch/>
        </p:blipFill>
        <p:spPr>
          <a:xfrm>
            <a:off x="10136160" y="4365360"/>
            <a:ext cx="1083600" cy="829800"/>
          </a:xfrm>
          <a:prstGeom prst="rect">
            <a:avLst/>
          </a:prstGeom>
          <a:ln w="0">
            <a:noFill/>
          </a:ln>
        </p:spPr>
      </p:pic>
      <p:cxnSp>
        <p:nvCxnSpPr>
          <p:cNvPr id="162" name="Google Shape;105;p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3250800" y="4766760"/>
            <a:ext cx="6696000" cy="720"/>
          </a:xfrm>
          <a:prstGeom prst="straightConnector1">
            <a:avLst/>
          </a:prstGeom>
          <a:ln w="7632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163" name="Google Shape;106;p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8330760" y="4766760"/>
            <a:ext cx="1080" cy="847800"/>
          </a:xfrm>
          <a:prstGeom prst="straightConnector1">
            <a:avLst/>
          </a:prstGeom>
          <a:ln w="63360">
            <a:solidFill>
              <a:srgbClr val="000000"/>
            </a:solidFill>
            <a:round/>
            <a:tailEnd type="triangle" w="med" len="med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172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Information-theoretically Secure vs Computationally Secure</a:t>
            </a:r>
            <a:endParaRPr lang="en-US" sz="4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/>
          </p:nvPr>
        </p:nvSpPr>
        <p:spPr>
          <a:xfrm>
            <a:off x="609480" y="1736640"/>
            <a:ext cx="10971720" cy="512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>
              <a:lnSpc>
                <a:spcPct val="100000"/>
              </a:lnSpc>
              <a:buClr>
                <a:srgbClr val="FF0000"/>
              </a:buClr>
              <a:buFont typeface="Arial"/>
              <a:buChar char="•"/>
            </a:pPr>
            <a:r>
              <a:rPr lang="en-US" sz="3200" b="1" i="1" strike="noStrike" spc="-1">
                <a:solidFill>
                  <a:srgbClr val="FF0000"/>
                </a:solidFill>
                <a:latin typeface="Calibri"/>
                <a:ea typeface="Calibri"/>
              </a:rPr>
              <a:t>Unconditionally secure</a:t>
            </a:r>
            <a:r>
              <a:rPr lang="en-US" sz="3200" b="1" strike="noStrike" spc="-1">
                <a:solidFill>
                  <a:srgbClr val="FF0000"/>
                </a:solidFill>
                <a:latin typeface="Calibri"/>
                <a:ea typeface="Calibri"/>
              </a:rPr>
              <a:t> 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Calibri"/>
              </a:rPr>
              <a:t>=</a:t>
            </a:r>
            <a:br>
              <a:rPr sz="3200"/>
            </a:br>
            <a:r>
              <a:rPr lang="en-US" sz="3200" b="0" i="1" strike="noStrike" spc="-1">
                <a:solidFill>
                  <a:srgbClr val="000000"/>
                </a:solidFill>
                <a:latin typeface="Calibri"/>
                <a:ea typeface="Calibri"/>
              </a:rPr>
              <a:t>information-theoretically secure</a:t>
            </a:r>
            <a:br>
              <a:rPr sz="3200"/>
            </a:b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Calibri"/>
              </a:rPr>
              <a:t>(assume unlimited computational power)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</a:pP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Calibri"/>
              </a:rPr>
              <a:t>Compare to </a:t>
            </a:r>
            <a:r>
              <a:rPr lang="en-US" sz="3200" b="1" i="1" strike="noStrike" spc="-1">
                <a:solidFill>
                  <a:srgbClr val="FF0000"/>
                </a:solidFill>
                <a:latin typeface="Calibri"/>
                <a:ea typeface="Calibri"/>
              </a:rPr>
              <a:t>computationally secure</a:t>
            </a:r>
            <a:br>
              <a:rPr sz="3200"/>
            </a:b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Calibri"/>
              </a:rPr>
              <a:t>(assume limited computational power (e.g. can’t factor large numbers))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sldNum" idx="15"/>
          </p:nvPr>
        </p:nvSpPr>
        <p:spPr>
          <a:xfrm>
            <a:off x="8737560" y="6356520"/>
            <a:ext cx="28443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Quintessential"/>
                <a:ea typeface="Quintessent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A63A467-3429-4AC7-813E-71290D10CDBC}" type="slidenum">
              <a:rPr lang="en-US" sz="1200" b="0" strike="noStrike" spc="-1">
                <a:solidFill>
                  <a:srgbClr val="898989"/>
                </a:solidFill>
                <a:latin typeface="Quintessential"/>
                <a:ea typeface="Quintessential"/>
              </a:rPr>
              <a:t>19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67" name="Google Shape;114;p19" descr="See the source image"/>
          <p:cNvPicPr/>
          <p:nvPr/>
        </p:nvPicPr>
        <p:blipFill>
          <a:blip r:embed="rId3"/>
          <a:stretch/>
        </p:blipFill>
        <p:spPr>
          <a:xfrm>
            <a:off x="9675720" y="1676520"/>
            <a:ext cx="1581840" cy="23130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609480" y="152280"/>
            <a:ext cx="10972080" cy="1705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One-Time Pad (OTP)</a:t>
            </a:r>
            <a:br>
              <a:rPr sz="4400" dirty="0"/>
            </a:br>
            <a:r>
              <a:rPr lang="en-US" sz="3200" b="0" strike="noStrike" spc="-1" dirty="0">
                <a:solidFill>
                  <a:srgbClr val="7030A0"/>
                </a:solidFill>
                <a:latin typeface="Calibri"/>
                <a:ea typeface="Calibri"/>
              </a:rPr>
              <a:t>[Gilbert Vernam 1917]</a:t>
            </a:r>
            <a:endParaRPr lang="en-US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09720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FF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1" strike="noStrike" spc="-1">
                <a:solidFill>
                  <a:srgbClr val="FF0000"/>
                </a:solidFill>
                <a:latin typeface="Calibri"/>
                <a:ea typeface="Calibri"/>
              </a:rPr>
              <a:t>“Perfectly secure” 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Calibri"/>
              </a:rPr>
              <a:t>(Information-theoretically secure, as opposed to computationally secure)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FF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1" strike="noStrike" spc="-1">
                <a:solidFill>
                  <a:srgbClr val="FF0000"/>
                </a:solidFill>
                <a:latin typeface="Calibri"/>
                <a:ea typeface="Calibri"/>
              </a:rPr>
              <a:t>Long keys: 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Calibri"/>
              </a:rPr>
              <a:t> Message and key must have same length </a:t>
            </a:r>
            <a:r>
              <a:rPr lang="en-US" sz="3200" b="0" i="1" strike="noStrike" spc="-1">
                <a:solidFill>
                  <a:srgbClr val="000000"/>
                </a:solidFill>
                <a:latin typeface="Calibri"/>
                <a:ea typeface="Calibri"/>
              </a:rPr>
              <a:t>L.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FF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1" strike="noStrike" spc="-1">
                <a:solidFill>
                  <a:srgbClr val="FF0000"/>
                </a:solidFill>
                <a:latin typeface="Calibri"/>
                <a:ea typeface="Calibri"/>
              </a:rPr>
              <a:t>Single use:  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Calibri"/>
              </a:rPr>
              <a:t>Pad is </a:t>
            </a:r>
            <a:r>
              <a:rPr lang="en-US" sz="3200" b="1" strike="noStrike" spc="-1">
                <a:solidFill>
                  <a:srgbClr val="000000"/>
                </a:solidFill>
                <a:latin typeface="Calibri"/>
                <a:ea typeface="Calibri"/>
              </a:rPr>
              <a:t>used only once.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sldNum" idx="16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Quintessential"/>
                <a:ea typeface="Quintessent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E7324E0-5FF8-4B2D-87C8-2030764A385F}" type="slidenum">
              <a:rPr lang="en-US" sz="1200" b="0" strike="noStrike" spc="-1">
                <a:solidFill>
                  <a:srgbClr val="898989"/>
                </a:solidFill>
                <a:latin typeface="Quintessential"/>
                <a:ea typeface="Quintessential"/>
              </a:rPr>
              <a:t>20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OTP Example - Encryption</a:t>
            </a:r>
            <a:endParaRPr lang="en-US" sz="4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 type="sldNum" idx="17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Quintessential"/>
                <a:ea typeface="Quintessent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34A38DF-4C3A-499C-B84E-892D7585DBCC}" type="slidenum">
              <a:rPr lang="en-US" sz="1200" b="0" strike="noStrike" spc="-1">
                <a:solidFill>
                  <a:srgbClr val="898989"/>
                </a:solidFill>
                <a:latin typeface="Quintessential"/>
                <a:ea typeface="Quintessential"/>
              </a:rPr>
              <a:t>21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73" name="Google Shape;128;p21" descr="OTP"/>
          <p:cNvPicPr/>
          <p:nvPr/>
        </p:nvPicPr>
        <p:blipFill>
          <a:blip r:embed="rId3"/>
          <a:stretch/>
        </p:blipFill>
        <p:spPr>
          <a:xfrm>
            <a:off x="1652040" y="1569600"/>
            <a:ext cx="8886960" cy="3205080"/>
          </a:xfrm>
          <a:prstGeom prst="rect">
            <a:avLst/>
          </a:prstGeom>
          <a:ln w="0">
            <a:noFill/>
          </a:ln>
        </p:spPr>
      </p:pic>
      <p:sp>
        <p:nvSpPr>
          <p:cNvPr id="174" name="Google Shape;129;p21"/>
          <p:cNvSpPr/>
          <p:nvPr/>
        </p:nvSpPr>
        <p:spPr>
          <a:xfrm>
            <a:off x="2756880" y="5179680"/>
            <a:ext cx="7699680" cy="45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wikipedia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172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Calibri"/>
                <a:ea typeface="Calibri"/>
              </a:rPr>
              <a:t>OTP Example - Decryption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sldNum" idx="18"/>
          </p:nvPr>
        </p:nvSpPr>
        <p:spPr>
          <a:xfrm>
            <a:off x="8737560" y="6356520"/>
            <a:ext cx="28443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Quintessential"/>
                <a:ea typeface="Quintessent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4D7C6DA-A691-4D80-B9CF-E14F66676F9B}" type="slidenum">
              <a:rPr lang="en-US" sz="1200" b="0" strike="noStrike" spc="-1">
                <a:solidFill>
                  <a:srgbClr val="898989"/>
                </a:solidFill>
                <a:latin typeface="Quintessential"/>
                <a:ea typeface="Quintessential"/>
              </a:rPr>
              <a:t>22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" name="Google Shape;136;p22"/>
          <p:cNvSpPr/>
          <p:nvPr/>
        </p:nvSpPr>
        <p:spPr>
          <a:xfrm>
            <a:off x="2756880" y="5179680"/>
            <a:ext cx="7699680" cy="45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wikipedia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8" name="Google Shape;137;p22" descr="OTP"/>
          <p:cNvPicPr/>
          <p:nvPr/>
        </p:nvPicPr>
        <p:blipFill>
          <a:blip r:embed="rId2"/>
          <a:stretch/>
        </p:blipFill>
        <p:spPr>
          <a:xfrm>
            <a:off x="1435680" y="1417320"/>
            <a:ext cx="9586080" cy="34574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172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Calibri"/>
                <a:ea typeface="Calibri"/>
              </a:rPr>
              <a:t>OTP Example - Why is it secure?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sldNum" idx="19"/>
          </p:nvPr>
        </p:nvSpPr>
        <p:spPr>
          <a:xfrm>
            <a:off x="8737560" y="6356520"/>
            <a:ext cx="28443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Quintessential"/>
                <a:ea typeface="Quintessent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1038956-1702-49A6-A041-92AEFA3EA730}" type="slidenum">
              <a:rPr lang="en-US" sz="1200" b="0" strike="noStrike" spc="-1">
                <a:solidFill>
                  <a:srgbClr val="898989"/>
                </a:solidFill>
                <a:latin typeface="Quintessential"/>
                <a:ea typeface="Quintessential"/>
              </a:rPr>
              <a:t>23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" name="Google Shape;144;p23"/>
          <p:cNvSpPr/>
          <p:nvPr/>
        </p:nvSpPr>
        <p:spPr>
          <a:xfrm>
            <a:off x="2756880" y="5179680"/>
            <a:ext cx="7699680" cy="45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wikipedia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2" name="Google Shape;145;p23" descr="OTP"/>
          <p:cNvPicPr/>
          <p:nvPr/>
        </p:nvPicPr>
        <p:blipFill>
          <a:blip r:embed="rId2"/>
          <a:stretch/>
        </p:blipFill>
        <p:spPr>
          <a:xfrm>
            <a:off x="473400" y="1417320"/>
            <a:ext cx="9586080" cy="3457440"/>
          </a:xfrm>
          <a:prstGeom prst="rect">
            <a:avLst/>
          </a:prstGeom>
          <a:ln w="0">
            <a:noFill/>
          </a:ln>
        </p:spPr>
      </p:pic>
      <p:sp>
        <p:nvSpPr>
          <p:cNvPr id="183" name="Google Shape;146;p23"/>
          <p:cNvSpPr/>
          <p:nvPr/>
        </p:nvSpPr>
        <p:spPr>
          <a:xfrm>
            <a:off x="10216440" y="1904400"/>
            <a:ext cx="2001960" cy="237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Yes, you can </a:t>
            </a:r>
            <a:br>
              <a:rPr sz="1800"/>
            </a:b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do an exhaustive search.</a:t>
            </a:r>
            <a:br>
              <a:rPr sz="1800"/>
            </a:br>
            <a:br>
              <a:rPr sz="1800"/>
            </a:b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But how do you know which message is correct?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609480" y="152280"/>
            <a:ext cx="10971720" cy="1705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One-Time Pad (OTP) 2/2</a:t>
            </a:r>
            <a:br>
              <a:rPr sz="4400" dirty="0"/>
            </a:br>
            <a:r>
              <a:rPr lang="en-US" sz="3200" b="0" strike="noStrike" spc="-1" dirty="0">
                <a:solidFill>
                  <a:srgbClr val="7030A0"/>
                </a:solidFill>
                <a:latin typeface="Calibri"/>
                <a:ea typeface="Calibri"/>
              </a:rPr>
              <a:t>[Gilbert Vernam 1917]</a:t>
            </a:r>
            <a:endParaRPr lang="en-US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097172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FF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1" strike="noStrike" spc="-1">
                <a:solidFill>
                  <a:srgbClr val="FF0000"/>
                </a:solidFill>
                <a:latin typeface="Calibri"/>
                <a:ea typeface="Calibri"/>
              </a:rPr>
              <a:t>“Perfectly secure” 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Calibri"/>
              </a:rPr>
              <a:t>(Information-theoretically secure, as opposed to computationally secure)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FF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1" strike="noStrike" spc="-1">
                <a:solidFill>
                  <a:srgbClr val="FF0000"/>
                </a:solidFill>
                <a:latin typeface="Calibri"/>
                <a:ea typeface="Calibri"/>
              </a:rPr>
              <a:t>Long keys: 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Calibri"/>
              </a:rPr>
              <a:t> Message and key must have same length </a:t>
            </a:r>
            <a:r>
              <a:rPr lang="en-US" sz="3200" b="0" i="1" strike="noStrike" spc="-1">
                <a:solidFill>
                  <a:srgbClr val="000000"/>
                </a:solidFill>
                <a:latin typeface="Calibri"/>
                <a:ea typeface="Calibri"/>
              </a:rPr>
              <a:t>L.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FF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1" strike="noStrike" spc="-1">
                <a:solidFill>
                  <a:srgbClr val="FF0000"/>
                </a:solidFill>
                <a:latin typeface="Calibri"/>
                <a:ea typeface="Calibri"/>
              </a:rPr>
              <a:t>Single use:  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Calibri"/>
              </a:rPr>
              <a:t>Pad is </a:t>
            </a:r>
            <a:r>
              <a:rPr lang="en-US" sz="3200" b="1" strike="noStrike" spc="-1">
                <a:solidFill>
                  <a:srgbClr val="000000"/>
                </a:solidFill>
                <a:latin typeface="Calibri"/>
                <a:ea typeface="Calibri"/>
              </a:rPr>
              <a:t>used only once.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sldNum" idx="20"/>
          </p:nvPr>
        </p:nvSpPr>
        <p:spPr>
          <a:xfrm>
            <a:off x="8737560" y="6356520"/>
            <a:ext cx="28443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Quintessential"/>
                <a:ea typeface="Quintessent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A7535C1-DC97-456A-9695-CB674D836D33}" type="slidenum">
              <a:rPr lang="en-US" sz="1200" b="0" strike="noStrike" spc="-1">
                <a:solidFill>
                  <a:srgbClr val="898989"/>
                </a:solidFill>
                <a:latin typeface="Quintessential"/>
                <a:ea typeface="Quintessential"/>
              </a:rPr>
              <a:t>24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Calibri"/>
                <a:ea typeface="Calibri"/>
              </a:rPr>
              <a:t>Defining Security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 type="sldNum" idx="21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Quintessential"/>
                <a:ea typeface="Quintessent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DD9D462-CAE3-49E1-8ED1-CE80249DBB80}" type="slidenum">
              <a:rPr lang="en-US" sz="1200" b="0" strike="noStrike" spc="-1">
                <a:solidFill>
                  <a:srgbClr val="898989"/>
                </a:solidFill>
                <a:latin typeface="Quintessential"/>
                <a:ea typeface="Quintessential"/>
              </a:rPr>
              <a:t>25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" name="Google Shape;160;p25"/>
          <p:cNvSpPr/>
          <p:nvPr/>
        </p:nvSpPr>
        <p:spPr>
          <a:xfrm>
            <a:off x="406440" y="3809880"/>
            <a:ext cx="10769040" cy="1551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Calibri"/>
              </a:rPr>
              <a:t>OTP does not hide </a:t>
            </a:r>
            <a:r>
              <a:rPr lang="en-US" sz="3200" b="1" i="1" strike="noStrike" spc="-1">
                <a:solidFill>
                  <a:srgbClr val="FF0000"/>
                </a:solidFill>
                <a:latin typeface="Calibri"/>
                <a:ea typeface="Calibri"/>
              </a:rPr>
              <a:t>length of message</a:t>
            </a:r>
            <a:r>
              <a:rPr lang="en-US" sz="3200" b="1" i="1" strike="noStrike" spc="-1">
                <a:solidFill>
                  <a:srgbClr val="000000"/>
                </a:solidFill>
                <a:latin typeface="Calibri"/>
                <a:ea typeface="Calibri"/>
              </a:rPr>
              <a:t>!</a:t>
            </a:r>
            <a:br>
              <a:rPr sz="3200"/>
            </a:br>
            <a:r>
              <a:rPr lang="en-US" sz="1600" b="1" i="1" strike="noStrike" spc="-1">
                <a:solidFill>
                  <a:srgbClr val="000000"/>
                </a:solidFill>
                <a:latin typeface="Arial"/>
                <a:ea typeface="Arial"/>
              </a:rPr>
              <a:t>  </a:t>
            </a:r>
            <a:r>
              <a:rPr lang="en-US" sz="3200" b="1" i="1" strike="noStrike" spc="-1">
                <a:solidFill>
                  <a:srgbClr val="000000"/>
                </a:solidFill>
                <a:latin typeface="Arial"/>
                <a:ea typeface="Arial"/>
              </a:rPr>
              <a:t>  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/>
          </p:nvPr>
        </p:nvSpPr>
        <p:spPr>
          <a:xfrm>
            <a:off x="507960" y="1478520"/>
            <a:ext cx="10972080" cy="182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i="1" strike="noStrike" spc="-1">
                <a:solidFill>
                  <a:srgbClr val="FF0000"/>
                </a:solidFill>
                <a:latin typeface="Calibri"/>
                <a:ea typeface="Calibri"/>
              </a:rPr>
              <a:t>Unconditionally secure: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59"/>
              </a:spcBef>
              <a:buNone/>
              <a:tabLst>
                <a:tab pos="0" algn="l"/>
              </a:tabLst>
            </a:pPr>
            <a:endParaRPr lang="en-US" sz="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Calibri"/>
              </a:rPr>
              <a:t>Eve cannot learn anything about msg 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172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Calibri"/>
                <a:ea typeface="Calibri"/>
              </a:rPr>
              <a:t>A perfect system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 type="sldNum" idx="22"/>
          </p:nvPr>
        </p:nvSpPr>
        <p:spPr>
          <a:xfrm>
            <a:off x="8737560" y="6356520"/>
            <a:ext cx="28443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Quintessential"/>
                <a:ea typeface="Quintessent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4E2B3A0-EEC0-4E43-B430-A733F77D19C7}" type="slidenum">
              <a:rPr lang="en-US" sz="1200" b="0" strike="noStrike" spc="-1">
                <a:solidFill>
                  <a:srgbClr val="898989"/>
                </a:solidFill>
                <a:latin typeface="Quintessential"/>
                <a:ea typeface="Quintessential"/>
              </a:rPr>
              <a:t>26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/>
          </p:nvPr>
        </p:nvSpPr>
        <p:spPr>
          <a:xfrm>
            <a:off x="106920" y="-68400"/>
            <a:ext cx="10971720" cy="182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br>
              <a:rPr sz="3100"/>
            </a:br>
            <a:br>
              <a:rPr sz="3100"/>
            </a:br>
            <a:br>
              <a:rPr sz="3100"/>
            </a:br>
            <a:br>
              <a:rPr sz="3100"/>
            </a:br>
            <a:br>
              <a:rPr sz="3100"/>
            </a:br>
            <a:r>
              <a:rPr lang="en-US" sz="3100" b="0" strike="noStrike" spc="-1">
                <a:solidFill>
                  <a:schemeClr val="dk1"/>
                </a:solidFill>
                <a:latin typeface="Calibri"/>
                <a:ea typeface="Calibri"/>
              </a:rPr>
              <a:t>A cryptosystem has perfect secrecy if, for every plaintext message m∈M and every ciphertext c∈C, the probability of m being the message is equal to the probability of m being the message given that c is the ciphertext. Formally, this is expressed as:</a:t>
            </a:r>
            <a:br>
              <a:rPr sz="3100"/>
            </a:br>
            <a:br>
              <a:rPr sz="3100"/>
            </a:br>
            <a:r>
              <a:rPr lang="en-US" sz="3100" b="0" strike="noStrike" spc="-1">
                <a:solidFill>
                  <a:schemeClr val="dk1"/>
                </a:solidFill>
                <a:latin typeface="Calibri"/>
                <a:ea typeface="Calibri"/>
              </a:rPr>
              <a:t>P(M=m)=P(M=m∣C=c)</a:t>
            </a:r>
            <a:endParaRPr lang="en-US" sz="31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Calibri"/>
                <a:ea typeface="Calibri"/>
              </a:rPr>
              <a:t>Two-time pad - Oops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/>
          </p:nvPr>
        </p:nvSpPr>
        <p:spPr>
          <a:xfrm>
            <a:off x="1398240" y="1166400"/>
            <a:ext cx="1117512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1800" b="1" strike="noStrike" spc="-1">
                <a:solidFill>
                  <a:schemeClr val="dk1"/>
                </a:solidFill>
                <a:latin typeface="Arial"/>
                <a:ea typeface="Arial"/>
              </a:rPr>
              <a:t>Plaintext Messages: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OpenSymbol"/>
              <a:buAutoNum type="arabicPeriod"/>
              <a:tabLst>
                <a:tab pos="0" algn="l"/>
              </a:tabLst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  <a:ea typeface="Arial"/>
              </a:rPr>
              <a:t>M1​: "HELLO"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000000"/>
              </a:buClr>
              <a:buFont typeface="OpenSymbol"/>
              <a:buAutoNum type="arabicPeriod"/>
              <a:tabLst>
                <a:tab pos="0" algn="l"/>
              </a:tabLst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  <a:ea typeface="Arial"/>
              </a:rPr>
              <a:t>M2​: "WORLD"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1800" b="1" strike="noStrike" spc="-1">
                <a:solidFill>
                  <a:schemeClr val="dk1"/>
                </a:solidFill>
                <a:latin typeface="Arial"/>
                <a:ea typeface="Arial"/>
              </a:rPr>
              <a:t>Key (used for both messages):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  <a:ea typeface="Arial"/>
              </a:rPr>
              <a:t>K: "SECRET"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  <a:ea typeface="Arial"/>
              </a:rPr>
              <a:t>Binary - &gt;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  <a:ea typeface="Arial"/>
              </a:rPr>
              <a:t>M1​ = "HELLO" → 1001000 1000101 1001100 1001100 1001111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  <a:ea typeface="Arial"/>
              </a:rPr>
              <a:t>M2​ = "WORLD" → 1010111 1001111 1001100 1000100 1000100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  <a:ea typeface="Arial"/>
              </a:rPr>
              <a:t>K = "SECRET" → 1001111 1000101 1000011 1000101 1000100</a:t>
            </a:r>
            <a:br>
              <a:rPr sz="1800"/>
            </a:br>
            <a:br>
              <a:rPr sz="1800"/>
            </a:br>
            <a:r>
              <a:rPr lang="en-US" sz="1800" b="0" strike="noStrike" spc="-1">
                <a:solidFill>
                  <a:schemeClr val="dk1"/>
                </a:solidFill>
                <a:latin typeface="Arial"/>
                <a:ea typeface="Arial"/>
              </a:rPr>
              <a:t>Encryption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Calibri"/>
              </a:rPr>
              <a:t>C1​=M1​⊕K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Calibri"/>
              </a:rPr>
              <a:t>C2=M2⊕K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9"/>
              </a:spcBef>
              <a:buNone/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23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Quintessential"/>
                <a:ea typeface="Quintessent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756567A-546B-4CB9-98FD-1CB45B560A30}" type="slidenum">
              <a:rPr lang="en-US" sz="1200" b="0" strike="noStrike" spc="-1">
                <a:solidFill>
                  <a:srgbClr val="898989"/>
                </a:solidFill>
                <a:latin typeface="Quintessential"/>
                <a:ea typeface="Quintessential"/>
              </a:rPr>
              <a:t>27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172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Calibri"/>
                <a:ea typeface="Calibri"/>
              </a:rPr>
              <a:t>Two-time pad - Oops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/>
          </p:nvPr>
        </p:nvSpPr>
        <p:spPr>
          <a:xfrm>
            <a:off x="1398240" y="1166400"/>
            <a:ext cx="1117512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57200" indent="-34308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  <a:ea typeface="Calibri"/>
              </a:rPr>
              <a:t>C1​=M1​⊕K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  <a:ea typeface="Calibri"/>
              </a:rPr>
              <a:t>C2=M2⊕K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1900" b="0" strike="noStrike" spc="-1">
                <a:solidFill>
                  <a:schemeClr val="dk1"/>
                </a:solidFill>
                <a:latin typeface="Arial"/>
                <a:ea typeface="Arial"/>
              </a:rPr>
              <a:t>Intercept C1 and C2 and calculate XOR. 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1900" b="0" strike="noStrike" spc="-1">
                <a:solidFill>
                  <a:schemeClr val="dk1"/>
                </a:solidFill>
                <a:latin typeface="Arial"/>
                <a:ea typeface="Arial"/>
              </a:rPr>
              <a:t>This is equal to M1 </a:t>
            </a:r>
            <a:r>
              <a:rPr lang="en-US" sz="1800" b="0" strike="noStrike" spc="-1">
                <a:solidFill>
                  <a:schemeClr val="dk1"/>
                </a:solidFill>
                <a:latin typeface="Calibri"/>
                <a:ea typeface="Calibri"/>
              </a:rPr>
              <a:t>⊕</a:t>
            </a:r>
            <a:r>
              <a:rPr lang="en-US" sz="1900" b="0" strike="noStrike" spc="-1">
                <a:solidFill>
                  <a:schemeClr val="dk1"/>
                </a:solidFill>
                <a:latin typeface="Arial"/>
                <a:ea typeface="Arial"/>
              </a:rPr>
              <a:t> M2. 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1900" b="0" strike="noStrike" spc="-1">
                <a:solidFill>
                  <a:schemeClr val="dk1"/>
                </a:solidFill>
                <a:latin typeface="Arial"/>
                <a:ea typeface="Arial"/>
              </a:rPr>
              <a:t>Then you can do freq. analysis. 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24"/>
          </p:nvPr>
        </p:nvSpPr>
        <p:spPr>
          <a:xfrm>
            <a:off x="8737560" y="6356520"/>
            <a:ext cx="28443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Quintessential"/>
                <a:ea typeface="Quintessent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80482CB-B10D-43BB-AD69-F384F64AC603}" type="slidenum">
              <a:rPr lang="en-US" sz="1200" b="0" strike="noStrike" spc="-1">
                <a:solidFill>
                  <a:srgbClr val="898989"/>
                </a:solidFill>
                <a:latin typeface="Quintessential"/>
                <a:ea typeface="Quintessential"/>
              </a:rPr>
              <a:t>28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00" name="Google Shape;183;p28" descr="TTP"/>
          <p:cNvPicPr/>
          <p:nvPr/>
        </p:nvPicPr>
        <p:blipFill>
          <a:blip r:embed="rId2"/>
          <a:stretch/>
        </p:blipFill>
        <p:spPr>
          <a:xfrm>
            <a:off x="4736520" y="2616480"/>
            <a:ext cx="6845040" cy="39204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Calibri"/>
                <a:ea typeface="Calibri"/>
              </a:rPr>
              <a:t>OTP is </a:t>
            </a:r>
            <a:r>
              <a:rPr lang="en-US" sz="4400" b="0" i="1" strike="noStrike" spc="-1">
                <a:solidFill>
                  <a:srgbClr val="000000"/>
                </a:solidFill>
                <a:latin typeface="Calibri"/>
                <a:ea typeface="Calibri"/>
              </a:rPr>
              <a:t>malleable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09720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Calibri"/>
              </a:rPr>
              <a:t>If eavesdropper is </a:t>
            </a:r>
            <a:r>
              <a:rPr lang="en-US" sz="3200" b="0" i="1" strike="noStrike" spc="-1">
                <a:solidFill>
                  <a:srgbClr val="000000"/>
                </a:solidFill>
                <a:latin typeface="Calibri"/>
                <a:ea typeface="Calibri"/>
              </a:rPr>
              <a:t>active, 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Calibri"/>
              </a:rPr>
              <a:t>then she can change corresponding message bits.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Calibri"/>
              </a:rPr>
              <a:t>OTP provides </a:t>
            </a:r>
            <a:r>
              <a:rPr lang="en-US" sz="3200" b="0" i="1" strike="noStrike" spc="-1">
                <a:solidFill>
                  <a:srgbClr val="000000"/>
                </a:solidFill>
                <a:latin typeface="Calibri"/>
                <a:ea typeface="Calibri"/>
              </a:rPr>
              <a:t>perfect confidentiality, 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Calibri"/>
              </a:rPr>
              <a:t>but not </a:t>
            </a:r>
            <a:r>
              <a:rPr lang="en-US" sz="3200" b="0" i="1" strike="noStrike" spc="-1">
                <a:solidFill>
                  <a:srgbClr val="000000"/>
                </a:solidFill>
                <a:latin typeface="Calibri"/>
                <a:ea typeface="Calibri"/>
              </a:rPr>
              <a:t>authentication 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Calibri"/>
              </a:rPr>
              <a:t>or </a:t>
            </a:r>
            <a:r>
              <a:rPr lang="en-US" sz="3200" b="0" i="1" strike="noStrike" spc="-1">
                <a:solidFill>
                  <a:srgbClr val="000000"/>
                </a:solidFill>
                <a:latin typeface="Calibri"/>
                <a:ea typeface="Calibri"/>
              </a:rPr>
              <a:t>protection again message modification.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sldNum" idx="25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Quintessential"/>
                <a:ea typeface="Quintessent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FF8D3EC-5030-42AA-8B6D-C7B98201903C}" type="slidenum">
              <a:rPr lang="en-US" sz="1200" b="0" strike="noStrike" spc="-1">
                <a:solidFill>
                  <a:srgbClr val="898989"/>
                </a:solidFill>
                <a:latin typeface="Quintessential"/>
                <a:ea typeface="Quintessential"/>
              </a:rPr>
              <a:t>29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strike="noStrike" spc="-1">
                <a:solidFill>
                  <a:srgbClr val="FF0000"/>
                </a:solidFill>
                <a:latin typeface="Calibri"/>
                <a:ea typeface="Calibri"/>
              </a:rPr>
              <a:t>Hash Functions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/>
          </p:nvPr>
        </p:nvSpPr>
        <p:spPr>
          <a:xfrm>
            <a:off x="304920" y="1569960"/>
            <a:ext cx="1178460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Calibri"/>
              </a:rPr>
              <a:t>Any function that can be used to map data of arbitrary size to fixed-size values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Calibri"/>
              </a:rPr>
              <a:t>Input - is called the </a:t>
            </a:r>
            <a:r>
              <a:rPr lang="en-US" sz="3200" b="0" strike="noStrike" spc="-1">
                <a:solidFill>
                  <a:srgbClr val="FF0000"/>
                </a:solidFill>
                <a:latin typeface="Calibri"/>
                <a:ea typeface="Calibri"/>
              </a:rPr>
              <a:t>seed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Calibri"/>
              </a:rPr>
              <a:t>, and is public.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Calibri"/>
              </a:rPr>
              <a:t>Output is called the </a:t>
            </a:r>
            <a:r>
              <a:rPr lang="en-US" sz="3200" b="0" strike="noStrike" spc="-1">
                <a:solidFill>
                  <a:srgbClr val="FF0000"/>
                </a:solidFill>
                <a:latin typeface="Calibri"/>
                <a:ea typeface="Calibri"/>
              </a:rPr>
              <a:t>hash value 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Calibri"/>
              </a:rPr>
              <a:t>(or message digest)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27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Quintessential"/>
                <a:ea typeface="Quintessent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627486D-36A6-4E3D-B723-0B157F559E30}" type="slidenum">
              <a:rPr lang="en-US" sz="1200" b="0" strike="noStrike" spc="-1">
                <a:solidFill>
                  <a:srgbClr val="898989"/>
                </a:solidFill>
                <a:latin typeface="Quintessential"/>
                <a:ea typeface="Quintessential"/>
              </a:rPr>
              <a:t>30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Calibri"/>
                <a:ea typeface="Calibri"/>
              </a:rPr>
              <a:t>Ideal Hash Function: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/>
          </p:nvPr>
        </p:nvSpPr>
        <p:spPr>
          <a:xfrm>
            <a:off x="609480" y="1371600"/>
            <a:ext cx="11276640" cy="540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Calibri"/>
              </a:rPr>
              <a:t>Truly random function 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Calibri"/>
              </a:rPr>
              <a:t>This (idealized, theoretical model) is called the </a:t>
            </a:r>
            <a:r>
              <a:rPr lang="en-US" sz="3200" b="1" strike="noStrike" spc="-1">
                <a:solidFill>
                  <a:srgbClr val="FF0000"/>
                </a:solidFill>
                <a:latin typeface="Calibri"/>
                <a:ea typeface="Calibri"/>
              </a:rPr>
              <a:t>Random Oracle Model (ROM)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Calibri"/>
              </a:rPr>
              <a:t> 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Calibri"/>
              </a:rPr>
              <a:t>Many cryptographic primitives use hash functions, and often security is proved in the ROM.  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Num" idx="28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Quintessential"/>
                <a:ea typeface="Quintessent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01B72A3-BFFE-463A-A4AF-9B2851CC2575}" type="slidenum">
              <a:rPr lang="en-US" sz="1200" b="0" strike="noStrike" spc="-1">
                <a:solidFill>
                  <a:srgbClr val="898989"/>
                </a:solidFill>
                <a:latin typeface="Quintessential"/>
                <a:ea typeface="Quintessential"/>
              </a:rPr>
              <a:t>31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213" name="Google Shape;214;p3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5994000" y="2895480"/>
            <a:ext cx="1220040" cy="720"/>
          </a:xfrm>
          <a:prstGeom prst="straightConnector1">
            <a:avLst/>
          </a:prstGeom>
          <a:ln w="9360">
            <a:solidFill>
              <a:srgbClr val="4F81BD"/>
            </a:solidFill>
            <a:round/>
            <a:tailEnd type="triangle" w="med" len="med"/>
          </a:ln>
        </p:spPr>
      </p:cxnSp>
      <p:sp>
        <p:nvSpPr>
          <p:cNvPr id="214" name="Google Shape;215;p32"/>
          <p:cNvSpPr/>
          <p:nvPr/>
        </p:nvSpPr>
        <p:spPr>
          <a:xfrm>
            <a:off x="6298920" y="2438280"/>
            <a:ext cx="645840" cy="51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Quintessential"/>
                <a:ea typeface="Quintessential"/>
              </a:rPr>
              <a:t>x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15" name="Google Shape;216;p3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>
            <a:off x="5994000" y="3504960"/>
            <a:ext cx="1220040" cy="720"/>
          </a:xfrm>
          <a:prstGeom prst="straightConnector1">
            <a:avLst/>
          </a:prstGeom>
          <a:ln w="9360">
            <a:solidFill>
              <a:srgbClr val="4F81BD"/>
            </a:solidFill>
            <a:round/>
            <a:tailEnd type="triangle" w="med" len="med"/>
          </a:ln>
        </p:spPr>
      </p:cxnSp>
      <p:sp>
        <p:nvSpPr>
          <p:cNvPr id="216" name="Google Shape;217;p32"/>
          <p:cNvSpPr/>
          <p:nvPr/>
        </p:nvSpPr>
        <p:spPr>
          <a:xfrm>
            <a:off x="304920" y="2149200"/>
            <a:ext cx="4571280" cy="2040840"/>
          </a:xfrm>
          <a:prstGeom prst="wedgeEllipseCallout">
            <a:avLst>
              <a:gd name="adj1" fmla="val 75019"/>
              <a:gd name="adj2" fmla="val 5591"/>
            </a:avLst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 w="9360">
            <a:solidFill>
              <a:srgbClr val="4A7EB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chemeClr val="lt1"/>
                </a:solidFill>
                <a:latin typeface="Calibri"/>
                <a:ea typeface="Calibri"/>
              </a:rPr>
              <a:t>Truly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chemeClr val="lt1"/>
                </a:solidFill>
                <a:latin typeface="Calibri"/>
                <a:ea typeface="Calibri"/>
              </a:rPr>
              <a:t>Random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chemeClr val="lt1"/>
                </a:solidFill>
                <a:latin typeface="Calibri"/>
                <a:ea typeface="Calibri"/>
              </a:rPr>
              <a:t>unless previously queried, in which case consistent with previous answer 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Ideal Hash Function:</a:t>
            </a:r>
            <a:endParaRPr lang="en-US" sz="4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/>
          </p:nvPr>
        </p:nvSpPr>
        <p:spPr>
          <a:xfrm>
            <a:off x="609480" y="1371600"/>
            <a:ext cx="11276640" cy="540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br>
              <a:rPr sz="3200"/>
            </a:br>
            <a:br>
              <a:rPr sz="3200"/>
            </a:br>
            <a:br>
              <a:rPr sz="3200"/>
            </a:br>
            <a:br>
              <a:rPr sz="3200"/>
            </a:br>
            <a:br>
              <a:rPr sz="3200"/>
            </a:br>
            <a:br>
              <a:rPr sz="3200"/>
            </a:br>
            <a:r>
              <a:rPr lang="en-US" sz="3200" b="0" strike="noStrike" spc="-1">
                <a:solidFill>
                  <a:schemeClr val="dk1"/>
                </a:solidFill>
                <a:latin typeface="Calibri"/>
                <a:ea typeface="Calibri"/>
              </a:rPr>
              <a:t>In practice, use SHA256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29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Quintessential"/>
                <a:ea typeface="Quintessent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8E29D4B-5267-4840-94E5-33FAD23E61E8}" type="slidenum">
              <a:rPr lang="en-US" sz="1200" b="0" strike="noStrike" spc="-1">
                <a:solidFill>
                  <a:srgbClr val="898989"/>
                </a:solidFill>
                <a:latin typeface="Quintessential"/>
                <a:ea typeface="Quintessential"/>
              </a:rPr>
              <a:t>32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220" name="Google Shape;226;p3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5994000" y="2895480"/>
            <a:ext cx="1220040" cy="720"/>
          </a:xfrm>
          <a:prstGeom prst="straightConnector1">
            <a:avLst/>
          </a:prstGeom>
          <a:ln w="9360">
            <a:solidFill>
              <a:srgbClr val="4F81BD"/>
            </a:solidFill>
            <a:round/>
            <a:tailEnd type="triangle" w="med" len="med"/>
          </a:ln>
        </p:spPr>
      </p:cxnSp>
      <p:sp>
        <p:nvSpPr>
          <p:cNvPr id="221" name="Google Shape;227;p33"/>
          <p:cNvSpPr/>
          <p:nvPr/>
        </p:nvSpPr>
        <p:spPr>
          <a:xfrm>
            <a:off x="6298920" y="2438280"/>
            <a:ext cx="645840" cy="51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Quintessential"/>
                <a:ea typeface="Quintessential"/>
              </a:rPr>
              <a:t>x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22" name="Google Shape;228;p3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>
            <a:off x="5994000" y="3504960"/>
            <a:ext cx="1220040" cy="720"/>
          </a:xfrm>
          <a:prstGeom prst="straightConnector1">
            <a:avLst/>
          </a:prstGeom>
          <a:ln w="9360">
            <a:solidFill>
              <a:srgbClr val="4F81BD"/>
            </a:solidFill>
            <a:round/>
            <a:tailEnd type="triangle" w="med" len="med"/>
          </a:ln>
        </p:spPr>
      </p:cxnSp>
      <p:sp>
        <p:nvSpPr>
          <p:cNvPr id="223" name="Google Shape;229;p33"/>
          <p:cNvSpPr/>
          <p:nvPr/>
        </p:nvSpPr>
        <p:spPr>
          <a:xfrm>
            <a:off x="304920" y="2149200"/>
            <a:ext cx="4571280" cy="2040840"/>
          </a:xfrm>
          <a:prstGeom prst="wedgeEllipseCallout">
            <a:avLst>
              <a:gd name="adj1" fmla="val 75019"/>
              <a:gd name="adj2" fmla="val 5591"/>
            </a:avLst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 w="9360">
            <a:solidFill>
              <a:srgbClr val="4A7EB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chemeClr val="lt1"/>
                </a:solidFill>
                <a:latin typeface="Calibri"/>
                <a:ea typeface="Calibri"/>
              </a:rPr>
              <a:t>Truly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chemeClr val="lt1"/>
                </a:solidFill>
                <a:latin typeface="Calibri"/>
                <a:ea typeface="Calibri"/>
              </a:rPr>
              <a:t>Random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chemeClr val="lt1"/>
                </a:solidFill>
                <a:latin typeface="Calibri"/>
                <a:ea typeface="Calibri"/>
              </a:rPr>
              <a:t>unless previously queried, in which case consistent with previous answer 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Desired Properties</a:t>
            </a:r>
            <a:endParaRPr lang="en-US" sz="4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/>
          </p:nvPr>
        </p:nvSpPr>
        <p:spPr>
          <a:xfrm>
            <a:off x="101880" y="1523880"/>
            <a:ext cx="12292920" cy="487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>
              <a:lnSpc>
                <a:spcPct val="100000"/>
              </a:lnSpc>
              <a:buClr>
                <a:srgbClr val="FF0000"/>
              </a:buClr>
              <a:buFont typeface="Arial"/>
              <a:buChar char="•"/>
            </a:pPr>
            <a:r>
              <a:rPr lang="en-US" sz="3200" b="1" strike="noStrike" spc="-1">
                <a:solidFill>
                  <a:srgbClr val="FF0000"/>
                </a:solidFill>
                <a:latin typeface="Calibri"/>
                <a:ea typeface="Calibri"/>
              </a:rPr>
              <a:t>One-Way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FF0000"/>
              </a:buClr>
              <a:buFont typeface="Arial"/>
              <a:buChar char="•"/>
            </a:pPr>
            <a:r>
              <a:rPr lang="en-US" sz="3200" b="1" strike="noStrike" spc="-1">
                <a:solidFill>
                  <a:srgbClr val="FF0000"/>
                </a:solidFill>
                <a:latin typeface="Calibri"/>
                <a:ea typeface="Calibri"/>
              </a:rPr>
              <a:t>Collision Resistant 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6" name="Google Shape;237;p34" descr="Hash"/>
          <p:cNvPicPr/>
          <p:nvPr/>
        </p:nvPicPr>
        <p:blipFill>
          <a:blip r:embed="rId3"/>
          <a:stretch/>
        </p:blipFill>
        <p:spPr>
          <a:xfrm>
            <a:off x="3809880" y="1676520"/>
            <a:ext cx="4571640" cy="35049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Calibri"/>
                <a:ea typeface="Calibri"/>
              </a:rPr>
              <a:t>Desired Properties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/>
          </p:nvPr>
        </p:nvSpPr>
        <p:spPr>
          <a:xfrm>
            <a:off x="101880" y="1523880"/>
            <a:ext cx="11988000" cy="487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>
              <a:lnSpc>
                <a:spcPct val="100000"/>
              </a:lnSpc>
              <a:buClr>
                <a:srgbClr val="FF0000"/>
              </a:buClr>
              <a:buFont typeface="Arial"/>
              <a:buChar char="•"/>
            </a:pPr>
            <a:r>
              <a:rPr lang="en-US" sz="3200" b="1" strike="noStrike" spc="-1">
                <a:solidFill>
                  <a:srgbClr val="FF0000"/>
                </a:solidFill>
                <a:latin typeface="Calibri"/>
                <a:ea typeface="Calibri"/>
              </a:rPr>
              <a:t>Target Collision Resistant    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FF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1" strike="noStrike" spc="-1">
                <a:solidFill>
                  <a:srgbClr val="FF0000"/>
                </a:solidFill>
                <a:latin typeface="Calibri"/>
                <a:ea typeface="Calibri"/>
              </a:rPr>
              <a:t>Pseudo-randomness</a:t>
            </a:r>
            <a:br>
              <a:rPr sz="3200"/>
            </a:br>
            <a:br>
              <a:rPr sz="3200"/>
            </a:br>
            <a:r>
              <a:rPr lang="en-US" sz="3200" b="1" strike="noStrike" spc="-1">
                <a:solidFill>
                  <a:srgbClr val="FF0000"/>
                </a:solidFill>
                <a:latin typeface="Calibri"/>
                <a:ea typeface="Calibri"/>
              </a:rPr>
              <a:t>Non-Malleability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30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Quintessential"/>
                <a:ea typeface="Quintessent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3F94C60-EA9F-4D7D-A9D4-76CD224DB41A}" type="slidenum">
              <a:rPr lang="en-US" sz="1200" b="0" strike="noStrike" spc="-1">
                <a:solidFill>
                  <a:srgbClr val="898989"/>
                </a:solidFill>
                <a:latin typeface="Quintessential"/>
                <a:ea typeface="Quintessential"/>
              </a:rPr>
              <a:t>34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Applications</a:t>
            </a:r>
            <a:endParaRPr lang="en-US" sz="4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 type="sldNum" idx="31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Quintessential"/>
                <a:ea typeface="Quintessent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CDB3AE0-11B7-4FC7-9745-1E950268048B}" type="slidenum">
              <a:rPr lang="en-US" sz="1200" b="0" strike="noStrike" spc="-1">
                <a:solidFill>
                  <a:srgbClr val="898989"/>
                </a:solidFill>
                <a:latin typeface="Quintessential"/>
                <a:ea typeface="Quintessential"/>
              </a:rPr>
              <a:t>35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" name="Google Shape;253;p36"/>
          <p:cNvSpPr/>
          <p:nvPr/>
        </p:nvSpPr>
        <p:spPr>
          <a:xfrm>
            <a:off x="101880" y="1616040"/>
            <a:ext cx="11988000" cy="420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514440" indent="-514440">
              <a:lnSpc>
                <a:spcPct val="100000"/>
              </a:lnSpc>
              <a:buClr>
                <a:srgbClr val="FF0000"/>
              </a:buClr>
              <a:buFont typeface="OpenSymbol"/>
              <a:buAutoNum type="arabicPeriod"/>
            </a:pPr>
            <a:r>
              <a:rPr lang="en-US" sz="2800" b="1" strike="noStrike" spc="-1" dirty="0">
                <a:solidFill>
                  <a:srgbClr val="FF0000"/>
                </a:solidFill>
                <a:latin typeface="Arial"/>
                <a:ea typeface="Arial"/>
              </a:rPr>
              <a:t>Password storage (for login)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 dirty="0">
                <a:solidFill>
                  <a:srgbClr val="FF0000"/>
                </a:solidFill>
                <a:latin typeface="Arial"/>
                <a:ea typeface="Arial"/>
              </a:rPr>
              <a:t>    </a:t>
            </a: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 dirty="0">
                <a:solidFill>
                  <a:srgbClr val="000000"/>
                </a:solidFill>
                <a:latin typeface="Quintessential"/>
                <a:ea typeface="Quintessential"/>
              </a:rPr>
              <a:t>    </a:t>
            </a: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     When user logs in, check consistency of   password with the hash value 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 dirty="0">
                <a:solidFill>
                  <a:srgbClr val="FF0000"/>
                </a:solidFill>
                <a:latin typeface="Arial"/>
                <a:ea typeface="Arial"/>
              </a:rPr>
              <a:t>Security property: 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Given the hash can’t find the password</a:t>
            </a:r>
          </a:p>
          <a:p>
            <a:pPr marL="514440" indent="-514440">
              <a:lnSpc>
                <a:spcPct val="100000"/>
              </a:lnSpc>
              <a:buClr>
                <a:srgbClr val="FF0000"/>
              </a:buClr>
              <a:buFont typeface="OpenSymbol"/>
              <a:buAutoNum type="arabicPeriod" startAt="2"/>
            </a:pPr>
            <a:r>
              <a:rPr lang="en-US" sz="2800" b="1" spc="-1" dirty="0">
                <a:solidFill>
                  <a:srgbClr val="FF0000"/>
                </a:solidFill>
                <a:ea typeface="Arial"/>
              </a:rPr>
              <a:t>File modification detector</a:t>
            </a:r>
            <a:endParaRPr lang="en-US" sz="2800" spc="-1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1" spc="-1" dirty="0">
                <a:solidFill>
                  <a:srgbClr val="FF0000"/>
                </a:solidFill>
                <a:ea typeface="Arial"/>
              </a:rPr>
              <a:t>   </a:t>
            </a:r>
            <a:endParaRPr lang="en-US" sz="1000" spc="-1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spc="-1" dirty="0">
                <a:solidFill>
                  <a:srgbClr val="FF0000"/>
                </a:solidFill>
                <a:ea typeface="Arial"/>
              </a:rPr>
              <a:t>Security property: </a:t>
            </a:r>
            <a:endParaRPr lang="en-US" sz="2800" spc="-1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spc="-1" dirty="0">
                <a:solidFill>
                  <a:srgbClr val="000000"/>
                </a:solidFill>
                <a:ea typeface="Arial"/>
              </a:rPr>
              <a:t>Can tell if a file has been modified.</a:t>
            </a:r>
            <a:endParaRPr lang="en-US" sz="2800" b="0" strike="noStrike" spc="-1" dirty="0">
              <a:solidFill>
                <a:srgbClr val="000000"/>
              </a:solidFill>
              <a:latin typeface="Arial"/>
              <a:ea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spc="-1" dirty="0">
                <a:solidFill>
                  <a:srgbClr val="FF0000"/>
                </a:solidFill>
                <a:ea typeface="Arial"/>
              </a:rPr>
              <a:t>3.  Digital signatures</a:t>
            </a:r>
            <a:endParaRPr lang="en-US" sz="2800" spc="-1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1" spc="-1" dirty="0">
                <a:solidFill>
                  <a:srgbClr val="FF0000"/>
                </a:solidFill>
                <a:ea typeface="Arial"/>
              </a:rPr>
              <a:t>    </a:t>
            </a:r>
            <a:endParaRPr lang="en-US" sz="1000" spc="-1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spc="-1" dirty="0">
                <a:solidFill>
                  <a:srgbClr val="FF0000"/>
                </a:solidFill>
                <a:ea typeface="Arial"/>
              </a:rPr>
              <a:t>     </a:t>
            </a:r>
            <a:r>
              <a:rPr lang="en-US" sz="2800" spc="-1" dirty="0">
                <a:solidFill>
                  <a:srgbClr val="000000"/>
                </a:solidFill>
                <a:ea typeface="Arial"/>
              </a:rPr>
              <a:t>Instead of signing msg sign the hash</a:t>
            </a:r>
            <a:endParaRPr lang="en-US" sz="2800" spc="-1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spc="-1" dirty="0">
                <a:solidFill>
                  <a:srgbClr val="000000"/>
                </a:solidFill>
                <a:ea typeface="Arial"/>
              </a:rPr>
              <a:t>     </a:t>
            </a:r>
            <a:endParaRPr lang="en-US" sz="2800" spc="-1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54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rgbClr val="C7F464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The Other one – Random Numbers</a:t>
            </a:r>
            <a:endParaRPr lang="en-US" sz="4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/>
          </p:nvPr>
        </p:nvSpPr>
        <p:spPr>
          <a:xfrm>
            <a:off x="711360" y="1828800"/>
            <a:ext cx="10972080" cy="441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Calibri"/>
              </a:rPr>
              <a:t>Radioactive sources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Calibri"/>
              </a:rPr>
              <a:t>Microphone, camera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Calibri"/>
              </a:rPr>
              <a:t>atmospheric noise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Calibri"/>
              </a:rPr>
              <a:t>https://www.cloudflare.com/learning/ssl/lava-lamp-encryption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26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Quintessential"/>
                <a:ea typeface="Quintessent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1A513EE-4D9A-481B-B74D-367E8A34AD51}" type="slidenum">
              <a:rPr lang="en-US" sz="1200" b="0" strike="noStrike" spc="-1">
                <a:solidFill>
                  <a:srgbClr val="898989"/>
                </a:solidFill>
                <a:latin typeface="Quintessential"/>
                <a:ea typeface="Quintessential"/>
              </a:rPr>
              <a:t>36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86589173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760F62-30CC-99B9-8A51-9A737FDF4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>
            <a:extLst>
              <a:ext uri="{FF2B5EF4-FFF2-40B4-BE49-F238E27FC236}">
                <a16:creationId xmlns:a16="http://schemas.microsoft.com/office/drawing/2014/main" id="{97F104D6-863D-B40A-F207-9D2B7255A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Reading</a:t>
            </a:r>
            <a:endParaRPr lang="en-US" sz="4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PlaceHolder 2">
            <a:extLst>
              <a:ext uri="{FF2B5EF4-FFF2-40B4-BE49-F238E27FC236}">
                <a16:creationId xmlns:a16="http://schemas.microsoft.com/office/drawing/2014/main" id="{F182B25B-D8A3-2441-580C-F68306028DA3}"/>
              </a:ext>
            </a:extLst>
          </p:cNvPr>
          <p:cNvSpPr>
            <a:spLocks noGrp="1"/>
          </p:cNvSpPr>
          <p:nvPr>
            <p:ph type="sldNum" idx="31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Quintessential"/>
                <a:ea typeface="Quintessent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CDB3AE0-11B7-4FC7-9745-1E950268048B}" type="slidenum">
              <a:rPr lang="en-US" sz="1200" b="0" strike="noStrike" spc="-1">
                <a:solidFill>
                  <a:srgbClr val="898989"/>
                </a:solidFill>
                <a:latin typeface="Quintessential"/>
                <a:ea typeface="Quintessential"/>
              </a:rPr>
              <a:t>37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" name="Google Shape;253;p36">
            <a:extLst>
              <a:ext uri="{FF2B5EF4-FFF2-40B4-BE49-F238E27FC236}">
                <a16:creationId xmlns:a16="http://schemas.microsoft.com/office/drawing/2014/main" id="{6D6B6931-E383-1F35-A24B-CB3D7E4DE746}"/>
              </a:ext>
            </a:extLst>
          </p:cNvPr>
          <p:cNvSpPr/>
          <p:nvPr/>
        </p:nvSpPr>
        <p:spPr>
          <a:xfrm>
            <a:off x="101880" y="1616040"/>
            <a:ext cx="11988000" cy="420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pc="-1" dirty="0">
                <a:solidFill>
                  <a:srgbClr val="000000"/>
                </a:solidFill>
              </a:rPr>
              <a:t>Kaufman: https://</a:t>
            </a:r>
            <a:r>
              <a:rPr lang="en-US" spc="-1" dirty="0" err="1">
                <a:solidFill>
                  <a:srgbClr val="000000"/>
                </a:solidFill>
              </a:rPr>
              <a:t>www.nist.gov</a:t>
            </a:r>
            <a:r>
              <a:rPr lang="en-US" spc="-1" dirty="0">
                <a:solidFill>
                  <a:srgbClr val="000000"/>
                </a:solidFill>
              </a:rPr>
              <a:t>/publications/network-security-private-communication-public-world-3rd-edition 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pc="-1" dirty="0">
                <a:solidFill>
                  <a:srgbClr val="000000"/>
                </a:solidFill>
                <a:latin typeface="Arial"/>
              </a:rPr>
              <a:t>Chapter: 2.1, 2.4, 2.6</a:t>
            </a:r>
            <a:br>
              <a:rPr lang="en-US" spc="-1" dirty="0">
                <a:solidFill>
                  <a:srgbClr val="000000"/>
                </a:solidFill>
                <a:latin typeface="Arial"/>
              </a:rPr>
            </a:br>
            <a:br>
              <a:rPr lang="en-US" spc="-1" dirty="0">
                <a:solidFill>
                  <a:srgbClr val="000000"/>
                </a:solidFill>
                <a:latin typeface="Arial"/>
              </a:rPr>
            </a:br>
            <a:r>
              <a:rPr lang="en-US" spc="-1" dirty="0">
                <a:solidFill>
                  <a:srgbClr val="000000"/>
                </a:solidFill>
                <a:latin typeface="Arial"/>
              </a:rPr>
              <a:t>We will talk about random numbers next.</a:t>
            </a:r>
            <a:endParaRPr lang="en-US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45129736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</TotalTime>
  <Words>1367</Words>
  <Application>Microsoft Macintosh PowerPoint</Application>
  <PresentationFormat>Widescreen</PresentationFormat>
  <Paragraphs>263</Paragraphs>
  <Slides>37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15</vt:i4>
      </vt:variant>
      <vt:variant>
        <vt:lpstr>Slide Titles</vt:lpstr>
      </vt:variant>
      <vt:variant>
        <vt:i4>37</vt:i4>
      </vt:variant>
    </vt:vector>
  </HeadingPairs>
  <TitlesOfParts>
    <vt:vector size="60" baseType="lpstr">
      <vt:lpstr>Arial</vt:lpstr>
      <vt:lpstr>Calibri</vt:lpstr>
      <vt:lpstr>Montserrat</vt:lpstr>
      <vt:lpstr>OpenSymbol</vt:lpstr>
      <vt:lpstr>Quintessential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OTP and Hash Functions</vt:lpstr>
      <vt:lpstr>The Internet Is Public</vt:lpstr>
      <vt:lpstr>Infrastructure Trust vs Message Privacy</vt:lpstr>
      <vt:lpstr>Security Foundations We Studied</vt:lpstr>
      <vt:lpstr>DNSSEC: Trusting the Name</vt:lpstr>
      <vt:lpstr>BGPSEC: Trusting the Route</vt:lpstr>
      <vt:lpstr>PKI: Trusting Identity</vt:lpstr>
      <vt:lpstr>Infrastructure Trust vs Message Privacy 2</vt:lpstr>
      <vt:lpstr>Modern Encryption</vt:lpstr>
      <vt:lpstr>The One-Time Pad</vt:lpstr>
      <vt:lpstr>Layered Security in a Public World</vt:lpstr>
      <vt:lpstr>By the End of Class</vt:lpstr>
      <vt:lpstr>Outcome</vt:lpstr>
      <vt:lpstr>One Time Pad and Hash Functions</vt:lpstr>
      <vt:lpstr>One Time Pad and Hash Functions 2</vt:lpstr>
      <vt:lpstr>One-Time Pad</vt:lpstr>
      <vt:lpstr>Mechanism: Encryption</vt:lpstr>
      <vt:lpstr>Mechanism: Encryption 2</vt:lpstr>
      <vt:lpstr>Information-theoretically Secure vs Computationally Secure</vt:lpstr>
      <vt:lpstr>One-Time Pad (OTP) [Gilbert Vernam 1917]</vt:lpstr>
      <vt:lpstr>OTP Example - Encryption</vt:lpstr>
      <vt:lpstr>OTP Example - Decryption</vt:lpstr>
      <vt:lpstr>OTP Example - Why is it secure?</vt:lpstr>
      <vt:lpstr>One-Time Pad (OTP) 2/2 [Gilbert Vernam 1917]</vt:lpstr>
      <vt:lpstr>Defining Security</vt:lpstr>
      <vt:lpstr>A perfect system</vt:lpstr>
      <vt:lpstr>Two-time pad - Oops</vt:lpstr>
      <vt:lpstr>Two-time pad - Oops</vt:lpstr>
      <vt:lpstr>OTP is malleable</vt:lpstr>
      <vt:lpstr>Hash Functions</vt:lpstr>
      <vt:lpstr>Ideal Hash Function:</vt:lpstr>
      <vt:lpstr>Ideal Hash Function:</vt:lpstr>
      <vt:lpstr>Desired Properties</vt:lpstr>
      <vt:lpstr>Desired Properties</vt:lpstr>
      <vt:lpstr>Applications</vt:lpstr>
      <vt:lpstr>The Other one – Random Numbers</vt:lpstr>
      <vt:lpstr>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Shannigrahi, Susmit</cp:lastModifiedBy>
  <cp:revision>7</cp:revision>
  <dcterms:modified xsi:type="dcterms:W3CDTF">2026-02-23T18:17:46Z</dcterms:modified>
  <dc:language>en-US</dc:language>
</cp:coreProperties>
</file>