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707" r:id="rId4"/>
    <p:sldId id="723" r:id="rId5"/>
    <p:sldId id="708" r:id="rId6"/>
    <p:sldId id="709" r:id="rId7"/>
    <p:sldId id="710" r:id="rId8"/>
    <p:sldId id="711" r:id="rId9"/>
    <p:sldId id="712" r:id="rId10"/>
    <p:sldId id="724" r:id="rId11"/>
    <p:sldId id="713" r:id="rId12"/>
    <p:sldId id="266" r:id="rId13"/>
    <p:sldId id="714" r:id="rId14"/>
    <p:sldId id="715" r:id="rId15"/>
    <p:sldId id="716" r:id="rId16"/>
    <p:sldId id="717" r:id="rId17"/>
    <p:sldId id="718" r:id="rId18"/>
    <p:sldId id="725" r:id="rId19"/>
    <p:sldId id="272" r:id="rId20"/>
    <p:sldId id="719" r:id="rId21"/>
    <p:sldId id="720" r:id="rId22"/>
    <p:sldId id="721" r:id="rId23"/>
    <p:sldId id="29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68"/>
    <p:restoredTop sz="93688"/>
  </p:normalViewPr>
  <p:slideViewPr>
    <p:cSldViewPr snapToGrid="0">
      <p:cViewPr varScale="1">
        <p:scale>
          <a:sx n="93" d="100"/>
          <a:sy n="93" d="100"/>
        </p:scale>
        <p:origin x="216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9.xml" Type="http://schemas.openxmlformats.org/officeDocument/2006/relationships/slide"/><Relationship Id="rId11" Target="slides/slide10.xml" Type="http://schemas.openxmlformats.org/officeDocument/2006/relationships/slide"/><Relationship Id="rId12" Target="slides/slide11.xml" Type="http://schemas.openxmlformats.org/officeDocument/2006/relationships/slide"/><Relationship Id="rId13" Target="slides/slide12.xml" Type="http://schemas.openxmlformats.org/officeDocument/2006/relationships/slide"/><Relationship Id="rId14" Target="slides/slide13.xml" Type="http://schemas.openxmlformats.org/officeDocument/2006/relationships/slide"/><Relationship Id="rId15" Target="slides/slide14.xml" Type="http://schemas.openxmlformats.org/officeDocument/2006/relationships/slide"/><Relationship Id="rId16" Target="slides/slide15.xml" Type="http://schemas.openxmlformats.org/officeDocument/2006/relationships/slide"/><Relationship Id="rId17" Target="slides/slide16.xml" Type="http://schemas.openxmlformats.org/officeDocument/2006/relationships/slide"/><Relationship Id="rId18" Target="slides/slide17.xml" Type="http://schemas.openxmlformats.org/officeDocument/2006/relationships/slide"/><Relationship Id="rId19" Target="slides/slide18.xml" Type="http://schemas.openxmlformats.org/officeDocument/2006/relationships/slide"/><Relationship Id="rId2" Target="slides/slide1.xml" Type="http://schemas.openxmlformats.org/officeDocument/2006/relationships/slide"/><Relationship Id="rId20" Target="slides/slide19.xml" Type="http://schemas.openxmlformats.org/officeDocument/2006/relationships/slide"/><Relationship Id="rId21" Target="slides/slide20.xml" Type="http://schemas.openxmlformats.org/officeDocument/2006/relationships/slide"/><Relationship Id="rId22" Target="slides/slide21.xml" Type="http://schemas.openxmlformats.org/officeDocument/2006/relationships/slide"/><Relationship Id="rId23" Target="slides/slide22.xml" Type="http://schemas.openxmlformats.org/officeDocument/2006/relationships/slide"/><Relationship Id="rId24" Target="slides/slide23.xml" Type="http://schemas.openxmlformats.org/officeDocument/2006/relationships/slide"/><Relationship Id="rId25" Target="notesMasters/notesMaster1.xml" Type="http://schemas.openxmlformats.org/officeDocument/2006/relationships/notesMaster"/><Relationship Id="rId26" Target="presProps.xml" Type="http://schemas.openxmlformats.org/officeDocument/2006/relationships/presProps"/><Relationship Id="rId27" Target="viewProps.xml" Type="http://schemas.openxmlformats.org/officeDocument/2006/relationships/viewProps"/><Relationship Id="rId28" Target="theme/theme1.xml" Type="http://schemas.openxmlformats.org/officeDocument/2006/relationships/theme"/><Relationship Id="rId29" Target="tableStyles.xml" Type="http://schemas.openxmlformats.org/officeDocument/2006/relationships/tableStyles"/><Relationship Id="rId3" Target="slides/slide2.xml" Type="http://schemas.openxmlformats.org/officeDocument/2006/relationships/slide"/><Relationship Id="rId4" Target="slides/slide3.xml" Type="http://schemas.openxmlformats.org/officeDocument/2006/relationships/slide"/><Relationship Id="rId5" Target="slides/slide4.xml" Type="http://schemas.openxmlformats.org/officeDocument/2006/relationships/slide"/><Relationship Id="rId6" Target="slides/slide5.xml" Type="http://schemas.openxmlformats.org/officeDocument/2006/relationships/slide"/><Relationship Id="rId7" Target="slides/slide6.xml" Type="http://schemas.openxmlformats.org/officeDocument/2006/relationships/slide"/><Relationship Id="rId8" Target="slides/slide7.xml" Type="http://schemas.openxmlformats.org/officeDocument/2006/relationships/slide"/><Relationship Id="rId9" Target="slides/slide8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C8B824-F5A0-B54D-B526-7DF31E203BBB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216985-4F63-2A4E-AC89-D701E002D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3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086F6-78C8-D1AA-B423-295DE3257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618379-957D-E4BB-408C-CBA7F9A581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CE78A7-270F-4D9D-F334-310B86A45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586F4-5DDA-657F-579D-4B9EDE33B0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03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D4442-EB8A-EBAB-0606-926AE123E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7CDCC9-E5B5-38DD-3901-8280C87E9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E15070-6871-A65F-9305-3F076933D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462C8-C5A9-9685-6883-ABE505219E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385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E5BEF-4D1A-A560-3F86-DF4A49D34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65F582-1DA8-32E3-B19B-6E7152D94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12EA99-8F14-E6E0-C2F9-C489BD1B8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40BF1-EB5B-FF5D-F383-5F82EE0A50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0636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F626C-C5F0-7E81-3B89-5A2A13F81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9FFF4-C962-730C-CF8D-10D660F10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BE881-FE94-BC85-2185-99D92A2B0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42180-B645-6DF2-CC61-31E2AC376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64049-D8D5-9CDF-62BA-BCADB9A02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95E7D0-67B2-BFBE-8174-8F0934C735AB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854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9A8F3-A62D-EFFF-8C1C-D88BCC551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E5C0D-50C4-326B-1D1A-A930EF91D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BC179-7CC9-6726-952E-98E5BC116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DF208-5060-DF7B-2A83-E9BA94661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17189-BB72-3D20-9216-296FD4A55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137EB4-E11F-7F3C-F375-9EA4202A3E67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779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0016A-CFE8-8A04-1A60-D1E9EC19E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BA688-8CDB-839B-E6AC-2144406A0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7CE8-D92C-1F58-9B08-03C6D410F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EE0BF-6C9A-D705-87E8-2CB7628A6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B02BE-3916-8C5F-E6E9-A82691A70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06CDE4-1B81-F5B6-004E-455E6CF16622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350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1FE88-CD93-E21D-D983-394A8535F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FC707-6D36-68A6-4EF6-10DCCAE6F1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82410E-256F-9773-7BD5-8F58F878C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F11D0-90AC-8E8F-ED98-6507F3561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AFC05-D37A-FBB4-0BAB-DA8661CC1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94C7E-7CE9-A747-1A05-9E9B57FFB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529B5C-FE6B-E446-717E-D10538FF2309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85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2647C-3869-0981-7E20-30B92EC84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869CF-8EB7-2671-0C91-E15610E1A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F35CE-3312-B616-0135-62E1DBA29A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2464BD-57D9-31AF-3F5B-F97CB47E69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AFD28B-7AC0-5708-590D-7B2819DF9C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C5B4D9-F7C9-1563-39B2-8906C3474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4/8/26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DCA998-C901-E44F-D20E-3C67DA094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462D5B-5638-B01D-93D9-7E337697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81FA3B-8B22-0724-8E7A-A0D49BC18BEF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912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E226E-8BA6-459A-F3E3-DAFEFF00F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7D807C-D85B-7DE1-BD29-464AD4EA1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97EBBB-0649-6A59-4369-EFF26C021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A679-CD6C-BF10-AD12-419F9BDB2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C06814-03B8-146C-18A1-94A490EA51C1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929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7138A1-4017-7C92-8FF5-7EFC6FD62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4/8/26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5209E8-4CA0-3640-5451-46E7A06D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7C587-7BBB-E797-2710-3337BC8F7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182C5A-002F-5D69-ECA0-1C957267D82F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02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73350-F818-EE66-ADEF-DAC5B9819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1B377-1CF1-AD8F-01B3-E8BE4D34D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3458ED-987E-BBCC-7A0C-75D8C5D7C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C1F1D-7B43-3D40-CB34-B7DBDC551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FB79D-1C9B-3EDA-44E0-173C7AA96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2B1F2-22ED-815F-5DE3-9E95375AA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F0FC02-1C79-2647-2366-410C69F4D477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768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8B56A-81DE-C45D-0847-FBF613BD0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5C6DEB-0FA0-3AFB-AD72-D195220E35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DB7F5-C763-4335-E3B3-7625CB60D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437BB-C107-F853-E973-402CA70E3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D7D404-5AEE-E805-43D8-CFE4F63D6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807A7-D28F-7244-7A10-4B0B49CE5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8D9ECA-069B-3CCC-9AD2-A4C5EA2DF186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79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19965-AFC2-FB74-68B3-A49AB5230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3602B4-A1C2-8DB0-28CF-9DA5F014B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743A3-5838-5BFD-561C-2B31E572C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20D0C-F5AD-383F-C4CA-FC06D9CE7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18759-52E3-22C4-C4C2-77F22F714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F12EB5-A0CA-8C20-734E-126185A36CBF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144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21639-F9F7-EDDB-E286-69594EDF82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0952DA-FBAE-83A0-F6D9-BC8A76962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6D2AA-EB07-7080-DD33-0B7EF6C09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7E7AF-2985-4C6D-0EF3-B0745A1F7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F06B6-876B-1720-F000-0B50C6177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2AF28B-BF49-09AC-2319-4CCCB42DD8E9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3171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1271320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C95BF4-64C6-7BB7-5C51-E25046C1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7761E-06BA-A4B3-7379-9BCE27636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D0657-F59F-F8B0-5319-3D6B96BB1C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3EE530-FD04-3147-B0C9-114639AB4992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2BBD2-53A5-142C-8EFD-578AE3CECD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C08C2-7FF1-E46A-D033-D1515CBCA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1B3FC-3B9C-A620-3D3E-11183CD96B6F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503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9BFD2-513F-49D4-F5B9-24A0BD15B0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lang="en-US"/>
              <a:t>CSC 4780 – Email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9F20D1-0DF6-84F0-E38E-5718F548E6F7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 dirty="0" lang="en-US"/>
              <a:t>Susmit Shannigrahi</a:t>
            </a:r>
          </a:p>
        </p:txBody>
      </p:sp>
    </p:spTree>
    <p:extLst>
      <p:ext uri="{BB962C8B-B14F-4D97-AF65-F5344CB8AC3E}">
        <p14:creationId xmlns:p14="http://schemas.microsoft.com/office/powerpoint/2010/main" val="417864296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97536"/>
            <a:ext cx="10972800" cy="10972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2933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Why End-to-End Encrypted Email Never Caught On</a:t>
            </a:r>
            <a:endParaRPr dirty="0" lang="en-US" sz="2933"/>
          </a:p>
        </p:txBody>
      </p:sp>
      <p:sp>
        <p:nvSpPr>
          <p:cNvPr id="4" name="Shape 2"/>
          <p:cNvSpPr/>
          <p:nvPr/>
        </p:nvSpPr>
        <p:spPr>
          <a:xfrm>
            <a:off x="487680" y="1402080"/>
            <a:ext cx="3474720" cy="914400"/>
          </a:xfrm>
          <a:prstGeom prst="rect">
            <a:avLst/>
          </a:prstGeom>
          <a:solidFill>
            <a:srgbClr val="1322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633984" y="1402080"/>
            <a:ext cx="3169920" cy="9144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467">
                <a:solidFill>
                  <a:srgbClr val="00B4D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PEM  ·  RFC 1421 · Feb 1993</a:t>
            </a:r>
            <a:endParaRPr dirty="0" lang="en-US" sz="1467"/>
          </a:p>
        </p:txBody>
      </p:sp>
      <p:sp>
        <p:nvSpPr>
          <p:cNvPr id="6" name="Shape 4"/>
          <p:cNvSpPr/>
          <p:nvPr/>
        </p:nvSpPr>
        <p:spPr>
          <a:xfrm>
            <a:off x="4328160" y="1402080"/>
            <a:ext cx="3474720" cy="914400"/>
          </a:xfrm>
          <a:prstGeom prst="rect">
            <a:avLst/>
          </a:prstGeom>
          <a:solidFill>
            <a:srgbClr val="1322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4474464" y="1402080"/>
            <a:ext cx="3169920" cy="9144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467">
                <a:solidFill>
                  <a:srgbClr val="00B4D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PGP/GPG  ·  RFC 2015 · Oct 1996</a:t>
            </a:r>
            <a:endParaRPr dirty="0" lang="en-US" sz="1467"/>
          </a:p>
        </p:txBody>
      </p:sp>
      <p:sp>
        <p:nvSpPr>
          <p:cNvPr id="8" name="Shape 6"/>
          <p:cNvSpPr/>
          <p:nvPr/>
        </p:nvSpPr>
        <p:spPr>
          <a:xfrm>
            <a:off x="8168640" y="1402080"/>
            <a:ext cx="3474720" cy="914400"/>
          </a:xfrm>
          <a:prstGeom prst="rect">
            <a:avLst/>
          </a:prstGeom>
          <a:solidFill>
            <a:srgbClr val="1322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8314944" y="1402080"/>
            <a:ext cx="3169920" cy="9144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467">
                <a:solidFill>
                  <a:srgbClr val="00B4D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S/MIME  ·  RFC 2311 · Mar 1998</a:t>
            </a:r>
            <a:endParaRPr dirty="0" lang="en-US" sz="1467"/>
          </a:p>
        </p:txBody>
      </p:sp>
      <p:sp>
        <p:nvSpPr>
          <p:cNvPr id="10" name="Text 8"/>
          <p:cNvSpPr/>
          <p:nvPr/>
        </p:nvSpPr>
        <p:spPr>
          <a:xfrm>
            <a:off x="487680" y="2377440"/>
            <a:ext cx="11216640" cy="390144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i="1" lang="en-US" sz="1600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All 30+ years old. None widely used today.</a:t>
            </a:r>
            <a:endParaRPr dirty="0" lang="en-US" sz="1600"/>
          </a:p>
        </p:txBody>
      </p:sp>
      <p:sp>
        <p:nvSpPr>
          <p:cNvPr id="11" name="Shape 9"/>
          <p:cNvSpPr/>
          <p:nvPr/>
        </p:nvSpPr>
        <p:spPr>
          <a:xfrm>
            <a:off x="487680" y="2901696"/>
            <a:ext cx="3474720" cy="1584960"/>
          </a:xfrm>
          <a:prstGeom prst="rect">
            <a:avLst/>
          </a:prstGeom>
          <a:solidFill>
            <a:srgbClr val="132235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609600" y="3023616"/>
            <a:ext cx="609600" cy="6096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2400">
                <a:solidFill>
                  <a:srgbClr val="000000"/>
                </a:solidFill>
              </a:rPr>
              <a:t>🔑</a:t>
            </a:r>
            <a:endParaRPr dirty="0" lang="en-US" sz="2400"/>
          </a:p>
        </p:txBody>
      </p:sp>
      <p:sp>
        <p:nvSpPr>
          <p:cNvPr id="13" name="Text 11"/>
          <p:cNvSpPr/>
          <p:nvPr/>
        </p:nvSpPr>
        <p:spPr>
          <a:xfrm>
            <a:off x="1280160" y="3023616"/>
            <a:ext cx="25603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733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Key Discovery</a:t>
            </a:r>
            <a:endParaRPr dirty="0" lang="en-US" sz="1733"/>
          </a:p>
        </p:txBody>
      </p:sp>
      <p:sp>
        <p:nvSpPr>
          <p:cNvPr id="14" name="Text 12"/>
          <p:cNvSpPr/>
          <p:nvPr/>
        </p:nvSpPr>
        <p:spPr>
          <a:xfrm>
            <a:off x="609600" y="3694176"/>
            <a:ext cx="3230880" cy="6705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Hard to find Bob's public key</a:t>
            </a:r>
            <a:endParaRPr dirty="0" lang="en-US" sz="1467"/>
          </a:p>
        </p:txBody>
      </p:sp>
      <p:sp>
        <p:nvSpPr>
          <p:cNvPr id="15" name="Shape 13"/>
          <p:cNvSpPr/>
          <p:nvPr/>
        </p:nvSpPr>
        <p:spPr>
          <a:xfrm>
            <a:off x="4267200" y="2901696"/>
            <a:ext cx="3474720" cy="1584960"/>
          </a:xfrm>
          <a:prstGeom prst="rect">
            <a:avLst/>
          </a:prstGeom>
          <a:solidFill>
            <a:srgbClr val="132235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4389120" y="3023616"/>
            <a:ext cx="609600" cy="6096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2400">
                <a:solidFill>
                  <a:srgbClr val="000000"/>
                </a:solidFill>
              </a:rPr>
              <a:t>📱</a:t>
            </a:r>
            <a:endParaRPr dirty="0" lang="en-US" sz="2400"/>
          </a:p>
        </p:txBody>
      </p:sp>
      <p:sp>
        <p:nvSpPr>
          <p:cNvPr id="17" name="Text 15"/>
          <p:cNvSpPr/>
          <p:nvPr/>
        </p:nvSpPr>
        <p:spPr>
          <a:xfrm>
            <a:off x="5059680" y="3023616"/>
            <a:ext cx="25603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733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Multi-device</a:t>
            </a:r>
            <a:endParaRPr dirty="0" lang="en-US" sz="1733"/>
          </a:p>
        </p:txBody>
      </p:sp>
      <p:sp>
        <p:nvSpPr>
          <p:cNvPr id="18" name="Text 16"/>
          <p:cNvSpPr/>
          <p:nvPr/>
        </p:nvSpPr>
        <p:spPr>
          <a:xfrm>
            <a:off x="4389120" y="3694176"/>
            <a:ext cx="3230880" cy="6705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Private key mgmt across devices</a:t>
            </a:r>
            <a:endParaRPr dirty="0" lang="en-US" sz="1467"/>
          </a:p>
        </p:txBody>
      </p:sp>
      <p:sp>
        <p:nvSpPr>
          <p:cNvPr id="19" name="Shape 17"/>
          <p:cNvSpPr/>
          <p:nvPr/>
        </p:nvSpPr>
        <p:spPr>
          <a:xfrm>
            <a:off x="8046720" y="2901696"/>
            <a:ext cx="3474720" cy="1584960"/>
          </a:xfrm>
          <a:prstGeom prst="rect">
            <a:avLst/>
          </a:prstGeom>
          <a:solidFill>
            <a:srgbClr val="132235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8168640" y="3023616"/>
            <a:ext cx="609600" cy="6096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2400">
                <a:solidFill>
                  <a:srgbClr val="000000"/>
                </a:solidFill>
              </a:rPr>
              <a:t>🔒</a:t>
            </a:r>
            <a:endParaRPr dirty="0" lang="en-US" sz="2400"/>
          </a:p>
        </p:txBody>
      </p:sp>
      <p:sp>
        <p:nvSpPr>
          <p:cNvPr id="21" name="Text 19"/>
          <p:cNvSpPr/>
          <p:nvPr/>
        </p:nvSpPr>
        <p:spPr>
          <a:xfrm>
            <a:off x="8839200" y="3023616"/>
            <a:ext cx="25603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733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Password Loss</a:t>
            </a:r>
            <a:endParaRPr dirty="0" lang="en-US" sz="1733"/>
          </a:p>
        </p:txBody>
      </p:sp>
      <p:sp>
        <p:nvSpPr>
          <p:cNvPr id="22" name="Text 20"/>
          <p:cNvSpPr/>
          <p:nvPr/>
        </p:nvSpPr>
        <p:spPr>
          <a:xfrm>
            <a:off x="8168640" y="3694176"/>
            <a:ext cx="3230880" cy="6705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Forget password = lose all mail</a:t>
            </a:r>
            <a:endParaRPr dirty="0" lang="en-US" sz="1467"/>
          </a:p>
        </p:txBody>
      </p:sp>
      <p:sp>
        <p:nvSpPr>
          <p:cNvPr id="23" name="Shape 21"/>
          <p:cNvSpPr/>
          <p:nvPr/>
        </p:nvSpPr>
        <p:spPr>
          <a:xfrm>
            <a:off x="487680" y="4669536"/>
            <a:ext cx="3474720" cy="1584960"/>
          </a:xfrm>
          <a:prstGeom prst="rect">
            <a:avLst/>
          </a:prstGeom>
          <a:solidFill>
            <a:srgbClr val="132235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609600" y="4791456"/>
            <a:ext cx="609600" cy="6096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2400">
                <a:solidFill>
                  <a:srgbClr val="000000"/>
                </a:solidFill>
              </a:rPr>
              <a:t>🏢</a:t>
            </a:r>
            <a:endParaRPr dirty="0" lang="en-US" sz="2400"/>
          </a:p>
        </p:txBody>
      </p:sp>
      <p:sp>
        <p:nvSpPr>
          <p:cNvPr id="25" name="Text 23"/>
          <p:cNvSpPr/>
          <p:nvPr/>
        </p:nvSpPr>
        <p:spPr>
          <a:xfrm>
            <a:off x="1280160" y="4791456"/>
            <a:ext cx="25603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733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Corporate Block</a:t>
            </a:r>
            <a:endParaRPr dirty="0" lang="en-US" sz="1733"/>
          </a:p>
        </p:txBody>
      </p:sp>
      <p:sp>
        <p:nvSpPr>
          <p:cNvPr id="26" name="Text 24"/>
          <p:cNvSpPr/>
          <p:nvPr/>
        </p:nvSpPr>
        <p:spPr>
          <a:xfrm>
            <a:off x="609600" y="5462016"/>
            <a:ext cx="3230880" cy="6705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Companies need plaintext access</a:t>
            </a:r>
            <a:endParaRPr dirty="0" lang="en-US" sz="1467"/>
          </a:p>
        </p:txBody>
      </p:sp>
      <p:sp>
        <p:nvSpPr>
          <p:cNvPr id="27" name="Shape 25"/>
          <p:cNvSpPr/>
          <p:nvPr/>
        </p:nvSpPr>
        <p:spPr>
          <a:xfrm>
            <a:off x="4267200" y="4669536"/>
            <a:ext cx="3474720" cy="1584960"/>
          </a:xfrm>
          <a:prstGeom prst="rect">
            <a:avLst/>
          </a:prstGeom>
          <a:solidFill>
            <a:srgbClr val="132235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4389120" y="4791456"/>
            <a:ext cx="609600" cy="6096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2400">
                <a:solidFill>
                  <a:srgbClr val="000000"/>
                </a:solidFill>
              </a:rPr>
              <a:t>👥</a:t>
            </a:r>
            <a:endParaRPr dirty="0" lang="en-US" sz="2400"/>
          </a:p>
        </p:txBody>
      </p:sp>
      <p:sp>
        <p:nvSpPr>
          <p:cNvPr id="29" name="Text 27"/>
          <p:cNvSpPr/>
          <p:nvPr/>
        </p:nvSpPr>
        <p:spPr>
          <a:xfrm>
            <a:off x="5059680" y="4791456"/>
            <a:ext cx="25603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733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Network Effect</a:t>
            </a:r>
            <a:endParaRPr dirty="0" lang="en-US" sz="1733"/>
          </a:p>
        </p:txBody>
      </p:sp>
      <p:sp>
        <p:nvSpPr>
          <p:cNvPr id="30" name="Text 28"/>
          <p:cNvSpPr/>
          <p:nvPr/>
        </p:nvSpPr>
        <p:spPr>
          <a:xfrm>
            <a:off x="4389120" y="5462016"/>
            <a:ext cx="3230880" cy="6705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Useless if contacts don't support it</a:t>
            </a:r>
            <a:endParaRPr dirty="0" lang="en-US" sz="1467"/>
          </a:p>
        </p:txBody>
      </p:sp>
      <p:sp>
        <p:nvSpPr>
          <p:cNvPr id="31" name="Shape 29"/>
          <p:cNvSpPr/>
          <p:nvPr/>
        </p:nvSpPr>
        <p:spPr>
          <a:xfrm>
            <a:off x="8046720" y="4669536"/>
            <a:ext cx="3474720" cy="1584960"/>
          </a:xfrm>
          <a:prstGeom prst="rect">
            <a:avLst/>
          </a:prstGeom>
          <a:solidFill>
            <a:srgbClr val="132235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" name="Text 30"/>
          <p:cNvSpPr/>
          <p:nvPr/>
        </p:nvSpPr>
        <p:spPr>
          <a:xfrm>
            <a:off x="8168640" y="4791456"/>
            <a:ext cx="609600" cy="6096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2400">
                <a:solidFill>
                  <a:srgbClr val="000000"/>
                </a:solidFill>
              </a:rPr>
              <a:t>😐</a:t>
            </a:r>
            <a:endParaRPr dirty="0" lang="en-US" sz="2400"/>
          </a:p>
        </p:txBody>
      </p:sp>
      <p:sp>
        <p:nvSpPr>
          <p:cNvPr id="33" name="Text 31"/>
          <p:cNvSpPr/>
          <p:nvPr/>
        </p:nvSpPr>
        <p:spPr>
          <a:xfrm>
            <a:off x="8839200" y="4791456"/>
            <a:ext cx="25603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733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User Apathy</a:t>
            </a:r>
            <a:endParaRPr dirty="0" lang="en-US" sz="1733"/>
          </a:p>
        </p:txBody>
      </p:sp>
      <p:sp>
        <p:nvSpPr>
          <p:cNvPr id="34" name="Text 32"/>
          <p:cNvSpPr/>
          <p:nvPr/>
        </p:nvSpPr>
        <p:spPr>
          <a:xfrm>
            <a:off x="8168640" y="5462016"/>
            <a:ext cx="3230880" cy="6705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Many users simply didn't care</a:t>
            </a:r>
            <a:endParaRPr dirty="0" lang="en-US" sz="1467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97536"/>
            <a:ext cx="10972800" cy="10972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3467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§14.1  Distribution Lists</a:t>
            </a:r>
            <a:endParaRPr dirty="0" lang="en-US" sz="3467"/>
          </a:p>
        </p:txBody>
      </p:sp>
      <p:sp>
        <p:nvSpPr>
          <p:cNvPr id="4" name="Text 2"/>
          <p:cNvSpPr/>
          <p:nvPr/>
        </p:nvSpPr>
        <p:spPr>
          <a:xfrm>
            <a:off x="609600" y="1402080"/>
            <a:ext cx="10972800" cy="4876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733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A distribution list is a name that stands for a set of recipients. Two implementation methods exist:</a:t>
            </a:r>
            <a:endParaRPr dirty="0" lang="en-US" sz="1733"/>
          </a:p>
        </p:txBody>
      </p:sp>
      <p:sp>
        <p:nvSpPr>
          <p:cNvPr id="5" name="Shape 3"/>
          <p:cNvSpPr/>
          <p:nvPr/>
        </p:nvSpPr>
        <p:spPr>
          <a:xfrm>
            <a:off x="487680" y="2011680"/>
            <a:ext cx="5242560" cy="4145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487680" y="2011680"/>
            <a:ext cx="5242560" cy="4632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609600" y="2011680"/>
            <a:ext cx="4998720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600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Remote Exploder (Mail Reflector)</a:t>
            </a:r>
            <a:endParaRPr dirty="0" lang="en-US" sz="1600"/>
          </a:p>
        </p:txBody>
      </p:sp>
      <p:sp>
        <p:nvSpPr>
          <p:cNvPr id="8" name="Text 6"/>
          <p:cNvSpPr/>
          <p:nvPr/>
        </p:nvSpPr>
        <p:spPr>
          <a:xfrm>
            <a:off x="609600" y="2560320"/>
            <a:ext cx="49987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467">
                <a:solidFill>
                  <a:srgbClr val="0077A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Sender → Distribution List Site → (copies to each recipient)</a:t>
            </a:r>
            <a:endParaRPr dirty="0" lang="en-US" sz="1467"/>
          </a:p>
        </p:txBody>
      </p:sp>
      <p:sp>
        <p:nvSpPr>
          <p:cNvPr id="9" name="Shape 7"/>
          <p:cNvSpPr/>
          <p:nvPr/>
        </p:nvSpPr>
        <p:spPr>
          <a:xfrm>
            <a:off x="609600" y="3230880"/>
            <a:ext cx="268224" cy="26822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950976" y="3194304"/>
            <a:ext cx="4632960" cy="390144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Send to a list without knowing its members</a:t>
            </a:r>
            <a:endParaRPr dirty="0" lang="en-US" sz="1467"/>
          </a:p>
        </p:txBody>
      </p:sp>
      <p:sp>
        <p:nvSpPr>
          <p:cNvPr id="11" name="Shape 9"/>
          <p:cNvSpPr/>
          <p:nvPr/>
        </p:nvSpPr>
        <p:spPr>
          <a:xfrm>
            <a:off x="609600" y="3864864"/>
            <a:ext cx="268224" cy="26822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950976" y="3828288"/>
            <a:ext cx="4632960" cy="390144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One copy over expensive WAN links</a:t>
            </a:r>
            <a:endParaRPr dirty="0" lang="en-US" sz="1467"/>
          </a:p>
        </p:txBody>
      </p:sp>
      <p:sp>
        <p:nvSpPr>
          <p:cNvPr id="13" name="Shape 11"/>
          <p:cNvSpPr/>
          <p:nvPr/>
        </p:nvSpPr>
        <p:spPr>
          <a:xfrm>
            <a:off x="609600" y="4498848"/>
            <a:ext cx="268224" cy="26822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950976" y="4462272"/>
            <a:ext cx="4632960" cy="390144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Parallelism — lists-within-lists resolved incrementally</a:t>
            </a:r>
            <a:endParaRPr dirty="0" lang="en-US" sz="1467"/>
          </a:p>
        </p:txBody>
      </p:sp>
      <p:sp>
        <p:nvSpPr>
          <p:cNvPr id="15" name="Shape 13"/>
          <p:cNvSpPr/>
          <p:nvPr/>
        </p:nvSpPr>
        <p:spPr>
          <a:xfrm>
            <a:off x="609600" y="5132832"/>
            <a:ext cx="268224" cy="26822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950976" y="5096256"/>
            <a:ext cx="4632960" cy="390144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Efficient when list &gt; message size</a:t>
            </a:r>
            <a:endParaRPr dirty="0" lang="en-US" sz="1467"/>
          </a:p>
        </p:txBody>
      </p:sp>
      <p:sp>
        <p:nvSpPr>
          <p:cNvPr id="19" name="Text 17"/>
          <p:cNvSpPr/>
          <p:nvPr/>
        </p:nvSpPr>
        <p:spPr>
          <a:xfrm>
            <a:off x="6583680" y="2011680"/>
            <a:ext cx="4998720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600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Local Exploder</a:t>
            </a:r>
            <a:endParaRPr dirty="0" lang="en-US" sz="1600"/>
          </a:p>
        </p:txBody>
      </p:sp>
      <p:sp>
        <p:nvSpPr>
          <p:cNvPr id="27" name="Text 25"/>
          <p:cNvSpPr/>
          <p:nvPr/>
        </p:nvSpPr>
        <p:spPr>
          <a:xfrm>
            <a:off x="609600" y="6242304"/>
            <a:ext cx="1097280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i="1" lang="en-US" sz="1467">
                <a:solidFill>
                  <a:srgbClr val="F59E0B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⚠  Nested lists can create infinite loops — the mail system must detect and break cycles.</a:t>
            </a:r>
            <a:endParaRPr dirty="0" lang="en-US" sz="1467"/>
          </a:p>
        </p:txBody>
      </p:sp>
      <p:pic>
        <p:nvPicPr>
          <p:cNvPr descr="External Penetration Testing Methodology | by Nairuz Abulhul | R3d Buck3T | Medium" id="1026" name="Picture 2">
            <a:extLst>
              <a:ext uri="{FF2B5EF4-FFF2-40B4-BE49-F238E27FC236}">
                <a16:creationId xmlns:a16="http://schemas.microsoft.com/office/drawing/2014/main" id="{B7396447-7189-41B0-C7B2-6BC12CCBEE9C}"/>
              </a:ext>
            </a:extLst>
          </p:cNvPr>
          <p:cNvPicPr>
            <a:picLocks noChangeArrowheads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3300" y="3499104"/>
            <a:ext cx="5918699" cy="2366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DA765A3-4EB2-D2A3-8823-6692D1F83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73BCB30-EDBB-83ED-E2D0-4200EF69E0E3}"/>
              </a:ext>
            </a:extLst>
          </p:cNvPr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E56C349-1D1C-E313-FF8F-AFD80DC95D16}"/>
              </a:ext>
            </a:extLst>
          </p:cNvPr>
          <p:cNvSpPr/>
          <p:nvPr/>
        </p:nvSpPr>
        <p:spPr>
          <a:xfrm>
            <a:off x="609600" y="97536"/>
            <a:ext cx="10972800" cy="10972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3467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Distribution Lists</a:t>
            </a:r>
            <a:endParaRPr dirty="0" lang="en-US" sz="3467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EBE19D-1B50-8609-41CC-FA9D36670C23}"/>
              </a:ext>
            </a:extLst>
          </p:cNvPr>
          <p:cNvSpPr/>
          <p:nvPr/>
        </p:nvSpPr>
        <p:spPr>
          <a:xfrm>
            <a:off x="609600" y="1402080"/>
            <a:ext cx="10972800" cy="4876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733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A distribution list is a name that stands for a set of recipients. Two implementation methods exist:</a:t>
            </a:r>
            <a:endParaRPr dirty="0" lang="en-US" sz="1733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B4A3B46-C224-7ADC-45C8-D2ED18C97EFA}"/>
              </a:ext>
            </a:extLst>
          </p:cNvPr>
          <p:cNvSpPr/>
          <p:nvPr/>
        </p:nvSpPr>
        <p:spPr>
          <a:xfrm>
            <a:off x="6461760" y="2011680"/>
            <a:ext cx="5242560" cy="4145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A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3176C5B-FA37-2A3C-A388-AB84552D9450}"/>
              </a:ext>
            </a:extLst>
          </p:cNvPr>
          <p:cNvSpPr/>
          <p:nvPr/>
        </p:nvSpPr>
        <p:spPr>
          <a:xfrm>
            <a:off x="6461760" y="2011680"/>
            <a:ext cx="5242560" cy="46329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E57BA84-F4E3-2277-73F1-145EF6A3610B}"/>
              </a:ext>
            </a:extLst>
          </p:cNvPr>
          <p:cNvSpPr/>
          <p:nvPr/>
        </p:nvSpPr>
        <p:spPr>
          <a:xfrm>
            <a:off x="6583680" y="2011680"/>
            <a:ext cx="4998720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600">
                <a:solidFill>
                  <a:srgbClr val="FFFFFF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Local Exploder</a:t>
            </a:r>
            <a:endParaRPr dirty="0" lang="en-US" sz="16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370CB52-41CB-6EFC-3079-15D5F4937343}"/>
              </a:ext>
            </a:extLst>
          </p:cNvPr>
          <p:cNvSpPr/>
          <p:nvPr/>
        </p:nvSpPr>
        <p:spPr>
          <a:xfrm>
            <a:off x="6583680" y="2560320"/>
            <a:ext cx="49987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467">
                <a:solidFill>
                  <a:srgbClr val="0077A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Sender retrieves list → sends individual copies</a:t>
            </a:r>
            <a:endParaRPr dirty="0" lang="en-US" sz="1467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7303E70-8BCF-4B65-A667-DF271B31CE44}"/>
              </a:ext>
            </a:extLst>
          </p:cNvPr>
          <p:cNvSpPr/>
          <p:nvPr/>
        </p:nvSpPr>
        <p:spPr>
          <a:xfrm>
            <a:off x="6583680" y="3230880"/>
            <a:ext cx="268224" cy="268224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841CA35-7F7C-00D3-ADC3-E9AA176B964F}"/>
              </a:ext>
            </a:extLst>
          </p:cNvPr>
          <p:cNvSpPr/>
          <p:nvPr/>
        </p:nvSpPr>
        <p:spPr>
          <a:xfrm>
            <a:off x="6925056" y="3194304"/>
            <a:ext cx="4632960" cy="390144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Easier to prevent mail forwarding loops</a:t>
            </a:r>
            <a:endParaRPr dirty="0" lang="en-US" sz="1467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F26D2A1-A882-295E-900D-93A869A23C67}"/>
              </a:ext>
            </a:extLst>
          </p:cNvPr>
          <p:cNvSpPr/>
          <p:nvPr/>
        </p:nvSpPr>
        <p:spPr>
          <a:xfrm>
            <a:off x="6583680" y="3864864"/>
            <a:ext cx="268224" cy="268224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1DA389E-D2C1-CA0D-A591-AB55C49A6BAE}"/>
              </a:ext>
            </a:extLst>
          </p:cNvPr>
          <p:cNvSpPr/>
          <p:nvPr/>
        </p:nvSpPr>
        <p:spPr>
          <a:xfrm>
            <a:off x="6925056" y="3828288"/>
            <a:ext cx="4632960" cy="390144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Sender can de-duplicate across lists</a:t>
            </a:r>
            <a:endParaRPr dirty="0" lang="en-US" sz="1467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EC6EF85-B8D2-9A4D-568B-34CE8F780412}"/>
              </a:ext>
            </a:extLst>
          </p:cNvPr>
          <p:cNvSpPr/>
          <p:nvPr/>
        </p:nvSpPr>
        <p:spPr>
          <a:xfrm>
            <a:off x="6583680" y="4498848"/>
            <a:ext cx="268224" cy="268224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1F9F8E8-3EBE-5363-98B1-6F1CA7889AD7}"/>
              </a:ext>
            </a:extLst>
          </p:cNvPr>
          <p:cNvSpPr/>
          <p:nvPr/>
        </p:nvSpPr>
        <p:spPr>
          <a:xfrm>
            <a:off x="6925056" y="4462272"/>
            <a:ext cx="4632960" cy="390144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Sender knows bandwidth cost in advance</a:t>
            </a:r>
            <a:endParaRPr dirty="0" lang="en-US" sz="1467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ECA451F-53A1-A94A-6A72-1CB717E278F1}"/>
              </a:ext>
            </a:extLst>
          </p:cNvPr>
          <p:cNvSpPr/>
          <p:nvPr/>
        </p:nvSpPr>
        <p:spPr>
          <a:xfrm>
            <a:off x="609600" y="6242304"/>
            <a:ext cx="1097280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i="1" lang="en-US" sz="1467">
                <a:solidFill>
                  <a:srgbClr val="F59E0B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⚠  Nested lists can create infinite loops — the mail system must detect and break cycles.</a:t>
            </a:r>
            <a:endParaRPr dirty="0" lang="en-US" sz="1467"/>
          </a:p>
        </p:txBody>
      </p:sp>
      <p:pic>
        <p:nvPicPr>
          <p:cNvPr descr="External Penetration Testing Methodology | by Nairuz Abulhul | R3d Buck3T | Medium" id="2050" name="Picture 2">
            <a:extLst>
              <a:ext uri="{FF2B5EF4-FFF2-40B4-BE49-F238E27FC236}">
                <a16:creationId xmlns:a16="http://schemas.microsoft.com/office/drawing/2014/main" id="{89E8CDA9-8D05-D839-3564-C4CD83BDD687}"/>
              </a:ext>
            </a:extLst>
          </p:cNvPr>
          <p:cNvPicPr>
            <a:picLocks noChangeArrowheads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301" y="2882677"/>
            <a:ext cx="5918699" cy="2366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8642182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97536"/>
            <a:ext cx="10972800" cy="10972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3467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Store and Forward</a:t>
            </a:r>
            <a:endParaRPr dirty="0" lang="en-US" sz="3467"/>
          </a:p>
        </p:txBody>
      </p:sp>
      <p:sp>
        <p:nvSpPr>
          <p:cNvPr id="4" name="Text 2"/>
          <p:cNvSpPr/>
          <p:nvPr/>
        </p:nvSpPr>
        <p:spPr>
          <a:xfrm>
            <a:off x="609600" y="1402080"/>
            <a:ext cx="10972800" cy="4876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i="1" lang="en-US" sz="1733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Direct device-to-device email is impractical. Message Transfer Agents (MTAs) solve this.</a:t>
            </a:r>
            <a:endParaRPr dirty="0" lang="en-US" sz="1733"/>
          </a:p>
        </p:txBody>
      </p:sp>
      <p:sp>
        <p:nvSpPr>
          <p:cNvPr id="5" name="Shape 3"/>
          <p:cNvSpPr/>
          <p:nvPr/>
        </p:nvSpPr>
        <p:spPr>
          <a:xfrm>
            <a:off x="365760" y="2072640"/>
            <a:ext cx="1889760" cy="853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365760" y="2072640"/>
            <a:ext cx="1889760" cy="8534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Alice UA</a:t>
            </a:r>
            <a:endParaRPr dirty="0" lang="en-US" sz="1733"/>
          </a:p>
        </p:txBody>
      </p:sp>
      <p:sp>
        <p:nvSpPr>
          <p:cNvPr id="7" name="Shape 5"/>
          <p:cNvSpPr/>
          <p:nvPr/>
        </p:nvSpPr>
        <p:spPr>
          <a:xfrm>
            <a:off x="2316480" y="2499360"/>
            <a:ext cx="26822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2609088" y="2072640"/>
            <a:ext cx="1889760" cy="853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2609088" y="2072640"/>
            <a:ext cx="1889760" cy="8534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FFFFFF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MTA</a:t>
            </a:r>
            <a:endParaRPr dirty="0" lang="en-US" sz="1733"/>
          </a:p>
        </p:txBody>
      </p:sp>
      <p:sp>
        <p:nvSpPr>
          <p:cNvPr id="10" name="Shape 8"/>
          <p:cNvSpPr/>
          <p:nvPr/>
        </p:nvSpPr>
        <p:spPr>
          <a:xfrm>
            <a:off x="4559808" y="2499360"/>
            <a:ext cx="26822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4852416" y="2072640"/>
            <a:ext cx="1889760" cy="853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4852416" y="2072640"/>
            <a:ext cx="1889760" cy="8534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FFFFFF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MTA</a:t>
            </a:r>
            <a:endParaRPr dirty="0" lang="en-US" sz="1733"/>
          </a:p>
        </p:txBody>
      </p:sp>
      <p:sp>
        <p:nvSpPr>
          <p:cNvPr id="13" name="Shape 11"/>
          <p:cNvSpPr/>
          <p:nvPr/>
        </p:nvSpPr>
        <p:spPr>
          <a:xfrm>
            <a:off x="6803136" y="2499360"/>
            <a:ext cx="26822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Shape 12"/>
          <p:cNvSpPr/>
          <p:nvPr/>
        </p:nvSpPr>
        <p:spPr>
          <a:xfrm>
            <a:off x="7095744" y="2072640"/>
            <a:ext cx="1889760" cy="853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7095744" y="2072640"/>
            <a:ext cx="1889760" cy="8534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FFFFFF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MTA</a:t>
            </a:r>
            <a:endParaRPr dirty="0" lang="en-US" sz="1733"/>
          </a:p>
        </p:txBody>
      </p:sp>
      <p:sp>
        <p:nvSpPr>
          <p:cNvPr id="16" name="Shape 14"/>
          <p:cNvSpPr/>
          <p:nvPr/>
        </p:nvSpPr>
        <p:spPr>
          <a:xfrm>
            <a:off x="9046464" y="2499360"/>
            <a:ext cx="26822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9339072" y="2072640"/>
            <a:ext cx="1889760" cy="853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9339072" y="2072640"/>
            <a:ext cx="1889760" cy="8534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Bob UA</a:t>
            </a:r>
            <a:endParaRPr dirty="0" lang="en-US" sz="1733"/>
          </a:p>
        </p:txBody>
      </p:sp>
      <p:sp>
        <p:nvSpPr>
          <p:cNvPr id="19" name="Text 17"/>
          <p:cNvSpPr/>
          <p:nvPr/>
        </p:nvSpPr>
        <p:spPr>
          <a:xfrm>
            <a:off x="609600" y="3194304"/>
            <a:ext cx="10972800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2000">
                <a:solidFill>
                  <a:srgbClr val="000000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Why can't Alice send directly to Bob?</a:t>
            </a:r>
            <a:endParaRPr dirty="0" lang="en-US" sz="2000"/>
          </a:p>
        </p:txBody>
      </p:sp>
      <p:sp>
        <p:nvSpPr>
          <p:cNvPr id="20" name="Shape 18"/>
          <p:cNvSpPr/>
          <p:nvPr/>
        </p:nvSpPr>
        <p:spPr>
          <a:xfrm>
            <a:off x="487680" y="3779520"/>
            <a:ext cx="5486400" cy="877824"/>
          </a:xfrm>
          <a:prstGeom prst="rect">
            <a:avLst/>
          </a:prstGeom>
          <a:solidFill>
            <a:srgbClr val="132235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633984" y="3779520"/>
            <a:ext cx="5193792" cy="877824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600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✗  Both devices must be on simultaneously</a:t>
            </a:r>
            <a:endParaRPr dirty="0" lang="en-US" sz="1600"/>
          </a:p>
        </p:txBody>
      </p:sp>
      <p:sp>
        <p:nvSpPr>
          <p:cNvPr id="22" name="Shape 20"/>
          <p:cNvSpPr/>
          <p:nvPr/>
        </p:nvSpPr>
        <p:spPr>
          <a:xfrm>
            <a:off x="6339840" y="3779520"/>
            <a:ext cx="5486400" cy="877824"/>
          </a:xfrm>
          <a:prstGeom prst="rect">
            <a:avLst/>
          </a:prstGeom>
          <a:solidFill>
            <a:srgbClr val="132235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6486144" y="3779520"/>
            <a:ext cx="5193792" cy="877824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600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✗  Client devices lack stable global IP addresses</a:t>
            </a:r>
            <a:endParaRPr dirty="0" lang="en-US" sz="1600"/>
          </a:p>
        </p:txBody>
      </p:sp>
      <p:sp>
        <p:nvSpPr>
          <p:cNvPr id="24" name="Shape 22"/>
          <p:cNvSpPr/>
          <p:nvPr/>
        </p:nvSpPr>
        <p:spPr>
          <a:xfrm>
            <a:off x="487680" y="4815840"/>
            <a:ext cx="5486400" cy="877824"/>
          </a:xfrm>
          <a:prstGeom prst="rect">
            <a:avLst/>
          </a:prstGeom>
          <a:solidFill>
            <a:srgbClr val="132235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633984" y="4815840"/>
            <a:ext cx="5193792" cy="877824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600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✗  NAT prevents inbound connections in different networks</a:t>
            </a:r>
            <a:endParaRPr dirty="0" lang="en-US" sz="1600"/>
          </a:p>
        </p:txBody>
      </p:sp>
      <p:sp>
        <p:nvSpPr>
          <p:cNvPr id="26" name="Shape 24"/>
          <p:cNvSpPr/>
          <p:nvPr/>
        </p:nvSpPr>
        <p:spPr>
          <a:xfrm>
            <a:off x="6339840" y="4815840"/>
            <a:ext cx="5486400" cy="877824"/>
          </a:xfrm>
          <a:prstGeom prst="rect">
            <a:avLst/>
          </a:prstGeom>
          <a:solidFill>
            <a:srgbClr val="132235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6486144" y="4815840"/>
            <a:ext cx="5193792" cy="877824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600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✗  IPv6 alone doesn't help — firewalls block incoming</a:t>
            </a:r>
            <a:endParaRPr dirty="0" lang="en-US" sz="1600"/>
          </a:p>
        </p:txBody>
      </p:sp>
      <p:sp>
        <p:nvSpPr>
          <p:cNvPr id="28" name="Text 26"/>
          <p:cNvSpPr/>
          <p:nvPr/>
        </p:nvSpPr>
        <p:spPr>
          <a:xfrm>
            <a:off x="609600" y="6217920"/>
            <a:ext cx="1097280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i="1" lang="en-US" sz="1467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MTAs also provide: spam filtering · virus checking · DLP scanning · email storage</a:t>
            </a:r>
            <a:endParaRPr dirty="0" lang="en-US" sz="1467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97536"/>
            <a:ext cx="10972800" cy="10972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3467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Disguising Binary as Text</a:t>
            </a:r>
            <a:endParaRPr dirty="0" lang="en-US" sz="3467"/>
          </a:p>
        </p:txBody>
      </p:sp>
      <p:sp>
        <p:nvSpPr>
          <p:cNvPr id="4" name="Text 2"/>
          <p:cNvSpPr/>
          <p:nvPr/>
        </p:nvSpPr>
        <p:spPr>
          <a:xfrm>
            <a:off x="609600" y="1402080"/>
            <a:ext cx="10972800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i="1" lang="en-US" sz="1733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Email was designed for 7-bit ASCII English text. Sending binary data requires encoding.</a:t>
            </a:r>
            <a:endParaRPr dirty="0" lang="en-US" sz="1733"/>
          </a:p>
        </p:txBody>
      </p:sp>
      <p:sp>
        <p:nvSpPr>
          <p:cNvPr id="5" name="Text 3"/>
          <p:cNvSpPr/>
          <p:nvPr/>
        </p:nvSpPr>
        <p:spPr>
          <a:xfrm>
            <a:off x="609600" y="1950720"/>
            <a:ext cx="10972800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2000">
                <a:solidFill>
                  <a:srgbClr val="0D1B2A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The Problem: Legacy Infrastructure Mangles Data</a:t>
            </a:r>
            <a:endParaRPr dirty="0" lang="en-US" sz="2000"/>
          </a:p>
        </p:txBody>
      </p:sp>
      <p:sp>
        <p:nvSpPr>
          <p:cNvPr id="6" name="Shape 4"/>
          <p:cNvSpPr/>
          <p:nvPr/>
        </p:nvSpPr>
        <p:spPr>
          <a:xfrm>
            <a:off x="609600" y="2499360"/>
            <a:ext cx="10972800" cy="438912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792480" y="2499360"/>
            <a:ext cx="10607040" cy="438912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600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⚠  Different line delimiters: &lt;LF&gt;, &lt;CR&gt;, or &lt;CR&gt;&lt;LF&gt;</a:t>
            </a:r>
            <a:endParaRPr dirty="0" lang="en-US" sz="1600"/>
          </a:p>
        </p:txBody>
      </p:sp>
      <p:sp>
        <p:nvSpPr>
          <p:cNvPr id="8" name="Shape 6"/>
          <p:cNvSpPr/>
          <p:nvPr/>
        </p:nvSpPr>
        <p:spPr>
          <a:xfrm>
            <a:off x="609600" y="3011424"/>
            <a:ext cx="10972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792480" y="3011424"/>
            <a:ext cx="10607040" cy="438912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600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⚠  Platforms add line delimiters if lines are too long</a:t>
            </a:r>
            <a:endParaRPr dirty="0" lang="en-US" sz="1600"/>
          </a:p>
        </p:txBody>
      </p:sp>
      <p:sp>
        <p:nvSpPr>
          <p:cNvPr id="10" name="Shape 8"/>
          <p:cNvSpPr/>
          <p:nvPr/>
        </p:nvSpPr>
        <p:spPr>
          <a:xfrm>
            <a:off x="609600" y="3523488"/>
            <a:ext cx="10972800" cy="438912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792480" y="3523488"/>
            <a:ext cx="10607040" cy="438912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600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⚠  Trailing whitespace may be stripped</a:t>
            </a:r>
            <a:endParaRPr dirty="0" lang="en-US" sz="1600"/>
          </a:p>
        </p:txBody>
      </p:sp>
      <p:sp>
        <p:nvSpPr>
          <p:cNvPr id="12" name="Shape 10"/>
          <p:cNvSpPr/>
          <p:nvPr/>
        </p:nvSpPr>
        <p:spPr>
          <a:xfrm>
            <a:off x="609600" y="4035552"/>
            <a:ext cx="10972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792480" y="4035552"/>
            <a:ext cx="10607040" cy="438912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600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⚠  High-order bit forced to 0 — corrupting 8-bit data</a:t>
            </a:r>
            <a:endParaRPr dirty="0" lang="en-US" sz="1600"/>
          </a:p>
        </p:txBody>
      </p:sp>
      <p:sp>
        <p:nvSpPr>
          <p:cNvPr id="14" name="Shape 12"/>
          <p:cNvSpPr/>
          <p:nvPr/>
        </p:nvSpPr>
        <p:spPr>
          <a:xfrm>
            <a:off x="609600" y="4547616"/>
            <a:ext cx="10972800" cy="438912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792480" y="4547616"/>
            <a:ext cx="10607040" cy="438912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600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⚠  Digital signatures break if any byte is modified</a:t>
            </a:r>
            <a:endParaRPr dirty="0" lang="en-US" sz="1600"/>
          </a:p>
        </p:txBody>
      </p:sp>
      <p:sp>
        <p:nvSpPr>
          <p:cNvPr id="16" name="Text 14"/>
          <p:cNvSpPr/>
          <p:nvPr/>
        </p:nvSpPr>
        <p:spPr>
          <a:xfrm>
            <a:off x="609600" y="5096256"/>
            <a:ext cx="10972800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2000">
                <a:solidFill>
                  <a:srgbClr val="0D1B2A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The Solution: BASE64 Encoding</a:t>
            </a:r>
            <a:endParaRPr dirty="0" lang="en-US" sz="2000"/>
          </a:p>
        </p:txBody>
      </p:sp>
      <p:sp>
        <p:nvSpPr>
          <p:cNvPr id="17" name="Shape 15"/>
          <p:cNvSpPr/>
          <p:nvPr/>
        </p:nvSpPr>
        <p:spPr>
          <a:xfrm>
            <a:off x="487680" y="5632704"/>
            <a:ext cx="3535680" cy="975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609600" y="5632704"/>
            <a:ext cx="3291840" cy="3657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733">
                <a:solidFill>
                  <a:srgbClr val="0077A8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BASE64</a:t>
            </a:r>
            <a:endParaRPr dirty="0" lang="en-US" sz="1733"/>
          </a:p>
        </p:txBody>
      </p:sp>
      <p:sp>
        <p:nvSpPr>
          <p:cNvPr id="19" name="Text 17"/>
          <p:cNvSpPr/>
          <p:nvPr/>
        </p:nvSpPr>
        <p:spPr>
          <a:xfrm>
            <a:off x="609600" y="6010656"/>
            <a:ext cx="329184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200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Encodes 6 bits → 1 safe ASCII char. Expands data by ~33%. Universal support.</a:t>
            </a:r>
            <a:endParaRPr dirty="0" lang="en-US" sz="1200"/>
          </a:p>
        </p:txBody>
      </p:sp>
      <p:sp>
        <p:nvSpPr>
          <p:cNvPr id="20" name="Shape 18"/>
          <p:cNvSpPr/>
          <p:nvPr/>
        </p:nvSpPr>
        <p:spPr>
          <a:xfrm>
            <a:off x="4328160" y="5632704"/>
            <a:ext cx="3535680" cy="975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4450080" y="5632704"/>
            <a:ext cx="3291840" cy="3657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733">
                <a:solidFill>
                  <a:srgbClr val="0077A8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BASE85</a:t>
            </a:r>
            <a:endParaRPr dirty="0" lang="en-US" sz="1733"/>
          </a:p>
        </p:txBody>
      </p:sp>
      <p:sp>
        <p:nvSpPr>
          <p:cNvPr id="22" name="Text 20"/>
          <p:cNvSpPr/>
          <p:nvPr/>
        </p:nvSpPr>
        <p:spPr>
          <a:xfrm>
            <a:off x="4450080" y="6010656"/>
            <a:ext cx="329184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200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More efficient — 5 chars encode 4 bytes (25% expansion). Less common.</a:t>
            </a:r>
            <a:endParaRPr dirty="0" lang="en-US" sz="1200"/>
          </a:p>
        </p:txBody>
      </p:sp>
      <p:sp>
        <p:nvSpPr>
          <p:cNvPr id="23" name="Shape 21"/>
          <p:cNvSpPr/>
          <p:nvPr/>
        </p:nvSpPr>
        <p:spPr>
          <a:xfrm>
            <a:off x="8168640" y="5632704"/>
            <a:ext cx="3535680" cy="975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8290560" y="5632704"/>
            <a:ext cx="3291840" cy="3657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733">
                <a:solidFill>
                  <a:srgbClr val="0077A8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UTF-8</a:t>
            </a:r>
            <a:endParaRPr dirty="0" lang="en-US" sz="1733"/>
          </a:p>
        </p:txBody>
      </p:sp>
      <p:sp>
        <p:nvSpPr>
          <p:cNvPr id="25" name="Text 23"/>
          <p:cNvSpPr/>
          <p:nvPr/>
        </p:nvSpPr>
        <p:spPr>
          <a:xfrm>
            <a:off x="8290560" y="6010656"/>
            <a:ext cx="329184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200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Modern infrastructure supports UTF-8 for international text. Still use BASE64 for binary.</a:t>
            </a:r>
            <a:endParaRPr dirty="0" 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97536"/>
            <a:ext cx="10972800" cy="10972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3200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HTML Email and Attachments</a:t>
            </a:r>
            <a:endParaRPr dirty="0" lang="en-US" sz="3200"/>
          </a:p>
        </p:txBody>
      </p:sp>
      <p:sp>
        <p:nvSpPr>
          <p:cNvPr id="4" name="Text 2"/>
          <p:cNvSpPr/>
          <p:nvPr/>
        </p:nvSpPr>
        <p:spPr>
          <a:xfrm>
            <a:off x="487680" y="1402080"/>
            <a:ext cx="5242560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2133">
                <a:solidFill>
                  <a:srgbClr val="000000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HTML-Formatted Email</a:t>
            </a:r>
            <a:endParaRPr dirty="0" lang="en-US" sz="2133"/>
          </a:p>
        </p:txBody>
      </p:sp>
      <p:sp>
        <p:nvSpPr>
          <p:cNvPr id="5" name="Shape 3"/>
          <p:cNvSpPr/>
          <p:nvPr/>
        </p:nvSpPr>
        <p:spPr>
          <a:xfrm>
            <a:off x="487680" y="1987296"/>
            <a:ext cx="268224" cy="26822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829056" y="1950720"/>
            <a:ext cx="4876800" cy="6096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Has full power of a web page — can embed URLs, JavaScript, images</a:t>
            </a:r>
            <a:endParaRPr dirty="0" lang="en-US" sz="1467"/>
          </a:p>
        </p:txBody>
      </p:sp>
      <p:sp>
        <p:nvSpPr>
          <p:cNvPr id="7" name="Shape 5"/>
          <p:cNvSpPr/>
          <p:nvPr/>
        </p:nvSpPr>
        <p:spPr>
          <a:xfrm>
            <a:off x="487680" y="2718816"/>
            <a:ext cx="268224" cy="26822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29056" y="2682240"/>
            <a:ext cx="4876800" cy="6096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Embedded recipient-specific URLs let senders track if/when email is opened</a:t>
            </a:r>
            <a:endParaRPr dirty="0" lang="en-US" sz="1467"/>
          </a:p>
        </p:txBody>
      </p:sp>
      <p:sp>
        <p:nvSpPr>
          <p:cNvPr id="9" name="Shape 7"/>
          <p:cNvSpPr/>
          <p:nvPr/>
        </p:nvSpPr>
        <p:spPr>
          <a:xfrm>
            <a:off x="487680" y="3450336"/>
            <a:ext cx="268224" cy="26822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829056" y="3413760"/>
            <a:ext cx="4876800" cy="6096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Clicking any link exposes Bob to malicious web content</a:t>
            </a:r>
            <a:endParaRPr dirty="0" lang="en-US" sz="1467"/>
          </a:p>
        </p:txBody>
      </p:sp>
      <p:sp>
        <p:nvSpPr>
          <p:cNvPr id="11" name="Shape 9"/>
          <p:cNvSpPr/>
          <p:nvPr/>
        </p:nvSpPr>
        <p:spPr>
          <a:xfrm>
            <a:off x="487680" y="4181856"/>
            <a:ext cx="268224" cy="26822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829056" y="4145280"/>
            <a:ext cx="4876800" cy="6096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HTML bugs in email clients exploitable by crafted messages</a:t>
            </a:r>
            <a:endParaRPr dirty="0" lang="en-US" sz="1467"/>
          </a:p>
        </p:txBody>
      </p:sp>
      <p:sp>
        <p:nvSpPr>
          <p:cNvPr id="13" name="Shape 11"/>
          <p:cNvSpPr/>
          <p:nvPr/>
        </p:nvSpPr>
        <p:spPr>
          <a:xfrm>
            <a:off x="487680" y="4913376"/>
            <a:ext cx="268224" cy="26822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829056" y="4876800"/>
            <a:ext cx="4876800" cy="6096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Dilemma: blocking images breaks legitimate email; allowing images enables tracking</a:t>
            </a:r>
            <a:endParaRPr dirty="0" lang="en-US" sz="1467"/>
          </a:p>
        </p:txBody>
      </p:sp>
      <p:sp>
        <p:nvSpPr>
          <p:cNvPr id="15" name="Shape 13"/>
          <p:cNvSpPr/>
          <p:nvPr/>
        </p:nvSpPr>
        <p:spPr>
          <a:xfrm>
            <a:off x="6096000" y="1341120"/>
            <a:ext cx="0" cy="5242560"/>
          </a:xfrm>
          <a:prstGeom prst="line">
            <a:avLst/>
          </a:prstGeom>
          <a:noFill/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6339840" y="1402080"/>
            <a:ext cx="5242560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2133">
                <a:solidFill>
                  <a:srgbClr val="000000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Attachments</a:t>
            </a:r>
            <a:endParaRPr dirty="0" lang="en-US" sz="2133"/>
          </a:p>
        </p:txBody>
      </p:sp>
      <p:sp>
        <p:nvSpPr>
          <p:cNvPr id="17" name="Shape 15"/>
          <p:cNvSpPr/>
          <p:nvPr/>
        </p:nvSpPr>
        <p:spPr>
          <a:xfrm>
            <a:off x="6339840" y="1950720"/>
            <a:ext cx="5364480" cy="950976"/>
          </a:xfrm>
          <a:prstGeom prst="rect">
            <a:avLst/>
          </a:prstGeom>
          <a:solidFill>
            <a:srgbClr val="1322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6486144" y="2011680"/>
            <a:ext cx="5120640" cy="3657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733">
                <a:solidFill>
                  <a:srgbClr val="FFFFFF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.exe / .cmd</a:t>
            </a:r>
            <a:endParaRPr dirty="0" lang="en-US" sz="1733"/>
          </a:p>
        </p:txBody>
      </p:sp>
      <p:sp>
        <p:nvSpPr>
          <p:cNvPr id="19" name="Text 17"/>
          <p:cNvSpPr/>
          <p:nvPr/>
        </p:nvSpPr>
        <p:spPr>
          <a:xfrm>
            <a:off x="6486144" y="2377440"/>
            <a:ext cx="512064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🔴 Always dangerous — runs arbitrary code</a:t>
            </a:r>
            <a:endParaRPr dirty="0" lang="en-US" sz="1467"/>
          </a:p>
        </p:txBody>
      </p:sp>
      <p:sp>
        <p:nvSpPr>
          <p:cNvPr id="20" name="Shape 18"/>
          <p:cNvSpPr/>
          <p:nvPr/>
        </p:nvSpPr>
        <p:spPr>
          <a:xfrm>
            <a:off x="6339840" y="3023616"/>
            <a:ext cx="5364480" cy="950976"/>
          </a:xfrm>
          <a:prstGeom prst="rect">
            <a:avLst/>
          </a:prstGeom>
          <a:solidFill>
            <a:srgbClr val="1322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6486144" y="3084576"/>
            <a:ext cx="5120640" cy="3657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733">
                <a:solidFill>
                  <a:srgbClr val="FFFFFF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.docm / .pptm</a:t>
            </a:r>
            <a:endParaRPr dirty="0" lang="en-US" sz="1733"/>
          </a:p>
        </p:txBody>
      </p:sp>
      <p:sp>
        <p:nvSpPr>
          <p:cNvPr id="22" name="Text 20"/>
          <p:cNvSpPr/>
          <p:nvPr/>
        </p:nvSpPr>
        <p:spPr>
          <a:xfrm>
            <a:off x="6486144" y="3450336"/>
            <a:ext cx="512064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🔴 Contains macros — treat as dangerous</a:t>
            </a:r>
            <a:endParaRPr dirty="0" lang="en-US" sz="1467"/>
          </a:p>
        </p:txBody>
      </p:sp>
      <p:sp>
        <p:nvSpPr>
          <p:cNvPr id="23" name="Shape 21"/>
          <p:cNvSpPr/>
          <p:nvPr/>
        </p:nvSpPr>
        <p:spPr>
          <a:xfrm>
            <a:off x="6339840" y="4096512"/>
            <a:ext cx="5364480" cy="950976"/>
          </a:xfrm>
          <a:prstGeom prst="rect">
            <a:avLst/>
          </a:prstGeom>
          <a:solidFill>
            <a:srgbClr val="1322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6486144" y="4157472"/>
            <a:ext cx="5120640" cy="3657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733">
                <a:solidFill>
                  <a:srgbClr val="FFFFFF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.docx / .pptx</a:t>
            </a:r>
            <a:endParaRPr dirty="0" lang="en-US" sz="1733"/>
          </a:p>
        </p:txBody>
      </p:sp>
      <p:sp>
        <p:nvSpPr>
          <p:cNvPr id="25" name="Text 23"/>
          <p:cNvSpPr/>
          <p:nvPr/>
        </p:nvSpPr>
        <p:spPr>
          <a:xfrm>
            <a:off x="6486144" y="4523232"/>
            <a:ext cx="512064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🟡 Should be safe, but bugs exist</a:t>
            </a:r>
            <a:endParaRPr dirty="0" lang="en-US" sz="1467"/>
          </a:p>
        </p:txBody>
      </p:sp>
      <p:sp>
        <p:nvSpPr>
          <p:cNvPr id="26" name="Shape 24"/>
          <p:cNvSpPr/>
          <p:nvPr/>
        </p:nvSpPr>
        <p:spPr>
          <a:xfrm>
            <a:off x="6339840" y="5169408"/>
            <a:ext cx="5364480" cy="950976"/>
          </a:xfrm>
          <a:prstGeom prst="rect">
            <a:avLst/>
          </a:prstGeom>
          <a:solidFill>
            <a:srgbClr val="1322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6486144" y="5230368"/>
            <a:ext cx="5120640" cy="3657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733">
                <a:solidFill>
                  <a:srgbClr val="FFFFFF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PDF</a:t>
            </a:r>
            <a:endParaRPr dirty="0" lang="en-US" sz="1733"/>
          </a:p>
        </p:txBody>
      </p:sp>
      <p:sp>
        <p:nvSpPr>
          <p:cNvPr id="28" name="Text 26"/>
          <p:cNvSpPr/>
          <p:nvPr/>
        </p:nvSpPr>
        <p:spPr>
          <a:xfrm>
            <a:off x="6486144" y="5596128"/>
            <a:ext cx="512064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🟡 Generally safe but can exploit reader bugs</a:t>
            </a:r>
            <a:endParaRPr dirty="0" lang="en-US" sz="1467"/>
          </a:p>
        </p:txBody>
      </p:sp>
      <p:sp>
        <p:nvSpPr>
          <p:cNvPr id="29" name="Text 27"/>
          <p:cNvSpPr/>
          <p:nvPr/>
        </p:nvSpPr>
        <p:spPr>
          <a:xfrm>
            <a:off x="6339840" y="6217920"/>
            <a:ext cx="536448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i="1" lang="en-US" sz="1333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MTAs often delete attachments with dangerous extensions (e.g. .exe)</a:t>
            </a:r>
            <a:endParaRPr dirty="0" lang="en-US" sz="1333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97536"/>
            <a:ext cx="10972800" cy="10972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3467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Spam Defenses</a:t>
            </a:r>
            <a:endParaRPr dirty="0" lang="en-US" sz="3467"/>
          </a:p>
        </p:txBody>
      </p:sp>
      <p:sp>
        <p:nvSpPr>
          <p:cNvPr id="4" name="Text 2"/>
          <p:cNvSpPr/>
          <p:nvPr/>
        </p:nvSpPr>
        <p:spPr>
          <a:xfrm>
            <a:off x="609600" y="1402080"/>
            <a:ext cx="10972800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i="1" lang="en-US" sz="1733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Spam: unwanted, unsolicited email sent to huge numbers of recipients for profit or malice.</a:t>
            </a:r>
            <a:endParaRPr dirty="0" lang="en-US" sz="1733"/>
          </a:p>
        </p:txBody>
      </p:sp>
      <p:sp>
        <p:nvSpPr>
          <p:cNvPr id="5" name="Text 3"/>
          <p:cNvSpPr/>
          <p:nvPr/>
        </p:nvSpPr>
        <p:spPr>
          <a:xfrm>
            <a:off x="609600" y="1950720"/>
            <a:ext cx="524256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867">
                <a:solidFill>
                  <a:srgbClr val="EF4444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Why Spammers Do It</a:t>
            </a:r>
            <a:endParaRPr dirty="0" lang="en-US" sz="1867"/>
          </a:p>
        </p:txBody>
      </p:sp>
      <p:sp>
        <p:nvSpPr>
          <p:cNvPr id="6" name="Shape 4"/>
          <p:cNvSpPr/>
          <p:nvPr/>
        </p:nvSpPr>
        <p:spPr>
          <a:xfrm>
            <a:off x="609600" y="2499360"/>
            <a:ext cx="243840" cy="2438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926592" y="2462784"/>
            <a:ext cx="487680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600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Cheap advertising to millions</a:t>
            </a:r>
            <a:endParaRPr dirty="0" lang="en-US" sz="1600"/>
          </a:p>
        </p:txBody>
      </p:sp>
      <p:sp>
        <p:nvSpPr>
          <p:cNvPr id="8" name="Shape 6"/>
          <p:cNvSpPr/>
          <p:nvPr/>
        </p:nvSpPr>
        <p:spPr>
          <a:xfrm>
            <a:off x="609600" y="3048000"/>
            <a:ext cx="243840" cy="2438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926592" y="3011424"/>
            <a:ext cx="487680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600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Phishing for personal info / credentials</a:t>
            </a:r>
            <a:endParaRPr dirty="0" lang="en-US" sz="1600"/>
          </a:p>
        </p:txBody>
      </p:sp>
      <p:sp>
        <p:nvSpPr>
          <p:cNvPr id="10" name="Shape 8"/>
          <p:cNvSpPr/>
          <p:nvPr/>
        </p:nvSpPr>
        <p:spPr>
          <a:xfrm>
            <a:off x="609600" y="3596640"/>
            <a:ext cx="243840" cy="2438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926592" y="3560064"/>
            <a:ext cx="487680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600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Advance-fee fraud (Nigerian prince etc.)</a:t>
            </a:r>
            <a:endParaRPr dirty="0" lang="en-US" sz="1600"/>
          </a:p>
        </p:txBody>
      </p:sp>
      <p:sp>
        <p:nvSpPr>
          <p:cNvPr id="12" name="Shape 10"/>
          <p:cNvSpPr/>
          <p:nvPr/>
        </p:nvSpPr>
        <p:spPr>
          <a:xfrm>
            <a:off x="609600" y="4145280"/>
            <a:ext cx="243840" cy="2438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926592" y="4108704"/>
            <a:ext cx="487680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600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Malware distribution</a:t>
            </a:r>
            <a:endParaRPr dirty="0" lang="en-US" sz="1600"/>
          </a:p>
        </p:txBody>
      </p:sp>
      <p:sp>
        <p:nvSpPr>
          <p:cNvPr id="14" name="Text 12"/>
          <p:cNvSpPr/>
          <p:nvPr/>
        </p:nvSpPr>
        <p:spPr>
          <a:xfrm>
            <a:off x="609600" y="4754880"/>
            <a:ext cx="524256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867">
                <a:solidFill>
                  <a:srgbClr val="EF4444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How Spammers Find Addresses</a:t>
            </a:r>
            <a:endParaRPr dirty="0" lang="en-US" sz="1867"/>
          </a:p>
        </p:txBody>
      </p:sp>
      <p:sp>
        <p:nvSpPr>
          <p:cNvPr id="15" name="Shape 13"/>
          <p:cNvSpPr/>
          <p:nvPr/>
        </p:nvSpPr>
        <p:spPr>
          <a:xfrm>
            <a:off x="609600" y="530352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877824" y="5266944"/>
            <a:ext cx="4876800" cy="3048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Harvesting from web pages, mailing lists</a:t>
            </a:r>
            <a:endParaRPr dirty="0" lang="en-US" sz="1467"/>
          </a:p>
        </p:txBody>
      </p:sp>
      <p:sp>
        <p:nvSpPr>
          <p:cNvPr id="17" name="Shape 15"/>
          <p:cNvSpPr/>
          <p:nvPr/>
        </p:nvSpPr>
        <p:spPr>
          <a:xfrm>
            <a:off x="609600" y="560832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877824" y="5571744"/>
            <a:ext cx="4876800" cy="3048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Purchasing from sign-up sites</a:t>
            </a:r>
            <a:endParaRPr dirty="0" lang="en-US" sz="1467"/>
          </a:p>
        </p:txBody>
      </p:sp>
      <p:sp>
        <p:nvSpPr>
          <p:cNvPr id="19" name="Shape 17"/>
          <p:cNvSpPr/>
          <p:nvPr/>
        </p:nvSpPr>
        <p:spPr>
          <a:xfrm>
            <a:off x="609600" y="591312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877824" y="5876544"/>
            <a:ext cx="4876800" cy="3048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Brute-force guessing (aaaa1@hotmail.com…)</a:t>
            </a:r>
            <a:endParaRPr dirty="0" lang="en-US" sz="1467"/>
          </a:p>
        </p:txBody>
      </p:sp>
      <p:sp>
        <p:nvSpPr>
          <p:cNvPr id="21" name="Shape 19"/>
          <p:cNvSpPr/>
          <p:nvPr/>
        </p:nvSpPr>
        <p:spPr>
          <a:xfrm>
            <a:off x="609600" y="621792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877824" y="6181344"/>
            <a:ext cx="4876800" cy="3048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Fake 'unsubscribe' links to verify addresses</a:t>
            </a:r>
            <a:endParaRPr dirty="0" lang="en-US" sz="1467"/>
          </a:p>
        </p:txBody>
      </p:sp>
      <p:sp>
        <p:nvSpPr>
          <p:cNvPr id="23" name="Shape 21"/>
          <p:cNvSpPr/>
          <p:nvPr/>
        </p:nvSpPr>
        <p:spPr>
          <a:xfrm>
            <a:off x="6096000" y="1341120"/>
            <a:ext cx="0" cy="5242560"/>
          </a:xfrm>
          <a:prstGeom prst="line">
            <a:avLst/>
          </a:prstGeom>
          <a:noFill/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6339840" y="1950720"/>
            <a:ext cx="524256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867">
                <a:solidFill>
                  <a:srgbClr val="0077A8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Anti-Spam Defenses</a:t>
            </a:r>
            <a:endParaRPr dirty="0" lang="en-US" sz="1867"/>
          </a:p>
        </p:txBody>
      </p:sp>
      <p:sp>
        <p:nvSpPr>
          <p:cNvPr id="25" name="Shape 23"/>
          <p:cNvSpPr/>
          <p:nvPr/>
        </p:nvSpPr>
        <p:spPr>
          <a:xfrm>
            <a:off x="6339840" y="2499360"/>
            <a:ext cx="5364480" cy="682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6486144" y="2535936"/>
            <a:ext cx="5120640" cy="3048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600">
                <a:solidFill>
                  <a:srgbClr val="0077A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Deny-list by IP address</a:t>
            </a:r>
            <a:endParaRPr dirty="0" lang="en-US" sz="1600"/>
          </a:p>
        </p:txBody>
      </p:sp>
      <p:sp>
        <p:nvSpPr>
          <p:cNvPr id="27" name="Text 25"/>
          <p:cNvSpPr/>
          <p:nvPr/>
        </p:nvSpPr>
        <p:spPr>
          <a:xfrm>
            <a:off x="6486144" y="2840736"/>
            <a:ext cx="5120640" cy="268224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333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⚠ Cloud IP reuse harms innocent tenants</a:t>
            </a:r>
            <a:endParaRPr dirty="0" lang="en-US" sz="1333"/>
          </a:p>
        </p:txBody>
      </p:sp>
      <p:sp>
        <p:nvSpPr>
          <p:cNvPr id="28" name="Shape 26"/>
          <p:cNvSpPr/>
          <p:nvPr/>
        </p:nvSpPr>
        <p:spPr>
          <a:xfrm>
            <a:off x="6339840" y="3291840"/>
            <a:ext cx="5364480" cy="682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Text 27"/>
          <p:cNvSpPr/>
          <p:nvPr/>
        </p:nvSpPr>
        <p:spPr>
          <a:xfrm>
            <a:off x="6486144" y="3328416"/>
            <a:ext cx="5120640" cy="3048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600">
                <a:solidFill>
                  <a:srgbClr val="0077A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Keyword / AI filtering</a:t>
            </a:r>
            <a:endParaRPr dirty="0" lang="en-US" sz="1600"/>
          </a:p>
        </p:txBody>
      </p:sp>
      <p:sp>
        <p:nvSpPr>
          <p:cNvPr id="30" name="Text 28"/>
          <p:cNvSpPr/>
          <p:nvPr/>
        </p:nvSpPr>
        <p:spPr>
          <a:xfrm>
            <a:off x="6486144" y="3633216"/>
            <a:ext cx="5120640" cy="268224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333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Spammers adapt quickly once deployed</a:t>
            </a:r>
            <a:endParaRPr dirty="0" lang="en-US" sz="1333"/>
          </a:p>
        </p:txBody>
      </p:sp>
      <p:sp>
        <p:nvSpPr>
          <p:cNvPr id="31" name="Shape 29"/>
          <p:cNvSpPr/>
          <p:nvPr/>
        </p:nvSpPr>
        <p:spPr>
          <a:xfrm>
            <a:off x="6339840" y="4084320"/>
            <a:ext cx="5364480" cy="682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" name="Text 30"/>
          <p:cNvSpPr/>
          <p:nvPr/>
        </p:nvSpPr>
        <p:spPr>
          <a:xfrm>
            <a:off x="6486144" y="4120896"/>
            <a:ext cx="5120640" cy="3048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600">
                <a:solidFill>
                  <a:srgbClr val="0077A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Volume detection</a:t>
            </a:r>
            <a:endParaRPr dirty="0" lang="en-US" sz="1600"/>
          </a:p>
        </p:txBody>
      </p:sp>
      <p:sp>
        <p:nvSpPr>
          <p:cNvPr id="33" name="Text 31"/>
          <p:cNvSpPr/>
          <p:nvPr/>
        </p:nvSpPr>
        <p:spPr>
          <a:xfrm>
            <a:off x="6486144" y="4425696"/>
            <a:ext cx="5120640" cy="268224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333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Same email to huge recipient lists</a:t>
            </a:r>
            <a:endParaRPr dirty="0" lang="en-US" sz="1333"/>
          </a:p>
        </p:txBody>
      </p:sp>
      <p:sp>
        <p:nvSpPr>
          <p:cNvPr id="34" name="Shape 32"/>
          <p:cNvSpPr/>
          <p:nvPr/>
        </p:nvSpPr>
        <p:spPr>
          <a:xfrm>
            <a:off x="6339840" y="4876800"/>
            <a:ext cx="5364480" cy="682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5" name="Text 33"/>
          <p:cNvSpPr/>
          <p:nvPr/>
        </p:nvSpPr>
        <p:spPr>
          <a:xfrm>
            <a:off x="6486144" y="4913376"/>
            <a:ext cx="5120640" cy="3048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600">
                <a:solidFill>
                  <a:srgbClr val="0077A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Spam folder (not delete)</a:t>
            </a:r>
            <a:endParaRPr dirty="0" lang="en-US" sz="1600"/>
          </a:p>
        </p:txBody>
      </p:sp>
      <p:sp>
        <p:nvSpPr>
          <p:cNvPr id="36" name="Text 34"/>
          <p:cNvSpPr/>
          <p:nvPr/>
        </p:nvSpPr>
        <p:spPr>
          <a:xfrm>
            <a:off x="6486144" y="5218176"/>
            <a:ext cx="5120640" cy="268224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333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Users can review false positives</a:t>
            </a:r>
            <a:endParaRPr dirty="0" lang="en-US" sz="1333"/>
          </a:p>
        </p:txBody>
      </p:sp>
      <p:sp>
        <p:nvSpPr>
          <p:cNvPr id="37" name="Shape 35"/>
          <p:cNvSpPr/>
          <p:nvPr/>
        </p:nvSpPr>
        <p:spPr>
          <a:xfrm>
            <a:off x="6339840" y="5669280"/>
            <a:ext cx="5364480" cy="682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8" name="Text 36"/>
          <p:cNvSpPr/>
          <p:nvPr/>
        </p:nvSpPr>
        <p:spPr>
          <a:xfrm>
            <a:off x="6486144" y="5705856"/>
            <a:ext cx="5120640" cy="3048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600">
                <a:solidFill>
                  <a:srgbClr val="0077A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Obfuscated addresses</a:t>
            </a:r>
            <a:endParaRPr dirty="0" lang="en-US" sz="1600"/>
          </a:p>
        </p:txBody>
      </p:sp>
      <p:sp>
        <p:nvSpPr>
          <p:cNvPr id="39" name="Text 37"/>
          <p:cNvSpPr/>
          <p:nvPr/>
        </p:nvSpPr>
        <p:spPr>
          <a:xfrm>
            <a:off x="6486144" y="6010656"/>
            <a:ext cx="5120640" cy="268224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333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radia at alum dot mit dot edu</a:t>
            </a:r>
            <a:endParaRPr dirty="0" lang="en-US" sz="1333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97536"/>
            <a:ext cx="10972800" cy="10972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2933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Malicious Links and Data Loss Prevention</a:t>
            </a:r>
            <a:endParaRPr dirty="0" lang="en-US" sz="2933"/>
          </a:p>
        </p:txBody>
      </p:sp>
      <p:sp>
        <p:nvSpPr>
          <p:cNvPr id="4" name="Text 2"/>
          <p:cNvSpPr/>
          <p:nvPr/>
        </p:nvSpPr>
        <p:spPr>
          <a:xfrm>
            <a:off x="487680" y="1365504"/>
            <a:ext cx="5364480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2000">
                <a:solidFill>
                  <a:srgbClr val="EF4444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Malicious Links in Email</a:t>
            </a:r>
            <a:endParaRPr dirty="0" lang="en-US" sz="2000"/>
          </a:p>
        </p:txBody>
      </p:sp>
      <p:sp>
        <p:nvSpPr>
          <p:cNvPr id="5" name="Text 3"/>
          <p:cNvSpPr/>
          <p:nvPr/>
        </p:nvSpPr>
        <p:spPr>
          <a:xfrm>
            <a:off x="487680" y="1853184"/>
            <a:ext cx="5364480" cy="7924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600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Clicking a malicious link can install malware — but 'don't click links' is impractical because legitimate mail always contains links.</a:t>
            </a:r>
            <a:endParaRPr dirty="0" lang="en-US" sz="1600"/>
          </a:p>
        </p:txBody>
      </p:sp>
      <p:sp>
        <p:nvSpPr>
          <p:cNvPr id="6" name="Text 4"/>
          <p:cNvSpPr/>
          <p:nvPr/>
        </p:nvSpPr>
        <p:spPr>
          <a:xfrm>
            <a:off x="487680" y="2743200"/>
            <a:ext cx="5364480" cy="390144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600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Phishing Protection Service Flow:</a:t>
            </a:r>
            <a:endParaRPr dirty="0" lang="en-US" sz="1600"/>
          </a:p>
        </p:txBody>
      </p:sp>
      <p:sp>
        <p:nvSpPr>
          <p:cNvPr id="7" name="Shape 5"/>
          <p:cNvSpPr/>
          <p:nvPr/>
        </p:nvSpPr>
        <p:spPr>
          <a:xfrm>
            <a:off x="487680" y="3194304"/>
            <a:ext cx="463296" cy="4632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487680" y="3194304"/>
            <a:ext cx="463296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600">
                <a:solidFill>
                  <a:srgbClr val="FFFFFF"/>
                </a:solidFill>
              </a:rPr>
              <a:t>1</a:t>
            </a:r>
            <a:endParaRPr dirty="0" lang="en-US" sz="1600"/>
          </a:p>
        </p:txBody>
      </p:sp>
      <p:sp>
        <p:nvSpPr>
          <p:cNvPr id="9" name="Text 7"/>
          <p:cNvSpPr/>
          <p:nvPr/>
        </p:nvSpPr>
        <p:spPr>
          <a:xfrm>
            <a:off x="1024128" y="3194304"/>
            <a:ext cx="4754880" cy="58521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MTA intercepts all links in inbound email</a:t>
            </a:r>
            <a:endParaRPr dirty="0" lang="en-US" sz="1467"/>
          </a:p>
        </p:txBody>
      </p:sp>
      <p:sp>
        <p:nvSpPr>
          <p:cNvPr id="10" name="Shape 8"/>
          <p:cNvSpPr/>
          <p:nvPr/>
        </p:nvSpPr>
        <p:spPr>
          <a:xfrm>
            <a:off x="487680" y="3901440"/>
            <a:ext cx="463296" cy="4632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487680" y="3901440"/>
            <a:ext cx="463296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600">
                <a:solidFill>
                  <a:srgbClr val="FFFFFF"/>
                </a:solidFill>
              </a:rPr>
              <a:t>2</a:t>
            </a:r>
            <a:endParaRPr dirty="0" lang="en-US" sz="1600"/>
          </a:p>
        </p:txBody>
      </p:sp>
      <p:sp>
        <p:nvSpPr>
          <p:cNvPr id="12" name="Text 10"/>
          <p:cNvSpPr/>
          <p:nvPr/>
        </p:nvSpPr>
        <p:spPr>
          <a:xfrm>
            <a:off x="1024128" y="3901440"/>
            <a:ext cx="4754880" cy="58521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Prepends phishingprotection.org/ to each URL</a:t>
            </a:r>
            <a:endParaRPr dirty="0" lang="en-US" sz="1467"/>
          </a:p>
        </p:txBody>
      </p:sp>
      <p:sp>
        <p:nvSpPr>
          <p:cNvPr id="13" name="Shape 11"/>
          <p:cNvSpPr/>
          <p:nvPr/>
        </p:nvSpPr>
        <p:spPr>
          <a:xfrm>
            <a:off x="487680" y="4608576"/>
            <a:ext cx="463296" cy="4632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487680" y="4608576"/>
            <a:ext cx="463296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600">
                <a:solidFill>
                  <a:srgbClr val="FFFFFF"/>
                </a:solidFill>
              </a:rPr>
              <a:t>3</a:t>
            </a:r>
            <a:endParaRPr dirty="0" lang="en-US" sz="1600"/>
          </a:p>
        </p:txBody>
      </p:sp>
      <p:sp>
        <p:nvSpPr>
          <p:cNvPr id="15" name="Text 13"/>
          <p:cNvSpPr/>
          <p:nvPr/>
        </p:nvSpPr>
        <p:spPr>
          <a:xfrm>
            <a:off x="1024128" y="4608576"/>
            <a:ext cx="4754880" cy="58521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User clicks → request goes to the protection service</a:t>
            </a:r>
            <a:endParaRPr dirty="0" lang="en-US" sz="1467"/>
          </a:p>
        </p:txBody>
      </p:sp>
      <p:sp>
        <p:nvSpPr>
          <p:cNvPr id="16" name="Shape 14"/>
          <p:cNvSpPr/>
          <p:nvPr/>
        </p:nvSpPr>
        <p:spPr>
          <a:xfrm>
            <a:off x="487680" y="5315712"/>
            <a:ext cx="463296" cy="4632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487680" y="5315712"/>
            <a:ext cx="463296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600">
                <a:solidFill>
                  <a:srgbClr val="FFFFFF"/>
                </a:solidFill>
              </a:rPr>
              <a:t>4</a:t>
            </a:r>
            <a:endParaRPr dirty="0" lang="en-US" sz="1600"/>
          </a:p>
        </p:txBody>
      </p:sp>
      <p:sp>
        <p:nvSpPr>
          <p:cNvPr id="18" name="Text 16"/>
          <p:cNvSpPr/>
          <p:nvPr/>
        </p:nvSpPr>
        <p:spPr>
          <a:xfrm>
            <a:off x="1024128" y="5315712"/>
            <a:ext cx="4754880" cy="58521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Service scans page for malware or checks deny/allow lists</a:t>
            </a:r>
            <a:endParaRPr dirty="0" lang="en-US" sz="1467"/>
          </a:p>
        </p:txBody>
      </p:sp>
      <p:sp>
        <p:nvSpPr>
          <p:cNvPr id="19" name="Shape 17"/>
          <p:cNvSpPr/>
          <p:nvPr/>
        </p:nvSpPr>
        <p:spPr>
          <a:xfrm>
            <a:off x="6096000" y="1341120"/>
            <a:ext cx="0" cy="5242560"/>
          </a:xfrm>
          <a:prstGeom prst="line">
            <a:avLst/>
          </a:prstGeom>
          <a:noFill/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6339840" y="1365504"/>
            <a:ext cx="5364480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2000">
                <a:solidFill>
                  <a:srgbClr val="000000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Data Loss Prevention (DLP)</a:t>
            </a:r>
            <a:endParaRPr dirty="0" lang="en-US" sz="2000"/>
          </a:p>
        </p:txBody>
      </p:sp>
      <p:sp>
        <p:nvSpPr>
          <p:cNvPr id="21" name="Text 19"/>
          <p:cNvSpPr/>
          <p:nvPr/>
        </p:nvSpPr>
        <p:spPr>
          <a:xfrm>
            <a:off x="6339840" y="1853184"/>
            <a:ext cx="5364480" cy="6705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600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Preventing confidential company data from leaving the organization via email.</a:t>
            </a:r>
            <a:endParaRPr dirty="0" lang="en-US" sz="1600"/>
          </a:p>
        </p:txBody>
      </p:sp>
      <p:sp>
        <p:nvSpPr>
          <p:cNvPr id="22" name="Shape 20"/>
          <p:cNvSpPr/>
          <p:nvPr/>
        </p:nvSpPr>
        <p:spPr>
          <a:xfrm>
            <a:off x="6339840" y="2682240"/>
            <a:ext cx="5364480" cy="755904"/>
          </a:xfrm>
          <a:prstGeom prst="rect">
            <a:avLst/>
          </a:prstGeom>
          <a:solidFill>
            <a:srgbClr val="1322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6486144" y="2682240"/>
            <a:ext cx="5120640" cy="755904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MTA scans outbound email for confidential keywords or credit card numbers</a:t>
            </a:r>
            <a:endParaRPr dirty="0" lang="en-US" sz="1467"/>
          </a:p>
        </p:txBody>
      </p:sp>
      <p:sp>
        <p:nvSpPr>
          <p:cNvPr id="24" name="Shape 22"/>
          <p:cNvSpPr/>
          <p:nvPr/>
        </p:nvSpPr>
        <p:spPr>
          <a:xfrm>
            <a:off x="6339840" y="3560064"/>
            <a:ext cx="5364480" cy="755904"/>
          </a:xfrm>
          <a:prstGeom prst="rect">
            <a:avLst/>
          </a:prstGeom>
          <a:solidFill>
            <a:srgbClr val="1322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6486144" y="3560064"/>
            <a:ext cx="5120640" cy="755904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Can delete, quarantine, or flag for human review</a:t>
            </a:r>
            <a:endParaRPr dirty="0" lang="en-US" sz="1467"/>
          </a:p>
        </p:txBody>
      </p:sp>
      <p:sp>
        <p:nvSpPr>
          <p:cNvPr id="26" name="Shape 24"/>
          <p:cNvSpPr/>
          <p:nvPr/>
        </p:nvSpPr>
        <p:spPr>
          <a:xfrm>
            <a:off x="6339840" y="4437888"/>
            <a:ext cx="5364480" cy="755904"/>
          </a:xfrm>
          <a:prstGeom prst="rect">
            <a:avLst/>
          </a:prstGeom>
          <a:solidFill>
            <a:srgbClr val="1322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6486144" y="4437888"/>
            <a:ext cx="5120640" cy="755904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Also checks for 'company confidential' markings</a:t>
            </a:r>
            <a:endParaRPr dirty="0" lang="en-US" sz="1467"/>
          </a:p>
        </p:txBody>
      </p:sp>
      <p:sp>
        <p:nvSpPr>
          <p:cNvPr id="28" name="Shape 26"/>
          <p:cNvSpPr/>
          <p:nvPr/>
        </p:nvSpPr>
        <p:spPr>
          <a:xfrm>
            <a:off x="6339840" y="5315712"/>
            <a:ext cx="5364480" cy="755904"/>
          </a:xfrm>
          <a:prstGeom prst="rect">
            <a:avLst/>
          </a:prstGeom>
          <a:solidFill>
            <a:srgbClr val="1322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Text 27"/>
          <p:cNvSpPr/>
          <p:nvPr/>
        </p:nvSpPr>
        <p:spPr>
          <a:xfrm>
            <a:off x="6486144" y="5315712"/>
            <a:ext cx="5120640" cy="755904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Limitation: data can also leave via USB, file transfer services</a:t>
            </a:r>
            <a:endParaRPr dirty="0" lang="en-US" sz="1467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5E6F459C-DB73-E133-032F-26827D841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2B081A-47C8-26CD-64B4-CB7E26201084}"/>
              </a:ext>
            </a:extLst>
          </p:cNvPr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EAE4D74-C8BF-1023-8385-D92CEA04E35C}"/>
              </a:ext>
            </a:extLst>
          </p:cNvPr>
          <p:cNvSpPr/>
          <p:nvPr/>
        </p:nvSpPr>
        <p:spPr>
          <a:xfrm>
            <a:off x="609600" y="97536"/>
            <a:ext cx="10972800" cy="10972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3467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Knowing Bob's Address</a:t>
            </a:r>
            <a:endParaRPr dirty="0" lang="en-US" sz="3467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C6F6844-6A2A-AC71-BDB2-8D633B630793}"/>
              </a:ext>
            </a:extLst>
          </p:cNvPr>
          <p:cNvSpPr/>
          <p:nvPr/>
        </p:nvSpPr>
        <p:spPr>
          <a:xfrm>
            <a:off x="609600" y="1402080"/>
            <a:ext cx="1097280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2000">
                <a:solidFill>
                  <a:srgbClr val="0D1B2A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Knowing Bob's Email Address</a:t>
            </a:r>
            <a:endParaRPr dirty="0" lang="en-US" sz="2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D55211A-CF99-DB74-60F9-A3B51908196B}"/>
              </a:ext>
            </a:extLst>
          </p:cNvPr>
          <p:cNvSpPr/>
          <p:nvPr/>
        </p:nvSpPr>
        <p:spPr>
          <a:xfrm>
            <a:off x="609600" y="1853184"/>
            <a:ext cx="1097280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i="1" lang="en-US" sz="1600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Large companies may have many people with the same name, each with a different email address.</a:t>
            </a:r>
            <a:endParaRPr dirty="0" lang="en-US" sz="16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224943F-7F52-9D6C-0233-176E092CEC81}"/>
              </a:ext>
            </a:extLst>
          </p:cNvPr>
          <p:cNvSpPr/>
          <p:nvPr/>
        </p:nvSpPr>
        <p:spPr>
          <a:xfrm>
            <a:off x="609600" y="2377440"/>
            <a:ext cx="2560320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A6C077F-681A-1403-5782-F957398996B1}"/>
              </a:ext>
            </a:extLst>
          </p:cNvPr>
          <p:cNvSpPr/>
          <p:nvPr/>
        </p:nvSpPr>
        <p:spPr>
          <a:xfrm>
            <a:off x="609600" y="2377440"/>
            <a:ext cx="2560320" cy="6705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dirty="0" lang="en-US" sz="1200">
                <a:solidFill>
                  <a:srgbClr val="0077A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bob@company.com</a:t>
            </a:r>
            <a:endParaRPr dirty="0" lang="en-US" sz="12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3C06EBE-C0F5-23D2-14B1-2744A38CCABD}"/>
              </a:ext>
            </a:extLst>
          </p:cNvPr>
          <p:cNvSpPr/>
          <p:nvPr/>
        </p:nvSpPr>
        <p:spPr>
          <a:xfrm>
            <a:off x="3377184" y="2377440"/>
            <a:ext cx="2560320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9FA4376-91B6-30FE-C461-FC431D5FB20B}"/>
              </a:ext>
            </a:extLst>
          </p:cNvPr>
          <p:cNvSpPr/>
          <p:nvPr/>
        </p:nvSpPr>
        <p:spPr>
          <a:xfrm>
            <a:off x="3377184" y="2377440"/>
            <a:ext cx="2560320" cy="6705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dirty="0" lang="en-US" sz="1200">
                <a:solidFill>
                  <a:srgbClr val="0077A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bob.smith@company.com</a:t>
            </a:r>
            <a:endParaRPr dirty="0" lang="en-US" sz="12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0647ED8-4DF8-31C2-53F7-5C02FE4FCA43}"/>
              </a:ext>
            </a:extLst>
          </p:cNvPr>
          <p:cNvSpPr/>
          <p:nvPr/>
        </p:nvSpPr>
        <p:spPr>
          <a:xfrm>
            <a:off x="6144768" y="2377440"/>
            <a:ext cx="2560320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6FA014B-3A5B-F3A1-C90F-438276FDA10B}"/>
              </a:ext>
            </a:extLst>
          </p:cNvPr>
          <p:cNvSpPr/>
          <p:nvPr/>
        </p:nvSpPr>
        <p:spPr>
          <a:xfrm>
            <a:off x="6144768" y="2377440"/>
            <a:ext cx="2560320" cy="6705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dirty="0" lang="en-US" sz="1200">
                <a:solidFill>
                  <a:srgbClr val="0077A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robert.q.smith@company.com</a:t>
            </a:r>
            <a:endParaRPr dirty="0" lang="en-US" sz="12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87CE831-0F2D-97E8-1CFE-7048C4479DC2}"/>
              </a:ext>
            </a:extLst>
          </p:cNvPr>
          <p:cNvSpPr/>
          <p:nvPr/>
        </p:nvSpPr>
        <p:spPr>
          <a:xfrm>
            <a:off x="8912352" y="2377440"/>
            <a:ext cx="2560320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0E2FB9A-BB8F-C825-8F2F-BEAD1250A80C}"/>
              </a:ext>
            </a:extLst>
          </p:cNvPr>
          <p:cNvSpPr/>
          <p:nvPr/>
        </p:nvSpPr>
        <p:spPr>
          <a:xfrm>
            <a:off x="8912352" y="2377440"/>
            <a:ext cx="2560320" cy="6705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dirty="0" lang="en-US" sz="1200">
                <a:solidFill>
                  <a:srgbClr val="0077A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bob.smith.2@company.com</a:t>
            </a:r>
            <a:endParaRPr dirty="0" lang="en-US" sz="1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9E0B4A1-64CB-B93F-AAE5-90D8827A19E8}"/>
              </a:ext>
            </a:extLst>
          </p:cNvPr>
          <p:cNvSpPr/>
          <p:nvPr/>
        </p:nvSpPr>
        <p:spPr>
          <a:xfrm>
            <a:off x="609600" y="3169920"/>
            <a:ext cx="10972800" cy="6705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600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Sending to the wrong Bob causes: wasted time for the wrong recipient, potential confidentiality breach, and comedic potential (all seven Bob Smiths fly to Minneapolis for a non-existent meeting).</a:t>
            </a:r>
            <a:endParaRPr dirty="0" lang="en-US" sz="1600"/>
          </a:p>
        </p:txBody>
      </p:sp>
    </p:spTree>
    <p:extLst>
      <p:ext uri="{BB962C8B-B14F-4D97-AF65-F5344CB8AC3E}">
        <p14:creationId xmlns:p14="http://schemas.microsoft.com/office/powerpoint/2010/main" val="1397134329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97536"/>
            <a:ext cx="10972800" cy="10972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3467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Self-Destruct</a:t>
            </a:r>
            <a:endParaRPr dirty="0" lang="en-US" sz="3467"/>
          </a:p>
        </p:txBody>
      </p:sp>
      <p:sp>
        <p:nvSpPr>
          <p:cNvPr id="15" name="Shape 13"/>
          <p:cNvSpPr/>
          <p:nvPr/>
        </p:nvSpPr>
        <p:spPr>
          <a:xfrm>
            <a:off x="304800" y="1754540"/>
            <a:ext cx="11216640" cy="0"/>
          </a:xfrm>
          <a:prstGeom prst="line">
            <a:avLst/>
          </a:prstGeom>
          <a:noFill/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426720" y="1855124"/>
            <a:ext cx="10972800" cy="469392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2000">
                <a:solidFill>
                  <a:srgbClr val="0D1B2A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Self-Destruct, Do-Not-Forward</a:t>
            </a:r>
            <a:endParaRPr dirty="0" lang="en-US" sz="2000"/>
          </a:p>
        </p:txBody>
      </p:sp>
      <p:sp>
        <p:nvSpPr>
          <p:cNvPr id="17" name="Text 15"/>
          <p:cNvSpPr/>
          <p:nvPr/>
        </p:nvSpPr>
        <p:spPr>
          <a:xfrm>
            <a:off x="426720" y="2306228"/>
            <a:ext cx="10972800" cy="469392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i="1" lang="en-US" sz="1600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A sender may want a message destroyed after reading, or to prevent forwarding/saving.</a:t>
            </a:r>
            <a:endParaRPr dirty="0" lang="en-US" sz="1600"/>
          </a:p>
        </p:txBody>
      </p:sp>
      <p:sp>
        <p:nvSpPr>
          <p:cNvPr id="18" name="Shape 16"/>
          <p:cNvSpPr/>
          <p:nvPr/>
        </p:nvSpPr>
        <p:spPr>
          <a:xfrm>
            <a:off x="426720" y="2779887"/>
            <a:ext cx="5364480" cy="1582522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609600" y="2879252"/>
            <a:ext cx="4998720" cy="469392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733">
                <a:solidFill>
                  <a:srgbClr val="22C55E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✔  Mechanism</a:t>
            </a:r>
            <a:endParaRPr dirty="0" lang="en-US" sz="1733"/>
          </a:p>
        </p:txBody>
      </p:sp>
      <p:sp>
        <p:nvSpPr>
          <p:cNvPr id="20" name="Text 18"/>
          <p:cNvSpPr/>
          <p:nvPr/>
        </p:nvSpPr>
        <p:spPr>
          <a:xfrm>
            <a:off x="609600" y="3321212"/>
            <a:ext cx="4998720" cy="938784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Mark the message with desired behavior; destination email system obeys the instructions.</a:t>
            </a:r>
            <a:endParaRPr dirty="0" lang="en-US" sz="1467"/>
          </a:p>
        </p:txBody>
      </p:sp>
      <p:sp>
        <p:nvSpPr>
          <p:cNvPr id="21" name="Shape 19"/>
          <p:cNvSpPr/>
          <p:nvPr/>
        </p:nvSpPr>
        <p:spPr>
          <a:xfrm>
            <a:off x="6217920" y="2779887"/>
            <a:ext cx="5364480" cy="158252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6400800" y="2879252"/>
            <a:ext cx="4998720" cy="469392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733">
                <a:solidFill>
                  <a:srgbClr val="EF4444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✗  Limitation (DRM Problem)</a:t>
            </a:r>
            <a:endParaRPr dirty="0" lang="en-US" sz="1733"/>
          </a:p>
        </p:txBody>
      </p:sp>
      <p:sp>
        <p:nvSpPr>
          <p:cNvPr id="23" name="Text 21"/>
          <p:cNvSpPr/>
          <p:nvPr/>
        </p:nvSpPr>
        <p:spPr>
          <a:xfrm>
            <a:off x="6400800" y="3321212"/>
            <a:ext cx="4998720" cy="938784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Software-only enforcement can always be circumvented — modified email client, or simply photograph the screen.</a:t>
            </a:r>
            <a:endParaRPr dirty="0" lang="en-US" sz="1467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97536"/>
            <a:ext cx="10972800" cy="10972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3467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Preventing FROM Field Spoofing</a:t>
            </a:r>
            <a:endParaRPr dirty="0" lang="en-US" sz="3467"/>
          </a:p>
        </p:txBody>
      </p:sp>
      <p:sp>
        <p:nvSpPr>
          <p:cNvPr id="4" name="Text 2"/>
          <p:cNvSpPr/>
          <p:nvPr/>
        </p:nvSpPr>
        <p:spPr>
          <a:xfrm>
            <a:off x="609600" y="1341120"/>
            <a:ext cx="10972800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i="1" lang="en-US" sz="1733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Anyone can put any string in the FROM field. Cryptographic signing is ideal but not widely deployed.</a:t>
            </a:r>
            <a:endParaRPr dirty="0" lang="en-US" sz="1733"/>
          </a:p>
        </p:txBody>
      </p:sp>
      <p:sp>
        <p:nvSpPr>
          <p:cNvPr id="5" name="Shape 3"/>
          <p:cNvSpPr/>
          <p:nvPr/>
        </p:nvSpPr>
        <p:spPr>
          <a:xfrm>
            <a:off x="487680" y="1926336"/>
            <a:ext cx="11216640" cy="2133600"/>
          </a:xfrm>
          <a:prstGeom prst="rect">
            <a:avLst/>
          </a:prstGeom>
          <a:solidFill>
            <a:srgbClr val="132235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487680" y="1926336"/>
            <a:ext cx="11216640" cy="4632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670560" y="1926336"/>
            <a:ext cx="10972800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867">
                <a:solidFill>
                  <a:srgbClr val="0D1B2A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SPF — Sender Policy Framework  [RFC 7208]</a:t>
            </a:r>
            <a:endParaRPr dirty="0" lang="en-US" sz="1867"/>
          </a:p>
        </p:txBody>
      </p:sp>
      <p:sp>
        <p:nvSpPr>
          <p:cNvPr id="8" name="Text 6"/>
          <p:cNvSpPr/>
          <p:nvPr/>
        </p:nvSpPr>
        <p:spPr>
          <a:xfrm>
            <a:off x="670560" y="2438400"/>
            <a:ext cx="10850880" cy="7924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600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A domain declares (via DNS/DNSSEC) the limited set of IP addresses authorized to send mail on its behalf. Receiving MTAs refuse mail claiming to be from a domain if the connection doesn't come from a listed IP.</a:t>
            </a:r>
            <a:endParaRPr dirty="0" lang="en-US" sz="1600"/>
          </a:p>
        </p:txBody>
      </p:sp>
      <p:sp>
        <p:nvSpPr>
          <p:cNvPr id="9" name="Text 7"/>
          <p:cNvSpPr/>
          <p:nvPr/>
        </p:nvSpPr>
        <p:spPr>
          <a:xfrm>
            <a:off x="670560" y="3267456"/>
            <a:ext cx="10850880" cy="6705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F59E0B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⚠  Limitation: IP spoofing is hard but not impossible. Breaks mail forwarders — forwarded mail arrives from forwarder's IP, not sender's MTA.</a:t>
            </a:r>
            <a:endParaRPr dirty="0" lang="en-US" sz="1467"/>
          </a:p>
        </p:txBody>
      </p:sp>
      <p:sp>
        <p:nvSpPr>
          <p:cNvPr id="10" name="Shape 8"/>
          <p:cNvSpPr/>
          <p:nvPr/>
        </p:nvSpPr>
        <p:spPr>
          <a:xfrm>
            <a:off x="487680" y="4206240"/>
            <a:ext cx="11216640" cy="2316480"/>
          </a:xfrm>
          <a:prstGeom prst="rect">
            <a:avLst/>
          </a:prstGeom>
          <a:solidFill>
            <a:srgbClr val="132235"/>
          </a:solidFill>
          <a:ln w="12700">
            <a:solidFill>
              <a:srgbClr val="0077A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487680" y="4206240"/>
            <a:ext cx="11216640" cy="46329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670560" y="4206240"/>
            <a:ext cx="10972800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867">
                <a:solidFill>
                  <a:srgbClr val="FFFFFF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DKIM — DomainKeys Identified Mail  [RFC 5585]</a:t>
            </a:r>
            <a:endParaRPr dirty="0" lang="en-US" sz="1867"/>
          </a:p>
        </p:txBody>
      </p:sp>
      <p:sp>
        <p:nvSpPr>
          <p:cNvPr id="13" name="Text 11"/>
          <p:cNvSpPr/>
          <p:nvPr/>
        </p:nvSpPr>
        <p:spPr>
          <a:xfrm>
            <a:off x="670560" y="4730496"/>
            <a:ext cx="10850880" cy="7315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600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A domain digitally signs outbound email and announces its public signing keys in DNS. Receiving MTAs verify the signature and refuse mail that doesn't verify.</a:t>
            </a:r>
            <a:endParaRPr dirty="0" lang="en-US" sz="1600"/>
          </a:p>
        </p:txBody>
      </p:sp>
      <p:sp>
        <p:nvSpPr>
          <p:cNvPr id="14" name="Text 12"/>
          <p:cNvSpPr/>
          <p:nvPr/>
        </p:nvSpPr>
        <p:spPr>
          <a:xfrm>
            <a:off x="670560" y="5510784"/>
            <a:ext cx="10850880" cy="877824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F59E0B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⚠  Limitation: Mail forwarders often modify messages (e.g., append 'forwarded by' to subject), breaking the DKIM signature.</a:t>
            </a:r>
            <a:endParaRPr dirty="0" lang="en-US" sz="1467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97536"/>
            <a:ext cx="10972800" cy="10972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3467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In-Flight Encryption</a:t>
            </a:r>
            <a:endParaRPr dirty="0" lang="en-US" sz="3467"/>
          </a:p>
        </p:txBody>
      </p:sp>
      <p:sp>
        <p:nvSpPr>
          <p:cNvPr id="4" name="Text 2"/>
          <p:cNvSpPr/>
          <p:nvPr/>
        </p:nvSpPr>
        <p:spPr>
          <a:xfrm>
            <a:off x="609600" y="1402080"/>
            <a:ext cx="10972800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i="1" lang="en-US" sz="1733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Hop-by-hop TLS encryption is often marketed as 'email encryption' — but it is NOT end-to-end.</a:t>
            </a:r>
            <a:endParaRPr dirty="0" lang="en-US" sz="1733"/>
          </a:p>
        </p:txBody>
      </p:sp>
      <p:sp>
        <p:nvSpPr>
          <p:cNvPr id="5" name="Shape 3"/>
          <p:cNvSpPr/>
          <p:nvPr/>
        </p:nvSpPr>
        <p:spPr>
          <a:xfrm>
            <a:off x="487680" y="2011680"/>
            <a:ext cx="2560320" cy="792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487680" y="2011680"/>
            <a:ext cx="2560320" cy="7924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467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Alice → MTA (TLS)</a:t>
            </a:r>
            <a:endParaRPr dirty="0" lang="en-US" sz="1467"/>
          </a:p>
        </p:txBody>
      </p:sp>
      <p:sp>
        <p:nvSpPr>
          <p:cNvPr id="7" name="Shape 5"/>
          <p:cNvSpPr/>
          <p:nvPr/>
        </p:nvSpPr>
        <p:spPr>
          <a:xfrm>
            <a:off x="3108960" y="2407920"/>
            <a:ext cx="280416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3413760" y="2011680"/>
            <a:ext cx="2560320" cy="792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3413760" y="2011680"/>
            <a:ext cx="2560320" cy="7924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467">
                <a:solidFill>
                  <a:srgbClr val="FFFFFF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MTA → MTA (TLS)</a:t>
            </a:r>
            <a:endParaRPr dirty="0" lang="en-US" sz="1467"/>
          </a:p>
        </p:txBody>
      </p:sp>
      <p:sp>
        <p:nvSpPr>
          <p:cNvPr id="10" name="Shape 8"/>
          <p:cNvSpPr/>
          <p:nvPr/>
        </p:nvSpPr>
        <p:spPr>
          <a:xfrm>
            <a:off x="6035040" y="2407920"/>
            <a:ext cx="280416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6339840" y="2011680"/>
            <a:ext cx="2560320" cy="792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6339840" y="2011680"/>
            <a:ext cx="2560320" cy="7924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467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MTA → MTA (TLS)</a:t>
            </a:r>
            <a:endParaRPr dirty="0" lang="en-US" sz="1467"/>
          </a:p>
        </p:txBody>
      </p:sp>
      <p:sp>
        <p:nvSpPr>
          <p:cNvPr id="13" name="Shape 11"/>
          <p:cNvSpPr/>
          <p:nvPr/>
        </p:nvSpPr>
        <p:spPr>
          <a:xfrm>
            <a:off x="8961120" y="2407920"/>
            <a:ext cx="280416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Shape 12"/>
          <p:cNvSpPr/>
          <p:nvPr/>
        </p:nvSpPr>
        <p:spPr>
          <a:xfrm>
            <a:off x="9265920" y="2011680"/>
            <a:ext cx="2560320" cy="792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9265920" y="2011680"/>
            <a:ext cx="2560320" cy="7924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467">
                <a:solidFill>
                  <a:srgbClr val="FFFFFF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MTA → Bob (TLS)</a:t>
            </a:r>
            <a:endParaRPr dirty="0" lang="en-US" sz="1467"/>
          </a:p>
        </p:txBody>
      </p:sp>
      <p:sp>
        <p:nvSpPr>
          <p:cNvPr id="16" name="Text 14"/>
          <p:cNvSpPr/>
          <p:nvPr/>
        </p:nvSpPr>
        <p:spPr>
          <a:xfrm>
            <a:off x="609600" y="2950464"/>
            <a:ext cx="1097280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600">
                <a:solidFill>
                  <a:srgbClr val="EF4444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⚠  Plaintext visible at every MTA. Requires trusting all MTAs along the path.</a:t>
            </a:r>
            <a:endParaRPr dirty="0" lang="en-US" sz="1600"/>
          </a:p>
        </p:txBody>
      </p:sp>
      <p:sp>
        <p:nvSpPr>
          <p:cNvPr id="17" name="Shape 15"/>
          <p:cNvSpPr/>
          <p:nvPr/>
        </p:nvSpPr>
        <p:spPr>
          <a:xfrm>
            <a:off x="487680" y="3511296"/>
            <a:ext cx="3535680" cy="3023616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8" name="Shape 16"/>
          <p:cNvSpPr/>
          <p:nvPr/>
        </p:nvSpPr>
        <p:spPr>
          <a:xfrm>
            <a:off x="487680" y="3511296"/>
            <a:ext cx="3535680" cy="4632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633984" y="3511296"/>
            <a:ext cx="3291840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467">
                <a:solidFill>
                  <a:srgbClr val="00B4D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STARTTLS  ·  RFC 3207</a:t>
            </a:r>
            <a:endParaRPr dirty="0" lang="en-US" sz="1467"/>
          </a:p>
        </p:txBody>
      </p:sp>
      <p:sp>
        <p:nvSpPr>
          <p:cNvPr id="20" name="Text 18"/>
          <p:cNvSpPr/>
          <p:nvPr/>
        </p:nvSpPr>
        <p:spPr>
          <a:xfrm>
            <a:off x="633984" y="4023360"/>
            <a:ext cx="3291840" cy="24384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MTA tells another MTA it supports TLS during connection setup. Without DANE/MTA-STS, an attacker can strip this announcement.</a:t>
            </a:r>
            <a:endParaRPr dirty="0" lang="en-US" sz="1467"/>
          </a:p>
        </p:txBody>
      </p:sp>
      <p:sp>
        <p:nvSpPr>
          <p:cNvPr id="21" name="Shape 19"/>
          <p:cNvSpPr/>
          <p:nvPr/>
        </p:nvSpPr>
        <p:spPr>
          <a:xfrm>
            <a:off x="4328160" y="3511296"/>
            <a:ext cx="3535680" cy="3023616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2" name="Shape 20"/>
          <p:cNvSpPr/>
          <p:nvPr/>
        </p:nvSpPr>
        <p:spPr>
          <a:xfrm>
            <a:off x="4328160" y="3511296"/>
            <a:ext cx="3535680" cy="4632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4474464" y="3511296"/>
            <a:ext cx="3291840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467">
                <a:solidFill>
                  <a:srgbClr val="00B4D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DANE  ·  RFC 7672</a:t>
            </a:r>
            <a:endParaRPr dirty="0" lang="en-US" sz="1467"/>
          </a:p>
        </p:txBody>
      </p:sp>
      <p:sp>
        <p:nvSpPr>
          <p:cNvPr id="24" name="Text 22"/>
          <p:cNvSpPr/>
          <p:nvPr/>
        </p:nvSpPr>
        <p:spPr>
          <a:xfrm>
            <a:off x="4474464" y="4023360"/>
            <a:ext cx="3291840" cy="24384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Announces in DNS (with DNSSEC) that an MTA accepts TLS connections.</a:t>
            </a:r>
            <a:endParaRPr dirty="0" lang="en-US" sz="1467"/>
          </a:p>
        </p:txBody>
      </p:sp>
      <p:sp>
        <p:nvSpPr>
          <p:cNvPr id="25" name="Shape 23"/>
          <p:cNvSpPr/>
          <p:nvPr/>
        </p:nvSpPr>
        <p:spPr>
          <a:xfrm>
            <a:off x="8168640" y="3511296"/>
            <a:ext cx="3535680" cy="3023616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6" name="Shape 24"/>
          <p:cNvSpPr/>
          <p:nvPr/>
        </p:nvSpPr>
        <p:spPr>
          <a:xfrm>
            <a:off x="8168640" y="3511296"/>
            <a:ext cx="3535680" cy="4632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8314944" y="3511296"/>
            <a:ext cx="3291840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467">
                <a:solidFill>
                  <a:srgbClr val="00B4D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MTA-STS  ·  RFC 8461</a:t>
            </a:r>
            <a:endParaRPr dirty="0" lang="en-US" sz="1467"/>
          </a:p>
        </p:txBody>
      </p:sp>
      <p:sp>
        <p:nvSpPr>
          <p:cNvPr id="28" name="Text 26"/>
          <p:cNvSpPr/>
          <p:nvPr/>
        </p:nvSpPr>
        <p:spPr>
          <a:xfrm>
            <a:off x="8314944" y="4023360"/>
            <a:ext cx="3291840" cy="24384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Similar to DANE but policy applies domain-wide — all MTAs for that domain must use TLS. Both can be used together.</a:t>
            </a:r>
            <a:endParaRPr dirty="0" lang="en-US" sz="1467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97536"/>
            <a:ext cx="10972800" cy="10972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2933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End-to-End Signed &amp; Encrypted Email  (1/2)</a:t>
            </a:r>
            <a:endParaRPr dirty="0" lang="en-US" sz="2933"/>
          </a:p>
        </p:txBody>
      </p:sp>
      <p:sp>
        <p:nvSpPr>
          <p:cNvPr id="4" name="Text 2"/>
          <p:cNvSpPr/>
          <p:nvPr/>
        </p:nvSpPr>
        <p:spPr>
          <a:xfrm>
            <a:off x="487680" y="1402080"/>
            <a:ext cx="1121664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2000">
                <a:solidFill>
                  <a:srgbClr val="000000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Signed Email (Authentication)</a:t>
            </a:r>
            <a:endParaRPr dirty="0" lang="en-US" sz="2000"/>
          </a:p>
        </p:txBody>
      </p:sp>
      <p:sp>
        <p:nvSpPr>
          <p:cNvPr id="5" name="Text 3"/>
          <p:cNvSpPr/>
          <p:nvPr/>
        </p:nvSpPr>
        <p:spPr>
          <a:xfrm>
            <a:off x="487680" y="1853184"/>
            <a:ext cx="11216640" cy="6705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600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Alice signs and sends — Bob verifies. Alice can include her certificate in the message (pessimistic approach) or assume Bob will fetch it. Works for individuals and distribution lists.</a:t>
            </a:r>
            <a:endParaRPr dirty="0" lang="en-US" sz="1600"/>
          </a:p>
        </p:txBody>
      </p:sp>
      <p:sp>
        <p:nvSpPr>
          <p:cNvPr id="6" name="Shape 4"/>
          <p:cNvSpPr/>
          <p:nvPr/>
        </p:nvSpPr>
        <p:spPr>
          <a:xfrm>
            <a:off x="487680" y="2657856"/>
            <a:ext cx="11216640" cy="0"/>
          </a:xfrm>
          <a:prstGeom prst="line">
            <a:avLst/>
          </a:prstGeom>
          <a:noFill/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487680" y="2779776"/>
            <a:ext cx="11216640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2000">
                <a:solidFill>
                  <a:srgbClr val="000000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Encrypted Email — Alice needs Bob's Public Key. How to find it?</a:t>
            </a:r>
            <a:endParaRPr dirty="0" lang="en-US" sz="2000"/>
          </a:p>
        </p:txBody>
      </p:sp>
      <p:sp>
        <p:nvSpPr>
          <p:cNvPr id="8" name="Shape 6"/>
          <p:cNvSpPr/>
          <p:nvPr/>
        </p:nvSpPr>
        <p:spPr>
          <a:xfrm>
            <a:off x="487680" y="3316224"/>
            <a:ext cx="3535680" cy="1950720"/>
          </a:xfrm>
          <a:prstGeom prst="rect">
            <a:avLst/>
          </a:prstGeom>
          <a:solidFill>
            <a:srgbClr val="132235"/>
          </a:solidFill>
          <a:ln w="12700">
            <a:solidFill>
              <a:srgbClr val="F59E0B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633984" y="3438144"/>
            <a:ext cx="1219200" cy="7315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3733">
                <a:solidFill>
                  <a:srgbClr val="F59E0B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1</a:t>
            </a:r>
            <a:endParaRPr dirty="0" lang="en-US" sz="3733"/>
          </a:p>
        </p:txBody>
      </p:sp>
      <p:sp>
        <p:nvSpPr>
          <p:cNvPr id="10" name="Text 8"/>
          <p:cNvSpPr/>
          <p:nvPr/>
        </p:nvSpPr>
        <p:spPr>
          <a:xfrm>
            <a:off x="633984" y="4194048"/>
            <a:ext cx="3243072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867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Out-of-band</a:t>
            </a:r>
            <a:endParaRPr dirty="0" lang="en-US" sz="1867"/>
          </a:p>
        </p:txBody>
      </p:sp>
      <p:sp>
        <p:nvSpPr>
          <p:cNvPr id="11" name="Shape 9"/>
          <p:cNvSpPr/>
          <p:nvPr/>
        </p:nvSpPr>
        <p:spPr>
          <a:xfrm>
            <a:off x="633984" y="4779264"/>
            <a:ext cx="316992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633984" y="4876800"/>
            <a:ext cx="3243072" cy="2438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Alice received Bob's key via a secure offline channel and saved it.</a:t>
            </a:r>
            <a:endParaRPr dirty="0" lang="en-US" sz="1467"/>
          </a:p>
        </p:txBody>
      </p:sp>
      <p:sp>
        <p:nvSpPr>
          <p:cNvPr id="13" name="Shape 11"/>
          <p:cNvSpPr/>
          <p:nvPr/>
        </p:nvSpPr>
        <p:spPr>
          <a:xfrm>
            <a:off x="4328160" y="3316224"/>
            <a:ext cx="3535680" cy="1950720"/>
          </a:xfrm>
          <a:prstGeom prst="rect">
            <a:avLst/>
          </a:prstGeom>
          <a:solidFill>
            <a:srgbClr val="132235"/>
          </a:solidFill>
          <a:ln w="12700">
            <a:solidFill>
              <a:srgbClr val="F59E0B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4474464" y="3438144"/>
            <a:ext cx="1219200" cy="7315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3733">
                <a:solidFill>
                  <a:srgbClr val="F59E0B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2</a:t>
            </a:r>
            <a:endParaRPr dirty="0" lang="en-US" sz="3733"/>
          </a:p>
        </p:txBody>
      </p:sp>
      <p:sp>
        <p:nvSpPr>
          <p:cNvPr id="15" name="Text 13"/>
          <p:cNvSpPr/>
          <p:nvPr/>
        </p:nvSpPr>
        <p:spPr>
          <a:xfrm>
            <a:off x="4474464" y="4194048"/>
            <a:ext cx="3243072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867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PKI Lookup</a:t>
            </a:r>
            <a:endParaRPr dirty="0" lang="en-US" sz="1867"/>
          </a:p>
        </p:txBody>
      </p:sp>
      <p:sp>
        <p:nvSpPr>
          <p:cNvPr id="16" name="Shape 14"/>
          <p:cNvSpPr/>
          <p:nvPr/>
        </p:nvSpPr>
        <p:spPr>
          <a:xfrm>
            <a:off x="4474464" y="4779264"/>
            <a:ext cx="316992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4474464" y="4876800"/>
            <a:ext cx="3243072" cy="2438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Obtain Bob's certificate through a Public Key Infrastructure.</a:t>
            </a:r>
            <a:endParaRPr dirty="0" lang="en-US" sz="1467"/>
          </a:p>
        </p:txBody>
      </p:sp>
      <p:sp>
        <p:nvSpPr>
          <p:cNvPr id="18" name="Shape 16"/>
          <p:cNvSpPr/>
          <p:nvPr/>
        </p:nvSpPr>
        <p:spPr>
          <a:xfrm>
            <a:off x="8168640" y="3316224"/>
            <a:ext cx="3535680" cy="1950720"/>
          </a:xfrm>
          <a:prstGeom prst="rect">
            <a:avLst/>
          </a:prstGeom>
          <a:solidFill>
            <a:srgbClr val="132235"/>
          </a:solidFill>
          <a:ln w="12700">
            <a:solidFill>
              <a:srgbClr val="F59E0B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8314944" y="3438144"/>
            <a:ext cx="1219200" cy="7315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3733">
                <a:solidFill>
                  <a:srgbClr val="F59E0B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3</a:t>
            </a:r>
            <a:endParaRPr dirty="0" lang="en-US" sz="3733"/>
          </a:p>
        </p:txBody>
      </p:sp>
      <p:sp>
        <p:nvSpPr>
          <p:cNvPr id="20" name="Text 18"/>
          <p:cNvSpPr/>
          <p:nvPr/>
        </p:nvSpPr>
        <p:spPr>
          <a:xfrm>
            <a:off x="8314944" y="4194048"/>
            <a:ext cx="3243072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867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Piggybacking</a:t>
            </a:r>
            <a:endParaRPr dirty="0" lang="en-US" sz="1867"/>
          </a:p>
        </p:txBody>
      </p:sp>
      <p:sp>
        <p:nvSpPr>
          <p:cNvPr id="21" name="Shape 19"/>
          <p:cNvSpPr/>
          <p:nvPr/>
        </p:nvSpPr>
        <p:spPr>
          <a:xfrm>
            <a:off x="8314944" y="4779264"/>
            <a:ext cx="316992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8314944" y="4876800"/>
            <a:ext cx="3243072" cy="2438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Bob includes his certificate in emails he sends to Alice. Or Alice emails Bob asking for his cert.</a:t>
            </a:r>
            <a:endParaRPr dirty="0" lang="en-US" sz="1467"/>
          </a:p>
        </p:txBody>
      </p:sp>
      <p:sp>
        <p:nvSpPr>
          <p:cNvPr id="23" name="Text 21"/>
          <p:cNvSpPr/>
          <p:nvPr/>
        </p:nvSpPr>
        <p:spPr>
          <a:xfrm>
            <a:off x="487680" y="5425440"/>
            <a:ext cx="1121664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867">
                <a:solidFill>
                  <a:srgbClr val="000000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Encrypting for Multiple Recipients</a:t>
            </a:r>
            <a:endParaRPr dirty="0" lang="en-US" sz="1867"/>
          </a:p>
        </p:txBody>
      </p:sp>
      <p:sp>
        <p:nvSpPr>
          <p:cNvPr id="24" name="Shape 22"/>
          <p:cNvSpPr/>
          <p:nvPr/>
        </p:nvSpPr>
        <p:spPr>
          <a:xfrm>
            <a:off x="487680" y="5888736"/>
            <a:ext cx="11216640" cy="792480"/>
          </a:xfrm>
          <a:prstGeom prst="rect">
            <a:avLst/>
          </a:prstGeom>
          <a:solidFill>
            <a:srgbClr val="1322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670560" y="5888736"/>
            <a:ext cx="10972800" cy="7924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600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Alice picks random secret key S → encrypts message once with S → encrypts S separately with each recipient's public key → sends {S}Bob, {S}Carol, {S}Ted alongside {message}S</a:t>
            </a:r>
            <a:endParaRPr dirty="0" lang="en-US"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97536"/>
            <a:ext cx="10972800" cy="10972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3467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Encrypted Email to Distribution Lists  (2/2)</a:t>
            </a:r>
            <a:endParaRPr dirty="0" lang="en-US" sz="3467"/>
          </a:p>
        </p:txBody>
      </p:sp>
      <p:sp>
        <p:nvSpPr>
          <p:cNvPr id="4" name="Text 2"/>
          <p:cNvSpPr/>
          <p:nvPr/>
        </p:nvSpPr>
        <p:spPr>
          <a:xfrm>
            <a:off x="609600" y="1402080"/>
            <a:ext cx="10972800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i="1" lang="en-US" sz="1733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How does Alice encrypt email to a distribution list when she doesn't know the members?</a:t>
            </a:r>
            <a:endParaRPr dirty="0" lang="en-US" sz="1733"/>
          </a:p>
        </p:txBody>
      </p:sp>
      <p:sp>
        <p:nvSpPr>
          <p:cNvPr id="5" name="Shape 3"/>
          <p:cNvSpPr/>
          <p:nvPr/>
        </p:nvSpPr>
        <p:spPr>
          <a:xfrm>
            <a:off x="487680" y="1975104"/>
            <a:ext cx="5242560" cy="390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487680" y="1975104"/>
            <a:ext cx="5242560" cy="4632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633984" y="1975104"/>
            <a:ext cx="4998720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600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Method 1: Exploder Re-Encrypts S</a:t>
            </a:r>
            <a:endParaRPr dirty="0" lang="en-US" sz="1600"/>
          </a:p>
        </p:txBody>
      </p:sp>
      <p:sp>
        <p:nvSpPr>
          <p:cNvPr id="8" name="Shape 6"/>
          <p:cNvSpPr/>
          <p:nvPr/>
        </p:nvSpPr>
        <p:spPr>
          <a:xfrm>
            <a:off x="670560" y="2560320"/>
            <a:ext cx="243840" cy="2438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999744" y="2523744"/>
            <a:ext cx="4632960" cy="6096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Alice encrypts S with the distribution list exploder's public key</a:t>
            </a:r>
            <a:endParaRPr dirty="0" lang="en-US" sz="1467"/>
          </a:p>
        </p:txBody>
      </p:sp>
      <p:sp>
        <p:nvSpPr>
          <p:cNvPr id="10" name="Shape 8"/>
          <p:cNvSpPr/>
          <p:nvPr/>
        </p:nvSpPr>
        <p:spPr>
          <a:xfrm>
            <a:off x="670560" y="3291840"/>
            <a:ext cx="243840" cy="2438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999744" y="3255264"/>
            <a:ext cx="4632960" cy="6096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Exploder decrypts S, then re-encrypts S for each recipient</a:t>
            </a:r>
            <a:endParaRPr dirty="0" lang="en-US" sz="1467"/>
          </a:p>
        </p:txBody>
      </p:sp>
      <p:sp>
        <p:nvSpPr>
          <p:cNvPr id="12" name="Shape 10"/>
          <p:cNvSpPr/>
          <p:nvPr/>
        </p:nvSpPr>
        <p:spPr>
          <a:xfrm>
            <a:off x="670560" y="4023360"/>
            <a:ext cx="243840" cy="2438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999744" y="3986784"/>
            <a:ext cx="4632960" cy="6096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Forwards the encrypted message {message}S with each personalized {S}recipient</a:t>
            </a:r>
            <a:endParaRPr dirty="0" lang="en-US" sz="1467"/>
          </a:p>
        </p:txBody>
      </p:sp>
      <p:sp>
        <p:nvSpPr>
          <p:cNvPr id="14" name="Shape 12"/>
          <p:cNvSpPr/>
          <p:nvPr/>
        </p:nvSpPr>
        <p:spPr>
          <a:xfrm>
            <a:off x="670560" y="4754880"/>
            <a:ext cx="243840" cy="2438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999744" y="4718304"/>
            <a:ext cx="4632960" cy="6096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Exploder can see plaintext of S (and therefore the message) — but need not decrypt body</a:t>
            </a:r>
            <a:endParaRPr dirty="0" lang="en-US" sz="1467"/>
          </a:p>
        </p:txBody>
      </p:sp>
      <p:sp>
        <p:nvSpPr>
          <p:cNvPr id="16" name="Shape 14"/>
          <p:cNvSpPr/>
          <p:nvPr/>
        </p:nvSpPr>
        <p:spPr>
          <a:xfrm>
            <a:off x="6461760" y="1975104"/>
            <a:ext cx="5242560" cy="390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A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6461760" y="1975104"/>
            <a:ext cx="5242560" cy="46329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6608064" y="1975104"/>
            <a:ext cx="4998720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600">
                <a:solidFill>
                  <a:srgbClr val="FFFFFF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Method 2: Shared Group Key</a:t>
            </a:r>
            <a:endParaRPr dirty="0" lang="en-US" sz="1600"/>
          </a:p>
        </p:txBody>
      </p:sp>
      <p:sp>
        <p:nvSpPr>
          <p:cNvPr id="19" name="Shape 17"/>
          <p:cNvSpPr/>
          <p:nvPr/>
        </p:nvSpPr>
        <p:spPr>
          <a:xfrm>
            <a:off x="6644640" y="2560320"/>
            <a:ext cx="243840" cy="24384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6973824" y="2523744"/>
            <a:ext cx="4632960" cy="6096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Message encrypted with random S; {S}group-key sent alongside</a:t>
            </a:r>
            <a:endParaRPr dirty="0" lang="en-US" sz="1467"/>
          </a:p>
        </p:txBody>
      </p:sp>
      <p:sp>
        <p:nvSpPr>
          <p:cNvPr id="21" name="Shape 19"/>
          <p:cNvSpPr/>
          <p:nvPr/>
        </p:nvSpPr>
        <p:spPr>
          <a:xfrm>
            <a:off x="6644640" y="3291840"/>
            <a:ext cx="243840" cy="24384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6973824" y="3255264"/>
            <a:ext cx="4632960" cy="6096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All group members hold group-key and can decrypt S immediately</a:t>
            </a:r>
            <a:endParaRPr dirty="0" lang="en-US" sz="1467"/>
          </a:p>
        </p:txBody>
      </p:sp>
      <p:sp>
        <p:nvSpPr>
          <p:cNvPr id="23" name="Shape 21"/>
          <p:cNvSpPr/>
          <p:nvPr/>
        </p:nvSpPr>
        <p:spPr>
          <a:xfrm>
            <a:off x="6644640" y="4023360"/>
            <a:ext cx="243840" cy="24384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6973824" y="3986784"/>
            <a:ext cx="4632960" cy="6096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Exploder merely forwards ciphertext — cannot decrypt the message</a:t>
            </a:r>
            <a:endParaRPr dirty="0" lang="en-US" sz="1467"/>
          </a:p>
        </p:txBody>
      </p:sp>
      <p:sp>
        <p:nvSpPr>
          <p:cNvPr id="25" name="Shape 23"/>
          <p:cNvSpPr/>
          <p:nvPr/>
        </p:nvSpPr>
        <p:spPr>
          <a:xfrm>
            <a:off x="6644640" y="4754880"/>
            <a:ext cx="243840" cy="24384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6973824" y="4718304"/>
            <a:ext cx="4632960" cy="6096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Alternative: group server authenticates member and releases S on demand</a:t>
            </a:r>
            <a:endParaRPr dirty="0" lang="en-US" sz="1467"/>
          </a:p>
        </p:txBody>
      </p:sp>
      <p:sp>
        <p:nvSpPr>
          <p:cNvPr id="27" name="Text 25"/>
          <p:cNvSpPr/>
          <p:nvPr/>
        </p:nvSpPr>
        <p:spPr>
          <a:xfrm>
            <a:off x="487680" y="6035040"/>
            <a:ext cx="11216640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i="1" lang="en-US" sz="1600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Both methods are largely theoretical — very few email systems implement either today.</a:t>
            </a:r>
            <a:endParaRPr dirty="0" lang="en-US"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97536"/>
            <a:ext cx="10972800" cy="10972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3467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Encryption by a Server</a:t>
            </a:r>
            <a:endParaRPr dirty="0" lang="en-US" sz="3467"/>
          </a:p>
        </p:txBody>
      </p:sp>
      <p:sp>
        <p:nvSpPr>
          <p:cNvPr id="4" name="Text 2"/>
          <p:cNvSpPr/>
          <p:nvPr/>
        </p:nvSpPr>
        <p:spPr>
          <a:xfrm>
            <a:off x="609600" y="1365504"/>
            <a:ext cx="10972800" cy="6096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i="1" lang="en-US" sz="1733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Products can encrypt email on behalf of users. The server always retains the ability to decrypt — useful for corporate deployments requiring plaintext access.</a:t>
            </a:r>
            <a:endParaRPr dirty="0" lang="en-US" sz="1733"/>
          </a:p>
        </p:txBody>
      </p:sp>
      <p:sp>
        <p:nvSpPr>
          <p:cNvPr id="5" name="Shape 3"/>
          <p:cNvSpPr/>
          <p:nvPr/>
        </p:nvSpPr>
        <p:spPr>
          <a:xfrm>
            <a:off x="487680" y="2097024"/>
            <a:ext cx="3596640" cy="3535680"/>
          </a:xfrm>
          <a:prstGeom prst="rect">
            <a:avLst/>
          </a:prstGeom>
          <a:solidFill>
            <a:srgbClr val="132235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70560" y="2218944"/>
            <a:ext cx="975360" cy="7315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4000">
                <a:solidFill>
                  <a:srgbClr val="00B4D8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1</a:t>
            </a:r>
            <a:endParaRPr dirty="0" lang="en-US" sz="4000"/>
          </a:p>
        </p:txBody>
      </p:sp>
      <p:sp>
        <p:nvSpPr>
          <p:cNvPr id="7" name="Text 5"/>
          <p:cNvSpPr/>
          <p:nvPr/>
        </p:nvSpPr>
        <p:spPr>
          <a:xfrm>
            <a:off x="670560" y="2987040"/>
            <a:ext cx="3230880" cy="58521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733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Server Key Pairs</a:t>
            </a:r>
            <a:endParaRPr dirty="0" lang="en-US" sz="1733"/>
          </a:p>
        </p:txBody>
      </p:sp>
      <p:sp>
        <p:nvSpPr>
          <p:cNvPr id="8" name="Shape 6"/>
          <p:cNvSpPr/>
          <p:nvPr/>
        </p:nvSpPr>
        <p:spPr>
          <a:xfrm>
            <a:off x="670560" y="3608832"/>
            <a:ext cx="310896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670560" y="3694176"/>
            <a:ext cx="3230880" cy="18288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Server creates key pairs for all users. If Bob has no key, server creates one and grants access after authentication.</a:t>
            </a:r>
            <a:endParaRPr dirty="0" lang="en-US" sz="1467"/>
          </a:p>
        </p:txBody>
      </p:sp>
      <p:sp>
        <p:nvSpPr>
          <p:cNvPr id="10" name="Shape 8"/>
          <p:cNvSpPr/>
          <p:nvPr/>
        </p:nvSpPr>
        <p:spPr>
          <a:xfrm>
            <a:off x="4328160" y="2097024"/>
            <a:ext cx="3596640" cy="3535680"/>
          </a:xfrm>
          <a:prstGeom prst="rect">
            <a:avLst/>
          </a:prstGeom>
          <a:solidFill>
            <a:srgbClr val="132235"/>
          </a:solidFill>
          <a:ln w="12700">
            <a:solidFill>
              <a:srgbClr val="F59E0B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4511040" y="2218944"/>
            <a:ext cx="975360" cy="7315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4000">
                <a:solidFill>
                  <a:srgbClr val="F59E0B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2</a:t>
            </a:r>
            <a:endParaRPr dirty="0" lang="en-US" sz="4000"/>
          </a:p>
        </p:txBody>
      </p:sp>
      <p:sp>
        <p:nvSpPr>
          <p:cNvPr id="12" name="Text 10"/>
          <p:cNvSpPr/>
          <p:nvPr/>
        </p:nvSpPr>
        <p:spPr>
          <a:xfrm>
            <a:off x="4511040" y="2987040"/>
            <a:ext cx="3230880" cy="58521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733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Secret Key + Key ID</a:t>
            </a:r>
            <a:endParaRPr dirty="0" lang="en-US" sz="1733"/>
          </a:p>
        </p:txBody>
      </p:sp>
      <p:sp>
        <p:nvSpPr>
          <p:cNvPr id="13" name="Shape 11"/>
          <p:cNvSpPr/>
          <p:nvPr/>
        </p:nvSpPr>
        <p:spPr>
          <a:xfrm>
            <a:off x="4511040" y="3608832"/>
            <a:ext cx="310896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4511040" y="3694176"/>
            <a:ext cx="3230880" cy="18288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Service creates a secret key + ID. Alice encrypts with it, puts ID in header. Service decrypts for Bob or sends him the key.</a:t>
            </a:r>
            <a:endParaRPr dirty="0" lang="en-US" sz="1467"/>
          </a:p>
        </p:txBody>
      </p:sp>
      <p:sp>
        <p:nvSpPr>
          <p:cNvPr id="15" name="Shape 13"/>
          <p:cNvSpPr/>
          <p:nvPr/>
        </p:nvSpPr>
        <p:spPr>
          <a:xfrm>
            <a:off x="8168640" y="2097024"/>
            <a:ext cx="3596640" cy="3535680"/>
          </a:xfrm>
          <a:prstGeom prst="rect">
            <a:avLst/>
          </a:prstGeom>
          <a:solidFill>
            <a:srgbClr val="132235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8351520" y="2218944"/>
            <a:ext cx="975360" cy="7315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4000">
                <a:solidFill>
                  <a:srgbClr val="00B4D8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3</a:t>
            </a:r>
            <a:endParaRPr dirty="0" lang="en-US" sz="4000"/>
          </a:p>
        </p:txBody>
      </p:sp>
      <p:sp>
        <p:nvSpPr>
          <p:cNvPr id="17" name="Text 15"/>
          <p:cNvSpPr/>
          <p:nvPr/>
        </p:nvSpPr>
        <p:spPr>
          <a:xfrm>
            <a:off x="8351520" y="2987040"/>
            <a:ext cx="3230880" cy="58521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733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Identity-Based Encryption</a:t>
            </a:r>
            <a:endParaRPr dirty="0" lang="en-US" sz="1733"/>
          </a:p>
        </p:txBody>
      </p:sp>
      <p:sp>
        <p:nvSpPr>
          <p:cNvPr id="18" name="Shape 16"/>
          <p:cNvSpPr/>
          <p:nvPr/>
        </p:nvSpPr>
        <p:spPr>
          <a:xfrm>
            <a:off x="8351520" y="3608832"/>
            <a:ext cx="310896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8351520" y="3694176"/>
            <a:ext cx="3230880" cy="18288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PKG holds domain secret. Alice derives Bob's public key from his name. PKG gives Bob his private key on request.</a:t>
            </a:r>
            <a:endParaRPr dirty="0" lang="en-US" sz="1467"/>
          </a:p>
        </p:txBody>
      </p:sp>
      <p:sp>
        <p:nvSpPr>
          <p:cNvPr id="20" name="Shape 18"/>
          <p:cNvSpPr/>
          <p:nvPr/>
        </p:nvSpPr>
        <p:spPr>
          <a:xfrm>
            <a:off x="487680" y="5827776"/>
            <a:ext cx="11216640" cy="670560"/>
          </a:xfrm>
          <a:prstGeom prst="rect">
            <a:avLst/>
          </a:prstGeom>
          <a:solidFill>
            <a:srgbClr val="132235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670560" y="5827776"/>
            <a:ext cx="10972800" cy="6705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600">
                <a:solidFill>
                  <a:srgbClr val="F59E0B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⚠  Trade-off: The server can always decrypt all email — not truly end-to-end encrypted.</a:t>
            </a:r>
            <a:endParaRPr dirty="0" lang="en-US"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97536"/>
            <a:ext cx="10972800" cy="10972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3467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Message Integrity</a:t>
            </a:r>
            <a:endParaRPr dirty="0" lang="en-US" sz="3467"/>
          </a:p>
        </p:txBody>
      </p:sp>
      <p:sp>
        <p:nvSpPr>
          <p:cNvPr id="4" name="Text 2"/>
          <p:cNvSpPr/>
          <p:nvPr/>
        </p:nvSpPr>
        <p:spPr>
          <a:xfrm>
            <a:off x="609600" y="1402080"/>
            <a:ext cx="10972800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i="1" lang="en-US" sz="1733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If Bob receives a message from Alice, how does he know Carol didn't modify it en route?</a:t>
            </a:r>
            <a:endParaRPr dirty="0" lang="en-US" sz="1733"/>
          </a:p>
        </p:txBody>
      </p:sp>
      <p:sp>
        <p:nvSpPr>
          <p:cNvPr id="5" name="Text 3"/>
          <p:cNvSpPr/>
          <p:nvPr/>
        </p:nvSpPr>
        <p:spPr>
          <a:xfrm>
            <a:off x="609600" y="1950720"/>
            <a:ext cx="1097280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2000">
                <a:solidFill>
                  <a:srgbClr val="0D1B2A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Solution: Digital Signature — but complications arise:</a:t>
            </a:r>
            <a:endParaRPr dirty="0" lang="en-US" sz="2000"/>
          </a:p>
        </p:txBody>
      </p:sp>
      <p:sp>
        <p:nvSpPr>
          <p:cNvPr id="6" name="Shape 4"/>
          <p:cNvSpPr/>
          <p:nvPr/>
        </p:nvSpPr>
        <p:spPr>
          <a:xfrm>
            <a:off x="487680" y="2499360"/>
            <a:ext cx="3535680" cy="2011680"/>
          </a:xfrm>
          <a:prstGeom prst="rect">
            <a:avLst/>
          </a:prstGeom>
          <a:solidFill>
            <a:srgbClr val="132235"/>
          </a:solidFill>
          <a:ln w="12700">
            <a:solidFill>
              <a:srgbClr val="EF4444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633984" y="2621280"/>
            <a:ext cx="1219200" cy="7315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3733">
                <a:solidFill>
                  <a:srgbClr val="EF4444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1</a:t>
            </a:r>
            <a:endParaRPr dirty="0" lang="en-US" sz="3733"/>
          </a:p>
        </p:txBody>
      </p:sp>
      <p:sp>
        <p:nvSpPr>
          <p:cNvPr id="8" name="Text 6"/>
          <p:cNvSpPr/>
          <p:nvPr/>
        </p:nvSpPr>
        <p:spPr>
          <a:xfrm>
            <a:off x="633984" y="3377184"/>
            <a:ext cx="3243072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867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Forwarding Breaks Signatures</a:t>
            </a:r>
            <a:endParaRPr dirty="0" lang="en-US" sz="1867"/>
          </a:p>
        </p:txBody>
      </p:sp>
      <p:sp>
        <p:nvSpPr>
          <p:cNvPr id="9" name="Shape 7"/>
          <p:cNvSpPr/>
          <p:nvPr/>
        </p:nvSpPr>
        <p:spPr>
          <a:xfrm>
            <a:off x="633984" y="3962400"/>
            <a:ext cx="3169920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633984" y="4059936"/>
            <a:ext cx="3243072" cy="3048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Bob can't forward a subset of Alice's email — any modification invalidates her signature.</a:t>
            </a:r>
            <a:endParaRPr dirty="0" lang="en-US" sz="1467"/>
          </a:p>
        </p:txBody>
      </p:sp>
      <p:sp>
        <p:nvSpPr>
          <p:cNvPr id="11" name="Shape 9"/>
          <p:cNvSpPr/>
          <p:nvPr/>
        </p:nvSpPr>
        <p:spPr>
          <a:xfrm>
            <a:off x="4328160" y="2499360"/>
            <a:ext cx="3535680" cy="2011680"/>
          </a:xfrm>
          <a:prstGeom prst="rect">
            <a:avLst/>
          </a:prstGeom>
          <a:solidFill>
            <a:srgbClr val="132235"/>
          </a:solidFill>
          <a:ln w="12700">
            <a:solidFill>
              <a:srgbClr val="F59E0B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4474464" y="2621280"/>
            <a:ext cx="1219200" cy="7315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3733">
                <a:solidFill>
                  <a:srgbClr val="F59E0B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2</a:t>
            </a:r>
            <a:endParaRPr dirty="0" lang="en-US" sz="3733"/>
          </a:p>
        </p:txBody>
      </p:sp>
      <p:sp>
        <p:nvSpPr>
          <p:cNvPr id="13" name="Text 11"/>
          <p:cNvSpPr/>
          <p:nvPr/>
        </p:nvSpPr>
        <p:spPr>
          <a:xfrm>
            <a:off x="4474464" y="3377184"/>
            <a:ext cx="3243072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867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MTA Modifications</a:t>
            </a:r>
            <a:endParaRPr dirty="0" lang="en-US" sz="1867"/>
          </a:p>
        </p:txBody>
      </p:sp>
      <p:sp>
        <p:nvSpPr>
          <p:cNvPr id="14" name="Shape 12"/>
          <p:cNvSpPr/>
          <p:nvPr/>
        </p:nvSpPr>
        <p:spPr>
          <a:xfrm>
            <a:off x="4474464" y="3962400"/>
            <a:ext cx="316992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4474464" y="4059936"/>
            <a:ext cx="3243072" cy="3048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MTAs that do DLP scanning, URL rewriting (phishing protection), or credit card scrubbing will modify the message, breaking the signature.</a:t>
            </a:r>
            <a:endParaRPr dirty="0" lang="en-US" sz="1467"/>
          </a:p>
        </p:txBody>
      </p:sp>
      <p:sp>
        <p:nvSpPr>
          <p:cNvPr id="16" name="Shape 14"/>
          <p:cNvSpPr/>
          <p:nvPr/>
        </p:nvSpPr>
        <p:spPr>
          <a:xfrm>
            <a:off x="8168640" y="2499360"/>
            <a:ext cx="3535680" cy="2011680"/>
          </a:xfrm>
          <a:prstGeom prst="rect">
            <a:avLst/>
          </a:prstGeom>
          <a:solidFill>
            <a:srgbClr val="132235"/>
          </a:solidFill>
          <a:ln w="12700">
            <a:solidFill>
              <a:srgbClr val="0077A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8314944" y="2621280"/>
            <a:ext cx="1219200" cy="7315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3733">
                <a:solidFill>
                  <a:srgbClr val="0077A8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3</a:t>
            </a:r>
            <a:endParaRPr dirty="0" lang="en-US" sz="3733"/>
          </a:p>
        </p:txBody>
      </p:sp>
      <p:sp>
        <p:nvSpPr>
          <p:cNvPr id="18" name="Text 16"/>
          <p:cNvSpPr/>
          <p:nvPr/>
        </p:nvSpPr>
        <p:spPr>
          <a:xfrm>
            <a:off x="8314944" y="3377184"/>
            <a:ext cx="3243072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867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What Fields to Sign?</a:t>
            </a:r>
            <a:endParaRPr dirty="0" lang="en-US" sz="1867"/>
          </a:p>
        </p:txBody>
      </p:sp>
      <p:sp>
        <p:nvSpPr>
          <p:cNvPr id="19" name="Shape 17"/>
          <p:cNvSpPr/>
          <p:nvPr/>
        </p:nvSpPr>
        <p:spPr>
          <a:xfrm>
            <a:off x="8314944" y="3962400"/>
            <a:ext cx="3169920" cy="0"/>
          </a:xfrm>
          <a:prstGeom prst="line">
            <a:avLst/>
          </a:prstGeom>
          <a:noFill/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8314944" y="4059936"/>
            <a:ext cx="3243072" cy="3048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PEM/PGP protect only the body. S/MIME can include a copy of headers inside the envelope.</a:t>
            </a:r>
            <a:endParaRPr dirty="0" lang="en-US" sz="1467"/>
          </a:p>
        </p:txBody>
      </p:sp>
      <p:sp>
        <p:nvSpPr>
          <p:cNvPr id="21" name="Text 19"/>
          <p:cNvSpPr/>
          <p:nvPr/>
        </p:nvSpPr>
        <p:spPr>
          <a:xfrm>
            <a:off x="609600" y="4657344"/>
            <a:ext cx="10972800" cy="390144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867">
                <a:solidFill>
                  <a:srgbClr val="0D1B2A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Dangers of unprotected header fields:</a:t>
            </a:r>
            <a:endParaRPr dirty="0" lang="en-US" sz="1867"/>
          </a:p>
        </p:txBody>
      </p:sp>
      <p:sp>
        <p:nvSpPr>
          <p:cNvPr id="22" name="Shape 20"/>
          <p:cNvSpPr/>
          <p:nvPr/>
        </p:nvSpPr>
        <p:spPr>
          <a:xfrm>
            <a:off x="609600" y="5120640"/>
            <a:ext cx="10972800" cy="707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792480" y="5120640"/>
            <a:ext cx="10607040" cy="70713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⚠  Subject line leak: 'Our company is getting acquired at twice the market price!' — visible to eavesdroppers even if body is encrypted</a:t>
            </a:r>
            <a:endParaRPr dirty="0" lang="en-US" sz="1467"/>
          </a:p>
        </p:txBody>
      </p:sp>
      <p:sp>
        <p:nvSpPr>
          <p:cNvPr id="24" name="Shape 22"/>
          <p:cNvSpPr/>
          <p:nvPr/>
        </p:nvSpPr>
        <p:spPr>
          <a:xfrm>
            <a:off x="609600" y="5913120"/>
            <a:ext cx="10972800" cy="707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792480" y="5913120"/>
            <a:ext cx="10607040" cy="70713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⚠  Subject modification attack: Alice forwards Fred's message with 'Fire this Bozo immediately' — attacker changes subject to 'Great idea! Implement this immediately' — message still signed by Alice</a:t>
            </a:r>
            <a:endParaRPr dirty="0" lang="en-US" sz="1467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BFD5AF08-B3E3-A5F6-8FF7-80533D540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BA07D72-85B9-FFE5-0282-94D19DB0DCF5}"/>
              </a:ext>
            </a:extLst>
          </p:cNvPr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5934F60-FC77-30CC-A344-3A7090299A03}"/>
              </a:ext>
            </a:extLst>
          </p:cNvPr>
          <p:cNvSpPr/>
          <p:nvPr/>
        </p:nvSpPr>
        <p:spPr>
          <a:xfrm>
            <a:off x="609600" y="97536"/>
            <a:ext cx="10972800" cy="10972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2933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Non-Repudiation</a:t>
            </a:r>
            <a:endParaRPr dirty="0" lang="en-US" sz="2933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11A87C7-D0D2-7C00-E94C-CD2040E99A79}"/>
              </a:ext>
            </a:extLst>
          </p:cNvPr>
          <p:cNvSpPr/>
          <p:nvPr/>
        </p:nvSpPr>
        <p:spPr>
          <a:xfrm>
            <a:off x="487680" y="1365504"/>
            <a:ext cx="524256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2000">
                <a:solidFill>
                  <a:srgbClr val="000000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Non-Repudiation</a:t>
            </a:r>
            <a:endParaRPr dirty="0" lang="en-US" sz="2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5111C31-328E-C71D-F026-BF4D0989D2D0}"/>
              </a:ext>
            </a:extLst>
          </p:cNvPr>
          <p:cNvSpPr/>
          <p:nvPr/>
        </p:nvSpPr>
        <p:spPr>
          <a:xfrm>
            <a:off x="487680" y="1828800"/>
            <a:ext cx="5242560" cy="7315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600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Alice cannot later deny sending a message. Achieved by having Alice sign with her private key — anyone can verify she signed.</a:t>
            </a:r>
            <a:endParaRPr dirty="0" lang="en-US" sz="16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18C652B-A1FD-AC28-D9FB-569F52BBDB7B}"/>
              </a:ext>
            </a:extLst>
          </p:cNvPr>
          <p:cNvSpPr/>
          <p:nvPr/>
        </p:nvSpPr>
        <p:spPr>
          <a:xfrm>
            <a:off x="487680" y="2657856"/>
            <a:ext cx="5242560" cy="792480"/>
          </a:xfrm>
          <a:prstGeom prst="rect">
            <a:avLst/>
          </a:prstGeom>
          <a:solidFill>
            <a:srgbClr val="1322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96E5A56-C5DF-47AB-3066-615809840CE7}"/>
              </a:ext>
            </a:extLst>
          </p:cNvPr>
          <p:cNvSpPr/>
          <p:nvPr/>
        </p:nvSpPr>
        <p:spPr>
          <a:xfrm>
            <a:off x="633984" y="2657856"/>
            <a:ext cx="4998720" cy="7924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333">
                <a:solidFill>
                  <a:srgbClr val="F59E0B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⚠  Caveat: Even a private-key signature can be disputed — 'malware signed on my behalf' or 'my key was stolen'. Non-repudiation has no strictly legal meaning.</a:t>
            </a:r>
            <a:endParaRPr dirty="0" lang="en-US" sz="1333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0922225-6111-423E-9F74-553560AD2BED}"/>
              </a:ext>
            </a:extLst>
          </p:cNvPr>
          <p:cNvSpPr/>
          <p:nvPr/>
        </p:nvSpPr>
        <p:spPr>
          <a:xfrm>
            <a:off x="6096000" y="1341120"/>
            <a:ext cx="0" cy="5242560"/>
          </a:xfrm>
          <a:prstGeom prst="line">
            <a:avLst/>
          </a:prstGeom>
          <a:noFill/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descr="S/MIME Email Signature &amp; Encryption - Most Secure Email｜Yuan-Jhen" id="3074" name="Picture 2">
            <a:extLst>
              <a:ext uri="{FF2B5EF4-FFF2-40B4-BE49-F238E27FC236}">
                <a16:creationId xmlns:a16="http://schemas.microsoft.com/office/drawing/2014/main" id="{7697A426-7593-300A-5D86-CADEAC953584}"/>
              </a:ext>
            </a:extLst>
          </p:cNvPr>
          <p:cNvPicPr>
            <a:picLocks noChangeArrowheads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781" y="1503218"/>
            <a:ext cx="5175539" cy="3851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79420"/>
      </p:ext>
    </p:extLst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97536"/>
            <a:ext cx="10972800" cy="10972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2933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Plausible Deniability</a:t>
            </a:r>
            <a:endParaRPr dirty="0" lang="en-US" sz="2933"/>
          </a:p>
        </p:txBody>
      </p:sp>
      <p:sp>
        <p:nvSpPr>
          <p:cNvPr id="8" name="Shape 6"/>
          <p:cNvSpPr/>
          <p:nvPr/>
        </p:nvSpPr>
        <p:spPr>
          <a:xfrm>
            <a:off x="6096000" y="1341120"/>
            <a:ext cx="0" cy="5242560"/>
          </a:xfrm>
          <a:prstGeom prst="line">
            <a:avLst/>
          </a:prstGeom>
          <a:noFill/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6339840" y="1365504"/>
            <a:ext cx="524256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2000">
                <a:solidFill>
                  <a:srgbClr val="000000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Plausible Deniability</a:t>
            </a:r>
            <a:endParaRPr dirty="0" lang="en-US" sz="2000"/>
          </a:p>
        </p:txBody>
      </p:sp>
      <p:sp>
        <p:nvSpPr>
          <p:cNvPr id="10" name="Text 8"/>
          <p:cNvSpPr/>
          <p:nvPr/>
        </p:nvSpPr>
        <p:spPr>
          <a:xfrm>
            <a:off x="6339840" y="1828800"/>
            <a:ext cx="5242560" cy="6096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600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Bob must know the message came from Alice, but must not be able to prove it to anyone else.</a:t>
            </a:r>
            <a:endParaRPr dirty="0" lang="en-US" sz="1600"/>
          </a:p>
        </p:txBody>
      </p:sp>
      <p:sp>
        <p:nvSpPr>
          <p:cNvPr id="11" name="Shape 9"/>
          <p:cNvSpPr/>
          <p:nvPr/>
        </p:nvSpPr>
        <p:spPr>
          <a:xfrm>
            <a:off x="6339840" y="2535936"/>
            <a:ext cx="463296" cy="463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6339840" y="2535936"/>
            <a:ext cx="463296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600">
                <a:solidFill>
                  <a:srgbClr val="0D1B2A"/>
                </a:solidFill>
              </a:rPr>
              <a:t>1</a:t>
            </a:r>
            <a:endParaRPr dirty="0" lang="en-US" sz="1600"/>
          </a:p>
        </p:txBody>
      </p:sp>
      <p:sp>
        <p:nvSpPr>
          <p:cNvPr id="13" name="Text 11"/>
          <p:cNvSpPr/>
          <p:nvPr/>
        </p:nvSpPr>
        <p:spPr>
          <a:xfrm>
            <a:off x="6876288" y="2535936"/>
            <a:ext cx="475488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Alice picks secret key S for this message m</a:t>
            </a:r>
            <a:endParaRPr dirty="0" lang="en-US" sz="1467"/>
          </a:p>
        </p:txBody>
      </p:sp>
      <p:sp>
        <p:nvSpPr>
          <p:cNvPr id="14" name="Shape 12"/>
          <p:cNvSpPr/>
          <p:nvPr/>
        </p:nvSpPr>
        <p:spPr>
          <a:xfrm>
            <a:off x="6339840" y="3169920"/>
            <a:ext cx="463296" cy="463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6339840" y="3169920"/>
            <a:ext cx="463296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600">
                <a:solidFill>
                  <a:srgbClr val="0D1B2A"/>
                </a:solidFill>
              </a:rPr>
              <a:t>2</a:t>
            </a:r>
            <a:endParaRPr dirty="0" lang="en-US" sz="1600"/>
          </a:p>
        </p:txBody>
      </p:sp>
      <p:sp>
        <p:nvSpPr>
          <p:cNvPr id="16" name="Text 14"/>
          <p:cNvSpPr/>
          <p:nvPr/>
        </p:nvSpPr>
        <p:spPr>
          <a:xfrm>
            <a:off x="6876288" y="3169920"/>
            <a:ext cx="475488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Encrypts S with Bob's public key → {S}Bob</a:t>
            </a:r>
            <a:endParaRPr dirty="0" lang="en-US" sz="1467"/>
          </a:p>
        </p:txBody>
      </p:sp>
      <p:sp>
        <p:nvSpPr>
          <p:cNvPr id="17" name="Shape 15"/>
          <p:cNvSpPr/>
          <p:nvPr/>
        </p:nvSpPr>
        <p:spPr>
          <a:xfrm>
            <a:off x="6339840" y="3803904"/>
            <a:ext cx="463296" cy="463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6339840" y="3803904"/>
            <a:ext cx="463296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600">
                <a:solidFill>
                  <a:srgbClr val="0D1B2A"/>
                </a:solidFill>
              </a:rPr>
              <a:t>3</a:t>
            </a:r>
            <a:endParaRPr dirty="0" lang="en-US" sz="1600"/>
          </a:p>
        </p:txBody>
      </p:sp>
      <p:sp>
        <p:nvSpPr>
          <p:cNvPr id="19" name="Text 17"/>
          <p:cNvSpPr/>
          <p:nvPr/>
        </p:nvSpPr>
        <p:spPr>
          <a:xfrm>
            <a:off x="6876288" y="3803904"/>
            <a:ext cx="475488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Signs {S}Bob with her private key → [{S}Bob]Alice</a:t>
            </a:r>
            <a:endParaRPr dirty="0" lang="en-US" sz="1467"/>
          </a:p>
        </p:txBody>
      </p:sp>
      <p:sp>
        <p:nvSpPr>
          <p:cNvPr id="20" name="Shape 18"/>
          <p:cNvSpPr/>
          <p:nvPr/>
        </p:nvSpPr>
        <p:spPr>
          <a:xfrm>
            <a:off x="6339840" y="4437888"/>
            <a:ext cx="463296" cy="463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6339840" y="4437888"/>
            <a:ext cx="463296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600">
                <a:solidFill>
                  <a:srgbClr val="0D1B2A"/>
                </a:solidFill>
              </a:rPr>
              <a:t>4</a:t>
            </a:r>
            <a:endParaRPr dirty="0" lang="en-US" sz="1600"/>
          </a:p>
        </p:txBody>
      </p:sp>
      <p:sp>
        <p:nvSpPr>
          <p:cNvPr id="22" name="Text 20"/>
          <p:cNvSpPr/>
          <p:nvPr/>
        </p:nvSpPr>
        <p:spPr>
          <a:xfrm>
            <a:off x="6876288" y="4437888"/>
            <a:ext cx="475488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Computes MAC of m using S</a:t>
            </a:r>
            <a:endParaRPr dirty="0" lang="en-US" sz="1467"/>
          </a:p>
        </p:txBody>
      </p:sp>
      <p:sp>
        <p:nvSpPr>
          <p:cNvPr id="23" name="Shape 21"/>
          <p:cNvSpPr/>
          <p:nvPr/>
        </p:nvSpPr>
        <p:spPr>
          <a:xfrm>
            <a:off x="6339840" y="5071872"/>
            <a:ext cx="463296" cy="463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6339840" y="5071872"/>
            <a:ext cx="463296" cy="46329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600">
                <a:solidFill>
                  <a:srgbClr val="0D1B2A"/>
                </a:solidFill>
              </a:rPr>
              <a:t>5</a:t>
            </a:r>
            <a:endParaRPr dirty="0" lang="en-US" sz="1600"/>
          </a:p>
        </p:txBody>
      </p:sp>
      <p:sp>
        <p:nvSpPr>
          <p:cNvPr id="25" name="Text 23"/>
          <p:cNvSpPr/>
          <p:nvPr/>
        </p:nvSpPr>
        <p:spPr>
          <a:xfrm>
            <a:off x="6876288" y="5071872"/>
            <a:ext cx="475488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Sends: message m  +  MAC  +  [{S}Bob]Alice to Bob</a:t>
            </a:r>
            <a:endParaRPr dirty="0" lang="en-US" sz="1467"/>
          </a:p>
        </p:txBody>
      </p:sp>
      <p:sp>
        <p:nvSpPr>
          <p:cNvPr id="26" name="Shape 24"/>
          <p:cNvSpPr/>
          <p:nvPr/>
        </p:nvSpPr>
        <p:spPr>
          <a:xfrm>
            <a:off x="6339840" y="5730240"/>
            <a:ext cx="5364480" cy="853440"/>
          </a:xfrm>
          <a:prstGeom prst="rect">
            <a:avLst/>
          </a:prstGeom>
          <a:solidFill>
            <a:srgbClr val="1322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6486144" y="5730240"/>
            <a:ext cx="5120640" cy="8534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333">
                <a:solidFill>
                  <a:srgbClr val="F59E0B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Why deniability holds: Bob received [{S}Bob]Alice — he can construct any message and forge a MAC with S. So he can't prove to a third party that m was Alice's actual message.</a:t>
            </a:r>
            <a:endParaRPr dirty="0" lang="en-US" sz="1333"/>
          </a:p>
        </p:txBody>
      </p:sp>
      <p:pic>
        <p:nvPicPr>
          <p:cNvPr descr="Plausible Deniability - TV Tropes" id="4098" name="Picture 2">
            <a:extLst>
              <a:ext uri="{FF2B5EF4-FFF2-40B4-BE49-F238E27FC236}">
                <a16:creationId xmlns:a16="http://schemas.microsoft.com/office/drawing/2014/main" id="{4F1EC15E-1B65-DA25-C9EE-ECC544C2E738}"/>
              </a:ext>
            </a:extLst>
          </p:cNvPr>
          <p:cNvPicPr>
            <a:picLocks noChangeArrowheads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717" y="2064766"/>
            <a:ext cx="5193991" cy="3665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97536"/>
            <a:ext cx="10972800" cy="10972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3467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Message Flow Confidentiality</a:t>
            </a:r>
            <a:endParaRPr dirty="0" lang="en-US" sz="3467"/>
          </a:p>
        </p:txBody>
      </p:sp>
      <p:sp>
        <p:nvSpPr>
          <p:cNvPr id="4" name="Text 2"/>
          <p:cNvSpPr/>
          <p:nvPr/>
        </p:nvSpPr>
        <p:spPr>
          <a:xfrm>
            <a:off x="609600" y="1402080"/>
            <a:ext cx="10972800" cy="4876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i="1" lang="en-US" sz="1733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Goal: Alice sends Bob a message such that no eavesdropper can tell that Alice communicated with Bob at all.</a:t>
            </a:r>
            <a:endParaRPr dirty="0" lang="en-US" sz="1733"/>
          </a:p>
        </p:txBody>
      </p:sp>
      <p:sp>
        <p:nvSpPr>
          <p:cNvPr id="5" name="Shape 3"/>
          <p:cNvSpPr/>
          <p:nvPr/>
        </p:nvSpPr>
        <p:spPr>
          <a:xfrm>
            <a:off x="487680" y="2011680"/>
            <a:ext cx="11216640" cy="1158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70560" y="2048256"/>
            <a:ext cx="6096000" cy="3657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733">
                <a:solidFill>
                  <a:srgbClr val="0D1B2A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Simple: Alice → Fred (encrypted) → Fred → Bob</a:t>
            </a:r>
            <a:endParaRPr dirty="0" lang="en-US" sz="1733"/>
          </a:p>
        </p:txBody>
      </p:sp>
      <p:sp>
        <p:nvSpPr>
          <p:cNvPr id="7" name="Text 5"/>
          <p:cNvSpPr/>
          <p:nvPr/>
        </p:nvSpPr>
        <p:spPr>
          <a:xfrm>
            <a:off x="670560" y="2438400"/>
            <a:ext cx="10850880" cy="6705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Fred forwards Alice's message to Bob after a random delay. Carol can see Alice contacting Fred but not who Fred is ultimately forwarding to.</a:t>
            </a:r>
            <a:endParaRPr dirty="0" lang="en-US" sz="1467"/>
          </a:p>
        </p:txBody>
      </p:sp>
      <p:sp>
        <p:nvSpPr>
          <p:cNvPr id="8" name="Text 6"/>
          <p:cNvSpPr/>
          <p:nvPr/>
        </p:nvSpPr>
        <p:spPr>
          <a:xfrm>
            <a:off x="609600" y="3316224"/>
            <a:ext cx="1121664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867">
                <a:solidFill>
                  <a:srgbClr val="0D1B2A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Onion Routing — Multi-Hop Layered Encryption (Chaum 1981 → Mixmaster → Tor)</a:t>
            </a:r>
            <a:endParaRPr dirty="0" lang="en-US" sz="1867"/>
          </a:p>
        </p:txBody>
      </p:sp>
      <p:sp>
        <p:nvSpPr>
          <p:cNvPr id="9" name="Shape 7"/>
          <p:cNvSpPr/>
          <p:nvPr/>
        </p:nvSpPr>
        <p:spPr>
          <a:xfrm>
            <a:off x="487680" y="3803904"/>
            <a:ext cx="1706880" cy="8290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487680" y="3803904"/>
            <a:ext cx="1706880" cy="82905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Alice</a:t>
            </a:r>
            <a:endParaRPr dirty="0" lang="en-US" sz="1733"/>
          </a:p>
        </p:txBody>
      </p:sp>
      <p:sp>
        <p:nvSpPr>
          <p:cNvPr id="11" name="Shape 9"/>
          <p:cNvSpPr/>
          <p:nvPr/>
        </p:nvSpPr>
        <p:spPr>
          <a:xfrm>
            <a:off x="2255520" y="4218432"/>
            <a:ext cx="499872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2779776" y="3803904"/>
            <a:ext cx="1706880" cy="829056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2779776" y="3803904"/>
            <a:ext cx="1706880" cy="82905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FFFFFF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R1</a:t>
            </a:r>
            <a:endParaRPr dirty="0" lang="en-US" sz="1733"/>
          </a:p>
        </p:txBody>
      </p:sp>
      <p:sp>
        <p:nvSpPr>
          <p:cNvPr id="14" name="Shape 12"/>
          <p:cNvSpPr/>
          <p:nvPr/>
        </p:nvSpPr>
        <p:spPr>
          <a:xfrm>
            <a:off x="4547616" y="4218432"/>
            <a:ext cx="499872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5071872" y="3803904"/>
            <a:ext cx="1706880" cy="829056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5071872" y="3803904"/>
            <a:ext cx="1706880" cy="82905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FFFFFF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R5</a:t>
            </a:r>
            <a:endParaRPr dirty="0" lang="en-US" sz="1733"/>
          </a:p>
        </p:txBody>
      </p:sp>
      <p:sp>
        <p:nvSpPr>
          <p:cNvPr id="17" name="Shape 15"/>
          <p:cNvSpPr/>
          <p:nvPr/>
        </p:nvSpPr>
        <p:spPr>
          <a:xfrm>
            <a:off x="6839712" y="4218432"/>
            <a:ext cx="499872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Shape 16"/>
          <p:cNvSpPr/>
          <p:nvPr/>
        </p:nvSpPr>
        <p:spPr>
          <a:xfrm>
            <a:off x="7363968" y="3803904"/>
            <a:ext cx="1706880" cy="829056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7363968" y="3803904"/>
            <a:ext cx="1706880" cy="82905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FFFFFF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R2</a:t>
            </a:r>
            <a:endParaRPr dirty="0" lang="en-US" sz="1733"/>
          </a:p>
        </p:txBody>
      </p:sp>
      <p:sp>
        <p:nvSpPr>
          <p:cNvPr id="20" name="Shape 18"/>
          <p:cNvSpPr/>
          <p:nvPr/>
        </p:nvSpPr>
        <p:spPr>
          <a:xfrm>
            <a:off x="9131808" y="4218432"/>
            <a:ext cx="499872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Shape 19"/>
          <p:cNvSpPr/>
          <p:nvPr/>
        </p:nvSpPr>
        <p:spPr>
          <a:xfrm>
            <a:off x="9656064" y="3803904"/>
            <a:ext cx="1706880" cy="8290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9656064" y="3803904"/>
            <a:ext cx="1706880" cy="829056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Bob</a:t>
            </a:r>
            <a:endParaRPr dirty="0" lang="en-US" sz="1733"/>
          </a:p>
        </p:txBody>
      </p:sp>
      <p:sp>
        <p:nvSpPr>
          <p:cNvPr id="23" name="Shape 21"/>
          <p:cNvSpPr/>
          <p:nvPr/>
        </p:nvSpPr>
        <p:spPr>
          <a:xfrm>
            <a:off x="2779776" y="4730496"/>
            <a:ext cx="2011680" cy="633984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2804160" y="4730496"/>
            <a:ext cx="1962912" cy="633984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dirty="0" lang="en-US" sz="1200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R1 knows source (Alice) but not destination</a:t>
            </a:r>
            <a:endParaRPr dirty="0" lang="en-US" sz="1200"/>
          </a:p>
        </p:txBody>
      </p:sp>
      <p:sp>
        <p:nvSpPr>
          <p:cNvPr id="25" name="Shape 23"/>
          <p:cNvSpPr/>
          <p:nvPr/>
        </p:nvSpPr>
        <p:spPr>
          <a:xfrm>
            <a:off x="5071872" y="4730496"/>
            <a:ext cx="2011680" cy="633984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5096256" y="4730496"/>
            <a:ext cx="1962912" cy="633984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dirty="0" lang="en-US" sz="1200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R5 knows neither source nor final destination</a:t>
            </a:r>
            <a:endParaRPr dirty="0" lang="en-US" sz="1200"/>
          </a:p>
        </p:txBody>
      </p:sp>
      <p:sp>
        <p:nvSpPr>
          <p:cNvPr id="27" name="Shape 25"/>
          <p:cNvSpPr/>
          <p:nvPr/>
        </p:nvSpPr>
        <p:spPr>
          <a:xfrm>
            <a:off x="7363968" y="4730496"/>
            <a:ext cx="2011680" cy="633984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7388352" y="4730496"/>
            <a:ext cx="1962912" cy="633984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dirty="0" lang="en-US" sz="1200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R2 knows destination (Bob) but not source</a:t>
            </a:r>
            <a:endParaRPr dirty="0" lang="en-US" sz="1200"/>
          </a:p>
        </p:txBody>
      </p:sp>
      <p:sp>
        <p:nvSpPr>
          <p:cNvPr id="29" name="Shape 27"/>
          <p:cNvSpPr/>
          <p:nvPr/>
        </p:nvSpPr>
        <p:spPr>
          <a:xfrm>
            <a:off x="487680" y="5486400"/>
            <a:ext cx="3535680" cy="1158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A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633984" y="5522976"/>
            <a:ext cx="3291840" cy="3657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467">
                <a:solidFill>
                  <a:srgbClr val="0D1B2A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Public-Key Onion</a:t>
            </a:r>
            <a:endParaRPr dirty="0" lang="en-US" sz="1467"/>
          </a:p>
        </p:txBody>
      </p:sp>
      <p:sp>
        <p:nvSpPr>
          <p:cNvPr id="31" name="Text 29"/>
          <p:cNvSpPr/>
          <p:nvPr/>
        </p:nvSpPr>
        <p:spPr>
          <a:xfrm>
            <a:off x="633984" y="5900928"/>
            <a:ext cx="3291840" cy="6705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200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Each hop decrypts with private key. Message grows per hop. Expensive but stateless.</a:t>
            </a:r>
            <a:endParaRPr dirty="0" lang="en-US" sz="1200"/>
          </a:p>
        </p:txBody>
      </p:sp>
      <p:sp>
        <p:nvSpPr>
          <p:cNvPr id="32" name="Shape 30"/>
          <p:cNvSpPr/>
          <p:nvPr/>
        </p:nvSpPr>
        <p:spPr>
          <a:xfrm>
            <a:off x="4328160" y="5486400"/>
            <a:ext cx="3535680" cy="1158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A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4474464" y="5522976"/>
            <a:ext cx="3291840" cy="3657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467">
                <a:solidFill>
                  <a:srgbClr val="0D1B2A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Secret-Key Onion (Tor-style)</a:t>
            </a:r>
            <a:endParaRPr dirty="0" lang="en-US" sz="1467"/>
          </a:p>
        </p:txBody>
      </p:sp>
      <p:sp>
        <p:nvSpPr>
          <p:cNvPr id="34" name="Text 32"/>
          <p:cNvSpPr/>
          <p:nvPr/>
        </p:nvSpPr>
        <p:spPr>
          <a:xfrm>
            <a:off x="4474464" y="5900928"/>
            <a:ext cx="3291840" cy="6705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200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Connection setup uses public keys; data uses shared secret keys. Fixed message size. Cheaper. Supports return path.</a:t>
            </a:r>
            <a:endParaRPr dirty="0" lang="en-US" sz="1200"/>
          </a:p>
        </p:txBody>
      </p:sp>
      <p:sp>
        <p:nvSpPr>
          <p:cNvPr id="35" name="Shape 33"/>
          <p:cNvSpPr/>
          <p:nvPr/>
        </p:nvSpPr>
        <p:spPr>
          <a:xfrm>
            <a:off x="8168640" y="5486400"/>
            <a:ext cx="3535680" cy="1158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A8"/>
            </a:solidFill>
            <a:prstDash val="solid"/>
          </a:ln>
          <a:effectLst>
            <a:outerShdw algn="bl" blurRad="101600" dir="8100000" dist="381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/>
          <p:nvPr/>
        </p:nvSpPr>
        <p:spPr>
          <a:xfrm>
            <a:off x="8314944" y="5522976"/>
            <a:ext cx="3291840" cy="3657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467">
                <a:solidFill>
                  <a:srgbClr val="0D1B2A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Cover Traffic</a:t>
            </a:r>
            <a:endParaRPr dirty="0" lang="en-US" sz="1467"/>
          </a:p>
        </p:txBody>
      </p:sp>
      <p:sp>
        <p:nvSpPr>
          <p:cNvPr id="37" name="Text 35"/>
          <p:cNvSpPr/>
          <p:nvPr/>
        </p:nvSpPr>
        <p:spPr>
          <a:xfrm>
            <a:off x="8314944" y="5900928"/>
            <a:ext cx="3291840" cy="6705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200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Dummy messages sent at random intervals to prevent traffic-correlation attacks.</a:t>
            </a:r>
            <a:endParaRPr dirty="0" lang="en-US" sz="1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97536"/>
            <a:ext cx="10972800" cy="10972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3467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Anonymity &amp; Pseudonymity</a:t>
            </a:r>
            <a:endParaRPr dirty="0" lang="en-US" sz="3467"/>
          </a:p>
        </p:txBody>
      </p:sp>
      <p:sp>
        <p:nvSpPr>
          <p:cNvPr id="4" name="Text 2"/>
          <p:cNvSpPr/>
          <p:nvPr/>
        </p:nvSpPr>
        <p:spPr>
          <a:xfrm>
            <a:off x="487680" y="1365504"/>
            <a:ext cx="536448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2133">
                <a:solidFill>
                  <a:srgbClr val="000000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Anonymity</a:t>
            </a:r>
            <a:endParaRPr dirty="0" lang="en-US" sz="2133"/>
          </a:p>
        </p:txBody>
      </p:sp>
      <p:sp>
        <p:nvSpPr>
          <p:cNvPr id="5" name="Text 3"/>
          <p:cNvSpPr/>
          <p:nvPr/>
        </p:nvSpPr>
        <p:spPr>
          <a:xfrm>
            <a:off x="487680" y="1828800"/>
            <a:ext cx="536448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i="1" lang="en-US" sz="1600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Bob should not be able to tell who sent the message.</a:t>
            </a:r>
            <a:endParaRPr dirty="0" lang="en-US" sz="1600"/>
          </a:p>
        </p:txBody>
      </p:sp>
      <p:sp>
        <p:nvSpPr>
          <p:cNvPr id="6" name="Shape 4"/>
          <p:cNvSpPr/>
          <p:nvPr/>
        </p:nvSpPr>
        <p:spPr>
          <a:xfrm>
            <a:off x="487680" y="2377440"/>
            <a:ext cx="243840" cy="2438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792480" y="2340864"/>
            <a:ext cx="49987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Simply omitting the FROM field is insufficient — network-layer address may be included</a:t>
            </a:r>
            <a:endParaRPr dirty="0" lang="en-US" sz="1467"/>
          </a:p>
        </p:txBody>
      </p:sp>
      <p:sp>
        <p:nvSpPr>
          <p:cNvPr id="8" name="Shape 6"/>
          <p:cNvSpPr/>
          <p:nvPr/>
        </p:nvSpPr>
        <p:spPr>
          <a:xfrm>
            <a:off x="487680" y="3011424"/>
            <a:ext cx="243840" cy="2438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792480" y="2974848"/>
            <a:ext cx="49987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Mail transports record the path the message took — available to the recipient</a:t>
            </a:r>
            <a:endParaRPr dirty="0" lang="en-US" sz="1467"/>
          </a:p>
        </p:txBody>
      </p:sp>
      <p:sp>
        <p:nvSpPr>
          <p:cNvPr id="10" name="Shape 8"/>
          <p:cNvSpPr/>
          <p:nvPr/>
        </p:nvSpPr>
        <p:spPr>
          <a:xfrm>
            <a:off x="487680" y="3645408"/>
            <a:ext cx="243840" cy="2438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792480" y="3608832"/>
            <a:ext cx="49987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Solution: use a third party (Fred) who sends the unsigned message onward</a:t>
            </a:r>
            <a:endParaRPr dirty="0" lang="en-US" sz="1467"/>
          </a:p>
        </p:txBody>
      </p:sp>
      <p:sp>
        <p:nvSpPr>
          <p:cNvPr id="12" name="Shape 10"/>
          <p:cNvSpPr/>
          <p:nvPr/>
        </p:nvSpPr>
        <p:spPr>
          <a:xfrm>
            <a:off x="487680" y="4279392"/>
            <a:ext cx="243840" cy="2438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792480" y="4242816"/>
            <a:ext cx="49987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Fred needs many clients to provide real anonymity (otherwise trivial to correlate)</a:t>
            </a:r>
            <a:endParaRPr dirty="0" lang="en-US" sz="1467"/>
          </a:p>
        </p:txBody>
      </p:sp>
      <p:sp>
        <p:nvSpPr>
          <p:cNvPr id="14" name="Shape 12"/>
          <p:cNvSpPr/>
          <p:nvPr/>
        </p:nvSpPr>
        <p:spPr>
          <a:xfrm>
            <a:off x="487680" y="4913376"/>
            <a:ext cx="243840" cy="2438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792480" y="4876800"/>
            <a:ext cx="49987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Cover traffic: users send fixed-length dummy messages at random intervals</a:t>
            </a:r>
            <a:endParaRPr dirty="0" lang="en-US" sz="1467"/>
          </a:p>
        </p:txBody>
      </p:sp>
      <p:sp>
        <p:nvSpPr>
          <p:cNvPr id="16" name="Shape 14"/>
          <p:cNvSpPr/>
          <p:nvPr/>
        </p:nvSpPr>
        <p:spPr>
          <a:xfrm>
            <a:off x="487680" y="5547360"/>
            <a:ext cx="243840" cy="2438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792480" y="5510784"/>
            <a:ext cx="49987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Fixed-length messages prevent correlation by size</a:t>
            </a:r>
            <a:endParaRPr dirty="0" lang="en-US" sz="1467"/>
          </a:p>
        </p:txBody>
      </p:sp>
      <p:sp>
        <p:nvSpPr>
          <p:cNvPr id="18" name="Shape 16"/>
          <p:cNvSpPr/>
          <p:nvPr/>
        </p:nvSpPr>
        <p:spPr>
          <a:xfrm>
            <a:off x="6217920" y="1341120"/>
            <a:ext cx="0" cy="524256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6461760" y="1365504"/>
            <a:ext cx="512064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2133">
                <a:solidFill>
                  <a:srgbClr val="000000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Pseudonymity</a:t>
            </a:r>
            <a:endParaRPr dirty="0" lang="en-US" sz="2133"/>
          </a:p>
        </p:txBody>
      </p:sp>
      <p:sp>
        <p:nvSpPr>
          <p:cNvPr id="20" name="Text 18"/>
          <p:cNvSpPr/>
          <p:nvPr/>
        </p:nvSpPr>
        <p:spPr>
          <a:xfrm>
            <a:off x="6461760" y="1828800"/>
            <a:ext cx="5120640" cy="60960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600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Bob can't identify the sender, but can tell that multiple messages came from the same entity.</a:t>
            </a:r>
            <a:endParaRPr dirty="0" lang="en-US" sz="1600"/>
          </a:p>
        </p:txBody>
      </p:sp>
      <p:sp>
        <p:nvSpPr>
          <p:cNvPr id="21" name="Shape 19"/>
          <p:cNvSpPr/>
          <p:nvPr/>
        </p:nvSpPr>
        <p:spPr>
          <a:xfrm>
            <a:off x="6461760" y="2535936"/>
            <a:ext cx="5242560" cy="829056"/>
          </a:xfrm>
          <a:prstGeom prst="rect">
            <a:avLst/>
          </a:prstGeom>
          <a:solidFill>
            <a:srgbClr val="1322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6608064" y="2572512"/>
            <a:ext cx="4998720" cy="316992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600">
                <a:solidFill>
                  <a:srgbClr val="F59E0B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How It Works</a:t>
            </a:r>
            <a:endParaRPr dirty="0" lang="en-US" sz="1600"/>
          </a:p>
        </p:txBody>
      </p:sp>
      <p:sp>
        <p:nvSpPr>
          <p:cNvPr id="23" name="Text 21"/>
          <p:cNvSpPr/>
          <p:nvPr/>
        </p:nvSpPr>
        <p:spPr>
          <a:xfrm>
            <a:off x="6608064" y="2901696"/>
            <a:ext cx="499872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Create a pseudonym + public key pair. Always sign messages with that pseudonym's private key.</a:t>
            </a:r>
            <a:endParaRPr dirty="0" lang="en-US" sz="1467"/>
          </a:p>
        </p:txBody>
      </p:sp>
      <p:sp>
        <p:nvSpPr>
          <p:cNvPr id="24" name="Shape 22"/>
          <p:cNvSpPr/>
          <p:nvPr/>
        </p:nvSpPr>
        <p:spPr>
          <a:xfrm>
            <a:off x="6461760" y="3486912"/>
            <a:ext cx="5242560" cy="829056"/>
          </a:xfrm>
          <a:prstGeom prst="rect">
            <a:avLst/>
          </a:prstGeom>
          <a:solidFill>
            <a:srgbClr val="1322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6608064" y="3523488"/>
            <a:ext cx="4998720" cy="316992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600">
                <a:solidFill>
                  <a:srgbClr val="F59E0B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Reply Problem</a:t>
            </a:r>
            <a:endParaRPr dirty="0" lang="en-US" sz="1600"/>
          </a:p>
        </p:txBody>
      </p:sp>
      <p:sp>
        <p:nvSpPr>
          <p:cNvPr id="26" name="Text 24"/>
          <p:cNvSpPr/>
          <p:nvPr/>
        </p:nvSpPr>
        <p:spPr>
          <a:xfrm>
            <a:off x="6608064" y="3852672"/>
            <a:ext cx="499872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Bob can't reply via normal DNS lookup. Remailers must retain routing state for each pseudonym.</a:t>
            </a:r>
            <a:endParaRPr dirty="0" lang="en-US" sz="1467"/>
          </a:p>
        </p:txBody>
      </p:sp>
      <p:sp>
        <p:nvSpPr>
          <p:cNvPr id="27" name="Shape 25"/>
          <p:cNvSpPr/>
          <p:nvPr/>
        </p:nvSpPr>
        <p:spPr>
          <a:xfrm>
            <a:off x="6461760" y="4437888"/>
            <a:ext cx="5242560" cy="829056"/>
          </a:xfrm>
          <a:prstGeom prst="rect">
            <a:avLst/>
          </a:prstGeom>
          <a:solidFill>
            <a:srgbClr val="1322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6608064" y="4474464"/>
            <a:ext cx="4998720" cy="316992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600">
                <a:solidFill>
                  <a:srgbClr val="F59E0B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Traceability</a:t>
            </a:r>
            <a:endParaRPr dirty="0" lang="en-US" sz="1600"/>
          </a:p>
        </p:txBody>
      </p:sp>
      <p:sp>
        <p:nvSpPr>
          <p:cNvPr id="29" name="Text 27"/>
          <p:cNvSpPr/>
          <p:nvPr/>
        </p:nvSpPr>
        <p:spPr>
          <a:xfrm>
            <a:off x="6608064" y="4803648"/>
            <a:ext cx="499872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Only compromising all remailers in the path reveals the true owner of the pseudonym.</a:t>
            </a:r>
            <a:endParaRPr dirty="0" lang="en-US" sz="1467"/>
          </a:p>
        </p:txBody>
      </p:sp>
      <p:sp>
        <p:nvSpPr>
          <p:cNvPr id="30" name="Shape 28"/>
          <p:cNvSpPr/>
          <p:nvPr/>
        </p:nvSpPr>
        <p:spPr>
          <a:xfrm>
            <a:off x="6461760" y="5388864"/>
            <a:ext cx="5242560" cy="829056"/>
          </a:xfrm>
          <a:prstGeom prst="rect">
            <a:avLst/>
          </a:prstGeom>
          <a:solidFill>
            <a:srgbClr val="1322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6608064" y="5425440"/>
            <a:ext cx="4998720" cy="316992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1600">
                <a:solidFill>
                  <a:srgbClr val="F59E0B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Anonymous Email</a:t>
            </a:r>
            <a:endParaRPr dirty="0" lang="en-US" sz="1600"/>
          </a:p>
        </p:txBody>
      </p:sp>
      <p:sp>
        <p:nvSpPr>
          <p:cNvPr id="32" name="Text 30"/>
          <p:cNvSpPr/>
          <p:nvPr/>
        </p:nvSpPr>
        <p:spPr>
          <a:xfrm>
            <a:off x="6608064" y="5754624"/>
            <a:ext cx="4998720" cy="42672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lang="en-US" sz="1467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Doesn't allow replies at all — fully one-way communication.</a:t>
            </a:r>
            <a:endParaRPr dirty="0" lang="en-US" sz="1467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97536"/>
            <a:ext cx="10972800" cy="109728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b="1" dirty="0" lang="en-US" sz="3467">
                <a:solidFill>
                  <a:srgbClr val="FFFFFF"/>
                </a:solidFill>
                <a:latin charset="0" pitchFamily="34" typeface="Georgia"/>
                <a:ea charset="-122" pitchFamily="34" typeface="Georgia"/>
                <a:cs charset="-120" pitchFamily="34" typeface="Georgia"/>
              </a:rPr>
              <a:t>Security Properties: Which Feature Provides What?</a:t>
            </a:r>
            <a:endParaRPr dirty="0" lang="en-US" sz="3467"/>
          </a:p>
        </p:txBody>
      </p:sp>
      <p:sp>
        <p:nvSpPr>
          <p:cNvPr id="4" name="Shape 2"/>
          <p:cNvSpPr/>
          <p:nvPr/>
        </p:nvSpPr>
        <p:spPr>
          <a:xfrm>
            <a:off x="487680" y="1402080"/>
            <a:ext cx="3048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87680" y="1402080"/>
            <a:ext cx="304800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333">
                <a:solidFill>
                  <a:srgbClr val="FFFFFF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Feature</a:t>
            </a:r>
            <a:endParaRPr dirty="0" lang="en-US" sz="1333"/>
          </a:p>
        </p:txBody>
      </p:sp>
      <p:sp>
        <p:nvSpPr>
          <p:cNvPr id="6" name="Shape 4"/>
          <p:cNvSpPr/>
          <p:nvPr/>
        </p:nvSpPr>
        <p:spPr>
          <a:xfrm>
            <a:off x="3535680" y="1402080"/>
            <a:ext cx="134112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3535680" y="1402080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333">
                <a:solidFill>
                  <a:srgbClr val="FFFFFF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Privacy</a:t>
            </a:r>
            <a:endParaRPr dirty="0" lang="en-US" sz="1333"/>
          </a:p>
        </p:txBody>
      </p:sp>
      <p:sp>
        <p:nvSpPr>
          <p:cNvPr id="8" name="Shape 6"/>
          <p:cNvSpPr/>
          <p:nvPr/>
        </p:nvSpPr>
        <p:spPr>
          <a:xfrm>
            <a:off x="4876800" y="1402080"/>
            <a:ext cx="12192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4876800" y="1402080"/>
            <a:ext cx="121920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333">
                <a:solidFill>
                  <a:srgbClr val="FFFFFF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Integrity</a:t>
            </a:r>
            <a:endParaRPr dirty="0" lang="en-US" sz="1333"/>
          </a:p>
        </p:txBody>
      </p:sp>
      <p:sp>
        <p:nvSpPr>
          <p:cNvPr id="10" name="Shape 8"/>
          <p:cNvSpPr/>
          <p:nvPr/>
        </p:nvSpPr>
        <p:spPr>
          <a:xfrm>
            <a:off x="6096000" y="1402080"/>
            <a:ext cx="109728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096000" y="1402080"/>
            <a:ext cx="109728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333">
                <a:solidFill>
                  <a:srgbClr val="FFFFFF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Auth</a:t>
            </a:r>
            <a:endParaRPr dirty="0" lang="en-US" sz="1333"/>
          </a:p>
        </p:txBody>
      </p:sp>
      <p:sp>
        <p:nvSpPr>
          <p:cNvPr id="12" name="Shape 10"/>
          <p:cNvSpPr/>
          <p:nvPr/>
        </p:nvSpPr>
        <p:spPr>
          <a:xfrm>
            <a:off x="7193280" y="1402080"/>
            <a:ext cx="134112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7193280" y="1402080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333">
                <a:solidFill>
                  <a:srgbClr val="FFFFFF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Non-Repud.</a:t>
            </a:r>
            <a:endParaRPr dirty="0" lang="en-US" sz="1333"/>
          </a:p>
        </p:txBody>
      </p:sp>
      <p:sp>
        <p:nvSpPr>
          <p:cNvPr id="14" name="Shape 12"/>
          <p:cNvSpPr/>
          <p:nvPr/>
        </p:nvSpPr>
        <p:spPr>
          <a:xfrm>
            <a:off x="8534400" y="1402080"/>
            <a:ext cx="134112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8534400" y="1402080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333">
                <a:solidFill>
                  <a:srgbClr val="FFFFFF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Anonymity</a:t>
            </a:r>
            <a:endParaRPr dirty="0" lang="en-US" sz="1333"/>
          </a:p>
        </p:txBody>
      </p:sp>
      <p:sp>
        <p:nvSpPr>
          <p:cNvPr id="16" name="Shape 14"/>
          <p:cNvSpPr/>
          <p:nvPr/>
        </p:nvSpPr>
        <p:spPr>
          <a:xfrm>
            <a:off x="9875520" y="1402080"/>
            <a:ext cx="134112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9875520" y="1402080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333">
                <a:solidFill>
                  <a:srgbClr val="FFFFFF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Flow Conf.</a:t>
            </a:r>
            <a:endParaRPr dirty="0" lang="en-US" sz="1333"/>
          </a:p>
        </p:txBody>
      </p:sp>
      <p:sp>
        <p:nvSpPr>
          <p:cNvPr id="18" name="Shape 16"/>
          <p:cNvSpPr/>
          <p:nvPr/>
        </p:nvSpPr>
        <p:spPr>
          <a:xfrm>
            <a:off x="487680" y="1975104"/>
            <a:ext cx="304800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487680" y="1975104"/>
            <a:ext cx="304800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End-to-End Encrypt.</a:t>
            </a:r>
            <a:endParaRPr dirty="0" lang="en-US" sz="1467"/>
          </a:p>
        </p:txBody>
      </p:sp>
      <p:sp>
        <p:nvSpPr>
          <p:cNvPr id="20" name="Shape 18"/>
          <p:cNvSpPr/>
          <p:nvPr/>
        </p:nvSpPr>
        <p:spPr>
          <a:xfrm>
            <a:off x="3535680" y="1975104"/>
            <a:ext cx="134112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3535680" y="1975104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22C55E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✔</a:t>
            </a:r>
            <a:endParaRPr dirty="0" lang="en-US" sz="1733"/>
          </a:p>
        </p:txBody>
      </p:sp>
      <p:sp>
        <p:nvSpPr>
          <p:cNvPr id="22" name="Shape 20"/>
          <p:cNvSpPr/>
          <p:nvPr/>
        </p:nvSpPr>
        <p:spPr>
          <a:xfrm>
            <a:off x="4876800" y="1975104"/>
            <a:ext cx="121920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4876800" y="1975104"/>
            <a:ext cx="121920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EF4444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✗</a:t>
            </a:r>
            <a:endParaRPr dirty="0" lang="en-US" sz="1733"/>
          </a:p>
        </p:txBody>
      </p:sp>
      <p:sp>
        <p:nvSpPr>
          <p:cNvPr id="24" name="Shape 22"/>
          <p:cNvSpPr/>
          <p:nvPr/>
        </p:nvSpPr>
        <p:spPr>
          <a:xfrm>
            <a:off x="6096000" y="1975104"/>
            <a:ext cx="109728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6096000" y="1975104"/>
            <a:ext cx="109728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EF4444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✗</a:t>
            </a:r>
            <a:endParaRPr dirty="0" lang="en-US" sz="1733"/>
          </a:p>
        </p:txBody>
      </p:sp>
      <p:sp>
        <p:nvSpPr>
          <p:cNvPr id="26" name="Shape 24"/>
          <p:cNvSpPr/>
          <p:nvPr/>
        </p:nvSpPr>
        <p:spPr>
          <a:xfrm>
            <a:off x="7193280" y="1975104"/>
            <a:ext cx="134112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7193280" y="1975104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EF4444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✗</a:t>
            </a:r>
            <a:endParaRPr dirty="0" lang="en-US" sz="1733"/>
          </a:p>
        </p:txBody>
      </p:sp>
      <p:sp>
        <p:nvSpPr>
          <p:cNvPr id="28" name="Shape 26"/>
          <p:cNvSpPr/>
          <p:nvPr/>
        </p:nvSpPr>
        <p:spPr>
          <a:xfrm>
            <a:off x="8534400" y="1975104"/>
            <a:ext cx="134112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Text 27"/>
          <p:cNvSpPr/>
          <p:nvPr/>
        </p:nvSpPr>
        <p:spPr>
          <a:xfrm>
            <a:off x="8534400" y="1975104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EF4444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✗</a:t>
            </a:r>
            <a:endParaRPr dirty="0" lang="en-US" sz="1733"/>
          </a:p>
        </p:txBody>
      </p:sp>
      <p:sp>
        <p:nvSpPr>
          <p:cNvPr id="30" name="Shape 28"/>
          <p:cNvSpPr/>
          <p:nvPr/>
        </p:nvSpPr>
        <p:spPr>
          <a:xfrm>
            <a:off x="9875520" y="1975104"/>
            <a:ext cx="134112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9875520" y="1975104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EF4444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✗</a:t>
            </a:r>
            <a:endParaRPr dirty="0" lang="en-US" sz="1733"/>
          </a:p>
        </p:txBody>
      </p:sp>
      <p:sp>
        <p:nvSpPr>
          <p:cNvPr id="32" name="Shape 30"/>
          <p:cNvSpPr/>
          <p:nvPr/>
        </p:nvSpPr>
        <p:spPr>
          <a:xfrm>
            <a:off x="487680" y="2584704"/>
            <a:ext cx="3048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487680" y="2584704"/>
            <a:ext cx="304800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Digital Signature</a:t>
            </a:r>
            <a:endParaRPr dirty="0" lang="en-US" sz="1467"/>
          </a:p>
        </p:txBody>
      </p:sp>
      <p:sp>
        <p:nvSpPr>
          <p:cNvPr id="34" name="Shape 32"/>
          <p:cNvSpPr/>
          <p:nvPr/>
        </p:nvSpPr>
        <p:spPr>
          <a:xfrm>
            <a:off x="3535680" y="2584704"/>
            <a:ext cx="1341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5" name="Text 33"/>
          <p:cNvSpPr/>
          <p:nvPr/>
        </p:nvSpPr>
        <p:spPr>
          <a:xfrm>
            <a:off x="3535680" y="2584704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EF4444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✗</a:t>
            </a:r>
            <a:endParaRPr dirty="0" lang="en-US" sz="1733"/>
          </a:p>
        </p:txBody>
      </p:sp>
      <p:sp>
        <p:nvSpPr>
          <p:cNvPr id="36" name="Shape 34"/>
          <p:cNvSpPr/>
          <p:nvPr/>
        </p:nvSpPr>
        <p:spPr>
          <a:xfrm>
            <a:off x="4876800" y="2584704"/>
            <a:ext cx="1219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7" name="Text 35"/>
          <p:cNvSpPr/>
          <p:nvPr/>
        </p:nvSpPr>
        <p:spPr>
          <a:xfrm>
            <a:off x="4876800" y="2584704"/>
            <a:ext cx="121920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22C55E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✔</a:t>
            </a:r>
            <a:endParaRPr dirty="0" lang="en-US" sz="1733"/>
          </a:p>
        </p:txBody>
      </p:sp>
      <p:sp>
        <p:nvSpPr>
          <p:cNvPr id="38" name="Shape 36"/>
          <p:cNvSpPr/>
          <p:nvPr/>
        </p:nvSpPr>
        <p:spPr>
          <a:xfrm>
            <a:off x="6096000" y="2584704"/>
            <a:ext cx="1097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9" name="Text 37"/>
          <p:cNvSpPr/>
          <p:nvPr/>
        </p:nvSpPr>
        <p:spPr>
          <a:xfrm>
            <a:off x="6096000" y="2584704"/>
            <a:ext cx="109728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22C55E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✔</a:t>
            </a:r>
            <a:endParaRPr dirty="0" lang="en-US" sz="1733"/>
          </a:p>
        </p:txBody>
      </p:sp>
      <p:sp>
        <p:nvSpPr>
          <p:cNvPr id="40" name="Shape 38"/>
          <p:cNvSpPr/>
          <p:nvPr/>
        </p:nvSpPr>
        <p:spPr>
          <a:xfrm>
            <a:off x="7193280" y="2584704"/>
            <a:ext cx="1341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1" name="Text 39"/>
          <p:cNvSpPr/>
          <p:nvPr/>
        </p:nvSpPr>
        <p:spPr>
          <a:xfrm>
            <a:off x="7193280" y="2584704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22C55E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✔</a:t>
            </a:r>
            <a:endParaRPr dirty="0" lang="en-US" sz="1733"/>
          </a:p>
        </p:txBody>
      </p:sp>
      <p:sp>
        <p:nvSpPr>
          <p:cNvPr id="42" name="Shape 40"/>
          <p:cNvSpPr/>
          <p:nvPr/>
        </p:nvSpPr>
        <p:spPr>
          <a:xfrm>
            <a:off x="8534400" y="2584704"/>
            <a:ext cx="1341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3" name="Text 41"/>
          <p:cNvSpPr/>
          <p:nvPr/>
        </p:nvSpPr>
        <p:spPr>
          <a:xfrm>
            <a:off x="8534400" y="2584704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EF4444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✗</a:t>
            </a:r>
            <a:endParaRPr dirty="0" lang="en-US" sz="1733"/>
          </a:p>
        </p:txBody>
      </p:sp>
      <p:sp>
        <p:nvSpPr>
          <p:cNvPr id="44" name="Shape 42"/>
          <p:cNvSpPr/>
          <p:nvPr/>
        </p:nvSpPr>
        <p:spPr>
          <a:xfrm>
            <a:off x="9875520" y="2584704"/>
            <a:ext cx="1341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5" name="Text 43"/>
          <p:cNvSpPr/>
          <p:nvPr/>
        </p:nvSpPr>
        <p:spPr>
          <a:xfrm>
            <a:off x="9875520" y="2584704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EF4444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✗</a:t>
            </a:r>
            <a:endParaRPr dirty="0" lang="en-US" sz="1733"/>
          </a:p>
        </p:txBody>
      </p:sp>
      <p:sp>
        <p:nvSpPr>
          <p:cNvPr id="46" name="Shape 44"/>
          <p:cNvSpPr/>
          <p:nvPr/>
        </p:nvSpPr>
        <p:spPr>
          <a:xfrm>
            <a:off x="487680" y="3194304"/>
            <a:ext cx="304800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7" name="Text 45"/>
          <p:cNvSpPr/>
          <p:nvPr/>
        </p:nvSpPr>
        <p:spPr>
          <a:xfrm>
            <a:off x="487680" y="3194304"/>
            <a:ext cx="304800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PGP / S/MIME</a:t>
            </a:r>
            <a:endParaRPr dirty="0" lang="en-US" sz="1467"/>
          </a:p>
        </p:txBody>
      </p:sp>
      <p:sp>
        <p:nvSpPr>
          <p:cNvPr id="48" name="Shape 46"/>
          <p:cNvSpPr/>
          <p:nvPr/>
        </p:nvSpPr>
        <p:spPr>
          <a:xfrm>
            <a:off x="3535680" y="3194304"/>
            <a:ext cx="134112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9" name="Text 47"/>
          <p:cNvSpPr/>
          <p:nvPr/>
        </p:nvSpPr>
        <p:spPr>
          <a:xfrm>
            <a:off x="3535680" y="3194304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22C55E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✔</a:t>
            </a:r>
            <a:endParaRPr dirty="0" lang="en-US" sz="1733"/>
          </a:p>
        </p:txBody>
      </p:sp>
      <p:sp>
        <p:nvSpPr>
          <p:cNvPr id="50" name="Shape 48"/>
          <p:cNvSpPr/>
          <p:nvPr/>
        </p:nvSpPr>
        <p:spPr>
          <a:xfrm>
            <a:off x="4876800" y="3194304"/>
            <a:ext cx="121920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1" name="Text 49"/>
          <p:cNvSpPr/>
          <p:nvPr/>
        </p:nvSpPr>
        <p:spPr>
          <a:xfrm>
            <a:off x="4876800" y="3194304"/>
            <a:ext cx="121920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22C55E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✔</a:t>
            </a:r>
            <a:endParaRPr dirty="0" lang="en-US" sz="1733"/>
          </a:p>
        </p:txBody>
      </p:sp>
      <p:sp>
        <p:nvSpPr>
          <p:cNvPr id="52" name="Shape 50"/>
          <p:cNvSpPr/>
          <p:nvPr/>
        </p:nvSpPr>
        <p:spPr>
          <a:xfrm>
            <a:off x="6096000" y="3194304"/>
            <a:ext cx="109728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3" name="Text 51"/>
          <p:cNvSpPr/>
          <p:nvPr/>
        </p:nvSpPr>
        <p:spPr>
          <a:xfrm>
            <a:off x="6096000" y="3194304"/>
            <a:ext cx="109728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22C55E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✔</a:t>
            </a:r>
            <a:endParaRPr dirty="0" lang="en-US" sz="1733"/>
          </a:p>
        </p:txBody>
      </p:sp>
      <p:sp>
        <p:nvSpPr>
          <p:cNvPr id="54" name="Shape 52"/>
          <p:cNvSpPr/>
          <p:nvPr/>
        </p:nvSpPr>
        <p:spPr>
          <a:xfrm>
            <a:off x="7193280" y="3194304"/>
            <a:ext cx="134112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5" name="Text 53"/>
          <p:cNvSpPr/>
          <p:nvPr/>
        </p:nvSpPr>
        <p:spPr>
          <a:xfrm>
            <a:off x="7193280" y="3194304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22C55E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✔</a:t>
            </a:r>
            <a:endParaRPr dirty="0" lang="en-US" sz="1733"/>
          </a:p>
        </p:txBody>
      </p:sp>
      <p:sp>
        <p:nvSpPr>
          <p:cNvPr id="56" name="Shape 54"/>
          <p:cNvSpPr/>
          <p:nvPr/>
        </p:nvSpPr>
        <p:spPr>
          <a:xfrm>
            <a:off x="8534400" y="3194304"/>
            <a:ext cx="134112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7" name="Text 55"/>
          <p:cNvSpPr/>
          <p:nvPr/>
        </p:nvSpPr>
        <p:spPr>
          <a:xfrm>
            <a:off x="8534400" y="3194304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EF4444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✗</a:t>
            </a:r>
            <a:endParaRPr dirty="0" lang="en-US" sz="1733"/>
          </a:p>
        </p:txBody>
      </p:sp>
      <p:sp>
        <p:nvSpPr>
          <p:cNvPr id="58" name="Shape 56"/>
          <p:cNvSpPr/>
          <p:nvPr/>
        </p:nvSpPr>
        <p:spPr>
          <a:xfrm>
            <a:off x="9875520" y="3194304"/>
            <a:ext cx="134112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9" name="Text 57"/>
          <p:cNvSpPr/>
          <p:nvPr/>
        </p:nvSpPr>
        <p:spPr>
          <a:xfrm>
            <a:off x="9875520" y="3194304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EF4444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✗</a:t>
            </a:r>
            <a:endParaRPr dirty="0" lang="en-US" sz="1733"/>
          </a:p>
        </p:txBody>
      </p:sp>
      <p:sp>
        <p:nvSpPr>
          <p:cNvPr id="60" name="Shape 58"/>
          <p:cNvSpPr/>
          <p:nvPr/>
        </p:nvSpPr>
        <p:spPr>
          <a:xfrm>
            <a:off x="487680" y="3803904"/>
            <a:ext cx="3048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1" name="Text 59"/>
          <p:cNvSpPr/>
          <p:nvPr/>
        </p:nvSpPr>
        <p:spPr>
          <a:xfrm>
            <a:off x="487680" y="3803904"/>
            <a:ext cx="304800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Plausible Deniability</a:t>
            </a:r>
            <a:endParaRPr dirty="0" lang="en-US" sz="1467"/>
          </a:p>
        </p:txBody>
      </p:sp>
      <p:sp>
        <p:nvSpPr>
          <p:cNvPr id="62" name="Shape 60"/>
          <p:cNvSpPr/>
          <p:nvPr/>
        </p:nvSpPr>
        <p:spPr>
          <a:xfrm>
            <a:off x="3535680" y="3803904"/>
            <a:ext cx="1341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3" name="Text 61"/>
          <p:cNvSpPr/>
          <p:nvPr/>
        </p:nvSpPr>
        <p:spPr>
          <a:xfrm>
            <a:off x="3535680" y="3803904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22C55E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✔</a:t>
            </a:r>
            <a:endParaRPr dirty="0" lang="en-US" sz="1733"/>
          </a:p>
        </p:txBody>
      </p:sp>
      <p:sp>
        <p:nvSpPr>
          <p:cNvPr id="64" name="Shape 62"/>
          <p:cNvSpPr/>
          <p:nvPr/>
        </p:nvSpPr>
        <p:spPr>
          <a:xfrm>
            <a:off x="4876800" y="3803904"/>
            <a:ext cx="1219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5" name="Text 63"/>
          <p:cNvSpPr/>
          <p:nvPr/>
        </p:nvSpPr>
        <p:spPr>
          <a:xfrm>
            <a:off x="4876800" y="3803904"/>
            <a:ext cx="121920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22C55E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✔</a:t>
            </a:r>
            <a:endParaRPr dirty="0" lang="en-US" sz="1733"/>
          </a:p>
        </p:txBody>
      </p:sp>
      <p:sp>
        <p:nvSpPr>
          <p:cNvPr id="66" name="Shape 64"/>
          <p:cNvSpPr/>
          <p:nvPr/>
        </p:nvSpPr>
        <p:spPr>
          <a:xfrm>
            <a:off x="6096000" y="3803904"/>
            <a:ext cx="1097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7" name="Text 65"/>
          <p:cNvSpPr/>
          <p:nvPr/>
        </p:nvSpPr>
        <p:spPr>
          <a:xfrm>
            <a:off x="6096000" y="3803904"/>
            <a:ext cx="109728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22C55E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✔</a:t>
            </a:r>
            <a:endParaRPr dirty="0" lang="en-US" sz="1733"/>
          </a:p>
        </p:txBody>
      </p:sp>
      <p:sp>
        <p:nvSpPr>
          <p:cNvPr id="68" name="Shape 66"/>
          <p:cNvSpPr/>
          <p:nvPr/>
        </p:nvSpPr>
        <p:spPr>
          <a:xfrm>
            <a:off x="7193280" y="3803904"/>
            <a:ext cx="1341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9" name="Text 67"/>
          <p:cNvSpPr/>
          <p:nvPr/>
        </p:nvSpPr>
        <p:spPr>
          <a:xfrm>
            <a:off x="7193280" y="3803904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EF4444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✗</a:t>
            </a:r>
            <a:endParaRPr dirty="0" lang="en-US" sz="1733"/>
          </a:p>
        </p:txBody>
      </p:sp>
      <p:sp>
        <p:nvSpPr>
          <p:cNvPr id="70" name="Shape 68"/>
          <p:cNvSpPr/>
          <p:nvPr/>
        </p:nvSpPr>
        <p:spPr>
          <a:xfrm>
            <a:off x="8534400" y="3803904"/>
            <a:ext cx="1341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1" name="Text 69"/>
          <p:cNvSpPr/>
          <p:nvPr/>
        </p:nvSpPr>
        <p:spPr>
          <a:xfrm>
            <a:off x="8534400" y="3803904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EF4444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✗</a:t>
            </a:r>
            <a:endParaRPr dirty="0" lang="en-US" sz="1733"/>
          </a:p>
        </p:txBody>
      </p:sp>
      <p:sp>
        <p:nvSpPr>
          <p:cNvPr id="72" name="Shape 70"/>
          <p:cNvSpPr/>
          <p:nvPr/>
        </p:nvSpPr>
        <p:spPr>
          <a:xfrm>
            <a:off x="9875520" y="3803904"/>
            <a:ext cx="1341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3" name="Text 71"/>
          <p:cNvSpPr/>
          <p:nvPr/>
        </p:nvSpPr>
        <p:spPr>
          <a:xfrm>
            <a:off x="9875520" y="3803904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EF4444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✗</a:t>
            </a:r>
            <a:endParaRPr dirty="0" lang="en-US" sz="1733"/>
          </a:p>
        </p:txBody>
      </p:sp>
      <p:sp>
        <p:nvSpPr>
          <p:cNvPr id="74" name="Shape 72"/>
          <p:cNvSpPr/>
          <p:nvPr/>
        </p:nvSpPr>
        <p:spPr>
          <a:xfrm>
            <a:off x="487680" y="4413504"/>
            <a:ext cx="304800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5" name="Text 73"/>
          <p:cNvSpPr/>
          <p:nvPr/>
        </p:nvSpPr>
        <p:spPr>
          <a:xfrm>
            <a:off x="487680" y="4413504"/>
            <a:ext cx="304800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Onion Routing</a:t>
            </a:r>
            <a:endParaRPr dirty="0" lang="en-US" sz="1467"/>
          </a:p>
        </p:txBody>
      </p:sp>
      <p:sp>
        <p:nvSpPr>
          <p:cNvPr id="76" name="Shape 74"/>
          <p:cNvSpPr/>
          <p:nvPr/>
        </p:nvSpPr>
        <p:spPr>
          <a:xfrm>
            <a:off x="3535680" y="4413504"/>
            <a:ext cx="134112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7" name="Text 75"/>
          <p:cNvSpPr/>
          <p:nvPr/>
        </p:nvSpPr>
        <p:spPr>
          <a:xfrm>
            <a:off x="3535680" y="4413504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22C55E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✔</a:t>
            </a:r>
            <a:endParaRPr dirty="0" lang="en-US" sz="1733"/>
          </a:p>
        </p:txBody>
      </p:sp>
      <p:sp>
        <p:nvSpPr>
          <p:cNvPr id="78" name="Shape 76"/>
          <p:cNvSpPr/>
          <p:nvPr/>
        </p:nvSpPr>
        <p:spPr>
          <a:xfrm>
            <a:off x="4876800" y="4413504"/>
            <a:ext cx="121920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9" name="Text 77"/>
          <p:cNvSpPr/>
          <p:nvPr/>
        </p:nvSpPr>
        <p:spPr>
          <a:xfrm>
            <a:off x="4876800" y="4413504"/>
            <a:ext cx="121920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EF4444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✗</a:t>
            </a:r>
            <a:endParaRPr dirty="0" lang="en-US" sz="1733"/>
          </a:p>
        </p:txBody>
      </p:sp>
      <p:sp>
        <p:nvSpPr>
          <p:cNvPr id="80" name="Shape 78"/>
          <p:cNvSpPr/>
          <p:nvPr/>
        </p:nvSpPr>
        <p:spPr>
          <a:xfrm>
            <a:off x="6096000" y="4413504"/>
            <a:ext cx="109728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1" name="Text 79"/>
          <p:cNvSpPr/>
          <p:nvPr/>
        </p:nvSpPr>
        <p:spPr>
          <a:xfrm>
            <a:off x="6096000" y="4413504"/>
            <a:ext cx="109728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EF4444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✗</a:t>
            </a:r>
            <a:endParaRPr dirty="0" lang="en-US" sz="1733"/>
          </a:p>
        </p:txBody>
      </p:sp>
      <p:sp>
        <p:nvSpPr>
          <p:cNvPr id="82" name="Shape 80"/>
          <p:cNvSpPr/>
          <p:nvPr/>
        </p:nvSpPr>
        <p:spPr>
          <a:xfrm>
            <a:off x="7193280" y="4413504"/>
            <a:ext cx="134112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3" name="Text 81"/>
          <p:cNvSpPr/>
          <p:nvPr/>
        </p:nvSpPr>
        <p:spPr>
          <a:xfrm>
            <a:off x="7193280" y="4413504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EF4444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✗</a:t>
            </a:r>
            <a:endParaRPr dirty="0" lang="en-US" sz="1733"/>
          </a:p>
        </p:txBody>
      </p:sp>
      <p:sp>
        <p:nvSpPr>
          <p:cNvPr id="84" name="Shape 82"/>
          <p:cNvSpPr/>
          <p:nvPr/>
        </p:nvSpPr>
        <p:spPr>
          <a:xfrm>
            <a:off x="8534400" y="4413504"/>
            <a:ext cx="134112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5" name="Text 83"/>
          <p:cNvSpPr/>
          <p:nvPr/>
        </p:nvSpPr>
        <p:spPr>
          <a:xfrm>
            <a:off x="8534400" y="4413504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22C55E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✔</a:t>
            </a:r>
            <a:endParaRPr dirty="0" lang="en-US" sz="1733"/>
          </a:p>
        </p:txBody>
      </p:sp>
      <p:sp>
        <p:nvSpPr>
          <p:cNvPr id="86" name="Shape 84"/>
          <p:cNvSpPr/>
          <p:nvPr/>
        </p:nvSpPr>
        <p:spPr>
          <a:xfrm>
            <a:off x="9875520" y="4413504"/>
            <a:ext cx="134112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7" name="Text 85"/>
          <p:cNvSpPr/>
          <p:nvPr/>
        </p:nvSpPr>
        <p:spPr>
          <a:xfrm>
            <a:off x="9875520" y="4413504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22C55E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✔</a:t>
            </a:r>
            <a:endParaRPr dirty="0" lang="en-US" sz="1733"/>
          </a:p>
        </p:txBody>
      </p:sp>
      <p:sp>
        <p:nvSpPr>
          <p:cNvPr id="88" name="Shape 86"/>
          <p:cNvSpPr/>
          <p:nvPr/>
        </p:nvSpPr>
        <p:spPr>
          <a:xfrm>
            <a:off x="487680" y="5023104"/>
            <a:ext cx="3048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9" name="Text 87"/>
          <p:cNvSpPr/>
          <p:nvPr/>
        </p:nvSpPr>
        <p:spPr>
          <a:xfrm>
            <a:off x="487680" y="5023104"/>
            <a:ext cx="304800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Pseudonymity</a:t>
            </a:r>
            <a:endParaRPr dirty="0" lang="en-US" sz="1467"/>
          </a:p>
        </p:txBody>
      </p:sp>
      <p:sp>
        <p:nvSpPr>
          <p:cNvPr id="90" name="Shape 88"/>
          <p:cNvSpPr/>
          <p:nvPr/>
        </p:nvSpPr>
        <p:spPr>
          <a:xfrm>
            <a:off x="3535680" y="5023104"/>
            <a:ext cx="1341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1" name="Text 89"/>
          <p:cNvSpPr/>
          <p:nvPr/>
        </p:nvSpPr>
        <p:spPr>
          <a:xfrm>
            <a:off x="3535680" y="5023104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EF4444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✗</a:t>
            </a:r>
            <a:endParaRPr dirty="0" lang="en-US" sz="1733"/>
          </a:p>
        </p:txBody>
      </p:sp>
      <p:sp>
        <p:nvSpPr>
          <p:cNvPr id="92" name="Shape 90"/>
          <p:cNvSpPr/>
          <p:nvPr/>
        </p:nvSpPr>
        <p:spPr>
          <a:xfrm>
            <a:off x="4876800" y="5023104"/>
            <a:ext cx="1219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3" name="Text 91"/>
          <p:cNvSpPr/>
          <p:nvPr/>
        </p:nvSpPr>
        <p:spPr>
          <a:xfrm>
            <a:off x="4876800" y="5023104"/>
            <a:ext cx="121920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EF4444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✗</a:t>
            </a:r>
            <a:endParaRPr dirty="0" lang="en-US" sz="1733"/>
          </a:p>
        </p:txBody>
      </p:sp>
      <p:sp>
        <p:nvSpPr>
          <p:cNvPr id="94" name="Shape 92"/>
          <p:cNvSpPr/>
          <p:nvPr/>
        </p:nvSpPr>
        <p:spPr>
          <a:xfrm>
            <a:off x="6096000" y="5023104"/>
            <a:ext cx="1097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5" name="Text 93"/>
          <p:cNvSpPr/>
          <p:nvPr/>
        </p:nvSpPr>
        <p:spPr>
          <a:xfrm>
            <a:off x="6096000" y="5023104"/>
            <a:ext cx="109728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Partial</a:t>
            </a:r>
            <a:endParaRPr dirty="0" lang="en-US" sz="1733"/>
          </a:p>
        </p:txBody>
      </p:sp>
      <p:sp>
        <p:nvSpPr>
          <p:cNvPr id="96" name="Shape 94"/>
          <p:cNvSpPr/>
          <p:nvPr/>
        </p:nvSpPr>
        <p:spPr>
          <a:xfrm>
            <a:off x="7193280" y="5023104"/>
            <a:ext cx="1341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7" name="Text 95"/>
          <p:cNvSpPr/>
          <p:nvPr/>
        </p:nvSpPr>
        <p:spPr>
          <a:xfrm>
            <a:off x="7193280" y="5023104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EF4444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✗</a:t>
            </a:r>
            <a:endParaRPr dirty="0" lang="en-US" sz="1733"/>
          </a:p>
        </p:txBody>
      </p:sp>
      <p:sp>
        <p:nvSpPr>
          <p:cNvPr id="98" name="Shape 96"/>
          <p:cNvSpPr/>
          <p:nvPr/>
        </p:nvSpPr>
        <p:spPr>
          <a:xfrm>
            <a:off x="8534400" y="5023104"/>
            <a:ext cx="1341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9" name="Text 97"/>
          <p:cNvSpPr/>
          <p:nvPr/>
        </p:nvSpPr>
        <p:spPr>
          <a:xfrm>
            <a:off x="8534400" y="5023104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22C55E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✔</a:t>
            </a:r>
            <a:endParaRPr dirty="0" lang="en-US" sz="1733"/>
          </a:p>
        </p:txBody>
      </p:sp>
      <p:sp>
        <p:nvSpPr>
          <p:cNvPr id="100" name="Shape 98"/>
          <p:cNvSpPr/>
          <p:nvPr/>
        </p:nvSpPr>
        <p:spPr>
          <a:xfrm>
            <a:off x="9875520" y="5023104"/>
            <a:ext cx="1341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1" name="Text 99"/>
          <p:cNvSpPr/>
          <p:nvPr/>
        </p:nvSpPr>
        <p:spPr>
          <a:xfrm>
            <a:off x="9875520" y="5023104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EF4444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✗</a:t>
            </a:r>
            <a:endParaRPr dirty="0" lang="en-US" sz="1733"/>
          </a:p>
        </p:txBody>
      </p:sp>
      <p:sp>
        <p:nvSpPr>
          <p:cNvPr id="102" name="Shape 100"/>
          <p:cNvSpPr/>
          <p:nvPr/>
        </p:nvSpPr>
        <p:spPr>
          <a:xfrm>
            <a:off x="487680" y="5632704"/>
            <a:ext cx="304800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3" name="Text 101"/>
          <p:cNvSpPr/>
          <p:nvPr/>
        </p:nvSpPr>
        <p:spPr>
          <a:xfrm>
            <a:off x="487680" y="5632704"/>
            <a:ext cx="304800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dirty="0" lang="en-US" sz="1467">
                <a:solidFill>
                  <a:srgbClr val="475569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In-flight TLS</a:t>
            </a:r>
            <a:endParaRPr dirty="0" lang="en-US" sz="1467"/>
          </a:p>
        </p:txBody>
      </p:sp>
      <p:sp>
        <p:nvSpPr>
          <p:cNvPr id="104" name="Shape 102"/>
          <p:cNvSpPr/>
          <p:nvPr/>
        </p:nvSpPr>
        <p:spPr>
          <a:xfrm>
            <a:off x="3535680" y="5632704"/>
            <a:ext cx="134112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5" name="Text 103"/>
          <p:cNvSpPr/>
          <p:nvPr/>
        </p:nvSpPr>
        <p:spPr>
          <a:xfrm>
            <a:off x="3535680" y="5632704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Partial</a:t>
            </a:r>
            <a:endParaRPr dirty="0" lang="en-US" sz="1733"/>
          </a:p>
        </p:txBody>
      </p:sp>
      <p:sp>
        <p:nvSpPr>
          <p:cNvPr id="106" name="Shape 104"/>
          <p:cNvSpPr/>
          <p:nvPr/>
        </p:nvSpPr>
        <p:spPr>
          <a:xfrm>
            <a:off x="4876800" y="5632704"/>
            <a:ext cx="121920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7" name="Text 105"/>
          <p:cNvSpPr/>
          <p:nvPr/>
        </p:nvSpPr>
        <p:spPr>
          <a:xfrm>
            <a:off x="4876800" y="5632704"/>
            <a:ext cx="121920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Partial</a:t>
            </a:r>
            <a:endParaRPr dirty="0" lang="en-US" sz="1733"/>
          </a:p>
        </p:txBody>
      </p:sp>
      <p:sp>
        <p:nvSpPr>
          <p:cNvPr id="108" name="Shape 106"/>
          <p:cNvSpPr/>
          <p:nvPr/>
        </p:nvSpPr>
        <p:spPr>
          <a:xfrm>
            <a:off x="6096000" y="5632704"/>
            <a:ext cx="109728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9" name="Text 107"/>
          <p:cNvSpPr/>
          <p:nvPr/>
        </p:nvSpPr>
        <p:spPr>
          <a:xfrm>
            <a:off x="6096000" y="5632704"/>
            <a:ext cx="109728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000000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Partial</a:t>
            </a:r>
            <a:endParaRPr dirty="0" lang="en-US" sz="1733"/>
          </a:p>
        </p:txBody>
      </p:sp>
      <p:sp>
        <p:nvSpPr>
          <p:cNvPr id="110" name="Shape 108"/>
          <p:cNvSpPr/>
          <p:nvPr/>
        </p:nvSpPr>
        <p:spPr>
          <a:xfrm>
            <a:off x="7193280" y="5632704"/>
            <a:ext cx="134112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1" name="Text 109"/>
          <p:cNvSpPr/>
          <p:nvPr/>
        </p:nvSpPr>
        <p:spPr>
          <a:xfrm>
            <a:off x="7193280" y="5632704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EF4444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✗</a:t>
            </a:r>
            <a:endParaRPr dirty="0" lang="en-US" sz="1733"/>
          </a:p>
        </p:txBody>
      </p:sp>
      <p:sp>
        <p:nvSpPr>
          <p:cNvPr id="112" name="Shape 110"/>
          <p:cNvSpPr/>
          <p:nvPr/>
        </p:nvSpPr>
        <p:spPr>
          <a:xfrm>
            <a:off x="8534400" y="5632704"/>
            <a:ext cx="134112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3" name="Text 111"/>
          <p:cNvSpPr/>
          <p:nvPr/>
        </p:nvSpPr>
        <p:spPr>
          <a:xfrm>
            <a:off x="8534400" y="5632704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EF4444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✗</a:t>
            </a:r>
            <a:endParaRPr dirty="0" lang="en-US" sz="1733"/>
          </a:p>
        </p:txBody>
      </p:sp>
      <p:sp>
        <p:nvSpPr>
          <p:cNvPr id="114" name="Shape 112"/>
          <p:cNvSpPr/>
          <p:nvPr/>
        </p:nvSpPr>
        <p:spPr>
          <a:xfrm>
            <a:off x="9875520" y="5632704"/>
            <a:ext cx="134112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5" name="Text 113"/>
          <p:cNvSpPr/>
          <p:nvPr/>
        </p:nvSpPr>
        <p:spPr>
          <a:xfrm>
            <a:off x="9875520" y="5632704"/>
            <a:ext cx="1341120" cy="54864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pPr algn="ctr"/>
            <a:r>
              <a:rPr b="1" dirty="0" lang="en-US" sz="1733">
                <a:solidFill>
                  <a:srgbClr val="EF4444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✗</a:t>
            </a:r>
            <a:endParaRPr dirty="0" lang="en-US" sz="1733"/>
          </a:p>
        </p:txBody>
      </p:sp>
      <p:sp>
        <p:nvSpPr>
          <p:cNvPr id="116" name="Text 114"/>
          <p:cNvSpPr/>
          <p:nvPr/>
        </p:nvSpPr>
        <p:spPr>
          <a:xfrm>
            <a:off x="487680" y="6339840"/>
            <a:ext cx="11216640" cy="365760"/>
          </a:xfrm>
          <a:prstGeom prst="rect">
            <a:avLst/>
          </a:prstGeom>
          <a:noFill/>
          <a:ln/>
        </p:spPr>
        <p:txBody>
          <a:bodyPr anchor="ctr" bIns="0" lIns="0" rIns="0" rtlCol="0" tIns="0" wrap="square"/>
          <a:lstStyle/>
          <a:p>
            <a:r>
              <a:rPr dirty="0" i="1" lang="en-US" sz="1333">
                <a:solidFill>
                  <a:srgbClr val="94A3B8"/>
                </a:solidFill>
                <a:latin charset="0" pitchFamily="34" typeface="Calibri"/>
                <a:ea charset="-122" pitchFamily="34" typeface="Calibri"/>
                <a:cs charset="-120" pitchFamily="34" typeface="Calibri"/>
              </a:rPr>
              <a:t>✔ = provided    ✗ = not provided    Partial = depends on configuration</a:t>
            </a:r>
            <a:endParaRPr dirty="0" lang="en-US" sz="1333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" name="object 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 bIns="45720" lIns="91440" rIns="91440" rtlCol="0" tIns="45720" vert="horz">
            <a:normAutofit/>
          </a:bodyPr>
          <a:lstStyle/>
          <a:p>
            <a:pPr marL="2232446"/>
            <a:r>
              <a:rPr kern="1200" lang="en-US" spc="-9">
                <a:latin typeface="+mj-lt"/>
                <a:ea typeface="+mj-ea"/>
                <a:cs typeface="+mj-cs"/>
              </a:rPr>
              <a:t>References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indent="-228600" marL="228600">
              <a:lnSpc>
                <a:spcPct val="90000"/>
              </a:lnSpc>
              <a:spcBef>
                <a:spcPts val="1000"/>
              </a:spcBef>
              <a:buFont charset="0" panose="020B0604020202020204" pitchFamily="34" typeface="Arial"/>
              <a:buChar char="•"/>
              <a:tabLst>
                <a:tab algn="l" pos="321306"/>
              </a:tabLst>
            </a:pPr>
            <a:r>
              <a:rPr dirty="0" lang="en-US" sz="2800" u="sng">
                <a:uFill>
                  <a:solidFill>
                    <a:srgbClr val="CCCCFF"/>
                  </a:solidFill>
                </a:uFill>
              </a:rPr>
              <a:t>Chapter 14 </a:t>
            </a:r>
          </a:p>
          <a:p>
            <a:pPr indent="-228600" lvl="1" marL="685800">
              <a:lnSpc>
                <a:spcPct val="90000"/>
              </a:lnSpc>
              <a:spcBef>
                <a:spcPts val="1000"/>
              </a:spcBef>
              <a:buFont charset="0" panose="020B0604020202020204" pitchFamily="34" typeface="Arial"/>
              <a:buChar char="•"/>
              <a:tabLst>
                <a:tab algn="l" pos="321306"/>
              </a:tabLst>
            </a:pPr>
            <a:r>
              <a:rPr dirty="0" lang="en-US" sz="2800" u="sng">
                <a:uFill>
                  <a:solidFill>
                    <a:srgbClr val="CCCCFF"/>
                  </a:solidFill>
                </a:uFill>
              </a:rPr>
              <a:t>Kaufman</a:t>
            </a:r>
            <a:endParaRPr dirty="0" lang="en-US"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8687</TotalTime>
  <Words>2520</Words>
  <Application>Microsoft Macintosh PowerPoint</Application>
  <PresentationFormat>Widescreen</PresentationFormat>
  <Paragraphs>358</Paragraphs>
  <Slides>23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Georgia</vt:lpstr>
      <vt:lpstr>Office Theme</vt:lpstr>
      <vt:lpstr>CSC 4780 – Email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2026-02-09T16:40:55Z</dcterms:created>
  <dc:creator>Shannigrahi, Susmit</dc:creator>
  <cp:lastModifiedBy>Shannigrahi, Susmit</cp:lastModifiedBy>
  <dcterms:modified xsi:type="dcterms:W3CDTF">2026-04-08T20:45:25Z</dcterms:modified>
  <cp:revision>16</cp:revision>
  <dc:title>Email Security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pid="2" fmtid="{D5CDD505-2E9C-101B-9397-08002B2CF9AE}" name="data-panorama-remediation-history">
    <vt:lpwstr>[{"title":"Email Security","pageNumber":0,"geomIndex":-1,"issueTypeId":"MissingTitleIssue:PPTX","dismiss":false,"pageNumbers":[1],"coordinatesList":[[10.0,10.0,2.0,2.0]]},{"isReadingOrderVerified":"true","pageNumber":0,"geomIndex":-1,"issueTypeId":"ReadingOrderIssue:PPTX","dismiss":false,"pageNumbers":[2],"coordinatesList":[[10.0,10.0,2.0,2.0]]},{"pageNumber":0,"geomIndex":134,"lastGeomIndex":176,"textElement":"All 30+ years old. None widely used today.","tableIndex":-1,"rowIndex":-1,"cellIndex":-1,"fontColor":"#000000","identifiers":{"PARAGRAPH_ID":"6","RUN_ID":"0","SLIDE_ID":"1"},"issueDetails":{"luminance25":"1.0","isHeader":"false","luminance75":"1.0","textColor":"94a3b8"},"issueTypeId":"LowContrastIssue:PPTX","dismiss":false,"pageNumbers":[2],"coordinatesList":[[38.400001525878906,207.76998901367188,271.46361541748047,7.980000019073486]]},{"isReadingOrderVerified":"true","pageNumber":0,"geomIndex":-1,"issueTypeId":"ReadingOrderIssue:PPTX","dismiss":false,"pageNumbers":[3],"coordinatesList":[[10.0,10.0,2.0,2.0]]},{"pageNumber":0,"geomIndex":521,"lastGeomIndex":553,"textElement":"Remote Exploder (Mail Reflector)","tableIndex":-1,"rowIndex":-1,"cellIndex":-1,"fontColor":"#000000","identifiers":{"PARAGRAPH_ID":"27","RUN_ID":"0","SLIDE_ID":"2"},"issueDetails":{"luminance25":"0.37600384333645503","isHeader":"true","luminance75":"0.37600384333645503","textColor":"ffffff"},"issueTypeId":"LowContrastIssue:PPTX","dismiss":false,"pageNumbers":[3],"coordinatesList":[[48.0,181.85000610351562,220.9183349609375,7.980000019073486]]},{"pageNumber":0,"geomIndex":744,"lastGeomIndex":758,"textElement":"Local Exploder","tableIndex":-1,"rowIndex":-1,"cellIndex":-1,"fontColor":"#000000","identifiers":{"PARAGRAPH_ID":"33","RUN_ID":"0","SLIDE_ID":"2"},"issueDetails":{"luminance25":"1.0","isHeader":"true","luminance75":"1.0","textColor":"ffffff"},"issueTypeId":"LowContrastIssue:PPTX","dismiss":false,"pageNumbers":[3],"coordinatesList":[[518.469970703125,181.85000610351562,95.85565185546875,7.980000019073486]]},{"isReadingOrderVerified":"true","pageNumber":0,"geomIndex":-1,"issueTypeId":"ReadingOrderIssue:PPTX","dismiss":false,"pageNumbers":[4],"coordinatesList":[[10.0,10.0,2.0,2.0]]},{"isReadingOrderVerified":"true","pageNumber":0,"geomIndex":-1,"issueTypeId":"ReadingOrderIssue:PPTX","dismiss":false,"pageNumbers":[5],"coordinatesList":[[10.0,10.0,2.0,2.0]]},{"pageNumber":0,"geomIndex":1172,"lastGeomIndex":1260,"textElement":"Direct device-to-device email is impractical. Message Transfer Agents (MTAs) solve this.","tableIndex":-1,"rowIndex":-1,"cellIndex":-1,"fontColor":"#000000","identifiers":{"PARAGRAPH_ID":"44","RUN_ID":"0","SLIDE_ID":"4"},"issueDetails":{"luminance25":"1.0","isHeader":"false","luminance75":"1.0","textColor":"94a3b8"},"issueTypeId":"LowContrastIssue:PPTX","dismiss":false,"pageNumbers":[5],"coordinatesList":[[48.0,135.30999755859375,609.2935791015625,8.640000343322754]]},{"pageNumber":0,"geomIndex":1250,"lastGeomIndex":1258,"textElement":"Alice UA","tableIndex":-1,"rowIndex":-1,"cellIndex":-1,"fontColor":"#000000","identifiers":{"PARAGRAPH_ID":"45","RUN_ID":"0","SLIDE_ID":"4"},"issueDetails":{"luminance25":"0.37600384333645503","isHeader":"true","luminance75":"0.37600384333645503","textColor":"ffffff"},"issueTypeId":"LowContrastIssue:PPTX","dismiss":false,"pageNumbers":[5],"coordinatesList":[[73.12799835205078,202.510009765625,60.148704528808594,8.652000427246094]]},{"pageNumber":0,"geomIndex":1266,"lastGeomIndex":1272,"textElement":"Bob UA","tableIndex":-1,"rowIndex":-1,"cellIndex":-1,"fontColor":"#000000","identifiers":{"PARAGRAPH_ID":"49","RUN_ID":"0","SLIDE_ID":"4"},"issueDetails":{"luminance25":"0.37600384333645503","isHeader":"true","luminance75":"0.37600384333645503","textColor":"ffffff"},"issueTypeId":"LowContrastIssue:PPTX","dismiss":false,"pageNumbers":[5],"coordinatesList":[[783.1199951171875,202.510009765625,53.5557861328125,8.652000427246094]]},{"pageNumber":0,"geomIndex":1271,"lastGeomIndex":1308,"textElement":"Why can\u0027t Alice send directly to Bob?","tableIndex":-1,"rowIndex":-1,"cellIndex":-1,"fontColor":"#000000","identifiers":{"PARAGRAPH_ID":"50","RUN_ID":"0","SLIDE_ID":"4"},"issueDetails":{"luminance25":"1.0","isHeader":"true","luminance75":"1.0","textColor":"00b4d8"},"issueTypeId":"LowContrastIssue:PPTX","dismiss":false,"pageNumbers":[5],"coordinatesList":[[48.0,276.5299987792969,378.8161315917969,9.749460220336914]]},{"pageNumber":0,"geomIndex":1470,"lastGeomIndex":1551,"textElement":"MTAs also provide: spam filtering · virus checking · DLP scanning · email storage","tableIndex":-1,"rowIndex":-1,"cellIndex":-1,"fontColor":"#000000","identifiers":{"PARAGRAPH_ID":"55","RUN_ID":"0","SLIDE_ID":"4"},"issueDetails":{"luminance25":"1.0","isHeader":"false","luminance75":"1.0","textColor":"00b4d8"},"issueTypeId":"LowContrastIssue:PPTX","dismiss":false,"pageNumbers":[5],"coordinatesList":[[48.0,511.24798583984375,471.916748046875,7.331999778747559]]},{"isReadingOrderVerified":"true","pageNumber":0,"geomIndex":-1,"issueTypeId":"ReadingOrderIssue:PPTX","dismiss":false,"pageNumbers":[6],"coordinatesList":[[10.0,10.0,2.0,2.0]]},{"isReadingOrderVerified":"true","pageNumber":0,"geomIndex":-1,"issueTypeId":"ReadingOrderIssue:PPTX","dismiss":false,"pageNumbers":[7],"coordinatesList":[[10.0,10.0,2.0,2.0]]},{"pageNumber":0,"geomIndex":2148,"lastGeomIndex":2168,"textElement":"HTML-Formatted Email","tableIndex":-1,"rowIndex":-1,"cellIndex":-1,"fontColor":"#000000","identifiers":{"PARAGRAPH_ID":"72","RUN_ID":"0","SLIDE_ID":"6"},"issueDetails":{"luminance25":"1.0","isHeader":"true","luminance75":"1.0","textColor":"00b4d8"},"issueTypeId":"LowContrastIssue:PPTX","dismiss":false,"pageNumbers":[7],"coordinatesList":[[38.400001525878906,135.79000854492188,265.5973129272461,10.391640663146973]]},{"pageNumber":0,"geomIndex":2167,"lastGeomIndex":2232,"textElement":"Has full power of a web page — can embed URLs, JavaScript, images","tableIndex":-1,"rowIndex":-1,"cellIndex":-1,"fontColor":"#000000","identifiers":{"PARAGRAPH_ID":"73","RUN_ID":"0","SLIDE_ID":"6"},"issueDetails":{"luminance25":"1.0","isHeader":"false","luminance75":"1.0","textColor":"94a3b8"},"issueTypeId":"LowContrastIssue:PPTX","dismiss":false,"pageNumbers":[7],"coordinatesList":[[65.27999877929688,191.23001098632812,363.82305908203125,24.840019702911377]]},{"pageNumber":0,"geomIndex":2220,"lastGeomIndex":2294,"textElement":"Embedded recipient-specific URLs let senders track if/when email is opened","tableIndex":-1,"rowIndex":-1,"cellIndex":-1,"fontColor":"#000000","identifiers":{"PARAGRAPH_ID":"74","RUN_ID":"0","SLIDE_ID":"6"},"issueDetails":{"luminance25":"1.0","isHeader":"false","luminance75":"1.0","textColor":"94a3b8"},"issueTypeId":"LowContrastIssue:PPTX","dismiss":false,"pageNumbers":[7],"coordinatesList":[[65.27999877929688,248.8599853515625,356.7924499511719,24.88198757171631]]},{"pageNumber":0,"geomIndex":2285,"lastGeomIndex":2339,"textElement":"Clicking any link exposes Bob to malicious web content","tableIndex":-1,"rowIndex":-1,"cellIndex":-1,"fontColor":"#000000","identifiers":{"PARAGRAPH_ID":"75","RUN_ID":"0","SLIDE_ID":"6"},"issueDetails":{"luminance25":"1.0","isHeader":"false","luminance75":"1.0","textColor":"94a3b8"},"issueTypeId":"LowContrastIssue:PPTX","dismiss":false,"pageNumbers":[7],"coordinatesList":[[65.27999877929688,297.6199951171875,325.90106201171875,7.320000171661377]]},{"pageNumber":0,"geomIndex":2331,"lastGeomIndex":2389,"textElement":"HTML bugs in email clients exploitable by crafted messages","tableIndex":-1,"rowIndex":-1,"cellIndex":-1,"fontColor":"#000000","identifiers":{"PARAGRAPH_ID":"76","RUN_ID":"0","SLIDE_ID":"6"},"issueDetails":{"luminance25":"1.0","isHeader":"false","luminance75":"1.0","textColor":"94a3b8"},"issueTypeId":"LowContrastIssue:PPTX","dismiss":false,"pageNumbers":[7],"coordinatesList":[[65.27999877929688,355.2200012207031,351.5796813964844,7.320000171661377]]},{"pageNumber":0,"geomIndex":2381,"lastGeomIndex":2463,"textElement":"Dilemma: blocking images breaks legitimate email; allowing images enables tracking","tableIndex":-1,"rowIndex":-1,"cellIndex":-1,"fontColor":"#000000","identifiers":{"PARAGRAPH_ID":"77","RUN_ID":"0","SLIDE_ID":"6"},"issueDetails":{"luminance25":"1.0","isHeader":"false","luminance75":"1.0","textColor":"94a3b8"},"issueTypeId":"LowContrastIssue:PPTX","dismiss":false,"pageNumbers":[7],"coordinatesList":[[65.27999877929688,421.67999267578125,357.6551818847656,24.839989185333252]]},{"pageNumber":0,"geomIndex":2454,"lastGeomIndex":2465,"textElement":"Attachments","tableIndex":-1,"rowIndex":-1,"cellIndex":-1,"fontColor":"#000000","identifiers":{"PARAGRAPH_ID":"78","RUN_ID":"0","SLIDE_ID":"6"},"issueDetails":{"luminance25":"1.0","isHeader":"true","luminance75":"1.0","textColor":"f59e0b"},"issueTypeId":"LowContrastIssue:PPTX","dismiss":false,"pageNumbers":[7],"coordinatesList":[[499.2699890136719,135.79000854492188,139.97207641601562,10.391640663146973]]},{"pageNumber":0,"geomIndex":2632,"lastGeomIndex":2699,"textElement":"MTAs often delete attachments with dangerous extensions (e.g. .exe)","tableIndex":-1,"rowIndex":-1,"cellIndex":-1,"fontColor":"#000000","identifiers":{"PARAGRAPH_ID":"87","RUN_ID":"0","SLIDE_ID":"6"},"issueDetails":{"luminance25":"1.0","isHeader":"false","luminance75":"1.0","textColor":"f59e0b"},"issueTypeId":"LowContrastIssue:PPTX","dismiss":false,"pageNumbers":[7],"coordinatesList":[[499.2699890136719,510.864013671875,371.3482360839844,6.659999847412109]]},{"isReadingOrderVerified":"true","pageNumber":0,"geomIndex":-1,"issueTypeId":"ReadingOrderIssue:PPTX","dismiss":false,"pageNumbers":[8],"coordinatesList":[[10.0,10.0,2.0,2.0]]},{"isReadingOrderVerified":"true","pageNumber":0,"geomIndex":-1,"issueTypeId":"ReadingOrderIssue:PPTX","dismiss":false,"pageNumbers":[9],"coordinatesList":[[10.0,10.0,2.0,2.0]]},{"pageNumber":0,"geomIndex":3386,"lastGeomIndex":3519,"textElement":"Clicking a malicious link can install malware — but \u0027don\u0027t click links\u0027 is impractical because legitimate mail always contains links.","tableIndex":-1,"rowIndex":-1,"cellIndex":-1,"fontColor":"#000000","identifiers":{"PARAGRAPH_ID":"113","RUN_ID":"0","SLIDE_ID":"8"},"issueDetails":{"luminance25":"1.0","isHeader":"false","luminance75":"1.0","textColor":"94a3b8"},"issueTypeId":"LowContrastIssue:PPTX","dismiss":false,"pageNumbers":[9],"coordinatesList":[[38.400001525878906,191.92999267578125,419.20531463623047,26.981990337371826]]},{"pageNumber":0,"geomIndex":3500,"lastGeomIndex":3533,"textElement":"Phishing Protection Service Flow:","tableIndex":-1,"rowIndex":-1,"cellIndex":-1,"fontColor":"#000000","identifiers":{"PARAGRAPH_ID":"114","RUN_ID":"0","SLIDE_ID":"8"},"issueDetails":{"luminance25":"1.0","isHeader":"true","luminance75":"1.0","textColor":"00b4d8"},"issueTypeId":"LowContrastIssue:PPTX","dismiss":false,"pageNumbers":[9],"coordinatesList":[[38.400001525878906,236.57000732421875,220.13631439208984,7.980000019073486]]},{"pageNumber":0,"geomIndex":3531,"lastGeomIndex":3572,"textElement":"MTA intercepts all links in inbound email","tableIndex":-1,"rowIndex":-1,"cellIndex":-1,"fontColor":"#000000","identifiers":{"PARAGRAPH_ID":"116","RUN_ID":"0","SLIDE_ID":"8"},"issueDetails":{"luminance25":"1.0","isHeader":"false","luminance75":"1.0","textColor":"94a3b8"},"issueTypeId":"LowContrastIssue:PPTX","dismiss":false,"pageNumbers":[9],"coordinatesList":[[80.63999938964844,279.3800048828125,241.4722137451172,7.320000171661377]]},{"pageNumber":0,"geomIndex":3567,"lastGeomIndex":3611,"textElement":"Prepends phishingprotection.org/ to each URL","tableIndex":-1,"rowIndex":-1,"cellIndex":-1,"fontColor":"#000000","identifiers":{"PARAGRAPH_ID":"118","RUN_ID":"0","SLIDE_ID":"8"},"issueDetails":{"luminance25":"1.0","isHeader":"false","luminance75":"1.0","textColor":"94a3b8"},"issueTypeId":"LowContrastIssue:PPTX","dismiss":false,"pageNumbers":[9],"coordinatesList":[[80.63999938964844,335.05999755859375,276.37403869628906,7.320000171661377]]},{"pageNumber":0,"geomIndex":3608,"lastGeomIndex":3660,"textElement":"User clicks → request goes to the protection service","tableIndex":-1,"rowIndex":-1,"cellIndex":-1,"fontColor":"#000000","identifiers":{"PARAGRAPH_ID":"120","RUN_ID":"0","SLIDE_ID":"8"},"issueDetails":{"luminance25":"1.0","isHeader":"false","luminance75":"1.0","textColor":"94a3b8"},"issueTypeId":"LowContrastIssue:PPTX","dismiss":false,"pageNumbers":[9],"coordinatesList":[[80.63999938964844,390.739990234375,309.1317596435547,7.331999778747559]]},{"pageNumber":0,"geomIndex":3653,"lastGeomIndex":3710,"textElement":"Service scans page for malware or checks deny/allow lists","tableIndex":-1,"rowIndex":-1,"cellIndex":-1,"fontColor":"#000000","identifiers":{"PARAGRAPH_ID":"122","RUN_ID":"0","SLIDE_ID":"8"},"issueDetails":{"luminance25":"1.0","isHeader":"false","luminance75":"1.0","textColor":"94a3b8"},"issueTypeId":"LowContrastIssue:PPTX","dismiss":false,"pageNumbers":[9],"coordinatesList":[[80.63999938964844,446.447998046875,342.1074981689453,7.320000171661377]]},{"pageNumber":0,"geomIndex":3702,"lastGeomIndex":3728,"textElement":"Data Loss Prevention (DLP)","tableIndex":-1,"rowIndex":-1,"cellIndex":-1,"fontColor":"#000000","identifiers":{"PARAGRAPH_ID":"123","RUN_ID":"0","SLIDE_ID":"8"},"issueDetails":{"luminance25":"1.0","isHeader":"true","luminance75":"1.0","textColor":"f59e0b"},"issueTypeId":"LowContrastIssue:PPTX","dismiss":false,"pageNumbers":[9],"coordinatesList":[[499.2699890136719,132.5,286.9927062988281,9.749460220336914]]},{"pageNumber":0,"geomIndex":3725,"lastGeomIndex":3802,"textElement":"Preventing confidential company data from leaving the organization via email.","tableIndex":-1,"rowIndex":-1,"cellIndex":-1,"fontColor":"#000000","identifiers":{"PARAGRAPH_ID":"124","RUN_ID":"0","SLIDE_ID":"8"},"issueDetails":{"luminance25":"1.0","isHeader":"false","luminance75":"1.0","textColor":"94a3b8"},"issueTypeId":"LowContrastIssue:PPTX","dismiss":false,"pageNumbers":[9],"coordinatesList":[[499.2699890136719,187.1300048828125,358.6007995605469,26.981990337371826]]},{"isReadingOrderVerified":"true","pageNumber":0,"geomIndex":-1,"issueTypeId":"ReadingOrderIssue:PPTX","dismiss":false,"pageNumbers":[10],"coordinatesList":[[10.0,10.0,2.0,2.0]]},{"isReadingOrderVerified":"true","pageNumber":0,"geomIndex":-1,"issueTypeId":"ReadingOrderIssue:PPTX","dismiss":false,"pageNumbers":[11],"coordinatesList":[[10.0,10.0,2.0,2.0]]},{"isReadingOrderVerified":"true","pageNumber":0,"geomIndex":-1,"issueTypeId":"ReadingOrderIssue:PPTX","dismiss":false,"pageNumbers":[12],"coordinatesList":[[10.0,10.0,2.0,2.0]]},{"pageNumber":0,"geomIndex":4713,"lastGeomIndex":4813,"textElement":"Anyone can put any string in the FROM field. Cryptographic signing is ideal but not widely deployed.","tableIndex":-1,"rowIndex":-1,"cellIndex":-1,"fontColor":"#000000","identifiers":{"PARAGRAPH_ID":"145","RUN_ID":"0","SLIDE_ID":"11"},"issueDetails":{"luminance25":"1.0","isHeader":"false","luminance75":"1.0","textColor":"94a3b8"},"issueTypeId":"LowContrastIssue:PPTX","dismiss":false,"pageNumbers":[12],"coordinatesList":[[48.0,129.54998779296875,695.8309326171875,8.640000343322754]]},{"isReadingOrderVerified":"true","pageNumber":0,"geomIndex":-1,"issueTypeId":"ReadingOrderIssue:PPTX","dismiss":false,"pageNumbers":[13],"coordinatesList":[[10.0,10.0,2.0,2.0]]},{"pageNumber":0,"geomIndex":5500,"lastGeomIndex":5517,"textElement":"Alice → MTA (TLS)","tableIndex":-1,"rowIndex":-1,"cellIndex":-1,"fontColor":"#000000","identifiers":{"PARAGRAPH_ID":"154","RUN_ID":"0","SLIDE_ID":"12"},"issueDetails":{"luminance25":"0.37600384333645503","isHeader":"true","luminance75":"0.37600384333645503","textColor":"ffffff"},"issueTypeId":"LowContrastIssue:PPTX","dismiss":false,"pageNumbers":[13],"coordinatesList":[[83.9520034790039,194.39999389648438,110.2977523803711,7.320000171661377]]},{"pageNumber":0,"geomIndex":5526,"lastGeomIndex":5541,"textElement":"MTA → MTA (TLS)","tableIndex":-1,"rowIndex":-1,"cellIndex":-1,"fontColor":"#000000","identifiers":{"PARAGRAPH_ID":"156","RUN_ID":"0","SLIDE_ID":"12"},"issueDetails":{"luminance25":"0.37600384333645503","isHeader":"true","luminance75":"0.37600384333645503","textColor":"ffffff"},"issueTypeId":"LowContrastIssue:PPTX","dismiss":false,"pageNumbers":[13],"coordinatesList":[[545.760009765625,194.39999389648438,108.4825439453125,7.320000171661377]]},{"isReadingOrderVerified":"true","pageNumber":0,"geomIndex":-1,"issueTypeId":"ReadingOrderIssue:PPTX","dismiss":false,"pageNumbers":[14],"coordinatesList":[[10.0,10.0,2.0,2.0]]},{"pageNumber":0,"geomIndex":5952,"lastGeomIndex":5981,"textElement":"Signed Email (Authentication)","tableIndex":-1,"rowIndex":-1,"cellIndex":-1,"fontColor":"#000000","identifiers":{"PARAGRAPH_ID":"166","RUN_ID":"0","SLIDE_ID":"13"},"issueDetails":{"luminance25":"1.0","isHeader":"true","luminance75":"1.0","textColor":"00b4d8"},"issueTypeId":"LowContrastIssue:PPTX","dismiss":false,"pageNumbers":[14],"coordinatesList":[[38.400001525878906,133.94000244140625,313.48567962646484,9.749460220336914]]},{"pageNumber":0,"geomIndex":5979,"lastGeomIndex":6163,"textElement":"Alice signs and sends — Bob verifies. Alice can include her certificate in the message (pessimistic approach) or assume Bob will fetch it. Works for individuals and distribution lists.","tableIndex":-1,"rowIndex":-1,"cellIndex":-1,"fontColor":"#000000","identifiers":{"PARAGRAPH_ID":"167","RUN_ID":"0","SLIDE_ID":"13"},"issueDetails":{"luminance25":"1.0","isHeader":"false","luminance75":"1.0","textColor":"94a3b8"},"issueTypeId":"LowContrastIssue:PPTX","dismiss":false,"pageNumbers":[14],"coordinatesList":[[38.400001525878906,187.1300048828125,876.4506454467773,26.981990337371826]]},{"pageNumber":0,"geomIndex":6135,"lastGeomIndex":6198,"textElement":"Encrypted Email — Alice needs Bob\u0027s Public Key. How to find it?","tableIndex":-1,"rowIndex":-1,"cellIndex":-1,"fontColor":"#000000","identifiers":{"PARAGRAPH_ID":"168","RUN_ID":"0","SLIDE_ID":"13"},"issueDetails":{"luminance25":"1.0","isHeader":"true","luminance75":"1.0","textColor":"f59e0b"},"issueTypeId":"LowContrastIssue:PPTX","dismiss":false,"pageNumbers":[14],"coordinatesList":[[38.400001525878906,243.8900146484375,656.6901473999023,9.749460220336914]]},{"pageNumber":0,"geomIndex":6413,"lastGeomIndex":6447,"textElement":"Encrypting for Multiple Recipients","tableIndex":-1,"rowIndex":-1,"cellIndex":-1,"fontColor":"#000000","identifiers":{"PARAGRAPH_ID":"178","RUN_ID":"0","SLIDE_ID":"13"},"issueDetails":{"luminance25":"1.0","isHeader":"true","luminance75":"1.0","textColor":"00b4d8"},"issueTypeId":"LowContrastIssue:PPTX","dismiss":false,"pageNumbers":[14],"coordinatesList":[[38.400001525878906,450.2879943847656,332.6169662475586,9.107279777526855]]},{"isReadingOrderVerified":"true","pageNumber":0,"geomIndex":-1,"issueTypeId":"ReadingOrderIssue:PPTX","dismiss":false,"pageNumbers":[15],"coordinatesList":[[10.0,10.0,2.0,2.0]]},{"pageNumber":0,"geomIndex":6700,"lastGeomIndex":6732,"textElement":"Method 1: Exploder Re-Encrypts S","tableIndex":-1,"rowIndex":-1,"cellIndex":-1,"fontColor":"#000000","identifiers":{"PARAGRAPH_ID":"182","RUN_ID":"0","SLIDE_ID":"14"},"issueDetails":{"luminance25":"0.37600384333645503","isHeader":"true","luminance75":"0.37600384333645503","textColor":"ffffff"},"issueTypeId":"LowContrastIssue:PPTX","dismiss":false,"pageNumbers":[15],"coordinatesList":[[49.91999816894531,178.94000244140625,225.1038055419922,7.992000102996826]]},{"pageNumber":0,"geomIndex":7221,"lastGeomIndex":7306,"textElement":"Both methods are largely theoretical — very few email systems implement either today.","tableIndex":-1,"rowIndex":-1,"cellIndex":-1,"fontColor":"#000000","identifiers":{"PARAGRAPH_ID":"192","RUN_ID":"0","SLIDE_ID":"14"},"issueDetails":{"luminance25":"1.0","isHeader":"false","luminance75":"1.0","textColor":"f59e0b"},"issueTypeId":"LowContrastIssue:PPTX","dismiss":false,"pageNumbers":[15],"coordinatesList":[[38.400001525878906,498.69598388671875,565.6009750366211,7.980000019073486]]},{"isReadingOrderVerified":"true","pageNumber":0,"geomIndex":-1,"issueTypeId":"ReadingOrderIssue:PPTX","dismiss":false,"pageNumbers":[16],"coordinatesList":[[10.0,10.0,2.0,2.0]]},{"pageNumber":0,"geomIndex":7313,"lastGeomIndex":7471,"textElement":"Products can encrypt email on behalf of users. The server always retains the ability to decrypt — useful for corporate deployments requiring plaintext access.","tableIndex":-1,"rowIndex":-1,"cellIndex":-1,"fontColor":"#000000","identifiers":{"PARAGRAPH_ID":"194","RUN_ID":"0","SLIDE_ID":"15"},"issueDetails":{"luminance25":"1.0","isHeader":"false","luminance75":"1.0","textColor":"94a3b8"},"issueTypeId":"LowContrastIssue:PPTX","dismiss":false,"pageNumbers":[16],"coordinatesList":[[48.0,147.60000610351562,817.2240600585938,29.280014991760254]]},{"isReadingOrderVerified":"true","pageNumber":0,"geomIndex":-1,"issueTypeId":"ReadingOrderIssue:PPTX","dismiss":false,"pageNumbers":[17],"coordinatesList":[[10.0,10.0,2.0,2.0]]},{"pageNumber":0,"geomIndex":8663,"lastGeomIndex":8678,"textElement":"Non-Repudiation","tableIndex":-1,"rowIndex":-1,"cellIndex":-1,"fontColor":"#000000","identifiers":{"PARAGRAPH_ID":"221","RUN_ID":"0","SLIDE_ID":"17"},"issueDetails":{"luminance25":"1.0","isHeader":"true","luminance75":"1.0","textColor":"00b4d8"},"issueTypeId":"LowContrastIssue:PPTX","dismiss":false,"pageNumbers":[18],"coordinatesList":[[38.400001525878906,131.05999755859375,178.87946319580078,9.749460220336914]]},{"pageNumber":0,"geomIndex":8678,"lastGeomIndex":8803,"textElement":"Alice cannot later deny sending a message. Achieved by having Alice sign with her private key — anyone can verify she signed.","tableIndex":-1,"rowIndex":-1,"cellIndex":-1,"fontColor":"#000000","identifiers":{"PARAGRAPH_ID":"222","RUN_ID":"0","SLIDE_ID":"17"},"issueDetails":{"luminance25":"1.0","isHeader":"false","luminance75":"1.0","textColor":"94a3b8"},"issueTypeId":"LowContrastIssue:PPTX","dismiss":false,"pageNumbers":[18],"coordinatesList":[[38.400001525878906,187.6099853515625,409.9417037963867,26.981990337371826]]},{"isReadingOrderVerified":"true","pageNumber":0,"geomIndex":-1,"issueTypeId":"ReadingOrderIssue:PPTX","dismiss":false,"pageNumbers":[19],"coordinatesList":[[10.0,10.0,2.0,2.0]]},{"pageNumber":0,"geomIndex":8934,"lastGeomIndex":8955,"textElement":"Plausible Deniability","tableIndex":-1,"rowIndex":-1,"cellIndex":-1,"fontColor":"#000000","identifiers":{"PARAGRAPH_ID":"225","RUN_ID":"0","SLIDE_ID":"18"},"issueDetails":{"luminance25":"1.0","isHeader":"true","luminance75":"1.0","textColor":"f59e0b"},"issueTypeId":"LowContrastIssue:PPTX","dismiss":false,"pageNumbers":[19],"coordinatesList":[[499.2699890136719,131.05999755859375,213.88693237304688,9.749460220336914]]},{"pageNumber":0,"geomIndex":8954,"lastGeomIndex":9045,"textElement":"Bob must know the message came from Alice, but must not be able to prove it to anyone else.","tableIndex":-1,"rowIndex":-1,"cellIndex":-1,"fontColor":"#000000","identifiers":{"PARAGRAPH_ID":"226","RUN_ID":"0","SLIDE_ID":"18"},"issueDetails":{"luminance25":"1.0","isHeader":"false","luminance75":"1.0","textColor":"94a3b8"},"issueTypeId":"LowContrastIssue:PPTX","dismiss":false,"pageNumbers":[19],"coordinatesList":[[499.2699890136719,182.80999755859375,409.9802551269531,26.969990253448486]]},{"pageNumber":0,"geomIndex":9028,"lastGeomIndex":9071,"textElement":"Alice picks secret key S for this message m","tableIndex":-1,"rowIndex":-1,"cellIndex":-1,"fontColor":"#000000","identifiers":{"PARAGRAPH_ID":"228","RUN_ID":"0","SLIDE_ID":"18"},"issueDetails":{"luminance25":"1.0","isHeader":"false","luminance75":"1.0","textColor":"94a3b8"},"issueTypeId":"LowContrastIssue:PPTX","dismiss":false,"pageNumbers":[19],"coordinatesList":[[541.510009765625,226.07998657226562,250.1099853515625,7.320000171661377]]},{"pageNumber":0,"geomIndex":9064,"lastGeomIndex":9105,"textElement":"Encrypts S with Bob\u0027s public key → {S}Bob","tableIndex":-1,"rowIndex":-1,"cellIndex":-1,"fontColor":"#000000","identifiers":{"PARAGRAPH_ID":"230","RUN_ID":"0","SLIDE_ID":"18"},"issueDetails":{"luminance25":"1.0","isHeader":"false","luminance75":"1.0","textColor":"94a3b8"},"issueTypeId":"LowContrastIssue:PPTX","dismiss":false,"pageNumbers":[19],"coordinatesList":[[541.510009765625,276.0199890136719,249.1728515625,7.320000171661377]]},{"pageNumber":0,"geomIndex":9099,"lastGeomIndex":9148,"textElement":"Signs {S}Bob with her private key → [{S}Bob]Alice","tableIndex":-1,"rowIndex":-1,"cellIndex":-1,"fontColor":"#000000","identifiers":{"PARAGRAPH_ID":"232","RUN_ID":"0","SLIDE_ID":"18"},"issueDetails":{"luminance25":"1.0","isHeader":"false","luminance75":"1.0","textColor":"94a3b8"},"issueTypeId":"LowContrastIssue:PPTX","dismiss":false,"pageNumbers":[19],"coordinatesList":[[541.510009765625,325.94000244140625,291.57049560546875,7.320000171661377]]},{"pageNumber":0,"geomIndex":9142,"lastGeomIndex":9167,"textElement":"Computes MAC of m using S","tableIndex":-1,"rowIndex":-1,"cellIndex":-1,"fontColor":"#000000","identifiers":{"PARAGRAPH_ID":"234","RUN_ID":"0","SLIDE_ID":"18"},"issueDetails":{"luminance25":"1.0","isHeader":"false","luminance75":"1.0","textColor":"94a3b8"},"issueTypeId":"LowContrastIssue:PPTX","dismiss":false,"pageNumbers":[19],"coordinatesList":[[541.510009765625,375.8599853515625,168.37469482421875,7.320000171661377]]},{"pageNumber":0,"geomIndex":9163,"lastGeomIndex":9212,"textElement":"Sends: message m  +  MAC  +  [{S}Bob]Alice to Bob","tableIndex":-1,"rowIndex":-1,"cellIndex":-1,"fontColor":"#000000","identifiers":{"PARAGRAPH_ID":"236","RUN_ID":"0","SLIDE_ID":"18"},"issueDetails":{"luminance25":"1.0","isHeader":"false","luminance75":"1.0","textColor":"94a3b8"},"issueTypeId":"LowContrastIssue:PPTX","dismiss":false,"pageNumbers":[19],"coordinatesList":[[541.510009765625,425.80999755859375,299.0078125,7.320000171661377]]},{"isReadingOrderVerified":"true","pageNumber":0,"geomIndex":-1,"issueTypeId":"ReadingOrderIssue:PPTX","dismiss":false,"pageNumbers":[20],"coordinatesList":[[10.0,10.0,2.0,2.0]]},{"pageNumber":0,"geomIndex":9676,"lastGeomIndex":9681,"textElement":"Alice","tableIndex":-1,"rowIndex":-1,"cellIndex":-1,"fontColor":"#000000","identifiers":{"PARAGRAPH_ID":"243","RUN_ID":"0","SLIDE_ID":"19"},"issueDetails":{"luminance25":"0.37600384333645503","isHeader":"true","luminance75":"0.37600384333645503","textColor":"ffffff"},"issueTypeId":"LowContrastIssue:PPTX","dismiss":false,"pageNumbers":[20],"coordinatesList":[[88.2239990234375,337.91998291015625,34.7327880859375,8.640000343322754]]},{"pageNumber":0,"geomIndex":9687,"lastGeomIndex":9690,"textElement":"Bob","tableIndex":-1,"rowIndex":-1,"cellIndex":-1,"fontColor":"#000000","identifiers":{"PARAGRAPH_ID":"247","RUN_ID":"0","SLIDE_ID":"19"},"issueDetails":{"luminance25":"0.37600384333645503","isHeader":"true","luminance75":"0.37600384333645503","textColor":"ffffff"},"issueTypeId":"LowContrastIssue:PPTX","dismiss":false,"pageNumbers":[20],"coordinatesList":[[813.47998046875,337.91998291015625,28.27008056640625,8.640000343322754]]},{"isReadingOrderVerified":"true","pageNumber":0,"geomIndex":-1,"issueTypeId":"ReadingOrderIssue:PPTX","dismiss":false,"pageNumbers":[21],"coordinatesList":[[10.0,10.0,2.0,2.0]]},{"pageNumber":0,"geomIndex":10116,"lastGeomIndex":10125,"textElement":"Anonymity","tableIndex":-1,"rowIndex":-1,"cellIndex":-1,"fontColor":"#000000","identifiers":{"PARAGRAPH_ID":"258","RUN_ID":"0","SLIDE_ID":"20"},"issueDetails":{"luminance25":"1.0","isHeader":"true","luminance75":"1.0","textColor":"00b4d8"},"issueTypeId":"LowContrastIssue:PPTX","dismiss":false,"pageNumbers":[21],"coordinatesList":[[38.400001525878906,131.47000122070312,121.0685043334961,10.391640663146973]]},{"pageNumber":0,"geomIndex":10125,"lastGeomIndex":10177,"textElement":"Bob should not be able to tell who sent the message.","tableIndex":-1,"rowIndex":-1,"cellIndex":-1,"fontColor":"#000000","identifiers":{"PARAGRAPH_ID":"259","RUN_ID":"0","SLIDE_ID":"20"},"issueDetails":{"luminance25":"1.0","isHeader":"false","luminance75":"1.0","textColor":"94a3b8"},"issueTypeId":"LowContrastIssue:PPTX","dismiss":false,"pageNumbers":[21],"coordinatesList":[[38.400001525878906,165.98001098632812,340.57112884521484,7.992000102996826]]},{"pageNumber":0,"geomIndex":10167,"lastGeomIndex":10253,"textElement":"Simply omitting the FROM field is insufficient — network-layer address may be included","tableIndex":-1,"rowIndex":-1,"cellIndex":-1,"fontColor":"#000000","identifiers":{"PARAGRAPH_ID":"260","RUN_ID":"0","SLIDE_ID":"20"},"issueDetails":{"luminance25":"1.0","isHeader":"false","luminance75":"1.0","textColor":"94a3b8"},"issueTypeId":"LowContrastIssue:PPTX","dismiss":false,"pageNumbers":[21],"coordinatesList":[[62.400001525878906,219.54998779296875,374.9897994995117,24.839989185333252]]},{"pageNumber":0,"geomIndex":10241,"lastGeomIndex":10318,"textElement":"Mail transports record the path the message took — available to the recipient","tableIndex":-1,"rowIndex":-1,"cellIndex":-1,"fontColor":"#000000","identifiers":{"PARAGRAPH_ID":"261","RUN_ID":"0","SLIDE_ID":"20"},"issueDetails":{"luminance25":"1.0","isHeader":"false","luminance75":"1.0","textColor":"94a3b8"},"issueTypeId":"LowContrastIssue:PPTX","dismiss":false,"pageNumbers":[21],"coordinatesList":[[62.400001525878906,269.5,386.8824691772461,24.839989185333252]]},{"pageNumber":0,"geomIndex":10306,"lastGeomIndex":10378,"textElement":"Solution: use a third party (Fred) who sends the unsigned message onward","tableIndex":-1,"rowIndex":-1,"cellIndex":-1,"fontColor":"#000000","identifiers":{"PARAGRAPH_ID":"262","RUN_ID":"0","SLIDE_ID":"20"},"issueDetails":{"luminance25":"1.0","isHeader":"false","luminance75":"1.0","textColor":"94a3b8"},"issueTypeId":"LowContrastIssue:PPTX","dismiss":false,"pageNumbers":[21],"coordinatesList":[[62.400001525878906,319.41998291015625,344.3767623901367,24.839989185333252]]},{"pageNumber":0,"geomIndex":10367,"lastGeomIndex":10449,"textElement":"Fred needs many clients to provide real anonymity (otherwise trivial to correlate)","tableIndex":-1,"rowIndex":-1,"cellIndex":-1,"fontColor":"#000000","identifiers":{"PARAGRAPH_ID":"263","RUN_ID":"0","SLIDE_ID":"20"},"issueDetails":{"luminance25":"1.0","isHeader":"false","luminance75":"1.0","textColor":"94a3b8"},"issueTypeId":"LowContrastIssue:PPTX","dismiss":false,"pageNumbers":[21],"coordinatesList":[[62.400001525878906,369.3599853515625,371.65108489990234,24.859978199005127]]},{"pageNumber":0,"geomIndex":10438,"lastGeomIndex":10511,"textElement":"Cover traffic: users send fixed-length dummy messages at random intervals","tableIndex":-1,"rowIndex":-1,"cellIndex":-1,"fontColor":"#000000","identifiers":{"PARAGRAPH_ID":"264","RUN_ID":"0","SLIDE_ID":"20"},"issueDetails":{"luminance25":"1.0","isHeader":"false","luminance75":"1.0","textColor":"94a3b8"},"issueTypeId":"LowContrastIssue:PPTX","dismiss":false,"pageNumbers":[21],"coordinatesList":[[62.400001525878906,419.2799987792969,395.40377044677734,24.839989185333252]]},{"pageNumber":0,"geomIndex":10502,"lastGeomIndex":10551,"textElement":"Fixed-length messages prevent correlation by size","tableIndex":-1,"rowIndex":-1,"cellIndex":-1,"fontColor":"#000000","identifiers":{"PARAGRAPH_ID":"265","RUN_ID":"0","SLIDE_ID":"20"},"issueDetails":{"luminance25":"1.0","isHeader":"false","luminance75":"1.0","textColor":"94a3b8"},"issueTypeId":"LowContrastIssue:PPTX","dismiss":false,"pageNumbers":[21],"coordinatesList":[[62.400001525878906,460.36798095703125,294.74523162841797,7.320000171661377]]},{"pageNumber":0,"geomIndex":10546,"lastGeomIndex":10558,"textElement":"Pseudonymity","tableIndex":-1,"rowIndex":-1,"cellIndex":-1,"fontColor":"#000000","identifiers":{"PARAGRAPH_ID":"266","RUN_ID":"0","SLIDE_ID":"20"},"issueDetails":{"luminance25":"1.0","isHeader":"true","luminance75":"1.0","textColor":"f59e0b"},"issueTypeId":"LowContrastIssue:PPTX","dismiss":false,"pageNumbers":[21],"coordinatesList":[[508.8699951171875,131.47000122070312,156.8038330078125,10.391640663146973]]},{"pageNumber":0,"geomIndex":10558,"lastGeomIndex":10651,"textElement":"Bob can\u0027t identify the sender, but can tell that multiple messages came from the same entity.","tableIndex":-1,"rowIndex":-1,"cellIndex":-1,"fontColor":"#000000","identifiers":{"PARAGRAPH_ID":"267","RUN_ID":"0","SLIDE_ID":"20"},"issueDetails":{"luminance25":"1.0","isHeader":"false","luminance75":"1.0","textColor":"94a3b8"},"issueTypeId":"LowContrastIssue:PPTX","dismiss":false,"pageNumbers":[21],"coordinatesList":[[508.8699951171875,182.80999755859375,357.3602294921875,26.969990253448486]]},{"isReadingOrderVerified":"true","pageNumber":0,"geomIndex":-1,"issueTypeId":"ReadingOrderIssue:PPTX","dismiss":false,"pageNumbers":[22],"coordinatesList":[[10.0,10.0,2.0,2.0]]},{"pageNumber":0,"geomIndex":11184,"lastGeomIndex":11191,"textElement":"Partial","tableIndex":-1,"rowIndex":-1,"cellIndex":-1,"fontColor":"#000000","identifiers":{"PARAGRAPH_ID":"322","RUN_ID":"0","SLIDE_ID":"21"},"issueDetails":{"luminance25":"1.0","isHeader":"true","luminance75":"1.0","textColor":"f59e0b"},"issueTypeId":"LowContrastIssue:PPTX","dismiss":false,"pageNumbers":[22],"coordinatesList":[[499.989990234375,422.8800048828125,46.50042724609375,8.640000343322754]]},{"pageNumber":0,"geomIndex":11206,"lastGeomIndex":11213,"textElement":"Partial","tableIndex":-1,"rowIndex":-1,"cellIndex":-1,"fontColor":"#000000","identifiers":{"PARAGRAPH_ID":"327","RUN_ID":"0","SLIDE_ID":"21"},"issueDetails":{"luminance25":"0.9194892115563658","isHeader":"true","luminance75":"0.9194892115563658","textColor":"f59e0b"},"issueTypeId":"LowContrastIssue:PPTX","dismiss":false,"pageNumbers":[22],"coordinatesList":[[308.0199890136719,470.90399169921875,46.50048828125,8.640000343322754]]},{"pageNumber":0,"geomIndex":11213,"lastGeomIndex":11220,"textElement":"Partial","tableIndex":-1,"rowIndex":-1,"cellIndex":-1,"fontColor":"#000000","identifiers":{"PARAGRAPH_ID":"328","RUN_ID":"0","SLIDE_ID":"21"},"issueDetails":{"luminance25":"0.9194892115563658","isHeader":"true","luminance75":"0.9194892115563658","textColor":"f59e0b"},"issueTypeId":"LowContrastIssue:PPTX","dismiss":false,"pageNumbers":[22],"coordinatesList":[[408.7699890136719,470.90399169921875,46.50048828125,8.640000343322754]]},{"pageNumber":0,"geomIndex":11220,"lastGeomIndex":11227,"textElement":"Partial","tableIndex":-1,"rowIndex":-1,"cellIndex":-1,"fontColor":"#000000","identifiers":{"PARAGRAPH_ID":"329","RUN_ID":"0","SLIDE_ID":"21"},"issueDetails":{"luminance25":"0.9194892115563658","isHeader":"true","luminance75":"0.9194892115563658","textColor":"f59e0b"},"issueTypeId":"LowContrastIssue:PPTX","dismiss":false,"pageNumbers":[22],"coordinatesList":[[499.989990234375,470.90399169921875,46.50042724609375,8.640000343322754]]}]</vt:lpwstr>
  </property>
  <property pid="3" fmtid="{D5CDD505-2E9C-101B-9397-08002B2CF9AE}" name="ReadingOrderVerifiedPages">
    <vt:lpwstr>2,3,4,5,6,7,8,9,10,11,12,13,14,15,16,17,19,20,21,22</vt:lpwstr>
  </property>
</Properties>
</file>