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704" r:id="rId3"/>
    <p:sldId id="308" r:id="rId4"/>
    <p:sldId id="309" r:id="rId5"/>
    <p:sldId id="687" r:id="rId6"/>
    <p:sldId id="31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688" r:id="rId17"/>
    <p:sldId id="269" r:id="rId18"/>
    <p:sldId id="270" r:id="rId19"/>
    <p:sldId id="271" r:id="rId20"/>
    <p:sldId id="689" r:id="rId21"/>
    <p:sldId id="690" r:id="rId22"/>
    <p:sldId id="274" r:id="rId23"/>
    <p:sldId id="276" r:id="rId24"/>
    <p:sldId id="277" r:id="rId25"/>
    <p:sldId id="278" r:id="rId26"/>
    <p:sldId id="279" r:id="rId27"/>
    <p:sldId id="280" r:id="rId28"/>
    <p:sldId id="273" r:id="rId29"/>
    <p:sldId id="281" r:id="rId30"/>
    <p:sldId id="698" r:id="rId31"/>
    <p:sldId id="275" r:id="rId32"/>
    <p:sldId id="699" r:id="rId33"/>
    <p:sldId id="700" r:id="rId34"/>
    <p:sldId id="701" r:id="rId35"/>
    <p:sldId id="702" r:id="rId36"/>
    <p:sldId id="703" r:id="rId37"/>
    <p:sldId id="282" r:id="rId38"/>
    <p:sldId id="283" r:id="rId39"/>
    <p:sldId id="284" r:id="rId40"/>
    <p:sldId id="691" r:id="rId41"/>
    <p:sldId id="692" r:id="rId42"/>
    <p:sldId id="693" r:id="rId43"/>
    <p:sldId id="694" r:id="rId44"/>
    <p:sldId id="695" r:id="rId45"/>
    <p:sldId id="696" r:id="rId46"/>
    <p:sldId id="697" r:id="rId47"/>
    <p:sldId id="285" r:id="rId48"/>
    <p:sldId id="286" r:id="rId49"/>
    <p:sldId id="287" r:id="rId50"/>
    <p:sldId id="288" r:id="rId51"/>
    <p:sldId id="289" r:id="rId52"/>
    <p:sldId id="290" r:id="rId53"/>
    <p:sldId id="705" r:id="rId54"/>
    <p:sldId id="291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93688"/>
  </p:normalViewPr>
  <p:slideViewPr>
    <p:cSldViewPr snapToGrid="0">
      <p:cViewPr varScale="1">
        <p:scale>
          <a:sx n="61" d="100"/>
          <a:sy n="61" d="100"/>
        </p:scale>
        <p:origin x="248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81EF5D-8FB5-44E4-BD7F-7CDFB1C89B0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9772E0C-581C-4FD9-B10E-1E34891ED4EB}">
      <dgm:prSet/>
      <dgm:spPr/>
      <dgm:t>
        <a:bodyPr/>
        <a:lstStyle/>
        <a:p>
          <a:r>
            <a:rPr lang="en-US"/>
            <a:t>It is a set of standards and associated protocols to establish a secure channel between two computers.</a:t>
          </a:r>
        </a:p>
      </dgm:t>
    </dgm:pt>
    <dgm:pt modelId="{8F1AF0D2-CC4A-4CF5-A6F0-DBE1E08635EF}" type="parTrans" cxnId="{F6AF7337-632F-4FF9-A758-36149C279C2C}">
      <dgm:prSet/>
      <dgm:spPr/>
      <dgm:t>
        <a:bodyPr/>
        <a:lstStyle/>
        <a:p>
          <a:endParaRPr lang="en-US"/>
        </a:p>
      </dgm:t>
    </dgm:pt>
    <dgm:pt modelId="{DCE372D3-70AA-477E-B6EF-F7ECEBEC1852}" type="sibTrans" cxnId="{F6AF7337-632F-4FF9-A758-36149C279C2C}">
      <dgm:prSet/>
      <dgm:spPr/>
      <dgm:t>
        <a:bodyPr/>
        <a:lstStyle/>
        <a:p>
          <a:endParaRPr lang="en-US"/>
        </a:p>
      </dgm:t>
    </dgm:pt>
    <dgm:pt modelId="{03EAA856-E92E-4AE4-9C11-0283C77036B4}">
      <dgm:prSet/>
      <dgm:spPr/>
      <dgm:t>
        <a:bodyPr/>
        <a:lstStyle/>
        <a:p>
          <a:r>
            <a:rPr lang="en-US"/>
            <a:t>It provides mutual authentication, data confidentiality, and data integrity.</a:t>
          </a:r>
        </a:p>
      </dgm:t>
    </dgm:pt>
    <dgm:pt modelId="{E03DD7DE-39DA-402E-9940-C53722DC6AE2}" type="parTrans" cxnId="{5AECD33C-2B06-4BB2-A320-C862C5AE9638}">
      <dgm:prSet/>
      <dgm:spPr/>
      <dgm:t>
        <a:bodyPr/>
        <a:lstStyle/>
        <a:p>
          <a:endParaRPr lang="en-US"/>
        </a:p>
      </dgm:t>
    </dgm:pt>
    <dgm:pt modelId="{01598CDB-E508-4839-91DD-1E7E51794A49}" type="sibTrans" cxnId="{5AECD33C-2B06-4BB2-A320-C862C5AE9638}">
      <dgm:prSet/>
      <dgm:spPr/>
      <dgm:t>
        <a:bodyPr/>
        <a:lstStyle/>
        <a:p>
          <a:endParaRPr lang="en-US"/>
        </a:p>
      </dgm:t>
    </dgm:pt>
    <dgm:pt modelId="{15908ACE-94BC-40A2-A931-96449BCEE019}">
      <dgm:prSet/>
      <dgm:spPr/>
      <dgm:t>
        <a:bodyPr/>
        <a:lstStyle/>
        <a:p>
          <a:r>
            <a:rPr lang="en-US"/>
            <a:t>Originally, it was designed as a replacement of insecure applications like r-commands (i.e., Berkeley remote commands, e.g., rlogin, rsh, rcp).</a:t>
          </a:r>
        </a:p>
      </dgm:t>
    </dgm:pt>
    <dgm:pt modelId="{84C36E3A-5835-44A0-94F5-F607CBA45EB0}" type="parTrans" cxnId="{3B2118B0-47A8-428E-A3CC-4CDB2C70F550}">
      <dgm:prSet/>
      <dgm:spPr/>
      <dgm:t>
        <a:bodyPr/>
        <a:lstStyle/>
        <a:p>
          <a:endParaRPr lang="en-US"/>
        </a:p>
      </dgm:t>
    </dgm:pt>
    <dgm:pt modelId="{36E22FEF-3104-44D2-96DA-1570B1B7B3F5}" type="sibTrans" cxnId="{3B2118B0-47A8-428E-A3CC-4CDB2C70F550}">
      <dgm:prSet/>
      <dgm:spPr/>
      <dgm:t>
        <a:bodyPr/>
        <a:lstStyle/>
        <a:p>
          <a:endParaRPr lang="en-US"/>
        </a:p>
      </dgm:t>
    </dgm:pt>
    <dgm:pt modelId="{2F542489-284D-4BAC-9C70-6A13E8316E08}" type="pres">
      <dgm:prSet presAssocID="{6A81EF5D-8FB5-44E4-BD7F-7CDFB1C89B06}" presName="root" presStyleCnt="0">
        <dgm:presLayoutVars>
          <dgm:dir/>
          <dgm:resizeHandles val="exact"/>
        </dgm:presLayoutVars>
      </dgm:prSet>
      <dgm:spPr/>
    </dgm:pt>
    <dgm:pt modelId="{5AB9AB78-107C-4FC9-B4C7-05A6903E5D95}" type="pres">
      <dgm:prSet presAssocID="{B9772E0C-581C-4FD9-B10E-1E34891ED4EB}" presName="compNode" presStyleCnt="0"/>
      <dgm:spPr/>
    </dgm:pt>
    <dgm:pt modelId="{3A5C7A06-F02E-4CC2-96AA-EDB64371249B}" type="pres">
      <dgm:prSet presAssocID="{B9772E0C-581C-4FD9-B10E-1E34891ED4EB}" presName="bgRect" presStyleLbl="bgShp" presStyleIdx="0" presStyleCnt="3"/>
      <dgm:spPr/>
    </dgm:pt>
    <dgm:pt modelId="{6D51F543-955D-41A2-A5E7-E3728BD1EB96}" type="pres">
      <dgm:prSet presAssocID="{B9772E0C-581C-4FD9-B10E-1E34891ED4E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803459A-5184-4725-8D60-778216A3ECA9}" type="pres">
      <dgm:prSet presAssocID="{B9772E0C-581C-4FD9-B10E-1E34891ED4EB}" presName="spaceRect" presStyleCnt="0"/>
      <dgm:spPr/>
    </dgm:pt>
    <dgm:pt modelId="{ECE48A07-DB3B-437D-8C2B-2FF5B0C129D9}" type="pres">
      <dgm:prSet presAssocID="{B9772E0C-581C-4FD9-B10E-1E34891ED4EB}" presName="parTx" presStyleLbl="revTx" presStyleIdx="0" presStyleCnt="3">
        <dgm:presLayoutVars>
          <dgm:chMax val="0"/>
          <dgm:chPref val="0"/>
        </dgm:presLayoutVars>
      </dgm:prSet>
      <dgm:spPr/>
    </dgm:pt>
    <dgm:pt modelId="{55D2C617-30FD-4097-A46C-54DF6765AB5A}" type="pres">
      <dgm:prSet presAssocID="{DCE372D3-70AA-477E-B6EF-F7ECEBEC1852}" presName="sibTrans" presStyleCnt="0"/>
      <dgm:spPr/>
    </dgm:pt>
    <dgm:pt modelId="{E8243EEA-91C7-47B0-8D1D-B8AA3744017D}" type="pres">
      <dgm:prSet presAssocID="{03EAA856-E92E-4AE4-9C11-0283C77036B4}" presName="compNode" presStyleCnt="0"/>
      <dgm:spPr/>
    </dgm:pt>
    <dgm:pt modelId="{35D6E5F6-57F7-4A04-BE6B-9AFF73215BD7}" type="pres">
      <dgm:prSet presAssocID="{03EAA856-E92E-4AE4-9C11-0283C77036B4}" presName="bgRect" presStyleLbl="bgShp" presStyleIdx="1" presStyleCnt="3"/>
      <dgm:spPr/>
    </dgm:pt>
    <dgm:pt modelId="{ACF1518C-57A1-4ED4-BB34-20FF1632905B}" type="pres">
      <dgm:prSet presAssocID="{03EAA856-E92E-4AE4-9C11-0283C77036B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1B29ACC5-233D-4595-AEEB-575DA06FFD94}" type="pres">
      <dgm:prSet presAssocID="{03EAA856-E92E-4AE4-9C11-0283C77036B4}" presName="spaceRect" presStyleCnt="0"/>
      <dgm:spPr/>
    </dgm:pt>
    <dgm:pt modelId="{126BBE64-1778-4349-8C52-BC62F2ACCFA1}" type="pres">
      <dgm:prSet presAssocID="{03EAA856-E92E-4AE4-9C11-0283C77036B4}" presName="parTx" presStyleLbl="revTx" presStyleIdx="1" presStyleCnt="3">
        <dgm:presLayoutVars>
          <dgm:chMax val="0"/>
          <dgm:chPref val="0"/>
        </dgm:presLayoutVars>
      </dgm:prSet>
      <dgm:spPr/>
    </dgm:pt>
    <dgm:pt modelId="{EFD5A388-C8A4-4007-93B7-E5149A193794}" type="pres">
      <dgm:prSet presAssocID="{01598CDB-E508-4839-91DD-1E7E51794A49}" presName="sibTrans" presStyleCnt="0"/>
      <dgm:spPr/>
    </dgm:pt>
    <dgm:pt modelId="{A9E92715-3D5E-49C0-A627-F3FCA9361ADE}" type="pres">
      <dgm:prSet presAssocID="{15908ACE-94BC-40A2-A931-96449BCEE019}" presName="compNode" presStyleCnt="0"/>
      <dgm:spPr/>
    </dgm:pt>
    <dgm:pt modelId="{2093EFF8-D56B-424C-A2D6-4885BBFBC3B1}" type="pres">
      <dgm:prSet presAssocID="{15908ACE-94BC-40A2-A931-96449BCEE019}" presName="bgRect" presStyleLbl="bgShp" presStyleIdx="2" presStyleCnt="3"/>
      <dgm:spPr/>
    </dgm:pt>
    <dgm:pt modelId="{E278C070-A786-463D-BB12-623CF78580FD}" type="pres">
      <dgm:prSet presAssocID="{15908ACE-94BC-40A2-A931-96449BCEE01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B7F85A60-2EEF-4A17-802D-29366E92DC01}" type="pres">
      <dgm:prSet presAssocID="{15908ACE-94BC-40A2-A931-96449BCEE019}" presName="spaceRect" presStyleCnt="0"/>
      <dgm:spPr/>
    </dgm:pt>
    <dgm:pt modelId="{CB8164D3-7443-44F3-8B15-CBD20D246B18}" type="pres">
      <dgm:prSet presAssocID="{15908ACE-94BC-40A2-A931-96449BCEE01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B642B00-73BC-4B23-9E5C-069C0988FDD8}" type="presOf" srcId="{15908ACE-94BC-40A2-A931-96449BCEE019}" destId="{CB8164D3-7443-44F3-8B15-CBD20D246B18}" srcOrd="0" destOrd="0" presId="urn:microsoft.com/office/officeart/2018/2/layout/IconVerticalSolidList"/>
    <dgm:cxn modelId="{421F580E-CF13-4F95-948A-127694BDC8AB}" type="presOf" srcId="{03EAA856-E92E-4AE4-9C11-0283C77036B4}" destId="{126BBE64-1778-4349-8C52-BC62F2ACCFA1}" srcOrd="0" destOrd="0" presId="urn:microsoft.com/office/officeart/2018/2/layout/IconVerticalSolidList"/>
    <dgm:cxn modelId="{F6AF7337-632F-4FF9-A758-36149C279C2C}" srcId="{6A81EF5D-8FB5-44E4-BD7F-7CDFB1C89B06}" destId="{B9772E0C-581C-4FD9-B10E-1E34891ED4EB}" srcOrd="0" destOrd="0" parTransId="{8F1AF0D2-CC4A-4CF5-A6F0-DBE1E08635EF}" sibTransId="{DCE372D3-70AA-477E-B6EF-F7ECEBEC1852}"/>
    <dgm:cxn modelId="{5AECD33C-2B06-4BB2-A320-C862C5AE9638}" srcId="{6A81EF5D-8FB5-44E4-BD7F-7CDFB1C89B06}" destId="{03EAA856-E92E-4AE4-9C11-0283C77036B4}" srcOrd="1" destOrd="0" parTransId="{E03DD7DE-39DA-402E-9940-C53722DC6AE2}" sibTransId="{01598CDB-E508-4839-91DD-1E7E51794A49}"/>
    <dgm:cxn modelId="{963D925C-404D-4C29-B400-F8F983B1D4DA}" type="presOf" srcId="{6A81EF5D-8FB5-44E4-BD7F-7CDFB1C89B06}" destId="{2F542489-284D-4BAC-9C70-6A13E8316E08}" srcOrd="0" destOrd="0" presId="urn:microsoft.com/office/officeart/2018/2/layout/IconVerticalSolidList"/>
    <dgm:cxn modelId="{3B2118B0-47A8-428E-A3CC-4CDB2C70F550}" srcId="{6A81EF5D-8FB5-44E4-BD7F-7CDFB1C89B06}" destId="{15908ACE-94BC-40A2-A931-96449BCEE019}" srcOrd="2" destOrd="0" parTransId="{84C36E3A-5835-44A0-94F5-F607CBA45EB0}" sibTransId="{36E22FEF-3104-44D2-96DA-1570B1B7B3F5}"/>
    <dgm:cxn modelId="{E2A258B7-0D56-4661-841C-E16973549738}" type="presOf" srcId="{B9772E0C-581C-4FD9-B10E-1E34891ED4EB}" destId="{ECE48A07-DB3B-437D-8C2B-2FF5B0C129D9}" srcOrd="0" destOrd="0" presId="urn:microsoft.com/office/officeart/2018/2/layout/IconVerticalSolidList"/>
    <dgm:cxn modelId="{2D067F51-A3B4-4A76-8890-6ABF9058BCFA}" type="presParOf" srcId="{2F542489-284D-4BAC-9C70-6A13E8316E08}" destId="{5AB9AB78-107C-4FC9-B4C7-05A6903E5D95}" srcOrd="0" destOrd="0" presId="urn:microsoft.com/office/officeart/2018/2/layout/IconVerticalSolidList"/>
    <dgm:cxn modelId="{43E1F5EB-1CF8-4E52-9491-8B4F33D7BD82}" type="presParOf" srcId="{5AB9AB78-107C-4FC9-B4C7-05A6903E5D95}" destId="{3A5C7A06-F02E-4CC2-96AA-EDB64371249B}" srcOrd="0" destOrd="0" presId="urn:microsoft.com/office/officeart/2018/2/layout/IconVerticalSolidList"/>
    <dgm:cxn modelId="{CE217F57-B716-4232-81D6-9484A70511CD}" type="presParOf" srcId="{5AB9AB78-107C-4FC9-B4C7-05A6903E5D95}" destId="{6D51F543-955D-41A2-A5E7-E3728BD1EB96}" srcOrd="1" destOrd="0" presId="urn:microsoft.com/office/officeart/2018/2/layout/IconVerticalSolidList"/>
    <dgm:cxn modelId="{5654CA2B-0311-4639-AB1B-7C08B04E33C9}" type="presParOf" srcId="{5AB9AB78-107C-4FC9-B4C7-05A6903E5D95}" destId="{8803459A-5184-4725-8D60-778216A3ECA9}" srcOrd="2" destOrd="0" presId="urn:microsoft.com/office/officeart/2018/2/layout/IconVerticalSolidList"/>
    <dgm:cxn modelId="{E4027C41-7368-4118-836A-F073383EBDB6}" type="presParOf" srcId="{5AB9AB78-107C-4FC9-B4C7-05A6903E5D95}" destId="{ECE48A07-DB3B-437D-8C2B-2FF5B0C129D9}" srcOrd="3" destOrd="0" presId="urn:microsoft.com/office/officeart/2018/2/layout/IconVerticalSolidList"/>
    <dgm:cxn modelId="{32F2E724-BA39-446C-9AD4-7C2AD9FE9182}" type="presParOf" srcId="{2F542489-284D-4BAC-9C70-6A13E8316E08}" destId="{55D2C617-30FD-4097-A46C-54DF6765AB5A}" srcOrd="1" destOrd="0" presId="urn:microsoft.com/office/officeart/2018/2/layout/IconVerticalSolidList"/>
    <dgm:cxn modelId="{88C964A7-2B25-4B30-ADD8-25057F76B234}" type="presParOf" srcId="{2F542489-284D-4BAC-9C70-6A13E8316E08}" destId="{E8243EEA-91C7-47B0-8D1D-B8AA3744017D}" srcOrd="2" destOrd="0" presId="urn:microsoft.com/office/officeart/2018/2/layout/IconVerticalSolidList"/>
    <dgm:cxn modelId="{12321288-948C-489E-8757-9CC5145E2535}" type="presParOf" srcId="{E8243EEA-91C7-47B0-8D1D-B8AA3744017D}" destId="{35D6E5F6-57F7-4A04-BE6B-9AFF73215BD7}" srcOrd="0" destOrd="0" presId="urn:microsoft.com/office/officeart/2018/2/layout/IconVerticalSolidList"/>
    <dgm:cxn modelId="{C3C098AF-338C-444D-81E5-337E698C2EC9}" type="presParOf" srcId="{E8243EEA-91C7-47B0-8D1D-B8AA3744017D}" destId="{ACF1518C-57A1-4ED4-BB34-20FF1632905B}" srcOrd="1" destOrd="0" presId="urn:microsoft.com/office/officeart/2018/2/layout/IconVerticalSolidList"/>
    <dgm:cxn modelId="{DC8B492D-EF55-4914-A688-DBE84BCC1B1B}" type="presParOf" srcId="{E8243EEA-91C7-47B0-8D1D-B8AA3744017D}" destId="{1B29ACC5-233D-4595-AEEB-575DA06FFD94}" srcOrd="2" destOrd="0" presId="urn:microsoft.com/office/officeart/2018/2/layout/IconVerticalSolidList"/>
    <dgm:cxn modelId="{18B13497-8227-4F09-AC8A-3229003A62B2}" type="presParOf" srcId="{E8243EEA-91C7-47B0-8D1D-B8AA3744017D}" destId="{126BBE64-1778-4349-8C52-BC62F2ACCFA1}" srcOrd="3" destOrd="0" presId="urn:microsoft.com/office/officeart/2018/2/layout/IconVerticalSolidList"/>
    <dgm:cxn modelId="{577FF9F7-297B-4D6C-BB52-96445FB9CBBF}" type="presParOf" srcId="{2F542489-284D-4BAC-9C70-6A13E8316E08}" destId="{EFD5A388-C8A4-4007-93B7-E5149A193794}" srcOrd="3" destOrd="0" presId="urn:microsoft.com/office/officeart/2018/2/layout/IconVerticalSolidList"/>
    <dgm:cxn modelId="{5C3ED528-3DE4-480A-B980-5128403273E9}" type="presParOf" srcId="{2F542489-284D-4BAC-9C70-6A13E8316E08}" destId="{A9E92715-3D5E-49C0-A627-F3FCA9361ADE}" srcOrd="4" destOrd="0" presId="urn:microsoft.com/office/officeart/2018/2/layout/IconVerticalSolidList"/>
    <dgm:cxn modelId="{6BFAE43D-CA3E-4EA7-B960-03D02619C83C}" type="presParOf" srcId="{A9E92715-3D5E-49C0-A627-F3FCA9361ADE}" destId="{2093EFF8-D56B-424C-A2D6-4885BBFBC3B1}" srcOrd="0" destOrd="0" presId="urn:microsoft.com/office/officeart/2018/2/layout/IconVerticalSolidList"/>
    <dgm:cxn modelId="{C5170482-B431-4A17-A675-CAE159D2FF06}" type="presParOf" srcId="{A9E92715-3D5E-49C0-A627-F3FCA9361ADE}" destId="{E278C070-A786-463D-BB12-623CF78580FD}" srcOrd="1" destOrd="0" presId="urn:microsoft.com/office/officeart/2018/2/layout/IconVerticalSolidList"/>
    <dgm:cxn modelId="{3FD6C64F-31DB-4CBF-A5E6-326A92879C0E}" type="presParOf" srcId="{A9E92715-3D5E-49C0-A627-F3FCA9361ADE}" destId="{B7F85A60-2EEF-4A17-802D-29366E92DC01}" srcOrd="2" destOrd="0" presId="urn:microsoft.com/office/officeart/2018/2/layout/IconVerticalSolidList"/>
    <dgm:cxn modelId="{EC4549F5-705F-4EFB-A2EF-6B2842F8E2D3}" type="presParOf" srcId="{A9E92715-3D5E-49C0-A627-F3FCA9361ADE}" destId="{CB8164D3-7443-44F3-8B15-CBD20D246B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81AE7-380E-42D8-8517-A2998CB6352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72A24F2-F086-4C9A-AA0F-2754F50A829C}">
      <dgm:prSet/>
      <dgm:spPr/>
      <dgm:t>
        <a:bodyPr/>
        <a:lstStyle/>
        <a:p>
          <a:r>
            <a:rPr lang="en-US"/>
            <a:t>IPSec is a lower level (IP-based) security solution than SSH. More fundamental but really expensive. SSH is quicker and easier to deploy.</a:t>
          </a:r>
        </a:p>
      </dgm:t>
    </dgm:pt>
    <dgm:pt modelId="{B30257A9-C91B-496E-B501-75DE438AFBD2}" type="parTrans" cxnId="{27AAEDAB-B267-4385-80DF-7DD78E4D5AEA}">
      <dgm:prSet/>
      <dgm:spPr/>
      <dgm:t>
        <a:bodyPr/>
        <a:lstStyle/>
        <a:p>
          <a:endParaRPr lang="en-US"/>
        </a:p>
      </dgm:t>
    </dgm:pt>
    <dgm:pt modelId="{81B4EC3F-AD74-41F1-A737-78A4920D2181}" type="sibTrans" cxnId="{27AAEDAB-B267-4385-80DF-7DD78E4D5AEA}">
      <dgm:prSet/>
      <dgm:spPr/>
      <dgm:t>
        <a:bodyPr/>
        <a:lstStyle/>
        <a:p>
          <a:endParaRPr lang="en-US"/>
        </a:p>
      </dgm:t>
    </dgm:pt>
    <dgm:pt modelId="{B9012197-972E-4B4A-BD1E-C0C6FA06B9BB}">
      <dgm:prSet/>
      <dgm:spPr/>
      <dgm:t>
        <a:bodyPr/>
        <a:lstStyle/>
        <a:p>
          <a:r>
            <a:rPr lang="en-US"/>
            <a:t>SSL or TLS is TCP-based and “mainly” used in WEB applications.</a:t>
          </a:r>
        </a:p>
      </dgm:t>
    </dgm:pt>
    <dgm:pt modelId="{966E80EB-76B0-4671-8AD3-67DEEC70B9AF}" type="parTrans" cxnId="{48CF9787-4F77-4737-8C73-C1B8B3D71647}">
      <dgm:prSet/>
      <dgm:spPr/>
      <dgm:t>
        <a:bodyPr/>
        <a:lstStyle/>
        <a:p>
          <a:endParaRPr lang="en-US"/>
        </a:p>
      </dgm:t>
    </dgm:pt>
    <dgm:pt modelId="{C76A12CD-79B8-4C42-9732-9F39334FB544}" type="sibTrans" cxnId="{48CF9787-4F77-4737-8C73-C1B8B3D71647}">
      <dgm:prSet/>
      <dgm:spPr/>
      <dgm:t>
        <a:bodyPr/>
        <a:lstStyle/>
        <a:p>
          <a:endParaRPr lang="en-US"/>
        </a:p>
      </dgm:t>
    </dgm:pt>
    <dgm:pt modelId="{C6EBF40F-A5A4-407C-BCC6-479B351244E6}">
      <dgm:prSet/>
      <dgm:spPr/>
      <dgm:t>
        <a:bodyPr/>
        <a:lstStyle/>
        <a:p>
          <a:r>
            <a:rPr lang="en-US"/>
            <a:t>There are some SSL-enhanced Telnet/FTP applications. SSH is a more integrated toolkit designed just for security.</a:t>
          </a:r>
        </a:p>
      </dgm:t>
    </dgm:pt>
    <dgm:pt modelId="{B5026B24-105F-4BB0-AC35-08CCBCC576D0}" type="parTrans" cxnId="{BB63FA11-8ED6-40F2-B546-0D8651E194C0}">
      <dgm:prSet/>
      <dgm:spPr/>
      <dgm:t>
        <a:bodyPr/>
        <a:lstStyle/>
        <a:p>
          <a:endParaRPr lang="en-US"/>
        </a:p>
      </dgm:t>
    </dgm:pt>
    <dgm:pt modelId="{A25702DC-9E46-4811-B3CE-19B0B8A1ACD7}" type="sibTrans" cxnId="{BB63FA11-8ED6-40F2-B546-0D8651E194C0}">
      <dgm:prSet/>
      <dgm:spPr/>
      <dgm:t>
        <a:bodyPr/>
        <a:lstStyle/>
        <a:p>
          <a:endParaRPr lang="en-US"/>
        </a:p>
      </dgm:t>
    </dgm:pt>
    <dgm:pt modelId="{49FB0DF0-C34C-4640-B2E2-3970F7C4F920}" type="pres">
      <dgm:prSet presAssocID="{67381AE7-380E-42D8-8517-A2998CB63526}" presName="root" presStyleCnt="0">
        <dgm:presLayoutVars>
          <dgm:dir/>
          <dgm:resizeHandles val="exact"/>
        </dgm:presLayoutVars>
      </dgm:prSet>
      <dgm:spPr/>
    </dgm:pt>
    <dgm:pt modelId="{F884F43E-F602-41D8-B62F-16A14E9DCE0A}" type="pres">
      <dgm:prSet presAssocID="{272A24F2-F086-4C9A-AA0F-2754F50A829C}" presName="compNode" presStyleCnt="0"/>
      <dgm:spPr/>
    </dgm:pt>
    <dgm:pt modelId="{B46B6EA3-71A6-48BB-A77D-70277362FF41}" type="pres">
      <dgm:prSet presAssocID="{272A24F2-F086-4C9A-AA0F-2754F50A829C}" presName="bgRect" presStyleLbl="bgShp" presStyleIdx="0" presStyleCnt="3"/>
      <dgm:spPr/>
    </dgm:pt>
    <dgm:pt modelId="{631F3682-64DF-4521-B713-54DB5F3C61F8}" type="pres">
      <dgm:prSet presAssocID="{272A24F2-F086-4C9A-AA0F-2754F50A829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BA11255-4E60-4F0C-A3D6-4A4E33765766}" type="pres">
      <dgm:prSet presAssocID="{272A24F2-F086-4C9A-AA0F-2754F50A829C}" presName="spaceRect" presStyleCnt="0"/>
      <dgm:spPr/>
    </dgm:pt>
    <dgm:pt modelId="{E7271E1E-6456-4DED-AB92-356F14D837E1}" type="pres">
      <dgm:prSet presAssocID="{272A24F2-F086-4C9A-AA0F-2754F50A829C}" presName="parTx" presStyleLbl="revTx" presStyleIdx="0" presStyleCnt="3">
        <dgm:presLayoutVars>
          <dgm:chMax val="0"/>
          <dgm:chPref val="0"/>
        </dgm:presLayoutVars>
      </dgm:prSet>
      <dgm:spPr/>
    </dgm:pt>
    <dgm:pt modelId="{7276B003-89C4-48E3-B852-F7DD429B80D0}" type="pres">
      <dgm:prSet presAssocID="{81B4EC3F-AD74-41F1-A737-78A4920D2181}" presName="sibTrans" presStyleCnt="0"/>
      <dgm:spPr/>
    </dgm:pt>
    <dgm:pt modelId="{10F81683-4087-4246-9AFD-B9F7E4FF6973}" type="pres">
      <dgm:prSet presAssocID="{B9012197-972E-4B4A-BD1E-C0C6FA06B9BB}" presName="compNode" presStyleCnt="0"/>
      <dgm:spPr/>
    </dgm:pt>
    <dgm:pt modelId="{7FB64D27-AC1E-481A-A9FD-1630B2225BB8}" type="pres">
      <dgm:prSet presAssocID="{B9012197-972E-4B4A-BD1E-C0C6FA06B9BB}" presName="bgRect" presStyleLbl="bgShp" presStyleIdx="1" presStyleCnt="3"/>
      <dgm:spPr/>
    </dgm:pt>
    <dgm:pt modelId="{763CBA1F-CD46-4928-9722-9334EBADCC04}" type="pres">
      <dgm:prSet presAssocID="{B9012197-972E-4B4A-BD1E-C0C6FA06B9B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C2981B5-5226-4559-8F84-29A364AA010C}" type="pres">
      <dgm:prSet presAssocID="{B9012197-972E-4B4A-BD1E-C0C6FA06B9BB}" presName="spaceRect" presStyleCnt="0"/>
      <dgm:spPr/>
    </dgm:pt>
    <dgm:pt modelId="{1E14F195-B628-42F0-961D-EF6141ACB1D6}" type="pres">
      <dgm:prSet presAssocID="{B9012197-972E-4B4A-BD1E-C0C6FA06B9BB}" presName="parTx" presStyleLbl="revTx" presStyleIdx="1" presStyleCnt="3">
        <dgm:presLayoutVars>
          <dgm:chMax val="0"/>
          <dgm:chPref val="0"/>
        </dgm:presLayoutVars>
      </dgm:prSet>
      <dgm:spPr/>
    </dgm:pt>
    <dgm:pt modelId="{7AD0B226-560F-4FC0-85FC-23AB67A044BA}" type="pres">
      <dgm:prSet presAssocID="{C76A12CD-79B8-4C42-9732-9F39334FB544}" presName="sibTrans" presStyleCnt="0"/>
      <dgm:spPr/>
    </dgm:pt>
    <dgm:pt modelId="{E819A9B4-6318-4A51-989D-06E44C0F9F45}" type="pres">
      <dgm:prSet presAssocID="{C6EBF40F-A5A4-407C-BCC6-479B351244E6}" presName="compNode" presStyleCnt="0"/>
      <dgm:spPr/>
    </dgm:pt>
    <dgm:pt modelId="{AE046AEA-8D7E-4581-B417-831B0230EFAB}" type="pres">
      <dgm:prSet presAssocID="{C6EBF40F-A5A4-407C-BCC6-479B351244E6}" presName="bgRect" presStyleLbl="bgShp" presStyleIdx="2" presStyleCnt="3"/>
      <dgm:spPr/>
    </dgm:pt>
    <dgm:pt modelId="{8845B299-3EBE-4290-9B3E-36FFEF747430}" type="pres">
      <dgm:prSet presAssocID="{C6EBF40F-A5A4-407C-BCC6-479B351244E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55BD2EA-D431-485B-9A4C-1B4D2BF7E407}" type="pres">
      <dgm:prSet presAssocID="{C6EBF40F-A5A4-407C-BCC6-479B351244E6}" presName="spaceRect" presStyleCnt="0"/>
      <dgm:spPr/>
    </dgm:pt>
    <dgm:pt modelId="{61A372EA-CA5E-4A94-A210-2F9918371CEA}" type="pres">
      <dgm:prSet presAssocID="{C6EBF40F-A5A4-407C-BCC6-479B351244E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B63FA11-8ED6-40F2-B546-0D8651E194C0}" srcId="{67381AE7-380E-42D8-8517-A2998CB63526}" destId="{C6EBF40F-A5A4-407C-BCC6-479B351244E6}" srcOrd="2" destOrd="0" parTransId="{B5026B24-105F-4BB0-AC35-08CCBCC576D0}" sibTransId="{A25702DC-9E46-4811-B3CE-19B0B8A1ACD7}"/>
    <dgm:cxn modelId="{AC2B0C6B-9067-4471-8303-FCDCD3935BCE}" type="presOf" srcId="{C6EBF40F-A5A4-407C-BCC6-479B351244E6}" destId="{61A372EA-CA5E-4A94-A210-2F9918371CEA}" srcOrd="0" destOrd="0" presId="urn:microsoft.com/office/officeart/2018/2/layout/IconVerticalSolidList"/>
    <dgm:cxn modelId="{48CF9787-4F77-4737-8C73-C1B8B3D71647}" srcId="{67381AE7-380E-42D8-8517-A2998CB63526}" destId="{B9012197-972E-4B4A-BD1E-C0C6FA06B9BB}" srcOrd="1" destOrd="0" parTransId="{966E80EB-76B0-4671-8AD3-67DEEC70B9AF}" sibTransId="{C76A12CD-79B8-4C42-9732-9F39334FB544}"/>
    <dgm:cxn modelId="{1F55B390-3492-463A-8AE5-16D9655C30DD}" type="presOf" srcId="{67381AE7-380E-42D8-8517-A2998CB63526}" destId="{49FB0DF0-C34C-4640-B2E2-3970F7C4F920}" srcOrd="0" destOrd="0" presId="urn:microsoft.com/office/officeart/2018/2/layout/IconVerticalSolidList"/>
    <dgm:cxn modelId="{27AAEDAB-B267-4385-80DF-7DD78E4D5AEA}" srcId="{67381AE7-380E-42D8-8517-A2998CB63526}" destId="{272A24F2-F086-4C9A-AA0F-2754F50A829C}" srcOrd="0" destOrd="0" parTransId="{B30257A9-C91B-496E-B501-75DE438AFBD2}" sibTransId="{81B4EC3F-AD74-41F1-A737-78A4920D2181}"/>
    <dgm:cxn modelId="{F68943D1-423A-4A15-A26D-98B47A0C060F}" type="presOf" srcId="{272A24F2-F086-4C9A-AA0F-2754F50A829C}" destId="{E7271E1E-6456-4DED-AB92-356F14D837E1}" srcOrd="0" destOrd="0" presId="urn:microsoft.com/office/officeart/2018/2/layout/IconVerticalSolidList"/>
    <dgm:cxn modelId="{D1F8B4D4-EC01-4E4B-9641-98F3A637EB85}" type="presOf" srcId="{B9012197-972E-4B4A-BD1E-C0C6FA06B9BB}" destId="{1E14F195-B628-42F0-961D-EF6141ACB1D6}" srcOrd="0" destOrd="0" presId="urn:microsoft.com/office/officeart/2018/2/layout/IconVerticalSolidList"/>
    <dgm:cxn modelId="{E5C16F90-C809-42E5-A2DC-3DC2A79FB05F}" type="presParOf" srcId="{49FB0DF0-C34C-4640-B2E2-3970F7C4F920}" destId="{F884F43E-F602-41D8-B62F-16A14E9DCE0A}" srcOrd="0" destOrd="0" presId="urn:microsoft.com/office/officeart/2018/2/layout/IconVerticalSolidList"/>
    <dgm:cxn modelId="{D7A387B6-7CC1-420E-8179-1A4F52B737A1}" type="presParOf" srcId="{F884F43E-F602-41D8-B62F-16A14E9DCE0A}" destId="{B46B6EA3-71A6-48BB-A77D-70277362FF41}" srcOrd="0" destOrd="0" presId="urn:microsoft.com/office/officeart/2018/2/layout/IconVerticalSolidList"/>
    <dgm:cxn modelId="{7F3874A6-DF3A-46F0-9C57-690046B270C5}" type="presParOf" srcId="{F884F43E-F602-41D8-B62F-16A14E9DCE0A}" destId="{631F3682-64DF-4521-B713-54DB5F3C61F8}" srcOrd="1" destOrd="0" presId="urn:microsoft.com/office/officeart/2018/2/layout/IconVerticalSolidList"/>
    <dgm:cxn modelId="{A0968E27-8456-4040-9CBC-570AA3FA985D}" type="presParOf" srcId="{F884F43E-F602-41D8-B62F-16A14E9DCE0A}" destId="{BBA11255-4E60-4F0C-A3D6-4A4E33765766}" srcOrd="2" destOrd="0" presId="urn:microsoft.com/office/officeart/2018/2/layout/IconVerticalSolidList"/>
    <dgm:cxn modelId="{715A25A6-366D-4C8C-803D-91569CF888CF}" type="presParOf" srcId="{F884F43E-F602-41D8-B62F-16A14E9DCE0A}" destId="{E7271E1E-6456-4DED-AB92-356F14D837E1}" srcOrd="3" destOrd="0" presId="urn:microsoft.com/office/officeart/2018/2/layout/IconVerticalSolidList"/>
    <dgm:cxn modelId="{554B9092-3244-4A8A-9170-BBB6E06E623B}" type="presParOf" srcId="{49FB0DF0-C34C-4640-B2E2-3970F7C4F920}" destId="{7276B003-89C4-48E3-B852-F7DD429B80D0}" srcOrd="1" destOrd="0" presId="urn:microsoft.com/office/officeart/2018/2/layout/IconVerticalSolidList"/>
    <dgm:cxn modelId="{D564A3BE-B25C-4F0D-B740-84DC5CFFAD45}" type="presParOf" srcId="{49FB0DF0-C34C-4640-B2E2-3970F7C4F920}" destId="{10F81683-4087-4246-9AFD-B9F7E4FF6973}" srcOrd="2" destOrd="0" presId="urn:microsoft.com/office/officeart/2018/2/layout/IconVerticalSolidList"/>
    <dgm:cxn modelId="{36D36E91-5A3F-4207-9570-98DB6058E8A7}" type="presParOf" srcId="{10F81683-4087-4246-9AFD-B9F7E4FF6973}" destId="{7FB64D27-AC1E-481A-A9FD-1630B2225BB8}" srcOrd="0" destOrd="0" presId="urn:microsoft.com/office/officeart/2018/2/layout/IconVerticalSolidList"/>
    <dgm:cxn modelId="{81B71C1E-93E3-40B4-9A46-C03F8C9DCE32}" type="presParOf" srcId="{10F81683-4087-4246-9AFD-B9F7E4FF6973}" destId="{763CBA1F-CD46-4928-9722-9334EBADCC04}" srcOrd="1" destOrd="0" presId="urn:microsoft.com/office/officeart/2018/2/layout/IconVerticalSolidList"/>
    <dgm:cxn modelId="{4FE5B6C3-A8EB-4E02-B0E4-D4E6E8382ACA}" type="presParOf" srcId="{10F81683-4087-4246-9AFD-B9F7E4FF6973}" destId="{7C2981B5-5226-4559-8F84-29A364AA010C}" srcOrd="2" destOrd="0" presId="urn:microsoft.com/office/officeart/2018/2/layout/IconVerticalSolidList"/>
    <dgm:cxn modelId="{6176E3A4-B91B-440A-AB3F-8B55E7251B47}" type="presParOf" srcId="{10F81683-4087-4246-9AFD-B9F7E4FF6973}" destId="{1E14F195-B628-42F0-961D-EF6141ACB1D6}" srcOrd="3" destOrd="0" presId="urn:microsoft.com/office/officeart/2018/2/layout/IconVerticalSolidList"/>
    <dgm:cxn modelId="{6317FA7A-837A-46E5-BE2E-CD827F33657D}" type="presParOf" srcId="{49FB0DF0-C34C-4640-B2E2-3970F7C4F920}" destId="{7AD0B226-560F-4FC0-85FC-23AB67A044BA}" srcOrd="3" destOrd="0" presId="urn:microsoft.com/office/officeart/2018/2/layout/IconVerticalSolidList"/>
    <dgm:cxn modelId="{BD1253C0-BC5B-41D6-8BEC-B05D0DB047E9}" type="presParOf" srcId="{49FB0DF0-C34C-4640-B2E2-3970F7C4F920}" destId="{E819A9B4-6318-4A51-989D-06E44C0F9F45}" srcOrd="4" destOrd="0" presId="urn:microsoft.com/office/officeart/2018/2/layout/IconVerticalSolidList"/>
    <dgm:cxn modelId="{C9838E9A-5249-49DC-87FC-8F87FDE4B562}" type="presParOf" srcId="{E819A9B4-6318-4A51-989D-06E44C0F9F45}" destId="{AE046AEA-8D7E-4581-B417-831B0230EFAB}" srcOrd="0" destOrd="0" presId="urn:microsoft.com/office/officeart/2018/2/layout/IconVerticalSolidList"/>
    <dgm:cxn modelId="{B632CE45-7D7F-425F-89C8-607C92AA114A}" type="presParOf" srcId="{E819A9B4-6318-4A51-989D-06E44C0F9F45}" destId="{8845B299-3EBE-4290-9B3E-36FFEF747430}" srcOrd="1" destOrd="0" presId="urn:microsoft.com/office/officeart/2018/2/layout/IconVerticalSolidList"/>
    <dgm:cxn modelId="{55F89BAF-1B28-4F63-86D1-8E5B5F9AA1CE}" type="presParOf" srcId="{E819A9B4-6318-4A51-989D-06E44C0F9F45}" destId="{855BD2EA-D431-485B-9A4C-1B4D2BF7E407}" srcOrd="2" destOrd="0" presId="urn:microsoft.com/office/officeart/2018/2/layout/IconVerticalSolidList"/>
    <dgm:cxn modelId="{DEDA0497-6DCE-4D01-B9D0-3C50D3849AA5}" type="presParOf" srcId="{E819A9B4-6318-4A51-989D-06E44C0F9F45}" destId="{61A372EA-CA5E-4A94-A210-2F9918371C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A15075-33A4-4E36-A4E9-087376AFA43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D64FCD8-F81A-4C9B-B2BE-13421E6BBC08}">
      <dgm:prSet/>
      <dgm:spPr/>
      <dgm:t>
        <a:bodyPr/>
        <a:lstStyle/>
        <a:p>
          <a:r>
            <a:rPr lang="en-US"/>
            <a:t>It is a fundamental building block of SSH.</a:t>
          </a:r>
        </a:p>
      </dgm:t>
    </dgm:pt>
    <dgm:pt modelId="{A9AB60B2-ABCE-4062-BD76-32F347239CC7}" type="parTrans" cxnId="{8C590E97-42DC-444B-A755-95AF053E9788}">
      <dgm:prSet/>
      <dgm:spPr/>
      <dgm:t>
        <a:bodyPr/>
        <a:lstStyle/>
        <a:p>
          <a:endParaRPr lang="en-US"/>
        </a:p>
      </dgm:t>
    </dgm:pt>
    <dgm:pt modelId="{96D7F4FB-7AFA-4E6E-ADE8-C65BD290202E}" type="sibTrans" cxnId="{8C590E97-42DC-444B-A755-95AF053E9788}">
      <dgm:prSet/>
      <dgm:spPr/>
      <dgm:t>
        <a:bodyPr/>
        <a:lstStyle/>
        <a:p>
          <a:endParaRPr lang="en-US"/>
        </a:p>
      </dgm:t>
    </dgm:pt>
    <dgm:pt modelId="{7FCA9507-53B8-45CD-8359-DA961D375C6D}">
      <dgm:prSet/>
      <dgm:spPr/>
      <dgm:t>
        <a:bodyPr/>
        <a:lstStyle/>
        <a:p>
          <a:r>
            <a:rPr lang="en-US"/>
            <a:t>It provides services such as the initial connection, server authentication, data encryption and data integrity.</a:t>
          </a:r>
        </a:p>
      </dgm:t>
    </dgm:pt>
    <dgm:pt modelId="{ACAA7F18-ED80-4EC8-93B2-63FF03E15E63}" type="parTrans" cxnId="{EFBE058C-DDAE-4F76-83B9-D80F25EDDDE9}">
      <dgm:prSet/>
      <dgm:spPr/>
      <dgm:t>
        <a:bodyPr/>
        <a:lstStyle/>
        <a:p>
          <a:endParaRPr lang="en-US"/>
        </a:p>
      </dgm:t>
    </dgm:pt>
    <dgm:pt modelId="{D6261C9D-4609-4CF9-8780-15A9BD4964BC}" type="sibTrans" cxnId="{EFBE058C-DDAE-4F76-83B9-D80F25EDDDE9}">
      <dgm:prSet/>
      <dgm:spPr/>
      <dgm:t>
        <a:bodyPr/>
        <a:lstStyle/>
        <a:p>
          <a:endParaRPr lang="en-US"/>
        </a:p>
      </dgm:t>
    </dgm:pt>
    <dgm:pt modelId="{88188BE2-B833-4EAA-8CAB-57BC91BDA018}">
      <dgm:prSet/>
      <dgm:spPr/>
      <dgm:t>
        <a:bodyPr/>
        <a:lstStyle/>
        <a:p>
          <a:r>
            <a:rPr lang="en-US"/>
            <a:t>It is used for the negotiation of cryptographic algorithms.</a:t>
          </a:r>
        </a:p>
      </dgm:t>
    </dgm:pt>
    <dgm:pt modelId="{1579A023-8207-4BB0-BF4E-6A64F71576AA}" type="parTrans" cxnId="{96E4410D-3375-4FDB-984C-BAB58CACB9B0}">
      <dgm:prSet/>
      <dgm:spPr/>
      <dgm:t>
        <a:bodyPr/>
        <a:lstStyle/>
        <a:p>
          <a:endParaRPr lang="en-US"/>
        </a:p>
      </dgm:t>
    </dgm:pt>
    <dgm:pt modelId="{8C9D7267-CE18-4BB8-BD97-1A7CA2BE2C3B}" type="sibTrans" cxnId="{96E4410D-3375-4FDB-984C-BAB58CACB9B0}">
      <dgm:prSet/>
      <dgm:spPr/>
      <dgm:t>
        <a:bodyPr/>
        <a:lstStyle/>
        <a:p>
          <a:endParaRPr lang="en-US"/>
        </a:p>
      </dgm:t>
    </dgm:pt>
    <dgm:pt modelId="{33752EC8-1F99-4347-B692-1BDBBADB66D9}" type="pres">
      <dgm:prSet presAssocID="{8EA15075-33A4-4E36-A4E9-087376AFA43B}" presName="root" presStyleCnt="0">
        <dgm:presLayoutVars>
          <dgm:dir/>
          <dgm:resizeHandles val="exact"/>
        </dgm:presLayoutVars>
      </dgm:prSet>
      <dgm:spPr/>
    </dgm:pt>
    <dgm:pt modelId="{0A287412-F54B-4F6E-9B96-B540DCC66FCE}" type="pres">
      <dgm:prSet presAssocID="{FD64FCD8-F81A-4C9B-B2BE-13421E6BBC08}" presName="compNode" presStyleCnt="0"/>
      <dgm:spPr/>
    </dgm:pt>
    <dgm:pt modelId="{BB893C71-F9F3-46CF-B8DE-643588984D5C}" type="pres">
      <dgm:prSet presAssocID="{FD64FCD8-F81A-4C9B-B2BE-13421E6BBC08}" presName="bgRect" presStyleLbl="bgShp" presStyleIdx="0" presStyleCnt="3"/>
      <dgm:spPr/>
    </dgm:pt>
    <dgm:pt modelId="{085C8D6A-0132-479B-B5AE-657B10B9615B}" type="pres">
      <dgm:prSet presAssocID="{FD64FCD8-F81A-4C9B-B2BE-13421E6BBC0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8293C82D-B468-44D1-9D7A-0D974985E32B}" type="pres">
      <dgm:prSet presAssocID="{FD64FCD8-F81A-4C9B-B2BE-13421E6BBC08}" presName="spaceRect" presStyleCnt="0"/>
      <dgm:spPr/>
    </dgm:pt>
    <dgm:pt modelId="{BD8825F3-E378-49B3-9F71-CA348457498A}" type="pres">
      <dgm:prSet presAssocID="{FD64FCD8-F81A-4C9B-B2BE-13421E6BBC08}" presName="parTx" presStyleLbl="revTx" presStyleIdx="0" presStyleCnt="3">
        <dgm:presLayoutVars>
          <dgm:chMax val="0"/>
          <dgm:chPref val="0"/>
        </dgm:presLayoutVars>
      </dgm:prSet>
      <dgm:spPr/>
    </dgm:pt>
    <dgm:pt modelId="{0127D0E4-0D24-4F52-BAC4-956517E3C2FB}" type="pres">
      <dgm:prSet presAssocID="{96D7F4FB-7AFA-4E6E-ADE8-C65BD290202E}" presName="sibTrans" presStyleCnt="0"/>
      <dgm:spPr/>
    </dgm:pt>
    <dgm:pt modelId="{BEC08730-7A8E-4420-8C5D-03B9178A6DB5}" type="pres">
      <dgm:prSet presAssocID="{7FCA9507-53B8-45CD-8359-DA961D375C6D}" presName="compNode" presStyleCnt="0"/>
      <dgm:spPr/>
    </dgm:pt>
    <dgm:pt modelId="{6B74551B-29ED-43BC-B06E-F16335152306}" type="pres">
      <dgm:prSet presAssocID="{7FCA9507-53B8-45CD-8359-DA961D375C6D}" presName="bgRect" presStyleLbl="bgShp" presStyleIdx="1" presStyleCnt="3"/>
      <dgm:spPr/>
    </dgm:pt>
    <dgm:pt modelId="{79961A98-5A00-4E92-B55B-281CD13396F4}" type="pres">
      <dgm:prSet presAssocID="{7FCA9507-53B8-45CD-8359-DA961D375C6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84211B4-4C8F-436E-80C1-D4374D95A3CB}" type="pres">
      <dgm:prSet presAssocID="{7FCA9507-53B8-45CD-8359-DA961D375C6D}" presName="spaceRect" presStyleCnt="0"/>
      <dgm:spPr/>
    </dgm:pt>
    <dgm:pt modelId="{ED2811CB-12F3-4D89-90C0-2A6FD37F8B2F}" type="pres">
      <dgm:prSet presAssocID="{7FCA9507-53B8-45CD-8359-DA961D375C6D}" presName="parTx" presStyleLbl="revTx" presStyleIdx="1" presStyleCnt="3">
        <dgm:presLayoutVars>
          <dgm:chMax val="0"/>
          <dgm:chPref val="0"/>
        </dgm:presLayoutVars>
      </dgm:prSet>
      <dgm:spPr/>
    </dgm:pt>
    <dgm:pt modelId="{2491A30D-82D3-4012-9F34-FFDB35A5BA86}" type="pres">
      <dgm:prSet presAssocID="{D6261C9D-4609-4CF9-8780-15A9BD4964BC}" presName="sibTrans" presStyleCnt="0"/>
      <dgm:spPr/>
    </dgm:pt>
    <dgm:pt modelId="{EE07F487-C2D8-47CD-8A8E-4CAE521F0483}" type="pres">
      <dgm:prSet presAssocID="{88188BE2-B833-4EAA-8CAB-57BC91BDA018}" presName="compNode" presStyleCnt="0"/>
      <dgm:spPr/>
    </dgm:pt>
    <dgm:pt modelId="{B7F33938-AD7C-49BB-8CDE-A3E301B0B9FD}" type="pres">
      <dgm:prSet presAssocID="{88188BE2-B833-4EAA-8CAB-57BC91BDA018}" presName="bgRect" presStyleLbl="bgShp" presStyleIdx="2" presStyleCnt="3"/>
      <dgm:spPr/>
    </dgm:pt>
    <dgm:pt modelId="{80241756-D246-419D-9354-4A09403CE093}" type="pres">
      <dgm:prSet presAssocID="{88188BE2-B833-4EAA-8CAB-57BC91BDA01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FA2011E-F3D9-4F62-A781-22397114721B}" type="pres">
      <dgm:prSet presAssocID="{88188BE2-B833-4EAA-8CAB-57BC91BDA018}" presName="spaceRect" presStyleCnt="0"/>
      <dgm:spPr/>
    </dgm:pt>
    <dgm:pt modelId="{CFF1E7B4-E9B4-46E6-9FE0-78E195819C0C}" type="pres">
      <dgm:prSet presAssocID="{88188BE2-B833-4EAA-8CAB-57BC91BDA01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E4410D-3375-4FDB-984C-BAB58CACB9B0}" srcId="{8EA15075-33A4-4E36-A4E9-087376AFA43B}" destId="{88188BE2-B833-4EAA-8CAB-57BC91BDA018}" srcOrd="2" destOrd="0" parTransId="{1579A023-8207-4BB0-BF4E-6A64F71576AA}" sibTransId="{8C9D7267-CE18-4BB8-BD97-1A7CA2BE2C3B}"/>
    <dgm:cxn modelId="{41DFAD34-09BD-420E-891E-234281857B5E}" type="presOf" srcId="{88188BE2-B833-4EAA-8CAB-57BC91BDA018}" destId="{CFF1E7B4-E9B4-46E6-9FE0-78E195819C0C}" srcOrd="0" destOrd="0" presId="urn:microsoft.com/office/officeart/2018/2/layout/IconVerticalSolidList"/>
    <dgm:cxn modelId="{85A46F8A-2E1E-4363-B705-F1B5F5256E65}" type="presOf" srcId="{7FCA9507-53B8-45CD-8359-DA961D375C6D}" destId="{ED2811CB-12F3-4D89-90C0-2A6FD37F8B2F}" srcOrd="0" destOrd="0" presId="urn:microsoft.com/office/officeart/2018/2/layout/IconVerticalSolidList"/>
    <dgm:cxn modelId="{EFBE058C-DDAE-4F76-83B9-D80F25EDDDE9}" srcId="{8EA15075-33A4-4E36-A4E9-087376AFA43B}" destId="{7FCA9507-53B8-45CD-8359-DA961D375C6D}" srcOrd="1" destOrd="0" parTransId="{ACAA7F18-ED80-4EC8-93B2-63FF03E15E63}" sibTransId="{D6261C9D-4609-4CF9-8780-15A9BD4964BC}"/>
    <dgm:cxn modelId="{8C590E97-42DC-444B-A755-95AF053E9788}" srcId="{8EA15075-33A4-4E36-A4E9-087376AFA43B}" destId="{FD64FCD8-F81A-4C9B-B2BE-13421E6BBC08}" srcOrd="0" destOrd="0" parTransId="{A9AB60B2-ABCE-4062-BD76-32F347239CC7}" sibTransId="{96D7F4FB-7AFA-4E6E-ADE8-C65BD290202E}"/>
    <dgm:cxn modelId="{5B1C4DE1-89B7-4DC4-B3A2-47BFDBC87207}" type="presOf" srcId="{FD64FCD8-F81A-4C9B-B2BE-13421E6BBC08}" destId="{BD8825F3-E378-49B3-9F71-CA348457498A}" srcOrd="0" destOrd="0" presId="urn:microsoft.com/office/officeart/2018/2/layout/IconVerticalSolidList"/>
    <dgm:cxn modelId="{20059EF0-2179-4B72-9E5F-2A63C7B6497F}" type="presOf" srcId="{8EA15075-33A4-4E36-A4E9-087376AFA43B}" destId="{33752EC8-1F99-4347-B692-1BDBBADB66D9}" srcOrd="0" destOrd="0" presId="urn:microsoft.com/office/officeart/2018/2/layout/IconVerticalSolidList"/>
    <dgm:cxn modelId="{6B688F58-F1C0-4583-A0F9-CE811030F429}" type="presParOf" srcId="{33752EC8-1F99-4347-B692-1BDBBADB66D9}" destId="{0A287412-F54B-4F6E-9B96-B540DCC66FCE}" srcOrd="0" destOrd="0" presId="urn:microsoft.com/office/officeart/2018/2/layout/IconVerticalSolidList"/>
    <dgm:cxn modelId="{824635A2-F6DE-46E0-A983-1B36B4153A3B}" type="presParOf" srcId="{0A287412-F54B-4F6E-9B96-B540DCC66FCE}" destId="{BB893C71-F9F3-46CF-B8DE-643588984D5C}" srcOrd="0" destOrd="0" presId="urn:microsoft.com/office/officeart/2018/2/layout/IconVerticalSolidList"/>
    <dgm:cxn modelId="{F5F24128-174C-4F43-9D84-08FEA6B64042}" type="presParOf" srcId="{0A287412-F54B-4F6E-9B96-B540DCC66FCE}" destId="{085C8D6A-0132-479B-B5AE-657B10B9615B}" srcOrd="1" destOrd="0" presId="urn:microsoft.com/office/officeart/2018/2/layout/IconVerticalSolidList"/>
    <dgm:cxn modelId="{57049E20-D545-4398-BFD7-0B5F2652EF7B}" type="presParOf" srcId="{0A287412-F54B-4F6E-9B96-B540DCC66FCE}" destId="{8293C82D-B468-44D1-9D7A-0D974985E32B}" srcOrd="2" destOrd="0" presId="urn:microsoft.com/office/officeart/2018/2/layout/IconVerticalSolidList"/>
    <dgm:cxn modelId="{1D8E88F5-70DD-46DB-A0D9-8928E0297448}" type="presParOf" srcId="{0A287412-F54B-4F6E-9B96-B540DCC66FCE}" destId="{BD8825F3-E378-49B3-9F71-CA348457498A}" srcOrd="3" destOrd="0" presId="urn:microsoft.com/office/officeart/2018/2/layout/IconVerticalSolidList"/>
    <dgm:cxn modelId="{5ECE9250-EAE7-4DB5-94C5-94581FA6C370}" type="presParOf" srcId="{33752EC8-1F99-4347-B692-1BDBBADB66D9}" destId="{0127D0E4-0D24-4F52-BAC4-956517E3C2FB}" srcOrd="1" destOrd="0" presId="urn:microsoft.com/office/officeart/2018/2/layout/IconVerticalSolidList"/>
    <dgm:cxn modelId="{E512FA40-75DC-4479-9223-78F649BD8401}" type="presParOf" srcId="{33752EC8-1F99-4347-B692-1BDBBADB66D9}" destId="{BEC08730-7A8E-4420-8C5D-03B9178A6DB5}" srcOrd="2" destOrd="0" presId="urn:microsoft.com/office/officeart/2018/2/layout/IconVerticalSolidList"/>
    <dgm:cxn modelId="{50DBA166-D197-4F61-8180-D317182FBC00}" type="presParOf" srcId="{BEC08730-7A8E-4420-8C5D-03B9178A6DB5}" destId="{6B74551B-29ED-43BC-B06E-F16335152306}" srcOrd="0" destOrd="0" presId="urn:microsoft.com/office/officeart/2018/2/layout/IconVerticalSolidList"/>
    <dgm:cxn modelId="{63A4E1D7-B04D-4A79-B111-241FA9331C72}" type="presParOf" srcId="{BEC08730-7A8E-4420-8C5D-03B9178A6DB5}" destId="{79961A98-5A00-4E92-B55B-281CD13396F4}" srcOrd="1" destOrd="0" presId="urn:microsoft.com/office/officeart/2018/2/layout/IconVerticalSolidList"/>
    <dgm:cxn modelId="{098F27AF-03BA-4DE6-897B-A9CD4EE0A299}" type="presParOf" srcId="{BEC08730-7A8E-4420-8C5D-03B9178A6DB5}" destId="{284211B4-4C8F-436E-80C1-D4374D95A3CB}" srcOrd="2" destOrd="0" presId="urn:microsoft.com/office/officeart/2018/2/layout/IconVerticalSolidList"/>
    <dgm:cxn modelId="{307549DA-8198-4A99-9924-3B6A5D572FE9}" type="presParOf" srcId="{BEC08730-7A8E-4420-8C5D-03B9178A6DB5}" destId="{ED2811CB-12F3-4D89-90C0-2A6FD37F8B2F}" srcOrd="3" destOrd="0" presId="urn:microsoft.com/office/officeart/2018/2/layout/IconVerticalSolidList"/>
    <dgm:cxn modelId="{116B44CC-DBF3-4B2B-B55E-18FD3A0D63EE}" type="presParOf" srcId="{33752EC8-1F99-4347-B692-1BDBBADB66D9}" destId="{2491A30D-82D3-4012-9F34-FFDB35A5BA86}" srcOrd="3" destOrd="0" presId="urn:microsoft.com/office/officeart/2018/2/layout/IconVerticalSolidList"/>
    <dgm:cxn modelId="{F853FE60-F3AE-4CF6-A246-901D95E0AFE3}" type="presParOf" srcId="{33752EC8-1F99-4347-B692-1BDBBADB66D9}" destId="{EE07F487-C2D8-47CD-8A8E-4CAE521F0483}" srcOrd="4" destOrd="0" presId="urn:microsoft.com/office/officeart/2018/2/layout/IconVerticalSolidList"/>
    <dgm:cxn modelId="{861F5E51-D9B4-48B8-9B82-A8FCF3E3146D}" type="presParOf" srcId="{EE07F487-C2D8-47CD-8A8E-4CAE521F0483}" destId="{B7F33938-AD7C-49BB-8CDE-A3E301B0B9FD}" srcOrd="0" destOrd="0" presId="urn:microsoft.com/office/officeart/2018/2/layout/IconVerticalSolidList"/>
    <dgm:cxn modelId="{E3AE94D3-1A26-430E-956B-6EAA51AD745C}" type="presParOf" srcId="{EE07F487-C2D8-47CD-8A8E-4CAE521F0483}" destId="{80241756-D246-419D-9354-4A09403CE093}" srcOrd="1" destOrd="0" presId="urn:microsoft.com/office/officeart/2018/2/layout/IconVerticalSolidList"/>
    <dgm:cxn modelId="{785DEA14-E41C-459B-ACDE-C213C5C408A0}" type="presParOf" srcId="{EE07F487-C2D8-47CD-8A8E-4CAE521F0483}" destId="{5FA2011E-F3D9-4F62-A781-22397114721B}" srcOrd="2" destOrd="0" presId="urn:microsoft.com/office/officeart/2018/2/layout/IconVerticalSolidList"/>
    <dgm:cxn modelId="{96E28999-4B54-4A7A-87B7-D32A7BB08924}" type="presParOf" srcId="{EE07F487-C2D8-47CD-8A8E-4CAE521F0483}" destId="{CFF1E7B4-E9B4-46E6-9FE0-78E195819C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443EBD-1735-409E-90CD-4C8E56D740C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3782616-5B94-4E79-81CD-DB6FD879E398}">
      <dgm:prSet/>
      <dgm:spPr/>
      <dgm:t>
        <a:bodyPr/>
        <a:lstStyle/>
        <a:p>
          <a:r>
            <a:rPr lang="en-US"/>
            <a:t>Based on the shared master key, both sides compute the data encryption keys and data integrity keys (details are omitted)</a:t>
          </a:r>
        </a:p>
      </dgm:t>
    </dgm:pt>
    <dgm:pt modelId="{93FA7ED1-2B28-4FC5-8B27-C72ADFCDF364}" type="parTrans" cxnId="{C768CF6B-39F8-4A8A-B59A-E83912E995D2}">
      <dgm:prSet/>
      <dgm:spPr/>
      <dgm:t>
        <a:bodyPr/>
        <a:lstStyle/>
        <a:p>
          <a:endParaRPr lang="en-US"/>
        </a:p>
      </dgm:t>
    </dgm:pt>
    <dgm:pt modelId="{D858FEB7-72D2-4579-BC21-AADAD17280B2}" type="sibTrans" cxnId="{C768CF6B-39F8-4A8A-B59A-E83912E995D2}">
      <dgm:prSet/>
      <dgm:spPr/>
      <dgm:t>
        <a:bodyPr/>
        <a:lstStyle/>
        <a:p>
          <a:endParaRPr lang="en-US"/>
        </a:p>
      </dgm:t>
    </dgm:pt>
    <dgm:pt modelId="{C31B3A81-4154-4840-9559-BF8256AAA498}">
      <dgm:prSet/>
      <dgm:spPr/>
      <dgm:t>
        <a:bodyPr/>
        <a:lstStyle/>
        <a:p>
          <a:r>
            <a:rPr lang="en-US"/>
            <a:t>The two encryption keys are independent</a:t>
          </a:r>
        </a:p>
      </dgm:t>
    </dgm:pt>
    <dgm:pt modelId="{D9878C37-530F-4340-B1B8-D16840404E9C}" type="parTrans" cxnId="{637132FD-A015-46B4-A027-F228AA2184A8}">
      <dgm:prSet/>
      <dgm:spPr/>
      <dgm:t>
        <a:bodyPr/>
        <a:lstStyle/>
        <a:p>
          <a:endParaRPr lang="en-US"/>
        </a:p>
      </dgm:t>
    </dgm:pt>
    <dgm:pt modelId="{047E9852-63C0-437B-AF02-0A492BA031A5}" type="sibTrans" cxnId="{637132FD-A015-46B4-A027-F228AA2184A8}">
      <dgm:prSet/>
      <dgm:spPr/>
      <dgm:t>
        <a:bodyPr/>
        <a:lstStyle/>
        <a:p>
          <a:endParaRPr lang="en-US"/>
        </a:p>
      </dgm:t>
    </dgm:pt>
    <dgm:pt modelId="{278693BC-8540-411D-A48C-5832D55F2404}">
      <dgm:prSet/>
      <dgm:spPr/>
      <dgm:t>
        <a:bodyPr/>
        <a:lstStyle/>
        <a:p>
          <a:r>
            <a:rPr lang="en-US"/>
            <a:t>The two data integrity keys (i.e., authentication keys) are independent</a:t>
          </a:r>
        </a:p>
      </dgm:t>
    </dgm:pt>
    <dgm:pt modelId="{85D61848-461E-451A-BE5D-889FA6914FE4}" type="parTrans" cxnId="{ADE820D5-D24D-42E0-A9DA-5EE4E4A3D029}">
      <dgm:prSet/>
      <dgm:spPr/>
      <dgm:t>
        <a:bodyPr/>
        <a:lstStyle/>
        <a:p>
          <a:endParaRPr lang="en-US"/>
        </a:p>
      </dgm:t>
    </dgm:pt>
    <dgm:pt modelId="{CCE38A53-76C9-456E-AB96-DA70D7C9261D}" type="sibTrans" cxnId="{ADE820D5-D24D-42E0-A9DA-5EE4E4A3D029}">
      <dgm:prSet/>
      <dgm:spPr/>
      <dgm:t>
        <a:bodyPr/>
        <a:lstStyle/>
        <a:p>
          <a:endParaRPr lang="en-US"/>
        </a:p>
      </dgm:t>
    </dgm:pt>
    <dgm:pt modelId="{29C690E5-FC1F-49AB-A2E7-E435E63E7FE8}">
      <dgm:prSet/>
      <dgm:spPr/>
      <dgm:t>
        <a:bodyPr/>
        <a:lstStyle/>
        <a:p>
          <a:r>
            <a:rPr lang="en-US"/>
            <a:t>After finishing the server authentication and the key exchange, the client has a single, secure, full duplex stream to an authenticated server</a:t>
          </a:r>
        </a:p>
      </dgm:t>
    </dgm:pt>
    <dgm:pt modelId="{79D4F169-3982-4A65-B821-664707EF2FD2}" type="parTrans" cxnId="{A0FFE8F4-C6DB-45F9-9E94-E14035D61DDA}">
      <dgm:prSet/>
      <dgm:spPr/>
      <dgm:t>
        <a:bodyPr/>
        <a:lstStyle/>
        <a:p>
          <a:endParaRPr lang="en-US"/>
        </a:p>
      </dgm:t>
    </dgm:pt>
    <dgm:pt modelId="{D1EE407B-098C-4038-BE76-862091AD4B8D}" type="sibTrans" cxnId="{A0FFE8F4-C6DB-45F9-9E94-E14035D61DDA}">
      <dgm:prSet/>
      <dgm:spPr/>
      <dgm:t>
        <a:bodyPr/>
        <a:lstStyle/>
        <a:p>
          <a:endParaRPr lang="en-US"/>
        </a:p>
      </dgm:t>
    </dgm:pt>
    <dgm:pt modelId="{ECA67F2B-4D8C-4250-AE0B-C55D48B8983B}" type="pres">
      <dgm:prSet presAssocID="{9E443EBD-1735-409E-90CD-4C8E56D740CB}" presName="root" presStyleCnt="0">
        <dgm:presLayoutVars>
          <dgm:dir/>
          <dgm:resizeHandles val="exact"/>
        </dgm:presLayoutVars>
      </dgm:prSet>
      <dgm:spPr/>
    </dgm:pt>
    <dgm:pt modelId="{F4D07273-DB7D-4B7F-99BB-F1055181DBF7}" type="pres">
      <dgm:prSet presAssocID="{53782616-5B94-4E79-81CD-DB6FD879E398}" presName="compNode" presStyleCnt="0"/>
      <dgm:spPr/>
    </dgm:pt>
    <dgm:pt modelId="{C1D8BB8B-3D2A-48F8-B85B-8361FB1CCE47}" type="pres">
      <dgm:prSet presAssocID="{53782616-5B94-4E79-81CD-DB6FD879E398}" presName="bgRect" presStyleLbl="bgShp" presStyleIdx="0" presStyleCnt="2"/>
      <dgm:spPr/>
    </dgm:pt>
    <dgm:pt modelId="{269CEE56-390E-424B-9C3C-5E9A349C72CD}" type="pres">
      <dgm:prSet presAssocID="{53782616-5B94-4E79-81CD-DB6FD879E39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656A745-89E0-44AE-9315-8E36FB9B1123}" type="pres">
      <dgm:prSet presAssocID="{53782616-5B94-4E79-81CD-DB6FD879E398}" presName="spaceRect" presStyleCnt="0"/>
      <dgm:spPr/>
    </dgm:pt>
    <dgm:pt modelId="{B6640933-1653-48E9-BEB6-BC6DD297E984}" type="pres">
      <dgm:prSet presAssocID="{53782616-5B94-4E79-81CD-DB6FD879E398}" presName="parTx" presStyleLbl="revTx" presStyleIdx="0" presStyleCnt="3">
        <dgm:presLayoutVars>
          <dgm:chMax val="0"/>
          <dgm:chPref val="0"/>
        </dgm:presLayoutVars>
      </dgm:prSet>
      <dgm:spPr/>
    </dgm:pt>
    <dgm:pt modelId="{A28E5CFB-A09C-4569-8038-BCD427B121BE}" type="pres">
      <dgm:prSet presAssocID="{53782616-5B94-4E79-81CD-DB6FD879E398}" presName="desTx" presStyleLbl="revTx" presStyleIdx="1" presStyleCnt="3">
        <dgm:presLayoutVars/>
      </dgm:prSet>
      <dgm:spPr/>
    </dgm:pt>
    <dgm:pt modelId="{A215DFBB-C864-4EF7-B749-52F8CFCCD261}" type="pres">
      <dgm:prSet presAssocID="{D858FEB7-72D2-4579-BC21-AADAD17280B2}" presName="sibTrans" presStyleCnt="0"/>
      <dgm:spPr/>
    </dgm:pt>
    <dgm:pt modelId="{D72AAB6D-E61D-4E38-98CC-6F61BDE96F15}" type="pres">
      <dgm:prSet presAssocID="{29C690E5-FC1F-49AB-A2E7-E435E63E7FE8}" presName="compNode" presStyleCnt="0"/>
      <dgm:spPr/>
    </dgm:pt>
    <dgm:pt modelId="{BB56D063-CA00-4059-8F87-DB597615334D}" type="pres">
      <dgm:prSet presAssocID="{29C690E5-FC1F-49AB-A2E7-E435E63E7FE8}" presName="bgRect" presStyleLbl="bgShp" presStyleIdx="1" presStyleCnt="2"/>
      <dgm:spPr/>
    </dgm:pt>
    <dgm:pt modelId="{C38F70CC-3972-46B6-8451-B7CCCA78AE47}" type="pres">
      <dgm:prSet presAssocID="{29C690E5-FC1F-49AB-A2E7-E435E63E7FE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31AE4788-8C53-4603-B594-04CBAC1EF27A}" type="pres">
      <dgm:prSet presAssocID="{29C690E5-FC1F-49AB-A2E7-E435E63E7FE8}" presName="spaceRect" presStyleCnt="0"/>
      <dgm:spPr/>
    </dgm:pt>
    <dgm:pt modelId="{A890014D-9D30-49EA-88EF-FF0CDB8F87EC}" type="pres">
      <dgm:prSet presAssocID="{29C690E5-FC1F-49AB-A2E7-E435E63E7FE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1428A10-FBE6-4AC7-A5B2-6ABA931FE7AB}" type="presOf" srcId="{9E443EBD-1735-409E-90CD-4C8E56D740CB}" destId="{ECA67F2B-4D8C-4250-AE0B-C55D48B8983B}" srcOrd="0" destOrd="0" presId="urn:microsoft.com/office/officeart/2018/2/layout/IconVerticalSolidList"/>
    <dgm:cxn modelId="{8383BE15-5D28-4274-8A04-29CB4B274E1D}" type="presOf" srcId="{29C690E5-FC1F-49AB-A2E7-E435E63E7FE8}" destId="{A890014D-9D30-49EA-88EF-FF0CDB8F87EC}" srcOrd="0" destOrd="0" presId="urn:microsoft.com/office/officeart/2018/2/layout/IconVerticalSolidList"/>
    <dgm:cxn modelId="{B3830652-34C6-4098-B741-0C21D191E400}" type="presOf" srcId="{53782616-5B94-4E79-81CD-DB6FD879E398}" destId="{B6640933-1653-48E9-BEB6-BC6DD297E984}" srcOrd="0" destOrd="0" presId="urn:microsoft.com/office/officeart/2018/2/layout/IconVerticalSolidList"/>
    <dgm:cxn modelId="{2D423359-6C30-4DB6-AC03-C302C2AC0B24}" type="presOf" srcId="{278693BC-8540-411D-A48C-5832D55F2404}" destId="{A28E5CFB-A09C-4569-8038-BCD427B121BE}" srcOrd="0" destOrd="1" presId="urn:microsoft.com/office/officeart/2018/2/layout/IconVerticalSolidList"/>
    <dgm:cxn modelId="{C768CF6B-39F8-4A8A-B59A-E83912E995D2}" srcId="{9E443EBD-1735-409E-90CD-4C8E56D740CB}" destId="{53782616-5B94-4E79-81CD-DB6FD879E398}" srcOrd="0" destOrd="0" parTransId="{93FA7ED1-2B28-4FC5-8B27-C72ADFCDF364}" sibTransId="{D858FEB7-72D2-4579-BC21-AADAD17280B2}"/>
    <dgm:cxn modelId="{EE820987-F037-4B56-BA6A-869DBD40CD59}" type="presOf" srcId="{C31B3A81-4154-4840-9559-BF8256AAA498}" destId="{A28E5CFB-A09C-4569-8038-BCD427B121BE}" srcOrd="0" destOrd="0" presId="urn:microsoft.com/office/officeart/2018/2/layout/IconVerticalSolidList"/>
    <dgm:cxn modelId="{ADE820D5-D24D-42E0-A9DA-5EE4E4A3D029}" srcId="{53782616-5B94-4E79-81CD-DB6FD879E398}" destId="{278693BC-8540-411D-A48C-5832D55F2404}" srcOrd="1" destOrd="0" parTransId="{85D61848-461E-451A-BE5D-889FA6914FE4}" sibTransId="{CCE38A53-76C9-456E-AB96-DA70D7C9261D}"/>
    <dgm:cxn modelId="{A0FFE8F4-C6DB-45F9-9E94-E14035D61DDA}" srcId="{9E443EBD-1735-409E-90CD-4C8E56D740CB}" destId="{29C690E5-FC1F-49AB-A2E7-E435E63E7FE8}" srcOrd="1" destOrd="0" parTransId="{79D4F169-3982-4A65-B821-664707EF2FD2}" sibTransId="{D1EE407B-098C-4038-BE76-862091AD4B8D}"/>
    <dgm:cxn modelId="{637132FD-A015-46B4-A027-F228AA2184A8}" srcId="{53782616-5B94-4E79-81CD-DB6FD879E398}" destId="{C31B3A81-4154-4840-9559-BF8256AAA498}" srcOrd="0" destOrd="0" parTransId="{D9878C37-530F-4340-B1B8-D16840404E9C}" sibTransId="{047E9852-63C0-437B-AF02-0A492BA031A5}"/>
    <dgm:cxn modelId="{BEBF715F-C5EC-4C4E-A296-A12E630D8365}" type="presParOf" srcId="{ECA67F2B-4D8C-4250-AE0B-C55D48B8983B}" destId="{F4D07273-DB7D-4B7F-99BB-F1055181DBF7}" srcOrd="0" destOrd="0" presId="urn:microsoft.com/office/officeart/2018/2/layout/IconVerticalSolidList"/>
    <dgm:cxn modelId="{63F7188F-E532-4805-82E0-D8B062BFD8DA}" type="presParOf" srcId="{F4D07273-DB7D-4B7F-99BB-F1055181DBF7}" destId="{C1D8BB8B-3D2A-48F8-B85B-8361FB1CCE47}" srcOrd="0" destOrd="0" presId="urn:microsoft.com/office/officeart/2018/2/layout/IconVerticalSolidList"/>
    <dgm:cxn modelId="{1FBEF654-43A3-49A8-A90D-B3720E2B040B}" type="presParOf" srcId="{F4D07273-DB7D-4B7F-99BB-F1055181DBF7}" destId="{269CEE56-390E-424B-9C3C-5E9A349C72CD}" srcOrd="1" destOrd="0" presId="urn:microsoft.com/office/officeart/2018/2/layout/IconVerticalSolidList"/>
    <dgm:cxn modelId="{EF7F3EBF-E092-46E1-967B-4FA39123EEE3}" type="presParOf" srcId="{F4D07273-DB7D-4B7F-99BB-F1055181DBF7}" destId="{1656A745-89E0-44AE-9315-8E36FB9B1123}" srcOrd="2" destOrd="0" presId="urn:microsoft.com/office/officeart/2018/2/layout/IconVerticalSolidList"/>
    <dgm:cxn modelId="{5D65D119-287A-4DF7-951B-4CAAE246C4ED}" type="presParOf" srcId="{F4D07273-DB7D-4B7F-99BB-F1055181DBF7}" destId="{B6640933-1653-48E9-BEB6-BC6DD297E984}" srcOrd="3" destOrd="0" presId="urn:microsoft.com/office/officeart/2018/2/layout/IconVerticalSolidList"/>
    <dgm:cxn modelId="{FE981266-A7AF-4C60-8D1A-CAB3094F303E}" type="presParOf" srcId="{F4D07273-DB7D-4B7F-99BB-F1055181DBF7}" destId="{A28E5CFB-A09C-4569-8038-BCD427B121BE}" srcOrd="4" destOrd="0" presId="urn:microsoft.com/office/officeart/2018/2/layout/IconVerticalSolidList"/>
    <dgm:cxn modelId="{65656114-1E19-4782-B53D-08E8033553AD}" type="presParOf" srcId="{ECA67F2B-4D8C-4250-AE0B-C55D48B8983B}" destId="{A215DFBB-C864-4EF7-B749-52F8CFCCD261}" srcOrd="1" destOrd="0" presId="urn:microsoft.com/office/officeart/2018/2/layout/IconVerticalSolidList"/>
    <dgm:cxn modelId="{0BCADBDE-5C14-4745-9482-8498FA0FBFF0}" type="presParOf" srcId="{ECA67F2B-4D8C-4250-AE0B-C55D48B8983B}" destId="{D72AAB6D-E61D-4E38-98CC-6F61BDE96F15}" srcOrd="2" destOrd="0" presId="urn:microsoft.com/office/officeart/2018/2/layout/IconVerticalSolidList"/>
    <dgm:cxn modelId="{8C0D5E5B-E68D-4EDA-B03C-01D24A0BAA36}" type="presParOf" srcId="{D72AAB6D-E61D-4E38-98CC-6F61BDE96F15}" destId="{BB56D063-CA00-4059-8F87-DB597615334D}" srcOrd="0" destOrd="0" presId="urn:microsoft.com/office/officeart/2018/2/layout/IconVerticalSolidList"/>
    <dgm:cxn modelId="{97BDE7A1-3B44-4D38-98BA-4D992EF70B38}" type="presParOf" srcId="{D72AAB6D-E61D-4E38-98CC-6F61BDE96F15}" destId="{C38F70CC-3972-46B6-8451-B7CCCA78AE47}" srcOrd="1" destOrd="0" presId="urn:microsoft.com/office/officeart/2018/2/layout/IconVerticalSolidList"/>
    <dgm:cxn modelId="{1A59B323-C779-450E-BD27-F9E60F204782}" type="presParOf" srcId="{D72AAB6D-E61D-4E38-98CC-6F61BDE96F15}" destId="{31AE4788-8C53-4603-B594-04CBAC1EF27A}" srcOrd="2" destOrd="0" presId="urn:microsoft.com/office/officeart/2018/2/layout/IconVerticalSolidList"/>
    <dgm:cxn modelId="{C523A61C-8E56-4B14-A8D1-1DCEAC0603B7}" type="presParOf" srcId="{D72AAB6D-E61D-4E38-98CC-6F61BDE96F15}" destId="{A890014D-9D30-49EA-88EF-FF0CDB8F87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AAAE8E-0F2F-441B-8942-FE18B618BC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E4C6BF0-BFD8-4B2C-869B-7A911765AD61}">
      <dgm:prSet/>
      <dgm:spPr/>
      <dgm:t>
        <a:bodyPr/>
        <a:lstStyle/>
        <a:p>
          <a:r>
            <a:rPr lang="en-US"/>
            <a:t>User Authentication Request is driven by the client and has the following parts:</a:t>
          </a:r>
        </a:p>
      </dgm:t>
    </dgm:pt>
    <dgm:pt modelId="{4E383E38-57E5-4C0F-8EA3-02791C4606DD}" type="parTrans" cxnId="{573F3C2C-7247-49DD-9E5F-22E135E47200}">
      <dgm:prSet/>
      <dgm:spPr/>
      <dgm:t>
        <a:bodyPr/>
        <a:lstStyle/>
        <a:p>
          <a:endParaRPr lang="en-US"/>
        </a:p>
      </dgm:t>
    </dgm:pt>
    <dgm:pt modelId="{C26798B4-D12D-4297-9B7C-6560B3E20309}" type="sibTrans" cxnId="{573F3C2C-7247-49DD-9E5F-22E135E47200}">
      <dgm:prSet/>
      <dgm:spPr/>
      <dgm:t>
        <a:bodyPr/>
        <a:lstStyle/>
        <a:p>
          <a:endParaRPr lang="en-US"/>
        </a:p>
      </dgm:t>
    </dgm:pt>
    <dgm:pt modelId="{E43ADEB4-7E1C-4B08-8BBC-8BD827DEB514}">
      <dgm:prSet/>
      <dgm:spPr/>
      <dgm:t>
        <a:bodyPr/>
        <a:lstStyle/>
        <a:p>
          <a:r>
            <a:rPr lang="en-US"/>
            <a:t>user name</a:t>
          </a:r>
        </a:p>
      </dgm:t>
    </dgm:pt>
    <dgm:pt modelId="{1756C57E-6362-4B9A-89B7-B83B35ACCAE6}" type="parTrans" cxnId="{779BB122-686F-49E9-9646-5F69A51A8221}">
      <dgm:prSet/>
      <dgm:spPr/>
      <dgm:t>
        <a:bodyPr/>
        <a:lstStyle/>
        <a:p>
          <a:endParaRPr lang="en-US"/>
        </a:p>
      </dgm:t>
    </dgm:pt>
    <dgm:pt modelId="{3DB0A219-DC63-4AAF-9C80-5FEED6993C99}" type="sibTrans" cxnId="{779BB122-686F-49E9-9646-5F69A51A8221}">
      <dgm:prSet/>
      <dgm:spPr/>
      <dgm:t>
        <a:bodyPr/>
        <a:lstStyle/>
        <a:p>
          <a:endParaRPr lang="en-US"/>
        </a:p>
      </dgm:t>
    </dgm:pt>
    <dgm:pt modelId="{6BEC6C36-750E-4F15-863A-B60F95FE40F2}">
      <dgm:prSet/>
      <dgm:spPr/>
      <dgm:t>
        <a:bodyPr/>
        <a:lstStyle/>
        <a:p>
          <a:r>
            <a:rPr lang="en-US"/>
            <a:t>service name</a:t>
          </a:r>
        </a:p>
      </dgm:t>
    </dgm:pt>
    <dgm:pt modelId="{AA0572F3-3FB9-4BE3-8F25-BF9D15DDF6C0}" type="parTrans" cxnId="{C65FA449-F5E8-4D91-B69C-D064EA77F146}">
      <dgm:prSet/>
      <dgm:spPr/>
      <dgm:t>
        <a:bodyPr/>
        <a:lstStyle/>
        <a:p>
          <a:endParaRPr lang="en-US"/>
        </a:p>
      </dgm:t>
    </dgm:pt>
    <dgm:pt modelId="{ACB55598-28C3-4992-B6DA-B3A3B5E6D4D4}" type="sibTrans" cxnId="{C65FA449-F5E8-4D91-B69C-D064EA77F146}">
      <dgm:prSet/>
      <dgm:spPr/>
      <dgm:t>
        <a:bodyPr/>
        <a:lstStyle/>
        <a:p>
          <a:endParaRPr lang="en-US"/>
        </a:p>
      </dgm:t>
    </dgm:pt>
    <dgm:pt modelId="{FFCD7416-2C20-4300-A917-48D159D42020}">
      <dgm:prSet/>
      <dgm:spPr/>
      <dgm:t>
        <a:bodyPr/>
        <a:lstStyle/>
        <a:p>
          <a:r>
            <a:rPr lang="en-US"/>
            <a:t>method name</a:t>
          </a:r>
        </a:p>
      </dgm:t>
    </dgm:pt>
    <dgm:pt modelId="{A125EBD0-D8A5-4615-A289-2DFCBF726FCC}" type="parTrans" cxnId="{45D03F1E-91E2-456F-AAC0-ABFEC229B46E}">
      <dgm:prSet/>
      <dgm:spPr/>
      <dgm:t>
        <a:bodyPr/>
        <a:lstStyle/>
        <a:p>
          <a:endParaRPr lang="en-US"/>
        </a:p>
      </dgm:t>
    </dgm:pt>
    <dgm:pt modelId="{25E75C09-1453-47E9-9578-0703DA0E7A05}" type="sibTrans" cxnId="{45D03F1E-91E2-456F-AAC0-ABFEC229B46E}">
      <dgm:prSet/>
      <dgm:spPr/>
      <dgm:t>
        <a:bodyPr/>
        <a:lstStyle/>
        <a:p>
          <a:endParaRPr lang="en-US"/>
        </a:p>
      </dgm:t>
    </dgm:pt>
    <dgm:pt modelId="{E1BB0D71-AFD2-4AB3-A153-03BD00908E4E}">
      <dgm:prSet/>
      <dgm:spPr/>
      <dgm:t>
        <a:bodyPr/>
        <a:lstStyle/>
        <a:p>
          <a:r>
            <a:rPr lang="en-US"/>
            <a:t>Authentication Response from the server:</a:t>
          </a:r>
        </a:p>
      </dgm:t>
    </dgm:pt>
    <dgm:pt modelId="{7AA676EC-B44C-4C52-A52A-CD9F577DC8FB}" type="parTrans" cxnId="{7C54F1C4-E29A-4A3A-9771-A47D22BF6868}">
      <dgm:prSet/>
      <dgm:spPr/>
      <dgm:t>
        <a:bodyPr/>
        <a:lstStyle/>
        <a:p>
          <a:endParaRPr lang="en-US"/>
        </a:p>
      </dgm:t>
    </dgm:pt>
    <dgm:pt modelId="{BED846BD-227E-4868-AB11-1EF171BB849D}" type="sibTrans" cxnId="{7C54F1C4-E29A-4A3A-9771-A47D22BF6868}">
      <dgm:prSet/>
      <dgm:spPr/>
      <dgm:t>
        <a:bodyPr/>
        <a:lstStyle/>
        <a:p>
          <a:endParaRPr lang="en-US"/>
        </a:p>
      </dgm:t>
    </dgm:pt>
    <dgm:pt modelId="{C6245E18-9700-4C34-84AB-3DE1994224D6}">
      <dgm:prSet/>
      <dgm:spPr/>
      <dgm:t>
        <a:bodyPr/>
        <a:lstStyle/>
        <a:p>
          <a:r>
            <a:rPr lang="en-US"/>
            <a:t>SUCCESS: user authentication done.</a:t>
          </a:r>
        </a:p>
      </dgm:t>
    </dgm:pt>
    <dgm:pt modelId="{5897A784-82EA-47CD-B711-12FF346E0F20}" type="parTrans" cxnId="{BB7C3799-4F26-4BB7-B878-39742B40235D}">
      <dgm:prSet/>
      <dgm:spPr/>
      <dgm:t>
        <a:bodyPr/>
        <a:lstStyle/>
        <a:p>
          <a:endParaRPr lang="en-US"/>
        </a:p>
      </dgm:t>
    </dgm:pt>
    <dgm:pt modelId="{E815FBB2-4847-41DD-A982-C428014A04CF}" type="sibTrans" cxnId="{BB7C3799-4F26-4BB7-B878-39742B40235D}">
      <dgm:prSet/>
      <dgm:spPr/>
      <dgm:t>
        <a:bodyPr/>
        <a:lstStyle/>
        <a:p>
          <a:endParaRPr lang="en-US"/>
        </a:p>
      </dgm:t>
    </dgm:pt>
    <dgm:pt modelId="{3B91B18C-6EA4-45AE-92DE-398D09415594}">
      <dgm:prSet/>
      <dgm:spPr/>
      <dgm:t>
        <a:bodyPr/>
        <a:lstStyle/>
        <a:p>
          <a:r>
            <a:rPr lang="en-US"/>
            <a:t>FAILURE: return a list of user authentication methods that can continue</a:t>
          </a:r>
        </a:p>
      </dgm:t>
    </dgm:pt>
    <dgm:pt modelId="{DB1AB770-332C-4B03-88D9-ECCBE85FF9BA}" type="parTrans" cxnId="{8C3BF1F5-A5FF-44AE-BE36-3DD5063C5A9C}">
      <dgm:prSet/>
      <dgm:spPr/>
      <dgm:t>
        <a:bodyPr/>
        <a:lstStyle/>
        <a:p>
          <a:endParaRPr lang="en-US"/>
        </a:p>
      </dgm:t>
    </dgm:pt>
    <dgm:pt modelId="{CA786E2B-A17C-4FA5-88D3-FCF51C854AA0}" type="sibTrans" cxnId="{8C3BF1F5-A5FF-44AE-BE36-3DD5063C5A9C}">
      <dgm:prSet/>
      <dgm:spPr/>
      <dgm:t>
        <a:bodyPr/>
        <a:lstStyle/>
        <a:p>
          <a:endParaRPr lang="en-US"/>
        </a:p>
      </dgm:t>
    </dgm:pt>
    <dgm:pt modelId="{940D4968-5AA6-463F-9DFE-C81E5E66EC13}" type="pres">
      <dgm:prSet presAssocID="{2CAAAE8E-0F2F-441B-8942-FE18B618BC09}" presName="root" presStyleCnt="0">
        <dgm:presLayoutVars>
          <dgm:dir/>
          <dgm:resizeHandles val="exact"/>
        </dgm:presLayoutVars>
      </dgm:prSet>
      <dgm:spPr/>
    </dgm:pt>
    <dgm:pt modelId="{47E68640-6E34-4ECB-B542-AE54881983BD}" type="pres">
      <dgm:prSet presAssocID="{8E4C6BF0-BFD8-4B2C-869B-7A911765AD61}" presName="compNode" presStyleCnt="0"/>
      <dgm:spPr/>
    </dgm:pt>
    <dgm:pt modelId="{41FBA99B-4A87-40A5-A6A4-E0C2C4813AE1}" type="pres">
      <dgm:prSet presAssocID="{8E4C6BF0-BFD8-4B2C-869B-7A911765AD61}" presName="bgRect" presStyleLbl="bgShp" presStyleIdx="0" presStyleCnt="2"/>
      <dgm:spPr/>
    </dgm:pt>
    <dgm:pt modelId="{1E9E463B-C0C3-4672-9149-A799323416D5}" type="pres">
      <dgm:prSet presAssocID="{8E4C6BF0-BFD8-4B2C-869B-7A911765AD6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633FE33-6DE8-48E5-BD05-65888B36A3F4}" type="pres">
      <dgm:prSet presAssocID="{8E4C6BF0-BFD8-4B2C-869B-7A911765AD61}" presName="spaceRect" presStyleCnt="0"/>
      <dgm:spPr/>
    </dgm:pt>
    <dgm:pt modelId="{0F6FD2CD-FA92-4B6A-B77E-9B2500963C64}" type="pres">
      <dgm:prSet presAssocID="{8E4C6BF0-BFD8-4B2C-869B-7A911765AD61}" presName="parTx" presStyleLbl="revTx" presStyleIdx="0" presStyleCnt="4">
        <dgm:presLayoutVars>
          <dgm:chMax val="0"/>
          <dgm:chPref val="0"/>
        </dgm:presLayoutVars>
      </dgm:prSet>
      <dgm:spPr/>
    </dgm:pt>
    <dgm:pt modelId="{1F16B589-EB63-4497-A6FC-F34EFD624350}" type="pres">
      <dgm:prSet presAssocID="{8E4C6BF0-BFD8-4B2C-869B-7A911765AD61}" presName="desTx" presStyleLbl="revTx" presStyleIdx="1" presStyleCnt="4">
        <dgm:presLayoutVars/>
      </dgm:prSet>
      <dgm:spPr/>
    </dgm:pt>
    <dgm:pt modelId="{C04C26A5-9D73-46A1-AEA6-8FC4B67D61CA}" type="pres">
      <dgm:prSet presAssocID="{C26798B4-D12D-4297-9B7C-6560B3E20309}" presName="sibTrans" presStyleCnt="0"/>
      <dgm:spPr/>
    </dgm:pt>
    <dgm:pt modelId="{8F7FE3B1-13E4-46F7-AF1C-EFEA0A392372}" type="pres">
      <dgm:prSet presAssocID="{E1BB0D71-AFD2-4AB3-A153-03BD00908E4E}" presName="compNode" presStyleCnt="0"/>
      <dgm:spPr/>
    </dgm:pt>
    <dgm:pt modelId="{200D8CC0-198D-4C25-9E33-5E6A98A25331}" type="pres">
      <dgm:prSet presAssocID="{E1BB0D71-AFD2-4AB3-A153-03BD00908E4E}" presName="bgRect" presStyleLbl="bgShp" presStyleIdx="1" presStyleCnt="2"/>
      <dgm:spPr/>
    </dgm:pt>
    <dgm:pt modelId="{36B8C066-AE8F-47DC-83EC-2884B63E8DAD}" type="pres">
      <dgm:prSet presAssocID="{E1BB0D71-AFD2-4AB3-A153-03BD00908E4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A667DBB4-FC4D-43CF-B612-8E974435FD8E}" type="pres">
      <dgm:prSet presAssocID="{E1BB0D71-AFD2-4AB3-A153-03BD00908E4E}" presName="spaceRect" presStyleCnt="0"/>
      <dgm:spPr/>
    </dgm:pt>
    <dgm:pt modelId="{0A817B9B-DE9D-4C32-85E6-D8FB9203DC3F}" type="pres">
      <dgm:prSet presAssocID="{E1BB0D71-AFD2-4AB3-A153-03BD00908E4E}" presName="parTx" presStyleLbl="revTx" presStyleIdx="2" presStyleCnt="4">
        <dgm:presLayoutVars>
          <dgm:chMax val="0"/>
          <dgm:chPref val="0"/>
        </dgm:presLayoutVars>
      </dgm:prSet>
      <dgm:spPr/>
    </dgm:pt>
    <dgm:pt modelId="{1A24FF12-2D57-4924-9C63-36BCB03CB59C}" type="pres">
      <dgm:prSet presAssocID="{E1BB0D71-AFD2-4AB3-A153-03BD00908E4E}" presName="desTx" presStyleLbl="revTx" presStyleIdx="3" presStyleCnt="4">
        <dgm:presLayoutVars/>
      </dgm:prSet>
      <dgm:spPr/>
    </dgm:pt>
  </dgm:ptLst>
  <dgm:cxnLst>
    <dgm:cxn modelId="{45D03F1E-91E2-456F-AAC0-ABFEC229B46E}" srcId="{8E4C6BF0-BFD8-4B2C-869B-7A911765AD61}" destId="{FFCD7416-2C20-4300-A917-48D159D42020}" srcOrd="2" destOrd="0" parTransId="{A125EBD0-D8A5-4615-A289-2DFCBF726FCC}" sibTransId="{25E75C09-1453-47E9-9578-0703DA0E7A05}"/>
    <dgm:cxn modelId="{779BB122-686F-49E9-9646-5F69A51A8221}" srcId="{8E4C6BF0-BFD8-4B2C-869B-7A911765AD61}" destId="{E43ADEB4-7E1C-4B08-8BBC-8BD827DEB514}" srcOrd="0" destOrd="0" parTransId="{1756C57E-6362-4B9A-89B7-B83B35ACCAE6}" sibTransId="{3DB0A219-DC63-4AAF-9C80-5FEED6993C99}"/>
    <dgm:cxn modelId="{573F3C2C-7247-49DD-9E5F-22E135E47200}" srcId="{2CAAAE8E-0F2F-441B-8942-FE18B618BC09}" destId="{8E4C6BF0-BFD8-4B2C-869B-7A911765AD61}" srcOrd="0" destOrd="0" parTransId="{4E383E38-57E5-4C0F-8EA3-02791C4606DD}" sibTransId="{C26798B4-D12D-4297-9B7C-6560B3E20309}"/>
    <dgm:cxn modelId="{5BB8C742-B967-40D1-95A3-892C6157A144}" type="presOf" srcId="{3B91B18C-6EA4-45AE-92DE-398D09415594}" destId="{1A24FF12-2D57-4924-9C63-36BCB03CB59C}" srcOrd="0" destOrd="1" presId="urn:microsoft.com/office/officeart/2018/2/layout/IconVerticalSolidList"/>
    <dgm:cxn modelId="{C65FA449-F5E8-4D91-B69C-D064EA77F146}" srcId="{8E4C6BF0-BFD8-4B2C-869B-7A911765AD61}" destId="{6BEC6C36-750E-4F15-863A-B60F95FE40F2}" srcOrd="1" destOrd="0" parTransId="{AA0572F3-3FB9-4BE3-8F25-BF9D15DDF6C0}" sibTransId="{ACB55598-28C3-4992-B6DA-B3A3B5E6D4D4}"/>
    <dgm:cxn modelId="{E9FDF687-AD0A-4DBB-BEA1-041B1707A599}" type="presOf" srcId="{FFCD7416-2C20-4300-A917-48D159D42020}" destId="{1F16B589-EB63-4497-A6FC-F34EFD624350}" srcOrd="0" destOrd="2" presId="urn:microsoft.com/office/officeart/2018/2/layout/IconVerticalSolidList"/>
    <dgm:cxn modelId="{BB7C3799-4F26-4BB7-B878-39742B40235D}" srcId="{E1BB0D71-AFD2-4AB3-A153-03BD00908E4E}" destId="{C6245E18-9700-4C34-84AB-3DE1994224D6}" srcOrd="0" destOrd="0" parTransId="{5897A784-82EA-47CD-B711-12FF346E0F20}" sibTransId="{E815FBB2-4847-41DD-A982-C428014A04CF}"/>
    <dgm:cxn modelId="{7C54F1C4-E29A-4A3A-9771-A47D22BF6868}" srcId="{2CAAAE8E-0F2F-441B-8942-FE18B618BC09}" destId="{E1BB0D71-AFD2-4AB3-A153-03BD00908E4E}" srcOrd="1" destOrd="0" parTransId="{7AA676EC-B44C-4C52-A52A-CD9F577DC8FB}" sibTransId="{BED846BD-227E-4868-AB11-1EF171BB849D}"/>
    <dgm:cxn modelId="{9DC458D5-1D9B-41F8-A52F-EDE35129ECF2}" type="presOf" srcId="{2CAAAE8E-0F2F-441B-8942-FE18B618BC09}" destId="{940D4968-5AA6-463F-9DFE-C81E5E66EC13}" srcOrd="0" destOrd="0" presId="urn:microsoft.com/office/officeart/2018/2/layout/IconVerticalSolidList"/>
    <dgm:cxn modelId="{F59288D8-B927-4945-8457-68142AD22FC5}" type="presOf" srcId="{8E4C6BF0-BFD8-4B2C-869B-7A911765AD61}" destId="{0F6FD2CD-FA92-4B6A-B77E-9B2500963C64}" srcOrd="0" destOrd="0" presId="urn:microsoft.com/office/officeart/2018/2/layout/IconVerticalSolidList"/>
    <dgm:cxn modelId="{71B15BDB-E7B2-45B8-B9DB-F40D921AB7DF}" type="presOf" srcId="{6BEC6C36-750E-4F15-863A-B60F95FE40F2}" destId="{1F16B589-EB63-4497-A6FC-F34EFD624350}" srcOrd="0" destOrd="1" presId="urn:microsoft.com/office/officeart/2018/2/layout/IconVerticalSolidList"/>
    <dgm:cxn modelId="{F9003AEA-1953-4EA4-99D9-6C5E218FCEFA}" type="presOf" srcId="{E43ADEB4-7E1C-4B08-8BBC-8BD827DEB514}" destId="{1F16B589-EB63-4497-A6FC-F34EFD624350}" srcOrd="0" destOrd="0" presId="urn:microsoft.com/office/officeart/2018/2/layout/IconVerticalSolidList"/>
    <dgm:cxn modelId="{198B1AED-1F23-49DA-B032-5CC201EA6497}" type="presOf" srcId="{C6245E18-9700-4C34-84AB-3DE1994224D6}" destId="{1A24FF12-2D57-4924-9C63-36BCB03CB59C}" srcOrd="0" destOrd="0" presId="urn:microsoft.com/office/officeart/2018/2/layout/IconVerticalSolidList"/>
    <dgm:cxn modelId="{8C3BF1F5-A5FF-44AE-BE36-3DD5063C5A9C}" srcId="{E1BB0D71-AFD2-4AB3-A153-03BD00908E4E}" destId="{3B91B18C-6EA4-45AE-92DE-398D09415594}" srcOrd="1" destOrd="0" parTransId="{DB1AB770-332C-4B03-88D9-ECCBE85FF9BA}" sibTransId="{CA786E2B-A17C-4FA5-88D3-FCF51C854AA0}"/>
    <dgm:cxn modelId="{54F5D6FE-88CA-4D8D-88A0-EB85CC513896}" type="presOf" srcId="{E1BB0D71-AFD2-4AB3-A153-03BD00908E4E}" destId="{0A817B9B-DE9D-4C32-85E6-D8FB9203DC3F}" srcOrd="0" destOrd="0" presId="urn:microsoft.com/office/officeart/2018/2/layout/IconVerticalSolidList"/>
    <dgm:cxn modelId="{CBC5FD46-4EBA-4351-9049-EDAEC2BDC5EA}" type="presParOf" srcId="{940D4968-5AA6-463F-9DFE-C81E5E66EC13}" destId="{47E68640-6E34-4ECB-B542-AE54881983BD}" srcOrd="0" destOrd="0" presId="urn:microsoft.com/office/officeart/2018/2/layout/IconVerticalSolidList"/>
    <dgm:cxn modelId="{0259E5B5-09A3-4D26-B095-C7CB96B7AA42}" type="presParOf" srcId="{47E68640-6E34-4ECB-B542-AE54881983BD}" destId="{41FBA99B-4A87-40A5-A6A4-E0C2C4813AE1}" srcOrd="0" destOrd="0" presId="urn:microsoft.com/office/officeart/2018/2/layout/IconVerticalSolidList"/>
    <dgm:cxn modelId="{662E8BD3-E8FE-4E93-A8FC-F196B32E1037}" type="presParOf" srcId="{47E68640-6E34-4ECB-B542-AE54881983BD}" destId="{1E9E463B-C0C3-4672-9149-A799323416D5}" srcOrd="1" destOrd="0" presId="urn:microsoft.com/office/officeart/2018/2/layout/IconVerticalSolidList"/>
    <dgm:cxn modelId="{723D3CA1-E6D3-470D-BC12-756A19DB21C0}" type="presParOf" srcId="{47E68640-6E34-4ECB-B542-AE54881983BD}" destId="{C633FE33-6DE8-48E5-BD05-65888B36A3F4}" srcOrd="2" destOrd="0" presId="urn:microsoft.com/office/officeart/2018/2/layout/IconVerticalSolidList"/>
    <dgm:cxn modelId="{80991B9A-9128-43FE-8D31-F68BB6B5D27B}" type="presParOf" srcId="{47E68640-6E34-4ECB-B542-AE54881983BD}" destId="{0F6FD2CD-FA92-4B6A-B77E-9B2500963C64}" srcOrd="3" destOrd="0" presId="urn:microsoft.com/office/officeart/2018/2/layout/IconVerticalSolidList"/>
    <dgm:cxn modelId="{06A24B5F-AD90-4F34-96FF-D7688009AE64}" type="presParOf" srcId="{47E68640-6E34-4ECB-B542-AE54881983BD}" destId="{1F16B589-EB63-4497-A6FC-F34EFD624350}" srcOrd="4" destOrd="0" presId="urn:microsoft.com/office/officeart/2018/2/layout/IconVerticalSolidList"/>
    <dgm:cxn modelId="{9AC28824-DE5C-4081-A872-FC3662A44BB4}" type="presParOf" srcId="{940D4968-5AA6-463F-9DFE-C81E5E66EC13}" destId="{C04C26A5-9D73-46A1-AEA6-8FC4B67D61CA}" srcOrd="1" destOrd="0" presId="urn:microsoft.com/office/officeart/2018/2/layout/IconVerticalSolidList"/>
    <dgm:cxn modelId="{03350620-8945-46EC-85A0-D38E0A9993C0}" type="presParOf" srcId="{940D4968-5AA6-463F-9DFE-C81E5E66EC13}" destId="{8F7FE3B1-13E4-46F7-AF1C-EFEA0A392372}" srcOrd="2" destOrd="0" presId="urn:microsoft.com/office/officeart/2018/2/layout/IconVerticalSolidList"/>
    <dgm:cxn modelId="{B1616ED3-C1B3-4707-ADE4-F1BCEE9CED4F}" type="presParOf" srcId="{8F7FE3B1-13E4-46F7-AF1C-EFEA0A392372}" destId="{200D8CC0-198D-4C25-9E33-5E6A98A25331}" srcOrd="0" destOrd="0" presId="urn:microsoft.com/office/officeart/2018/2/layout/IconVerticalSolidList"/>
    <dgm:cxn modelId="{EBE0E63A-94EF-4782-9069-458E149FF22A}" type="presParOf" srcId="{8F7FE3B1-13E4-46F7-AF1C-EFEA0A392372}" destId="{36B8C066-AE8F-47DC-83EC-2884B63E8DAD}" srcOrd="1" destOrd="0" presId="urn:microsoft.com/office/officeart/2018/2/layout/IconVerticalSolidList"/>
    <dgm:cxn modelId="{0BEF6AE3-A4FC-4364-B3DC-4C32C92518C0}" type="presParOf" srcId="{8F7FE3B1-13E4-46F7-AF1C-EFEA0A392372}" destId="{A667DBB4-FC4D-43CF-B612-8E974435FD8E}" srcOrd="2" destOrd="0" presId="urn:microsoft.com/office/officeart/2018/2/layout/IconVerticalSolidList"/>
    <dgm:cxn modelId="{B241F66C-A068-4B55-9705-713EEEE44E92}" type="presParOf" srcId="{8F7FE3B1-13E4-46F7-AF1C-EFEA0A392372}" destId="{0A817B9B-DE9D-4C32-85E6-D8FB9203DC3F}" srcOrd="3" destOrd="0" presId="urn:microsoft.com/office/officeart/2018/2/layout/IconVerticalSolidList"/>
    <dgm:cxn modelId="{DA50D957-561E-4037-9D2E-7CA47A456948}" type="presParOf" srcId="{8F7FE3B1-13E4-46F7-AF1C-EFEA0A392372}" destId="{1A24FF12-2D57-4924-9C63-36BCB03CB59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C7A06-F02E-4CC2-96AA-EDB64371249B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1F543-955D-41A2-A5E7-E3728BD1EB96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48A07-DB3B-437D-8C2B-2FF5B0C129D9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 is a set of standards and associated protocols to establish a secure channel between two computers.</a:t>
          </a:r>
        </a:p>
      </dsp:txBody>
      <dsp:txXfrm>
        <a:off x="1435590" y="531"/>
        <a:ext cx="9080009" cy="1242935"/>
      </dsp:txXfrm>
    </dsp:sp>
    <dsp:sp modelId="{35D6E5F6-57F7-4A04-BE6B-9AFF73215BD7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F1518C-57A1-4ED4-BB34-20FF1632905B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BBE64-1778-4349-8C52-BC62F2ACCFA1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 provides mutual authentication, data confidentiality, and data integrity.</a:t>
          </a:r>
        </a:p>
      </dsp:txBody>
      <dsp:txXfrm>
        <a:off x="1435590" y="1554201"/>
        <a:ext cx="9080009" cy="1242935"/>
      </dsp:txXfrm>
    </dsp:sp>
    <dsp:sp modelId="{2093EFF8-D56B-424C-A2D6-4885BBFBC3B1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8C070-A786-463D-BB12-623CF78580F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164D3-7443-44F3-8B15-CBD20D246B18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Originally, it was designed as a replacement of insecure applications like r-commands (i.e., Berkeley remote commands, e.g., rlogin, rsh, rcp).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B6EA3-71A6-48BB-A77D-70277362FF41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F3682-64DF-4521-B713-54DB5F3C61F8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71E1E-6456-4DED-AB92-356F14D837E1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IPSec is a lower level (IP-based) security solution than SSH. More fundamental but really expensive. SSH is quicker and easier to deploy.</a:t>
          </a:r>
        </a:p>
      </dsp:txBody>
      <dsp:txXfrm>
        <a:off x="1435590" y="531"/>
        <a:ext cx="9080009" cy="1242935"/>
      </dsp:txXfrm>
    </dsp:sp>
    <dsp:sp modelId="{7FB64D27-AC1E-481A-A9FD-1630B2225BB8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CBA1F-CD46-4928-9722-9334EBADCC04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4F195-B628-42F0-961D-EF6141ACB1D6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SSL or TLS is TCP-based and “mainly” used in WEB applications.</a:t>
          </a:r>
        </a:p>
      </dsp:txBody>
      <dsp:txXfrm>
        <a:off x="1435590" y="1554201"/>
        <a:ext cx="9080009" cy="1242935"/>
      </dsp:txXfrm>
    </dsp:sp>
    <dsp:sp modelId="{AE046AEA-8D7E-4581-B417-831B0230EFAB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5B299-3EBE-4290-9B3E-36FFEF74743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372EA-CA5E-4A94-A210-2F9918371CEA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There are some SSL-enhanced Telnet/FTP applications. SSH is a more integrated toolkit designed just for security.</a:t>
          </a:r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93C71-F9F3-46CF-B8DE-643588984D5C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5C8D6A-0132-479B-B5AE-657B10B9615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825F3-E378-49B3-9F71-CA348457498A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is a fundamental building block of SSH.</a:t>
          </a:r>
        </a:p>
      </dsp:txBody>
      <dsp:txXfrm>
        <a:off x="1435590" y="531"/>
        <a:ext cx="9080009" cy="1242935"/>
      </dsp:txXfrm>
    </dsp:sp>
    <dsp:sp modelId="{6B74551B-29ED-43BC-B06E-F16335152306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961A98-5A00-4E92-B55B-281CD13396F4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811CB-12F3-4D89-90C0-2A6FD37F8B2F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provides services such as the initial connection, server authentication, data encryption and data integrity.</a:t>
          </a:r>
        </a:p>
      </dsp:txBody>
      <dsp:txXfrm>
        <a:off x="1435590" y="1554201"/>
        <a:ext cx="9080009" cy="1242935"/>
      </dsp:txXfrm>
    </dsp:sp>
    <dsp:sp modelId="{B7F33938-AD7C-49BB-8CDE-A3E301B0B9F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41756-D246-419D-9354-4A09403CE09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1E7B4-E9B4-46E6-9FE0-78E195819C0C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is used for the negotiation of cryptographic algorithms.</a:t>
          </a:r>
        </a:p>
      </dsp:txBody>
      <dsp:txXfrm>
        <a:off x="1435590" y="3107870"/>
        <a:ext cx="90800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D8BB8B-3D2A-48F8-B85B-8361FB1CCE47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CEE56-390E-424B-9C3C-5E9A349C72CD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40933-1653-48E9-BEB6-BC6DD297E984}">
      <dsp:nvSpPr>
        <dsp:cNvPr id="0" name=""/>
        <dsp:cNvSpPr/>
      </dsp:nvSpPr>
      <dsp:spPr>
        <a:xfrm>
          <a:off x="1507738" y="707092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Based on the shared master key, both sides compute the data encryption keys and data integrity keys (details are omitted)</a:t>
          </a:r>
        </a:p>
      </dsp:txBody>
      <dsp:txXfrm>
        <a:off x="1507738" y="707092"/>
        <a:ext cx="4732020" cy="1305401"/>
      </dsp:txXfrm>
    </dsp:sp>
    <dsp:sp modelId="{A28E5CFB-A09C-4569-8038-BCD427B121BE}">
      <dsp:nvSpPr>
        <dsp:cNvPr id="0" name=""/>
        <dsp:cNvSpPr/>
      </dsp:nvSpPr>
      <dsp:spPr>
        <a:xfrm>
          <a:off x="6239758" y="707092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two encryption keys are independent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two data integrity keys (i.e., authentication keys) are independent</a:t>
          </a:r>
        </a:p>
      </dsp:txBody>
      <dsp:txXfrm>
        <a:off x="6239758" y="707092"/>
        <a:ext cx="4275841" cy="1305401"/>
      </dsp:txXfrm>
    </dsp:sp>
    <dsp:sp modelId="{BB56D063-CA00-4059-8F87-DB597615334D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F70CC-3972-46B6-8451-B7CCCA78AE47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0014D-9D30-49EA-88EF-FF0CDB8F87EC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After finishing the server authentication and the key exchange, the client has a single, secure, full duplex stream to an authenticated server</a:t>
          </a:r>
        </a:p>
      </dsp:txBody>
      <dsp:txXfrm>
        <a:off x="1507738" y="2338844"/>
        <a:ext cx="9007861" cy="13054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BA99B-4A87-40A5-A6A4-E0C2C4813AE1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E463B-C0C3-4672-9149-A799323416D5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FD2CD-FA92-4B6A-B77E-9B2500963C64}">
      <dsp:nvSpPr>
        <dsp:cNvPr id="0" name=""/>
        <dsp:cNvSpPr/>
      </dsp:nvSpPr>
      <dsp:spPr>
        <a:xfrm>
          <a:off x="1507738" y="707092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User Authentication Request is driven by the client and has the following parts:</a:t>
          </a:r>
        </a:p>
      </dsp:txBody>
      <dsp:txXfrm>
        <a:off x="1507738" y="707092"/>
        <a:ext cx="4732020" cy="1305401"/>
      </dsp:txXfrm>
    </dsp:sp>
    <dsp:sp modelId="{1F16B589-EB63-4497-A6FC-F34EFD624350}">
      <dsp:nvSpPr>
        <dsp:cNvPr id="0" name=""/>
        <dsp:cNvSpPr/>
      </dsp:nvSpPr>
      <dsp:spPr>
        <a:xfrm>
          <a:off x="6239758" y="707092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 name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service name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method name</a:t>
          </a:r>
        </a:p>
      </dsp:txBody>
      <dsp:txXfrm>
        <a:off x="6239758" y="707092"/>
        <a:ext cx="4275841" cy="1305401"/>
      </dsp:txXfrm>
    </dsp:sp>
    <dsp:sp modelId="{200D8CC0-198D-4C25-9E33-5E6A98A25331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8C066-AE8F-47DC-83EC-2884B63E8DAD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17B9B-DE9D-4C32-85E6-D8FB9203DC3F}">
      <dsp:nvSpPr>
        <dsp:cNvPr id="0" name=""/>
        <dsp:cNvSpPr/>
      </dsp:nvSpPr>
      <dsp:spPr>
        <a:xfrm>
          <a:off x="1507738" y="2338844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Authentication Response from the server:</a:t>
          </a:r>
        </a:p>
      </dsp:txBody>
      <dsp:txXfrm>
        <a:off x="1507738" y="2338844"/>
        <a:ext cx="4732020" cy="1305401"/>
      </dsp:txXfrm>
    </dsp:sp>
    <dsp:sp modelId="{1A24FF12-2D57-4924-9C63-36BCB03CB59C}">
      <dsp:nvSpPr>
        <dsp:cNvPr id="0" name=""/>
        <dsp:cNvSpPr/>
      </dsp:nvSpPr>
      <dsp:spPr>
        <a:xfrm>
          <a:off x="6239758" y="2338844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SUCCESS: user authentication done.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FAILURE: return a list of user authentication methods that can continue</a:t>
          </a:r>
        </a:p>
      </dsp:txBody>
      <dsp:txXfrm>
        <a:off x="6239758" y="2338844"/>
        <a:ext cx="427584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8B824-F5A0-B54D-B526-7DF31E203BB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16985-4F63-2A4E-AC89-D701E002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6CB809DF-09F1-9AB6-B5F1-CE8D308E04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FA4A18B7-E85C-496F-B61A-53BC150FA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-"/>
            </a:pPr>
            <a:r>
              <a:rPr lang="en-US" altLang="en-US">
                <a:latin typeface="Times New Roman" panose="02020603050405020304" pitchFamily="18" charset="0"/>
              </a:rPr>
              <a:t>Each side has the same key</a:t>
            </a:r>
          </a:p>
          <a:p>
            <a:pPr>
              <a:buFontTx/>
              <a:buChar char="-"/>
            </a:pPr>
            <a:r>
              <a:rPr lang="en-US" altLang="en-US">
                <a:latin typeface="Times New Roman" panose="02020603050405020304" pitchFamily="18" charset="0"/>
              </a:rPr>
              <a:t>Encryption/decryption is symmetric (the exact inverses)</a:t>
            </a:r>
          </a:p>
          <a:p>
            <a:pPr>
              <a:buFontTx/>
              <a:buChar char="-"/>
            </a:pPr>
            <a:r>
              <a:rPr lang="en-US" altLang="en-US">
                <a:latin typeface="Times New Roman" panose="02020603050405020304" pitchFamily="18" charset="0"/>
              </a:rPr>
              <a:t>Need to securely share the key before encrypting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CE7B0FCB-63D8-F530-B94E-272AD74DD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1F94CF-8ABA-4743-AEC2-6FA055E6911A}" type="slidenum">
              <a:rPr lang="en-US" altLang="en-US" sz="1200"/>
              <a:pPr/>
              <a:t>3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626C-C5F0-7E81-3B89-5A2A13F81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9FFF4-C962-730C-CF8D-10D660F10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BE881-FE94-BC85-2185-99D92A2B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42180-B645-6DF2-CC61-31E2AC37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64049-D8D5-9CDF-62BA-BCADB9A0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5E7D0-67B2-BFBE-8174-8F0934C735AB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5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A8F3-A62D-EFFF-8C1C-D88BCC55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5C0D-50C4-326B-1D1A-A930EF91D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BC179-7CC9-6726-952E-98E5BC11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DF208-5060-DF7B-2A83-E9BA9466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17189-BB72-3D20-9216-296FD4A5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37EB4-E11F-7F3C-F375-9EA4202A3E67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7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016A-CFE8-8A04-1A60-D1E9EC19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BA688-8CDB-839B-E6AC-2144406A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7CE8-D92C-1F58-9B08-03C6D410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EE0BF-6C9A-D705-87E8-2CB7628A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B02BE-3916-8C5F-E6E9-A82691A7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06CDE4-1B81-F5B6-004E-455E6CF16622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5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FE88-CD93-E21D-D983-394A8535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C707-6D36-68A6-4EF6-10DCCAE6F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2410E-256F-9773-7BD5-8F58F878C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F11D0-90AC-8E8F-ED98-6507F356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AFC05-D37A-FBB4-0BAB-DA8661CC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4C7E-7CE9-A747-1A05-9E9B57FF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29B5C-FE6B-E446-717E-D10538FF2309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8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647C-3869-0981-7E20-30B92EC8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869CF-8EB7-2671-0C91-E15610E1A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F35CE-3312-B616-0135-62E1DBA29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464BD-57D9-31AF-3F5B-F97CB47E6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FD28B-7AC0-5708-590D-7B2819DF9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5B4D9-F7C9-1563-39B2-8906C347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CA998-C901-E44F-D20E-3C67DA09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62D5B-5638-B01D-93D9-7E337697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1FA3B-8B22-0724-8E7A-A0D49BC18BE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1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226E-8BA6-459A-F3E3-DAFEFF00F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D807C-D85B-7DE1-BD29-464AD4EA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7EBBB-0649-6A59-4369-EFF26C02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A679-CD6C-BF10-AD12-419F9BDB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C06814-03B8-146C-18A1-94A490EA51C1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2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7138A1-4017-7C92-8FF5-7EFC6FD6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209E8-4CA0-3640-5451-46E7A06D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7C587-7BBB-E797-2710-3337BC8F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82C5A-002F-5D69-ECA0-1C957267D82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0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3350-F818-EE66-ADEF-DAC5B981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1B377-1CF1-AD8F-01B3-E8BE4D34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458ED-987E-BBCC-7A0C-75D8C5D7C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C1F1D-7B43-3D40-CB34-B7DBDC55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FB79D-1C9B-3EDA-44E0-173C7AA9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2B1F2-22ED-815F-5DE3-9E95375A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0FC02-1C79-2647-2366-410C69F4D477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6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B56A-81DE-C45D-0847-FBF613BD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C6DEB-0FA0-3AFB-AD72-D195220E3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DB7F5-C763-4335-E3B3-7625CB60D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437BB-C107-F853-E973-402CA70E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7D404-5AEE-E805-43D8-CFE4F63D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807A7-D28F-7244-7A10-4B0B49CE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D9ECA-069B-3CCC-9AD2-A4C5EA2DF186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9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9965-AFC2-FB74-68B3-A49AB523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602B4-A1C2-8DB0-28CF-9DA5F014B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743A3-5838-5BFD-561C-2B31E572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0D0C-F5AD-383F-C4CA-FC06D9CE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18759-52E3-22C4-C4C2-77F22F71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12EB5-A0CA-8C20-734E-126185A36CB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4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21639-F9F7-EDDB-E286-69594EDF8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952DA-FBAE-83A0-F6D9-BC8A7696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6D2AA-EB07-7080-DD33-0B7EF6C0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7E7AF-2985-4C6D-0EF3-B0745A1F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F06B6-876B-1720-F000-0B50C617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AF28B-BF49-09AC-2319-4CCCB42DD8E9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1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95BF4-64C6-7BB7-5C51-E25046C1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761E-06BA-A4B3-7379-9BCE27636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0657-F59F-F8B0-5319-3D6B96BB1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EE530-FD04-3147-B0C9-114639AB499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2BBD2-53A5-142C-8EFD-578AE3CEC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C08C2-7FF1-E46A-D033-D1515CBCA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1B3FC-3B9C-A620-3D3E-11183CD96B6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0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secure_channel" TargetMode="External"/><Relationship Id="rId2" Type="http://schemas.openxmlformats.org/officeDocument/2006/relationships/hyperlink" Target="https://en.wikipedia.org/wiki/Shared_secret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en.wikipedia.org/wiki/X_Window_System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://www.ssh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ssh.org/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ecure_copy" TargetMode="External"/><Relationship Id="rId2" Type="http://schemas.openxmlformats.org/officeDocument/2006/relationships/hyperlink" Target="http://en.wikipedia.org/wiki/Secure_she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SSH_file_transfer_protoco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joseph/Course/COMP685C/presentation/www.openssh.org" TargetMode="External"/><Relationship Id="rId2" Type="http://schemas.openxmlformats.org/officeDocument/2006/relationships/hyperlink" Target="http://www.snailbook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home/joseph/Course/COMP685C/presentation/www.ssh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BFD2-513F-49D4-F5B9-24A0BD15B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 4780 – SSH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F20D1-0DF6-84F0-E38E-5718F548E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Susmit Shannigrahi</a:t>
            </a:r>
          </a:p>
        </p:txBody>
      </p:sp>
    </p:spTree>
    <p:extLst>
      <p:ext uri="{BB962C8B-B14F-4D97-AF65-F5344CB8AC3E}">
        <p14:creationId xmlns:p14="http://schemas.microsoft.com/office/powerpoint/2010/main" val="417864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C180-1E4B-55A4-2203-843B0910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telnet.org</a:t>
            </a:r>
            <a:r>
              <a:rPr lang="en-US" dirty="0"/>
              <a:t>/history/</a:t>
            </a:r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1591D90C-0D39-E22C-7A5E-5DE5D9DB5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908" y="1690688"/>
            <a:ext cx="4839092" cy="4474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60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4">
            <a:extLst>
              <a:ext uri="{FF2B5EF4-FFF2-40B4-BE49-F238E27FC236}">
                <a16:creationId xmlns:a16="http://schemas.microsoft.com/office/drawing/2014/main" id="{0BD48BF1-ED61-E032-1E40-F4248415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8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fld id="{AF40EC16-4573-1E49-92CA-9177F603BA8C}" type="slidenum">
              <a:rPr lang="en-US" altLang="en-US" sz="1400"/>
              <a:pPr algn="ctr"/>
              <a:t>3</a:t>
            </a:fld>
            <a:endParaRPr lang="en-US" altLang="en-US" sz="14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7095798A-E67F-9931-2B49-E02FBD952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Recall: Secret (Symmetric) Key </a:t>
            </a:r>
            <a:br>
              <a:rPr lang="en-US" altLang="en-US"/>
            </a:br>
            <a:r>
              <a:rPr lang="en-US" altLang="en-US"/>
              <a:t>(DES, 3DES, AES)</a:t>
            </a:r>
          </a:p>
        </p:txBody>
      </p:sp>
      <p:grpSp>
        <p:nvGrpSpPr>
          <p:cNvPr id="3077" name="Group 21">
            <a:extLst>
              <a:ext uri="{FF2B5EF4-FFF2-40B4-BE49-F238E27FC236}">
                <a16:creationId xmlns:a16="http://schemas.microsoft.com/office/drawing/2014/main" id="{8FBC6569-82E0-1E5C-D6ED-C06574BCC5A9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438400"/>
            <a:ext cx="7010400" cy="2133600"/>
            <a:chOff x="773" y="672"/>
            <a:chExt cx="4139" cy="1222"/>
          </a:xfrm>
        </p:grpSpPr>
        <p:sp>
          <p:nvSpPr>
            <p:cNvPr id="3084" name="Rectangle 4">
              <a:extLst>
                <a:ext uri="{FF2B5EF4-FFF2-40B4-BE49-F238E27FC236}">
                  <a16:creationId xmlns:a16="http://schemas.microsoft.com/office/drawing/2014/main" id="{8FB0F541-A404-0FB9-7B67-7527971CD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" y="672"/>
              <a:ext cx="581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Plaintext</a:t>
              </a:r>
              <a:endParaRPr lang="en-US" altLang="en-US" sz="2000"/>
            </a:p>
          </p:txBody>
        </p:sp>
        <p:sp>
          <p:nvSpPr>
            <p:cNvPr id="3085" name="Rectangle 5">
              <a:extLst>
                <a:ext uri="{FF2B5EF4-FFF2-40B4-BE49-F238E27FC236}">
                  <a16:creationId xmlns:a16="http://schemas.microsoft.com/office/drawing/2014/main" id="{C8E1882C-35EB-1034-0640-A2BBE36A0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" y="1243"/>
              <a:ext cx="824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Encrypt with</a:t>
              </a:r>
              <a:endParaRPr lang="en-US" altLang="en-US" sz="2000"/>
            </a:p>
          </p:txBody>
        </p:sp>
        <p:sp>
          <p:nvSpPr>
            <p:cNvPr id="3086" name="Rectangle 6">
              <a:extLst>
                <a:ext uri="{FF2B5EF4-FFF2-40B4-BE49-F238E27FC236}">
                  <a16:creationId xmlns:a16="http://schemas.microsoft.com/office/drawing/2014/main" id="{E0B7ABD6-C7BB-B262-C508-3C6845760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" y="1428"/>
              <a:ext cx="689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secret key</a:t>
              </a:r>
              <a:endParaRPr lang="en-US" altLang="en-US" sz="2000"/>
            </a:p>
          </p:txBody>
        </p:sp>
        <p:sp>
          <p:nvSpPr>
            <p:cNvPr id="3087" name="Rectangle 7">
              <a:extLst>
                <a:ext uri="{FF2B5EF4-FFF2-40B4-BE49-F238E27FC236}">
                  <a16:creationId xmlns:a16="http://schemas.microsoft.com/office/drawing/2014/main" id="{9592C477-235B-0D42-98D3-3720F1980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428"/>
              <a:ext cx="0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3088" name="Rectangle 8">
              <a:extLst>
                <a:ext uri="{FF2B5EF4-FFF2-40B4-BE49-F238E27FC236}">
                  <a16:creationId xmlns:a16="http://schemas.microsoft.com/office/drawing/2014/main" id="{1F0363D5-DF44-8475-398A-867AB5859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" y="1632"/>
              <a:ext cx="690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Ciphertext</a:t>
              </a:r>
              <a:endParaRPr lang="en-US" altLang="en-US" sz="2000"/>
            </a:p>
          </p:txBody>
        </p:sp>
        <p:sp>
          <p:nvSpPr>
            <p:cNvPr id="3089" name="Rectangle 9">
              <a:extLst>
                <a:ext uri="{FF2B5EF4-FFF2-40B4-BE49-F238E27FC236}">
                  <a16:creationId xmlns:a16="http://schemas.microsoft.com/office/drawing/2014/main" id="{85ABB361-B7D7-20FD-432E-7A8D8A045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0" y="672"/>
              <a:ext cx="576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Plaintext</a:t>
              </a:r>
              <a:endParaRPr lang="en-US" altLang="en-US" sz="2000"/>
            </a:p>
          </p:txBody>
        </p:sp>
        <p:sp>
          <p:nvSpPr>
            <p:cNvPr id="3090" name="Rectangle 10">
              <a:extLst>
                <a:ext uri="{FF2B5EF4-FFF2-40B4-BE49-F238E27FC236}">
                  <a16:creationId xmlns:a16="http://schemas.microsoft.com/office/drawing/2014/main" id="{F884D231-1E0F-D1B3-E5AA-B9BD02A82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" y="1244"/>
              <a:ext cx="83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Decrypt with</a:t>
              </a:r>
              <a:endParaRPr lang="en-US" altLang="en-US" sz="2000"/>
            </a:p>
          </p:txBody>
        </p:sp>
        <p:sp>
          <p:nvSpPr>
            <p:cNvPr id="3091" name="Rectangle 11">
              <a:extLst>
                <a:ext uri="{FF2B5EF4-FFF2-40B4-BE49-F238E27FC236}">
                  <a16:creationId xmlns:a16="http://schemas.microsoft.com/office/drawing/2014/main" id="{AA882DB2-7BCA-F2AF-3F26-914E914AE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1428"/>
              <a:ext cx="689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secret key</a:t>
              </a:r>
              <a:endParaRPr lang="en-US" altLang="en-US" sz="2000"/>
            </a:p>
          </p:txBody>
        </p:sp>
        <p:sp>
          <p:nvSpPr>
            <p:cNvPr id="3092" name="Rectangle 12">
              <a:extLst>
                <a:ext uri="{FF2B5EF4-FFF2-40B4-BE49-F238E27FC236}">
                  <a16:creationId xmlns:a16="http://schemas.microsoft.com/office/drawing/2014/main" id="{8777BAD2-BC2C-BDFC-0EF4-8AB53BFCB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1428"/>
              <a:ext cx="0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3093" name="Freeform 13">
              <a:extLst>
                <a:ext uri="{FF2B5EF4-FFF2-40B4-BE49-F238E27FC236}">
                  <a16:creationId xmlns:a16="http://schemas.microsoft.com/office/drawing/2014/main" id="{B7B2282F-EE52-F258-670A-BA1A60D38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1185"/>
              <a:ext cx="1308" cy="486"/>
            </a:xfrm>
            <a:custGeom>
              <a:avLst/>
              <a:gdLst>
                <a:gd name="T0" fmla="*/ 656 w 1308"/>
                <a:gd name="T1" fmla="*/ 0 h 486"/>
                <a:gd name="T2" fmla="*/ 552 w 1308"/>
                <a:gd name="T3" fmla="*/ 5 h 486"/>
                <a:gd name="T4" fmla="*/ 447 w 1308"/>
                <a:gd name="T5" fmla="*/ 15 h 486"/>
                <a:gd name="T6" fmla="*/ 357 w 1308"/>
                <a:gd name="T7" fmla="*/ 29 h 486"/>
                <a:gd name="T8" fmla="*/ 271 w 1308"/>
                <a:gd name="T9" fmla="*/ 48 h 486"/>
                <a:gd name="T10" fmla="*/ 195 w 1308"/>
                <a:gd name="T11" fmla="*/ 72 h 486"/>
                <a:gd name="T12" fmla="*/ 128 w 1308"/>
                <a:gd name="T13" fmla="*/ 100 h 486"/>
                <a:gd name="T14" fmla="*/ 76 w 1308"/>
                <a:gd name="T15" fmla="*/ 134 h 486"/>
                <a:gd name="T16" fmla="*/ 33 w 1308"/>
                <a:gd name="T17" fmla="*/ 167 h 486"/>
                <a:gd name="T18" fmla="*/ 9 w 1308"/>
                <a:gd name="T19" fmla="*/ 205 h 486"/>
                <a:gd name="T20" fmla="*/ 0 w 1308"/>
                <a:gd name="T21" fmla="*/ 243 h 486"/>
                <a:gd name="T22" fmla="*/ 9 w 1308"/>
                <a:gd name="T23" fmla="*/ 286 h 486"/>
                <a:gd name="T24" fmla="*/ 33 w 1308"/>
                <a:gd name="T25" fmla="*/ 324 h 486"/>
                <a:gd name="T26" fmla="*/ 76 w 1308"/>
                <a:gd name="T27" fmla="*/ 357 h 486"/>
                <a:gd name="T28" fmla="*/ 128 w 1308"/>
                <a:gd name="T29" fmla="*/ 391 h 486"/>
                <a:gd name="T30" fmla="*/ 195 w 1308"/>
                <a:gd name="T31" fmla="*/ 419 h 486"/>
                <a:gd name="T32" fmla="*/ 271 w 1308"/>
                <a:gd name="T33" fmla="*/ 443 h 486"/>
                <a:gd name="T34" fmla="*/ 357 w 1308"/>
                <a:gd name="T35" fmla="*/ 462 h 486"/>
                <a:gd name="T36" fmla="*/ 447 w 1308"/>
                <a:gd name="T37" fmla="*/ 476 h 486"/>
                <a:gd name="T38" fmla="*/ 552 w 1308"/>
                <a:gd name="T39" fmla="*/ 486 h 486"/>
                <a:gd name="T40" fmla="*/ 656 w 1308"/>
                <a:gd name="T41" fmla="*/ 486 h 486"/>
                <a:gd name="T42" fmla="*/ 761 w 1308"/>
                <a:gd name="T43" fmla="*/ 486 h 486"/>
                <a:gd name="T44" fmla="*/ 861 w 1308"/>
                <a:gd name="T45" fmla="*/ 476 h 486"/>
                <a:gd name="T46" fmla="*/ 956 w 1308"/>
                <a:gd name="T47" fmla="*/ 462 h 486"/>
                <a:gd name="T48" fmla="*/ 1042 w 1308"/>
                <a:gd name="T49" fmla="*/ 443 h 486"/>
                <a:gd name="T50" fmla="*/ 1118 w 1308"/>
                <a:gd name="T51" fmla="*/ 419 h 486"/>
                <a:gd name="T52" fmla="*/ 1184 w 1308"/>
                <a:gd name="T53" fmla="*/ 391 h 486"/>
                <a:gd name="T54" fmla="*/ 1237 w 1308"/>
                <a:gd name="T55" fmla="*/ 357 h 486"/>
                <a:gd name="T56" fmla="*/ 1275 w 1308"/>
                <a:gd name="T57" fmla="*/ 324 h 486"/>
                <a:gd name="T58" fmla="*/ 1303 w 1308"/>
                <a:gd name="T59" fmla="*/ 286 h 486"/>
                <a:gd name="T60" fmla="*/ 1308 w 1308"/>
                <a:gd name="T61" fmla="*/ 243 h 486"/>
                <a:gd name="T62" fmla="*/ 1303 w 1308"/>
                <a:gd name="T63" fmla="*/ 205 h 486"/>
                <a:gd name="T64" fmla="*/ 1275 w 1308"/>
                <a:gd name="T65" fmla="*/ 167 h 486"/>
                <a:gd name="T66" fmla="*/ 1237 w 1308"/>
                <a:gd name="T67" fmla="*/ 134 h 486"/>
                <a:gd name="T68" fmla="*/ 1184 w 1308"/>
                <a:gd name="T69" fmla="*/ 100 h 486"/>
                <a:gd name="T70" fmla="*/ 1118 w 1308"/>
                <a:gd name="T71" fmla="*/ 72 h 486"/>
                <a:gd name="T72" fmla="*/ 1042 w 1308"/>
                <a:gd name="T73" fmla="*/ 48 h 486"/>
                <a:gd name="T74" fmla="*/ 956 w 1308"/>
                <a:gd name="T75" fmla="*/ 29 h 486"/>
                <a:gd name="T76" fmla="*/ 861 w 1308"/>
                <a:gd name="T77" fmla="*/ 15 h 486"/>
                <a:gd name="T78" fmla="*/ 761 w 1308"/>
                <a:gd name="T79" fmla="*/ 5 h 486"/>
                <a:gd name="T80" fmla="*/ 656 w 1308"/>
                <a:gd name="T81" fmla="*/ 0 h 486"/>
                <a:gd name="T82" fmla="*/ 656 w 1308"/>
                <a:gd name="T83" fmla="*/ 0 h 48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308"/>
                <a:gd name="T127" fmla="*/ 0 h 486"/>
                <a:gd name="T128" fmla="*/ 1308 w 1308"/>
                <a:gd name="T129" fmla="*/ 486 h 48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308" h="486">
                  <a:moveTo>
                    <a:pt x="656" y="0"/>
                  </a:moveTo>
                  <a:lnTo>
                    <a:pt x="552" y="5"/>
                  </a:lnTo>
                  <a:lnTo>
                    <a:pt x="447" y="15"/>
                  </a:lnTo>
                  <a:lnTo>
                    <a:pt x="357" y="29"/>
                  </a:lnTo>
                  <a:lnTo>
                    <a:pt x="271" y="48"/>
                  </a:lnTo>
                  <a:lnTo>
                    <a:pt x="195" y="72"/>
                  </a:lnTo>
                  <a:lnTo>
                    <a:pt x="128" y="100"/>
                  </a:lnTo>
                  <a:lnTo>
                    <a:pt x="76" y="134"/>
                  </a:lnTo>
                  <a:lnTo>
                    <a:pt x="33" y="167"/>
                  </a:lnTo>
                  <a:lnTo>
                    <a:pt x="9" y="205"/>
                  </a:lnTo>
                  <a:lnTo>
                    <a:pt x="0" y="243"/>
                  </a:lnTo>
                  <a:lnTo>
                    <a:pt x="9" y="286"/>
                  </a:lnTo>
                  <a:lnTo>
                    <a:pt x="33" y="324"/>
                  </a:lnTo>
                  <a:lnTo>
                    <a:pt x="76" y="357"/>
                  </a:lnTo>
                  <a:lnTo>
                    <a:pt x="128" y="391"/>
                  </a:lnTo>
                  <a:lnTo>
                    <a:pt x="195" y="419"/>
                  </a:lnTo>
                  <a:lnTo>
                    <a:pt x="271" y="443"/>
                  </a:lnTo>
                  <a:lnTo>
                    <a:pt x="357" y="462"/>
                  </a:lnTo>
                  <a:lnTo>
                    <a:pt x="447" y="476"/>
                  </a:lnTo>
                  <a:lnTo>
                    <a:pt x="552" y="486"/>
                  </a:lnTo>
                  <a:lnTo>
                    <a:pt x="656" y="486"/>
                  </a:lnTo>
                  <a:lnTo>
                    <a:pt x="761" y="486"/>
                  </a:lnTo>
                  <a:lnTo>
                    <a:pt x="861" y="476"/>
                  </a:lnTo>
                  <a:lnTo>
                    <a:pt x="956" y="462"/>
                  </a:lnTo>
                  <a:lnTo>
                    <a:pt x="1042" y="443"/>
                  </a:lnTo>
                  <a:lnTo>
                    <a:pt x="1118" y="419"/>
                  </a:lnTo>
                  <a:lnTo>
                    <a:pt x="1184" y="391"/>
                  </a:lnTo>
                  <a:lnTo>
                    <a:pt x="1237" y="357"/>
                  </a:lnTo>
                  <a:lnTo>
                    <a:pt x="1275" y="324"/>
                  </a:lnTo>
                  <a:lnTo>
                    <a:pt x="1303" y="286"/>
                  </a:lnTo>
                  <a:lnTo>
                    <a:pt x="1308" y="243"/>
                  </a:lnTo>
                  <a:lnTo>
                    <a:pt x="1303" y="205"/>
                  </a:lnTo>
                  <a:lnTo>
                    <a:pt x="1275" y="167"/>
                  </a:lnTo>
                  <a:lnTo>
                    <a:pt x="1237" y="134"/>
                  </a:lnTo>
                  <a:lnTo>
                    <a:pt x="1184" y="100"/>
                  </a:lnTo>
                  <a:lnTo>
                    <a:pt x="1118" y="72"/>
                  </a:lnTo>
                  <a:lnTo>
                    <a:pt x="1042" y="48"/>
                  </a:lnTo>
                  <a:lnTo>
                    <a:pt x="956" y="29"/>
                  </a:lnTo>
                  <a:lnTo>
                    <a:pt x="861" y="15"/>
                  </a:lnTo>
                  <a:lnTo>
                    <a:pt x="761" y="5"/>
                  </a:lnTo>
                  <a:lnTo>
                    <a:pt x="656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4" name="Freeform 14">
              <a:extLst>
                <a:ext uri="{FF2B5EF4-FFF2-40B4-BE49-F238E27FC236}">
                  <a16:creationId xmlns:a16="http://schemas.microsoft.com/office/drawing/2014/main" id="{34F4856E-47FF-C958-83E7-042B04A43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1185"/>
              <a:ext cx="1308" cy="486"/>
            </a:xfrm>
            <a:custGeom>
              <a:avLst/>
              <a:gdLst>
                <a:gd name="T0" fmla="*/ 651 w 1308"/>
                <a:gd name="T1" fmla="*/ 0 h 486"/>
                <a:gd name="T2" fmla="*/ 547 w 1308"/>
                <a:gd name="T3" fmla="*/ 5 h 486"/>
                <a:gd name="T4" fmla="*/ 447 w 1308"/>
                <a:gd name="T5" fmla="*/ 15 h 486"/>
                <a:gd name="T6" fmla="*/ 352 w 1308"/>
                <a:gd name="T7" fmla="*/ 29 h 486"/>
                <a:gd name="T8" fmla="*/ 266 w 1308"/>
                <a:gd name="T9" fmla="*/ 48 h 486"/>
                <a:gd name="T10" fmla="*/ 190 w 1308"/>
                <a:gd name="T11" fmla="*/ 72 h 486"/>
                <a:gd name="T12" fmla="*/ 123 w 1308"/>
                <a:gd name="T13" fmla="*/ 100 h 486"/>
                <a:gd name="T14" fmla="*/ 71 w 1308"/>
                <a:gd name="T15" fmla="*/ 134 h 486"/>
                <a:gd name="T16" fmla="*/ 33 w 1308"/>
                <a:gd name="T17" fmla="*/ 167 h 486"/>
                <a:gd name="T18" fmla="*/ 9 w 1308"/>
                <a:gd name="T19" fmla="*/ 205 h 486"/>
                <a:gd name="T20" fmla="*/ 0 w 1308"/>
                <a:gd name="T21" fmla="*/ 243 h 486"/>
                <a:gd name="T22" fmla="*/ 9 w 1308"/>
                <a:gd name="T23" fmla="*/ 286 h 486"/>
                <a:gd name="T24" fmla="*/ 33 w 1308"/>
                <a:gd name="T25" fmla="*/ 324 h 486"/>
                <a:gd name="T26" fmla="*/ 71 w 1308"/>
                <a:gd name="T27" fmla="*/ 357 h 486"/>
                <a:gd name="T28" fmla="*/ 123 w 1308"/>
                <a:gd name="T29" fmla="*/ 391 h 486"/>
                <a:gd name="T30" fmla="*/ 190 w 1308"/>
                <a:gd name="T31" fmla="*/ 419 h 486"/>
                <a:gd name="T32" fmla="*/ 266 w 1308"/>
                <a:gd name="T33" fmla="*/ 443 h 486"/>
                <a:gd name="T34" fmla="*/ 352 w 1308"/>
                <a:gd name="T35" fmla="*/ 462 h 486"/>
                <a:gd name="T36" fmla="*/ 447 w 1308"/>
                <a:gd name="T37" fmla="*/ 476 h 486"/>
                <a:gd name="T38" fmla="*/ 547 w 1308"/>
                <a:gd name="T39" fmla="*/ 486 h 486"/>
                <a:gd name="T40" fmla="*/ 651 w 1308"/>
                <a:gd name="T41" fmla="*/ 486 h 486"/>
                <a:gd name="T42" fmla="*/ 761 w 1308"/>
                <a:gd name="T43" fmla="*/ 486 h 486"/>
                <a:gd name="T44" fmla="*/ 861 w 1308"/>
                <a:gd name="T45" fmla="*/ 476 h 486"/>
                <a:gd name="T46" fmla="*/ 956 w 1308"/>
                <a:gd name="T47" fmla="*/ 462 h 486"/>
                <a:gd name="T48" fmla="*/ 1042 w 1308"/>
                <a:gd name="T49" fmla="*/ 443 h 486"/>
                <a:gd name="T50" fmla="*/ 1118 w 1308"/>
                <a:gd name="T51" fmla="*/ 419 h 486"/>
                <a:gd name="T52" fmla="*/ 1180 w 1308"/>
                <a:gd name="T53" fmla="*/ 391 h 486"/>
                <a:gd name="T54" fmla="*/ 1237 w 1308"/>
                <a:gd name="T55" fmla="*/ 357 h 486"/>
                <a:gd name="T56" fmla="*/ 1275 w 1308"/>
                <a:gd name="T57" fmla="*/ 324 h 486"/>
                <a:gd name="T58" fmla="*/ 1298 w 1308"/>
                <a:gd name="T59" fmla="*/ 286 h 486"/>
                <a:gd name="T60" fmla="*/ 1308 w 1308"/>
                <a:gd name="T61" fmla="*/ 243 h 486"/>
                <a:gd name="T62" fmla="*/ 1298 w 1308"/>
                <a:gd name="T63" fmla="*/ 205 h 486"/>
                <a:gd name="T64" fmla="*/ 1275 w 1308"/>
                <a:gd name="T65" fmla="*/ 167 h 486"/>
                <a:gd name="T66" fmla="*/ 1237 w 1308"/>
                <a:gd name="T67" fmla="*/ 134 h 486"/>
                <a:gd name="T68" fmla="*/ 1180 w 1308"/>
                <a:gd name="T69" fmla="*/ 100 h 486"/>
                <a:gd name="T70" fmla="*/ 1118 w 1308"/>
                <a:gd name="T71" fmla="*/ 72 h 486"/>
                <a:gd name="T72" fmla="*/ 1042 w 1308"/>
                <a:gd name="T73" fmla="*/ 48 h 486"/>
                <a:gd name="T74" fmla="*/ 956 w 1308"/>
                <a:gd name="T75" fmla="*/ 29 h 486"/>
                <a:gd name="T76" fmla="*/ 861 w 1308"/>
                <a:gd name="T77" fmla="*/ 15 h 486"/>
                <a:gd name="T78" fmla="*/ 761 w 1308"/>
                <a:gd name="T79" fmla="*/ 5 h 486"/>
                <a:gd name="T80" fmla="*/ 651 w 1308"/>
                <a:gd name="T81" fmla="*/ 0 h 486"/>
                <a:gd name="T82" fmla="*/ 651 w 1308"/>
                <a:gd name="T83" fmla="*/ 0 h 48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308"/>
                <a:gd name="T127" fmla="*/ 0 h 486"/>
                <a:gd name="T128" fmla="*/ 1308 w 1308"/>
                <a:gd name="T129" fmla="*/ 486 h 48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308" h="486">
                  <a:moveTo>
                    <a:pt x="651" y="0"/>
                  </a:moveTo>
                  <a:lnTo>
                    <a:pt x="547" y="5"/>
                  </a:lnTo>
                  <a:lnTo>
                    <a:pt x="447" y="15"/>
                  </a:lnTo>
                  <a:lnTo>
                    <a:pt x="352" y="29"/>
                  </a:lnTo>
                  <a:lnTo>
                    <a:pt x="266" y="48"/>
                  </a:lnTo>
                  <a:lnTo>
                    <a:pt x="190" y="72"/>
                  </a:lnTo>
                  <a:lnTo>
                    <a:pt x="123" y="100"/>
                  </a:lnTo>
                  <a:lnTo>
                    <a:pt x="71" y="134"/>
                  </a:lnTo>
                  <a:lnTo>
                    <a:pt x="33" y="167"/>
                  </a:lnTo>
                  <a:lnTo>
                    <a:pt x="9" y="205"/>
                  </a:lnTo>
                  <a:lnTo>
                    <a:pt x="0" y="243"/>
                  </a:lnTo>
                  <a:lnTo>
                    <a:pt x="9" y="286"/>
                  </a:lnTo>
                  <a:lnTo>
                    <a:pt x="33" y="324"/>
                  </a:lnTo>
                  <a:lnTo>
                    <a:pt x="71" y="357"/>
                  </a:lnTo>
                  <a:lnTo>
                    <a:pt x="123" y="391"/>
                  </a:lnTo>
                  <a:lnTo>
                    <a:pt x="190" y="419"/>
                  </a:lnTo>
                  <a:lnTo>
                    <a:pt x="266" y="443"/>
                  </a:lnTo>
                  <a:lnTo>
                    <a:pt x="352" y="462"/>
                  </a:lnTo>
                  <a:lnTo>
                    <a:pt x="447" y="476"/>
                  </a:lnTo>
                  <a:lnTo>
                    <a:pt x="547" y="486"/>
                  </a:lnTo>
                  <a:lnTo>
                    <a:pt x="651" y="486"/>
                  </a:lnTo>
                  <a:lnTo>
                    <a:pt x="761" y="486"/>
                  </a:lnTo>
                  <a:lnTo>
                    <a:pt x="861" y="476"/>
                  </a:lnTo>
                  <a:lnTo>
                    <a:pt x="956" y="462"/>
                  </a:lnTo>
                  <a:lnTo>
                    <a:pt x="1042" y="443"/>
                  </a:lnTo>
                  <a:lnTo>
                    <a:pt x="1118" y="419"/>
                  </a:lnTo>
                  <a:lnTo>
                    <a:pt x="1180" y="391"/>
                  </a:lnTo>
                  <a:lnTo>
                    <a:pt x="1237" y="357"/>
                  </a:lnTo>
                  <a:lnTo>
                    <a:pt x="1275" y="324"/>
                  </a:lnTo>
                  <a:lnTo>
                    <a:pt x="1298" y="286"/>
                  </a:lnTo>
                  <a:lnTo>
                    <a:pt x="1308" y="243"/>
                  </a:lnTo>
                  <a:lnTo>
                    <a:pt x="1298" y="205"/>
                  </a:lnTo>
                  <a:lnTo>
                    <a:pt x="1275" y="167"/>
                  </a:lnTo>
                  <a:lnTo>
                    <a:pt x="1237" y="134"/>
                  </a:lnTo>
                  <a:lnTo>
                    <a:pt x="1180" y="100"/>
                  </a:lnTo>
                  <a:lnTo>
                    <a:pt x="1118" y="72"/>
                  </a:lnTo>
                  <a:lnTo>
                    <a:pt x="1042" y="48"/>
                  </a:lnTo>
                  <a:lnTo>
                    <a:pt x="956" y="29"/>
                  </a:lnTo>
                  <a:lnTo>
                    <a:pt x="861" y="15"/>
                  </a:lnTo>
                  <a:lnTo>
                    <a:pt x="761" y="5"/>
                  </a:lnTo>
                  <a:lnTo>
                    <a:pt x="65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Line 15">
              <a:extLst>
                <a:ext uri="{FF2B5EF4-FFF2-40B4-BE49-F238E27FC236}">
                  <a16:creationId xmlns:a16="http://schemas.microsoft.com/office/drawing/2014/main" id="{350FB79F-4F7F-73CF-B0FD-210AD262EE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859"/>
              <a:ext cx="0" cy="24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6" name="Freeform 16">
              <a:extLst>
                <a:ext uri="{FF2B5EF4-FFF2-40B4-BE49-F238E27FC236}">
                  <a16:creationId xmlns:a16="http://schemas.microsoft.com/office/drawing/2014/main" id="{9BAA6550-45B0-2942-5EE2-507A4E02D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1076"/>
              <a:ext cx="62" cy="109"/>
            </a:xfrm>
            <a:custGeom>
              <a:avLst/>
              <a:gdLst>
                <a:gd name="T0" fmla="*/ 0 w 62"/>
                <a:gd name="T1" fmla="*/ 0 h 109"/>
                <a:gd name="T2" fmla="*/ 33 w 62"/>
                <a:gd name="T3" fmla="*/ 109 h 109"/>
                <a:gd name="T4" fmla="*/ 62 w 62"/>
                <a:gd name="T5" fmla="*/ 5 h 109"/>
                <a:gd name="T6" fmla="*/ 5 w 62"/>
                <a:gd name="T7" fmla="*/ 5 h 109"/>
                <a:gd name="T8" fmla="*/ 5 w 62"/>
                <a:gd name="T9" fmla="*/ 5 h 109"/>
                <a:gd name="T10" fmla="*/ 0 w 62"/>
                <a:gd name="T11" fmla="*/ 0 h 1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"/>
                <a:gd name="T19" fmla="*/ 0 h 109"/>
                <a:gd name="T20" fmla="*/ 62 w 62"/>
                <a:gd name="T21" fmla="*/ 109 h 1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" h="109">
                  <a:moveTo>
                    <a:pt x="0" y="0"/>
                  </a:moveTo>
                  <a:lnTo>
                    <a:pt x="33" y="109"/>
                  </a:lnTo>
                  <a:lnTo>
                    <a:pt x="62" y="5"/>
                  </a:lnTo>
                  <a:lnTo>
                    <a:pt x="5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7" name="Line 17">
              <a:extLst>
                <a:ext uri="{FF2B5EF4-FFF2-40B4-BE49-F238E27FC236}">
                  <a16:creationId xmlns:a16="http://schemas.microsoft.com/office/drawing/2014/main" id="{D2DDAC5A-403B-C20C-581A-17CAD7C566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5" y="967"/>
              <a:ext cx="1" cy="20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8" name="Freeform 18">
              <a:extLst>
                <a:ext uri="{FF2B5EF4-FFF2-40B4-BE49-F238E27FC236}">
                  <a16:creationId xmlns:a16="http://schemas.microsoft.com/office/drawing/2014/main" id="{4290C2AA-8F8F-9578-686A-6ACB215F1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881"/>
              <a:ext cx="57" cy="105"/>
            </a:xfrm>
            <a:custGeom>
              <a:avLst/>
              <a:gdLst>
                <a:gd name="T0" fmla="*/ 57 w 57"/>
                <a:gd name="T1" fmla="*/ 105 h 105"/>
                <a:gd name="T2" fmla="*/ 28 w 57"/>
                <a:gd name="T3" fmla="*/ 0 h 105"/>
                <a:gd name="T4" fmla="*/ 0 w 57"/>
                <a:gd name="T5" fmla="*/ 105 h 105"/>
                <a:gd name="T6" fmla="*/ 57 w 57"/>
                <a:gd name="T7" fmla="*/ 105 h 105"/>
                <a:gd name="T8" fmla="*/ 57 w 57"/>
                <a:gd name="T9" fmla="*/ 105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105"/>
                <a:gd name="T17" fmla="*/ 57 w 57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105">
                  <a:moveTo>
                    <a:pt x="57" y="105"/>
                  </a:moveTo>
                  <a:lnTo>
                    <a:pt x="28" y="0"/>
                  </a:lnTo>
                  <a:lnTo>
                    <a:pt x="0" y="105"/>
                  </a:lnTo>
                  <a:lnTo>
                    <a:pt x="57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9" name="Freeform 19">
              <a:extLst>
                <a:ext uri="{FF2B5EF4-FFF2-40B4-BE49-F238E27FC236}">
                  <a16:creationId xmlns:a16="http://schemas.microsoft.com/office/drawing/2014/main" id="{E2781A14-B6B1-02A7-B409-035912EA7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1671"/>
              <a:ext cx="2830" cy="223"/>
            </a:xfrm>
            <a:custGeom>
              <a:avLst/>
              <a:gdLst>
                <a:gd name="T0" fmla="*/ 0 w 2830"/>
                <a:gd name="T1" fmla="*/ 0 h 223"/>
                <a:gd name="T2" fmla="*/ 4 w 2830"/>
                <a:gd name="T3" fmla="*/ 223 h 223"/>
                <a:gd name="T4" fmla="*/ 2830 w 2830"/>
                <a:gd name="T5" fmla="*/ 223 h 223"/>
                <a:gd name="T6" fmla="*/ 2830 w 2830"/>
                <a:gd name="T7" fmla="*/ 109 h 2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30"/>
                <a:gd name="T13" fmla="*/ 0 h 223"/>
                <a:gd name="T14" fmla="*/ 2830 w 2830"/>
                <a:gd name="T15" fmla="*/ 223 h 2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30" h="223">
                  <a:moveTo>
                    <a:pt x="0" y="0"/>
                  </a:moveTo>
                  <a:lnTo>
                    <a:pt x="4" y="223"/>
                  </a:lnTo>
                  <a:lnTo>
                    <a:pt x="2830" y="223"/>
                  </a:lnTo>
                  <a:lnTo>
                    <a:pt x="2830" y="109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0" name="Freeform 20">
              <a:extLst>
                <a:ext uri="{FF2B5EF4-FFF2-40B4-BE49-F238E27FC236}">
                  <a16:creationId xmlns:a16="http://schemas.microsoft.com/office/drawing/2014/main" id="{DF80A8A8-2155-EF82-4EA5-380836102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675"/>
              <a:ext cx="57" cy="110"/>
            </a:xfrm>
            <a:custGeom>
              <a:avLst/>
              <a:gdLst>
                <a:gd name="T0" fmla="*/ 57 w 57"/>
                <a:gd name="T1" fmla="*/ 105 h 110"/>
                <a:gd name="T2" fmla="*/ 28 w 57"/>
                <a:gd name="T3" fmla="*/ 0 h 110"/>
                <a:gd name="T4" fmla="*/ 0 w 57"/>
                <a:gd name="T5" fmla="*/ 110 h 110"/>
                <a:gd name="T6" fmla="*/ 57 w 57"/>
                <a:gd name="T7" fmla="*/ 110 h 110"/>
                <a:gd name="T8" fmla="*/ 57 w 57"/>
                <a:gd name="T9" fmla="*/ 110 h 110"/>
                <a:gd name="T10" fmla="*/ 57 w 57"/>
                <a:gd name="T11" fmla="*/ 105 h 1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"/>
                <a:gd name="T19" fmla="*/ 0 h 110"/>
                <a:gd name="T20" fmla="*/ 57 w 57"/>
                <a:gd name="T21" fmla="*/ 110 h 1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" h="110">
                  <a:moveTo>
                    <a:pt x="57" y="105"/>
                  </a:moveTo>
                  <a:lnTo>
                    <a:pt x="28" y="0"/>
                  </a:lnTo>
                  <a:lnTo>
                    <a:pt x="0" y="110"/>
                  </a:lnTo>
                  <a:lnTo>
                    <a:pt x="57" y="110"/>
                  </a:lnTo>
                  <a:lnTo>
                    <a:pt x="57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8" name="Text Box 170">
            <a:extLst>
              <a:ext uri="{FF2B5EF4-FFF2-40B4-BE49-F238E27FC236}">
                <a16:creationId xmlns:a16="http://schemas.microsoft.com/office/drawing/2014/main" id="{19C85E40-6417-BA3E-0D4A-1802C3619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6" y="4994276"/>
            <a:ext cx="717867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/>
              <a:t>3DES applies DES 3 times with 3 different keys</a:t>
            </a:r>
          </a:p>
          <a:p>
            <a:pPr>
              <a:buFontTx/>
              <a:buChar char="•"/>
            </a:pPr>
            <a:r>
              <a:rPr lang="en-US" altLang="en-US"/>
              <a:t>AES (Advanced Encryption Standard)  uses larger blocks (128-bits), larger keys (128-, 192-, or 256-bit), is fast in both hardware and software, and doesn’t require much memory (so it works well on mobile devices)</a:t>
            </a:r>
          </a:p>
        </p:txBody>
      </p:sp>
      <p:pic>
        <p:nvPicPr>
          <p:cNvPr id="3079" name="Picture 171" descr="C:\Users\agember\AppData\Local\Microsoft\Windows\Temporary Internet Files\Content.IE5\4A6BAF6Z\MC900232769[1].wmf">
            <a:extLst>
              <a:ext uri="{FF2B5EF4-FFF2-40B4-BE49-F238E27FC236}">
                <a16:creationId xmlns:a16="http://schemas.microsoft.com/office/drawing/2014/main" id="{2D627CAA-AE02-4EAF-3703-3919AB3D6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3200401"/>
            <a:ext cx="511175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172" descr="C:\Users\agember\AppData\Local\Microsoft\Windows\Temporary Internet Files\Content.IE5\TY9XCEY2\MC900432599[1].png">
            <a:extLst>
              <a:ext uri="{FF2B5EF4-FFF2-40B4-BE49-F238E27FC236}">
                <a16:creationId xmlns:a16="http://schemas.microsoft.com/office/drawing/2014/main" id="{C4C977A8-422C-B3EE-A31F-1A2B1CA24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0574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172" descr="C:\Users\agember\AppData\Local\Microsoft\Windows\Temporary Internet Files\Content.IE5\TY9XCEY2\MC900432599[1].png">
            <a:extLst>
              <a:ext uri="{FF2B5EF4-FFF2-40B4-BE49-F238E27FC236}">
                <a16:creationId xmlns:a16="http://schemas.microsoft.com/office/drawing/2014/main" id="{CC1FE062-30AC-7EBA-A278-B8CEA8C8C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9812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71" descr="C:\Users\agember\AppData\Local\Microsoft\Windows\Temporary Internet Files\Content.IE5\4A6BAF6Z\MC900232769[1].wmf">
            <a:extLst>
              <a:ext uri="{FF2B5EF4-FFF2-40B4-BE49-F238E27FC236}">
                <a16:creationId xmlns:a16="http://schemas.microsoft.com/office/drawing/2014/main" id="{BE61CCE0-5B3F-C18F-2B70-140D36214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1" y="3200401"/>
            <a:ext cx="511175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74" descr="C:\Users\agember\AppData\Local\Microsoft\Windows\Temporary Internet Files\Content.IE5\6PLB7JPJ\MC900441313[1].png">
            <a:extLst>
              <a:ext uri="{FF2B5EF4-FFF2-40B4-BE49-F238E27FC236}">
                <a16:creationId xmlns:a16="http://schemas.microsoft.com/office/drawing/2014/main" id="{1FF3EABB-B5FB-13D7-B4BC-42C7FCAD1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886200"/>
            <a:ext cx="106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4">
            <a:extLst>
              <a:ext uri="{FF2B5EF4-FFF2-40B4-BE49-F238E27FC236}">
                <a16:creationId xmlns:a16="http://schemas.microsoft.com/office/drawing/2014/main" id="{8BF24ACC-C963-3B82-568C-8E7D1DC2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8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fld id="{70233382-E28E-3B48-900F-BB88F7742160}" type="slidenum">
              <a:rPr lang="en-US" altLang="en-US" sz="1400"/>
              <a:pPr algn="ctr"/>
              <a:t>4</a:t>
            </a:fld>
            <a:endParaRPr lang="en-US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C29A2233-4248-B29B-3B3D-BA4835686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Recall: Public Key (RSA)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0D637D3B-F0D8-C961-7DB5-4B9A7B178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962400"/>
            <a:ext cx="7772400" cy="1905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/>
              <a:t>First published by Diffie and Hellman (others like NSA claim to have invented it earlier)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Several orders of magnitude slower than symmetric key</a:t>
            </a:r>
          </a:p>
        </p:txBody>
      </p:sp>
      <p:grpSp>
        <p:nvGrpSpPr>
          <p:cNvPr id="4102" name="Group 4">
            <a:extLst>
              <a:ext uri="{FF2B5EF4-FFF2-40B4-BE49-F238E27FC236}">
                <a16:creationId xmlns:a16="http://schemas.microsoft.com/office/drawing/2014/main" id="{C102B81C-9928-0E71-45A1-7F62D1CD52BD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600200"/>
            <a:ext cx="5562600" cy="1905000"/>
            <a:chOff x="773" y="672"/>
            <a:chExt cx="4139" cy="1222"/>
          </a:xfrm>
        </p:grpSpPr>
        <p:sp>
          <p:nvSpPr>
            <p:cNvPr id="4108" name="Rectangle 5">
              <a:extLst>
                <a:ext uri="{FF2B5EF4-FFF2-40B4-BE49-F238E27FC236}">
                  <a16:creationId xmlns:a16="http://schemas.microsoft.com/office/drawing/2014/main" id="{2F7274C7-7061-282B-C02C-E23D8AF0C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" y="672"/>
              <a:ext cx="658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Plaintext</a:t>
              </a:r>
              <a:endParaRPr lang="en-US" altLang="en-US" sz="1800"/>
            </a:p>
          </p:txBody>
        </p:sp>
        <p:sp>
          <p:nvSpPr>
            <p:cNvPr id="4109" name="Rectangle 6">
              <a:extLst>
                <a:ext uri="{FF2B5EF4-FFF2-40B4-BE49-F238E27FC236}">
                  <a16:creationId xmlns:a16="http://schemas.microsoft.com/office/drawing/2014/main" id="{8609E76E-DA06-4D44-D20F-6AADE1A28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" y="1243"/>
              <a:ext cx="927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Encrypt with</a:t>
              </a:r>
              <a:endParaRPr lang="en-US" altLang="en-US" sz="1800"/>
            </a:p>
          </p:txBody>
        </p:sp>
        <p:sp>
          <p:nvSpPr>
            <p:cNvPr id="4110" name="Rectangle 7">
              <a:extLst>
                <a:ext uri="{FF2B5EF4-FFF2-40B4-BE49-F238E27FC236}">
                  <a16:creationId xmlns:a16="http://schemas.microsoft.com/office/drawing/2014/main" id="{F0C50F37-0FB5-C6B6-EB4C-B6EAF2BFE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" y="1429"/>
              <a:ext cx="756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public key</a:t>
              </a:r>
              <a:endParaRPr lang="en-US" altLang="en-US" sz="1800"/>
            </a:p>
          </p:txBody>
        </p:sp>
        <p:sp>
          <p:nvSpPr>
            <p:cNvPr id="4111" name="Rectangle 8">
              <a:extLst>
                <a:ext uri="{FF2B5EF4-FFF2-40B4-BE49-F238E27FC236}">
                  <a16:creationId xmlns:a16="http://schemas.microsoft.com/office/drawing/2014/main" id="{019A63F7-FF92-C88C-7362-ADF2B0270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429"/>
              <a:ext cx="0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112" name="Rectangle 9">
              <a:extLst>
                <a:ext uri="{FF2B5EF4-FFF2-40B4-BE49-F238E27FC236}">
                  <a16:creationId xmlns:a16="http://schemas.microsoft.com/office/drawing/2014/main" id="{67B0F5D9-4053-C70F-37D7-C473630E0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1650"/>
              <a:ext cx="775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Ciphertext</a:t>
              </a:r>
              <a:endParaRPr lang="en-US" altLang="en-US" sz="1800"/>
            </a:p>
          </p:txBody>
        </p:sp>
        <p:sp>
          <p:nvSpPr>
            <p:cNvPr id="4113" name="Rectangle 10">
              <a:extLst>
                <a:ext uri="{FF2B5EF4-FFF2-40B4-BE49-F238E27FC236}">
                  <a16:creationId xmlns:a16="http://schemas.microsoft.com/office/drawing/2014/main" id="{2282E9B5-FC10-73D9-1BFE-A4193A38D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0" y="672"/>
              <a:ext cx="65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Plaintext</a:t>
              </a:r>
              <a:endParaRPr lang="en-US" altLang="en-US" sz="1800"/>
            </a:p>
          </p:txBody>
        </p:sp>
        <p:sp>
          <p:nvSpPr>
            <p:cNvPr id="4114" name="Rectangle 11">
              <a:extLst>
                <a:ext uri="{FF2B5EF4-FFF2-40B4-BE49-F238E27FC236}">
                  <a16:creationId xmlns:a16="http://schemas.microsoft.com/office/drawing/2014/main" id="{E1AA1148-6F05-BF80-CC23-21C6676AC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1243"/>
              <a:ext cx="936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Decrypt with</a:t>
              </a:r>
              <a:endParaRPr lang="en-US" altLang="en-US" sz="1800"/>
            </a:p>
          </p:txBody>
        </p:sp>
        <p:sp>
          <p:nvSpPr>
            <p:cNvPr id="4115" name="Rectangle 12">
              <a:extLst>
                <a:ext uri="{FF2B5EF4-FFF2-40B4-BE49-F238E27FC236}">
                  <a16:creationId xmlns:a16="http://schemas.microsoft.com/office/drawing/2014/main" id="{3255307C-6E60-ED25-0A7A-071907ED4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1429"/>
              <a:ext cx="830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private key</a:t>
              </a:r>
              <a:endParaRPr lang="en-US" altLang="en-US" sz="1800"/>
            </a:p>
          </p:txBody>
        </p:sp>
        <p:sp>
          <p:nvSpPr>
            <p:cNvPr id="4116" name="Rectangle 13">
              <a:extLst>
                <a:ext uri="{FF2B5EF4-FFF2-40B4-BE49-F238E27FC236}">
                  <a16:creationId xmlns:a16="http://schemas.microsoft.com/office/drawing/2014/main" id="{B911AE76-3F7A-0330-A9B9-9504744F2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1429"/>
              <a:ext cx="0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117" name="Freeform 14">
              <a:extLst>
                <a:ext uri="{FF2B5EF4-FFF2-40B4-BE49-F238E27FC236}">
                  <a16:creationId xmlns:a16="http://schemas.microsoft.com/office/drawing/2014/main" id="{C798D59C-01E1-BE85-20E7-9F538C86B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1185"/>
              <a:ext cx="1308" cy="486"/>
            </a:xfrm>
            <a:custGeom>
              <a:avLst/>
              <a:gdLst>
                <a:gd name="T0" fmla="*/ 656 w 1308"/>
                <a:gd name="T1" fmla="*/ 0 h 486"/>
                <a:gd name="T2" fmla="*/ 552 w 1308"/>
                <a:gd name="T3" fmla="*/ 5 h 486"/>
                <a:gd name="T4" fmla="*/ 447 w 1308"/>
                <a:gd name="T5" fmla="*/ 15 h 486"/>
                <a:gd name="T6" fmla="*/ 357 w 1308"/>
                <a:gd name="T7" fmla="*/ 29 h 486"/>
                <a:gd name="T8" fmla="*/ 271 w 1308"/>
                <a:gd name="T9" fmla="*/ 48 h 486"/>
                <a:gd name="T10" fmla="*/ 195 w 1308"/>
                <a:gd name="T11" fmla="*/ 72 h 486"/>
                <a:gd name="T12" fmla="*/ 128 w 1308"/>
                <a:gd name="T13" fmla="*/ 100 h 486"/>
                <a:gd name="T14" fmla="*/ 76 w 1308"/>
                <a:gd name="T15" fmla="*/ 134 h 486"/>
                <a:gd name="T16" fmla="*/ 33 w 1308"/>
                <a:gd name="T17" fmla="*/ 167 h 486"/>
                <a:gd name="T18" fmla="*/ 9 w 1308"/>
                <a:gd name="T19" fmla="*/ 205 h 486"/>
                <a:gd name="T20" fmla="*/ 0 w 1308"/>
                <a:gd name="T21" fmla="*/ 243 h 486"/>
                <a:gd name="T22" fmla="*/ 9 w 1308"/>
                <a:gd name="T23" fmla="*/ 286 h 486"/>
                <a:gd name="T24" fmla="*/ 33 w 1308"/>
                <a:gd name="T25" fmla="*/ 324 h 486"/>
                <a:gd name="T26" fmla="*/ 76 w 1308"/>
                <a:gd name="T27" fmla="*/ 357 h 486"/>
                <a:gd name="T28" fmla="*/ 128 w 1308"/>
                <a:gd name="T29" fmla="*/ 391 h 486"/>
                <a:gd name="T30" fmla="*/ 195 w 1308"/>
                <a:gd name="T31" fmla="*/ 419 h 486"/>
                <a:gd name="T32" fmla="*/ 271 w 1308"/>
                <a:gd name="T33" fmla="*/ 443 h 486"/>
                <a:gd name="T34" fmla="*/ 357 w 1308"/>
                <a:gd name="T35" fmla="*/ 462 h 486"/>
                <a:gd name="T36" fmla="*/ 447 w 1308"/>
                <a:gd name="T37" fmla="*/ 476 h 486"/>
                <a:gd name="T38" fmla="*/ 552 w 1308"/>
                <a:gd name="T39" fmla="*/ 486 h 486"/>
                <a:gd name="T40" fmla="*/ 656 w 1308"/>
                <a:gd name="T41" fmla="*/ 486 h 486"/>
                <a:gd name="T42" fmla="*/ 761 w 1308"/>
                <a:gd name="T43" fmla="*/ 486 h 486"/>
                <a:gd name="T44" fmla="*/ 861 w 1308"/>
                <a:gd name="T45" fmla="*/ 476 h 486"/>
                <a:gd name="T46" fmla="*/ 956 w 1308"/>
                <a:gd name="T47" fmla="*/ 462 h 486"/>
                <a:gd name="T48" fmla="*/ 1042 w 1308"/>
                <a:gd name="T49" fmla="*/ 443 h 486"/>
                <a:gd name="T50" fmla="*/ 1118 w 1308"/>
                <a:gd name="T51" fmla="*/ 419 h 486"/>
                <a:gd name="T52" fmla="*/ 1184 w 1308"/>
                <a:gd name="T53" fmla="*/ 391 h 486"/>
                <a:gd name="T54" fmla="*/ 1237 w 1308"/>
                <a:gd name="T55" fmla="*/ 357 h 486"/>
                <a:gd name="T56" fmla="*/ 1275 w 1308"/>
                <a:gd name="T57" fmla="*/ 324 h 486"/>
                <a:gd name="T58" fmla="*/ 1303 w 1308"/>
                <a:gd name="T59" fmla="*/ 286 h 486"/>
                <a:gd name="T60" fmla="*/ 1308 w 1308"/>
                <a:gd name="T61" fmla="*/ 243 h 486"/>
                <a:gd name="T62" fmla="*/ 1303 w 1308"/>
                <a:gd name="T63" fmla="*/ 205 h 486"/>
                <a:gd name="T64" fmla="*/ 1275 w 1308"/>
                <a:gd name="T65" fmla="*/ 167 h 486"/>
                <a:gd name="T66" fmla="*/ 1237 w 1308"/>
                <a:gd name="T67" fmla="*/ 134 h 486"/>
                <a:gd name="T68" fmla="*/ 1184 w 1308"/>
                <a:gd name="T69" fmla="*/ 100 h 486"/>
                <a:gd name="T70" fmla="*/ 1118 w 1308"/>
                <a:gd name="T71" fmla="*/ 72 h 486"/>
                <a:gd name="T72" fmla="*/ 1042 w 1308"/>
                <a:gd name="T73" fmla="*/ 48 h 486"/>
                <a:gd name="T74" fmla="*/ 956 w 1308"/>
                <a:gd name="T75" fmla="*/ 29 h 486"/>
                <a:gd name="T76" fmla="*/ 861 w 1308"/>
                <a:gd name="T77" fmla="*/ 15 h 486"/>
                <a:gd name="T78" fmla="*/ 761 w 1308"/>
                <a:gd name="T79" fmla="*/ 5 h 486"/>
                <a:gd name="T80" fmla="*/ 656 w 1308"/>
                <a:gd name="T81" fmla="*/ 0 h 486"/>
                <a:gd name="T82" fmla="*/ 656 w 1308"/>
                <a:gd name="T83" fmla="*/ 0 h 48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308"/>
                <a:gd name="T127" fmla="*/ 0 h 486"/>
                <a:gd name="T128" fmla="*/ 1308 w 1308"/>
                <a:gd name="T129" fmla="*/ 486 h 48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308" h="486">
                  <a:moveTo>
                    <a:pt x="656" y="0"/>
                  </a:moveTo>
                  <a:lnTo>
                    <a:pt x="552" y="5"/>
                  </a:lnTo>
                  <a:lnTo>
                    <a:pt x="447" y="15"/>
                  </a:lnTo>
                  <a:lnTo>
                    <a:pt x="357" y="29"/>
                  </a:lnTo>
                  <a:lnTo>
                    <a:pt x="271" y="48"/>
                  </a:lnTo>
                  <a:lnTo>
                    <a:pt x="195" y="72"/>
                  </a:lnTo>
                  <a:lnTo>
                    <a:pt x="128" y="100"/>
                  </a:lnTo>
                  <a:lnTo>
                    <a:pt x="76" y="134"/>
                  </a:lnTo>
                  <a:lnTo>
                    <a:pt x="33" y="167"/>
                  </a:lnTo>
                  <a:lnTo>
                    <a:pt x="9" y="205"/>
                  </a:lnTo>
                  <a:lnTo>
                    <a:pt x="0" y="243"/>
                  </a:lnTo>
                  <a:lnTo>
                    <a:pt x="9" y="286"/>
                  </a:lnTo>
                  <a:lnTo>
                    <a:pt x="33" y="324"/>
                  </a:lnTo>
                  <a:lnTo>
                    <a:pt x="76" y="357"/>
                  </a:lnTo>
                  <a:lnTo>
                    <a:pt x="128" y="391"/>
                  </a:lnTo>
                  <a:lnTo>
                    <a:pt x="195" y="419"/>
                  </a:lnTo>
                  <a:lnTo>
                    <a:pt x="271" y="443"/>
                  </a:lnTo>
                  <a:lnTo>
                    <a:pt x="357" y="462"/>
                  </a:lnTo>
                  <a:lnTo>
                    <a:pt x="447" y="476"/>
                  </a:lnTo>
                  <a:lnTo>
                    <a:pt x="552" y="486"/>
                  </a:lnTo>
                  <a:lnTo>
                    <a:pt x="656" y="486"/>
                  </a:lnTo>
                  <a:lnTo>
                    <a:pt x="761" y="486"/>
                  </a:lnTo>
                  <a:lnTo>
                    <a:pt x="861" y="476"/>
                  </a:lnTo>
                  <a:lnTo>
                    <a:pt x="956" y="462"/>
                  </a:lnTo>
                  <a:lnTo>
                    <a:pt x="1042" y="443"/>
                  </a:lnTo>
                  <a:lnTo>
                    <a:pt x="1118" y="419"/>
                  </a:lnTo>
                  <a:lnTo>
                    <a:pt x="1184" y="391"/>
                  </a:lnTo>
                  <a:lnTo>
                    <a:pt x="1237" y="357"/>
                  </a:lnTo>
                  <a:lnTo>
                    <a:pt x="1275" y="324"/>
                  </a:lnTo>
                  <a:lnTo>
                    <a:pt x="1303" y="286"/>
                  </a:lnTo>
                  <a:lnTo>
                    <a:pt x="1308" y="243"/>
                  </a:lnTo>
                  <a:lnTo>
                    <a:pt x="1303" y="205"/>
                  </a:lnTo>
                  <a:lnTo>
                    <a:pt x="1275" y="167"/>
                  </a:lnTo>
                  <a:lnTo>
                    <a:pt x="1237" y="134"/>
                  </a:lnTo>
                  <a:lnTo>
                    <a:pt x="1184" y="100"/>
                  </a:lnTo>
                  <a:lnTo>
                    <a:pt x="1118" y="72"/>
                  </a:lnTo>
                  <a:lnTo>
                    <a:pt x="1042" y="48"/>
                  </a:lnTo>
                  <a:lnTo>
                    <a:pt x="956" y="29"/>
                  </a:lnTo>
                  <a:lnTo>
                    <a:pt x="861" y="15"/>
                  </a:lnTo>
                  <a:lnTo>
                    <a:pt x="761" y="5"/>
                  </a:lnTo>
                  <a:lnTo>
                    <a:pt x="656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8" name="Freeform 15">
              <a:extLst>
                <a:ext uri="{FF2B5EF4-FFF2-40B4-BE49-F238E27FC236}">
                  <a16:creationId xmlns:a16="http://schemas.microsoft.com/office/drawing/2014/main" id="{8424FECA-7D41-4E96-1CCF-EC45BD6EA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1185"/>
              <a:ext cx="1308" cy="486"/>
            </a:xfrm>
            <a:custGeom>
              <a:avLst/>
              <a:gdLst>
                <a:gd name="T0" fmla="*/ 651 w 1308"/>
                <a:gd name="T1" fmla="*/ 0 h 486"/>
                <a:gd name="T2" fmla="*/ 547 w 1308"/>
                <a:gd name="T3" fmla="*/ 5 h 486"/>
                <a:gd name="T4" fmla="*/ 447 w 1308"/>
                <a:gd name="T5" fmla="*/ 15 h 486"/>
                <a:gd name="T6" fmla="*/ 352 w 1308"/>
                <a:gd name="T7" fmla="*/ 29 h 486"/>
                <a:gd name="T8" fmla="*/ 266 w 1308"/>
                <a:gd name="T9" fmla="*/ 48 h 486"/>
                <a:gd name="T10" fmla="*/ 190 w 1308"/>
                <a:gd name="T11" fmla="*/ 72 h 486"/>
                <a:gd name="T12" fmla="*/ 123 w 1308"/>
                <a:gd name="T13" fmla="*/ 100 h 486"/>
                <a:gd name="T14" fmla="*/ 71 w 1308"/>
                <a:gd name="T15" fmla="*/ 134 h 486"/>
                <a:gd name="T16" fmla="*/ 33 w 1308"/>
                <a:gd name="T17" fmla="*/ 167 h 486"/>
                <a:gd name="T18" fmla="*/ 9 w 1308"/>
                <a:gd name="T19" fmla="*/ 205 h 486"/>
                <a:gd name="T20" fmla="*/ 0 w 1308"/>
                <a:gd name="T21" fmla="*/ 243 h 486"/>
                <a:gd name="T22" fmla="*/ 9 w 1308"/>
                <a:gd name="T23" fmla="*/ 286 h 486"/>
                <a:gd name="T24" fmla="*/ 33 w 1308"/>
                <a:gd name="T25" fmla="*/ 324 h 486"/>
                <a:gd name="T26" fmla="*/ 71 w 1308"/>
                <a:gd name="T27" fmla="*/ 357 h 486"/>
                <a:gd name="T28" fmla="*/ 123 w 1308"/>
                <a:gd name="T29" fmla="*/ 391 h 486"/>
                <a:gd name="T30" fmla="*/ 190 w 1308"/>
                <a:gd name="T31" fmla="*/ 419 h 486"/>
                <a:gd name="T32" fmla="*/ 266 w 1308"/>
                <a:gd name="T33" fmla="*/ 443 h 486"/>
                <a:gd name="T34" fmla="*/ 352 w 1308"/>
                <a:gd name="T35" fmla="*/ 462 h 486"/>
                <a:gd name="T36" fmla="*/ 447 w 1308"/>
                <a:gd name="T37" fmla="*/ 476 h 486"/>
                <a:gd name="T38" fmla="*/ 547 w 1308"/>
                <a:gd name="T39" fmla="*/ 486 h 486"/>
                <a:gd name="T40" fmla="*/ 651 w 1308"/>
                <a:gd name="T41" fmla="*/ 486 h 486"/>
                <a:gd name="T42" fmla="*/ 761 w 1308"/>
                <a:gd name="T43" fmla="*/ 486 h 486"/>
                <a:gd name="T44" fmla="*/ 861 w 1308"/>
                <a:gd name="T45" fmla="*/ 476 h 486"/>
                <a:gd name="T46" fmla="*/ 956 w 1308"/>
                <a:gd name="T47" fmla="*/ 462 h 486"/>
                <a:gd name="T48" fmla="*/ 1042 w 1308"/>
                <a:gd name="T49" fmla="*/ 443 h 486"/>
                <a:gd name="T50" fmla="*/ 1118 w 1308"/>
                <a:gd name="T51" fmla="*/ 419 h 486"/>
                <a:gd name="T52" fmla="*/ 1180 w 1308"/>
                <a:gd name="T53" fmla="*/ 391 h 486"/>
                <a:gd name="T54" fmla="*/ 1237 w 1308"/>
                <a:gd name="T55" fmla="*/ 357 h 486"/>
                <a:gd name="T56" fmla="*/ 1275 w 1308"/>
                <a:gd name="T57" fmla="*/ 324 h 486"/>
                <a:gd name="T58" fmla="*/ 1298 w 1308"/>
                <a:gd name="T59" fmla="*/ 286 h 486"/>
                <a:gd name="T60" fmla="*/ 1308 w 1308"/>
                <a:gd name="T61" fmla="*/ 243 h 486"/>
                <a:gd name="T62" fmla="*/ 1298 w 1308"/>
                <a:gd name="T63" fmla="*/ 205 h 486"/>
                <a:gd name="T64" fmla="*/ 1275 w 1308"/>
                <a:gd name="T65" fmla="*/ 167 h 486"/>
                <a:gd name="T66" fmla="*/ 1237 w 1308"/>
                <a:gd name="T67" fmla="*/ 134 h 486"/>
                <a:gd name="T68" fmla="*/ 1180 w 1308"/>
                <a:gd name="T69" fmla="*/ 100 h 486"/>
                <a:gd name="T70" fmla="*/ 1118 w 1308"/>
                <a:gd name="T71" fmla="*/ 72 h 486"/>
                <a:gd name="T72" fmla="*/ 1042 w 1308"/>
                <a:gd name="T73" fmla="*/ 48 h 486"/>
                <a:gd name="T74" fmla="*/ 956 w 1308"/>
                <a:gd name="T75" fmla="*/ 29 h 486"/>
                <a:gd name="T76" fmla="*/ 861 w 1308"/>
                <a:gd name="T77" fmla="*/ 15 h 486"/>
                <a:gd name="T78" fmla="*/ 761 w 1308"/>
                <a:gd name="T79" fmla="*/ 5 h 486"/>
                <a:gd name="T80" fmla="*/ 651 w 1308"/>
                <a:gd name="T81" fmla="*/ 0 h 486"/>
                <a:gd name="T82" fmla="*/ 651 w 1308"/>
                <a:gd name="T83" fmla="*/ 0 h 48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308"/>
                <a:gd name="T127" fmla="*/ 0 h 486"/>
                <a:gd name="T128" fmla="*/ 1308 w 1308"/>
                <a:gd name="T129" fmla="*/ 486 h 48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308" h="486">
                  <a:moveTo>
                    <a:pt x="651" y="0"/>
                  </a:moveTo>
                  <a:lnTo>
                    <a:pt x="547" y="5"/>
                  </a:lnTo>
                  <a:lnTo>
                    <a:pt x="447" y="15"/>
                  </a:lnTo>
                  <a:lnTo>
                    <a:pt x="352" y="29"/>
                  </a:lnTo>
                  <a:lnTo>
                    <a:pt x="266" y="48"/>
                  </a:lnTo>
                  <a:lnTo>
                    <a:pt x="190" y="72"/>
                  </a:lnTo>
                  <a:lnTo>
                    <a:pt x="123" y="100"/>
                  </a:lnTo>
                  <a:lnTo>
                    <a:pt x="71" y="134"/>
                  </a:lnTo>
                  <a:lnTo>
                    <a:pt x="33" y="167"/>
                  </a:lnTo>
                  <a:lnTo>
                    <a:pt x="9" y="205"/>
                  </a:lnTo>
                  <a:lnTo>
                    <a:pt x="0" y="243"/>
                  </a:lnTo>
                  <a:lnTo>
                    <a:pt x="9" y="286"/>
                  </a:lnTo>
                  <a:lnTo>
                    <a:pt x="33" y="324"/>
                  </a:lnTo>
                  <a:lnTo>
                    <a:pt x="71" y="357"/>
                  </a:lnTo>
                  <a:lnTo>
                    <a:pt x="123" y="391"/>
                  </a:lnTo>
                  <a:lnTo>
                    <a:pt x="190" y="419"/>
                  </a:lnTo>
                  <a:lnTo>
                    <a:pt x="266" y="443"/>
                  </a:lnTo>
                  <a:lnTo>
                    <a:pt x="352" y="462"/>
                  </a:lnTo>
                  <a:lnTo>
                    <a:pt x="447" y="476"/>
                  </a:lnTo>
                  <a:lnTo>
                    <a:pt x="547" y="486"/>
                  </a:lnTo>
                  <a:lnTo>
                    <a:pt x="651" y="486"/>
                  </a:lnTo>
                  <a:lnTo>
                    <a:pt x="761" y="486"/>
                  </a:lnTo>
                  <a:lnTo>
                    <a:pt x="861" y="476"/>
                  </a:lnTo>
                  <a:lnTo>
                    <a:pt x="956" y="462"/>
                  </a:lnTo>
                  <a:lnTo>
                    <a:pt x="1042" y="443"/>
                  </a:lnTo>
                  <a:lnTo>
                    <a:pt x="1118" y="419"/>
                  </a:lnTo>
                  <a:lnTo>
                    <a:pt x="1180" y="391"/>
                  </a:lnTo>
                  <a:lnTo>
                    <a:pt x="1237" y="357"/>
                  </a:lnTo>
                  <a:lnTo>
                    <a:pt x="1275" y="324"/>
                  </a:lnTo>
                  <a:lnTo>
                    <a:pt x="1298" y="286"/>
                  </a:lnTo>
                  <a:lnTo>
                    <a:pt x="1308" y="243"/>
                  </a:lnTo>
                  <a:lnTo>
                    <a:pt x="1298" y="205"/>
                  </a:lnTo>
                  <a:lnTo>
                    <a:pt x="1275" y="167"/>
                  </a:lnTo>
                  <a:lnTo>
                    <a:pt x="1237" y="134"/>
                  </a:lnTo>
                  <a:lnTo>
                    <a:pt x="1180" y="100"/>
                  </a:lnTo>
                  <a:lnTo>
                    <a:pt x="1118" y="72"/>
                  </a:lnTo>
                  <a:lnTo>
                    <a:pt x="1042" y="48"/>
                  </a:lnTo>
                  <a:lnTo>
                    <a:pt x="956" y="29"/>
                  </a:lnTo>
                  <a:lnTo>
                    <a:pt x="861" y="15"/>
                  </a:lnTo>
                  <a:lnTo>
                    <a:pt x="761" y="5"/>
                  </a:lnTo>
                  <a:lnTo>
                    <a:pt x="65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9" name="Line 16">
              <a:extLst>
                <a:ext uri="{FF2B5EF4-FFF2-40B4-BE49-F238E27FC236}">
                  <a16:creationId xmlns:a16="http://schemas.microsoft.com/office/drawing/2014/main" id="{CAB3B83B-03DD-D43F-04F9-34C198AF3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859"/>
              <a:ext cx="0" cy="24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0" name="Freeform 17">
              <a:extLst>
                <a:ext uri="{FF2B5EF4-FFF2-40B4-BE49-F238E27FC236}">
                  <a16:creationId xmlns:a16="http://schemas.microsoft.com/office/drawing/2014/main" id="{FCCF0005-CB94-7147-1A71-F23056EBB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1076"/>
              <a:ext cx="62" cy="109"/>
            </a:xfrm>
            <a:custGeom>
              <a:avLst/>
              <a:gdLst>
                <a:gd name="T0" fmla="*/ 0 w 62"/>
                <a:gd name="T1" fmla="*/ 0 h 109"/>
                <a:gd name="T2" fmla="*/ 33 w 62"/>
                <a:gd name="T3" fmla="*/ 109 h 109"/>
                <a:gd name="T4" fmla="*/ 62 w 62"/>
                <a:gd name="T5" fmla="*/ 5 h 109"/>
                <a:gd name="T6" fmla="*/ 5 w 62"/>
                <a:gd name="T7" fmla="*/ 5 h 109"/>
                <a:gd name="T8" fmla="*/ 5 w 62"/>
                <a:gd name="T9" fmla="*/ 5 h 109"/>
                <a:gd name="T10" fmla="*/ 0 w 62"/>
                <a:gd name="T11" fmla="*/ 0 h 1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"/>
                <a:gd name="T19" fmla="*/ 0 h 109"/>
                <a:gd name="T20" fmla="*/ 62 w 62"/>
                <a:gd name="T21" fmla="*/ 109 h 1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" h="109">
                  <a:moveTo>
                    <a:pt x="0" y="0"/>
                  </a:moveTo>
                  <a:lnTo>
                    <a:pt x="33" y="109"/>
                  </a:lnTo>
                  <a:lnTo>
                    <a:pt x="62" y="5"/>
                  </a:lnTo>
                  <a:lnTo>
                    <a:pt x="5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1" name="Line 18">
              <a:extLst>
                <a:ext uri="{FF2B5EF4-FFF2-40B4-BE49-F238E27FC236}">
                  <a16:creationId xmlns:a16="http://schemas.microsoft.com/office/drawing/2014/main" id="{DDB28AFA-46C4-3D90-BB24-65BBCC545E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5" y="967"/>
              <a:ext cx="1" cy="20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2" name="Freeform 19">
              <a:extLst>
                <a:ext uri="{FF2B5EF4-FFF2-40B4-BE49-F238E27FC236}">
                  <a16:creationId xmlns:a16="http://schemas.microsoft.com/office/drawing/2014/main" id="{C9110A9F-B03F-14FE-019A-FAD31A019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881"/>
              <a:ext cx="57" cy="105"/>
            </a:xfrm>
            <a:custGeom>
              <a:avLst/>
              <a:gdLst>
                <a:gd name="T0" fmla="*/ 57 w 57"/>
                <a:gd name="T1" fmla="*/ 105 h 105"/>
                <a:gd name="T2" fmla="*/ 28 w 57"/>
                <a:gd name="T3" fmla="*/ 0 h 105"/>
                <a:gd name="T4" fmla="*/ 0 w 57"/>
                <a:gd name="T5" fmla="*/ 105 h 105"/>
                <a:gd name="T6" fmla="*/ 57 w 57"/>
                <a:gd name="T7" fmla="*/ 105 h 105"/>
                <a:gd name="T8" fmla="*/ 57 w 57"/>
                <a:gd name="T9" fmla="*/ 105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105"/>
                <a:gd name="T17" fmla="*/ 57 w 57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105">
                  <a:moveTo>
                    <a:pt x="57" y="105"/>
                  </a:moveTo>
                  <a:lnTo>
                    <a:pt x="28" y="0"/>
                  </a:lnTo>
                  <a:lnTo>
                    <a:pt x="0" y="105"/>
                  </a:lnTo>
                  <a:lnTo>
                    <a:pt x="57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3" name="Freeform 20">
              <a:extLst>
                <a:ext uri="{FF2B5EF4-FFF2-40B4-BE49-F238E27FC236}">
                  <a16:creationId xmlns:a16="http://schemas.microsoft.com/office/drawing/2014/main" id="{3EC57615-B93C-11EC-0EA4-0D4B4C8B9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1671"/>
              <a:ext cx="2830" cy="223"/>
            </a:xfrm>
            <a:custGeom>
              <a:avLst/>
              <a:gdLst>
                <a:gd name="T0" fmla="*/ 0 w 2830"/>
                <a:gd name="T1" fmla="*/ 0 h 223"/>
                <a:gd name="T2" fmla="*/ 4 w 2830"/>
                <a:gd name="T3" fmla="*/ 223 h 223"/>
                <a:gd name="T4" fmla="*/ 2830 w 2830"/>
                <a:gd name="T5" fmla="*/ 223 h 223"/>
                <a:gd name="T6" fmla="*/ 2830 w 2830"/>
                <a:gd name="T7" fmla="*/ 109 h 2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30"/>
                <a:gd name="T13" fmla="*/ 0 h 223"/>
                <a:gd name="T14" fmla="*/ 2830 w 2830"/>
                <a:gd name="T15" fmla="*/ 223 h 2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30" h="223">
                  <a:moveTo>
                    <a:pt x="0" y="0"/>
                  </a:moveTo>
                  <a:lnTo>
                    <a:pt x="4" y="223"/>
                  </a:lnTo>
                  <a:lnTo>
                    <a:pt x="2830" y="223"/>
                  </a:lnTo>
                  <a:lnTo>
                    <a:pt x="2830" y="109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4" name="Freeform 21">
              <a:extLst>
                <a:ext uri="{FF2B5EF4-FFF2-40B4-BE49-F238E27FC236}">
                  <a16:creationId xmlns:a16="http://schemas.microsoft.com/office/drawing/2014/main" id="{A8F917DC-935F-126A-CF4F-1D77DFA78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675"/>
              <a:ext cx="57" cy="110"/>
            </a:xfrm>
            <a:custGeom>
              <a:avLst/>
              <a:gdLst>
                <a:gd name="T0" fmla="*/ 57 w 57"/>
                <a:gd name="T1" fmla="*/ 105 h 110"/>
                <a:gd name="T2" fmla="*/ 28 w 57"/>
                <a:gd name="T3" fmla="*/ 0 h 110"/>
                <a:gd name="T4" fmla="*/ 0 w 57"/>
                <a:gd name="T5" fmla="*/ 110 h 110"/>
                <a:gd name="T6" fmla="*/ 57 w 57"/>
                <a:gd name="T7" fmla="*/ 110 h 110"/>
                <a:gd name="T8" fmla="*/ 57 w 57"/>
                <a:gd name="T9" fmla="*/ 110 h 110"/>
                <a:gd name="T10" fmla="*/ 57 w 57"/>
                <a:gd name="T11" fmla="*/ 105 h 1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"/>
                <a:gd name="T19" fmla="*/ 0 h 110"/>
                <a:gd name="T20" fmla="*/ 57 w 57"/>
                <a:gd name="T21" fmla="*/ 110 h 1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" h="110">
                  <a:moveTo>
                    <a:pt x="57" y="105"/>
                  </a:moveTo>
                  <a:lnTo>
                    <a:pt x="28" y="0"/>
                  </a:lnTo>
                  <a:lnTo>
                    <a:pt x="0" y="110"/>
                  </a:lnTo>
                  <a:lnTo>
                    <a:pt x="57" y="110"/>
                  </a:lnTo>
                  <a:lnTo>
                    <a:pt x="57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103" name="Picture 172" descr="C:\Users\agember\AppData\Local\Microsoft\Windows\Temporary Internet Files\Content.IE5\TY9XCEY2\MC900432599[1].png">
            <a:extLst>
              <a:ext uri="{FF2B5EF4-FFF2-40B4-BE49-F238E27FC236}">
                <a16:creationId xmlns:a16="http://schemas.microsoft.com/office/drawing/2014/main" id="{194E4E81-0CFD-1282-236E-F51C9EC9A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172" descr="C:\Users\agember\AppData\Local\Microsoft\Windows\Temporary Internet Files\Content.IE5\TY9XCEY2\MC900432599[1].png">
            <a:extLst>
              <a:ext uri="{FF2B5EF4-FFF2-40B4-BE49-F238E27FC236}">
                <a16:creationId xmlns:a16="http://schemas.microsoft.com/office/drawing/2014/main" id="{FC1A9420-D990-3942-737B-025CFF843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1430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22" descr="C:\Users\agember\AppData\Local\Microsoft\Windows\Temporary Internet Files\Content.IE5\4A6BAF6Z\MC900238179[1].wmf">
            <a:extLst>
              <a:ext uri="{FF2B5EF4-FFF2-40B4-BE49-F238E27FC236}">
                <a16:creationId xmlns:a16="http://schemas.microsoft.com/office/drawing/2014/main" id="{7305E08A-CFDE-3A13-10B0-73FF11A17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703219" y="2467769"/>
            <a:ext cx="12207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74" descr="C:\Users\agember\AppData\Local\Microsoft\Windows\Temporary Internet Files\Content.IE5\6PLB7JPJ\MC900441313[1].png">
            <a:extLst>
              <a:ext uri="{FF2B5EF4-FFF2-40B4-BE49-F238E27FC236}">
                <a16:creationId xmlns:a16="http://schemas.microsoft.com/office/drawing/2014/main" id="{EFB6B381-4533-9832-C1D4-125FCAA92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895600"/>
            <a:ext cx="106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23" descr="C:\Users\agember\AppData\Local\Microsoft\Windows\Temporary Internet Files\Content.IE5\L9GE7RXR\MC900238171[1].wmf">
            <a:extLst>
              <a:ext uri="{FF2B5EF4-FFF2-40B4-BE49-F238E27FC236}">
                <a16:creationId xmlns:a16="http://schemas.microsoft.com/office/drawing/2014/main" id="{060D335D-D777-12FA-BA47-5ED3CEC22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28107" y="2477294"/>
            <a:ext cx="12954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53A5-6DDA-66DE-8955-DDD67378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>
            <a:extLst>
              <a:ext uri="{FF2B5EF4-FFF2-40B4-BE49-F238E27FC236}">
                <a16:creationId xmlns:a16="http://schemas.microsoft.com/office/drawing/2014/main" id="{7E6DCB23-0D9B-4FC5-4740-1E91CBAFC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Recall: Daffie-Hellman Key Exchange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14BCD43B-EDC4-8CE3-0E59-0F695DE2648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The Diffie–Hellman key exchange method allows two parties that have no prior knowledge of each other to jointly establish a </a:t>
            </a:r>
            <a:r>
              <a:rPr lang="en-US" dirty="0">
                <a:hlinkClick r:id="rId2" tooltip="Shared secret"/>
              </a:rPr>
              <a:t>shared secret</a:t>
            </a:r>
            <a:r>
              <a:rPr lang="en-US" dirty="0"/>
              <a:t> key over an </a:t>
            </a:r>
            <a:r>
              <a:rPr lang="en-US" dirty="0">
                <a:hlinkClick r:id="rId3" tooltip="Insecure channel"/>
              </a:rPr>
              <a:t>insecure channel</a:t>
            </a:r>
            <a:r>
              <a:rPr lang="en-US" dirty="0"/>
              <a:t>.</a:t>
            </a:r>
            <a:endParaRPr lang="en-US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2D97F09-CD9A-0AEA-B816-2D1938F33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0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099" name="Slide Number Placeholder 4" hidden="1">
            <a:extLst>
              <a:ext uri="{FF2B5EF4-FFF2-40B4-BE49-F238E27FC236}">
                <a16:creationId xmlns:a16="http://schemas.microsoft.com/office/drawing/2014/main" id="{132CA378-96D9-E06B-AF4B-B0CC1BA4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8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Aft>
                <a:spcPts val="600"/>
              </a:spcAft>
            </a:pPr>
            <a:fld id="{70233382-E28E-3B48-900F-BB88F7742160}" type="slidenum">
              <a:rPr lang="en-US" altLang="en-US" sz="1400"/>
              <a:pPr algn="ctr">
                <a:spcAft>
                  <a:spcPts val="600"/>
                </a:spcAft>
              </a:pPr>
              <a:t>5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45882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4">
            <a:extLst>
              <a:ext uri="{FF2B5EF4-FFF2-40B4-BE49-F238E27FC236}">
                <a16:creationId xmlns:a16="http://schemas.microsoft.com/office/drawing/2014/main" id="{98B06BEA-D512-8187-69B9-AD5F3577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8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fld id="{7B081C78-6067-EB4C-A65B-9A7E9588763E}" type="slidenum">
              <a:rPr lang="en-US" altLang="en-US" sz="1400"/>
              <a:pPr algn="ctr"/>
              <a:t>6</a:t>
            </a:fld>
            <a:endParaRPr lang="en-US" altLang="en-US" sz="1400"/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4D61EFE-C4BD-D4D6-207E-EF11C2CD9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685800"/>
            <a:ext cx="7772400" cy="609600"/>
          </a:xfrm>
        </p:spPr>
        <p:txBody>
          <a:bodyPr>
            <a:normAutofit lnSpcReduction="10000"/>
          </a:bodyPr>
          <a:lstStyle/>
          <a:p>
            <a:pPr algn="ctr">
              <a:buFontTx/>
              <a:buNone/>
              <a:defRPr/>
            </a:pPr>
            <a:r>
              <a:rPr lang="en-US" sz="4000" dirty="0">
                <a:solidFill>
                  <a:srgbClr val="3333CC"/>
                </a:solidFill>
                <a:latin typeface="+mj-lt"/>
                <a:ea typeface="+mj-ea"/>
                <a:cs typeface="+mj-cs"/>
              </a:rPr>
              <a:t>Recall: Public key authentication</a:t>
            </a:r>
          </a:p>
        </p:txBody>
      </p:sp>
      <p:pic>
        <p:nvPicPr>
          <p:cNvPr id="5125" name="Picture 4" descr="PE08F11">
            <a:extLst>
              <a:ext uri="{FF2B5EF4-FFF2-40B4-BE49-F238E27FC236}">
                <a16:creationId xmlns:a16="http://schemas.microsoft.com/office/drawing/2014/main" id="{C78B0F9D-65EC-5C56-DD56-1A926ECED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828800"/>
            <a:ext cx="2806700" cy="343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 Box 5">
            <a:extLst>
              <a:ext uri="{FF2B5EF4-FFF2-40B4-BE49-F238E27FC236}">
                <a16:creationId xmlns:a16="http://schemas.microsoft.com/office/drawing/2014/main" id="{337DBCD5-9121-15E7-6B1C-3325E6906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0" y="3810001"/>
            <a:ext cx="2070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B authenticated to A</a:t>
            </a:r>
          </a:p>
        </p:txBody>
      </p:sp>
      <p:sp>
        <p:nvSpPr>
          <p:cNvPr id="5127" name="TextBox 6">
            <a:extLst>
              <a:ext uri="{FF2B5EF4-FFF2-40B4-BE49-F238E27FC236}">
                <a16:creationId xmlns:a16="http://schemas.microsoft.com/office/drawing/2014/main" id="{0E707F11-0BBA-3519-F04E-C527662C4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486400"/>
            <a:ext cx="7391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Key can be signed by having server encrypt message with private key; client can verify </a:t>
            </a:r>
            <a:br>
              <a:rPr lang="en-US" altLang="en-US"/>
            </a:br>
            <a:r>
              <a:rPr lang="en-US" altLang="en-US"/>
              <a:t>the message came from the server by decrypting the message with the public 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035517"/>
            <a:r>
              <a:rPr lang="en-US" kern="1200">
                <a:latin typeface="+mj-lt"/>
                <a:ea typeface="+mj-ea"/>
                <a:cs typeface="+mj-cs"/>
              </a:rPr>
              <a:t>What</a:t>
            </a:r>
            <a:r>
              <a:rPr lang="en-US" kern="1200" spc="-18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is</a:t>
            </a:r>
            <a:r>
              <a:rPr lang="en-US" kern="1200" spc="-63">
                <a:latin typeface="+mj-lt"/>
                <a:ea typeface="+mj-ea"/>
                <a:cs typeface="+mj-cs"/>
              </a:rPr>
              <a:t> </a:t>
            </a:r>
            <a:r>
              <a:rPr lang="en-US" kern="1200" spc="-18">
                <a:latin typeface="+mj-lt"/>
                <a:ea typeface="+mj-ea"/>
                <a:cs typeface="+mj-cs"/>
              </a:rPr>
              <a:t>SSH?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08F8837E-4583-1E0A-9BF7-F253FA1A13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6345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3129"/>
            <a:r>
              <a:rPr lang="en-US" kern="1200">
                <a:latin typeface="+mj-lt"/>
                <a:ea typeface="+mj-ea"/>
                <a:cs typeface="+mj-cs"/>
              </a:rPr>
              <a:t>Motivations</a:t>
            </a:r>
            <a:r>
              <a:rPr lang="en-US" kern="1200" spc="-73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of</a:t>
            </a:r>
            <a:r>
              <a:rPr lang="en-US" kern="1200" spc="-5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Designing</a:t>
            </a:r>
            <a:r>
              <a:rPr lang="en-US" kern="1200" spc="-77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the</a:t>
            </a:r>
            <a:r>
              <a:rPr lang="en-US" kern="1200" spc="-95">
                <a:latin typeface="+mj-lt"/>
                <a:ea typeface="+mj-ea"/>
                <a:cs typeface="+mj-cs"/>
              </a:rPr>
              <a:t> </a:t>
            </a:r>
            <a:r>
              <a:rPr lang="en-US" kern="1200" spc="-23">
                <a:latin typeface="+mj-lt"/>
                <a:ea typeface="+mj-ea"/>
                <a:cs typeface="+mj-cs"/>
              </a:rPr>
              <a:t>SSH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21306" algn="l"/>
              </a:tabLst>
            </a:pPr>
            <a:r>
              <a:rPr lang="en-US" sz="2000"/>
              <a:t>The</a:t>
            </a:r>
            <a:r>
              <a:rPr lang="en-US" sz="2000" spc="18"/>
              <a:t> </a:t>
            </a:r>
            <a:r>
              <a:rPr lang="en-US" sz="2000"/>
              <a:t>following</a:t>
            </a:r>
            <a:r>
              <a:rPr lang="en-US" sz="2000" spc="59"/>
              <a:t> </a:t>
            </a:r>
            <a:r>
              <a:rPr lang="en-US" sz="2000"/>
              <a:t>is</a:t>
            </a:r>
            <a:r>
              <a:rPr lang="en-US" sz="2000" spc="32"/>
              <a:t> </a:t>
            </a:r>
            <a:r>
              <a:rPr lang="en-US" sz="2000"/>
              <a:t>a</a:t>
            </a:r>
            <a:r>
              <a:rPr lang="en-US" sz="2000" spc="113"/>
              <a:t> </a:t>
            </a:r>
            <a:r>
              <a:rPr lang="en-US" sz="2000"/>
              <a:t>list</a:t>
            </a:r>
            <a:r>
              <a:rPr lang="en-US" sz="2000" spc="9"/>
              <a:t> </a:t>
            </a:r>
            <a:r>
              <a:rPr lang="en-US" sz="2000"/>
              <a:t>of</a:t>
            </a:r>
            <a:r>
              <a:rPr lang="en-US" sz="2000" spc="50"/>
              <a:t> </a:t>
            </a:r>
            <a:r>
              <a:rPr lang="en-US" sz="2000"/>
              <a:t>drawbacks</a:t>
            </a:r>
            <a:r>
              <a:rPr lang="en-US" sz="2000" spc="103"/>
              <a:t> </a:t>
            </a:r>
            <a:r>
              <a:rPr lang="en-US" sz="2000"/>
              <a:t>in</a:t>
            </a:r>
            <a:r>
              <a:rPr lang="en-US" sz="2000" spc="82"/>
              <a:t> </a:t>
            </a:r>
            <a:r>
              <a:rPr lang="en-US" sz="2000" spc="-18"/>
              <a:t>some </a:t>
            </a:r>
            <a:r>
              <a:rPr lang="en-US" sz="2000" i="1"/>
              <a:t>traditional</a:t>
            </a:r>
            <a:r>
              <a:rPr lang="en-US" sz="2000" i="1" spc="150"/>
              <a:t> </a:t>
            </a:r>
            <a:r>
              <a:rPr lang="en-US" sz="2000" spc="-9"/>
              <a:t>applications:</a:t>
            </a:r>
            <a:endParaRPr lang="en-US" sz="2000"/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83496" algn="l"/>
              </a:tabLst>
            </a:pPr>
            <a:r>
              <a:rPr lang="en-US" sz="2000"/>
              <a:t>Authentication</a:t>
            </a:r>
            <a:r>
              <a:rPr lang="en-US" sz="2000" spc="18"/>
              <a:t> </a:t>
            </a:r>
            <a:r>
              <a:rPr lang="en-US" sz="2000"/>
              <a:t>is</a:t>
            </a:r>
            <a:r>
              <a:rPr lang="en-US" sz="2000" spc="-23"/>
              <a:t> </a:t>
            </a:r>
            <a:r>
              <a:rPr lang="en-US" sz="2000"/>
              <a:t>based</a:t>
            </a:r>
            <a:r>
              <a:rPr lang="en-US" sz="2000" spc="-59"/>
              <a:t> </a:t>
            </a:r>
            <a:r>
              <a:rPr lang="en-US" sz="2000"/>
              <a:t>on</a:t>
            </a:r>
            <a:r>
              <a:rPr lang="en-US" sz="2000" spc="-41"/>
              <a:t> </a:t>
            </a:r>
            <a:r>
              <a:rPr lang="en-US" sz="2000"/>
              <a:t>IP</a:t>
            </a:r>
            <a:r>
              <a:rPr lang="en-US" sz="2000" spc="-36"/>
              <a:t> </a:t>
            </a:r>
            <a:r>
              <a:rPr lang="en-US" sz="2000" spc="-9"/>
              <a:t>address</a:t>
            </a:r>
            <a:endParaRPr lang="en-US" sz="2000"/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83496" algn="l"/>
              </a:tabLst>
            </a:pPr>
            <a:r>
              <a:rPr lang="en-US" sz="2000"/>
              <a:t>Authentication</a:t>
            </a:r>
            <a:r>
              <a:rPr lang="en-US" sz="2000" spc="5"/>
              <a:t> </a:t>
            </a:r>
            <a:r>
              <a:rPr lang="en-US" sz="2000"/>
              <a:t>is</a:t>
            </a:r>
            <a:r>
              <a:rPr lang="en-US" sz="2000" spc="-41"/>
              <a:t> </a:t>
            </a:r>
            <a:r>
              <a:rPr lang="en-US" sz="2000"/>
              <a:t>based</a:t>
            </a:r>
            <a:r>
              <a:rPr lang="en-US" sz="2000" spc="-77"/>
              <a:t> </a:t>
            </a:r>
            <a:r>
              <a:rPr lang="en-US" sz="2000"/>
              <a:t>on</a:t>
            </a:r>
            <a:r>
              <a:rPr lang="en-US" sz="2000" spc="-54"/>
              <a:t> </a:t>
            </a:r>
            <a:r>
              <a:rPr lang="en-US" sz="2000"/>
              <a:t>reusable</a:t>
            </a:r>
            <a:r>
              <a:rPr lang="en-US" sz="2000" spc="-45"/>
              <a:t> </a:t>
            </a:r>
            <a:r>
              <a:rPr lang="en-US" sz="2000" spc="-9"/>
              <a:t>password</a:t>
            </a:r>
            <a:endParaRPr lang="en-US" sz="2000"/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83496" algn="l"/>
              </a:tabLst>
            </a:pPr>
            <a:r>
              <a:rPr lang="en-US" sz="2000"/>
              <a:t>Data</a:t>
            </a:r>
            <a:r>
              <a:rPr lang="en-US" sz="2000" spc="-18"/>
              <a:t> </a:t>
            </a:r>
            <a:r>
              <a:rPr lang="en-US" sz="2000"/>
              <a:t>is</a:t>
            </a:r>
            <a:r>
              <a:rPr lang="en-US" sz="2000" spc="-27"/>
              <a:t> </a:t>
            </a:r>
            <a:r>
              <a:rPr lang="en-US" sz="2000"/>
              <a:t>transmitted</a:t>
            </a:r>
            <a:r>
              <a:rPr lang="en-US" sz="2000" spc="-63"/>
              <a:t> </a:t>
            </a:r>
            <a:r>
              <a:rPr lang="en-US" sz="2000"/>
              <a:t>in</a:t>
            </a:r>
            <a:r>
              <a:rPr lang="en-US" sz="2000" spc="18"/>
              <a:t> </a:t>
            </a:r>
            <a:r>
              <a:rPr lang="en-US" sz="2000"/>
              <a:t>clear</a:t>
            </a:r>
            <a:r>
              <a:rPr lang="en-US" sz="2000" spc="-9"/>
              <a:t> </a:t>
            </a:r>
            <a:r>
              <a:rPr lang="en-US" sz="2000" spc="-18"/>
              <a:t>text</a:t>
            </a:r>
            <a:endParaRPr lang="en-US" sz="2000"/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83496" algn="l"/>
              </a:tabLst>
            </a:pPr>
            <a:r>
              <a:rPr lang="en-US" sz="2000"/>
              <a:t>X</a:t>
            </a:r>
            <a:r>
              <a:rPr lang="en-US" sz="2000" spc="-54"/>
              <a:t> </a:t>
            </a:r>
            <a:r>
              <a:rPr lang="en-US" sz="2000"/>
              <a:t>protocol is</a:t>
            </a:r>
            <a:r>
              <a:rPr lang="en-US" sz="2000" spc="-32"/>
              <a:t> </a:t>
            </a:r>
            <a:r>
              <a:rPr lang="en-US" sz="2000"/>
              <a:t>vulnerable</a:t>
            </a:r>
            <a:r>
              <a:rPr lang="en-US" sz="2000" spc="-36"/>
              <a:t> </a:t>
            </a:r>
            <a:r>
              <a:rPr lang="en-US" sz="2000"/>
              <a:t>to</a:t>
            </a:r>
            <a:r>
              <a:rPr lang="en-US" sz="2000" spc="9"/>
              <a:t> </a:t>
            </a:r>
            <a:r>
              <a:rPr lang="en-US" sz="2000" spc="-9"/>
              <a:t>attack</a:t>
            </a:r>
            <a:endParaRPr lang="en-US" sz="2000"/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83496" algn="l"/>
              </a:tabLst>
            </a:pPr>
            <a:r>
              <a:rPr lang="en-US" sz="2000"/>
              <a:t>Intermediate</a:t>
            </a:r>
            <a:r>
              <a:rPr lang="en-US" sz="2000" spc="-54"/>
              <a:t> </a:t>
            </a:r>
            <a:r>
              <a:rPr lang="en-US" sz="2000"/>
              <a:t>hosts</a:t>
            </a:r>
            <a:r>
              <a:rPr lang="en-US" sz="2000" spc="-41"/>
              <a:t> </a:t>
            </a:r>
            <a:r>
              <a:rPr lang="en-US" sz="2000"/>
              <a:t>can hijack</a:t>
            </a:r>
            <a:r>
              <a:rPr lang="en-US" sz="2000" spc="-36"/>
              <a:t> </a:t>
            </a:r>
            <a:r>
              <a:rPr lang="en-US" sz="2000" spc="-9"/>
              <a:t>sessions</a:t>
            </a:r>
            <a:endParaRPr lang="en-US" sz="20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/>
              <a:t>For</a:t>
            </a:r>
            <a:r>
              <a:rPr lang="en-US" sz="2000" spc="-50"/>
              <a:t> </a:t>
            </a:r>
            <a:r>
              <a:rPr lang="en-US" sz="2000"/>
              <a:t>X</a:t>
            </a:r>
            <a:r>
              <a:rPr lang="en-US" sz="2000" spc="-41"/>
              <a:t> </a:t>
            </a:r>
            <a:r>
              <a:rPr lang="en-US" sz="2000"/>
              <a:t>protocol,</a:t>
            </a:r>
            <a:r>
              <a:rPr lang="en-US" sz="2000" spc="-14"/>
              <a:t> </a:t>
            </a:r>
            <a:r>
              <a:rPr lang="en-US" sz="2000"/>
              <a:t>see</a:t>
            </a:r>
            <a:r>
              <a:rPr lang="en-US" sz="2000" spc="-45"/>
              <a:t> </a:t>
            </a:r>
            <a:r>
              <a:rPr lang="en-US" sz="2000" spc="-9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http://en.wikipedia.org/wiki/X_Window_System</a:t>
            </a:r>
            <a:endParaRPr lang="en-US" sz="2000"/>
          </a:p>
        </p:txBody>
      </p:sp>
      <p:pic>
        <p:nvPicPr>
          <p:cNvPr id="1026" name="Picture 2" descr="X Window System Influenced Modern Computing">
            <a:extLst>
              <a:ext uri="{FF2B5EF4-FFF2-40B4-BE49-F238E27FC236}">
                <a16:creationId xmlns:a16="http://schemas.microsoft.com/office/drawing/2014/main" id="{F5E06600-D4F8-FF87-A210-217208537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461426"/>
            <a:r>
              <a:rPr lang="en-US" kern="1200">
                <a:latin typeface="+mj-lt"/>
                <a:ea typeface="+mj-ea"/>
                <a:cs typeface="+mj-cs"/>
              </a:rPr>
              <a:t>Applications</a:t>
            </a:r>
            <a:r>
              <a:rPr lang="en-US" kern="1200" spc="-73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of</a:t>
            </a:r>
            <a:r>
              <a:rPr lang="en-US" kern="1200" spc="-68">
                <a:latin typeface="+mj-lt"/>
                <a:ea typeface="+mj-ea"/>
                <a:cs typeface="+mj-cs"/>
              </a:rPr>
              <a:t> </a:t>
            </a:r>
            <a:r>
              <a:rPr lang="en-US" kern="1200" spc="-23">
                <a:latin typeface="+mj-lt"/>
                <a:ea typeface="+mj-ea"/>
                <a:cs typeface="+mj-cs"/>
              </a:rPr>
              <a:t>SSH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45454"/>
              <a:buFont typeface="Arial" panose="020B0604020202020204" pitchFamily="34" charset="0"/>
              <a:buChar char="•"/>
              <a:tabLst>
                <a:tab pos="305184" algn="l"/>
              </a:tabLst>
            </a:pPr>
            <a:r>
              <a:rPr lang="en-US" sz="2200" dirty="0"/>
              <a:t>Secure</a:t>
            </a:r>
            <a:r>
              <a:rPr lang="en-US" sz="2200" spc="32" dirty="0"/>
              <a:t> </a:t>
            </a:r>
            <a:r>
              <a:rPr lang="en-US" sz="2200" dirty="0"/>
              <a:t>remote</a:t>
            </a:r>
            <a:r>
              <a:rPr lang="en-US" sz="2200" spc="103" dirty="0"/>
              <a:t> </a:t>
            </a:r>
            <a:r>
              <a:rPr lang="en-US" sz="2200" dirty="0"/>
              <a:t>login</a:t>
            </a:r>
            <a:r>
              <a:rPr lang="en-US" sz="2200" spc="103" dirty="0"/>
              <a:t> </a:t>
            </a:r>
            <a:r>
              <a:rPr lang="en-US" sz="2200" dirty="0"/>
              <a:t>(ssh</a:t>
            </a:r>
            <a:r>
              <a:rPr lang="en-US" sz="2200" spc="23" dirty="0"/>
              <a:t> </a:t>
            </a:r>
            <a:r>
              <a:rPr lang="en-US" sz="2200" spc="-9" dirty="0"/>
              <a:t>client)</a:t>
            </a:r>
            <a:endParaRPr lang="en-US" sz="22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45454"/>
              <a:buFont typeface="Arial" panose="020B0604020202020204" pitchFamily="34" charset="0"/>
              <a:buChar char="•"/>
              <a:tabLst>
                <a:tab pos="305184" algn="l"/>
              </a:tabLst>
            </a:pPr>
            <a:r>
              <a:rPr lang="en-US" sz="2200" dirty="0"/>
              <a:t>Secure</a:t>
            </a:r>
            <a:r>
              <a:rPr lang="en-US" sz="2200" spc="41" dirty="0"/>
              <a:t> </a:t>
            </a:r>
            <a:r>
              <a:rPr lang="en-US" sz="2200" dirty="0"/>
              <a:t>remote</a:t>
            </a:r>
            <a:r>
              <a:rPr lang="en-US" sz="2200" spc="122" dirty="0"/>
              <a:t> </a:t>
            </a:r>
            <a:r>
              <a:rPr lang="en-US" sz="2200" dirty="0"/>
              <a:t>command</a:t>
            </a:r>
            <a:r>
              <a:rPr lang="en-US" sz="2200" spc="159" dirty="0"/>
              <a:t> </a:t>
            </a:r>
            <a:r>
              <a:rPr lang="en-US" sz="2200" spc="-9" dirty="0"/>
              <a:t>execution</a:t>
            </a:r>
            <a:endParaRPr lang="en-US" sz="2200" dirty="0"/>
          </a:p>
          <a:p>
            <a:pPr marL="228600" marR="1728606" indent="-228600">
              <a:lnSpc>
                <a:spcPct val="90000"/>
              </a:lnSpc>
              <a:spcBef>
                <a:spcPts val="1000"/>
              </a:spcBef>
              <a:buSzPct val="45454"/>
              <a:buFont typeface="Arial" panose="020B0604020202020204" pitchFamily="34" charset="0"/>
              <a:buChar char="•"/>
              <a:tabLst>
                <a:tab pos="305184" algn="l"/>
              </a:tabLst>
            </a:pPr>
            <a:r>
              <a:rPr lang="en-US" sz="2200" dirty="0"/>
              <a:t>Secure</a:t>
            </a:r>
            <a:r>
              <a:rPr lang="en-US" sz="2200" spc="45" dirty="0"/>
              <a:t> </a:t>
            </a:r>
            <a:r>
              <a:rPr lang="en-US" sz="2200" dirty="0"/>
              <a:t>file</a:t>
            </a:r>
            <a:r>
              <a:rPr lang="en-US" sz="2200" spc="113" dirty="0"/>
              <a:t> </a:t>
            </a:r>
            <a:r>
              <a:rPr lang="en-US" sz="2200" dirty="0"/>
              <a:t>transfer</a:t>
            </a:r>
            <a:r>
              <a:rPr lang="en-US" sz="2200" spc="82" dirty="0"/>
              <a:t> </a:t>
            </a:r>
            <a:r>
              <a:rPr lang="en-US" sz="2200" dirty="0"/>
              <a:t>and</a:t>
            </a:r>
            <a:r>
              <a:rPr lang="en-US" sz="2200" spc="77" dirty="0"/>
              <a:t> </a:t>
            </a:r>
            <a:r>
              <a:rPr lang="en-US" sz="2200" spc="-9" dirty="0"/>
              <a:t>backup (</a:t>
            </a:r>
            <a:r>
              <a:rPr lang="en-US" sz="2200" spc="-9"/>
              <a:t>sftp/rsync/scp)</a:t>
            </a:r>
            <a:endParaRPr lang="en-US" sz="2200" dirty="0"/>
          </a:p>
          <a:p>
            <a:pPr marL="228600" marR="4607" indent="-228600">
              <a:lnSpc>
                <a:spcPct val="90000"/>
              </a:lnSpc>
              <a:spcBef>
                <a:spcPts val="1000"/>
              </a:spcBef>
              <a:buSzPct val="45454"/>
              <a:buFont typeface="Arial" panose="020B0604020202020204" pitchFamily="34" charset="0"/>
              <a:buChar char="•"/>
              <a:tabLst>
                <a:tab pos="305184" algn="l"/>
              </a:tabLst>
            </a:pPr>
            <a:r>
              <a:rPr lang="en-US" sz="2200" dirty="0"/>
              <a:t>Public-private</a:t>
            </a:r>
            <a:r>
              <a:rPr lang="en-US" sz="2200" spc="127" dirty="0"/>
              <a:t> </a:t>
            </a:r>
            <a:r>
              <a:rPr lang="en-US" sz="2200" dirty="0"/>
              <a:t>key</a:t>
            </a:r>
            <a:r>
              <a:rPr lang="en-US" sz="2200" spc="59" dirty="0"/>
              <a:t> </a:t>
            </a:r>
            <a:r>
              <a:rPr lang="en-US" sz="2200" dirty="0"/>
              <a:t>pair</a:t>
            </a:r>
            <a:r>
              <a:rPr lang="en-US" sz="2200" spc="95" dirty="0"/>
              <a:t> </a:t>
            </a:r>
            <a:r>
              <a:rPr lang="en-US" sz="2200" dirty="0"/>
              <a:t>generation</a:t>
            </a:r>
            <a:r>
              <a:rPr lang="en-US" sz="2200" spc="54" dirty="0"/>
              <a:t> </a:t>
            </a:r>
            <a:r>
              <a:rPr lang="en-US" sz="2200" dirty="0"/>
              <a:t>for</a:t>
            </a:r>
            <a:r>
              <a:rPr lang="en-US" sz="2200" spc="91" dirty="0"/>
              <a:t> </a:t>
            </a:r>
            <a:r>
              <a:rPr lang="en-US" sz="2200" spc="-23" dirty="0"/>
              <a:t>you </a:t>
            </a:r>
            <a:r>
              <a:rPr lang="en-US" sz="2200" dirty="0"/>
              <a:t>and</a:t>
            </a:r>
            <a:r>
              <a:rPr lang="en-US" sz="2200" spc="45" dirty="0"/>
              <a:t> </a:t>
            </a:r>
            <a:r>
              <a:rPr lang="en-US" sz="2200" dirty="0"/>
              <a:t>an</a:t>
            </a:r>
            <a:r>
              <a:rPr lang="en-US" sz="2200" spc="73" dirty="0"/>
              <a:t> </a:t>
            </a:r>
            <a:r>
              <a:rPr lang="en-US" sz="2200" dirty="0"/>
              <a:t>agent</a:t>
            </a:r>
            <a:r>
              <a:rPr lang="en-US" sz="2200" spc="5" dirty="0"/>
              <a:t> </a:t>
            </a:r>
            <a:r>
              <a:rPr lang="en-US" sz="2200" dirty="0"/>
              <a:t>for</a:t>
            </a:r>
            <a:r>
              <a:rPr lang="en-US" sz="2200" spc="54" dirty="0"/>
              <a:t> </a:t>
            </a:r>
            <a:r>
              <a:rPr lang="en-US" sz="2200" dirty="0"/>
              <a:t>taking</a:t>
            </a:r>
            <a:r>
              <a:rPr lang="en-US" sz="2200" spc="59" dirty="0"/>
              <a:t> </a:t>
            </a:r>
            <a:r>
              <a:rPr lang="en-US" sz="2200" dirty="0"/>
              <a:t>care</a:t>
            </a:r>
            <a:r>
              <a:rPr lang="en-US" sz="2200" spc="18" dirty="0"/>
              <a:t> </a:t>
            </a:r>
            <a:r>
              <a:rPr lang="en-US" sz="2200" dirty="0"/>
              <a:t>of</a:t>
            </a:r>
            <a:r>
              <a:rPr lang="en-US" sz="2200" spc="45" dirty="0"/>
              <a:t> </a:t>
            </a:r>
            <a:r>
              <a:rPr lang="en-US" sz="2200" dirty="0"/>
              <a:t>your</a:t>
            </a:r>
            <a:r>
              <a:rPr lang="en-US" sz="2200" spc="113" dirty="0"/>
              <a:t> </a:t>
            </a:r>
            <a:r>
              <a:rPr lang="en-US" sz="2200" spc="-9" dirty="0"/>
              <a:t>public-</a:t>
            </a:r>
            <a:endParaRPr lang="en-US" sz="22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private</a:t>
            </a:r>
            <a:r>
              <a:rPr lang="en-US" sz="2200" spc="77" dirty="0"/>
              <a:t> </a:t>
            </a:r>
            <a:r>
              <a:rPr lang="en-US" sz="2200" dirty="0"/>
              <a:t>key</a:t>
            </a:r>
            <a:r>
              <a:rPr lang="en-US" sz="2200" spc="18" dirty="0"/>
              <a:t> </a:t>
            </a:r>
            <a:r>
              <a:rPr lang="en-US" sz="2200" spc="-18" dirty="0"/>
              <a:t>pair</a:t>
            </a:r>
            <a:endParaRPr lang="en-US" sz="2200" dirty="0"/>
          </a:p>
          <a:p>
            <a:pPr marL="228600" marR="988680" indent="-228600">
              <a:lnSpc>
                <a:spcPct val="90000"/>
              </a:lnSpc>
              <a:spcBef>
                <a:spcPts val="1000"/>
              </a:spcBef>
              <a:buSzPct val="45454"/>
              <a:buFont typeface="Arial" panose="020B0604020202020204" pitchFamily="34" charset="0"/>
              <a:buChar char="•"/>
              <a:tabLst>
                <a:tab pos="305184" algn="l"/>
              </a:tabLst>
            </a:pPr>
            <a:r>
              <a:rPr lang="en-US" sz="2200" dirty="0"/>
              <a:t>Port</a:t>
            </a:r>
            <a:r>
              <a:rPr lang="en-US" sz="2200" spc="103" dirty="0"/>
              <a:t> </a:t>
            </a:r>
            <a:r>
              <a:rPr lang="en-US" sz="2200" dirty="0"/>
              <a:t>forwarding</a:t>
            </a:r>
            <a:r>
              <a:rPr lang="en-US" sz="2200" spc="86" dirty="0"/>
              <a:t> </a:t>
            </a:r>
            <a:r>
              <a:rPr lang="en-US" sz="2200" dirty="0"/>
              <a:t>and</a:t>
            </a:r>
            <a:r>
              <a:rPr lang="en-US" sz="2200" spc="77" dirty="0"/>
              <a:t> </a:t>
            </a:r>
            <a:r>
              <a:rPr lang="en-US" sz="2200" dirty="0"/>
              <a:t>tunnelling</a:t>
            </a:r>
            <a:r>
              <a:rPr lang="en-US" sz="2200" spc="86" dirty="0"/>
              <a:t> </a:t>
            </a:r>
            <a:r>
              <a:rPr lang="en-US" sz="2200" spc="-18" dirty="0"/>
              <a:t>(x11 </a:t>
            </a:r>
            <a:r>
              <a:rPr lang="en-US" sz="2200" dirty="0"/>
              <a:t>forwarding</a:t>
            </a:r>
            <a:r>
              <a:rPr lang="en-US" sz="2200" spc="91" dirty="0"/>
              <a:t> </a:t>
            </a:r>
            <a:r>
              <a:rPr lang="en-US" sz="2200" dirty="0"/>
              <a:t>and</a:t>
            </a:r>
            <a:r>
              <a:rPr lang="en-US" sz="2200" spc="82" dirty="0"/>
              <a:t> </a:t>
            </a:r>
            <a:r>
              <a:rPr lang="en-US" sz="2200" dirty="0"/>
              <a:t>tunnelling</a:t>
            </a:r>
            <a:r>
              <a:rPr lang="en-US" sz="2200" spc="91" dirty="0"/>
              <a:t> </a:t>
            </a:r>
            <a:r>
              <a:rPr lang="en-US" sz="2200" dirty="0"/>
              <a:t>using</a:t>
            </a:r>
            <a:r>
              <a:rPr lang="en-US" sz="2200" spc="86" dirty="0"/>
              <a:t> </a:t>
            </a:r>
            <a:r>
              <a:rPr lang="en-US" sz="2200" spc="-18" dirty="0"/>
              <a:t>SSH)</a:t>
            </a:r>
            <a:endParaRPr lang="en-US" sz="2200" dirty="0"/>
          </a:p>
        </p:txBody>
      </p:sp>
      <p:pic>
        <p:nvPicPr>
          <p:cNvPr id="2050" name="Picture 2" descr="Introduction to SSH (Secure Shell) | by Aqeel Abbas | Medium">
            <a:extLst>
              <a:ext uri="{FF2B5EF4-FFF2-40B4-BE49-F238E27FC236}">
                <a16:creationId xmlns:a16="http://schemas.microsoft.com/office/drawing/2014/main" id="{60136BB8-8709-87D6-5824-6C433E02F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4" r="16452" b="-1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2148953">
              <a:lnSpc>
                <a:spcPct val="100000"/>
              </a:lnSpc>
              <a:spcBef>
                <a:spcPts val="95"/>
              </a:spcBef>
            </a:pPr>
            <a:r>
              <a:rPr dirty="0"/>
              <a:t>Brief</a:t>
            </a:r>
            <a:r>
              <a:rPr spc="-36" dirty="0"/>
              <a:t> </a:t>
            </a:r>
            <a:r>
              <a:rPr spc="-9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5491" y="2774415"/>
            <a:ext cx="7051474" cy="3418037"/>
          </a:xfrm>
          <a:prstGeom prst="rect">
            <a:avLst/>
          </a:prstGeom>
        </p:spPr>
        <p:txBody>
          <a:bodyPr vert="horz" wrap="square" lIns="0" tIns="23608" rIns="0" bIns="0" rtlCol="0">
            <a:spAutoFit/>
          </a:bodyPr>
          <a:lstStyle/>
          <a:p>
            <a:pPr marL="321306" marR="4607" indent="-310366">
              <a:lnSpc>
                <a:spcPct val="97600"/>
              </a:lnSpc>
              <a:spcBef>
                <a:spcPts val="185"/>
              </a:spcBef>
              <a:buChar char="•"/>
              <a:tabLst>
                <a:tab pos="321306" algn="l"/>
              </a:tabLst>
            </a:pPr>
            <a:r>
              <a:rPr sz="2358" dirty="0">
                <a:cs typeface="Comic Sans MS"/>
              </a:rPr>
              <a:t>Tatu</a:t>
            </a:r>
            <a:r>
              <a:rPr sz="2358" spc="-14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Ylönen,</a:t>
            </a:r>
            <a:r>
              <a:rPr sz="2358" spc="-45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a</a:t>
            </a:r>
            <a:r>
              <a:rPr sz="2358" spc="-54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researcher</a:t>
            </a:r>
            <a:r>
              <a:rPr sz="2358" spc="-50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at</a:t>
            </a:r>
            <a:r>
              <a:rPr sz="2358" spc="-27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Helsinki</a:t>
            </a:r>
            <a:r>
              <a:rPr sz="2358" spc="-50" dirty="0">
                <a:cs typeface="Comic Sans MS"/>
              </a:rPr>
              <a:t> </a:t>
            </a:r>
            <a:r>
              <a:rPr sz="2358" spc="-9" dirty="0">
                <a:cs typeface="Comic Sans MS"/>
              </a:rPr>
              <a:t>University </a:t>
            </a:r>
            <a:r>
              <a:rPr sz="2358" dirty="0">
                <a:cs typeface="Comic Sans MS"/>
              </a:rPr>
              <a:t>of</a:t>
            </a:r>
            <a:r>
              <a:rPr sz="2358" spc="-50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Technology,</a:t>
            </a:r>
            <a:r>
              <a:rPr sz="2358" spc="-41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Finland,</a:t>
            </a:r>
            <a:r>
              <a:rPr sz="2358" spc="-41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developed</a:t>
            </a:r>
            <a:r>
              <a:rPr sz="2358" spc="-95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the</a:t>
            </a:r>
            <a:r>
              <a:rPr sz="2358" spc="-5" dirty="0">
                <a:cs typeface="Comic Sans MS"/>
              </a:rPr>
              <a:t> </a:t>
            </a:r>
            <a:r>
              <a:rPr sz="2358" spc="-9" dirty="0">
                <a:cs typeface="Comic Sans MS"/>
              </a:rPr>
              <a:t>first </a:t>
            </a:r>
            <a:r>
              <a:rPr sz="2358" dirty="0">
                <a:cs typeface="Comic Sans MS"/>
              </a:rPr>
              <a:t>version</a:t>
            </a:r>
            <a:r>
              <a:rPr sz="2358" spc="-9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of</a:t>
            </a:r>
            <a:r>
              <a:rPr sz="2358" spc="-32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SSH</a:t>
            </a:r>
            <a:r>
              <a:rPr sz="2358" spc="-45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in</a:t>
            </a:r>
            <a:r>
              <a:rPr sz="2358" spc="-5" dirty="0">
                <a:cs typeface="Comic Sans MS"/>
              </a:rPr>
              <a:t> </a:t>
            </a:r>
            <a:r>
              <a:rPr sz="2358" spc="-9" dirty="0">
                <a:cs typeface="Comic Sans MS"/>
              </a:rPr>
              <a:t>1995.</a:t>
            </a:r>
            <a:endParaRPr sz="2358" dirty="0">
              <a:cs typeface="Comic Sans MS"/>
            </a:endParaRPr>
          </a:p>
          <a:p>
            <a:pPr marL="321306" marR="332823" indent="-310366">
              <a:lnSpc>
                <a:spcPts val="2793"/>
              </a:lnSpc>
              <a:spcBef>
                <a:spcPts val="562"/>
              </a:spcBef>
              <a:buChar char="•"/>
              <a:tabLst>
                <a:tab pos="321306" algn="l"/>
              </a:tabLst>
            </a:pPr>
            <a:r>
              <a:rPr sz="2358" dirty="0">
                <a:cs typeface="Comic Sans MS"/>
              </a:rPr>
              <a:t>Very</a:t>
            </a:r>
            <a:r>
              <a:rPr sz="2358" spc="-59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popular,</a:t>
            </a:r>
            <a:r>
              <a:rPr sz="2358" spc="-18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20K</a:t>
            </a:r>
            <a:r>
              <a:rPr sz="2358" spc="-63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users</a:t>
            </a:r>
            <a:r>
              <a:rPr sz="2358" spc="-45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in</a:t>
            </a:r>
            <a:r>
              <a:rPr sz="2358" spc="-59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50 countries</a:t>
            </a:r>
            <a:r>
              <a:rPr sz="2358" spc="23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in </a:t>
            </a:r>
            <a:r>
              <a:rPr sz="2358" spc="-23" dirty="0">
                <a:cs typeface="Comic Sans MS"/>
              </a:rPr>
              <a:t>the </a:t>
            </a:r>
            <a:r>
              <a:rPr sz="2358" dirty="0">
                <a:cs typeface="Comic Sans MS"/>
              </a:rPr>
              <a:t>first</a:t>
            </a:r>
            <a:r>
              <a:rPr sz="2358" spc="-86" dirty="0">
                <a:cs typeface="Comic Sans MS"/>
              </a:rPr>
              <a:t> </a:t>
            </a:r>
            <a:r>
              <a:rPr sz="2358" spc="-18" dirty="0">
                <a:cs typeface="Comic Sans MS"/>
              </a:rPr>
              <a:t>year.</a:t>
            </a:r>
            <a:endParaRPr sz="2358" dirty="0">
              <a:cs typeface="Comic Sans MS"/>
            </a:endParaRPr>
          </a:p>
          <a:p>
            <a:pPr marL="321306" marR="55853" indent="-310366">
              <a:lnSpc>
                <a:spcPct val="97500"/>
              </a:lnSpc>
              <a:spcBef>
                <a:spcPts val="426"/>
              </a:spcBef>
              <a:buChar char="•"/>
              <a:tabLst>
                <a:tab pos="321306" algn="l"/>
              </a:tabLst>
            </a:pPr>
            <a:r>
              <a:rPr sz="2358" dirty="0">
                <a:cs typeface="Comic Sans MS"/>
              </a:rPr>
              <a:t>Ylönen</a:t>
            </a:r>
            <a:r>
              <a:rPr sz="2358" spc="-63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found</a:t>
            </a:r>
            <a:r>
              <a:rPr sz="2358" spc="-18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the</a:t>
            </a:r>
            <a:r>
              <a:rPr sz="2358" spc="14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SSH</a:t>
            </a:r>
            <a:r>
              <a:rPr sz="2358" spc="-36" dirty="0">
                <a:cs typeface="Comic Sans MS"/>
              </a:rPr>
              <a:t> </a:t>
            </a:r>
            <a:r>
              <a:rPr sz="2358" spc="-9" dirty="0">
                <a:cs typeface="Comic Sans MS"/>
              </a:rPr>
              <a:t>Communications</a:t>
            </a:r>
            <a:r>
              <a:rPr sz="2358" spc="-45" dirty="0">
                <a:cs typeface="Comic Sans MS"/>
              </a:rPr>
              <a:t> </a:t>
            </a:r>
            <a:r>
              <a:rPr sz="2358" spc="-9" dirty="0">
                <a:cs typeface="Comic Sans MS"/>
              </a:rPr>
              <a:t>Security </a:t>
            </a:r>
            <a:r>
              <a:rPr sz="1632" u="sng" dirty="0">
                <a:uFill>
                  <a:solidFill>
                    <a:srgbClr val="000000"/>
                  </a:solidFill>
                </a:uFill>
                <a:cs typeface="Comic Sans MS"/>
              </a:rPr>
              <a:t>(</a:t>
            </a:r>
            <a:r>
              <a:rPr sz="1632" u="sng" dirty="0">
                <a:uFill>
                  <a:solidFill>
                    <a:srgbClr val="000000"/>
                  </a:solidFill>
                </a:uFill>
                <a:cs typeface="Comic Sans MS"/>
                <a:hlinkClick r:id="rId2"/>
              </a:rPr>
              <a:t>www.ssh.com)</a:t>
            </a:r>
            <a:r>
              <a:rPr sz="1632" spc="185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to</a:t>
            </a:r>
            <a:r>
              <a:rPr sz="2358" spc="-45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maintain,</a:t>
            </a:r>
            <a:r>
              <a:rPr sz="2358" spc="-63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develop</a:t>
            </a:r>
            <a:r>
              <a:rPr sz="2358" spc="-63" dirty="0">
                <a:cs typeface="Comic Sans MS"/>
              </a:rPr>
              <a:t> </a:t>
            </a:r>
            <a:r>
              <a:rPr sz="2358" spc="-23" dirty="0">
                <a:cs typeface="Comic Sans MS"/>
              </a:rPr>
              <a:t>and </a:t>
            </a:r>
            <a:r>
              <a:rPr sz="2358" dirty="0">
                <a:cs typeface="Comic Sans MS"/>
              </a:rPr>
              <a:t>commercialize</a:t>
            </a:r>
            <a:r>
              <a:rPr sz="2358" spc="-73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SSH,</a:t>
            </a:r>
            <a:r>
              <a:rPr sz="2358" spc="-41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in</a:t>
            </a:r>
            <a:r>
              <a:rPr sz="2358" spc="-18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Dec.</a:t>
            </a:r>
            <a:r>
              <a:rPr sz="2358" spc="-45" dirty="0">
                <a:cs typeface="Comic Sans MS"/>
              </a:rPr>
              <a:t> </a:t>
            </a:r>
            <a:r>
              <a:rPr sz="2358" spc="-9" dirty="0">
                <a:cs typeface="Comic Sans MS"/>
              </a:rPr>
              <a:t>1995.</a:t>
            </a:r>
            <a:endParaRPr sz="2358" dirty="0">
              <a:cs typeface="Comic Sans MS"/>
            </a:endParaRPr>
          </a:p>
          <a:p>
            <a:pPr marL="321306" indent="-309790">
              <a:spcBef>
                <a:spcPts val="444"/>
              </a:spcBef>
              <a:buChar char="•"/>
              <a:tabLst>
                <a:tab pos="321306" algn="l"/>
              </a:tabLst>
            </a:pPr>
            <a:r>
              <a:rPr sz="2358" dirty="0">
                <a:cs typeface="Comic Sans MS"/>
              </a:rPr>
              <a:t>SSH2</a:t>
            </a:r>
            <a:r>
              <a:rPr sz="2358" spc="-68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was</a:t>
            </a:r>
            <a:r>
              <a:rPr sz="2358" spc="18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released</a:t>
            </a:r>
            <a:r>
              <a:rPr sz="2358" spc="-14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in</a:t>
            </a:r>
            <a:r>
              <a:rPr sz="2358" spc="-68" dirty="0">
                <a:cs typeface="Comic Sans MS"/>
              </a:rPr>
              <a:t> </a:t>
            </a:r>
            <a:r>
              <a:rPr sz="2358" spc="-9" dirty="0">
                <a:cs typeface="Comic Sans MS"/>
              </a:rPr>
              <a:t>1998.</a:t>
            </a:r>
            <a:endParaRPr sz="2358" dirty="0"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9859" y="1080489"/>
            <a:ext cx="1269680" cy="1071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1395783"/>
            <a:r>
              <a:rPr lang="en-US" kern="1200">
                <a:latin typeface="+mj-lt"/>
                <a:ea typeface="+mj-ea"/>
                <a:cs typeface="+mj-cs"/>
              </a:rPr>
              <a:t>Brief</a:t>
            </a:r>
            <a:r>
              <a:rPr lang="en-US" kern="1200" spc="-63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History</a:t>
            </a:r>
            <a:r>
              <a:rPr lang="en-US" kern="1200" spc="-14">
                <a:latin typeface="+mj-lt"/>
                <a:ea typeface="+mj-ea"/>
                <a:cs typeface="+mj-cs"/>
              </a:rPr>
              <a:t> </a:t>
            </a:r>
            <a:r>
              <a:rPr lang="en-US" kern="1200" spc="-9">
                <a:latin typeface="+mj-lt"/>
                <a:ea typeface="+mj-ea"/>
                <a:cs typeface="+mj-cs"/>
              </a:rPr>
              <a:t>(cont.)</a:t>
            </a:r>
          </a:p>
        </p:txBody>
      </p:sp>
      <p:sp>
        <p:nvSpPr>
          <p:cNvPr id="11" name="object 3"/>
          <p:cNvSpPr txBox="1"/>
          <p:nvPr/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46153"/>
              <a:buFont typeface="Arial" panose="020B0604020202020204" pitchFamily="34" charset="0"/>
              <a:buChar char="•"/>
              <a:tabLst>
                <a:tab pos="544148" algn="l"/>
              </a:tabLst>
            </a:pPr>
            <a:r>
              <a:rPr lang="en-US" sz="2200"/>
              <a:t>1999,</a:t>
            </a:r>
            <a:r>
              <a:rPr lang="en-US" sz="2200" spc="-32"/>
              <a:t> </a:t>
            </a:r>
            <a:r>
              <a:rPr lang="en-US" sz="2200"/>
              <a:t>Björn</a:t>
            </a:r>
            <a:r>
              <a:rPr lang="en-US" sz="2200" spc="-68"/>
              <a:t> </a:t>
            </a:r>
            <a:r>
              <a:rPr lang="en-US" sz="2200"/>
              <a:t>Grönvall</a:t>
            </a:r>
            <a:r>
              <a:rPr lang="en-US" sz="2200" spc="-18"/>
              <a:t> </a:t>
            </a:r>
            <a:r>
              <a:rPr lang="en-US" sz="2200"/>
              <a:t>developed</a:t>
            </a:r>
            <a:r>
              <a:rPr lang="en-US" sz="2200" spc="-23"/>
              <a:t> </a:t>
            </a:r>
            <a:r>
              <a:rPr lang="en-US" sz="2200"/>
              <a:t>the</a:t>
            </a:r>
            <a:r>
              <a:rPr lang="en-US" sz="2200" spc="-59"/>
              <a:t> </a:t>
            </a:r>
            <a:r>
              <a:rPr lang="en-US" sz="2200" spc="-9"/>
              <a:t>OSSH.</a:t>
            </a:r>
            <a:endParaRPr lang="en-US" sz="22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46153"/>
              <a:buFont typeface="Arial" panose="020B0604020202020204" pitchFamily="34" charset="0"/>
              <a:buChar char="•"/>
              <a:tabLst>
                <a:tab pos="544148" algn="l"/>
              </a:tabLst>
            </a:pPr>
            <a:r>
              <a:rPr lang="en-US" sz="2200"/>
              <a:t>“OpenBSD”</a:t>
            </a:r>
            <a:r>
              <a:rPr lang="en-US" sz="2200" spc="-73"/>
              <a:t> </a:t>
            </a:r>
            <a:r>
              <a:rPr lang="en-US" sz="2200"/>
              <a:t>then</a:t>
            </a:r>
            <a:r>
              <a:rPr lang="en-US" sz="2200" spc="-41"/>
              <a:t> </a:t>
            </a:r>
            <a:r>
              <a:rPr lang="en-US" sz="2200"/>
              <a:t>extended</a:t>
            </a:r>
            <a:r>
              <a:rPr lang="en-US" sz="2200" spc="-50"/>
              <a:t> </a:t>
            </a:r>
            <a:r>
              <a:rPr lang="en-US" sz="2200"/>
              <a:t>Grönvall's</a:t>
            </a:r>
            <a:r>
              <a:rPr lang="en-US" sz="2200" spc="-77"/>
              <a:t> </a:t>
            </a:r>
            <a:r>
              <a:rPr lang="en-US" sz="2200" spc="-9"/>
              <a:t>work,and</a:t>
            </a:r>
            <a:endParaRPr lang="en-US" sz="22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launched</a:t>
            </a:r>
            <a:r>
              <a:rPr lang="en-US" sz="2200" spc="-18"/>
              <a:t> </a:t>
            </a:r>
            <a:r>
              <a:rPr lang="en-US" sz="2200"/>
              <a:t>the</a:t>
            </a:r>
            <a:r>
              <a:rPr lang="en-US" sz="2200" spc="-54"/>
              <a:t> </a:t>
            </a:r>
            <a:r>
              <a:rPr lang="en-US" sz="2200"/>
              <a:t>OpenSSH</a:t>
            </a:r>
            <a:r>
              <a:rPr lang="en-US" sz="2200" spc="-36"/>
              <a:t> </a:t>
            </a:r>
            <a:r>
              <a:rPr lang="en-US" sz="2200"/>
              <a:t>project </a:t>
            </a:r>
            <a:r>
              <a:rPr lang="en-US" sz="2200" spc="-9"/>
              <a:t>(</a:t>
            </a:r>
            <a:r>
              <a:rPr lang="en-US" sz="2200" u="sng" spc="-9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www.openssh.org</a:t>
            </a:r>
            <a:r>
              <a:rPr lang="en-US" sz="2200" spc="-9"/>
              <a:t>),</a:t>
            </a:r>
            <a:endParaRPr lang="en-US" sz="2200"/>
          </a:p>
          <a:p>
            <a:pPr marL="228600" marR="1307107" indent="-228600">
              <a:lnSpc>
                <a:spcPct val="90000"/>
              </a:lnSpc>
              <a:spcBef>
                <a:spcPts val="1000"/>
              </a:spcBef>
              <a:buSzPct val="46153"/>
              <a:buFont typeface="Arial" panose="020B0604020202020204" pitchFamily="34" charset="0"/>
              <a:buChar char="•"/>
              <a:tabLst>
                <a:tab pos="544724" algn="l"/>
              </a:tabLst>
            </a:pPr>
            <a:r>
              <a:rPr lang="en-US" sz="2200"/>
              <a:t>OpenSSH</a:t>
            </a:r>
            <a:r>
              <a:rPr lang="en-US" sz="2200" spc="-45"/>
              <a:t> </a:t>
            </a:r>
            <a:r>
              <a:rPr lang="en-US" sz="2200"/>
              <a:t>was</a:t>
            </a:r>
            <a:r>
              <a:rPr lang="en-US" sz="2200" spc="-54"/>
              <a:t> </a:t>
            </a:r>
            <a:r>
              <a:rPr lang="en-US" sz="2200"/>
              <a:t>ported</a:t>
            </a:r>
            <a:r>
              <a:rPr lang="en-US" sz="2200" spc="-23"/>
              <a:t> </a:t>
            </a:r>
            <a:r>
              <a:rPr lang="en-US" sz="2200"/>
              <a:t>to</a:t>
            </a:r>
            <a:r>
              <a:rPr lang="en-US" sz="2200" spc="-18"/>
              <a:t> </a:t>
            </a:r>
            <a:r>
              <a:rPr lang="en-US" sz="2200"/>
              <a:t>Linux,</a:t>
            </a:r>
            <a:r>
              <a:rPr lang="en-US" sz="2200" spc="-36"/>
              <a:t> </a:t>
            </a:r>
            <a:r>
              <a:rPr lang="en-US" sz="2200"/>
              <a:t>Solaris,</a:t>
            </a:r>
            <a:r>
              <a:rPr lang="en-US" sz="2200" spc="-36"/>
              <a:t> </a:t>
            </a:r>
            <a:r>
              <a:rPr lang="en-US" sz="2200" spc="-18"/>
              <a:t>AIX, </a:t>
            </a:r>
            <a:r>
              <a:rPr lang="en-US" sz="2200"/>
              <a:t>Mac</a:t>
            </a:r>
            <a:r>
              <a:rPr lang="en-US" sz="2200" spc="-32"/>
              <a:t> </a:t>
            </a:r>
            <a:r>
              <a:rPr lang="en-US" sz="2200"/>
              <a:t>OS</a:t>
            </a:r>
            <a:r>
              <a:rPr lang="en-US" sz="2200" spc="-50"/>
              <a:t> </a:t>
            </a:r>
            <a:r>
              <a:rPr lang="en-US" sz="2200"/>
              <a:t>X,</a:t>
            </a:r>
            <a:r>
              <a:rPr lang="en-US" sz="2200" spc="-9"/>
              <a:t> </a:t>
            </a:r>
            <a:r>
              <a:rPr lang="en-US" sz="2200"/>
              <a:t>Windows</a:t>
            </a:r>
            <a:r>
              <a:rPr lang="en-US" sz="2200" spc="-36"/>
              <a:t> </a:t>
            </a:r>
            <a:r>
              <a:rPr lang="en-US" sz="2200"/>
              <a:t>(cygwin)</a:t>
            </a:r>
            <a:r>
              <a:rPr lang="en-US" sz="2200" spc="-23"/>
              <a:t> </a:t>
            </a:r>
            <a:r>
              <a:rPr lang="en-US" sz="2200"/>
              <a:t>and</a:t>
            </a:r>
            <a:r>
              <a:rPr lang="en-US" sz="2200" spc="-68"/>
              <a:t> </a:t>
            </a:r>
            <a:r>
              <a:rPr lang="en-US" sz="2200" spc="-18"/>
              <a:t>etc.</a:t>
            </a:r>
            <a:endParaRPr lang="en-US" sz="2200"/>
          </a:p>
          <a:p>
            <a:pPr marL="228600" marR="864303" indent="-228600">
              <a:lnSpc>
                <a:spcPct val="90000"/>
              </a:lnSpc>
              <a:spcBef>
                <a:spcPts val="1000"/>
              </a:spcBef>
              <a:buSzPct val="46153"/>
              <a:buFont typeface="Arial" panose="020B0604020202020204" pitchFamily="34" charset="0"/>
              <a:buChar char="•"/>
              <a:tabLst>
                <a:tab pos="544724" algn="l"/>
              </a:tabLst>
            </a:pPr>
            <a:r>
              <a:rPr lang="en-US" sz="2200"/>
              <a:t>Currently,</a:t>
            </a:r>
            <a:r>
              <a:rPr lang="en-US" sz="2200" spc="-27"/>
              <a:t> </a:t>
            </a:r>
            <a:r>
              <a:rPr lang="en-US" sz="2200"/>
              <a:t>OpenSSH</a:t>
            </a:r>
            <a:r>
              <a:rPr lang="en-US" sz="2200" spc="-32"/>
              <a:t> </a:t>
            </a:r>
            <a:r>
              <a:rPr lang="en-US" sz="2200"/>
              <a:t>is</a:t>
            </a:r>
            <a:r>
              <a:rPr lang="en-US" sz="2200" spc="-50"/>
              <a:t> </a:t>
            </a:r>
            <a:r>
              <a:rPr lang="en-US" sz="2200"/>
              <a:t>the</a:t>
            </a:r>
            <a:r>
              <a:rPr lang="en-US" sz="2200" spc="-54"/>
              <a:t> </a:t>
            </a:r>
            <a:r>
              <a:rPr lang="en-US" sz="2200"/>
              <a:t>single</a:t>
            </a:r>
            <a:r>
              <a:rPr lang="en-US" sz="2200" spc="9"/>
              <a:t> </a:t>
            </a:r>
            <a:r>
              <a:rPr lang="en-US" sz="2200"/>
              <a:t>most</a:t>
            </a:r>
            <a:r>
              <a:rPr lang="en-US" sz="2200" spc="-82"/>
              <a:t> </a:t>
            </a:r>
            <a:r>
              <a:rPr lang="en-US" sz="2200" spc="-9"/>
              <a:t>popular </a:t>
            </a:r>
            <a:r>
              <a:rPr lang="en-US" sz="2200"/>
              <a:t>SSH</a:t>
            </a:r>
            <a:r>
              <a:rPr lang="en-US" sz="2200" spc="-54"/>
              <a:t> </a:t>
            </a:r>
            <a:r>
              <a:rPr lang="en-US" sz="2200"/>
              <a:t>implementation</a:t>
            </a:r>
            <a:r>
              <a:rPr lang="en-US" sz="2200" spc="-82"/>
              <a:t> </a:t>
            </a:r>
            <a:r>
              <a:rPr lang="en-US" sz="2200"/>
              <a:t>in</a:t>
            </a:r>
            <a:r>
              <a:rPr lang="en-US" sz="2200" spc="-18"/>
              <a:t> </a:t>
            </a:r>
            <a:r>
              <a:rPr lang="en-US" sz="2200"/>
              <a:t>most</a:t>
            </a:r>
            <a:r>
              <a:rPr lang="en-US" sz="2200" spc="-95"/>
              <a:t> </a:t>
            </a:r>
            <a:r>
              <a:rPr lang="en-US" sz="2200"/>
              <a:t>operating</a:t>
            </a:r>
            <a:r>
              <a:rPr lang="en-US" sz="2200" spc="-36"/>
              <a:t> </a:t>
            </a:r>
            <a:r>
              <a:rPr lang="en-US" sz="2200" spc="-9"/>
              <a:t>systems.</a:t>
            </a:r>
            <a:endParaRPr lang="en-US" sz="22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Remark:</a:t>
            </a:r>
            <a:r>
              <a:rPr lang="en-US" sz="2200" spc="168"/>
              <a:t> </a:t>
            </a:r>
            <a:r>
              <a:rPr lang="en-US" sz="2200"/>
              <a:t>The</a:t>
            </a:r>
            <a:r>
              <a:rPr lang="en-US" sz="2200" spc="150"/>
              <a:t> </a:t>
            </a:r>
            <a:r>
              <a:rPr lang="en-US" sz="2200"/>
              <a:t>OpenBSD</a:t>
            </a:r>
            <a:r>
              <a:rPr lang="en-US" sz="2200" spc="177"/>
              <a:t> </a:t>
            </a:r>
            <a:r>
              <a:rPr lang="en-US" sz="2200"/>
              <a:t>project</a:t>
            </a:r>
            <a:r>
              <a:rPr lang="en-US" sz="2200" spc="118"/>
              <a:t> </a:t>
            </a:r>
            <a:r>
              <a:rPr lang="en-US" sz="2200"/>
              <a:t>produces</a:t>
            </a:r>
            <a:r>
              <a:rPr lang="en-US" sz="2200" spc="82"/>
              <a:t> </a:t>
            </a:r>
            <a:r>
              <a:rPr lang="en-US" sz="2200"/>
              <a:t>a</a:t>
            </a:r>
            <a:r>
              <a:rPr lang="en-US" sz="2200" spc="204"/>
              <a:t> </a:t>
            </a:r>
            <a:r>
              <a:rPr lang="en-US" sz="2200" b="1"/>
              <a:t>FREE</a:t>
            </a:r>
            <a:r>
              <a:rPr lang="en-US" sz="2200"/>
              <a:t>,</a:t>
            </a:r>
            <a:r>
              <a:rPr lang="en-US" sz="2200" spc="127"/>
              <a:t> </a:t>
            </a:r>
            <a:r>
              <a:rPr lang="en-US" sz="2200"/>
              <a:t>multi-platform</a:t>
            </a:r>
            <a:r>
              <a:rPr lang="en-US" sz="2200" spc="163"/>
              <a:t> </a:t>
            </a:r>
            <a:r>
              <a:rPr lang="en-US" sz="2200"/>
              <a:t>UNIX-like</a:t>
            </a:r>
            <a:r>
              <a:rPr lang="en-US" sz="2200" spc="150"/>
              <a:t> </a:t>
            </a:r>
            <a:r>
              <a:rPr lang="en-US" sz="2200"/>
              <a:t>operating</a:t>
            </a:r>
            <a:r>
              <a:rPr lang="en-US" sz="2200" spc="181"/>
              <a:t> </a:t>
            </a:r>
            <a:r>
              <a:rPr lang="en-US" sz="2200" spc="-9"/>
              <a:t>system.</a:t>
            </a:r>
            <a:endParaRPr lang="en-US" sz="220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C7063C7-8EE8-837C-3276-94F2D680A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0" tIns="267756" rIns="0" bIns="0" rtlCol="0" anchor="ctr">
            <a:normAutofit/>
          </a:bodyPr>
          <a:lstStyle/>
          <a:p>
            <a:pPr marL="1318623">
              <a:spcBef>
                <a:spcPts val="95"/>
              </a:spcBef>
            </a:pPr>
            <a:r>
              <a:rPr lang="en-US"/>
              <a:t>SSH</a:t>
            </a:r>
            <a:r>
              <a:rPr lang="en-US" spc="-54"/>
              <a:t> </a:t>
            </a:r>
            <a:r>
              <a:rPr lang="en-US" spc="-9"/>
              <a:t>Implementations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029869"/>
              </p:ext>
            </p:extLst>
          </p:nvPr>
        </p:nvGraphicFramePr>
        <p:xfrm>
          <a:off x="1073790" y="1825625"/>
          <a:ext cx="10044423" cy="43513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1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85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9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868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2400" spc="-20">
                          <a:latin typeface="Comic Sans MS"/>
                          <a:cs typeface="Comic Sans MS"/>
                        </a:rPr>
                        <a:t>Name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31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20">
                          <a:solidFill>
                            <a:srgbClr val="008000"/>
                          </a:solidFill>
                          <a:latin typeface="Microsoft Sans Serif"/>
                          <a:cs typeface="Microsoft Sans Serif"/>
                        </a:rPr>
                        <a:t>UNIX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25">
                          <a:solidFill>
                            <a:srgbClr val="008000"/>
                          </a:solidFill>
                          <a:latin typeface="Microsoft Sans Serif"/>
                          <a:cs typeface="Microsoft Sans Serif"/>
                        </a:rPr>
                        <a:t>WIN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25">
                          <a:solidFill>
                            <a:srgbClr val="008000"/>
                          </a:solidFill>
                          <a:latin typeface="Microsoft Sans Serif"/>
                          <a:cs typeface="Microsoft Sans Serif"/>
                        </a:rPr>
                        <a:t>MAC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80">
                          <a:solidFill>
                            <a:srgbClr val="008000"/>
                          </a:solidFill>
                          <a:latin typeface="Microsoft Sans Serif"/>
                          <a:cs typeface="Microsoft Sans Serif"/>
                        </a:rPr>
                        <a:t>Clients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10">
                          <a:solidFill>
                            <a:srgbClr val="008000"/>
                          </a:solidFill>
                          <a:latin typeface="Microsoft Sans Serif"/>
                          <a:cs typeface="Microsoft Sans Serif"/>
                        </a:rPr>
                        <a:t>Server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20">
                          <a:solidFill>
                            <a:srgbClr val="008000"/>
                          </a:solidFill>
                          <a:latin typeface="Microsoft Sans Serif"/>
                          <a:cs typeface="Microsoft Sans Serif"/>
                        </a:rPr>
                        <a:t>FREE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229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24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SSH.COM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3073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68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24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OpenSSH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31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229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24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F-</a:t>
                      </a:r>
                      <a:r>
                        <a:rPr lang="en-US" sz="2400" spc="-2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Secure</a:t>
                      </a:r>
                      <a:r>
                        <a:rPr lang="en-US" sz="2400" spc="-125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2400" spc="-25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SSH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3073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868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24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PuTTY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31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7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562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21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SecureCRT,</a:t>
                      </a:r>
                      <a:r>
                        <a:rPr lang="en-US" sz="2100" spc="-135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21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SecureFX</a:t>
                      </a:r>
                      <a:endParaRPr lang="en-US" sz="2100">
                        <a:latin typeface="Comic Sans MS"/>
                        <a:cs typeface="Comic Sans MS"/>
                      </a:endParaRPr>
                    </a:p>
                  </a:txBody>
                  <a:tcPr marL="0" marR="0" marT="31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036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24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VShell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435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196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196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229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24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TeraTerm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3073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229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24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MindTerm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3073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229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2400" spc="-1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MacSSH</a:t>
                      </a:r>
                      <a:endParaRPr lang="en-US" sz="2400">
                        <a:latin typeface="Comic Sans MS"/>
                        <a:cs typeface="Comic Sans MS"/>
                      </a:endParaRPr>
                    </a:p>
                  </a:txBody>
                  <a:tcPr marL="0" marR="0" marT="3073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US" sz="2100" spc="-50">
                          <a:solidFill>
                            <a:srgbClr val="FF0000"/>
                          </a:solidFill>
                          <a:latin typeface="Microsoft Sans Serif"/>
                          <a:cs typeface="Microsoft Sans Serif"/>
                        </a:rPr>
                        <a:t>X</a:t>
                      </a:r>
                      <a:endParaRPr lang="en-US"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1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22845"/>
            <a:r>
              <a:rPr lang="en-US" kern="1200">
                <a:latin typeface="+mj-lt"/>
                <a:ea typeface="+mj-ea"/>
                <a:cs typeface="+mj-cs"/>
              </a:rPr>
              <a:t>IPSec</a:t>
            </a:r>
            <a:r>
              <a:rPr lang="en-US" kern="1200" spc="-36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&amp;</a:t>
            </a:r>
            <a:r>
              <a:rPr lang="en-US" kern="1200" spc="-23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SSL</a:t>
            </a:r>
            <a:r>
              <a:rPr lang="en-US" kern="1200" spc="-23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vs.</a:t>
            </a:r>
            <a:r>
              <a:rPr lang="en-US" kern="1200" spc="18">
                <a:latin typeface="+mj-lt"/>
                <a:ea typeface="+mj-ea"/>
                <a:cs typeface="+mj-cs"/>
              </a:rPr>
              <a:t> </a:t>
            </a:r>
            <a:r>
              <a:rPr lang="en-US" kern="1200" spc="-23">
                <a:latin typeface="+mj-lt"/>
                <a:ea typeface="+mj-ea"/>
                <a:cs typeface="+mj-cs"/>
              </a:rPr>
              <a:t>SSH</a:t>
            </a:r>
          </a:p>
        </p:txBody>
      </p:sp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D02ED45F-AC0E-21A7-109E-4F24ACCCFE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0033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1534555">
              <a:lnSpc>
                <a:spcPct val="100000"/>
              </a:lnSpc>
              <a:spcBef>
                <a:spcPts val="95"/>
              </a:spcBef>
            </a:pPr>
            <a:r>
              <a:rPr dirty="0"/>
              <a:t>SSH</a:t>
            </a:r>
            <a:r>
              <a:rPr spc="-36" dirty="0"/>
              <a:t> </a:t>
            </a:r>
            <a:r>
              <a:rPr spc="-9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2179" y="1285226"/>
            <a:ext cx="7589290" cy="4825601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 marL="321306" indent="-309790">
              <a:spcBef>
                <a:spcPts val="118"/>
              </a:spcBef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SSH protocol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is</a:t>
            </a:r>
            <a:r>
              <a:rPr sz="2494" spc="2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based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on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</a:t>
            </a:r>
            <a:r>
              <a:rPr sz="2494" spc="82" dirty="0">
                <a:cs typeface="Comic Sans MS"/>
              </a:rPr>
              <a:t> </a:t>
            </a:r>
            <a:r>
              <a:rPr sz="2494" i="1" spc="-9" dirty="0">
                <a:cs typeface="Comic Sans MS"/>
              </a:rPr>
              <a:t>client/server</a:t>
            </a:r>
            <a:endParaRPr sz="2494" dirty="0">
              <a:cs typeface="Comic Sans MS"/>
            </a:endParaRPr>
          </a:p>
          <a:p>
            <a:pPr marL="321306">
              <a:spcBef>
                <a:spcPts val="5"/>
              </a:spcBef>
            </a:pPr>
            <a:r>
              <a:rPr sz="2494" spc="-9" dirty="0">
                <a:cs typeface="Comic Sans MS"/>
              </a:rPr>
              <a:t>architecture</a:t>
            </a:r>
            <a:endParaRPr sz="2494" dirty="0">
              <a:cs typeface="Comic Sans MS"/>
            </a:endParaRPr>
          </a:p>
          <a:p>
            <a:pPr marL="684072" marR="4607" lvl="1" indent="-258542">
              <a:lnSpc>
                <a:spcPts val="2521"/>
              </a:lnSpc>
              <a:spcBef>
                <a:spcPts val="621"/>
              </a:spcBef>
              <a:buChar char="–"/>
              <a:tabLst>
                <a:tab pos="684072" algn="l"/>
              </a:tabLst>
            </a:pPr>
            <a:r>
              <a:rPr sz="2176" dirty="0">
                <a:cs typeface="Comic Sans MS"/>
              </a:rPr>
              <a:t>A</a:t>
            </a:r>
            <a:r>
              <a:rPr sz="2176" spc="-4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ssh</a:t>
            </a:r>
            <a:r>
              <a:rPr sz="2176" spc="-50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server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running</a:t>
            </a:r>
            <a:r>
              <a:rPr sz="2176" spc="-2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on</a:t>
            </a:r>
            <a:r>
              <a:rPr sz="2176" spc="-6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the</a:t>
            </a:r>
            <a:r>
              <a:rPr sz="2176" spc="-5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server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side</a:t>
            </a:r>
            <a:r>
              <a:rPr sz="2176" spc="-5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is</a:t>
            </a:r>
            <a:r>
              <a:rPr sz="2176" spc="-5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listening</a:t>
            </a:r>
            <a:r>
              <a:rPr sz="2176" spc="-18" dirty="0">
                <a:cs typeface="Comic Sans MS"/>
              </a:rPr>
              <a:t> </a:t>
            </a:r>
            <a:r>
              <a:rPr sz="2176" spc="-23" dirty="0">
                <a:cs typeface="Comic Sans MS"/>
              </a:rPr>
              <a:t>on </a:t>
            </a:r>
            <a:r>
              <a:rPr sz="2176" dirty="0">
                <a:cs typeface="Comic Sans MS"/>
              </a:rPr>
              <a:t>the</a:t>
            </a:r>
            <a:r>
              <a:rPr sz="2176" spc="-36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22</a:t>
            </a:r>
            <a:r>
              <a:rPr sz="2176" spc="-36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TCP</a:t>
            </a:r>
            <a:r>
              <a:rPr sz="2176" spc="-4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port</a:t>
            </a:r>
            <a:r>
              <a:rPr sz="2176" spc="-68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for</a:t>
            </a:r>
            <a:r>
              <a:rPr sz="2176" spc="-2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incoming</a:t>
            </a:r>
            <a:r>
              <a:rPr sz="2176" spc="-63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connection</a:t>
            </a:r>
            <a:endParaRPr sz="2176" dirty="0">
              <a:cs typeface="Comic Sans MS"/>
            </a:endParaRPr>
          </a:p>
          <a:p>
            <a:pPr marL="201536" marR="2516900">
              <a:lnSpc>
                <a:spcPct val="118300"/>
              </a:lnSpc>
              <a:spcBef>
                <a:spcPts val="27"/>
              </a:spcBef>
              <a:tabLst>
                <a:tab pos="2237053" algn="l"/>
                <a:tab pos="3051260" algn="l"/>
              </a:tabLst>
            </a:pPr>
            <a:r>
              <a:rPr sz="1632" spc="-9" dirty="0">
                <a:solidFill>
                  <a:srgbClr val="B80046"/>
                </a:solidFill>
                <a:cs typeface="Calibri"/>
              </a:rPr>
              <a:t>joseph@hlt029:~&gt;</a:t>
            </a:r>
            <a:r>
              <a:rPr sz="1632" spc="-32" dirty="0">
                <a:solidFill>
                  <a:srgbClr val="B80046"/>
                </a:solidFill>
                <a:cs typeface="Calibri"/>
              </a:rPr>
              <a:t> </a:t>
            </a:r>
            <a:r>
              <a:rPr sz="1632" dirty="0">
                <a:solidFill>
                  <a:srgbClr val="B80046"/>
                </a:solidFill>
                <a:cs typeface="Calibri"/>
              </a:rPr>
              <a:t>sudo</a:t>
            </a:r>
            <a:r>
              <a:rPr sz="1632" spc="-14" dirty="0">
                <a:solidFill>
                  <a:srgbClr val="B80046"/>
                </a:solidFill>
                <a:cs typeface="Calibri"/>
              </a:rPr>
              <a:t> </a:t>
            </a:r>
            <a:r>
              <a:rPr sz="1632" spc="-9" dirty="0">
                <a:solidFill>
                  <a:srgbClr val="B80046"/>
                </a:solidFill>
                <a:cs typeface="Calibri"/>
              </a:rPr>
              <a:t>netstat</a:t>
            </a:r>
            <a:r>
              <a:rPr sz="1632" spc="5" dirty="0">
                <a:solidFill>
                  <a:srgbClr val="B80046"/>
                </a:solidFill>
                <a:cs typeface="Calibri"/>
              </a:rPr>
              <a:t> </a:t>
            </a:r>
            <a:r>
              <a:rPr sz="1632" spc="-27" dirty="0">
                <a:solidFill>
                  <a:srgbClr val="B80046"/>
                </a:solidFill>
                <a:cs typeface="Calibri"/>
              </a:rPr>
              <a:t>-</a:t>
            </a:r>
            <a:r>
              <a:rPr sz="1632" dirty="0">
                <a:solidFill>
                  <a:srgbClr val="B80046"/>
                </a:solidFill>
                <a:cs typeface="Calibri"/>
              </a:rPr>
              <a:t>-tcp</a:t>
            </a:r>
            <a:r>
              <a:rPr sz="1632" spc="-14" dirty="0">
                <a:solidFill>
                  <a:srgbClr val="B80046"/>
                </a:solidFill>
                <a:cs typeface="Calibri"/>
              </a:rPr>
              <a:t> </a:t>
            </a:r>
            <a:r>
              <a:rPr sz="1632" spc="-23" dirty="0">
                <a:solidFill>
                  <a:srgbClr val="B80046"/>
                </a:solidFill>
                <a:cs typeface="Calibri"/>
              </a:rPr>
              <a:t>-</a:t>
            </a:r>
            <a:r>
              <a:rPr sz="1632" dirty="0">
                <a:solidFill>
                  <a:srgbClr val="B80046"/>
                </a:solidFill>
                <a:cs typeface="Calibri"/>
              </a:rPr>
              <a:t>-listening</a:t>
            </a:r>
            <a:r>
              <a:rPr sz="1632" spc="-18" dirty="0">
                <a:solidFill>
                  <a:srgbClr val="B80046"/>
                </a:solidFill>
                <a:cs typeface="Calibri"/>
              </a:rPr>
              <a:t> </a:t>
            </a:r>
            <a:r>
              <a:rPr sz="1632" spc="-27" dirty="0">
                <a:solidFill>
                  <a:srgbClr val="B80046"/>
                </a:solidFill>
                <a:cs typeface="Calibri"/>
              </a:rPr>
              <a:t>-</a:t>
            </a:r>
            <a:r>
              <a:rPr sz="1632" dirty="0">
                <a:solidFill>
                  <a:srgbClr val="B80046"/>
                </a:solidFill>
                <a:cs typeface="Calibri"/>
              </a:rPr>
              <a:t>-</a:t>
            </a:r>
            <a:r>
              <a:rPr sz="1632" spc="-9" dirty="0">
                <a:solidFill>
                  <a:srgbClr val="B80046"/>
                </a:solidFill>
                <a:cs typeface="Calibri"/>
              </a:rPr>
              <a:t>program </a:t>
            </a:r>
            <a:r>
              <a:rPr sz="1632" dirty="0">
                <a:solidFill>
                  <a:srgbClr val="800000"/>
                </a:solidFill>
                <a:cs typeface="Calibri"/>
              </a:rPr>
              <a:t>tcp6</a:t>
            </a:r>
            <a:r>
              <a:rPr sz="1632" spc="363" dirty="0">
                <a:solidFill>
                  <a:srgbClr val="800000"/>
                </a:solidFill>
                <a:cs typeface="Calibri"/>
              </a:rPr>
              <a:t> </a:t>
            </a:r>
            <a:r>
              <a:rPr sz="1632" dirty="0">
                <a:solidFill>
                  <a:srgbClr val="800000"/>
                </a:solidFill>
                <a:cs typeface="Calibri"/>
              </a:rPr>
              <a:t>0</a:t>
            </a:r>
            <a:r>
              <a:rPr sz="1632" spc="363" dirty="0">
                <a:solidFill>
                  <a:srgbClr val="800000"/>
                </a:solidFill>
                <a:cs typeface="Calibri"/>
              </a:rPr>
              <a:t> </a:t>
            </a:r>
            <a:r>
              <a:rPr sz="1632" dirty="0">
                <a:solidFill>
                  <a:srgbClr val="800000"/>
                </a:solidFill>
                <a:cs typeface="Calibri"/>
              </a:rPr>
              <a:t>0</a:t>
            </a:r>
            <a:r>
              <a:rPr sz="1632" spc="18" dirty="0">
                <a:solidFill>
                  <a:srgbClr val="800000"/>
                </a:solidFill>
                <a:cs typeface="Calibri"/>
              </a:rPr>
              <a:t> </a:t>
            </a:r>
            <a:r>
              <a:rPr sz="1632" dirty="0">
                <a:solidFill>
                  <a:srgbClr val="800000"/>
                </a:solidFill>
                <a:cs typeface="Calibri"/>
              </a:rPr>
              <a:t>*:ssh</a:t>
            </a:r>
            <a:r>
              <a:rPr sz="1632" spc="-9" dirty="0">
                <a:solidFill>
                  <a:srgbClr val="800000"/>
                </a:solidFill>
                <a:cs typeface="Calibri"/>
              </a:rPr>
              <a:t> </a:t>
            </a:r>
            <a:r>
              <a:rPr sz="1632" spc="-23" dirty="0">
                <a:solidFill>
                  <a:srgbClr val="800000"/>
                </a:solidFill>
                <a:cs typeface="Calibri"/>
              </a:rPr>
              <a:t>*:*</a:t>
            </a:r>
            <a:r>
              <a:rPr sz="1632" dirty="0">
                <a:solidFill>
                  <a:srgbClr val="800000"/>
                </a:solidFill>
                <a:cs typeface="Calibri"/>
              </a:rPr>
              <a:t>	</a:t>
            </a:r>
            <a:r>
              <a:rPr sz="1632" spc="-9" dirty="0">
                <a:solidFill>
                  <a:srgbClr val="800000"/>
                </a:solidFill>
                <a:cs typeface="Calibri"/>
              </a:rPr>
              <a:t>LISTEN</a:t>
            </a:r>
            <a:r>
              <a:rPr sz="1632" dirty="0">
                <a:solidFill>
                  <a:srgbClr val="800000"/>
                </a:solidFill>
                <a:cs typeface="Calibri"/>
              </a:rPr>
              <a:t>	</a:t>
            </a:r>
            <a:r>
              <a:rPr sz="1632" spc="-9" dirty="0">
                <a:solidFill>
                  <a:srgbClr val="800000"/>
                </a:solidFill>
                <a:cs typeface="Calibri"/>
              </a:rPr>
              <a:t>3075/sshd</a:t>
            </a:r>
            <a:endParaRPr sz="1632" dirty="0">
              <a:cs typeface="Calibri"/>
            </a:endParaRPr>
          </a:p>
          <a:p>
            <a:pPr>
              <a:spcBef>
                <a:spcPts val="1537"/>
              </a:spcBef>
            </a:pPr>
            <a:endParaRPr sz="1632" dirty="0">
              <a:cs typeface="Calibri"/>
            </a:endParaRPr>
          </a:p>
          <a:p>
            <a:pPr marL="684072" marR="322458" lvl="1" indent="-258542">
              <a:lnSpc>
                <a:spcPts val="2584"/>
              </a:lnSpc>
              <a:spcBef>
                <a:spcPts val="5"/>
              </a:spcBef>
              <a:buChar char="–"/>
              <a:tabLst>
                <a:tab pos="684072" algn="l"/>
              </a:tabLst>
            </a:pPr>
            <a:r>
              <a:rPr sz="2176" dirty="0">
                <a:cs typeface="Comic Sans MS"/>
              </a:rPr>
              <a:t>A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client</a:t>
            </a:r>
            <a:r>
              <a:rPr sz="2176" spc="-1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who wants</a:t>
            </a:r>
            <a:r>
              <a:rPr sz="2176" spc="-50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to</a:t>
            </a:r>
            <a:r>
              <a:rPr sz="2176" spc="-59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connect</a:t>
            </a:r>
            <a:r>
              <a:rPr sz="2176" spc="-7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to a</a:t>
            </a:r>
            <a:r>
              <a:rPr sz="2176" spc="-36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remote</a:t>
            </a:r>
            <a:r>
              <a:rPr sz="2176" spc="-4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host</a:t>
            </a:r>
            <a:r>
              <a:rPr sz="2176" spc="-73" dirty="0">
                <a:cs typeface="Comic Sans MS"/>
              </a:rPr>
              <a:t> </a:t>
            </a:r>
            <a:r>
              <a:rPr sz="2176" spc="-18" dirty="0">
                <a:cs typeface="Comic Sans MS"/>
              </a:rPr>
              <a:t>will </a:t>
            </a:r>
            <a:r>
              <a:rPr sz="2176" dirty="0">
                <a:cs typeface="Comic Sans MS"/>
              </a:rPr>
              <a:t>execute</a:t>
            </a:r>
            <a:r>
              <a:rPr sz="2176" spc="-50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the</a:t>
            </a:r>
            <a:r>
              <a:rPr sz="2176" spc="-5" dirty="0">
                <a:cs typeface="Comic Sans MS"/>
              </a:rPr>
              <a:t> </a:t>
            </a:r>
            <a:r>
              <a:rPr sz="2176" i="1" dirty="0">
                <a:cs typeface="Comic Sans MS"/>
              </a:rPr>
              <a:t>ssh</a:t>
            </a:r>
            <a:r>
              <a:rPr sz="2176" i="1" spc="-45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command</a:t>
            </a:r>
            <a:endParaRPr sz="2176" dirty="0">
              <a:cs typeface="Comic Sans MS"/>
            </a:endParaRPr>
          </a:p>
          <a:p>
            <a:pPr marL="201536">
              <a:spcBef>
                <a:spcPts val="308"/>
              </a:spcBef>
            </a:pPr>
            <a:r>
              <a:rPr sz="1632" spc="-9" dirty="0">
                <a:solidFill>
                  <a:srgbClr val="B80046"/>
                </a:solidFill>
                <a:cs typeface="Calibri"/>
              </a:rPr>
              <a:t>joseph@PeT43:~&gt; </a:t>
            </a:r>
            <a:r>
              <a:rPr sz="1632" dirty="0">
                <a:solidFill>
                  <a:srgbClr val="B80046"/>
                </a:solidFill>
                <a:cs typeface="Calibri"/>
              </a:rPr>
              <a:t>ssh</a:t>
            </a:r>
            <a:r>
              <a:rPr sz="1632" spc="9" dirty="0">
                <a:solidFill>
                  <a:srgbClr val="B80046"/>
                </a:solidFill>
                <a:cs typeface="Calibri"/>
              </a:rPr>
              <a:t> </a:t>
            </a:r>
            <a:r>
              <a:rPr sz="1632" spc="-9" dirty="0">
                <a:solidFill>
                  <a:srgbClr val="B80046"/>
                </a:solidFill>
                <a:cs typeface="Calibri"/>
              </a:rPr>
              <a:t>hlt029</a:t>
            </a:r>
            <a:endParaRPr sz="1632" dirty="0">
              <a:cs typeface="Calibri"/>
            </a:endParaRPr>
          </a:p>
          <a:p>
            <a:pPr>
              <a:spcBef>
                <a:spcPts val="1709"/>
              </a:spcBef>
            </a:pPr>
            <a:endParaRPr sz="1632" dirty="0">
              <a:cs typeface="Calibri"/>
            </a:endParaRPr>
          </a:p>
          <a:p>
            <a:pPr marL="92131"/>
            <a:r>
              <a:rPr sz="1632" dirty="0">
                <a:cs typeface="Comic Sans MS"/>
              </a:rPr>
              <a:t>Remark:</a:t>
            </a:r>
            <a:r>
              <a:rPr sz="1632" spc="-68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Port</a:t>
            </a:r>
            <a:r>
              <a:rPr sz="1632" spc="-68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22/TCP,UDP:</a:t>
            </a:r>
            <a:r>
              <a:rPr sz="1632" spc="5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for</a:t>
            </a:r>
            <a:r>
              <a:rPr sz="1632" spc="18" dirty="0">
                <a:cs typeface="Comic Sans MS"/>
              </a:rPr>
              <a:t> </a:t>
            </a:r>
            <a:r>
              <a:rPr sz="1632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cs typeface="Comic Sans MS"/>
                <a:hlinkClick r:id="rId2"/>
              </a:rPr>
              <a:t>SSH</a:t>
            </a:r>
            <a:r>
              <a:rPr sz="1632" spc="-5" dirty="0">
                <a:solidFill>
                  <a:srgbClr val="CCCCFF"/>
                </a:solidFill>
                <a:cs typeface="Comic Sans MS"/>
              </a:rPr>
              <a:t> </a:t>
            </a:r>
            <a:r>
              <a:rPr sz="1632" dirty="0">
                <a:cs typeface="Comic Sans MS"/>
              </a:rPr>
              <a:t>(Secure</a:t>
            </a:r>
            <a:r>
              <a:rPr sz="1632" spc="-59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Shell)</a:t>
            </a:r>
            <a:r>
              <a:rPr sz="1632" spc="-18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-</a:t>
            </a:r>
            <a:r>
              <a:rPr sz="1632" spc="-36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used</a:t>
            </a:r>
            <a:r>
              <a:rPr sz="1632" spc="9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for</a:t>
            </a:r>
            <a:r>
              <a:rPr sz="1632" spc="-18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secure</a:t>
            </a:r>
            <a:r>
              <a:rPr sz="1632" spc="9" dirty="0">
                <a:cs typeface="Comic Sans MS"/>
              </a:rPr>
              <a:t> </a:t>
            </a:r>
            <a:r>
              <a:rPr sz="1632" spc="-9" dirty="0">
                <a:cs typeface="Comic Sans MS"/>
              </a:rPr>
              <a:t>logins,</a:t>
            </a:r>
            <a:endParaRPr sz="1632" dirty="0">
              <a:cs typeface="Comic Sans MS"/>
            </a:endParaRPr>
          </a:p>
          <a:p>
            <a:pPr marL="959313">
              <a:spcBef>
                <a:spcPts val="494"/>
              </a:spcBef>
            </a:pPr>
            <a:r>
              <a:rPr sz="1632" dirty="0">
                <a:cs typeface="Comic Sans MS"/>
              </a:rPr>
              <a:t>file</a:t>
            </a:r>
            <a:r>
              <a:rPr sz="1632" spc="5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transfers</a:t>
            </a:r>
            <a:r>
              <a:rPr sz="1632" spc="-27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(</a:t>
            </a:r>
            <a:r>
              <a:rPr sz="1632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cs typeface="Comic Sans MS"/>
                <a:hlinkClick r:id="rId3"/>
              </a:rPr>
              <a:t>scp</a:t>
            </a:r>
            <a:r>
              <a:rPr sz="1632" dirty="0">
                <a:cs typeface="Comic Sans MS"/>
              </a:rPr>
              <a:t>,</a:t>
            </a:r>
            <a:r>
              <a:rPr sz="1632" spc="-32" dirty="0">
                <a:cs typeface="Comic Sans MS"/>
              </a:rPr>
              <a:t> </a:t>
            </a:r>
            <a:r>
              <a:rPr sz="1632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cs typeface="Comic Sans MS"/>
                <a:hlinkClick r:id="rId4"/>
              </a:rPr>
              <a:t>sftp</a:t>
            </a:r>
            <a:r>
              <a:rPr sz="1632" dirty="0">
                <a:cs typeface="Comic Sans MS"/>
              </a:rPr>
              <a:t>)</a:t>
            </a:r>
            <a:r>
              <a:rPr sz="1632" spc="-36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and</a:t>
            </a:r>
            <a:r>
              <a:rPr sz="1632" spc="-54" dirty="0">
                <a:cs typeface="Comic Sans MS"/>
              </a:rPr>
              <a:t> </a:t>
            </a:r>
            <a:r>
              <a:rPr sz="1632" dirty="0">
                <a:cs typeface="Comic Sans MS"/>
              </a:rPr>
              <a:t>port </a:t>
            </a:r>
            <a:r>
              <a:rPr sz="1632" spc="-9" dirty="0">
                <a:cs typeface="Comic Sans MS"/>
              </a:rPr>
              <a:t>forwarding</a:t>
            </a:r>
            <a:endParaRPr sz="1632" dirty="0">
              <a:cs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22180" y="1216993"/>
            <a:ext cx="7495431" cy="4464574"/>
          </a:xfrm>
          <a:prstGeom prst="rect">
            <a:avLst/>
          </a:prstGeom>
        </p:spPr>
        <p:txBody>
          <a:bodyPr vert="horz" wrap="square" lIns="0" tIns="61613" rIns="0" bIns="0" rtlCol="0">
            <a:spAutoFit/>
          </a:bodyPr>
          <a:lstStyle/>
          <a:p>
            <a:pPr marL="321306" marR="279272" indent="-310366">
              <a:lnSpc>
                <a:spcPts val="2657"/>
              </a:lnSpc>
              <a:spcBef>
                <a:spcPts val="485"/>
              </a:spcBef>
            </a:pPr>
            <a:r>
              <a:rPr sz="2494" dirty="0">
                <a:cs typeface="Comic Sans MS"/>
              </a:rPr>
              <a:t>SSH-2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Protocol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has</a:t>
            </a:r>
            <a:r>
              <a:rPr sz="2494" spc="10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2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following</a:t>
            </a:r>
            <a:r>
              <a:rPr sz="2494" spc="5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three</a:t>
            </a:r>
            <a:r>
              <a:rPr sz="2494" spc="91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building </a:t>
            </a:r>
            <a:r>
              <a:rPr sz="2494" dirty="0">
                <a:cs typeface="Comic Sans MS"/>
              </a:rPr>
              <a:t>blocks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(RFC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4251,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29</a:t>
            </a:r>
            <a:r>
              <a:rPr sz="2494" spc="68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pages)</a:t>
            </a:r>
            <a:r>
              <a:rPr sz="1814" spc="-9" dirty="0">
                <a:cs typeface="Comic Sans MS"/>
              </a:rPr>
              <a:t>:</a:t>
            </a:r>
            <a:endParaRPr sz="1814" dirty="0">
              <a:cs typeface="Comic Sans MS"/>
            </a:endParaRPr>
          </a:p>
          <a:p>
            <a:pPr marL="684072" indent="-257966">
              <a:spcBef>
                <a:spcPts val="159"/>
              </a:spcBef>
              <a:buClr>
                <a:srgbClr val="000000"/>
              </a:buClr>
              <a:buChar char="–"/>
              <a:tabLst>
                <a:tab pos="684072" algn="l"/>
              </a:tabLst>
            </a:pPr>
            <a:r>
              <a:rPr sz="2176" dirty="0">
                <a:solidFill>
                  <a:srgbClr val="0000FF"/>
                </a:solidFill>
                <a:cs typeface="Comic Sans MS"/>
              </a:rPr>
              <a:t>Transport</a:t>
            </a:r>
            <a:r>
              <a:rPr sz="2176" spc="-23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176" dirty="0">
                <a:solidFill>
                  <a:srgbClr val="0000FF"/>
                </a:solidFill>
                <a:cs typeface="Comic Sans MS"/>
              </a:rPr>
              <a:t>Layer</a:t>
            </a:r>
            <a:r>
              <a:rPr sz="2176" spc="-36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176" dirty="0">
                <a:cs typeface="Comic Sans MS"/>
              </a:rPr>
              <a:t>(RFC</a:t>
            </a:r>
            <a:r>
              <a:rPr sz="2176" spc="-32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4253,</a:t>
            </a:r>
            <a:r>
              <a:rPr sz="2176" spc="-68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31</a:t>
            </a:r>
            <a:r>
              <a:rPr sz="2176" spc="-36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pages):</a:t>
            </a:r>
            <a:endParaRPr sz="2176" dirty="0">
              <a:cs typeface="Comic Sans MS"/>
            </a:endParaRPr>
          </a:p>
          <a:p>
            <a:pPr marL="841270" marR="146258">
              <a:lnSpc>
                <a:spcPct val="87700"/>
              </a:lnSpc>
              <a:spcBef>
                <a:spcPts val="608"/>
              </a:spcBef>
            </a:pPr>
            <a:r>
              <a:rPr sz="1814" spc="86" dirty="0">
                <a:cs typeface="Microsoft Sans Serif"/>
              </a:rPr>
              <a:t>Initial </a:t>
            </a:r>
            <a:r>
              <a:rPr sz="1814" spc="73" dirty="0">
                <a:cs typeface="Microsoft Sans Serif"/>
              </a:rPr>
              <a:t>key</a:t>
            </a:r>
            <a:r>
              <a:rPr sz="1814" spc="59" dirty="0">
                <a:cs typeface="Microsoft Sans Serif"/>
              </a:rPr>
              <a:t> </a:t>
            </a:r>
            <a:r>
              <a:rPr sz="1814" spc="63" dirty="0">
                <a:cs typeface="Microsoft Sans Serif"/>
              </a:rPr>
              <a:t>exchange,</a:t>
            </a:r>
            <a:r>
              <a:rPr sz="1814" spc="141" dirty="0">
                <a:cs typeface="Microsoft Sans Serif"/>
              </a:rPr>
              <a:t> </a:t>
            </a:r>
            <a:r>
              <a:rPr sz="1814" i="1" spc="73" dirty="0">
                <a:solidFill>
                  <a:srgbClr val="FF0000"/>
                </a:solidFill>
                <a:cs typeface="Arial"/>
              </a:rPr>
              <a:t>server</a:t>
            </a:r>
            <a:r>
              <a:rPr sz="1814" i="1" spc="100" dirty="0">
                <a:solidFill>
                  <a:srgbClr val="FF0000"/>
                </a:solidFill>
                <a:cs typeface="Arial"/>
              </a:rPr>
              <a:t> </a:t>
            </a:r>
            <a:r>
              <a:rPr sz="1814" spc="86" dirty="0">
                <a:solidFill>
                  <a:srgbClr val="FF0000"/>
                </a:solidFill>
                <a:cs typeface="Microsoft Sans Serif"/>
              </a:rPr>
              <a:t>authentication</a:t>
            </a:r>
            <a:r>
              <a:rPr sz="1814" spc="86" dirty="0">
                <a:cs typeface="Microsoft Sans Serif"/>
              </a:rPr>
              <a:t>,</a:t>
            </a:r>
            <a:r>
              <a:rPr sz="1814" spc="103" dirty="0">
                <a:cs typeface="Microsoft Sans Serif"/>
              </a:rPr>
              <a:t> </a:t>
            </a:r>
            <a:r>
              <a:rPr sz="1814" spc="41" dirty="0">
                <a:cs typeface="Microsoft Sans Serif"/>
              </a:rPr>
              <a:t>data </a:t>
            </a:r>
            <a:r>
              <a:rPr sz="1814" spc="91" dirty="0">
                <a:cs typeface="Microsoft Sans Serif"/>
              </a:rPr>
              <a:t>confidentiality,</a:t>
            </a:r>
            <a:r>
              <a:rPr sz="1814" spc="127" dirty="0">
                <a:cs typeface="Microsoft Sans Serif"/>
              </a:rPr>
              <a:t> </a:t>
            </a:r>
            <a:r>
              <a:rPr sz="1814" spc="59" dirty="0">
                <a:cs typeface="Microsoft Sans Serif"/>
              </a:rPr>
              <a:t>data</a:t>
            </a:r>
            <a:r>
              <a:rPr sz="1814" spc="95" dirty="0">
                <a:cs typeface="Microsoft Sans Serif"/>
              </a:rPr>
              <a:t> </a:t>
            </a:r>
            <a:r>
              <a:rPr sz="1814" spc="103" dirty="0">
                <a:cs typeface="Microsoft Sans Serif"/>
              </a:rPr>
              <a:t>integrity,</a:t>
            </a:r>
            <a:r>
              <a:rPr sz="1814" spc="131" dirty="0">
                <a:cs typeface="Microsoft Sans Serif"/>
              </a:rPr>
              <a:t> </a:t>
            </a:r>
            <a:r>
              <a:rPr sz="1814" spc="73" dirty="0">
                <a:cs typeface="Microsoft Sans Serif"/>
              </a:rPr>
              <a:t>compression</a:t>
            </a:r>
            <a:r>
              <a:rPr sz="1814" spc="103" dirty="0">
                <a:cs typeface="Microsoft Sans Serif"/>
              </a:rPr>
              <a:t> </a:t>
            </a:r>
            <a:r>
              <a:rPr sz="1814" spc="73" dirty="0">
                <a:cs typeface="Microsoft Sans Serif"/>
              </a:rPr>
              <a:t>(optional),</a:t>
            </a:r>
            <a:r>
              <a:rPr sz="1814" spc="131" dirty="0">
                <a:cs typeface="Microsoft Sans Serif"/>
              </a:rPr>
              <a:t> </a:t>
            </a:r>
            <a:r>
              <a:rPr sz="1814" spc="73" dirty="0">
                <a:cs typeface="Microsoft Sans Serif"/>
              </a:rPr>
              <a:t>and </a:t>
            </a:r>
            <a:r>
              <a:rPr sz="1814" spc="50" dirty="0">
                <a:cs typeface="Microsoft Sans Serif"/>
              </a:rPr>
              <a:t>key</a:t>
            </a:r>
            <a:r>
              <a:rPr sz="1814" spc="236" dirty="0">
                <a:cs typeface="Microsoft Sans Serif"/>
              </a:rPr>
              <a:t> </a:t>
            </a:r>
            <a:r>
              <a:rPr sz="1814" dirty="0">
                <a:cs typeface="Microsoft Sans Serif"/>
              </a:rPr>
              <a:t>re-</a:t>
            </a:r>
            <a:r>
              <a:rPr sz="1814" spc="54" dirty="0">
                <a:cs typeface="Microsoft Sans Serif"/>
              </a:rPr>
              <a:t>exchange.</a:t>
            </a:r>
            <a:endParaRPr sz="1814" dirty="0">
              <a:cs typeface="Microsoft Sans Serif"/>
            </a:endParaRPr>
          </a:p>
          <a:p>
            <a:pPr marL="684072" indent="-257966">
              <a:spcBef>
                <a:spcPts val="2027"/>
              </a:spcBef>
              <a:buClr>
                <a:srgbClr val="000000"/>
              </a:buClr>
              <a:buChar char="–"/>
              <a:tabLst>
                <a:tab pos="684072" algn="l"/>
              </a:tabLst>
            </a:pPr>
            <a:r>
              <a:rPr sz="2176" dirty="0">
                <a:solidFill>
                  <a:srgbClr val="0000FF"/>
                </a:solidFill>
                <a:cs typeface="Comic Sans MS"/>
              </a:rPr>
              <a:t>User</a:t>
            </a:r>
            <a:r>
              <a:rPr sz="2176" spc="-45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176" dirty="0">
                <a:solidFill>
                  <a:srgbClr val="0000FF"/>
                </a:solidFill>
                <a:cs typeface="Comic Sans MS"/>
              </a:rPr>
              <a:t>Authentication</a:t>
            </a:r>
            <a:r>
              <a:rPr sz="2176" spc="-63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176" dirty="0">
                <a:solidFill>
                  <a:srgbClr val="0000FF"/>
                </a:solidFill>
                <a:cs typeface="Comic Sans MS"/>
              </a:rPr>
              <a:t>Layer </a:t>
            </a:r>
            <a:r>
              <a:rPr sz="2176" dirty="0">
                <a:cs typeface="Comic Sans MS"/>
              </a:rPr>
              <a:t>(RFC</a:t>
            </a:r>
            <a:r>
              <a:rPr sz="2176" spc="-32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4252,</a:t>
            </a:r>
            <a:r>
              <a:rPr sz="2176" spc="-68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16</a:t>
            </a:r>
            <a:r>
              <a:rPr sz="2176" spc="-50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pages):</a:t>
            </a:r>
            <a:endParaRPr sz="2176" dirty="0">
              <a:cs typeface="Comic Sans MS"/>
            </a:endParaRPr>
          </a:p>
          <a:p>
            <a:pPr marL="841270">
              <a:lnSpc>
                <a:spcPts val="2040"/>
              </a:lnSpc>
              <a:spcBef>
                <a:spcPts val="340"/>
              </a:spcBef>
            </a:pPr>
            <a:r>
              <a:rPr sz="1814" i="1" spc="59" dirty="0">
                <a:solidFill>
                  <a:srgbClr val="FF0000"/>
                </a:solidFill>
                <a:cs typeface="Arial"/>
              </a:rPr>
              <a:t>Client</a:t>
            </a:r>
            <a:r>
              <a:rPr sz="1814" i="1" spc="95" dirty="0">
                <a:solidFill>
                  <a:srgbClr val="FF0000"/>
                </a:solidFill>
                <a:cs typeface="Arial"/>
              </a:rPr>
              <a:t> </a:t>
            </a:r>
            <a:r>
              <a:rPr sz="1814" spc="86" dirty="0">
                <a:solidFill>
                  <a:srgbClr val="FF0000"/>
                </a:solidFill>
                <a:cs typeface="Microsoft Sans Serif"/>
              </a:rPr>
              <a:t>authentication</a:t>
            </a:r>
            <a:r>
              <a:rPr sz="1814" spc="86" dirty="0">
                <a:cs typeface="Microsoft Sans Serif"/>
              </a:rPr>
              <a:t>,</a:t>
            </a:r>
            <a:r>
              <a:rPr sz="1814" spc="113" dirty="0">
                <a:cs typeface="Microsoft Sans Serif"/>
              </a:rPr>
              <a:t> </a:t>
            </a:r>
            <a:r>
              <a:rPr sz="1814" spc="86" dirty="0">
                <a:cs typeface="Microsoft Sans Serif"/>
              </a:rPr>
              <a:t>provide</a:t>
            </a:r>
            <a:r>
              <a:rPr sz="1814" spc="145" dirty="0">
                <a:cs typeface="Microsoft Sans Serif"/>
              </a:rPr>
              <a:t> </a:t>
            </a:r>
            <a:r>
              <a:rPr sz="1814" spc="59" dirty="0">
                <a:cs typeface="Microsoft Sans Serif"/>
              </a:rPr>
              <a:t>various</a:t>
            </a:r>
            <a:r>
              <a:rPr sz="1814" spc="163" dirty="0">
                <a:cs typeface="Microsoft Sans Serif"/>
              </a:rPr>
              <a:t> </a:t>
            </a:r>
            <a:r>
              <a:rPr sz="1814" spc="77" dirty="0">
                <a:cs typeface="Microsoft Sans Serif"/>
              </a:rPr>
              <a:t>authentication</a:t>
            </a:r>
            <a:endParaRPr sz="1814" dirty="0">
              <a:cs typeface="Microsoft Sans Serif"/>
            </a:endParaRPr>
          </a:p>
          <a:p>
            <a:pPr marL="841270">
              <a:lnSpc>
                <a:spcPts val="2040"/>
              </a:lnSpc>
            </a:pPr>
            <a:r>
              <a:rPr sz="1814" spc="86" dirty="0">
                <a:cs typeface="Microsoft Sans Serif"/>
              </a:rPr>
              <a:t>methods.</a:t>
            </a:r>
            <a:endParaRPr sz="1814" dirty="0">
              <a:cs typeface="Microsoft Sans Serif"/>
            </a:endParaRPr>
          </a:p>
          <a:p>
            <a:pPr marL="684072" indent="-257966">
              <a:spcBef>
                <a:spcPts val="1959"/>
              </a:spcBef>
              <a:buClr>
                <a:srgbClr val="000000"/>
              </a:buClr>
              <a:buChar char="–"/>
              <a:tabLst>
                <a:tab pos="684072" algn="l"/>
              </a:tabLst>
            </a:pPr>
            <a:r>
              <a:rPr sz="2176" dirty="0">
                <a:solidFill>
                  <a:srgbClr val="0000FF"/>
                </a:solidFill>
                <a:cs typeface="Comic Sans MS"/>
              </a:rPr>
              <a:t>Connection</a:t>
            </a:r>
            <a:r>
              <a:rPr sz="2176" spc="-68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176" dirty="0">
                <a:solidFill>
                  <a:srgbClr val="0000FF"/>
                </a:solidFill>
                <a:cs typeface="Comic Sans MS"/>
              </a:rPr>
              <a:t>Layer</a:t>
            </a:r>
            <a:r>
              <a:rPr sz="2176" spc="-14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176" dirty="0">
                <a:cs typeface="Comic Sans MS"/>
              </a:rPr>
              <a:t>(RFC</a:t>
            </a:r>
            <a:r>
              <a:rPr sz="2176" spc="-32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4254,</a:t>
            </a:r>
            <a:r>
              <a:rPr sz="2176" spc="-7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28</a:t>
            </a:r>
            <a:r>
              <a:rPr sz="2176" spc="-50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pages):</a:t>
            </a:r>
            <a:endParaRPr sz="2176" dirty="0">
              <a:cs typeface="Comic Sans MS"/>
            </a:endParaRPr>
          </a:p>
          <a:p>
            <a:pPr marL="841270" marR="4607">
              <a:lnSpc>
                <a:spcPct val="87700"/>
              </a:lnSpc>
              <a:spcBef>
                <a:spcPts val="540"/>
              </a:spcBef>
            </a:pPr>
            <a:r>
              <a:rPr sz="1814" spc="63" dirty="0">
                <a:cs typeface="Microsoft Sans Serif"/>
              </a:rPr>
              <a:t>Defines</a:t>
            </a:r>
            <a:r>
              <a:rPr sz="1814" spc="73" dirty="0">
                <a:cs typeface="Microsoft Sans Serif"/>
              </a:rPr>
              <a:t> </a:t>
            </a:r>
            <a:r>
              <a:rPr sz="1814" spc="86" dirty="0">
                <a:cs typeface="Microsoft Sans Serif"/>
              </a:rPr>
              <a:t>the</a:t>
            </a:r>
            <a:r>
              <a:rPr sz="1814" spc="131" dirty="0">
                <a:cs typeface="Microsoft Sans Serif"/>
              </a:rPr>
              <a:t> </a:t>
            </a:r>
            <a:r>
              <a:rPr sz="1814" spc="68" dirty="0">
                <a:cs typeface="Microsoft Sans Serif"/>
              </a:rPr>
              <a:t>logical</a:t>
            </a:r>
            <a:r>
              <a:rPr sz="1814" spc="131" dirty="0">
                <a:cs typeface="Microsoft Sans Serif"/>
              </a:rPr>
              <a:t> </a:t>
            </a:r>
            <a:r>
              <a:rPr sz="1814" i="1" spc="63" dirty="0">
                <a:solidFill>
                  <a:srgbClr val="FF0000"/>
                </a:solidFill>
                <a:cs typeface="Arial"/>
              </a:rPr>
              <a:t>channel</a:t>
            </a:r>
            <a:r>
              <a:rPr sz="1814" spc="63" dirty="0">
                <a:solidFill>
                  <a:srgbClr val="FF0000"/>
                </a:solidFill>
                <a:cs typeface="Microsoft Sans Serif"/>
              </a:rPr>
              <a:t>s</a:t>
            </a:r>
            <a:r>
              <a:rPr sz="1814" spc="95" dirty="0">
                <a:solidFill>
                  <a:srgbClr val="FF0000"/>
                </a:solidFill>
                <a:cs typeface="Microsoft Sans Serif"/>
              </a:rPr>
              <a:t> </a:t>
            </a:r>
            <a:r>
              <a:rPr sz="1814" spc="73" dirty="0">
                <a:cs typeface="Microsoft Sans Serif"/>
              </a:rPr>
              <a:t>and</a:t>
            </a:r>
            <a:r>
              <a:rPr sz="1814" spc="68" dirty="0">
                <a:cs typeface="Microsoft Sans Serif"/>
              </a:rPr>
              <a:t> </a:t>
            </a:r>
            <a:r>
              <a:rPr sz="1814" spc="109" dirty="0">
                <a:cs typeface="Microsoft Sans Serif"/>
              </a:rPr>
              <a:t>the</a:t>
            </a:r>
            <a:r>
              <a:rPr sz="1814" spc="86" dirty="0">
                <a:cs typeface="Microsoft Sans Serif"/>
              </a:rPr>
              <a:t> </a:t>
            </a:r>
            <a:r>
              <a:rPr sz="1814" i="1" spc="63" dirty="0">
                <a:solidFill>
                  <a:srgbClr val="FF0000"/>
                </a:solidFill>
                <a:cs typeface="Arial"/>
              </a:rPr>
              <a:t>requests</a:t>
            </a:r>
            <a:r>
              <a:rPr sz="1814" i="1" spc="45" dirty="0">
                <a:solidFill>
                  <a:srgbClr val="FF0000"/>
                </a:solidFill>
                <a:cs typeface="Arial"/>
              </a:rPr>
              <a:t> </a:t>
            </a:r>
            <a:r>
              <a:rPr sz="1814" spc="145" dirty="0">
                <a:cs typeface="Microsoft Sans Serif"/>
              </a:rPr>
              <a:t>to</a:t>
            </a:r>
            <a:r>
              <a:rPr sz="1814" spc="91" dirty="0">
                <a:cs typeface="Microsoft Sans Serif"/>
              </a:rPr>
              <a:t> </a:t>
            </a:r>
            <a:r>
              <a:rPr sz="1814" spc="73" dirty="0">
                <a:cs typeface="Microsoft Sans Serif"/>
              </a:rPr>
              <a:t>handle</a:t>
            </a:r>
            <a:r>
              <a:rPr sz="1814" spc="68" dirty="0">
                <a:cs typeface="Microsoft Sans Serif"/>
              </a:rPr>
              <a:t> </a:t>
            </a:r>
            <a:r>
              <a:rPr sz="1814" spc="86" dirty="0">
                <a:cs typeface="Microsoft Sans Serif"/>
              </a:rPr>
              <a:t>the </a:t>
            </a:r>
            <a:r>
              <a:rPr sz="1814" dirty="0">
                <a:cs typeface="Microsoft Sans Serif"/>
              </a:rPr>
              <a:t>services</a:t>
            </a:r>
            <a:r>
              <a:rPr sz="1814" spc="86" dirty="0">
                <a:cs typeface="Microsoft Sans Serif"/>
              </a:rPr>
              <a:t> </a:t>
            </a:r>
            <a:r>
              <a:rPr sz="1814" spc="91" dirty="0">
                <a:cs typeface="Microsoft Sans Serif"/>
              </a:rPr>
              <a:t>like:</a:t>
            </a:r>
            <a:r>
              <a:rPr sz="1814" spc="109" dirty="0">
                <a:cs typeface="Microsoft Sans Serif"/>
              </a:rPr>
              <a:t> </a:t>
            </a:r>
            <a:r>
              <a:rPr sz="1814" spc="45" dirty="0">
                <a:cs typeface="Microsoft Sans Serif"/>
              </a:rPr>
              <a:t>secure</a:t>
            </a:r>
            <a:r>
              <a:rPr sz="1814" spc="73" dirty="0">
                <a:cs typeface="Microsoft Sans Serif"/>
              </a:rPr>
              <a:t> </a:t>
            </a:r>
            <a:r>
              <a:rPr sz="1814" spc="77" dirty="0">
                <a:cs typeface="Microsoft Sans Serif"/>
              </a:rPr>
              <a:t>interactive</a:t>
            </a:r>
            <a:r>
              <a:rPr sz="1814" spc="73" dirty="0">
                <a:cs typeface="Microsoft Sans Serif"/>
              </a:rPr>
              <a:t> </a:t>
            </a:r>
            <a:r>
              <a:rPr sz="1814" spc="68" dirty="0">
                <a:cs typeface="Microsoft Sans Serif"/>
              </a:rPr>
              <a:t>shell</a:t>
            </a:r>
            <a:r>
              <a:rPr sz="1814" spc="95" dirty="0">
                <a:cs typeface="Microsoft Sans Serif"/>
              </a:rPr>
              <a:t> </a:t>
            </a:r>
            <a:r>
              <a:rPr sz="1814" spc="50" dirty="0">
                <a:cs typeface="Microsoft Sans Serif"/>
              </a:rPr>
              <a:t>session,</a:t>
            </a:r>
            <a:r>
              <a:rPr sz="1814" spc="113" dirty="0">
                <a:cs typeface="Microsoft Sans Serif"/>
              </a:rPr>
              <a:t> </a:t>
            </a:r>
            <a:r>
              <a:rPr sz="1814" spc="-27" dirty="0">
                <a:cs typeface="Microsoft Sans Serif"/>
              </a:rPr>
              <a:t>TCP</a:t>
            </a:r>
            <a:r>
              <a:rPr sz="1814" spc="159" dirty="0">
                <a:cs typeface="Microsoft Sans Serif"/>
              </a:rPr>
              <a:t> </a:t>
            </a:r>
            <a:r>
              <a:rPr sz="1814" spc="118" dirty="0">
                <a:cs typeface="Microsoft Sans Serif"/>
              </a:rPr>
              <a:t>port </a:t>
            </a:r>
            <a:r>
              <a:rPr sz="1814" spc="100" dirty="0">
                <a:cs typeface="Microsoft Sans Serif"/>
              </a:rPr>
              <a:t>forwarding</a:t>
            </a:r>
            <a:r>
              <a:rPr sz="1814" spc="82" dirty="0">
                <a:cs typeface="Microsoft Sans Serif"/>
              </a:rPr>
              <a:t> </a:t>
            </a:r>
            <a:r>
              <a:rPr sz="1814" spc="73" dirty="0">
                <a:cs typeface="Microsoft Sans Serif"/>
              </a:rPr>
              <a:t>and</a:t>
            </a:r>
            <a:r>
              <a:rPr sz="1814" spc="145" dirty="0">
                <a:cs typeface="Microsoft Sans Serif"/>
              </a:rPr>
              <a:t> </a:t>
            </a:r>
            <a:r>
              <a:rPr sz="1814" spc="54" dirty="0">
                <a:cs typeface="Microsoft Sans Serif"/>
              </a:rPr>
              <a:t>X11</a:t>
            </a:r>
            <a:r>
              <a:rPr sz="1814" spc="73" dirty="0">
                <a:cs typeface="Microsoft Sans Serif"/>
              </a:rPr>
              <a:t> </a:t>
            </a:r>
            <a:r>
              <a:rPr sz="1814" spc="91" dirty="0">
                <a:cs typeface="Microsoft Sans Serif"/>
              </a:rPr>
              <a:t>forwarding.</a:t>
            </a:r>
            <a:endParaRPr sz="1814" dirty="0"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28221" y="0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1889259">
              <a:lnSpc>
                <a:spcPct val="100000"/>
              </a:lnSpc>
              <a:spcBef>
                <a:spcPts val="95"/>
              </a:spcBef>
            </a:pPr>
            <a:r>
              <a:rPr dirty="0"/>
              <a:t>Building</a:t>
            </a:r>
            <a:r>
              <a:rPr spc="-86" dirty="0"/>
              <a:t> </a:t>
            </a:r>
            <a:r>
              <a:rPr spc="-9" dirty="0"/>
              <a:t>Blocks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2FE9146-34D2-4DCD-6EA0-7D3EE7E86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A130AF-7280-FF4B-9410-83CB3C133785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E4ED4323-78B1-F22D-2F73-6B0E3E77F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SSH security features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9921AB0-0F56-8DAD-0AD8-A53548D7E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strong algorithms</a:t>
            </a:r>
          </a:p>
          <a:p>
            <a:pPr lvl="1"/>
            <a:r>
              <a:rPr lang="en-US" altLang="en-US"/>
              <a:t>uses well established strong algorithms for encryption, integrity, key exchange, and public key management </a:t>
            </a:r>
          </a:p>
          <a:p>
            <a:r>
              <a:rPr lang="en-US" altLang="en-US"/>
              <a:t>large key size</a:t>
            </a:r>
          </a:p>
          <a:p>
            <a:pPr lvl="1"/>
            <a:r>
              <a:rPr lang="en-US" altLang="en-US"/>
              <a:t>requires encryption to be used with at least 128 bit keys</a:t>
            </a:r>
          </a:p>
          <a:p>
            <a:pPr lvl="1"/>
            <a:r>
              <a:rPr lang="en-US" altLang="en-US"/>
              <a:t>supports larger keys too</a:t>
            </a:r>
          </a:p>
          <a:p>
            <a:r>
              <a:rPr lang="en-US" altLang="en-US"/>
              <a:t>algorithm negotiation</a:t>
            </a:r>
          </a:p>
          <a:p>
            <a:pPr lvl="1"/>
            <a:r>
              <a:rPr lang="en-US" altLang="en-US"/>
              <a:t>encryption, integrity, key exchange, and public key algorithms are negotiated</a:t>
            </a:r>
          </a:p>
          <a:p>
            <a:pPr lvl="1"/>
            <a:r>
              <a:rPr lang="en-US" altLang="en-US"/>
              <a:t>it is easy to switch to some other algorithm without modifying the base protocol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0" tIns="267756" rIns="0" bIns="0" rtlCol="0" anchor="ctr">
            <a:normAutofit/>
          </a:bodyPr>
          <a:lstStyle/>
          <a:p>
            <a:pPr marL="95010">
              <a:spcBef>
                <a:spcPts val="95"/>
              </a:spcBef>
            </a:pPr>
            <a:r>
              <a:rPr dirty="0"/>
              <a:t>Structure</a:t>
            </a:r>
            <a:r>
              <a:rPr spc="-18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86" dirty="0"/>
              <a:t> </a:t>
            </a:r>
            <a:r>
              <a:rPr dirty="0"/>
              <a:t>Building</a:t>
            </a:r>
            <a:r>
              <a:rPr spc="-63" dirty="0"/>
              <a:t> </a:t>
            </a:r>
            <a:r>
              <a:rPr spc="-9" dirty="0"/>
              <a:t>Blocks</a:t>
            </a:r>
            <a:endParaRPr lang="en-US" spc="-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rcRect t="12142" r="-1" b="23748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467" y="23"/>
            <a:ext cx="7799463" cy="90758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587447"/>
            <a:ext cx="9535557" cy="689319"/>
          </a:xfrm>
          <a:prstGeom prst="rect">
            <a:avLst/>
          </a:prstGeom>
        </p:spPr>
        <p:txBody>
          <a:bodyPr vert="horz" wrap="square" lIns="0" tIns="12092" rIns="0" bIns="0" rtlCol="0" anchor="ctr">
            <a:spAutoFit/>
          </a:bodyPr>
          <a:lstStyle/>
          <a:p>
            <a:pPr marL="3171605">
              <a:lnSpc>
                <a:spcPct val="100000"/>
              </a:lnSpc>
              <a:spcBef>
                <a:spcPts val="95"/>
              </a:spcBef>
            </a:pPr>
            <a:r>
              <a:rPr spc="-9" dirty="0">
                <a:latin typeface="+mn-lt"/>
                <a:cs typeface="Comic Sans MS"/>
              </a:rPr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289839" y="1655479"/>
            <a:ext cx="9535557" cy="2105936"/>
          </a:xfrm>
          <a:prstGeom prst="rect">
            <a:avLst/>
          </a:prstGeom>
        </p:spPr>
        <p:txBody>
          <a:bodyPr vert="horz" wrap="square" lIns="0" tIns="199809" rIns="0" bIns="0" rtlCol="0">
            <a:spAutoFit/>
          </a:bodyPr>
          <a:lstStyle/>
          <a:p>
            <a:pPr marL="304608" indent="-293091">
              <a:lnSpc>
                <a:spcPct val="100000"/>
              </a:lnSpc>
              <a:spcBef>
                <a:spcPts val="1573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304608" algn="l"/>
              </a:tabLst>
            </a:pPr>
            <a:r>
              <a:rPr dirty="0"/>
              <a:t>Protocol</a:t>
            </a:r>
            <a:r>
              <a:rPr spc="-45" dirty="0"/>
              <a:t> </a:t>
            </a:r>
            <a:r>
              <a:rPr spc="-9" dirty="0"/>
              <a:t>Details</a:t>
            </a:r>
          </a:p>
          <a:p>
            <a:pPr marL="696740" lvl="1" indent="-260846">
              <a:lnSpc>
                <a:spcPct val="100000"/>
              </a:lnSpc>
              <a:spcBef>
                <a:spcPts val="1215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solidFill>
                  <a:srgbClr val="0000FF"/>
                </a:solidFill>
                <a:cs typeface="Comic Sans MS"/>
              </a:rPr>
              <a:t>Transport</a:t>
            </a:r>
            <a:r>
              <a:rPr sz="2358" spc="-27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358" spc="-18" dirty="0">
                <a:solidFill>
                  <a:srgbClr val="0000FF"/>
                </a:solidFill>
                <a:cs typeface="Comic Sans MS"/>
              </a:rPr>
              <a:t>Layer</a:t>
            </a:r>
            <a:endParaRPr sz="2358" dirty="0">
              <a:cs typeface="Comic Sans MS"/>
            </a:endParaRPr>
          </a:p>
          <a:p>
            <a:pPr marL="696740" lvl="1" indent="-260846">
              <a:lnSpc>
                <a:spcPct val="100000"/>
              </a:lnSpc>
              <a:spcBef>
                <a:spcPts val="920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solidFill>
                  <a:srgbClr val="808080"/>
                </a:solidFill>
                <a:cs typeface="Comic Sans MS"/>
              </a:rPr>
              <a:t>User</a:t>
            </a:r>
            <a:r>
              <a:rPr sz="2358" spc="-32" dirty="0">
                <a:solidFill>
                  <a:srgbClr val="808080"/>
                </a:solidFill>
                <a:cs typeface="Comic Sans MS"/>
              </a:rPr>
              <a:t> </a:t>
            </a:r>
            <a:r>
              <a:rPr sz="2358" dirty="0">
                <a:solidFill>
                  <a:srgbClr val="808080"/>
                </a:solidFill>
                <a:cs typeface="Comic Sans MS"/>
              </a:rPr>
              <a:t>Authentication</a:t>
            </a:r>
            <a:r>
              <a:rPr sz="2358" spc="-59" dirty="0">
                <a:solidFill>
                  <a:srgbClr val="808080"/>
                </a:solidFill>
                <a:cs typeface="Comic Sans MS"/>
              </a:rPr>
              <a:t> </a:t>
            </a:r>
            <a:r>
              <a:rPr sz="2358" spc="-9" dirty="0">
                <a:solidFill>
                  <a:srgbClr val="808080"/>
                </a:solidFill>
                <a:cs typeface="Comic Sans MS"/>
              </a:rPr>
              <a:t>Layer</a:t>
            </a:r>
            <a:endParaRPr sz="2358" dirty="0">
              <a:cs typeface="Comic Sans MS"/>
            </a:endParaRPr>
          </a:p>
          <a:p>
            <a:pPr marL="696740" lvl="1" indent="-260846">
              <a:lnSpc>
                <a:spcPct val="100000"/>
              </a:lnSpc>
              <a:spcBef>
                <a:spcPts val="920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solidFill>
                  <a:srgbClr val="808080"/>
                </a:solidFill>
                <a:cs typeface="Comic Sans MS"/>
              </a:rPr>
              <a:t>Connection</a:t>
            </a:r>
            <a:r>
              <a:rPr sz="2358" spc="-27" dirty="0">
                <a:solidFill>
                  <a:srgbClr val="808080"/>
                </a:solidFill>
                <a:cs typeface="Comic Sans MS"/>
              </a:rPr>
              <a:t> </a:t>
            </a:r>
            <a:r>
              <a:rPr sz="2358" spc="-18" dirty="0">
                <a:solidFill>
                  <a:srgbClr val="808080"/>
                </a:solidFill>
                <a:cs typeface="Comic Sans MS"/>
              </a:rPr>
              <a:t>Layer</a:t>
            </a:r>
            <a:endParaRPr sz="2358" dirty="0">
              <a:cs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714786"/>
            <a:r>
              <a:rPr lang="en-US" kern="1200">
                <a:latin typeface="+mj-lt"/>
                <a:ea typeface="+mj-ea"/>
                <a:cs typeface="+mj-cs"/>
              </a:rPr>
              <a:t>Transport</a:t>
            </a:r>
            <a:r>
              <a:rPr lang="en-US" kern="1200" spc="-41">
                <a:latin typeface="+mj-lt"/>
                <a:ea typeface="+mj-ea"/>
                <a:cs typeface="+mj-cs"/>
              </a:rPr>
              <a:t> </a:t>
            </a:r>
            <a:r>
              <a:rPr lang="en-US" kern="1200" spc="-9">
                <a:latin typeface="+mj-lt"/>
                <a:ea typeface="+mj-ea"/>
                <a:cs typeface="+mj-cs"/>
              </a:rPr>
              <a:t>Layer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95FD96D2-0F1C-97D1-756F-EB24B2EDC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69726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C18DDA6-AD21-89EB-7934-7E63C16ACC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2CE29-56FE-4849-9424-CAB85AF9B91E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8F8B4BE1-ACE4-D1FE-65FA-E16069712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SSH TLP – Overview </a:t>
            </a:r>
          </a:p>
        </p:txBody>
      </p:sp>
      <p:sp>
        <p:nvSpPr>
          <p:cNvPr id="33796" name="Line 4">
            <a:extLst>
              <a:ext uri="{FF2B5EF4-FFF2-40B4-BE49-F238E27FC236}">
                <a16:creationId xmlns:a16="http://schemas.microsoft.com/office/drawing/2014/main" id="{33844A8D-A686-0A95-9FE4-2DFB1B9BB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7675" y="1990725"/>
            <a:ext cx="0" cy="361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7D7A811D-B1F8-9E62-DD60-7597B9D18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9763" y="1979613"/>
            <a:ext cx="0" cy="361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Text Box 6">
            <a:extLst>
              <a:ext uri="{FF2B5EF4-FFF2-40B4-BE49-F238E27FC236}">
                <a16:creationId xmlns:a16="http://schemas.microsoft.com/office/drawing/2014/main" id="{F003D1C4-370F-D45A-78B3-01A3FFB45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176" y="1571625"/>
            <a:ext cx="6815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client</a:t>
            </a:r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28865260-4245-2461-C7C8-4DF67E77F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1300" y="1571625"/>
            <a:ext cx="749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server</a:t>
            </a:r>
          </a:p>
        </p:txBody>
      </p:sp>
      <p:sp>
        <p:nvSpPr>
          <p:cNvPr id="33800" name="Text Box 8">
            <a:extLst>
              <a:ext uri="{FF2B5EF4-FFF2-40B4-BE49-F238E27FC236}">
                <a16:creationId xmlns:a16="http://schemas.microsoft.com/office/drawing/2014/main" id="{BB0ED30F-6FD8-5BD9-1127-91DF05FC7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4464" y="2130425"/>
            <a:ext cx="2181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TCP connection setup</a:t>
            </a:r>
          </a:p>
        </p:txBody>
      </p:sp>
      <p:sp>
        <p:nvSpPr>
          <p:cNvPr id="33801" name="Line 9">
            <a:extLst>
              <a:ext uri="{FF2B5EF4-FFF2-40B4-BE49-F238E27FC236}">
                <a16:creationId xmlns:a16="http://schemas.microsoft.com/office/drawing/2014/main" id="{0D32277B-327C-12C1-9BDF-9AF292CD6A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1" y="2452688"/>
            <a:ext cx="3984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57B9FADC-3F74-752B-ADEA-C312A19EC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3313" y="2733675"/>
            <a:ext cx="266585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SSH version string exchange</a:t>
            </a:r>
          </a:p>
        </p:txBody>
      </p:sp>
      <p:sp>
        <p:nvSpPr>
          <p:cNvPr id="33803" name="Text Box 11">
            <a:extLst>
              <a:ext uri="{FF2B5EF4-FFF2-40B4-BE49-F238E27FC236}">
                <a16:creationId xmlns:a16="http://schemas.microsoft.com/office/drawing/2014/main" id="{6CDA73E3-A6E9-85F7-C60D-84B9E20AE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714" y="3357564"/>
            <a:ext cx="30051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SSH key exchange</a:t>
            </a:r>
          </a:p>
          <a:p>
            <a:r>
              <a:rPr lang="en-US" altLang="en-US" sz="1600"/>
              <a:t>(includes algorithm negotiation)</a:t>
            </a:r>
          </a:p>
        </p:txBody>
      </p:sp>
      <p:sp>
        <p:nvSpPr>
          <p:cNvPr id="33804" name="Text Box 12">
            <a:extLst>
              <a:ext uri="{FF2B5EF4-FFF2-40B4-BE49-F238E27FC236}">
                <a16:creationId xmlns:a16="http://schemas.microsoft.com/office/drawing/2014/main" id="{CA6869E4-7CE2-531F-B7D6-3E64889A8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301" y="4222750"/>
            <a:ext cx="188295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SSH data exchange</a:t>
            </a:r>
          </a:p>
        </p:txBody>
      </p:sp>
      <p:sp>
        <p:nvSpPr>
          <p:cNvPr id="33806" name="Line 14">
            <a:extLst>
              <a:ext uri="{FF2B5EF4-FFF2-40B4-BE49-F238E27FC236}">
                <a16:creationId xmlns:a16="http://schemas.microsoft.com/office/drawing/2014/main" id="{D5EA55B9-6750-9A08-5AB7-5A1803315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5139" y="3048000"/>
            <a:ext cx="3984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7" name="Line 15">
            <a:extLst>
              <a:ext uri="{FF2B5EF4-FFF2-40B4-BE49-F238E27FC236}">
                <a16:creationId xmlns:a16="http://schemas.microsoft.com/office/drawing/2014/main" id="{8DEFA032-AEB6-C7DA-462A-1FC66F391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4" y="3924300"/>
            <a:ext cx="3984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8" name="Line 16">
            <a:extLst>
              <a:ext uri="{FF2B5EF4-FFF2-40B4-BE49-F238E27FC236}">
                <a16:creationId xmlns:a16="http://schemas.microsoft.com/office/drawing/2014/main" id="{A869D0E4-3601-FF5A-4FA5-6F2E526CB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776" y="4570413"/>
            <a:ext cx="3984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Text Box 17">
            <a:extLst>
              <a:ext uri="{FF2B5EF4-FFF2-40B4-BE49-F238E27FC236}">
                <a16:creationId xmlns:a16="http://schemas.microsoft.com/office/drawing/2014/main" id="{3D58EDBA-C808-4328-79F3-BD2523B84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1" y="4921250"/>
            <a:ext cx="3255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termination of the TCP connection</a:t>
            </a:r>
          </a:p>
        </p:txBody>
      </p:sp>
      <p:sp>
        <p:nvSpPr>
          <p:cNvPr id="33810" name="Line 18">
            <a:extLst>
              <a:ext uri="{FF2B5EF4-FFF2-40B4-BE49-F238E27FC236}">
                <a16:creationId xmlns:a16="http://schemas.microsoft.com/office/drawing/2014/main" id="{761DF5E8-A535-C9F7-37FB-0CD1058CD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4" y="5243513"/>
            <a:ext cx="3984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77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FE6CB44-F7F7-FF14-D104-05F7E4C22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AD928E-5557-4948-A6AA-DE5F660DDB6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4F783EBB-F6BB-A5AF-C07B-5826194EA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Connection setup and version string exchange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9915EB8-2F2E-369E-4A6B-005AAA3C90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TCP connection setup</a:t>
            </a:r>
          </a:p>
          <a:p>
            <a:pPr lvl="1"/>
            <a:r>
              <a:rPr lang="en-US" altLang="en-US"/>
              <a:t>the server listens on port 22</a:t>
            </a:r>
          </a:p>
          <a:p>
            <a:pPr lvl="1"/>
            <a:r>
              <a:rPr lang="en-US" altLang="en-US"/>
              <a:t>the client initiates the connection</a:t>
            </a:r>
          </a:p>
          <a:p>
            <a:endParaRPr lang="en-US" altLang="en-US"/>
          </a:p>
          <a:p>
            <a:r>
              <a:rPr lang="en-US" altLang="en-US"/>
              <a:t>SSH version string exchange</a:t>
            </a:r>
          </a:p>
          <a:p>
            <a:pPr lvl="1"/>
            <a:r>
              <a:rPr lang="en-US" altLang="en-US"/>
              <a:t>both side must send a version string of the following form:</a:t>
            </a:r>
          </a:p>
          <a:p>
            <a:pPr lvl="1">
              <a:buFontTx/>
              <a:buNone/>
            </a:pPr>
            <a:r>
              <a:rPr lang="en-US" altLang="en-US"/>
              <a:t>		“SSH-protoversion-softwareversion comments” \CR \LF</a:t>
            </a:r>
          </a:p>
          <a:p>
            <a:pPr lvl="1"/>
            <a:r>
              <a:rPr lang="en-US" altLang="en-US"/>
              <a:t>used to indicate the capabilities of an implementation</a:t>
            </a:r>
          </a:p>
          <a:p>
            <a:pPr lvl="1"/>
            <a:r>
              <a:rPr lang="en-US" altLang="en-US"/>
              <a:t>triggers compatibility extensions</a:t>
            </a:r>
          </a:p>
          <a:p>
            <a:pPr lvl="1"/>
            <a:r>
              <a:rPr lang="en-US" altLang="en-US"/>
              <a:t>current protocol version is 2.0</a:t>
            </a:r>
          </a:p>
          <a:p>
            <a:pPr lvl="1"/>
            <a:r>
              <a:rPr lang="en-US" altLang="en-US"/>
              <a:t>all packets that follow the version string exchange is sent using the Binary Packet Protocol </a:t>
            </a:r>
          </a:p>
        </p:txBody>
      </p:sp>
    </p:spTree>
    <p:extLst>
      <p:ext uri="{BB962C8B-B14F-4D97-AF65-F5344CB8AC3E}">
        <p14:creationId xmlns:p14="http://schemas.microsoft.com/office/powerpoint/2010/main" val="243971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77548"/>
            <a:r>
              <a:rPr lang="en-US" kern="1200">
                <a:latin typeface="+mj-lt"/>
                <a:ea typeface="+mj-ea"/>
                <a:cs typeface="+mj-cs"/>
              </a:rPr>
              <a:t>Computing</a:t>
            </a:r>
            <a:r>
              <a:rPr lang="en-US" kern="1200" spc="-54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other</a:t>
            </a:r>
            <a:r>
              <a:rPr lang="en-US" kern="1200" spc="-18">
                <a:latin typeface="+mj-lt"/>
                <a:ea typeface="+mj-ea"/>
                <a:cs typeface="+mj-cs"/>
              </a:rPr>
              <a:t> Keys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80EF7CFF-E298-3027-47B7-40C418B93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82662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467" y="35"/>
            <a:ext cx="7799463" cy="89893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628693"/>
            <a:ext cx="9535557" cy="606827"/>
          </a:xfrm>
          <a:prstGeom prst="rect">
            <a:avLst/>
          </a:prstGeom>
        </p:spPr>
        <p:txBody>
          <a:bodyPr vert="horz" wrap="square" lIns="0" tIns="55048" rIns="0" bIns="0" rtlCol="0" anchor="ctr">
            <a:spAutoFit/>
          </a:bodyPr>
          <a:lstStyle/>
          <a:p>
            <a:pPr marL="189444">
              <a:lnSpc>
                <a:spcPct val="100000"/>
              </a:lnSpc>
              <a:spcBef>
                <a:spcPts val="118"/>
              </a:spcBef>
            </a:pPr>
            <a:r>
              <a:rPr sz="3582" dirty="0">
                <a:solidFill>
                  <a:srgbClr val="4B4B4B"/>
                </a:solidFill>
                <a:latin typeface="+mn-lt"/>
                <a:cs typeface="Comic Sans MS"/>
              </a:rPr>
              <a:t>Server</a:t>
            </a:r>
            <a:r>
              <a:rPr sz="3582" spc="103" dirty="0">
                <a:solidFill>
                  <a:srgbClr val="4B4B4B"/>
                </a:solidFill>
                <a:latin typeface="+mn-lt"/>
                <a:cs typeface="Comic Sans MS"/>
              </a:rPr>
              <a:t> </a:t>
            </a:r>
            <a:r>
              <a:rPr sz="3582" dirty="0">
                <a:solidFill>
                  <a:srgbClr val="4B4B4B"/>
                </a:solidFill>
                <a:latin typeface="+mn-lt"/>
                <a:cs typeface="Comic Sans MS"/>
              </a:rPr>
              <a:t>Authentication</a:t>
            </a:r>
            <a:r>
              <a:rPr sz="3582" spc="82" dirty="0">
                <a:solidFill>
                  <a:srgbClr val="4B4B4B"/>
                </a:solidFill>
                <a:latin typeface="+mn-lt"/>
                <a:cs typeface="Comic Sans MS"/>
              </a:rPr>
              <a:t> </a:t>
            </a:r>
            <a:r>
              <a:rPr sz="3582" spc="-9" dirty="0">
                <a:solidFill>
                  <a:srgbClr val="4B4B4B"/>
                </a:solidFill>
                <a:latin typeface="+mn-lt"/>
                <a:cs typeface="Comic Sans MS"/>
              </a:rPr>
              <a:t>(continued)</a:t>
            </a:r>
            <a:endParaRPr sz="3582" dirty="0">
              <a:latin typeface="+mn-lt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7365" y="1450258"/>
            <a:ext cx="7318079" cy="3903351"/>
          </a:xfrm>
          <a:prstGeom prst="rect">
            <a:avLst/>
          </a:prstGeom>
        </p:spPr>
        <p:txBody>
          <a:bodyPr vert="horz" wrap="square" lIns="0" tIns="5182" rIns="0" bIns="0" rtlCol="0">
            <a:spAutoFit/>
          </a:bodyPr>
          <a:lstStyle/>
          <a:p>
            <a:pPr marL="300577" marR="270059" indent="-289636">
              <a:lnSpc>
                <a:spcPct val="102499"/>
              </a:lnSpc>
              <a:spcBef>
                <a:spcPts val="41"/>
              </a:spcBef>
              <a:buChar char="•"/>
              <a:tabLst>
                <a:tab pos="300577" algn="l"/>
                <a:tab pos="321882" algn="l"/>
              </a:tabLst>
            </a:pPr>
            <a:r>
              <a:rPr sz="2494" dirty="0">
                <a:cs typeface="Arial"/>
              </a:rPr>
              <a:t>	</a:t>
            </a:r>
            <a:r>
              <a:rPr sz="2494" dirty="0">
                <a:cs typeface="Comic Sans MS"/>
              </a:rPr>
              <a:t>It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is</a:t>
            </a:r>
            <a:r>
              <a:rPr sz="2494" spc="4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done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by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verifying</a:t>
            </a:r>
            <a:r>
              <a:rPr sz="2494" spc="5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server’s</a:t>
            </a:r>
            <a:r>
              <a:rPr sz="2494" spc="45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digital </a:t>
            </a:r>
            <a:r>
              <a:rPr sz="2494" dirty="0">
                <a:cs typeface="Comic Sans MS"/>
              </a:rPr>
              <a:t>signature</a:t>
            </a:r>
            <a:r>
              <a:rPr sz="2494" spc="50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with</a:t>
            </a:r>
            <a:r>
              <a:rPr sz="2494" spc="5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5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RSA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or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DSS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public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key</a:t>
            </a:r>
            <a:r>
              <a:rPr sz="2494" spc="63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of </a:t>
            </a:r>
            <a:r>
              <a:rPr sz="2494" dirty="0">
                <a:cs typeface="Comic Sans MS"/>
              </a:rPr>
              <a:t>the</a:t>
            </a:r>
            <a:r>
              <a:rPr sz="2494" spc="73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server.</a:t>
            </a:r>
            <a:endParaRPr sz="2494" dirty="0">
              <a:cs typeface="Comic Sans MS"/>
            </a:endParaRPr>
          </a:p>
          <a:p>
            <a:pPr marL="397314" marR="4607" indent="-385798">
              <a:lnSpc>
                <a:spcPct val="101299"/>
              </a:lnSpc>
              <a:spcBef>
                <a:spcPts val="3106"/>
              </a:spcBef>
              <a:buChar char="•"/>
              <a:tabLst>
                <a:tab pos="397314" algn="l"/>
                <a:tab pos="426105" algn="l"/>
              </a:tabLst>
            </a:pPr>
            <a:r>
              <a:rPr sz="2494" dirty="0">
                <a:cs typeface="Arial"/>
              </a:rPr>
              <a:t>	</a:t>
            </a:r>
            <a:r>
              <a:rPr sz="2494" dirty="0">
                <a:cs typeface="Comic Sans MS"/>
              </a:rPr>
              <a:t>If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</a:t>
            </a:r>
            <a:r>
              <a:rPr sz="2494" spc="10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client</a:t>
            </a:r>
            <a:r>
              <a:rPr sz="2494" spc="1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is</a:t>
            </a:r>
            <a:r>
              <a:rPr sz="2494" spc="2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contacting</a:t>
            </a:r>
            <a:r>
              <a:rPr sz="2494" spc="6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</a:t>
            </a:r>
            <a:r>
              <a:rPr sz="2494" spc="100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server</a:t>
            </a:r>
            <a:r>
              <a:rPr sz="2494" spc="5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with</a:t>
            </a:r>
            <a:r>
              <a:rPr sz="2494" spc="14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SSH </a:t>
            </a:r>
            <a:r>
              <a:rPr sz="2494" dirty="0">
                <a:cs typeface="Comic Sans MS"/>
              </a:rPr>
              <a:t>the</a:t>
            </a:r>
            <a:r>
              <a:rPr sz="2494" spc="10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first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time,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client</a:t>
            </a:r>
            <a:r>
              <a:rPr sz="2494" spc="100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needs</a:t>
            </a:r>
            <a:r>
              <a:rPr sz="2494" spc="12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3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public</a:t>
            </a:r>
            <a:r>
              <a:rPr sz="2494" spc="59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key </a:t>
            </a:r>
            <a:r>
              <a:rPr sz="2494" dirty="0">
                <a:cs typeface="Comic Sans MS"/>
              </a:rPr>
              <a:t>of</a:t>
            </a:r>
            <a:r>
              <a:rPr sz="2494" spc="3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server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for</a:t>
            </a:r>
            <a:r>
              <a:rPr sz="2494" spc="4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server</a:t>
            </a:r>
            <a:r>
              <a:rPr sz="2494" spc="45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authentication.</a:t>
            </a:r>
            <a:endParaRPr sz="2494" dirty="0">
              <a:cs typeface="Comic Sans MS"/>
            </a:endParaRPr>
          </a:p>
          <a:p>
            <a:pPr marL="397314" marR="688678" indent="-385798">
              <a:lnSpc>
                <a:spcPct val="102499"/>
              </a:lnSpc>
              <a:spcBef>
                <a:spcPts val="3064"/>
              </a:spcBef>
              <a:buChar char="•"/>
              <a:tabLst>
                <a:tab pos="397314" algn="l"/>
                <a:tab pos="426105" algn="l"/>
              </a:tabLst>
            </a:pPr>
            <a:r>
              <a:rPr sz="2494" dirty="0">
                <a:cs typeface="Arial"/>
              </a:rPr>
              <a:t>	</a:t>
            </a:r>
            <a:r>
              <a:rPr sz="2494" dirty="0">
                <a:cs typeface="Comic Sans MS"/>
              </a:rPr>
              <a:t>How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does</a:t>
            </a:r>
            <a:r>
              <a:rPr sz="2494" spc="3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1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client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get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public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key</a:t>
            </a:r>
            <a:r>
              <a:rPr sz="2494" spc="82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of </a:t>
            </a:r>
            <a:r>
              <a:rPr sz="2494" dirty="0">
                <a:cs typeface="Comic Sans MS"/>
              </a:rPr>
              <a:t>the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server</a:t>
            </a:r>
            <a:r>
              <a:rPr sz="2494" spc="50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first</a:t>
            </a:r>
            <a:r>
              <a:rPr sz="2494" spc="77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time???</a:t>
            </a:r>
            <a:endParaRPr sz="2494" dirty="0">
              <a:cs typeface="Comic Sans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0664" y="1175501"/>
            <a:ext cx="7430940" cy="4313476"/>
          </a:xfrm>
          <a:prstGeom prst="rect">
            <a:avLst/>
          </a:prstGeom>
        </p:spPr>
        <p:txBody>
          <a:bodyPr vert="horz" wrap="square" lIns="0" tIns="91555" rIns="0" bIns="0" rtlCol="0">
            <a:spAutoFit/>
          </a:bodyPr>
          <a:lstStyle/>
          <a:p>
            <a:pPr marL="332823" indent="-309790">
              <a:spcBef>
                <a:spcPts val="721"/>
              </a:spcBef>
              <a:buFont typeface="Comic Sans MS"/>
              <a:buChar char="•"/>
              <a:tabLst>
                <a:tab pos="332823" algn="l"/>
              </a:tabLst>
            </a:pPr>
            <a:r>
              <a:rPr sz="2494" dirty="0">
                <a:cs typeface="Comic Sans MS"/>
              </a:rPr>
              <a:t>Two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trusted</a:t>
            </a:r>
            <a:r>
              <a:rPr sz="2494" spc="68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methods:</a:t>
            </a:r>
            <a:endParaRPr sz="2494" dirty="0">
              <a:cs typeface="Comic Sans MS"/>
            </a:endParaRPr>
          </a:p>
          <a:p>
            <a:pPr marL="695588" lvl="1" indent="-257966">
              <a:lnSpc>
                <a:spcPts val="2566"/>
              </a:lnSpc>
              <a:spcBef>
                <a:spcPts val="526"/>
              </a:spcBef>
              <a:buChar char="–"/>
              <a:tabLst>
                <a:tab pos="695588" algn="l"/>
              </a:tabLst>
            </a:pPr>
            <a:r>
              <a:rPr sz="2176" dirty="0">
                <a:cs typeface="Comic Sans MS"/>
              </a:rPr>
              <a:t>the</a:t>
            </a:r>
            <a:r>
              <a:rPr sz="2176" spc="-5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client</a:t>
            </a:r>
            <a:r>
              <a:rPr sz="2176" spc="-2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maintains</a:t>
            </a:r>
            <a:r>
              <a:rPr sz="2176" spc="-59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a</a:t>
            </a:r>
            <a:r>
              <a:rPr sz="2176" spc="-4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local</a:t>
            </a:r>
            <a:r>
              <a:rPr sz="2176" spc="-6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database</a:t>
            </a:r>
            <a:r>
              <a:rPr sz="2176" spc="-5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that</a:t>
            </a:r>
            <a:r>
              <a:rPr sz="2176" spc="-27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associates</a:t>
            </a:r>
            <a:endParaRPr sz="2176" dirty="0">
              <a:cs typeface="Comic Sans MS"/>
            </a:endParaRPr>
          </a:p>
          <a:p>
            <a:pPr marL="695588">
              <a:lnSpc>
                <a:spcPts val="2566"/>
              </a:lnSpc>
            </a:pPr>
            <a:r>
              <a:rPr sz="2176" dirty="0">
                <a:cs typeface="Comic Sans MS"/>
              </a:rPr>
              <a:t>each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server</a:t>
            </a:r>
            <a:r>
              <a:rPr sz="2176" spc="-9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name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and</a:t>
            </a:r>
            <a:r>
              <a:rPr sz="2176" spc="-59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the</a:t>
            </a:r>
            <a:r>
              <a:rPr sz="2176" spc="-4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corresponding</a:t>
            </a:r>
            <a:r>
              <a:rPr sz="2176" spc="-68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public</a:t>
            </a:r>
            <a:r>
              <a:rPr sz="2176" spc="-32" dirty="0">
                <a:cs typeface="Comic Sans MS"/>
              </a:rPr>
              <a:t> </a:t>
            </a:r>
            <a:r>
              <a:rPr sz="2176" spc="-18" dirty="0">
                <a:cs typeface="Comic Sans MS"/>
              </a:rPr>
              <a:t>key.</a:t>
            </a:r>
            <a:endParaRPr sz="2176" dirty="0">
              <a:cs typeface="Comic Sans MS"/>
            </a:endParaRPr>
          </a:p>
          <a:p>
            <a:pPr marL="695588" marR="457775" lvl="1" indent="-258542">
              <a:lnSpc>
                <a:spcPts val="2593"/>
              </a:lnSpc>
              <a:spcBef>
                <a:spcPts val="626"/>
              </a:spcBef>
              <a:buChar char="–"/>
              <a:tabLst>
                <a:tab pos="695588" algn="l"/>
              </a:tabLst>
            </a:pPr>
            <a:r>
              <a:rPr sz="2176" dirty="0">
                <a:cs typeface="Comic Sans MS"/>
              </a:rPr>
              <a:t>The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client</a:t>
            </a:r>
            <a:r>
              <a:rPr sz="2176" spc="-7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gets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the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public</a:t>
            </a:r>
            <a:r>
              <a:rPr sz="2176" spc="-32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key</a:t>
            </a:r>
            <a:r>
              <a:rPr sz="2176" spc="-50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of</a:t>
            </a:r>
            <a:r>
              <a:rPr sz="2176" spc="-2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a</a:t>
            </a:r>
            <a:r>
              <a:rPr sz="2176" spc="-2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server</a:t>
            </a:r>
            <a:r>
              <a:rPr sz="2176" spc="-2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from</a:t>
            </a:r>
            <a:r>
              <a:rPr sz="2176" spc="-63" dirty="0">
                <a:cs typeface="Comic Sans MS"/>
              </a:rPr>
              <a:t> </a:t>
            </a:r>
            <a:r>
              <a:rPr sz="2176" spc="-45" dirty="0">
                <a:cs typeface="Comic Sans MS"/>
              </a:rPr>
              <a:t>a </a:t>
            </a:r>
            <a:r>
              <a:rPr sz="2176" dirty="0">
                <a:cs typeface="Comic Sans MS"/>
              </a:rPr>
              <a:t>trusted</a:t>
            </a:r>
            <a:r>
              <a:rPr sz="2176" spc="-7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3</a:t>
            </a:r>
            <a:r>
              <a:rPr sz="2108" baseline="30465" dirty="0">
                <a:cs typeface="Comic Sans MS"/>
              </a:rPr>
              <a:t>rd</a:t>
            </a:r>
            <a:r>
              <a:rPr sz="2108" spc="306" baseline="3046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party</a:t>
            </a:r>
            <a:r>
              <a:rPr sz="2176" spc="-68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(e.g.</a:t>
            </a:r>
            <a:r>
              <a:rPr sz="2176" spc="-2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Certification</a:t>
            </a:r>
            <a:r>
              <a:rPr sz="2176" spc="-73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Authority)</a:t>
            </a:r>
            <a:endParaRPr sz="2176" dirty="0">
              <a:cs typeface="Comic Sans MS"/>
            </a:endParaRPr>
          </a:p>
          <a:p>
            <a:pPr marL="695588" lvl="1" indent="-257966">
              <a:spcBef>
                <a:spcPts val="435"/>
              </a:spcBef>
              <a:buChar char="–"/>
              <a:tabLst>
                <a:tab pos="695588" algn="l"/>
              </a:tabLst>
            </a:pPr>
            <a:r>
              <a:rPr sz="2176" dirty="0">
                <a:cs typeface="Comic Sans MS"/>
              </a:rPr>
              <a:t>These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two</a:t>
            </a:r>
            <a:r>
              <a:rPr sz="2176" spc="-5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methods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are</a:t>
            </a:r>
            <a:r>
              <a:rPr sz="2176" spc="-36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rarely</a:t>
            </a:r>
            <a:r>
              <a:rPr sz="2176" spc="-50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used.</a:t>
            </a:r>
            <a:endParaRPr sz="2176" dirty="0">
              <a:cs typeface="Comic Sans MS"/>
            </a:endParaRPr>
          </a:p>
          <a:p>
            <a:pPr marL="332823" marR="695588" indent="-310366">
              <a:lnSpc>
                <a:spcPts val="2928"/>
              </a:lnSpc>
              <a:spcBef>
                <a:spcPts val="765"/>
              </a:spcBef>
              <a:buChar char="•"/>
              <a:tabLst>
                <a:tab pos="332823" algn="l"/>
              </a:tabLst>
            </a:pPr>
            <a:r>
              <a:rPr sz="2494" dirty="0">
                <a:cs typeface="Comic Sans MS"/>
              </a:rPr>
              <a:t>Another</a:t>
            </a:r>
            <a:r>
              <a:rPr sz="2494" spc="122" dirty="0">
                <a:cs typeface="Comic Sans MS"/>
              </a:rPr>
              <a:t> </a:t>
            </a:r>
            <a:r>
              <a:rPr sz="2494" dirty="0">
                <a:solidFill>
                  <a:srgbClr val="0000FF"/>
                </a:solidFill>
                <a:cs typeface="Comic Sans MS"/>
              </a:rPr>
              <a:t>Option</a:t>
            </a:r>
            <a:r>
              <a:rPr sz="2494" dirty="0">
                <a:cs typeface="Comic Sans MS"/>
              </a:rPr>
              <a:t>: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server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authenticity</a:t>
            </a:r>
            <a:r>
              <a:rPr sz="2494" spc="12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is</a:t>
            </a:r>
            <a:r>
              <a:rPr sz="2494" spc="82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not </a:t>
            </a:r>
            <a:r>
              <a:rPr sz="2494" dirty="0">
                <a:cs typeface="Comic Sans MS"/>
              </a:rPr>
              <a:t>checked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10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first</a:t>
            </a:r>
            <a:r>
              <a:rPr sz="2494" spc="27" dirty="0">
                <a:cs typeface="Comic Sans MS"/>
              </a:rPr>
              <a:t> </a:t>
            </a:r>
            <a:r>
              <a:rPr sz="2494" spc="-18" dirty="0">
                <a:cs typeface="Comic Sans MS"/>
              </a:rPr>
              <a:t>time</a:t>
            </a:r>
            <a:endParaRPr sz="2494" dirty="0">
              <a:cs typeface="Comic Sans MS"/>
            </a:endParaRPr>
          </a:p>
          <a:p>
            <a:pPr marL="695588" marR="456624" indent="-258542">
              <a:lnSpc>
                <a:spcPts val="2521"/>
              </a:lnSpc>
              <a:spcBef>
                <a:spcPts val="666"/>
              </a:spcBef>
              <a:buChar char="•"/>
              <a:tabLst>
                <a:tab pos="695588" algn="l"/>
              </a:tabLst>
            </a:pPr>
            <a:r>
              <a:rPr sz="2176" dirty="0">
                <a:cs typeface="Comic Sans MS"/>
              </a:rPr>
              <a:t>After</a:t>
            </a:r>
            <a:r>
              <a:rPr sz="2176" spc="-36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the</a:t>
            </a:r>
            <a:r>
              <a:rPr sz="2176" spc="-4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first</a:t>
            </a:r>
            <a:r>
              <a:rPr sz="2176" spc="-7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connection,</a:t>
            </a:r>
            <a:r>
              <a:rPr sz="2176" spc="-6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the</a:t>
            </a:r>
            <a:r>
              <a:rPr sz="2176" spc="-4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public</a:t>
            </a:r>
            <a:r>
              <a:rPr sz="2176" spc="-36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key</a:t>
            </a:r>
            <a:r>
              <a:rPr sz="2176" spc="-5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of</a:t>
            </a:r>
            <a:r>
              <a:rPr sz="2176" spc="-32" dirty="0">
                <a:cs typeface="Comic Sans MS"/>
              </a:rPr>
              <a:t> </a:t>
            </a:r>
            <a:r>
              <a:rPr sz="2176" spc="-23" dirty="0">
                <a:cs typeface="Comic Sans MS"/>
              </a:rPr>
              <a:t>the </a:t>
            </a:r>
            <a:r>
              <a:rPr sz="2176" dirty="0">
                <a:cs typeface="Comic Sans MS"/>
              </a:rPr>
              <a:t>server</a:t>
            </a:r>
            <a:r>
              <a:rPr sz="2176" spc="-18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is</a:t>
            </a:r>
            <a:r>
              <a:rPr sz="2176" spc="-2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saved</a:t>
            </a:r>
            <a:r>
              <a:rPr sz="2176" spc="-45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in</a:t>
            </a:r>
            <a:r>
              <a:rPr sz="2176" spc="2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a</a:t>
            </a:r>
            <a:r>
              <a:rPr sz="2176" spc="-82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database</a:t>
            </a:r>
            <a:r>
              <a:rPr sz="2176" spc="-2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of</a:t>
            </a:r>
            <a:r>
              <a:rPr sz="2176" spc="-7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the</a:t>
            </a:r>
            <a:r>
              <a:rPr sz="2176" spc="-27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client.</a:t>
            </a:r>
            <a:endParaRPr sz="2176" dirty="0">
              <a:cs typeface="Comic Sans MS"/>
            </a:endParaRPr>
          </a:p>
          <a:p>
            <a:pPr marL="695588" indent="-257966">
              <a:spcBef>
                <a:spcPts val="526"/>
              </a:spcBef>
              <a:buChar char="•"/>
              <a:tabLst>
                <a:tab pos="695588" algn="l"/>
              </a:tabLst>
            </a:pPr>
            <a:r>
              <a:rPr sz="2176" dirty="0">
                <a:cs typeface="Comic Sans MS"/>
              </a:rPr>
              <a:t>This</a:t>
            </a:r>
            <a:r>
              <a:rPr sz="2176" spc="-2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is</a:t>
            </a:r>
            <a:r>
              <a:rPr sz="2176" spc="-23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the</a:t>
            </a:r>
            <a:r>
              <a:rPr sz="2176" spc="-27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most</a:t>
            </a:r>
            <a:r>
              <a:rPr sz="2176" spc="-54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used</a:t>
            </a:r>
            <a:r>
              <a:rPr sz="2176" spc="-45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method.</a:t>
            </a:r>
            <a:endParaRPr sz="2176" dirty="0">
              <a:cs typeface="Comic Sans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59802" y="285243"/>
            <a:ext cx="6111163" cy="776929"/>
          </a:xfrm>
          <a:prstGeom prst="rect">
            <a:avLst/>
          </a:prstGeom>
        </p:spPr>
        <p:txBody>
          <a:bodyPr vert="horz" wrap="square" lIns="0" tIns="14971" rIns="0" bIns="0" rtlCol="0" anchor="ctr">
            <a:spAutoFit/>
          </a:bodyPr>
          <a:lstStyle/>
          <a:p>
            <a:pPr algn="ctr">
              <a:lnSpc>
                <a:spcPts val="2961"/>
              </a:lnSpc>
              <a:spcBef>
                <a:spcPts val="118"/>
              </a:spcBef>
            </a:pPr>
            <a:r>
              <a:rPr sz="2494" dirty="0">
                <a:latin typeface="+mn-lt"/>
              </a:rPr>
              <a:t>How</a:t>
            </a:r>
            <a:r>
              <a:rPr sz="2494" spc="100" dirty="0">
                <a:latin typeface="+mn-lt"/>
              </a:rPr>
              <a:t> </a:t>
            </a:r>
            <a:r>
              <a:rPr sz="2494" dirty="0">
                <a:latin typeface="+mn-lt"/>
              </a:rPr>
              <a:t>to</a:t>
            </a:r>
            <a:r>
              <a:rPr sz="2494" spc="18" dirty="0">
                <a:latin typeface="+mn-lt"/>
              </a:rPr>
              <a:t> </a:t>
            </a:r>
            <a:r>
              <a:rPr sz="2494" dirty="0">
                <a:latin typeface="+mn-lt"/>
              </a:rPr>
              <a:t>get</a:t>
            </a:r>
            <a:r>
              <a:rPr sz="2494" spc="91" dirty="0">
                <a:latin typeface="+mn-lt"/>
              </a:rPr>
              <a:t> </a:t>
            </a:r>
            <a:r>
              <a:rPr sz="2494" dirty="0">
                <a:latin typeface="+mn-lt"/>
              </a:rPr>
              <a:t>server’s</a:t>
            </a:r>
            <a:r>
              <a:rPr sz="2494" spc="118" dirty="0">
                <a:latin typeface="+mn-lt"/>
              </a:rPr>
              <a:t> </a:t>
            </a:r>
            <a:r>
              <a:rPr sz="2494" dirty="0">
                <a:latin typeface="+mn-lt"/>
              </a:rPr>
              <a:t>public</a:t>
            </a:r>
            <a:r>
              <a:rPr sz="2494" spc="54" dirty="0">
                <a:latin typeface="+mn-lt"/>
              </a:rPr>
              <a:t> </a:t>
            </a:r>
            <a:r>
              <a:rPr sz="2494" dirty="0">
                <a:latin typeface="+mn-lt"/>
              </a:rPr>
              <a:t>key</a:t>
            </a:r>
            <a:r>
              <a:rPr sz="2494" spc="91" dirty="0">
                <a:latin typeface="+mn-lt"/>
              </a:rPr>
              <a:t> </a:t>
            </a:r>
            <a:r>
              <a:rPr sz="2494" dirty="0">
                <a:latin typeface="+mn-lt"/>
              </a:rPr>
              <a:t>the</a:t>
            </a:r>
            <a:r>
              <a:rPr sz="2494" spc="68" dirty="0">
                <a:latin typeface="+mn-lt"/>
              </a:rPr>
              <a:t> </a:t>
            </a:r>
            <a:r>
              <a:rPr sz="2494" spc="-23" dirty="0">
                <a:latin typeface="+mn-lt"/>
              </a:rPr>
              <a:t>1st</a:t>
            </a:r>
            <a:endParaRPr sz="2494" dirty="0">
              <a:latin typeface="+mn-lt"/>
            </a:endParaRPr>
          </a:p>
          <a:p>
            <a:pPr marL="2879" algn="ctr">
              <a:lnSpc>
                <a:spcPts val="2961"/>
              </a:lnSpc>
            </a:pPr>
            <a:r>
              <a:rPr sz="2494" spc="-9" dirty="0">
                <a:latin typeface="+mn-lt"/>
              </a:rPr>
              <a:t>time?</a:t>
            </a:r>
            <a:endParaRPr sz="2494" dirty="0">
              <a:latin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4589" y="1405847"/>
            <a:ext cx="5326322" cy="4697503"/>
          </a:xfrm>
          <a:prstGeom prst="rect">
            <a:avLst/>
          </a:prstGeom>
        </p:spPr>
        <p:txBody>
          <a:bodyPr vert="horz" wrap="square" lIns="0" tIns="84645" rIns="0" bIns="0" rtlCol="0">
            <a:spAutoFit/>
          </a:bodyPr>
          <a:lstStyle/>
          <a:p>
            <a:pPr marL="321306" indent="-309790">
              <a:spcBef>
                <a:spcPts val="666"/>
              </a:spcBef>
              <a:buFont typeface="Comic Sans MS"/>
              <a:buChar char="•"/>
              <a:tabLst>
                <a:tab pos="321306" algn="l"/>
              </a:tabLst>
            </a:pPr>
            <a:r>
              <a:rPr sz="2176" dirty="0">
                <a:cs typeface="Comic Sans MS"/>
              </a:rPr>
              <a:t>Key</a:t>
            </a:r>
            <a:r>
              <a:rPr sz="2176" spc="-41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Exchange:</a:t>
            </a:r>
            <a:endParaRPr sz="2176" dirty="0">
              <a:cs typeface="Comic Sans MS"/>
            </a:endParaRPr>
          </a:p>
          <a:p>
            <a:pPr marL="684072" lvl="1" indent="-257966">
              <a:spcBef>
                <a:spcPts val="544"/>
              </a:spcBef>
              <a:buChar char="–"/>
              <a:tabLst>
                <a:tab pos="684072" algn="l"/>
              </a:tabLst>
            </a:pPr>
            <a:r>
              <a:rPr sz="1950" dirty="0">
                <a:cs typeface="Comic Sans MS"/>
              </a:rPr>
              <a:t>diffie-hellman-group1-sha1</a:t>
            </a:r>
            <a:r>
              <a:rPr sz="1950" spc="358" dirty="0">
                <a:cs typeface="Comic Sans MS"/>
              </a:rPr>
              <a:t> </a:t>
            </a:r>
            <a:r>
              <a:rPr sz="1950" spc="-9" dirty="0">
                <a:cs typeface="Comic Sans MS"/>
              </a:rPr>
              <a:t>[Required]</a:t>
            </a:r>
            <a:endParaRPr sz="1950" dirty="0">
              <a:cs typeface="Comic Sans MS"/>
            </a:endParaRPr>
          </a:p>
          <a:p>
            <a:pPr marL="684072" lvl="1" indent="-257966">
              <a:spcBef>
                <a:spcPts val="521"/>
              </a:spcBef>
              <a:buChar char="–"/>
              <a:tabLst>
                <a:tab pos="684072" algn="l"/>
              </a:tabLst>
            </a:pPr>
            <a:r>
              <a:rPr sz="1950" dirty="0">
                <a:cs typeface="Comic Sans MS"/>
              </a:rPr>
              <a:t>diffie-hellman-group14-sha1</a:t>
            </a:r>
            <a:r>
              <a:rPr sz="1950" spc="376" dirty="0">
                <a:cs typeface="Comic Sans MS"/>
              </a:rPr>
              <a:t> </a:t>
            </a:r>
            <a:r>
              <a:rPr sz="1950" spc="-9" dirty="0">
                <a:cs typeface="Comic Sans MS"/>
              </a:rPr>
              <a:t>[Required]</a:t>
            </a:r>
            <a:endParaRPr sz="1950" dirty="0">
              <a:cs typeface="Comic Sans MS"/>
            </a:endParaRPr>
          </a:p>
          <a:p>
            <a:pPr marL="321306" indent="-309790">
              <a:spcBef>
                <a:spcPts val="1319"/>
              </a:spcBef>
              <a:buChar char="•"/>
              <a:tabLst>
                <a:tab pos="321306" algn="l"/>
              </a:tabLst>
            </a:pPr>
            <a:r>
              <a:rPr sz="2176" dirty="0">
                <a:cs typeface="Comic Sans MS"/>
              </a:rPr>
              <a:t>Data</a:t>
            </a:r>
            <a:r>
              <a:rPr sz="2176" spc="-73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Encryption:</a:t>
            </a:r>
            <a:endParaRPr sz="2176" dirty="0">
              <a:cs typeface="Comic Sans MS"/>
            </a:endParaRPr>
          </a:p>
          <a:p>
            <a:pPr marL="684072" lvl="1" indent="-257966">
              <a:spcBef>
                <a:spcPts val="748"/>
              </a:spcBef>
              <a:buChar char="–"/>
              <a:tabLst>
                <a:tab pos="684072" algn="l"/>
              </a:tabLst>
            </a:pPr>
            <a:r>
              <a:rPr sz="1950" dirty="0">
                <a:cs typeface="Comic Sans MS"/>
              </a:rPr>
              <a:t>3des-cbc</a:t>
            </a:r>
            <a:r>
              <a:rPr sz="1950" spc="127" dirty="0">
                <a:cs typeface="Comic Sans MS"/>
              </a:rPr>
              <a:t> </a:t>
            </a:r>
            <a:r>
              <a:rPr sz="1950" spc="-9" dirty="0">
                <a:cs typeface="Comic Sans MS"/>
              </a:rPr>
              <a:t>[Required]</a:t>
            </a:r>
            <a:endParaRPr sz="1950" dirty="0">
              <a:cs typeface="Comic Sans MS"/>
            </a:endParaRPr>
          </a:p>
          <a:p>
            <a:pPr marL="684072" lvl="1" indent="-257966">
              <a:spcBef>
                <a:spcPts val="526"/>
              </a:spcBef>
              <a:buChar char="–"/>
              <a:tabLst>
                <a:tab pos="684072" algn="l"/>
              </a:tabLst>
            </a:pPr>
            <a:r>
              <a:rPr sz="1950" dirty="0">
                <a:cs typeface="Comic Sans MS"/>
              </a:rPr>
              <a:t>aes128-cbc</a:t>
            </a:r>
            <a:r>
              <a:rPr sz="1950" spc="136" dirty="0">
                <a:cs typeface="Comic Sans MS"/>
              </a:rPr>
              <a:t> </a:t>
            </a:r>
            <a:r>
              <a:rPr sz="1950" spc="-9" dirty="0">
                <a:cs typeface="Comic Sans MS"/>
              </a:rPr>
              <a:t>[</a:t>
            </a:r>
            <a:r>
              <a:rPr sz="1950" spc="-9" dirty="0">
                <a:solidFill>
                  <a:srgbClr val="800000"/>
                </a:solidFill>
                <a:cs typeface="Comic Sans MS"/>
              </a:rPr>
              <a:t>Recommended</a:t>
            </a:r>
            <a:r>
              <a:rPr sz="1950" spc="-9" dirty="0">
                <a:cs typeface="Comic Sans MS"/>
              </a:rPr>
              <a:t>]</a:t>
            </a:r>
            <a:endParaRPr sz="1950" dirty="0">
              <a:cs typeface="Comic Sans MS"/>
            </a:endParaRPr>
          </a:p>
          <a:p>
            <a:pPr marL="321306" indent="-309790">
              <a:spcBef>
                <a:spcPts val="635"/>
              </a:spcBef>
              <a:buChar char="•"/>
              <a:tabLst>
                <a:tab pos="321306" algn="l"/>
              </a:tabLst>
            </a:pPr>
            <a:r>
              <a:rPr sz="2176" dirty="0">
                <a:cs typeface="Comic Sans MS"/>
              </a:rPr>
              <a:t>Data</a:t>
            </a:r>
            <a:r>
              <a:rPr sz="2176" spc="-73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Integrity:</a:t>
            </a:r>
            <a:endParaRPr sz="2176" dirty="0">
              <a:cs typeface="Comic Sans MS"/>
            </a:endParaRPr>
          </a:p>
          <a:p>
            <a:pPr marL="684072" lvl="1" indent="-257966">
              <a:spcBef>
                <a:spcPts val="549"/>
              </a:spcBef>
              <a:buChar char="–"/>
              <a:tabLst>
                <a:tab pos="684072" algn="l"/>
              </a:tabLst>
            </a:pPr>
            <a:r>
              <a:rPr sz="1950" dirty="0">
                <a:cs typeface="Comic Sans MS"/>
              </a:rPr>
              <a:t>hmac-sha1</a:t>
            </a:r>
            <a:r>
              <a:rPr sz="1950" spc="145" dirty="0">
                <a:cs typeface="Comic Sans MS"/>
              </a:rPr>
              <a:t> </a:t>
            </a:r>
            <a:r>
              <a:rPr sz="1950" spc="-9" dirty="0">
                <a:cs typeface="Comic Sans MS"/>
              </a:rPr>
              <a:t>[Required],</a:t>
            </a:r>
            <a:endParaRPr sz="1950" dirty="0">
              <a:cs typeface="Comic Sans MS"/>
            </a:endParaRPr>
          </a:p>
          <a:p>
            <a:pPr marL="684072" lvl="1" indent="-257966">
              <a:spcBef>
                <a:spcPts val="517"/>
              </a:spcBef>
              <a:buChar char="–"/>
              <a:tabLst>
                <a:tab pos="684072" algn="l"/>
              </a:tabLst>
            </a:pPr>
            <a:r>
              <a:rPr sz="1950" dirty="0">
                <a:cs typeface="Comic Sans MS"/>
              </a:rPr>
              <a:t>hmac-sha1-96</a:t>
            </a:r>
            <a:r>
              <a:rPr sz="1950" spc="172" dirty="0">
                <a:cs typeface="Comic Sans MS"/>
              </a:rPr>
              <a:t> </a:t>
            </a:r>
            <a:r>
              <a:rPr sz="1950" spc="-9" dirty="0">
                <a:cs typeface="Comic Sans MS"/>
              </a:rPr>
              <a:t>[</a:t>
            </a:r>
            <a:r>
              <a:rPr sz="1950" spc="-9" dirty="0">
                <a:solidFill>
                  <a:srgbClr val="800000"/>
                </a:solidFill>
                <a:cs typeface="Comic Sans MS"/>
              </a:rPr>
              <a:t>Recommended</a:t>
            </a:r>
            <a:r>
              <a:rPr sz="1950" spc="-9" dirty="0">
                <a:cs typeface="Comic Sans MS"/>
              </a:rPr>
              <a:t>]</a:t>
            </a:r>
            <a:endParaRPr sz="1950" dirty="0">
              <a:cs typeface="Comic Sans MS"/>
            </a:endParaRPr>
          </a:p>
          <a:p>
            <a:pPr marL="321306" indent="-309790">
              <a:spcBef>
                <a:spcPts val="639"/>
              </a:spcBef>
              <a:buChar char="•"/>
              <a:tabLst>
                <a:tab pos="321306" algn="l"/>
              </a:tabLst>
            </a:pPr>
            <a:r>
              <a:rPr sz="2176" dirty="0">
                <a:cs typeface="Comic Sans MS"/>
              </a:rPr>
              <a:t>Public</a:t>
            </a:r>
            <a:r>
              <a:rPr sz="2176" spc="-41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Key</a:t>
            </a:r>
            <a:r>
              <a:rPr sz="2176" spc="-59" dirty="0">
                <a:cs typeface="Comic Sans MS"/>
              </a:rPr>
              <a:t> </a:t>
            </a:r>
            <a:r>
              <a:rPr sz="2176" dirty="0">
                <a:cs typeface="Comic Sans MS"/>
              </a:rPr>
              <a:t>for</a:t>
            </a:r>
            <a:r>
              <a:rPr sz="2176" spc="-36" dirty="0">
                <a:cs typeface="Comic Sans MS"/>
              </a:rPr>
              <a:t> </a:t>
            </a:r>
            <a:r>
              <a:rPr sz="2176" spc="-9" dirty="0">
                <a:cs typeface="Comic Sans MS"/>
              </a:rPr>
              <a:t>Authentication:</a:t>
            </a:r>
            <a:endParaRPr sz="2176" dirty="0">
              <a:cs typeface="Comic Sans MS"/>
            </a:endParaRPr>
          </a:p>
          <a:p>
            <a:pPr marL="684072" lvl="1" indent="-257966">
              <a:spcBef>
                <a:spcPts val="544"/>
              </a:spcBef>
              <a:buChar char="–"/>
              <a:tabLst>
                <a:tab pos="684072" algn="l"/>
              </a:tabLst>
            </a:pPr>
            <a:r>
              <a:rPr sz="1950" dirty="0">
                <a:cs typeface="Comic Sans MS"/>
              </a:rPr>
              <a:t>ssh-dss</a:t>
            </a:r>
            <a:r>
              <a:rPr sz="1950" spc="163" dirty="0">
                <a:cs typeface="Comic Sans MS"/>
              </a:rPr>
              <a:t> </a:t>
            </a:r>
            <a:r>
              <a:rPr sz="1950" spc="-9" dirty="0">
                <a:cs typeface="Comic Sans MS"/>
              </a:rPr>
              <a:t>[Required]</a:t>
            </a:r>
            <a:endParaRPr sz="1950" dirty="0">
              <a:cs typeface="Comic Sans MS"/>
            </a:endParaRPr>
          </a:p>
          <a:p>
            <a:pPr marL="684072" lvl="1" indent="-257966">
              <a:spcBef>
                <a:spcPts val="594"/>
              </a:spcBef>
              <a:buFont typeface="Comic Sans MS"/>
              <a:buChar char="–"/>
              <a:tabLst>
                <a:tab pos="684072" algn="l"/>
              </a:tabLst>
            </a:pPr>
            <a:r>
              <a:rPr sz="1950" spc="50" dirty="0">
                <a:cs typeface="Microsoft Sans Serif"/>
              </a:rPr>
              <a:t>ssh-</a:t>
            </a:r>
            <a:r>
              <a:rPr sz="1950" spc="68" dirty="0">
                <a:cs typeface="Microsoft Sans Serif"/>
              </a:rPr>
              <a:t>rsa</a:t>
            </a:r>
            <a:r>
              <a:rPr sz="1950" spc="82" dirty="0">
                <a:cs typeface="Microsoft Sans Serif"/>
              </a:rPr>
              <a:t> [</a:t>
            </a:r>
            <a:r>
              <a:rPr sz="1950" spc="82" dirty="0">
                <a:solidFill>
                  <a:srgbClr val="800000"/>
                </a:solidFill>
                <a:cs typeface="Microsoft Sans Serif"/>
              </a:rPr>
              <a:t>Recommended</a:t>
            </a:r>
            <a:r>
              <a:rPr sz="1950" spc="82" dirty="0">
                <a:cs typeface="Microsoft Sans Serif"/>
              </a:rPr>
              <a:t>]</a:t>
            </a:r>
            <a:endParaRPr sz="1950" dirty="0"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222266">
              <a:lnSpc>
                <a:spcPct val="100000"/>
              </a:lnSpc>
              <a:spcBef>
                <a:spcPts val="95"/>
              </a:spcBef>
            </a:pPr>
            <a:r>
              <a:rPr dirty="0"/>
              <a:t>Required/Recommended</a:t>
            </a:r>
            <a:r>
              <a:rPr spc="-159" dirty="0"/>
              <a:t> </a:t>
            </a:r>
            <a:r>
              <a:rPr spc="-9" dirty="0"/>
              <a:t>Algorithms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467" y="23"/>
            <a:ext cx="7799463" cy="90758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587447"/>
            <a:ext cx="9535557" cy="689319"/>
          </a:xfrm>
          <a:prstGeom prst="rect">
            <a:avLst/>
          </a:prstGeom>
        </p:spPr>
        <p:txBody>
          <a:bodyPr vert="horz" wrap="square" lIns="0" tIns="12092" rIns="0" bIns="0" rtlCol="0" anchor="ctr">
            <a:spAutoFit/>
          </a:bodyPr>
          <a:lstStyle/>
          <a:p>
            <a:pPr marL="3171605">
              <a:lnSpc>
                <a:spcPct val="100000"/>
              </a:lnSpc>
              <a:spcBef>
                <a:spcPts val="95"/>
              </a:spcBef>
            </a:pPr>
            <a:r>
              <a:rPr spc="-9" dirty="0">
                <a:latin typeface="+mn-lt"/>
                <a:cs typeface="Comic Sans MS"/>
              </a:rPr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289839" y="1655479"/>
            <a:ext cx="9535557" cy="2105936"/>
          </a:xfrm>
          <a:prstGeom prst="rect">
            <a:avLst/>
          </a:prstGeom>
        </p:spPr>
        <p:txBody>
          <a:bodyPr vert="horz" wrap="square" lIns="0" tIns="199809" rIns="0" bIns="0" rtlCol="0">
            <a:spAutoFit/>
          </a:bodyPr>
          <a:lstStyle/>
          <a:p>
            <a:pPr marL="304608" indent="-293091">
              <a:lnSpc>
                <a:spcPct val="100000"/>
              </a:lnSpc>
              <a:spcBef>
                <a:spcPts val="1573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304608" algn="l"/>
              </a:tabLst>
            </a:pPr>
            <a:r>
              <a:rPr dirty="0"/>
              <a:t>Protocol</a:t>
            </a:r>
            <a:r>
              <a:rPr spc="-45" dirty="0"/>
              <a:t> </a:t>
            </a:r>
            <a:r>
              <a:rPr spc="-9" dirty="0"/>
              <a:t>Details</a:t>
            </a:r>
          </a:p>
          <a:p>
            <a:pPr marL="696740" lvl="1" indent="-260846">
              <a:lnSpc>
                <a:spcPct val="100000"/>
              </a:lnSpc>
              <a:spcBef>
                <a:spcPts val="1215"/>
              </a:spcBef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cs typeface="Comic Sans MS"/>
              </a:rPr>
              <a:t>Transport</a:t>
            </a:r>
            <a:r>
              <a:rPr sz="2358" spc="-27" dirty="0">
                <a:cs typeface="Comic Sans MS"/>
              </a:rPr>
              <a:t> </a:t>
            </a:r>
            <a:r>
              <a:rPr sz="2358" spc="-18" dirty="0">
                <a:cs typeface="Comic Sans MS"/>
              </a:rPr>
              <a:t>Layer</a:t>
            </a:r>
            <a:endParaRPr sz="2358" dirty="0">
              <a:cs typeface="Comic Sans MS"/>
            </a:endParaRPr>
          </a:p>
          <a:p>
            <a:pPr marL="696740" lvl="1" indent="-260846">
              <a:lnSpc>
                <a:spcPct val="100000"/>
              </a:lnSpc>
              <a:spcBef>
                <a:spcPts val="920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solidFill>
                  <a:srgbClr val="0000FF"/>
                </a:solidFill>
                <a:cs typeface="Comic Sans MS"/>
              </a:rPr>
              <a:t>User</a:t>
            </a:r>
            <a:r>
              <a:rPr sz="2358" spc="-32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358" dirty="0">
                <a:solidFill>
                  <a:srgbClr val="0000FF"/>
                </a:solidFill>
                <a:cs typeface="Comic Sans MS"/>
              </a:rPr>
              <a:t>Authentication</a:t>
            </a:r>
            <a:r>
              <a:rPr sz="2358" spc="-59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358" spc="-9" dirty="0">
                <a:solidFill>
                  <a:srgbClr val="0000FF"/>
                </a:solidFill>
                <a:cs typeface="Comic Sans MS"/>
              </a:rPr>
              <a:t>Layer</a:t>
            </a:r>
            <a:endParaRPr sz="2358" dirty="0">
              <a:cs typeface="Comic Sans MS"/>
            </a:endParaRPr>
          </a:p>
          <a:p>
            <a:pPr marL="696740" lvl="1" indent="-260846">
              <a:lnSpc>
                <a:spcPct val="100000"/>
              </a:lnSpc>
              <a:spcBef>
                <a:spcPts val="920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solidFill>
                  <a:srgbClr val="808080"/>
                </a:solidFill>
                <a:cs typeface="Comic Sans MS"/>
              </a:rPr>
              <a:t>Connection</a:t>
            </a:r>
            <a:r>
              <a:rPr sz="2358" spc="-27" dirty="0">
                <a:solidFill>
                  <a:srgbClr val="808080"/>
                </a:solidFill>
                <a:cs typeface="Comic Sans MS"/>
              </a:rPr>
              <a:t> </a:t>
            </a:r>
            <a:r>
              <a:rPr sz="2358" spc="-18" dirty="0">
                <a:solidFill>
                  <a:srgbClr val="808080"/>
                </a:solidFill>
                <a:cs typeface="Comic Sans MS"/>
              </a:rPr>
              <a:t>Layer</a:t>
            </a:r>
            <a:endParaRPr sz="2358" dirty="0">
              <a:cs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9839" y="1794238"/>
            <a:ext cx="6714620" cy="2614661"/>
          </a:xfrm>
          <a:prstGeom prst="rect">
            <a:avLst/>
          </a:prstGeom>
        </p:spPr>
        <p:txBody>
          <a:bodyPr vert="horz" wrap="square" lIns="0" tIns="89252" rIns="0" bIns="0" rtlCol="0">
            <a:spAutoFit/>
          </a:bodyPr>
          <a:lstStyle/>
          <a:p>
            <a:pPr marL="321306" indent="-309790">
              <a:spcBef>
                <a:spcPts val="703"/>
              </a:spcBef>
              <a:buFont typeface="Comic Sans MS"/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It</a:t>
            </a:r>
            <a:r>
              <a:rPr sz="2494" spc="5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runs</a:t>
            </a:r>
            <a:r>
              <a:rPr sz="2494" spc="1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atop</a:t>
            </a:r>
            <a:r>
              <a:rPr sz="2494" spc="4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of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Transport</a:t>
            </a:r>
            <a:r>
              <a:rPr sz="2494" spc="68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Layer</a:t>
            </a:r>
            <a:endParaRPr sz="2494" dirty="0">
              <a:cs typeface="Comic Sans MS"/>
            </a:endParaRPr>
          </a:p>
          <a:p>
            <a:pPr marL="321306" marR="4607" indent="-310366">
              <a:lnSpc>
                <a:spcPts val="2928"/>
              </a:lnSpc>
              <a:spcBef>
                <a:spcPts val="771"/>
              </a:spcBef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It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relies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on</a:t>
            </a:r>
            <a:r>
              <a:rPr sz="2494" spc="2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3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data</a:t>
            </a:r>
            <a:r>
              <a:rPr sz="2494" spc="5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privacy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and</a:t>
            </a:r>
            <a:r>
              <a:rPr sz="2494" spc="73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integrity, </a:t>
            </a:r>
            <a:r>
              <a:rPr sz="2494" dirty="0">
                <a:cs typeface="Comic Sans MS"/>
              </a:rPr>
              <a:t>provided</a:t>
            </a:r>
            <a:r>
              <a:rPr sz="2494" spc="4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by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Transport</a:t>
            </a:r>
            <a:r>
              <a:rPr sz="2494" spc="77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Layer</a:t>
            </a:r>
            <a:endParaRPr sz="2494" dirty="0">
              <a:cs typeface="Comic Sans MS"/>
            </a:endParaRPr>
          </a:p>
          <a:p>
            <a:pPr marL="321306" indent="-309790">
              <a:spcBef>
                <a:spcPts val="535"/>
              </a:spcBef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Service</a:t>
            </a:r>
            <a:r>
              <a:rPr sz="2494" spc="11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ID: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“</a:t>
            </a:r>
            <a:r>
              <a:rPr sz="2494" dirty="0">
                <a:solidFill>
                  <a:srgbClr val="0000FF"/>
                </a:solidFill>
                <a:cs typeface="Comic Sans MS"/>
              </a:rPr>
              <a:t>ssh-</a:t>
            </a:r>
            <a:r>
              <a:rPr sz="2494" spc="-9" dirty="0">
                <a:solidFill>
                  <a:srgbClr val="0000FF"/>
                </a:solidFill>
                <a:cs typeface="Comic Sans MS"/>
              </a:rPr>
              <a:t>userauth</a:t>
            </a:r>
            <a:r>
              <a:rPr sz="2494" spc="-9" dirty="0">
                <a:cs typeface="Comic Sans MS"/>
              </a:rPr>
              <a:t>”</a:t>
            </a:r>
            <a:endParaRPr sz="2494" dirty="0">
              <a:cs typeface="Comic Sans MS"/>
            </a:endParaRPr>
          </a:p>
          <a:p>
            <a:pPr marL="321306" marR="253936" indent="-310366">
              <a:lnSpc>
                <a:spcPts val="2928"/>
              </a:lnSpc>
              <a:spcBef>
                <a:spcPts val="765"/>
              </a:spcBef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Several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user</a:t>
            </a:r>
            <a:r>
              <a:rPr sz="2494" spc="1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authentication</a:t>
            </a:r>
            <a:r>
              <a:rPr sz="2494" spc="5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methods</a:t>
            </a:r>
            <a:r>
              <a:rPr sz="2494" spc="159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are </a:t>
            </a:r>
            <a:r>
              <a:rPr sz="2494" spc="-9" dirty="0">
                <a:cs typeface="Comic Sans MS"/>
              </a:rPr>
              <a:t>available</a:t>
            </a:r>
            <a:endParaRPr sz="2494" dirty="0">
              <a:cs typeface="Comic Sans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319003">
              <a:lnSpc>
                <a:spcPct val="100000"/>
              </a:lnSpc>
              <a:spcBef>
                <a:spcPts val="95"/>
              </a:spcBef>
            </a:pPr>
            <a:r>
              <a:rPr dirty="0"/>
              <a:t>User</a:t>
            </a:r>
            <a:r>
              <a:rPr spc="-59" dirty="0"/>
              <a:t> </a:t>
            </a:r>
            <a:r>
              <a:rPr dirty="0"/>
              <a:t>Authentication</a:t>
            </a:r>
            <a:r>
              <a:rPr spc="-54" dirty="0"/>
              <a:t> </a:t>
            </a:r>
            <a:r>
              <a:rPr dirty="0"/>
              <a:t>Layer</a:t>
            </a:r>
            <a:r>
              <a:rPr spc="-54" dirty="0"/>
              <a:t> </a:t>
            </a:r>
            <a:r>
              <a:rPr spc="-23" dirty="0"/>
              <a:t>(1)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691F847-6D1C-CB56-01B3-2DC2CBBB5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2D6D2F-D71D-7A47-9F9A-7946A3539DB5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E17316D9-8F0C-A2F3-7292-C81BA23E0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authentication overview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1FC727D5-0F8F-E3F4-90EC-E1FA0A045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81800" y="1066800"/>
            <a:ext cx="3581400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1800"/>
              <a:t>USERAUTH_REQUEST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user name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service name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method name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… method specific fields …</a:t>
            </a:r>
          </a:p>
          <a:p>
            <a:pPr lvl="1">
              <a:lnSpc>
                <a:spcPct val="90000"/>
              </a:lnSpc>
            </a:pPr>
            <a:endParaRPr lang="en-US" altLang="en-US" sz="1600"/>
          </a:p>
          <a:p>
            <a:pPr>
              <a:lnSpc>
                <a:spcPct val="90000"/>
              </a:lnSpc>
            </a:pPr>
            <a:r>
              <a:rPr lang="en-US" altLang="en-US" sz="1800"/>
              <a:t>USERAUTH_FAILURE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list of authentication methods that can continue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partial success flag</a:t>
            </a:r>
          </a:p>
          <a:p>
            <a:pPr lvl="2">
              <a:lnSpc>
                <a:spcPct val="90000"/>
              </a:lnSpc>
            </a:pPr>
            <a:r>
              <a:rPr lang="en-US" altLang="en-US" sz="1400"/>
              <a:t>TRUE: previous request was successful, but further authentication is needed</a:t>
            </a:r>
          </a:p>
          <a:p>
            <a:pPr lvl="2">
              <a:lnSpc>
                <a:spcPct val="90000"/>
              </a:lnSpc>
            </a:pPr>
            <a:r>
              <a:rPr lang="en-US" altLang="en-US" sz="1400"/>
              <a:t>FALSE: previous request was not successful</a:t>
            </a:r>
          </a:p>
          <a:p>
            <a:pPr lvl="2">
              <a:lnSpc>
                <a:spcPct val="90000"/>
              </a:lnSpc>
            </a:pPr>
            <a:endParaRPr lang="en-US" altLang="en-US" sz="1400"/>
          </a:p>
          <a:p>
            <a:pPr>
              <a:lnSpc>
                <a:spcPct val="90000"/>
              </a:lnSpc>
            </a:pPr>
            <a:r>
              <a:rPr lang="en-US" altLang="en-US" sz="1800"/>
              <a:t>USERAUTH_SUCCESS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600"/>
              <a:t>	(authentication is complete, the server starts the requested service)</a:t>
            </a:r>
          </a:p>
        </p:txBody>
      </p:sp>
      <p:sp>
        <p:nvSpPr>
          <p:cNvPr id="47108" name="Line 4">
            <a:extLst>
              <a:ext uri="{FF2B5EF4-FFF2-40B4-BE49-F238E27FC236}">
                <a16:creationId xmlns:a16="http://schemas.microsoft.com/office/drawing/2014/main" id="{55111DC6-465A-EDCB-E536-ECCE093C3B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7526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9" name="Line 5">
            <a:extLst>
              <a:ext uri="{FF2B5EF4-FFF2-40B4-BE49-F238E27FC236}">
                <a16:creationId xmlns:a16="http://schemas.microsoft.com/office/drawing/2014/main" id="{9CC95F36-CE34-6240-8195-13070F99A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7526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0" name="Text Box 6">
            <a:extLst>
              <a:ext uri="{FF2B5EF4-FFF2-40B4-BE49-F238E27FC236}">
                <a16:creationId xmlns:a16="http://schemas.microsoft.com/office/drawing/2014/main" id="{8038D50E-E264-F37B-E131-922822FCE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1371600"/>
            <a:ext cx="6815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client</a:t>
            </a:r>
          </a:p>
        </p:txBody>
      </p:sp>
      <p:sp>
        <p:nvSpPr>
          <p:cNvPr id="47111" name="Text Box 7">
            <a:extLst>
              <a:ext uri="{FF2B5EF4-FFF2-40B4-BE49-F238E27FC236}">
                <a16:creationId xmlns:a16="http://schemas.microsoft.com/office/drawing/2014/main" id="{4B75E6D0-05C6-AB53-E299-9F20A987A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338" y="1371600"/>
            <a:ext cx="749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server</a:t>
            </a:r>
          </a:p>
        </p:txBody>
      </p:sp>
      <p:sp>
        <p:nvSpPr>
          <p:cNvPr id="47112" name="Text Box 8">
            <a:extLst>
              <a:ext uri="{FF2B5EF4-FFF2-40B4-BE49-F238E27FC236}">
                <a16:creationId xmlns:a16="http://schemas.microsoft.com/office/drawing/2014/main" id="{C61257BB-3322-1031-8AB9-0CAA1456E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4" y="2062164"/>
            <a:ext cx="23748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SSH_MSG_USERAUTH_REQUEST</a:t>
            </a:r>
          </a:p>
        </p:txBody>
      </p:sp>
      <p:sp>
        <p:nvSpPr>
          <p:cNvPr id="47113" name="Line 9">
            <a:extLst>
              <a:ext uri="{FF2B5EF4-FFF2-40B4-BE49-F238E27FC236}">
                <a16:creationId xmlns:a16="http://schemas.microsoft.com/office/drawing/2014/main" id="{5F4C6528-FCD1-CF7F-F53D-A878291F3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4826" y="2319338"/>
            <a:ext cx="2752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4" name="Line 10">
            <a:extLst>
              <a:ext uri="{FF2B5EF4-FFF2-40B4-BE49-F238E27FC236}">
                <a16:creationId xmlns:a16="http://schemas.microsoft.com/office/drawing/2014/main" id="{B2909CD1-0C8F-E7B4-3DED-6B8D11DF3F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4350" y="2935288"/>
            <a:ext cx="2724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Text Box 11">
            <a:extLst>
              <a:ext uri="{FF2B5EF4-FFF2-40B4-BE49-F238E27FC236}">
                <a16:creationId xmlns:a16="http://schemas.microsoft.com/office/drawing/2014/main" id="{89B53000-D6F3-B95D-E96F-9C5936D89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850" y="2484439"/>
            <a:ext cx="23006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SSH_MSG_USERAUTH_FAILURE</a:t>
            </a:r>
          </a:p>
          <a:p>
            <a:r>
              <a:rPr lang="en-US" altLang="en-US" sz="1200"/>
              <a:t>(further authentication needed)</a:t>
            </a:r>
          </a:p>
        </p:txBody>
      </p:sp>
      <p:sp>
        <p:nvSpPr>
          <p:cNvPr id="47116" name="Text Box 12">
            <a:extLst>
              <a:ext uri="{FF2B5EF4-FFF2-40B4-BE49-F238E27FC236}">
                <a16:creationId xmlns:a16="http://schemas.microsoft.com/office/drawing/2014/main" id="{832D4215-A4D3-A0A3-6852-B787265E0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4" y="3263901"/>
            <a:ext cx="23748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SSH_MSG_USERAUTH_REQUEST</a:t>
            </a:r>
          </a:p>
        </p:txBody>
      </p:sp>
      <p:sp>
        <p:nvSpPr>
          <p:cNvPr id="47117" name="Line 13">
            <a:extLst>
              <a:ext uri="{FF2B5EF4-FFF2-40B4-BE49-F238E27FC236}">
                <a16:creationId xmlns:a16="http://schemas.microsoft.com/office/drawing/2014/main" id="{7C01CAAD-96DA-46E6-0B2B-3C0C8E76B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4351" y="3521075"/>
            <a:ext cx="2752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8" name="Line 14">
            <a:extLst>
              <a:ext uri="{FF2B5EF4-FFF2-40B4-BE49-F238E27FC236}">
                <a16:creationId xmlns:a16="http://schemas.microsoft.com/office/drawing/2014/main" id="{750AA962-6F19-DD7E-48F1-F3D453F9FA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2288" y="4252913"/>
            <a:ext cx="2724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9" name="Text Box 15">
            <a:extLst>
              <a:ext uri="{FF2B5EF4-FFF2-40B4-BE49-F238E27FC236}">
                <a16:creationId xmlns:a16="http://schemas.microsoft.com/office/drawing/2014/main" id="{8C61DC5C-B719-2498-0602-14E863CE2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850" y="3802064"/>
            <a:ext cx="23006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SSH_MSG_USERAUTH_FAILURE</a:t>
            </a:r>
          </a:p>
          <a:p>
            <a:r>
              <a:rPr lang="en-US" altLang="en-US" sz="1200"/>
              <a:t>(further authentication needed)</a:t>
            </a:r>
          </a:p>
        </p:txBody>
      </p:sp>
      <p:sp>
        <p:nvSpPr>
          <p:cNvPr id="47120" name="Text Box 16">
            <a:extLst>
              <a:ext uri="{FF2B5EF4-FFF2-40B4-BE49-F238E27FC236}">
                <a16:creationId xmlns:a16="http://schemas.microsoft.com/office/drawing/2014/main" id="{32F45534-0F59-C3E0-CE02-7A37A9CFB2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254122" y="4407972"/>
            <a:ext cx="3738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…</a:t>
            </a:r>
          </a:p>
        </p:txBody>
      </p:sp>
      <p:sp>
        <p:nvSpPr>
          <p:cNvPr id="47121" name="Text Box 17">
            <a:extLst>
              <a:ext uri="{FF2B5EF4-FFF2-40B4-BE49-F238E27FC236}">
                <a16:creationId xmlns:a16="http://schemas.microsoft.com/office/drawing/2014/main" id="{F29EBF68-44EE-3725-0381-A59FB9678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4" y="4840289"/>
            <a:ext cx="23748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SSH_MSG_USERAUTH_REQUEST</a:t>
            </a:r>
          </a:p>
        </p:txBody>
      </p:sp>
      <p:sp>
        <p:nvSpPr>
          <p:cNvPr id="47122" name="Line 18">
            <a:extLst>
              <a:ext uri="{FF2B5EF4-FFF2-40B4-BE49-F238E27FC236}">
                <a16:creationId xmlns:a16="http://schemas.microsoft.com/office/drawing/2014/main" id="{C99E8D73-0058-493E-E83E-9B527E40D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4351" y="5097463"/>
            <a:ext cx="2752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3" name="Line 19">
            <a:extLst>
              <a:ext uri="{FF2B5EF4-FFF2-40B4-BE49-F238E27FC236}">
                <a16:creationId xmlns:a16="http://schemas.microsoft.com/office/drawing/2014/main" id="{9E264816-FFC3-D227-DE7F-657EBF65C7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2288" y="5581650"/>
            <a:ext cx="2724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4" name="Text Box 20">
            <a:extLst>
              <a:ext uri="{FF2B5EF4-FFF2-40B4-BE49-F238E27FC236}">
                <a16:creationId xmlns:a16="http://schemas.microsoft.com/office/drawing/2014/main" id="{49EF5D4A-7382-F47D-EB95-D52E4156E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1" y="5321301"/>
            <a:ext cx="23993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SSH_MSG_USERAUTH_SUCCESS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9839" y="1405847"/>
            <a:ext cx="6712318" cy="2599273"/>
          </a:xfrm>
          <a:prstGeom prst="rect">
            <a:avLst/>
          </a:prstGeom>
        </p:spPr>
        <p:txBody>
          <a:bodyPr vert="horz" wrap="square" lIns="0" tIns="97889" rIns="0" bIns="0" rtlCol="0">
            <a:spAutoFit/>
          </a:bodyPr>
          <a:lstStyle/>
          <a:p>
            <a:pPr marL="321306" indent="-309790">
              <a:spcBef>
                <a:spcPts val="771"/>
              </a:spcBef>
              <a:buFont typeface="Comic Sans MS"/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Client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requests</a:t>
            </a:r>
            <a:r>
              <a:rPr sz="2494" spc="11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service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“ssh-</a:t>
            </a:r>
            <a:r>
              <a:rPr sz="2494" spc="-9" dirty="0">
                <a:cs typeface="Comic Sans MS"/>
              </a:rPr>
              <a:t>userauth”</a:t>
            </a:r>
            <a:endParaRPr sz="2494" dirty="0">
              <a:cs typeface="Comic Sans MS"/>
            </a:endParaRPr>
          </a:p>
          <a:p>
            <a:pPr marL="321306" marR="148561" indent="-310366">
              <a:lnSpc>
                <a:spcPct val="102499"/>
              </a:lnSpc>
              <a:spcBef>
                <a:spcPts val="612"/>
              </a:spcBef>
              <a:buChar char="•"/>
              <a:tabLst>
                <a:tab pos="321306" algn="l"/>
                <a:tab pos="4896180" algn="l"/>
              </a:tabLst>
            </a:pPr>
            <a:r>
              <a:rPr sz="2494" dirty="0">
                <a:cs typeface="Comic Sans MS"/>
              </a:rPr>
              <a:t>Server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responds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with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list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of</a:t>
            </a:r>
            <a:r>
              <a:rPr sz="2494" spc="59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available </a:t>
            </a:r>
            <a:r>
              <a:rPr sz="2494" dirty="0">
                <a:cs typeface="Comic Sans MS"/>
              </a:rPr>
              <a:t>user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authentication</a:t>
            </a:r>
            <a:r>
              <a:rPr sz="2494" spc="136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methods.</a:t>
            </a:r>
            <a:r>
              <a:rPr sz="2494" dirty="0">
                <a:cs typeface="Comic Sans MS"/>
              </a:rPr>
              <a:t>	More</a:t>
            </a:r>
            <a:r>
              <a:rPr sz="2494" spc="54" dirty="0">
                <a:cs typeface="Comic Sans MS"/>
              </a:rPr>
              <a:t> </a:t>
            </a:r>
            <a:r>
              <a:rPr sz="2494" spc="-18" dirty="0">
                <a:cs typeface="Comic Sans MS"/>
              </a:rPr>
              <a:t>than </a:t>
            </a:r>
            <a:r>
              <a:rPr sz="2494" dirty="0">
                <a:cs typeface="Comic Sans MS"/>
              </a:rPr>
              <a:t>one</a:t>
            </a:r>
            <a:r>
              <a:rPr sz="2494" spc="10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user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authentication</a:t>
            </a:r>
            <a:r>
              <a:rPr sz="2494" spc="10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methods</a:t>
            </a:r>
            <a:r>
              <a:rPr sz="2494" spc="5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may</a:t>
            </a:r>
            <a:r>
              <a:rPr sz="2494" spc="118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be </a:t>
            </a:r>
            <a:r>
              <a:rPr sz="2494" spc="-9" dirty="0">
                <a:cs typeface="Comic Sans MS"/>
              </a:rPr>
              <a:t>required.</a:t>
            </a:r>
            <a:endParaRPr sz="2494" dirty="0">
              <a:cs typeface="Comic Sans MS"/>
            </a:endParaRPr>
          </a:p>
          <a:p>
            <a:pPr marL="321306" indent="-309790">
              <a:spcBef>
                <a:spcPts val="689"/>
              </a:spcBef>
              <a:buChar char="•"/>
              <a:tabLst>
                <a:tab pos="321306" algn="l"/>
              </a:tabLst>
            </a:pPr>
            <a:r>
              <a:rPr sz="2494" spc="-9" dirty="0">
                <a:cs typeface="Comic Sans MS"/>
              </a:rPr>
              <a:t>Methods:</a:t>
            </a:r>
            <a:endParaRPr sz="2494" dirty="0"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8099" y="3796371"/>
            <a:ext cx="1373327" cy="347045"/>
          </a:xfrm>
          <a:prstGeom prst="rect">
            <a:avLst/>
          </a:prstGeom>
        </p:spPr>
        <p:txBody>
          <a:bodyPr vert="horz" wrap="square" lIns="0" tIns="12092" rIns="0" bIns="0" rtlCol="0">
            <a:spAutoFit/>
          </a:bodyPr>
          <a:lstStyle/>
          <a:p>
            <a:pPr marL="11516">
              <a:spcBef>
                <a:spcPts val="95"/>
              </a:spcBef>
            </a:pPr>
            <a:r>
              <a:rPr sz="2176" spc="-9" dirty="0">
                <a:latin typeface="Comic Sans MS"/>
                <a:cs typeface="Comic Sans MS"/>
              </a:rPr>
              <a:t>[</a:t>
            </a:r>
            <a:r>
              <a:rPr sz="2176" spc="-9" dirty="0">
                <a:solidFill>
                  <a:srgbClr val="800000"/>
                </a:solidFill>
                <a:latin typeface="Comic Sans MS"/>
                <a:cs typeface="Comic Sans MS"/>
              </a:rPr>
              <a:t>Required</a:t>
            </a:r>
            <a:r>
              <a:rPr sz="2176" spc="-9" dirty="0">
                <a:latin typeface="Comic Sans MS"/>
                <a:cs typeface="Comic Sans MS"/>
              </a:rPr>
              <a:t>]</a:t>
            </a:r>
            <a:endParaRPr sz="2176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8202" y="4197127"/>
            <a:ext cx="1768339" cy="1211241"/>
          </a:xfrm>
          <a:prstGeom prst="rect">
            <a:avLst/>
          </a:prstGeom>
        </p:spPr>
        <p:txBody>
          <a:bodyPr vert="horz" wrap="square" lIns="0" tIns="77736" rIns="0" bIns="0" rtlCol="0">
            <a:spAutoFit/>
          </a:bodyPr>
          <a:lstStyle/>
          <a:p>
            <a:pPr marL="269483" indent="-257966">
              <a:spcBef>
                <a:spcPts val="612"/>
              </a:spcBef>
              <a:buChar char="–"/>
              <a:tabLst>
                <a:tab pos="269483" algn="l"/>
              </a:tabLst>
            </a:pPr>
            <a:r>
              <a:rPr sz="2176" dirty="0">
                <a:cs typeface="Comic Sans MS"/>
              </a:rPr>
              <a:t>Public</a:t>
            </a:r>
            <a:r>
              <a:rPr sz="2176" spc="-63" dirty="0">
                <a:cs typeface="Comic Sans MS"/>
              </a:rPr>
              <a:t> </a:t>
            </a:r>
            <a:r>
              <a:rPr sz="2176" spc="-23" dirty="0">
                <a:cs typeface="Comic Sans MS"/>
              </a:rPr>
              <a:t>key</a:t>
            </a:r>
            <a:endParaRPr sz="2176" dirty="0">
              <a:cs typeface="Comic Sans MS"/>
            </a:endParaRPr>
          </a:p>
          <a:p>
            <a:pPr marL="269483" indent="-257966">
              <a:spcBef>
                <a:spcPts val="521"/>
              </a:spcBef>
              <a:buChar char="–"/>
              <a:tabLst>
                <a:tab pos="269483" algn="l"/>
              </a:tabLst>
            </a:pPr>
            <a:r>
              <a:rPr sz="2176" spc="-9" dirty="0">
                <a:cs typeface="Comic Sans MS"/>
              </a:rPr>
              <a:t>Password</a:t>
            </a:r>
            <a:endParaRPr sz="2176" dirty="0">
              <a:cs typeface="Comic Sans MS"/>
            </a:endParaRPr>
          </a:p>
          <a:p>
            <a:pPr marL="269483" indent="-257966">
              <a:spcBef>
                <a:spcPts val="458"/>
              </a:spcBef>
              <a:buChar char="–"/>
              <a:tabLst>
                <a:tab pos="269483" algn="l"/>
              </a:tabLst>
            </a:pPr>
            <a:r>
              <a:rPr sz="2176" spc="-9" dirty="0">
                <a:cs typeface="Comic Sans MS"/>
              </a:rPr>
              <a:t>Host-based</a:t>
            </a:r>
            <a:endParaRPr sz="2176" dirty="0">
              <a:cs typeface="Comic Sans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319003">
              <a:lnSpc>
                <a:spcPct val="100000"/>
              </a:lnSpc>
              <a:spcBef>
                <a:spcPts val="95"/>
              </a:spcBef>
            </a:pPr>
            <a:r>
              <a:rPr dirty="0"/>
              <a:t>User</a:t>
            </a:r>
            <a:r>
              <a:rPr spc="-59" dirty="0"/>
              <a:t> </a:t>
            </a:r>
            <a:r>
              <a:rPr dirty="0"/>
              <a:t>Authentication</a:t>
            </a:r>
            <a:r>
              <a:rPr spc="-54" dirty="0"/>
              <a:t> </a:t>
            </a:r>
            <a:r>
              <a:rPr dirty="0"/>
              <a:t>Layer</a:t>
            </a:r>
            <a:r>
              <a:rPr spc="-54" dirty="0"/>
              <a:t> </a:t>
            </a:r>
            <a:r>
              <a:rPr spc="-23" dirty="0"/>
              <a:t>(2)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F3C88F6-C131-064C-919D-FCC54E580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45476-63A3-D744-8CFA-16E42DFCB353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40854E3-786B-514D-8499-B992275C5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“publickey” method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53E9B24-ADBA-4D63-355D-8A35EF92D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all implementations must support this method</a:t>
            </a:r>
          </a:p>
          <a:p>
            <a:r>
              <a:rPr lang="en-US" altLang="en-US"/>
              <a:t>however, most local policies will not require authentication with this method in the near future, as users don’t have public keys</a:t>
            </a:r>
          </a:p>
          <a:p>
            <a:r>
              <a:rPr lang="en-US" altLang="en-US"/>
              <a:t>authentication is based on demonstration of the knowledge of the private key (the client signs with the private key)</a:t>
            </a:r>
          </a:p>
          <a:p>
            <a:r>
              <a:rPr lang="en-US" altLang="en-US"/>
              <a:t>the server verifies that</a:t>
            </a:r>
          </a:p>
          <a:p>
            <a:pPr lvl="1"/>
            <a:r>
              <a:rPr lang="en-US" altLang="en-US"/>
              <a:t>the public key really belongs to the user specified in the authentication request</a:t>
            </a:r>
          </a:p>
          <a:p>
            <a:pPr lvl="1"/>
            <a:r>
              <a:rPr lang="en-US" altLang="en-US"/>
              <a:t>the signature is correct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1E1CC73-8251-A7CF-D6B0-2C9EA8024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9939C7-E3A7-C741-8A66-D56B40BBD130}" type="slidenum">
              <a:rPr lang="en-US" altLang="en-US"/>
              <a:pPr/>
              <a:t>31</a:t>
            </a:fld>
            <a:endParaRPr lang="en-US" altLang="en-US" dirty="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523EC63B-8CE8-2079-8364-A61F18160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“publickey” method cont’d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DADB8A7-AECF-4A0E-4DB6-0C29FC67B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SSH_MSG_USERAUTH_REQUEST</a:t>
            </a:r>
          </a:p>
          <a:p>
            <a:pPr lvl="1"/>
            <a:r>
              <a:rPr lang="en-US" altLang="en-US"/>
              <a:t>user name</a:t>
            </a:r>
          </a:p>
          <a:p>
            <a:pPr lvl="1"/>
            <a:r>
              <a:rPr lang="en-US" altLang="en-US"/>
              <a:t>service name</a:t>
            </a:r>
          </a:p>
          <a:p>
            <a:pPr lvl="1"/>
            <a:r>
              <a:rPr lang="en-US" altLang="en-US"/>
              <a:t>“publickey”</a:t>
            </a:r>
          </a:p>
          <a:p>
            <a:pPr lvl="1"/>
            <a:r>
              <a:rPr lang="en-US" altLang="en-US"/>
              <a:t>TRUE (a flag set to TRUE)</a:t>
            </a:r>
          </a:p>
          <a:p>
            <a:pPr lvl="1"/>
            <a:r>
              <a:rPr lang="en-US" altLang="en-US"/>
              <a:t>public key algorithm name (e.g., ssh-dss)</a:t>
            </a:r>
          </a:p>
          <a:p>
            <a:pPr lvl="1"/>
            <a:r>
              <a:rPr lang="en-US" altLang="en-US"/>
              <a:t>public key</a:t>
            </a:r>
          </a:p>
          <a:p>
            <a:pPr lvl="1"/>
            <a:r>
              <a:rPr lang="en-US" altLang="en-US"/>
              <a:t>signature (computed over the session ID and the data in the request)</a:t>
            </a:r>
          </a:p>
          <a:p>
            <a:pPr lvl="1"/>
            <a:endParaRPr lang="en-US" altLang="en-US"/>
          </a:p>
          <a:p>
            <a:r>
              <a:rPr lang="en-US" altLang="en-US"/>
              <a:t>the server responds with SSH_MSG_USERAUTH_FAILURE if the request failed or more authentication is needed, or SSH_MSG_USERAUTH_SUCCESS otherwise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C10672D-1DBA-6386-7AD6-25C69116D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484262-CABF-AA40-BE80-CE6A01AF8128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893186B9-3571-1587-54E9-D343B80F7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“publickey” method cont’d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EEEE647C-0321-F89A-BBFA-3CEA464C9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using the private key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involves expensive computations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may require the user to type a password if the private key is stored in encrypted form on the client machine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 order to avoid unnecessary processing, the client may check whether authentication using the public key would be acceptable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SSH_MSG_USERAUTH_REQUEST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user name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service name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“publickey”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FALSE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public key algorithm name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public key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OK then the server responds with SSH_MSG_USERAUTH_PK_OK</a:t>
            </a:r>
          </a:p>
          <a:p>
            <a:pPr lvl="2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3B223B0-0A81-AE83-7072-26E18CE38B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02112-146C-754F-9E9E-ABEB54BA3E55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B4BC7219-AFF6-3112-878D-E12B7343D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“password” method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0FD0A92-D4BE-4AAA-E349-192094719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/>
              <a:t>all implementations should support this method</a:t>
            </a:r>
          </a:p>
          <a:p>
            <a:r>
              <a:rPr lang="en-US" altLang="en-US"/>
              <a:t>this method is likely the most widely used</a:t>
            </a:r>
          </a:p>
          <a:p>
            <a:r>
              <a:rPr lang="en-US" altLang="en-US"/>
              <a:t>SSH_MSG_USERAUTH_REQUEST</a:t>
            </a:r>
          </a:p>
          <a:p>
            <a:pPr lvl="1"/>
            <a:r>
              <a:rPr lang="en-US" altLang="en-US"/>
              <a:t>user name</a:t>
            </a:r>
          </a:p>
          <a:p>
            <a:pPr lvl="1"/>
            <a:r>
              <a:rPr lang="en-US" altLang="en-US"/>
              <a:t>service name</a:t>
            </a:r>
          </a:p>
          <a:p>
            <a:pPr lvl="1"/>
            <a:r>
              <a:rPr lang="en-US" altLang="en-US"/>
              <a:t>“password”</a:t>
            </a:r>
          </a:p>
          <a:p>
            <a:pPr lvl="1"/>
            <a:r>
              <a:rPr lang="en-US" altLang="en-US"/>
              <a:t>FALSE (a flag set to FALSE)</a:t>
            </a:r>
          </a:p>
          <a:p>
            <a:pPr lvl="1"/>
            <a:r>
              <a:rPr lang="en-US" altLang="en-US"/>
              <a:t>password (plaintext)</a:t>
            </a:r>
          </a:p>
          <a:p>
            <a:pPr lvl="1"/>
            <a:endParaRPr lang="en-US" altLang="en-US"/>
          </a:p>
          <a:p>
            <a:r>
              <a:rPr lang="en-US" altLang="en-US"/>
              <a:t>the server may respond with SSH_MSG_USERAUTH_FAILURE, SSH_MSG_USERAUTH_SUCCESS, or SSH_MSG_USERAUTH_PASSWD_CHANGEREQ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9A8A017-5801-D11E-7350-E815E8B4E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CE2829-9D4E-F24E-AC41-9ADA66600E0F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228F3C3-8E95-7673-B538-CB27C895C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“password” method cont’d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CF64A3B-A704-88FB-8FA6-7A9A37C45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changing the password</a:t>
            </a:r>
          </a:p>
          <a:p>
            <a:pPr lvl="1"/>
            <a:r>
              <a:rPr lang="en-US" altLang="en-US"/>
              <a:t>SSH_MSG_USERAUTH_REQUEST</a:t>
            </a:r>
          </a:p>
          <a:p>
            <a:pPr lvl="2"/>
            <a:r>
              <a:rPr lang="en-US" altLang="en-US"/>
              <a:t>user name</a:t>
            </a:r>
          </a:p>
          <a:p>
            <a:pPr lvl="2"/>
            <a:r>
              <a:rPr lang="en-US" altLang="en-US"/>
              <a:t>service name</a:t>
            </a:r>
          </a:p>
          <a:p>
            <a:pPr lvl="2"/>
            <a:r>
              <a:rPr lang="en-US" altLang="en-US"/>
              <a:t>“password”</a:t>
            </a:r>
          </a:p>
          <a:p>
            <a:pPr lvl="2"/>
            <a:r>
              <a:rPr lang="en-US" altLang="en-US"/>
              <a:t>TRUE</a:t>
            </a:r>
          </a:p>
          <a:p>
            <a:pPr lvl="2"/>
            <a:r>
              <a:rPr lang="en-US" altLang="en-US"/>
              <a:t>old password (plaintext)</a:t>
            </a:r>
          </a:p>
          <a:p>
            <a:pPr lvl="2"/>
            <a:r>
              <a:rPr lang="en-US" altLang="en-US"/>
              <a:t>new password (plaintext)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BBF3210-5F2B-BE35-0E0C-92C062C6CC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25BE6-766C-6B40-9847-0AD0EB144278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681F2B45-02FF-9213-A5B6-E638FED43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“hostbased” method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6EE1852-DD85-5E23-2F81-18C6712CB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authentication is based on the host where the user is  coming from</a:t>
            </a:r>
          </a:p>
          <a:p>
            <a:r>
              <a:rPr lang="en-US" altLang="en-US"/>
              <a:t>this method is optional</a:t>
            </a:r>
          </a:p>
          <a:p>
            <a:r>
              <a:rPr lang="en-US" altLang="en-US"/>
              <a:t>the client sends a signature that has been generated with the private host key of the client</a:t>
            </a:r>
          </a:p>
          <a:p>
            <a:r>
              <a:rPr lang="en-US" altLang="en-US"/>
              <a:t>the server verifies that</a:t>
            </a:r>
          </a:p>
          <a:p>
            <a:pPr lvl="1"/>
            <a:r>
              <a:rPr lang="en-US" altLang="en-US"/>
              <a:t>the public key really belongs to the host specified in the authentication request</a:t>
            </a:r>
          </a:p>
          <a:p>
            <a:pPr lvl="1"/>
            <a:r>
              <a:rPr lang="en-US" altLang="en-US"/>
              <a:t>the signature is correct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EDB92B9-6183-2910-0D7D-2505E02D5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F6BE-6A17-3B43-AFE9-56BDB9340E97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BBF56108-9FA4-5C09-4B8F-B9FD8DA5E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“hostbased” method cont’d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24F29AD-0885-927C-8AF5-571C93968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SSH_MSG_USERAUTH_REQUEST</a:t>
            </a:r>
          </a:p>
          <a:p>
            <a:pPr lvl="1"/>
            <a:r>
              <a:rPr lang="en-US" altLang="en-US"/>
              <a:t>user name</a:t>
            </a:r>
          </a:p>
          <a:p>
            <a:pPr lvl="1"/>
            <a:r>
              <a:rPr lang="en-US" altLang="en-US"/>
              <a:t>service name</a:t>
            </a:r>
          </a:p>
          <a:p>
            <a:pPr lvl="1"/>
            <a:r>
              <a:rPr lang="en-US" altLang="en-US"/>
              <a:t>“hostbased”</a:t>
            </a:r>
          </a:p>
          <a:p>
            <a:pPr lvl="1"/>
            <a:r>
              <a:rPr lang="en-US" altLang="en-US"/>
              <a:t>public key algorithm name</a:t>
            </a:r>
          </a:p>
          <a:p>
            <a:pPr lvl="1"/>
            <a:r>
              <a:rPr lang="en-US" altLang="en-US"/>
              <a:t>public key and certificates for client host </a:t>
            </a:r>
          </a:p>
          <a:p>
            <a:pPr lvl="1"/>
            <a:r>
              <a:rPr lang="en-US" altLang="en-US"/>
              <a:t>client host name</a:t>
            </a:r>
          </a:p>
          <a:p>
            <a:pPr lvl="1"/>
            <a:r>
              <a:rPr lang="en-US" altLang="en-US"/>
              <a:t>user name on client host</a:t>
            </a:r>
          </a:p>
          <a:p>
            <a:pPr lvl="1"/>
            <a:r>
              <a:rPr lang="en-US" altLang="en-US"/>
              <a:t>signature (computed over the session ID and the data in the request)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516"/>
            <a:r>
              <a:rPr lang="en-US" kern="1200">
                <a:latin typeface="+mj-lt"/>
                <a:ea typeface="+mj-ea"/>
                <a:cs typeface="+mj-cs"/>
              </a:rPr>
              <a:t>User</a:t>
            </a:r>
            <a:r>
              <a:rPr lang="en-US" kern="1200" spc="131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Authent.</a:t>
            </a:r>
            <a:r>
              <a:rPr lang="en-US" kern="1200" spc="118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Request</a:t>
            </a:r>
            <a:r>
              <a:rPr lang="en-US" kern="1200" spc="86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&amp;</a:t>
            </a:r>
            <a:r>
              <a:rPr lang="en-US" kern="1200" spc="100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Server</a:t>
            </a:r>
            <a:r>
              <a:rPr lang="en-US" kern="1200" spc="63">
                <a:latin typeface="+mj-lt"/>
                <a:ea typeface="+mj-ea"/>
                <a:cs typeface="+mj-cs"/>
              </a:rPr>
              <a:t> </a:t>
            </a:r>
            <a:r>
              <a:rPr lang="en-US" kern="1200" spc="-9">
                <a:latin typeface="+mj-lt"/>
                <a:ea typeface="+mj-ea"/>
                <a:cs typeface="+mj-cs"/>
              </a:rPr>
              <a:t>Response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CED4E315-EBBC-0B59-85C1-7CDC5C4A31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21217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467" y="23"/>
            <a:ext cx="7799463" cy="90758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587447"/>
            <a:ext cx="9535557" cy="689319"/>
          </a:xfrm>
          <a:prstGeom prst="rect">
            <a:avLst/>
          </a:prstGeom>
        </p:spPr>
        <p:txBody>
          <a:bodyPr vert="horz" wrap="square" lIns="0" tIns="12092" rIns="0" bIns="0" rtlCol="0" anchor="ctr">
            <a:spAutoFit/>
          </a:bodyPr>
          <a:lstStyle/>
          <a:p>
            <a:pPr marL="3171605">
              <a:lnSpc>
                <a:spcPct val="100000"/>
              </a:lnSpc>
              <a:spcBef>
                <a:spcPts val="95"/>
              </a:spcBef>
            </a:pPr>
            <a:r>
              <a:rPr spc="-9" dirty="0">
                <a:latin typeface="+mn-lt"/>
                <a:cs typeface="Comic Sans MS"/>
              </a:rPr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289839" y="1655479"/>
            <a:ext cx="9535557" cy="2105936"/>
          </a:xfrm>
          <a:prstGeom prst="rect">
            <a:avLst/>
          </a:prstGeom>
        </p:spPr>
        <p:txBody>
          <a:bodyPr vert="horz" wrap="square" lIns="0" tIns="199809" rIns="0" bIns="0" rtlCol="0">
            <a:spAutoFit/>
          </a:bodyPr>
          <a:lstStyle/>
          <a:p>
            <a:pPr marL="304608" indent="-293091">
              <a:lnSpc>
                <a:spcPct val="100000"/>
              </a:lnSpc>
              <a:spcBef>
                <a:spcPts val="1573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304608" algn="l"/>
              </a:tabLst>
            </a:pPr>
            <a:r>
              <a:rPr dirty="0"/>
              <a:t>Protocol</a:t>
            </a:r>
            <a:r>
              <a:rPr spc="-45" dirty="0"/>
              <a:t> </a:t>
            </a:r>
            <a:r>
              <a:rPr spc="-9" dirty="0"/>
              <a:t>Details</a:t>
            </a:r>
          </a:p>
          <a:p>
            <a:pPr marL="696740" lvl="1" indent="-260846">
              <a:lnSpc>
                <a:spcPct val="100000"/>
              </a:lnSpc>
              <a:spcBef>
                <a:spcPts val="1215"/>
              </a:spcBef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cs typeface="Comic Sans MS"/>
              </a:rPr>
              <a:t>Transport</a:t>
            </a:r>
            <a:r>
              <a:rPr sz="2358" spc="-27" dirty="0">
                <a:cs typeface="Comic Sans MS"/>
              </a:rPr>
              <a:t> </a:t>
            </a:r>
            <a:r>
              <a:rPr sz="2358" spc="-18" dirty="0">
                <a:cs typeface="Comic Sans MS"/>
              </a:rPr>
              <a:t>Layer</a:t>
            </a:r>
            <a:endParaRPr sz="2358" dirty="0">
              <a:cs typeface="Comic Sans MS"/>
            </a:endParaRPr>
          </a:p>
          <a:p>
            <a:pPr marL="696740" lvl="1" indent="-260846">
              <a:lnSpc>
                <a:spcPct val="100000"/>
              </a:lnSpc>
              <a:spcBef>
                <a:spcPts val="920"/>
              </a:spcBef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cs typeface="Comic Sans MS"/>
              </a:rPr>
              <a:t>User</a:t>
            </a:r>
            <a:r>
              <a:rPr sz="2358" spc="-32" dirty="0">
                <a:cs typeface="Comic Sans MS"/>
              </a:rPr>
              <a:t> </a:t>
            </a:r>
            <a:r>
              <a:rPr sz="2358" dirty="0">
                <a:cs typeface="Comic Sans MS"/>
              </a:rPr>
              <a:t>Authentication</a:t>
            </a:r>
            <a:r>
              <a:rPr sz="2358" spc="-59" dirty="0">
                <a:cs typeface="Comic Sans MS"/>
              </a:rPr>
              <a:t> </a:t>
            </a:r>
            <a:r>
              <a:rPr sz="2358" spc="-9" dirty="0">
                <a:cs typeface="Comic Sans MS"/>
              </a:rPr>
              <a:t>Layer</a:t>
            </a:r>
            <a:endParaRPr sz="2358" dirty="0">
              <a:cs typeface="Comic Sans MS"/>
            </a:endParaRPr>
          </a:p>
          <a:p>
            <a:pPr marL="696740" lvl="1" indent="-260846">
              <a:lnSpc>
                <a:spcPct val="100000"/>
              </a:lnSpc>
              <a:spcBef>
                <a:spcPts val="920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696740" algn="l"/>
              </a:tabLst>
            </a:pPr>
            <a:r>
              <a:rPr sz="2358" dirty="0">
                <a:solidFill>
                  <a:srgbClr val="0000FF"/>
                </a:solidFill>
                <a:cs typeface="Comic Sans MS"/>
              </a:rPr>
              <a:t>Connection</a:t>
            </a:r>
            <a:r>
              <a:rPr sz="2358" spc="-27" dirty="0">
                <a:solidFill>
                  <a:srgbClr val="0000FF"/>
                </a:solidFill>
                <a:cs typeface="Comic Sans MS"/>
              </a:rPr>
              <a:t> </a:t>
            </a:r>
            <a:r>
              <a:rPr sz="2358" spc="-18" dirty="0">
                <a:solidFill>
                  <a:srgbClr val="0000FF"/>
                </a:solidFill>
                <a:cs typeface="Comic Sans MS"/>
              </a:rPr>
              <a:t>Layer</a:t>
            </a:r>
            <a:endParaRPr sz="2358" dirty="0">
              <a:cs typeface="Comic Sans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604" y="1405847"/>
            <a:ext cx="6395041" cy="2279873"/>
          </a:xfrm>
          <a:prstGeom prst="rect">
            <a:avLst/>
          </a:prstGeom>
        </p:spPr>
        <p:txBody>
          <a:bodyPr vert="horz" wrap="square" lIns="0" tIns="61613" rIns="0" bIns="0" rtlCol="0">
            <a:spAutoFit/>
          </a:bodyPr>
          <a:lstStyle/>
          <a:p>
            <a:pPr marL="321306" marR="256239" indent="-310366">
              <a:lnSpc>
                <a:spcPts val="2657"/>
              </a:lnSpc>
              <a:spcBef>
                <a:spcPts val="485"/>
              </a:spcBef>
              <a:buFont typeface="Comic Sans MS"/>
              <a:buChar char="•"/>
              <a:tabLst>
                <a:tab pos="321306" algn="l"/>
              </a:tabLst>
            </a:pPr>
            <a:r>
              <a:rPr lang="en-US" sz="2494" dirty="0">
                <a:cs typeface="Comic Sans MS"/>
              </a:rPr>
              <a:t>It</a:t>
            </a:r>
            <a:r>
              <a:rPr lang="en-US" sz="2494" spc="77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runs</a:t>
            </a:r>
            <a:r>
              <a:rPr lang="en-US" sz="2494" spc="36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over</a:t>
            </a:r>
            <a:r>
              <a:rPr lang="en-US" sz="2494" spc="59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the</a:t>
            </a:r>
            <a:r>
              <a:rPr lang="en-US" sz="2494" spc="86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Transport</a:t>
            </a:r>
            <a:r>
              <a:rPr lang="en-US" sz="2494" spc="86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Layer,</a:t>
            </a:r>
            <a:r>
              <a:rPr lang="en-US" sz="2494" spc="32" dirty="0">
                <a:cs typeface="Comic Sans MS"/>
              </a:rPr>
              <a:t> </a:t>
            </a:r>
            <a:r>
              <a:rPr lang="en-US" sz="2494" spc="-23" dirty="0">
                <a:cs typeface="Comic Sans MS"/>
              </a:rPr>
              <a:t>and </a:t>
            </a:r>
            <a:r>
              <a:rPr lang="en-US" sz="2494" dirty="0">
                <a:cs typeface="Comic Sans MS"/>
              </a:rPr>
              <a:t>utilizes</a:t>
            </a:r>
            <a:r>
              <a:rPr lang="en-US" sz="2494" spc="68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the</a:t>
            </a:r>
            <a:r>
              <a:rPr lang="en-US" sz="2494" spc="141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User</a:t>
            </a:r>
            <a:r>
              <a:rPr lang="en-US" sz="2494" spc="100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Authentication</a:t>
            </a:r>
            <a:r>
              <a:rPr lang="en-US" sz="2494" spc="136" dirty="0">
                <a:cs typeface="Comic Sans MS"/>
              </a:rPr>
              <a:t> </a:t>
            </a:r>
            <a:r>
              <a:rPr lang="en-US" sz="2494" spc="-9" dirty="0">
                <a:cs typeface="Comic Sans MS"/>
              </a:rPr>
              <a:t>Layer</a:t>
            </a:r>
            <a:endParaRPr lang="en-US" sz="2494" dirty="0">
              <a:cs typeface="Comic Sans MS"/>
            </a:endParaRPr>
          </a:p>
          <a:p>
            <a:pPr marL="321306" marR="4607" indent="-310366">
              <a:lnSpc>
                <a:spcPts val="2657"/>
              </a:lnSpc>
              <a:spcBef>
                <a:spcPts val="617"/>
              </a:spcBef>
              <a:buChar char="•"/>
              <a:tabLst>
                <a:tab pos="321306" algn="l"/>
              </a:tabLst>
            </a:pPr>
            <a:r>
              <a:rPr lang="en-US" sz="2494" dirty="0">
                <a:cs typeface="Comic Sans MS"/>
              </a:rPr>
              <a:t>It</a:t>
            </a:r>
            <a:r>
              <a:rPr lang="en-US" sz="2494" spc="103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multiplexes</a:t>
            </a:r>
            <a:r>
              <a:rPr lang="en-US" sz="2494" spc="50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the</a:t>
            </a:r>
            <a:r>
              <a:rPr lang="en-US" sz="2494" spc="113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encrypted</a:t>
            </a:r>
            <a:r>
              <a:rPr lang="en-US" sz="2494" spc="131" dirty="0">
                <a:cs typeface="Comic Sans MS"/>
              </a:rPr>
              <a:t> </a:t>
            </a:r>
            <a:r>
              <a:rPr lang="en-US" sz="2494" spc="-9" dirty="0">
                <a:solidFill>
                  <a:srgbClr val="0000FF"/>
                </a:solidFill>
                <a:cs typeface="Comic Sans MS"/>
              </a:rPr>
              <a:t>connection </a:t>
            </a:r>
            <a:r>
              <a:rPr lang="en-US" sz="2494" dirty="0">
                <a:cs typeface="Comic Sans MS"/>
              </a:rPr>
              <a:t>provided</a:t>
            </a:r>
            <a:r>
              <a:rPr lang="en-US" sz="2494" spc="50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by</a:t>
            </a:r>
            <a:r>
              <a:rPr lang="en-US" sz="2494" spc="82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the</a:t>
            </a:r>
            <a:r>
              <a:rPr lang="en-US" sz="2494" spc="82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Transport</a:t>
            </a:r>
            <a:r>
              <a:rPr lang="en-US" sz="2494" spc="77" dirty="0">
                <a:cs typeface="Comic Sans MS"/>
              </a:rPr>
              <a:t> </a:t>
            </a:r>
            <a:r>
              <a:rPr lang="en-US" sz="2494" dirty="0">
                <a:cs typeface="Comic Sans MS"/>
              </a:rPr>
              <a:t>Layer</a:t>
            </a:r>
            <a:r>
              <a:rPr lang="en-US" sz="2494" spc="54" dirty="0">
                <a:cs typeface="Comic Sans MS"/>
              </a:rPr>
              <a:t> </a:t>
            </a:r>
            <a:r>
              <a:rPr lang="en-US" sz="2494" spc="-18" dirty="0">
                <a:cs typeface="Comic Sans MS"/>
              </a:rPr>
              <a:t>into </a:t>
            </a:r>
            <a:r>
              <a:rPr lang="en-US" sz="2494" dirty="0">
                <a:cs typeface="Comic Sans MS"/>
              </a:rPr>
              <a:t>several</a:t>
            </a:r>
            <a:r>
              <a:rPr lang="en-US" sz="2494" spc="86" dirty="0">
                <a:cs typeface="Comic Sans MS"/>
              </a:rPr>
              <a:t> </a:t>
            </a:r>
            <a:r>
              <a:rPr lang="en-US" sz="2494" dirty="0">
                <a:solidFill>
                  <a:srgbClr val="FF0000"/>
                </a:solidFill>
                <a:cs typeface="Comic Sans MS"/>
              </a:rPr>
              <a:t>logical</a:t>
            </a:r>
            <a:r>
              <a:rPr lang="en-US" sz="2494" spc="109" dirty="0">
                <a:solidFill>
                  <a:srgbClr val="FF0000"/>
                </a:solidFill>
                <a:cs typeface="Comic Sans MS"/>
              </a:rPr>
              <a:t> </a:t>
            </a:r>
            <a:r>
              <a:rPr lang="en-US" sz="2494" spc="-9" dirty="0">
                <a:solidFill>
                  <a:srgbClr val="FF0000"/>
                </a:solidFill>
                <a:cs typeface="Comic Sans MS"/>
              </a:rPr>
              <a:t>channels</a:t>
            </a:r>
            <a:endParaRPr lang="en-US" sz="2494" dirty="0">
              <a:cs typeface="Comic Sans MS"/>
            </a:endParaRPr>
          </a:p>
          <a:p>
            <a:pPr marL="321306" indent="-309790">
              <a:spcBef>
                <a:spcPts val="249"/>
              </a:spcBef>
              <a:buChar char="•"/>
              <a:tabLst>
                <a:tab pos="321306" algn="l"/>
              </a:tabLst>
            </a:pPr>
            <a:r>
              <a:rPr lang="en-US" sz="2494" dirty="0">
                <a:cs typeface="Comic Sans MS"/>
              </a:rPr>
              <a:t>Channel</a:t>
            </a:r>
            <a:r>
              <a:rPr lang="en-US" sz="2494" spc="86" dirty="0">
                <a:cs typeface="Comic Sans MS"/>
              </a:rPr>
              <a:t> </a:t>
            </a:r>
            <a:r>
              <a:rPr lang="en-US" sz="2494" spc="-18" dirty="0">
                <a:cs typeface="Comic Sans MS"/>
              </a:rPr>
              <a:t>type:</a:t>
            </a:r>
            <a:endParaRPr lang="en-US" sz="2494" dirty="0"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057" y="3453876"/>
            <a:ext cx="3826891" cy="1824479"/>
          </a:xfrm>
          <a:prstGeom prst="rect">
            <a:avLst/>
          </a:prstGeom>
        </p:spPr>
        <p:txBody>
          <a:bodyPr vert="horz" wrap="square" lIns="0" tIns="34549" rIns="0" bIns="0" rtlCol="0">
            <a:spAutoFit/>
          </a:bodyPr>
          <a:lstStyle/>
          <a:p>
            <a:pPr marL="269483" indent="-257966">
              <a:spcBef>
                <a:spcPts val="272"/>
              </a:spcBef>
              <a:buChar char="–"/>
              <a:tabLst>
                <a:tab pos="269483" algn="l"/>
              </a:tabLst>
            </a:pPr>
            <a:r>
              <a:rPr lang="en-US" sz="2176" dirty="0">
                <a:cs typeface="Comic Sans MS"/>
              </a:rPr>
              <a:t>Interactive</a:t>
            </a:r>
            <a:r>
              <a:rPr lang="en-US" sz="2176" spc="-131" dirty="0">
                <a:cs typeface="Comic Sans MS"/>
              </a:rPr>
              <a:t> </a:t>
            </a:r>
            <a:r>
              <a:rPr lang="en-US" sz="2176" spc="-9" dirty="0">
                <a:cs typeface="Comic Sans MS"/>
              </a:rPr>
              <a:t>session</a:t>
            </a:r>
            <a:endParaRPr lang="en-US" sz="2176" dirty="0">
              <a:cs typeface="Comic Sans MS"/>
            </a:endParaRPr>
          </a:p>
          <a:p>
            <a:pPr marL="269483" indent="-257966">
              <a:spcBef>
                <a:spcPts val="181"/>
              </a:spcBef>
              <a:buChar char="–"/>
              <a:tabLst>
                <a:tab pos="269483" algn="l"/>
              </a:tabLst>
            </a:pPr>
            <a:r>
              <a:rPr lang="en-US" sz="2176" dirty="0">
                <a:cs typeface="Comic Sans MS"/>
              </a:rPr>
              <a:t>Remote</a:t>
            </a:r>
            <a:r>
              <a:rPr lang="en-US" sz="2176" spc="-82" dirty="0">
                <a:cs typeface="Comic Sans MS"/>
              </a:rPr>
              <a:t> </a:t>
            </a:r>
            <a:r>
              <a:rPr lang="en-US" sz="2176" dirty="0">
                <a:cs typeface="Comic Sans MS"/>
              </a:rPr>
              <a:t>command</a:t>
            </a:r>
            <a:r>
              <a:rPr lang="en-US" sz="2176" spc="-36" dirty="0">
                <a:cs typeface="Comic Sans MS"/>
              </a:rPr>
              <a:t> </a:t>
            </a:r>
            <a:r>
              <a:rPr lang="en-US" sz="2176" spc="-9" dirty="0">
                <a:cs typeface="Comic Sans MS"/>
              </a:rPr>
              <a:t>execution</a:t>
            </a:r>
            <a:endParaRPr lang="en-US" sz="2176" dirty="0">
              <a:cs typeface="Comic Sans MS"/>
            </a:endParaRPr>
          </a:p>
          <a:p>
            <a:pPr marL="269483" indent="-257966">
              <a:spcBef>
                <a:spcPts val="249"/>
              </a:spcBef>
              <a:buChar char="–"/>
              <a:tabLst>
                <a:tab pos="269483" algn="l"/>
              </a:tabLst>
            </a:pPr>
            <a:r>
              <a:rPr lang="en-US" sz="2176" dirty="0">
                <a:cs typeface="Comic Sans MS"/>
              </a:rPr>
              <a:t>An</a:t>
            </a:r>
            <a:r>
              <a:rPr lang="en-US" sz="2176" spc="-5" dirty="0">
                <a:cs typeface="Comic Sans MS"/>
              </a:rPr>
              <a:t> </a:t>
            </a:r>
            <a:r>
              <a:rPr lang="en-US" sz="2176" dirty="0">
                <a:cs typeface="Comic Sans MS"/>
              </a:rPr>
              <a:t>X11</a:t>
            </a:r>
            <a:r>
              <a:rPr lang="en-US" sz="2176" spc="-45" dirty="0">
                <a:cs typeface="Comic Sans MS"/>
              </a:rPr>
              <a:t> </a:t>
            </a:r>
            <a:r>
              <a:rPr lang="en-US" sz="2176" dirty="0">
                <a:cs typeface="Comic Sans MS"/>
              </a:rPr>
              <a:t>client</a:t>
            </a:r>
            <a:r>
              <a:rPr lang="en-US" sz="2176" spc="-77" dirty="0">
                <a:cs typeface="Comic Sans MS"/>
              </a:rPr>
              <a:t> </a:t>
            </a:r>
            <a:r>
              <a:rPr lang="en-US" sz="2176" spc="-9" dirty="0">
                <a:cs typeface="Comic Sans MS"/>
              </a:rPr>
              <a:t>connection</a:t>
            </a:r>
            <a:endParaRPr lang="en-US" sz="2176" dirty="0">
              <a:cs typeface="Comic Sans MS"/>
            </a:endParaRPr>
          </a:p>
          <a:p>
            <a:pPr marL="269483" indent="-257966">
              <a:spcBef>
                <a:spcPts val="181"/>
              </a:spcBef>
              <a:buChar char="–"/>
              <a:tabLst>
                <a:tab pos="269483" algn="l"/>
              </a:tabLst>
            </a:pPr>
            <a:r>
              <a:rPr lang="en-US" sz="2176" dirty="0">
                <a:cs typeface="Comic Sans MS"/>
              </a:rPr>
              <a:t>TCP/IP</a:t>
            </a:r>
            <a:r>
              <a:rPr lang="en-US" sz="2176" spc="-63" dirty="0">
                <a:cs typeface="Comic Sans MS"/>
              </a:rPr>
              <a:t> </a:t>
            </a:r>
            <a:r>
              <a:rPr lang="en-US" sz="2176" dirty="0">
                <a:cs typeface="Comic Sans MS"/>
              </a:rPr>
              <a:t>port</a:t>
            </a:r>
            <a:r>
              <a:rPr lang="en-US" sz="2176" spc="-18" dirty="0">
                <a:cs typeface="Comic Sans MS"/>
              </a:rPr>
              <a:t> </a:t>
            </a:r>
            <a:r>
              <a:rPr lang="en-US" sz="2176" spc="-9" dirty="0">
                <a:cs typeface="Comic Sans MS"/>
              </a:rPr>
              <a:t>forwarding</a:t>
            </a:r>
            <a:endParaRPr lang="en-US" sz="2176" dirty="0">
              <a:cs typeface="Comic Sans MS"/>
            </a:endParaRPr>
          </a:p>
          <a:p>
            <a:pPr marL="269483" indent="-257966">
              <a:spcBef>
                <a:spcPts val="254"/>
              </a:spcBef>
              <a:buChar char="–"/>
              <a:tabLst>
                <a:tab pos="269483" algn="l"/>
              </a:tabLst>
            </a:pPr>
            <a:r>
              <a:rPr lang="en-US" sz="2176" spc="-23" dirty="0">
                <a:cs typeface="Comic Sans MS"/>
              </a:rPr>
              <a:t>...</a:t>
            </a:r>
            <a:endParaRPr lang="en-US" sz="2176" dirty="0">
              <a:cs typeface="Comic Sans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1649142">
              <a:lnSpc>
                <a:spcPct val="100000"/>
              </a:lnSpc>
              <a:spcBef>
                <a:spcPts val="95"/>
              </a:spcBef>
            </a:pPr>
            <a:r>
              <a:rPr lang="en-US"/>
              <a:t>Connection</a:t>
            </a:r>
            <a:r>
              <a:rPr lang="en-US" spc="-95"/>
              <a:t> </a:t>
            </a:r>
            <a:r>
              <a:rPr lang="en-US" spc="-9"/>
              <a:t>Layer</a:t>
            </a:r>
            <a:endParaRPr lang="en-US" spc="-9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7137DA9-69EC-0E1B-02DB-0D8A708C1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29DAE-9697-774F-82D6-C2176CFAC44A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F4F27915-4CDE-C398-80AE-8911EDED6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SSH – Connection Protocol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69EFA16-581D-5109-BFBF-12009E436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/>
              <a:t>provides </a:t>
            </a:r>
          </a:p>
          <a:p>
            <a:pPr lvl="1"/>
            <a:r>
              <a:rPr lang="en-US" altLang="en-US"/>
              <a:t>interactive login sessions</a:t>
            </a:r>
          </a:p>
          <a:p>
            <a:pPr lvl="1"/>
            <a:r>
              <a:rPr lang="en-US" altLang="en-US"/>
              <a:t>remote execution of commands</a:t>
            </a:r>
          </a:p>
          <a:p>
            <a:pPr lvl="1"/>
            <a:r>
              <a:rPr lang="en-US" altLang="en-US"/>
              <a:t>forwarded TCP/IP connections</a:t>
            </a:r>
          </a:p>
          <a:p>
            <a:pPr lvl="1"/>
            <a:r>
              <a:rPr lang="en-US" altLang="en-US"/>
              <a:t>forwarded X11 connections</a:t>
            </a:r>
          </a:p>
          <a:p>
            <a:r>
              <a:rPr lang="en-US" altLang="en-US"/>
              <a:t>all these applications are implemented as “channels”</a:t>
            </a:r>
          </a:p>
          <a:p>
            <a:r>
              <a:rPr lang="en-US" altLang="en-US"/>
              <a:t>all channels are multiplexed into the single encrypted tunnel provided by the SSH Transport Layer Protocol</a:t>
            </a:r>
          </a:p>
          <a:p>
            <a:r>
              <a:rPr lang="en-US" altLang="en-US"/>
              <a:t>channels are identified by channel numbers at both ends of the connection</a:t>
            </a:r>
          </a:p>
          <a:p>
            <a:r>
              <a:rPr lang="en-US" altLang="en-US"/>
              <a:t>channel numbers for the same channel at the client and server sides may differ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F69D6B-F97E-8E72-36FB-D0F1F6BE9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7F89B-D9DF-014E-9D17-4281B3D987C3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460973D2-D6E4-8AD9-0E2C-EEF20DADD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Channel mechanisms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2641D85-7AC8-8D20-7975-42E4F2BC9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opening a channel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SSH_MSG_CHANNEL_OPEN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channel type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sender channel number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initial window size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maximum packet size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… channel type specific data …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SSH_MSG_CHANNEL_OPEN_CONFIRMATION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recipient channel number (sender channel number from the open request)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sender channel number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initial window size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maximum packet size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… channel type specific data …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SSH_MSG_CHANNEL_OPEN_FAILURE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recipient channel number (sender channel number from the open request)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reason code and additional textual information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675708D-E748-287C-5335-AD51A07937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0F343-A6CF-5A47-B7D7-567BB3ED45FA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B366DAF8-16B8-8ECD-9C2D-3C3FCF013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Channel mechanisms cont’d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1BDEB33-3D3F-018E-E672-06B832378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data transfer over a channel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SSH_MSG_CHANNEL_DATA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recipient channel number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data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SSH_MSG_CHANNEL_WINDOW_ADJUST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recipient channel number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bytes to add to the window size</a:t>
            </a:r>
          </a:p>
          <a:p>
            <a:pPr>
              <a:lnSpc>
                <a:spcPct val="90000"/>
              </a:lnSpc>
            </a:pPr>
            <a:r>
              <a:rPr lang="en-US" altLang="en-US"/>
              <a:t>closing a channel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SSH_MSG_CHANNEL_EOF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recipient channel number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/>
              <a:t>(sent if the party doesn’t want to send more data)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SSH_MSG_CHANNEL_CLOSE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recipient channel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/>
              <a:t>(receiving party must respond with an SSH_MSG_CHANNEL_CLOSE,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/>
              <a:t>  the channel is closed if the party has sent and received the closing msg)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F494A2C-F371-1572-9D62-1F86A534C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Channel mechanisms cont’d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F678A5E-7D6D-D36C-7A23-5FC5E1E73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channel type specific requests</a:t>
            </a:r>
          </a:p>
          <a:p>
            <a:pPr lvl="1"/>
            <a:r>
              <a:rPr lang="en-US" altLang="en-US"/>
              <a:t>SSH_MSG_CHANNEL_REQUEST</a:t>
            </a:r>
          </a:p>
          <a:p>
            <a:pPr lvl="2"/>
            <a:r>
              <a:rPr lang="en-US" altLang="en-US"/>
              <a:t>recipient channel number</a:t>
            </a:r>
          </a:p>
          <a:p>
            <a:pPr lvl="2"/>
            <a:r>
              <a:rPr lang="en-US" altLang="en-US"/>
              <a:t>request type</a:t>
            </a:r>
          </a:p>
          <a:p>
            <a:pPr lvl="2"/>
            <a:r>
              <a:rPr lang="en-US" altLang="en-US"/>
              <a:t>want reply flag (TRUE if reply is needed)</a:t>
            </a:r>
          </a:p>
          <a:p>
            <a:pPr lvl="2"/>
            <a:r>
              <a:rPr lang="en-US" altLang="en-US"/>
              <a:t>… request type specific data …</a:t>
            </a:r>
          </a:p>
          <a:p>
            <a:pPr lvl="1"/>
            <a:r>
              <a:rPr lang="en-US" altLang="en-US"/>
              <a:t>SSH_MSG_CHANNEL_SUCCESS</a:t>
            </a:r>
          </a:p>
          <a:p>
            <a:pPr lvl="2"/>
            <a:r>
              <a:rPr lang="en-US" altLang="en-US"/>
              <a:t>recipient channel</a:t>
            </a:r>
          </a:p>
          <a:p>
            <a:pPr lvl="1"/>
            <a:r>
              <a:rPr lang="en-US" altLang="en-US"/>
              <a:t>SSH_MSG_CHANNEL_FAILURE</a:t>
            </a:r>
          </a:p>
          <a:p>
            <a:pPr lvl="2"/>
            <a:r>
              <a:rPr lang="en-US" altLang="en-US"/>
              <a:t>recipient channel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D1C7882-7F6C-F0F8-DEAD-0B3B9D014F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B3BB2B-BA4E-DF45-BCF4-93C15A91A519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9CC26B45-7A63-C6BC-FC3B-65F1E4BC9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Starting a remote shell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E910775-33BA-B8BB-33F1-1952A9782F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000"/>
              <a:t>C </a:t>
            </a:r>
            <a:r>
              <a:rPr lang="en-US" altLang="en-US" sz="2000">
                <a:sym typeface="Wingdings" pitchFamily="2" charset="2"/>
              </a:rPr>
              <a:t> S: SSH_MSG_CHANNEL_OPEN</a:t>
            </a:r>
          </a:p>
          <a:p>
            <a:pPr lvl="2"/>
            <a:r>
              <a:rPr lang="en-US" altLang="en-US"/>
              <a:t>channel type = “session”</a:t>
            </a:r>
          </a:p>
          <a:p>
            <a:pPr lvl="2"/>
            <a:r>
              <a:rPr lang="en-US" altLang="en-US"/>
              <a:t>sender channel number = 5</a:t>
            </a:r>
          </a:p>
          <a:p>
            <a:pPr lvl="2"/>
            <a:r>
              <a:rPr lang="en-US" altLang="en-US"/>
              <a:t>initial window size</a:t>
            </a:r>
          </a:p>
          <a:p>
            <a:pPr lvl="2"/>
            <a:r>
              <a:rPr lang="en-US" altLang="en-US"/>
              <a:t>maximum packet size</a:t>
            </a:r>
          </a:p>
          <a:p>
            <a:pPr lvl="2"/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 sz="2000"/>
              <a:t>C </a:t>
            </a:r>
            <a:r>
              <a:rPr lang="en-US" altLang="en-US" sz="2000">
                <a:sym typeface="Wingdings" pitchFamily="2" charset="2"/>
              </a:rPr>
              <a:t> S: SSH_MSG_CHANNEL_OPEN_CONFIRMATION</a:t>
            </a:r>
          </a:p>
          <a:p>
            <a:pPr lvl="2"/>
            <a:r>
              <a:rPr lang="en-US" altLang="en-US"/>
              <a:t>recipient channel number = 5</a:t>
            </a:r>
          </a:p>
          <a:p>
            <a:pPr lvl="2"/>
            <a:r>
              <a:rPr lang="en-US" altLang="en-US"/>
              <a:t>sender channel number = 21</a:t>
            </a:r>
          </a:p>
          <a:p>
            <a:pPr lvl="2"/>
            <a:r>
              <a:rPr lang="en-US" altLang="en-US"/>
              <a:t>initial window size</a:t>
            </a:r>
          </a:p>
          <a:p>
            <a:pPr lvl="2"/>
            <a:r>
              <a:rPr lang="en-US" altLang="en-US"/>
              <a:t>maximum packet size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5ECA122-F849-68AB-F96C-5C93405D0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88D5D-8655-1442-9EB7-5D1CA021C5B7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63C32BB7-C5B0-5A45-0C13-77D23597E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Starting a remote shell cont’d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3073492-9560-ABA4-B4F1-3F84E0FEB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000"/>
              <a:t>C </a:t>
            </a:r>
            <a:r>
              <a:rPr lang="en-US" altLang="en-US" sz="2000">
                <a:sym typeface="Wingdings" pitchFamily="2" charset="2"/>
              </a:rPr>
              <a:t> S: SSH_MSG_CHANNEL_REQUEST</a:t>
            </a:r>
          </a:p>
          <a:p>
            <a:pPr lvl="2"/>
            <a:r>
              <a:rPr lang="en-US" altLang="en-US">
                <a:sym typeface="Wingdings" pitchFamily="2" charset="2"/>
              </a:rPr>
              <a:t>recipient channel number = 21</a:t>
            </a:r>
          </a:p>
          <a:p>
            <a:pPr lvl="2"/>
            <a:r>
              <a:rPr lang="en-US" altLang="en-US">
                <a:sym typeface="Wingdings" pitchFamily="2" charset="2"/>
              </a:rPr>
              <a:t>request type = “pty-req” (pseudo terminal request)</a:t>
            </a:r>
          </a:p>
          <a:p>
            <a:pPr lvl="2"/>
            <a:r>
              <a:rPr lang="en-US" altLang="en-US">
                <a:sym typeface="Wingdings" pitchFamily="2" charset="2"/>
              </a:rPr>
              <a:t>want reply flag = TRUE</a:t>
            </a:r>
          </a:p>
          <a:p>
            <a:pPr lvl="2"/>
            <a:r>
              <a:rPr lang="en-US" altLang="en-US">
                <a:sym typeface="Wingdings" pitchFamily="2" charset="2"/>
              </a:rPr>
              <a:t>TERM environment variable value (e.g., vt100)</a:t>
            </a:r>
          </a:p>
          <a:p>
            <a:pPr lvl="2"/>
            <a:r>
              <a:rPr lang="en-US" altLang="en-US">
                <a:sym typeface="Wingdings" pitchFamily="2" charset="2"/>
              </a:rPr>
              <a:t>terminal width in characters (e.g., 80)</a:t>
            </a:r>
          </a:p>
          <a:p>
            <a:pPr lvl="2"/>
            <a:r>
              <a:rPr lang="en-US" altLang="en-US">
                <a:sym typeface="Wingdings" pitchFamily="2" charset="2"/>
              </a:rPr>
              <a:t>terminal height in rows (e.g., 24)</a:t>
            </a:r>
          </a:p>
          <a:p>
            <a:pPr lvl="2"/>
            <a:r>
              <a:rPr lang="en-US" altLang="en-US">
                <a:sym typeface="Wingdings" pitchFamily="2" charset="2"/>
              </a:rPr>
              <a:t>…</a:t>
            </a:r>
          </a:p>
          <a:p>
            <a:pPr lvl="2"/>
            <a:endParaRPr lang="en-US" altLang="en-US"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/>
              <a:t>C </a:t>
            </a:r>
            <a:r>
              <a:rPr lang="en-US" altLang="en-US" sz="2000">
                <a:sym typeface="Wingdings" pitchFamily="2" charset="2"/>
              </a:rPr>
              <a:t> S: SSH_MSG_CHANNEL_SUCCESS</a:t>
            </a:r>
          </a:p>
          <a:p>
            <a:pPr lvl="2"/>
            <a:r>
              <a:rPr lang="en-US" altLang="en-US">
                <a:sym typeface="Wingdings" pitchFamily="2" charset="2"/>
              </a:rPr>
              <a:t>recipient channel number = 5</a:t>
            </a:r>
          </a:p>
          <a:p>
            <a:endParaRPr lang="en-US" altLang="en-US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597A59D-E07D-4027-CE58-5F69B5E98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5AB42E-9445-F540-B3A0-6832B7DC77AE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6D815F6D-A2E3-16A3-7763-F4653C6BE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Starting a remote shell cont’d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FBEBC9B-D1D0-F0FF-5032-1B3FA146C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000" dirty="0"/>
              <a:t>C </a:t>
            </a:r>
            <a:r>
              <a:rPr lang="en-US" altLang="en-US" sz="2000" dirty="0">
                <a:sym typeface="Wingdings" pitchFamily="2" charset="2"/>
              </a:rPr>
              <a:t> S: SSH_MSG_CHANNEL_REQUEST</a:t>
            </a:r>
          </a:p>
          <a:p>
            <a:pPr lvl="2"/>
            <a:r>
              <a:rPr lang="en-US" altLang="en-US" dirty="0">
                <a:sym typeface="Wingdings" pitchFamily="2" charset="2"/>
              </a:rPr>
              <a:t>recipient channel number = 21</a:t>
            </a:r>
          </a:p>
          <a:p>
            <a:pPr lvl="2"/>
            <a:r>
              <a:rPr lang="en-US" altLang="en-US" dirty="0">
                <a:sym typeface="Wingdings" pitchFamily="2" charset="2"/>
              </a:rPr>
              <a:t>request type = “shell” </a:t>
            </a:r>
          </a:p>
          <a:p>
            <a:pPr lvl="2"/>
            <a:r>
              <a:rPr lang="en-US" altLang="en-US" dirty="0">
                <a:sym typeface="Wingdings" pitchFamily="2" charset="2"/>
              </a:rPr>
              <a:t>want reply flag = TRUE</a:t>
            </a:r>
          </a:p>
          <a:p>
            <a:pPr lvl="2"/>
            <a:endParaRPr lang="en-US" altLang="en-US" dirty="0"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 dirty="0"/>
              <a:t>C </a:t>
            </a:r>
            <a:r>
              <a:rPr lang="en-US" altLang="en-US" sz="2000" dirty="0">
                <a:sym typeface="Wingdings" pitchFamily="2" charset="2"/>
              </a:rPr>
              <a:t> S: SSH_MSG_CHANNEL_SUCCESS</a:t>
            </a:r>
          </a:p>
          <a:p>
            <a:pPr lvl="2"/>
            <a:r>
              <a:rPr lang="en-US" altLang="en-US" dirty="0">
                <a:sym typeface="Wingdings" pitchFamily="2" charset="2"/>
              </a:rPr>
              <a:t>recipient channel number = 5</a:t>
            </a:r>
          </a:p>
          <a:p>
            <a:pPr lvl="2"/>
            <a:endParaRPr lang="en-US" altLang="en-US" dirty="0"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 dirty="0"/>
              <a:t>C </a:t>
            </a:r>
            <a:r>
              <a:rPr lang="en-US" altLang="en-US" sz="2000" dirty="0">
                <a:sym typeface="Wingdings" pitchFamily="2" charset="2"/>
              </a:rPr>
              <a:t> S: SSH_MSG_CHANNEL_DATA,</a:t>
            </a:r>
          </a:p>
          <a:p>
            <a:pPr>
              <a:buFont typeface="Wingdings" pitchFamily="2" charset="2"/>
              <a:buNone/>
            </a:pPr>
            <a:r>
              <a:rPr lang="en-US" altLang="en-US" sz="2000" dirty="0">
                <a:sym typeface="Wingdings" pitchFamily="2" charset="2"/>
              </a:rPr>
              <a:t>		  SSH_MSG_CHANNEL_WINDOW_ADJUST</a:t>
            </a:r>
          </a:p>
          <a:p>
            <a:pPr>
              <a:buFont typeface="Wingdings" pitchFamily="2" charset="2"/>
              <a:buNone/>
            </a:pPr>
            <a:r>
              <a:rPr lang="en-US" altLang="en-US" sz="2000" dirty="0">
                <a:sym typeface="Wingdings" pitchFamily="2" charset="2"/>
              </a:rPr>
              <a:t>		  …</a:t>
            </a:r>
          </a:p>
          <a:p>
            <a:pPr>
              <a:buFont typeface="Wingdings" pitchFamily="2" charset="2"/>
              <a:buNone/>
            </a:pPr>
            <a:endParaRPr lang="en-US" altLang="en-US" dirty="0">
              <a:sym typeface="Wingdings" pitchFamily="2" charset="2"/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103" y="2126382"/>
            <a:ext cx="7773552" cy="14780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96334" y="2567404"/>
            <a:ext cx="4814420" cy="629713"/>
          </a:xfrm>
          <a:prstGeom prst="rect">
            <a:avLst/>
          </a:prstGeom>
        </p:spPr>
        <p:txBody>
          <a:bodyPr vert="horz" wrap="square" lIns="0" tIns="15547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122"/>
              </a:spcBef>
            </a:pPr>
            <a:r>
              <a:rPr sz="3990" dirty="0">
                <a:solidFill>
                  <a:srgbClr val="4B4B4B"/>
                </a:solidFill>
                <a:latin typeface="Comic Sans MS"/>
                <a:cs typeface="Comic Sans MS"/>
              </a:rPr>
              <a:t>Applications</a:t>
            </a:r>
            <a:r>
              <a:rPr sz="3990" spc="-109" dirty="0">
                <a:solidFill>
                  <a:srgbClr val="4B4B4B"/>
                </a:solidFill>
                <a:latin typeface="Comic Sans MS"/>
                <a:cs typeface="Comic Sans MS"/>
              </a:rPr>
              <a:t> </a:t>
            </a:r>
            <a:r>
              <a:rPr sz="3990" dirty="0">
                <a:solidFill>
                  <a:srgbClr val="4B4B4B"/>
                </a:solidFill>
                <a:latin typeface="Comic Sans MS"/>
                <a:cs typeface="Comic Sans MS"/>
              </a:rPr>
              <a:t>of</a:t>
            </a:r>
            <a:r>
              <a:rPr sz="3990" spc="-131" dirty="0">
                <a:solidFill>
                  <a:srgbClr val="4B4B4B"/>
                </a:solidFill>
                <a:latin typeface="Comic Sans MS"/>
                <a:cs typeface="Comic Sans MS"/>
              </a:rPr>
              <a:t> </a:t>
            </a:r>
            <a:r>
              <a:rPr sz="3990" spc="-23" dirty="0">
                <a:solidFill>
                  <a:srgbClr val="4B4B4B"/>
                </a:solidFill>
                <a:latin typeface="Comic Sans MS"/>
                <a:cs typeface="Comic Sans MS"/>
              </a:rPr>
              <a:t>SSH</a:t>
            </a:r>
            <a:endParaRPr sz="399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1766610">
              <a:lnSpc>
                <a:spcPct val="100000"/>
              </a:lnSpc>
              <a:spcBef>
                <a:spcPts val="95"/>
              </a:spcBef>
            </a:pPr>
            <a:r>
              <a:rPr dirty="0"/>
              <a:t>X11</a:t>
            </a:r>
            <a:r>
              <a:rPr spc="-41" dirty="0"/>
              <a:t> </a:t>
            </a:r>
            <a:r>
              <a:rPr spc="-9" dirty="0"/>
              <a:t>Forwarding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6191" y="1140984"/>
            <a:ext cx="7341688" cy="473668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28332" y="249701"/>
            <a:ext cx="9535557" cy="854449"/>
          </a:xfrm>
          <a:prstGeom prst="rect">
            <a:avLst/>
          </a:prstGeom>
        </p:spPr>
        <p:txBody>
          <a:bodyPr vert="horz" wrap="square" lIns="0" tIns="175625" rIns="0" bIns="0" rtlCol="0" anchor="ctr">
            <a:spAutoFit/>
          </a:bodyPr>
          <a:lstStyle/>
          <a:p>
            <a:pPr marL="1216128">
              <a:lnSpc>
                <a:spcPct val="100000"/>
              </a:lnSpc>
              <a:spcBef>
                <a:spcPts val="118"/>
              </a:spcBef>
            </a:pPr>
            <a:r>
              <a:rPr lang="en-US" spc="-32" dirty="0"/>
              <a:t>Port Forwarding</a:t>
            </a:r>
            <a:endParaRPr sz="5985" baseline="17676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2565" y="1578549"/>
            <a:ext cx="7442456" cy="3519593"/>
          </a:xfrm>
          <a:prstGeom prst="rect">
            <a:avLst/>
          </a:prstGeom>
        </p:spPr>
        <p:txBody>
          <a:bodyPr vert="horz" wrap="square" lIns="0" tIns="5182" rIns="0" bIns="0" rtlCol="0">
            <a:spAutoFit/>
          </a:bodyPr>
          <a:lstStyle/>
          <a:p>
            <a:pPr marL="322458" marR="186565" indent="-310942">
              <a:lnSpc>
                <a:spcPct val="102499"/>
              </a:lnSpc>
              <a:spcBef>
                <a:spcPts val="41"/>
              </a:spcBef>
              <a:buFont typeface="Arial"/>
              <a:buChar char="•"/>
              <a:tabLst>
                <a:tab pos="322458" algn="l"/>
              </a:tabLst>
            </a:pPr>
            <a:r>
              <a:rPr sz="2494" dirty="0">
                <a:cs typeface="Comic Sans MS"/>
              </a:rPr>
              <a:t>SSH</a:t>
            </a:r>
            <a:r>
              <a:rPr sz="2494" spc="2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port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forwarding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is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mechanism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in</a:t>
            </a:r>
            <a:r>
              <a:rPr sz="2494" spc="141" dirty="0">
                <a:cs typeface="Comic Sans MS"/>
              </a:rPr>
              <a:t> </a:t>
            </a:r>
            <a:r>
              <a:rPr sz="2494" b="1" spc="-23" dirty="0">
                <a:solidFill>
                  <a:srgbClr val="3146FF"/>
                </a:solidFill>
                <a:cs typeface="Comic Sans MS"/>
              </a:rPr>
              <a:t>SSH </a:t>
            </a:r>
            <a:r>
              <a:rPr sz="2494" dirty="0">
                <a:cs typeface="Comic Sans MS"/>
              </a:rPr>
              <a:t>for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tunneling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application</a:t>
            </a:r>
            <a:r>
              <a:rPr sz="2494" spc="10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ports</a:t>
            </a:r>
            <a:r>
              <a:rPr sz="2494" spc="5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from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113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client </a:t>
            </a:r>
            <a:r>
              <a:rPr sz="2494" dirty="0">
                <a:cs typeface="Comic Sans MS"/>
              </a:rPr>
              <a:t>machine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to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server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machine,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or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vice</a:t>
            </a:r>
            <a:r>
              <a:rPr sz="2494" spc="36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versa.</a:t>
            </a:r>
            <a:endParaRPr sz="2494" dirty="0">
              <a:cs typeface="Comic Sans MS"/>
            </a:endParaRPr>
          </a:p>
          <a:p>
            <a:pPr marL="322458" marR="4607" indent="-310942">
              <a:lnSpc>
                <a:spcPct val="101699"/>
              </a:lnSpc>
              <a:spcBef>
                <a:spcPts val="27"/>
              </a:spcBef>
              <a:buFont typeface="Arial"/>
              <a:buChar char="•"/>
              <a:tabLst>
                <a:tab pos="322458" algn="l"/>
              </a:tabLst>
            </a:pPr>
            <a:r>
              <a:rPr sz="2494" dirty="0">
                <a:cs typeface="Comic Sans MS"/>
              </a:rPr>
              <a:t>The</a:t>
            </a:r>
            <a:r>
              <a:rPr sz="2494" spc="3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application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data</a:t>
            </a:r>
            <a:r>
              <a:rPr sz="2494" spc="6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traffic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is</a:t>
            </a:r>
            <a:r>
              <a:rPr sz="2494" spc="13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directed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to</a:t>
            </a:r>
            <a:r>
              <a:rPr sz="2494" spc="95" dirty="0">
                <a:cs typeface="Comic Sans MS"/>
              </a:rPr>
              <a:t> </a:t>
            </a:r>
            <a:r>
              <a:rPr sz="2494" spc="-18" dirty="0">
                <a:cs typeface="Comic Sans MS"/>
              </a:rPr>
              <a:t>flow </a:t>
            </a:r>
            <a:r>
              <a:rPr sz="2494" dirty="0">
                <a:cs typeface="Comic Sans MS"/>
              </a:rPr>
              <a:t>inside</a:t>
            </a:r>
            <a:r>
              <a:rPr sz="2494" spc="4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an</a:t>
            </a:r>
            <a:r>
              <a:rPr sz="2494" spc="11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encrypted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SSH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connection</a:t>
            </a:r>
            <a:r>
              <a:rPr sz="2494" spc="50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so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that</a:t>
            </a:r>
            <a:r>
              <a:rPr sz="2494" spc="118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it </a:t>
            </a:r>
            <a:r>
              <a:rPr sz="2494" dirty="0">
                <a:cs typeface="Comic Sans MS"/>
              </a:rPr>
              <a:t>cannot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be</a:t>
            </a:r>
            <a:r>
              <a:rPr sz="2494" spc="11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eavesdropped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or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intercepted</a:t>
            </a:r>
            <a:r>
              <a:rPr sz="2494" spc="8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while</a:t>
            </a:r>
            <a:r>
              <a:rPr sz="2494" spc="118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it </a:t>
            </a:r>
            <a:r>
              <a:rPr sz="2494" dirty="0">
                <a:cs typeface="Comic Sans MS"/>
              </a:rPr>
              <a:t>is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in</a:t>
            </a:r>
            <a:r>
              <a:rPr sz="2494" spc="32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transit.</a:t>
            </a:r>
            <a:endParaRPr sz="2494" dirty="0">
              <a:cs typeface="Comic Sans MS"/>
            </a:endParaRPr>
          </a:p>
          <a:p>
            <a:pPr marL="322458" marR="72553" indent="-310942">
              <a:lnSpc>
                <a:spcPct val="102499"/>
              </a:lnSpc>
              <a:buFont typeface="Arial"/>
              <a:buChar char="•"/>
              <a:tabLst>
                <a:tab pos="322458" algn="l"/>
              </a:tabLst>
            </a:pPr>
            <a:r>
              <a:rPr sz="2494" dirty="0">
                <a:cs typeface="Comic Sans MS"/>
              </a:rPr>
              <a:t>SSH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tunneling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adds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network</a:t>
            </a:r>
            <a:r>
              <a:rPr sz="2494" spc="1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security</a:t>
            </a:r>
            <a:r>
              <a:rPr sz="2494" spc="11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to</a:t>
            </a:r>
            <a:r>
              <a:rPr sz="2494" spc="103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legacy </a:t>
            </a:r>
            <a:r>
              <a:rPr sz="2494" dirty="0">
                <a:cs typeface="Comic Sans MS"/>
              </a:rPr>
              <a:t>applications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that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do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not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natively</a:t>
            </a:r>
            <a:r>
              <a:rPr sz="2494" spc="82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support encryption.</a:t>
            </a:r>
            <a:endParaRPr sz="2494" dirty="0">
              <a:cs typeface="Comic Sans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467" y="35"/>
            <a:ext cx="7799463" cy="89893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617542"/>
            <a:ext cx="9535557" cy="629131"/>
          </a:xfrm>
          <a:prstGeom prst="rect">
            <a:avLst/>
          </a:prstGeom>
        </p:spPr>
        <p:txBody>
          <a:bodyPr vert="horz" wrap="square" lIns="0" tIns="14971" rIns="0" bIns="0" rtlCol="0" anchor="ctr">
            <a:spAutoFit/>
          </a:bodyPr>
          <a:lstStyle/>
          <a:p>
            <a:pPr marL="553361">
              <a:lnSpc>
                <a:spcPct val="100000"/>
              </a:lnSpc>
              <a:spcBef>
                <a:spcPts val="118"/>
              </a:spcBef>
            </a:pPr>
            <a:r>
              <a:rPr sz="3990" dirty="0">
                <a:solidFill>
                  <a:srgbClr val="4B4B4B"/>
                </a:solidFill>
                <a:latin typeface="+mn-lt"/>
                <a:cs typeface="Comic Sans MS"/>
              </a:rPr>
              <a:t>Port</a:t>
            </a:r>
            <a:r>
              <a:rPr sz="3990" spc="-122" dirty="0">
                <a:solidFill>
                  <a:srgbClr val="4B4B4B"/>
                </a:solidFill>
                <a:latin typeface="+mn-lt"/>
                <a:cs typeface="Comic Sans MS"/>
              </a:rPr>
              <a:t> </a:t>
            </a:r>
            <a:r>
              <a:rPr sz="3990" dirty="0">
                <a:solidFill>
                  <a:srgbClr val="4B4B4B"/>
                </a:solidFill>
                <a:latin typeface="+mn-lt"/>
                <a:cs typeface="Comic Sans MS"/>
              </a:rPr>
              <a:t>Forwarding</a:t>
            </a:r>
            <a:r>
              <a:rPr sz="3990" spc="-136" dirty="0">
                <a:solidFill>
                  <a:srgbClr val="4B4B4B"/>
                </a:solidFill>
                <a:latin typeface="+mn-lt"/>
                <a:cs typeface="Comic Sans MS"/>
              </a:rPr>
              <a:t> </a:t>
            </a:r>
            <a:r>
              <a:rPr sz="3990" spc="-9" dirty="0">
                <a:solidFill>
                  <a:srgbClr val="4B4B4B"/>
                </a:solidFill>
                <a:latin typeface="+mn-lt"/>
                <a:cs typeface="Comic Sans MS"/>
              </a:rPr>
              <a:t>(Continued)</a:t>
            </a:r>
            <a:endParaRPr sz="3990" dirty="0">
              <a:latin typeface="+mn-lt"/>
              <a:cs typeface="Comic Sans MS"/>
            </a:endParaRPr>
          </a:p>
        </p:txBody>
      </p:sp>
      <p:pic>
        <p:nvPicPr>
          <p:cNvPr id="4" name="object 4" descr="Securing applications with ssh tunneling / port forwardi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9759" y="2031258"/>
            <a:ext cx="9138241" cy="279191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3777" y="2226877"/>
            <a:ext cx="7337081" cy="1542158"/>
          </a:xfrm>
          <a:prstGeom prst="rect">
            <a:avLst/>
          </a:prstGeom>
        </p:spPr>
        <p:txBody>
          <a:bodyPr vert="horz" wrap="square" lIns="0" tIns="68522" rIns="0" bIns="0" rtlCol="0">
            <a:spAutoFit/>
          </a:bodyPr>
          <a:lstStyle/>
          <a:p>
            <a:pPr marL="321306" marR="4607" indent="-310366">
              <a:lnSpc>
                <a:spcPts val="2593"/>
              </a:lnSpc>
              <a:spcBef>
                <a:spcPts val="540"/>
              </a:spcBef>
              <a:buFont typeface="Comic Sans MS"/>
              <a:buChar char="•"/>
              <a:tabLst>
                <a:tab pos="321306" algn="l"/>
              </a:tabLst>
            </a:pPr>
            <a:r>
              <a:rPr sz="2494" dirty="0">
                <a:solidFill>
                  <a:srgbClr val="0000FF"/>
                </a:solidFill>
                <a:cs typeface="Comic Sans MS"/>
              </a:rPr>
              <a:t>SCP</a:t>
            </a:r>
            <a:r>
              <a:rPr sz="2494" dirty="0">
                <a:cs typeface="Comic Sans MS"/>
              </a:rPr>
              <a:t>:</a:t>
            </a:r>
            <a:r>
              <a:rPr sz="2494" spc="2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copying</a:t>
            </a:r>
            <a:r>
              <a:rPr sz="2494" spc="6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files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btw.</a:t>
            </a:r>
            <a:r>
              <a:rPr sz="2494" spc="10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hosts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by</a:t>
            </a:r>
            <a:r>
              <a:rPr sz="2494" spc="100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using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SSH</a:t>
            </a:r>
            <a:r>
              <a:rPr sz="2494" spc="86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for </a:t>
            </a:r>
            <a:r>
              <a:rPr sz="2494" dirty="0">
                <a:cs typeface="Comic Sans MS"/>
              </a:rPr>
              <a:t>data</a:t>
            </a:r>
            <a:r>
              <a:rPr sz="2494" spc="63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transfer.</a:t>
            </a:r>
            <a:endParaRPr sz="2494" dirty="0">
              <a:cs typeface="Comic Sans MS"/>
            </a:endParaRPr>
          </a:p>
          <a:p>
            <a:pPr>
              <a:spcBef>
                <a:spcPts val="254"/>
              </a:spcBef>
              <a:buFont typeface="Comic Sans MS"/>
              <a:buChar char="•"/>
            </a:pPr>
            <a:endParaRPr sz="2494" dirty="0">
              <a:cs typeface="Comic Sans MS"/>
            </a:endParaRPr>
          </a:p>
          <a:p>
            <a:pPr marL="321306" indent="-309790">
              <a:buClr>
                <a:srgbClr val="000000"/>
              </a:buClr>
              <a:buChar char="•"/>
              <a:tabLst>
                <a:tab pos="321306" algn="l"/>
              </a:tabLst>
            </a:pPr>
            <a:r>
              <a:rPr sz="2494" dirty="0">
                <a:solidFill>
                  <a:srgbClr val="0000FF"/>
                </a:solidFill>
                <a:cs typeface="Comic Sans MS"/>
              </a:rPr>
              <a:t>SFTP</a:t>
            </a:r>
            <a:r>
              <a:rPr sz="2494" dirty="0">
                <a:cs typeface="Comic Sans MS"/>
              </a:rPr>
              <a:t>:</a:t>
            </a:r>
            <a:r>
              <a:rPr sz="2494" spc="4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Secure</a:t>
            </a:r>
            <a:r>
              <a:rPr sz="2494" spc="100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FTP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over</a:t>
            </a:r>
            <a:r>
              <a:rPr sz="2494" spc="68" dirty="0">
                <a:cs typeface="Comic Sans MS"/>
              </a:rPr>
              <a:t> </a:t>
            </a:r>
            <a:r>
              <a:rPr sz="2494" spc="-18" dirty="0">
                <a:cs typeface="Comic Sans MS"/>
              </a:rPr>
              <a:t>SSH</a:t>
            </a:r>
            <a:r>
              <a:rPr sz="2494" spc="-18" dirty="0">
                <a:solidFill>
                  <a:srgbClr val="008000"/>
                </a:solidFill>
                <a:cs typeface="Calibri"/>
              </a:rPr>
              <a:t>.</a:t>
            </a:r>
            <a:endParaRPr sz="2494" dirty="0"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1827071">
              <a:lnSpc>
                <a:spcPct val="100000"/>
              </a:lnSpc>
              <a:spcBef>
                <a:spcPts val="95"/>
              </a:spcBef>
            </a:pPr>
            <a:r>
              <a:rPr dirty="0"/>
              <a:t>SCP,</a:t>
            </a:r>
            <a:r>
              <a:rPr spc="-14" dirty="0"/>
              <a:t> </a:t>
            </a:r>
            <a:r>
              <a:rPr dirty="0"/>
              <a:t>and</a:t>
            </a:r>
            <a:r>
              <a:rPr spc="-36" dirty="0"/>
              <a:t> </a:t>
            </a:r>
            <a:r>
              <a:rPr spc="-18" dirty="0"/>
              <a:t>SFTP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3525" y="2005205"/>
            <a:ext cx="7622111" cy="3202595"/>
          </a:xfrm>
          <a:prstGeom prst="rect">
            <a:avLst/>
          </a:prstGeom>
        </p:spPr>
        <p:txBody>
          <a:bodyPr vert="horz" wrap="square" lIns="0" tIns="57582" rIns="0" bIns="0" rtlCol="0">
            <a:spAutoFit/>
          </a:bodyPr>
          <a:lstStyle/>
          <a:p>
            <a:pPr marL="321306" marR="4607" indent="-310366" algn="just">
              <a:lnSpc>
                <a:spcPct val="88800"/>
              </a:lnSpc>
              <a:spcBef>
                <a:spcPts val="453"/>
              </a:spcBef>
              <a:buFont typeface="Comic Sans MS"/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Using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“</a:t>
            </a:r>
            <a:r>
              <a:rPr sz="2494" i="1" dirty="0">
                <a:cs typeface="Comic Sans MS"/>
              </a:rPr>
              <a:t>ssh-keygen</a:t>
            </a:r>
            <a:r>
              <a:rPr sz="2494" dirty="0">
                <a:cs typeface="Comic Sans MS"/>
              </a:rPr>
              <a:t>”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you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can</a:t>
            </a:r>
            <a:r>
              <a:rPr sz="2494" spc="3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ask</a:t>
            </a:r>
            <a:r>
              <a:rPr sz="2494" spc="5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SSH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to</a:t>
            </a:r>
            <a:r>
              <a:rPr sz="2494" spc="95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generate </a:t>
            </a:r>
            <a:r>
              <a:rPr sz="2494" dirty="0">
                <a:cs typeface="Comic Sans MS"/>
              </a:rPr>
              <a:t>an</a:t>
            </a:r>
            <a:r>
              <a:rPr sz="2494" spc="5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RSA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or</a:t>
            </a:r>
            <a:r>
              <a:rPr sz="2494" spc="2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DSA</a:t>
            </a:r>
            <a:r>
              <a:rPr sz="2494" spc="7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key</a:t>
            </a:r>
            <a:r>
              <a:rPr sz="2494" spc="6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pair</a:t>
            </a:r>
            <a:r>
              <a:rPr sz="2494" spc="2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for</a:t>
            </a:r>
            <a:r>
              <a:rPr sz="2494" spc="2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you,</a:t>
            </a:r>
            <a:r>
              <a:rPr sz="2494" spc="5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with</a:t>
            </a:r>
            <a:r>
              <a:rPr sz="2494" spc="54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protection </a:t>
            </a:r>
            <a:r>
              <a:rPr sz="2494" dirty="0">
                <a:cs typeface="Comic Sans MS"/>
              </a:rPr>
              <a:t>of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your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private</a:t>
            </a:r>
            <a:r>
              <a:rPr sz="2494" spc="6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key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from</a:t>
            </a:r>
            <a:r>
              <a:rPr sz="2494" spc="4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</a:t>
            </a:r>
            <a:r>
              <a:rPr sz="2494" spc="18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passphrase:</a:t>
            </a:r>
            <a:endParaRPr sz="2494" dirty="0">
              <a:cs typeface="Comic Sans MS"/>
            </a:endParaRPr>
          </a:p>
          <a:p>
            <a:pPr marL="321306" marR="963344" indent="-310366">
              <a:lnSpc>
                <a:spcPct val="102499"/>
              </a:lnSpc>
              <a:spcBef>
                <a:spcPts val="680"/>
              </a:spcBef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SSH</a:t>
            </a:r>
            <a:r>
              <a:rPr sz="2494" spc="18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will</a:t>
            </a:r>
            <a:r>
              <a:rPr sz="2494" spc="36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then</a:t>
            </a:r>
            <a:r>
              <a:rPr sz="2494" spc="1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add</a:t>
            </a:r>
            <a:r>
              <a:rPr sz="2494" spc="12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your</a:t>
            </a:r>
            <a:r>
              <a:rPr sz="2494" spc="5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public</a:t>
            </a:r>
            <a:r>
              <a:rPr sz="2494" spc="11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key</a:t>
            </a:r>
            <a:r>
              <a:rPr sz="2494" spc="95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into</a:t>
            </a:r>
            <a:r>
              <a:rPr sz="2494" spc="9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the </a:t>
            </a:r>
            <a:r>
              <a:rPr sz="2494" dirty="0">
                <a:cs typeface="Comic Sans MS"/>
              </a:rPr>
              <a:t>server's</a:t>
            </a:r>
            <a:r>
              <a:rPr sz="2494" spc="15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“authorized_keys”</a:t>
            </a:r>
            <a:r>
              <a:rPr sz="2494" spc="195" dirty="0">
                <a:cs typeface="Comic Sans MS"/>
              </a:rPr>
              <a:t> </a:t>
            </a:r>
            <a:r>
              <a:rPr sz="2494" spc="-9" dirty="0">
                <a:cs typeface="Comic Sans MS"/>
              </a:rPr>
              <a:t>database. (~/.ssh/authorized_keys)</a:t>
            </a:r>
            <a:endParaRPr sz="2494" dirty="0">
              <a:cs typeface="Comic Sans MS"/>
            </a:endParaRPr>
          </a:p>
          <a:p>
            <a:pPr marL="321306" marR="609215" indent="-310366">
              <a:lnSpc>
                <a:spcPct val="102499"/>
              </a:lnSpc>
              <a:spcBef>
                <a:spcPts val="680"/>
              </a:spcBef>
              <a:buChar char="•"/>
              <a:tabLst>
                <a:tab pos="321306" algn="l"/>
              </a:tabLst>
            </a:pPr>
            <a:r>
              <a:rPr sz="2494" dirty="0">
                <a:cs typeface="Comic Sans MS"/>
              </a:rPr>
              <a:t>Later</a:t>
            </a:r>
            <a:r>
              <a:rPr sz="2494" spc="5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you</a:t>
            </a:r>
            <a:r>
              <a:rPr sz="2494" spc="91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can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connect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to</a:t>
            </a:r>
            <a:r>
              <a:rPr sz="2494" spc="14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the</a:t>
            </a:r>
            <a:r>
              <a:rPr sz="2494" spc="23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server</a:t>
            </a:r>
            <a:r>
              <a:rPr sz="2494" spc="122" dirty="0">
                <a:cs typeface="Comic Sans MS"/>
              </a:rPr>
              <a:t> </a:t>
            </a:r>
            <a:r>
              <a:rPr sz="2494" spc="-23" dirty="0">
                <a:cs typeface="Comic Sans MS"/>
              </a:rPr>
              <a:t>by </a:t>
            </a:r>
            <a:r>
              <a:rPr sz="2494" dirty="0">
                <a:cs typeface="Comic Sans MS"/>
              </a:rPr>
              <a:t>authenticating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yourself</a:t>
            </a:r>
            <a:r>
              <a:rPr sz="2494" spc="77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with</a:t>
            </a:r>
            <a:r>
              <a:rPr sz="2494" spc="109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your</a:t>
            </a:r>
            <a:r>
              <a:rPr sz="2494" spc="82" dirty="0">
                <a:cs typeface="Comic Sans MS"/>
              </a:rPr>
              <a:t> </a:t>
            </a:r>
            <a:r>
              <a:rPr sz="2494" dirty="0">
                <a:cs typeface="Comic Sans MS"/>
              </a:rPr>
              <a:t>public</a:t>
            </a:r>
            <a:r>
              <a:rPr sz="2494" spc="131" dirty="0">
                <a:cs typeface="Comic Sans MS"/>
              </a:rPr>
              <a:t> </a:t>
            </a:r>
            <a:r>
              <a:rPr sz="2494" spc="-18" dirty="0">
                <a:cs typeface="Comic Sans MS"/>
              </a:rPr>
              <a:t>key.</a:t>
            </a:r>
            <a:endParaRPr sz="2494" dirty="0">
              <a:cs typeface="Comic Sans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9839" y="458368"/>
            <a:ext cx="9535557" cy="947479"/>
          </a:xfrm>
          <a:prstGeom prst="rect">
            <a:avLst/>
          </a:prstGeom>
        </p:spPr>
        <p:txBody>
          <a:bodyPr vert="horz" wrap="square" lIns="0" tIns="267756" rIns="0" bIns="0" rtlCol="0" anchor="ctr">
            <a:spAutoFit/>
          </a:bodyPr>
          <a:lstStyle/>
          <a:p>
            <a:pPr marL="688678">
              <a:lnSpc>
                <a:spcPct val="100000"/>
              </a:lnSpc>
              <a:spcBef>
                <a:spcPts val="95"/>
              </a:spcBef>
            </a:pPr>
            <a:r>
              <a:rPr dirty="0"/>
              <a:t>SSH</a:t>
            </a:r>
            <a:r>
              <a:rPr spc="-41" dirty="0"/>
              <a:t> </a:t>
            </a:r>
            <a:r>
              <a:rPr dirty="0"/>
              <a:t>Public</a:t>
            </a:r>
            <a:r>
              <a:rPr spc="-23" dirty="0"/>
              <a:t> </a:t>
            </a:r>
            <a:r>
              <a:rPr dirty="0"/>
              <a:t>Key</a:t>
            </a:r>
            <a:r>
              <a:rPr spc="-18" dirty="0"/>
              <a:t> </a:t>
            </a:r>
            <a:r>
              <a:rPr spc="-9" dirty="0"/>
              <a:t>Authentication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3EEE9-9833-4CE7-9391-F7089421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0C5ADEAA-1030-F510-1B0D-F76910CF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688678"/>
            <a:r>
              <a:rPr lang="en-US" kern="1200">
                <a:latin typeface="+mj-lt"/>
                <a:ea typeface="+mj-ea"/>
                <a:cs typeface="+mj-cs"/>
              </a:rPr>
              <a:t>Question for you</a:t>
            </a:r>
            <a:endParaRPr lang="en-US" kern="1200" spc="-9">
              <a:latin typeface="+mj-lt"/>
              <a:ea typeface="+mj-ea"/>
              <a:cs typeface="+mj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A8FC62C-31B0-D91E-B8F2-412B67CEFD29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/>
              <a:t>* SSH relies heavily on Trust On First Use (TOFU) where public keys are stored in ~/.ssh/known_hosts – what can go wrong?</a:t>
            </a:r>
            <a:br>
              <a:rPr lang="en-US" sz="2400"/>
            </a:br>
            <a:endParaRPr lang="en-US" sz="2400"/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/>
              <a:t>* If an attacker steals your server's private host key tomorrow, can they decrypt the SSH traffic they recorded yesterday?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br>
              <a:rPr lang="en-US" sz="2400"/>
            </a:br>
            <a:endParaRPr lang="en-US" sz="24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F302744-70AA-48A4-BA26-5BF6ACA5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549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32446"/>
            <a:r>
              <a:rPr lang="en-US" kern="1200" spc="-9"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21306" algn="l"/>
              </a:tabLst>
            </a:pPr>
            <a:r>
              <a:rPr lang="en-US" sz="2800" u="sng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SSH:</a:t>
            </a:r>
            <a:r>
              <a:rPr lang="en-US" sz="2800" u="sng" spc="-68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</a:t>
            </a:r>
            <a:r>
              <a:rPr lang="en-US" sz="2800" u="sng" spc="-63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Secure</a:t>
            </a:r>
            <a:r>
              <a:rPr lang="en-US" sz="2800" u="sng" spc="-63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Shell</a:t>
            </a:r>
            <a:r>
              <a:rPr lang="en-US" sz="2800" u="sng" spc="-18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</a:t>
            </a:r>
            <a:r>
              <a:rPr lang="en-US" sz="2800" u="sng" spc="-63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Definitive</a:t>
            </a:r>
            <a:r>
              <a:rPr lang="en-US" sz="2800" u="sng" spc="-63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</a:t>
            </a:r>
            <a:r>
              <a:rPr lang="en-US" sz="2800" u="sng" spc="-63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 spc="-23">
                <a:uFill>
                  <a:solidFill>
                    <a:srgbClr val="CCCC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2E</a:t>
            </a:r>
            <a:endParaRPr lang="en-US"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1306" algn="l"/>
              </a:tabLst>
            </a:pPr>
            <a:r>
              <a:rPr lang="en-US" sz="2800" u="sng">
                <a:uFill>
                  <a:solidFill>
                    <a:srgbClr val="CCCCFF"/>
                  </a:solidFill>
                </a:uFill>
              </a:rPr>
              <a:t>SSH</a:t>
            </a:r>
            <a:r>
              <a:rPr lang="en-US" sz="2800" u="sng" spc="-54">
                <a:uFill>
                  <a:solidFill>
                    <a:srgbClr val="CCCCFF"/>
                  </a:solidFill>
                </a:uFill>
              </a:rPr>
              <a:t> </a:t>
            </a:r>
            <a:r>
              <a:rPr lang="en-US" sz="2800" u="sng" spc="-23">
                <a:uFill>
                  <a:solidFill>
                    <a:srgbClr val="CCCCFF"/>
                  </a:solidFill>
                </a:uFill>
              </a:rPr>
              <a:t>FAQ</a:t>
            </a:r>
            <a:endParaRPr lang="en-US"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1306" algn="l"/>
              </a:tabLst>
            </a:pPr>
            <a:r>
              <a:rPr lang="en-US" sz="2800" u="sng">
                <a:uFill>
                  <a:solidFill>
                    <a:srgbClr val="CCCC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OPENSSH</a:t>
            </a:r>
            <a:r>
              <a:rPr lang="en-US" sz="2800" u="sng" spc="-59">
                <a:uFill>
                  <a:solidFill>
                    <a:srgbClr val="CCCC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</a:t>
            </a:r>
            <a:r>
              <a:rPr lang="en-US" sz="2800" u="sng" spc="-82">
                <a:uFill>
                  <a:solidFill>
                    <a:srgbClr val="CCCC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</a:t>
            </a:r>
            <a:r>
              <a:rPr lang="en-US" sz="2800" u="sng" spc="-63">
                <a:uFill>
                  <a:solidFill>
                    <a:srgbClr val="CCCC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 spc="-18">
                <a:uFill>
                  <a:solidFill>
                    <a:srgbClr val="CCCC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Site</a:t>
            </a:r>
            <a:endParaRPr lang="en-US"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1306" algn="l"/>
              </a:tabLst>
            </a:pP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SSH</a:t>
            </a:r>
            <a:r>
              <a:rPr lang="en-US" sz="2800" u="sng" spc="-86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Communications</a:t>
            </a:r>
            <a:r>
              <a:rPr lang="en-US" sz="2800" u="sng" spc="-77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 spc="-9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</a:t>
            </a:r>
            <a:endParaRPr lang="en-US" sz="2800"/>
          </a:p>
          <a:p>
            <a:pPr marL="228600" marR="77620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74282" algn="l"/>
              </a:tabLst>
            </a:pP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</a:t>
            </a:r>
            <a:r>
              <a:rPr lang="en-US" sz="2800" u="sng" spc="-63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Secure</a:t>
            </a:r>
            <a:r>
              <a:rPr lang="en-US" sz="2800" u="sng" spc="-63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Shell</a:t>
            </a:r>
            <a:r>
              <a:rPr lang="en-US" sz="2800" u="sng" spc="-14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(SSH)</a:t>
            </a:r>
            <a:r>
              <a:rPr lang="en-US" sz="2800" u="sng" spc="-77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Protocol</a:t>
            </a:r>
            <a:r>
              <a:rPr lang="en-US" sz="2800" u="sng" spc="-14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 spc="-9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Architechture</a:t>
            </a:r>
            <a:r>
              <a:rPr lang="en-US" sz="2800" spc="-9"/>
              <a:t> 	</a:t>
            </a:r>
            <a:r>
              <a:rPr lang="en-US" sz="2800" u="sng" spc="-9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https://datatracker.ietf.org/doc/html/rfc4251</a:t>
            </a:r>
            <a:endParaRPr lang="en-US"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1306" algn="l"/>
              </a:tabLst>
            </a:pP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</a:t>
            </a:r>
            <a:r>
              <a:rPr lang="en-US" sz="2800" u="sng" spc="-54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SSH</a:t>
            </a:r>
            <a:r>
              <a:rPr lang="en-US" sz="2800" u="sng" spc="-59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Transport</a:t>
            </a:r>
            <a:r>
              <a:rPr lang="en-US" sz="2800" u="sng" spc="-82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Layer</a:t>
            </a:r>
            <a:r>
              <a:rPr lang="en-US" sz="2800" u="sng" spc="-41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u="sng" spc="-9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Protocol</a:t>
            </a:r>
            <a:endParaRPr lang="en-US"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u="sng" spc="-9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https://www.rfc-editor.org/rfc/rfc4253#section-</a:t>
            </a:r>
            <a:r>
              <a:rPr lang="en-US" sz="2800" u="sng" spc="-23">
                <a:uFill>
                  <a:solidFill>
                    <a:srgbClr val="CCCC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7.1</a:t>
            </a:r>
            <a:endParaRPr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8503</TotalTime>
  <Words>3078</Words>
  <Application>Microsoft Macintosh PowerPoint</Application>
  <PresentationFormat>Widescreen</PresentationFormat>
  <Paragraphs>481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Aptos</vt:lpstr>
      <vt:lpstr>Aptos Display</vt:lpstr>
      <vt:lpstr>Arial</vt:lpstr>
      <vt:lpstr>Calibri</vt:lpstr>
      <vt:lpstr>Comic Sans MS</vt:lpstr>
      <vt:lpstr>Microsoft Sans Serif</vt:lpstr>
      <vt:lpstr>Symbol</vt:lpstr>
      <vt:lpstr>Times New Roman</vt:lpstr>
      <vt:lpstr>Wingdings</vt:lpstr>
      <vt:lpstr>Office Theme</vt:lpstr>
      <vt:lpstr>CSC 4780 – SSH</vt:lpstr>
      <vt:lpstr>https://telnet.org/history/</vt:lpstr>
      <vt:lpstr>Recall: Secret (Symmetric) Key  (DES, 3DES, AES)</vt:lpstr>
      <vt:lpstr>Recall: Public Key (RSA)</vt:lpstr>
      <vt:lpstr>Recall: Daffie-Hellman Key Exchange</vt:lpstr>
      <vt:lpstr>PowerPoint Presentation</vt:lpstr>
      <vt:lpstr>What is SSH?</vt:lpstr>
      <vt:lpstr>Motivations of Designing the SSH</vt:lpstr>
      <vt:lpstr>Applications of SSH</vt:lpstr>
      <vt:lpstr>Brief History</vt:lpstr>
      <vt:lpstr>Brief History (cont.)</vt:lpstr>
      <vt:lpstr>SSH Implementations</vt:lpstr>
      <vt:lpstr>IPSec &amp; SSL vs. SSH</vt:lpstr>
      <vt:lpstr>SSH Architecture</vt:lpstr>
      <vt:lpstr>Building Blocks</vt:lpstr>
      <vt:lpstr>SSH security features</vt:lpstr>
      <vt:lpstr>Structure of the Building Blocks</vt:lpstr>
      <vt:lpstr>Outline</vt:lpstr>
      <vt:lpstr>Transport Layer</vt:lpstr>
      <vt:lpstr>SSH TLP – Overview </vt:lpstr>
      <vt:lpstr>Connection setup and version string exchange</vt:lpstr>
      <vt:lpstr>Computing other Keys</vt:lpstr>
      <vt:lpstr>Server Authentication (continued)</vt:lpstr>
      <vt:lpstr>How to get server’s public key the 1st time?</vt:lpstr>
      <vt:lpstr>Required/Recommended Algorithms</vt:lpstr>
      <vt:lpstr>Outline</vt:lpstr>
      <vt:lpstr>User Authentication Layer (1)</vt:lpstr>
      <vt:lpstr>User authentication overview</vt:lpstr>
      <vt:lpstr>User Authentication Layer (2)</vt:lpstr>
      <vt:lpstr>The “publickey” method</vt:lpstr>
      <vt:lpstr>The “publickey” method cont’d</vt:lpstr>
      <vt:lpstr>The “publickey” method cont’d</vt:lpstr>
      <vt:lpstr>The “password” method</vt:lpstr>
      <vt:lpstr>The “password” method cont’d</vt:lpstr>
      <vt:lpstr>The “hostbased” method</vt:lpstr>
      <vt:lpstr>The “hostbased” method cont’d</vt:lpstr>
      <vt:lpstr>User Authent. Request &amp; Server Response</vt:lpstr>
      <vt:lpstr>Outline</vt:lpstr>
      <vt:lpstr>Connection Layer</vt:lpstr>
      <vt:lpstr>SSH – Connection Protocol</vt:lpstr>
      <vt:lpstr>Channel mechanisms</vt:lpstr>
      <vt:lpstr>Channel mechanisms cont’d</vt:lpstr>
      <vt:lpstr>Channel mechanisms cont’d</vt:lpstr>
      <vt:lpstr>Example: Starting a remote shell</vt:lpstr>
      <vt:lpstr>Example: Starting a remote shell cont’d</vt:lpstr>
      <vt:lpstr>Example: Starting a remote shell cont’d</vt:lpstr>
      <vt:lpstr>Applications of SSH</vt:lpstr>
      <vt:lpstr>X11 Forwarding</vt:lpstr>
      <vt:lpstr>Port Forwarding</vt:lpstr>
      <vt:lpstr>Port Forwarding (Continued)</vt:lpstr>
      <vt:lpstr>SCP, and SFTP</vt:lpstr>
      <vt:lpstr>SSH Public Key Authentication</vt:lpstr>
      <vt:lpstr>Question for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Shannigrahi, Susmit</dc:creator>
  <cp:lastModifiedBy>Shannigrahi, Susmit</cp:lastModifiedBy>
  <cp:revision>15</cp:revision>
  <dcterms:created xsi:type="dcterms:W3CDTF">2026-02-09T16:40:55Z</dcterms:created>
  <dcterms:modified xsi:type="dcterms:W3CDTF">2026-03-30T19:30:36Z</dcterms:modified>
</cp:coreProperties>
</file>