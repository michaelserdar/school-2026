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ms-powerpoint.revisioninfo+xml" PartName="/ppt/revisionInfo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399" r:id="rId6"/>
    <p:sldId id="400" r:id="rId7"/>
    <p:sldId id="405" r:id="rId8"/>
    <p:sldId id="406" r:id="rId9"/>
    <p:sldId id="538" r:id="rId10"/>
    <p:sldId id="539" r:id="rId11"/>
    <p:sldId id="407" r:id="rId12"/>
    <p:sldId id="510" r:id="rId13"/>
    <p:sldId id="540" r:id="rId14"/>
    <p:sldId id="511" r:id="rId15"/>
    <p:sldId id="409" r:id="rId16"/>
    <p:sldId id="517" r:id="rId17"/>
    <p:sldId id="410" r:id="rId18"/>
    <p:sldId id="411" r:id="rId19"/>
    <p:sldId id="513" r:id="rId20"/>
    <p:sldId id="515" r:id="rId21"/>
    <p:sldId id="533" r:id="rId22"/>
    <p:sldId id="519" r:id="rId23"/>
    <p:sldId id="520" r:id="rId24"/>
    <p:sldId id="521" r:id="rId25"/>
    <p:sldId id="522" r:id="rId26"/>
    <p:sldId id="523" r:id="rId27"/>
    <p:sldId id="524" r:id="rId28"/>
    <p:sldId id="525" r:id="rId29"/>
    <p:sldId id="526" r:id="rId30"/>
    <p:sldId id="527" r:id="rId31"/>
    <p:sldId id="530" r:id="rId32"/>
    <p:sldId id="541" r:id="rId33"/>
    <p:sldId id="543" r:id="rId34"/>
    <p:sldId id="54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1157F-8FFA-C44E-BF4E-2E5966DE3D0C}" v="1" dt="2026-02-09T17:54:58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80"/>
    <p:restoredTop sz="93785"/>
  </p:normalViewPr>
  <p:slideViewPr>
    <p:cSldViewPr snapToGrid="0">
      <p:cViewPr varScale="1">
        <p:scale>
          <a:sx n="88" d="100"/>
          <a:sy n="88" d="100"/>
        </p:scale>
        <p:origin x="17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9.xml" Type="http://schemas.openxmlformats.org/officeDocument/2006/relationships/slide"/><Relationship Id="rId11" Target="slides/slide10.xml" Type="http://schemas.openxmlformats.org/officeDocument/2006/relationships/slide"/><Relationship Id="rId12" Target="slides/slide11.xml" Type="http://schemas.openxmlformats.org/officeDocument/2006/relationships/slide"/><Relationship Id="rId13" Target="slides/slide12.xml" Type="http://schemas.openxmlformats.org/officeDocument/2006/relationships/slide"/><Relationship Id="rId14" Target="slides/slide13.xml" Type="http://schemas.openxmlformats.org/officeDocument/2006/relationships/slide"/><Relationship Id="rId15" Target="slides/slide14.xml" Type="http://schemas.openxmlformats.org/officeDocument/2006/relationships/slide"/><Relationship Id="rId16" Target="slides/slide15.xml" Type="http://schemas.openxmlformats.org/officeDocument/2006/relationships/slide"/><Relationship Id="rId17" Target="slides/slide16.xml" Type="http://schemas.openxmlformats.org/officeDocument/2006/relationships/slide"/><Relationship Id="rId18" Target="slides/slide17.xml" Type="http://schemas.openxmlformats.org/officeDocument/2006/relationships/slide"/><Relationship Id="rId19" Target="slides/slide18.xml" Type="http://schemas.openxmlformats.org/officeDocument/2006/relationships/slide"/><Relationship Id="rId2" Target="slides/slide1.xml" Type="http://schemas.openxmlformats.org/officeDocument/2006/relationships/slide"/><Relationship Id="rId20" Target="slides/slide19.xml" Type="http://schemas.openxmlformats.org/officeDocument/2006/relationships/slide"/><Relationship Id="rId21" Target="slides/slide20.xml" Type="http://schemas.openxmlformats.org/officeDocument/2006/relationships/slide"/><Relationship Id="rId22" Target="slides/slide21.xml" Type="http://schemas.openxmlformats.org/officeDocument/2006/relationships/slide"/><Relationship Id="rId23" Target="slides/slide22.xml" Type="http://schemas.openxmlformats.org/officeDocument/2006/relationships/slide"/><Relationship Id="rId24" Target="slides/slide23.xml" Type="http://schemas.openxmlformats.org/officeDocument/2006/relationships/slide"/><Relationship Id="rId25" Target="slides/slide24.xml" Type="http://schemas.openxmlformats.org/officeDocument/2006/relationships/slide"/><Relationship Id="rId26" Target="slides/slide25.xml" Type="http://schemas.openxmlformats.org/officeDocument/2006/relationships/slide"/><Relationship Id="rId27" Target="slides/slide26.xml" Type="http://schemas.openxmlformats.org/officeDocument/2006/relationships/slide"/><Relationship Id="rId28" Target="slides/slide27.xml" Type="http://schemas.openxmlformats.org/officeDocument/2006/relationships/slide"/><Relationship Id="rId29" Target="slides/slide28.xml" Type="http://schemas.openxmlformats.org/officeDocument/2006/relationships/slide"/><Relationship Id="rId3" Target="slides/slide2.xml" Type="http://schemas.openxmlformats.org/officeDocument/2006/relationships/slide"/><Relationship Id="rId30" Target="slides/slide29.xml" Type="http://schemas.openxmlformats.org/officeDocument/2006/relationships/slide"/><Relationship Id="rId31" Target="slides/slide30.xml" Type="http://schemas.openxmlformats.org/officeDocument/2006/relationships/slide"/><Relationship Id="rId32" Target="slides/slide31.xml" Type="http://schemas.openxmlformats.org/officeDocument/2006/relationships/slide"/><Relationship Id="rId33" Target="slides/slide32.xml" Type="http://schemas.openxmlformats.org/officeDocument/2006/relationships/slide"/><Relationship Id="rId34" Target="slides/slide33.xml" Type="http://schemas.openxmlformats.org/officeDocument/2006/relationships/slide"/><Relationship Id="rId35" Target="slides/slide34.xml" Type="http://schemas.openxmlformats.org/officeDocument/2006/relationships/slide"/><Relationship Id="rId36" Target="notesMasters/notesMaster1.xml" Type="http://schemas.openxmlformats.org/officeDocument/2006/relationships/notesMaster"/><Relationship Id="rId37" Target="presProps.xml" Type="http://schemas.openxmlformats.org/officeDocument/2006/relationships/presProps"/><Relationship Id="rId38" Target="viewProps.xml" Type="http://schemas.openxmlformats.org/officeDocument/2006/relationships/viewProps"/><Relationship Id="rId39" Target="theme/theme1.xml" Type="http://schemas.openxmlformats.org/officeDocument/2006/relationships/theme"/><Relationship Id="rId4" Target="slides/slide3.xml" Type="http://schemas.openxmlformats.org/officeDocument/2006/relationships/slide"/><Relationship Id="rId40" Target="tableStyles.xml" Type="http://schemas.openxmlformats.org/officeDocument/2006/relationships/tableStyles"/><Relationship Id="rId41" Target="revisionInfo.xml" Type="http://schemas.microsoft.com/office/2015/10/relationships/revisionInfo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8B824-F5A0-B54D-B526-7DF31E203BBB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16985-4F63-2A4E-AC89-D701E002D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3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8AA77CE1-A8E0-65FA-2575-9B721A3DA0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454311E3-8360-E59B-D1E6-27CEC35CB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-"/>
            </a:pPr>
            <a:r>
              <a:rPr lang="en-US" altLang="en-US">
                <a:ea typeface="ＭＳ Ｐゴシック" panose="020B0600070205080204" pitchFamily="34" charset="-128"/>
              </a:rPr>
              <a:t>Automatic software updates often relies on DNS.</a:t>
            </a:r>
          </a:p>
          <a:p>
            <a:pPr>
              <a:buFontTx/>
              <a:buChar char="-"/>
            </a:pPr>
            <a:r>
              <a:rPr lang="en-US" altLang="en-US">
                <a:ea typeface="ＭＳ Ｐゴシック" panose="020B0600070205080204" pitchFamily="34" charset="-128"/>
              </a:rPr>
              <a:t>Mail Servers.</a:t>
            </a: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BCAF1754-F284-6013-0ABD-8D42DA58B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3423669-B930-1F4D-95E5-27057348521C}" type="slidenum">
              <a:rPr lang="en-US" altLang="en-US" sz="1300"/>
              <a:pPr eaLnBrk="1" hangingPunct="1"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6491A525-D53C-4B5A-0B24-DC54D1793E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84BAF8A7-D799-5B4B-E523-365060D3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After the recursive DNS sends a query to SOA (Start Of Authority), the attacker responds first.</a:t>
            </a: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A7F1CF43-B8C6-00B3-61B4-952E87A3C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97AC0D7-AE39-D341-BEE4-CEA1EED1EE2C}" type="slidenum">
              <a:rPr lang="en-US" altLang="en-US" sz="1300"/>
              <a:pPr eaLnBrk="1" hangingPunct="1"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8D671D55-42D0-E391-B428-E35DB353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BD84E76E-D5C5-AF5B-2238-9C9C0B252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87680-F9B0-5578-B4F1-82082137B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18F0831-2C71-9749-8CA2-589E8BF9E82C}" type="slidenum">
              <a:rPr lang="en-US" altLang="en-US" sz="1300"/>
              <a:pPr eaLnBrk="1" hangingPunct="1"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>
            <a:extLst>
              <a:ext uri="{FF2B5EF4-FFF2-40B4-BE49-F238E27FC236}">
                <a16:creationId xmlns:a16="http://schemas.microsoft.com/office/drawing/2014/main" id="{6BFB47BC-36E0-9B4F-940F-BDAABD3D4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71682" name="Notes Placeholder 2">
            <a:extLst>
              <a:ext uri="{FF2B5EF4-FFF2-40B4-BE49-F238E27FC236}">
                <a16:creationId xmlns:a16="http://schemas.microsoft.com/office/drawing/2014/main" id="{402E0DAB-688C-B039-2CB0-1A83B908B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 0x41 while a is 0x61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0D83D-7E18-DBE0-F677-D91D138D7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8901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89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DD03C24-4E97-2942-BE7C-A3F00DB391CC}" type="slidenum">
              <a:rPr lang="en-US" altLang="en-US" sz="1300"/>
              <a:pPr eaLnBrk="1" hangingPunct="1"/>
              <a:t>29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626C-C5F0-7E81-3B89-5A2A13F81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9FFF4-C962-730C-CF8D-10D660F10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E881-FE94-BC85-2185-99D92A2B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42180-B645-6DF2-CC61-31E2AC37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64049-D8D5-9CDF-62BA-BCADB9A0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95E7D0-67B2-BFBE-8174-8F0934C735AB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5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A8F3-A62D-EFFF-8C1C-D88BCC55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5C0D-50C4-326B-1D1A-A930EF91D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BC179-7CC9-6726-952E-98E5BC116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F208-5060-DF7B-2A83-E9BA9466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17189-BB72-3D20-9216-296FD4A5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137EB4-E11F-7F3C-F375-9EA4202A3E6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7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016A-CFE8-8A04-1A60-D1E9EC19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BA688-8CDB-839B-E6AC-2144406A0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7CE8-D92C-1F58-9B08-03C6D410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EE0BF-6C9A-D705-87E8-2CB7628A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B02BE-3916-8C5F-E6E9-A82691A7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06CDE4-1B81-F5B6-004E-455E6CF16622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50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FE88-CD93-E21D-D983-394A8535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C707-6D36-68A6-4EF6-10DCCAE6F1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2410E-256F-9773-7BD5-8F58F878C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F11D0-90AC-8E8F-ED98-6507F356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AFC05-D37A-FBB4-0BAB-DA8661CC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94C7E-7CE9-A747-1A05-9E9B57FFB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529B5C-FE6B-E446-717E-D10538FF230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85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647C-3869-0981-7E20-30B92EC8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869CF-8EB7-2671-0C91-E15610E1A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F35CE-3312-B616-0135-62E1DBA29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464BD-57D9-31AF-3F5B-F97CB47E6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FD28B-7AC0-5708-590D-7B2819DF9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C5B4D9-F7C9-1563-39B2-8906C347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CA998-C901-E44F-D20E-3C67DA09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62D5B-5638-B01D-93D9-7E337697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81FA3B-8B22-0724-8E7A-A0D49BC18BE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1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226E-8BA6-459A-F3E3-DAFEFF00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D807C-D85B-7DE1-BD29-464AD4EA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7EBBB-0649-6A59-4369-EFF26C02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A679-CD6C-BF10-AD12-419F9BDB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06814-03B8-146C-18A1-94A490EA51C1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2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7138A1-4017-7C92-8FF5-7EFC6FD62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209E8-4CA0-3640-5451-46E7A06D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7C587-7BBB-E797-2710-3337BC8F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82C5A-002F-5D69-ECA0-1C957267D82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90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3350-F818-EE66-ADEF-DAC5B981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1B377-1CF1-AD8F-01B3-E8BE4D34D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458ED-987E-BBCC-7A0C-75D8C5D7C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C1F1D-7B43-3D40-CB34-B7DBDC55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FB79D-1C9B-3EDA-44E0-173C7AA9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2B1F2-22ED-815F-5DE3-9E95375A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F0FC02-1C79-2647-2366-410C69F4D477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6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B56A-81DE-C45D-0847-FBF613BD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C6DEB-0FA0-3AFB-AD72-D195220E3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DB7F5-C763-4335-E3B3-7625CB60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437BB-C107-F853-E973-402CA70E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7D404-5AEE-E805-43D8-CFE4F63D6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807A7-D28F-7244-7A10-4B0B49CE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9ECA-069B-3CCC-9AD2-A4C5EA2DF186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9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19965-AFC2-FB74-68B3-A49AB523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602B4-A1C2-8DB0-28CF-9DA5F014B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743A3-5838-5BFD-561C-2B31E572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20D0C-F5AD-383F-C4CA-FC06D9CE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18759-52E3-22C4-C4C2-77F22F71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12EB5-A0CA-8C20-734E-126185A36CB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44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21639-F9F7-EDDB-E286-69594EDF8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952DA-FBAE-83A0-F6D9-BC8A76962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6D2AA-EB07-7080-DD33-0B7EF6C0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7E7AF-2985-4C6D-0EF3-B0745A1F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F06B6-876B-1720-F000-0B50C617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AF28B-BF49-09AC-2319-4CCCB42DD8E9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17146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C95BF4-64C6-7BB7-5C51-E25046C1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7761E-06BA-A4B3-7379-9BCE2763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0657-F59F-F8B0-5319-3D6B96BB1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EE530-FD04-3147-B0C9-114639AB4992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BBD2-53A5-142C-8EFD-578AE3CECD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C08C2-7FF1-E46A-D033-D1515CBCA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B3962-8CA9-8D46-9A7C-694CCFDF67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1B3FC-3B9C-A620-3D3E-11183CD96B6F}"/>
              </a:ext>
            </a:extLst>
          </p:cNvPr>
          <p:cNvSpPr/>
          <p:nvPr userDrawn="1"/>
        </p:nvSpPr>
        <p:spPr>
          <a:xfrm>
            <a:off x="0" y="0"/>
            <a:ext cx="107576" cy="68580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0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http://www.google.com/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https://blackhat.com/presentations/bh-jp-08/bh-jp-08-Kaminsky/BlackHat-Japan-08-Kaminsky-DNS08-BlackOps.pdf" TargetMode="External" Type="http://schemas.openxmlformats.org/officeDocument/2006/relationships/hyperlink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BFD2-513F-49D4-F5B9-24A0BD15B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lang="en-US"/>
              <a:t>CSC 4780 – DNS and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F20D1-0DF6-84F0-E38E-5718F548E6F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dirty="0" lang="en-US"/>
              <a:t>Susmit Shannigrahi</a:t>
            </a:r>
          </a:p>
        </p:txBody>
      </p:sp>
    </p:spTree>
    <p:extLst>
      <p:ext uri="{BB962C8B-B14F-4D97-AF65-F5344CB8AC3E}">
        <p14:creationId xmlns:p14="http://schemas.microsoft.com/office/powerpoint/2010/main" val="417864296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23F4-1406-7B04-9B2D-97C86C8BC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DNS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1BFFB-8230-167D-1954-7A7F043BC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System on the Internet that maps names to numbers/IP addresses</a:t>
            </a:r>
          </a:p>
          <a:p>
            <a:pPr lvl="1"/>
            <a:r>
              <a:rPr dirty="0" lang="en-US"/>
              <a:t>A directory service </a:t>
            </a:r>
          </a:p>
          <a:p>
            <a:pPr lvl="1"/>
            <a:r>
              <a:rPr dirty="0" lang="en-US"/>
              <a:t>Google/ChatGPT but more definite</a:t>
            </a:r>
          </a:p>
          <a:p>
            <a:pPr lvl="1"/>
            <a:r>
              <a:rPr dirty="0" lang="en-US">
                <a:solidFill>
                  <a:srgbClr val="FF0000"/>
                </a:solidFill>
              </a:rPr>
              <a:t>Think Telephone directory </a:t>
            </a:r>
            <a:r>
              <a:rPr b="1" dirty="0" lang="en-US">
                <a:solidFill>
                  <a:srgbClr val="FF0000"/>
                </a:solidFill>
              </a:rPr>
              <a:t>but numbers change very frequently</a:t>
            </a:r>
          </a:p>
          <a:p>
            <a:r>
              <a:rPr dirty="0" lang="en-US"/>
              <a:t>Almost everything depends on the Internet returning the right number for the right request</a:t>
            </a:r>
          </a:p>
          <a:p>
            <a:pPr lvl="1"/>
            <a:r>
              <a:rPr dirty="0" lang="en-US">
                <a:solidFill>
                  <a:srgbClr val="FF0000"/>
                </a:solidFill>
              </a:rPr>
              <a:t>Break the DNS, break the Internet</a:t>
            </a:r>
          </a:p>
          <a:p>
            <a:pPr lvl="1"/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18650351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1CAE1-BBAC-0A9D-F1E1-035F6D9B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21B9F-9ACE-883C-B615-33DB1A15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Before DNS, all mappings were in </a:t>
            </a:r>
            <a:r>
              <a:rPr dirty="0" err="1" i="1" lang="en-US"/>
              <a:t>hosts.txt</a:t>
            </a:r>
            <a:endParaRPr dirty="0" i="1" lang="en-US"/>
          </a:p>
          <a:p>
            <a:pPr lvl="1"/>
            <a:r>
              <a:rPr dirty="0" i="1" lang="en-US"/>
              <a:t>/</a:t>
            </a:r>
            <a:r>
              <a:rPr dirty="0" err="1" i="1" lang="en-US"/>
              <a:t>etc</a:t>
            </a:r>
            <a:r>
              <a:rPr dirty="0" i="1" lang="en-US"/>
              <a:t>/hosts </a:t>
            </a:r>
            <a:r>
              <a:rPr dirty="0" lang="en-US"/>
              <a:t>on Linux</a:t>
            </a:r>
          </a:p>
          <a:p>
            <a:pPr lvl="1"/>
            <a:r>
              <a:rPr dirty="0" i="1" lang="en-US"/>
              <a:t>C:\Windows\System32\drivers\</a:t>
            </a:r>
            <a:r>
              <a:rPr dirty="0" err="1" i="1" lang="en-US"/>
              <a:t>etc</a:t>
            </a:r>
            <a:r>
              <a:rPr dirty="0" i="1" lang="en-US"/>
              <a:t>\hosts </a:t>
            </a:r>
            <a:r>
              <a:rPr dirty="0" lang="en-US"/>
              <a:t>on Windows</a:t>
            </a:r>
          </a:p>
          <a:p>
            <a:r>
              <a:rPr dirty="0" lang="en-US"/>
              <a:t>Centralized, manual system</a:t>
            </a:r>
          </a:p>
          <a:p>
            <a:pPr lvl="1"/>
            <a:r>
              <a:rPr dirty="0" lang="en-US"/>
              <a:t>Changes were submitted to SRI via email</a:t>
            </a:r>
          </a:p>
          <a:p>
            <a:pPr lvl="1"/>
            <a:r>
              <a:rPr dirty="0" lang="en-US"/>
              <a:t>Machines periodically FTP new copies of </a:t>
            </a:r>
            <a:r>
              <a:rPr dirty="0" err="1" i="1" lang="en-US"/>
              <a:t>hosts.txt</a:t>
            </a:r>
            <a:endParaRPr dirty="0" i="1" lang="en-US"/>
          </a:p>
          <a:p>
            <a:pPr lvl="1"/>
            <a:r>
              <a:rPr dirty="0" lang="en-US"/>
              <a:t>Administrators could pick names at their discretion</a:t>
            </a:r>
          </a:p>
          <a:p>
            <a:pPr lvl="1"/>
            <a:r>
              <a:rPr dirty="0" lang="en-US"/>
              <a:t>Any name was allowed</a:t>
            </a:r>
          </a:p>
          <a:p>
            <a:pPr lvl="2"/>
            <a:r>
              <a:rPr dirty="0" err="1" lang="en-US"/>
              <a:t>This_is_my_funny_name_on_the_web</a:t>
            </a:r>
            <a:endParaRPr dirty="0" lang="en-US"/>
          </a:p>
          <a:p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66486883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7939F2EC-5E10-4CE8-7A7C-74938E802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EE27-1FC0-597B-5CB0-7D855048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History – </a:t>
            </a:r>
            <a:r>
              <a:rPr dirty="0" err="1" lang="en-US"/>
              <a:t>Hosts.txt</a:t>
            </a:r>
            <a:endParaRPr dirty="0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E7F24-E352-5906-0E48-7BFBCDE23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Eventually, the </a:t>
            </a:r>
            <a:r>
              <a:rPr dirty="0" err="1" i="1" lang="en-US"/>
              <a:t>hosts.txt</a:t>
            </a:r>
            <a:r>
              <a:rPr dirty="0" lang="en-US"/>
              <a:t> system fell apart</a:t>
            </a:r>
          </a:p>
          <a:p>
            <a:pPr lvl="1"/>
            <a:r>
              <a:rPr dirty="0" lang="en-US"/>
              <a:t>Not scalable, SRI couldn’t handle the load</a:t>
            </a:r>
          </a:p>
          <a:p>
            <a:pPr lvl="1"/>
            <a:r>
              <a:rPr dirty="0" lang="en-US"/>
              <a:t>Hard to enforce uniqueness of names</a:t>
            </a:r>
          </a:p>
          <a:p>
            <a:pPr lvl="2"/>
            <a:r>
              <a:rPr dirty="0" err="1" lang="en-US"/>
              <a:t>e.g</a:t>
            </a:r>
            <a:r>
              <a:rPr dirty="0" lang="en-US"/>
              <a:t> TTU</a:t>
            </a:r>
          </a:p>
          <a:p>
            <a:pPr lvl="3"/>
            <a:r>
              <a:rPr dirty="0" lang="en-US"/>
              <a:t>Tennessee Tech </a:t>
            </a:r>
            <a:r>
              <a:rPr dirty="0" err="1" lang="en-US"/>
              <a:t>ot</a:t>
            </a:r>
            <a:endParaRPr dirty="0" lang="en-US"/>
          </a:p>
          <a:p>
            <a:pPr lvl="3"/>
            <a:r>
              <a:rPr dirty="0" lang="en-US"/>
              <a:t>Texas Tech</a:t>
            </a:r>
            <a:br>
              <a:rPr dirty="0" lang="en-US"/>
            </a:br>
            <a:endParaRPr dirty="0" lang="en-US"/>
          </a:p>
          <a:p>
            <a:pPr lvl="1"/>
            <a:r>
              <a:rPr dirty="0" lang="en-US"/>
              <a:t>Many machines had inaccurate copies of </a:t>
            </a:r>
            <a:r>
              <a:rPr dirty="0" err="1" i="1" lang="en-US"/>
              <a:t>hosts.txt</a:t>
            </a:r>
            <a:endParaRPr dirty="0" i="1" lang="en-US"/>
          </a:p>
          <a:p>
            <a:r>
              <a:rPr dirty="0" lang="en-US"/>
              <a:t>Thus, DNS was born</a:t>
            </a:r>
          </a:p>
        </p:txBody>
      </p:sp>
    </p:spTree>
    <p:extLst>
      <p:ext uri="{BB962C8B-B14F-4D97-AF65-F5344CB8AC3E}">
        <p14:creationId xmlns:p14="http://schemas.microsoft.com/office/powerpoint/2010/main" val="221313608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Naming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7868" y="1524389"/>
            <a:ext cx="835485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Root</a:t>
            </a:r>
          </a:p>
        </p:txBody>
      </p:sp>
      <p:cxnSp>
        <p:nvCxnSpPr>
          <p:cNvPr descr="Naming Hierarchy" id="24" name="Straight Connector 23"/>
          <p:cNvCxnSpPr>
            <a:stCxn id="5" idx="2"/>
            <a:endCxn id="6" idx="0"/>
          </p:cNvCxnSpPr>
          <p:nvPr/>
        </p:nvCxnSpPr>
        <p:spPr>
          <a:xfrm flipH="1">
            <a:off x="3137852" y="1986054"/>
            <a:ext cx="276775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4246336" y="1986054"/>
            <a:ext cx="1659274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5311314" y="1986054"/>
            <a:ext cx="59429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1" idx="0"/>
          </p:cNvCxnSpPr>
          <p:nvPr/>
        </p:nvCxnSpPr>
        <p:spPr>
          <a:xfrm flipH="1">
            <a:off x="2037866" y="1986054"/>
            <a:ext cx="3867745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5905611" y="1986054"/>
            <a:ext cx="43826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5905611" y="1986054"/>
            <a:ext cx="1386163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2" idx="0"/>
          </p:cNvCxnSpPr>
          <p:nvPr/>
        </p:nvCxnSpPr>
        <p:spPr>
          <a:xfrm>
            <a:off x="5905611" y="1986054"/>
            <a:ext cx="237500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5905611" y="1986054"/>
            <a:ext cx="3189341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5905611" y="1986054"/>
            <a:ext cx="4080617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31531" y="2563007"/>
            <a:ext cx="61266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237" y="2563007"/>
            <a:ext cx="699230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edu</a:t>
            </a:r>
            <a:endParaRPr dirty="0" lang="en-US" sz="2400"/>
          </a:p>
        </p:txBody>
      </p:sp>
      <p:cxnSp>
        <p:nvCxnSpPr>
          <p:cNvPr id="54" name="Straight Connector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2"/>
            <a:endCxn id="16" idx="0"/>
          </p:cNvCxnSpPr>
          <p:nvPr/>
        </p:nvCxnSpPr>
        <p:spPr>
          <a:xfrm>
            <a:off x="3137852" y="3024671"/>
            <a:ext cx="780768" cy="5180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3714" y="2497690"/>
            <a:ext cx="86625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3069" y="2495858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56646" y="2563007"/>
            <a:ext cx="779381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381" y="2563007"/>
            <a:ext cx="63786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gov</a:t>
            </a:r>
            <a:endParaRPr dirty="0"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6043156" y="2563007"/>
            <a:ext cx="60144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38" y="2563007"/>
            <a:ext cx="600870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5581" y="2563007"/>
            <a:ext cx="510076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uk</a:t>
            </a:r>
            <a:endParaRPr dirty="0" lang="en-US" sz="2400"/>
          </a:p>
        </p:txBody>
      </p:sp>
      <p:sp>
        <p:nvSpPr>
          <p:cNvPr id="13" name="TextBox 12"/>
          <p:cNvSpPr txBox="1"/>
          <p:nvPr/>
        </p:nvSpPr>
        <p:spPr>
          <a:xfrm>
            <a:off x="8904835" y="2563007"/>
            <a:ext cx="380232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fr</a:t>
            </a:r>
            <a:endParaRPr dirty="0" lang="en-US" sz="2400"/>
          </a:p>
        </p:txBody>
      </p:sp>
      <p:sp>
        <p:nvSpPr>
          <p:cNvPr id="14" name="TextBox 13"/>
          <p:cNvSpPr txBox="1"/>
          <p:nvPr/>
        </p:nvSpPr>
        <p:spPr>
          <a:xfrm>
            <a:off x="9646230" y="2563007"/>
            <a:ext cx="679994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298" y="3542719"/>
            <a:ext cx="104560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tntech</a:t>
            </a:r>
            <a:endParaRPr dirty="0" lang="en-US" sz="2400"/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7706" y="3445016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2"/>
            <a:endCxn id="15" idx="0"/>
          </p:cNvCxnSpPr>
          <p:nvPr/>
        </p:nvCxnSpPr>
        <p:spPr>
          <a:xfrm flipH="1">
            <a:off x="2342102" y="3024672"/>
            <a:ext cx="795750" cy="5180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08279" y="3542718"/>
            <a:ext cx="620683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mit</a:t>
            </a:r>
            <a:endParaRPr dirty="0"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idx="12" sz="quarter" type="sldNum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5</a:t>
            </a:fld>
            <a:endParaRPr dirty="0"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 sz="quarter"/>
          </p:nvPr>
        </p:nvSpPr>
        <p:spPr>
          <a:xfrm>
            <a:off x="4582886" y="3200402"/>
            <a:ext cx="5932714" cy="3570514"/>
          </a:xfrm>
        </p:spPr>
        <p:txBody>
          <a:bodyPr>
            <a:normAutofit/>
          </a:bodyPr>
          <a:lstStyle/>
          <a:p>
            <a:r>
              <a:rPr dirty="0" lang="en-US"/>
              <a:t>Top Level Domains (TLDs) are at the top</a:t>
            </a:r>
          </a:p>
          <a:p>
            <a:r>
              <a:rPr dirty="0" lang="en-US"/>
              <a:t>Maximum tree depth: 128</a:t>
            </a:r>
          </a:p>
          <a:p>
            <a:r>
              <a:rPr dirty="0" lang="en-US"/>
              <a:t>Each Domain Name is a </a:t>
            </a:r>
            <a:r>
              <a:rPr dirty="0" err="1" lang="en-US"/>
              <a:t>subtree</a:t>
            </a:r>
            <a:endParaRPr dirty="0" lang="en-US"/>
          </a:p>
          <a:p>
            <a:pPr lvl="1"/>
            <a:r>
              <a:rPr dirty="0" lang="en-US"/>
              <a:t>.</a:t>
            </a:r>
            <a:r>
              <a:rPr dirty="0" err="1" lang="en-US"/>
              <a:t>edu</a:t>
            </a:r>
            <a:r>
              <a:rPr dirty="0" lang="en-US"/>
              <a:t> </a:t>
            </a:r>
            <a:r>
              <a:rPr dirty="0" lang="en-US">
                <a:sym charset="2" pitchFamily="2" typeface="Wingdings"/>
              </a:rPr>
              <a:t> </a:t>
            </a:r>
            <a:r>
              <a:rPr dirty="0" err="1" lang="en-US">
                <a:sym charset="2" pitchFamily="2" typeface="Wingdings"/>
              </a:rPr>
              <a:t>tntech.edu</a:t>
            </a:r>
            <a:r>
              <a:rPr dirty="0" lang="en-US">
                <a:sym charset="2" pitchFamily="2" typeface="Wingdings"/>
              </a:rPr>
              <a:t>  </a:t>
            </a:r>
            <a:r>
              <a:rPr dirty="0" err="1" lang="en-US">
                <a:sym charset="2" pitchFamily="2" typeface="Wingdings"/>
              </a:rPr>
              <a:t>cs.tntech.edu</a:t>
            </a:r>
            <a:r>
              <a:rPr dirty="0" lang="en-US">
                <a:sym charset="2" pitchFamily="2" typeface="Wingdings"/>
              </a:rPr>
              <a:t>  </a:t>
            </a:r>
            <a:r>
              <a:rPr dirty="0" err="1" lang="en-US">
                <a:sym charset="2" pitchFamily="2" typeface="Wingdings"/>
              </a:rPr>
              <a:t>www.cs.tntech.edu</a:t>
            </a:r>
            <a:endParaRPr dirty="0" lang="en-US">
              <a:sym charset="2" pitchFamily="2" typeface="Wingdings"/>
            </a:endParaRPr>
          </a:p>
          <a:p>
            <a:r>
              <a:rPr dirty="0" lang="en-US">
                <a:sym charset="2" pitchFamily="2" typeface="Wingdings"/>
              </a:rPr>
              <a:t>Name collisions are avoided</a:t>
            </a:r>
          </a:p>
        </p:txBody>
      </p:sp>
      <p:cxnSp>
        <p:nvCxnSpPr>
          <p:cNvPr id="57" name="Straight Connector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5" idx="2"/>
            <a:endCxn id="17" idx="0"/>
          </p:cNvCxnSpPr>
          <p:nvPr/>
        </p:nvCxnSpPr>
        <p:spPr>
          <a:xfrm flipH="1">
            <a:off x="1890614" y="4004384"/>
            <a:ext cx="451488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2342102" y="4004384"/>
            <a:ext cx="547695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5" idx="2"/>
            <a:endCxn id="19" idx="0"/>
          </p:cNvCxnSpPr>
          <p:nvPr/>
        </p:nvCxnSpPr>
        <p:spPr>
          <a:xfrm>
            <a:off x="2342102" y="4004384"/>
            <a:ext cx="1629361" cy="6595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42789" y="4663951"/>
            <a:ext cx="49564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cs</a:t>
            </a:r>
          </a:p>
        </p:txBody>
      </p:sp>
      <p:sp>
        <p:nvSpPr>
          <p:cNvPr id="77" name="Rounded Rectangl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6996" y="4566248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48998" y="4663951"/>
            <a:ext cx="68159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ece</a:t>
            </a:r>
            <a:endParaRPr dirty="0" lang="en-US" sz="2400"/>
          </a:p>
        </p:txBody>
      </p:sp>
      <p:sp>
        <p:nvSpPr>
          <p:cNvPr id="19" name="TextBox 18"/>
          <p:cNvSpPr txBox="1"/>
          <p:nvPr/>
        </p:nvSpPr>
        <p:spPr>
          <a:xfrm>
            <a:off x="3476776" y="4663951"/>
            <a:ext cx="989373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husky</a:t>
            </a:r>
          </a:p>
        </p:txBody>
      </p:sp>
      <p:cxnSp>
        <p:nvCxnSpPr>
          <p:cNvPr id="66" name="Straight Connector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1890614" y="5125616"/>
            <a:ext cx="157766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1" idx="0"/>
          </p:cNvCxnSpPr>
          <p:nvPr/>
        </p:nvCxnSpPr>
        <p:spPr>
          <a:xfrm>
            <a:off x="1890614" y="5125616"/>
            <a:ext cx="1187117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2" idx="0"/>
          </p:cNvCxnSpPr>
          <p:nvPr/>
        </p:nvCxnSpPr>
        <p:spPr>
          <a:xfrm>
            <a:off x="1890614" y="5125616"/>
            <a:ext cx="2286784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21820" y="5926702"/>
            <a:ext cx="85311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www</a:t>
            </a:r>
          </a:p>
        </p:txBody>
      </p:sp>
      <p:sp>
        <p:nvSpPr>
          <p:cNvPr id="76" name="Rounded Rectangl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6951" y="5828999"/>
            <a:ext cx="830565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659186" y="5926702"/>
            <a:ext cx="83708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921" y="5926702"/>
            <a:ext cx="764953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mail</a:t>
            </a:r>
          </a:p>
        </p:txBody>
      </p:sp>
    </p:spTree>
    <p:extLst>
      <p:ext uri="{BB962C8B-B14F-4D97-AF65-F5344CB8AC3E}">
        <p14:creationId xmlns:p14="http://schemas.microsoft.com/office/powerpoint/2010/main" val="1976921684"/>
      </p:ext>
    </p:extLst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>
                                        <p:cTn dur="500" id="7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10" nodeType="clickEffect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>
                                        <p:cTn dur="500" id="1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>
                                        <p:cTn dur="500" id="17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8">
                            <p:stCondLst>
                              <p:cond delay="500"/>
                            </p:stCondLst>
                            <p:childTnLst>
                              <p:par>
                                <p:cTn fill="hold" grpId="0" id="19" nodeType="after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>
                                        <p:cTn dur="500" id="21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23" nodeType="after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>
                                        <p:cTn dur="500" id="25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6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27" nodeType="after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arn(inVertical)" transition="in">
                                      <p:cBhvr>
                                        <p:cTn dur="500" id="29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0">
                      <p:stCondLst>
                        <p:cond delay="indefinite"/>
                      </p:stCondLst>
                      <p:childTnLst>
                        <p:par>
                          <p:cTn fill="hold" id="31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32" nodeType="clickEffect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>
                                        <p:cTn dur="500" id="33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35" nodeType="withEffect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>
                                        <p:cTn dur="500" id="36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37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38" nodeType="withEffect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>
                                        <p:cTn dur="500" id="39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41" nodeType="withEffect" presetClass="exit" presetID="16" presetSubtype="21">
                                  <p:stCondLst>
                                    <p:cond delay="0"/>
                                  </p:stCondLst>
                                  <p:childTnLst>
                                    <p:animEffect filter="barn(inVertical)" transition="out">
                                      <p:cBhvr>
                                        <p:cTn dur="500" id="42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animBg="1" grpId="0" spid="75"/>
      <p:bldP animBg="1" grpId="1" spid="75"/>
      <p:bldP animBg="1" grpId="0" spid="79"/>
      <p:bldP animBg="1" grpId="1" spid="79"/>
      <p:bldP animBg="1" grpId="0" spid="78"/>
      <p:bldP animBg="1" grpId="1" spid="78"/>
      <p:bldP animBg="1" grpId="0" spid="77"/>
      <p:bldP animBg="1" grpId="1" spid="77"/>
      <p:bldP animBg="1" grpId="0" spid="76"/>
      <p:bldP animBg="1" grpId="1" spid="76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Hierarchical Administration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2" sz="quarter" type="sldNum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6</a:t>
            </a:fld>
            <a:endParaRPr dirty="0"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 sz="quarter"/>
          </p:nvPr>
        </p:nvSpPr>
        <p:spPr>
          <a:xfrm>
            <a:off x="4582886" y="3200402"/>
            <a:ext cx="5932714" cy="3570514"/>
          </a:xfrm>
        </p:spPr>
        <p:txBody>
          <a:bodyPr>
            <a:normAutofit/>
          </a:bodyPr>
          <a:lstStyle/>
          <a:p>
            <a:r>
              <a:rPr dirty="0" lang="en-US"/>
              <a:t>Tree is divided into zones</a:t>
            </a:r>
          </a:p>
          <a:p>
            <a:pPr lvl="1"/>
            <a:r>
              <a:rPr dirty="0" lang="en-US"/>
              <a:t>Each zone has an administrator</a:t>
            </a:r>
          </a:p>
          <a:p>
            <a:pPr lvl="1"/>
            <a:r>
              <a:rPr dirty="0" lang="en-US"/>
              <a:t>Responsible for the part of the </a:t>
            </a:r>
            <a:r>
              <a:rPr dirty="0" err="1" lang="en-US"/>
              <a:t>heirarchy</a:t>
            </a:r>
            <a:endParaRPr dirty="0" lang="en-US"/>
          </a:p>
          <a:p>
            <a:r>
              <a:rPr dirty="0" lang="en-US"/>
              <a:t>Example:</a:t>
            </a:r>
          </a:p>
          <a:p>
            <a:pPr lvl="1"/>
            <a:r>
              <a:rPr dirty="0" lang="en-US"/>
              <a:t>CCIS controls *.ccs.neu.edu</a:t>
            </a:r>
          </a:p>
          <a:p>
            <a:pPr lvl="1"/>
            <a:r>
              <a:rPr dirty="0" lang="en-US"/>
              <a:t>NEU controls *.neu.edu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7868" y="1567933"/>
            <a:ext cx="835485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807" y="2606551"/>
            <a:ext cx="699230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edu</a:t>
            </a:r>
            <a:endParaRPr dirty="0" lang="en-US" sz="2400"/>
          </a:p>
        </p:txBody>
      </p:sp>
      <p:sp>
        <p:nvSpPr>
          <p:cNvPr id="7" name="TextBox 6"/>
          <p:cNvSpPr txBox="1"/>
          <p:nvPr/>
        </p:nvSpPr>
        <p:spPr>
          <a:xfrm>
            <a:off x="3802216" y="2606551"/>
            <a:ext cx="779381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951" y="2606551"/>
            <a:ext cx="63786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gov</a:t>
            </a:r>
            <a:endParaRPr dirty="0"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5988726" y="2606551"/>
            <a:ext cx="601447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6908" y="2606551"/>
            <a:ext cx="600870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0570" y="2606551"/>
            <a:ext cx="61266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5581" y="2606551"/>
            <a:ext cx="510076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uk</a:t>
            </a:r>
            <a:endParaRPr dirty="0" lang="en-US" sz="2400"/>
          </a:p>
        </p:txBody>
      </p:sp>
      <p:sp>
        <p:nvSpPr>
          <p:cNvPr id="13" name="TextBox 12"/>
          <p:cNvSpPr txBox="1"/>
          <p:nvPr/>
        </p:nvSpPr>
        <p:spPr>
          <a:xfrm>
            <a:off x="8904835" y="2606551"/>
            <a:ext cx="380232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fr</a:t>
            </a:r>
            <a:endParaRPr dirty="0" lang="en-US" sz="2400"/>
          </a:p>
        </p:txBody>
      </p:sp>
      <p:sp>
        <p:nvSpPr>
          <p:cNvPr id="14" name="TextBox 13"/>
          <p:cNvSpPr txBox="1"/>
          <p:nvPr/>
        </p:nvSpPr>
        <p:spPr>
          <a:xfrm>
            <a:off x="9646230" y="2606551"/>
            <a:ext cx="679994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298" y="3586263"/>
            <a:ext cx="1045607" cy="369332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r>
              <a:rPr dirty="0" err="1" lang="en-US"/>
              <a:t>tntech</a:t>
            </a:r>
            <a:endParaRPr dirty="0" lang="en-US" sz="2400"/>
          </a:p>
        </p:txBody>
      </p:sp>
      <p:sp>
        <p:nvSpPr>
          <p:cNvPr id="16" name="TextBox 15"/>
          <p:cNvSpPr txBox="1"/>
          <p:nvPr/>
        </p:nvSpPr>
        <p:spPr>
          <a:xfrm>
            <a:off x="2976891" y="3586262"/>
            <a:ext cx="620683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err="1" lang="en-US" sz="2400"/>
              <a:t>mit</a:t>
            </a:r>
            <a:endParaRPr dirty="0" lang="en-US" sz="2400"/>
          </a:p>
        </p:txBody>
      </p:sp>
      <p:sp>
        <p:nvSpPr>
          <p:cNvPr id="17" name="TextBox 16"/>
          <p:cNvSpPr txBox="1"/>
          <p:nvPr/>
        </p:nvSpPr>
        <p:spPr>
          <a:xfrm>
            <a:off x="1642789" y="4707495"/>
            <a:ext cx="49564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1820" y="5970246"/>
            <a:ext cx="85311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www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9186" y="5970246"/>
            <a:ext cx="837089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921" y="5970246"/>
            <a:ext cx="764953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/>
              <a:t>mail</a:t>
            </a:r>
          </a:p>
        </p:txBody>
      </p:sp>
      <p:cxnSp>
        <p:nvCxnSpPr>
          <p:cNvPr id="24" name="Straight Connecto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3083422" y="2029598"/>
            <a:ext cx="2822188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4191906" y="2029598"/>
            <a:ext cx="1713704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5256884" y="2029598"/>
            <a:ext cx="64872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5905611" y="2029598"/>
            <a:ext cx="38383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5905611" y="2029598"/>
            <a:ext cx="1331733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1" idx="0"/>
          </p:cNvCxnSpPr>
          <p:nvPr/>
        </p:nvCxnSpPr>
        <p:spPr>
          <a:xfrm flipH="1">
            <a:off x="2126904" y="2029598"/>
            <a:ext cx="3778706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2" idx="0"/>
          </p:cNvCxnSpPr>
          <p:nvPr/>
        </p:nvCxnSpPr>
        <p:spPr>
          <a:xfrm>
            <a:off x="5905611" y="2029598"/>
            <a:ext cx="2375009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3" idx="0"/>
          </p:cNvCxnSpPr>
          <p:nvPr/>
        </p:nvCxnSpPr>
        <p:spPr>
          <a:xfrm>
            <a:off x="5905611" y="2029598"/>
            <a:ext cx="3189341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5905611" y="2029598"/>
            <a:ext cx="4080617" cy="5769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2342102" y="3068216"/>
            <a:ext cx="741320" cy="5180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6" idx="2"/>
            <a:endCxn id="16" idx="0"/>
          </p:cNvCxnSpPr>
          <p:nvPr/>
        </p:nvCxnSpPr>
        <p:spPr>
          <a:xfrm>
            <a:off x="3083422" y="3068215"/>
            <a:ext cx="203810" cy="5180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1890614" y="3955595"/>
            <a:ext cx="451488" cy="7519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1890614" y="5169160"/>
            <a:ext cx="157766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1" idx="0"/>
          </p:cNvCxnSpPr>
          <p:nvPr/>
        </p:nvCxnSpPr>
        <p:spPr>
          <a:xfrm>
            <a:off x="1890614" y="5169160"/>
            <a:ext cx="1187117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17" idx="2"/>
            <a:endCxn id="22" idx="0"/>
          </p:cNvCxnSpPr>
          <p:nvPr/>
        </p:nvCxnSpPr>
        <p:spPr>
          <a:xfrm>
            <a:off x="1890614" y="5169160"/>
            <a:ext cx="2286784" cy="80108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01343" y="1578819"/>
            <a:ext cx="1230085" cy="45077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77" name="Rounded Rectangl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6996" y="4609791"/>
            <a:ext cx="2948450" cy="1910754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7706" y="3488560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41336" y="3488560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29114" y="2508848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39439" y="2507021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00554" y="2505194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55" name="Rounded Rectangle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6723" y="2503367"/>
            <a:ext cx="703010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7707" y="2508848"/>
            <a:ext cx="3822547" cy="65706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descr="Hierarchical Administration" id="58" name="Group 57"/>
          <p:cNvGrpSpPr/>
          <p:nvPr/>
        </p:nvGrpSpPr>
        <p:grpSpPr>
          <a:xfrm flipH="1">
            <a:off x="7055071" y="1578819"/>
            <a:ext cx="1480586" cy="570006"/>
            <a:chOff x="1219200" y="4876799"/>
            <a:chExt cx="5181605" cy="1384995"/>
          </a:xfrm>
        </p:grpSpPr>
        <p:sp>
          <p:nvSpPr>
            <p:cNvPr id="59" name="Rectangular Callout 58"/>
            <p:cNvSpPr/>
            <p:nvPr/>
          </p:nvSpPr>
          <p:spPr>
            <a:xfrm>
              <a:off x="1219200" y="4876799"/>
              <a:ext cx="5181602" cy="1384995"/>
            </a:xfrm>
            <a:prstGeom prst="wedgeRectCallout">
              <a:avLst>
                <a:gd fmla="val 91902" name="adj1"/>
                <a:gd fmla="val -10671" name="adj2"/>
              </a:avLst>
            </a:prstGeom>
            <a:solidFill>
              <a:srgbClr val="DA1F28"/>
            </a:solidFill>
            <a:ln algn="ctr" cap="flat" cmpd="sng" w="38100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anchor="ctr" rtlCol="0"/>
            <a:lstStyle/>
            <a:p>
              <a:pPr algn="ctr">
                <a:defRPr/>
              </a:pPr>
              <a:endParaRPr kern="0" lang="en-US">
                <a:solidFill>
                  <a:sysClr lastClr="FFFFFF" val="window"/>
                </a:solidFill>
                <a:latin typeface="Tw Cen MT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19203" y="4876799"/>
              <a:ext cx="5181602" cy="1271315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>
                <a:defRPr/>
              </a:pPr>
              <a:r>
                <a:rPr dirty="0" kern="0" lang="en-US" sz="2800">
                  <a:solidFill>
                    <a:sysClr lastClr="FFFFFF" val="window"/>
                  </a:solidFill>
                </a:rPr>
                <a:t>ICANN</a:t>
              </a:r>
            </a:p>
          </p:txBody>
        </p:sp>
      </p:grpSp>
      <p:grpSp>
        <p:nvGrpSpPr>
          <p:cNvPr descr="Hierarchical Administration" id="62" name="Group 61"/>
          <p:cNvGrpSpPr/>
          <p:nvPr/>
        </p:nvGrpSpPr>
        <p:grpSpPr>
          <a:xfrm flipH="1">
            <a:off x="2521843" y="1606400"/>
            <a:ext cx="1698173" cy="570006"/>
            <a:chOff x="1219200" y="4876799"/>
            <a:chExt cx="5181605" cy="1384995"/>
          </a:xfrm>
        </p:grpSpPr>
        <p:sp>
          <p:nvSpPr>
            <p:cNvPr id="64" name="Rectangular Callout 63"/>
            <p:cNvSpPr/>
            <p:nvPr/>
          </p:nvSpPr>
          <p:spPr>
            <a:xfrm>
              <a:off x="1219200" y="4876799"/>
              <a:ext cx="5181602" cy="1384995"/>
            </a:xfrm>
            <a:prstGeom prst="wedgeRectCallout">
              <a:avLst>
                <a:gd fmla="val -34463" name="adj1"/>
                <a:gd fmla="val 124922" name="adj2"/>
              </a:avLst>
            </a:prstGeom>
            <a:solidFill>
              <a:srgbClr val="DA1F28"/>
            </a:solidFill>
            <a:ln algn="ctr" cap="flat" cmpd="sng" w="38100">
              <a:solidFill>
                <a:srgbClr val="DA1F28">
                  <a:lumMod val="50000"/>
                </a:srgbClr>
              </a:solidFill>
              <a:prstDash val="solid"/>
            </a:ln>
            <a:effectLst/>
          </p:spPr>
          <p:txBody>
            <a:bodyPr anchor="ctr" rtlCol="0"/>
            <a:lstStyle/>
            <a:p>
              <a:pPr algn="ctr">
                <a:defRPr/>
              </a:pPr>
              <a:endParaRPr kern="0" lang="en-US">
                <a:solidFill>
                  <a:sysClr lastClr="FFFFFF" val="window"/>
                </a:solidFill>
                <a:latin typeface="Tw Cen MT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219203" y="4876799"/>
              <a:ext cx="5181602" cy="1271315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>
                <a:defRPr/>
              </a:pPr>
              <a:r>
                <a:rPr dirty="0" err="1" kern="0" lang="en-US" sz="2800">
                  <a:solidFill>
                    <a:sysClr lastClr="FFFFFF" val="window"/>
                  </a:solidFill>
                </a:rPr>
                <a:t>Verisign</a:t>
              </a:r>
              <a:endParaRPr dirty="0" kern="0" lang="en-US" sz="2800">
                <a:solidFill>
                  <a:sysClr lastClr="FFFFFF" val="window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7140687"/>
      </p:ext>
    </p:extLst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7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id="12" nodeType="click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 id="14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6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Map of the Roots - 2006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2" sz="quarter" type="sldNum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7</a:t>
            </a:fld>
            <a:endParaRPr dirty="0" lang="en-US"/>
          </a:p>
        </p:txBody>
      </p:sp>
      <p:pic>
        <p:nvPicPr>
          <p:cNvPr descr="Map of roots" id="2050" name="Picture 2"/>
          <p:cNvPicPr>
            <a:picLocks noChangeArrowheads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65347"/>
            <a:ext cx="9144000" cy="391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74272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72706EE-B00C-6D50-97AE-4D1A1723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Map of the K Roots - 2017" id="2" name="Title 1">
            <a:extLst>
              <a:ext uri="{FF2B5EF4-FFF2-40B4-BE49-F238E27FC236}">
                <a16:creationId xmlns:a16="http://schemas.microsoft.com/office/drawing/2014/main" id="{EC1D5D65-4463-EED7-6C0B-0F8F073C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Map of the K Roots - 2017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3C3ED2-13AF-6B36-59F9-B69C007D6BF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>
            <a:normAutofit/>
          </a:bodyPr>
          <a:lstStyle/>
          <a:p>
            <a:fld id="{283B9EA5-CE9A-4950-A80C-5ADF06B45BB8}" type="slidenum">
              <a:rPr lang="en-US" smtClean="0"/>
              <a:pPr/>
              <a:t>8</a:t>
            </a:fld>
            <a:endParaRPr dirty="0" lang="en-US"/>
          </a:p>
        </p:txBody>
      </p:sp>
      <p:pic>
        <p:nvPicPr>
          <p:cNvPr descr="Map of the K Roots - 2017" id="4" name="Picture 2">
            <a:extLst>
              <a:ext uri="{FF2B5EF4-FFF2-40B4-BE49-F238E27FC236}">
                <a16:creationId xmlns:a16="http://schemas.microsoft.com/office/drawing/2014/main" id="{4EA605BD-1608-0375-C0C9-A262A88105D7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80" y="1690688"/>
            <a:ext cx="8128000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873412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D7DC8520-0EBF-DBED-15E8-9084113E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lang="en-US">
                <a:ea charset="-128" panose="020B0600070205080204" pitchFamily="34" typeface="ＭＳ Ｐゴシック"/>
              </a:rPr>
              <a:t>DNS Resolving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48719CDD-A3B0-342B-A01E-2A99828F0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altLang="en-US" lang="en-US">
                <a:ea charset="-128" panose="020B0600070205080204" pitchFamily="34" typeface="ＭＳ Ｐゴシック"/>
              </a:rPr>
              <a:t>When host makes DNS query, query is sent to its local DNS server.</a:t>
            </a:r>
          </a:p>
          <a:p>
            <a:pPr lvl="1"/>
            <a:r>
              <a:rPr altLang="en-US" lang="en-US">
                <a:ea charset="-128" panose="020B0600070205080204" pitchFamily="34" typeface="ＭＳ Ｐゴシック"/>
              </a:rPr>
              <a:t>acts as proxy, forwards query into hierarchy.</a:t>
            </a:r>
          </a:p>
          <a:p>
            <a:pPr lvl="1"/>
            <a:endParaRPr altLang="en-US" lang="en-US">
              <a:ea charset="-128" panose="020B0600070205080204" pitchFamily="34" typeface="ＭＳ Ｐゴシック"/>
            </a:endParaRPr>
          </a:p>
          <a:p>
            <a:r>
              <a:rPr altLang="en-US" lang="en-US">
                <a:ea charset="-128" panose="020B0600070205080204" pitchFamily="34" typeface="ＭＳ Ｐゴシック"/>
              </a:rPr>
              <a:t>Two resolving schemes:</a:t>
            </a:r>
          </a:p>
          <a:p>
            <a:pPr lvl="1"/>
            <a:r>
              <a:rPr altLang="en-US" lang="en-US">
                <a:ea charset="-128" panose="020B0600070205080204" pitchFamily="34" typeface="ＭＳ Ｐゴシック"/>
              </a:rPr>
              <a:t>Iterative, and</a:t>
            </a:r>
          </a:p>
          <a:p>
            <a:pPr lvl="1"/>
            <a:r>
              <a:rPr altLang="en-US" lang="en-US">
                <a:ea charset="-128" panose="020B0600070205080204" pitchFamily="34" typeface="ＭＳ Ｐゴシック"/>
              </a:rPr>
              <a:t>Recursive.</a:t>
            </a:r>
          </a:p>
          <a:p>
            <a:pPr lvl="1"/>
            <a:endParaRPr altLang="en-US" lang="en-US">
              <a:ea charset="-128" panose="020B0600070205080204" pitchFamily="34" typeface="ＭＳ Ｐゴシック"/>
            </a:endParaRPr>
          </a:p>
          <a:p>
            <a:endParaRPr altLang="en-US" lang="en-US">
              <a:ea charset="-128" panose="020B0600070205080204" pitchFamily="34" typeface="ＭＳ Ｐゴシック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D03D6-5A4B-9BB8-7376-897DD65C37A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184984C5-47C1-EC42-9743-AC7BC52465BE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9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BD42358A-E3A0-CDCE-9DD5-25DE8F98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lang="en-US">
                <a:ea charset="-128" panose="020B0600070205080204" pitchFamily="34" typeface="ＭＳ Ｐゴシック"/>
              </a:rPr>
              <a:t>DNS Resolving - 2</a:t>
            </a:r>
          </a:p>
        </p:txBody>
      </p:sp>
      <p:pic>
        <p:nvPicPr>
          <p:cNvPr descr="DNS Reolver - iterative" id="66562" name="Content Placeholder 8">
            <a:extLst>
              <a:ext uri="{FF2B5EF4-FFF2-40B4-BE49-F238E27FC236}">
                <a16:creationId xmlns:a16="http://schemas.microsoft.com/office/drawing/2014/main" id="{F8A09C63-9D2A-E246-5971-B13FE43D195C}"/>
              </a:ext>
            </a:extLst>
          </p:cNvPr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42" t="4942"/>
          <a:stretch>
            <a:fillRect/>
          </a:stretch>
        </p:blipFill>
        <p:spPr/>
      </p:pic>
      <p:pic>
        <p:nvPicPr>
          <p:cNvPr descr="DNS Resolver - recursive" id="66563" name="Content Placeholder 9">
            <a:extLst>
              <a:ext uri="{FF2B5EF4-FFF2-40B4-BE49-F238E27FC236}">
                <a16:creationId xmlns:a16="http://schemas.microsoft.com/office/drawing/2014/main" id="{B4BC558D-C685-66CC-9665-9C70633C73B3}"/>
              </a:ext>
            </a:extLst>
          </p:cNvPr>
          <p:cNvPicPr>
            <a:picLocks noChangeAspect="1" noGrp="1"/>
          </p:cNvPicPr>
          <p:nvPr>
            <p:ph idx="2" sz="half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r="2632"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3D2A4-3A30-1B9A-2D97-851A13890DC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4B1796FC-8C9D-594A-B5D6-CB054B98DFF1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10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7F30-12F9-FEEA-0640-FC54B808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DNS is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113AC-C2FD-04AB-4A9B-A8A25B89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dirty="0" lang="en-US" sz="2400"/>
              <a:t>Three possible answers to any question</a:t>
            </a:r>
          </a:p>
          <a:p>
            <a:pPr lvl="1"/>
            <a:r>
              <a:rPr dirty="0" lang="en-US" sz="2000"/>
              <a:t>Here’s your number</a:t>
            </a:r>
          </a:p>
          <a:p>
            <a:pPr lvl="1"/>
            <a:r>
              <a:rPr dirty="0" lang="en-US" sz="2400"/>
              <a:t>Go away</a:t>
            </a:r>
          </a:p>
          <a:p>
            <a:pPr lvl="1"/>
            <a:r>
              <a:rPr dirty="0" lang="en-US" sz="2400"/>
              <a:t>I don’t know, ask that guy over there &lt;- </a:t>
            </a:r>
            <a:r>
              <a:rPr dirty="0" lang="en-US" sz="2400">
                <a:solidFill>
                  <a:srgbClr val="FF0000"/>
                </a:solidFill>
              </a:rPr>
              <a:t>Delegate</a:t>
            </a:r>
            <a:br>
              <a:rPr dirty="0" lang="en-US" sz="2400"/>
            </a:br>
            <a:endParaRPr dirty="0" lang="en-US" sz="2400"/>
          </a:p>
          <a:p>
            <a:r>
              <a:rPr dirty="0" lang="en-US" sz="2400"/>
              <a:t>Go ask the other guy a lot of work!</a:t>
            </a:r>
            <a:br>
              <a:rPr dirty="0" lang="en-US" sz="2400"/>
            </a:br>
            <a:endParaRPr dirty="0" lang="en-US" sz="2400"/>
          </a:p>
          <a:p>
            <a:r>
              <a:rPr dirty="0" lang="en-US" sz="2400"/>
              <a:t>Infrastructure divided into Servers (that run around) and Clients, or Stub Resolvers, that either do or don’t get an answer</a:t>
            </a:r>
          </a:p>
          <a:p>
            <a:pPr lvl="1"/>
            <a:r>
              <a:rPr dirty="0" lang="en-US" sz="2000"/>
              <a:t>BIND = Name Server</a:t>
            </a:r>
          </a:p>
          <a:p>
            <a:pPr lvl="1"/>
            <a:r>
              <a:rPr dirty="0" lang="en-US" sz="2000"/>
              <a:t>Your Laptop = Stub Resolver</a:t>
            </a:r>
          </a:p>
        </p:txBody>
      </p:sp>
    </p:spTree>
    <p:extLst>
      <p:ext uri="{BB962C8B-B14F-4D97-AF65-F5344CB8AC3E}">
        <p14:creationId xmlns:p14="http://schemas.microsoft.com/office/powerpoint/2010/main" val="2426243576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1BE9D5C1-B254-5961-DCA4-943CB6A3444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DC87D208-2467-6C41-A317-79E3F34B731B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12</a:t>
            </a:fld>
            <a:endParaRPr altLang="en-US" lang="en-US" sz="1400">
              <a:latin charset="0" panose="020B0604020202020204" pitchFamily="34" typeface="Arial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5219E649-EACA-359D-A750-3CD854B3F549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Caching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A03BEB2D-AE24-C0CB-453A-AE04DBB3C270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>
          <a:xfrm>
            <a:off x="2209800" y="1600200"/>
            <a:ext cx="8001000" cy="4648200"/>
          </a:xfrm>
        </p:spPr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DNS responses are cached 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Quick response for repeated translations</a:t>
            </a:r>
          </a:p>
          <a:p>
            <a:pPr eaLnBrk="1" hangingPunct="1"/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Negative results are also cached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Save time for nonexistent sites, e.g. misspelling</a:t>
            </a:r>
          </a:p>
          <a:p>
            <a:pPr eaLnBrk="1" hangingPunct="1"/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Cached data periodically times out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Each record has a TTL field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DACC18FD-FC92-89DA-9762-A1964B35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lang="en-US">
                <a:ea charset="-128" panose="020B0600070205080204" pitchFamily="34" typeface="ＭＳ Ｐゴシック"/>
              </a:rPr>
              <a:t>Caching - 2</a:t>
            </a:r>
          </a:p>
        </p:txBody>
      </p:sp>
      <p:pic>
        <p:nvPicPr>
          <p:cNvPr descr="Caching" id="67586" name="Content Placeholder 7">
            <a:extLst>
              <a:ext uri="{FF2B5EF4-FFF2-40B4-BE49-F238E27FC236}">
                <a16:creationId xmlns:a16="http://schemas.microsoft.com/office/drawing/2014/main" id="{790DB49D-78EA-5C06-A972-4CB019801F8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2004" t="-12004"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9AB36-0D01-CF5A-0F4D-6FEE952D3D2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75A17BF8-6BCC-FD4A-BC19-E551A17343C7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13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FBFE322B-B062-31E7-578D-DA854278B6E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3F9D9C82-16D3-8945-B2B8-C5BA8B52FEA4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14</a:t>
            </a:fld>
            <a:endParaRPr altLang="en-US" lang="en-US" sz="1400">
              <a:latin charset="0" panose="020B0604020202020204" pitchFamily="34" typeface="Arial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7AC005A1-C0DE-DBB6-381F-9F74409732A1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Inherent DNS Vulnerabilities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7167D741-DD22-13A3-6DF1-3957EDBA0FD1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>
          <a:xfrm>
            <a:off x="489155" y="1690688"/>
            <a:ext cx="8382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Users/hosts typically trust the host-address mapping provided by DNS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solidFill>
                  <a:srgbClr val="FF0000"/>
                </a:solidFill>
                <a:ea charset="-128" panose="020B0600070205080204" pitchFamily="34" typeface="ＭＳ Ｐゴシック"/>
              </a:rPr>
              <a:t>What bad things can happen with wrong DNS info?</a:t>
            </a:r>
          </a:p>
          <a:p>
            <a:pPr eaLnBrk="1" hangingPunct="1">
              <a:lnSpc>
                <a:spcPct val="90000"/>
              </a:lnSpc>
            </a:pPr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DNS resolvers trust responses received after sending out queries.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solidFill>
                  <a:srgbClr val="FF0000"/>
                </a:solidFill>
                <a:ea charset="-128" panose="020B0600070205080204" pitchFamily="34" typeface="ＭＳ Ｐゴシック"/>
              </a:rPr>
              <a:t>How to attack?</a:t>
            </a:r>
          </a:p>
          <a:p>
            <a:pPr eaLnBrk="1" hangingPunct="1">
              <a:lnSpc>
                <a:spcPct val="90000"/>
              </a:lnSpc>
            </a:pPr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Obvious problem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No authentication for DNS responses</a:t>
            </a:r>
          </a:p>
        </p:txBody>
      </p:sp>
      <p:pic>
        <p:nvPicPr>
          <p:cNvPr descr="Caching" id="2" name="Content Placeholder 7">
            <a:extLst>
              <a:ext uri="{FF2B5EF4-FFF2-40B4-BE49-F238E27FC236}">
                <a16:creationId xmlns:a16="http://schemas.microsoft.com/office/drawing/2014/main" id="{309C0A5F-C6CC-0C84-A0C4-E5B15E8C6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2004" t="-12004"/>
          <a:stretch>
            <a:fillRect/>
          </a:stretch>
        </p:blipFill>
        <p:spPr>
          <a:xfrm>
            <a:off x="4852008" y="3406877"/>
            <a:ext cx="6850837" cy="283486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CDAD-D258-67AC-E7BA-C642128C5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Bad Guys and the 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FAC03-D509-EACD-2BD2-F88F2683F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lang="en-US"/>
              <a:t>You are converting names to numbers. As a bad guy, don’t you want to return number quickly?</a:t>
            </a:r>
          </a:p>
          <a:p>
            <a:pPr lvl="1"/>
            <a:r>
              <a:rPr dirty="0" lang="en-US"/>
              <a:t>Yes!</a:t>
            </a:r>
          </a:p>
          <a:p>
            <a:r>
              <a:rPr dirty="0" lang="en-US"/>
              <a:t>What prevents this?</a:t>
            </a:r>
          </a:p>
          <a:p>
            <a:pPr lvl="1"/>
            <a:r>
              <a:rPr dirty="0" lang="en-US"/>
              <a:t>Transaction ID – 23654 (16 bit number)</a:t>
            </a:r>
          </a:p>
          <a:p>
            <a:pPr lvl="1"/>
            <a:r>
              <a:rPr dirty="0" lang="en-US"/>
              <a:t>Include this in your request</a:t>
            </a:r>
          </a:p>
          <a:p>
            <a:pPr lvl="1"/>
            <a:r>
              <a:rPr dirty="0" lang="en-US"/>
              <a:t>Bad actor doesn’t know this, so can’t reply with the correct number</a:t>
            </a:r>
          </a:p>
          <a:p>
            <a:r>
              <a:rPr dirty="0" lang="en-US"/>
              <a:t>But the bad server can guess</a:t>
            </a:r>
          </a:p>
          <a:p>
            <a:pPr lvl="1"/>
            <a:r>
              <a:rPr dirty="0" lang="en-US"/>
              <a:t>Transaction ID between 1-65K</a:t>
            </a:r>
          </a:p>
          <a:p>
            <a:r>
              <a:rPr dirty="0" lang="en-US"/>
              <a:t>When the good server wins, they set a TTL or Time to Live</a:t>
            </a:r>
          </a:p>
          <a:p>
            <a:pPr lvl="1"/>
            <a:r>
              <a:rPr dirty="0" lang="en-US"/>
              <a:t>This is how long that reply is valid</a:t>
            </a:r>
          </a:p>
          <a:p>
            <a:pPr lvl="1"/>
            <a:r>
              <a:rPr dirty="0" lang="en-US"/>
              <a:t>So Short or Long TTL?</a:t>
            </a:r>
          </a:p>
          <a:p>
            <a:pPr lvl="1"/>
            <a:endParaRPr dirty="0" lang="en-US"/>
          </a:p>
          <a:p>
            <a:endParaRPr dirty="0" lang="en-US"/>
          </a:p>
          <a:p>
            <a:pPr indent="0" lvl="1" marL="457200">
              <a:buNone/>
            </a:pPr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3822553419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617DC29A-5A23-38EC-0C92-3B45756F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DNS cache poisoning: Racing to Respond First</a:t>
            </a:r>
          </a:p>
        </p:txBody>
      </p:sp>
      <p:pic>
        <p:nvPicPr>
          <p:cNvPr descr="DNS cache poisoning: Racing to Respond First" id="29699" name="Picture 2">
            <a:extLst>
              <a:ext uri="{FF2B5EF4-FFF2-40B4-BE49-F238E27FC236}">
                <a16:creationId xmlns:a16="http://schemas.microsoft.com/office/drawing/2014/main" id="{9676A473-1F79-C593-D136-8F986191CEB3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650" y="1447800"/>
            <a:ext cx="89471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Slide Number Placeholder 5">
            <a:extLst>
              <a:ext uri="{FF2B5EF4-FFF2-40B4-BE49-F238E27FC236}">
                <a16:creationId xmlns:a16="http://schemas.microsoft.com/office/drawing/2014/main" id="{3F8D6127-C5F1-92B6-AE65-C26D3A3865B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844CECE6-0BCC-2B40-AD1D-E9A9C1840009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16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6356-FDD1-584B-E76E-6BF55CCD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Long TTL – Maybe?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A296-241C-73DA-71EB-D1D60A36F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When it’s a race, the bad server has the advantage</a:t>
            </a:r>
          </a:p>
          <a:p>
            <a:pPr lvl="1"/>
            <a:r>
              <a:rPr dirty="0" lang="en-US"/>
              <a:t>Real requests take time to reply</a:t>
            </a:r>
          </a:p>
          <a:p>
            <a:pPr lvl="1"/>
            <a:r>
              <a:rPr dirty="0" lang="en-US"/>
              <a:t>Fake replies are faster – can be premade</a:t>
            </a:r>
          </a:p>
          <a:p>
            <a:r>
              <a:rPr dirty="0" lang="en-US"/>
              <a:t>Who says you can only reply once?</a:t>
            </a:r>
          </a:p>
          <a:p>
            <a:pPr lvl="1"/>
            <a:r>
              <a:rPr dirty="0" lang="en-US"/>
              <a:t>Bad servers can reply 100 times</a:t>
            </a:r>
          </a:p>
          <a:p>
            <a:pPr lvl="1"/>
            <a:r>
              <a:rPr dirty="0" lang="en-US"/>
              <a:t>Advantage goes from 65K to 1 to 655 to 1</a:t>
            </a:r>
          </a:p>
          <a:p>
            <a:r>
              <a:rPr dirty="0" lang="en-US"/>
              <a:t>So once you win, you keep winning</a:t>
            </a:r>
          </a:p>
          <a:p>
            <a:pPr lvl="1"/>
            <a:r>
              <a:rPr dirty="0" lang="en-US"/>
              <a:t>So if the good server wins, it makes sense to keep the TTL large</a:t>
            </a:r>
          </a:p>
          <a:p>
            <a:pPr lvl="1"/>
            <a:r>
              <a:rPr dirty="0" lang="en-US"/>
              <a:t>No?</a:t>
            </a:r>
          </a:p>
          <a:p>
            <a:pPr lvl="1"/>
            <a:r>
              <a:rPr dirty="0" lang="en-US"/>
              <a:t>Wait until slide 23</a:t>
            </a:r>
          </a:p>
          <a:p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68085245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5A7F-9075-60D8-4A5F-FFF5E948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DNS Rake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86EC2-1D68-FE25-DBC2-B5E9FF940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lang="en-US"/>
              <a:t>Enter The </a:t>
            </a:r>
            <a:r>
              <a:rPr dirty="0" err="1" lang="en-US"/>
              <a:t>DNSRake</a:t>
            </a:r>
            <a:endParaRPr dirty="0" lang="en-US"/>
          </a:p>
          <a:p>
            <a:r>
              <a:rPr dirty="0" lang="en-US"/>
              <a:t>Named after a common method for lockpicking</a:t>
            </a:r>
          </a:p>
          <a:p>
            <a:r>
              <a:rPr dirty="0" lang="en-US"/>
              <a:t>User is asking for </a:t>
            </a:r>
            <a:r>
              <a:rPr dirty="0" err="1" lang="en-US"/>
              <a:t>foo.com</a:t>
            </a:r>
            <a:endParaRPr dirty="0" lang="en-US"/>
          </a:p>
          <a:p>
            <a:r>
              <a:rPr dirty="0" lang="en-US"/>
              <a:t>Local resolver sends a query to a nameserver, for $</a:t>
            </a:r>
            <a:r>
              <a:rPr dirty="0" err="1" lang="en-US"/>
              <a:t>RANDOM.foo.com</a:t>
            </a:r>
            <a:endParaRPr dirty="0" lang="en-US"/>
          </a:p>
          <a:p>
            <a:pPr lvl="1"/>
            <a:r>
              <a:rPr dirty="0" lang="en-US"/>
              <a:t>The bad guy has the starter pistol</a:t>
            </a:r>
          </a:p>
          <a:p>
            <a:pPr lvl="1"/>
            <a:r>
              <a:rPr dirty="0" lang="en-US"/>
              <a:t>Send 200 fake replies to that nameserver, with TXID</a:t>
            </a:r>
          </a:p>
          <a:p>
            <a:r>
              <a:rPr dirty="0" lang="en-US"/>
              <a:t>The bad guy can reply multiple times</a:t>
            </a:r>
          </a:p>
          <a:p>
            <a:pPr lvl="1"/>
            <a:r>
              <a:rPr dirty="0" lang="en-US"/>
              <a:t>Send replies containing nameserver redirections to</a:t>
            </a:r>
          </a:p>
          <a:p>
            <a:pPr lvl="1"/>
            <a:r>
              <a:rPr dirty="0" err="1" lang="en-US"/>
              <a:t>www.foo.com</a:t>
            </a:r>
            <a:r>
              <a:rPr dirty="0" lang="en-US"/>
              <a:t> IN A 6.6.6.6</a:t>
            </a:r>
          </a:p>
          <a:p>
            <a:r>
              <a:rPr dirty="0" lang="en-US"/>
              <a:t>If it fails, return to step 1, try again</a:t>
            </a:r>
          </a:p>
          <a:p>
            <a:r>
              <a:rPr dirty="0" lang="en-US"/>
              <a:t>Reply is cached until TTL</a:t>
            </a:r>
          </a:p>
        </p:txBody>
      </p:sp>
    </p:spTree>
    <p:extLst>
      <p:ext uri="{BB962C8B-B14F-4D97-AF65-F5344CB8AC3E}">
        <p14:creationId xmlns:p14="http://schemas.microsoft.com/office/powerpoint/2010/main" val="708861326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09F58936-98BD-6312-CFEA-E0F77490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Defense Using The Bailiwicks Rules</a:t>
            </a: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3D256E96-C454-91B2-297E-71D36FAAB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382000" cy="4876800"/>
          </a:xfrm>
        </p:spPr>
        <p:txBody>
          <a:bodyPr/>
          <a:lstStyle/>
          <a:p>
            <a:pPr eaLnBrk="1" hangingPunct="1" lvl="2">
              <a:buFontTx/>
              <a:buNone/>
            </a:pPr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The bailiwick system prevents foo.com from declaring anything about “com”, or some other new TLD, or </a:t>
            </a:r>
            <a:r>
              <a:rPr altLang="en-US" lang="en-US">
                <a:ea charset="-128" panose="020B0600070205080204" pitchFamily="34" typeface="ＭＳ Ｐゴシック"/>
                <a:hlinkClick r:id="rId2"/>
              </a:rPr>
              <a:t>www.google.com</a:t>
            </a:r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Using the bailiwicks rules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The root servers can return any record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The com servers can return any record for com</a:t>
            </a:r>
          </a:p>
          <a:p>
            <a:pPr eaLnBrk="1" hangingPunct="1" lvl="1"/>
            <a:r>
              <a:rPr altLang="en-US" lang="en-US">
                <a:ea charset="-128" panose="020B0600070205080204" pitchFamily="34" typeface="ＭＳ Ｐゴシック"/>
              </a:rPr>
              <a:t>The google.com servers can return any record for google.com</a:t>
            </a:r>
          </a:p>
          <a:p>
            <a:pPr eaLnBrk="1" hangingPunct="1"/>
            <a:endParaRPr altLang="en-US" lang="en-US">
              <a:ea charset="-128" panose="020B0600070205080204" pitchFamily="34" typeface="ＭＳ Ｐゴシック"/>
            </a:endParaRPr>
          </a:p>
          <a:p>
            <a:pPr eaLnBrk="1" hangingPunct="1"/>
            <a:endParaRPr altLang="en-US" lang="en-US">
              <a:ea charset="-128" panose="020B0600070205080204" pitchFamily="34" typeface="ＭＳ Ｐゴシック"/>
            </a:endParaRP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11B0499F-CE25-BA8B-5AE7-182B6528DB2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129E4484-7312-6045-8EC9-85DDA7CEA354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19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2C600796-2039-8110-0DAC-810C8D53B97B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 sz="4000">
                <a:ea charset="-128" panose="020B0600070205080204" pitchFamily="34" typeface="ＭＳ Ｐゴシック"/>
              </a:rPr>
              <a:t>DNS cache poisoning – Birthday attack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92D0A2CD-EEE5-FF8E-ADDA-5624F0F84D5E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dirty="0" lang="en-US"/>
              <a:t>Improve the chance of responding before the real </a:t>
            </a:r>
            <a:r>
              <a:rPr dirty="0" err="1" lang="en-US"/>
              <a:t>nameserver</a:t>
            </a:r>
            <a:r>
              <a:rPr dirty="0" lang="en-US"/>
              <a:t> (discovered by </a:t>
            </a:r>
            <a:r>
              <a:rPr dirty="0" err="1" lang="en-US"/>
              <a:t>Vagner</a:t>
            </a:r>
            <a:r>
              <a:rPr dirty="0" lang="en-US"/>
              <a:t> Sacramento in 2002)</a:t>
            </a:r>
          </a:p>
          <a:p>
            <a:pPr eaLnBrk="1" hangingPunct="1" lvl="1">
              <a:defRPr/>
            </a:pPr>
            <a:r>
              <a:rPr dirty="0" lang="en-US"/>
              <a:t>Have many (say hundreds of) clients send the same DNS request to the name server</a:t>
            </a:r>
          </a:p>
          <a:p>
            <a:pPr eaLnBrk="1" hangingPunct="1" lvl="2">
              <a:defRPr/>
            </a:pPr>
            <a:r>
              <a:rPr dirty="0" lang="en-US"/>
              <a:t>Each generates a query</a:t>
            </a:r>
          </a:p>
          <a:p>
            <a:pPr eaLnBrk="1" hangingPunct="1" lvl="1">
              <a:defRPr/>
            </a:pPr>
            <a:r>
              <a:rPr dirty="0" lang="en-US"/>
              <a:t>Send hundreds of reply with random transaction IDs at the same time</a:t>
            </a:r>
          </a:p>
          <a:p>
            <a:pPr eaLnBrk="1" hangingPunct="1" lvl="1">
              <a:defRPr/>
            </a:pPr>
            <a:r>
              <a:rPr dirty="0" lang="en-US"/>
              <a:t>Due to the Birthday Paradox, the success probability can be close to 1</a:t>
            </a:r>
          </a:p>
          <a:p>
            <a:pPr lvl="2">
              <a:defRPr/>
            </a:pPr>
            <a:r>
              <a:rPr dirty="0" lang="en-US"/>
              <a:t>300 will give you 50%.</a:t>
            </a:r>
          </a:p>
          <a:p>
            <a:pPr lvl="2">
              <a:defRPr/>
            </a:pPr>
            <a:r>
              <a:rPr dirty="0" lang="en-US"/>
              <a:t>700 will give you 1.07%</a:t>
            </a:r>
          </a:p>
          <a:p>
            <a:pPr eaLnBrk="1" hangingPunct="1" lvl="2">
              <a:defRPr/>
            </a:pPr>
            <a:endParaRPr dirty="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5">
            <a:extLst>
              <a:ext uri="{FF2B5EF4-FFF2-40B4-BE49-F238E27FC236}">
                <a16:creationId xmlns:a16="http://schemas.microsoft.com/office/drawing/2014/main" id="{73746075-F558-268D-190B-07E420259A4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0F714A92-DC43-2040-BC16-D51C8F9F2883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21</a:t>
            </a:fld>
            <a:endParaRPr altLang="en-US" lang="en-US" sz="1400">
              <a:latin charset="0" panose="020B0604020202020204" pitchFamily="34" typeface="Arial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2640FE80-1074-9C0E-1C49-FED601275458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dirty="0" lang="en-US" sz="4000">
                <a:ea charset="-128" panose="020B0600070205080204" pitchFamily="34" typeface="ＭＳ Ｐゴシック"/>
              </a:rPr>
              <a:t>DNS cache poisoning – Kaminsky, 2008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B71EE823-0200-9C99-D120-99B053BA3023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Kaminsky Attack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Big security news in summer of 2008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DNS servers worldwide were quickly patched to defend against the attack</a:t>
            </a:r>
          </a:p>
          <a:p>
            <a:pPr eaLnBrk="1" hangingPunct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In previous attacks, when the attacker loses the race, the record is cached, with a TTL.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Before TTL expires, no attack can be carried out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Poisoning address for </a:t>
            </a:r>
            <a:r>
              <a:rPr altLang="en-US" dirty="0" err="1" lang="en-US">
                <a:ea charset="-128" panose="020B0600070205080204" pitchFamily="34" typeface="ＭＳ Ｐゴシック"/>
              </a:rPr>
              <a:t>google.com</a:t>
            </a:r>
            <a:r>
              <a:rPr altLang="en-US" dirty="0" lang="en-US">
                <a:ea charset="-128" panose="020B0600070205080204" pitchFamily="34" typeface="ＭＳ Ｐゴシック"/>
              </a:rPr>
              <a:t> in a DNS server is not easy.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A9A9957B-7AC7-D0C2-0BFE-3275E714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What is New in the Kaminsky Attack?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87834DD2-C3B7-64C5-B72C-1CFCEFDF6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570038"/>
            <a:ext cx="8686800" cy="49831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The bad guy does not need to wait to try again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The bad guy asks the resolver to look up </a:t>
            </a:r>
            <a:r>
              <a:rPr altLang="en-US" dirty="0" err="1" lang="en-US" sz="2600">
                <a:ea charset="-128" panose="020B0600070205080204" pitchFamily="34" typeface="ＭＳ Ｐゴシック"/>
              </a:rPr>
              <a:t>www.google.com</a:t>
            </a:r>
            <a:endParaRPr altLang="en-US" dirty="0" lang="en-US" sz="2600">
              <a:ea charset="-128" panose="020B0600070205080204" pitchFamily="34" typeface="ＭＳ Ｐゴシック"/>
            </a:endParaRP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If the bad guy lost the race, the other race for </a:t>
            </a:r>
            <a:r>
              <a:rPr altLang="en-US" dirty="0" err="1" lang="en-US" sz="2200">
                <a:ea charset="-128" panose="020B0600070205080204" pitchFamily="34" typeface="ＭＳ Ｐゴシック"/>
              </a:rPr>
              <a:t>www.google.com</a:t>
            </a:r>
            <a:r>
              <a:rPr altLang="en-US" dirty="0" lang="en-US" sz="2200">
                <a:ea charset="-128" panose="020B0600070205080204" pitchFamily="34" typeface="ＭＳ Ｐゴシック"/>
              </a:rPr>
              <a:t> will be suppressed by the TTL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If the bad guy asks the resolver to look up 1.google.com, 2.google.com, 3.google.com, and so on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Each new query starts a new race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Eventually, the bad guy will win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he is able to spoof 183.google.com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So what? No one wants to visit 183.google.com</a:t>
            </a: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04221DD0-88D1-0069-1CE5-1FB25EB31DB3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FE2112D2-536E-1749-9266-F9DA507B23BE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22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0C160FE2-3356-D0A4-3535-37D59D59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Kaminsky-Style Poisoning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38810ACC-B7D6-BB8A-53B1-40B982E9C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A bad guy who wins the race for “183.google.com” can end up stealing “</a:t>
            </a:r>
            <a:r>
              <a:rPr altLang="ja-JP" dirty="0" err="1" lang="en-US">
                <a:ea charset="-128" panose="020B0600070205080204" pitchFamily="34" typeface="ＭＳ Ｐゴシック"/>
              </a:rPr>
              <a:t>www.google.com</a:t>
            </a:r>
            <a:r>
              <a:rPr altLang="en-US" dirty="0" lang="en-US">
                <a:ea charset="-128" panose="020B0600070205080204" pitchFamily="34" typeface="ＭＳ Ｐゴシック"/>
              </a:rPr>
              <a:t>”</a:t>
            </a:r>
            <a:r>
              <a:rPr altLang="ja-JP" dirty="0" lang="en-US">
                <a:ea charset="-128" panose="020B0600070205080204" pitchFamily="34" typeface="ＭＳ Ｐゴシック"/>
              </a:rPr>
              <a:t> as well</a:t>
            </a:r>
          </a:p>
          <a:p>
            <a:pPr eaLnBrk="1" hangingPunct="1" lvl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Original malicious response:</a:t>
            </a:r>
          </a:p>
          <a:p>
            <a:pPr eaLnBrk="1" hangingPunct="1" lvl="1"/>
            <a:r>
              <a:rPr altLang="en-US" dirty="0" err="1" lang="en-US">
                <a:ea charset="-128" panose="020B0600070205080204" pitchFamily="34" typeface="ＭＳ Ｐゴシック"/>
              </a:rPr>
              <a:t>google.com</a:t>
            </a:r>
            <a:r>
              <a:rPr altLang="en-US" dirty="0" lang="en-US">
                <a:ea charset="-128" panose="020B0600070205080204" pitchFamily="34" typeface="ＭＳ Ｐゴシック"/>
              </a:rPr>
              <a:t>    NS   </a:t>
            </a:r>
            <a:r>
              <a:rPr altLang="en-US" dirty="0" err="1" lang="en-US">
                <a:ea charset="-128" panose="020B0600070205080204" pitchFamily="34" typeface="ＭＳ Ｐゴシック"/>
              </a:rPr>
              <a:t>www.google.com</a:t>
            </a:r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 lvl="1"/>
            <a:r>
              <a:rPr altLang="en-US" dirty="0" err="1" lang="en-US">
                <a:ea charset="-128" panose="020B0600070205080204" pitchFamily="34" typeface="ＭＳ Ｐゴシック"/>
              </a:rPr>
              <a:t>www.google.com</a:t>
            </a:r>
            <a:r>
              <a:rPr altLang="en-US" dirty="0" lang="en-US">
                <a:ea charset="-128" panose="020B0600070205080204" pitchFamily="34" typeface="ＭＳ Ｐゴシック"/>
              </a:rPr>
              <a:t>    A    6.6.6.6</a:t>
            </a: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Killer response:</a:t>
            </a:r>
          </a:p>
          <a:p>
            <a:pPr eaLnBrk="1" hangingPunct="1" lvl="1"/>
            <a:r>
              <a:rPr altLang="en-US" dirty="0" err="1" lang="en-US">
                <a:ea charset="-128" panose="020B0600070205080204" pitchFamily="34" typeface="ＭＳ Ｐゴシック"/>
              </a:rPr>
              <a:t>google.com</a:t>
            </a:r>
            <a:r>
              <a:rPr altLang="en-US" dirty="0" lang="en-US">
                <a:ea charset="-128" panose="020B0600070205080204" pitchFamily="34" typeface="ＭＳ Ｐゴシック"/>
              </a:rPr>
              <a:t>    NS   </a:t>
            </a:r>
            <a:r>
              <a:rPr altLang="en-US" dirty="0" err="1" lang="en-US">
                <a:ea charset="-128" panose="020B0600070205080204" pitchFamily="34" typeface="ＭＳ Ｐゴシック"/>
              </a:rPr>
              <a:t>ns.badguy.com</a:t>
            </a:r>
            <a:endParaRPr altLang="en-US" dirty="0" lang="en-US">
              <a:ea charset="-128" panose="020B0600070205080204" pitchFamily="34" typeface="ＭＳ Ｐゴシック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42DBBE76-6C25-E619-42D4-44A6405A550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4B41EE1F-3F9A-5240-9017-C36BB8068354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23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20FC71EF-22F1-582C-0E87-636F4A613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Kaminsky-Style Poisoning (cont’)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11410ADF-D95D-F137-4BB4-52A6B18F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Why it succeeded: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Can start anytime; no waiting for old good cached entries to expire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No “wait penalty” for racing failure</a:t>
            </a:r>
          </a:p>
          <a:p>
            <a:pPr eaLnBrk="1" hangingPunct="1" lvl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The attack is only bandwidth limited</a:t>
            </a:r>
          </a:p>
          <a:p>
            <a:pPr eaLnBrk="1" hangingPunct="1">
              <a:lnSpc>
                <a:spcPct val="90000"/>
              </a:lnSpc>
            </a:pPr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90000"/>
              </a:lnSpc>
            </a:pPr>
            <a:r>
              <a:rPr altLang="en-US" dirty="0" lang="en-US">
                <a:ea charset="-128" panose="020B0600070205080204" pitchFamily="34" typeface="ＭＳ Ｐゴシック"/>
              </a:rPr>
              <a:t>Defense 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Also randomize the UDP used to send the DNS query, the attacker has to guess that port correctly as well (increase the space of possible IDs).</a:t>
            </a:r>
          </a:p>
        </p:txBody>
      </p:sp>
      <p:sp>
        <p:nvSpPr>
          <p:cNvPr id="38916" name="Slide Number Placeholder 4">
            <a:extLst>
              <a:ext uri="{FF2B5EF4-FFF2-40B4-BE49-F238E27FC236}">
                <a16:creationId xmlns:a16="http://schemas.microsoft.com/office/drawing/2014/main" id="{CE6DDD3E-C240-26F4-6B87-57CBFCA98D1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9C2ED9A5-7FE1-4E4D-8AD0-241402126306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24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F582DC85-BA4A-666C-D214-A4B30E8F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So what do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4EA33-BA2A-6B1A-C493-FB0E004CA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47800"/>
            <a:ext cx="8229600" cy="4953000"/>
          </a:xfrm>
        </p:spPr>
        <p:txBody>
          <a:bodyPr>
            <a:normAutofit/>
          </a:bodyPr>
          <a:lstStyle/>
          <a:p>
            <a:pPr eaLnBrk="1" hangingPunct="1">
              <a:buFont charset="0" pitchFamily="18" typeface="Times"/>
              <a:buChar char="•"/>
              <a:defRPr/>
            </a:pPr>
            <a:r>
              <a:rPr dirty="0" lang="en-US">
                <a:ea typeface="+mn-ea"/>
                <a:cs typeface="+mn-cs"/>
              </a:rPr>
              <a:t>Difficulty to change the protocol</a:t>
            </a:r>
          </a:p>
          <a:p>
            <a:pPr eaLnBrk="1" hangingPunct="1" lvl="1">
              <a:defRPr/>
            </a:pPr>
            <a:r>
              <a:rPr dirty="0" lang="en-US"/>
              <a:t>Protocol stability (embedded devices)</a:t>
            </a:r>
          </a:p>
          <a:p>
            <a:pPr eaLnBrk="1" hangingPunct="1" lvl="1">
              <a:defRPr/>
            </a:pPr>
            <a:r>
              <a:rPr dirty="0" lang="en-US"/>
              <a:t>Backward compatibility.</a:t>
            </a:r>
          </a:p>
          <a:p>
            <a:pPr eaLnBrk="1" hangingPunct="1">
              <a:buFont charset="0" pitchFamily="18" typeface="Times"/>
              <a:buChar char="•"/>
              <a:defRPr/>
            </a:pPr>
            <a:r>
              <a:rPr dirty="0" lang="en-US">
                <a:ea typeface="+mn-ea"/>
                <a:cs typeface="+mn-cs"/>
              </a:rPr>
              <a:t>Long-term</a:t>
            </a:r>
          </a:p>
          <a:p>
            <a:pPr eaLnBrk="1" hangingPunct="1" lvl="1">
              <a:defRPr/>
            </a:pPr>
            <a:r>
              <a:rPr dirty="0" lang="en-US"/>
              <a:t>Cryptographic protections</a:t>
            </a:r>
          </a:p>
          <a:p>
            <a:pPr eaLnBrk="1" hangingPunct="1" lvl="2">
              <a:defRPr/>
            </a:pPr>
            <a:r>
              <a:rPr dirty="0" lang="en-US"/>
              <a:t>E.g., DNSSEC, </a:t>
            </a:r>
            <a:r>
              <a:rPr dirty="0" err="1" lang="en-US"/>
              <a:t>DNSCurve</a:t>
            </a:r>
            <a:endParaRPr dirty="0" lang="en-US"/>
          </a:p>
          <a:p>
            <a:pPr eaLnBrk="1" hangingPunct="1" lvl="1">
              <a:defRPr/>
            </a:pPr>
            <a:r>
              <a:rPr dirty="0" lang="en-US"/>
              <a:t>Require changes to both recursive and authority servers</a:t>
            </a:r>
          </a:p>
          <a:p>
            <a:pPr eaLnBrk="1" hangingPunct="1" lvl="1">
              <a:defRPr/>
            </a:pPr>
            <a:r>
              <a:rPr dirty="0" lang="en-US"/>
              <a:t>A multi-year process</a:t>
            </a:r>
          </a:p>
          <a:p>
            <a:pPr eaLnBrk="1" hangingPunct="1">
              <a:buFont charset="0" pitchFamily="18" typeface="Times"/>
              <a:buChar char="•"/>
              <a:defRPr/>
            </a:pPr>
            <a:r>
              <a:rPr dirty="0" lang="en-US">
                <a:ea typeface="+mn-ea"/>
                <a:cs typeface="+mn-cs"/>
              </a:rPr>
              <a:t>Short-term</a:t>
            </a:r>
          </a:p>
          <a:p>
            <a:pPr eaLnBrk="1" hangingPunct="1" lvl="1">
              <a:defRPr/>
            </a:pPr>
            <a:r>
              <a:rPr dirty="0" lang="en-US"/>
              <a:t>Only change the recursive server (local DNS).</a:t>
            </a:r>
          </a:p>
          <a:p>
            <a:pPr eaLnBrk="1" hangingPunct="1" lvl="1">
              <a:defRPr/>
            </a:pPr>
            <a:r>
              <a:rPr dirty="0" lang="en-US"/>
              <a:t>Easy to adopt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BDE627A8-79D6-702A-33C8-85A6C76BE04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C4701E36-DFFF-5D42-96C5-7F0FD6C253DD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25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66BE06C7-4A15-C022-9A31-1E336350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Short-Term Defenses</a:t>
            </a:r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3EF6DF1F-8ABE-561F-38B9-47736B883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Source port randomization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Add up to 16 bits of entropy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NAT could de-randomize the port</a:t>
            </a:r>
          </a:p>
          <a:p>
            <a:pPr eaLnBrk="1" hangingPunct="1" lvl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DNS 0x20 encoding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From Georgia tech, CCS 2008</a:t>
            </a:r>
          </a:p>
          <a:p>
            <a:pPr eaLnBrk="1" hangingPunct="1" lvl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Tighter logic for accepting responses</a:t>
            </a:r>
          </a:p>
        </p:txBody>
      </p:sp>
      <p:sp>
        <p:nvSpPr>
          <p:cNvPr id="40964" name="Slide Number Placeholder 4">
            <a:extLst>
              <a:ext uri="{FF2B5EF4-FFF2-40B4-BE49-F238E27FC236}">
                <a16:creationId xmlns:a16="http://schemas.microsoft.com/office/drawing/2014/main" id="{7C9E92D3-8F65-96B7-FD4E-9DC68629E36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438C4F78-281A-894C-95C4-3912876212FE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26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4A42A347-E79F-9835-7E40-30EF3CB2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DNS-0x20 Bit Encoding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3134E8C4-92A1-01F3-439A-26E27367B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305800" cy="4525963"/>
          </a:xfrm>
        </p:spPr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DNS labels are case insensitive</a:t>
            </a:r>
          </a:p>
          <a:p>
            <a:pPr eaLnBrk="1" hangingPunct="1" lvl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Matching and resolution is entirely case insensitive</a:t>
            </a:r>
          </a:p>
          <a:p>
            <a:pPr eaLnBrk="1" hangingPunct="1" lvl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A resolver can query in any case pattern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E.g., </a:t>
            </a:r>
            <a:r>
              <a:rPr altLang="en-US" dirty="0" err="1" lang="en-US">
                <a:ea charset="-128" panose="020B0600070205080204" pitchFamily="34" typeface="ＭＳ Ｐゴシック"/>
              </a:rPr>
              <a:t>WwW.ExAmpLe.cOM</a:t>
            </a:r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It will get the answer for </a:t>
            </a:r>
            <a:r>
              <a:rPr altLang="en-US" dirty="0" err="1" lang="en-US">
                <a:ea charset="-128" panose="020B0600070205080204" pitchFamily="34" typeface="ＭＳ Ｐゴシック"/>
              </a:rPr>
              <a:t>www.example.com</a:t>
            </a:r>
            <a:endParaRPr altLang="en-US" dirty="0" lang="en-US">
              <a:ea charset="-128" panose="020B0600070205080204" pitchFamily="34" typeface="ＭＳ Ｐゴシック"/>
            </a:endParaRP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58C7AC9A-07AB-3220-71A9-EF86FF13B3B5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3E90D726-5384-3F41-8C61-2B217153D948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27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F241EFBD-2FD9-ED03-98D7-EF008924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DNS-0x20 DNS Encoding (cont’)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F07A1AC1-7936-E585-423D-747C8402F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The mixed pattern of upper and lower case letters constitutes a channel, which can be used to improve DNS security</a:t>
            </a:r>
          </a:p>
          <a:p>
            <a:pPr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Only the real server knows the correct pattern</a:t>
            </a:r>
          </a:p>
          <a:p>
            <a:pPr eaLnBrk="1" hangingPunct="1" indent="0" marL="0">
              <a:lnSpc>
                <a:spcPct val="80000"/>
              </a:lnSpc>
              <a:buNone/>
            </a:pPr>
            <a:endParaRPr altLang="en-US" dirty="0" lang="en-US" sz="26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A DNS response contains the query being asked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When generating the response, the query is copied from the request exactly into the response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The case pattern of the query is preserved in the response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  <a:p>
            <a:pPr eaLnBrk="1" hangingPunct="1">
              <a:lnSpc>
                <a:spcPct val="80000"/>
              </a:lnSpc>
            </a:pPr>
            <a:r>
              <a:rPr altLang="en-US" dirty="0" lang="en-US" sz="2600">
                <a:ea charset="-128" panose="020B0600070205080204" pitchFamily="34" typeface="ＭＳ Ｐゴシック"/>
              </a:rPr>
              <a:t>Open source implementations exhibit this behavior</a:t>
            </a:r>
          </a:p>
          <a:p>
            <a:pPr eaLnBrk="1" hangingPunct="1" lvl="1">
              <a:lnSpc>
                <a:spcPct val="80000"/>
              </a:lnSpc>
            </a:pPr>
            <a:r>
              <a:rPr altLang="en-US" dirty="0" lang="en-US" sz="2200">
                <a:ea charset="-128" panose="020B0600070205080204" pitchFamily="34" typeface="ＭＳ Ｐゴシック"/>
              </a:rPr>
              <a:t>The DNS request is rewritten in place</a:t>
            </a:r>
          </a:p>
          <a:p>
            <a:pPr eaLnBrk="1" hangingPunct="1" lvl="1">
              <a:lnSpc>
                <a:spcPct val="80000"/>
              </a:lnSpc>
            </a:pPr>
            <a:endParaRPr altLang="en-US" dirty="0" lang="en-US" sz="2200">
              <a:ea charset="-128" panose="020B0600070205080204" pitchFamily="34" typeface="ＭＳ Ｐゴシック"/>
            </a:endParaRPr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F870F655-16EC-A6DE-E083-320F8B63A95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4E10A9B5-ACBB-134D-8CFB-EC9339A23AB5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28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0BA9DA65-6764-2A01-19B8-7504DD0E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Query Encoding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FF3FB69F-F38D-AE56-C2FB-0E5491C2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3962400" cy="4495800"/>
          </a:xfrm>
        </p:spPr>
        <p:txBody>
          <a:bodyPr/>
          <a:lstStyle/>
          <a:p>
            <a:pPr eaLnBrk="1" hangingPunct="1"/>
            <a:r>
              <a:rPr altLang="en-US" dirty="0" lang="en-US" sz="2400">
                <a:ea charset="-128" panose="020B0600070205080204" pitchFamily="34" typeface="ＭＳ Ｐゴシック"/>
              </a:rPr>
              <a:t>Transforms the query into all lowercase</a:t>
            </a:r>
          </a:p>
          <a:p>
            <a:pPr eaLnBrk="1" hangingPunct="1"/>
            <a:r>
              <a:rPr altLang="en-US" dirty="0" lang="en-US" sz="2400">
                <a:ea charset="-128" panose="020B0600070205080204" pitchFamily="34" typeface="ＭＳ Ｐゴシック"/>
              </a:rPr>
              <a:t>Encrypt the query with a key shared by all queries on the recursive server (A)</a:t>
            </a:r>
          </a:p>
          <a:p>
            <a:pPr eaLnBrk="1" hangingPunct="1"/>
            <a:r>
              <a:rPr altLang="en-US" dirty="0" lang="en-US" sz="2400">
                <a:ea charset="-128" panose="020B0600070205080204" pitchFamily="34" typeface="ＭＳ Ｐゴシック"/>
              </a:rPr>
              <a:t>The cipher text is used to encode the query</a:t>
            </a:r>
          </a:p>
          <a:p>
            <a:pPr eaLnBrk="1" hangingPunct="1" lvl="1"/>
            <a:r>
              <a:rPr altLang="en-US" dirty="0" lang="en-US" sz="2000">
                <a:ea charset="-128" panose="020B0600070205080204" pitchFamily="34" typeface="ＭＳ Ｐゴシック"/>
              </a:rPr>
              <a:t>0:  buff[</a:t>
            </a:r>
            <a:r>
              <a:rPr altLang="en-US" dirty="0" err="1" lang="en-US" sz="2000">
                <a:ea charset="-128" panose="020B0600070205080204" pitchFamily="34" typeface="ＭＳ Ｐゴシック"/>
              </a:rPr>
              <a:t>i</a:t>
            </a:r>
            <a:r>
              <a:rPr altLang="en-US" dirty="0" lang="en-US" sz="2000">
                <a:ea charset="-128" panose="020B0600070205080204" pitchFamily="34" typeface="ＭＳ Ｐゴシック"/>
              </a:rPr>
              <a:t>]  |=   0x20 (upper)</a:t>
            </a:r>
          </a:p>
          <a:p>
            <a:pPr eaLnBrk="1" hangingPunct="1" lvl="1"/>
            <a:r>
              <a:rPr altLang="en-US" dirty="0" lang="en-US" sz="2000">
                <a:ea charset="-128" panose="020B0600070205080204" pitchFamily="34" typeface="ＭＳ Ｐゴシック"/>
              </a:rPr>
              <a:t>1:  buff[</a:t>
            </a:r>
            <a:r>
              <a:rPr altLang="en-US" dirty="0" err="1" lang="en-US" sz="2000">
                <a:ea charset="-128" panose="020B0600070205080204" pitchFamily="34" typeface="ＭＳ Ｐゴシック"/>
              </a:rPr>
              <a:t>i</a:t>
            </a:r>
            <a:r>
              <a:rPr altLang="en-US" dirty="0" lang="en-US" sz="2000">
                <a:ea charset="-128" panose="020B0600070205080204" pitchFamily="34" typeface="ＭＳ Ｐゴシック"/>
              </a:rPr>
              <a:t>]  &amp;=  0x20 (lower)</a:t>
            </a:r>
          </a:p>
        </p:txBody>
      </p:sp>
      <p:pic>
        <p:nvPicPr>
          <p:cNvPr descr="0X20 encoding " id="44035" name="Picture 2">
            <a:extLst>
              <a:ext uri="{FF2B5EF4-FFF2-40B4-BE49-F238E27FC236}">
                <a16:creationId xmlns:a16="http://schemas.microsoft.com/office/drawing/2014/main" id="{CFF44D57-790C-C7E0-91CE-ABBF50613A96}"/>
              </a:ext>
            </a:extLst>
          </p:cNvPr>
          <p:cNvPicPr>
            <a:picLocks noChangeArrowheads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524000"/>
            <a:ext cx="46291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Slide Number Placeholder 5">
            <a:extLst>
              <a:ext uri="{FF2B5EF4-FFF2-40B4-BE49-F238E27FC236}">
                <a16:creationId xmlns:a16="http://schemas.microsoft.com/office/drawing/2014/main" id="{FE87F52E-E44C-B314-D0AC-B9B347E4D85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1C2C8F2C-8791-0C4F-8CAE-F37CF39FC5DD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29</a:t>
            </a:fld>
            <a:endParaRPr altLang="en-US" dirty="0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F731B31C-141F-4EFF-C63E-89C8B153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DNS-0x20 Encoding Analysis</a:t>
            </a:r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9D2EB5DC-8FC4-4853-A637-52FB3B52A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Do existing authority servers preserve the case pattern?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Yes</a:t>
            </a:r>
          </a:p>
        </p:txBody>
      </p:sp>
      <p:sp>
        <p:nvSpPr>
          <p:cNvPr id="45061" name="Slide Number Placeholder 5">
            <a:extLst>
              <a:ext uri="{FF2B5EF4-FFF2-40B4-BE49-F238E27FC236}">
                <a16:creationId xmlns:a16="http://schemas.microsoft.com/office/drawing/2014/main" id="{74E529DF-91E1-2039-1D0C-63833D92C3FE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3535E2D0-01BF-074A-B966-0E707EB7FFDD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30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A7442313-EB24-F924-B78C-9913F8B7845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19C7AD4C-5AEE-B340-A249-1A3779359B19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31</a:t>
            </a:fld>
            <a:endParaRPr altLang="en-US" lang="en-US" sz="1400">
              <a:latin charset="0" panose="020B0604020202020204" pitchFamily="34" typeface="Arial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A09A09AF-B4EF-2592-7A34-05550B96DDEE}"/>
              </a:ext>
            </a:extLst>
          </p:cNvPr>
          <p:cNvSpPr>
            <a:spLocks noChangeArrowheads="1"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altLang="en-US" lang="en-US">
                <a:ea charset="-128" panose="020B0600070205080204" pitchFamily="34" typeface="ＭＳ Ｐゴシック"/>
              </a:rPr>
              <a:t>Other DNS attacks</a:t>
            </a: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id="{743F2E15-5AA1-9260-1F44-74A757BC71FB}"/>
              </a:ext>
            </a:extLst>
          </p:cNvPr>
          <p:cNvSpPr>
            <a:spLocks noChangeArrowheads="1" noGrp="1"/>
          </p:cNvSpPr>
          <p:nvPr>
            <p:ph idx="1" type="body"/>
          </p:nvPr>
        </p:nvSpPr>
        <p:spPr/>
        <p:txBody>
          <a:bodyPr/>
          <a:lstStyle/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Attacking home routers/gateways</a:t>
            </a:r>
          </a:p>
          <a:p>
            <a:pPr eaLnBrk="1" hangingPunct="1"/>
            <a:endParaRPr altLang="en-US" dirty="0" lang="en-US">
              <a:ea charset="-128" panose="020B0600070205080204" pitchFamily="34" typeface="ＭＳ Ｐゴシック"/>
            </a:endParaRPr>
          </a:p>
          <a:p>
            <a:pPr eaLnBrk="1" hangingPunct="1"/>
            <a:r>
              <a:rPr altLang="en-US" dirty="0" lang="en-US">
                <a:ea charset="-128" panose="020B0600070205080204" pitchFamily="34" typeface="ＭＳ Ｐゴシック"/>
              </a:rPr>
              <a:t>Incidence in Mexico in 2008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an email sent to users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email include URL (HTTP requests) to the HTTP-based interface of wireless routers</a:t>
            </a:r>
          </a:p>
          <a:p>
            <a:pPr eaLnBrk="1" hangingPunct="1" lvl="1"/>
            <a:r>
              <a:rPr altLang="en-US" dirty="0" lang="en-US">
                <a:ea charset="-128" panose="020B0600070205080204" pitchFamily="34" typeface="ＭＳ Ｐゴシック"/>
              </a:rPr>
              <a:t>using the default password to reconfigure the router/gateway</a:t>
            </a:r>
          </a:p>
          <a:p>
            <a:pPr eaLnBrk="1" hangingPunct="1"/>
            <a:endParaRPr altLang="en-US" dirty="0" lang="en-US">
              <a:ea charset="-128" panose="020B0600070205080204" pitchFamily="34" typeface="ＭＳ Ｐゴシック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5419D61A-027B-97F7-26BF-D048D9B14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lang="en-US">
                <a:ea charset="-128" panose="020B0600070205080204" pitchFamily="34" typeface="ＭＳ Ｐゴシック"/>
              </a:rPr>
              <a:t>Long Term Solution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E0E9EC5C-6C86-144A-446A-D88E35D10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altLang="en-US" dirty="0" lang="en-US">
                <a:ea charset="-128" panose="020B0600070205080204" pitchFamily="34" typeface="ＭＳ Ｐゴシック"/>
              </a:rPr>
              <a:t>DNSSEC: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Authenticate responses.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Google DNS now is enabled by default.</a:t>
            </a:r>
          </a:p>
          <a:p>
            <a:endParaRPr altLang="en-US" dirty="0" lang="en-US">
              <a:ea charset="-128" panose="020B0600070205080204" pitchFamily="34" typeface="ＭＳ Ｐゴシック"/>
            </a:endParaRPr>
          </a:p>
          <a:p>
            <a:r>
              <a:rPr altLang="en-US" dirty="0" lang="en-US">
                <a:ea charset="-128" panose="020B0600070205080204" pitchFamily="34" typeface="ＭＳ Ｐゴシック"/>
              </a:rPr>
              <a:t>Challenges in deployment: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Response is large, might no linger fit in single UDP message.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Legacy software and machines.</a:t>
            </a:r>
            <a:br>
              <a:rPr altLang="en-US" dirty="0" lang="en-US">
                <a:ea charset="-128" panose="020B0600070205080204" pitchFamily="34" typeface="ＭＳ Ｐゴシック"/>
              </a:rPr>
            </a:br>
            <a:endParaRPr altLang="en-US" dirty="0" lang="en-US">
              <a:ea charset="-128" panose="020B0600070205080204" pitchFamily="34" typeface="ＭＳ Ｐゴシック"/>
            </a:endParaRPr>
          </a:p>
          <a:p>
            <a:r>
              <a:rPr altLang="en-US" dirty="0" lang="en-US">
                <a:ea charset="-128" panose="020B0600070205080204" pitchFamily="34" typeface="ＭＳ Ｐゴシック"/>
              </a:rPr>
              <a:t>Not without problems and controversy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0FB58-F60C-FC20-E918-5E9CBB33994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E4A5C476-7D6A-A741-BB2A-A4F18903FADC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32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217D-E439-1628-32E1-FE0F950B2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7C5C7-29DF-5B7B-707D-5BC62ED26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/>
              <a:t>Security problems can be really nuanced</a:t>
            </a:r>
          </a:p>
          <a:p>
            <a:r>
              <a:rPr dirty="0" lang="en-US"/>
              <a:t>More security isn’t better - deep understanding and logical thinking is.</a:t>
            </a:r>
          </a:p>
          <a:p>
            <a:r>
              <a:rPr dirty="0" lang="en-US"/>
              <a:t>Availability is more important than security</a:t>
            </a:r>
          </a:p>
          <a:p>
            <a:endParaRPr dirty="0" lang="en-US"/>
          </a:p>
          <a:p>
            <a:endParaRPr dirty="0" lang="en-US"/>
          </a:p>
        </p:txBody>
      </p:sp>
    </p:spTree>
    <p:extLst>
      <p:ext uri="{BB962C8B-B14F-4D97-AF65-F5344CB8AC3E}">
        <p14:creationId xmlns:p14="http://schemas.microsoft.com/office/powerpoint/2010/main" val="2727501681"/>
      </p:ext>
    </p:extLst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0073E2B-B791-3731-E6B4-05AE7BA0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B832FC0F-BED8-0951-4FB6-1B10F041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lang="en-US">
                <a:ea charset="-128" panose="020B0600070205080204" pitchFamily="34" typeface="ＭＳ Ｐゴシック"/>
              </a:rPr>
              <a:t>Reading List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AF77E268-6DDC-D366-9FF4-B4E9A392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altLang="en-US" dirty="0" lang="en-US">
                <a:ea charset="-128" panose="020B0600070205080204" pitchFamily="34" typeface="ＭＳ Ｐゴシック"/>
              </a:rPr>
              <a:t>It’s the end of the cache as we know it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  <a:hlinkClick r:id="rId2"/>
              </a:rPr>
              <a:t>https://blackhat.com/presentations/bh-jp-08/bh-jp-08-Kaminsky/BlackHat-Japan-08-Kaminsky-DNS08-BlackOps.pdf</a:t>
            </a:r>
            <a:endParaRPr altLang="en-US" dirty="0" lang="en-US">
              <a:ea charset="-128" panose="020B0600070205080204" pitchFamily="34" typeface="ＭＳ Ｐゴシック"/>
            </a:endParaRPr>
          </a:p>
          <a:p>
            <a:pPr lvl="1"/>
            <a:endParaRPr altLang="en-US" dirty="0" lang="en-US">
              <a:ea charset="-128" panose="020B0600070205080204" pitchFamily="34" typeface="ＭＳ Ｐゴシック"/>
            </a:endParaRPr>
          </a:p>
          <a:p>
            <a:r>
              <a:rPr b="1" dirty="0" lang="en-US"/>
              <a:t>An Illustrated Guide to the Kaminsky DNS Vulnerability</a:t>
            </a:r>
          </a:p>
          <a:p>
            <a:pPr lvl="1"/>
            <a:r>
              <a:rPr altLang="en-US" dirty="0" lang="en-US">
                <a:ea charset="-128" panose="020B0600070205080204" pitchFamily="34" typeface="ＭＳ Ｐゴシック"/>
              </a:rPr>
              <a:t>http://</a:t>
            </a:r>
            <a:r>
              <a:rPr altLang="en-US" dirty="0" err="1" lang="en-US">
                <a:ea charset="-128" panose="020B0600070205080204" pitchFamily="34" typeface="ＭＳ Ｐゴシック"/>
              </a:rPr>
              <a:t>unixwiz.net</a:t>
            </a:r>
            <a:r>
              <a:rPr altLang="en-US" dirty="0" lang="en-US">
                <a:ea charset="-128" panose="020B0600070205080204" pitchFamily="34" typeface="ＭＳ Ｐゴシック"/>
              </a:rPr>
              <a:t>/</a:t>
            </a:r>
            <a:r>
              <a:rPr altLang="en-US" dirty="0" err="1" lang="en-US">
                <a:ea charset="-128" panose="020B0600070205080204" pitchFamily="34" typeface="ＭＳ Ｐゴシック"/>
              </a:rPr>
              <a:t>techtips</a:t>
            </a:r>
            <a:r>
              <a:rPr altLang="en-US" dirty="0" lang="en-US">
                <a:ea charset="-128" panose="020B0600070205080204" pitchFamily="34" typeface="ＭＳ Ｐゴシック"/>
              </a:rPr>
              <a:t>/</a:t>
            </a:r>
            <a:r>
              <a:rPr altLang="en-US" dirty="0" err="1" lang="en-US">
                <a:ea charset="-128" panose="020B0600070205080204" pitchFamily="34" typeface="ＭＳ Ｐゴシック"/>
              </a:rPr>
              <a:t>iguide-kaminsky-dns-vuln.html</a:t>
            </a:r>
            <a:endParaRPr altLang="en-US" dirty="0" lang="en-US">
              <a:ea charset="-128" panose="020B0600070205080204" pitchFamily="34" typeface="ＭＳ Ｐゴシック"/>
            </a:endParaRPr>
          </a:p>
          <a:p>
            <a:endParaRPr altLang="en-US" dirty="0" lang="en-US">
              <a:ea charset="-128" panose="020B0600070205080204" pitchFamily="34" typeface="ＭＳ Ｐゴシック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E29A8-EE9D-DBB2-0F7D-2FEA5779E6E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1pPr>
            <a:lvl2pPr eaLnBrk="0" hangingPunct="0" indent="-285750" marL="74295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2pPr>
            <a:lvl3pPr eaLnBrk="0" hangingPunct="0" indent="-228600" marL="11430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3pPr>
            <a:lvl4pPr eaLnBrk="0" hangingPunct="0" indent="-228600" marL="16002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4pPr>
            <a:lvl5pPr eaLnBrk="0" hangingPunct="0" indent="-228600" marL="2057400"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charset="0" panose="02020603050405020304" pitchFamily="18" typeface="Times New Roman"/>
                <a:ea charset="-128" panose="020B0600070205080204" pitchFamily="34" typeface="ＭＳ Ｐゴシック"/>
              </a:defRPr>
            </a:lvl9pPr>
          </a:lstStyle>
          <a:p>
            <a:pPr eaLnBrk="1" hangingPunct="1"/>
            <a:fld id="{E4A5C476-7D6A-A741-BB2A-A4F18903FADC}" type="slidenum">
              <a:rPr altLang="en-US" lang="en-US" sz="1400">
                <a:solidFill>
                  <a:srgbClr val="254C9C"/>
                </a:solidFill>
                <a:latin charset="0" panose="020B0604020202020204" pitchFamily="34" typeface="Arial"/>
              </a:rPr>
              <a:pPr eaLnBrk="1" hangingPunct="1"/>
              <a:t>34</a:t>
            </a:fld>
            <a:endParaRPr altLang="en-US" lang="en-US" sz="1400">
              <a:latin charset="0" panose="020B0604020202020204" pitchFamily="34"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698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1762</Words>
  <Application>Microsoft Macintosh PowerPoint</Application>
  <PresentationFormat>Widescreen</PresentationFormat>
  <Paragraphs>311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ＭＳ Ｐゴシック</vt:lpstr>
      <vt:lpstr>Aptos</vt:lpstr>
      <vt:lpstr>Aptos Display</vt:lpstr>
      <vt:lpstr>Arial</vt:lpstr>
      <vt:lpstr>Times</vt:lpstr>
      <vt:lpstr>Tw Cen MT</vt:lpstr>
      <vt:lpstr>Wingdings</vt:lpstr>
      <vt:lpstr>Office Theme</vt:lpstr>
      <vt:lpstr>CSC 4780 – DNS and Security</vt:lpstr>
      <vt:lpstr>DNS Overview</vt:lpstr>
      <vt:lpstr>History</vt:lpstr>
      <vt:lpstr>History – Hosts.txt</vt:lpstr>
      <vt:lpstr>Naming Hierarchy</vt:lpstr>
      <vt:lpstr>Hierarchical Administration</vt:lpstr>
      <vt:lpstr>Map of the Roots - 2006</vt:lpstr>
      <vt:lpstr>Map of the K Roots - 2017</vt:lpstr>
      <vt:lpstr>DNS Resolving</vt:lpstr>
      <vt:lpstr>DNS Resolving - 2</vt:lpstr>
      <vt:lpstr>DNS is Distributed</vt:lpstr>
      <vt:lpstr>Caching</vt:lpstr>
      <vt:lpstr>Caching - 2</vt:lpstr>
      <vt:lpstr>Inherent DNS Vulnerabilities</vt:lpstr>
      <vt:lpstr>Bad Guys and the guessing game</vt:lpstr>
      <vt:lpstr>DNS cache poisoning: Racing to Respond First</vt:lpstr>
      <vt:lpstr>Long TTL – Maybe?</vt:lpstr>
      <vt:lpstr>DNS Rake</vt:lpstr>
      <vt:lpstr>Defense Using The Bailiwicks Rules</vt:lpstr>
      <vt:lpstr>DNS cache poisoning – Birthday attack</vt:lpstr>
      <vt:lpstr>DNS cache poisoning – Kaminsky, 2008</vt:lpstr>
      <vt:lpstr>What is New in the Kaminsky Attack?</vt:lpstr>
      <vt:lpstr>Kaminsky-Style Poisoning</vt:lpstr>
      <vt:lpstr>Kaminsky-Style Poisoning (cont’)</vt:lpstr>
      <vt:lpstr>So what do we do?</vt:lpstr>
      <vt:lpstr>Short-Term Defenses</vt:lpstr>
      <vt:lpstr>DNS-0x20 Bit Encoding</vt:lpstr>
      <vt:lpstr>DNS-0x20 DNS Encoding (cont’)</vt:lpstr>
      <vt:lpstr>Query Encoding</vt:lpstr>
      <vt:lpstr>DNS-0x20 Encoding Analysis</vt:lpstr>
      <vt:lpstr>Other DNS attacks</vt:lpstr>
      <vt:lpstr>Long Term Solution</vt:lpstr>
      <vt:lpstr>Takeaway</vt:lpstr>
      <vt:lpstr>Reading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2026-02-09T16:40:55Z</dcterms:created>
  <dc:creator>Shannigrahi, Susmit</dc:creator>
  <cp:lastModifiedBy>Shannigrahi, Susmit</cp:lastModifiedBy>
  <dcterms:modified xsi:type="dcterms:W3CDTF">2026-02-09T17:57:33Z</dcterms:modified>
  <cp:revision>6</cp:revision>
  <dc:title>DNS and Security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ReadingOrderVerifiedPages">
    <vt:lpwstr>5,6,7,8,12,14,21,31</vt:lpwstr>
  </property>
  <property pid="3" fmtid="{D5CDD505-2E9C-101B-9397-08002B2CF9AE}" name="VerifiedLinkDescriptions">
    <vt:lpwstr>www.google.com,https://blackhat.com/presentations/bh-jp-08/bh-jp-08-Kaminsky/BlackHat-Japan-08-Kaminsky-DNS08-BlackOps.pdf</vt:lpwstr>
  </property>
</Properties>
</file>