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54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B408B80-CFA6-4DEF-A6FD-0E270681497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93D7540-81DD-4B07-B91C-787A71E58BC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8CE5BA2-C90A-4B45-AEA7-7DE22934DAD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54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C4FC672-3F3F-484B-8C94-4A9EFEA1791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2B4C970C-6E67-42A4-9E04-71148D72746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54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02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90FCE01-F06C-4EC4-A0EB-DBD123E6CB9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378F2132-0049-466F-A0E4-680D308C44E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54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7C42959-B556-4711-B18E-21DCE7343EB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BEEA9AF-F1E4-4D79-9779-849308DED94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5F68E24-9732-4473-9064-CE5B57044A1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345C2BCF-BACB-4223-87B0-E1342ACD0A0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54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24F7626F-6A7C-421B-82F1-58A656F0A6B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D524FC-E164-4530-8FB6-55A1CC26439C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A3E781-3DF6-4FE2-B68A-BFED3F61E3AA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F1B19-4DED-4B22-BEA1-1735396D165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3AF029-DFEA-421F-9E0F-52AB40A90B4D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D22DF3-02AA-4C25-B96E-510B1BFBF8A5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C23F92-143E-4002-952A-D26B8A288CD3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Rectangle 7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829575-1617-4788-A11F-60D3F9B5E0A3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Rectangle 9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542D32-A455-40E0-BF5E-AD102085EFE5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E18612-9F62-4887-A995-8927A878E651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Click to edit the title text format</a:t>
            </a: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</p:txBody>
      </p:sp>
      <p:sp>
        <p:nvSpPr>
          <p:cNvPr id="7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83B742-5536-4A37-A855-452AE93AD215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Rectangle 7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FC6D6B-38F8-4FA8-9C93-FB284DBF12A6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Rectangle 7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ftr" idx="35"/>
          </p:nvPr>
        </p:nvSpPr>
        <p:spPr>
          <a:xfrm>
            <a:off x="4165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sldNum" idx="36"/>
          </p:nvPr>
        </p:nvSpPr>
        <p:spPr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5EBCDC-15E8-403A-A92D-78028DFE856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CSC 4780 – MISC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Susmit Shannigrahi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buNone/>
            </a:pPr>
            <a:r>
              <a:rPr lang="en-US" sz="3200" b="0" strike="noStrike" spc="-1">
                <a:latin typeface="Calibri"/>
              </a:rPr>
              <a:t>Secret Sharing - Mechanism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Secret S encoded as constant in polynomial.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Degree k-1 polynomial created.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Shares are points on curve.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Any k points reconstruct polynomial.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Fewer than k reveal nothing.</a:t>
            </a:r>
          </a:p>
        </p:txBody>
      </p:sp>
      <p:pic>
        <p:nvPicPr>
          <p:cNvPr id="101" name="Picture 100" descr="Secret Sharing - Mechanism"/>
          <p:cNvPicPr/>
          <p:nvPr/>
        </p:nvPicPr>
        <p:blipFill>
          <a:blip r:embed="rId2"/>
          <a:stretch/>
        </p:blipFill>
        <p:spPr>
          <a:xfrm>
            <a:off x="4987672" y="1532824"/>
            <a:ext cx="6389346" cy="380166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buNone/>
            </a:pPr>
            <a:r>
              <a:rPr lang="en-US" sz="3200" b="0" strike="noStrike" spc="-1">
                <a:latin typeface="Calibri"/>
              </a:rPr>
              <a:t>Secret Sharing - Mechanism</a:t>
            </a: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Secret S encoded as constant in polynomial.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Degree k-1 polynomial created.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Shares are points on curve.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Any k points reconstruct polynomial.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Fewer than k reveal nothing.</a:t>
            </a:r>
          </a:p>
        </p:txBody>
      </p:sp>
      <p:pic>
        <p:nvPicPr>
          <p:cNvPr id="104" name="Picture 103"/>
          <p:cNvPicPr/>
          <p:nvPr/>
        </p:nvPicPr>
        <p:blipFill>
          <a:blip r:embed="rId2"/>
          <a:stretch/>
        </p:blipFill>
        <p:spPr>
          <a:xfrm>
            <a:off x="5078870" y="741391"/>
            <a:ext cx="6206950" cy="5384528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Blind Signature - Mechanism</a:t>
            </a: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Message m blinded using random R.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Blinded message sent to signer.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Signer applies private key.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User unblinds result.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Final output is valid signature on 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buNone/>
            </a:pPr>
            <a:r>
              <a:rPr lang="en-US" sz="3200" b="0" strike="noStrike" spc="-1">
                <a:latin typeface="Calibri"/>
              </a:rPr>
              <a:t>Group Signatures - Mechanism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latin typeface="Calibri"/>
              </a:rPr>
              <a:t>Members generate key pairs.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700" b="0" strike="noStrike" spc="-1">
                <a:latin typeface="Calibri"/>
              </a:rPr>
              <a:t>Group: A set of public keys: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700" b="0" strike="noStrike" spc="-1">
                <a:latin typeface="Calibri"/>
              </a:rPr>
              <a:t>{PK1,PK2,...,PKn}\{PK_1, PK_2, ..., PK_n\}</a:t>
            </a:r>
            <a:br>
              <a:rPr lang="en-US" sz="1700"/>
            </a:br>
            <a:r>
              <a:rPr lang="en-US" sz="1700" b="0" strike="noStrike" spc="-1">
                <a:latin typeface="Calibri"/>
              </a:rPr>
              <a:t>{PK1​,PK2​,...,PKn​}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latin typeface="Calibri"/>
              </a:rPr>
              <a:t>Group manager signs certificates.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latin typeface="Calibri"/>
              </a:rPr>
              <a:t>Signer uses private key + certificate.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latin typeface="Calibri"/>
              </a:rPr>
              <a:t>Verifier checks certificate validity.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latin typeface="Calibri"/>
              </a:rPr>
              <a:t>Identity hidden from verifier.</a:t>
            </a:r>
          </a:p>
        </p:txBody>
      </p:sp>
      <p:pic>
        <p:nvPicPr>
          <p:cNvPr id="109" name="Picture 108" descr="Group Signature"/>
          <p:cNvPicPr/>
          <p:nvPr/>
        </p:nvPicPr>
        <p:blipFill>
          <a:blip r:embed="rId2"/>
          <a:stretch/>
        </p:blipFill>
        <p:spPr>
          <a:xfrm>
            <a:off x="4987672" y="1620679"/>
            <a:ext cx="6389346" cy="3625952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0" strike="noStrike" spc="-1">
                <a:latin typeface="Calibri"/>
              </a:rPr>
              <a:t>Secure Multiparty Computation (MPC)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Inputs split using secret sharing.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Shares distributed among participants.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Computation converted to circuit (AND, XOR).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Operations performed on shares.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Result reconstructed from shares.</a:t>
            </a:r>
          </a:p>
        </p:txBody>
      </p:sp>
      <p:pic>
        <p:nvPicPr>
          <p:cNvPr id="112" name="Picture 111"/>
          <p:cNvPicPr/>
          <p:nvPr/>
        </p:nvPicPr>
        <p:blipFill>
          <a:blip r:embed="rId2"/>
          <a:stretch/>
        </p:blipFill>
        <p:spPr>
          <a:xfrm>
            <a:off x="5207467" y="741391"/>
            <a:ext cx="5949756" cy="5384528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Fully Homomorphic Encryption (FHE) </a:t>
            </a: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Data encrypted bitwise.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Addition → XOR.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Multiplication → AND.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Operations increase noise.</a:t>
            </a: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Too much noise → decryption fails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Only limited operations possible (somewhat homomorphic)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Decryption recovers result if noise small.</a:t>
            </a:r>
          </a:p>
        </p:txBody>
      </p:sp>
      <p:pic>
        <p:nvPicPr>
          <p:cNvPr id="115" name="Picture 114"/>
          <p:cNvPicPr/>
          <p:nvPr/>
        </p:nvPicPr>
        <p:blipFill>
          <a:blip r:embed="rId2"/>
          <a:stretch/>
        </p:blipFill>
        <p:spPr>
          <a:xfrm>
            <a:off x="5550840" y="1417320"/>
            <a:ext cx="6107760" cy="2374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0" strike="noStrike" spc="-1">
                <a:latin typeface="Calibri"/>
              </a:rPr>
              <a:t>Perfect Forward Secrecy</a:t>
            </a: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Session keys derived per session.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Long-term keys used only for authentication.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Past session keys not recoverable.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Compromise does not expose history.</a:t>
            </a:r>
          </a:p>
        </p:txBody>
      </p:sp>
      <p:pic>
        <p:nvPicPr>
          <p:cNvPr id="118" name="Picture 117"/>
          <p:cNvPicPr/>
          <p:nvPr/>
        </p:nvPicPr>
        <p:blipFill>
          <a:blip r:embed="rId2"/>
          <a:stretch/>
        </p:blipFill>
        <p:spPr>
          <a:xfrm>
            <a:off x="4987672" y="1061611"/>
            <a:ext cx="6389346" cy="4744088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buNone/>
            </a:pPr>
            <a:r>
              <a:rPr lang="en-US" sz="3200" b="0" strike="noStrike" spc="-1">
                <a:latin typeface="Calibri"/>
              </a:rPr>
              <a:t>Key Rotation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Keys used for limited data/time.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Prevent collisions.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Reduce exposure.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Re-encrypt metadata if needed.</a:t>
            </a:r>
          </a:p>
        </p:txBody>
      </p:sp>
      <p:pic>
        <p:nvPicPr>
          <p:cNvPr id="121" name="Picture 120"/>
          <p:cNvPicPr/>
          <p:nvPr/>
        </p:nvPicPr>
        <p:blipFill>
          <a:blip r:embed="rId2"/>
          <a:stretch/>
        </p:blipFill>
        <p:spPr>
          <a:xfrm>
            <a:off x="4987672" y="1940146"/>
            <a:ext cx="6389346" cy="2987018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buNone/>
            </a:pPr>
            <a:r>
              <a:rPr lang="en-US" sz="3200" b="0" strike="noStrike" spc="-1">
                <a:latin typeface="Calibri"/>
              </a:rPr>
              <a:t>Integrity Protection</a:t>
            </a: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Encryption alone insufficient.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Bit flipping attacks possible.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Add MAC or authenticated encryption.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Detect tampering.</a:t>
            </a:r>
          </a:p>
        </p:txBody>
      </p:sp>
      <p:pic>
        <p:nvPicPr>
          <p:cNvPr id="124" name="Picture 123"/>
          <p:cNvPicPr/>
          <p:nvPr/>
        </p:nvPicPr>
        <p:blipFill>
          <a:blip r:embed="rId2"/>
          <a:stretch/>
        </p:blipFill>
        <p:spPr>
          <a:xfrm>
            <a:off x="4987672" y="1828332"/>
            <a:ext cx="6389346" cy="3210646"/>
          </a:xfrm>
          <a:prstGeom prst="rect">
            <a:avLst/>
          </a:prstGeom>
        </p:spPr>
      </p:pic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Use Separate Keys</a:t>
            </a: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Different keys for encryption and integrity.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Avoid cross-protocol leakage.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Limit impact of compromise.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Use Separate Public Keys</a:t>
            </a: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Different keys for signing and decryption.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Prevent misuse.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Avoid unintended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Nonce Usage</a:t>
            </a: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Unique nonce per message.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Reuse breaks security.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Ensures randomness in encryption.</a:t>
            </a:r>
          </a:p>
        </p:txBody>
      </p:sp>
      <p:pic>
        <p:nvPicPr>
          <p:cNvPr id="131" name="Picture 130"/>
          <p:cNvPicPr/>
          <p:nvPr/>
        </p:nvPicPr>
        <p:blipFill>
          <a:blip r:embed="rId2"/>
          <a:stretch/>
        </p:blipFill>
        <p:spPr>
          <a:xfrm>
            <a:off x="8334360" y="360"/>
            <a:ext cx="309564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buNone/>
            </a:pPr>
            <a:r>
              <a:rPr lang="en-US" sz="3200" b="0" strike="noStrike" spc="-1">
                <a:latin typeface="Calibri"/>
              </a:rPr>
              <a:t>Randomness</a:t>
            </a: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Use strong entropy sources.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Predictable randomness breaks keys.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latin typeface="Calibri"/>
              </a:rPr>
              <a:t>Many crypto failures are randomness failures, not protocol failure</a:t>
            </a:r>
          </a:p>
          <a:p>
            <a:pPr marL="343080" indent="0" defTabSz="457200">
              <a:spcBef>
                <a:spcPts val="641"/>
              </a:spcBef>
              <a:buNone/>
            </a:pPr>
            <a:r>
              <a:rPr lang="en-US" sz="2000" b="0" strike="noStrike" spc="-1">
                <a:latin typeface="Calibri"/>
              </a:rPr>
              <a:t> </a:t>
            </a:r>
          </a:p>
        </p:txBody>
      </p:sp>
      <p:pic>
        <p:nvPicPr>
          <p:cNvPr id="134" name="Picture 133"/>
          <p:cNvPicPr/>
          <p:nvPr/>
        </p:nvPicPr>
        <p:blipFill>
          <a:blip r:embed="rId2"/>
          <a:stretch/>
        </p:blipFill>
        <p:spPr>
          <a:xfrm>
            <a:off x="4987672" y="1229331"/>
            <a:ext cx="6389346" cy="4408647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0" name="Rectangle 14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buNone/>
            </a:pPr>
            <a:r>
              <a:rPr lang="en-US" sz="5400" b="0" strike="noStrike" spc="-1">
                <a:latin typeface="Calibri"/>
              </a:rPr>
              <a:t>Checksums</a:t>
            </a:r>
          </a:p>
        </p:txBody>
      </p:sp>
      <p:sp>
        <p:nvSpPr>
          <p:cNvPr id="15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7" name="Picture 136"/>
          <p:cNvPicPr/>
          <p:nvPr/>
        </p:nvPicPr>
        <p:blipFill>
          <a:blip r:embed="rId2"/>
          <a:stretch/>
        </p:blipFill>
        <p:spPr>
          <a:xfrm>
            <a:off x="4654296" y="648653"/>
            <a:ext cx="6894576" cy="3878197"/>
          </a:xfrm>
          <a:prstGeom prst="rect">
            <a:avLst/>
          </a:prstGeom>
        </p:spPr>
      </p:pic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latin typeface="Calibri"/>
              </a:rPr>
              <a:t>Attach integrity checks.</a:t>
            </a:r>
          </a:p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latin typeface="Calibri"/>
              </a:rPr>
              <a:t>Detect corruption or tampering.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Forward Compatibility</a:t>
            </a: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Design for algorithm replacement.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Avoid hard dependencies.</a:t>
            </a: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Enable upgrades.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/>
          </p:nvPr>
        </p:nvSpPr>
        <p:spPr>
          <a:xfrm>
            <a:off x="609480" y="1303525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Read relevant topics in chapters 16 and 17</a:t>
            </a: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Encryption alone is not enough</a:t>
            </a:r>
          </a:p>
          <a:p>
            <a:pPr marL="864000" lvl="1" indent="-324000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Combine: encryption + integrity + key management</a:t>
            </a:r>
          </a:p>
          <a:p>
            <a:pPr marL="343080" indent="-34308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Use techniques like secret sharing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Avoid single points of failure</a:t>
            </a:r>
          </a:p>
          <a:p>
            <a:pPr marL="343080" indent="-34308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chemeClr val="dk1"/>
                </a:solidFill>
              </a:rPr>
              <a:t> Privacy ≠ anonymity ≠ authentication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Blind signatures → privacy 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Ring/group signatures → anonymity 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Each solves a different problem</a:t>
            </a:r>
          </a:p>
          <a:p>
            <a:pPr marL="864000" lvl="1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endParaRPr lang="en-US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Takeaway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/>
          </p:nvPr>
        </p:nvSpPr>
        <p:spPr>
          <a:xfrm>
            <a:off x="609480" y="1744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1" strike="noStrike" spc="-1">
                <a:solidFill>
                  <a:schemeClr val="dk1"/>
                </a:solidFill>
                <a:latin typeface="Calibri"/>
              </a:rPr>
              <a:t>Modern cryptography works—but only if used correctly.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Most real failures are practical</a:t>
            </a:r>
            <a:endParaRPr lang="en-US" sz="3200" b="1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Nonce reuse </a:t>
            </a:r>
          </a:p>
          <a:p>
            <a:pPr marL="864000" lvl="1" indent="-324000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Weak randomness </a:t>
            </a:r>
          </a:p>
          <a:p>
            <a:pPr marL="864000" lvl="1" indent="-324000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Key misuse</a:t>
            </a: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Takeaway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7176</TotalTime>
  <Words>499</Words>
  <Application>Microsoft Macintosh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18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CSC 4780 – MISC</vt:lpstr>
      <vt:lpstr>Secret Sharing - Mechanism</vt:lpstr>
      <vt:lpstr>Secret Sharing - Mechanism</vt:lpstr>
      <vt:lpstr>Blind Signature - Mechanism</vt:lpstr>
      <vt:lpstr>Group Signatures - Mechanism</vt:lpstr>
      <vt:lpstr>Secure Multiparty Computation (MPC)</vt:lpstr>
      <vt:lpstr>Fully Homomorphic Encryption (FHE) </vt:lpstr>
      <vt:lpstr>Perfect Forward Secrecy</vt:lpstr>
      <vt:lpstr>Key Rotation</vt:lpstr>
      <vt:lpstr>Integrity Protection</vt:lpstr>
      <vt:lpstr>Use Separate Keys</vt:lpstr>
      <vt:lpstr>Use Separate Public Keys</vt:lpstr>
      <vt:lpstr>Nonce Usage</vt:lpstr>
      <vt:lpstr>Randomness</vt:lpstr>
      <vt:lpstr>Checksums</vt:lpstr>
      <vt:lpstr>Forward Compatibility</vt:lpstr>
      <vt:lpstr>Takeaway</vt:lpstr>
      <vt:lpstr>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Shannigrahi, Susmit</dc:creator>
  <dc:description/>
  <cp:lastModifiedBy>Shannigrahi, Susmit</cp:lastModifiedBy>
  <cp:revision>15</cp:revision>
  <dcterms:created xsi:type="dcterms:W3CDTF">2026-02-09T16:40:55Z</dcterms:created>
  <dcterms:modified xsi:type="dcterms:W3CDTF">2026-04-20T20:19:57Z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40</vt:i4>
  </property>
</Properties>
</file>