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4.xml" ContentType="application/vnd.openxmlformats-officedocument.presentationml.slideLayout+xml"/>
  <Override PartName="/docProps/custom.xml" ContentType="application/vnd.openxmlformats-officedocument.custom-properties+xml"/>
  <Override PartName="/ppt/notesSlides/notesSlide2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2.xml" ContentType="application/vnd.openxmlformats-officedocument.presentationml.notesSlide+xml"/>
  <Override PartName="/ppt/theme/theme1.xml" ContentType="application/vnd.openxmlformats-officedocument.them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4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1" d="100"/>
          <a:sy n="61" d="100"/>
        </p:scale>
        <p:origin x="248" y="135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 /><Relationship Id="rId46" Type="http://schemas.openxmlformats.org/officeDocument/2006/relationships/tableStyles" Target="tableStyles.xml" /><Relationship Id="rId4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28726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06894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DC8B824-F5A0-B54D-B526-7DF31E203BBB}" type="datetimeFigureOut">
              <a:rPr lang="en-US"/>
              <a:t>2/16/26</a:t>
            </a:fld>
            <a:endParaRPr lang="en-US"/>
          </a:p>
        </p:txBody>
      </p:sp>
      <p:sp>
        <p:nvSpPr>
          <p:cNvPr id="56522515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4730616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8432984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208443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216985-4F63-2A4E-AC89-D701E002D7F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38F01A-D27A-6914-8347-C7E022D9A0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11176" name="Google Shape;197;gfe79ba0a72_1_39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725748" name="Google Shape;198;gfe79ba0a72_1_39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76100692" name="Google Shape;199;gfe79ba0a72_1_393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00634E-F903-E9C4-CD1B-31E642E21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9988" name="Segnaposto immagin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048849" name="Segnaposto note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083968" name="Segnaposto numero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FA9840-7191-D24C-801E-DEF645FDCE50}" type="slidenum">
              <a:rPr lang="it-IT"/>
              <a:t>4</a:t>
            </a:fld>
            <a:endParaRPr 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49264B-FFB1-C81C-52B1-9692844CAA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CFC2A7-2FF4-81C9-3D03-B833AE078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8E6F2B-5C80-748D-A2F4-C27F5A520E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647617" name="Google Shape;214;gfe79ba0a72_1_17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434808" name="Google Shape;215;gfe79ba0a72_1_17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67507583" name="Google Shape;216;gfe79ba0a72_1_170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014489" name="Google Shape;223;gfe79ba0a72_1_17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34052" name="Google Shape;224;gfe79ba0a72_1_17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374877" name="Google Shape;225;gfe79ba0a72_1_178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76632" name="Google Shape;223;gfe79ba0a72_1_17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024496" name="Google Shape;224;gfe79ba0a72_1_17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01433013" name="Google Shape;225;gfe79ba0a72_1_178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132921" name="Google Shape;233;gfe79ba0a72_1_19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333378" name="Google Shape;234;gfe79ba0a72_1_19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59071689" name="Google Shape;235;gfe79ba0a72_1_196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395798" name="Google Shape;251;gfe79ba0a72_1_212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563620" name="Google Shape;252;gfe79ba0a72_1_212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48115416" name="Google Shape;253;gfe79ba0a72_1_212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108631" name="Google Shape;268;gfe79ba0a72_1_227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582934" name="Google Shape;269;gfe79ba0a72_1_227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19984720" name="Google Shape;270;gfe79ba0a72_1_227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061644" name="Google Shape;277;gfe79ba0a72_1_23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441005" name="Google Shape;278;gfe79ba0a72_1_23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4567687" name="Google Shape;279;gfe79ba0a72_1_235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956559" name="Google Shape;307;gfe79ba0a72_1_26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901892" name="Google Shape;308;gfe79ba0a72_1_26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0227870" name="Google Shape;309;gfe79ba0a72_1_264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88C46F-278E-E4AB-1F6F-6730FD5E6C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2F011A-3276-9E17-AF27-31B831BCA4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59C4-CB13-7CE5-F1EB-33885012A8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909189" name="Segnaposto immagin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8290478" name="Segnaposto note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91785324" name="Segnaposto numero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FA9840-7191-D24C-801E-DEF645FDCE50}" type="slidenum">
              <a:rPr lang="it-IT"/>
              <a:t>19</a:t>
            </a:fld>
            <a:endParaRPr lang="it-IT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01BA1C-158C-9F40-27F1-D84564AEBAD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0A522B-6FB0-D8DB-393B-75F34CBB68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CC6591-0645-5A8E-AF79-80CEC8260C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F8F6C7-60D0-42FB-EF78-BEA2C0AB87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D1DD3A-1BD5-6187-99B4-17338CA756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DA5A1B-4330-5E75-A48C-FC10DF24B6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249F3A-E68F-A8AC-2506-305D4C1403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2286D4-672F-2BBC-5F6A-BA380ABBBA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CF4BA4-B35F-54D3-9839-978B5DD487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D1129D-ACEE-9E46-BD49-FC6AA29E3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D79B6B-4925-5A95-CC4F-5769B1005A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DC2E3F-B65D-16F3-6C32-E027B8F01D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4AC878-557C-6661-4583-4328D9AEEC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DAA01D-73B8-5788-E4D3-492DB095EE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C4ABB6-9DB3-486F-A194-9FD8895768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02561F-F912-7ABC-B827-25E1B28F71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EE7E17-7816-9F43-BC13-A510099927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F9262B-A60D-6B69-9451-09592D62CD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C955FF-D0F9-87CA-C740-357FF3E85E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084825" name="Google Shape;312;p2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320215" name="Google Shape;313;p2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49468853" name="Google Shape;314;p28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00918-8697-0D69-01D2-F5919889FD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2575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563463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3883014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3EE530-FD04-3147-B0C9-114639AB4992}" type="datetimeFigureOut">
              <a:rPr lang="en-US"/>
              <a:t>2/16/26</a:t>
            </a:fld>
            <a:endParaRPr lang="en-US"/>
          </a:p>
        </p:txBody>
      </p:sp>
      <p:sp>
        <p:nvSpPr>
          <p:cNvPr id="15503964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43767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3B3962-8CA9-8D46-9A7C-694CCFDF676A}" type="slidenum">
              <a:rPr lang="en-US"/>
              <a:t>‹#›</a:t>
            </a:fld>
            <a:endParaRPr lang="en-US"/>
          </a:p>
        </p:txBody>
      </p:sp>
      <p:sp>
        <p:nvSpPr>
          <p:cNvPr id="2115680940" name="Rectangle 6"/>
          <p:cNvSpPr/>
          <p:nvPr userDrawn="1"/>
        </p:nvSpPr>
        <p:spPr bwMode="auto"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0147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4552582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799806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3EE530-FD04-3147-B0C9-114639AB4992}" type="datetimeFigureOut">
              <a:rPr lang="en-US"/>
              <a:t>2/16/26</a:t>
            </a:fld>
            <a:endParaRPr lang="en-US"/>
          </a:p>
        </p:txBody>
      </p:sp>
      <p:sp>
        <p:nvSpPr>
          <p:cNvPr id="17069262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49985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3B3962-8CA9-8D46-9A7C-694CCFDF676A}" type="slidenum">
              <a:rPr lang="en-US"/>
              <a:t>‹#›</a:t>
            </a:fld>
            <a:endParaRPr lang="en-US"/>
          </a:p>
        </p:txBody>
      </p:sp>
      <p:sp>
        <p:nvSpPr>
          <p:cNvPr id="1814260673" name="Rectangle 6"/>
          <p:cNvSpPr/>
          <p:nvPr userDrawn="1"/>
        </p:nvSpPr>
        <p:spPr bwMode="auto"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48682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144777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25252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3EE530-FD04-3147-B0C9-114639AB4992}" type="datetimeFigureOut">
              <a:rPr lang="en-US"/>
              <a:t>2/16/26</a:t>
            </a:fld>
            <a:endParaRPr lang="en-US"/>
          </a:p>
        </p:txBody>
      </p:sp>
      <p:sp>
        <p:nvSpPr>
          <p:cNvPr id="7500465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1868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3B3962-8CA9-8D46-9A7C-694CCFDF676A}" type="slidenum">
              <a:rPr lang="en-US"/>
              <a:t>‹#›</a:t>
            </a:fld>
            <a:endParaRPr lang="en-US"/>
          </a:p>
        </p:txBody>
      </p:sp>
      <p:sp>
        <p:nvSpPr>
          <p:cNvPr id="987513746" name="Rectangle 6"/>
          <p:cNvSpPr/>
          <p:nvPr userDrawn="1"/>
        </p:nvSpPr>
        <p:spPr bwMode="auto"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1273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303255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384151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2125466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3EE530-FD04-3147-B0C9-114639AB4992}" type="datetimeFigureOut">
              <a:rPr lang="en-US"/>
              <a:t>2/16/26</a:t>
            </a:fld>
            <a:endParaRPr lang="en-US"/>
          </a:p>
        </p:txBody>
      </p:sp>
      <p:sp>
        <p:nvSpPr>
          <p:cNvPr id="126445489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59113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3B3962-8CA9-8D46-9A7C-694CCFDF676A}" type="slidenum">
              <a:rPr lang="en-US"/>
              <a:t>‹#›</a:t>
            </a:fld>
            <a:endParaRPr lang="en-US"/>
          </a:p>
        </p:txBody>
      </p:sp>
      <p:sp>
        <p:nvSpPr>
          <p:cNvPr id="479364107" name="Rectangle 7"/>
          <p:cNvSpPr/>
          <p:nvPr userDrawn="1"/>
        </p:nvSpPr>
        <p:spPr bwMode="auto"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32881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366757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9798561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4501963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2113363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3340174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3EE530-FD04-3147-B0C9-114639AB4992}" type="datetimeFigureOut">
              <a:rPr lang="en-US"/>
              <a:t>2/16/26</a:t>
            </a:fld>
            <a:endParaRPr lang="en-US"/>
          </a:p>
        </p:txBody>
      </p:sp>
      <p:sp>
        <p:nvSpPr>
          <p:cNvPr id="5378431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152777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3B3962-8CA9-8D46-9A7C-694CCFDF676A}" type="slidenum">
              <a:rPr lang="en-US"/>
              <a:t>‹#›</a:t>
            </a:fld>
            <a:endParaRPr lang="en-US"/>
          </a:p>
        </p:txBody>
      </p:sp>
      <p:sp>
        <p:nvSpPr>
          <p:cNvPr id="1845784067" name="Rectangle 9"/>
          <p:cNvSpPr/>
          <p:nvPr userDrawn="1"/>
        </p:nvSpPr>
        <p:spPr bwMode="auto"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767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3938204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3EE530-FD04-3147-B0C9-114639AB4992}" type="datetimeFigureOut">
              <a:rPr lang="en-US"/>
              <a:t>2/16/26</a:t>
            </a:fld>
            <a:endParaRPr lang="en-US"/>
          </a:p>
        </p:txBody>
      </p:sp>
      <p:sp>
        <p:nvSpPr>
          <p:cNvPr id="63857604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75261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3B3962-8CA9-8D46-9A7C-694CCFDF676A}" type="slidenum">
              <a:rPr lang="en-US"/>
              <a:t>‹#›</a:t>
            </a:fld>
            <a:endParaRPr lang="en-US"/>
          </a:p>
        </p:txBody>
      </p:sp>
      <p:sp>
        <p:nvSpPr>
          <p:cNvPr id="60339192" name="Rectangle 5"/>
          <p:cNvSpPr/>
          <p:nvPr userDrawn="1"/>
        </p:nvSpPr>
        <p:spPr bwMode="auto"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5689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3EE530-FD04-3147-B0C9-114639AB4992}" type="datetimeFigureOut">
              <a:rPr lang="en-US"/>
              <a:t>2/16/26</a:t>
            </a:fld>
            <a:endParaRPr lang="en-US"/>
          </a:p>
        </p:txBody>
      </p:sp>
      <p:sp>
        <p:nvSpPr>
          <p:cNvPr id="170315279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925997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3B3962-8CA9-8D46-9A7C-694CCFDF676A}" type="slidenum">
              <a:rPr lang="en-US"/>
              <a:t>‹#›</a:t>
            </a:fld>
            <a:endParaRPr lang="en-US"/>
          </a:p>
        </p:txBody>
      </p:sp>
      <p:sp>
        <p:nvSpPr>
          <p:cNvPr id="117214149" name="Rectangle 4"/>
          <p:cNvSpPr/>
          <p:nvPr userDrawn="1"/>
        </p:nvSpPr>
        <p:spPr bwMode="auto"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58714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9688422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3441362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094890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3EE530-FD04-3147-B0C9-114639AB4992}" type="datetimeFigureOut">
              <a:rPr lang="en-US"/>
              <a:t>2/16/26</a:t>
            </a:fld>
            <a:endParaRPr lang="en-US"/>
          </a:p>
        </p:txBody>
      </p:sp>
      <p:sp>
        <p:nvSpPr>
          <p:cNvPr id="96296480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40324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3B3962-8CA9-8D46-9A7C-694CCFDF676A}" type="slidenum">
              <a:rPr lang="en-US"/>
              <a:t>‹#›</a:t>
            </a:fld>
            <a:endParaRPr lang="en-US"/>
          </a:p>
        </p:txBody>
      </p:sp>
      <p:sp>
        <p:nvSpPr>
          <p:cNvPr id="70842280" name="Rectangle 7"/>
          <p:cNvSpPr/>
          <p:nvPr userDrawn="1"/>
        </p:nvSpPr>
        <p:spPr bwMode="auto"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75355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2359991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18951338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8679566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3EE530-FD04-3147-B0C9-114639AB4992}" type="datetimeFigureOut">
              <a:rPr lang="en-US"/>
              <a:t>2/16/26</a:t>
            </a:fld>
            <a:endParaRPr lang="en-US"/>
          </a:p>
        </p:txBody>
      </p:sp>
      <p:sp>
        <p:nvSpPr>
          <p:cNvPr id="2914832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763364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3B3962-8CA9-8D46-9A7C-694CCFDF676A}" type="slidenum">
              <a:rPr lang="en-US"/>
              <a:t>‹#›</a:t>
            </a:fld>
            <a:endParaRPr lang="en-US"/>
          </a:p>
        </p:txBody>
      </p:sp>
      <p:sp>
        <p:nvSpPr>
          <p:cNvPr id="1740155911" name="Rectangle 7"/>
          <p:cNvSpPr/>
          <p:nvPr userDrawn="1"/>
        </p:nvSpPr>
        <p:spPr bwMode="auto"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027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999754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106573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3EE530-FD04-3147-B0C9-114639AB4992}" type="datetimeFigureOut">
              <a:rPr lang="en-US"/>
              <a:t>2/16/26</a:t>
            </a:fld>
            <a:endParaRPr lang="en-US"/>
          </a:p>
        </p:txBody>
      </p:sp>
      <p:sp>
        <p:nvSpPr>
          <p:cNvPr id="2222003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8402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3B3962-8CA9-8D46-9A7C-694CCFDF676A}" type="slidenum">
              <a:rPr lang="en-US"/>
              <a:t>‹#›</a:t>
            </a:fld>
            <a:endParaRPr lang="en-US"/>
          </a:p>
        </p:txBody>
      </p:sp>
      <p:sp>
        <p:nvSpPr>
          <p:cNvPr id="722000313" name="Rectangle 6"/>
          <p:cNvSpPr/>
          <p:nvPr userDrawn="1"/>
        </p:nvSpPr>
        <p:spPr bwMode="auto"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98835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6180542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592726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3EE530-FD04-3147-B0C9-114639AB4992}" type="datetimeFigureOut">
              <a:rPr lang="en-US"/>
              <a:t>2/16/26</a:t>
            </a:fld>
            <a:endParaRPr lang="en-US"/>
          </a:p>
        </p:txBody>
      </p:sp>
      <p:sp>
        <p:nvSpPr>
          <p:cNvPr id="18889615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4608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3B3962-8CA9-8D46-9A7C-694CCFDF676A}" type="slidenum">
              <a:rPr lang="en-US"/>
              <a:t>‹#›</a:t>
            </a:fld>
            <a:endParaRPr lang="en-US"/>
          </a:p>
        </p:txBody>
      </p:sp>
      <p:sp>
        <p:nvSpPr>
          <p:cNvPr id="1913068435" name="Rectangle 6"/>
          <p:cNvSpPr/>
          <p:nvPr userDrawn="1"/>
        </p:nvSpPr>
        <p:spPr bwMode="auto"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31230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539665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1390944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873EE530-FD04-3147-B0C9-114639AB4992}" type="datetimeFigureOut">
              <a:rPr lang="en-US"/>
              <a:t>2/16/26</a:t>
            </a:fld>
            <a:endParaRPr lang="en-US"/>
          </a:p>
        </p:txBody>
      </p:sp>
      <p:sp>
        <p:nvSpPr>
          <p:cNvPr id="136767435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595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353B3962-8CA9-8D46-9A7C-694CCFDF676A}" type="slidenum">
              <a:rPr lang="en-US"/>
              <a:t>‹#›</a:t>
            </a:fld>
            <a:endParaRPr lang="en-US"/>
          </a:p>
        </p:txBody>
      </p:sp>
      <p:sp>
        <p:nvSpPr>
          <p:cNvPr id="1472785849" name="Rectangle 6"/>
          <p:cNvSpPr/>
          <p:nvPr userDrawn="1"/>
        </p:nvSpPr>
        <p:spPr bwMode="auto"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atatracker.ietf.org/doc/html/rfc1654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internetsociety.org/blog/2018/04/amazons-route-53-bgp-hijack/" TargetMode="External"/><Relationship Id="rId4" Type="http://schemas.openxmlformats.org/officeDocument/2006/relationships/hyperlink" Target="https://www.zdnet.com/article/russian-telco-hijacks-internet-traffic-for-google-aws-cloudflare-and-others/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thousandeyes.com/blog/rostelecom-route-leak-targets-ecommerce-services" TargetMode="Externa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ietf.org/proceedings/interim-2014-sidr-01/slides/slides-interim-2014-sidr-1-0.pdf" TargetMode="External"/><Relationship Id="rId4" Type="http://schemas.openxmlformats.org/officeDocument/2006/relationships/hyperlink" Target="https://www.youtube.com/watch?v=Pxsk5stzJ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57843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CSC 4780 – Routing Security</a:t>
            </a:r>
            <a:endParaRPr/>
          </a:p>
        </p:txBody>
      </p:sp>
      <p:sp>
        <p:nvSpPr>
          <p:cNvPr id="125301143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Susmit Shannigrahi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997013" name="Google Shape;201;p25"/>
          <p:cNvSpPr txBox="1">
            <a:spLocks noGrp="1"/>
          </p:cNvSpPr>
          <p:nvPr>
            <p:ph type="title"/>
          </p:nvPr>
        </p:nvSpPr>
        <p:spPr bwMode="auto">
          <a:xfrm>
            <a:off x="628650" y="273844"/>
            <a:ext cx="7886800" cy="9944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defRPr/>
            </a:pPr>
            <a:r>
              <a:rPr lang="en"/>
              <a:t>BGP is an OLD protocol</a:t>
            </a:r>
            <a:endParaRPr/>
          </a:p>
        </p:txBody>
      </p:sp>
      <p:sp>
        <p:nvSpPr>
          <p:cNvPr id="724305868" name="Google Shape;202;p25"/>
          <p:cNvSpPr txBox="1">
            <a:spLocks noGrp="1"/>
          </p:cNvSpPr>
          <p:nvPr>
            <p:ph type="body" idx="1"/>
          </p:nvPr>
        </p:nvSpPr>
        <p:spPr bwMode="auto">
          <a:xfrm>
            <a:off x="628650" y="1369218"/>
            <a:ext cx="7886800" cy="29976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t" anchorCtr="0">
            <a:noAutofit/>
          </a:bodyPr>
          <a:lstStyle/>
          <a:p>
            <a:pPr marL="457189" indent="-338658">
              <a:spcBef>
                <a:spcPts val="1067"/>
              </a:spcBef>
              <a:buSzPts val="1400"/>
              <a:buChar char="●"/>
              <a:defRPr/>
            </a:pPr>
            <a:r>
              <a:rPr lang="en"/>
              <a:t>Has been in use since 1994</a:t>
            </a:r>
            <a:endParaRPr/>
          </a:p>
          <a:p>
            <a:pPr marL="914377" lvl="1" indent="-338658">
              <a:spcBef>
                <a:spcPts val="0"/>
              </a:spcBef>
              <a:buSzPts val="1400"/>
              <a:buChar char="○"/>
              <a:defRPr/>
            </a:pPr>
            <a:r>
              <a:rPr lang="en" u="sng">
                <a:hlinkClick r:id="rId3" tooltip=""/>
              </a:rPr>
              <a:t>https://datatracker.ietf.org/doc/html/rfc1654</a:t>
            </a:r>
            <a:br>
              <a:rPr lang="en"/>
            </a:br>
            <a:endParaRPr/>
          </a:p>
          <a:p>
            <a:pPr marL="457189" indent="-338658">
              <a:spcBef>
                <a:spcPts val="0"/>
              </a:spcBef>
              <a:buSzPts val="1400"/>
              <a:buChar char="●"/>
              <a:defRPr/>
            </a:pPr>
            <a:r>
              <a:rPr lang="en"/>
              <a:t>Security was not a concern and not baked into the protocol</a:t>
            </a:r>
            <a:br>
              <a:rPr lang="en"/>
            </a:br>
            <a:endParaRPr/>
          </a:p>
          <a:p>
            <a:pPr marL="457189" indent="-338658">
              <a:spcBef>
                <a:spcPts val="0"/>
              </a:spcBef>
              <a:buSzPts val="1400"/>
              <a:buChar char="●"/>
              <a:defRPr/>
            </a:pPr>
            <a:r>
              <a:rPr lang="en"/>
              <a:t>Believes (without help) all advertisements from peers with no checks.</a:t>
            </a:r>
            <a:br>
              <a:rPr lang="en"/>
            </a:br>
            <a:endParaRPr/>
          </a:p>
          <a:p>
            <a:pPr marL="457189" indent="-338658">
              <a:spcBef>
                <a:spcPts val="0"/>
              </a:spcBef>
              <a:buSzPts val="1400"/>
              <a:buChar char="●"/>
              <a:defRPr/>
            </a:pPr>
            <a:r>
              <a:rPr lang="en"/>
              <a:t>It also by default can re-advertise to other peers what it learns.</a:t>
            </a:r>
            <a:endParaRPr/>
          </a:p>
        </p:txBody>
      </p:sp>
      <p:sp>
        <p:nvSpPr>
          <p:cNvPr id="1873664449" name="Google Shape;203;p25"/>
          <p:cNvSpPr txBox="1">
            <a:spLocks noGrp="1"/>
          </p:cNvSpPr>
          <p:nvPr>
            <p:ph type="sldNum" idx="12"/>
          </p:nvPr>
        </p:nvSpPr>
        <p:spPr bwMode="auto">
          <a:xfrm>
            <a:off x="6457951" y="4767263"/>
            <a:ext cx="2057600" cy="2740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Clr>
                <a:srgbClr val="000000"/>
              </a:buClr>
              <a:buSzPts val="900"/>
              <a:defRPr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229582" name="PlaceHolder 1"/>
          <p:cNvSpPr>
            <a:spLocks noGrp="1"/>
          </p:cNvSpPr>
          <p:nvPr>
            <p:ph type="title"/>
          </p:nvPr>
        </p:nvSpPr>
        <p:spPr bwMode="auto">
          <a:xfrm>
            <a:off x="814320" y="-615240"/>
            <a:ext cx="11042640" cy="143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16000" indent="0">
              <a:buNone/>
              <a:defRPr/>
            </a:pPr>
            <a:r>
              <a:rPr lang="en-US" sz="3200" b="1" strike="noStrike" spc="-1">
                <a:solidFill>
                  <a:srgbClr val="000000"/>
                </a:solidFill>
                <a:latin typeface="Montserrat"/>
              </a:rPr>
              <a:t>BGP: Path vector protocol</a:t>
            </a:r>
            <a:endParaRPr lang="en-US" sz="3200" b="0" strike="noStrike" spc="-1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1204002437" name="Freeform 6550"/>
          <p:cNvSpPr/>
          <p:nvPr/>
        </p:nvSpPr>
        <p:spPr bwMode="auto">
          <a:xfrm>
            <a:off x="8229600" y="2194560"/>
            <a:ext cx="2651760" cy="1554480"/>
          </a:xfrm>
          <a:custGeom>
            <a:avLst/>
            <a:gdLst>
              <a:gd name="textAreaLeft" fmla="*/ 368280 w 2651760"/>
              <a:gd name="textAreaRight" fmla="*/ 2100600 w 2651760"/>
              <a:gd name="textAreaTop" fmla="*/ 238680 h 1554480"/>
              <a:gd name="textAreaBottom" fmla="*/ 1247400 h 155448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 stroke="1" extrusionOk="0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 stroke="1" extrusionOk="0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 stroke="1" extrusionOk="0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 stroke="1" extrusionOk="0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 stroke="1" extrusionOk="0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 stroke="1" extrusionOk="0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 stroke="1" extrusionOk="0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 stroke="1" extrusionOk="0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 stroke="1" extrusionOk="0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 stroke="1" extrusionOk="0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 stroke="1" extrusionOk="0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noFill/>
          <a:ln w="54720">
            <a:solidFill>
              <a:srgbClr val="3465A4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4065474" name="Freeform 6551"/>
          <p:cNvSpPr/>
          <p:nvPr/>
        </p:nvSpPr>
        <p:spPr bwMode="auto">
          <a:xfrm>
            <a:off x="5212080" y="2468880"/>
            <a:ext cx="2651760" cy="1554480"/>
          </a:xfrm>
          <a:custGeom>
            <a:avLst/>
            <a:gdLst>
              <a:gd name="textAreaLeft" fmla="*/ 368280 w 2651760"/>
              <a:gd name="textAreaRight" fmla="*/ 2100600 w 2651760"/>
              <a:gd name="textAreaTop" fmla="*/ 238680 h 1554480"/>
              <a:gd name="textAreaBottom" fmla="*/ 1247400 h 155448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 stroke="1" extrusionOk="0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 stroke="1" extrusionOk="0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 stroke="1" extrusionOk="0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 stroke="1" extrusionOk="0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 stroke="1" extrusionOk="0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 stroke="1" extrusionOk="0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 stroke="1" extrusionOk="0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 stroke="1" extrusionOk="0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 stroke="1" extrusionOk="0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 stroke="1" extrusionOk="0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 stroke="1" extrusionOk="0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noFill/>
          <a:ln w="54720">
            <a:solidFill>
              <a:srgbClr val="3465A4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037046" name="Freeform 6552"/>
          <p:cNvSpPr/>
          <p:nvPr/>
        </p:nvSpPr>
        <p:spPr bwMode="auto">
          <a:xfrm>
            <a:off x="2286000" y="4023360"/>
            <a:ext cx="2651760" cy="1554480"/>
          </a:xfrm>
          <a:custGeom>
            <a:avLst/>
            <a:gdLst>
              <a:gd name="textAreaLeft" fmla="*/ 368280 w 2651760"/>
              <a:gd name="textAreaRight" fmla="*/ 2100600 w 2651760"/>
              <a:gd name="textAreaTop" fmla="*/ 238680 h 1554480"/>
              <a:gd name="textAreaBottom" fmla="*/ 1247400 h 155448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 stroke="1" extrusionOk="0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 stroke="1" extrusionOk="0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 stroke="1" extrusionOk="0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 stroke="1" extrusionOk="0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 stroke="1" extrusionOk="0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 stroke="1" extrusionOk="0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 stroke="1" extrusionOk="0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 stroke="1" extrusionOk="0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 stroke="1" extrusionOk="0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 stroke="1" extrusionOk="0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 stroke="1" extrusionOk="0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noFill/>
          <a:ln w="54720">
            <a:solidFill>
              <a:srgbClr val="3465A4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1279844" name="Freeform 6553"/>
          <p:cNvSpPr/>
          <p:nvPr/>
        </p:nvSpPr>
        <p:spPr bwMode="auto">
          <a:xfrm>
            <a:off x="1463040" y="1920240"/>
            <a:ext cx="2651760" cy="1554480"/>
          </a:xfrm>
          <a:custGeom>
            <a:avLst/>
            <a:gdLst>
              <a:gd name="textAreaLeft" fmla="*/ 368280 w 2651760"/>
              <a:gd name="textAreaRight" fmla="*/ 2100600 w 2651760"/>
              <a:gd name="textAreaTop" fmla="*/ 238680 h 1554480"/>
              <a:gd name="textAreaBottom" fmla="*/ 1247400 h 1554480"/>
            </a:gdLst>
            <a:ahLst/>
            <a:cxnLst/>
            <a:rect l="textAreaLeft" t="textAreaTop" r="textAreaRight" b="textAreaBottom"/>
            <a:pathLst>
              <a:path w="21600" h="21600" fill="norm" stroke="1" extrusionOk="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 stroke="1" extrusionOk="0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 stroke="1" extrusionOk="0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 stroke="1" extrusionOk="0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 stroke="1" extrusionOk="0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 stroke="1" extrusionOk="0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 stroke="1" extrusionOk="0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 stroke="1" extrusionOk="0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 stroke="1" extrusionOk="0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 stroke="1" extrusionOk="0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 stroke="1" extrusionOk="0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 stroke="1" extrusionOk="0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noFill/>
          <a:ln w="54720">
            <a:solidFill>
              <a:srgbClr val="3465A4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117337" name="TextBox 6554"/>
          <p:cNvSpPr txBox="1"/>
          <p:nvPr/>
        </p:nvSpPr>
        <p:spPr bwMode="auto">
          <a:xfrm>
            <a:off x="9235440" y="2651760"/>
            <a:ext cx="930600" cy="346320"/>
          </a:xfrm>
          <a:prstGeom prst="rect">
            <a:avLst/>
          </a:prstGeom>
          <a:noFill/>
          <a:ln w="54720">
            <a:noFill/>
          </a:ln>
        </p:spPr>
        <p:txBody>
          <a:bodyPr wrap="none" lIns="90000" tIns="45000" rIns="90000" bIns="45000" anchor="t">
            <a:noAutofit/>
          </a:bodyPr>
          <a:lstStyle/>
          <a:p>
            <a:pPr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AS 223</a:t>
            </a:r>
            <a:endParaRPr/>
          </a:p>
        </p:txBody>
      </p:sp>
      <p:sp>
        <p:nvSpPr>
          <p:cNvPr id="1614363920" name="TextBox 6555"/>
          <p:cNvSpPr txBox="1"/>
          <p:nvPr/>
        </p:nvSpPr>
        <p:spPr bwMode="auto">
          <a:xfrm>
            <a:off x="5943600" y="3017519"/>
            <a:ext cx="930600" cy="346320"/>
          </a:xfrm>
          <a:prstGeom prst="rect">
            <a:avLst/>
          </a:prstGeom>
          <a:noFill/>
          <a:ln w="54720">
            <a:noFill/>
          </a:ln>
        </p:spPr>
        <p:txBody>
          <a:bodyPr wrap="none" lIns="90000" tIns="45000" rIns="90000" bIns="45000" anchor="t">
            <a:noAutofit/>
          </a:bodyPr>
          <a:lstStyle/>
          <a:p>
            <a:pPr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AS 225</a:t>
            </a:r>
            <a:endParaRPr/>
          </a:p>
        </p:txBody>
      </p:sp>
      <p:sp>
        <p:nvSpPr>
          <p:cNvPr id="1917738171" name="TextBox 6556"/>
          <p:cNvSpPr txBox="1"/>
          <p:nvPr/>
        </p:nvSpPr>
        <p:spPr bwMode="auto">
          <a:xfrm>
            <a:off x="3291840" y="4500000"/>
            <a:ext cx="930600" cy="346320"/>
          </a:xfrm>
          <a:prstGeom prst="rect">
            <a:avLst/>
          </a:prstGeom>
          <a:noFill/>
          <a:ln w="54720">
            <a:noFill/>
          </a:ln>
        </p:spPr>
        <p:txBody>
          <a:bodyPr wrap="none" lIns="90000" tIns="45000" rIns="90000" bIns="45000" anchor="t">
            <a:noAutofit/>
          </a:bodyPr>
          <a:lstStyle/>
          <a:p>
            <a:pPr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AS 245</a:t>
            </a:r>
            <a:endParaRPr/>
          </a:p>
        </p:txBody>
      </p:sp>
      <p:sp>
        <p:nvSpPr>
          <p:cNvPr id="1006487133" name="TextBox 6557"/>
          <p:cNvSpPr txBox="1"/>
          <p:nvPr/>
        </p:nvSpPr>
        <p:spPr bwMode="auto">
          <a:xfrm>
            <a:off x="2179800" y="2377440"/>
            <a:ext cx="1056960" cy="346320"/>
          </a:xfrm>
          <a:prstGeom prst="rect">
            <a:avLst/>
          </a:prstGeom>
          <a:noFill/>
          <a:ln w="54720">
            <a:noFill/>
          </a:ln>
        </p:spPr>
        <p:txBody>
          <a:bodyPr wrap="none" lIns="90000" tIns="45000" rIns="90000" bIns="45000" anchor="t">
            <a:noAutofit/>
          </a:bodyPr>
          <a:lstStyle/>
          <a:p>
            <a:pPr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AS 7770</a:t>
            </a:r>
            <a:endParaRPr/>
          </a:p>
        </p:txBody>
      </p:sp>
      <p:sp>
        <p:nvSpPr>
          <p:cNvPr id="352583908" name="Freeform 6558"/>
          <p:cNvSpPr/>
          <p:nvPr/>
        </p:nvSpPr>
        <p:spPr bwMode="auto">
          <a:xfrm>
            <a:off x="7772400" y="3200400"/>
            <a:ext cx="548640" cy="0"/>
          </a:xfrm>
          <a:custGeom>
            <a:avLst/>
            <a:gdLst/>
            <a:ahLst/>
            <a:cxnLst/>
            <a:rect l="0" t="0" r="r" b="b"/>
            <a:pathLst>
              <a:path w="1524" fill="none" stroke="1" extrusionOk="0">
                <a:moveTo>
                  <a:pt x="1524" y="0"/>
                </a:moveTo>
                <a:lnTo>
                  <a:pt x="0" y="0"/>
                </a:lnTo>
              </a:path>
            </a:pathLst>
          </a:custGeom>
          <a:ln w="54720">
            <a:solidFill>
              <a:srgbClr val="000000"/>
            </a:solidFill>
            <a:round/>
            <a:tailEnd type="triangle" w="med" len="med"/>
          </a:ln>
        </p:spPr>
        <p:txBody>
          <a:bodyPr lIns="90000" tIns="-45000" rIns="90000" bIns="-4500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1402004" name="Rectangle 6559"/>
          <p:cNvSpPr/>
          <p:nvPr/>
        </p:nvSpPr>
        <p:spPr bwMode="auto">
          <a:xfrm>
            <a:off x="9052560" y="4023360"/>
            <a:ext cx="2103120" cy="54864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Path: AS 223</a:t>
            </a:r>
            <a:endParaRPr/>
          </a:p>
        </p:txBody>
      </p:sp>
      <p:sp>
        <p:nvSpPr>
          <p:cNvPr id="114562610" name="Rectangle 6560"/>
          <p:cNvSpPr/>
          <p:nvPr/>
        </p:nvSpPr>
        <p:spPr bwMode="auto">
          <a:xfrm>
            <a:off x="5577840" y="4297680"/>
            <a:ext cx="2377440" cy="54864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Path: AS 223, AS 225</a:t>
            </a:r>
            <a:endParaRPr/>
          </a:p>
        </p:txBody>
      </p:sp>
      <p:sp>
        <p:nvSpPr>
          <p:cNvPr id="403849775" name="Rectangle 6561"/>
          <p:cNvSpPr/>
          <p:nvPr/>
        </p:nvSpPr>
        <p:spPr bwMode="auto">
          <a:xfrm>
            <a:off x="1737360" y="5852160"/>
            <a:ext cx="3657600" cy="54864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Path: AS 223, AS 225, AS 245</a:t>
            </a:r>
            <a:endParaRPr/>
          </a:p>
        </p:txBody>
      </p:sp>
      <p:sp>
        <p:nvSpPr>
          <p:cNvPr id="194174587" name="Freeform 6562"/>
          <p:cNvSpPr/>
          <p:nvPr/>
        </p:nvSpPr>
        <p:spPr bwMode="auto">
          <a:xfrm>
            <a:off x="4937760" y="3749040"/>
            <a:ext cx="548640" cy="640080"/>
          </a:xfrm>
          <a:custGeom>
            <a:avLst/>
            <a:gdLst/>
            <a:ahLst/>
            <a:cxnLst/>
            <a:rect l="0" t="0" r="r" b="b"/>
            <a:pathLst>
              <a:path w="1524" h="1778" fill="none" stroke="1" extrusionOk="0">
                <a:moveTo>
                  <a:pt x="1524" y="0"/>
                </a:moveTo>
                <a:lnTo>
                  <a:pt x="0" y="1778"/>
                </a:lnTo>
              </a:path>
            </a:pathLst>
          </a:custGeom>
          <a:ln w="54720">
            <a:solidFill>
              <a:srgbClr val="000000"/>
            </a:solidFill>
            <a:round/>
            <a:tailEnd type="triangle" w="med" len="med"/>
          </a:ln>
        </p:spPr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917688" name="Freeform 6563"/>
          <p:cNvSpPr/>
          <p:nvPr/>
        </p:nvSpPr>
        <p:spPr bwMode="auto">
          <a:xfrm>
            <a:off x="1920240" y="3383280"/>
            <a:ext cx="457200" cy="1188720"/>
          </a:xfrm>
          <a:custGeom>
            <a:avLst/>
            <a:gdLst/>
            <a:ahLst/>
            <a:cxnLst/>
            <a:rect l="0" t="0" r="r" b="b"/>
            <a:pathLst>
              <a:path w="1270" h="3302" fill="none" stroke="1" extrusionOk="0">
                <a:moveTo>
                  <a:pt x="1270" y="3302"/>
                </a:moveTo>
                <a:lnTo>
                  <a:pt x="0" y="0"/>
                </a:lnTo>
              </a:path>
            </a:pathLst>
          </a:custGeom>
          <a:ln w="54720">
            <a:solidFill>
              <a:srgbClr val="000000"/>
            </a:solidFill>
            <a:round/>
            <a:tailEnd type="triangle" w="med" len="med"/>
          </a:ln>
        </p:spPr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749569" name="Rectangle 6564"/>
          <p:cNvSpPr/>
          <p:nvPr/>
        </p:nvSpPr>
        <p:spPr bwMode="auto">
          <a:xfrm>
            <a:off x="822960" y="1463040"/>
            <a:ext cx="4206240" cy="54864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Path: AS 223, AS 225, AS 245, AS 7770</a:t>
            </a:r>
            <a:endParaRPr/>
          </a:p>
        </p:txBody>
      </p:sp>
      <p:sp>
        <p:nvSpPr>
          <p:cNvPr id="1037231832" name="Freeform 6565"/>
          <p:cNvSpPr/>
          <p:nvPr/>
        </p:nvSpPr>
        <p:spPr bwMode="auto">
          <a:xfrm>
            <a:off x="4114800" y="2377440"/>
            <a:ext cx="1371600" cy="91440"/>
          </a:xfrm>
          <a:custGeom>
            <a:avLst/>
            <a:gdLst/>
            <a:ahLst/>
            <a:cxnLst/>
            <a:rect l="0" t="0" r="r" b="b"/>
            <a:pathLst>
              <a:path w="3810" h="254" fill="none" stroke="1" extrusionOk="0">
                <a:moveTo>
                  <a:pt x="0" y="0"/>
                </a:moveTo>
                <a:lnTo>
                  <a:pt x="3810" y="254"/>
                </a:lnTo>
              </a:path>
            </a:pathLst>
          </a:custGeom>
          <a:ln w="54720">
            <a:solidFill>
              <a:srgbClr val="000000"/>
            </a:solidFill>
            <a:round/>
            <a:tailEnd type="triangle" w="med" len="med"/>
          </a:ln>
        </p:spPr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1562571" name="Rectangle 6566"/>
          <p:cNvSpPr/>
          <p:nvPr/>
        </p:nvSpPr>
        <p:spPr bwMode="auto">
          <a:xfrm>
            <a:off x="5943600" y="1554480"/>
            <a:ext cx="4206240" cy="548640"/>
          </a:xfrm>
          <a:prstGeom prst="rect">
            <a:avLst/>
          </a:prstGeom>
          <a:noFill/>
          <a:ln w="54720">
            <a:solidFill>
              <a:srgbClr val="3465A4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Path: AS 223, </a:t>
            </a:r>
            <a:r>
              <a:rPr lang="en-US" sz="1800" b="1" strike="noStrike" spc="-1">
                <a:solidFill>
                  <a:srgbClr val="CE181E"/>
                </a:solidFill>
                <a:latin typeface="Arial"/>
              </a:rPr>
              <a:t>AS 225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, AS 245, AS 7770</a:t>
            </a:r>
            <a:endParaRPr/>
          </a:p>
        </p:txBody>
      </p:sp>
      <p:sp>
        <p:nvSpPr>
          <p:cNvPr id="699183834" name="TextBox 6567"/>
          <p:cNvSpPr txBox="1"/>
          <p:nvPr/>
        </p:nvSpPr>
        <p:spPr bwMode="auto">
          <a:xfrm>
            <a:off x="7955280" y="1188720"/>
            <a:ext cx="752400" cy="346320"/>
          </a:xfrm>
          <a:prstGeom prst="rect">
            <a:avLst/>
          </a:prstGeom>
          <a:noFill/>
          <a:ln w="54720">
            <a:noFill/>
          </a:ln>
        </p:spPr>
        <p:txBody>
          <a:bodyPr wrap="none" lIns="90000" tIns="45000" rIns="90000" bIns="45000" anchor="t">
            <a:noAutofit/>
          </a:bodyPr>
          <a:lstStyle/>
          <a:p>
            <a:pPr>
              <a:defRPr/>
            </a:pPr>
            <a:r>
              <a:rPr lang="en-US" sz="1800" b="0" strike="noStrike" spc="-1">
                <a:solidFill>
                  <a:srgbClr val="CE181E"/>
                </a:solidFill>
                <a:latin typeface="Arial"/>
              </a:rPr>
              <a:t>Loop!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58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40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6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7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84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91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74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23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56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18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544329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 b="1">
                <a:latin typeface="Avenir Book"/>
                <a:cs typeface="Avenir Book"/>
              </a:rPr>
              <a:t>Internet </a:t>
            </a:r>
            <a:r>
              <a:rPr lang="it-IT" b="1">
                <a:latin typeface="Avenir Book"/>
                <a:cs typeface="Avenir Book"/>
              </a:rPr>
              <a:t>routing</a:t>
            </a:r>
            <a:endParaRPr lang="it-IT" b="1">
              <a:latin typeface="Avenir Book"/>
              <a:cs typeface="Avenir Book"/>
            </a:endParaRPr>
          </a:p>
        </p:txBody>
      </p:sp>
      <p:sp>
        <p:nvSpPr>
          <p:cNvPr id="680999495" name="Segnaposto contenuto 2"/>
          <p:cNvSpPr>
            <a:spLocks noGrp="1"/>
          </p:cNvSpPr>
          <p:nvPr>
            <p:ph idx="1"/>
          </p:nvPr>
        </p:nvSpPr>
        <p:spPr bwMode="auto">
          <a:xfrm>
            <a:off x="1646395" y="1468307"/>
            <a:ext cx="8229600" cy="1424224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it-IT" sz="1800">
                <a:latin typeface="Avenir Book"/>
                <a:cs typeface="Avenir Book"/>
              </a:rPr>
              <a:t>What</a:t>
            </a:r>
            <a:r>
              <a:rPr lang="it-IT" sz="1800">
                <a:latin typeface="Avenir Book"/>
                <a:cs typeface="Avenir Book"/>
              </a:rPr>
              <a:t> </a:t>
            </a:r>
            <a:r>
              <a:rPr lang="it-IT" sz="1800">
                <a:latin typeface="Avenir Book"/>
                <a:cs typeface="Avenir Book"/>
              </a:rPr>
              <a:t>we</a:t>
            </a:r>
            <a:r>
              <a:rPr lang="it-IT" sz="1800">
                <a:latin typeface="Avenir Book"/>
                <a:cs typeface="Avenir Book"/>
              </a:rPr>
              <a:t> call “The Internet” </a:t>
            </a:r>
            <a:r>
              <a:rPr lang="it-IT" sz="1800">
                <a:latin typeface="Avenir Book"/>
                <a:cs typeface="Avenir Book"/>
              </a:rPr>
              <a:t>is</a:t>
            </a:r>
            <a:r>
              <a:rPr lang="it-IT" sz="1800">
                <a:latin typeface="Avenir Book"/>
                <a:cs typeface="Avenir Book"/>
              </a:rPr>
              <a:t> </a:t>
            </a:r>
            <a:r>
              <a:rPr lang="it-IT" sz="1800">
                <a:latin typeface="Avenir Book"/>
                <a:cs typeface="Avenir Book"/>
              </a:rPr>
              <a:t>actually</a:t>
            </a:r>
            <a:r>
              <a:rPr lang="it-IT" sz="1800">
                <a:latin typeface="Avenir Book"/>
                <a:cs typeface="Avenir Book"/>
              </a:rPr>
              <a:t> an </a:t>
            </a:r>
            <a:r>
              <a:rPr lang="it-IT" sz="1800">
                <a:latin typeface="Avenir Book"/>
                <a:cs typeface="Avenir Book"/>
              </a:rPr>
              <a:t>interconnection</a:t>
            </a:r>
            <a:r>
              <a:rPr lang="it-IT" sz="1800">
                <a:latin typeface="Avenir Book"/>
                <a:cs typeface="Avenir Book"/>
              </a:rPr>
              <a:t> of </a:t>
            </a:r>
            <a:r>
              <a:rPr lang="it-IT" sz="1800">
                <a:latin typeface="Avenir Book"/>
                <a:cs typeface="Avenir Book"/>
              </a:rPr>
              <a:t>autonomous</a:t>
            </a:r>
            <a:r>
              <a:rPr lang="it-IT" sz="1800">
                <a:latin typeface="Avenir Book"/>
                <a:cs typeface="Avenir Book"/>
              </a:rPr>
              <a:t>, </a:t>
            </a:r>
            <a:r>
              <a:rPr lang="it-IT" sz="1800">
                <a:latin typeface="Avenir Book"/>
                <a:cs typeface="Avenir Book"/>
              </a:rPr>
              <a:t>independent</a:t>
            </a:r>
            <a:r>
              <a:rPr lang="it-IT" sz="1800">
                <a:latin typeface="Avenir Book"/>
                <a:cs typeface="Avenir Book"/>
              </a:rPr>
              <a:t> networks </a:t>
            </a:r>
            <a:r>
              <a:rPr lang="it-IT" sz="1800">
                <a:latin typeface="Avenir Book"/>
                <a:cs typeface="Avenir Book"/>
              </a:rPr>
              <a:t>which</a:t>
            </a:r>
            <a:r>
              <a:rPr lang="it-IT" sz="1800">
                <a:latin typeface="Avenir Book"/>
                <a:cs typeface="Avenir Book"/>
              </a:rPr>
              <a:t> use BGP to </a:t>
            </a:r>
            <a:r>
              <a:rPr lang="it-IT" sz="1800">
                <a:latin typeface="Avenir Book"/>
                <a:cs typeface="Avenir Book"/>
              </a:rPr>
              <a:t>exchange</a:t>
            </a:r>
            <a:r>
              <a:rPr lang="it-IT" sz="1800">
                <a:latin typeface="Avenir Book"/>
                <a:cs typeface="Avenir Book"/>
              </a:rPr>
              <a:t> </a:t>
            </a:r>
            <a:r>
              <a:rPr lang="it-IT" sz="1800">
                <a:latin typeface="Avenir Book"/>
                <a:cs typeface="Avenir Book"/>
              </a:rPr>
              <a:t>routing</a:t>
            </a:r>
            <a:r>
              <a:rPr lang="it-IT" sz="1800">
                <a:latin typeface="Avenir Book"/>
                <a:cs typeface="Avenir Book"/>
              </a:rPr>
              <a:t> information</a:t>
            </a:r>
            <a:endParaRPr/>
          </a:p>
          <a:p>
            <a:pPr lvl="1" algn="just">
              <a:defRPr/>
            </a:pPr>
            <a:r>
              <a:rPr lang="it-IT" sz="1600">
                <a:latin typeface="Avenir Book"/>
                <a:cs typeface="Avenir Book"/>
              </a:rPr>
              <a:t>BGPv4, 1994</a:t>
            </a:r>
            <a:endParaRPr/>
          </a:p>
          <a:p>
            <a:pPr lvl="1" algn="just">
              <a:defRPr/>
            </a:pPr>
            <a:r>
              <a:rPr lang="it-IT" sz="1600">
                <a:latin typeface="Avenir Book"/>
                <a:cs typeface="Avenir Book"/>
              </a:rPr>
              <a:t>No </a:t>
            </a:r>
            <a:r>
              <a:rPr lang="it-IT" sz="1600">
                <a:latin typeface="Avenir Book"/>
                <a:cs typeface="Avenir Book"/>
              </a:rPr>
              <a:t>built</a:t>
            </a:r>
            <a:r>
              <a:rPr lang="it-IT" sz="1600">
                <a:latin typeface="Avenir Book"/>
                <a:cs typeface="Avenir Book"/>
              </a:rPr>
              <a:t>-in security in BGP </a:t>
            </a:r>
            <a:r>
              <a:rPr lang="it-IT" sz="1600">
                <a:latin typeface="Avenir Book"/>
                <a:cs typeface="Avenir Book"/>
              </a:rPr>
              <a:t>protocol</a:t>
            </a:r>
            <a:endParaRPr lang="it-IT" sz="1600">
              <a:latin typeface="Avenir Book"/>
              <a:cs typeface="Avenir Book"/>
            </a:endParaRPr>
          </a:p>
        </p:txBody>
      </p:sp>
      <p:grpSp>
        <p:nvGrpSpPr>
          <p:cNvPr id="278310816" name="Gruppo 4" descr="Internet routing"/>
          <p:cNvGrpSpPr/>
          <p:nvPr/>
        </p:nvGrpSpPr>
        <p:grpSpPr bwMode="auto">
          <a:xfrm>
            <a:off x="2897976" y="3670420"/>
            <a:ext cx="5495014" cy="2306395"/>
            <a:chOff x="1409253" y="4340625"/>
            <a:chExt cx="5495014" cy="2306395"/>
          </a:xfrm>
        </p:grpSpPr>
        <p:sp>
          <p:nvSpPr>
            <p:cNvPr id="4" name="Nuvola 3"/>
            <p:cNvSpPr/>
            <p:nvPr/>
          </p:nvSpPr>
          <p:spPr bwMode="auto">
            <a:xfrm>
              <a:off x="1409253" y="5897663"/>
              <a:ext cx="1730363" cy="722231"/>
            </a:xfrm>
            <a:prstGeom prst="cloud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it-IT"/>
                <a:t>AS 1</a:t>
              </a:r>
              <a:endParaRPr/>
            </a:p>
            <a:p>
              <a:pPr algn="ctr">
                <a:defRPr/>
              </a:pPr>
              <a:r>
                <a:rPr lang="it-IT"/>
                <a:t>193.x.x.x</a:t>
              </a:r>
              <a:endParaRPr/>
            </a:p>
          </p:txBody>
        </p:sp>
        <p:sp>
          <p:nvSpPr>
            <p:cNvPr id="6" name="Nuvola 5"/>
            <p:cNvSpPr/>
            <p:nvPr/>
          </p:nvSpPr>
          <p:spPr bwMode="auto">
            <a:xfrm>
              <a:off x="5173904" y="5924789"/>
              <a:ext cx="1730363" cy="722231"/>
            </a:xfrm>
            <a:prstGeom prst="cloud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it-IT"/>
                <a:t>AS 2</a:t>
              </a:r>
              <a:endParaRPr/>
            </a:p>
            <a:p>
              <a:pPr algn="ctr">
                <a:defRPr/>
              </a:pPr>
              <a:r>
                <a:rPr lang="it-IT"/>
                <a:t>195.x.x.x</a:t>
              </a:r>
              <a:endParaRPr/>
            </a:p>
          </p:txBody>
        </p:sp>
        <p:cxnSp>
          <p:nvCxnSpPr>
            <p:cNvPr id="8" name="Connettore 2 7"/>
            <p:cNvCxnSpPr/>
            <p:nvPr/>
          </p:nvCxnSpPr>
          <p:spPr bwMode="auto">
            <a:xfrm>
              <a:off x="3572421" y="6043741"/>
              <a:ext cx="1258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2 9"/>
            <p:cNvCxnSpPr/>
            <p:nvPr/>
          </p:nvCxnSpPr>
          <p:spPr bwMode="auto">
            <a:xfrm flipH="1">
              <a:off x="3598677" y="6360757"/>
              <a:ext cx="12319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2 11"/>
            <p:cNvCxnSpPr/>
            <p:nvPr/>
          </p:nvCxnSpPr>
          <p:spPr bwMode="auto">
            <a:xfrm flipV="1">
              <a:off x="2484260" y="5290757"/>
              <a:ext cx="911778" cy="56393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2 13"/>
            <p:cNvCxnSpPr/>
            <p:nvPr/>
          </p:nvCxnSpPr>
          <p:spPr bwMode="auto">
            <a:xfrm flipH="1" flipV="1">
              <a:off x="5206909" y="5278541"/>
              <a:ext cx="707808" cy="59967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ttangolo arrotondato 16"/>
            <p:cNvSpPr/>
            <p:nvPr/>
          </p:nvSpPr>
          <p:spPr bwMode="auto">
            <a:xfrm>
              <a:off x="3387016" y="4340625"/>
              <a:ext cx="1751610" cy="914400"/>
            </a:xfrm>
            <a:prstGeom prst="roundRect">
              <a:avLst>
                <a:gd name="adj" fmla="val 1666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it-IT"/>
                <a:t>IRR</a:t>
              </a:r>
              <a:endParaRPr/>
            </a:p>
            <a:p>
              <a:pPr algn="ctr">
                <a:defRPr/>
              </a:pPr>
              <a:r>
                <a:rPr lang="it-IT"/>
                <a:t>AS1=193.x.x.x</a:t>
              </a:r>
              <a:endParaRPr/>
            </a:p>
            <a:p>
              <a:pPr algn="ctr">
                <a:defRPr/>
              </a:pPr>
              <a:r>
                <a:rPr lang="it-IT"/>
                <a:t>AS2=195.x.x.x</a:t>
              </a:r>
              <a:endParaRPr/>
            </a:p>
          </p:txBody>
        </p:sp>
        <p:sp>
          <p:nvSpPr>
            <p:cNvPr id="19" name="CasellaDiTesto 18"/>
            <p:cNvSpPr txBox="1"/>
            <p:nvPr/>
          </p:nvSpPr>
          <p:spPr bwMode="auto">
            <a:xfrm>
              <a:off x="5551201" y="5326031"/>
              <a:ext cx="7491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t-IT"/>
                <a:t>query</a:t>
              </a:r>
              <a:endParaRPr lang="it-IT"/>
            </a:p>
          </p:txBody>
        </p:sp>
        <p:sp>
          <p:nvSpPr>
            <p:cNvPr id="20" name="CasellaDiTesto 19"/>
            <p:cNvSpPr txBox="1"/>
            <p:nvPr/>
          </p:nvSpPr>
          <p:spPr bwMode="auto">
            <a:xfrm>
              <a:off x="2167780" y="5211913"/>
              <a:ext cx="7491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t-IT"/>
                <a:t>query</a:t>
              </a:r>
              <a:endParaRPr lang="it-IT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09705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 b="1">
                <a:latin typeface="Avenir Book"/>
                <a:cs typeface="Avenir Book"/>
              </a:rPr>
              <a:t>Incidents</a:t>
            </a:r>
            <a:r>
              <a:rPr lang="it-IT" b="1">
                <a:latin typeface="Avenir Book"/>
                <a:cs typeface="Avenir Book"/>
              </a:rPr>
              <a:t> are common</a:t>
            </a:r>
            <a:endParaRPr/>
          </a:p>
        </p:txBody>
      </p:sp>
      <p:sp>
        <p:nvSpPr>
          <p:cNvPr id="1230408191" name="Segnaposto contenuto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algn="just">
              <a:defRPr/>
            </a:pPr>
            <a:r>
              <a:rPr lang="it-IT" sz="2400">
                <a:latin typeface="Avenir Book"/>
                <a:cs typeface="Avenir Book"/>
              </a:rPr>
              <a:t>A </a:t>
            </a:r>
            <a:r>
              <a:rPr lang="it-IT" sz="2400">
                <a:latin typeface="Avenir Book"/>
                <a:cs typeface="Avenir Book"/>
              </a:rPr>
              <a:t>route</a:t>
            </a:r>
            <a:r>
              <a:rPr lang="it-IT" sz="2400">
                <a:latin typeface="Avenir Book"/>
                <a:cs typeface="Avenir Book"/>
              </a:rPr>
              <a:t> </a:t>
            </a:r>
            <a:r>
              <a:rPr lang="it-IT" sz="2400">
                <a:latin typeface="Avenir Book"/>
                <a:cs typeface="Avenir Book"/>
              </a:rPr>
              <a:t>leak</a:t>
            </a:r>
            <a:r>
              <a:rPr lang="it-IT" sz="2400">
                <a:latin typeface="Avenir Book"/>
                <a:cs typeface="Avenir Book"/>
              </a:rPr>
              <a:t> or a </a:t>
            </a:r>
            <a:r>
              <a:rPr lang="it-IT" sz="2400">
                <a:latin typeface="Avenir Book"/>
                <a:cs typeface="Avenir Book"/>
              </a:rPr>
              <a:t>route</a:t>
            </a:r>
            <a:r>
              <a:rPr lang="it-IT" sz="2400">
                <a:latin typeface="Avenir Book"/>
                <a:cs typeface="Avenir Book"/>
              </a:rPr>
              <a:t> </a:t>
            </a:r>
            <a:r>
              <a:rPr lang="it-IT" sz="2400">
                <a:latin typeface="Avenir Book"/>
                <a:cs typeface="Avenir Book"/>
              </a:rPr>
              <a:t>hijacks</a:t>
            </a:r>
            <a:r>
              <a:rPr lang="it-IT" sz="2400">
                <a:latin typeface="Avenir Book"/>
                <a:cs typeface="Avenir Book"/>
              </a:rPr>
              <a:t> </a:t>
            </a:r>
            <a:r>
              <a:rPr lang="it-IT" sz="2400">
                <a:latin typeface="Avenir Book"/>
                <a:cs typeface="Avenir Book"/>
              </a:rPr>
              <a:t>is</a:t>
            </a:r>
            <a:r>
              <a:rPr lang="it-IT" sz="2400">
                <a:latin typeface="Avenir Book"/>
                <a:cs typeface="Avenir Book"/>
              </a:rPr>
              <a:t> </a:t>
            </a:r>
            <a:r>
              <a:rPr lang="it-IT" sz="2400">
                <a:latin typeface="Avenir Book"/>
                <a:cs typeface="Avenir Book"/>
              </a:rPr>
              <a:t>defined</a:t>
            </a:r>
            <a:r>
              <a:rPr lang="it-IT" sz="2400">
                <a:latin typeface="Avenir Book"/>
                <a:cs typeface="Avenir Book"/>
              </a:rPr>
              <a:t> </a:t>
            </a:r>
            <a:r>
              <a:rPr lang="it-IT" sz="2400">
                <a:latin typeface="Avenir Book"/>
                <a:cs typeface="Avenir Book"/>
              </a:rPr>
              <a:t>as</a:t>
            </a:r>
            <a:r>
              <a:rPr lang="it-IT" sz="2400">
                <a:latin typeface="Avenir Book"/>
                <a:cs typeface="Avenir Book"/>
              </a:rPr>
              <a:t> the </a:t>
            </a:r>
            <a:r>
              <a:rPr lang="it-IT" sz="2400">
                <a:latin typeface="Avenir Book"/>
                <a:cs typeface="Avenir Book"/>
              </a:rPr>
              <a:t>illegitimate</a:t>
            </a:r>
            <a:r>
              <a:rPr lang="it-IT" sz="2400">
                <a:latin typeface="Avenir Book"/>
                <a:cs typeface="Avenir Book"/>
              </a:rPr>
              <a:t> </a:t>
            </a:r>
            <a:r>
              <a:rPr lang="it-IT" sz="2400">
                <a:latin typeface="Avenir Book"/>
                <a:cs typeface="Avenir Book"/>
              </a:rPr>
              <a:t>advertisement</a:t>
            </a:r>
            <a:r>
              <a:rPr lang="it-IT" sz="2400">
                <a:latin typeface="Avenir Book"/>
                <a:cs typeface="Avenir Book"/>
              </a:rPr>
              <a:t> of an IP </a:t>
            </a:r>
            <a:r>
              <a:rPr lang="it-IT" sz="2400">
                <a:latin typeface="Avenir Book"/>
                <a:cs typeface="Avenir Book"/>
              </a:rPr>
              <a:t>space</a:t>
            </a:r>
            <a:endParaRPr lang="it-IT" sz="2400">
              <a:latin typeface="Avenir Book"/>
              <a:cs typeface="Avenir Book"/>
            </a:endParaRPr>
          </a:p>
          <a:p>
            <a:pPr marL="0" indent="0" algn="just">
              <a:buNone/>
              <a:defRPr/>
            </a:pPr>
            <a:endParaRPr lang="it-IT" sz="2400">
              <a:latin typeface="Avenir Book"/>
              <a:cs typeface="Avenir Book"/>
            </a:endParaRPr>
          </a:p>
          <a:p>
            <a:pPr algn="just">
              <a:defRPr/>
            </a:pPr>
            <a:r>
              <a:rPr lang="it-IT" sz="2400">
                <a:latin typeface="Avenir Book"/>
                <a:cs typeface="Avenir Book"/>
              </a:rPr>
              <a:t>2018 </a:t>
            </a:r>
            <a:r>
              <a:rPr lang="it-IT" sz="2400">
                <a:latin typeface="Avenir Book"/>
                <a:cs typeface="Avenir Book"/>
              </a:rPr>
              <a:t>routing</a:t>
            </a:r>
            <a:r>
              <a:rPr lang="it-IT" sz="2400">
                <a:latin typeface="Avenir Book"/>
                <a:cs typeface="Avenir Book"/>
              </a:rPr>
              <a:t> security </a:t>
            </a:r>
            <a:r>
              <a:rPr lang="it-IT" sz="2400">
                <a:latin typeface="Avenir Book"/>
                <a:cs typeface="Avenir Book"/>
              </a:rPr>
              <a:t>review</a:t>
            </a:r>
            <a:endParaRPr lang="it-IT" sz="2400">
              <a:latin typeface="Avenir Book"/>
              <a:cs typeface="Avenir Book"/>
            </a:endParaRPr>
          </a:p>
          <a:p>
            <a:pPr lvl="1" algn="just">
              <a:defRPr/>
            </a:pPr>
            <a:r>
              <a:rPr lang="it-IT">
                <a:latin typeface="Avenir Book"/>
                <a:cs typeface="Avenir Book"/>
              </a:rPr>
              <a:t>12.6k </a:t>
            </a:r>
            <a:r>
              <a:rPr lang="it-IT">
                <a:latin typeface="Avenir Book"/>
                <a:cs typeface="Avenir Book"/>
              </a:rPr>
              <a:t>incidents</a:t>
            </a:r>
            <a:endParaRPr lang="it-IT">
              <a:latin typeface="Avenir Book"/>
              <a:cs typeface="Avenir Book"/>
            </a:endParaRPr>
          </a:p>
          <a:p>
            <a:pPr lvl="1" algn="just">
              <a:defRPr/>
            </a:pPr>
            <a:r>
              <a:rPr lang="it-IT">
                <a:latin typeface="Avenir Book"/>
                <a:cs typeface="Avenir Book"/>
              </a:rPr>
              <a:t>4.4% of </a:t>
            </a:r>
            <a:r>
              <a:rPr lang="it-IT">
                <a:latin typeface="Avenir Book"/>
                <a:cs typeface="Avenir Book"/>
              </a:rPr>
              <a:t>all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ASNs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affected</a:t>
            </a:r>
            <a:endParaRPr lang="it-IT">
              <a:latin typeface="Avenir Book"/>
              <a:cs typeface="Avenir Book"/>
            </a:endParaRPr>
          </a:p>
          <a:p>
            <a:pPr lvl="1" algn="just">
              <a:defRPr/>
            </a:pPr>
            <a:r>
              <a:rPr lang="it-IT">
                <a:latin typeface="Avenir Book"/>
                <a:cs typeface="Avenir Book"/>
              </a:rPr>
              <a:t>3k </a:t>
            </a:r>
            <a:r>
              <a:rPr lang="it-IT">
                <a:latin typeface="Avenir Book"/>
                <a:cs typeface="Avenir Book"/>
              </a:rPr>
              <a:t>ASNs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victims</a:t>
            </a:r>
            <a:r>
              <a:rPr lang="it-IT">
                <a:latin typeface="Avenir Book"/>
                <a:cs typeface="Avenir Book"/>
              </a:rPr>
              <a:t> of </a:t>
            </a:r>
            <a:r>
              <a:rPr lang="it-IT">
                <a:latin typeface="Avenir Book"/>
                <a:cs typeface="Avenir Book"/>
              </a:rPr>
              <a:t>at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least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one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incident</a:t>
            </a:r>
            <a:endParaRPr lang="it-IT">
              <a:latin typeface="Avenir Book"/>
              <a:cs typeface="Avenir Book"/>
            </a:endParaRPr>
          </a:p>
          <a:p>
            <a:pPr lvl="1" algn="just">
              <a:defRPr/>
            </a:pPr>
            <a:r>
              <a:rPr lang="it-IT">
                <a:latin typeface="Avenir Book"/>
                <a:cs typeface="Avenir Book"/>
              </a:rPr>
              <a:t>1.3k </a:t>
            </a:r>
            <a:r>
              <a:rPr lang="it-IT">
                <a:latin typeface="Avenir Book"/>
                <a:cs typeface="Avenir Book"/>
              </a:rPr>
              <a:t>ASNs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caused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at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least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one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incident</a:t>
            </a:r>
            <a:endParaRPr lang="it-IT">
              <a:latin typeface="Avenir Book"/>
              <a:cs typeface="Avenir Book"/>
            </a:endParaRPr>
          </a:p>
          <a:p>
            <a:pPr lvl="1" algn="just">
              <a:defRPr/>
            </a:pPr>
            <a:endParaRPr lang="it-IT">
              <a:latin typeface="Avenir Book"/>
              <a:cs typeface="Avenir Book"/>
            </a:endParaRPr>
          </a:p>
          <a:p>
            <a:pPr algn="just">
              <a:defRPr/>
            </a:pPr>
            <a:r>
              <a:rPr lang="it-IT" sz="2400">
                <a:latin typeface="Avenir Book"/>
                <a:cs typeface="Avenir Book"/>
              </a:rPr>
              <a:t>source: </a:t>
            </a:r>
            <a:r>
              <a:rPr lang="it-IT" sz="2400">
                <a:latin typeface="Avenir Book"/>
                <a:cs typeface="Avenir Book"/>
              </a:rPr>
              <a:t>https</a:t>
            </a:r>
            <a:r>
              <a:rPr lang="it-IT" sz="2400">
                <a:latin typeface="Avenir Book"/>
                <a:cs typeface="Avenir Book"/>
              </a:rPr>
              <a:t>://</a:t>
            </a:r>
            <a:r>
              <a:rPr lang="it-IT" sz="2400">
                <a:latin typeface="Avenir Book"/>
                <a:cs typeface="Avenir Book"/>
              </a:rPr>
              <a:t>www.bgpstream.com</a:t>
            </a:r>
            <a:r>
              <a:rPr lang="it-IT" sz="2400">
                <a:latin typeface="Avenir Book"/>
                <a:cs typeface="Avenir Book"/>
              </a:rPr>
              <a:t>/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19430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 b="1">
                <a:latin typeface="Avenir Book"/>
                <a:cs typeface="Avenir Book"/>
              </a:rPr>
              <a:t>See for </a:t>
            </a:r>
            <a:r>
              <a:rPr lang="it-IT" b="1">
                <a:latin typeface="Avenir Book"/>
                <a:cs typeface="Avenir Book"/>
              </a:rPr>
              <a:t>yourself</a:t>
            </a:r>
            <a:r>
              <a:rPr lang="it-IT" b="1">
                <a:latin typeface="Avenir Book"/>
                <a:cs typeface="Avenir Book"/>
              </a:rPr>
              <a:t>!</a:t>
            </a:r>
            <a:endParaRPr/>
          </a:p>
        </p:txBody>
      </p:sp>
      <p:sp>
        <p:nvSpPr>
          <p:cNvPr id="1434437979" name="Segnaposto contenuto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algn="just">
              <a:defRPr/>
            </a:pPr>
            <a:r>
              <a:rPr lang="it-IT" sz="2400">
                <a:latin typeface="Avenir Book"/>
                <a:cs typeface="Avenir Book"/>
              </a:rPr>
              <a:t>https://</a:t>
            </a:r>
            <a:r>
              <a:rPr lang="it-IT" sz="2400">
                <a:latin typeface="Avenir Book"/>
                <a:cs typeface="Avenir Book"/>
              </a:rPr>
              <a:t>observatory.manrs.org</a:t>
            </a:r>
            <a:r>
              <a:rPr lang="it-IT" sz="2400">
                <a:latin typeface="Avenir Book"/>
                <a:cs typeface="Avenir Book"/>
              </a:rPr>
              <a:t>/#/</a:t>
            </a:r>
            <a:r>
              <a:rPr lang="it-IT" sz="2400">
                <a:latin typeface="Avenir Book"/>
                <a:cs typeface="Avenir Book"/>
              </a:rPr>
              <a:t>overview</a:t>
            </a:r>
            <a:endParaRPr lang="it-IT" sz="2400">
              <a:latin typeface="Avenir Book"/>
              <a:cs typeface="Avenir Boo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456608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 b="1">
                <a:latin typeface="Avenir Book"/>
                <a:cs typeface="Avenir Book"/>
              </a:rPr>
              <a:t>What</a:t>
            </a:r>
            <a:r>
              <a:rPr lang="it-IT" b="1">
                <a:latin typeface="Avenir Book"/>
                <a:cs typeface="Avenir Book"/>
              </a:rPr>
              <a:t> are the </a:t>
            </a:r>
            <a:r>
              <a:rPr lang="it-IT" b="1">
                <a:latin typeface="Avenir Book"/>
                <a:cs typeface="Avenir Book"/>
              </a:rPr>
              <a:t>attacks</a:t>
            </a:r>
            <a:r>
              <a:rPr lang="it-IT" b="1">
                <a:latin typeface="Avenir Book"/>
                <a:cs typeface="Avenir Book"/>
              </a:rPr>
              <a:t>?</a:t>
            </a:r>
            <a:endParaRPr/>
          </a:p>
        </p:txBody>
      </p:sp>
      <p:sp>
        <p:nvSpPr>
          <p:cNvPr id="1064120439" name="Segnaposto contenuto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algn="just">
              <a:defRPr/>
            </a:pPr>
            <a:r>
              <a:rPr lang="en-US" sz="2400"/>
              <a:t>Prefix Hijacking</a:t>
            </a:r>
            <a:endParaRPr/>
          </a:p>
          <a:p>
            <a:pPr lvl="1" algn="just">
              <a:defRPr/>
            </a:pPr>
            <a:r>
              <a:rPr lang="en-US" sz="2000"/>
              <a:t>Unauthorized AS announces someone else’s prefix.</a:t>
            </a:r>
            <a:endParaRPr/>
          </a:p>
          <a:p>
            <a:pPr algn="just">
              <a:defRPr/>
            </a:pPr>
            <a:r>
              <a:rPr lang="en-US" sz="2400"/>
              <a:t>Subprefix Hijacking</a:t>
            </a:r>
            <a:endParaRPr/>
          </a:p>
          <a:p>
            <a:pPr lvl="1" algn="just">
              <a:defRPr/>
            </a:pPr>
            <a:r>
              <a:rPr lang="en-US" sz="2000"/>
              <a:t>Attacker announces more specific prefix.</a:t>
            </a:r>
            <a:endParaRPr/>
          </a:p>
          <a:p>
            <a:pPr algn="just">
              <a:defRPr/>
            </a:pPr>
            <a:r>
              <a:rPr lang="en-US" sz="2400"/>
              <a:t>Route Leak</a:t>
            </a:r>
            <a:endParaRPr/>
          </a:p>
          <a:p>
            <a:pPr lvl="1" algn="just">
              <a:defRPr/>
            </a:pPr>
            <a:r>
              <a:rPr lang="en-US" sz="2000"/>
              <a:t>AS exports routes beyond intended scope.</a:t>
            </a:r>
            <a:endParaRPr/>
          </a:p>
          <a:p>
            <a:pPr algn="just">
              <a:defRPr/>
            </a:pPr>
            <a:r>
              <a:rPr lang="en-US" sz="2400"/>
              <a:t>AS Path Shortening</a:t>
            </a:r>
            <a:endParaRPr/>
          </a:p>
          <a:p>
            <a:pPr lvl="1" algn="just">
              <a:defRPr/>
            </a:pPr>
            <a:r>
              <a:rPr lang="en-US" sz="2000"/>
              <a:t>Malicious AS removes intermediate AS numbers.</a:t>
            </a:r>
            <a:endParaRPr/>
          </a:p>
          <a:p>
            <a:pPr algn="just">
              <a:defRPr/>
            </a:pPr>
            <a:r>
              <a:rPr lang="en-US" sz="2400"/>
              <a:t>AS Insertion Attack</a:t>
            </a:r>
            <a:endParaRPr/>
          </a:p>
          <a:p>
            <a:pPr lvl="1" algn="just">
              <a:defRPr/>
            </a:pPr>
            <a:r>
              <a:rPr lang="en-US" sz="2000"/>
              <a:t>AS Insertion Attack</a:t>
            </a:r>
            <a:endParaRPr/>
          </a:p>
          <a:p>
            <a:pPr marL="457200" lvl="1" indent="0" algn="just">
              <a:buNone/>
              <a:defRPr/>
            </a:pPr>
            <a:endParaRPr lang="en-US" sz="2000"/>
          </a:p>
          <a:p>
            <a:pPr algn="just">
              <a:defRPr/>
            </a:pPr>
            <a:endParaRPr lang="it-IT" sz="2400">
              <a:latin typeface="Avenir Book"/>
              <a:cs typeface="Avenir Boo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060102" name="Google Shape;218;p27"/>
          <p:cNvSpPr txBox="1">
            <a:spLocks noGrp="1"/>
          </p:cNvSpPr>
          <p:nvPr>
            <p:ph type="title"/>
          </p:nvPr>
        </p:nvSpPr>
        <p:spPr bwMode="auto">
          <a:xfrm>
            <a:off x="628650" y="273844"/>
            <a:ext cx="7886800" cy="9944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defRPr/>
            </a:pPr>
            <a:r>
              <a:rPr lang="en"/>
              <a:t>Route / Prefix Hijacking</a:t>
            </a:r>
            <a:endParaRPr/>
          </a:p>
        </p:txBody>
      </p:sp>
      <p:sp>
        <p:nvSpPr>
          <p:cNvPr id="1371855970" name="Google Shape;219;p27"/>
          <p:cNvSpPr txBox="1">
            <a:spLocks noGrp="1"/>
          </p:cNvSpPr>
          <p:nvPr>
            <p:ph type="body" idx="1"/>
          </p:nvPr>
        </p:nvSpPr>
        <p:spPr bwMode="auto">
          <a:xfrm>
            <a:off x="628673" y="1369233"/>
            <a:ext cx="11072800" cy="29976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t" anchorCtr="0">
            <a:noAutofit/>
          </a:bodyPr>
          <a:lstStyle/>
          <a:p>
            <a:pPr marL="457189" indent="-397923">
              <a:spcBef>
                <a:spcPts val="1067"/>
              </a:spcBef>
              <a:buSzPts val="2100"/>
              <a:buChar char="●"/>
              <a:defRPr/>
            </a:pPr>
            <a:r>
              <a:rPr lang="en" sz="3750"/>
              <a:t>When a network advertises/originates a route that belongs to another network (without permission)</a:t>
            </a:r>
            <a:endParaRPr sz="3750"/>
          </a:p>
          <a:p>
            <a:pPr marL="457189" indent="-397923">
              <a:spcBef>
                <a:spcPts val="0"/>
              </a:spcBef>
              <a:buSzPts val="2100"/>
              <a:buChar char="●"/>
              <a:defRPr/>
            </a:pPr>
            <a:r>
              <a:rPr lang="en" sz="3750"/>
              <a:t>Not always malicious can easily be caused by misconfiguration</a:t>
            </a:r>
            <a:endParaRPr sz="3750"/>
          </a:p>
          <a:p>
            <a:pPr marL="0" indent="0">
              <a:spcBef>
                <a:spcPts val="1067"/>
              </a:spcBef>
              <a:buNone/>
              <a:defRPr/>
            </a:pPr>
            <a:endParaRPr sz="3750"/>
          </a:p>
        </p:txBody>
      </p:sp>
      <p:sp>
        <p:nvSpPr>
          <p:cNvPr id="2022816720" name="Google Shape;220;p27"/>
          <p:cNvSpPr txBox="1">
            <a:spLocks noGrp="1"/>
          </p:cNvSpPr>
          <p:nvPr>
            <p:ph type="sldNum" idx="12"/>
          </p:nvPr>
        </p:nvSpPr>
        <p:spPr bwMode="auto">
          <a:xfrm>
            <a:off x="6457951" y="4767263"/>
            <a:ext cx="2057600" cy="2740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Clr>
                <a:srgbClr val="000000"/>
              </a:buClr>
              <a:buSzPts val="900"/>
              <a:defRPr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911047543" name="Google Shape;221;p27"/>
          <p:cNvSpPr txBox="1"/>
          <p:nvPr/>
        </p:nvSpPr>
        <p:spPr bwMode="auto">
          <a:xfrm>
            <a:off x="838200" y="6173352"/>
            <a:ext cx="6684000" cy="410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defRPr/>
            </a:pPr>
            <a:r>
              <a:rPr lang="en" sz="1450">
                <a:latin typeface="Calibri"/>
                <a:ea typeface="Calibri"/>
                <a:cs typeface="Calibri"/>
              </a:rPr>
              <a:t>https://www.manrs.org/2020/09/what-is-bgp-prefix-hijacking-part-1/</a:t>
            </a:r>
            <a:endParaRPr sz="14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00655" name="Google Shape;227;p28"/>
          <p:cNvSpPr txBox="1">
            <a:spLocks noGrp="1"/>
          </p:cNvSpPr>
          <p:nvPr>
            <p:ph type="title"/>
          </p:nvPr>
        </p:nvSpPr>
        <p:spPr bwMode="auto">
          <a:xfrm>
            <a:off x="838200" y="98225"/>
            <a:ext cx="10515600" cy="13256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defRPr/>
            </a:pPr>
            <a:r>
              <a:rPr lang="en"/>
              <a:t>Route / Prefix Hijacking - How it works </a:t>
            </a:r>
            <a:endParaRPr/>
          </a:p>
        </p:txBody>
      </p:sp>
      <p:sp>
        <p:nvSpPr>
          <p:cNvPr id="1774367001" name="Google Shape;228;p28"/>
          <p:cNvSpPr txBox="1">
            <a:spLocks noGrp="1"/>
          </p:cNvSpPr>
          <p:nvPr>
            <p:ph type="body" idx="1"/>
          </p:nvPr>
        </p:nvSpPr>
        <p:spPr bwMode="auto">
          <a:xfrm>
            <a:off x="628650" y="1369218"/>
            <a:ext cx="7886800" cy="29976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t" anchorCtr="0">
            <a:noAutofit/>
          </a:bodyPr>
          <a:lstStyle/>
          <a:p>
            <a:pPr marL="457189" indent="-338658">
              <a:spcBef>
                <a:spcPts val="1067"/>
              </a:spcBef>
              <a:buSzPts val="1400"/>
              <a:buChar char="●"/>
              <a:defRPr/>
            </a:pPr>
            <a:r>
              <a:rPr lang="en"/>
              <a:t>AS Path length</a:t>
            </a:r>
            <a:endParaRPr/>
          </a:p>
        </p:txBody>
      </p:sp>
      <p:sp>
        <p:nvSpPr>
          <p:cNvPr id="1818601230" name="Google Shape;229;p28"/>
          <p:cNvSpPr txBox="1">
            <a:spLocks noGrp="1"/>
          </p:cNvSpPr>
          <p:nvPr>
            <p:ph type="sldNum" idx="12"/>
          </p:nvPr>
        </p:nvSpPr>
        <p:spPr bwMode="auto">
          <a:xfrm>
            <a:off x="6457951" y="4767263"/>
            <a:ext cx="2057600" cy="2740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Clr>
                <a:srgbClr val="000000"/>
              </a:buClr>
              <a:buSzPts val="900"/>
              <a:defRPr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336636558" name="Google Shape;230;p28" descr="BGP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4421150" y="1226651"/>
            <a:ext cx="7724025" cy="48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8012282" name="Google Shape;231;p28"/>
          <p:cNvSpPr txBox="1"/>
          <p:nvPr/>
        </p:nvSpPr>
        <p:spPr bwMode="auto">
          <a:xfrm>
            <a:off x="278500" y="6338801"/>
            <a:ext cx="6684000" cy="410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buClr>
                <a:schemeClr val="dk1"/>
              </a:buClr>
              <a:buSzPts val="800"/>
              <a:defRPr/>
            </a:pPr>
            <a:r>
              <a:rPr lang="en" sz="145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https://www.manrs.org/2020/09/what-is-bgp-prefix-hijacking-part-1/</a:t>
            </a:r>
            <a:endParaRPr sz="14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816387" name="Google Shape;227;p28"/>
          <p:cNvSpPr txBox="1">
            <a:spLocks noGrp="1"/>
          </p:cNvSpPr>
          <p:nvPr>
            <p:ph type="title"/>
          </p:nvPr>
        </p:nvSpPr>
        <p:spPr bwMode="auto">
          <a:xfrm>
            <a:off x="838200" y="98225"/>
            <a:ext cx="10515600" cy="13256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defRPr/>
            </a:pPr>
            <a:r>
              <a:rPr lang="en"/>
              <a:t>Sub-prefix Hijacking - How it works </a:t>
            </a:r>
            <a:endParaRPr/>
          </a:p>
        </p:txBody>
      </p:sp>
      <p:sp>
        <p:nvSpPr>
          <p:cNvPr id="1791800924" name="Google Shape;228;p28"/>
          <p:cNvSpPr txBox="1">
            <a:spLocks noGrp="1"/>
          </p:cNvSpPr>
          <p:nvPr>
            <p:ph type="body" idx="1"/>
          </p:nvPr>
        </p:nvSpPr>
        <p:spPr bwMode="auto">
          <a:xfrm>
            <a:off x="628650" y="1369218"/>
            <a:ext cx="7886800" cy="29976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t" anchorCtr="0">
            <a:noAutofit/>
          </a:bodyPr>
          <a:lstStyle/>
          <a:p>
            <a:pPr marL="457189" indent="-338658">
              <a:spcBef>
                <a:spcPts val="1067"/>
              </a:spcBef>
              <a:buSzPts val="1400"/>
              <a:buChar char="●"/>
              <a:defRPr/>
            </a:pPr>
            <a:r>
              <a:rPr lang="en"/>
              <a:t>Similar – but use a </a:t>
            </a:r>
            <a:br>
              <a:rPr lang="en"/>
            </a:br>
            <a:r>
              <a:rPr lang="en"/>
              <a:t>more </a:t>
            </a:r>
            <a:r>
              <a:rPr lang="en-US"/>
              <a:t>sp</a:t>
            </a:r>
            <a:r>
              <a:rPr lang="en"/>
              <a:t>ecific</a:t>
            </a:r>
            <a:r>
              <a:rPr lang="en"/>
              <a:t> prefix</a:t>
            </a:r>
            <a:endParaRPr/>
          </a:p>
          <a:p>
            <a:pPr marL="457189" indent="-338658">
              <a:spcBef>
                <a:spcPts val="1067"/>
              </a:spcBef>
              <a:buSzPts val="1400"/>
              <a:buChar char="●"/>
              <a:defRPr/>
            </a:pPr>
            <a:endParaRPr/>
          </a:p>
        </p:txBody>
      </p:sp>
      <p:sp>
        <p:nvSpPr>
          <p:cNvPr id="800039400" name="Google Shape;229;p28"/>
          <p:cNvSpPr txBox="1">
            <a:spLocks noGrp="1"/>
          </p:cNvSpPr>
          <p:nvPr>
            <p:ph type="sldNum" idx="12"/>
          </p:nvPr>
        </p:nvSpPr>
        <p:spPr bwMode="auto">
          <a:xfrm>
            <a:off x="6457951" y="4767263"/>
            <a:ext cx="2057600" cy="2740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Clr>
                <a:srgbClr val="000000"/>
              </a:buClr>
              <a:buSzPts val="900"/>
              <a:defRPr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119035668" name="Google Shape;230;p28" descr="Sub-prefix Hijacking - How it works 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4421150" y="1226651"/>
            <a:ext cx="7724025" cy="48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3799298" name="Google Shape;231;p28"/>
          <p:cNvSpPr txBox="1"/>
          <p:nvPr/>
        </p:nvSpPr>
        <p:spPr bwMode="auto">
          <a:xfrm>
            <a:off x="278500" y="6338801"/>
            <a:ext cx="6684000" cy="410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buClr>
                <a:schemeClr val="dk1"/>
              </a:buClr>
              <a:buSzPts val="800"/>
              <a:defRPr/>
            </a:pPr>
            <a:r>
              <a:rPr lang="en" sz="145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https://www.manrs.org/2020/09/what-is-bgp-prefix-hijacking-part-1/</a:t>
            </a:r>
            <a:endParaRPr sz="14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138769" name="Google Shape;237;p29"/>
          <p:cNvSpPr txBox="1">
            <a:spLocks noGrp="1"/>
          </p:cNvSpPr>
          <p:nvPr>
            <p:ph type="title"/>
          </p:nvPr>
        </p:nvSpPr>
        <p:spPr bwMode="auto">
          <a:xfrm>
            <a:off x="628650" y="273844"/>
            <a:ext cx="7886800" cy="9944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defRPr/>
            </a:pPr>
            <a:r>
              <a:rPr lang="en"/>
              <a:t>Example: Youtube and Pakistan Telecom</a:t>
            </a:r>
            <a:endParaRPr/>
          </a:p>
        </p:txBody>
      </p:sp>
      <p:sp>
        <p:nvSpPr>
          <p:cNvPr id="681124436" name="Google Shape;239;p29"/>
          <p:cNvSpPr txBox="1">
            <a:spLocks noGrp="1"/>
          </p:cNvSpPr>
          <p:nvPr>
            <p:ph type="sldNum" idx="12"/>
          </p:nvPr>
        </p:nvSpPr>
        <p:spPr bwMode="auto">
          <a:xfrm>
            <a:off x="6457951" y="4767263"/>
            <a:ext cx="2057600" cy="2740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Clr>
                <a:srgbClr val="000000"/>
              </a:buClr>
              <a:buSzPts val="900"/>
              <a:defRPr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891461361" name="Picture 2" descr="Timeline of the Pakistan Telecom YouTube hijack in February 2008 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1127050" y="1318658"/>
            <a:ext cx="10366449" cy="440269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197327" name="Google Shape;255;p31"/>
          <p:cNvSpPr txBox="1">
            <a:spLocks noGrp="1"/>
          </p:cNvSpPr>
          <p:nvPr>
            <p:ph type="title"/>
          </p:nvPr>
        </p:nvSpPr>
        <p:spPr bwMode="auto">
          <a:xfrm>
            <a:off x="628650" y="273844"/>
            <a:ext cx="7886800" cy="9944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defRPr/>
            </a:pPr>
            <a:r>
              <a:rPr lang="en"/>
              <a:t>Other Hijacking examples</a:t>
            </a:r>
            <a:endParaRPr/>
          </a:p>
        </p:txBody>
      </p:sp>
      <p:sp>
        <p:nvSpPr>
          <p:cNvPr id="288346289" name="Google Shape;256;p31"/>
          <p:cNvSpPr txBox="1">
            <a:spLocks noGrp="1"/>
          </p:cNvSpPr>
          <p:nvPr>
            <p:ph type="body" idx="1"/>
          </p:nvPr>
        </p:nvSpPr>
        <p:spPr bwMode="auto">
          <a:xfrm>
            <a:off x="628650" y="1369218"/>
            <a:ext cx="7886800" cy="29976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t" anchorCtr="0">
            <a:noAutofit/>
          </a:bodyPr>
          <a:lstStyle/>
          <a:p>
            <a:pPr marL="457189" indent="-338658">
              <a:spcBef>
                <a:spcPts val="1067"/>
              </a:spcBef>
              <a:buSzPts val="1400"/>
              <a:buChar char="●"/>
              <a:defRPr/>
            </a:pPr>
            <a:r>
              <a:rPr lang="en"/>
              <a:t>2018: Amazon DNS routes hijacked and redirected to malicious DNS server: </a:t>
            </a:r>
            <a:r>
              <a:rPr lang="en" u="sng">
                <a:solidFill>
                  <a:schemeClr val="hlink"/>
                </a:solidFill>
                <a:hlinkClick r:id="rId3" tooltip=""/>
              </a:rPr>
              <a:t>https://www.internetsociety.org/blog/2018/04/amazons-route-53-bgp-hijack/</a:t>
            </a:r>
            <a:r>
              <a:rPr lang="en"/>
              <a:t> </a:t>
            </a:r>
            <a:endParaRPr/>
          </a:p>
          <a:p>
            <a:pPr marL="457189" indent="-338658">
              <a:spcBef>
                <a:spcPts val="0"/>
              </a:spcBef>
              <a:buSzPts val="1400"/>
              <a:buChar char="●"/>
              <a:defRPr/>
            </a:pPr>
            <a:r>
              <a:rPr lang="en"/>
              <a:t>2020: Rostelecom hijacks internet traffic for Google, AWS, Cloudflare, and others: </a:t>
            </a:r>
            <a:r>
              <a:rPr lang="en" u="sng">
                <a:solidFill>
                  <a:schemeClr val="hlink"/>
                </a:solidFill>
                <a:hlinkClick r:id="rId4" tooltip=""/>
              </a:rPr>
              <a:t>https://www.zdnet.com/article/russian-telco-hijacks-internet-traffic-for-google-aws-cloudflare-and-others/</a:t>
            </a:r>
            <a:r>
              <a:rPr lang="en"/>
              <a:t> </a:t>
            </a:r>
            <a:endParaRPr/>
          </a:p>
          <a:p>
            <a:pPr marL="0" indent="0">
              <a:spcBef>
                <a:spcPts val="1067"/>
              </a:spcBef>
              <a:buNone/>
              <a:defRPr/>
            </a:pPr>
            <a:endParaRPr/>
          </a:p>
        </p:txBody>
      </p:sp>
      <p:sp>
        <p:nvSpPr>
          <p:cNvPr id="677091961" name="Google Shape;257;p31"/>
          <p:cNvSpPr txBox="1">
            <a:spLocks noGrp="1"/>
          </p:cNvSpPr>
          <p:nvPr>
            <p:ph type="sldNum" idx="12"/>
          </p:nvPr>
        </p:nvSpPr>
        <p:spPr bwMode="auto">
          <a:xfrm>
            <a:off x="6457951" y="4767263"/>
            <a:ext cx="2057600" cy="2740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Clr>
                <a:srgbClr val="000000"/>
              </a:buClr>
              <a:buSzPts val="900"/>
              <a:defRPr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178138" name="Google Shape;272;p33"/>
          <p:cNvSpPr txBox="1">
            <a:spLocks noGrp="1"/>
          </p:cNvSpPr>
          <p:nvPr>
            <p:ph type="title"/>
          </p:nvPr>
        </p:nvSpPr>
        <p:spPr bwMode="auto">
          <a:xfrm>
            <a:off x="528425" y="0"/>
            <a:ext cx="10515600" cy="13256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defRPr/>
            </a:pPr>
            <a:r>
              <a:rPr lang="en"/>
              <a:t>Route Leak</a:t>
            </a:r>
            <a:endParaRPr/>
          </a:p>
        </p:txBody>
      </p:sp>
      <p:sp>
        <p:nvSpPr>
          <p:cNvPr id="221709883" name="Google Shape;273;p33"/>
          <p:cNvSpPr txBox="1">
            <a:spLocks noGrp="1"/>
          </p:cNvSpPr>
          <p:nvPr>
            <p:ph type="body" idx="1"/>
          </p:nvPr>
        </p:nvSpPr>
        <p:spPr bwMode="auto">
          <a:xfrm>
            <a:off x="173400" y="1205451"/>
            <a:ext cx="11845200" cy="38540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t" anchorCtr="0">
            <a:noAutofit/>
          </a:bodyPr>
          <a:lstStyle/>
          <a:p>
            <a:pPr marL="457189" indent="-338658">
              <a:spcBef>
                <a:spcPts val="1067"/>
              </a:spcBef>
              <a:buSzPts val="1400"/>
              <a:buChar char="●"/>
              <a:defRPr/>
            </a:pPr>
            <a:r>
              <a:rPr lang="en"/>
              <a:t>RFC7908 - “A route leak is the propagation of routing announcement(s) beyond their intended scope.”</a:t>
            </a:r>
            <a:br>
              <a:rPr lang="en"/>
            </a:br>
            <a:endParaRPr/>
          </a:p>
          <a:p>
            <a:pPr marL="457189" indent="-338658">
              <a:spcBef>
                <a:spcPts val="0"/>
              </a:spcBef>
              <a:buSzPts val="1400"/>
              <a:buChar char="●"/>
              <a:defRPr/>
            </a:pPr>
            <a:r>
              <a:rPr lang="en"/>
              <a:t>A multihomed stub network announces routes from one upstream providers routes to one or more of its other upstream providers</a:t>
            </a:r>
            <a:br>
              <a:rPr lang="en"/>
            </a:br>
            <a:endParaRPr/>
          </a:p>
          <a:p>
            <a:pPr marL="457189" indent="-338658">
              <a:spcBef>
                <a:spcPts val="0"/>
              </a:spcBef>
              <a:buSzPts val="1400"/>
              <a:buChar char="●"/>
              <a:defRPr/>
            </a:pPr>
            <a:r>
              <a:rPr lang="en"/>
              <a:t>Stub network becomes an inadvertent transit provider.</a:t>
            </a:r>
            <a:br>
              <a:rPr lang="en"/>
            </a:br>
            <a:endParaRPr/>
          </a:p>
          <a:p>
            <a:pPr marL="457189" indent="-338658">
              <a:spcBef>
                <a:spcPts val="0"/>
              </a:spcBef>
              <a:buSzPts val="1400"/>
              <a:buChar char="●"/>
              <a:defRPr/>
            </a:pPr>
            <a:r>
              <a:rPr lang="en"/>
              <a:t>Only announce AS’s and prefixes that you originate.</a:t>
            </a:r>
            <a:endParaRPr/>
          </a:p>
        </p:txBody>
      </p:sp>
      <p:sp>
        <p:nvSpPr>
          <p:cNvPr id="534961561" name="Google Shape;275;p33"/>
          <p:cNvSpPr txBox="1"/>
          <p:nvPr/>
        </p:nvSpPr>
        <p:spPr bwMode="auto">
          <a:xfrm>
            <a:off x="173400" y="6457801"/>
            <a:ext cx="6925600" cy="410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defRPr/>
            </a:pPr>
            <a:r>
              <a:rPr lang="en" sz="1450">
                <a:latin typeface="Calibri"/>
                <a:ea typeface="Calibri"/>
                <a:cs typeface="Calibri"/>
              </a:rPr>
              <a:t>https://datatracker.ietf.org/doc/html/rfc7908</a:t>
            </a:r>
            <a:endParaRPr sz="14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974613" name="Google Shape;281;p34"/>
          <p:cNvSpPr txBox="1">
            <a:spLocks noGrp="1"/>
          </p:cNvSpPr>
          <p:nvPr>
            <p:ph type="title"/>
          </p:nvPr>
        </p:nvSpPr>
        <p:spPr bwMode="auto">
          <a:xfrm>
            <a:off x="225000" y="151800"/>
            <a:ext cx="11354000" cy="13256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defRPr/>
            </a:pPr>
            <a:r>
              <a:rPr lang="en"/>
              <a:t>Simple Campus/Institution Route Leak Example</a:t>
            </a:r>
            <a:endParaRPr/>
          </a:p>
        </p:txBody>
      </p:sp>
      <p:sp>
        <p:nvSpPr>
          <p:cNvPr id="376934739" name="Google Shape;282;p34"/>
          <p:cNvSpPr txBox="1">
            <a:spLocks noGrp="1"/>
          </p:cNvSpPr>
          <p:nvPr>
            <p:ph type="sldNum" idx="12"/>
          </p:nvPr>
        </p:nvSpPr>
        <p:spPr bwMode="auto">
          <a:xfrm>
            <a:off x="7651925" y="6368351"/>
            <a:ext cx="2743200" cy="3652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Clr>
                <a:srgbClr val="000000"/>
              </a:buClr>
              <a:buSzPts val="900"/>
              <a:defRPr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454052634" name="Google Shape;283;p34"/>
          <p:cNvSpPr/>
          <p:nvPr/>
        </p:nvSpPr>
        <p:spPr bwMode="auto">
          <a:xfrm>
            <a:off x="6267137" y="5451088"/>
            <a:ext cx="705200" cy="52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>
              <a:defRPr/>
            </a:pPr>
            <a:r>
              <a:rPr lang="en" sz="1450"/>
              <a:t>AS3</a:t>
            </a:r>
            <a:endParaRPr sz="1450"/>
          </a:p>
        </p:txBody>
      </p:sp>
      <p:sp>
        <p:nvSpPr>
          <p:cNvPr id="1589910852" name="Google Shape;284;p34"/>
          <p:cNvSpPr/>
          <p:nvPr/>
        </p:nvSpPr>
        <p:spPr bwMode="auto">
          <a:xfrm>
            <a:off x="3206163" y="3891562"/>
            <a:ext cx="1100304" cy="747792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>
              <a:defRPr/>
            </a:pPr>
            <a:r>
              <a:rPr lang="en" sz="1450"/>
              <a:t>AS1</a:t>
            </a:r>
            <a:endParaRPr sz="1450"/>
          </a:p>
        </p:txBody>
      </p:sp>
      <p:sp>
        <p:nvSpPr>
          <p:cNvPr id="1435585378" name="Google Shape;285;p34"/>
          <p:cNvSpPr/>
          <p:nvPr/>
        </p:nvSpPr>
        <p:spPr bwMode="auto">
          <a:xfrm>
            <a:off x="7883037" y="3891488"/>
            <a:ext cx="1100304" cy="747792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>
              <a:defRPr/>
            </a:pPr>
            <a:r>
              <a:rPr lang="en" sz="1450"/>
              <a:t>AS2</a:t>
            </a:r>
            <a:endParaRPr sz="1450"/>
          </a:p>
        </p:txBody>
      </p:sp>
      <p:cxnSp>
        <p:nvCxnSpPr>
          <p:cNvPr id="1336319987" name="Google Shape;286;p34"/>
          <p:cNvCxnSpPr>
            <a:stCxn id="1454052634" idx="3"/>
            <a:endCxn id="1435585378" idx="1"/>
          </p:cNvCxnSpPr>
          <p:nvPr/>
        </p:nvCxnSpPr>
        <p:spPr bwMode="auto">
          <a:xfrm rot="10800000" flipH="1">
            <a:off x="6972337" y="4638488"/>
            <a:ext cx="1460800" cy="107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1781661" name="Google Shape;287;p34"/>
          <p:cNvCxnSpPr>
            <a:stCxn id="1435585378" idx="2"/>
            <a:endCxn id="983957581" idx="1"/>
          </p:cNvCxnSpPr>
          <p:nvPr/>
        </p:nvCxnSpPr>
        <p:spPr bwMode="auto">
          <a:xfrm rot="10800000">
            <a:off x="7101651" y="3074984"/>
            <a:ext cx="784800" cy="119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6996791" name="Google Shape;289;p34"/>
          <p:cNvSpPr/>
          <p:nvPr/>
        </p:nvSpPr>
        <p:spPr bwMode="auto">
          <a:xfrm>
            <a:off x="1706237" y="4003700"/>
            <a:ext cx="705200" cy="52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>
              <a:defRPr/>
            </a:pPr>
            <a:r>
              <a:rPr lang="en" sz="1450"/>
              <a:t>X</a:t>
            </a:r>
            <a:endParaRPr sz="1450"/>
          </a:p>
        </p:txBody>
      </p:sp>
      <p:sp>
        <p:nvSpPr>
          <p:cNvPr id="698014705" name="Google Shape;290;p34"/>
          <p:cNvSpPr/>
          <p:nvPr/>
        </p:nvSpPr>
        <p:spPr bwMode="auto">
          <a:xfrm>
            <a:off x="9780737" y="4003637"/>
            <a:ext cx="705200" cy="52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>
              <a:defRPr/>
            </a:pPr>
            <a:endParaRPr sz="2400"/>
          </a:p>
        </p:txBody>
      </p:sp>
      <p:cxnSp>
        <p:nvCxnSpPr>
          <p:cNvPr id="1224903738" name="Google Shape;291;p34"/>
          <p:cNvCxnSpPr>
            <a:stCxn id="1589910852" idx="2"/>
            <a:endCxn id="1186996791" idx="3"/>
          </p:cNvCxnSpPr>
          <p:nvPr/>
        </p:nvCxnSpPr>
        <p:spPr bwMode="auto">
          <a:xfrm rot="10800000">
            <a:off x="2411576" y="4265459"/>
            <a:ext cx="798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2484354" name="Google Shape;292;p34"/>
          <p:cNvCxnSpPr>
            <a:stCxn id="1435585378" idx="0"/>
            <a:endCxn id="698014705" idx="1"/>
          </p:cNvCxnSpPr>
          <p:nvPr/>
        </p:nvCxnSpPr>
        <p:spPr bwMode="auto">
          <a:xfrm>
            <a:off x="8982424" y="4265384"/>
            <a:ext cx="798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5697361" name="Google Shape;293;p34"/>
          <p:cNvSpPr txBox="1"/>
          <p:nvPr/>
        </p:nvSpPr>
        <p:spPr bwMode="auto">
          <a:xfrm>
            <a:off x="3129375" y="3492151"/>
            <a:ext cx="1100400" cy="410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defRPr/>
            </a:pPr>
            <a:r>
              <a:rPr lang="en" sz="1450">
                <a:latin typeface="Calibri"/>
                <a:ea typeface="Calibri"/>
                <a:cs typeface="Calibri"/>
              </a:rPr>
              <a:t>X: AS1 </a:t>
            </a:r>
            <a:endParaRPr sz="1450">
              <a:latin typeface="Calibri"/>
              <a:ea typeface="Calibri"/>
              <a:cs typeface="Calibri"/>
            </a:endParaRPr>
          </a:p>
        </p:txBody>
      </p:sp>
      <p:sp>
        <p:nvSpPr>
          <p:cNvPr id="1943735325" name="Google Shape;294;p34"/>
          <p:cNvSpPr txBox="1"/>
          <p:nvPr/>
        </p:nvSpPr>
        <p:spPr bwMode="auto">
          <a:xfrm>
            <a:off x="7883000" y="3416052"/>
            <a:ext cx="2088000" cy="410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defRPr/>
            </a:pPr>
            <a:r>
              <a:rPr lang="en" sz="1450">
                <a:latin typeface="Calibri"/>
                <a:ea typeface="Calibri"/>
                <a:cs typeface="Calibri"/>
              </a:rPr>
              <a:t>X: AS2, AS4, AS5, AS1</a:t>
            </a:r>
            <a:endParaRPr sz="1450">
              <a:latin typeface="Calibri"/>
              <a:ea typeface="Calibri"/>
              <a:cs typeface="Calibri"/>
            </a:endParaRPr>
          </a:p>
        </p:txBody>
      </p:sp>
      <p:sp>
        <p:nvSpPr>
          <p:cNvPr id="983957581" name="Google Shape;288;p34"/>
          <p:cNvSpPr/>
          <p:nvPr/>
        </p:nvSpPr>
        <p:spPr bwMode="auto">
          <a:xfrm>
            <a:off x="6551625" y="2327863"/>
            <a:ext cx="1100304" cy="747792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>
              <a:defRPr/>
            </a:pPr>
            <a:r>
              <a:rPr lang="en" sz="1450"/>
              <a:t>AS4</a:t>
            </a:r>
            <a:endParaRPr sz="1450"/>
          </a:p>
        </p:txBody>
      </p:sp>
      <p:sp>
        <p:nvSpPr>
          <p:cNvPr id="1737287146" name="Google Shape;295;p34"/>
          <p:cNvSpPr txBox="1"/>
          <p:nvPr/>
        </p:nvSpPr>
        <p:spPr bwMode="auto">
          <a:xfrm>
            <a:off x="6480500" y="1928401"/>
            <a:ext cx="1402400" cy="63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defRPr/>
            </a:pPr>
            <a:r>
              <a:rPr lang="en" sz="1450">
                <a:latin typeface="Calibri"/>
                <a:ea typeface="Calibri"/>
                <a:cs typeface="Calibri"/>
              </a:rPr>
              <a:t>X: AS4, AS5, AS1</a:t>
            </a:r>
            <a:endParaRPr sz="1450">
              <a:latin typeface="Calibri"/>
              <a:ea typeface="Calibri"/>
              <a:cs typeface="Calibri"/>
            </a:endParaRPr>
          </a:p>
        </p:txBody>
      </p:sp>
      <p:sp>
        <p:nvSpPr>
          <p:cNvPr id="25484330" name="Google Shape;296;p34"/>
          <p:cNvSpPr txBox="1"/>
          <p:nvPr/>
        </p:nvSpPr>
        <p:spPr bwMode="auto">
          <a:xfrm>
            <a:off x="6056725" y="4975526"/>
            <a:ext cx="1402400" cy="410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defRPr/>
            </a:pPr>
            <a:r>
              <a:rPr lang="en" sz="1450">
                <a:latin typeface="Calibri"/>
                <a:ea typeface="Calibri"/>
                <a:cs typeface="Calibri"/>
              </a:rPr>
              <a:t>X: AS3, AS1</a:t>
            </a:r>
            <a:endParaRPr sz="1450">
              <a:latin typeface="Calibri"/>
              <a:ea typeface="Calibri"/>
              <a:cs typeface="Calibri"/>
            </a:endParaRPr>
          </a:p>
        </p:txBody>
      </p:sp>
      <p:sp>
        <p:nvSpPr>
          <p:cNvPr id="1769540753" name="Google Shape;297;p34"/>
          <p:cNvSpPr txBox="1"/>
          <p:nvPr/>
        </p:nvSpPr>
        <p:spPr bwMode="auto">
          <a:xfrm>
            <a:off x="8322275" y="4765552"/>
            <a:ext cx="1402400" cy="63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defRPr/>
            </a:pPr>
            <a:r>
              <a:rPr lang="en" sz="1450">
                <a:latin typeface="Calibri"/>
                <a:ea typeface="Calibri"/>
                <a:cs typeface="Calibri"/>
              </a:rPr>
              <a:t>X: AS2, AS3, AS1</a:t>
            </a:r>
            <a:endParaRPr sz="1450">
              <a:latin typeface="Calibri"/>
              <a:ea typeface="Calibri"/>
              <a:cs typeface="Calibri"/>
            </a:endParaRPr>
          </a:p>
        </p:txBody>
      </p:sp>
      <p:sp>
        <p:nvSpPr>
          <p:cNvPr id="985227473" name="Google Shape;298;p34"/>
          <p:cNvSpPr/>
          <p:nvPr/>
        </p:nvSpPr>
        <p:spPr bwMode="auto">
          <a:xfrm>
            <a:off x="4942525" y="2327863"/>
            <a:ext cx="1100304" cy="747792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>
              <a:defRPr/>
            </a:pPr>
            <a:r>
              <a:rPr lang="en" sz="1450"/>
              <a:t>AS5</a:t>
            </a:r>
            <a:endParaRPr sz="1450"/>
          </a:p>
        </p:txBody>
      </p:sp>
      <p:cxnSp>
        <p:nvCxnSpPr>
          <p:cNvPr id="1520949437" name="Google Shape;299;p34"/>
          <p:cNvCxnSpPr>
            <a:stCxn id="1589910852" idx="0"/>
            <a:endCxn id="1454052634" idx="1"/>
          </p:cNvCxnSpPr>
          <p:nvPr/>
        </p:nvCxnSpPr>
        <p:spPr bwMode="auto">
          <a:xfrm>
            <a:off x="4305549" y="4265459"/>
            <a:ext cx="1961600" cy="144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5051913" name="Google Shape;300;p34"/>
          <p:cNvCxnSpPr>
            <a:stCxn id="983957581" idx="2"/>
            <a:endCxn id="985227473" idx="0"/>
          </p:cNvCxnSpPr>
          <p:nvPr/>
        </p:nvCxnSpPr>
        <p:spPr bwMode="auto">
          <a:xfrm rot="10800000">
            <a:off x="6041837" y="2701759"/>
            <a:ext cx="5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815074" name="Google Shape;301;p34"/>
          <p:cNvCxnSpPr>
            <a:stCxn id="985227473" idx="1"/>
            <a:endCxn id="1589910852" idx="0"/>
          </p:cNvCxnSpPr>
          <p:nvPr/>
        </p:nvCxnSpPr>
        <p:spPr bwMode="auto">
          <a:xfrm flipH="1">
            <a:off x="4305477" y="3074859"/>
            <a:ext cx="1187199" cy="119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4592081" name="Google Shape;302;p34"/>
          <p:cNvSpPr txBox="1"/>
          <p:nvPr/>
        </p:nvSpPr>
        <p:spPr bwMode="auto">
          <a:xfrm>
            <a:off x="4436075" y="1928401"/>
            <a:ext cx="1402400" cy="410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defRPr/>
            </a:pPr>
            <a:r>
              <a:rPr lang="en" sz="1450">
                <a:latin typeface="Calibri"/>
                <a:ea typeface="Calibri"/>
                <a:cs typeface="Calibri"/>
              </a:rPr>
              <a:t>X:  AS5, AS1</a:t>
            </a:r>
            <a:endParaRPr sz="1450">
              <a:latin typeface="Calibri"/>
              <a:ea typeface="Calibri"/>
              <a:cs typeface="Calibri"/>
            </a:endParaRPr>
          </a:p>
        </p:txBody>
      </p:sp>
      <p:sp>
        <p:nvSpPr>
          <p:cNvPr id="1248525177" name="Google Shape;303;p34"/>
          <p:cNvSpPr/>
          <p:nvPr/>
        </p:nvSpPr>
        <p:spPr bwMode="auto">
          <a:xfrm>
            <a:off x="2504151" y="2208697"/>
            <a:ext cx="7286325" cy="2035625"/>
          </a:xfrm>
          <a:custGeom>
            <a:avLst/>
            <a:gdLst/>
            <a:ahLst/>
            <a:cxnLst/>
            <a:rect l="l" t="t" r="r" b="b"/>
            <a:pathLst>
              <a:path w="291453" h="81425" fill="norm" stroke="1" extrusionOk="0">
                <a:moveTo>
                  <a:pt x="291453" y="81425"/>
                </a:moveTo>
                <a:cubicBezTo>
                  <a:pt x="279429" y="70203"/>
                  <a:pt x="244080" y="27479"/>
                  <a:pt x="219311" y="14093"/>
                </a:cubicBezTo>
                <a:cubicBezTo>
                  <a:pt x="194542" y="707"/>
                  <a:pt x="168732" y="-1779"/>
                  <a:pt x="142841" y="1107"/>
                </a:cubicBezTo>
                <a:cubicBezTo>
                  <a:pt x="116950" y="3993"/>
                  <a:pt x="80879" y="18983"/>
                  <a:pt x="63966" y="31407"/>
                </a:cubicBezTo>
                <a:cubicBezTo>
                  <a:pt x="47053" y="43832"/>
                  <a:pt x="52022" y="67799"/>
                  <a:pt x="41361" y="75654"/>
                </a:cubicBezTo>
                <a:cubicBezTo>
                  <a:pt x="30700" y="83510"/>
                  <a:pt x="6894" y="78059"/>
                  <a:pt x="0" y="78540"/>
                </a:cubicBezTo>
              </a:path>
            </a:pathLst>
          </a:cu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401151705" name="Google Shape;304;p34"/>
          <p:cNvSpPr/>
          <p:nvPr/>
        </p:nvSpPr>
        <p:spPr bwMode="auto">
          <a:xfrm>
            <a:off x="2504151" y="4268375"/>
            <a:ext cx="7274300" cy="1724400"/>
          </a:xfrm>
          <a:custGeom>
            <a:avLst/>
            <a:gdLst/>
            <a:ahLst/>
            <a:cxnLst/>
            <a:rect l="l" t="t" r="r" b="b"/>
            <a:pathLst>
              <a:path w="290972" h="68976" fill="norm" stroke="1" extrusionOk="0">
                <a:moveTo>
                  <a:pt x="290972" y="0"/>
                </a:moveTo>
                <a:cubicBezTo>
                  <a:pt x="281433" y="3928"/>
                  <a:pt x="252096" y="12104"/>
                  <a:pt x="233740" y="23567"/>
                </a:cubicBezTo>
                <a:cubicBezTo>
                  <a:pt x="215384" y="35030"/>
                  <a:pt x="206727" y="67173"/>
                  <a:pt x="180836" y="68776"/>
                </a:cubicBezTo>
                <a:cubicBezTo>
                  <a:pt x="154945" y="70379"/>
                  <a:pt x="102922" y="42323"/>
                  <a:pt x="78394" y="33185"/>
                </a:cubicBezTo>
                <a:cubicBezTo>
                  <a:pt x="53866" y="24047"/>
                  <a:pt x="46732" y="18277"/>
                  <a:pt x="33666" y="13948"/>
                </a:cubicBezTo>
                <a:cubicBezTo>
                  <a:pt x="20600" y="9620"/>
                  <a:pt x="5611" y="8336"/>
                  <a:pt x="0" y="7214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261634571" name="Google Shape;305;p34"/>
          <p:cNvSpPr txBox="1"/>
          <p:nvPr/>
        </p:nvSpPr>
        <p:spPr bwMode="auto">
          <a:xfrm>
            <a:off x="4596251" y="5995601"/>
            <a:ext cx="3787600" cy="63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defRPr/>
            </a:pPr>
            <a:r>
              <a:rPr lang="en" sz="1450">
                <a:latin typeface="Calibri"/>
                <a:ea typeface="Calibri"/>
                <a:cs typeface="Calibri"/>
              </a:rPr>
              <a:t>Stub network AS3 creates route leak advertising AS1 to AS2.</a:t>
            </a:r>
            <a:endParaRPr sz="14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898684" name="Google Shape;311;p35"/>
          <p:cNvSpPr txBox="1">
            <a:spLocks noGrp="1"/>
          </p:cNvSpPr>
          <p:nvPr>
            <p:ph type="title"/>
          </p:nvPr>
        </p:nvSpPr>
        <p:spPr bwMode="auto">
          <a:xfrm>
            <a:off x="628650" y="273844"/>
            <a:ext cx="7886800" cy="9944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defRPr/>
            </a:pPr>
            <a:r>
              <a:rPr lang="en"/>
              <a:t>Route Leak Example </a:t>
            </a:r>
            <a:endParaRPr/>
          </a:p>
        </p:txBody>
      </p:sp>
      <p:sp>
        <p:nvSpPr>
          <p:cNvPr id="1683971326" name="Google Shape;312;p35"/>
          <p:cNvSpPr txBox="1">
            <a:spLocks noGrp="1"/>
          </p:cNvSpPr>
          <p:nvPr>
            <p:ph type="body" idx="1"/>
          </p:nvPr>
        </p:nvSpPr>
        <p:spPr bwMode="auto">
          <a:xfrm>
            <a:off x="628650" y="1369218"/>
            <a:ext cx="7886800" cy="29976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t" anchorCtr="0">
            <a:noAutofit/>
          </a:bodyPr>
          <a:lstStyle/>
          <a:p>
            <a:pPr marL="457189" indent="-338658">
              <a:spcBef>
                <a:spcPts val="1067"/>
              </a:spcBef>
              <a:buSzPts val="1400"/>
              <a:buChar char="●"/>
              <a:defRPr/>
            </a:pPr>
            <a:r>
              <a:rPr lang="en"/>
              <a:t>2017: Rostelecom Route Leak Targets E-Commerce Services: </a:t>
            </a:r>
            <a:r>
              <a:rPr lang="en" u="sng">
                <a:solidFill>
                  <a:schemeClr val="hlink"/>
                </a:solidFill>
                <a:hlinkClick r:id="rId3" tooltip=""/>
              </a:rPr>
              <a:t>https://www.thousandeyes.com/blog/rostelecom-route-leak-targets-ecommerce-services</a:t>
            </a:r>
            <a:endParaRPr/>
          </a:p>
          <a:p>
            <a:pPr marL="914377" lvl="1" indent="-338658">
              <a:spcBef>
                <a:spcPts val="0"/>
              </a:spcBef>
              <a:buSzPts val="1400"/>
              <a:buChar char="○"/>
              <a:defRPr/>
            </a:pPr>
            <a:r>
              <a:rPr lang="en"/>
              <a:t>Confirmation that traffic destined for those E-Commerce sites went through the leakers network (possible inspection?)</a:t>
            </a:r>
            <a:endParaRPr/>
          </a:p>
        </p:txBody>
      </p:sp>
      <p:sp>
        <p:nvSpPr>
          <p:cNvPr id="887320360" name="Google Shape;313;p35"/>
          <p:cNvSpPr txBox="1">
            <a:spLocks noGrp="1"/>
          </p:cNvSpPr>
          <p:nvPr>
            <p:ph type="sldNum" idx="12"/>
          </p:nvPr>
        </p:nvSpPr>
        <p:spPr bwMode="auto">
          <a:xfrm>
            <a:off x="6457951" y="4767263"/>
            <a:ext cx="2057600" cy="2740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Clr>
                <a:srgbClr val="000000"/>
              </a:buClr>
              <a:buSzPts val="900"/>
              <a:defRPr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8938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So, some sort of security is needed?</a:t>
            </a:r>
            <a:endParaRPr/>
          </a:p>
        </p:txBody>
      </p:sp>
      <p:sp>
        <p:nvSpPr>
          <p:cNvPr id="171079332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Yes? No?</a:t>
            </a:r>
            <a:endParaRPr/>
          </a:p>
          <a:p>
            <a:pPr>
              <a:defRPr/>
            </a:pPr>
            <a:r>
              <a:rPr lang="en-US"/>
              <a:t>Where?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9725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RPKI + BGPSEC</a:t>
            </a:r>
            <a:endParaRPr/>
          </a:p>
        </p:txBody>
      </p:sp>
      <p:sp>
        <p:nvSpPr>
          <p:cNvPr id="160531993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RPKI – Validates the origins</a:t>
            </a:r>
            <a:endParaRPr/>
          </a:p>
          <a:p>
            <a:pPr>
              <a:defRPr/>
            </a:pPr>
            <a:r>
              <a:rPr lang="en-US"/>
              <a:t>BGPSEC – Validates the paths</a:t>
            </a:r>
            <a:endParaRPr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3229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RPKI – Sign your announcements</a:t>
            </a:r>
            <a:endParaRPr/>
          </a:p>
        </p:txBody>
      </p:sp>
      <p:pic>
        <p:nvPicPr>
          <p:cNvPr id="978130963" name="Picture 2" descr="Equal Prefix BGP Hijack Illustration"/>
          <p:cNvPicPr>
            <a:picLocks noChangeAspect="1" noChangeArrowheads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729205" y="1863090"/>
            <a:ext cx="10515600" cy="499491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954287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 b="1">
                <a:latin typeface="Avenir Book"/>
                <a:cs typeface="Avenir Book"/>
              </a:rPr>
              <a:t>What</a:t>
            </a:r>
            <a:r>
              <a:rPr lang="it-IT" b="1">
                <a:latin typeface="Avenir Book"/>
                <a:cs typeface="Avenir Book"/>
              </a:rPr>
              <a:t> </a:t>
            </a:r>
            <a:r>
              <a:rPr lang="it-IT" b="1">
                <a:latin typeface="Avenir Book"/>
                <a:cs typeface="Avenir Book"/>
              </a:rPr>
              <a:t>is</a:t>
            </a:r>
            <a:r>
              <a:rPr lang="it-IT" b="1">
                <a:latin typeface="Avenir Book"/>
                <a:cs typeface="Avenir Book"/>
              </a:rPr>
              <a:t> RPKI</a:t>
            </a:r>
            <a:endParaRPr/>
          </a:p>
        </p:txBody>
      </p:sp>
      <p:sp>
        <p:nvSpPr>
          <p:cNvPr id="878259212" name="Segnaposto contenuto 2"/>
          <p:cNvSpPr>
            <a:spLocks noGrp="1"/>
          </p:cNvSpPr>
          <p:nvPr>
            <p:ph idx="1"/>
          </p:nvPr>
        </p:nvSpPr>
        <p:spPr bwMode="auto">
          <a:xfrm>
            <a:off x="1595258" y="1600201"/>
            <a:ext cx="8229600" cy="4789904"/>
          </a:xfrm>
        </p:spPr>
        <p:txBody>
          <a:bodyPr>
            <a:normAutofit fontScale="92500" lnSpcReduction="20000"/>
          </a:bodyPr>
          <a:lstStyle/>
          <a:p>
            <a:pPr algn="just">
              <a:defRPr/>
            </a:pPr>
            <a:r>
              <a:rPr lang="it-IT" sz="2200">
                <a:latin typeface="Avenir Book"/>
                <a:cs typeface="Avenir Book"/>
              </a:rPr>
              <a:t>Resource Public </a:t>
            </a:r>
            <a:r>
              <a:rPr lang="it-IT" sz="2200">
                <a:latin typeface="Avenir Book"/>
                <a:cs typeface="Avenir Book"/>
              </a:rPr>
              <a:t>Key</a:t>
            </a:r>
            <a:r>
              <a:rPr lang="it-IT" sz="2200">
                <a:latin typeface="Avenir Book"/>
                <a:cs typeface="Avenir Book"/>
              </a:rPr>
              <a:t> </a:t>
            </a:r>
            <a:r>
              <a:rPr lang="it-IT" sz="2200">
                <a:latin typeface="Avenir Book"/>
                <a:cs typeface="Avenir Book"/>
              </a:rPr>
              <a:t>Infrastructure</a:t>
            </a:r>
            <a:r>
              <a:rPr lang="it-IT" sz="2200">
                <a:latin typeface="Avenir Book"/>
                <a:cs typeface="Avenir Book"/>
              </a:rPr>
              <a:t> </a:t>
            </a:r>
            <a:r>
              <a:rPr lang="it-IT" sz="2200">
                <a:latin typeface="Avenir Book"/>
                <a:cs typeface="Avenir Book"/>
              </a:rPr>
              <a:t>is</a:t>
            </a:r>
            <a:r>
              <a:rPr lang="it-IT" sz="2200">
                <a:latin typeface="Avenir Book"/>
                <a:cs typeface="Avenir Book"/>
              </a:rPr>
              <a:t> </a:t>
            </a:r>
            <a:r>
              <a:rPr lang="it-IT" sz="2200">
                <a:latin typeface="Avenir Book"/>
                <a:cs typeface="Avenir Book"/>
              </a:rPr>
              <a:t>a PKI </a:t>
            </a:r>
            <a:r>
              <a:rPr lang="it-IT" sz="2200">
                <a:latin typeface="Avenir Book"/>
                <a:cs typeface="Avenir Book"/>
              </a:rPr>
              <a:t>framework</a:t>
            </a:r>
            <a:r>
              <a:rPr lang="it-IT" sz="2200">
                <a:latin typeface="Avenir Book"/>
                <a:cs typeface="Avenir Book"/>
              </a:rPr>
              <a:t> </a:t>
            </a:r>
            <a:r>
              <a:rPr lang="it-IT" sz="2200">
                <a:latin typeface="Avenir Book"/>
                <a:cs typeface="Avenir Book"/>
              </a:rPr>
              <a:t>designed</a:t>
            </a:r>
            <a:r>
              <a:rPr lang="it-IT" sz="2200">
                <a:latin typeface="Avenir Book"/>
                <a:cs typeface="Avenir Book"/>
              </a:rPr>
              <a:t> to </a:t>
            </a:r>
            <a:r>
              <a:rPr lang="it-IT" sz="2200">
                <a:latin typeface="Avenir Book"/>
                <a:cs typeface="Avenir Book"/>
              </a:rPr>
              <a:t>secure</a:t>
            </a:r>
            <a:r>
              <a:rPr lang="it-IT" sz="2200">
                <a:latin typeface="Avenir Book"/>
                <a:cs typeface="Avenir Book"/>
              </a:rPr>
              <a:t> the Internet </a:t>
            </a:r>
            <a:r>
              <a:rPr lang="it-IT" sz="2200">
                <a:latin typeface="Avenir Book"/>
                <a:cs typeface="Avenir Book"/>
              </a:rPr>
              <a:t>Infrastructure</a:t>
            </a:r>
            <a:endParaRPr lang="it-IT" sz="2200">
              <a:latin typeface="Avenir Book"/>
              <a:cs typeface="Avenir Book"/>
            </a:endParaRPr>
          </a:p>
          <a:p>
            <a:pPr lvl="1" algn="just">
              <a:defRPr/>
            </a:pPr>
            <a:r>
              <a:rPr lang="it-IT">
                <a:latin typeface="Avenir Book"/>
                <a:cs typeface="Avenir Book"/>
              </a:rPr>
              <a:t>Helps</a:t>
            </a:r>
            <a:r>
              <a:rPr lang="it-IT">
                <a:latin typeface="Avenir Book"/>
                <a:cs typeface="Avenir Book"/>
              </a:rPr>
              <a:t> to </a:t>
            </a:r>
            <a:r>
              <a:rPr lang="it-IT">
                <a:latin typeface="Avenir Book"/>
                <a:cs typeface="Avenir Book"/>
              </a:rPr>
              <a:t>secure</a:t>
            </a:r>
            <a:r>
              <a:rPr lang="it-IT">
                <a:latin typeface="Avenir Book"/>
                <a:cs typeface="Avenir Book"/>
              </a:rPr>
              <a:t> Internet </a:t>
            </a:r>
            <a:r>
              <a:rPr lang="it-IT">
                <a:latin typeface="Avenir Book"/>
                <a:cs typeface="Avenir Book"/>
              </a:rPr>
              <a:t>routing</a:t>
            </a:r>
            <a:r>
              <a:rPr lang="it-IT">
                <a:latin typeface="Avenir Book"/>
                <a:cs typeface="Avenir Book"/>
              </a:rPr>
              <a:t> by </a:t>
            </a:r>
            <a:r>
              <a:rPr lang="it-IT">
                <a:latin typeface="Avenir Book"/>
                <a:cs typeface="Avenir Book"/>
              </a:rPr>
              <a:t>validating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routes</a:t>
            </a:r>
            <a:endParaRPr lang="it-IT" sz="2000">
              <a:latin typeface="Avenir Book"/>
              <a:cs typeface="Avenir Book"/>
            </a:endParaRPr>
          </a:p>
          <a:p>
            <a:pPr marL="114300" indent="0" algn="just">
              <a:buNone/>
              <a:defRPr/>
            </a:pPr>
            <a:endParaRPr lang="it-IT" sz="2200">
              <a:latin typeface="Avenir Book"/>
              <a:cs typeface="Avenir Book"/>
            </a:endParaRPr>
          </a:p>
          <a:p>
            <a:pPr algn="just">
              <a:defRPr/>
            </a:pPr>
            <a:r>
              <a:rPr lang="it-IT">
                <a:latin typeface="Avenir Book"/>
                <a:cs typeface="Avenir Book"/>
              </a:rPr>
              <a:t>The 5 </a:t>
            </a:r>
            <a:r>
              <a:rPr lang="it-IT">
                <a:latin typeface="Avenir Book"/>
                <a:cs typeface="Avenir Book"/>
              </a:rPr>
              <a:t>RIRs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hold</a:t>
            </a:r>
            <a:r>
              <a:rPr lang="it-IT">
                <a:latin typeface="Avenir Book"/>
                <a:cs typeface="Avenir Book"/>
              </a:rPr>
              <a:t> a self-</a:t>
            </a:r>
            <a:r>
              <a:rPr lang="it-IT">
                <a:latin typeface="Avenir Book"/>
                <a:cs typeface="Avenir Book"/>
              </a:rPr>
              <a:t>signed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root</a:t>
            </a:r>
            <a:r>
              <a:rPr lang="it-IT">
                <a:latin typeface="Avenir Book"/>
                <a:cs typeface="Avenir Book"/>
              </a:rPr>
              <a:t> certificate for </a:t>
            </a:r>
            <a:r>
              <a:rPr lang="it-IT">
                <a:latin typeface="Avenir Book"/>
                <a:cs typeface="Avenir Book"/>
              </a:rPr>
              <a:t>all</a:t>
            </a:r>
            <a:r>
              <a:rPr lang="it-IT">
                <a:latin typeface="Avenir Book"/>
                <a:cs typeface="Avenir Book"/>
              </a:rPr>
              <a:t> the </a:t>
            </a:r>
            <a:r>
              <a:rPr lang="it-IT">
                <a:latin typeface="Avenir Book"/>
                <a:cs typeface="Avenir Book"/>
              </a:rPr>
              <a:t>resources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they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have</a:t>
            </a:r>
            <a:r>
              <a:rPr lang="it-IT">
                <a:latin typeface="Avenir Book"/>
                <a:cs typeface="Avenir Book"/>
              </a:rPr>
              <a:t> in the </a:t>
            </a:r>
            <a:r>
              <a:rPr lang="it-IT">
                <a:latin typeface="Avenir Book"/>
                <a:cs typeface="Avenir Book"/>
              </a:rPr>
              <a:t>registry</a:t>
            </a:r>
            <a:endParaRPr lang="it-IT">
              <a:latin typeface="Avenir Book"/>
              <a:cs typeface="Avenir Book"/>
            </a:endParaRPr>
          </a:p>
          <a:p>
            <a:pPr algn="just">
              <a:defRPr/>
            </a:pPr>
            <a:endParaRPr lang="it-IT">
              <a:latin typeface="Avenir Book"/>
              <a:cs typeface="Avenir Book"/>
            </a:endParaRPr>
          </a:p>
          <a:p>
            <a:pPr algn="just">
              <a:defRPr/>
            </a:pPr>
            <a:r>
              <a:rPr lang="it-IT">
                <a:latin typeface="Avenir Book"/>
                <a:cs typeface="Avenir Book"/>
              </a:rPr>
              <a:t>The </a:t>
            </a:r>
            <a:r>
              <a:rPr lang="it-IT">
                <a:latin typeface="Avenir Book"/>
                <a:cs typeface="Avenir Book"/>
              </a:rPr>
              <a:t>root</a:t>
            </a:r>
            <a:r>
              <a:rPr lang="it-IT">
                <a:latin typeface="Avenir Book"/>
                <a:cs typeface="Avenir Book"/>
              </a:rPr>
              <a:t> certificate </a:t>
            </a:r>
            <a:r>
              <a:rPr lang="it-IT">
                <a:latin typeface="Avenir Book"/>
                <a:cs typeface="Avenir Book"/>
              </a:rPr>
              <a:t>is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used</a:t>
            </a:r>
            <a:r>
              <a:rPr lang="it-IT">
                <a:latin typeface="Avenir Book"/>
                <a:cs typeface="Avenir Book"/>
              </a:rPr>
              <a:t> to </a:t>
            </a:r>
            <a:r>
              <a:rPr lang="it-IT">
                <a:latin typeface="Avenir Book"/>
                <a:cs typeface="Avenir Book"/>
              </a:rPr>
              <a:t>sign</a:t>
            </a:r>
            <a:r>
              <a:rPr lang="it-IT">
                <a:latin typeface="Avenir Book"/>
                <a:cs typeface="Avenir Book"/>
              </a:rPr>
              <a:t> a certificate </a:t>
            </a:r>
            <a:r>
              <a:rPr lang="it-IT">
                <a:latin typeface="Avenir Book"/>
                <a:cs typeface="Avenir Book"/>
              </a:rPr>
              <a:t>that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lists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your</a:t>
            </a:r>
            <a:r>
              <a:rPr lang="it-IT">
                <a:latin typeface="Avenir Book"/>
                <a:cs typeface="Avenir Book"/>
              </a:rPr>
              <a:t> </a:t>
            </a:r>
            <a:r>
              <a:rPr lang="it-IT">
                <a:latin typeface="Avenir Book"/>
                <a:cs typeface="Avenir Book"/>
              </a:rPr>
              <a:t>resources</a:t>
            </a:r>
            <a:endParaRPr lang="it-IT">
              <a:latin typeface="Avenir Book"/>
              <a:cs typeface="Avenir Book"/>
            </a:endParaRPr>
          </a:p>
          <a:p>
            <a:pPr marL="114300" indent="0" algn="just">
              <a:buNone/>
              <a:defRPr/>
            </a:pPr>
            <a:endParaRPr lang="it-IT" sz="2200">
              <a:latin typeface="Avenir Book"/>
              <a:cs typeface="Avenir Book"/>
            </a:endParaRPr>
          </a:p>
          <a:p>
            <a:pPr algn="just">
              <a:defRPr/>
            </a:pPr>
            <a:r>
              <a:rPr lang="it-IT" sz="2200">
                <a:latin typeface="Avenir Book"/>
                <a:cs typeface="Avenir Book"/>
              </a:rPr>
              <a:t>The certificate </a:t>
            </a:r>
            <a:r>
              <a:rPr lang="it-IT" sz="2200">
                <a:latin typeface="Avenir Book"/>
                <a:cs typeface="Avenir Book"/>
              </a:rPr>
              <a:t>hierarchy</a:t>
            </a:r>
            <a:r>
              <a:rPr lang="it-IT" sz="2200">
                <a:latin typeface="Avenir Book"/>
                <a:cs typeface="Avenir Book"/>
              </a:rPr>
              <a:t> </a:t>
            </a:r>
            <a:r>
              <a:rPr lang="it-IT" sz="2200">
                <a:latin typeface="Avenir Book"/>
                <a:cs typeface="Avenir Book"/>
              </a:rPr>
              <a:t>follows</a:t>
            </a:r>
            <a:r>
              <a:rPr lang="it-IT" sz="2200">
                <a:latin typeface="Avenir Book"/>
                <a:cs typeface="Avenir Book"/>
              </a:rPr>
              <a:t> the </a:t>
            </a:r>
            <a:r>
              <a:rPr lang="it-IT" sz="2200">
                <a:latin typeface="Avenir Book"/>
                <a:cs typeface="Avenir Book"/>
              </a:rPr>
              <a:t>same</a:t>
            </a:r>
            <a:r>
              <a:rPr lang="it-IT" sz="2200">
                <a:latin typeface="Avenir Book"/>
                <a:cs typeface="Avenir Book"/>
              </a:rPr>
              <a:t> </a:t>
            </a:r>
            <a:r>
              <a:rPr lang="it-IT" sz="2200">
                <a:latin typeface="Avenir Book"/>
                <a:cs typeface="Avenir Book"/>
              </a:rPr>
              <a:t>structure</a:t>
            </a:r>
            <a:r>
              <a:rPr lang="it-IT" sz="2200">
                <a:latin typeface="Avenir Book"/>
                <a:cs typeface="Avenir Book"/>
              </a:rPr>
              <a:t> </a:t>
            </a:r>
            <a:r>
              <a:rPr lang="it-IT" sz="2200">
                <a:latin typeface="Avenir Book"/>
                <a:cs typeface="Avenir Book"/>
              </a:rPr>
              <a:t>as</a:t>
            </a:r>
            <a:r>
              <a:rPr lang="it-IT" sz="2200">
                <a:latin typeface="Avenir Book"/>
                <a:cs typeface="Avenir Book"/>
              </a:rPr>
              <a:t> the Internet </a:t>
            </a:r>
            <a:r>
              <a:rPr lang="it-IT" sz="2200">
                <a:latin typeface="Avenir Book"/>
                <a:cs typeface="Avenir Book"/>
              </a:rPr>
              <a:t>Number</a:t>
            </a:r>
            <a:r>
              <a:rPr lang="it-IT" sz="2200">
                <a:latin typeface="Avenir Book"/>
                <a:cs typeface="Avenir Book"/>
              </a:rPr>
              <a:t> Resource </a:t>
            </a:r>
            <a:r>
              <a:rPr lang="it-IT" sz="2200">
                <a:latin typeface="Avenir Book"/>
                <a:cs typeface="Avenir Book"/>
              </a:rPr>
              <a:t>allocation</a:t>
            </a:r>
            <a:endParaRPr lang="it-IT" sz="2200">
              <a:latin typeface="Avenir Book"/>
              <a:cs typeface="Avenir Book"/>
            </a:endParaRPr>
          </a:p>
          <a:p>
            <a:pPr marL="411480" lvl="1" indent="0" algn="just">
              <a:buNone/>
              <a:defRPr/>
            </a:pPr>
            <a:endParaRPr lang="it-IT" sz="1800">
              <a:latin typeface="Avenir Book"/>
              <a:cs typeface="Avenir Book"/>
            </a:endParaRPr>
          </a:p>
          <a:p>
            <a:pPr marL="0" indent="0" algn="just">
              <a:buNone/>
              <a:defRPr/>
            </a:pPr>
            <a:endParaRPr lang="it-IT" sz="2200">
              <a:latin typeface="Avenir Book"/>
              <a:cs typeface="Avenir Book"/>
            </a:endParaRPr>
          </a:p>
          <a:p>
            <a:pPr algn="just">
              <a:defRPr/>
            </a:pPr>
            <a:r>
              <a:rPr lang="it-IT" sz="2200">
                <a:latin typeface="Avenir Book"/>
                <a:cs typeface="Avenir Book"/>
              </a:rPr>
              <a:t>All</a:t>
            </a:r>
            <a:r>
              <a:rPr lang="it-IT" sz="2200">
                <a:latin typeface="Avenir Book"/>
                <a:cs typeface="Avenir Book"/>
              </a:rPr>
              <a:t> </a:t>
            </a:r>
            <a:r>
              <a:rPr lang="it-IT" sz="2200">
                <a:latin typeface="Avenir Book"/>
                <a:cs typeface="Avenir Book"/>
              </a:rPr>
              <a:t>certificates</a:t>
            </a:r>
            <a:r>
              <a:rPr lang="it-IT" sz="2200">
                <a:latin typeface="Avenir Book"/>
                <a:cs typeface="Avenir Book"/>
              </a:rPr>
              <a:t> are </a:t>
            </a:r>
            <a:r>
              <a:rPr lang="it-IT" sz="2200">
                <a:latin typeface="Avenir Book"/>
                <a:cs typeface="Avenir Book"/>
              </a:rPr>
              <a:t>published</a:t>
            </a:r>
            <a:r>
              <a:rPr lang="it-IT" sz="2200">
                <a:latin typeface="Avenir Book"/>
                <a:cs typeface="Avenir Book"/>
              </a:rPr>
              <a:t> in </a:t>
            </a:r>
            <a:r>
              <a:rPr lang="it-IT" sz="2200">
                <a:latin typeface="Avenir Book"/>
                <a:cs typeface="Avenir Book"/>
              </a:rPr>
              <a:t>publicly</a:t>
            </a:r>
            <a:r>
              <a:rPr lang="it-IT" sz="2200">
                <a:latin typeface="Avenir Book"/>
                <a:cs typeface="Avenir Book"/>
              </a:rPr>
              <a:t> </a:t>
            </a:r>
            <a:r>
              <a:rPr lang="it-IT" sz="2200">
                <a:latin typeface="Avenir Book"/>
                <a:cs typeface="Avenir Book"/>
              </a:rPr>
              <a:t>accessible</a:t>
            </a:r>
            <a:r>
              <a:rPr lang="it-IT" sz="2200">
                <a:latin typeface="Avenir Book"/>
                <a:cs typeface="Avenir Book"/>
              </a:rPr>
              <a:t> </a:t>
            </a:r>
            <a:r>
              <a:rPr lang="it-IT" sz="2200">
                <a:latin typeface="Avenir Book"/>
                <a:cs typeface="Avenir Book"/>
              </a:rPr>
              <a:t>repositories</a:t>
            </a:r>
            <a:endParaRPr lang="it-IT" sz="2200">
              <a:latin typeface="Avenir Book"/>
              <a:cs typeface="Avenir Book"/>
            </a:endParaRPr>
          </a:p>
          <a:p>
            <a:pPr marL="457200" lvl="1" indent="0" algn="just">
              <a:buNone/>
              <a:defRPr/>
            </a:pPr>
            <a:endParaRPr lang="it-IT" sz="1800">
              <a:latin typeface="Avenir Book"/>
              <a:cs typeface="Avenir Book"/>
            </a:endParaRPr>
          </a:p>
          <a:p>
            <a:pPr marL="0" indent="0" algn="just">
              <a:buNone/>
              <a:defRPr/>
            </a:pPr>
            <a:endParaRPr lang="it-IT" sz="2200">
              <a:latin typeface="Avenir Book"/>
              <a:cs typeface="Avenir Book"/>
            </a:endParaRPr>
          </a:p>
          <a:p>
            <a:pPr marL="0" indent="0" algn="just">
              <a:buNone/>
              <a:defRPr/>
            </a:pPr>
            <a:endParaRPr lang="it-IT" sz="2200">
              <a:latin typeface="Avenir Book"/>
              <a:cs typeface="Avenir Boo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4030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RPKI – Threat Model</a:t>
            </a:r>
            <a:endParaRPr/>
          </a:p>
        </p:txBody>
      </p:sp>
      <p:sp>
        <p:nvSpPr>
          <p:cNvPr id="13245475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Unauthorized origin AS announces prefix</a:t>
            </a:r>
            <a:endParaRPr/>
          </a:p>
          <a:p>
            <a:pPr lvl="1">
              <a:defRPr/>
            </a:pPr>
            <a:r>
              <a:rPr/>
              <a:t>Traffic interception or blackholing</a:t>
            </a:r>
            <a:endParaRPr/>
          </a:p>
          <a:p>
            <a:pPr lvl="1">
              <a:defRPr/>
            </a:pPr>
            <a:r>
              <a:rPr/>
              <a:t>Accidental misconfiguration at ISP scale</a:t>
            </a:r>
            <a:endParaRPr/>
          </a:p>
          <a:p>
            <a:pPr lvl="1">
              <a:defRPr/>
            </a:pPr>
            <a:r>
              <a:rPr/>
              <a:t>Need for cryptographic origin validation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3186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RPKI – </a:t>
            </a:r>
            <a:r>
              <a:rPr lang="en-US"/>
              <a:t>How it works? Certificates</a:t>
            </a:r>
            <a:endParaRPr/>
          </a:p>
        </p:txBody>
      </p:sp>
      <p:pic>
        <p:nvPicPr>
          <p:cNvPr id="2002854177" name="Picture 2" descr="Rpki Ca Repository Roa Prefix Asn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5567423" y="1342900"/>
            <a:ext cx="5317583" cy="5052113"/>
          </a:xfrm>
          <a:prstGeom prst="rect">
            <a:avLst/>
          </a:prstGeom>
          <a:noFill/>
        </p:spPr>
      </p:pic>
      <p:sp>
        <p:nvSpPr>
          <p:cNvPr id="823789849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4150489" cy="4351338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/>
              <a:t>Create </a:t>
            </a:r>
            <a:r>
              <a:rPr lang="en-US"/>
              <a:t>Cerifiicates</a:t>
            </a:r>
            <a:endParaRPr lang="en-US"/>
          </a:p>
          <a:p>
            <a:pPr>
              <a:defRPr/>
            </a:pPr>
            <a:r>
              <a:rPr lang="en-US"/>
              <a:t>Have them signed by trust anchors (TA)</a:t>
            </a:r>
            <a:endParaRPr/>
          </a:p>
          <a:p>
            <a:pPr lvl="1">
              <a:defRPr/>
            </a:pPr>
            <a:r>
              <a:rPr lang="en-US"/>
              <a:t>RIRs</a:t>
            </a:r>
            <a:endParaRPr/>
          </a:p>
          <a:p>
            <a:pPr lvl="1">
              <a:defRPr/>
            </a:pPr>
            <a:r>
              <a:rPr lang="en-US"/>
              <a:t>ARIN</a:t>
            </a:r>
            <a:endParaRPr/>
          </a:p>
          <a:p>
            <a:pPr lvl="1">
              <a:defRPr/>
            </a:pPr>
            <a:r>
              <a:rPr lang="en-US"/>
              <a:t>APNIC</a:t>
            </a:r>
            <a:endParaRPr/>
          </a:p>
          <a:p>
            <a:pPr lvl="1">
              <a:defRPr/>
            </a:pPr>
            <a:r>
              <a:rPr lang="en-US"/>
              <a:t>RIPE</a:t>
            </a:r>
            <a:endParaRPr/>
          </a:p>
          <a:p>
            <a:pPr lvl="1">
              <a:defRPr/>
            </a:pPr>
            <a:r>
              <a:rPr lang="en-US"/>
              <a:t>LACNIC</a:t>
            </a:r>
            <a:endParaRPr/>
          </a:p>
          <a:p>
            <a:pPr lvl="1">
              <a:defRPr/>
            </a:pPr>
            <a:r>
              <a:rPr lang="en-US"/>
              <a:t>AFRINIC</a:t>
            </a:r>
            <a:endParaRPr/>
          </a:p>
          <a:p>
            <a:pPr>
              <a:defRPr/>
            </a:pPr>
            <a:r>
              <a:rPr lang="en-US"/>
              <a:t>Create signed Route Origin Authorization (ROA)</a:t>
            </a:r>
            <a:endParaRPr/>
          </a:p>
          <a:p>
            <a:pPr lvl="1">
              <a:defRPr/>
            </a:pPr>
            <a:r>
              <a:rPr lang="en-US"/>
              <a:t>The authorized AS number.</a:t>
            </a:r>
            <a:endParaRPr/>
          </a:p>
          <a:p>
            <a:pPr lvl="1">
              <a:defRPr/>
            </a:pPr>
            <a:r>
              <a:rPr lang="en-US"/>
              <a:t>The prefix that the AS can originate</a:t>
            </a:r>
            <a:endParaRPr/>
          </a:p>
          <a:p>
            <a:pPr lvl="1">
              <a:defRPr/>
            </a:pPr>
            <a:r>
              <a:rPr lang="en-US"/>
              <a:t>The maximum prefix length (</a:t>
            </a:r>
            <a:r>
              <a:rPr lang="en-US"/>
              <a:t>maxLength</a:t>
            </a:r>
            <a:r>
              <a:rPr lang="en-US"/>
              <a:t>).</a:t>
            </a:r>
            <a:endParaRPr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502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RPKI – </a:t>
            </a:r>
            <a:r>
              <a:rPr lang="en-US"/>
              <a:t>How it works? Certificates</a:t>
            </a:r>
            <a:endParaRPr/>
          </a:p>
        </p:txBody>
      </p:sp>
      <p:sp>
        <p:nvSpPr>
          <p:cNvPr id="852196490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4150489" cy="4351338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/>
              <a:t>Create </a:t>
            </a:r>
            <a:r>
              <a:rPr lang="en-US"/>
              <a:t>Cerifiicates</a:t>
            </a:r>
            <a:endParaRPr lang="en-US"/>
          </a:p>
          <a:p>
            <a:pPr>
              <a:defRPr/>
            </a:pPr>
            <a:r>
              <a:rPr lang="en-US"/>
              <a:t>Have them signed by trust anchors (TA)</a:t>
            </a:r>
            <a:endParaRPr/>
          </a:p>
          <a:p>
            <a:pPr lvl="1">
              <a:defRPr/>
            </a:pPr>
            <a:r>
              <a:rPr lang="en-US"/>
              <a:t>RIRs</a:t>
            </a:r>
            <a:endParaRPr/>
          </a:p>
          <a:p>
            <a:pPr lvl="1">
              <a:defRPr/>
            </a:pPr>
            <a:r>
              <a:rPr lang="en-US"/>
              <a:t>ARIN</a:t>
            </a:r>
            <a:endParaRPr/>
          </a:p>
          <a:p>
            <a:pPr lvl="1">
              <a:defRPr/>
            </a:pPr>
            <a:r>
              <a:rPr lang="en-US"/>
              <a:t>APNIC</a:t>
            </a:r>
            <a:endParaRPr/>
          </a:p>
          <a:p>
            <a:pPr lvl="1">
              <a:defRPr/>
            </a:pPr>
            <a:r>
              <a:rPr lang="en-US"/>
              <a:t>RIPE</a:t>
            </a:r>
            <a:endParaRPr/>
          </a:p>
          <a:p>
            <a:pPr lvl="1">
              <a:defRPr/>
            </a:pPr>
            <a:r>
              <a:rPr lang="en-US"/>
              <a:t>LACNIC</a:t>
            </a:r>
            <a:endParaRPr/>
          </a:p>
          <a:p>
            <a:pPr lvl="1">
              <a:defRPr/>
            </a:pPr>
            <a:r>
              <a:rPr lang="en-US"/>
              <a:t>AFRINIC</a:t>
            </a:r>
            <a:endParaRPr/>
          </a:p>
          <a:p>
            <a:pPr>
              <a:defRPr/>
            </a:pPr>
            <a:r>
              <a:rPr lang="en-US"/>
              <a:t>Create signed Route Origin Authorization (ROA)</a:t>
            </a:r>
            <a:endParaRPr/>
          </a:p>
          <a:p>
            <a:pPr lvl="1">
              <a:defRPr/>
            </a:pPr>
            <a:r>
              <a:rPr lang="en-US"/>
              <a:t>The authorized AS number.</a:t>
            </a:r>
            <a:endParaRPr/>
          </a:p>
          <a:p>
            <a:pPr lvl="1">
              <a:defRPr/>
            </a:pPr>
            <a:r>
              <a:rPr lang="en-US"/>
              <a:t>The prefix that the AS can originate</a:t>
            </a:r>
            <a:endParaRPr/>
          </a:p>
          <a:p>
            <a:pPr lvl="1">
              <a:defRPr/>
            </a:pPr>
            <a:r>
              <a:rPr lang="en-US"/>
              <a:t>The maximum prefix length (</a:t>
            </a:r>
            <a:r>
              <a:rPr lang="en-US"/>
              <a:t>maxLength</a:t>
            </a:r>
            <a:r>
              <a:rPr lang="en-US"/>
              <a:t>).</a:t>
            </a:r>
            <a:endParaRPr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/>
          </a:p>
        </p:txBody>
      </p:sp>
      <p:pic>
        <p:nvPicPr>
          <p:cNvPr id="1769518920" name="Picture 3" descr="RPKI - How it works 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88689" y="2086092"/>
            <a:ext cx="5914328" cy="31695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7377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RPKI – </a:t>
            </a:r>
            <a:r>
              <a:rPr lang="en-US"/>
              <a:t>How it works? Validation</a:t>
            </a:r>
            <a:endParaRPr/>
          </a:p>
        </p:txBody>
      </p:sp>
      <p:sp>
        <p:nvSpPr>
          <p:cNvPr id="1440284265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4150489" cy="4351338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/>
              <a:t>If you receive a route advertisement, you can now validate it.</a:t>
            </a:r>
            <a:endParaRPr/>
          </a:p>
          <a:p>
            <a:pPr>
              <a:defRPr/>
            </a:pPr>
            <a:r>
              <a:rPr lang="en-US"/>
              <a:t>How?</a:t>
            </a:r>
            <a:endParaRPr/>
          </a:p>
          <a:p>
            <a:pPr lvl="1">
              <a:defRPr/>
            </a:pPr>
            <a:r>
              <a:rPr lang="en-US"/>
              <a:t>One route at a time?</a:t>
            </a:r>
            <a:endParaRPr/>
          </a:p>
          <a:p>
            <a:pPr lvl="1">
              <a:defRPr/>
            </a:pPr>
            <a:r>
              <a:rPr lang="en-US"/>
              <a:t>All at once?</a:t>
            </a:r>
            <a:endParaRPr/>
          </a:p>
          <a:p>
            <a:pPr>
              <a:defRPr/>
            </a:pPr>
            <a:r>
              <a:rPr lang="en-US" b="1"/>
              <a:t>RPKI validator</a:t>
            </a:r>
            <a:endParaRPr/>
          </a:p>
          <a:p>
            <a:pPr lvl="1">
              <a:defRPr/>
            </a:pPr>
            <a:r>
              <a:rPr lang="en-US" b="1"/>
              <a:t>Looks up all records</a:t>
            </a:r>
            <a:endParaRPr/>
          </a:p>
          <a:p>
            <a:pPr lvl="1">
              <a:defRPr/>
            </a:pPr>
            <a:r>
              <a:rPr lang="en-US" b="1"/>
              <a:t>Rsync</a:t>
            </a:r>
            <a:r>
              <a:rPr lang="en-US" b="1"/>
              <a:t>/RRDP</a:t>
            </a:r>
            <a:endParaRPr/>
          </a:p>
          <a:p>
            <a:pPr lvl="1">
              <a:defRPr/>
            </a:pPr>
            <a:r>
              <a:rPr lang="en-US" b="1"/>
              <a:t>Keep in cache</a:t>
            </a:r>
            <a:endParaRPr/>
          </a:p>
          <a:p>
            <a:pPr>
              <a:defRPr/>
            </a:pPr>
            <a:r>
              <a:rPr lang="en-US" b="1"/>
              <a:t>Routers can do quick look-up</a:t>
            </a:r>
            <a:endParaRPr/>
          </a:p>
          <a:p>
            <a:pPr lvl="1">
              <a:defRPr/>
            </a:pPr>
            <a:r>
              <a:rPr lang="en-US"/>
              <a:t>Assign state: VALID, INVALID, NOT FOUND</a:t>
            </a:r>
            <a:endParaRPr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</p:txBody>
      </p:sp>
      <p:pic>
        <p:nvPicPr>
          <p:cNvPr id="1574709194" name="Picture 2" descr="RPKI - How it works 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5561414" y="1825625"/>
            <a:ext cx="5303193" cy="435133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7539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RPKI – </a:t>
            </a:r>
            <a:r>
              <a:rPr lang="en-US"/>
              <a:t>Preventing Hijack</a:t>
            </a:r>
            <a:endParaRPr/>
          </a:p>
        </p:txBody>
      </p:sp>
      <p:pic>
        <p:nvPicPr>
          <p:cNvPr id="630963533" name="Picture 2" descr="Prevent Hijack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4968293" y="-64307"/>
            <a:ext cx="6385507" cy="692230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8138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RPKI Operational Risks</a:t>
            </a:r>
            <a:endParaRPr/>
          </a:p>
        </p:txBody>
      </p:sp>
      <p:sp>
        <p:nvSpPr>
          <p:cNvPr id="26984414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Incorrect ROA causes legitimate outage</a:t>
            </a:r>
            <a:endParaRPr/>
          </a:p>
          <a:p>
            <a:pPr lvl="1">
              <a:defRPr/>
            </a:pPr>
            <a:r>
              <a:rPr/>
              <a:t>Validator synchronization delays</a:t>
            </a:r>
            <a:endParaRPr/>
          </a:p>
          <a:p>
            <a:pPr lvl="1">
              <a:defRPr/>
            </a:pPr>
            <a:r>
              <a:rPr/>
              <a:t>Fail-open vs fail-closed design choice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069885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/>
              <a:t>We are good – right?</a:t>
            </a:r>
            <a:endParaRPr/>
          </a:p>
        </p:txBody>
      </p:sp>
      <p:sp>
        <p:nvSpPr>
          <p:cNvPr id="118490240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/>
              <a:t>No AS_PATH validation</a:t>
            </a:r>
            <a:endParaRPr/>
          </a:p>
          <a:p>
            <a:pPr lvl="1">
              <a:defRPr/>
            </a:pPr>
            <a:r>
              <a:rPr lang="en-US" sz="2800"/>
              <a:t>Does not prevent route leaks</a:t>
            </a:r>
            <a:endParaRPr/>
          </a:p>
          <a:p>
            <a:pPr lvl="1">
              <a:defRPr/>
            </a:pPr>
            <a:r>
              <a:rPr lang="en-US" sz="2800"/>
              <a:t>Centralized trust model concerns</a:t>
            </a:r>
            <a:endParaRPr/>
          </a:p>
          <a:p>
            <a:pPr lvl="1">
              <a:defRPr/>
            </a:pPr>
            <a:r>
              <a:rPr lang="en-US" sz="2800"/>
              <a:t>Dependent on global ROA coverage</a:t>
            </a:r>
            <a:endParaRPr/>
          </a:p>
        </p:txBody>
      </p:sp>
      <p:pic>
        <p:nvPicPr>
          <p:cNvPr id="1781557931" name="Picture 4" descr="RPKI Fails"/>
          <p:cNvPicPr>
            <a:picLocks noChangeAspect="1"/>
          </p:cNvPicPr>
          <p:nvPr/>
        </p:nvPicPr>
        <p:blipFill rotWithShape="1">
          <a:blip r:embed="rId3"/>
          <a:srcRect l="11540" t="0" r="19989" b="1"/>
          <a:stretch/>
        </p:blipFill>
        <p:spPr bwMode="auto">
          <a:xfrm>
            <a:off x="6172200" y="1825625"/>
            <a:ext cx="5181600" cy="4351338"/>
          </a:xfrm>
          <a:prstGeom prst="rect">
            <a:avLst/>
          </a:prstGeom>
          <a:noFill/>
        </p:spPr>
      </p:pic>
      <p:sp>
        <p:nvSpPr>
          <p:cNvPr id="1989291088" name="TextBox 6"/>
          <p:cNvSpPr txBox="1"/>
          <p:nvPr/>
        </p:nvSpPr>
        <p:spPr bwMode="auto">
          <a:xfrm>
            <a:off x="500214" y="5988734"/>
            <a:ext cx="6113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https://</a:t>
            </a:r>
            <a:r>
              <a:rPr lang="en-US"/>
              <a:t>www.ietf.org</a:t>
            </a:r>
            <a:r>
              <a:rPr lang="en-US"/>
              <a:t>/proceedings/interim-2014-sidr-01/slides/slides-interim-2014-sidr-1-0.pdf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8202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/>
              <a:t>We are good – right?</a:t>
            </a:r>
            <a:endParaRPr/>
          </a:p>
        </p:txBody>
      </p:sp>
      <p:sp>
        <p:nvSpPr>
          <p:cNvPr id="208624991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/>
              <a:t>No AS_PATH validation</a:t>
            </a:r>
            <a:endParaRPr/>
          </a:p>
          <a:p>
            <a:pPr lvl="1">
              <a:defRPr/>
            </a:pPr>
            <a:r>
              <a:rPr lang="en-US" sz="2800"/>
              <a:t>Does not prevent route leaks</a:t>
            </a:r>
            <a:endParaRPr/>
          </a:p>
          <a:p>
            <a:pPr lvl="1">
              <a:defRPr/>
            </a:pPr>
            <a:r>
              <a:rPr lang="en-US" sz="2800"/>
              <a:t>Centralized trust model concerns</a:t>
            </a:r>
            <a:endParaRPr/>
          </a:p>
          <a:p>
            <a:pPr lvl="1">
              <a:defRPr/>
            </a:pPr>
            <a:r>
              <a:rPr lang="en-US" sz="2800"/>
              <a:t>Dependent on global ROA coverage</a:t>
            </a:r>
            <a:endParaRPr/>
          </a:p>
        </p:txBody>
      </p:sp>
      <p:pic>
        <p:nvPicPr>
          <p:cNvPr id="1084678844" name="Picture 4" descr="RPKI Fails"/>
          <p:cNvPicPr>
            <a:picLocks noChangeAspect="1"/>
          </p:cNvPicPr>
          <p:nvPr/>
        </p:nvPicPr>
        <p:blipFill rotWithShape="1">
          <a:blip r:embed="rId3"/>
          <a:srcRect l="11540" t="0" r="19989" b="1"/>
          <a:stretch/>
        </p:blipFill>
        <p:spPr bwMode="auto">
          <a:xfrm>
            <a:off x="6172200" y="1825625"/>
            <a:ext cx="5181600" cy="4351338"/>
          </a:xfrm>
          <a:prstGeom prst="rect">
            <a:avLst/>
          </a:prstGeom>
          <a:noFill/>
        </p:spPr>
      </p:pic>
      <p:sp>
        <p:nvSpPr>
          <p:cNvPr id="2091157767" name="TextBox 6"/>
          <p:cNvSpPr txBox="1"/>
          <p:nvPr/>
        </p:nvSpPr>
        <p:spPr bwMode="auto">
          <a:xfrm>
            <a:off x="500214" y="5988734"/>
            <a:ext cx="6113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https://</a:t>
            </a:r>
            <a:r>
              <a:rPr lang="en-US"/>
              <a:t>www.ietf.org</a:t>
            </a:r>
            <a:r>
              <a:rPr lang="en-US"/>
              <a:t>/proceedings/interim-2014-sidr-01/slides/slides-interim-2014-sidr-1-0.pdf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245720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/>
              <a:t>Enters BGPSEC</a:t>
            </a:r>
            <a:endParaRPr/>
          </a:p>
        </p:txBody>
      </p:sp>
      <p:sp>
        <p:nvSpPr>
          <p:cNvPr id="168855480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/>
              <a:t>RPKI certifies resource allocation.</a:t>
            </a:r>
            <a:endParaRPr/>
          </a:p>
          <a:p>
            <a:pPr lvl="1">
              <a:defRPr/>
            </a:pPr>
            <a:r>
              <a:rPr lang="en-US" sz="2800"/>
              <a:t>RPKI enables origin validation.</a:t>
            </a:r>
            <a:endParaRPr/>
          </a:p>
          <a:p>
            <a:pPr lvl="1">
              <a:defRPr/>
            </a:pPr>
            <a:r>
              <a:rPr lang="en-US" sz="2800"/>
              <a:t>BGPSEC enables path validation.</a:t>
            </a:r>
            <a:endParaRPr/>
          </a:p>
          <a:p>
            <a:pPr lvl="1">
              <a:defRPr/>
            </a:pPr>
            <a:r>
              <a:rPr lang="en-US" sz="2800"/>
              <a:t>Origin validation verifies originating ASN.</a:t>
            </a:r>
            <a:endParaRPr/>
          </a:p>
          <a:p>
            <a:pPr lvl="1">
              <a:defRPr/>
            </a:pPr>
            <a:r>
              <a:rPr lang="en-US" sz="2800"/>
              <a:t>Path validation verifies AS_PATH integrity.</a:t>
            </a:r>
            <a:endParaRPr/>
          </a:p>
        </p:txBody>
      </p:sp>
      <p:pic>
        <p:nvPicPr>
          <p:cNvPr id="1381972848" name="Picture 2" descr="BGP security: the BGPsec protocol | Noction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6172200" y="2133692"/>
            <a:ext cx="5181600" cy="3735202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97016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/>
              <a:t>BGPSEC Core Idea</a:t>
            </a:r>
            <a:endParaRPr/>
          </a:p>
        </p:txBody>
      </p:sp>
      <p:sp>
        <p:nvSpPr>
          <p:cNvPr id="193323650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4244163" cy="4351338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/>
              <a:t>Each AS signs update before forwarding.</a:t>
            </a:r>
            <a:endParaRPr/>
          </a:p>
          <a:p>
            <a:pPr lvl="1">
              <a:defRPr/>
            </a:pPr>
            <a:r>
              <a:rPr lang="en-US" sz="2800"/>
              <a:t>Signature covers accumulated path.</a:t>
            </a:r>
            <a:endParaRPr/>
          </a:p>
          <a:p>
            <a:pPr lvl="1">
              <a:defRPr/>
            </a:pPr>
            <a:r>
              <a:rPr lang="en-US" sz="2800"/>
              <a:t>Covers destination (NLRI)</a:t>
            </a:r>
            <a:endParaRPr/>
          </a:p>
          <a:p>
            <a:pPr lvl="1">
              <a:defRPr/>
            </a:pPr>
            <a:r>
              <a:rPr lang="en-US" sz="2800"/>
              <a:t>Signature includes neighbor ASN.</a:t>
            </a:r>
            <a:endParaRPr/>
          </a:p>
          <a:p>
            <a:pPr lvl="1">
              <a:defRPr/>
            </a:pPr>
            <a:r>
              <a:rPr lang="en-US" sz="2800"/>
              <a:t>Prevents path fabrication and grafting.</a:t>
            </a:r>
            <a:endParaRPr/>
          </a:p>
        </p:txBody>
      </p:sp>
      <p:pic>
        <p:nvPicPr>
          <p:cNvPr id="975245614" name="Picture 2" descr="BGPSEC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5347004" y="1690688"/>
            <a:ext cx="6006796" cy="3408857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37692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/>
              <a:t>BGPSEC Core Idea</a:t>
            </a:r>
            <a:r>
              <a:rPr lang="en-US"/>
              <a:t> 2/2</a:t>
            </a:r>
            <a:endParaRPr/>
          </a:p>
        </p:txBody>
      </p:sp>
      <p:sp>
        <p:nvSpPr>
          <p:cNvPr id="73057923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4244163" cy="4351338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en-US"/>
              <a:t>Need to protect the formation of the AS_PATH</a:t>
            </a:r>
            <a:endParaRPr/>
          </a:p>
          <a:p>
            <a:pPr>
              <a:defRPr/>
            </a:pPr>
            <a:r>
              <a:rPr lang="en-US"/>
              <a:t>• Prevent grafting a valid origin onto a false path</a:t>
            </a:r>
            <a:br>
              <a:rPr lang="en-US"/>
            </a:br>
            <a:r>
              <a:rPr lang="en-US"/>
              <a:t>• Prevent path poisoning</a:t>
            </a:r>
            <a:endParaRPr/>
          </a:p>
          <a:p>
            <a:pPr>
              <a:defRPr/>
            </a:pPr>
            <a:r>
              <a:rPr lang="en-US"/>
              <a:t>• Sign each update you receive before forwarding it</a:t>
            </a:r>
            <a:br>
              <a:rPr lang="en-US"/>
            </a:br>
            <a:r>
              <a:rPr lang="en-US"/>
              <a:t>– Proves you did not invent the path</a:t>
            </a:r>
            <a:br>
              <a:rPr lang="en-US"/>
            </a:br>
            <a:r>
              <a:rPr lang="en-US"/>
              <a:t>– Include the neighbor AS in the signature</a:t>
            </a:r>
            <a:br>
              <a:rPr lang="en-US"/>
            </a:br>
            <a:r>
              <a:rPr lang="en-US"/>
              <a:t>– Prevent cut-and-paste reuse of signed paths</a:t>
            </a:r>
            <a:endParaRPr/>
          </a:p>
          <a:p>
            <a:pPr>
              <a:defRPr/>
            </a:pPr>
            <a:r>
              <a:rPr lang="en-US"/>
              <a:t>Introduce a new BGP attribute: BGPSEC_PATH</a:t>
            </a:r>
            <a:endParaRPr/>
          </a:p>
          <a:p>
            <a:pPr>
              <a:defRPr/>
            </a:pPr>
            <a:r>
              <a:rPr lang="en-US"/>
              <a:t>• Introduce a new capability</a:t>
            </a:r>
            <a:br>
              <a:rPr lang="en-US"/>
            </a:br>
            <a:r>
              <a:rPr lang="en-US"/>
              <a:t>– Send the new attribute only to neighbors that support BGPSEC</a:t>
            </a:r>
            <a:endParaRPr/>
          </a:p>
        </p:txBody>
      </p:sp>
      <p:pic>
        <p:nvPicPr>
          <p:cNvPr id="1105281928" name="Picture 2" descr="BGPSEC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5347004" y="1690688"/>
            <a:ext cx="6006796" cy="3408857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6968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Standard BGP Process</a:t>
            </a:r>
            <a:endParaRPr/>
          </a:p>
        </p:txBody>
      </p:sp>
      <p:sp>
        <p:nvSpPr>
          <p:cNvPr id="11197692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Ingress filtering applied.</a:t>
            </a:r>
            <a:endParaRPr/>
          </a:p>
          <a:p>
            <a:pPr lvl="1">
              <a:defRPr/>
            </a:pPr>
            <a:r>
              <a:rPr/>
              <a:t>Best path selected.</a:t>
            </a:r>
            <a:endParaRPr/>
          </a:p>
          <a:p>
            <a:pPr lvl="1">
              <a:defRPr/>
            </a:pPr>
            <a:r>
              <a:rPr/>
              <a:t>Egress filtering applied.</a:t>
            </a:r>
            <a:endParaRPr/>
          </a:p>
          <a:p>
            <a:pPr lvl="1">
              <a:defRPr/>
            </a:pPr>
            <a:r>
              <a:rPr/>
              <a:t>AS_PATH carried as attribute.</a:t>
            </a:r>
            <a:endParaRPr/>
          </a:p>
        </p:txBody>
      </p:sp>
      <p:sp>
        <p:nvSpPr>
          <p:cNvPr id="66138818" name="Content Placeholder 2"/>
          <p:cNvSpPr txBox="1"/>
          <p:nvPr/>
        </p:nvSpPr>
        <p:spPr bwMode="auto">
          <a:xfrm>
            <a:off x="607827" y="4129235"/>
            <a:ext cx="10515600" cy="2182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BGPSEC_PATH replaces AS_PATH.</a:t>
            </a:r>
            <a:endParaRPr/>
          </a:p>
          <a:p>
            <a:pPr lvl="1">
              <a:defRPr/>
            </a:pPr>
            <a:r>
              <a:rPr lang="en-US"/>
              <a:t>At ingress: validate all signatures.</a:t>
            </a:r>
            <a:endParaRPr/>
          </a:p>
          <a:p>
            <a:pPr lvl="1">
              <a:defRPr/>
            </a:pPr>
            <a:r>
              <a:rPr lang="en-US"/>
              <a:t>At egress: append ASN and new signature.</a:t>
            </a:r>
            <a:endParaRPr/>
          </a:p>
          <a:p>
            <a:pPr lvl="1">
              <a:defRPr/>
            </a:pPr>
            <a:r>
              <a:rPr lang="en-US"/>
              <a:t>Router keys bound to ASN in RPKI.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26547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>
                <a:latin typeface="+mj-lt"/>
                <a:ea typeface="+mj-ea"/>
                <a:cs typeface="+mj-cs"/>
              </a:rPr>
              <a:t>Standard vs BGPSEC Process</a:t>
            </a:r>
            <a:endParaRPr/>
          </a:p>
        </p:txBody>
      </p:sp>
      <p:pic>
        <p:nvPicPr>
          <p:cNvPr id="589955781" name="Picture 7" descr="BGPSEC Process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183188" y="1996917"/>
            <a:ext cx="6172200" cy="2854641"/>
          </a:xfrm>
          <a:prstGeom prst="rect">
            <a:avLst/>
          </a:prstGeom>
          <a:noFill/>
        </p:spPr>
      </p:pic>
      <p:sp>
        <p:nvSpPr>
          <p:cNvPr id="503219987" name="TextBox 10"/>
          <p:cNvSpPr txBox="1"/>
          <p:nvPr/>
        </p:nvSpPr>
        <p:spPr bwMode="auto">
          <a:xfrm>
            <a:off x="839788" y="2057400"/>
            <a:ext cx="3932237" cy="3811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1600">
                <a:latin typeface="+mn-lt"/>
                <a:ea typeface="+mn-ea"/>
                <a:cs typeface="+mn-cs"/>
              </a:rPr>
              <a:t>BGP receives many routes to the same prefix</a:t>
            </a:r>
            <a:endParaRPr/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1600">
                <a:latin typeface="+mn-lt"/>
                <a:ea typeface="+mn-ea"/>
                <a:cs typeface="+mn-cs"/>
              </a:rPr>
              <a:t>•Ingress filter decides what routes to consider</a:t>
            </a:r>
            <a:endParaRPr/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1600">
                <a:latin typeface="+mn-lt"/>
                <a:ea typeface="+mn-ea"/>
                <a:cs typeface="+mn-cs"/>
              </a:rPr>
              <a:t>•Decision process picks just one best route</a:t>
            </a:r>
            <a:endParaRPr/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1600">
                <a:latin typeface="+mn-lt"/>
                <a:ea typeface="+mn-ea"/>
                <a:cs typeface="+mn-cs"/>
              </a:rPr>
              <a:t>•Egress filter decides what neighbors receive an update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818856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>
                <a:latin typeface="+mj-lt"/>
                <a:ea typeface="+mj-ea"/>
                <a:cs typeface="+mj-cs"/>
              </a:rPr>
              <a:t>Standard vs BGPSEC Process</a:t>
            </a:r>
            <a:endParaRPr/>
          </a:p>
        </p:txBody>
      </p:sp>
      <p:sp>
        <p:nvSpPr>
          <p:cNvPr id="686892803" name="TextBox 2"/>
          <p:cNvSpPr txBox="1"/>
          <p:nvPr/>
        </p:nvSpPr>
        <p:spPr bwMode="auto">
          <a:xfrm>
            <a:off x="838200" y="1368735"/>
            <a:ext cx="10028274" cy="52651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en-US" sz="2200"/>
              <a:t>Each update has a signature for each AS in the BGPSEC_PATH</a:t>
            </a:r>
            <a:endParaRPr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en-US" sz="2200"/>
              <a:t>• Each signature covers BGPSEC_PATH to that point and the “sent-­‐to” AS</a:t>
            </a:r>
            <a:endParaRPr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en-US" sz="2200"/>
              <a:t>• At ingress, check all signatures</a:t>
            </a:r>
            <a:endParaRPr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en-US" sz="2200"/>
              <a:t>• At egress, add a new signature to the list when you add your AS, and</a:t>
            </a:r>
            <a:endParaRPr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en-US" sz="2200"/>
              <a:t>include the AS you are sending to in the signature</a:t>
            </a:r>
            <a:endParaRPr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en-US" sz="2200"/>
              <a:t>• Routers have keys ;ed to their AS in the RPKI</a:t>
            </a:r>
            <a:endParaRPr/>
          </a:p>
        </p:txBody>
      </p:sp>
      <p:pic>
        <p:nvPicPr>
          <p:cNvPr id="774746000" name="Picture 9" descr="BGPSEC Process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25526" y="3932744"/>
            <a:ext cx="8311115" cy="270111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9367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BGPSEC Process</a:t>
            </a:r>
            <a:endParaRPr/>
          </a:p>
        </p:txBody>
      </p:sp>
      <p:sp>
        <p:nvSpPr>
          <p:cNvPr id="1726034913" name="Content Placeholder 2"/>
          <p:cNvSpPr>
            <a:spLocks noGrp="1"/>
          </p:cNvSpPr>
          <p:nvPr>
            <p:ph idx="1"/>
          </p:nvPr>
        </p:nvSpPr>
        <p:spPr bwMode="auto">
          <a:xfrm>
            <a:off x="270325" y="3109912"/>
            <a:ext cx="10107051" cy="3527426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/>
              <a:t>BGPSEC_PATH replaces AS_PATH.</a:t>
            </a:r>
            <a:endParaRPr/>
          </a:p>
          <a:p>
            <a:pPr lvl="1">
              <a:defRPr/>
            </a:pPr>
            <a:r>
              <a:rPr/>
              <a:t>At ingress: validate all signatures.</a:t>
            </a:r>
            <a:endParaRPr/>
          </a:p>
          <a:p>
            <a:pPr lvl="1">
              <a:defRPr/>
            </a:pPr>
            <a:r>
              <a:rPr/>
              <a:t>At egress: append ASN and new signature.</a:t>
            </a:r>
            <a:endParaRPr/>
          </a:p>
          <a:p>
            <a:pPr>
              <a:defRPr/>
            </a:pPr>
            <a:r>
              <a:rPr/>
              <a:t>Router keys bound to ASN in RPKI.</a:t>
            </a:r>
            <a:br>
              <a:rPr lang="en-US"/>
            </a:br>
            <a:endParaRPr lang="en-US"/>
          </a:p>
          <a:p>
            <a:pPr>
              <a:defRPr/>
            </a:pPr>
            <a:r>
              <a:rPr lang="en-US"/>
              <a:t>Prefix: 203.0.113.0/24</a:t>
            </a:r>
            <a:endParaRPr/>
          </a:p>
          <a:p>
            <a:pPr lvl="1">
              <a:defRPr/>
            </a:pPr>
            <a:r>
              <a:rPr lang="en-US"/>
              <a:t>BGPSEC_PATH: [AS1, AS2]</a:t>
            </a:r>
            <a:endParaRPr/>
          </a:p>
          <a:p>
            <a:pPr lvl="1">
              <a:defRPr/>
            </a:pPr>
            <a:r>
              <a:rPr lang="en-US"/>
              <a:t>AS1 signs and sends to AS2</a:t>
            </a:r>
            <a:endParaRPr/>
          </a:p>
          <a:p>
            <a:pPr lvl="1">
              <a:defRPr/>
            </a:pPr>
            <a:r>
              <a:rPr lang="en-US"/>
              <a:t>AS2 signs and sends to AS3</a:t>
            </a:r>
            <a:endParaRPr/>
          </a:p>
          <a:p>
            <a:pPr lvl="1">
              <a:defRPr/>
            </a:pPr>
            <a:r>
              <a:rPr lang="en-US"/>
              <a:t>AS3 validates both signatures</a:t>
            </a:r>
            <a:endParaRPr/>
          </a:p>
          <a:p>
            <a:pPr lvl="1">
              <a:defRPr/>
            </a:pPr>
            <a:r>
              <a:rPr lang="en-US"/>
              <a:t>If valid, path is accepted</a:t>
            </a:r>
            <a:endParaRPr/>
          </a:p>
          <a:p>
            <a:pPr lvl="1">
              <a:defRPr/>
            </a:pPr>
            <a:endParaRPr/>
          </a:p>
        </p:txBody>
      </p:sp>
      <p:sp>
        <p:nvSpPr>
          <p:cNvPr id="1920130421" name="Rounded Rectangle 4"/>
          <p:cNvSpPr/>
          <p:nvPr/>
        </p:nvSpPr>
        <p:spPr bwMode="auto">
          <a:xfrm>
            <a:off x="2895600" y="1828800"/>
            <a:ext cx="1371600" cy="914400"/>
          </a:xfrm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/>
              <a:t>AS1</a:t>
            </a:r>
            <a:endParaRPr/>
          </a:p>
          <a:p>
            <a:pPr>
              <a:defRPr/>
            </a:pPr>
            <a:r>
              <a:rPr/>
              <a:t>(Origin)</a:t>
            </a:r>
            <a:endParaRPr/>
          </a:p>
        </p:txBody>
      </p:sp>
      <p:sp>
        <p:nvSpPr>
          <p:cNvPr id="1561741450" name="Rounded Rectangle 5"/>
          <p:cNvSpPr/>
          <p:nvPr/>
        </p:nvSpPr>
        <p:spPr bwMode="auto">
          <a:xfrm>
            <a:off x="5181600" y="1828800"/>
            <a:ext cx="1371600" cy="914400"/>
          </a:xfrm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/>
              <a:t>AS2</a:t>
            </a:r>
            <a:endParaRPr/>
          </a:p>
        </p:txBody>
      </p:sp>
      <p:sp>
        <p:nvSpPr>
          <p:cNvPr id="789771772" name="Rounded Rectangle 6"/>
          <p:cNvSpPr/>
          <p:nvPr/>
        </p:nvSpPr>
        <p:spPr bwMode="auto">
          <a:xfrm>
            <a:off x="7467600" y="1828800"/>
            <a:ext cx="1371600" cy="914400"/>
          </a:xfrm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/>
              <a:t>AS3</a:t>
            </a:r>
            <a:endParaRPr/>
          </a:p>
          <a:p>
            <a:pPr>
              <a:defRPr/>
            </a:pPr>
            <a:r>
              <a:rPr/>
              <a:t>(Validator)</a:t>
            </a:r>
            <a:endParaRPr/>
          </a:p>
        </p:txBody>
      </p:sp>
      <p:sp>
        <p:nvSpPr>
          <p:cNvPr id="749090106" name="Right Arrow 7"/>
          <p:cNvSpPr/>
          <p:nvPr/>
        </p:nvSpPr>
        <p:spPr bwMode="auto">
          <a:xfrm>
            <a:off x="4267200" y="2057400"/>
            <a:ext cx="914400" cy="4572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2724628" name="Right Arrow 8"/>
          <p:cNvSpPr/>
          <p:nvPr/>
        </p:nvSpPr>
        <p:spPr bwMode="auto">
          <a:xfrm>
            <a:off x="6553200" y="2057400"/>
            <a:ext cx="914400" cy="4572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029451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/>
              <a:t>Key Differences from BGP</a:t>
            </a:r>
            <a:endParaRPr/>
          </a:p>
        </p:txBody>
      </p:sp>
      <p:sp>
        <p:nvSpPr>
          <p:cNvPr id="54068684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2888673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sz="1600"/>
              <a:t>AS_PATH derived from BGPSEC_PATH.</a:t>
            </a:r>
            <a:endParaRPr/>
          </a:p>
          <a:p>
            <a:pPr lvl="1">
              <a:defRPr/>
            </a:pPr>
            <a:r>
              <a:rPr lang="en-US" sz="1600"/>
              <a:t>One NLRI per update.</a:t>
            </a:r>
            <a:endParaRPr/>
          </a:p>
          <a:p>
            <a:pPr lvl="1">
              <a:defRPr/>
            </a:pPr>
            <a:r>
              <a:rPr lang="en-US" sz="1600"/>
              <a:t>One neighbor per update.</a:t>
            </a:r>
            <a:endParaRPr/>
          </a:p>
          <a:p>
            <a:pPr lvl="1">
              <a:defRPr/>
            </a:pPr>
            <a:r>
              <a:rPr lang="en-US" sz="1600"/>
              <a:t>Attribute stripped for non-BGPSEC peers.</a:t>
            </a:r>
            <a:endParaRPr/>
          </a:p>
        </p:txBody>
      </p:sp>
      <p:pic>
        <p:nvPicPr>
          <p:cNvPr id="2025923023" name="Picture 5" descr="Normal vs BGPSEC path attribut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778662" y="1413158"/>
            <a:ext cx="8028709" cy="527887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32188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pPr>
              <a:defRPr/>
            </a:pPr>
            <a:r>
              <a:rPr lang="en-US"/>
              <a:t>BGPSEC vs. non BGPSEC</a:t>
            </a:r>
            <a:endParaRPr/>
          </a:p>
        </p:txBody>
      </p:sp>
      <p:pic>
        <p:nvPicPr>
          <p:cNvPr id="1587743732" name="Picture 7" descr="BGPSEC vs. non BGPSEC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09116" y="1788605"/>
            <a:ext cx="6846272" cy="3628522"/>
          </a:xfrm>
          <a:prstGeom prst="rect">
            <a:avLst/>
          </a:prstGeom>
          <a:noFill/>
        </p:spPr>
      </p:pic>
      <p:sp>
        <p:nvSpPr>
          <p:cNvPr id="1583274878" name="Content Placeholder 2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BGPSEC </a:t>
            </a:r>
            <a:r>
              <a:rPr lang="en-US"/>
              <a:t>akribute</a:t>
            </a:r>
            <a:r>
              <a:rPr lang="en-US"/>
              <a:t> only used with BGPSEC speaking neighbor</a:t>
            </a:r>
            <a:endParaRPr/>
          </a:p>
          <a:p>
            <a:pPr>
              <a:defRPr/>
            </a:pPr>
            <a:r>
              <a:rPr lang="en-US"/>
              <a:t>BGPSEC </a:t>
            </a:r>
            <a:r>
              <a:rPr lang="en-US"/>
              <a:t>akributes</a:t>
            </a:r>
            <a:r>
              <a:rPr lang="en-US"/>
              <a:t> in an Update get stripped for </a:t>
            </a:r>
            <a:r>
              <a:rPr lang="en-US"/>
              <a:t>nonBGPSEC</a:t>
            </a:r>
            <a:r>
              <a:rPr lang="en-US"/>
              <a:t> neighbor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147489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/>
              <a:t>Islands of BGPSEC</a:t>
            </a:r>
            <a:endParaRPr/>
          </a:p>
        </p:txBody>
      </p:sp>
      <p:sp>
        <p:nvSpPr>
          <p:cNvPr id="86446963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Non BGPSEC speaker can’t pass BGPSEC attributes – keeps islands apart</a:t>
            </a:r>
            <a:endParaRPr/>
          </a:p>
          <a:p>
            <a:pPr>
              <a:defRPr/>
            </a:pPr>
            <a:r>
              <a:rPr lang="en-US"/>
              <a:t>Also a problem in deployment</a:t>
            </a:r>
            <a:endParaRPr/>
          </a:p>
          <a:p>
            <a:pPr>
              <a:defRPr/>
            </a:pPr>
            <a:endParaRPr lang="en-US"/>
          </a:p>
        </p:txBody>
      </p:sp>
      <p:pic>
        <p:nvPicPr>
          <p:cNvPr id="821464312" name="Picture 6" descr="Islands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72200" y="2679986"/>
            <a:ext cx="5181600" cy="264261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129174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/>
              <a:t>No significant BGPSEC deployment</a:t>
            </a:r>
            <a:endParaRPr/>
          </a:p>
        </p:txBody>
      </p:sp>
      <p:sp>
        <p:nvSpPr>
          <p:cNvPr id="111939786" name="Rectangle 1"/>
          <p:cNvSpPr>
            <a:spLocks noChangeArrowheads="1" noGrp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</p:spPr>
        <p:txBody>
          <a:bodyPr vert="horz" lIns="91440" tIns="45720" rIns="91440" bIns="45720" numCol="1" anchorCtr="0" compatLnSpc="1">
            <a:prstTxWarp prst="textNoShape"/>
            <a:normAutofit/>
          </a:bodyPr>
          <a:lstStyle/>
          <a:p>
            <a:pPr marL="0" indent="0">
              <a:buNone/>
              <a:defRPr/>
            </a:pPr>
            <a:r>
              <a:rPr lang="en-US"/>
              <a:t>High computational cost due to per-hop cryptographic signatures</a:t>
            </a:r>
            <a:br>
              <a:rPr lang="en-US"/>
            </a:br>
            <a:r>
              <a:rPr lang="en-US"/>
              <a:t>• Increased router CPU, memory, and processing requirements</a:t>
            </a:r>
            <a:br>
              <a:rPr lang="en-US"/>
            </a:br>
            <a:r>
              <a:rPr lang="en-US"/>
              <a:t>• Limited benefit without widespread deployment</a:t>
            </a:r>
            <a:br>
              <a:rPr lang="en-US"/>
            </a:br>
            <a:r>
              <a:rPr lang="en-US"/>
              <a:t>• Vulnerable to downgrade to non-BGPsec paths</a:t>
            </a:r>
            <a:br>
              <a:rPr lang="en-US"/>
            </a:br>
            <a:r>
              <a:rPr lang="en-US"/>
              <a:t>• Primarily addresses origin hijacks, not complex route leaks</a:t>
            </a:r>
            <a:br>
              <a:rPr lang="en-US"/>
            </a:br>
            <a:r>
              <a:rPr lang="en-US"/>
              <a:t>• Reduces flexibility in prefix aggregation and optimization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098314" name="Google Shape;316;p28"/>
          <p:cNvSpPr txBox="1">
            <a:spLocks noGrp="1"/>
          </p:cNvSpPr>
          <p:nvPr>
            <p:ph type="title"/>
          </p:nvPr>
        </p:nvSpPr>
        <p:spPr bwMode="auto">
          <a:xfrm>
            <a:off x="628650" y="273844"/>
            <a:ext cx="7886800" cy="99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SzPts val="1400"/>
              <a:defRPr/>
            </a:pPr>
            <a:r>
              <a:rPr lang="en"/>
              <a:t>Even if you did….IP Spoofing</a:t>
            </a:r>
            <a:endParaRPr/>
          </a:p>
        </p:txBody>
      </p:sp>
      <p:sp>
        <p:nvSpPr>
          <p:cNvPr id="223873725" name="Google Shape;317;p28"/>
          <p:cNvSpPr txBox="1">
            <a:spLocks noGrp="1"/>
          </p:cNvSpPr>
          <p:nvPr>
            <p:ph type="body" idx="1"/>
          </p:nvPr>
        </p:nvSpPr>
        <p:spPr bwMode="auto">
          <a:xfrm>
            <a:off x="628667" y="1369233"/>
            <a:ext cx="11072400" cy="484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Autofit/>
          </a:bodyPr>
          <a:lstStyle/>
          <a:p>
            <a:pPr marL="457189" indent="-338658">
              <a:spcBef>
                <a:spcPts val="1067"/>
              </a:spcBef>
              <a:buSzPts val="1400"/>
              <a:buChar char="●"/>
              <a:defRPr/>
            </a:pPr>
            <a:r>
              <a:rPr lang="en"/>
              <a:t>Attacker creates and send IP packets with false source address</a:t>
            </a:r>
            <a:endParaRPr/>
          </a:p>
          <a:p>
            <a:pPr marL="457189" indent="-338658">
              <a:spcBef>
                <a:spcPts val="0"/>
              </a:spcBef>
              <a:buSzPts val="1400"/>
              <a:buChar char="●"/>
              <a:defRPr/>
            </a:pPr>
            <a:r>
              <a:rPr lang="en"/>
              <a:t>Commonly used in Distributed Denial of Service (DDOS) attacks</a:t>
            </a:r>
            <a:endParaRPr/>
          </a:p>
          <a:p>
            <a:pPr marL="914377" lvl="1" indent="-338658">
              <a:spcBef>
                <a:spcPts val="0"/>
              </a:spcBef>
              <a:buSzPts val="1400"/>
              <a:buChar char="○"/>
              <a:defRPr/>
            </a:pPr>
            <a:r>
              <a:rPr lang="en"/>
              <a:t>DNS, memcached, NTP, UDP - lots of vulnerabilities</a:t>
            </a:r>
            <a:endParaRPr/>
          </a:p>
          <a:p>
            <a:pPr marL="457189" indent="-338658">
              <a:spcBef>
                <a:spcPts val="1067"/>
              </a:spcBef>
              <a:buSzPts val="1400"/>
              <a:buChar char="●"/>
              <a:defRPr/>
            </a:pPr>
            <a:r>
              <a:rPr lang="en"/>
              <a:t>November 2021: Microsoft detects and mitigates a 3.47Tbps (340 million packets per second) 15 minute long DDOS attack using UDP reflection.</a:t>
            </a:r>
            <a:endParaRPr/>
          </a:p>
          <a:p>
            <a:pPr marL="0" indent="0">
              <a:spcBef>
                <a:spcPts val="1067"/>
              </a:spcBef>
              <a:buSzPts val="1400"/>
              <a:buNone/>
              <a:defRPr/>
            </a:pPr>
            <a:endParaRPr/>
          </a:p>
        </p:txBody>
      </p:sp>
      <p:sp>
        <p:nvSpPr>
          <p:cNvPr id="1092947468" name="Google Shape;318;p28"/>
          <p:cNvSpPr txBox="1">
            <a:spLocks noGrp="1"/>
          </p:cNvSpPr>
          <p:nvPr>
            <p:ph type="sldNum" idx="12"/>
          </p:nvPr>
        </p:nvSpPr>
        <p:spPr bwMode="auto">
          <a:xfrm>
            <a:off x="6457951" y="4767263"/>
            <a:ext cx="2057600" cy="27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Clr>
                <a:srgbClr val="000000"/>
              </a:buClr>
              <a:buSzPts val="900"/>
              <a:defRPr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700649128" name="Google Shape;319;p28"/>
          <p:cNvSpPr txBox="1"/>
          <p:nvPr/>
        </p:nvSpPr>
        <p:spPr bwMode="auto">
          <a:xfrm>
            <a:off x="156325" y="6457801"/>
            <a:ext cx="7490800" cy="63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buClr>
                <a:srgbClr val="000000"/>
              </a:buClr>
              <a:buSzPts val="1100"/>
              <a:defRPr/>
            </a:pPr>
            <a:r>
              <a:rPr lang="en" sz="14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https://azure.microsoft.com/en-us/blog/azure-ddos-protection-2021-q3-and-q4-ddos-attack-trends/</a:t>
            </a:r>
            <a:endParaRPr sz="14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506259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/>
              <a:t>Reading Material</a:t>
            </a:r>
            <a:endParaRPr/>
          </a:p>
        </p:txBody>
      </p:sp>
      <p:sp>
        <p:nvSpPr>
          <p:cNvPr id="1292115376" name="Rectangle 1"/>
          <p:cNvSpPr>
            <a:spLocks noChangeArrowheads="1" noGrp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</p:spPr>
        <p:txBody>
          <a:bodyPr vert="horz" lIns="91440" tIns="45720" rIns="91440" bIns="45720" numCol="1" anchorCtr="0" compatLnSpc="1">
            <a:prstTxWarp prst="textNoShape"/>
            <a:normAutofit/>
          </a:bodyPr>
          <a:lstStyle/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en-US" u="sng">
                <a:hlinkClick r:id="rId3" tooltip=""/>
              </a:rPr>
              <a:t>https://www.ietf.org/proceedings/interim-2014-sidr-01/slides/slides-interim-2014-sidr-1-0.pdf</a:t>
            </a:r>
            <a:endParaRPr lang="en-US"/>
          </a:p>
          <a:p>
            <a:pPr>
              <a:defRPr/>
            </a:pPr>
            <a:r>
              <a:rPr lang="en-US"/>
              <a:t>RPKI - </a:t>
            </a:r>
            <a:r>
              <a:rPr lang="en-US" u="sng">
                <a:hlinkClick r:id="rId4" tooltip=""/>
              </a:rPr>
              <a:t>https://www.youtube.com/watch?v=Pxsk5stzJCs</a:t>
            </a:r>
            <a:endParaRPr lang="en-US"/>
          </a:p>
          <a:p>
            <a:pPr>
              <a:defRPr/>
            </a:pPr>
            <a:r>
              <a:rPr lang="en-US"/>
              <a:t>https://</a:t>
            </a:r>
            <a:r>
              <a:rPr lang="en-US"/>
              <a:t>conference.apnic.net</a:t>
            </a:r>
            <a:r>
              <a:rPr lang="en-US"/>
              <a:t>/33/pdf/120227.apricot-rtgsec.pdf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40</Slides>
  <Notes>40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Routing Security</dc:title>
  <dc:creator>Shannigrahi, Susmit</dc:creator>
  <cp:lastModifiedBy/>
  <cp:revision>13</cp:revision>
  <dcterms:created xsi:type="dcterms:W3CDTF">2026-02-09T16:40:55Z</dcterms:created>
  <dcterms:modified xsi:type="dcterms:W3CDTF">2026-02-25T19:57:29Z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3,8,9,10,11,14,21,24,26,27,32,36,39</vt:lpwstr>
  </property>
  <property fmtid="{D5CDD505-2E9C-101B-9397-08002B2CF9AE}" pid="3" name="VerifiedLinkDescriptions">
    <vt:lpwstr>https://datatracker.ietf.org/doc/html/rfc1654,https://www.internetsociety.org/blog/2018/04/amazons-route-53-bgp-hijack/,https://www.zdnet.com/article/russian-telco-hijacks-internet-traffic-for-google-aws-cloudflare-and-others/,https://www.thousandeyes.com/blog/rostelecom-route-leak-targets-ecommerce-services,https://www.ietf.org/proceedings/interim-2014-sidr-01/slides/slides-interim-2014-sidr-1-0.pdf,https://www.youtube.com/watch?v=Pxsk5stzJCs</vt:lpwstr>
  </property>
</Properties>
</file>