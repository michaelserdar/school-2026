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82.xml" ContentType="application/vnd.openxmlformats-officedocument.presentationml.notesSlide+xml"/>
  <Override PartName="/ppt/notesSlides/notesSlide80.xml" ContentType="application/vnd.openxmlformats-officedocument.presentationml.notesSlide+xml"/>
  <Override PartName="/ppt/notesSlides/notesSlide79.xml" ContentType="application/vnd.openxmlformats-officedocument.presentationml.notesSlide+xml"/>
  <Override PartName="/ppt/notesSlides/notesSlide77.xml" ContentType="application/vnd.openxmlformats-officedocument.presentationml.notesSlide+xml"/>
  <Override PartName="/ppt/notesSlides/notesSlide71.xml" ContentType="application/vnd.openxmlformats-officedocument.presentationml.notesSlide+xml"/>
  <Override PartName="/ppt/notesSlides/notesSlide69.xml" ContentType="application/vnd.openxmlformats-officedocument.presentationml.notesSlide+xml"/>
  <Override PartName="/ppt/notesSlides/notesSlide66.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54.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62.xml" ContentType="application/vnd.openxmlformats-officedocument.presentationml.notesSlide+xml"/>
  <Override PartName="/ppt/notesSlides/notesSlide35.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56.xml" ContentType="application/vnd.openxmlformats-officedocument.presentationml.notesSlide+xml"/>
  <Override PartName="/ppt/notesSlides/notesSlide22.xml" ContentType="application/vnd.openxmlformats-officedocument.presentationml.notesSlide+xml"/>
  <Override PartName="/ppt/notesSlides/notesSlide67.xml" ContentType="application/vnd.openxmlformats-officedocument.presentationml.notesSlide+xml"/>
  <Override PartName="/ppt/notesSlides/notesSlide21.xml" ContentType="application/vnd.openxmlformats-officedocument.presentationml.notesSlide+xml"/>
  <Override PartName="/ppt/notesSlides/notesSlide76.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68.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55.xml" ContentType="application/vnd.openxmlformats-officedocument.presentationml.notesSlide+xml"/>
  <Override PartName="/ppt/notesSlides/notesSlide11.xml" ContentType="application/vnd.openxmlformats-officedocument.presentationml.notes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notesSlides/notesSlide72.xml" ContentType="application/vnd.openxmlformats-officedocument.presentationml.notesSlide+xml"/>
  <Override PartName="/ppt/notesSlides/notesSlide61.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slides/slide82.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79.xml" ContentType="application/vnd.openxmlformats-officedocument.presentationml.slide+xml"/>
  <Override PartName="/ppt/slides/slide77.xml" ContentType="application/vnd.openxmlformats-officedocument.presentationml.slide+xml"/>
  <Override PartName="/ppt/slides/slide75.xml" ContentType="application/vnd.openxmlformats-officedocument.presentationml.slide+xml"/>
  <Override PartName="/ppt/slides/slide23.xml" ContentType="application/vnd.openxmlformats-officedocument.presentationml.slide+xml"/>
  <Override PartName="/ppt/notesSlides/notesSlide40.xml" ContentType="application/vnd.openxmlformats-officedocument.presentationml.notesSlide+xml"/>
  <Override PartName="/ppt/slides/slide56.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notesSlides/notesSlide74.xml" ContentType="application/vnd.openxmlformats-officedocument.presentationml.notesSlide+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29.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docProps/core.xml" ContentType="application/vnd.openxmlformats-package.core-properties+xml"/>
  <Override PartName="/ppt/slideLayouts/slideLayout8.xml" ContentType="application/vnd.openxmlformats-officedocument.presentationml.slideLayout+xml"/>
  <Override PartName="/ppt/notesSlides/notesSlide49.xml" ContentType="application/vnd.openxmlformats-officedocument.presentationml.notesSlide+xml"/>
  <Override PartName="/ppt/slides/slide20.xml" ContentType="application/vnd.openxmlformats-officedocument.presentationml.slide+xml"/>
  <Override PartName="/ppt/slides/slide47.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notesSlides/notesSlide12.xml" ContentType="application/vnd.openxmlformats-officedocument.presentationml.notesSlide+xml"/>
  <Override PartName="/ppt/slides/slide11.xml" ContentType="application/vnd.openxmlformats-officedocument.presentationml.slide+xml"/>
  <Override PartName="/ppt/slideLayouts/slideLayout12.xml" ContentType="application/vnd.openxmlformats-officedocument.presentationml.slideLayout+xml"/>
  <Override PartName="/ppt/viewProps.xml" ContentType="application/vnd.openxmlformats-officedocument.presentationml.viewProps+xml"/>
  <Override PartName="/ppt/slides/slide17.xml" ContentType="application/vnd.openxmlformats-officedocument.presentationml.slide+xml"/>
  <Override PartName="/ppt/notesSlides/notesSlide70.xml" ContentType="application/vnd.openxmlformats-officedocument.presentationml.notesSlide+xml"/>
  <Override PartName="/ppt/slides/slide58.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s/slide68.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53.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s/slide67.xml" ContentType="application/vnd.openxmlformats-officedocument.presentationml.slide+xml"/>
  <Override PartName="/ppt/slides/slide1.xml" ContentType="application/vnd.openxmlformats-officedocument.presentationml.slide+xml"/>
  <Override PartName="/ppt/slides/slide25.xml" ContentType="application/vnd.openxmlformats-officedocument.presentationml.slide+xml"/>
  <Override PartName="/ppt/notesSlides/notesSlide27.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slides/slide61.xml" ContentType="application/vnd.openxmlformats-officedocument.presentationml.slide+xml"/>
  <Override PartName="/ppt/slideLayouts/slideLayout1.xml" ContentType="application/vnd.openxmlformats-officedocument.presentationml.slideLayout+xml"/>
  <Override PartName="/ppt/slides/slide65.xml" ContentType="application/vnd.openxmlformats-officedocument.presentationml.slide+xml"/>
  <Override PartName="/ppt/slides/slide72.xml" ContentType="application/vnd.openxmlformats-officedocument.presentationml.slide+xml"/>
  <Override PartName="/ppt/slideLayouts/slideLayout11.xml" ContentType="application/vnd.openxmlformats-officedocument.presentationml.slideLayout+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18.xml" ContentType="application/vnd.openxmlformats-officedocument.presentationml.slide+xml"/>
  <Override PartName="/ppt/slides/slide69.xml" ContentType="application/vnd.openxmlformats-officedocument.presentationml.slide+xml"/>
  <Override PartName="/ppt/notesSlides/notesSlide75.xml" ContentType="application/vnd.openxmlformats-officedocument.presentationml.notesSlide+xml"/>
  <Override PartName="/ppt/slides/slide31.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81.xml" ContentType="application/vnd.openxmlformats-officedocument.presentationml.notesSlide+xml"/>
  <Override PartName="/ppt/notesSlides/notesSlide10.xml" ContentType="application/vnd.openxmlformats-officedocument.presentationml.notesSlide+xml"/>
  <Override PartName="/ppt/slides/slide49.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71.xml" ContentType="application/vnd.openxmlformats-officedocument.presentationml.slide+xml"/>
  <Override PartName="/ppt/slides/slide39.xml" ContentType="application/vnd.openxmlformats-officedocument.presentationml.slide+xml"/>
  <Override PartName="/ppt/slides/slide33.xml" ContentType="application/vnd.openxmlformats-officedocument.presentationml.slide+xml"/>
  <Override PartName="/ppt/slides/slide63.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73.xml" ContentType="application/vnd.openxmlformats-officedocument.presentationml.notes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53.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notesSlides/notesSlide65.xml" ContentType="application/vnd.openxmlformats-officedocument.presentationml.notesSlide+xml"/>
  <Override PartName="/ppt/notesSlides/notesSlide44.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slides/slide9.xml" ContentType="application/vnd.openxmlformats-officedocument.presentationml.slide+xml"/>
  <Override PartName="/ppt/slides/slide50.xml" ContentType="application/vnd.openxmlformats-officedocument.presentationml.slide+xml"/>
  <Override PartName="/ppt/slides/slide8.xml" ContentType="application/vnd.openxmlformats-officedocument.presentationml.slide+xml"/>
  <Override PartName="/ppt/slides/slide51.xml" ContentType="application/vnd.openxmlformats-officedocument.presentationml.slide+xml"/>
  <Override PartName="/ppt/notesSlides/notesSlide34.xml" ContentType="application/vnd.openxmlformats-officedocument.presentationml.notesSlide+xml"/>
  <Override PartName="/ppt/slides/slide57.xml" ContentType="application/vnd.openxmlformats-officedocument.presentationml.slide+xml"/>
  <Override PartName="/ppt/slides/slide78.xml" ContentType="application/vnd.openxmlformats-officedocument.presentationml.slide+xml"/>
  <Override PartName="/ppt/slides/slide76.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slides/slide52.xml" ContentType="application/vnd.openxmlformats-officedocument.presentationml.slide+xml"/>
  <Override PartName="/ppt/slides/slide55.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Layouts/slideLayout3.xml" ContentType="application/vnd.openxmlformats-officedocument.presentationml.slideLayout+xml"/>
  <Override PartName="/ppt/slides/slide62.xml" ContentType="application/vnd.openxmlformats-officedocument.presentationml.slide+xml"/>
  <Override PartName="/ppt/notesSlides/notesSlide78.xml" ContentType="application/vnd.openxmlformats-officedocument.presentationml.notesSlide+xml"/>
  <Override PartName="/ppt/slides/slide64.xml" ContentType="application/vnd.openxmlformats-officedocument.presentationml.slide+xml"/>
  <Override PartName="/ppt/slideLayouts/slideLayout10.xml" ContentType="application/vnd.openxmlformats-officedocument.presentationml.slideLayout+xml"/>
  <Override PartName="/ppt/slides/slide66.xml" ContentType="application/vnd.openxmlformats-officedocument.presentationml.slide+xml"/>
  <Override PartName="/ppt/slides/slide43.xml" ContentType="application/vnd.openxmlformats-officedocument.presentationml.slide+xml"/>
  <Override PartName="/ppt/slides/slide70.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73.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8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93" d="100"/>
          <a:sy n="93" d="100"/>
        </p:scale>
        <p:origin x="216" y="664"/>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notesMaster" Target="notesMasters/notesMaster1.xml"/><Relationship Id="rId87" Type="http://schemas.openxmlformats.org/officeDocument/2006/relationships/presProps" Target="presProps.xml" /><Relationship Id="rId88" Type="http://schemas.openxmlformats.org/officeDocument/2006/relationships/tableStyles" Target="tableStyles.xml" /><Relationship Id="rId8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837115445"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64268204"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DC8B824-F5A0-B54D-B526-7DF31E203BBB}" type="datetimeFigureOut">
              <a:rPr lang="en-US"/>
              <a:t>2/11/26</a:t>
            </a:fld>
            <a:endParaRPr lang="en-US"/>
          </a:p>
        </p:txBody>
      </p:sp>
      <p:sp>
        <p:nvSpPr>
          <p:cNvPr id="109662981"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93798428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74601697"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68261289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C216985-4F63-2A4E-AC89-D701E002D7F6}"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74E1CB7-AE9B-F65F-CD59-4D5C49F7422C}"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1F52A89-A1AE-F81B-B3E6-B5FC2628CCBE}"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3703D42-AE68-8A97-3DC7-A1C9F492C103}"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AF73C67-809B-033D-FCB1-FB90E1CF7BD1}"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2F0E4E1-1AD5-B724-C381-0E5A0F0A00B7}"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6EBBFE0-B349-0AFF-0D94-02B87D62FD15}"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23AEC4D-4D8C-4E29-EDFF-E272F852771E}"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A3BB08C-77BD-6423-2956-047DA5C30F18}"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07BCA2A-ED0C-8EFA-8C7F-7F3EE33544BE}"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640B98-89EA-F96F-4ADB-20766D9F1CFF}"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FBFBD2A-BD54-A431-B060-592D91CB8708}"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039BF5B-B2C2-A7E3-D04D-63B277D14015}"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470C443-AA18-05C6-0F97-3B0666F65A42}"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3484602" name="Slide Image Placeholder 1"/>
          <p:cNvSpPr>
            <a:spLocks noChangeAspect="1" noGrp="1" noRot="1" noTextEdit="1"/>
          </p:cNvSpPr>
          <p:nvPr>
            <p:ph type="sldImg"/>
          </p:nvPr>
        </p:nvSpPr>
        <p:spPr bwMode="auto">
          <a:ln/>
        </p:spPr>
      </p:sp>
      <p:sp>
        <p:nvSpPr>
          <p:cNvPr id="1642639957" name="Notes Placeholder 2"/>
          <p:cNvSpPr>
            <a:spLocks noGrp="1"/>
          </p:cNvSpPr>
          <p:nvPr>
            <p:ph type="body" idx="1"/>
          </p:nvPr>
        </p:nvSpPr>
        <p:spPr bwMode="auto">
          <a:prstGeom prst="rect">
            <a:avLst/>
          </a:prstGeom>
          <a:noFill/>
          <a:ln/>
        </p:spPr>
        <p:txBody>
          <a:bodyPr/>
          <a:lstStyle/>
          <a:p>
            <a:pPr>
              <a:buFontTx/>
              <a:buChar char="-"/>
              <a:defRPr/>
            </a:pPr>
            <a:r>
              <a:rPr lang="en-US">
                <a:ea typeface="ＭＳ Ｐゴシック"/>
              </a:rPr>
              <a:t>Automatic software updates often relies on DNS.</a:t>
            </a:r>
            <a:endParaRPr/>
          </a:p>
          <a:p>
            <a:pPr>
              <a:buFontTx/>
              <a:buChar char="-"/>
              <a:defRPr/>
            </a:pPr>
            <a:r>
              <a:rPr lang="en-US">
                <a:ea typeface="ＭＳ Ｐゴシック"/>
              </a:rPr>
              <a:t>Mail Servers.</a:t>
            </a:r>
            <a:endParaRPr/>
          </a:p>
        </p:txBody>
      </p:sp>
      <p:sp>
        <p:nvSpPr>
          <p:cNvPr id="1964451608" name="Slide Number Placeholder 3"/>
          <p:cNvSpPr>
            <a:spLocks noGrp="1"/>
          </p:cNvSpPr>
          <p:nvPr>
            <p:ph type="sldNum" sz="quarter" idx="5"/>
          </p:nvPr>
        </p:nvSpPr>
        <p:spPr bwMode="auto">
          <a:prstGeom prst="rect">
            <a:avLst/>
          </a:prstGeom>
          <a:noFill/>
          <a:ln/>
        </p:spPr>
        <p:txBody>
          <a:bodyPr/>
          <a:lstStyle>
            <a:lvl1pPr defTabSz="989013">
              <a:defRPr sz="2400">
                <a:solidFill>
                  <a:schemeClr val="tx1"/>
                </a:solidFill>
                <a:latin typeface="Times New Roman"/>
                <a:ea typeface="ＭＳ Ｐゴシック"/>
              </a:defRPr>
            </a:lvl1pPr>
            <a:lvl2pPr marL="742950" indent="-285750" defTabSz="989013">
              <a:defRPr sz="2400">
                <a:solidFill>
                  <a:schemeClr val="tx1"/>
                </a:solidFill>
                <a:latin typeface="Times New Roman"/>
                <a:ea typeface="ＭＳ Ｐゴシック"/>
              </a:defRPr>
            </a:lvl2pPr>
            <a:lvl3pPr marL="1143000" indent="-228600" defTabSz="989013">
              <a:defRPr sz="2400">
                <a:solidFill>
                  <a:schemeClr val="tx1"/>
                </a:solidFill>
                <a:latin typeface="Times New Roman"/>
                <a:ea typeface="ＭＳ Ｐゴシック"/>
              </a:defRPr>
            </a:lvl3pPr>
            <a:lvl4pPr marL="1600200" indent="-228600" defTabSz="989013">
              <a:defRPr sz="2400">
                <a:solidFill>
                  <a:schemeClr val="tx1"/>
                </a:solidFill>
                <a:latin typeface="Times New Roman"/>
                <a:ea typeface="ＭＳ Ｐゴシック"/>
              </a:defRPr>
            </a:lvl4pPr>
            <a:lvl5pPr marL="2057400" indent="-228600" defTabSz="989013">
              <a:defRPr sz="2400">
                <a:solidFill>
                  <a:schemeClr val="tx1"/>
                </a:solidFill>
                <a:latin typeface="Times New Roman"/>
                <a:ea typeface="ＭＳ Ｐゴシック"/>
              </a:defRPr>
            </a:lvl5pPr>
            <a:lvl6pPr marL="2514600" indent="-228600" defTabSz="989013">
              <a:spcBef>
                <a:spcPts val="0"/>
              </a:spcBef>
              <a:spcAft>
                <a:spcPts val="0"/>
              </a:spcAft>
              <a:defRPr sz="2400">
                <a:solidFill>
                  <a:schemeClr val="tx1"/>
                </a:solidFill>
                <a:latin typeface="Times New Roman"/>
                <a:ea typeface="ＭＳ Ｐゴシック"/>
              </a:defRPr>
            </a:lvl6pPr>
            <a:lvl7pPr marL="2971800" indent="-228600" defTabSz="989013">
              <a:spcBef>
                <a:spcPts val="0"/>
              </a:spcBef>
              <a:spcAft>
                <a:spcPts val="0"/>
              </a:spcAft>
              <a:defRPr sz="2400">
                <a:solidFill>
                  <a:schemeClr val="tx1"/>
                </a:solidFill>
                <a:latin typeface="Times New Roman"/>
                <a:ea typeface="ＭＳ Ｐゴシック"/>
              </a:defRPr>
            </a:lvl7pPr>
            <a:lvl8pPr marL="3429000" indent="-228600" defTabSz="989013">
              <a:spcBef>
                <a:spcPts val="0"/>
              </a:spcBef>
              <a:spcAft>
                <a:spcPts val="0"/>
              </a:spcAft>
              <a:defRPr sz="2400">
                <a:solidFill>
                  <a:schemeClr val="tx1"/>
                </a:solidFill>
                <a:latin typeface="Times New Roman"/>
                <a:ea typeface="ＭＳ Ｐゴシック"/>
              </a:defRPr>
            </a:lvl8pPr>
            <a:lvl9pPr marL="3886200" indent="-228600" defTabSz="989013">
              <a:spcBef>
                <a:spcPts val="0"/>
              </a:spcBef>
              <a:spcAft>
                <a:spcPts val="0"/>
              </a:spcAft>
              <a:defRPr sz="2400">
                <a:solidFill>
                  <a:schemeClr val="tx1"/>
                </a:solidFill>
                <a:latin typeface="Times New Roman"/>
                <a:ea typeface="ＭＳ Ｐゴシック"/>
              </a:defRPr>
            </a:lvl9pPr>
          </a:lstStyle>
          <a:p>
            <a:pPr>
              <a:defRPr/>
            </a:pPr>
            <a:fld id="{03423669-B930-1F4D-95E5-27057348521C}" type="slidenum">
              <a:rPr lang="en-US" sz="1300"/>
              <a:t>14</a:t>
            </a:fld>
            <a:endParaRPr lang="en-US"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981D5C9-B7CC-AF11-6C67-EE4D173652C6}"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524067" name="Slide Image Placeholder 1"/>
          <p:cNvSpPr>
            <a:spLocks noChangeAspect="1" noGrp="1" noRot="1" noTextEdit="1"/>
          </p:cNvSpPr>
          <p:nvPr>
            <p:ph type="sldImg"/>
          </p:nvPr>
        </p:nvSpPr>
        <p:spPr bwMode="auto">
          <a:ln/>
        </p:spPr>
      </p:sp>
      <p:sp>
        <p:nvSpPr>
          <p:cNvPr id="2106576033" name="Notes Placeholder 2"/>
          <p:cNvSpPr>
            <a:spLocks noGrp="1"/>
          </p:cNvSpPr>
          <p:nvPr>
            <p:ph type="body" idx="1"/>
          </p:nvPr>
        </p:nvSpPr>
        <p:spPr bwMode="auto">
          <a:prstGeom prst="rect">
            <a:avLst/>
          </a:prstGeom>
          <a:noFill/>
          <a:ln/>
        </p:spPr>
        <p:txBody>
          <a:bodyPr/>
          <a:lstStyle/>
          <a:p>
            <a:pPr>
              <a:defRPr/>
            </a:pPr>
            <a:r>
              <a:rPr lang="en-US">
                <a:ea typeface="ＭＳ Ｐゴシック"/>
              </a:rPr>
              <a:t>After the recursive DNS sends a query to SOA (Start Of Authority), the attacker responds first.</a:t>
            </a:r>
            <a:endParaRPr/>
          </a:p>
        </p:txBody>
      </p:sp>
      <p:sp>
        <p:nvSpPr>
          <p:cNvPr id="1605526512" name="Slide Number Placeholder 3"/>
          <p:cNvSpPr>
            <a:spLocks noGrp="1"/>
          </p:cNvSpPr>
          <p:nvPr>
            <p:ph type="sldNum" sz="quarter" idx="5"/>
          </p:nvPr>
        </p:nvSpPr>
        <p:spPr bwMode="auto">
          <a:prstGeom prst="rect">
            <a:avLst/>
          </a:prstGeom>
          <a:noFill/>
          <a:ln/>
        </p:spPr>
        <p:txBody>
          <a:bodyPr/>
          <a:lstStyle>
            <a:lvl1pPr defTabSz="989013">
              <a:defRPr sz="2400">
                <a:solidFill>
                  <a:schemeClr val="tx1"/>
                </a:solidFill>
                <a:latin typeface="Times New Roman"/>
                <a:ea typeface="ＭＳ Ｐゴシック"/>
              </a:defRPr>
            </a:lvl1pPr>
            <a:lvl2pPr marL="742950" indent="-285750" defTabSz="989013">
              <a:defRPr sz="2400">
                <a:solidFill>
                  <a:schemeClr val="tx1"/>
                </a:solidFill>
                <a:latin typeface="Times New Roman"/>
                <a:ea typeface="ＭＳ Ｐゴシック"/>
              </a:defRPr>
            </a:lvl2pPr>
            <a:lvl3pPr marL="1143000" indent="-228600" defTabSz="989013">
              <a:defRPr sz="2400">
                <a:solidFill>
                  <a:schemeClr val="tx1"/>
                </a:solidFill>
                <a:latin typeface="Times New Roman"/>
                <a:ea typeface="ＭＳ Ｐゴシック"/>
              </a:defRPr>
            </a:lvl3pPr>
            <a:lvl4pPr marL="1600200" indent="-228600" defTabSz="989013">
              <a:defRPr sz="2400">
                <a:solidFill>
                  <a:schemeClr val="tx1"/>
                </a:solidFill>
                <a:latin typeface="Times New Roman"/>
                <a:ea typeface="ＭＳ Ｐゴシック"/>
              </a:defRPr>
            </a:lvl4pPr>
            <a:lvl5pPr marL="2057400" indent="-228600" defTabSz="989013">
              <a:defRPr sz="2400">
                <a:solidFill>
                  <a:schemeClr val="tx1"/>
                </a:solidFill>
                <a:latin typeface="Times New Roman"/>
                <a:ea typeface="ＭＳ Ｐゴシック"/>
              </a:defRPr>
            </a:lvl5pPr>
            <a:lvl6pPr marL="2514600" indent="-228600" defTabSz="989013">
              <a:spcBef>
                <a:spcPts val="0"/>
              </a:spcBef>
              <a:spcAft>
                <a:spcPts val="0"/>
              </a:spcAft>
              <a:defRPr sz="2400">
                <a:solidFill>
                  <a:schemeClr val="tx1"/>
                </a:solidFill>
                <a:latin typeface="Times New Roman"/>
                <a:ea typeface="ＭＳ Ｐゴシック"/>
              </a:defRPr>
            </a:lvl6pPr>
            <a:lvl7pPr marL="2971800" indent="-228600" defTabSz="989013">
              <a:spcBef>
                <a:spcPts val="0"/>
              </a:spcBef>
              <a:spcAft>
                <a:spcPts val="0"/>
              </a:spcAft>
              <a:defRPr sz="2400">
                <a:solidFill>
                  <a:schemeClr val="tx1"/>
                </a:solidFill>
                <a:latin typeface="Times New Roman"/>
                <a:ea typeface="ＭＳ Ｐゴシック"/>
              </a:defRPr>
            </a:lvl7pPr>
            <a:lvl8pPr marL="3429000" indent="-228600" defTabSz="989013">
              <a:spcBef>
                <a:spcPts val="0"/>
              </a:spcBef>
              <a:spcAft>
                <a:spcPts val="0"/>
              </a:spcAft>
              <a:defRPr sz="2400">
                <a:solidFill>
                  <a:schemeClr val="tx1"/>
                </a:solidFill>
                <a:latin typeface="Times New Roman"/>
                <a:ea typeface="ＭＳ Ｐゴシック"/>
              </a:defRPr>
            </a:lvl8pPr>
            <a:lvl9pPr marL="3886200" indent="-228600" defTabSz="989013">
              <a:spcBef>
                <a:spcPts val="0"/>
              </a:spcBef>
              <a:spcAft>
                <a:spcPts val="0"/>
              </a:spcAft>
              <a:defRPr sz="2400">
                <a:solidFill>
                  <a:schemeClr val="tx1"/>
                </a:solidFill>
                <a:latin typeface="Times New Roman"/>
                <a:ea typeface="ＭＳ Ｐゴシック"/>
              </a:defRPr>
            </a:lvl9pPr>
          </a:lstStyle>
          <a:p>
            <a:pPr>
              <a:defRPr/>
            </a:pPr>
            <a:fld id="{497AC0D7-AE39-D341-BEE4-CEA1EED1EE2C}" type="slidenum">
              <a:rPr lang="en-US" sz="1300"/>
              <a:t>16</a:t>
            </a:fld>
            <a:endParaRPr lang="en-US" sz="13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300CBBE-08BB-53AF-34BC-ABB0547CC387}"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52DFC0-518B-759F-BEE1-895B5EAAC1D1}"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043A96B-8E80-E582-365D-C735381E299A}"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6178892" name="Slide Image Placeholder 1"/>
          <p:cNvSpPr>
            <a:spLocks noChangeAspect="1" noGrp="1" noRot="1"/>
          </p:cNvSpPr>
          <p:nvPr>
            <p:ph type="sldImg"/>
          </p:nvPr>
        </p:nvSpPr>
        <p:spPr bwMode="auto">
          <a:ln/>
        </p:spPr>
      </p:sp>
      <p:sp>
        <p:nvSpPr>
          <p:cNvPr id="969767035" name="Notes Placeholder 2"/>
          <p:cNvSpPr>
            <a:spLocks noGrp="1"/>
          </p:cNvSpPr>
          <p:nvPr>
            <p:ph type="body" idx="1"/>
          </p:nvPr>
        </p:nvSpPr>
        <p:spPr bwMode="auto">
          <a:prstGeom prst="rect">
            <a:avLst/>
          </a:prstGeom>
          <a:noFill/>
          <a:ln/>
        </p:spPr>
        <p:txBody>
          <a:bodyPr/>
          <a:lstStyle/>
          <a:p>
            <a:pPr>
              <a:defRPr/>
            </a:pPr>
            <a:endParaRPr lang="en-US">
              <a:ea typeface="ＭＳ Ｐゴシック"/>
            </a:endParaRPr>
          </a:p>
        </p:txBody>
      </p:sp>
      <p:sp>
        <p:nvSpPr>
          <p:cNvPr id="2009147061" name="Slide Number Placeholder 3"/>
          <p:cNvSpPr>
            <a:spLocks noGrp="1"/>
          </p:cNvSpPr>
          <p:nvPr>
            <p:ph type="sldNum" sz="quarter" idx="5"/>
          </p:nvPr>
        </p:nvSpPr>
        <p:spPr bwMode="auto"/>
        <p:txBody>
          <a:bodyPr/>
          <a:lstStyle>
            <a:lvl1pPr defTabSz="989013">
              <a:defRPr sz="2400">
                <a:solidFill>
                  <a:schemeClr val="tx1"/>
                </a:solidFill>
                <a:latin typeface="Times New Roman"/>
                <a:ea typeface="ＭＳ Ｐゴシック"/>
              </a:defRPr>
            </a:lvl1pPr>
            <a:lvl2pPr marL="742950" indent="-285750" defTabSz="989013">
              <a:defRPr sz="2400">
                <a:solidFill>
                  <a:schemeClr val="tx1"/>
                </a:solidFill>
                <a:latin typeface="Times New Roman"/>
                <a:ea typeface="ＭＳ Ｐゴシック"/>
              </a:defRPr>
            </a:lvl2pPr>
            <a:lvl3pPr marL="1143000" indent="-228600" defTabSz="989013">
              <a:defRPr sz="2400">
                <a:solidFill>
                  <a:schemeClr val="tx1"/>
                </a:solidFill>
                <a:latin typeface="Times New Roman"/>
                <a:ea typeface="ＭＳ Ｐゴシック"/>
              </a:defRPr>
            </a:lvl3pPr>
            <a:lvl4pPr marL="1600200" indent="-228600" defTabSz="989013">
              <a:defRPr sz="2400">
                <a:solidFill>
                  <a:schemeClr val="tx1"/>
                </a:solidFill>
                <a:latin typeface="Times New Roman"/>
                <a:ea typeface="ＭＳ Ｐゴシック"/>
              </a:defRPr>
            </a:lvl4pPr>
            <a:lvl5pPr marL="2057400" indent="-228600" defTabSz="989013">
              <a:defRPr sz="2400">
                <a:solidFill>
                  <a:schemeClr val="tx1"/>
                </a:solidFill>
                <a:latin typeface="Times New Roman"/>
                <a:ea typeface="ＭＳ Ｐゴシック"/>
              </a:defRPr>
            </a:lvl5pPr>
            <a:lvl6pPr marL="2514600" indent="-228600" defTabSz="989013">
              <a:spcBef>
                <a:spcPts val="0"/>
              </a:spcBef>
              <a:spcAft>
                <a:spcPts val="0"/>
              </a:spcAft>
              <a:defRPr sz="2400">
                <a:solidFill>
                  <a:schemeClr val="tx1"/>
                </a:solidFill>
                <a:latin typeface="Times New Roman"/>
                <a:ea typeface="ＭＳ Ｐゴシック"/>
              </a:defRPr>
            </a:lvl6pPr>
            <a:lvl7pPr marL="2971800" indent="-228600" defTabSz="989013">
              <a:spcBef>
                <a:spcPts val="0"/>
              </a:spcBef>
              <a:spcAft>
                <a:spcPts val="0"/>
              </a:spcAft>
              <a:defRPr sz="2400">
                <a:solidFill>
                  <a:schemeClr val="tx1"/>
                </a:solidFill>
                <a:latin typeface="Times New Roman"/>
                <a:ea typeface="ＭＳ Ｐゴシック"/>
              </a:defRPr>
            </a:lvl7pPr>
            <a:lvl8pPr marL="3429000" indent="-228600" defTabSz="989013">
              <a:spcBef>
                <a:spcPts val="0"/>
              </a:spcBef>
              <a:spcAft>
                <a:spcPts val="0"/>
              </a:spcAft>
              <a:defRPr sz="2400">
                <a:solidFill>
                  <a:schemeClr val="tx1"/>
                </a:solidFill>
                <a:latin typeface="Times New Roman"/>
                <a:ea typeface="ＭＳ Ｐゴシック"/>
              </a:defRPr>
            </a:lvl8pPr>
            <a:lvl9pPr marL="3886200" indent="-228600" defTabSz="989013">
              <a:spcBef>
                <a:spcPts val="0"/>
              </a:spcBef>
              <a:spcAft>
                <a:spcPts val="0"/>
              </a:spcAft>
              <a:defRPr sz="2400">
                <a:solidFill>
                  <a:schemeClr val="tx1"/>
                </a:solidFill>
                <a:latin typeface="Times New Roman"/>
                <a:ea typeface="ＭＳ Ｐゴシック"/>
              </a:defRPr>
            </a:lvl9pPr>
          </a:lstStyle>
          <a:p>
            <a:pPr>
              <a:defRPr/>
            </a:pPr>
            <a:fld id="{A18F0831-2C71-9749-8CA2-589E8BF9E82C}" type="slidenum">
              <a:rPr lang="en-US" sz="1300"/>
              <a:t>20</a:t>
            </a:fld>
            <a:endParaRPr lang="en-US" sz="13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57CDCB9-F16D-EBF9-CC1B-6B9EFB2C8273}"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3BD7AA1-91E9-421B-F6CF-2D1A3E1D45A6}"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75027D1-27C2-40AC-A5E6-2578EC6404B7}"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2135882-0A7B-11FA-3C27-6DC66815F6A3}"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6D5EE18-8673-4C00-FD8B-14D72E23CBE3}"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3B404A4-33EB-FBE6-EF87-02D64F145972}"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2D5947-39A3-21B3-9B87-7020D076240D}"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090FD15-9464-2153-DB09-1712493FEC8D}"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0411084" name="Slide Image Placeholder 1"/>
          <p:cNvSpPr>
            <a:spLocks noChangeAspect="1" noGrp="1" noRot="1"/>
          </p:cNvSpPr>
          <p:nvPr>
            <p:ph type="sldImg"/>
          </p:nvPr>
        </p:nvSpPr>
        <p:spPr bwMode="auto">
          <a:ln/>
        </p:spPr>
      </p:sp>
      <p:sp>
        <p:nvSpPr>
          <p:cNvPr id="955227778" name="Notes Placeholder 2"/>
          <p:cNvSpPr>
            <a:spLocks noGrp="1"/>
          </p:cNvSpPr>
          <p:nvPr>
            <p:ph type="body" idx="1"/>
          </p:nvPr>
        </p:nvSpPr>
        <p:spPr bwMode="auto">
          <a:prstGeom prst="rect">
            <a:avLst/>
          </a:prstGeom>
          <a:noFill/>
          <a:ln/>
        </p:spPr>
        <p:txBody>
          <a:bodyPr/>
          <a:lstStyle/>
          <a:p>
            <a:pPr>
              <a:defRPr/>
            </a:pPr>
            <a:r>
              <a:rPr lang="en-US">
                <a:ea typeface="ＭＳ Ｐゴシック"/>
              </a:rPr>
              <a:t>A 0x41 while a is 0x61</a:t>
            </a:r>
            <a:endParaRPr/>
          </a:p>
        </p:txBody>
      </p:sp>
      <p:sp>
        <p:nvSpPr>
          <p:cNvPr id="1438654445" name="Slide Number Placeholder 3"/>
          <p:cNvSpPr>
            <a:spLocks noGrp="1"/>
          </p:cNvSpPr>
          <p:nvPr>
            <p:ph type="sldNum" sz="quarter" idx="5"/>
          </p:nvPr>
        </p:nvSpPr>
        <p:spPr bwMode="auto"/>
        <p:txBody>
          <a:bodyPr/>
          <a:lstStyle>
            <a:lvl1pPr defTabSz="989013">
              <a:defRPr sz="2400">
                <a:solidFill>
                  <a:schemeClr val="tx1"/>
                </a:solidFill>
                <a:latin typeface="Times New Roman"/>
                <a:ea typeface="ＭＳ Ｐゴシック"/>
              </a:defRPr>
            </a:lvl1pPr>
            <a:lvl2pPr marL="742950" indent="-285750" defTabSz="989013">
              <a:defRPr sz="2400">
                <a:solidFill>
                  <a:schemeClr val="tx1"/>
                </a:solidFill>
                <a:latin typeface="Times New Roman"/>
                <a:ea typeface="ＭＳ Ｐゴシック"/>
              </a:defRPr>
            </a:lvl2pPr>
            <a:lvl3pPr marL="1143000" indent="-228600" defTabSz="989013">
              <a:defRPr sz="2400">
                <a:solidFill>
                  <a:schemeClr val="tx1"/>
                </a:solidFill>
                <a:latin typeface="Times New Roman"/>
                <a:ea typeface="ＭＳ Ｐゴシック"/>
              </a:defRPr>
            </a:lvl3pPr>
            <a:lvl4pPr marL="1600200" indent="-228600" defTabSz="989013">
              <a:defRPr sz="2400">
                <a:solidFill>
                  <a:schemeClr val="tx1"/>
                </a:solidFill>
                <a:latin typeface="Times New Roman"/>
                <a:ea typeface="ＭＳ Ｐゴシック"/>
              </a:defRPr>
            </a:lvl4pPr>
            <a:lvl5pPr marL="2057400" indent="-228600" defTabSz="989013">
              <a:defRPr sz="2400">
                <a:solidFill>
                  <a:schemeClr val="tx1"/>
                </a:solidFill>
                <a:latin typeface="Times New Roman"/>
                <a:ea typeface="ＭＳ Ｐゴシック"/>
              </a:defRPr>
            </a:lvl5pPr>
            <a:lvl6pPr marL="2514600" indent="-228600" defTabSz="989013">
              <a:spcBef>
                <a:spcPts val="0"/>
              </a:spcBef>
              <a:spcAft>
                <a:spcPts val="0"/>
              </a:spcAft>
              <a:defRPr sz="2400">
                <a:solidFill>
                  <a:schemeClr val="tx1"/>
                </a:solidFill>
                <a:latin typeface="Times New Roman"/>
                <a:ea typeface="ＭＳ Ｐゴシック"/>
              </a:defRPr>
            </a:lvl6pPr>
            <a:lvl7pPr marL="2971800" indent="-228600" defTabSz="989013">
              <a:spcBef>
                <a:spcPts val="0"/>
              </a:spcBef>
              <a:spcAft>
                <a:spcPts val="0"/>
              </a:spcAft>
              <a:defRPr sz="2400">
                <a:solidFill>
                  <a:schemeClr val="tx1"/>
                </a:solidFill>
                <a:latin typeface="Times New Roman"/>
                <a:ea typeface="ＭＳ Ｐゴシック"/>
              </a:defRPr>
            </a:lvl7pPr>
            <a:lvl8pPr marL="3429000" indent="-228600" defTabSz="989013">
              <a:spcBef>
                <a:spcPts val="0"/>
              </a:spcBef>
              <a:spcAft>
                <a:spcPts val="0"/>
              </a:spcAft>
              <a:defRPr sz="2400">
                <a:solidFill>
                  <a:schemeClr val="tx1"/>
                </a:solidFill>
                <a:latin typeface="Times New Roman"/>
                <a:ea typeface="ＭＳ Ｐゴシック"/>
              </a:defRPr>
            </a:lvl8pPr>
            <a:lvl9pPr marL="3886200" indent="-228600" defTabSz="989013">
              <a:spcBef>
                <a:spcPts val="0"/>
              </a:spcBef>
              <a:spcAft>
                <a:spcPts val="0"/>
              </a:spcAft>
              <a:defRPr sz="2400">
                <a:solidFill>
                  <a:schemeClr val="tx1"/>
                </a:solidFill>
                <a:latin typeface="Times New Roman"/>
                <a:ea typeface="ＭＳ Ｐゴシック"/>
              </a:defRPr>
            </a:lvl9pPr>
          </a:lstStyle>
          <a:p>
            <a:pPr>
              <a:defRPr/>
            </a:pPr>
            <a:fld id="{4DD03C24-4E97-2942-BE7C-A3F00DB391CC}" type="slidenum">
              <a:rPr lang="en-US" sz="1300"/>
              <a:t>29</a:t>
            </a:fld>
            <a:endParaRPr lang="en-US" sz="13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6EADA55-3778-EC18-E114-1F5FC7C97101}"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3C14F63-31AE-22D4-0E77-BA692A97A9A5}"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EA5857-5275-831A-61F4-0488F5E78117}"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CF3B27E-CDD1-B81E-BF4F-7DC4A460C914}"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61125F2-D001-1891-1496-62134F3313EC}"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2B4F2E4-8578-ABCB-FF72-80137C420AFB}"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70E9D88-72E0-C286-A39A-86B446858937}"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D25D3CE-AEB6-BA2D-A5B2-2EBE6BD6AA31}"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F1DF6AA-48AB-EEA6-2CEC-72D9F1B9E595}"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948C8F5-60D6-6A7B-8E6E-2A1679B8D5C5}"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A3F98C6-74B1-EB2D-F921-B3E9C3109F08}"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72F0262-A6D0-EEF8-EF5B-64E99941FF1E}"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73D6AA4-BAB5-691E-ABA9-06D82FB39ED3}"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4DACB64-5ECA-45E0-7140-C38C16042BB7}"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2ABF921-28EE-E587-86D8-C9A90B270D98}"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0B419D8-C1DD-EB28-9221-E9E659A3475C}"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5288196" name="PlaceHolder 1"/>
          <p:cNvSpPr>
            <a:spLocks noChangeAspect="1" noGrp="1" noRot="1"/>
          </p:cNvSpPr>
          <p:nvPr>
            <p:ph type="sldImg"/>
          </p:nvPr>
        </p:nvSpPr>
        <p:spPr bwMode="auto">
          <a:xfrm>
            <a:off x="1143000" y="685800"/>
            <a:ext cx="4571640" cy="3428640"/>
          </a:xfrm>
          <a:prstGeom prst="rect">
            <a:avLst/>
          </a:prstGeom>
          <a:ln w="0">
            <a:noFill/>
          </a:ln>
        </p:spPr>
      </p:sp>
      <p:sp>
        <p:nvSpPr>
          <p:cNvPr id="924453871" name="PlaceHolder 2"/>
          <p:cNvSpPr>
            <a:spLocks noGrp="1"/>
          </p:cNvSpPr>
          <p:nvPr>
            <p:ph type="body"/>
          </p:nvPr>
        </p:nvSpPr>
        <p:spPr bwMode="auto">
          <a:xfrm>
            <a:off x="685800" y="4343400"/>
            <a:ext cx="5486039" cy="4114440"/>
          </a:xfrm>
          <a:prstGeom prst="rect">
            <a:avLst/>
          </a:prstGeom>
          <a:noFill/>
          <a:ln w="0">
            <a:noFill/>
          </a:ln>
        </p:spPr>
        <p:txBody>
          <a:bodyPr lIns="91440" tIns="45720" rIns="91440" bIns="45720" numCol="1" spcCol="0" anchor="t">
            <a:noAutofit/>
          </a:bodyPr>
          <a:lstStyle/>
          <a:p>
            <a:pPr marL="39600" indent="0" algn="ctr">
              <a:lnSpc>
                <a:spcPct val="50000"/>
              </a:lnSpc>
              <a:spcBef>
                <a:spcPts val="187"/>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500" b="0" strike="noStrike" spc="-1">
                <a:solidFill>
                  <a:srgbClr val="000000"/>
                </a:solidFill>
                <a:latin typeface="Courier New"/>
                <a:ea typeface="Courier New"/>
              </a:rPr>
              <a:t>                        </a:t>
            </a:r>
            <a:r>
              <a:rPr lang="en-US" sz="500" b="0" strike="noStrike" spc="-1">
                <a:solidFill>
                  <a:srgbClr val="000000"/>
                </a:solidFill>
                <a:latin typeface="Courier New Bold"/>
                <a:ea typeface="Courier New Bold"/>
              </a:rPr>
              <a:t>1 1 1 1 1 1 1 1 1 1 2 2 2 2 2 2 2 2 2 2 3 3</a:t>
            </a:r>
            <a:endParaRPr lang="en-US" sz="500" b="0" strike="noStrike" spc="-1">
              <a:solidFill>
                <a:srgbClr val="000000"/>
              </a:solidFill>
              <a:latin typeface="Arial"/>
            </a:endParaRPr>
          </a:p>
          <a:p>
            <a:pPr marL="39600" indent="0" algn="ctr">
              <a:lnSpc>
                <a:spcPct val="50000"/>
              </a:lnSpc>
              <a:spcBef>
                <a:spcPts val="187"/>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500" b="0" strike="noStrike" spc="-1">
                <a:solidFill>
                  <a:srgbClr val="000000"/>
                </a:solidFill>
                <a:latin typeface="Courier New Bold"/>
                <a:ea typeface="Courier New Bold"/>
              </a:rPr>
              <a:t>    0 1 2 3 4 5 6 7 8 9 0 1 2 3 4 5 6 7 8 9 0 1 2 3 4 5 6 7 8 9 0 1</a:t>
            </a:r>
            <a:endParaRPr lang="en-US" sz="500" b="0" strike="noStrike" spc="-1">
              <a:solidFill>
                <a:srgbClr val="000000"/>
              </a:solidFill>
              <a:latin typeface="Arial"/>
            </a:endParaRPr>
          </a:p>
          <a:p>
            <a:pPr marL="39600" indent="0" algn="ctr">
              <a:lnSpc>
                <a:spcPct val="50000"/>
              </a:lnSpc>
              <a:spcBef>
                <a:spcPts val="187"/>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500" b="0" strike="noStrike" spc="-1">
                <a:solidFill>
                  <a:srgbClr val="000000"/>
                </a:solidFill>
                <a:latin typeface="Courier New Bold"/>
                <a:ea typeface="Courier New Bold"/>
              </a:rPr>
              <a:t>   +-+-+-+-+-+-+-+-+-+-+-+-+-+-+-+-+-+-+-+-+-+-+-+-+-+-+-+-+-+-+-+-+</a:t>
            </a:r>
            <a:endParaRPr lang="en-US" sz="500" b="0" strike="noStrike" spc="-1">
              <a:solidFill>
                <a:srgbClr val="000000"/>
              </a:solidFill>
              <a:latin typeface="Arial"/>
            </a:endParaRPr>
          </a:p>
          <a:p>
            <a:pPr marL="39600" indent="0" algn="ctr">
              <a:lnSpc>
                <a:spcPct val="50000"/>
              </a:lnSpc>
              <a:spcBef>
                <a:spcPts val="187"/>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500" b="0" strike="noStrike" spc="-1">
                <a:solidFill>
                  <a:srgbClr val="000000"/>
                </a:solidFill>
                <a:latin typeface="Courier New Bold"/>
                <a:ea typeface="Courier New Bold"/>
              </a:rPr>
              <a:t>   |             flags             |    protocol   |   algorithm   |</a:t>
            </a:r>
            <a:endParaRPr lang="en-US" sz="500" b="0" strike="noStrike" spc="-1">
              <a:solidFill>
                <a:srgbClr val="000000"/>
              </a:solidFill>
              <a:latin typeface="Arial"/>
            </a:endParaRPr>
          </a:p>
          <a:p>
            <a:pPr marL="39600" indent="0" algn="ctr">
              <a:lnSpc>
                <a:spcPct val="50000"/>
              </a:lnSpc>
              <a:spcBef>
                <a:spcPts val="187"/>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500" b="0" strike="noStrike" spc="-1">
                <a:solidFill>
                  <a:srgbClr val="000000"/>
                </a:solidFill>
                <a:latin typeface="Courier New Bold"/>
                <a:ea typeface="Courier New Bold"/>
              </a:rPr>
              <a:t>   +-+-+-+-+-+-+-+-+-+-+-+-+-+-+-+-+-+-+-+-+-+-+-+-+-+-+-+-+-+-+-+-+</a:t>
            </a:r>
            <a:endParaRPr lang="en-US" sz="500" b="0" strike="noStrike" spc="-1">
              <a:solidFill>
                <a:srgbClr val="000000"/>
              </a:solidFill>
              <a:latin typeface="Arial"/>
            </a:endParaRPr>
          </a:p>
          <a:p>
            <a:pPr marL="39600" indent="0" algn="ctr">
              <a:lnSpc>
                <a:spcPct val="50000"/>
              </a:lnSpc>
              <a:spcBef>
                <a:spcPts val="187"/>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500" b="0" strike="noStrike" spc="-1">
                <a:solidFill>
                  <a:srgbClr val="000000"/>
                </a:solidFill>
                <a:latin typeface="Courier New Bold"/>
                <a:ea typeface="Courier New Bold"/>
              </a:rPr>
              <a:t>   |                                                               /</a:t>
            </a:r>
            <a:endParaRPr lang="en-US" sz="500" b="0" strike="noStrike" spc="-1">
              <a:solidFill>
                <a:srgbClr val="000000"/>
              </a:solidFill>
              <a:latin typeface="Arial"/>
            </a:endParaRPr>
          </a:p>
          <a:p>
            <a:pPr marL="39600" indent="0" algn="ctr">
              <a:lnSpc>
                <a:spcPct val="50000"/>
              </a:lnSpc>
              <a:spcBef>
                <a:spcPts val="187"/>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500" b="0" strike="noStrike" spc="-1">
                <a:solidFill>
                  <a:srgbClr val="000000"/>
                </a:solidFill>
                <a:latin typeface="Courier New Bold"/>
                <a:ea typeface="Courier New Bold"/>
              </a:rPr>
              <a:t>   /                          public key                           /</a:t>
            </a:r>
            <a:endParaRPr lang="en-US" sz="500" b="0" strike="noStrike" spc="-1">
              <a:solidFill>
                <a:srgbClr val="000000"/>
              </a:solidFill>
              <a:latin typeface="Arial"/>
            </a:endParaRPr>
          </a:p>
          <a:p>
            <a:pPr marL="39600" indent="0" algn="ctr">
              <a:lnSpc>
                <a:spcPct val="50000"/>
              </a:lnSpc>
              <a:spcBef>
                <a:spcPts val="187"/>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500" b="0" strike="noStrike" spc="-1">
                <a:solidFill>
                  <a:srgbClr val="000000"/>
                </a:solidFill>
                <a:latin typeface="Courier New Bold"/>
                <a:ea typeface="Courier New Bold"/>
              </a:rPr>
              <a:t>   /                                                               /</a:t>
            </a:r>
            <a:endParaRPr lang="en-US" sz="500" b="0" strike="noStrike" spc="-1">
              <a:solidFill>
                <a:srgbClr val="000000"/>
              </a:solidFill>
              <a:latin typeface="Arial"/>
            </a:endParaRPr>
          </a:p>
          <a:p>
            <a:pPr marL="39600" indent="0" algn="ctr">
              <a:lnSpc>
                <a:spcPct val="50000"/>
              </a:lnSpc>
              <a:spcBef>
                <a:spcPts val="187"/>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500" b="0" strike="noStrike" spc="-1">
                <a:solidFill>
                  <a:srgbClr val="000000"/>
                </a:solidFill>
                <a:latin typeface="Courier New Bold"/>
                <a:ea typeface="Courier New Bold"/>
              </a:rPr>
              <a:t>   +-+-+-+-+-+-+-+-+-+-+-+-+-+-+-+-+-+-+-+-+-+-+-+-+-+-+-+-+-+-+-+-|</a:t>
            </a:r>
            <a:endParaRPr lang="en-US" sz="500" b="0" strike="noStrike" spc="-1">
              <a:solidFill>
                <a:srgbClr val="000000"/>
              </a:solidFill>
              <a:latin typeface="Arial"/>
            </a:endParaRPr>
          </a:p>
          <a:p>
            <a:pPr marL="39600" indent="0">
              <a:lnSpc>
                <a:spcPct val="50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Flags:</a:t>
            </a:r>
            <a:endParaRPr lang="en-US" sz="2000" b="0" strike="noStrike" spc="-1">
              <a:solidFill>
                <a:srgbClr val="000000"/>
              </a:solidFill>
              <a:latin typeface="Arial"/>
            </a:endParaRPr>
          </a:p>
          <a:p>
            <a:pPr marL="39600" indent="0">
              <a:lnSpc>
                <a:spcPct val="80000"/>
              </a:lnSpc>
              <a:spcBef>
                <a:spcPts val="26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       </a:t>
            </a:r>
            <a:r>
              <a:rPr lang="en-US" sz="700" b="0" strike="noStrike" spc="-1">
                <a:solidFill>
                  <a:srgbClr val="000000"/>
                </a:solidFill>
                <a:latin typeface="Wingdings"/>
                <a:ea typeface="Wingdings"/>
              </a:rPr>
              <a:t></a:t>
            </a:r>
            <a:endParaRPr lang="en-US" sz="700" b="0" strike="noStrike" spc="-1">
              <a:solidFill>
                <a:srgbClr val="000000"/>
              </a:solidFill>
              <a:latin typeface="Arial"/>
            </a:endParaRPr>
          </a:p>
          <a:p>
            <a:pPr marL="39600" indent="0">
              <a:lnSpc>
                <a:spcPct val="50000"/>
              </a:lnSpc>
              <a:spcBef>
                <a:spcPts val="26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700" b="0" strike="noStrike" spc="-1">
                <a:solidFill>
                  <a:srgbClr val="000000"/>
                </a:solidFill>
                <a:latin typeface="Wingdings"/>
                <a:ea typeface="Wingdings"/>
              </a:rPr>
              <a:t></a:t>
            </a:r>
            <a:endParaRPr lang="en-US" sz="700" b="0" strike="noStrike" spc="-1">
              <a:solidFill>
                <a:srgbClr val="000000"/>
              </a:solidFill>
              <a:latin typeface="Arial"/>
            </a:endParaRPr>
          </a:p>
          <a:p>
            <a:pPr marL="39600" indent="0">
              <a:lnSpc>
                <a:spcPct val="50000"/>
              </a:lnSpc>
              <a:spcBef>
                <a:spcPts val="26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700" b="0" strike="noStrike" spc="-1">
                <a:solidFill>
                  <a:srgbClr val="000000"/>
                </a:solidFill>
                <a:latin typeface="Wingdings"/>
                <a:ea typeface="Wingdings"/>
              </a:rPr>
              <a:t></a:t>
            </a:r>
            <a:endParaRPr lang="en-US" sz="700" b="0" strike="noStrike" spc="-1">
              <a:solidFill>
                <a:srgbClr val="000000"/>
              </a:solidFill>
              <a:latin typeface="Arial"/>
            </a:endParaRPr>
          </a:p>
          <a:p>
            <a:pPr marL="39600" indent="0">
              <a:lnSpc>
                <a:spcPct val="50000"/>
              </a:lnSpc>
              <a:spcBef>
                <a:spcPts val="26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700" b="0" strike="noStrike" spc="-1">
                <a:solidFill>
                  <a:srgbClr val="000000"/>
                </a:solidFill>
                <a:latin typeface="Wingdings"/>
                <a:ea typeface="Wingdings"/>
              </a:rPr>
              <a:t></a:t>
            </a:r>
            <a:endParaRPr lang="en-US" sz="700" b="0" strike="noStrike" spc="-1">
              <a:solidFill>
                <a:srgbClr val="000000"/>
              </a:solidFill>
              <a:latin typeface="Arial"/>
            </a:endParaRPr>
          </a:p>
          <a:p>
            <a:pPr marL="39600" indent="0">
              <a:lnSpc>
                <a:spcPct val="50000"/>
              </a:lnSpc>
              <a:spcBef>
                <a:spcPts val="26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700" b="0" strike="noStrike" spc="-1">
              <a:solidFill>
                <a:srgbClr val="000000"/>
              </a:solidFill>
              <a:latin typeface="Arial"/>
            </a:endParaRPr>
          </a:p>
          <a:p>
            <a:pPr marL="39600" indent="0">
              <a:lnSpc>
                <a:spcPct val="5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1000" b="0" strike="noStrike" spc="-1">
                <a:solidFill>
                  <a:srgbClr val="000000"/>
                </a:solidFill>
                <a:latin typeface="Times New Roman"/>
                <a:ea typeface="Times New Roman"/>
              </a:rPr>
              <a:t>When dealing with ZONE data NAMTYPE is set to 01.</a:t>
            </a:r>
            <a:endParaRPr lang="en-US" sz="1000" b="0" strike="noStrike" spc="-1">
              <a:solidFill>
                <a:srgbClr val="000000"/>
              </a:solidFill>
              <a:latin typeface="Arial"/>
            </a:endParaRPr>
          </a:p>
          <a:p>
            <a:pPr marL="39600" indent="0">
              <a:lnSpc>
                <a:spcPct val="5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1000" b="0" strike="noStrike" spc="-1">
                <a:solidFill>
                  <a:srgbClr val="000000"/>
                </a:solidFill>
                <a:latin typeface="Times New Roman"/>
                <a:ea typeface="Times New Roman"/>
              </a:rPr>
              <a:t>If bit 0 and 1 are both 0 then the key can be used for authentication and confidentiality.  DNSSEC normally sets these two bits to 0.</a:t>
            </a:r>
            <a:endParaRPr lang="en-US" sz="1000" b="0" strike="noStrike" spc="-1">
              <a:solidFill>
                <a:srgbClr val="000000"/>
              </a:solidFill>
              <a:latin typeface="Arial"/>
            </a:endParaRPr>
          </a:p>
          <a:p>
            <a:pPr marL="39600" indent="0">
              <a:lnSpc>
                <a:spcPct val="5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1000" b="0" strike="noStrike" spc="-1">
              <a:solidFill>
                <a:srgbClr val="000000"/>
              </a:solidFill>
              <a:latin typeface="Arial"/>
            </a:endParaRPr>
          </a:p>
          <a:p>
            <a:pPr marL="39600" indent="0">
              <a:lnSpc>
                <a:spcPct val="5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1000" b="0" strike="noStrike" spc="-1">
                <a:solidFill>
                  <a:srgbClr val="000000"/>
                </a:solidFill>
                <a:latin typeface="Times New Roman"/>
                <a:ea typeface="Times New Roman"/>
              </a:rPr>
              <a:t>If bit 0 and 1 are set, then there is NO key and the RR stops after the algorithm octet.</a:t>
            </a:r>
            <a:endParaRPr lang="en-US" sz="1000" b="0" strike="noStrike" spc="-1">
              <a:solidFill>
                <a:srgbClr val="000000"/>
              </a:solidFill>
              <a:latin typeface="Arial"/>
            </a:endParaRPr>
          </a:p>
          <a:p>
            <a:pPr marL="39600" indent="0">
              <a:lnSpc>
                <a:spcPct val="5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1000" b="0" strike="noStrike" spc="-1">
                <a:solidFill>
                  <a:srgbClr val="000000"/>
                </a:solidFill>
                <a:latin typeface="Times New Roman"/>
                <a:ea typeface="Times New Roman"/>
              </a:rPr>
              <a:t>Flags 0XC100 = 49408 </a:t>
            </a:r>
            <a:endParaRPr lang="en-US" sz="1000" b="0" strike="noStrike" spc="-1">
              <a:solidFill>
                <a:srgbClr val="000000"/>
              </a:solidFill>
              <a:latin typeface="Arial"/>
            </a:endParaRPr>
          </a:p>
          <a:p>
            <a:pPr marL="39600" indent="0">
              <a:lnSpc>
                <a:spcPct val="5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1000" b="0" strike="noStrike" spc="-1">
              <a:solidFill>
                <a:srgbClr val="000000"/>
              </a:solidFill>
              <a:latin typeface="Arial"/>
            </a:endParaRPr>
          </a:p>
          <a:p>
            <a:pPr marL="39600" indent="0">
              <a:lnSpc>
                <a:spcPct val="5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1000" b="0" strike="noStrike" spc="-1">
                <a:solidFill>
                  <a:srgbClr val="000000"/>
                </a:solidFill>
                <a:latin typeface="Times New Roman"/>
                <a:ea typeface="Times New Roman"/>
              </a:rPr>
              <a:t>Protocol: For DNSSEC the protocol is 3. IPSEC would have 4 in the protocol field.</a:t>
            </a:r>
            <a:endParaRPr lang="en-US" sz="1000" b="0" strike="noStrike" spc="-1">
              <a:solidFill>
                <a:srgbClr val="000000"/>
              </a:solidFill>
              <a:latin typeface="Arial"/>
            </a:endParaRPr>
          </a:p>
          <a:p>
            <a:pPr marL="39600" indent="0">
              <a:lnSpc>
                <a:spcPct val="5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1000" b="0" strike="noStrike" spc="-1">
              <a:solidFill>
                <a:srgbClr val="000000"/>
              </a:solidFill>
              <a:latin typeface="Arial"/>
            </a:endParaRPr>
          </a:p>
          <a:p>
            <a:pPr marL="39600" indent="0">
              <a:lnSpc>
                <a:spcPct val="8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1000" b="0" strike="noStrike" spc="-1">
                <a:solidFill>
                  <a:srgbClr val="000000"/>
                </a:solidFill>
                <a:latin typeface="Times New Roman"/>
                <a:ea typeface="Times New Roman"/>
              </a:rPr>
              <a:t>Algorithm:	 1     RSA/MD5 [RFC 2537]</a:t>
            </a:r>
            <a:endParaRPr lang="en-US" sz="1000" b="0" strike="noStrike" spc="-1">
              <a:solidFill>
                <a:srgbClr val="000000"/>
              </a:solidFill>
              <a:latin typeface="Arial"/>
            </a:endParaRPr>
          </a:p>
          <a:p>
            <a:pPr marL="39600" indent="0">
              <a:lnSpc>
                <a:spcPct val="8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1000" b="0" strike="noStrike" spc="-1">
                <a:solidFill>
                  <a:srgbClr val="000000"/>
                </a:solidFill>
                <a:latin typeface="Times New Roman"/>
                <a:ea typeface="Times New Roman"/>
              </a:rPr>
              <a:t>    	 2     Diffie-Hellman [RFC 2539] - optional, key only</a:t>
            </a:r>
            <a:endParaRPr lang="en-US" sz="1000" b="0" strike="noStrike" spc="-1">
              <a:solidFill>
                <a:srgbClr val="000000"/>
              </a:solidFill>
              <a:latin typeface="Arial"/>
            </a:endParaRPr>
          </a:p>
          <a:p>
            <a:pPr marL="39600" indent="0">
              <a:lnSpc>
                <a:spcPct val="8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1000" b="0" strike="noStrike" spc="-1">
                <a:solidFill>
                  <a:srgbClr val="000000"/>
                </a:solidFill>
                <a:latin typeface="Times New Roman"/>
                <a:ea typeface="Times New Roman"/>
              </a:rPr>
              <a:t>     	 3     DSA [RFC 2536] – Mandatory in implementations</a:t>
            </a:r>
            <a:endParaRPr lang="en-US" sz="1000" b="0" strike="noStrike" spc="-1">
              <a:solidFill>
                <a:srgbClr val="000000"/>
              </a:solidFill>
              <a:latin typeface="Arial"/>
            </a:endParaRPr>
          </a:p>
          <a:p>
            <a:pPr marL="39600" indent="0">
              <a:lnSpc>
                <a:spcPct val="8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1000" b="0" strike="noStrike" spc="-1">
                <a:solidFill>
                  <a:srgbClr val="000000"/>
                </a:solidFill>
                <a:latin typeface="Times New Roman"/>
                <a:ea typeface="Times New Roman"/>
              </a:rPr>
              <a:t>     	 4     reserved for elliptic curve crypto</a:t>
            </a:r>
            <a:endParaRPr lang="en-US" sz="1000" b="0" strike="noStrike" spc="-1">
              <a:solidFill>
                <a:srgbClr val="000000"/>
              </a:solidFill>
              <a:latin typeface="Arial"/>
            </a:endParaRPr>
          </a:p>
          <a:p>
            <a:pPr marL="39600" indent="0">
              <a:lnSpc>
                <a:spcPct val="80000"/>
              </a:lnSpc>
              <a:spcBef>
                <a:spcPts val="37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1000" b="0" strike="noStrike" spc="-1">
                <a:solidFill>
                  <a:srgbClr val="000000"/>
                </a:solidFill>
                <a:latin typeface="Times New Roman"/>
                <a:ea typeface="Times New Roman"/>
              </a:rPr>
              <a:t> 	 5     RSA/SHA1 [RFC3110] – Mandatory in implementations</a:t>
            </a:r>
            <a:endParaRPr lang="en-US" sz="1000" b="0" strike="noStrike" spc="-1">
              <a:solidFill>
                <a:srgbClr val="000000"/>
              </a:solidFill>
              <a:latin typeface="Arial"/>
            </a:endParaRPr>
          </a:p>
          <a:p>
            <a:pPr marL="39600" indent="0">
              <a:lnSpc>
                <a:spcPct val="50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1000" b="0" strike="noStrike" spc="-1">
              <a:solidFill>
                <a:srgbClr val="000000"/>
              </a:solidFill>
              <a:latin typeface="Arial"/>
            </a:endParaRPr>
          </a:p>
          <a:p>
            <a:pPr marL="39600" indent="0">
              <a:lnSpc>
                <a:spcPct val="50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There are developments to restrict the use of KEYs to DNSSEC only. So only allow protocol 3 and drop some of the flags see: draft-ietf-dnsext--restrict-key-for-dnssec-??.txt</a:t>
            </a:r>
            <a:endParaRPr lang="en-US" sz="2000" b="0" strike="noStrike" spc="-1">
              <a:solidFill>
                <a:srgbClr val="000000"/>
              </a:solidFill>
              <a:latin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3346560" name="PlaceHolder 1"/>
          <p:cNvSpPr>
            <a:spLocks noChangeAspect="1" noGrp="1" noRot="1"/>
          </p:cNvSpPr>
          <p:nvPr>
            <p:ph type="sldImg"/>
          </p:nvPr>
        </p:nvSpPr>
        <p:spPr bwMode="auto">
          <a:xfrm>
            <a:off x="1143000" y="685800"/>
            <a:ext cx="4571640" cy="3428640"/>
          </a:xfrm>
          <a:prstGeom prst="rect">
            <a:avLst/>
          </a:prstGeom>
          <a:ln w="0">
            <a:noFill/>
          </a:ln>
        </p:spPr>
      </p:sp>
      <p:sp>
        <p:nvSpPr>
          <p:cNvPr id="138424187" name="PlaceHolder 2"/>
          <p:cNvSpPr>
            <a:spLocks noGrp="1"/>
          </p:cNvSpPr>
          <p:nvPr>
            <p:ph type="body"/>
          </p:nvPr>
        </p:nvSpPr>
        <p:spPr bwMode="auto">
          <a:xfrm>
            <a:off x="685800" y="4343400"/>
            <a:ext cx="5486039" cy="4114440"/>
          </a:xfrm>
          <a:prstGeom prst="rect">
            <a:avLst/>
          </a:prstGeom>
          <a:noFill/>
          <a:ln w="0">
            <a:noFill/>
          </a:ln>
        </p:spPr>
        <p:txBody>
          <a:bodyPr lIns="91440" tIns="45720" rIns="91440" bIns="45720" numCol="1" spcCol="0" anchor="t">
            <a:noAutofit/>
          </a:bodyPr>
          <a:lstStyle/>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2000" b="0" strike="noStrike" spc="-1">
              <a:solidFill>
                <a:srgbClr val="000000"/>
              </a:solidFill>
              <a:latin typeface="Arial"/>
            </a:endParaRPr>
          </a:p>
          <a:p>
            <a:pPr marL="39600" indent="0">
              <a:lnSpc>
                <a:spcPct val="95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                                                     </a:t>
            </a:r>
            <a:r>
              <a:rPr lang="en-US" sz="600" b="0" strike="noStrike" spc="-1">
                <a:solidFill>
                  <a:srgbClr val="000000"/>
                </a:solidFill>
                <a:latin typeface="Courier New"/>
                <a:ea typeface="Courier New"/>
              </a:rPr>
              <a:t>1 1 1 1 1 1 1 1 1 1 2 2 2 2 2 2 2 2 2 2 3 3</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0 1 2 3 4 5 6 7 8 9 0 1 2 3 4 5 6 7 8 9 0 1 2 3 4 5 6 7 8 9 0 1</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type covered           |  algorithm    |     labels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original TTL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signature expiration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signature inception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key  tag           |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signer's name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signature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600" b="0" strike="noStrike" spc="-1">
              <a:solidFill>
                <a:srgbClr val="000000"/>
              </a:solidFill>
              <a:latin typeface="Arial"/>
            </a:endParaRPr>
          </a:p>
          <a:p>
            <a:pPr marL="39600" indent="0" algn="ctr">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600" b="0" strike="noStrike" spc="-1">
              <a:solidFill>
                <a:srgbClr val="000000"/>
              </a:solidFill>
              <a:latin typeface="Arial"/>
            </a:endParaRPr>
          </a:p>
          <a:p>
            <a:pPr marL="39600" indent="0">
              <a:lnSpc>
                <a:spcPct val="50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In the example above the algorithm is type 1 (RSA), the key tag is 3122 and the signer’s name is bla.foo; Kbla.foo+001+3122 is the key used to sign. The A record that has the same label as this SIG.</a:t>
            </a:r>
            <a:endParaRPr lang="en-US" sz="2000" b="0" strike="noStrike" spc="-1">
              <a:solidFill>
                <a:srgbClr val="000000"/>
              </a:solidFill>
              <a:latin typeface="Arial"/>
            </a:endParaRPr>
          </a:p>
          <a:p>
            <a:pPr marL="39600" indent="0">
              <a:lnSpc>
                <a:spcPct val="50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2000" b="0" strike="noStrike" spc="-1">
              <a:solidFill>
                <a:srgbClr val="000000"/>
              </a:solidFill>
              <a:latin typeface="Arial"/>
            </a:endParaRPr>
          </a:p>
          <a:p>
            <a:pPr marL="39600" indent="0">
              <a:lnSpc>
                <a:spcPct val="50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The labels covered field is to help the resolver tell that the answer is a result of wildcard substitution.</a:t>
            </a:r>
            <a:endParaRPr lang="en-US" sz="2000" b="0" strike="noStrike" spc="-1">
              <a:solidFill>
                <a:srgbClr val="000000"/>
              </a:solidFill>
              <a:latin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63FDB09-7148-F1CF-5C79-B6C3CA318D6D}"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DA897C2-AC41-F23B-6FE0-0C19CB461790}"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265DDC9-2CA7-329E-AF03-8587B1CE3F47}"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06120B1-C218-65EB-AE5C-BC15C8D9091C}"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998C32A-462C-CA1F-BB91-871966DB8162}"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6141234" name="PlaceHolder 1"/>
          <p:cNvSpPr>
            <a:spLocks noChangeAspect="1" noGrp="1" noRot="1"/>
          </p:cNvSpPr>
          <p:nvPr>
            <p:ph type="sldImg"/>
          </p:nvPr>
        </p:nvSpPr>
        <p:spPr bwMode="auto">
          <a:xfrm>
            <a:off x="1143000" y="685800"/>
            <a:ext cx="4571640" cy="3428640"/>
          </a:xfrm>
          <a:prstGeom prst="rect">
            <a:avLst/>
          </a:prstGeom>
          <a:ln w="0">
            <a:noFill/>
          </a:ln>
        </p:spPr>
      </p:sp>
      <p:sp>
        <p:nvSpPr>
          <p:cNvPr id="805353947" name="PlaceHolder 2"/>
          <p:cNvSpPr>
            <a:spLocks noGrp="1"/>
          </p:cNvSpPr>
          <p:nvPr>
            <p:ph type="body"/>
          </p:nvPr>
        </p:nvSpPr>
        <p:spPr bwMode="auto">
          <a:xfrm>
            <a:off x="685800" y="4343400"/>
            <a:ext cx="5486039" cy="4114440"/>
          </a:xfrm>
          <a:prstGeom prst="rect">
            <a:avLst/>
          </a:prstGeom>
          <a:noFill/>
          <a:ln w="0">
            <a:noFill/>
          </a:ln>
        </p:spPr>
        <p:txBody>
          <a:bodyPr lIns="91440" tIns="45720" rIns="91440" bIns="45720" numCol="1" spcCol="0" anchor="t">
            <a:noAutofit/>
          </a:bodyPr>
          <a:lstStyle/>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draft-ietf-dnsext-delegation-signer-xx.txt</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20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1 1 1 1 1 1 1 1 1 1 2 2 2 2 2 2 2 2 2 2 3 3</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0 1 2 3 4 5 6 7 8 9 0 1 2 3 4 5 6 7 8 9 0 1 2 3 4 5 6 7 8 9 0 1</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type covered           |  algorithm    |  digest type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SHA-1 digest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20 bytes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                                                               | </a:t>
            </a:r>
            <a:endParaRPr lang="en-US" sz="600" b="0" strike="noStrike" spc="-1">
              <a:solidFill>
                <a:srgbClr val="000000"/>
              </a:solidFill>
              <a:latin typeface="Arial"/>
            </a:endParaRPr>
          </a:p>
          <a:p>
            <a:pPr marL="39600" indent="0">
              <a:lnSpc>
                <a:spcPct val="100000"/>
              </a:lnSpc>
              <a:spcBef>
                <a:spcPts val="224"/>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600" b="0" strike="noStrike" spc="-1">
                <a:solidFill>
                  <a:srgbClr val="000000"/>
                </a:solidFill>
                <a:latin typeface="Courier New"/>
                <a:ea typeface="Courier New"/>
              </a:rPr>
              <a:t>      +-+-+-+-+-+-+-+-+-+-+-+-+-+-+-+-+-+-+-+-+-+-+-+-+-+-+-+-+-+-+-+-+</a:t>
            </a:r>
            <a:endParaRPr lang="en-US" sz="600" b="0" strike="noStrike" spc="-1">
              <a:solidFill>
                <a:srgbClr val="000000"/>
              </a:solidFill>
              <a:latin typeface="Arial"/>
            </a:endParaRPr>
          </a:p>
          <a:p>
            <a:pPr marL="39600" indent="0">
              <a:lnSpc>
                <a:spcPct val="50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600" b="0" strike="noStrike" spc="-1">
              <a:solidFill>
                <a:srgbClr val="000000"/>
              </a:solidFill>
              <a:latin typeface="Arial"/>
            </a:endParaRPr>
          </a:p>
          <a:p>
            <a:pPr marL="39600" indent="0">
              <a:lnSpc>
                <a:spcPct val="50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endParaRPr lang="en-US" sz="600" b="0" strike="noStrike" spc="-1">
              <a:solidFill>
                <a:srgbClr val="000000"/>
              </a:solidFill>
              <a:latin typeface="Arial"/>
            </a:endParaRPr>
          </a:p>
          <a:p>
            <a:pPr marL="39600" indent="0">
              <a:lnSpc>
                <a:spcPct val="50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Note that the same 20 bytes hash is also used in the creation of a RSA SHA1 signature. The crypto strength of the pointer is thus comparable to the crypto strength of the signature over the key. In other words you do not weaken the chain of trust.</a:t>
            </a:r>
            <a:endParaRPr lang="en-US" sz="2000" b="0" strike="noStrike" spc="-1">
              <a:solidFill>
                <a:srgbClr val="000000"/>
              </a:solidFill>
              <a:latin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AD5B182-8D82-8EC6-CDFF-AE901E327419}"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E070444-1661-FF40-18B1-13C6DDAAB904}"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465D34D-C15D-1648-9854-D94932E636B6}"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FC1D379-4CC0-9A75-903F-2594544EF1E4}"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6881579" name="PlaceHolder 1"/>
          <p:cNvSpPr>
            <a:spLocks noChangeAspect="1" noGrp="1" noRot="1"/>
          </p:cNvSpPr>
          <p:nvPr>
            <p:ph type="sldImg"/>
          </p:nvPr>
        </p:nvSpPr>
        <p:spPr bwMode="auto">
          <a:xfrm>
            <a:off x="1143000" y="685800"/>
            <a:ext cx="4571640" cy="3428640"/>
          </a:xfrm>
          <a:prstGeom prst="rect">
            <a:avLst/>
          </a:prstGeom>
          <a:ln w="0">
            <a:noFill/>
          </a:ln>
        </p:spPr>
      </p:sp>
      <p:sp>
        <p:nvSpPr>
          <p:cNvPr id="1565343638" name="PlaceHolder 2"/>
          <p:cNvSpPr>
            <a:spLocks noGrp="1"/>
          </p:cNvSpPr>
          <p:nvPr>
            <p:ph type="body"/>
          </p:nvPr>
        </p:nvSpPr>
        <p:spPr bwMode="auto">
          <a:xfrm>
            <a:off x="685800" y="4343400"/>
            <a:ext cx="5486039" cy="4114440"/>
          </a:xfrm>
          <a:prstGeom prst="rect">
            <a:avLst/>
          </a:prstGeom>
          <a:noFill/>
          <a:ln w="0">
            <a:noFill/>
          </a:ln>
        </p:spPr>
        <p:txBody>
          <a:bodyPr lIns="91440" tIns="45720" rIns="91440" bIns="45720" numCol="1" spcCol="0" anchor="t">
            <a:noAutofit/>
          </a:bodyPr>
          <a:lstStyle/>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0. Root (".") KSK is manually configured into all resolvers as "trusted key";</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1. Root zone itself contains KSK and ZSK (2983)</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2. ...  and the signature over the ZSK _with_ (by) the trusted KSK.</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3. DS record of the child ("net") is signed with the ZSK (note: italic style).</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4. DS record in the "root" zone points to the KSK of the "net" zone.</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5. With the KSK, the ZSK of the "net" zone is signed, which produces the SIG record over the KSK (by the ZSK).</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6. ZSK is also used to sign the DS record of "foo(.net)".</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All over again:</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7. DS record in he parent ("net") points to the KSK of "foo.net".</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"foo.net" has two keys: KSK and ZSK;</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8. KSK is used to sign the ZSK</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(hence, SIGnature by KSK over ZSK)</a:t>
            </a:r>
            <a:endParaRPr lang="en-US" sz="2000" b="0" strike="noStrike" spc="-1">
              <a:solidFill>
                <a:srgbClr val="000000"/>
              </a:solidFill>
              <a:latin typeface="Arial"/>
            </a:endParaRPr>
          </a:p>
          <a:p>
            <a:pPr marL="39600" indent="0">
              <a:lnSpc>
                <a:spcPct val="95000"/>
              </a:lnSpc>
              <a:spcBef>
                <a:spcPts val="451"/>
              </a:spcBef>
              <a:buNone/>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Lst>
              <a:defRPr/>
            </a:pPr>
            <a:r>
              <a:rPr lang="en-US" sz="2000" b="0" strike="noStrike" spc="-1">
                <a:solidFill>
                  <a:srgbClr val="000000"/>
                </a:solidFill>
                <a:latin typeface="Times New Roman"/>
                <a:ea typeface="Times New Roman"/>
              </a:rPr>
              <a:t>9. ZSK (italic) is used to sign the zone data, including the A record for "www" (hence, SIGnature by ZSK over A)</a:t>
            </a:r>
            <a:endParaRPr lang="en-US" sz="2000" b="0" strike="noStrike" spc="-1">
              <a:solidFill>
                <a:srgbClr val="000000"/>
              </a:solidFill>
              <a:latin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84EFF60-6333-D92B-550A-083EDCA302BA}"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3D57B60-2CC8-347B-9E02-B74A96884291}"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5E18DE6-AA2F-0320-5006-003993AD32B6}" type="slidenum">
              <a:rPr/>
              <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9B9709-939C-E27E-9CFE-3244309F9D43}"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DFEABC1-65E0-D780-D8E5-A85A6AC752A4}"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7EA710D-46E2-942C-A648-2FDC17E67BE7}"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FC5AEA7-2A09-E2DA-E472-30855E49A656}"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A3BABDF-FE98-83F6-555C-F7D114CE1D73}"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5E845D8-0574-D009-1467-3C237086F2C0}"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5675101" name="PlaceHolder 1"/>
          <p:cNvSpPr>
            <a:spLocks noChangeAspect="1" noGrp="1" noRot="1"/>
          </p:cNvSpPr>
          <p:nvPr>
            <p:ph type="sldImg"/>
          </p:nvPr>
        </p:nvSpPr>
        <p:spPr bwMode="auto">
          <a:xfrm>
            <a:off x="381000" y="685800"/>
            <a:ext cx="6096000" cy="3429000"/>
          </a:xfrm>
          <a:prstGeom prst="rect">
            <a:avLst/>
          </a:prstGeom>
          <a:ln w="0">
            <a:noFill/>
          </a:ln>
        </p:spPr>
      </p:sp>
      <p:sp>
        <p:nvSpPr>
          <p:cNvPr id="47075923" name="PlaceHolder 2"/>
          <p:cNvSpPr>
            <a:spLocks noGrp="1"/>
          </p:cNvSpPr>
          <p:nvPr>
            <p:ph type="body"/>
          </p:nvPr>
        </p:nvSpPr>
        <p:spPr bwMode="auto">
          <a:xfrm>
            <a:off x="685800" y="4343400"/>
            <a:ext cx="5486039" cy="4114440"/>
          </a:xfrm>
          <a:prstGeom prst="rect">
            <a:avLst/>
          </a:prstGeom>
          <a:noFill/>
          <a:ln w="0">
            <a:noFill/>
          </a:ln>
        </p:spPr>
        <p:txBody>
          <a:bodyPr lIns="91440" tIns="45720" rIns="91440" bIns="45720" numCol="1" spcCol="0" anchor="t">
            <a:noAutofit/>
          </a:bodyPr>
          <a:lstStyle/>
          <a:p>
            <a:pPr marL="216000" indent="0">
              <a:lnSpc>
                <a:spcPct val="100000"/>
              </a:lnSpc>
              <a:buNone/>
              <a:defRPr/>
            </a:pPr>
            <a:r>
              <a:rPr lang="en-US" sz="2000" b="0" strike="noStrike" spc="-1">
                <a:solidFill>
                  <a:srgbClr val="000000"/>
                </a:solidFill>
                <a:latin typeface="Arial"/>
              </a:rPr>
              <a:t>https://en.wikipedia.org/wiki/List_of_Internet_top-level_domains </a:t>
            </a:r>
            <a:br>
              <a:rPr sz="2000"/>
            </a:br>
            <a:r>
              <a:rPr lang="en-US" sz="2000" b="0" strike="noStrike" spc="-1">
                <a:solidFill>
                  <a:srgbClr val="000000"/>
                </a:solidFill>
                <a:latin typeface="Arial"/>
              </a:rPr>
              <a:t>https://en.wikipedia.org/wiki/Domain_Name_System_Security_Extensions#Deployment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DE3D7A8-7D30-F503-0631-91306D8D5503}"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44A3139-A8D4-6DEF-ED1B-5FBC4A3B50FE}" type="slidenum">
              <a:rPr/>
              <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28D9AF-888B-E254-24BD-FF919D06F5DA}" type="slidenum">
              <a:rPr/>
              <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A2D107C-708C-7706-6F30-122A11065341}" type="slidenum">
              <a:rPr/>
              <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790A5C7-91C6-5872-9A2D-A867FBC81B66}" type="slidenum">
              <a:rPr/>
              <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2AD20CB-EB79-BA6B-D11F-45CF979B5063}" type="slidenum">
              <a:rPr/>
              <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5338B9B-1EB1-8707-CEE4-0D8C2187A267}" type="slidenum">
              <a:rPr/>
              <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E255E85-4549-08D2-F3BE-F2F0AFDBA882}" type="slidenum">
              <a:rPr/>
              <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59EB827-26E7-D0F3-9BDD-3141CBE4E436}" type="slidenum">
              <a:rPr/>
              <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86C866A-2257-17B7-926A-B2204904BB79}" type="slidenum">
              <a:rPr/>
              <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950F3BD-DF9C-89A9-9904-72EF9F40C0B3}" type="slidenum">
              <a:rPr/>
              <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0C180F9-843A-2A12-0E41-F7492DD72222}" type="slidenum">
              <a:rPr/>
              <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B79570B-FA48-75B2-0149-BF45F904C801}" type="slidenum">
              <a:rPr/>
              <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61ABA71-66D7-C971-6A0C-CCC640DADEC6}"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880902607"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a:p>
        </p:txBody>
      </p:sp>
      <p:sp>
        <p:nvSpPr>
          <p:cNvPr id="506593177"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1876255448" name="Date Placeholder 3"/>
          <p:cNvSpPr>
            <a:spLocks noGrp="1"/>
          </p:cNvSpPr>
          <p:nvPr>
            <p:ph type="dt" sz="half" idx="10"/>
          </p:nvPr>
        </p:nvSpPr>
        <p:spPr bwMode="auto"/>
        <p:txBody>
          <a:bodyPr/>
          <a:lstStyle/>
          <a:p>
            <a:pPr>
              <a:defRPr/>
            </a:pPr>
            <a:fld id="{873EE530-FD04-3147-B0C9-114639AB4992}" type="datetimeFigureOut">
              <a:rPr lang="en-US"/>
              <a:t>2/11/26</a:t>
            </a:fld>
            <a:endParaRPr lang="en-US"/>
          </a:p>
        </p:txBody>
      </p:sp>
      <p:sp>
        <p:nvSpPr>
          <p:cNvPr id="249552423" name="Footer Placeholder 4"/>
          <p:cNvSpPr>
            <a:spLocks noGrp="1"/>
          </p:cNvSpPr>
          <p:nvPr>
            <p:ph type="ftr" sz="quarter" idx="11"/>
          </p:nvPr>
        </p:nvSpPr>
        <p:spPr bwMode="auto"/>
        <p:txBody>
          <a:bodyPr/>
          <a:lstStyle/>
          <a:p>
            <a:pPr>
              <a:defRPr/>
            </a:pPr>
            <a:endParaRPr lang="en-US"/>
          </a:p>
        </p:txBody>
      </p:sp>
      <p:sp>
        <p:nvSpPr>
          <p:cNvPr id="1102399132" name="Slide Number Placeholder 5"/>
          <p:cNvSpPr>
            <a:spLocks noGrp="1"/>
          </p:cNvSpPr>
          <p:nvPr>
            <p:ph type="sldNum" sz="quarter" idx="12"/>
          </p:nvPr>
        </p:nvSpPr>
        <p:spPr bwMode="auto"/>
        <p:txBody>
          <a:bodyPr/>
          <a:lstStyle/>
          <a:p>
            <a:pPr>
              <a:defRPr/>
            </a:pPr>
            <a:fld id="{353B3962-8CA9-8D46-9A7C-694CCFDF676A}" type="slidenum">
              <a:rPr lang="en-US"/>
              <a:t>‹#›</a:t>
            </a:fld>
            <a:endParaRPr lang="en-US"/>
          </a:p>
        </p:txBody>
      </p:sp>
      <p:sp>
        <p:nvSpPr>
          <p:cNvPr id="517780156" name="Rectangle 6"/>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83565177" name="Title 1"/>
          <p:cNvSpPr>
            <a:spLocks noGrp="1"/>
          </p:cNvSpPr>
          <p:nvPr>
            <p:ph type="title"/>
          </p:nvPr>
        </p:nvSpPr>
        <p:spPr bwMode="auto"/>
        <p:txBody>
          <a:bodyPr/>
          <a:lstStyle/>
          <a:p>
            <a:pPr>
              <a:defRPr/>
            </a:pPr>
            <a:r>
              <a:rPr lang="en-US"/>
              <a:t>Click to edit Master title style</a:t>
            </a:r>
            <a:endParaRPr/>
          </a:p>
        </p:txBody>
      </p:sp>
      <p:sp>
        <p:nvSpPr>
          <p:cNvPr id="21994966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9420280" name="Date Placeholder 3"/>
          <p:cNvSpPr>
            <a:spLocks noGrp="1"/>
          </p:cNvSpPr>
          <p:nvPr>
            <p:ph type="dt" sz="half" idx="10"/>
          </p:nvPr>
        </p:nvSpPr>
        <p:spPr bwMode="auto"/>
        <p:txBody>
          <a:bodyPr/>
          <a:lstStyle/>
          <a:p>
            <a:pPr>
              <a:defRPr/>
            </a:pPr>
            <a:fld id="{873EE530-FD04-3147-B0C9-114639AB4992}" type="datetimeFigureOut">
              <a:rPr lang="en-US"/>
              <a:t>2/11/26</a:t>
            </a:fld>
            <a:endParaRPr lang="en-US"/>
          </a:p>
        </p:txBody>
      </p:sp>
      <p:sp>
        <p:nvSpPr>
          <p:cNvPr id="256297842" name="Footer Placeholder 4"/>
          <p:cNvSpPr>
            <a:spLocks noGrp="1"/>
          </p:cNvSpPr>
          <p:nvPr>
            <p:ph type="ftr" sz="quarter" idx="11"/>
          </p:nvPr>
        </p:nvSpPr>
        <p:spPr bwMode="auto"/>
        <p:txBody>
          <a:bodyPr/>
          <a:lstStyle/>
          <a:p>
            <a:pPr>
              <a:defRPr/>
            </a:pPr>
            <a:endParaRPr lang="en-US"/>
          </a:p>
        </p:txBody>
      </p:sp>
      <p:sp>
        <p:nvSpPr>
          <p:cNvPr id="1226423032" name="Slide Number Placeholder 5"/>
          <p:cNvSpPr>
            <a:spLocks noGrp="1"/>
          </p:cNvSpPr>
          <p:nvPr>
            <p:ph type="sldNum" sz="quarter" idx="12"/>
          </p:nvPr>
        </p:nvSpPr>
        <p:spPr bwMode="auto"/>
        <p:txBody>
          <a:bodyPr/>
          <a:lstStyle/>
          <a:p>
            <a:pPr>
              <a:defRPr/>
            </a:pPr>
            <a:fld id="{353B3962-8CA9-8D46-9A7C-694CCFDF676A}" type="slidenum">
              <a:rPr lang="en-US"/>
              <a:t>‹#›</a:t>
            </a:fld>
            <a:endParaRPr lang="en-US"/>
          </a:p>
        </p:txBody>
      </p:sp>
      <p:sp>
        <p:nvSpPr>
          <p:cNvPr id="328473202" name="Rectangle 6"/>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816459360"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a:p>
        </p:txBody>
      </p:sp>
      <p:sp>
        <p:nvSpPr>
          <p:cNvPr id="909652462"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en-US"/>
              <a:t>Click to edit Master text styles</a:t>
            </a:r>
            <a:endParaRPr/>
          </a:p>
        </p:txBody>
      </p:sp>
      <p:sp>
        <p:nvSpPr>
          <p:cNvPr id="787154940" name="Date Placeholder 3"/>
          <p:cNvSpPr>
            <a:spLocks noGrp="1"/>
          </p:cNvSpPr>
          <p:nvPr>
            <p:ph type="dt" sz="half" idx="10"/>
          </p:nvPr>
        </p:nvSpPr>
        <p:spPr bwMode="auto"/>
        <p:txBody>
          <a:bodyPr/>
          <a:lstStyle/>
          <a:p>
            <a:pPr>
              <a:defRPr/>
            </a:pPr>
            <a:fld id="{873EE530-FD04-3147-B0C9-114639AB4992}" type="datetimeFigureOut">
              <a:rPr lang="en-US"/>
              <a:t>2/11/26</a:t>
            </a:fld>
            <a:endParaRPr lang="en-US"/>
          </a:p>
        </p:txBody>
      </p:sp>
      <p:sp>
        <p:nvSpPr>
          <p:cNvPr id="1358646235" name="Footer Placeholder 4"/>
          <p:cNvSpPr>
            <a:spLocks noGrp="1"/>
          </p:cNvSpPr>
          <p:nvPr>
            <p:ph type="ftr" sz="quarter" idx="11"/>
          </p:nvPr>
        </p:nvSpPr>
        <p:spPr bwMode="auto"/>
        <p:txBody>
          <a:bodyPr/>
          <a:lstStyle/>
          <a:p>
            <a:pPr>
              <a:defRPr/>
            </a:pPr>
            <a:endParaRPr lang="en-US"/>
          </a:p>
        </p:txBody>
      </p:sp>
      <p:sp>
        <p:nvSpPr>
          <p:cNvPr id="908233910" name="Slide Number Placeholder 5"/>
          <p:cNvSpPr>
            <a:spLocks noGrp="1"/>
          </p:cNvSpPr>
          <p:nvPr>
            <p:ph type="sldNum" sz="quarter" idx="12"/>
          </p:nvPr>
        </p:nvSpPr>
        <p:spPr bwMode="auto"/>
        <p:txBody>
          <a:bodyPr/>
          <a:lstStyle/>
          <a:p>
            <a:pPr>
              <a:defRPr/>
            </a:pPr>
            <a:fld id="{353B3962-8CA9-8D46-9A7C-694CCFDF676A}" type="slidenum">
              <a:rPr lang="en-US"/>
              <a:t>‹#›</a:t>
            </a:fld>
            <a:endParaRPr lang="en-US"/>
          </a:p>
        </p:txBody>
      </p:sp>
      <p:sp>
        <p:nvSpPr>
          <p:cNvPr id="111968679" name="Rectangle 6"/>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848850580" name="Title 1"/>
          <p:cNvSpPr>
            <a:spLocks noGrp="1"/>
          </p:cNvSpPr>
          <p:nvPr>
            <p:ph type="title"/>
          </p:nvPr>
        </p:nvSpPr>
        <p:spPr bwMode="auto"/>
        <p:txBody>
          <a:bodyPr/>
          <a:lstStyle/>
          <a:p>
            <a:pPr>
              <a:defRPr/>
            </a:pPr>
            <a:r>
              <a:rPr lang="en-US"/>
              <a:t>Click to edit Master title style</a:t>
            </a:r>
            <a:endParaRPr/>
          </a:p>
        </p:txBody>
      </p:sp>
      <p:sp>
        <p:nvSpPr>
          <p:cNvPr id="1501860410"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83870372"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51662781" name="Date Placeholder 4"/>
          <p:cNvSpPr>
            <a:spLocks noGrp="1"/>
          </p:cNvSpPr>
          <p:nvPr>
            <p:ph type="dt" sz="half" idx="10"/>
          </p:nvPr>
        </p:nvSpPr>
        <p:spPr bwMode="auto"/>
        <p:txBody>
          <a:bodyPr/>
          <a:lstStyle/>
          <a:p>
            <a:pPr>
              <a:defRPr/>
            </a:pPr>
            <a:fld id="{873EE530-FD04-3147-B0C9-114639AB4992}" type="datetimeFigureOut">
              <a:rPr lang="en-US"/>
              <a:t>2/11/26</a:t>
            </a:fld>
            <a:endParaRPr lang="en-US"/>
          </a:p>
        </p:txBody>
      </p:sp>
      <p:sp>
        <p:nvSpPr>
          <p:cNvPr id="1549321168" name="Footer Placeholder 5"/>
          <p:cNvSpPr>
            <a:spLocks noGrp="1"/>
          </p:cNvSpPr>
          <p:nvPr>
            <p:ph type="ftr" sz="quarter" idx="11"/>
          </p:nvPr>
        </p:nvSpPr>
        <p:spPr bwMode="auto"/>
        <p:txBody>
          <a:bodyPr/>
          <a:lstStyle/>
          <a:p>
            <a:pPr>
              <a:defRPr/>
            </a:pPr>
            <a:endParaRPr lang="en-US"/>
          </a:p>
        </p:txBody>
      </p:sp>
      <p:sp>
        <p:nvSpPr>
          <p:cNvPr id="193738356" name="Slide Number Placeholder 6"/>
          <p:cNvSpPr>
            <a:spLocks noGrp="1"/>
          </p:cNvSpPr>
          <p:nvPr>
            <p:ph type="sldNum" sz="quarter" idx="12"/>
          </p:nvPr>
        </p:nvSpPr>
        <p:spPr bwMode="auto"/>
        <p:txBody>
          <a:bodyPr/>
          <a:lstStyle/>
          <a:p>
            <a:pPr>
              <a:defRPr/>
            </a:pPr>
            <a:fld id="{353B3962-8CA9-8D46-9A7C-694CCFDF676A}" type="slidenum">
              <a:rPr lang="en-US"/>
              <a:t>‹#›</a:t>
            </a:fld>
            <a:endParaRPr lang="en-US"/>
          </a:p>
        </p:txBody>
      </p:sp>
      <p:sp>
        <p:nvSpPr>
          <p:cNvPr id="686247891" name="Rectangle 7"/>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460157769" name="Title 1"/>
          <p:cNvSpPr>
            <a:spLocks noGrp="1"/>
          </p:cNvSpPr>
          <p:nvPr>
            <p:ph type="title"/>
          </p:nvPr>
        </p:nvSpPr>
        <p:spPr bwMode="auto">
          <a:xfrm>
            <a:off x="839788" y="365125"/>
            <a:ext cx="10515600" cy="1325563"/>
          </a:xfrm>
        </p:spPr>
        <p:txBody>
          <a:bodyPr/>
          <a:lstStyle/>
          <a:p>
            <a:pPr>
              <a:defRPr/>
            </a:pPr>
            <a:r>
              <a:rPr lang="en-US"/>
              <a:t>Click to edit Master title style</a:t>
            </a:r>
            <a:endParaRPr/>
          </a:p>
        </p:txBody>
      </p:sp>
      <p:sp>
        <p:nvSpPr>
          <p:cNvPr id="258108275"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76798541"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55720120"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362473896"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0884543" name="Date Placeholder 6"/>
          <p:cNvSpPr>
            <a:spLocks noGrp="1"/>
          </p:cNvSpPr>
          <p:nvPr>
            <p:ph type="dt" sz="half" idx="10"/>
          </p:nvPr>
        </p:nvSpPr>
        <p:spPr bwMode="auto"/>
        <p:txBody>
          <a:bodyPr/>
          <a:lstStyle/>
          <a:p>
            <a:pPr>
              <a:defRPr/>
            </a:pPr>
            <a:fld id="{873EE530-FD04-3147-B0C9-114639AB4992}" type="datetimeFigureOut">
              <a:rPr lang="en-US"/>
              <a:t>2/11/26</a:t>
            </a:fld>
            <a:endParaRPr lang="en-US"/>
          </a:p>
        </p:txBody>
      </p:sp>
      <p:sp>
        <p:nvSpPr>
          <p:cNvPr id="861422755" name="Footer Placeholder 7"/>
          <p:cNvSpPr>
            <a:spLocks noGrp="1"/>
          </p:cNvSpPr>
          <p:nvPr>
            <p:ph type="ftr" sz="quarter" idx="11"/>
          </p:nvPr>
        </p:nvSpPr>
        <p:spPr bwMode="auto"/>
        <p:txBody>
          <a:bodyPr/>
          <a:lstStyle/>
          <a:p>
            <a:pPr>
              <a:defRPr/>
            </a:pPr>
            <a:endParaRPr lang="en-US"/>
          </a:p>
        </p:txBody>
      </p:sp>
      <p:sp>
        <p:nvSpPr>
          <p:cNvPr id="888580547" name="Slide Number Placeholder 8"/>
          <p:cNvSpPr>
            <a:spLocks noGrp="1"/>
          </p:cNvSpPr>
          <p:nvPr>
            <p:ph type="sldNum" sz="quarter" idx="12"/>
          </p:nvPr>
        </p:nvSpPr>
        <p:spPr bwMode="auto"/>
        <p:txBody>
          <a:bodyPr/>
          <a:lstStyle/>
          <a:p>
            <a:pPr>
              <a:defRPr/>
            </a:pPr>
            <a:fld id="{353B3962-8CA9-8D46-9A7C-694CCFDF676A}" type="slidenum">
              <a:rPr lang="en-US"/>
              <a:t>‹#›</a:t>
            </a:fld>
            <a:endParaRPr lang="en-US"/>
          </a:p>
        </p:txBody>
      </p:sp>
      <p:sp>
        <p:nvSpPr>
          <p:cNvPr id="378030769" name="Rectangle 9"/>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643551046" name="Title 1"/>
          <p:cNvSpPr>
            <a:spLocks noGrp="1"/>
          </p:cNvSpPr>
          <p:nvPr>
            <p:ph type="title"/>
          </p:nvPr>
        </p:nvSpPr>
        <p:spPr bwMode="auto"/>
        <p:txBody>
          <a:bodyPr/>
          <a:lstStyle/>
          <a:p>
            <a:pPr>
              <a:defRPr/>
            </a:pPr>
            <a:r>
              <a:rPr lang="en-US"/>
              <a:t>Click to edit Master title style</a:t>
            </a:r>
            <a:endParaRPr/>
          </a:p>
        </p:txBody>
      </p:sp>
      <p:sp>
        <p:nvSpPr>
          <p:cNvPr id="215096004" name="Date Placeholder 2"/>
          <p:cNvSpPr>
            <a:spLocks noGrp="1"/>
          </p:cNvSpPr>
          <p:nvPr>
            <p:ph type="dt" sz="half" idx="10"/>
          </p:nvPr>
        </p:nvSpPr>
        <p:spPr bwMode="auto"/>
        <p:txBody>
          <a:bodyPr/>
          <a:lstStyle/>
          <a:p>
            <a:pPr>
              <a:defRPr/>
            </a:pPr>
            <a:fld id="{873EE530-FD04-3147-B0C9-114639AB4992}" type="datetimeFigureOut">
              <a:rPr lang="en-US"/>
              <a:t>2/11/26</a:t>
            </a:fld>
            <a:endParaRPr lang="en-US"/>
          </a:p>
        </p:txBody>
      </p:sp>
      <p:sp>
        <p:nvSpPr>
          <p:cNvPr id="233197445" name="Footer Placeholder 3"/>
          <p:cNvSpPr>
            <a:spLocks noGrp="1"/>
          </p:cNvSpPr>
          <p:nvPr>
            <p:ph type="ftr" sz="quarter" idx="11"/>
          </p:nvPr>
        </p:nvSpPr>
        <p:spPr bwMode="auto"/>
        <p:txBody>
          <a:bodyPr/>
          <a:lstStyle/>
          <a:p>
            <a:pPr>
              <a:defRPr/>
            </a:pPr>
            <a:endParaRPr lang="en-US"/>
          </a:p>
        </p:txBody>
      </p:sp>
      <p:sp>
        <p:nvSpPr>
          <p:cNvPr id="174208078" name="Slide Number Placeholder 4"/>
          <p:cNvSpPr>
            <a:spLocks noGrp="1"/>
          </p:cNvSpPr>
          <p:nvPr>
            <p:ph type="sldNum" sz="quarter" idx="12"/>
          </p:nvPr>
        </p:nvSpPr>
        <p:spPr bwMode="auto"/>
        <p:txBody>
          <a:bodyPr/>
          <a:lstStyle/>
          <a:p>
            <a:pPr>
              <a:defRPr/>
            </a:pPr>
            <a:fld id="{353B3962-8CA9-8D46-9A7C-694CCFDF676A}" type="slidenum">
              <a:rPr lang="en-US"/>
              <a:t>‹#›</a:t>
            </a:fld>
            <a:endParaRPr lang="en-US"/>
          </a:p>
        </p:txBody>
      </p:sp>
      <p:sp>
        <p:nvSpPr>
          <p:cNvPr id="2129622030" name="Rectangle 5"/>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888927058" name="Date Placeholder 1"/>
          <p:cNvSpPr>
            <a:spLocks noGrp="1"/>
          </p:cNvSpPr>
          <p:nvPr>
            <p:ph type="dt" sz="half" idx="10"/>
          </p:nvPr>
        </p:nvSpPr>
        <p:spPr bwMode="auto"/>
        <p:txBody>
          <a:bodyPr/>
          <a:lstStyle/>
          <a:p>
            <a:pPr>
              <a:defRPr/>
            </a:pPr>
            <a:fld id="{873EE530-FD04-3147-B0C9-114639AB4992}" type="datetimeFigureOut">
              <a:rPr lang="en-US"/>
              <a:t>2/11/26</a:t>
            </a:fld>
            <a:endParaRPr lang="en-US"/>
          </a:p>
        </p:txBody>
      </p:sp>
      <p:sp>
        <p:nvSpPr>
          <p:cNvPr id="1279742341" name="Footer Placeholder 2"/>
          <p:cNvSpPr>
            <a:spLocks noGrp="1"/>
          </p:cNvSpPr>
          <p:nvPr>
            <p:ph type="ftr" sz="quarter" idx="11"/>
          </p:nvPr>
        </p:nvSpPr>
        <p:spPr bwMode="auto"/>
        <p:txBody>
          <a:bodyPr/>
          <a:lstStyle/>
          <a:p>
            <a:pPr>
              <a:defRPr/>
            </a:pPr>
            <a:endParaRPr lang="en-US"/>
          </a:p>
        </p:txBody>
      </p:sp>
      <p:sp>
        <p:nvSpPr>
          <p:cNvPr id="2097915491" name="Slide Number Placeholder 3"/>
          <p:cNvSpPr>
            <a:spLocks noGrp="1"/>
          </p:cNvSpPr>
          <p:nvPr>
            <p:ph type="sldNum" sz="quarter" idx="12"/>
          </p:nvPr>
        </p:nvSpPr>
        <p:spPr bwMode="auto"/>
        <p:txBody>
          <a:bodyPr/>
          <a:lstStyle/>
          <a:p>
            <a:pPr>
              <a:defRPr/>
            </a:pPr>
            <a:fld id="{353B3962-8CA9-8D46-9A7C-694CCFDF676A}" type="slidenum">
              <a:rPr lang="en-US"/>
              <a:t>‹#›</a:t>
            </a:fld>
            <a:endParaRPr lang="en-US"/>
          </a:p>
        </p:txBody>
      </p:sp>
      <p:sp>
        <p:nvSpPr>
          <p:cNvPr id="193497116" name="Rectangle 4"/>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664134963"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867341370"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93524667"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040276463" name="Date Placeholder 4"/>
          <p:cNvSpPr>
            <a:spLocks noGrp="1"/>
          </p:cNvSpPr>
          <p:nvPr>
            <p:ph type="dt" sz="half" idx="10"/>
          </p:nvPr>
        </p:nvSpPr>
        <p:spPr bwMode="auto"/>
        <p:txBody>
          <a:bodyPr/>
          <a:lstStyle/>
          <a:p>
            <a:pPr>
              <a:defRPr/>
            </a:pPr>
            <a:fld id="{873EE530-FD04-3147-B0C9-114639AB4992}" type="datetimeFigureOut">
              <a:rPr lang="en-US"/>
              <a:t>2/11/26</a:t>
            </a:fld>
            <a:endParaRPr lang="en-US"/>
          </a:p>
        </p:txBody>
      </p:sp>
      <p:sp>
        <p:nvSpPr>
          <p:cNvPr id="1382321575" name="Footer Placeholder 5"/>
          <p:cNvSpPr>
            <a:spLocks noGrp="1"/>
          </p:cNvSpPr>
          <p:nvPr>
            <p:ph type="ftr" sz="quarter" idx="11"/>
          </p:nvPr>
        </p:nvSpPr>
        <p:spPr bwMode="auto"/>
        <p:txBody>
          <a:bodyPr/>
          <a:lstStyle/>
          <a:p>
            <a:pPr>
              <a:defRPr/>
            </a:pPr>
            <a:endParaRPr lang="en-US"/>
          </a:p>
        </p:txBody>
      </p:sp>
      <p:sp>
        <p:nvSpPr>
          <p:cNvPr id="521583406" name="Slide Number Placeholder 6"/>
          <p:cNvSpPr>
            <a:spLocks noGrp="1"/>
          </p:cNvSpPr>
          <p:nvPr>
            <p:ph type="sldNum" sz="quarter" idx="12"/>
          </p:nvPr>
        </p:nvSpPr>
        <p:spPr bwMode="auto"/>
        <p:txBody>
          <a:bodyPr/>
          <a:lstStyle/>
          <a:p>
            <a:pPr>
              <a:defRPr/>
            </a:pPr>
            <a:fld id="{353B3962-8CA9-8D46-9A7C-694CCFDF676A}" type="slidenum">
              <a:rPr lang="en-US"/>
              <a:t>‹#›</a:t>
            </a:fld>
            <a:endParaRPr lang="en-US"/>
          </a:p>
        </p:txBody>
      </p:sp>
      <p:sp>
        <p:nvSpPr>
          <p:cNvPr id="569245120" name="Rectangle 7"/>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845971095"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191583206"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621172916"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435374933" name="Date Placeholder 4"/>
          <p:cNvSpPr>
            <a:spLocks noGrp="1"/>
          </p:cNvSpPr>
          <p:nvPr>
            <p:ph type="dt" sz="half" idx="10"/>
          </p:nvPr>
        </p:nvSpPr>
        <p:spPr bwMode="auto"/>
        <p:txBody>
          <a:bodyPr/>
          <a:lstStyle/>
          <a:p>
            <a:pPr>
              <a:defRPr/>
            </a:pPr>
            <a:fld id="{873EE530-FD04-3147-B0C9-114639AB4992}" type="datetimeFigureOut">
              <a:rPr lang="en-US"/>
              <a:t>2/11/26</a:t>
            </a:fld>
            <a:endParaRPr lang="en-US"/>
          </a:p>
        </p:txBody>
      </p:sp>
      <p:sp>
        <p:nvSpPr>
          <p:cNvPr id="1129688620" name="Footer Placeholder 5"/>
          <p:cNvSpPr>
            <a:spLocks noGrp="1"/>
          </p:cNvSpPr>
          <p:nvPr>
            <p:ph type="ftr" sz="quarter" idx="11"/>
          </p:nvPr>
        </p:nvSpPr>
        <p:spPr bwMode="auto"/>
        <p:txBody>
          <a:bodyPr/>
          <a:lstStyle/>
          <a:p>
            <a:pPr>
              <a:defRPr/>
            </a:pPr>
            <a:endParaRPr lang="en-US"/>
          </a:p>
        </p:txBody>
      </p:sp>
      <p:sp>
        <p:nvSpPr>
          <p:cNvPr id="959573406" name="Slide Number Placeholder 6"/>
          <p:cNvSpPr>
            <a:spLocks noGrp="1"/>
          </p:cNvSpPr>
          <p:nvPr>
            <p:ph type="sldNum" sz="quarter" idx="12"/>
          </p:nvPr>
        </p:nvSpPr>
        <p:spPr bwMode="auto"/>
        <p:txBody>
          <a:bodyPr/>
          <a:lstStyle/>
          <a:p>
            <a:pPr>
              <a:defRPr/>
            </a:pPr>
            <a:fld id="{353B3962-8CA9-8D46-9A7C-694CCFDF676A}" type="slidenum">
              <a:rPr lang="en-US"/>
              <a:t>‹#›</a:t>
            </a:fld>
            <a:endParaRPr lang="en-US"/>
          </a:p>
        </p:txBody>
      </p:sp>
      <p:sp>
        <p:nvSpPr>
          <p:cNvPr id="674384546" name="Rectangle 7"/>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500828215" name="Title 1"/>
          <p:cNvSpPr>
            <a:spLocks noGrp="1"/>
          </p:cNvSpPr>
          <p:nvPr>
            <p:ph type="title"/>
          </p:nvPr>
        </p:nvSpPr>
        <p:spPr bwMode="auto"/>
        <p:txBody>
          <a:bodyPr/>
          <a:lstStyle/>
          <a:p>
            <a:pPr>
              <a:defRPr/>
            </a:pPr>
            <a:r>
              <a:rPr lang="en-US"/>
              <a:t>Click to edit Master title style</a:t>
            </a:r>
            <a:endParaRPr/>
          </a:p>
        </p:txBody>
      </p:sp>
      <p:sp>
        <p:nvSpPr>
          <p:cNvPr id="5778725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8284972" name="Date Placeholder 3"/>
          <p:cNvSpPr>
            <a:spLocks noGrp="1"/>
          </p:cNvSpPr>
          <p:nvPr>
            <p:ph type="dt" sz="half" idx="10"/>
          </p:nvPr>
        </p:nvSpPr>
        <p:spPr bwMode="auto"/>
        <p:txBody>
          <a:bodyPr/>
          <a:lstStyle/>
          <a:p>
            <a:pPr>
              <a:defRPr/>
            </a:pPr>
            <a:fld id="{873EE530-FD04-3147-B0C9-114639AB4992}" type="datetimeFigureOut">
              <a:rPr lang="en-US"/>
              <a:t>2/11/26</a:t>
            </a:fld>
            <a:endParaRPr lang="en-US"/>
          </a:p>
        </p:txBody>
      </p:sp>
      <p:sp>
        <p:nvSpPr>
          <p:cNvPr id="1376223489" name="Footer Placeholder 4"/>
          <p:cNvSpPr>
            <a:spLocks noGrp="1"/>
          </p:cNvSpPr>
          <p:nvPr>
            <p:ph type="ftr" sz="quarter" idx="11"/>
          </p:nvPr>
        </p:nvSpPr>
        <p:spPr bwMode="auto"/>
        <p:txBody>
          <a:bodyPr/>
          <a:lstStyle/>
          <a:p>
            <a:pPr>
              <a:defRPr/>
            </a:pPr>
            <a:endParaRPr lang="en-US"/>
          </a:p>
        </p:txBody>
      </p:sp>
      <p:sp>
        <p:nvSpPr>
          <p:cNvPr id="334491998" name="Slide Number Placeholder 5"/>
          <p:cNvSpPr>
            <a:spLocks noGrp="1"/>
          </p:cNvSpPr>
          <p:nvPr>
            <p:ph type="sldNum" sz="quarter" idx="12"/>
          </p:nvPr>
        </p:nvSpPr>
        <p:spPr bwMode="auto"/>
        <p:txBody>
          <a:bodyPr/>
          <a:lstStyle/>
          <a:p>
            <a:pPr>
              <a:defRPr/>
            </a:pPr>
            <a:fld id="{353B3962-8CA9-8D46-9A7C-694CCFDF676A}" type="slidenum">
              <a:rPr lang="en-US"/>
              <a:t>‹#›</a:t>
            </a:fld>
            <a:endParaRPr lang="en-US"/>
          </a:p>
        </p:txBody>
      </p:sp>
      <p:sp>
        <p:nvSpPr>
          <p:cNvPr id="1296143610" name="Rectangle 6"/>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33628392"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a:p>
        </p:txBody>
      </p:sp>
      <p:sp>
        <p:nvSpPr>
          <p:cNvPr id="1587401689"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8394921" name="Date Placeholder 3"/>
          <p:cNvSpPr>
            <a:spLocks noGrp="1"/>
          </p:cNvSpPr>
          <p:nvPr>
            <p:ph type="dt" sz="half" idx="10"/>
          </p:nvPr>
        </p:nvSpPr>
        <p:spPr bwMode="auto"/>
        <p:txBody>
          <a:bodyPr/>
          <a:lstStyle/>
          <a:p>
            <a:pPr>
              <a:defRPr/>
            </a:pPr>
            <a:fld id="{873EE530-FD04-3147-B0C9-114639AB4992}" type="datetimeFigureOut">
              <a:rPr lang="en-US"/>
              <a:t>2/11/26</a:t>
            </a:fld>
            <a:endParaRPr lang="en-US"/>
          </a:p>
        </p:txBody>
      </p:sp>
      <p:sp>
        <p:nvSpPr>
          <p:cNvPr id="311170793" name="Footer Placeholder 4"/>
          <p:cNvSpPr>
            <a:spLocks noGrp="1"/>
          </p:cNvSpPr>
          <p:nvPr>
            <p:ph type="ftr" sz="quarter" idx="11"/>
          </p:nvPr>
        </p:nvSpPr>
        <p:spPr bwMode="auto"/>
        <p:txBody>
          <a:bodyPr/>
          <a:lstStyle/>
          <a:p>
            <a:pPr>
              <a:defRPr/>
            </a:pPr>
            <a:endParaRPr lang="en-US"/>
          </a:p>
        </p:txBody>
      </p:sp>
      <p:sp>
        <p:nvSpPr>
          <p:cNvPr id="160436764" name="Slide Number Placeholder 5"/>
          <p:cNvSpPr>
            <a:spLocks noGrp="1"/>
          </p:cNvSpPr>
          <p:nvPr>
            <p:ph type="sldNum" sz="quarter" idx="12"/>
          </p:nvPr>
        </p:nvSpPr>
        <p:spPr bwMode="auto"/>
        <p:txBody>
          <a:bodyPr/>
          <a:lstStyle/>
          <a:p>
            <a:pPr>
              <a:defRPr/>
            </a:pPr>
            <a:fld id="{353B3962-8CA9-8D46-9A7C-694CCFDF676A}" type="slidenum">
              <a:rPr lang="en-US"/>
              <a:t>‹#›</a:t>
            </a:fld>
            <a:endParaRPr lang="en-US"/>
          </a:p>
        </p:txBody>
      </p:sp>
      <p:sp>
        <p:nvSpPr>
          <p:cNvPr id="1858521467" name="Rectangle 6"/>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obj" userDrawn="1">
  <p:cSld name="1_Title and Content">
    <p:spTree>
      <p:nvGrpSpPr>
        <p:cNvPr id="1" name=""/>
        <p:cNvGrpSpPr/>
        <p:nvPr/>
      </p:nvGrpSpPr>
      <p:grpSpPr bwMode="auto">
        <a:xfrm>
          <a:off x="0" y="0"/>
          <a:ext cx="0" cy="0"/>
          <a:chOff x="0" y="0"/>
          <a:chExt cx="0" cy="0"/>
        </a:xfrm>
      </p:grpSpPr>
      <p:sp>
        <p:nvSpPr>
          <p:cNvPr id="1946450693" name="PlaceHolder 1"/>
          <p:cNvSpPr>
            <a:spLocks noGrp="1"/>
          </p:cNvSpPr>
          <p:nvPr>
            <p:ph type="title"/>
          </p:nvPr>
        </p:nvSpPr>
        <p:spPr bwMode="auto">
          <a:xfrm>
            <a:off x="1185120" y="177840"/>
            <a:ext cx="9804000" cy="1434600"/>
          </a:xfrm>
          <a:prstGeom prst="rect">
            <a:avLst/>
          </a:prstGeom>
          <a:noFill/>
          <a:ln w="0">
            <a:noFill/>
          </a:ln>
        </p:spPr>
        <p:txBody>
          <a:bodyPr lIns="0" tIns="0" rIns="0" bIns="0" anchor="ctr">
            <a:noAutofit/>
          </a:bodyPr>
          <a:lstStyle>
            <a:lvl1pPr indent="0">
              <a:buNone/>
              <a:defRPr/>
            </a:lvl1pPr>
          </a:lstStyle>
          <a:p>
            <a:pPr indent="0">
              <a:buNone/>
              <a:defRPr/>
            </a:pPr>
            <a:endParaRPr lang="en-US" sz="2400" b="0" strike="noStrike" spc="-1">
              <a:solidFill>
                <a:srgbClr val="000000"/>
              </a:solidFill>
              <a:latin typeface="Times New Roman"/>
            </a:endParaRPr>
          </a:p>
        </p:txBody>
      </p:sp>
      <p:sp>
        <p:nvSpPr>
          <p:cNvPr id="722957636" name="PlaceHolder 2"/>
          <p:cNvSpPr>
            <a:spLocks noGrp="1"/>
          </p:cNvSpPr>
          <p:nvPr>
            <p:ph/>
          </p:nvPr>
        </p:nvSpPr>
        <p:spPr bwMode="auto">
          <a:xfrm>
            <a:off x="1185120" y="1638360"/>
            <a:ext cx="9804000" cy="4520880"/>
          </a:xfrm>
          <a:prstGeom prst="rect">
            <a:avLst/>
          </a:prstGeom>
          <a:noFill/>
          <a:ln w="0">
            <a:noFill/>
          </a:ln>
        </p:spPr>
        <p:txBody>
          <a:bodyPr lIns="0" tIns="0" rIns="0" bIns="0" anchor="t">
            <a:normAutofit/>
          </a:bodyPr>
          <a:lstStyle>
            <a:lvl1pPr indent="0">
              <a:spcBef>
                <a:spcPts val="1417"/>
              </a:spcBef>
              <a:buNone/>
              <a:defRPr/>
            </a:lvl1pPr>
          </a:lstStyle>
          <a:p>
            <a:pPr indent="0">
              <a:spcBef>
                <a:spcPts val="1417"/>
              </a:spcBef>
              <a:buNone/>
              <a:defRPr/>
            </a:pPr>
            <a:endParaRPr lang="en-US" sz="2800" b="0" strike="noStrike" spc="-1">
              <a:solidFill>
                <a:schemeClr val="dk1"/>
              </a:solidFill>
              <a:latin typeface="Gill Sans"/>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08691474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1916645374"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6541475"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a:defRPr/>
            </a:pPr>
            <a:fld id="{873EE530-FD04-3147-B0C9-114639AB4992}" type="datetimeFigureOut">
              <a:rPr lang="en-US"/>
              <a:t>2/11/26</a:t>
            </a:fld>
            <a:endParaRPr lang="en-US"/>
          </a:p>
        </p:txBody>
      </p:sp>
      <p:sp>
        <p:nvSpPr>
          <p:cNvPr id="82430925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endParaRPr lang="en-US"/>
          </a:p>
        </p:txBody>
      </p:sp>
      <p:sp>
        <p:nvSpPr>
          <p:cNvPr id="572323772"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defRPr/>
            </a:pPr>
            <a:fld id="{353B3962-8CA9-8D46-9A7C-694CCFDF676A}" type="slidenum">
              <a:rPr lang="en-US"/>
              <a:t>‹#›</a:t>
            </a:fld>
            <a:endParaRPr lang="en-US"/>
          </a:p>
        </p:txBody>
      </p:sp>
      <p:sp>
        <p:nvSpPr>
          <p:cNvPr id="992300240" name="Rectangle 6"/>
          <p:cNvSpPr/>
          <p:nvPr userDrawn="1"/>
        </p:nvSpPr>
        <p:spPr bwMode="auto">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www.google.com/" TargetMode="Externa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blackhat.com/presentations/bh-jp-08/bh-jp-08-Kaminsky/BlackHat-Japan-08-Kaminsky-DNS08-BlackOps.pdf" TargetMode="Externa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jp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hyperlink" Target="https://en.wikipedia.org/wiki/TSIG" TargetMode="External"/><Relationship Id="rId4" Type="http://schemas.openxmlformats.org/officeDocument/2006/relationships/hyperlink" Target="https://tools.ietf.org/html/rfc2845" TargetMode="Externa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3.png"/><Relationship Id="rId9" Type="http://schemas.openxmlformats.org/officeDocument/2006/relationships/image" Target="../media/image14.jpg"/><Relationship Id="rId10" Type="http://schemas.openxmlformats.org/officeDocument/2006/relationships/image" Target="../media/image15.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4.jp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hyperlink" Target="https://en.wikipedia.org/wiki/RSA_(algorithm)" TargetMode="External"/><Relationship Id="rId4" Type="http://schemas.openxmlformats.org/officeDocument/2006/relationships/hyperlink" Target="https://en.wikipedia.org/wiki/MD5" TargetMode="External"/><Relationship Id="rId5" Type="http://schemas.openxmlformats.org/officeDocument/2006/relationships/hyperlink" Target="https://en.wikipedia.org/wiki/Digital_Signature_Algorithm" TargetMode="External"/><Relationship Id="rId6" Type="http://schemas.openxmlformats.org/officeDocument/2006/relationships/hyperlink" Target="https://en.wikipedia.org/wiki/SHA-1" TargetMode="External"/><Relationship Id="rId7" Type="http://schemas.openxmlformats.org/officeDocument/2006/relationships/hyperlink" Target="https://tools.ietf.org/html/rfc3110" TargetMode="External"/><Relationship Id="rId8" Type="http://schemas.openxmlformats.org/officeDocument/2006/relationships/hyperlink" Target="https://tools.ietf.org/html/rfc5155" TargetMode="External"/><Relationship Id="rId9" Type="http://schemas.openxmlformats.org/officeDocument/2006/relationships/hyperlink" Target="https://en.wikipedia.org/wiki/SHA-2" TargetMode="External"/><Relationship Id="rId10" Type="http://schemas.openxmlformats.org/officeDocument/2006/relationships/hyperlink" Target="https://tools.ietf.org/html/rfc5702" TargetMode="External"/><Relationship Id="rId11" Type="http://schemas.openxmlformats.org/officeDocument/2006/relationships/hyperlink" Target="https://en.wikipedia.org/wiki/GOST" TargetMode="External"/><Relationship Id="rId12" Type="http://schemas.openxmlformats.org/officeDocument/2006/relationships/hyperlink" Target="https://en.wikipedia.org/wiki/GOST_(hash_function)" TargetMode="External"/><Relationship Id="rId13" Type="http://schemas.openxmlformats.org/officeDocument/2006/relationships/hyperlink" Target="https://tools.ietf.org/html/rfc5933" TargetMode="External"/><Relationship Id="rId14" Type="http://schemas.openxmlformats.org/officeDocument/2006/relationships/hyperlink" Target="https://en.wikipedia.org/wiki/Elliptic_Curve_DSA" TargetMode="External"/><Relationship Id="rId15" Type="http://schemas.openxmlformats.org/officeDocument/2006/relationships/hyperlink" Target="https://tools.ietf.org/html/rfc6605" TargetMode="Externa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16.png"/></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hyperlink" Target="http://creativecommons.org/licenses/by/3.0/" TargetMode="External"/><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24.png"/><Relationship Id="rId4" Type="http://schemas.openxmlformats.org/officeDocument/2006/relationships/image" Target="../media/image25.png"/></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hyperlink" Target="https://www.internetsociety.org/deploy360/dnssec/maps/" TargetMode="External"/><Relationship Id="rId4" Type="http://schemas.openxmlformats.org/officeDocument/2006/relationships/hyperlink" Target="https://www.potaroo.net/ispcol/2024-05/dnssec-fin.html" TargetMode="External"/><Relationship Id="rId5" Type="http://schemas.openxmlformats.org/officeDocument/2006/relationships/hyperlink" Target="https://www.apnic.net/community/security/dnssec/"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5763194" name="Title 1"/>
          <p:cNvSpPr>
            <a:spLocks noGrp="1"/>
          </p:cNvSpPr>
          <p:nvPr>
            <p:ph type="ctrTitle"/>
          </p:nvPr>
        </p:nvSpPr>
        <p:spPr bwMode="auto"/>
        <p:txBody>
          <a:bodyPr/>
          <a:lstStyle/>
          <a:p>
            <a:pPr>
              <a:defRPr/>
            </a:pPr>
            <a:r>
              <a:rPr lang="en-US"/>
              <a:t>CSC 4780 – DNS and Security</a:t>
            </a:r>
            <a:endParaRPr/>
          </a:p>
        </p:txBody>
      </p:sp>
      <p:sp>
        <p:nvSpPr>
          <p:cNvPr id="980381811" name="Subtitle 2"/>
          <p:cNvSpPr>
            <a:spLocks noGrp="1"/>
          </p:cNvSpPr>
          <p:nvPr>
            <p:ph type="subTitle" idx="1"/>
          </p:nvPr>
        </p:nvSpPr>
        <p:spPr bwMode="auto"/>
        <p:txBody>
          <a:bodyPr/>
          <a:lstStyle/>
          <a:p>
            <a:pPr>
              <a:defRPr/>
            </a:pPr>
            <a:r>
              <a:rPr lang="en-US"/>
              <a:t>Susmit Shannigrahi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065489" name="Title 1"/>
          <p:cNvSpPr>
            <a:spLocks noGrp="1"/>
          </p:cNvSpPr>
          <p:nvPr>
            <p:ph type="title"/>
          </p:nvPr>
        </p:nvSpPr>
        <p:spPr bwMode="auto"/>
        <p:txBody>
          <a:bodyPr/>
          <a:lstStyle/>
          <a:p>
            <a:pPr>
              <a:defRPr/>
            </a:pPr>
            <a:r>
              <a:rPr lang="en-US"/>
              <a:t>DNS Overview</a:t>
            </a:r>
            <a:endParaRPr/>
          </a:p>
        </p:txBody>
      </p:sp>
      <p:sp>
        <p:nvSpPr>
          <p:cNvPr id="51903221" name="Content Placeholder 2"/>
          <p:cNvSpPr>
            <a:spLocks noGrp="1"/>
          </p:cNvSpPr>
          <p:nvPr>
            <p:ph idx="1"/>
          </p:nvPr>
        </p:nvSpPr>
        <p:spPr bwMode="auto"/>
        <p:txBody>
          <a:bodyPr/>
          <a:lstStyle/>
          <a:p>
            <a:pPr>
              <a:defRPr/>
            </a:pPr>
            <a:r>
              <a:rPr lang="en-US"/>
              <a:t>System on the Internet that maps names to numbers/IP addresses</a:t>
            </a:r>
            <a:endParaRPr/>
          </a:p>
          <a:p>
            <a:pPr lvl="1">
              <a:defRPr/>
            </a:pPr>
            <a:r>
              <a:rPr lang="en-US"/>
              <a:t>A directory service </a:t>
            </a:r>
            <a:endParaRPr/>
          </a:p>
          <a:p>
            <a:pPr lvl="1">
              <a:defRPr/>
            </a:pPr>
            <a:r>
              <a:rPr lang="en-US"/>
              <a:t>Google/ChatGPT but more definite</a:t>
            </a:r>
            <a:endParaRPr/>
          </a:p>
          <a:p>
            <a:pPr lvl="1">
              <a:defRPr/>
            </a:pPr>
            <a:r>
              <a:rPr lang="en-US">
                <a:solidFill>
                  <a:srgbClr val="FF0000"/>
                </a:solidFill>
              </a:rPr>
              <a:t>Think Telephone directory </a:t>
            </a:r>
            <a:r>
              <a:rPr lang="en-US" b="1">
                <a:solidFill>
                  <a:srgbClr val="FF0000"/>
                </a:solidFill>
              </a:rPr>
              <a:t>but numbers change very frequently</a:t>
            </a:r>
            <a:endParaRPr/>
          </a:p>
          <a:p>
            <a:pPr>
              <a:defRPr/>
            </a:pPr>
            <a:r>
              <a:rPr lang="en-US"/>
              <a:t>Almost everything depends on the Internet returning the right number for the right request</a:t>
            </a:r>
            <a:endParaRPr/>
          </a:p>
          <a:p>
            <a:pPr lvl="1">
              <a:defRPr/>
            </a:pPr>
            <a:r>
              <a:rPr lang="en-US">
                <a:solidFill>
                  <a:srgbClr val="FF0000"/>
                </a:solidFill>
              </a:rPr>
              <a:t>Break the DNS, break the Internet</a:t>
            </a:r>
            <a:endParaRPr/>
          </a:p>
          <a:p>
            <a:pPr lvl="1">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8152870" name="Title 1"/>
          <p:cNvSpPr>
            <a:spLocks noGrp="1"/>
          </p:cNvSpPr>
          <p:nvPr>
            <p:ph type="title"/>
          </p:nvPr>
        </p:nvSpPr>
        <p:spPr bwMode="auto"/>
        <p:txBody>
          <a:bodyPr/>
          <a:lstStyle/>
          <a:p>
            <a:pPr>
              <a:defRPr/>
            </a:pPr>
            <a:r>
              <a:rPr lang="en-US"/>
              <a:t>History</a:t>
            </a:r>
            <a:endParaRPr/>
          </a:p>
        </p:txBody>
      </p:sp>
      <p:sp>
        <p:nvSpPr>
          <p:cNvPr id="1730220075" name="Content Placeholder 2"/>
          <p:cNvSpPr>
            <a:spLocks noGrp="1"/>
          </p:cNvSpPr>
          <p:nvPr>
            <p:ph idx="1"/>
          </p:nvPr>
        </p:nvSpPr>
        <p:spPr bwMode="auto"/>
        <p:txBody>
          <a:bodyPr/>
          <a:lstStyle/>
          <a:p>
            <a:pPr>
              <a:defRPr/>
            </a:pPr>
            <a:r>
              <a:rPr lang="en-US"/>
              <a:t>Before DNS, all mappings were in </a:t>
            </a:r>
            <a:r>
              <a:rPr lang="en-US" i="1"/>
              <a:t>hosts.txt</a:t>
            </a:r>
            <a:endParaRPr lang="en-US" i="1"/>
          </a:p>
          <a:p>
            <a:pPr lvl="1">
              <a:defRPr/>
            </a:pPr>
            <a:r>
              <a:rPr lang="en-US" i="1"/>
              <a:t>/</a:t>
            </a:r>
            <a:r>
              <a:rPr lang="en-US" i="1"/>
              <a:t>etc</a:t>
            </a:r>
            <a:r>
              <a:rPr lang="en-US" i="1"/>
              <a:t>/hosts </a:t>
            </a:r>
            <a:r>
              <a:rPr lang="en-US"/>
              <a:t>on Linux</a:t>
            </a:r>
            <a:endParaRPr/>
          </a:p>
          <a:p>
            <a:pPr lvl="1">
              <a:defRPr/>
            </a:pPr>
            <a:r>
              <a:rPr lang="en-US" i="1"/>
              <a:t>C:\Windows\System32\drivers\</a:t>
            </a:r>
            <a:r>
              <a:rPr lang="en-US" i="1"/>
              <a:t>etc</a:t>
            </a:r>
            <a:r>
              <a:rPr lang="en-US" i="1"/>
              <a:t>\hosts </a:t>
            </a:r>
            <a:r>
              <a:rPr lang="en-US"/>
              <a:t>on Windows</a:t>
            </a:r>
            <a:endParaRPr/>
          </a:p>
          <a:p>
            <a:pPr>
              <a:defRPr/>
            </a:pPr>
            <a:r>
              <a:rPr lang="en-US"/>
              <a:t>Centralized, manual system</a:t>
            </a:r>
            <a:endParaRPr/>
          </a:p>
          <a:p>
            <a:pPr lvl="1">
              <a:defRPr/>
            </a:pPr>
            <a:r>
              <a:rPr lang="en-US"/>
              <a:t>Changes were submitted to SRI via email</a:t>
            </a:r>
            <a:endParaRPr/>
          </a:p>
          <a:p>
            <a:pPr lvl="1">
              <a:defRPr/>
            </a:pPr>
            <a:r>
              <a:rPr lang="en-US"/>
              <a:t>Machines periodically FTP new copies of </a:t>
            </a:r>
            <a:r>
              <a:rPr lang="en-US" i="1"/>
              <a:t>hosts.txt</a:t>
            </a:r>
            <a:endParaRPr lang="en-US" i="1"/>
          </a:p>
          <a:p>
            <a:pPr lvl="1">
              <a:defRPr/>
            </a:pPr>
            <a:r>
              <a:rPr lang="en-US"/>
              <a:t>Administrators could pick names at their discretion</a:t>
            </a:r>
            <a:endParaRPr/>
          </a:p>
          <a:p>
            <a:pPr lvl="1">
              <a:defRPr/>
            </a:pPr>
            <a:r>
              <a:rPr lang="en-US"/>
              <a:t>Any name was allowed</a:t>
            </a:r>
            <a:endParaRPr/>
          </a:p>
          <a:p>
            <a:pPr lvl="2">
              <a:defRPr/>
            </a:pPr>
            <a:r>
              <a:rPr lang="en-US"/>
              <a:t>This_is_my_funny_name_on_the_web</a:t>
            </a: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3179258" name="Title 1"/>
          <p:cNvSpPr>
            <a:spLocks noGrp="1"/>
          </p:cNvSpPr>
          <p:nvPr>
            <p:ph type="title"/>
          </p:nvPr>
        </p:nvSpPr>
        <p:spPr bwMode="auto"/>
        <p:txBody>
          <a:bodyPr/>
          <a:lstStyle/>
          <a:p>
            <a:pPr>
              <a:defRPr/>
            </a:pPr>
            <a:r>
              <a:rPr lang="en-US"/>
              <a:t>History – </a:t>
            </a:r>
            <a:r>
              <a:rPr lang="en-US"/>
              <a:t>Hosts.txt</a:t>
            </a:r>
            <a:endParaRPr lang="en-US"/>
          </a:p>
        </p:txBody>
      </p:sp>
      <p:sp>
        <p:nvSpPr>
          <p:cNvPr id="1280427299" name="Content Placeholder 2"/>
          <p:cNvSpPr>
            <a:spLocks noGrp="1"/>
          </p:cNvSpPr>
          <p:nvPr>
            <p:ph idx="1"/>
          </p:nvPr>
        </p:nvSpPr>
        <p:spPr bwMode="auto"/>
        <p:txBody>
          <a:bodyPr/>
          <a:lstStyle/>
          <a:p>
            <a:pPr>
              <a:defRPr/>
            </a:pPr>
            <a:r>
              <a:rPr lang="en-US"/>
              <a:t>Eventually, the </a:t>
            </a:r>
            <a:r>
              <a:rPr lang="en-US" i="1"/>
              <a:t>hosts.txt</a:t>
            </a:r>
            <a:r>
              <a:rPr lang="en-US"/>
              <a:t> system fell apart</a:t>
            </a:r>
            <a:endParaRPr/>
          </a:p>
          <a:p>
            <a:pPr lvl="1">
              <a:defRPr/>
            </a:pPr>
            <a:r>
              <a:rPr lang="en-US"/>
              <a:t>Not scalable, SRI couldn’t handle the load</a:t>
            </a:r>
            <a:endParaRPr/>
          </a:p>
          <a:p>
            <a:pPr lvl="1">
              <a:defRPr/>
            </a:pPr>
            <a:r>
              <a:rPr lang="en-US"/>
              <a:t>Hard to enforce uniqueness of names</a:t>
            </a:r>
            <a:endParaRPr/>
          </a:p>
          <a:p>
            <a:pPr lvl="2">
              <a:defRPr/>
            </a:pPr>
            <a:r>
              <a:rPr lang="en-US"/>
              <a:t>e.g</a:t>
            </a:r>
            <a:r>
              <a:rPr lang="en-US"/>
              <a:t> TTU</a:t>
            </a:r>
            <a:endParaRPr/>
          </a:p>
          <a:p>
            <a:pPr lvl="3">
              <a:defRPr/>
            </a:pPr>
            <a:r>
              <a:rPr lang="en-US"/>
              <a:t>Tennessee Tech </a:t>
            </a:r>
            <a:r>
              <a:rPr lang="en-US"/>
              <a:t>ot</a:t>
            </a:r>
            <a:endParaRPr lang="en-US"/>
          </a:p>
          <a:p>
            <a:pPr lvl="3">
              <a:defRPr/>
            </a:pPr>
            <a:r>
              <a:rPr lang="en-US"/>
              <a:t>Texas Tech</a:t>
            </a:r>
            <a:br>
              <a:rPr lang="en-US"/>
            </a:br>
            <a:endParaRPr lang="en-US"/>
          </a:p>
          <a:p>
            <a:pPr lvl="1">
              <a:defRPr/>
            </a:pPr>
            <a:r>
              <a:rPr lang="en-US"/>
              <a:t>Many machines had inaccurate copies of </a:t>
            </a:r>
            <a:r>
              <a:rPr lang="en-US" i="1"/>
              <a:t>hosts.txt</a:t>
            </a:r>
            <a:endParaRPr lang="en-US" i="1"/>
          </a:p>
          <a:p>
            <a:pPr>
              <a:defRPr/>
            </a:pPr>
            <a:r>
              <a:rPr lang="en-US"/>
              <a:t>Thus, DNS was born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4469078" name="Title 1"/>
          <p:cNvSpPr>
            <a:spLocks noGrp="1"/>
          </p:cNvSpPr>
          <p:nvPr>
            <p:ph type="title"/>
          </p:nvPr>
        </p:nvSpPr>
        <p:spPr bwMode="auto"/>
        <p:txBody>
          <a:bodyPr/>
          <a:lstStyle/>
          <a:p>
            <a:pPr>
              <a:defRPr/>
            </a:pPr>
            <a:r>
              <a:rPr lang="en-US"/>
              <a:t>Naming Hierarchy</a:t>
            </a:r>
            <a:endParaRPr/>
          </a:p>
        </p:txBody>
      </p:sp>
      <p:sp>
        <p:nvSpPr>
          <p:cNvPr id="1384498914" name="TextBox 4"/>
          <p:cNvSpPr txBox="1"/>
          <p:nvPr/>
        </p:nvSpPr>
        <p:spPr bwMode="auto">
          <a:xfrm>
            <a:off x="5487868" y="1524389"/>
            <a:ext cx="835485" cy="461665"/>
          </a:xfrm>
          <a:prstGeom prst="rect">
            <a:avLst/>
          </a:prstGeom>
          <a:noFill/>
        </p:spPr>
        <p:txBody>
          <a:bodyPr wrap="none" rtlCol="0">
            <a:spAutoFit/>
          </a:bodyPr>
          <a:lstStyle/>
          <a:p>
            <a:pPr>
              <a:defRPr/>
            </a:pPr>
            <a:r>
              <a:rPr lang="en-US" sz="2400"/>
              <a:t>Root</a:t>
            </a:r>
            <a:endParaRPr/>
          </a:p>
        </p:txBody>
      </p:sp>
      <p:cxnSp>
        <p:nvCxnSpPr>
          <p:cNvPr id="1924699874" name="Straight Connector 23" descr="Naming Hierarchy"/>
          <p:cNvCxnSpPr>
            <a:stCxn id="1384498914" idx="2"/>
            <a:endCxn id="1417508795" idx="0"/>
          </p:cNvCxnSpPr>
          <p:nvPr/>
        </p:nvCxnSpPr>
        <p:spPr bwMode="auto">
          <a:xfrm flipH="1">
            <a:off x="3137852" y="1986054"/>
            <a:ext cx="2767758"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57800700" name="Straight Connector 26"/>
          <p:cNvCxnSpPr>
            <a:stCxn id="1384498914" idx="2"/>
            <a:endCxn id="1666383651" idx="0"/>
          </p:cNvCxnSpPr>
          <p:nvPr/>
        </p:nvCxnSpPr>
        <p:spPr bwMode="auto">
          <a:xfrm flipH="1">
            <a:off x="4246336" y="1986054"/>
            <a:ext cx="1659274"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74795253" name="Straight Connector 29"/>
          <p:cNvCxnSpPr>
            <a:stCxn id="1384498914" idx="2"/>
            <a:endCxn id="472564013" idx="0"/>
          </p:cNvCxnSpPr>
          <p:nvPr/>
        </p:nvCxnSpPr>
        <p:spPr bwMode="auto">
          <a:xfrm flipH="1">
            <a:off x="5311314" y="1986054"/>
            <a:ext cx="594296"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86249754" name="Straight Connector 38"/>
          <p:cNvCxnSpPr>
            <a:stCxn id="1384498914" idx="2"/>
            <a:endCxn id="471437209" idx="0"/>
          </p:cNvCxnSpPr>
          <p:nvPr/>
        </p:nvCxnSpPr>
        <p:spPr bwMode="auto">
          <a:xfrm flipH="1">
            <a:off x="2037866" y="1986054"/>
            <a:ext cx="3867745"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92977823" name="Straight Connector 32"/>
          <p:cNvCxnSpPr>
            <a:stCxn id="1384498914" idx="2"/>
            <a:endCxn id="1691190655" idx="0"/>
          </p:cNvCxnSpPr>
          <p:nvPr/>
        </p:nvCxnSpPr>
        <p:spPr bwMode="auto">
          <a:xfrm>
            <a:off x="5905611" y="1986054"/>
            <a:ext cx="438269"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46795789" name="Straight Connector 35"/>
          <p:cNvCxnSpPr>
            <a:stCxn id="1384498914" idx="2"/>
            <a:endCxn id="1260184521" idx="0"/>
          </p:cNvCxnSpPr>
          <p:nvPr/>
        </p:nvCxnSpPr>
        <p:spPr bwMode="auto">
          <a:xfrm>
            <a:off x="5905611" y="1986054"/>
            <a:ext cx="1386163"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97707546" name="Straight Connector 41"/>
          <p:cNvCxnSpPr>
            <a:stCxn id="1384498914" idx="2"/>
            <a:endCxn id="1936935870" idx="0"/>
          </p:cNvCxnSpPr>
          <p:nvPr/>
        </p:nvCxnSpPr>
        <p:spPr bwMode="auto">
          <a:xfrm>
            <a:off x="5905611" y="1986054"/>
            <a:ext cx="2375009"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69382252" name="Straight Connector 44"/>
          <p:cNvCxnSpPr>
            <a:stCxn id="1384498914" idx="2"/>
            <a:endCxn id="1241057078" idx="0"/>
          </p:cNvCxnSpPr>
          <p:nvPr/>
        </p:nvCxnSpPr>
        <p:spPr bwMode="auto">
          <a:xfrm>
            <a:off x="5905611" y="1986054"/>
            <a:ext cx="3189341"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56163583" name="Straight Connector 47"/>
          <p:cNvCxnSpPr>
            <a:stCxn id="1384498914" idx="2"/>
            <a:endCxn id="2121016083" idx="0"/>
          </p:cNvCxnSpPr>
          <p:nvPr/>
        </p:nvCxnSpPr>
        <p:spPr bwMode="auto">
          <a:xfrm>
            <a:off x="5905611" y="1986054"/>
            <a:ext cx="4080617" cy="57695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71437209" name="TextBox 10"/>
          <p:cNvSpPr txBox="1"/>
          <p:nvPr/>
        </p:nvSpPr>
        <p:spPr bwMode="auto">
          <a:xfrm>
            <a:off x="1731531" y="2563007"/>
            <a:ext cx="612668" cy="461665"/>
          </a:xfrm>
          <a:prstGeom prst="rect">
            <a:avLst/>
          </a:prstGeom>
          <a:noFill/>
        </p:spPr>
        <p:txBody>
          <a:bodyPr wrap="none" rtlCol="0">
            <a:spAutoFit/>
          </a:bodyPr>
          <a:lstStyle/>
          <a:p>
            <a:pPr>
              <a:defRPr/>
            </a:pPr>
            <a:r>
              <a:rPr lang="en-US" sz="2400"/>
              <a:t>net</a:t>
            </a:r>
            <a:endParaRPr/>
          </a:p>
        </p:txBody>
      </p:sp>
      <p:sp>
        <p:nvSpPr>
          <p:cNvPr id="1417508795" name="TextBox 5"/>
          <p:cNvSpPr txBox="1"/>
          <p:nvPr/>
        </p:nvSpPr>
        <p:spPr bwMode="auto">
          <a:xfrm>
            <a:off x="2788237" y="2563007"/>
            <a:ext cx="699230" cy="461665"/>
          </a:xfrm>
          <a:prstGeom prst="rect">
            <a:avLst/>
          </a:prstGeom>
          <a:noFill/>
        </p:spPr>
        <p:txBody>
          <a:bodyPr wrap="none" rtlCol="0">
            <a:spAutoFit/>
          </a:bodyPr>
          <a:lstStyle/>
          <a:p>
            <a:pPr>
              <a:defRPr/>
            </a:pPr>
            <a:r>
              <a:rPr lang="en-US" sz="2400"/>
              <a:t>edu</a:t>
            </a:r>
            <a:endParaRPr lang="en-US" sz="2400"/>
          </a:p>
        </p:txBody>
      </p:sp>
      <p:cxnSp>
        <p:nvCxnSpPr>
          <p:cNvPr id="1065875244" name="Straight Connector 53"/>
          <p:cNvCxnSpPr>
            <a:stCxn id="1417508795" idx="2"/>
            <a:endCxn id="1033675587" idx="0"/>
          </p:cNvCxnSpPr>
          <p:nvPr/>
        </p:nvCxnSpPr>
        <p:spPr bwMode="auto">
          <a:xfrm>
            <a:off x="3137852" y="3024671"/>
            <a:ext cx="780768" cy="51804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25802858" name="Rounded Rectangle 74"/>
          <p:cNvSpPr/>
          <p:nvPr/>
        </p:nvSpPr>
        <p:spPr bwMode="auto">
          <a:xfrm>
            <a:off x="1663714" y="2497690"/>
            <a:ext cx="8662510"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47362386" name="Rounded Rectangle 78"/>
          <p:cNvSpPr/>
          <p:nvPr/>
        </p:nvSpPr>
        <p:spPr bwMode="auto">
          <a:xfrm>
            <a:off x="2793069" y="2495858"/>
            <a:ext cx="703010"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66383651" name="TextBox 6"/>
          <p:cNvSpPr txBox="1"/>
          <p:nvPr/>
        </p:nvSpPr>
        <p:spPr bwMode="auto">
          <a:xfrm>
            <a:off x="3856646" y="2563007"/>
            <a:ext cx="779381" cy="461665"/>
          </a:xfrm>
          <a:prstGeom prst="rect">
            <a:avLst/>
          </a:prstGeom>
          <a:noFill/>
        </p:spPr>
        <p:txBody>
          <a:bodyPr wrap="none" rtlCol="0">
            <a:spAutoFit/>
          </a:bodyPr>
          <a:lstStyle/>
          <a:p>
            <a:pPr>
              <a:defRPr/>
            </a:pPr>
            <a:r>
              <a:rPr lang="en-US" sz="2400"/>
              <a:t>com</a:t>
            </a:r>
            <a:endParaRPr/>
          </a:p>
        </p:txBody>
      </p:sp>
      <p:sp>
        <p:nvSpPr>
          <p:cNvPr id="472564013" name="TextBox 7"/>
          <p:cNvSpPr txBox="1"/>
          <p:nvPr/>
        </p:nvSpPr>
        <p:spPr bwMode="auto">
          <a:xfrm>
            <a:off x="4992380" y="2563007"/>
            <a:ext cx="637867" cy="461665"/>
          </a:xfrm>
          <a:prstGeom prst="rect">
            <a:avLst/>
          </a:prstGeom>
          <a:noFill/>
        </p:spPr>
        <p:txBody>
          <a:bodyPr wrap="none" rtlCol="0">
            <a:spAutoFit/>
          </a:bodyPr>
          <a:lstStyle/>
          <a:p>
            <a:pPr>
              <a:defRPr/>
            </a:pPr>
            <a:r>
              <a:rPr lang="en-US" sz="2400"/>
              <a:t>gov</a:t>
            </a:r>
            <a:endParaRPr lang="en-US" sz="2400"/>
          </a:p>
        </p:txBody>
      </p:sp>
      <p:sp>
        <p:nvSpPr>
          <p:cNvPr id="1691190655" name="TextBox 8"/>
          <p:cNvSpPr txBox="1"/>
          <p:nvPr/>
        </p:nvSpPr>
        <p:spPr bwMode="auto">
          <a:xfrm>
            <a:off x="6043156" y="2563007"/>
            <a:ext cx="601447" cy="461665"/>
          </a:xfrm>
          <a:prstGeom prst="rect">
            <a:avLst/>
          </a:prstGeom>
          <a:noFill/>
        </p:spPr>
        <p:txBody>
          <a:bodyPr wrap="none" rtlCol="0">
            <a:spAutoFit/>
          </a:bodyPr>
          <a:lstStyle/>
          <a:p>
            <a:pPr>
              <a:defRPr/>
            </a:pPr>
            <a:r>
              <a:rPr lang="en-US" sz="2400"/>
              <a:t>mil</a:t>
            </a:r>
            <a:endParaRPr/>
          </a:p>
        </p:txBody>
      </p:sp>
      <p:sp>
        <p:nvSpPr>
          <p:cNvPr id="1260184521" name="TextBox 9"/>
          <p:cNvSpPr txBox="1"/>
          <p:nvPr/>
        </p:nvSpPr>
        <p:spPr bwMode="auto">
          <a:xfrm>
            <a:off x="6991338" y="2563007"/>
            <a:ext cx="600870" cy="461665"/>
          </a:xfrm>
          <a:prstGeom prst="rect">
            <a:avLst/>
          </a:prstGeom>
          <a:noFill/>
        </p:spPr>
        <p:txBody>
          <a:bodyPr wrap="none" rtlCol="0">
            <a:spAutoFit/>
          </a:bodyPr>
          <a:lstStyle/>
          <a:p>
            <a:pPr>
              <a:defRPr/>
            </a:pPr>
            <a:r>
              <a:rPr lang="en-US" sz="2400"/>
              <a:t>org</a:t>
            </a:r>
            <a:endParaRPr/>
          </a:p>
        </p:txBody>
      </p:sp>
      <p:sp>
        <p:nvSpPr>
          <p:cNvPr id="1936935870" name="TextBox 11"/>
          <p:cNvSpPr txBox="1"/>
          <p:nvPr/>
        </p:nvSpPr>
        <p:spPr bwMode="auto">
          <a:xfrm>
            <a:off x="8025581" y="2563007"/>
            <a:ext cx="510076" cy="461665"/>
          </a:xfrm>
          <a:prstGeom prst="rect">
            <a:avLst/>
          </a:prstGeom>
          <a:noFill/>
        </p:spPr>
        <p:txBody>
          <a:bodyPr wrap="none" rtlCol="0">
            <a:spAutoFit/>
          </a:bodyPr>
          <a:lstStyle/>
          <a:p>
            <a:pPr>
              <a:defRPr/>
            </a:pPr>
            <a:r>
              <a:rPr lang="en-US" sz="2400"/>
              <a:t>uk</a:t>
            </a:r>
            <a:endParaRPr lang="en-US" sz="2400"/>
          </a:p>
        </p:txBody>
      </p:sp>
      <p:sp>
        <p:nvSpPr>
          <p:cNvPr id="1241057078" name="TextBox 12"/>
          <p:cNvSpPr txBox="1"/>
          <p:nvPr/>
        </p:nvSpPr>
        <p:spPr bwMode="auto">
          <a:xfrm>
            <a:off x="8904835" y="2563007"/>
            <a:ext cx="380232" cy="461665"/>
          </a:xfrm>
          <a:prstGeom prst="rect">
            <a:avLst/>
          </a:prstGeom>
          <a:noFill/>
        </p:spPr>
        <p:txBody>
          <a:bodyPr wrap="none" rtlCol="0">
            <a:spAutoFit/>
          </a:bodyPr>
          <a:lstStyle/>
          <a:p>
            <a:pPr>
              <a:defRPr/>
            </a:pPr>
            <a:r>
              <a:rPr lang="en-US" sz="2400"/>
              <a:t>fr</a:t>
            </a:r>
            <a:endParaRPr lang="en-US" sz="2400"/>
          </a:p>
        </p:txBody>
      </p:sp>
      <p:sp>
        <p:nvSpPr>
          <p:cNvPr id="2121016083" name="TextBox 13"/>
          <p:cNvSpPr txBox="1"/>
          <p:nvPr/>
        </p:nvSpPr>
        <p:spPr bwMode="auto">
          <a:xfrm>
            <a:off x="9646230" y="2563007"/>
            <a:ext cx="679994" cy="461665"/>
          </a:xfrm>
          <a:prstGeom prst="rect">
            <a:avLst/>
          </a:prstGeom>
          <a:noFill/>
        </p:spPr>
        <p:txBody>
          <a:bodyPr wrap="none" rtlCol="0">
            <a:spAutoFit/>
          </a:bodyPr>
          <a:lstStyle/>
          <a:p>
            <a:pPr>
              <a:defRPr/>
            </a:pPr>
            <a:r>
              <a:rPr lang="en-US" sz="2400"/>
              <a:t>etc.</a:t>
            </a:r>
            <a:endParaRPr/>
          </a:p>
        </p:txBody>
      </p:sp>
      <p:sp>
        <p:nvSpPr>
          <p:cNvPr id="781422678" name="TextBox 14"/>
          <p:cNvSpPr txBox="1"/>
          <p:nvPr/>
        </p:nvSpPr>
        <p:spPr bwMode="auto">
          <a:xfrm>
            <a:off x="1819298" y="3542719"/>
            <a:ext cx="1045607" cy="461665"/>
          </a:xfrm>
          <a:prstGeom prst="rect">
            <a:avLst/>
          </a:prstGeom>
          <a:noFill/>
        </p:spPr>
        <p:txBody>
          <a:bodyPr wrap="none" rtlCol="0">
            <a:spAutoFit/>
          </a:bodyPr>
          <a:lstStyle/>
          <a:p>
            <a:pPr>
              <a:defRPr/>
            </a:pPr>
            <a:r>
              <a:rPr lang="en-US" sz="2400"/>
              <a:t>tntech</a:t>
            </a:r>
            <a:endParaRPr lang="en-US" sz="2400"/>
          </a:p>
        </p:txBody>
      </p:sp>
      <p:sp>
        <p:nvSpPr>
          <p:cNvPr id="809421397" name="Rounded Rectangle 77"/>
          <p:cNvSpPr/>
          <p:nvPr/>
        </p:nvSpPr>
        <p:spPr bwMode="auto">
          <a:xfrm>
            <a:off x="1807706" y="3445016"/>
            <a:ext cx="703010"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372238982" name="Straight Connector 50"/>
          <p:cNvCxnSpPr>
            <a:stCxn id="1417508795" idx="2"/>
            <a:endCxn id="781422678" idx="0"/>
          </p:cNvCxnSpPr>
          <p:nvPr/>
        </p:nvCxnSpPr>
        <p:spPr bwMode="auto">
          <a:xfrm flipH="1">
            <a:off x="2342102" y="3024672"/>
            <a:ext cx="795750" cy="51804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33675587" name="TextBox 15"/>
          <p:cNvSpPr txBox="1"/>
          <p:nvPr/>
        </p:nvSpPr>
        <p:spPr bwMode="auto">
          <a:xfrm>
            <a:off x="3608279" y="3542718"/>
            <a:ext cx="620683" cy="461665"/>
          </a:xfrm>
          <a:prstGeom prst="rect">
            <a:avLst/>
          </a:prstGeom>
          <a:noFill/>
        </p:spPr>
        <p:txBody>
          <a:bodyPr wrap="none" rtlCol="0">
            <a:spAutoFit/>
          </a:bodyPr>
          <a:lstStyle/>
          <a:p>
            <a:pPr>
              <a:defRPr/>
            </a:pPr>
            <a:r>
              <a:rPr lang="en-US" sz="2400"/>
              <a:t>mit</a:t>
            </a:r>
            <a:endParaRPr lang="en-US" sz="2400"/>
          </a:p>
        </p:txBody>
      </p:sp>
      <p:sp>
        <p:nvSpPr>
          <p:cNvPr id="695472169" name="Slide Number Placeholder 2"/>
          <p:cNvSpPr>
            <a:spLocks noGrp="1"/>
          </p:cNvSpPr>
          <p:nvPr>
            <p:ph type="sldNum" sz="quarter" idx="12"/>
          </p:nvPr>
        </p:nvSpPr>
        <p:spPr bwMode="auto"/>
        <p:txBody>
          <a:bodyPr>
            <a:normAutofit/>
          </a:bodyPr>
          <a:lstStyle/>
          <a:p>
            <a:pPr>
              <a:defRPr/>
            </a:pPr>
            <a:fld id="{283B9EA5-CE9A-4950-A80C-5ADF06B45BB8}" type="slidenum">
              <a:rPr lang="en-US"/>
              <a:t>5</a:t>
            </a:fld>
            <a:endParaRPr lang="en-US"/>
          </a:p>
        </p:txBody>
      </p:sp>
      <p:sp>
        <p:nvSpPr>
          <p:cNvPr id="107369392" name="Content Placeholder 3"/>
          <p:cNvSpPr>
            <a:spLocks noGrp="1"/>
          </p:cNvSpPr>
          <p:nvPr>
            <p:ph sz="quarter" idx="1"/>
          </p:nvPr>
        </p:nvSpPr>
        <p:spPr bwMode="auto">
          <a:xfrm>
            <a:off x="4582886" y="3200402"/>
            <a:ext cx="5932714" cy="3570514"/>
          </a:xfrm>
        </p:spPr>
        <p:txBody>
          <a:bodyPr>
            <a:normAutofit/>
          </a:bodyPr>
          <a:lstStyle/>
          <a:p>
            <a:pPr>
              <a:defRPr/>
            </a:pPr>
            <a:r>
              <a:rPr lang="en-US"/>
              <a:t>Top Level Domains (TLDs) are at the top</a:t>
            </a:r>
            <a:endParaRPr/>
          </a:p>
          <a:p>
            <a:pPr>
              <a:defRPr/>
            </a:pPr>
            <a:r>
              <a:rPr lang="en-US"/>
              <a:t>Maximum tree depth: 128</a:t>
            </a:r>
            <a:endParaRPr/>
          </a:p>
          <a:p>
            <a:pPr>
              <a:defRPr/>
            </a:pPr>
            <a:r>
              <a:rPr lang="en-US"/>
              <a:t>Each Domain Name is a </a:t>
            </a:r>
            <a:r>
              <a:rPr lang="en-US"/>
              <a:t>subtree</a:t>
            </a:r>
            <a:endParaRPr lang="en-US"/>
          </a:p>
          <a:p>
            <a:pPr lvl="1">
              <a:defRPr/>
            </a:pPr>
            <a:r>
              <a:rPr lang="en-US"/>
              <a:t>.</a:t>
            </a:r>
            <a:r>
              <a:rPr lang="en-US"/>
              <a:t>edu</a:t>
            </a:r>
            <a:r>
              <a:rPr lang="en-US"/>
              <a:t> </a:t>
            </a:r>
            <a:r>
              <a:rPr lang="en-US"/>
              <a:t> </a:t>
            </a:r>
            <a:r>
              <a:rPr lang="en-US"/>
              <a:t>tntech.edu</a:t>
            </a:r>
            <a:r>
              <a:rPr lang="en-US"/>
              <a:t>  </a:t>
            </a:r>
            <a:r>
              <a:rPr lang="en-US"/>
              <a:t>cs.tntech.edu</a:t>
            </a:r>
            <a:r>
              <a:rPr lang="en-US"/>
              <a:t>  </a:t>
            </a:r>
            <a:r>
              <a:rPr lang="en-US"/>
              <a:t>www.cs.tntech.edu</a:t>
            </a:r>
            <a:endParaRPr lang="en-US"/>
          </a:p>
          <a:p>
            <a:pPr>
              <a:defRPr/>
            </a:pPr>
            <a:r>
              <a:rPr lang="en-US"/>
              <a:t>Name collisions are avoided</a:t>
            </a:r>
            <a:endParaRPr/>
          </a:p>
        </p:txBody>
      </p:sp>
      <p:cxnSp>
        <p:nvCxnSpPr>
          <p:cNvPr id="1403989471" name="Straight Connector 56"/>
          <p:cNvCxnSpPr>
            <a:stCxn id="781422678" idx="2"/>
            <a:endCxn id="1429715500" idx="0"/>
          </p:cNvCxnSpPr>
          <p:nvPr/>
        </p:nvCxnSpPr>
        <p:spPr bwMode="auto">
          <a:xfrm flipH="1">
            <a:off x="1890614" y="4004384"/>
            <a:ext cx="451488" cy="65956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28233675" name="Straight Connector 59"/>
          <p:cNvCxnSpPr>
            <a:stCxn id="781422678" idx="2"/>
            <a:endCxn id="365607682" idx="0"/>
          </p:cNvCxnSpPr>
          <p:nvPr/>
        </p:nvCxnSpPr>
        <p:spPr bwMode="auto">
          <a:xfrm>
            <a:off x="2342102" y="4004384"/>
            <a:ext cx="547695" cy="65956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61057408" name="Straight Connector 62"/>
          <p:cNvCxnSpPr>
            <a:stCxn id="781422678" idx="2"/>
            <a:endCxn id="131812718" idx="0"/>
          </p:cNvCxnSpPr>
          <p:nvPr/>
        </p:nvCxnSpPr>
        <p:spPr bwMode="auto">
          <a:xfrm>
            <a:off x="2342102" y="4004384"/>
            <a:ext cx="1629361" cy="65956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29715500" name="TextBox 16"/>
          <p:cNvSpPr txBox="1"/>
          <p:nvPr/>
        </p:nvSpPr>
        <p:spPr bwMode="auto">
          <a:xfrm>
            <a:off x="1642789" y="4663951"/>
            <a:ext cx="495649" cy="461665"/>
          </a:xfrm>
          <a:prstGeom prst="rect">
            <a:avLst/>
          </a:prstGeom>
          <a:noFill/>
        </p:spPr>
        <p:txBody>
          <a:bodyPr wrap="none" rtlCol="0">
            <a:spAutoFit/>
          </a:bodyPr>
          <a:lstStyle/>
          <a:p>
            <a:pPr>
              <a:defRPr/>
            </a:pPr>
            <a:r>
              <a:rPr lang="en-US" sz="2400"/>
              <a:t>cs</a:t>
            </a:r>
            <a:endParaRPr/>
          </a:p>
        </p:txBody>
      </p:sp>
      <p:sp>
        <p:nvSpPr>
          <p:cNvPr id="367337956" name="Rounded Rectangle 76"/>
          <p:cNvSpPr/>
          <p:nvPr/>
        </p:nvSpPr>
        <p:spPr bwMode="auto">
          <a:xfrm>
            <a:off x="1596996" y="4566248"/>
            <a:ext cx="703010"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65607682" name="TextBox 17"/>
          <p:cNvSpPr txBox="1"/>
          <p:nvPr/>
        </p:nvSpPr>
        <p:spPr bwMode="auto">
          <a:xfrm>
            <a:off x="2548998" y="4663951"/>
            <a:ext cx="681597" cy="461665"/>
          </a:xfrm>
          <a:prstGeom prst="rect">
            <a:avLst/>
          </a:prstGeom>
          <a:noFill/>
        </p:spPr>
        <p:txBody>
          <a:bodyPr wrap="none" rtlCol="0">
            <a:spAutoFit/>
          </a:bodyPr>
          <a:lstStyle/>
          <a:p>
            <a:pPr>
              <a:defRPr/>
            </a:pPr>
            <a:r>
              <a:rPr lang="en-US" sz="2400"/>
              <a:t>ece</a:t>
            </a:r>
            <a:endParaRPr lang="en-US" sz="2400"/>
          </a:p>
        </p:txBody>
      </p:sp>
      <p:sp>
        <p:nvSpPr>
          <p:cNvPr id="131812718" name="TextBox 18"/>
          <p:cNvSpPr txBox="1"/>
          <p:nvPr/>
        </p:nvSpPr>
        <p:spPr bwMode="auto">
          <a:xfrm>
            <a:off x="3476776" y="4663951"/>
            <a:ext cx="989373" cy="461665"/>
          </a:xfrm>
          <a:prstGeom prst="rect">
            <a:avLst/>
          </a:prstGeom>
          <a:noFill/>
        </p:spPr>
        <p:txBody>
          <a:bodyPr wrap="none" rtlCol="0">
            <a:spAutoFit/>
          </a:bodyPr>
          <a:lstStyle/>
          <a:p>
            <a:pPr>
              <a:defRPr/>
            </a:pPr>
            <a:r>
              <a:rPr lang="en-US" sz="2400"/>
              <a:t>husky</a:t>
            </a:r>
            <a:endParaRPr/>
          </a:p>
        </p:txBody>
      </p:sp>
      <p:cxnSp>
        <p:nvCxnSpPr>
          <p:cNvPr id="473940615" name="Straight Connector 65"/>
          <p:cNvCxnSpPr>
            <a:stCxn id="1429715500" idx="2"/>
            <a:endCxn id="1155168496" idx="0"/>
          </p:cNvCxnSpPr>
          <p:nvPr/>
        </p:nvCxnSpPr>
        <p:spPr bwMode="auto">
          <a:xfrm>
            <a:off x="1890614" y="5125616"/>
            <a:ext cx="157765" cy="8010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2951672" name="Straight Connector 68"/>
          <p:cNvCxnSpPr>
            <a:stCxn id="1429715500" idx="2"/>
            <a:endCxn id="1778957654" idx="0"/>
          </p:cNvCxnSpPr>
          <p:nvPr/>
        </p:nvCxnSpPr>
        <p:spPr bwMode="auto">
          <a:xfrm>
            <a:off x="1890614" y="5125616"/>
            <a:ext cx="1187117" cy="8010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48624450" name="Straight Connector 71"/>
          <p:cNvCxnSpPr>
            <a:stCxn id="1429715500" idx="2"/>
            <a:endCxn id="1616825169" idx="0"/>
          </p:cNvCxnSpPr>
          <p:nvPr/>
        </p:nvCxnSpPr>
        <p:spPr bwMode="auto">
          <a:xfrm>
            <a:off x="1890614" y="5125616"/>
            <a:ext cx="2286784" cy="80108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55168496" name="TextBox 19"/>
          <p:cNvSpPr txBox="1"/>
          <p:nvPr/>
        </p:nvSpPr>
        <p:spPr bwMode="auto">
          <a:xfrm>
            <a:off x="1621820" y="5926702"/>
            <a:ext cx="853119" cy="461665"/>
          </a:xfrm>
          <a:prstGeom prst="rect">
            <a:avLst/>
          </a:prstGeom>
          <a:noFill/>
        </p:spPr>
        <p:txBody>
          <a:bodyPr wrap="none" rtlCol="0">
            <a:spAutoFit/>
          </a:bodyPr>
          <a:lstStyle/>
          <a:p>
            <a:pPr>
              <a:defRPr/>
            </a:pPr>
            <a:r>
              <a:rPr lang="en-US" sz="2400"/>
              <a:t>www</a:t>
            </a:r>
            <a:endParaRPr/>
          </a:p>
        </p:txBody>
      </p:sp>
      <p:sp>
        <p:nvSpPr>
          <p:cNvPr id="1919485396" name="Rounded Rectangle 75"/>
          <p:cNvSpPr/>
          <p:nvPr/>
        </p:nvSpPr>
        <p:spPr bwMode="auto">
          <a:xfrm>
            <a:off x="1596951" y="5828999"/>
            <a:ext cx="830565"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78957654" name="TextBox 20"/>
          <p:cNvSpPr txBox="1"/>
          <p:nvPr/>
        </p:nvSpPr>
        <p:spPr bwMode="auto">
          <a:xfrm>
            <a:off x="2659186" y="5926702"/>
            <a:ext cx="837089" cy="461665"/>
          </a:xfrm>
          <a:prstGeom prst="rect">
            <a:avLst/>
          </a:prstGeom>
          <a:noFill/>
        </p:spPr>
        <p:txBody>
          <a:bodyPr wrap="none" rtlCol="0">
            <a:spAutoFit/>
          </a:bodyPr>
          <a:lstStyle/>
          <a:p>
            <a:pPr>
              <a:defRPr/>
            </a:pPr>
            <a:r>
              <a:rPr lang="en-US" sz="2400"/>
              <a:t>login</a:t>
            </a:r>
            <a:endParaRPr/>
          </a:p>
        </p:txBody>
      </p:sp>
      <p:sp>
        <p:nvSpPr>
          <p:cNvPr id="1616825169" name="TextBox 21"/>
          <p:cNvSpPr txBox="1"/>
          <p:nvPr/>
        </p:nvSpPr>
        <p:spPr bwMode="auto">
          <a:xfrm>
            <a:off x="3794920" y="5926702"/>
            <a:ext cx="764953" cy="461665"/>
          </a:xfrm>
          <a:prstGeom prst="rect">
            <a:avLst/>
          </a:prstGeom>
          <a:noFill/>
        </p:spPr>
        <p:txBody>
          <a:bodyPr wrap="none" rtlCol="0">
            <a:spAutoFit/>
          </a:bodyPr>
          <a:lstStyle/>
          <a:p>
            <a:pPr>
              <a:defRPr/>
            </a:pPr>
            <a:r>
              <a:rPr lang="en-US" sz="2400"/>
              <a:t>mail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25802858"/>
                                        </p:tgtEl>
                                        <p:attrNameLst>
                                          <p:attrName>style.visibility</p:attrName>
                                        </p:attrNameLst>
                                      </p:cBhvr>
                                      <p:to>
                                        <p:strVal val="visible"/>
                                      </p:to>
                                    </p:set>
                                    <p:animEffect transition="in" filter="barn(inVertical)">
                                      <p:cBhvr>
                                        <p:cTn id="7" dur="500"/>
                                        <p:tgtEl>
                                          <p:spTgt spid="32580285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xit" presetSubtype="21" fill="hold" grpId="1" nodeType="clickEffect">
                                  <p:stCondLst>
                                    <p:cond delay="0"/>
                                  </p:stCondLst>
                                  <p:childTnLst>
                                    <p:animEffect transition="out" filter="barn(inVertical)">
                                      <p:cBhvr>
                                        <p:cTn id="11" dur="500"/>
                                        <p:tgtEl>
                                          <p:spTgt spid="325802858"/>
                                        </p:tgtEl>
                                      </p:cBhvr>
                                    </p:animEffect>
                                    <p:set>
                                      <p:cBhvr>
                                        <p:cTn id="12" dur="1" fill="hold">
                                          <p:stCondLst>
                                            <p:cond delay="499"/>
                                          </p:stCondLst>
                                        </p:cTn>
                                        <p:tgtEl>
                                          <p:spTgt spid="32580285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919485396"/>
                                        </p:tgtEl>
                                        <p:attrNameLst>
                                          <p:attrName>style.visibility</p:attrName>
                                        </p:attrNameLst>
                                      </p:cBhvr>
                                      <p:to>
                                        <p:strVal val="visible"/>
                                      </p:to>
                                    </p:set>
                                    <p:animEffect transition="in" filter="barn(inVertical)">
                                      <p:cBhvr>
                                        <p:cTn id="17" dur="500"/>
                                        <p:tgtEl>
                                          <p:spTgt spid="1919485396"/>
                                        </p:tgtEl>
                                      </p:cBhvr>
                                    </p:animEffect>
                                  </p:childTnLst>
                                </p:cTn>
                              </p:par>
                            </p:childTnLst>
                          </p:cTn>
                        </p:par>
                        <p:par>
                          <p:cTn id="18" fill="hold">
                            <p:stCondLst>
                              <p:cond delay="500"/>
                            </p:stCondLst>
                            <p:childTnLst>
                              <p:par>
                                <p:cTn id="19" presetID="16" presetClass="entr" presetSubtype="21" fill="hold" grpId="0" nodeType="afterEffect">
                                  <p:stCondLst>
                                    <p:cond delay="0"/>
                                  </p:stCondLst>
                                  <p:childTnLst>
                                    <p:set>
                                      <p:cBhvr>
                                        <p:cTn id="20" dur="1" fill="hold">
                                          <p:stCondLst>
                                            <p:cond delay="0"/>
                                          </p:stCondLst>
                                        </p:cTn>
                                        <p:tgtEl>
                                          <p:spTgt spid="367337956"/>
                                        </p:tgtEl>
                                        <p:attrNameLst>
                                          <p:attrName>style.visibility</p:attrName>
                                        </p:attrNameLst>
                                      </p:cBhvr>
                                      <p:to>
                                        <p:strVal val="visible"/>
                                      </p:to>
                                    </p:set>
                                    <p:animEffect transition="in" filter="barn(inVertical)">
                                      <p:cBhvr>
                                        <p:cTn id="21" dur="500"/>
                                        <p:tgtEl>
                                          <p:spTgt spid="367337956"/>
                                        </p:tgtEl>
                                      </p:cBhvr>
                                    </p:animEffect>
                                  </p:childTnLst>
                                </p:cTn>
                              </p:par>
                            </p:childTnLst>
                          </p:cTn>
                        </p:par>
                        <p:par>
                          <p:cTn id="22" fill="hold">
                            <p:stCondLst>
                              <p:cond delay="1000"/>
                            </p:stCondLst>
                            <p:childTnLst>
                              <p:par>
                                <p:cTn id="23" presetID="16" presetClass="entr" presetSubtype="21" fill="hold" grpId="0" nodeType="afterEffect">
                                  <p:stCondLst>
                                    <p:cond delay="0"/>
                                  </p:stCondLst>
                                  <p:childTnLst>
                                    <p:set>
                                      <p:cBhvr>
                                        <p:cTn id="24" dur="1" fill="hold">
                                          <p:stCondLst>
                                            <p:cond delay="0"/>
                                          </p:stCondLst>
                                        </p:cTn>
                                        <p:tgtEl>
                                          <p:spTgt spid="809421397"/>
                                        </p:tgtEl>
                                        <p:attrNameLst>
                                          <p:attrName>style.visibility</p:attrName>
                                        </p:attrNameLst>
                                      </p:cBhvr>
                                      <p:to>
                                        <p:strVal val="visible"/>
                                      </p:to>
                                    </p:set>
                                    <p:animEffect transition="in" filter="barn(inVertical)">
                                      <p:cBhvr>
                                        <p:cTn id="25" dur="500"/>
                                        <p:tgtEl>
                                          <p:spTgt spid="809421397"/>
                                        </p:tgtEl>
                                      </p:cBhvr>
                                    </p:animEffect>
                                  </p:childTnLst>
                                </p:cTn>
                              </p:par>
                            </p:childTnLst>
                          </p:cTn>
                        </p:par>
                        <p:par>
                          <p:cTn id="26" fill="hold">
                            <p:stCondLst>
                              <p:cond delay="1500"/>
                            </p:stCondLst>
                            <p:childTnLst>
                              <p:par>
                                <p:cTn id="27" presetID="16" presetClass="entr" presetSubtype="21" fill="hold" grpId="0" nodeType="afterEffect">
                                  <p:stCondLst>
                                    <p:cond delay="0"/>
                                  </p:stCondLst>
                                  <p:childTnLst>
                                    <p:set>
                                      <p:cBhvr>
                                        <p:cTn id="28" dur="1" fill="hold">
                                          <p:stCondLst>
                                            <p:cond delay="0"/>
                                          </p:stCondLst>
                                        </p:cTn>
                                        <p:tgtEl>
                                          <p:spTgt spid="1447362386"/>
                                        </p:tgtEl>
                                        <p:attrNameLst>
                                          <p:attrName>style.visibility</p:attrName>
                                        </p:attrNameLst>
                                      </p:cBhvr>
                                      <p:to>
                                        <p:strVal val="visible"/>
                                      </p:to>
                                    </p:set>
                                    <p:animEffect transition="in" filter="barn(inVertical)">
                                      <p:cBhvr>
                                        <p:cTn id="29" dur="500"/>
                                        <p:tgtEl>
                                          <p:spTgt spid="1447362386"/>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xit" presetSubtype="21" fill="hold" grpId="1" nodeType="clickEffect">
                                  <p:stCondLst>
                                    <p:cond delay="0"/>
                                  </p:stCondLst>
                                  <p:childTnLst>
                                    <p:animEffect transition="out" filter="barn(inVertical)">
                                      <p:cBhvr>
                                        <p:cTn id="33" dur="500"/>
                                        <p:tgtEl>
                                          <p:spTgt spid="1919485396"/>
                                        </p:tgtEl>
                                      </p:cBhvr>
                                    </p:animEffect>
                                    <p:set>
                                      <p:cBhvr>
                                        <p:cTn id="34" dur="1" fill="hold">
                                          <p:stCondLst>
                                            <p:cond delay="499"/>
                                          </p:stCondLst>
                                        </p:cTn>
                                        <p:tgtEl>
                                          <p:spTgt spid="1919485396"/>
                                        </p:tgtEl>
                                        <p:attrNameLst>
                                          <p:attrName>style.visibility</p:attrName>
                                        </p:attrNameLst>
                                      </p:cBhvr>
                                      <p:to>
                                        <p:strVal val="hidden"/>
                                      </p:to>
                                    </p:set>
                                  </p:childTnLst>
                                </p:cTn>
                              </p:par>
                              <p:par>
                                <p:cTn id="35" presetID="16" presetClass="exit" presetSubtype="21" fill="hold" grpId="1" nodeType="withEffect">
                                  <p:stCondLst>
                                    <p:cond delay="0"/>
                                  </p:stCondLst>
                                  <p:childTnLst>
                                    <p:animEffect transition="out" filter="barn(inVertical)">
                                      <p:cBhvr>
                                        <p:cTn id="36" dur="500"/>
                                        <p:tgtEl>
                                          <p:spTgt spid="367337956"/>
                                        </p:tgtEl>
                                      </p:cBhvr>
                                    </p:animEffect>
                                    <p:set>
                                      <p:cBhvr>
                                        <p:cTn id="37" dur="1" fill="hold">
                                          <p:stCondLst>
                                            <p:cond delay="499"/>
                                          </p:stCondLst>
                                        </p:cTn>
                                        <p:tgtEl>
                                          <p:spTgt spid="367337956"/>
                                        </p:tgtEl>
                                        <p:attrNameLst>
                                          <p:attrName>style.visibility</p:attrName>
                                        </p:attrNameLst>
                                      </p:cBhvr>
                                      <p:to>
                                        <p:strVal val="hidden"/>
                                      </p:to>
                                    </p:set>
                                  </p:childTnLst>
                                </p:cTn>
                              </p:par>
                              <p:par>
                                <p:cTn id="38" presetID="16" presetClass="exit" presetSubtype="21" fill="hold" grpId="1" nodeType="withEffect">
                                  <p:stCondLst>
                                    <p:cond delay="0"/>
                                  </p:stCondLst>
                                  <p:childTnLst>
                                    <p:animEffect transition="out" filter="barn(inVertical)">
                                      <p:cBhvr>
                                        <p:cTn id="39" dur="500"/>
                                        <p:tgtEl>
                                          <p:spTgt spid="809421397"/>
                                        </p:tgtEl>
                                      </p:cBhvr>
                                    </p:animEffect>
                                    <p:set>
                                      <p:cBhvr>
                                        <p:cTn id="40" dur="1" fill="hold">
                                          <p:stCondLst>
                                            <p:cond delay="499"/>
                                          </p:stCondLst>
                                        </p:cTn>
                                        <p:tgtEl>
                                          <p:spTgt spid="809421397"/>
                                        </p:tgtEl>
                                        <p:attrNameLst>
                                          <p:attrName>style.visibility</p:attrName>
                                        </p:attrNameLst>
                                      </p:cBhvr>
                                      <p:to>
                                        <p:strVal val="hidden"/>
                                      </p:to>
                                    </p:set>
                                  </p:childTnLst>
                                </p:cTn>
                              </p:par>
                              <p:par>
                                <p:cTn id="41" presetID="16" presetClass="exit" presetSubtype="21" fill="hold" grpId="1" nodeType="withEffect">
                                  <p:stCondLst>
                                    <p:cond delay="0"/>
                                  </p:stCondLst>
                                  <p:childTnLst>
                                    <p:animEffect transition="out" filter="barn(inVertical)">
                                      <p:cBhvr>
                                        <p:cTn id="42" dur="500"/>
                                        <p:tgtEl>
                                          <p:spTgt spid="1447362386"/>
                                        </p:tgtEl>
                                      </p:cBhvr>
                                    </p:animEffect>
                                    <p:set>
                                      <p:cBhvr>
                                        <p:cTn id="43" dur="1" fill="hold">
                                          <p:stCondLst>
                                            <p:cond delay="499"/>
                                          </p:stCondLst>
                                        </p:cTn>
                                        <p:tgtEl>
                                          <p:spTgt spid="14473623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802858" grpId="0" animBg="1"/>
      <p:bldP spid="325802858" grpId="1" animBg="1"/>
      <p:bldP spid="1447362386" grpId="0" animBg="1"/>
      <p:bldP spid="1447362386" grpId="1" animBg="1"/>
      <p:bldP spid="809421397" grpId="0" animBg="1"/>
      <p:bldP spid="809421397" grpId="1" animBg="1"/>
      <p:bldP spid="367337956" grpId="0" animBg="1"/>
      <p:bldP spid="367337956" grpId="1" animBg="1"/>
      <p:bldP spid="1919485396" grpId="0" animBg="1"/>
      <p:bldP spid="1919485396" grpId="1" animBg="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1039723" name="Title 1"/>
          <p:cNvSpPr>
            <a:spLocks noGrp="1"/>
          </p:cNvSpPr>
          <p:nvPr>
            <p:ph type="title"/>
          </p:nvPr>
        </p:nvSpPr>
        <p:spPr bwMode="auto"/>
        <p:txBody>
          <a:bodyPr/>
          <a:lstStyle/>
          <a:p>
            <a:pPr>
              <a:defRPr/>
            </a:pPr>
            <a:r>
              <a:rPr lang="en-US"/>
              <a:t>Hierarchical Administration</a:t>
            </a:r>
            <a:endParaRPr/>
          </a:p>
        </p:txBody>
      </p:sp>
      <p:sp>
        <p:nvSpPr>
          <p:cNvPr id="870500553" name="Slide Number Placeholder 2"/>
          <p:cNvSpPr>
            <a:spLocks noGrp="1"/>
          </p:cNvSpPr>
          <p:nvPr>
            <p:ph type="sldNum" sz="quarter" idx="12"/>
          </p:nvPr>
        </p:nvSpPr>
        <p:spPr bwMode="auto"/>
        <p:txBody>
          <a:bodyPr>
            <a:normAutofit/>
          </a:bodyPr>
          <a:lstStyle/>
          <a:p>
            <a:pPr>
              <a:defRPr/>
            </a:pPr>
            <a:fld id="{283B9EA5-CE9A-4950-A80C-5ADF06B45BB8}" type="slidenum">
              <a:rPr lang="en-US"/>
              <a:t>6</a:t>
            </a:fld>
            <a:endParaRPr lang="en-US"/>
          </a:p>
        </p:txBody>
      </p:sp>
      <p:sp>
        <p:nvSpPr>
          <p:cNvPr id="1115120547" name="Content Placeholder 3"/>
          <p:cNvSpPr>
            <a:spLocks noGrp="1"/>
          </p:cNvSpPr>
          <p:nvPr>
            <p:ph sz="quarter" idx="1"/>
          </p:nvPr>
        </p:nvSpPr>
        <p:spPr bwMode="auto">
          <a:xfrm>
            <a:off x="4582886" y="3200402"/>
            <a:ext cx="5932714" cy="3570514"/>
          </a:xfrm>
        </p:spPr>
        <p:txBody>
          <a:bodyPr>
            <a:normAutofit/>
          </a:bodyPr>
          <a:lstStyle/>
          <a:p>
            <a:pPr>
              <a:defRPr/>
            </a:pPr>
            <a:r>
              <a:rPr lang="en-US"/>
              <a:t>Tree is divided into zones</a:t>
            </a:r>
            <a:endParaRPr/>
          </a:p>
          <a:p>
            <a:pPr lvl="1">
              <a:defRPr/>
            </a:pPr>
            <a:r>
              <a:rPr lang="en-US"/>
              <a:t>Each zone has an administrator</a:t>
            </a:r>
            <a:endParaRPr/>
          </a:p>
          <a:p>
            <a:pPr lvl="1">
              <a:defRPr/>
            </a:pPr>
            <a:r>
              <a:rPr lang="en-US"/>
              <a:t>Responsible for the part of the </a:t>
            </a:r>
            <a:r>
              <a:rPr lang="en-US"/>
              <a:t>heirarchy</a:t>
            </a:r>
            <a:endParaRPr lang="en-US"/>
          </a:p>
          <a:p>
            <a:pPr>
              <a:defRPr/>
            </a:pPr>
            <a:r>
              <a:rPr lang="en-US"/>
              <a:t>Example:</a:t>
            </a:r>
            <a:endParaRPr/>
          </a:p>
          <a:p>
            <a:pPr lvl="1">
              <a:defRPr/>
            </a:pPr>
            <a:r>
              <a:rPr lang="en-US"/>
              <a:t>CCIS controls *.ccs.neu.edu</a:t>
            </a:r>
            <a:endParaRPr/>
          </a:p>
          <a:p>
            <a:pPr lvl="1">
              <a:defRPr/>
            </a:pPr>
            <a:r>
              <a:rPr lang="en-US"/>
              <a:t>NEU controls *.neu.edu</a:t>
            </a:r>
            <a:endParaRPr/>
          </a:p>
        </p:txBody>
      </p:sp>
      <p:sp>
        <p:nvSpPr>
          <p:cNvPr id="1218485470" name="TextBox 4"/>
          <p:cNvSpPr txBox="1"/>
          <p:nvPr/>
        </p:nvSpPr>
        <p:spPr bwMode="auto">
          <a:xfrm>
            <a:off x="5487868" y="1567933"/>
            <a:ext cx="835485" cy="461665"/>
          </a:xfrm>
          <a:prstGeom prst="rect">
            <a:avLst/>
          </a:prstGeom>
          <a:noFill/>
        </p:spPr>
        <p:txBody>
          <a:bodyPr wrap="none" rtlCol="0">
            <a:spAutoFit/>
          </a:bodyPr>
          <a:lstStyle/>
          <a:p>
            <a:pPr>
              <a:defRPr/>
            </a:pPr>
            <a:r>
              <a:rPr lang="en-US" sz="2400"/>
              <a:t>Root</a:t>
            </a:r>
            <a:endParaRPr/>
          </a:p>
        </p:txBody>
      </p:sp>
      <p:sp>
        <p:nvSpPr>
          <p:cNvPr id="1269545760" name="TextBox 5"/>
          <p:cNvSpPr txBox="1"/>
          <p:nvPr/>
        </p:nvSpPr>
        <p:spPr bwMode="auto">
          <a:xfrm>
            <a:off x="2733807" y="2606551"/>
            <a:ext cx="699230" cy="461665"/>
          </a:xfrm>
          <a:prstGeom prst="rect">
            <a:avLst/>
          </a:prstGeom>
          <a:noFill/>
        </p:spPr>
        <p:txBody>
          <a:bodyPr wrap="none" rtlCol="0">
            <a:spAutoFit/>
          </a:bodyPr>
          <a:lstStyle/>
          <a:p>
            <a:pPr>
              <a:defRPr/>
            </a:pPr>
            <a:r>
              <a:rPr lang="en-US" sz="2400"/>
              <a:t>edu</a:t>
            </a:r>
            <a:endParaRPr lang="en-US" sz="2400"/>
          </a:p>
        </p:txBody>
      </p:sp>
      <p:sp>
        <p:nvSpPr>
          <p:cNvPr id="1699967530" name="TextBox 6"/>
          <p:cNvSpPr txBox="1"/>
          <p:nvPr/>
        </p:nvSpPr>
        <p:spPr bwMode="auto">
          <a:xfrm>
            <a:off x="3802216" y="2606551"/>
            <a:ext cx="779381" cy="461665"/>
          </a:xfrm>
          <a:prstGeom prst="rect">
            <a:avLst/>
          </a:prstGeom>
          <a:noFill/>
        </p:spPr>
        <p:txBody>
          <a:bodyPr wrap="none" rtlCol="0">
            <a:spAutoFit/>
          </a:bodyPr>
          <a:lstStyle/>
          <a:p>
            <a:pPr>
              <a:defRPr/>
            </a:pPr>
            <a:r>
              <a:rPr lang="en-US" sz="2400"/>
              <a:t>com</a:t>
            </a:r>
            <a:endParaRPr/>
          </a:p>
        </p:txBody>
      </p:sp>
      <p:sp>
        <p:nvSpPr>
          <p:cNvPr id="1972651329" name="TextBox 7"/>
          <p:cNvSpPr txBox="1"/>
          <p:nvPr/>
        </p:nvSpPr>
        <p:spPr bwMode="auto">
          <a:xfrm>
            <a:off x="4937951" y="2606551"/>
            <a:ext cx="637867" cy="461665"/>
          </a:xfrm>
          <a:prstGeom prst="rect">
            <a:avLst/>
          </a:prstGeom>
          <a:noFill/>
        </p:spPr>
        <p:txBody>
          <a:bodyPr wrap="none" rtlCol="0">
            <a:spAutoFit/>
          </a:bodyPr>
          <a:lstStyle/>
          <a:p>
            <a:pPr>
              <a:defRPr/>
            </a:pPr>
            <a:r>
              <a:rPr lang="en-US" sz="2400"/>
              <a:t>gov</a:t>
            </a:r>
            <a:endParaRPr lang="en-US" sz="2400"/>
          </a:p>
        </p:txBody>
      </p:sp>
      <p:sp>
        <p:nvSpPr>
          <p:cNvPr id="1734081411" name="TextBox 8"/>
          <p:cNvSpPr txBox="1"/>
          <p:nvPr/>
        </p:nvSpPr>
        <p:spPr bwMode="auto">
          <a:xfrm>
            <a:off x="5988726" y="2606551"/>
            <a:ext cx="601447" cy="461665"/>
          </a:xfrm>
          <a:prstGeom prst="rect">
            <a:avLst/>
          </a:prstGeom>
          <a:noFill/>
        </p:spPr>
        <p:txBody>
          <a:bodyPr wrap="none" rtlCol="0">
            <a:spAutoFit/>
          </a:bodyPr>
          <a:lstStyle/>
          <a:p>
            <a:pPr>
              <a:defRPr/>
            </a:pPr>
            <a:r>
              <a:rPr lang="en-US" sz="2400"/>
              <a:t>mil</a:t>
            </a:r>
            <a:endParaRPr/>
          </a:p>
        </p:txBody>
      </p:sp>
      <p:sp>
        <p:nvSpPr>
          <p:cNvPr id="2058252471" name="TextBox 9"/>
          <p:cNvSpPr txBox="1"/>
          <p:nvPr/>
        </p:nvSpPr>
        <p:spPr bwMode="auto">
          <a:xfrm>
            <a:off x="6936908" y="2606551"/>
            <a:ext cx="600870" cy="461665"/>
          </a:xfrm>
          <a:prstGeom prst="rect">
            <a:avLst/>
          </a:prstGeom>
          <a:noFill/>
        </p:spPr>
        <p:txBody>
          <a:bodyPr wrap="none" rtlCol="0">
            <a:spAutoFit/>
          </a:bodyPr>
          <a:lstStyle/>
          <a:p>
            <a:pPr>
              <a:defRPr/>
            </a:pPr>
            <a:r>
              <a:rPr lang="en-US" sz="2400"/>
              <a:t>org</a:t>
            </a:r>
            <a:endParaRPr/>
          </a:p>
        </p:txBody>
      </p:sp>
      <p:sp>
        <p:nvSpPr>
          <p:cNvPr id="886883819" name="TextBox 10"/>
          <p:cNvSpPr txBox="1"/>
          <p:nvPr/>
        </p:nvSpPr>
        <p:spPr bwMode="auto">
          <a:xfrm>
            <a:off x="1820570" y="2606551"/>
            <a:ext cx="612668" cy="461665"/>
          </a:xfrm>
          <a:prstGeom prst="rect">
            <a:avLst/>
          </a:prstGeom>
          <a:noFill/>
        </p:spPr>
        <p:txBody>
          <a:bodyPr wrap="none" rtlCol="0">
            <a:spAutoFit/>
          </a:bodyPr>
          <a:lstStyle/>
          <a:p>
            <a:pPr>
              <a:defRPr/>
            </a:pPr>
            <a:r>
              <a:rPr lang="en-US" sz="2400"/>
              <a:t>net</a:t>
            </a:r>
            <a:endParaRPr/>
          </a:p>
        </p:txBody>
      </p:sp>
      <p:sp>
        <p:nvSpPr>
          <p:cNvPr id="1895096775" name="TextBox 11"/>
          <p:cNvSpPr txBox="1"/>
          <p:nvPr/>
        </p:nvSpPr>
        <p:spPr bwMode="auto">
          <a:xfrm>
            <a:off x="8025581" y="2606551"/>
            <a:ext cx="510076" cy="461665"/>
          </a:xfrm>
          <a:prstGeom prst="rect">
            <a:avLst/>
          </a:prstGeom>
          <a:noFill/>
        </p:spPr>
        <p:txBody>
          <a:bodyPr wrap="none" rtlCol="0">
            <a:spAutoFit/>
          </a:bodyPr>
          <a:lstStyle/>
          <a:p>
            <a:pPr>
              <a:defRPr/>
            </a:pPr>
            <a:r>
              <a:rPr lang="en-US" sz="2400"/>
              <a:t>uk</a:t>
            </a:r>
            <a:endParaRPr lang="en-US" sz="2400"/>
          </a:p>
        </p:txBody>
      </p:sp>
      <p:sp>
        <p:nvSpPr>
          <p:cNvPr id="810704606" name="TextBox 12"/>
          <p:cNvSpPr txBox="1"/>
          <p:nvPr/>
        </p:nvSpPr>
        <p:spPr bwMode="auto">
          <a:xfrm>
            <a:off x="8904835" y="2606551"/>
            <a:ext cx="380232" cy="461665"/>
          </a:xfrm>
          <a:prstGeom prst="rect">
            <a:avLst/>
          </a:prstGeom>
          <a:noFill/>
        </p:spPr>
        <p:txBody>
          <a:bodyPr wrap="none" rtlCol="0">
            <a:spAutoFit/>
          </a:bodyPr>
          <a:lstStyle/>
          <a:p>
            <a:pPr>
              <a:defRPr/>
            </a:pPr>
            <a:r>
              <a:rPr lang="en-US" sz="2400"/>
              <a:t>fr</a:t>
            </a:r>
            <a:endParaRPr lang="en-US" sz="2400"/>
          </a:p>
        </p:txBody>
      </p:sp>
      <p:sp>
        <p:nvSpPr>
          <p:cNvPr id="790681270" name="TextBox 13"/>
          <p:cNvSpPr txBox="1"/>
          <p:nvPr/>
        </p:nvSpPr>
        <p:spPr bwMode="auto">
          <a:xfrm>
            <a:off x="9646230" y="2606551"/>
            <a:ext cx="679994" cy="461665"/>
          </a:xfrm>
          <a:prstGeom prst="rect">
            <a:avLst/>
          </a:prstGeom>
          <a:noFill/>
        </p:spPr>
        <p:txBody>
          <a:bodyPr wrap="none" rtlCol="0">
            <a:spAutoFit/>
          </a:bodyPr>
          <a:lstStyle/>
          <a:p>
            <a:pPr>
              <a:defRPr/>
            </a:pPr>
            <a:r>
              <a:rPr lang="en-US" sz="2400"/>
              <a:t>etc.</a:t>
            </a:r>
            <a:endParaRPr/>
          </a:p>
        </p:txBody>
      </p:sp>
      <p:sp>
        <p:nvSpPr>
          <p:cNvPr id="1742524232" name="TextBox 14"/>
          <p:cNvSpPr txBox="1"/>
          <p:nvPr/>
        </p:nvSpPr>
        <p:spPr bwMode="auto">
          <a:xfrm>
            <a:off x="1819298" y="3586263"/>
            <a:ext cx="1045607" cy="369332"/>
          </a:xfrm>
          <a:prstGeom prst="rect">
            <a:avLst/>
          </a:prstGeom>
          <a:noFill/>
        </p:spPr>
        <p:txBody>
          <a:bodyPr wrap="square" rtlCol="0">
            <a:spAutoFit/>
          </a:bodyPr>
          <a:lstStyle/>
          <a:p>
            <a:pPr>
              <a:defRPr/>
            </a:pPr>
            <a:r>
              <a:rPr lang="en-US"/>
              <a:t>tntech</a:t>
            </a:r>
            <a:endParaRPr lang="en-US" sz="2400"/>
          </a:p>
        </p:txBody>
      </p:sp>
      <p:sp>
        <p:nvSpPr>
          <p:cNvPr id="1508717638" name="TextBox 15"/>
          <p:cNvSpPr txBox="1"/>
          <p:nvPr/>
        </p:nvSpPr>
        <p:spPr bwMode="auto">
          <a:xfrm>
            <a:off x="2976891" y="3586262"/>
            <a:ext cx="620683" cy="461665"/>
          </a:xfrm>
          <a:prstGeom prst="rect">
            <a:avLst/>
          </a:prstGeom>
          <a:noFill/>
        </p:spPr>
        <p:txBody>
          <a:bodyPr wrap="none" rtlCol="0">
            <a:spAutoFit/>
          </a:bodyPr>
          <a:lstStyle/>
          <a:p>
            <a:pPr>
              <a:defRPr/>
            </a:pPr>
            <a:r>
              <a:rPr lang="en-US" sz="2400"/>
              <a:t>mit</a:t>
            </a:r>
            <a:endParaRPr lang="en-US" sz="2400"/>
          </a:p>
        </p:txBody>
      </p:sp>
      <p:sp>
        <p:nvSpPr>
          <p:cNvPr id="1651095576" name="TextBox 16"/>
          <p:cNvSpPr txBox="1"/>
          <p:nvPr/>
        </p:nvSpPr>
        <p:spPr bwMode="auto">
          <a:xfrm>
            <a:off x="1642789" y="4707495"/>
            <a:ext cx="495649" cy="461665"/>
          </a:xfrm>
          <a:prstGeom prst="rect">
            <a:avLst/>
          </a:prstGeom>
          <a:noFill/>
        </p:spPr>
        <p:txBody>
          <a:bodyPr wrap="none" rtlCol="0">
            <a:spAutoFit/>
          </a:bodyPr>
          <a:lstStyle/>
          <a:p>
            <a:pPr>
              <a:defRPr/>
            </a:pPr>
            <a:r>
              <a:rPr lang="en-US" sz="2400"/>
              <a:t>cs</a:t>
            </a:r>
            <a:endParaRPr/>
          </a:p>
        </p:txBody>
      </p:sp>
      <p:sp>
        <p:nvSpPr>
          <p:cNvPr id="2008697169" name="TextBox 19"/>
          <p:cNvSpPr txBox="1"/>
          <p:nvPr/>
        </p:nvSpPr>
        <p:spPr bwMode="auto">
          <a:xfrm>
            <a:off x="1621820" y="5970246"/>
            <a:ext cx="853119" cy="461665"/>
          </a:xfrm>
          <a:prstGeom prst="rect">
            <a:avLst/>
          </a:prstGeom>
          <a:noFill/>
        </p:spPr>
        <p:txBody>
          <a:bodyPr wrap="none" rtlCol="0">
            <a:spAutoFit/>
          </a:bodyPr>
          <a:lstStyle/>
          <a:p>
            <a:pPr>
              <a:defRPr/>
            </a:pPr>
            <a:r>
              <a:rPr lang="en-US" sz="2400"/>
              <a:t>www</a:t>
            </a:r>
            <a:endParaRPr/>
          </a:p>
        </p:txBody>
      </p:sp>
      <p:sp>
        <p:nvSpPr>
          <p:cNvPr id="924652146" name="TextBox 20"/>
          <p:cNvSpPr txBox="1"/>
          <p:nvPr/>
        </p:nvSpPr>
        <p:spPr bwMode="auto">
          <a:xfrm>
            <a:off x="2659186" y="5970246"/>
            <a:ext cx="837089" cy="461665"/>
          </a:xfrm>
          <a:prstGeom prst="rect">
            <a:avLst/>
          </a:prstGeom>
          <a:noFill/>
        </p:spPr>
        <p:txBody>
          <a:bodyPr wrap="none" rtlCol="0">
            <a:spAutoFit/>
          </a:bodyPr>
          <a:lstStyle/>
          <a:p>
            <a:pPr>
              <a:defRPr/>
            </a:pPr>
            <a:r>
              <a:rPr lang="en-US" sz="2400"/>
              <a:t>login</a:t>
            </a:r>
            <a:endParaRPr/>
          </a:p>
        </p:txBody>
      </p:sp>
      <p:sp>
        <p:nvSpPr>
          <p:cNvPr id="1794282532" name="TextBox 21"/>
          <p:cNvSpPr txBox="1"/>
          <p:nvPr/>
        </p:nvSpPr>
        <p:spPr bwMode="auto">
          <a:xfrm>
            <a:off x="3794920" y="5970246"/>
            <a:ext cx="764953" cy="461665"/>
          </a:xfrm>
          <a:prstGeom prst="rect">
            <a:avLst/>
          </a:prstGeom>
          <a:noFill/>
        </p:spPr>
        <p:txBody>
          <a:bodyPr wrap="none" rtlCol="0">
            <a:spAutoFit/>
          </a:bodyPr>
          <a:lstStyle/>
          <a:p>
            <a:pPr>
              <a:defRPr/>
            </a:pPr>
            <a:r>
              <a:rPr lang="en-US" sz="2400"/>
              <a:t>mail</a:t>
            </a:r>
            <a:endParaRPr/>
          </a:p>
        </p:txBody>
      </p:sp>
      <p:cxnSp>
        <p:nvCxnSpPr>
          <p:cNvPr id="1158856021" name="Straight Connector 23"/>
          <p:cNvCxnSpPr>
            <a:stCxn id="1218485470" idx="2"/>
            <a:endCxn id="1269545760" idx="0"/>
          </p:cNvCxnSpPr>
          <p:nvPr/>
        </p:nvCxnSpPr>
        <p:spPr bwMode="auto">
          <a:xfrm flipH="1">
            <a:off x="3083422" y="2029598"/>
            <a:ext cx="2822188"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09913004" name="Straight Connector 26"/>
          <p:cNvCxnSpPr>
            <a:stCxn id="1218485470" idx="2"/>
            <a:endCxn id="1699967530" idx="0"/>
          </p:cNvCxnSpPr>
          <p:nvPr/>
        </p:nvCxnSpPr>
        <p:spPr bwMode="auto">
          <a:xfrm flipH="1">
            <a:off x="4191906" y="2029598"/>
            <a:ext cx="1713704"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77854649" name="Straight Connector 29"/>
          <p:cNvCxnSpPr>
            <a:stCxn id="1218485470" idx="2"/>
            <a:endCxn id="1972651329" idx="0"/>
          </p:cNvCxnSpPr>
          <p:nvPr/>
        </p:nvCxnSpPr>
        <p:spPr bwMode="auto">
          <a:xfrm flipH="1">
            <a:off x="5256884" y="2029598"/>
            <a:ext cx="648726"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84640975" name="Straight Connector 32"/>
          <p:cNvCxnSpPr>
            <a:stCxn id="1218485470" idx="2"/>
            <a:endCxn id="1734081411" idx="0"/>
          </p:cNvCxnSpPr>
          <p:nvPr/>
        </p:nvCxnSpPr>
        <p:spPr bwMode="auto">
          <a:xfrm>
            <a:off x="5905611" y="2029598"/>
            <a:ext cx="383839"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06745045" name="Straight Connector 35"/>
          <p:cNvCxnSpPr>
            <a:stCxn id="1218485470" idx="2"/>
            <a:endCxn id="2058252471" idx="0"/>
          </p:cNvCxnSpPr>
          <p:nvPr/>
        </p:nvCxnSpPr>
        <p:spPr bwMode="auto">
          <a:xfrm>
            <a:off x="5905611" y="2029598"/>
            <a:ext cx="1331733"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54566195" name="Straight Connector 38"/>
          <p:cNvCxnSpPr>
            <a:stCxn id="1218485470" idx="2"/>
            <a:endCxn id="886883819" idx="0"/>
          </p:cNvCxnSpPr>
          <p:nvPr/>
        </p:nvCxnSpPr>
        <p:spPr bwMode="auto">
          <a:xfrm flipH="1">
            <a:off x="2126904" y="2029598"/>
            <a:ext cx="3778706"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3122208" name="Straight Connector 41"/>
          <p:cNvCxnSpPr>
            <a:stCxn id="1218485470" idx="2"/>
            <a:endCxn id="1895096775" idx="0"/>
          </p:cNvCxnSpPr>
          <p:nvPr/>
        </p:nvCxnSpPr>
        <p:spPr bwMode="auto">
          <a:xfrm>
            <a:off x="5905611" y="2029598"/>
            <a:ext cx="2375009"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35653359" name="Straight Connector 44"/>
          <p:cNvCxnSpPr>
            <a:stCxn id="1218485470" idx="2"/>
            <a:endCxn id="810704606" idx="0"/>
          </p:cNvCxnSpPr>
          <p:nvPr/>
        </p:nvCxnSpPr>
        <p:spPr bwMode="auto">
          <a:xfrm>
            <a:off x="5905611" y="2029598"/>
            <a:ext cx="3189341"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42485695" name="Straight Connector 47"/>
          <p:cNvCxnSpPr>
            <a:stCxn id="1218485470" idx="2"/>
            <a:endCxn id="790681270" idx="0"/>
          </p:cNvCxnSpPr>
          <p:nvPr/>
        </p:nvCxnSpPr>
        <p:spPr bwMode="auto">
          <a:xfrm>
            <a:off x="5905611" y="2029598"/>
            <a:ext cx="4080617" cy="5769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67196519" name="Straight Connector 50"/>
          <p:cNvCxnSpPr>
            <a:stCxn id="1269545760" idx="2"/>
            <a:endCxn id="1742524232" idx="0"/>
          </p:cNvCxnSpPr>
          <p:nvPr/>
        </p:nvCxnSpPr>
        <p:spPr bwMode="auto">
          <a:xfrm flipH="1">
            <a:off x="2342102" y="3068216"/>
            <a:ext cx="741320" cy="51804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84024974" name="Straight Connector 53"/>
          <p:cNvCxnSpPr>
            <a:stCxn id="1269545760" idx="2"/>
            <a:endCxn id="1508717638" idx="0"/>
          </p:cNvCxnSpPr>
          <p:nvPr/>
        </p:nvCxnSpPr>
        <p:spPr bwMode="auto">
          <a:xfrm>
            <a:off x="3083422" y="3068215"/>
            <a:ext cx="203810" cy="5180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2081679" name="Straight Connector 56"/>
          <p:cNvCxnSpPr>
            <a:stCxn id="1742524232" idx="2"/>
            <a:endCxn id="1651095576" idx="0"/>
          </p:cNvCxnSpPr>
          <p:nvPr/>
        </p:nvCxnSpPr>
        <p:spPr bwMode="auto">
          <a:xfrm flipH="1">
            <a:off x="1890614" y="3955595"/>
            <a:ext cx="451488" cy="7519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93779716" name="Straight Connector 65"/>
          <p:cNvCxnSpPr>
            <a:stCxn id="1651095576" idx="2"/>
            <a:endCxn id="2008697169" idx="0"/>
          </p:cNvCxnSpPr>
          <p:nvPr/>
        </p:nvCxnSpPr>
        <p:spPr bwMode="auto">
          <a:xfrm>
            <a:off x="1890614" y="5169160"/>
            <a:ext cx="157765" cy="8010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81858372" name="Straight Connector 68"/>
          <p:cNvCxnSpPr>
            <a:stCxn id="1651095576" idx="2"/>
            <a:endCxn id="924652146" idx="0"/>
          </p:cNvCxnSpPr>
          <p:nvPr/>
        </p:nvCxnSpPr>
        <p:spPr bwMode="auto">
          <a:xfrm>
            <a:off x="1890614" y="5169160"/>
            <a:ext cx="1187117" cy="8010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58888019" name="Straight Connector 71"/>
          <p:cNvCxnSpPr>
            <a:stCxn id="1651095576" idx="2"/>
            <a:endCxn id="1794282532" idx="0"/>
          </p:cNvCxnSpPr>
          <p:nvPr/>
        </p:nvCxnSpPr>
        <p:spPr bwMode="auto">
          <a:xfrm>
            <a:off x="1890614" y="5169160"/>
            <a:ext cx="2286784" cy="80108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18238517" name="Rounded Rectangle 74"/>
          <p:cNvSpPr/>
          <p:nvPr/>
        </p:nvSpPr>
        <p:spPr bwMode="auto">
          <a:xfrm>
            <a:off x="5301343" y="1578819"/>
            <a:ext cx="1230085" cy="450778"/>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62081900" name="Rounded Rectangle 76"/>
          <p:cNvSpPr/>
          <p:nvPr/>
        </p:nvSpPr>
        <p:spPr bwMode="auto">
          <a:xfrm>
            <a:off x="1596996" y="4609791"/>
            <a:ext cx="2948450" cy="1910754"/>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61655980" name="Rounded Rectangle 77"/>
          <p:cNvSpPr/>
          <p:nvPr/>
        </p:nvSpPr>
        <p:spPr bwMode="auto">
          <a:xfrm>
            <a:off x="1807706" y="3488560"/>
            <a:ext cx="703010"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73992152" name="Rounded Rectangle 78"/>
          <p:cNvSpPr/>
          <p:nvPr/>
        </p:nvSpPr>
        <p:spPr bwMode="auto">
          <a:xfrm>
            <a:off x="2941336" y="3488560"/>
            <a:ext cx="703010"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48230169" name="Rounded Rectangle 46"/>
          <p:cNvSpPr/>
          <p:nvPr/>
        </p:nvSpPr>
        <p:spPr bwMode="auto">
          <a:xfrm>
            <a:off x="7929114" y="2508848"/>
            <a:ext cx="703010"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44818382" name="Rounded Rectangle 48"/>
          <p:cNvSpPr/>
          <p:nvPr/>
        </p:nvSpPr>
        <p:spPr bwMode="auto">
          <a:xfrm>
            <a:off x="8739439" y="2507021"/>
            <a:ext cx="703010"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43821585" name="Rounded Rectangle 52"/>
          <p:cNvSpPr/>
          <p:nvPr/>
        </p:nvSpPr>
        <p:spPr bwMode="auto">
          <a:xfrm>
            <a:off x="6900554" y="2505194"/>
            <a:ext cx="703010"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18654722" name="Rounded Rectangle 54"/>
          <p:cNvSpPr/>
          <p:nvPr/>
        </p:nvSpPr>
        <p:spPr bwMode="auto">
          <a:xfrm>
            <a:off x="5926723" y="2503367"/>
            <a:ext cx="703010"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48308564" name="Rounded Rectangle 55"/>
          <p:cNvSpPr/>
          <p:nvPr/>
        </p:nvSpPr>
        <p:spPr bwMode="auto">
          <a:xfrm>
            <a:off x="1807707" y="2508848"/>
            <a:ext cx="3822547" cy="657069"/>
          </a:xfrm>
          <a:prstGeom prst="roundRect">
            <a:avLst>
              <a:gd name="adj" fmla="val 16667"/>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50106302" name="Group 57" descr="Hierarchical Administration"/>
          <p:cNvGrpSpPr/>
          <p:nvPr/>
        </p:nvGrpSpPr>
        <p:grpSpPr bwMode="auto">
          <a:xfrm flipH="1">
            <a:off x="7055071" y="1578819"/>
            <a:ext cx="1480586" cy="570006"/>
            <a:chOff x="1219200" y="4876799"/>
            <a:chExt cx="5181605" cy="1384995"/>
          </a:xfrm>
        </p:grpSpPr>
        <p:sp>
          <p:nvSpPr>
            <p:cNvPr id="59" name="Rectangular Callout 58"/>
            <p:cNvSpPr/>
            <p:nvPr/>
          </p:nvSpPr>
          <p:spPr bwMode="auto">
            <a:xfrm>
              <a:off x="1219200" y="4876799"/>
              <a:ext cx="5181602" cy="1384995"/>
            </a:xfrm>
            <a:prstGeom prst="wedgeRectCallout">
              <a:avLst>
                <a:gd name="adj1" fmla="val 91902"/>
                <a:gd name="adj2" fmla="val -10671"/>
              </a:avLst>
            </a:prstGeom>
            <a:solidFill>
              <a:srgbClr val="DA1F28"/>
            </a:solidFill>
            <a:ln w="38100" cap="flat" cmpd="sng" algn="ctr">
              <a:solidFill>
                <a:srgbClr val="DA1F28">
                  <a:lumMod val="50000"/>
                </a:srgbClr>
              </a:solidFill>
              <a:prstDash val="solid"/>
            </a:ln>
            <a:effectLst/>
          </p:spPr>
          <p:txBody>
            <a:bodyPr rtlCol="0" anchor="ctr"/>
            <a:lstStyle/>
            <a:p>
              <a:pPr algn="ctr">
                <a:defRPr/>
              </a:pPr>
              <a:endParaRPr lang="en-US">
                <a:solidFill>
                  <a:sysClr val="window" lastClr="FFFFFF"/>
                </a:solidFill>
                <a:latin typeface="Tw Cen MT"/>
              </a:endParaRPr>
            </a:p>
          </p:txBody>
        </p:sp>
        <p:sp>
          <p:nvSpPr>
            <p:cNvPr id="61" name="TextBox 60"/>
            <p:cNvSpPr txBox="1"/>
            <p:nvPr/>
          </p:nvSpPr>
          <p:spPr bwMode="auto">
            <a:xfrm>
              <a:off x="1219203" y="4876799"/>
              <a:ext cx="5181602" cy="1271315"/>
            </a:xfrm>
            <a:prstGeom prst="rect">
              <a:avLst/>
            </a:prstGeom>
            <a:noFill/>
          </p:spPr>
          <p:txBody>
            <a:bodyPr wrap="square" rtlCol="0">
              <a:spAutoFit/>
            </a:bodyPr>
            <a:lstStyle/>
            <a:p>
              <a:pPr algn="ctr">
                <a:defRPr/>
              </a:pPr>
              <a:r>
                <a:rPr lang="en-US" sz="2800">
                  <a:solidFill>
                    <a:sysClr val="window" lastClr="FFFFFF"/>
                  </a:solidFill>
                </a:rPr>
                <a:t>ICANN</a:t>
              </a:r>
              <a:endParaRPr/>
            </a:p>
          </p:txBody>
        </p:sp>
      </p:grpSp>
      <p:grpSp>
        <p:nvGrpSpPr>
          <p:cNvPr id="1667983541" name="Group 61" descr="Hierarchical Administration"/>
          <p:cNvGrpSpPr/>
          <p:nvPr/>
        </p:nvGrpSpPr>
        <p:grpSpPr bwMode="auto">
          <a:xfrm flipH="1">
            <a:off x="2521843" y="1606400"/>
            <a:ext cx="1698173" cy="570006"/>
            <a:chOff x="1219200" y="4876799"/>
            <a:chExt cx="5181605" cy="1384995"/>
          </a:xfrm>
        </p:grpSpPr>
        <p:sp>
          <p:nvSpPr>
            <p:cNvPr id="64" name="Rectangular Callout 63"/>
            <p:cNvSpPr/>
            <p:nvPr/>
          </p:nvSpPr>
          <p:spPr bwMode="auto">
            <a:xfrm>
              <a:off x="1219200" y="4876799"/>
              <a:ext cx="5181602" cy="1384995"/>
            </a:xfrm>
            <a:prstGeom prst="wedgeRectCallout">
              <a:avLst>
                <a:gd name="adj1" fmla="val -34463"/>
                <a:gd name="adj2" fmla="val 124922"/>
              </a:avLst>
            </a:prstGeom>
            <a:solidFill>
              <a:srgbClr val="DA1F28"/>
            </a:solidFill>
            <a:ln w="38100" cap="flat" cmpd="sng" algn="ctr">
              <a:solidFill>
                <a:srgbClr val="DA1F28">
                  <a:lumMod val="50000"/>
                </a:srgbClr>
              </a:solidFill>
              <a:prstDash val="solid"/>
            </a:ln>
            <a:effectLst/>
          </p:spPr>
          <p:txBody>
            <a:bodyPr rtlCol="0" anchor="ctr"/>
            <a:lstStyle/>
            <a:p>
              <a:pPr algn="ctr">
                <a:defRPr/>
              </a:pPr>
              <a:endParaRPr lang="en-US">
                <a:solidFill>
                  <a:sysClr val="window" lastClr="FFFFFF"/>
                </a:solidFill>
                <a:latin typeface="Tw Cen MT"/>
              </a:endParaRPr>
            </a:p>
          </p:txBody>
        </p:sp>
        <p:sp>
          <p:nvSpPr>
            <p:cNvPr id="65" name="TextBox 64"/>
            <p:cNvSpPr txBox="1"/>
            <p:nvPr/>
          </p:nvSpPr>
          <p:spPr bwMode="auto">
            <a:xfrm>
              <a:off x="1219203" y="4876799"/>
              <a:ext cx="5181602" cy="1271315"/>
            </a:xfrm>
            <a:prstGeom prst="rect">
              <a:avLst/>
            </a:prstGeom>
            <a:noFill/>
          </p:spPr>
          <p:txBody>
            <a:bodyPr wrap="square" rtlCol="0">
              <a:spAutoFit/>
            </a:bodyPr>
            <a:lstStyle/>
            <a:p>
              <a:pPr algn="ctr">
                <a:defRPr/>
              </a:pPr>
              <a:r>
                <a:rPr lang="en-US" sz="2800">
                  <a:solidFill>
                    <a:sysClr val="window" lastClr="FFFFFF"/>
                  </a:solidFill>
                </a:rPr>
                <a:t>Verisign</a:t>
              </a:r>
              <a:endParaRPr lang="en-US" sz="2800">
                <a:solidFill>
                  <a:sysClr val="window" lastClr="FFFFFF"/>
                </a:solidFill>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0106302"/>
                                        </p:tgtEl>
                                        <p:attrNameLst>
                                          <p:attrName>style.visibility</p:attrName>
                                        </p:attrNameLst>
                                      </p:cBhvr>
                                      <p:to>
                                        <p:strVal val="visible"/>
                                      </p:to>
                                    </p:set>
                                    <p:animEffect transition="in" filter="fade">
                                      <p:cBhvr>
                                        <p:cTn id="7" dur="500"/>
                                        <p:tgtEl>
                                          <p:spTgt spid="150106302"/>
                                        </p:tgtEl>
                                      </p:cBhvr>
                                    </p:animEffect>
                                    <p:anim calcmode="lin" valueType="num">
                                      <p:cBhvr>
                                        <p:cTn id="8" dur="500" fill="hold"/>
                                        <p:tgtEl>
                                          <p:spTgt spid="150106302"/>
                                        </p:tgtEl>
                                        <p:attrNameLst>
                                          <p:attrName>ppt_x</p:attrName>
                                        </p:attrNameLst>
                                      </p:cBhvr>
                                      <p:tavLst>
                                        <p:tav tm="0">
                                          <p:val>
                                            <p:strVal val="#ppt_x"/>
                                          </p:val>
                                        </p:tav>
                                        <p:tav tm="100000">
                                          <p:val>
                                            <p:strVal val="#ppt_x"/>
                                          </p:val>
                                        </p:tav>
                                      </p:tavLst>
                                    </p:anim>
                                    <p:anim calcmode="lin" valueType="num">
                                      <p:cBhvr>
                                        <p:cTn id="9" dur="500" fill="hold"/>
                                        <p:tgtEl>
                                          <p:spTgt spid="15010630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67983541"/>
                                        </p:tgtEl>
                                        <p:attrNameLst>
                                          <p:attrName>style.visibility</p:attrName>
                                        </p:attrNameLst>
                                      </p:cBhvr>
                                      <p:to>
                                        <p:strVal val="visible"/>
                                      </p:to>
                                    </p:set>
                                    <p:animEffect transition="in" filter="fade">
                                      <p:cBhvr>
                                        <p:cTn id="14" dur="500"/>
                                        <p:tgtEl>
                                          <p:spTgt spid="1667983541"/>
                                        </p:tgtEl>
                                      </p:cBhvr>
                                    </p:animEffect>
                                    <p:anim calcmode="lin" valueType="num">
                                      <p:cBhvr>
                                        <p:cTn id="15" dur="500" fill="hold"/>
                                        <p:tgtEl>
                                          <p:spTgt spid="1667983541"/>
                                        </p:tgtEl>
                                        <p:attrNameLst>
                                          <p:attrName>ppt_x</p:attrName>
                                        </p:attrNameLst>
                                      </p:cBhvr>
                                      <p:tavLst>
                                        <p:tav tm="0">
                                          <p:val>
                                            <p:strVal val="#ppt_x"/>
                                          </p:val>
                                        </p:tav>
                                        <p:tav tm="100000">
                                          <p:val>
                                            <p:strVal val="#ppt_x"/>
                                          </p:val>
                                        </p:tav>
                                      </p:tavLst>
                                    </p:anim>
                                    <p:anim calcmode="lin" valueType="num">
                                      <p:cBhvr>
                                        <p:cTn id="16" dur="500" fill="hold"/>
                                        <p:tgtEl>
                                          <p:spTgt spid="16679835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2073609" name="Title 1"/>
          <p:cNvSpPr>
            <a:spLocks noGrp="1"/>
          </p:cNvSpPr>
          <p:nvPr>
            <p:ph type="title"/>
          </p:nvPr>
        </p:nvSpPr>
        <p:spPr bwMode="auto"/>
        <p:txBody>
          <a:bodyPr/>
          <a:lstStyle/>
          <a:p>
            <a:pPr>
              <a:defRPr/>
            </a:pPr>
            <a:r>
              <a:rPr lang="en-US"/>
              <a:t>Map of the Roots - 2006</a:t>
            </a:r>
            <a:endParaRPr/>
          </a:p>
        </p:txBody>
      </p:sp>
      <p:sp>
        <p:nvSpPr>
          <p:cNvPr id="1412910340" name="Slide Number Placeholder 2"/>
          <p:cNvSpPr>
            <a:spLocks noGrp="1"/>
          </p:cNvSpPr>
          <p:nvPr>
            <p:ph type="sldNum" sz="quarter" idx="12"/>
          </p:nvPr>
        </p:nvSpPr>
        <p:spPr bwMode="auto"/>
        <p:txBody>
          <a:bodyPr>
            <a:normAutofit/>
          </a:bodyPr>
          <a:lstStyle/>
          <a:p>
            <a:pPr>
              <a:defRPr/>
            </a:pPr>
            <a:fld id="{283B9EA5-CE9A-4950-A80C-5ADF06B45BB8}" type="slidenum">
              <a:rPr lang="en-US"/>
              <a:t>7</a:t>
            </a:fld>
            <a:endParaRPr lang="en-US"/>
          </a:p>
        </p:txBody>
      </p:sp>
      <p:pic>
        <p:nvPicPr>
          <p:cNvPr id="1368247965" name="Picture 2" descr="Map of roots"/>
          <p:cNvPicPr>
            <a:picLocks noChangeAspect="1" noChangeArrowheads="1"/>
          </p:cNvPicPr>
          <p:nvPr/>
        </p:nvPicPr>
        <p:blipFill rotWithShape="1">
          <a:blip r:embed="rId3"/>
          <a:stretch/>
        </p:blipFill>
        <p:spPr bwMode="auto">
          <a:xfrm>
            <a:off x="1524000" y="2065347"/>
            <a:ext cx="9144000" cy="3911419"/>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7604104" name="Title 1" descr="Map of the K Roots - 2017"/>
          <p:cNvSpPr>
            <a:spLocks noGrp="1"/>
          </p:cNvSpPr>
          <p:nvPr>
            <p:ph type="title"/>
          </p:nvPr>
        </p:nvSpPr>
        <p:spPr bwMode="auto"/>
        <p:txBody>
          <a:bodyPr/>
          <a:lstStyle/>
          <a:p>
            <a:pPr>
              <a:defRPr/>
            </a:pPr>
            <a:r>
              <a:rPr lang="en-US"/>
              <a:t>Map of the K Roots - 2017</a:t>
            </a:r>
            <a:endParaRPr/>
          </a:p>
        </p:txBody>
      </p:sp>
      <p:sp>
        <p:nvSpPr>
          <p:cNvPr id="369679963" name="Slide Number Placeholder 2"/>
          <p:cNvSpPr>
            <a:spLocks noGrp="1"/>
          </p:cNvSpPr>
          <p:nvPr>
            <p:ph type="sldNum" sz="quarter" idx="12"/>
          </p:nvPr>
        </p:nvSpPr>
        <p:spPr bwMode="auto"/>
        <p:txBody>
          <a:bodyPr>
            <a:normAutofit/>
          </a:bodyPr>
          <a:lstStyle/>
          <a:p>
            <a:pPr>
              <a:defRPr/>
            </a:pPr>
            <a:fld id="{283B9EA5-CE9A-4950-A80C-5ADF06B45BB8}" type="slidenum">
              <a:rPr lang="en-US"/>
              <a:t>8</a:t>
            </a:fld>
            <a:endParaRPr lang="en-US"/>
          </a:p>
        </p:txBody>
      </p:sp>
      <p:pic>
        <p:nvPicPr>
          <p:cNvPr id="1679870857" name="Picture 2" descr="Map of the K Roots - 2017"/>
          <p:cNvPicPr>
            <a:picLocks noChangeAspect="1" noChangeArrowheads="1"/>
          </p:cNvPicPr>
          <p:nvPr/>
        </p:nvPicPr>
        <p:blipFill rotWithShape="1">
          <a:blip r:embed="rId3"/>
          <a:stretch/>
        </p:blipFill>
        <p:spPr bwMode="auto">
          <a:xfrm>
            <a:off x="1605280" y="1690688"/>
            <a:ext cx="8128000" cy="42037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1113110" name="Title 1"/>
          <p:cNvSpPr>
            <a:spLocks noGrp="1"/>
          </p:cNvSpPr>
          <p:nvPr>
            <p:ph type="title"/>
          </p:nvPr>
        </p:nvSpPr>
        <p:spPr bwMode="auto"/>
        <p:txBody>
          <a:bodyPr/>
          <a:lstStyle/>
          <a:p>
            <a:pPr>
              <a:defRPr/>
            </a:pPr>
            <a:r>
              <a:rPr lang="en-US">
                <a:ea typeface="ＭＳ Ｐゴシック"/>
              </a:rPr>
              <a:t>DNS Resolving</a:t>
            </a:r>
            <a:endParaRPr/>
          </a:p>
        </p:txBody>
      </p:sp>
      <p:sp>
        <p:nvSpPr>
          <p:cNvPr id="528202807" name="Content Placeholder 2"/>
          <p:cNvSpPr>
            <a:spLocks noGrp="1"/>
          </p:cNvSpPr>
          <p:nvPr>
            <p:ph idx="1"/>
          </p:nvPr>
        </p:nvSpPr>
        <p:spPr bwMode="auto"/>
        <p:txBody>
          <a:bodyPr/>
          <a:lstStyle/>
          <a:p>
            <a:pPr>
              <a:defRPr/>
            </a:pPr>
            <a:r>
              <a:rPr lang="en-US">
                <a:ea typeface="ＭＳ Ｐゴシック"/>
              </a:rPr>
              <a:t>When host makes DNS query, query is sent to its local DNS server.</a:t>
            </a:r>
            <a:endParaRPr/>
          </a:p>
          <a:p>
            <a:pPr lvl="1">
              <a:defRPr/>
            </a:pPr>
            <a:r>
              <a:rPr lang="en-US">
                <a:ea typeface="ＭＳ Ｐゴシック"/>
              </a:rPr>
              <a:t>acts as proxy, forwards query into hierarchy.</a:t>
            </a:r>
            <a:endParaRPr/>
          </a:p>
          <a:p>
            <a:pPr lvl="1">
              <a:defRPr/>
            </a:pPr>
            <a:endParaRPr lang="en-US">
              <a:ea typeface="ＭＳ Ｐゴシック"/>
            </a:endParaRPr>
          </a:p>
          <a:p>
            <a:pPr>
              <a:defRPr/>
            </a:pPr>
            <a:r>
              <a:rPr lang="en-US">
                <a:ea typeface="ＭＳ Ｐゴシック"/>
              </a:rPr>
              <a:t>Two resolving schemes:</a:t>
            </a:r>
            <a:endParaRPr/>
          </a:p>
          <a:p>
            <a:pPr lvl="1">
              <a:defRPr/>
            </a:pPr>
            <a:r>
              <a:rPr lang="en-US">
                <a:ea typeface="ＭＳ Ｐゴシック"/>
              </a:rPr>
              <a:t>Iterative, and</a:t>
            </a:r>
            <a:endParaRPr/>
          </a:p>
          <a:p>
            <a:pPr lvl="1">
              <a:defRPr/>
            </a:pPr>
            <a:r>
              <a:rPr lang="en-US">
                <a:ea typeface="ＭＳ Ｐゴシック"/>
              </a:rPr>
              <a:t>Recursive.</a:t>
            </a:r>
            <a:endParaRPr/>
          </a:p>
          <a:p>
            <a:pPr lvl="1">
              <a:defRPr/>
            </a:pPr>
            <a:endParaRPr lang="en-US">
              <a:ea typeface="ＭＳ Ｐゴシック"/>
            </a:endParaRPr>
          </a:p>
          <a:p>
            <a:pPr>
              <a:defRPr/>
            </a:pPr>
            <a:endParaRPr lang="en-US">
              <a:ea typeface="ＭＳ Ｐゴシック"/>
            </a:endParaRPr>
          </a:p>
        </p:txBody>
      </p:sp>
      <p:sp>
        <p:nvSpPr>
          <p:cNvPr id="529100244" name="Slide Number Placeholder 5"/>
          <p:cNvSpPr>
            <a:spLocks noGrp="1"/>
          </p:cNvSpPr>
          <p:nvPr>
            <p:ph type="sldNum" sz="quarter" idx="12"/>
          </p:nvPr>
        </p:nvSpPr>
        <p:spPr bwMode="auto"/>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184984C5-47C1-EC42-9743-AC7BC52465BE}" type="slidenum">
              <a:rPr lang="en-US" sz="1400">
                <a:solidFill>
                  <a:srgbClr val="254C9C"/>
                </a:solidFill>
                <a:latin typeface="Arial"/>
              </a:rPr>
              <a:t>9</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7241688" name="Title 1"/>
          <p:cNvSpPr>
            <a:spLocks noGrp="1"/>
          </p:cNvSpPr>
          <p:nvPr>
            <p:ph type="title"/>
          </p:nvPr>
        </p:nvSpPr>
        <p:spPr bwMode="auto"/>
        <p:txBody>
          <a:bodyPr/>
          <a:lstStyle/>
          <a:p>
            <a:pPr>
              <a:defRPr/>
            </a:pPr>
            <a:r>
              <a:rPr lang="en-US">
                <a:ea typeface="ＭＳ Ｐゴシック"/>
              </a:rPr>
              <a:t>DNS Resolving - 2</a:t>
            </a:r>
            <a:endParaRPr/>
          </a:p>
        </p:txBody>
      </p:sp>
      <p:pic>
        <p:nvPicPr>
          <p:cNvPr id="1880194329" name="Content Placeholder 8" descr="DNS Reolver - iterative"/>
          <p:cNvPicPr>
            <a:picLocks noChangeAspect="1" noGrp="1"/>
          </p:cNvPicPr>
          <p:nvPr>
            <p:ph sz="half" idx="1"/>
          </p:nvPr>
        </p:nvPicPr>
        <p:blipFill rotWithShape="1">
          <a:blip r:embed="rId3"/>
          <a:srcRect l="0" t="4942" r="0" b="4942"/>
          <a:stretch/>
        </p:blipFill>
        <p:spPr bwMode="auto"/>
      </p:pic>
      <p:pic>
        <p:nvPicPr>
          <p:cNvPr id="413659775" name="Content Placeholder 9" descr="DNS Resolver - recursive"/>
          <p:cNvPicPr>
            <a:picLocks noChangeAspect="1" noGrp="1"/>
          </p:cNvPicPr>
          <p:nvPr>
            <p:ph sz="half" idx="2"/>
          </p:nvPr>
        </p:nvPicPr>
        <p:blipFill rotWithShape="1">
          <a:blip r:embed="rId4"/>
          <a:srcRect l="2632" t="0" r="2632" b="0"/>
          <a:stretch/>
        </p:blipFill>
        <p:spPr bwMode="auto"/>
      </p:pic>
      <p:sp>
        <p:nvSpPr>
          <p:cNvPr id="1433083063" name="Slide Number Placeholder 5"/>
          <p:cNvSpPr>
            <a:spLocks noGrp="1"/>
          </p:cNvSpPr>
          <p:nvPr>
            <p:ph type="sldNum" sz="quarter" idx="12"/>
          </p:nvPr>
        </p:nvSpPr>
        <p:spPr bwMode="auto"/>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4B1796FC-8C9D-594A-B5D6-CB054B98DFF1}" type="slidenum">
              <a:rPr lang="en-US" sz="1400">
                <a:solidFill>
                  <a:srgbClr val="254C9C"/>
                </a:solidFill>
                <a:latin typeface="Arial"/>
              </a:rPr>
              <a:t>10</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95188686" name="Title 1"/>
          <p:cNvSpPr>
            <a:spLocks noGrp="1"/>
          </p:cNvSpPr>
          <p:nvPr>
            <p:ph type="title"/>
          </p:nvPr>
        </p:nvSpPr>
        <p:spPr bwMode="auto"/>
        <p:txBody>
          <a:bodyPr/>
          <a:lstStyle/>
          <a:p>
            <a:pPr>
              <a:defRPr/>
            </a:pPr>
            <a:r>
              <a:rPr lang="en-US"/>
              <a:t>DNS is Distributed</a:t>
            </a:r>
            <a:endParaRPr/>
          </a:p>
        </p:txBody>
      </p:sp>
      <p:sp>
        <p:nvSpPr>
          <p:cNvPr id="328332963" name="Content Placeholder 2"/>
          <p:cNvSpPr>
            <a:spLocks noGrp="1"/>
          </p:cNvSpPr>
          <p:nvPr>
            <p:ph idx="1"/>
          </p:nvPr>
        </p:nvSpPr>
        <p:spPr bwMode="auto"/>
        <p:txBody>
          <a:bodyPr>
            <a:noAutofit/>
          </a:bodyPr>
          <a:lstStyle/>
          <a:p>
            <a:pPr>
              <a:defRPr/>
            </a:pPr>
            <a:r>
              <a:rPr lang="en-US" sz="2400"/>
              <a:t>Three possible answers to any question</a:t>
            </a:r>
            <a:endParaRPr/>
          </a:p>
          <a:p>
            <a:pPr lvl="1">
              <a:defRPr/>
            </a:pPr>
            <a:r>
              <a:rPr lang="en-US" sz="2000"/>
              <a:t>Here’s your number</a:t>
            </a:r>
            <a:endParaRPr/>
          </a:p>
          <a:p>
            <a:pPr lvl="1">
              <a:defRPr/>
            </a:pPr>
            <a:r>
              <a:rPr lang="en-US" sz="2400"/>
              <a:t>Go away</a:t>
            </a:r>
            <a:endParaRPr/>
          </a:p>
          <a:p>
            <a:pPr lvl="1">
              <a:defRPr/>
            </a:pPr>
            <a:r>
              <a:rPr lang="en-US" sz="2400"/>
              <a:t>I don’t know, ask that guy over there &lt;- </a:t>
            </a:r>
            <a:r>
              <a:rPr lang="en-US" sz="2400">
                <a:solidFill>
                  <a:srgbClr val="FF0000"/>
                </a:solidFill>
              </a:rPr>
              <a:t>Delegate</a:t>
            </a:r>
            <a:br>
              <a:rPr lang="en-US" sz="2400"/>
            </a:br>
            <a:endParaRPr lang="en-US" sz="2400"/>
          </a:p>
          <a:p>
            <a:pPr>
              <a:defRPr/>
            </a:pPr>
            <a:r>
              <a:rPr lang="en-US" sz="2400"/>
              <a:t>Go ask the other guy a lot of work!</a:t>
            </a:r>
            <a:br>
              <a:rPr lang="en-US" sz="2400"/>
            </a:br>
            <a:endParaRPr lang="en-US" sz="2400"/>
          </a:p>
          <a:p>
            <a:pPr>
              <a:defRPr/>
            </a:pPr>
            <a:r>
              <a:rPr lang="en-US" sz="2400"/>
              <a:t>Infrastructure divided into Servers (that run around) and Clients, or Stub Resolvers, that either do or don’t get an answer</a:t>
            </a:r>
            <a:endParaRPr/>
          </a:p>
          <a:p>
            <a:pPr lvl="1">
              <a:defRPr/>
            </a:pPr>
            <a:r>
              <a:rPr lang="en-US" sz="2000"/>
              <a:t>BIND = Name Server</a:t>
            </a:r>
            <a:endParaRPr/>
          </a:p>
          <a:p>
            <a:pPr lvl="1">
              <a:defRPr/>
            </a:pPr>
            <a:r>
              <a:rPr lang="en-US" sz="2000"/>
              <a:t>Your Laptop = Stub Resolver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6526816" name="Slide Number Placeholder 5"/>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DC87D208-2467-6C41-A317-79E3F34B731B}" type="slidenum">
              <a:rPr lang="en-US" sz="1400">
                <a:solidFill>
                  <a:srgbClr val="254C9C"/>
                </a:solidFill>
                <a:latin typeface="Arial"/>
              </a:rPr>
              <a:t>12</a:t>
            </a:fld>
            <a:endParaRPr lang="en-US" sz="1400">
              <a:latin typeface="Arial"/>
            </a:endParaRPr>
          </a:p>
        </p:txBody>
      </p:sp>
      <p:sp>
        <p:nvSpPr>
          <p:cNvPr id="706315174" name="Rectangle 2"/>
          <p:cNvSpPr>
            <a:spLocks noChangeArrowheads="1" noGrp="1"/>
          </p:cNvSpPr>
          <p:nvPr>
            <p:ph type="title"/>
          </p:nvPr>
        </p:nvSpPr>
        <p:spPr bwMode="auto"/>
        <p:txBody>
          <a:bodyPr/>
          <a:lstStyle/>
          <a:p>
            <a:pPr>
              <a:defRPr/>
            </a:pPr>
            <a:r>
              <a:rPr lang="en-US">
                <a:ea typeface="ＭＳ Ｐゴシック"/>
              </a:rPr>
              <a:t>Caching</a:t>
            </a:r>
            <a:endParaRPr/>
          </a:p>
        </p:txBody>
      </p:sp>
      <p:sp>
        <p:nvSpPr>
          <p:cNvPr id="950229963" name="Rectangle 3"/>
          <p:cNvSpPr>
            <a:spLocks noChangeArrowheads="1" noGrp="1"/>
          </p:cNvSpPr>
          <p:nvPr>
            <p:ph type="body" idx="1"/>
          </p:nvPr>
        </p:nvSpPr>
        <p:spPr bwMode="auto">
          <a:xfrm>
            <a:off x="2209800" y="1600200"/>
            <a:ext cx="8001000" cy="4648200"/>
          </a:xfrm>
        </p:spPr>
        <p:txBody>
          <a:bodyPr/>
          <a:lstStyle/>
          <a:p>
            <a:pPr>
              <a:defRPr/>
            </a:pPr>
            <a:r>
              <a:rPr lang="en-US">
                <a:ea typeface="ＭＳ Ｐゴシック"/>
              </a:rPr>
              <a:t>DNS responses are cached </a:t>
            </a:r>
            <a:endParaRPr/>
          </a:p>
          <a:p>
            <a:pPr lvl="1">
              <a:defRPr/>
            </a:pPr>
            <a:r>
              <a:rPr lang="en-US">
                <a:ea typeface="ＭＳ Ｐゴシック"/>
              </a:rPr>
              <a:t>Quick response for repeated translations</a:t>
            </a:r>
            <a:endParaRPr/>
          </a:p>
          <a:p>
            <a:pPr>
              <a:defRPr/>
            </a:pPr>
            <a:endParaRPr lang="en-US">
              <a:ea typeface="ＭＳ Ｐゴシック"/>
            </a:endParaRPr>
          </a:p>
          <a:p>
            <a:pPr>
              <a:defRPr/>
            </a:pPr>
            <a:r>
              <a:rPr lang="en-US">
                <a:ea typeface="ＭＳ Ｐゴシック"/>
              </a:rPr>
              <a:t>Negative results are also cached</a:t>
            </a:r>
            <a:endParaRPr/>
          </a:p>
          <a:p>
            <a:pPr lvl="1">
              <a:defRPr/>
            </a:pPr>
            <a:r>
              <a:rPr lang="en-US">
                <a:ea typeface="ＭＳ Ｐゴシック"/>
              </a:rPr>
              <a:t>Save time for nonexistent sites, e.g. misspelling</a:t>
            </a:r>
            <a:endParaRPr/>
          </a:p>
          <a:p>
            <a:pPr>
              <a:defRPr/>
            </a:pPr>
            <a:endParaRPr lang="en-US">
              <a:ea typeface="ＭＳ Ｐゴシック"/>
            </a:endParaRPr>
          </a:p>
          <a:p>
            <a:pPr>
              <a:defRPr/>
            </a:pPr>
            <a:r>
              <a:rPr lang="en-US">
                <a:ea typeface="ＭＳ Ｐゴシック"/>
              </a:rPr>
              <a:t>Cached data periodically times out</a:t>
            </a:r>
            <a:endParaRPr/>
          </a:p>
          <a:p>
            <a:pPr lvl="1">
              <a:defRPr/>
            </a:pPr>
            <a:r>
              <a:rPr lang="en-US">
                <a:ea typeface="ＭＳ Ｐゴシック"/>
              </a:rPr>
              <a:t>Each record has a TTL field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626798" name="Title 1"/>
          <p:cNvSpPr>
            <a:spLocks noGrp="1"/>
          </p:cNvSpPr>
          <p:nvPr>
            <p:ph type="title"/>
          </p:nvPr>
        </p:nvSpPr>
        <p:spPr bwMode="auto"/>
        <p:txBody>
          <a:bodyPr/>
          <a:lstStyle/>
          <a:p>
            <a:pPr>
              <a:defRPr/>
            </a:pPr>
            <a:r>
              <a:rPr lang="en-US">
                <a:ea typeface="ＭＳ Ｐゴシック"/>
              </a:rPr>
              <a:t>Caching - 2</a:t>
            </a:r>
            <a:endParaRPr/>
          </a:p>
        </p:txBody>
      </p:sp>
      <p:pic>
        <p:nvPicPr>
          <p:cNvPr id="888010703" name="Content Placeholder 7" descr="Caching"/>
          <p:cNvPicPr>
            <a:picLocks noChangeAspect="1" noGrp="1"/>
          </p:cNvPicPr>
          <p:nvPr>
            <p:ph idx="1"/>
          </p:nvPr>
        </p:nvPicPr>
        <p:blipFill rotWithShape="1">
          <a:blip r:embed="rId3"/>
          <a:srcRect l="0" t="-12004" r="0" b="-12004"/>
          <a:stretch/>
        </p:blipFill>
        <p:spPr bwMode="auto"/>
      </p:pic>
      <p:sp>
        <p:nvSpPr>
          <p:cNvPr id="1094412565" name="Slide Number Placeholder 5"/>
          <p:cNvSpPr>
            <a:spLocks noGrp="1"/>
          </p:cNvSpPr>
          <p:nvPr>
            <p:ph type="sldNum" sz="quarter" idx="12"/>
          </p:nvPr>
        </p:nvSpPr>
        <p:spPr bwMode="auto"/>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75A17BF8-6BCC-FD4A-BC19-E551A17343C7}" type="slidenum">
              <a:rPr lang="en-US" sz="1400">
                <a:solidFill>
                  <a:srgbClr val="254C9C"/>
                </a:solidFill>
                <a:latin typeface="Arial"/>
              </a:rPr>
              <a:t>13</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0866819" name="Slide Number Placeholder 5"/>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3F9D9C82-16D3-8945-B2B8-C5BA8B52FEA4}" type="slidenum">
              <a:rPr lang="en-US" sz="1400">
                <a:solidFill>
                  <a:srgbClr val="254C9C"/>
                </a:solidFill>
                <a:latin typeface="Arial"/>
              </a:rPr>
              <a:t>14</a:t>
            </a:fld>
            <a:endParaRPr lang="en-US" sz="1400">
              <a:latin typeface="Arial"/>
            </a:endParaRPr>
          </a:p>
        </p:txBody>
      </p:sp>
      <p:sp>
        <p:nvSpPr>
          <p:cNvPr id="1033387639" name="Rectangle 2"/>
          <p:cNvSpPr>
            <a:spLocks noChangeArrowheads="1" noGrp="1"/>
          </p:cNvSpPr>
          <p:nvPr>
            <p:ph type="title"/>
          </p:nvPr>
        </p:nvSpPr>
        <p:spPr bwMode="auto"/>
        <p:txBody>
          <a:bodyPr/>
          <a:lstStyle/>
          <a:p>
            <a:pPr>
              <a:defRPr/>
            </a:pPr>
            <a:r>
              <a:rPr lang="en-US">
                <a:ea typeface="ＭＳ Ｐゴシック"/>
              </a:rPr>
              <a:t>Inherent DNS Vulnerabilities</a:t>
            </a:r>
            <a:endParaRPr/>
          </a:p>
        </p:txBody>
      </p:sp>
      <p:sp>
        <p:nvSpPr>
          <p:cNvPr id="103539169" name="Rectangle 3"/>
          <p:cNvSpPr>
            <a:spLocks noChangeArrowheads="1" noGrp="1"/>
          </p:cNvSpPr>
          <p:nvPr>
            <p:ph type="body" idx="1"/>
          </p:nvPr>
        </p:nvSpPr>
        <p:spPr bwMode="auto">
          <a:xfrm>
            <a:off x="489155" y="1690688"/>
            <a:ext cx="8382000" cy="4648200"/>
          </a:xfrm>
        </p:spPr>
        <p:txBody>
          <a:bodyPr/>
          <a:lstStyle/>
          <a:p>
            <a:pPr>
              <a:lnSpc>
                <a:spcPct val="90000"/>
              </a:lnSpc>
              <a:defRPr/>
            </a:pPr>
            <a:r>
              <a:rPr lang="en-US">
                <a:ea typeface="ＭＳ Ｐゴシック"/>
              </a:rPr>
              <a:t>Users/hosts typically trust the host-address mapping provided by DNS</a:t>
            </a:r>
            <a:endParaRPr/>
          </a:p>
          <a:p>
            <a:pPr lvl="1">
              <a:lnSpc>
                <a:spcPct val="90000"/>
              </a:lnSpc>
              <a:defRPr/>
            </a:pPr>
            <a:r>
              <a:rPr lang="en-US">
                <a:solidFill>
                  <a:srgbClr val="FF0000"/>
                </a:solidFill>
                <a:ea typeface="ＭＳ Ｐゴシック"/>
              </a:rPr>
              <a:t>What bad things can happen with wrong DNS info?</a:t>
            </a:r>
            <a:endParaRPr/>
          </a:p>
          <a:p>
            <a:pPr>
              <a:lnSpc>
                <a:spcPct val="90000"/>
              </a:lnSpc>
              <a:defRPr/>
            </a:pPr>
            <a:endParaRPr lang="en-US">
              <a:ea typeface="ＭＳ Ｐゴシック"/>
            </a:endParaRPr>
          </a:p>
          <a:p>
            <a:pPr>
              <a:lnSpc>
                <a:spcPct val="90000"/>
              </a:lnSpc>
              <a:defRPr/>
            </a:pPr>
            <a:r>
              <a:rPr lang="en-US">
                <a:ea typeface="ＭＳ Ｐゴシック"/>
              </a:rPr>
              <a:t>DNS resolvers trust responses received after sending out queries.</a:t>
            </a:r>
            <a:endParaRPr/>
          </a:p>
          <a:p>
            <a:pPr lvl="1">
              <a:lnSpc>
                <a:spcPct val="90000"/>
              </a:lnSpc>
              <a:defRPr/>
            </a:pPr>
            <a:r>
              <a:rPr lang="en-US">
                <a:solidFill>
                  <a:srgbClr val="FF0000"/>
                </a:solidFill>
                <a:ea typeface="ＭＳ Ｐゴシック"/>
              </a:rPr>
              <a:t>How to attack?</a:t>
            </a:r>
            <a:endParaRPr/>
          </a:p>
          <a:p>
            <a:pPr>
              <a:lnSpc>
                <a:spcPct val="90000"/>
              </a:lnSpc>
              <a:defRPr/>
            </a:pPr>
            <a:endParaRPr lang="en-US">
              <a:ea typeface="ＭＳ Ｐゴシック"/>
            </a:endParaRPr>
          </a:p>
          <a:p>
            <a:pPr>
              <a:lnSpc>
                <a:spcPct val="90000"/>
              </a:lnSpc>
              <a:defRPr/>
            </a:pPr>
            <a:r>
              <a:rPr lang="en-US">
                <a:ea typeface="ＭＳ Ｐゴシック"/>
              </a:rPr>
              <a:t>Obvious problem</a:t>
            </a:r>
            <a:endParaRPr/>
          </a:p>
          <a:p>
            <a:pPr lvl="1">
              <a:lnSpc>
                <a:spcPct val="90000"/>
              </a:lnSpc>
              <a:defRPr/>
            </a:pPr>
            <a:r>
              <a:rPr lang="en-US">
                <a:ea typeface="ＭＳ Ｐゴシック"/>
              </a:rPr>
              <a:t>No authentication for DNS responses</a:t>
            </a:r>
            <a:endParaRPr/>
          </a:p>
        </p:txBody>
      </p:sp>
      <p:pic>
        <p:nvPicPr>
          <p:cNvPr id="1454304291" name="Content Placeholder 7" descr="Caching"/>
          <p:cNvPicPr>
            <a:picLocks noChangeAspect="1"/>
          </p:cNvPicPr>
          <p:nvPr/>
        </p:nvPicPr>
        <p:blipFill rotWithShape="1">
          <a:blip r:embed="rId3"/>
          <a:srcRect l="0" t="-12004" r="0" b="-12004"/>
          <a:stretch/>
        </p:blipFill>
        <p:spPr bwMode="auto">
          <a:xfrm>
            <a:off x="4852008" y="3406877"/>
            <a:ext cx="6850837" cy="283486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1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4061837" name="Title 1"/>
          <p:cNvSpPr>
            <a:spLocks noGrp="1"/>
          </p:cNvSpPr>
          <p:nvPr>
            <p:ph type="title"/>
          </p:nvPr>
        </p:nvSpPr>
        <p:spPr bwMode="auto"/>
        <p:txBody>
          <a:bodyPr/>
          <a:lstStyle/>
          <a:p>
            <a:pPr>
              <a:defRPr/>
            </a:pPr>
            <a:r>
              <a:rPr lang="en-US"/>
              <a:t>Bad Guys and the guessing game</a:t>
            </a:r>
            <a:endParaRPr/>
          </a:p>
        </p:txBody>
      </p:sp>
      <p:sp>
        <p:nvSpPr>
          <p:cNvPr id="697441241" name="Content Placeholder 2"/>
          <p:cNvSpPr>
            <a:spLocks noGrp="1"/>
          </p:cNvSpPr>
          <p:nvPr>
            <p:ph idx="1"/>
          </p:nvPr>
        </p:nvSpPr>
        <p:spPr bwMode="auto"/>
        <p:txBody>
          <a:bodyPr>
            <a:normAutofit fontScale="92500" lnSpcReduction="20000"/>
          </a:bodyPr>
          <a:lstStyle/>
          <a:p>
            <a:pPr>
              <a:defRPr/>
            </a:pPr>
            <a:r>
              <a:rPr lang="en-US"/>
              <a:t>You are converting names to numbers. As a bad guy, don’t you want to return number quickly?</a:t>
            </a:r>
            <a:endParaRPr/>
          </a:p>
          <a:p>
            <a:pPr lvl="1">
              <a:defRPr/>
            </a:pPr>
            <a:r>
              <a:rPr lang="en-US"/>
              <a:t>Yes!</a:t>
            </a:r>
            <a:endParaRPr/>
          </a:p>
          <a:p>
            <a:pPr>
              <a:defRPr/>
            </a:pPr>
            <a:r>
              <a:rPr lang="en-US"/>
              <a:t>What prevents this?</a:t>
            </a:r>
            <a:endParaRPr/>
          </a:p>
          <a:p>
            <a:pPr lvl="1">
              <a:defRPr/>
            </a:pPr>
            <a:r>
              <a:rPr lang="en-US"/>
              <a:t>Transaction ID – 23654 (16 bit number)</a:t>
            </a:r>
            <a:endParaRPr/>
          </a:p>
          <a:p>
            <a:pPr lvl="1">
              <a:defRPr/>
            </a:pPr>
            <a:r>
              <a:rPr lang="en-US"/>
              <a:t>Include this in your request</a:t>
            </a:r>
            <a:endParaRPr/>
          </a:p>
          <a:p>
            <a:pPr lvl="1">
              <a:defRPr/>
            </a:pPr>
            <a:r>
              <a:rPr lang="en-US"/>
              <a:t>Bad actor doesn’t know this, so can’t reply with the correct number</a:t>
            </a:r>
            <a:endParaRPr/>
          </a:p>
          <a:p>
            <a:pPr>
              <a:defRPr/>
            </a:pPr>
            <a:r>
              <a:rPr lang="en-US"/>
              <a:t>But the bad server can guess</a:t>
            </a:r>
            <a:endParaRPr/>
          </a:p>
          <a:p>
            <a:pPr lvl="1">
              <a:defRPr/>
            </a:pPr>
            <a:r>
              <a:rPr lang="en-US"/>
              <a:t>Transaction ID between 1-65K</a:t>
            </a:r>
            <a:endParaRPr/>
          </a:p>
          <a:p>
            <a:pPr>
              <a:defRPr/>
            </a:pPr>
            <a:r>
              <a:rPr lang="en-US"/>
              <a:t>When the good server wins, they set a TTL or Time to Live</a:t>
            </a:r>
            <a:endParaRPr/>
          </a:p>
          <a:p>
            <a:pPr lvl="1">
              <a:defRPr/>
            </a:pPr>
            <a:r>
              <a:rPr lang="en-US"/>
              <a:t>This is how long that reply is valid</a:t>
            </a:r>
            <a:endParaRPr/>
          </a:p>
          <a:p>
            <a:pPr lvl="1">
              <a:defRPr/>
            </a:pPr>
            <a:r>
              <a:rPr lang="en-US"/>
              <a:t>So Short or Long TTL?</a:t>
            </a:r>
            <a:endParaRPr/>
          </a:p>
          <a:p>
            <a:pPr lvl="1">
              <a:defRPr/>
            </a:pPr>
            <a:endParaRPr lang="en-US"/>
          </a:p>
          <a:p>
            <a:pPr>
              <a:defRPr/>
            </a:pPr>
            <a:endParaRPr lang="en-US"/>
          </a:p>
          <a:p>
            <a:pPr marL="457200" lvl="1" indent="0">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1678309" name="Title 1"/>
          <p:cNvSpPr>
            <a:spLocks noGrp="1"/>
          </p:cNvSpPr>
          <p:nvPr>
            <p:ph type="title"/>
          </p:nvPr>
        </p:nvSpPr>
        <p:spPr bwMode="auto"/>
        <p:txBody>
          <a:bodyPr/>
          <a:lstStyle/>
          <a:p>
            <a:pPr>
              <a:defRPr/>
            </a:pPr>
            <a:r>
              <a:rPr lang="en-US">
                <a:ea typeface="ＭＳ Ｐゴシック"/>
              </a:rPr>
              <a:t>DNS cache poisoning: Racing to Respond First</a:t>
            </a:r>
            <a:endParaRPr/>
          </a:p>
        </p:txBody>
      </p:sp>
      <p:pic>
        <p:nvPicPr>
          <p:cNvPr id="472308488" name="Picture 2" descr="DNS cache poisoning: Racing to Respond First"/>
          <p:cNvPicPr>
            <a:picLocks noChangeAspect="1" noChangeArrowheads="1"/>
          </p:cNvPicPr>
          <p:nvPr/>
        </p:nvPicPr>
        <p:blipFill rotWithShape="1">
          <a:blip r:embed="rId3"/>
          <a:stretch/>
        </p:blipFill>
        <p:spPr bwMode="auto">
          <a:xfrm>
            <a:off x="1644650" y="1447800"/>
            <a:ext cx="8947150" cy="4724399"/>
          </a:xfrm>
          <a:prstGeom prst="rect">
            <a:avLst/>
          </a:prstGeom>
          <a:noFill/>
          <a:ln>
            <a:noFill/>
          </a:ln>
        </p:spPr>
      </p:pic>
      <p:sp>
        <p:nvSpPr>
          <p:cNvPr id="1267234141" name="Slide Number Placeholder 5"/>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844CECE6-0BCC-2B40-AD1D-E9A9C1840009}" type="slidenum">
              <a:rPr lang="en-US" sz="1400">
                <a:solidFill>
                  <a:srgbClr val="254C9C"/>
                </a:solidFill>
                <a:latin typeface="Arial"/>
              </a:rPr>
              <a:t>16</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6843923" name="Title 1"/>
          <p:cNvSpPr>
            <a:spLocks noGrp="1"/>
          </p:cNvSpPr>
          <p:nvPr>
            <p:ph type="title"/>
          </p:nvPr>
        </p:nvSpPr>
        <p:spPr bwMode="auto"/>
        <p:txBody>
          <a:bodyPr/>
          <a:lstStyle/>
          <a:p>
            <a:pPr>
              <a:defRPr/>
            </a:pPr>
            <a:r>
              <a:rPr lang="en-US"/>
              <a:t>Long TTL – Maybe?</a:t>
            </a:r>
            <a:endParaRPr/>
          </a:p>
        </p:txBody>
      </p:sp>
      <p:sp>
        <p:nvSpPr>
          <p:cNvPr id="1094570497" name="Content Placeholder 2"/>
          <p:cNvSpPr>
            <a:spLocks noGrp="1"/>
          </p:cNvSpPr>
          <p:nvPr>
            <p:ph idx="1"/>
          </p:nvPr>
        </p:nvSpPr>
        <p:spPr bwMode="auto"/>
        <p:txBody>
          <a:bodyPr/>
          <a:lstStyle/>
          <a:p>
            <a:pPr>
              <a:defRPr/>
            </a:pPr>
            <a:r>
              <a:rPr lang="en-US"/>
              <a:t>When it’s a race, the bad server has the advantage</a:t>
            </a:r>
            <a:endParaRPr/>
          </a:p>
          <a:p>
            <a:pPr lvl="1">
              <a:defRPr/>
            </a:pPr>
            <a:r>
              <a:rPr lang="en-US"/>
              <a:t>Real requests take time to reply</a:t>
            </a:r>
            <a:endParaRPr/>
          </a:p>
          <a:p>
            <a:pPr lvl="1">
              <a:defRPr/>
            </a:pPr>
            <a:r>
              <a:rPr lang="en-US"/>
              <a:t>Fake replies are faster – can be premade</a:t>
            </a:r>
            <a:endParaRPr/>
          </a:p>
          <a:p>
            <a:pPr>
              <a:defRPr/>
            </a:pPr>
            <a:r>
              <a:rPr lang="en-US"/>
              <a:t>Who says you can only reply once?</a:t>
            </a:r>
            <a:endParaRPr/>
          </a:p>
          <a:p>
            <a:pPr lvl="1">
              <a:defRPr/>
            </a:pPr>
            <a:r>
              <a:rPr lang="en-US"/>
              <a:t>Bad servers can reply 100 times</a:t>
            </a:r>
            <a:endParaRPr/>
          </a:p>
          <a:p>
            <a:pPr lvl="1">
              <a:defRPr/>
            </a:pPr>
            <a:r>
              <a:rPr lang="en-US"/>
              <a:t>Advantage goes from 65K to 1 to 655 to 1</a:t>
            </a:r>
            <a:endParaRPr/>
          </a:p>
          <a:p>
            <a:pPr>
              <a:defRPr/>
            </a:pPr>
            <a:r>
              <a:rPr lang="en-US"/>
              <a:t>So once you win, you keep winning</a:t>
            </a:r>
            <a:endParaRPr/>
          </a:p>
          <a:p>
            <a:pPr lvl="1">
              <a:defRPr/>
            </a:pPr>
            <a:r>
              <a:rPr lang="en-US"/>
              <a:t>So if the good server wins, it makes sense to keep the TTL large</a:t>
            </a:r>
            <a:endParaRPr/>
          </a:p>
          <a:p>
            <a:pPr lvl="1">
              <a:defRPr/>
            </a:pPr>
            <a:r>
              <a:rPr lang="en-US"/>
              <a:t>No?</a:t>
            </a:r>
            <a:endParaRPr/>
          </a:p>
          <a:p>
            <a:pPr lvl="1">
              <a:defRPr/>
            </a:pPr>
            <a:r>
              <a:rPr lang="en-US"/>
              <a:t>Wait until slide 23</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0765605" name="Title 1"/>
          <p:cNvSpPr>
            <a:spLocks noGrp="1"/>
          </p:cNvSpPr>
          <p:nvPr>
            <p:ph type="title"/>
          </p:nvPr>
        </p:nvSpPr>
        <p:spPr bwMode="auto"/>
        <p:txBody>
          <a:bodyPr/>
          <a:lstStyle/>
          <a:p>
            <a:pPr>
              <a:defRPr/>
            </a:pPr>
            <a:r>
              <a:rPr lang="en-US"/>
              <a:t>DNS Rake</a:t>
            </a:r>
            <a:endParaRPr/>
          </a:p>
        </p:txBody>
      </p:sp>
      <p:sp>
        <p:nvSpPr>
          <p:cNvPr id="2101301734" name="Content Placeholder 2"/>
          <p:cNvSpPr>
            <a:spLocks noGrp="1"/>
          </p:cNvSpPr>
          <p:nvPr>
            <p:ph idx="1"/>
          </p:nvPr>
        </p:nvSpPr>
        <p:spPr bwMode="auto"/>
        <p:txBody>
          <a:bodyPr>
            <a:normAutofit fontScale="92500" lnSpcReduction="20000"/>
          </a:bodyPr>
          <a:lstStyle/>
          <a:p>
            <a:pPr>
              <a:defRPr/>
            </a:pPr>
            <a:r>
              <a:rPr lang="en-US"/>
              <a:t>Enter The </a:t>
            </a:r>
            <a:r>
              <a:rPr lang="en-US"/>
              <a:t>DNSRake</a:t>
            </a:r>
            <a:endParaRPr lang="en-US"/>
          </a:p>
          <a:p>
            <a:pPr>
              <a:defRPr/>
            </a:pPr>
            <a:r>
              <a:rPr lang="en-US"/>
              <a:t>Named after a common method for lockpicking</a:t>
            </a:r>
            <a:endParaRPr/>
          </a:p>
          <a:p>
            <a:pPr>
              <a:defRPr/>
            </a:pPr>
            <a:r>
              <a:rPr lang="en-US"/>
              <a:t>User is asking for </a:t>
            </a:r>
            <a:r>
              <a:rPr lang="en-US"/>
              <a:t>foo.com</a:t>
            </a:r>
            <a:endParaRPr lang="en-US"/>
          </a:p>
          <a:p>
            <a:pPr>
              <a:defRPr/>
            </a:pPr>
            <a:r>
              <a:rPr lang="en-US"/>
              <a:t>Local resolver sends a query to a nameserver, for $</a:t>
            </a:r>
            <a:r>
              <a:rPr lang="en-US"/>
              <a:t>RANDOM.foo.com</a:t>
            </a:r>
            <a:endParaRPr lang="en-US"/>
          </a:p>
          <a:p>
            <a:pPr lvl="1">
              <a:defRPr/>
            </a:pPr>
            <a:r>
              <a:rPr lang="en-US"/>
              <a:t>The bad guy has the starter pistol</a:t>
            </a:r>
            <a:endParaRPr/>
          </a:p>
          <a:p>
            <a:pPr lvl="1">
              <a:defRPr/>
            </a:pPr>
            <a:r>
              <a:rPr lang="en-US"/>
              <a:t>Send 200 fake replies to that nameserver, with TXID</a:t>
            </a:r>
            <a:endParaRPr/>
          </a:p>
          <a:p>
            <a:pPr>
              <a:defRPr/>
            </a:pPr>
            <a:r>
              <a:rPr lang="en-US"/>
              <a:t>The bad guy can reply multiple times</a:t>
            </a:r>
            <a:endParaRPr/>
          </a:p>
          <a:p>
            <a:pPr lvl="1">
              <a:defRPr/>
            </a:pPr>
            <a:r>
              <a:rPr lang="en-US"/>
              <a:t>Send replies containing nameserver redirections to</a:t>
            </a:r>
            <a:endParaRPr/>
          </a:p>
          <a:p>
            <a:pPr lvl="1">
              <a:defRPr/>
            </a:pPr>
            <a:r>
              <a:rPr lang="en-US"/>
              <a:t>www.foo.com</a:t>
            </a:r>
            <a:r>
              <a:rPr lang="en-US"/>
              <a:t> IN A 6.6.6.6</a:t>
            </a:r>
            <a:endParaRPr/>
          </a:p>
          <a:p>
            <a:pPr>
              <a:defRPr/>
            </a:pPr>
            <a:r>
              <a:rPr lang="en-US"/>
              <a:t>If it fails, return to step 1, try again</a:t>
            </a:r>
            <a:endParaRPr/>
          </a:p>
          <a:p>
            <a:pPr>
              <a:defRPr/>
            </a:pPr>
            <a:r>
              <a:rPr lang="en-US"/>
              <a:t>Reply is cached until TTL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9934898" name="Title 1"/>
          <p:cNvSpPr>
            <a:spLocks noGrp="1"/>
          </p:cNvSpPr>
          <p:nvPr>
            <p:ph type="title"/>
          </p:nvPr>
        </p:nvSpPr>
        <p:spPr bwMode="auto"/>
        <p:txBody>
          <a:bodyPr/>
          <a:lstStyle/>
          <a:p>
            <a:pPr>
              <a:defRPr/>
            </a:pPr>
            <a:r>
              <a:rPr lang="en-US">
                <a:ea typeface="ＭＳ Ｐゴシック"/>
              </a:rPr>
              <a:t>Defense Using The Bailiwicks Rules</a:t>
            </a:r>
            <a:endParaRPr/>
          </a:p>
        </p:txBody>
      </p:sp>
      <p:sp>
        <p:nvSpPr>
          <p:cNvPr id="1061231288" name="Content Placeholder 2"/>
          <p:cNvSpPr>
            <a:spLocks noGrp="1"/>
          </p:cNvSpPr>
          <p:nvPr>
            <p:ph idx="1"/>
          </p:nvPr>
        </p:nvSpPr>
        <p:spPr bwMode="auto">
          <a:xfrm>
            <a:off x="1981200" y="1600200"/>
            <a:ext cx="8382000" cy="4876800"/>
          </a:xfrm>
        </p:spPr>
        <p:txBody>
          <a:bodyPr/>
          <a:lstStyle/>
          <a:p>
            <a:pPr lvl="2">
              <a:buFontTx/>
              <a:buNone/>
              <a:defRPr/>
            </a:pPr>
            <a:endParaRPr lang="en-US">
              <a:ea typeface="ＭＳ Ｐゴシック"/>
            </a:endParaRPr>
          </a:p>
          <a:p>
            <a:pPr>
              <a:defRPr/>
            </a:pPr>
            <a:r>
              <a:rPr lang="en-US">
                <a:ea typeface="ＭＳ Ｐゴシック"/>
              </a:rPr>
              <a:t>The bailiwick system prevents foo.com from declaring anything about “com”, or some other new TLD, or </a:t>
            </a:r>
            <a:r>
              <a:rPr lang="en-US" u="sng">
                <a:ea typeface="ＭＳ Ｐゴシック"/>
                <a:hlinkClick r:id="rId3" tooltip=""/>
              </a:rPr>
              <a:t>www.google.com</a:t>
            </a:r>
            <a:endParaRPr lang="en-US">
              <a:ea typeface="ＭＳ Ｐゴシック"/>
            </a:endParaRPr>
          </a:p>
          <a:p>
            <a:pPr>
              <a:defRPr/>
            </a:pPr>
            <a:endParaRPr lang="en-US">
              <a:ea typeface="ＭＳ Ｐゴシック"/>
            </a:endParaRPr>
          </a:p>
          <a:p>
            <a:pPr>
              <a:defRPr/>
            </a:pPr>
            <a:r>
              <a:rPr lang="en-US">
                <a:ea typeface="ＭＳ Ｐゴシック"/>
              </a:rPr>
              <a:t>Using the bailiwicks rules</a:t>
            </a:r>
            <a:endParaRPr/>
          </a:p>
          <a:p>
            <a:pPr lvl="1">
              <a:defRPr/>
            </a:pPr>
            <a:r>
              <a:rPr lang="en-US">
                <a:ea typeface="ＭＳ Ｐゴシック"/>
              </a:rPr>
              <a:t>The root servers can return any record</a:t>
            </a:r>
            <a:endParaRPr/>
          </a:p>
          <a:p>
            <a:pPr lvl="1">
              <a:defRPr/>
            </a:pPr>
            <a:r>
              <a:rPr lang="en-US">
                <a:ea typeface="ＭＳ Ｐゴシック"/>
              </a:rPr>
              <a:t>The com servers can return any record for com</a:t>
            </a:r>
            <a:endParaRPr/>
          </a:p>
          <a:p>
            <a:pPr lvl="1">
              <a:defRPr/>
            </a:pPr>
            <a:r>
              <a:rPr lang="en-US">
                <a:ea typeface="ＭＳ Ｐゴシック"/>
              </a:rPr>
              <a:t>The google.com servers can return any record for google.com</a:t>
            </a:r>
            <a:endParaRPr/>
          </a:p>
          <a:p>
            <a:pPr>
              <a:defRPr/>
            </a:pPr>
            <a:endParaRPr lang="en-US">
              <a:ea typeface="ＭＳ Ｐゴシック"/>
            </a:endParaRPr>
          </a:p>
          <a:p>
            <a:pPr>
              <a:defRPr/>
            </a:pPr>
            <a:endParaRPr lang="en-US">
              <a:ea typeface="ＭＳ Ｐゴシック"/>
            </a:endParaRPr>
          </a:p>
        </p:txBody>
      </p:sp>
      <p:sp>
        <p:nvSpPr>
          <p:cNvPr id="2050744930" name="Slide Number Placeholder 4"/>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129E4484-7312-6045-8EC9-85DDA7CEA354}" type="slidenum">
              <a:rPr lang="en-US" sz="1400">
                <a:solidFill>
                  <a:srgbClr val="254C9C"/>
                </a:solidFill>
                <a:latin typeface="Arial"/>
              </a:rPr>
              <a:t>19</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8346113" name="Rectangle 2"/>
          <p:cNvSpPr>
            <a:spLocks noChangeArrowheads="1" noGrp="1"/>
          </p:cNvSpPr>
          <p:nvPr>
            <p:ph type="title"/>
          </p:nvPr>
        </p:nvSpPr>
        <p:spPr bwMode="auto"/>
        <p:txBody>
          <a:bodyPr/>
          <a:lstStyle/>
          <a:p>
            <a:pPr>
              <a:defRPr/>
            </a:pPr>
            <a:r>
              <a:rPr lang="en-US" sz="4000">
                <a:ea typeface="ＭＳ Ｐゴシック"/>
              </a:rPr>
              <a:t>DNS cache poisoning – Birthday attack</a:t>
            </a:r>
            <a:endParaRPr/>
          </a:p>
        </p:txBody>
      </p:sp>
      <p:sp>
        <p:nvSpPr>
          <p:cNvPr id="1068821170" name="Rectangle 3"/>
          <p:cNvSpPr>
            <a:spLocks noChangeArrowheads="1" noGrp="1"/>
          </p:cNvSpPr>
          <p:nvPr>
            <p:ph type="body" idx="1"/>
          </p:nvPr>
        </p:nvSpPr>
        <p:spPr bwMode="auto"/>
        <p:txBody>
          <a:bodyPr>
            <a:normAutofit/>
          </a:bodyPr>
          <a:lstStyle/>
          <a:p>
            <a:pPr>
              <a:defRPr/>
            </a:pPr>
            <a:r>
              <a:rPr lang="en-US"/>
              <a:t>Improve the chance of responding before the real </a:t>
            </a:r>
            <a:r>
              <a:rPr lang="en-US"/>
              <a:t>nameserver</a:t>
            </a:r>
            <a:r>
              <a:rPr lang="en-US"/>
              <a:t> (discovered by </a:t>
            </a:r>
            <a:r>
              <a:rPr lang="en-US"/>
              <a:t>Vagner</a:t>
            </a:r>
            <a:r>
              <a:rPr lang="en-US"/>
              <a:t> Sacramento in 2002)</a:t>
            </a:r>
            <a:endParaRPr/>
          </a:p>
          <a:p>
            <a:pPr lvl="1">
              <a:defRPr/>
            </a:pPr>
            <a:r>
              <a:rPr lang="en-US"/>
              <a:t>Have many (say hundreds of) clients send the same DNS request to the name server</a:t>
            </a:r>
            <a:endParaRPr/>
          </a:p>
          <a:p>
            <a:pPr lvl="2">
              <a:defRPr/>
            </a:pPr>
            <a:r>
              <a:rPr lang="en-US"/>
              <a:t>Each generates a query</a:t>
            </a:r>
            <a:endParaRPr/>
          </a:p>
          <a:p>
            <a:pPr lvl="1">
              <a:defRPr/>
            </a:pPr>
            <a:r>
              <a:rPr lang="en-US"/>
              <a:t>Send hundreds of reply with random transaction IDs at the same time</a:t>
            </a:r>
            <a:endParaRPr/>
          </a:p>
          <a:p>
            <a:pPr lvl="1">
              <a:defRPr/>
            </a:pPr>
            <a:r>
              <a:rPr lang="en-US"/>
              <a:t>Due to the Birthday Paradox, the success probability can be close to 1</a:t>
            </a:r>
            <a:endParaRPr/>
          </a:p>
          <a:p>
            <a:pPr lvl="2">
              <a:defRPr/>
            </a:pPr>
            <a:r>
              <a:rPr lang="en-US"/>
              <a:t>300 will give you 50%.</a:t>
            </a:r>
            <a:endParaRPr/>
          </a:p>
          <a:p>
            <a:pPr lvl="2">
              <a:defRPr/>
            </a:pPr>
            <a:r>
              <a:rPr lang="en-US"/>
              <a:t>700 will give you 1.07%</a:t>
            </a:r>
            <a:endParaRPr/>
          </a:p>
          <a:p>
            <a:pPr lvl="2">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0674197" name="Slide Number Placeholder 5"/>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0F714A92-DC43-2040-BC16-D51C8F9F2883}" type="slidenum">
              <a:rPr lang="en-US" sz="1400">
                <a:solidFill>
                  <a:srgbClr val="254C9C"/>
                </a:solidFill>
                <a:latin typeface="Arial"/>
              </a:rPr>
              <a:t>21</a:t>
            </a:fld>
            <a:endParaRPr lang="en-US" sz="1400">
              <a:latin typeface="Arial"/>
            </a:endParaRPr>
          </a:p>
        </p:txBody>
      </p:sp>
      <p:sp>
        <p:nvSpPr>
          <p:cNvPr id="1150382589" name="Rectangle 2"/>
          <p:cNvSpPr>
            <a:spLocks noChangeArrowheads="1" noGrp="1"/>
          </p:cNvSpPr>
          <p:nvPr>
            <p:ph type="title"/>
          </p:nvPr>
        </p:nvSpPr>
        <p:spPr bwMode="auto"/>
        <p:txBody>
          <a:bodyPr/>
          <a:lstStyle/>
          <a:p>
            <a:pPr>
              <a:defRPr/>
            </a:pPr>
            <a:r>
              <a:rPr lang="en-US" sz="4000">
                <a:ea typeface="ＭＳ Ｐゴシック"/>
              </a:rPr>
              <a:t>DNS cache poisoning – Kaminsky, 2008</a:t>
            </a:r>
            <a:endParaRPr/>
          </a:p>
        </p:txBody>
      </p:sp>
      <p:sp>
        <p:nvSpPr>
          <p:cNvPr id="727785641" name="Rectangle 3"/>
          <p:cNvSpPr>
            <a:spLocks noChangeArrowheads="1" noGrp="1"/>
          </p:cNvSpPr>
          <p:nvPr>
            <p:ph type="body" idx="1"/>
          </p:nvPr>
        </p:nvSpPr>
        <p:spPr bwMode="auto"/>
        <p:txBody>
          <a:bodyPr/>
          <a:lstStyle/>
          <a:p>
            <a:pPr>
              <a:defRPr/>
            </a:pPr>
            <a:r>
              <a:rPr lang="en-US">
                <a:ea typeface="ＭＳ Ｐゴシック"/>
              </a:rPr>
              <a:t>Kaminsky Attack</a:t>
            </a:r>
            <a:endParaRPr/>
          </a:p>
          <a:p>
            <a:pPr lvl="1">
              <a:defRPr/>
            </a:pPr>
            <a:r>
              <a:rPr lang="en-US">
                <a:ea typeface="ＭＳ Ｐゴシック"/>
              </a:rPr>
              <a:t>Big security news in summer of 2008</a:t>
            </a:r>
            <a:endParaRPr/>
          </a:p>
          <a:p>
            <a:pPr lvl="1">
              <a:defRPr/>
            </a:pPr>
            <a:r>
              <a:rPr lang="en-US">
                <a:ea typeface="ＭＳ Ｐゴシック"/>
              </a:rPr>
              <a:t>DNS servers worldwide were quickly patched to defend against the attack</a:t>
            </a:r>
            <a:endParaRPr/>
          </a:p>
          <a:p>
            <a:pPr>
              <a:defRPr/>
            </a:pPr>
            <a:endParaRPr lang="en-US">
              <a:ea typeface="ＭＳ Ｐゴシック"/>
            </a:endParaRPr>
          </a:p>
          <a:p>
            <a:pPr>
              <a:defRPr/>
            </a:pPr>
            <a:r>
              <a:rPr lang="en-US">
                <a:ea typeface="ＭＳ Ｐゴシック"/>
              </a:rPr>
              <a:t>In previous attacks, when the attacker loses the race, the record is cached, with a TTL.</a:t>
            </a:r>
            <a:endParaRPr/>
          </a:p>
          <a:p>
            <a:pPr lvl="1">
              <a:defRPr/>
            </a:pPr>
            <a:r>
              <a:rPr lang="en-US">
                <a:ea typeface="ＭＳ Ｐゴシック"/>
              </a:rPr>
              <a:t>Before TTL expires, no attack can be carried out</a:t>
            </a:r>
            <a:endParaRPr/>
          </a:p>
          <a:p>
            <a:pPr lvl="1">
              <a:defRPr/>
            </a:pPr>
            <a:r>
              <a:rPr lang="en-US">
                <a:ea typeface="ＭＳ Ｐゴシック"/>
              </a:rPr>
              <a:t>Poisoning address for </a:t>
            </a:r>
            <a:r>
              <a:rPr lang="en-US">
                <a:ea typeface="ＭＳ Ｐゴシック"/>
              </a:rPr>
              <a:t>google.com</a:t>
            </a:r>
            <a:r>
              <a:rPr lang="en-US">
                <a:ea typeface="ＭＳ Ｐゴシック"/>
              </a:rPr>
              <a:t> in a DNS server is not easy.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9569558" name="Title 1"/>
          <p:cNvSpPr>
            <a:spLocks noGrp="1"/>
          </p:cNvSpPr>
          <p:nvPr>
            <p:ph type="title"/>
          </p:nvPr>
        </p:nvSpPr>
        <p:spPr bwMode="auto"/>
        <p:txBody>
          <a:bodyPr/>
          <a:lstStyle/>
          <a:p>
            <a:pPr>
              <a:defRPr/>
            </a:pPr>
            <a:r>
              <a:rPr lang="en-US">
                <a:ea typeface="ＭＳ Ｐゴシック"/>
              </a:rPr>
              <a:t>What is New in the Kaminsky Attack?</a:t>
            </a:r>
            <a:endParaRPr/>
          </a:p>
        </p:txBody>
      </p:sp>
      <p:sp>
        <p:nvSpPr>
          <p:cNvPr id="307757406" name="Content Placeholder 2"/>
          <p:cNvSpPr>
            <a:spLocks noGrp="1"/>
          </p:cNvSpPr>
          <p:nvPr>
            <p:ph idx="1"/>
          </p:nvPr>
        </p:nvSpPr>
        <p:spPr bwMode="auto">
          <a:xfrm>
            <a:off x="1828800" y="1570038"/>
            <a:ext cx="8686800" cy="4983162"/>
          </a:xfrm>
        </p:spPr>
        <p:txBody>
          <a:bodyPr/>
          <a:lstStyle/>
          <a:p>
            <a:pPr>
              <a:lnSpc>
                <a:spcPct val="80000"/>
              </a:lnSpc>
              <a:defRPr/>
            </a:pPr>
            <a:r>
              <a:rPr lang="en-US" sz="2600">
                <a:ea typeface="ＭＳ Ｐゴシック"/>
              </a:rPr>
              <a:t>The bad guy does not need to wait to try again</a:t>
            </a:r>
            <a:endParaRPr/>
          </a:p>
          <a:p>
            <a:pPr lvl="1">
              <a:lnSpc>
                <a:spcPct val="80000"/>
              </a:lnSpc>
              <a:defRPr/>
            </a:pPr>
            <a:endParaRPr lang="en-US" sz="2200">
              <a:ea typeface="ＭＳ Ｐゴシック"/>
            </a:endParaRPr>
          </a:p>
          <a:p>
            <a:pPr>
              <a:lnSpc>
                <a:spcPct val="80000"/>
              </a:lnSpc>
              <a:defRPr/>
            </a:pPr>
            <a:r>
              <a:rPr lang="en-US" sz="2600">
                <a:ea typeface="ＭＳ Ｐゴシック"/>
              </a:rPr>
              <a:t>The bad guy asks the resolver to look up </a:t>
            </a:r>
            <a:r>
              <a:rPr lang="en-US" sz="2600">
                <a:ea typeface="ＭＳ Ｐゴシック"/>
              </a:rPr>
              <a:t>www.google.com</a:t>
            </a:r>
            <a:endParaRPr lang="en-US" sz="2600">
              <a:ea typeface="ＭＳ Ｐゴシック"/>
            </a:endParaRPr>
          </a:p>
          <a:p>
            <a:pPr lvl="1">
              <a:lnSpc>
                <a:spcPct val="80000"/>
              </a:lnSpc>
              <a:defRPr/>
            </a:pPr>
            <a:r>
              <a:rPr lang="en-US" sz="2200">
                <a:ea typeface="ＭＳ Ｐゴシック"/>
              </a:rPr>
              <a:t>If the bad guy lost the race, the other race for </a:t>
            </a:r>
            <a:r>
              <a:rPr lang="en-US" sz="2200">
                <a:ea typeface="ＭＳ Ｐゴシック"/>
              </a:rPr>
              <a:t>www.google.com</a:t>
            </a:r>
            <a:r>
              <a:rPr lang="en-US" sz="2200">
                <a:ea typeface="ＭＳ Ｐゴシック"/>
              </a:rPr>
              <a:t> will be suppressed by the TTL</a:t>
            </a:r>
            <a:endParaRPr/>
          </a:p>
          <a:p>
            <a:pPr lvl="1">
              <a:lnSpc>
                <a:spcPct val="80000"/>
              </a:lnSpc>
              <a:defRPr/>
            </a:pPr>
            <a:endParaRPr lang="en-US" sz="2200">
              <a:ea typeface="ＭＳ Ｐゴシック"/>
            </a:endParaRPr>
          </a:p>
          <a:p>
            <a:pPr>
              <a:lnSpc>
                <a:spcPct val="80000"/>
              </a:lnSpc>
              <a:defRPr/>
            </a:pPr>
            <a:r>
              <a:rPr lang="en-US" sz="2600">
                <a:ea typeface="ＭＳ Ｐゴシック"/>
              </a:rPr>
              <a:t>If the bad guy asks the resolver to look up 1.google.com, 2.google.com, 3.google.com, and so on</a:t>
            </a:r>
            <a:endParaRPr/>
          </a:p>
          <a:p>
            <a:pPr lvl="1">
              <a:lnSpc>
                <a:spcPct val="80000"/>
              </a:lnSpc>
              <a:defRPr/>
            </a:pPr>
            <a:r>
              <a:rPr lang="en-US" sz="2200">
                <a:ea typeface="ＭＳ Ｐゴシック"/>
              </a:rPr>
              <a:t>Each new query starts a new race</a:t>
            </a:r>
            <a:endParaRPr/>
          </a:p>
          <a:p>
            <a:pPr lvl="1">
              <a:lnSpc>
                <a:spcPct val="80000"/>
              </a:lnSpc>
              <a:defRPr/>
            </a:pPr>
            <a:endParaRPr lang="en-US" sz="2200">
              <a:ea typeface="ＭＳ Ｐゴシック"/>
            </a:endParaRPr>
          </a:p>
          <a:p>
            <a:pPr>
              <a:lnSpc>
                <a:spcPct val="80000"/>
              </a:lnSpc>
              <a:defRPr/>
            </a:pPr>
            <a:r>
              <a:rPr lang="en-US" sz="2600">
                <a:ea typeface="ＭＳ Ｐゴシック"/>
              </a:rPr>
              <a:t>Eventually, the bad guy will win</a:t>
            </a:r>
            <a:endParaRPr/>
          </a:p>
          <a:p>
            <a:pPr lvl="1">
              <a:lnSpc>
                <a:spcPct val="80000"/>
              </a:lnSpc>
              <a:defRPr/>
            </a:pPr>
            <a:r>
              <a:rPr lang="en-US" sz="2200">
                <a:ea typeface="ＭＳ Ｐゴシック"/>
              </a:rPr>
              <a:t>he is able to spoof 183.google.com</a:t>
            </a:r>
            <a:endParaRPr/>
          </a:p>
          <a:p>
            <a:pPr lvl="1">
              <a:lnSpc>
                <a:spcPct val="80000"/>
              </a:lnSpc>
              <a:defRPr/>
            </a:pPr>
            <a:r>
              <a:rPr lang="en-US" sz="2200">
                <a:ea typeface="ＭＳ Ｐゴシック"/>
              </a:rPr>
              <a:t>So what? No one wants to visit 183.google.com</a:t>
            </a:r>
            <a:endParaRPr/>
          </a:p>
        </p:txBody>
      </p:sp>
      <p:sp>
        <p:nvSpPr>
          <p:cNvPr id="986344242" name="Slide Number Placeholder 4"/>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FE2112D2-536E-1749-9266-F9DA507B23BE}" type="slidenum">
              <a:rPr lang="en-US" sz="1400">
                <a:solidFill>
                  <a:srgbClr val="254C9C"/>
                </a:solidFill>
                <a:latin typeface="Arial"/>
              </a:rPr>
              <a:t>22</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4201735" name="Title 1"/>
          <p:cNvSpPr>
            <a:spLocks noGrp="1"/>
          </p:cNvSpPr>
          <p:nvPr>
            <p:ph type="title"/>
          </p:nvPr>
        </p:nvSpPr>
        <p:spPr bwMode="auto"/>
        <p:txBody>
          <a:bodyPr/>
          <a:lstStyle/>
          <a:p>
            <a:pPr>
              <a:defRPr/>
            </a:pPr>
            <a:r>
              <a:rPr lang="en-US">
                <a:ea typeface="ＭＳ Ｐゴシック"/>
              </a:rPr>
              <a:t>Kaminsky-Style Poisoning</a:t>
            </a:r>
            <a:endParaRPr/>
          </a:p>
        </p:txBody>
      </p:sp>
      <p:sp>
        <p:nvSpPr>
          <p:cNvPr id="1157620632" name="Content Placeholder 2"/>
          <p:cNvSpPr>
            <a:spLocks noGrp="1"/>
          </p:cNvSpPr>
          <p:nvPr>
            <p:ph idx="1"/>
          </p:nvPr>
        </p:nvSpPr>
        <p:spPr bwMode="auto"/>
        <p:txBody>
          <a:bodyPr/>
          <a:lstStyle/>
          <a:p>
            <a:pPr>
              <a:defRPr/>
            </a:pPr>
            <a:r>
              <a:rPr lang="en-US">
                <a:ea typeface="ＭＳ Ｐゴシック"/>
              </a:rPr>
              <a:t>A bad guy who wins the race for “183.google.com” can end up stealing “</a:t>
            </a:r>
            <a:r>
              <a:rPr lang="en-US">
                <a:ea typeface="ＭＳ Ｐゴシック"/>
              </a:rPr>
              <a:t>www.google.com</a:t>
            </a:r>
            <a:r>
              <a:rPr lang="en-US">
                <a:ea typeface="ＭＳ Ｐゴシック"/>
              </a:rPr>
              <a:t>”</a:t>
            </a:r>
            <a:r>
              <a:rPr lang="en-US">
                <a:ea typeface="ＭＳ Ｐゴシック"/>
              </a:rPr>
              <a:t> as well</a:t>
            </a:r>
            <a:endParaRPr/>
          </a:p>
          <a:p>
            <a:pPr lvl="1">
              <a:defRPr/>
            </a:pPr>
            <a:endParaRPr lang="en-US">
              <a:ea typeface="ＭＳ Ｐゴシック"/>
            </a:endParaRPr>
          </a:p>
          <a:p>
            <a:pPr>
              <a:defRPr/>
            </a:pPr>
            <a:r>
              <a:rPr lang="en-US">
                <a:ea typeface="ＭＳ Ｐゴシック"/>
              </a:rPr>
              <a:t>Original malicious response:</a:t>
            </a:r>
            <a:endParaRPr/>
          </a:p>
          <a:p>
            <a:pPr lvl="1">
              <a:defRPr/>
            </a:pPr>
            <a:r>
              <a:rPr lang="en-US">
                <a:ea typeface="ＭＳ Ｐゴシック"/>
              </a:rPr>
              <a:t>google.com</a:t>
            </a:r>
            <a:r>
              <a:rPr lang="en-US">
                <a:ea typeface="ＭＳ Ｐゴシック"/>
              </a:rPr>
              <a:t>    NS   </a:t>
            </a:r>
            <a:r>
              <a:rPr lang="en-US">
                <a:ea typeface="ＭＳ Ｐゴシック"/>
              </a:rPr>
              <a:t>www.google.com</a:t>
            </a:r>
            <a:endParaRPr lang="en-US">
              <a:ea typeface="ＭＳ Ｐゴシック"/>
            </a:endParaRPr>
          </a:p>
          <a:p>
            <a:pPr lvl="1">
              <a:defRPr/>
            </a:pPr>
            <a:r>
              <a:rPr lang="en-US">
                <a:ea typeface="ＭＳ Ｐゴシック"/>
              </a:rPr>
              <a:t>www.google.com</a:t>
            </a:r>
            <a:r>
              <a:rPr lang="en-US">
                <a:ea typeface="ＭＳ Ｐゴシック"/>
              </a:rPr>
              <a:t>    A    6.6.6.6</a:t>
            </a:r>
            <a:endParaRPr/>
          </a:p>
          <a:p>
            <a:pPr>
              <a:defRPr/>
            </a:pPr>
            <a:r>
              <a:rPr lang="en-US">
                <a:ea typeface="ＭＳ Ｐゴシック"/>
              </a:rPr>
              <a:t>Killer response:</a:t>
            </a:r>
            <a:endParaRPr/>
          </a:p>
          <a:p>
            <a:pPr lvl="1">
              <a:defRPr/>
            </a:pPr>
            <a:r>
              <a:rPr lang="en-US">
                <a:ea typeface="ＭＳ Ｐゴシック"/>
              </a:rPr>
              <a:t>google.com</a:t>
            </a:r>
            <a:r>
              <a:rPr lang="en-US">
                <a:ea typeface="ＭＳ Ｐゴシック"/>
              </a:rPr>
              <a:t>    NS   </a:t>
            </a:r>
            <a:r>
              <a:rPr lang="en-US">
                <a:ea typeface="ＭＳ Ｐゴシック"/>
              </a:rPr>
              <a:t>ns.badguy.com</a:t>
            </a:r>
            <a:endParaRPr lang="en-US">
              <a:ea typeface="ＭＳ Ｐゴシック"/>
            </a:endParaRPr>
          </a:p>
        </p:txBody>
      </p:sp>
      <p:sp>
        <p:nvSpPr>
          <p:cNvPr id="1308930937" name="Slide Number Placeholder 4"/>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4B41EE1F-3F9A-5240-9017-C36BB8068354}" type="slidenum">
              <a:rPr lang="en-US" sz="1400">
                <a:solidFill>
                  <a:srgbClr val="254C9C"/>
                </a:solidFill>
                <a:latin typeface="Arial"/>
              </a:rPr>
              <a:t>23</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1976847" name="Title 1"/>
          <p:cNvSpPr>
            <a:spLocks noGrp="1"/>
          </p:cNvSpPr>
          <p:nvPr>
            <p:ph type="title"/>
          </p:nvPr>
        </p:nvSpPr>
        <p:spPr bwMode="auto"/>
        <p:txBody>
          <a:bodyPr/>
          <a:lstStyle/>
          <a:p>
            <a:pPr>
              <a:defRPr/>
            </a:pPr>
            <a:r>
              <a:rPr lang="en-US">
                <a:ea typeface="ＭＳ Ｐゴシック"/>
              </a:rPr>
              <a:t>Kaminsky-Style Poisoning (cont’)</a:t>
            </a:r>
            <a:endParaRPr/>
          </a:p>
        </p:txBody>
      </p:sp>
      <p:sp>
        <p:nvSpPr>
          <p:cNvPr id="1440004934" name="Content Placeholder 2"/>
          <p:cNvSpPr>
            <a:spLocks noGrp="1"/>
          </p:cNvSpPr>
          <p:nvPr>
            <p:ph idx="1"/>
          </p:nvPr>
        </p:nvSpPr>
        <p:spPr bwMode="auto"/>
        <p:txBody>
          <a:bodyPr>
            <a:normAutofit/>
          </a:bodyPr>
          <a:lstStyle/>
          <a:p>
            <a:pPr>
              <a:lnSpc>
                <a:spcPct val="90000"/>
              </a:lnSpc>
              <a:defRPr/>
            </a:pPr>
            <a:r>
              <a:rPr lang="en-US">
                <a:ea typeface="ＭＳ Ｐゴシック"/>
              </a:rPr>
              <a:t>Why it succeeded:</a:t>
            </a:r>
            <a:endParaRPr/>
          </a:p>
          <a:p>
            <a:pPr lvl="1">
              <a:lnSpc>
                <a:spcPct val="90000"/>
              </a:lnSpc>
              <a:defRPr/>
            </a:pPr>
            <a:r>
              <a:rPr lang="en-US">
                <a:ea typeface="ＭＳ Ｐゴシック"/>
              </a:rPr>
              <a:t>Can start anytime; no waiting for old good cached entries to expire</a:t>
            </a:r>
            <a:endParaRPr/>
          </a:p>
          <a:p>
            <a:pPr lvl="1">
              <a:lnSpc>
                <a:spcPct val="90000"/>
              </a:lnSpc>
              <a:defRPr/>
            </a:pPr>
            <a:r>
              <a:rPr lang="en-US">
                <a:ea typeface="ＭＳ Ｐゴシック"/>
              </a:rPr>
              <a:t>No “wait penalty” for racing failure</a:t>
            </a:r>
            <a:endParaRPr/>
          </a:p>
          <a:p>
            <a:pPr lvl="1">
              <a:lnSpc>
                <a:spcPct val="90000"/>
              </a:lnSpc>
              <a:defRPr/>
            </a:pPr>
            <a:r>
              <a:rPr lang="en-US">
                <a:ea typeface="ＭＳ Ｐゴシック"/>
              </a:rPr>
              <a:t>The attack is only bandwidth limited</a:t>
            </a:r>
            <a:endParaRPr/>
          </a:p>
          <a:p>
            <a:pPr>
              <a:lnSpc>
                <a:spcPct val="90000"/>
              </a:lnSpc>
              <a:defRPr/>
            </a:pPr>
            <a:endParaRPr lang="en-US">
              <a:ea typeface="ＭＳ Ｐゴシック"/>
            </a:endParaRPr>
          </a:p>
          <a:p>
            <a:pPr>
              <a:lnSpc>
                <a:spcPct val="90000"/>
              </a:lnSpc>
              <a:defRPr/>
            </a:pPr>
            <a:r>
              <a:rPr lang="en-US">
                <a:ea typeface="ＭＳ Ｐゴシック"/>
              </a:rPr>
              <a:t>Defense </a:t>
            </a:r>
            <a:endParaRPr/>
          </a:p>
          <a:p>
            <a:pPr lvl="1">
              <a:defRPr/>
            </a:pPr>
            <a:r>
              <a:rPr lang="en-US">
                <a:ea typeface="ＭＳ Ｐゴシック"/>
              </a:rPr>
              <a:t>Also randomize the UDP used to send the DNS query, the attacker has to guess that port correctly as well (increase the space of possible IDs).</a:t>
            </a:r>
            <a:endParaRPr/>
          </a:p>
        </p:txBody>
      </p:sp>
      <p:sp>
        <p:nvSpPr>
          <p:cNvPr id="393027322" name="Slide Number Placeholder 4"/>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9C2ED9A5-7FE1-4E4D-8AD0-241402126306}" type="slidenum">
              <a:rPr lang="en-US" sz="1400">
                <a:solidFill>
                  <a:srgbClr val="254C9C"/>
                </a:solidFill>
                <a:latin typeface="Arial"/>
              </a:rPr>
              <a:t>24</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4004739" name="Title 1"/>
          <p:cNvSpPr>
            <a:spLocks noGrp="1"/>
          </p:cNvSpPr>
          <p:nvPr>
            <p:ph type="title"/>
          </p:nvPr>
        </p:nvSpPr>
        <p:spPr bwMode="auto"/>
        <p:txBody>
          <a:bodyPr/>
          <a:lstStyle/>
          <a:p>
            <a:pPr>
              <a:defRPr/>
            </a:pPr>
            <a:r>
              <a:rPr lang="en-US">
                <a:ea typeface="ＭＳ Ｐゴシック"/>
              </a:rPr>
              <a:t>So what do we do?</a:t>
            </a:r>
            <a:endParaRPr/>
          </a:p>
        </p:txBody>
      </p:sp>
      <p:sp>
        <p:nvSpPr>
          <p:cNvPr id="904572479" name="Content Placeholder 2"/>
          <p:cNvSpPr>
            <a:spLocks noGrp="1"/>
          </p:cNvSpPr>
          <p:nvPr>
            <p:ph idx="1"/>
          </p:nvPr>
        </p:nvSpPr>
        <p:spPr bwMode="auto">
          <a:xfrm>
            <a:off x="1981200" y="1447800"/>
            <a:ext cx="8229600" cy="4953000"/>
          </a:xfrm>
        </p:spPr>
        <p:txBody>
          <a:bodyPr>
            <a:normAutofit/>
          </a:bodyPr>
          <a:lstStyle/>
          <a:p>
            <a:pPr>
              <a:buFont typeface="Times"/>
              <a:buChar char="•"/>
              <a:defRPr/>
            </a:pPr>
            <a:r>
              <a:rPr lang="en-US">
                <a:ea typeface="+mn-ea"/>
                <a:cs typeface="+mn-cs"/>
              </a:rPr>
              <a:t>Difficulty to change the protocol</a:t>
            </a:r>
            <a:endParaRPr/>
          </a:p>
          <a:p>
            <a:pPr lvl="1">
              <a:defRPr/>
            </a:pPr>
            <a:r>
              <a:rPr lang="en-US"/>
              <a:t>Protocol stability (embedded devices)</a:t>
            </a:r>
            <a:endParaRPr/>
          </a:p>
          <a:p>
            <a:pPr lvl="1">
              <a:defRPr/>
            </a:pPr>
            <a:r>
              <a:rPr lang="en-US"/>
              <a:t>Backward compatibility.</a:t>
            </a:r>
            <a:endParaRPr/>
          </a:p>
          <a:p>
            <a:pPr>
              <a:buFont typeface="Times"/>
              <a:buChar char="•"/>
              <a:defRPr/>
            </a:pPr>
            <a:r>
              <a:rPr lang="en-US">
                <a:ea typeface="+mn-ea"/>
                <a:cs typeface="+mn-cs"/>
              </a:rPr>
              <a:t>Long-term</a:t>
            </a:r>
            <a:endParaRPr/>
          </a:p>
          <a:p>
            <a:pPr lvl="1">
              <a:defRPr/>
            </a:pPr>
            <a:r>
              <a:rPr lang="en-US"/>
              <a:t>Cryptographic protections</a:t>
            </a:r>
            <a:endParaRPr/>
          </a:p>
          <a:p>
            <a:pPr lvl="2">
              <a:defRPr/>
            </a:pPr>
            <a:r>
              <a:rPr lang="en-US"/>
              <a:t>E.g., DNSSEC, </a:t>
            </a:r>
            <a:r>
              <a:rPr lang="en-US"/>
              <a:t>DNSCurve</a:t>
            </a:r>
            <a:endParaRPr lang="en-US"/>
          </a:p>
          <a:p>
            <a:pPr lvl="1">
              <a:defRPr/>
            </a:pPr>
            <a:r>
              <a:rPr lang="en-US"/>
              <a:t>Require changes to both recursive and authority servers</a:t>
            </a:r>
            <a:endParaRPr/>
          </a:p>
          <a:p>
            <a:pPr lvl="1">
              <a:defRPr/>
            </a:pPr>
            <a:r>
              <a:rPr lang="en-US"/>
              <a:t>A multi-year process</a:t>
            </a:r>
            <a:endParaRPr/>
          </a:p>
          <a:p>
            <a:pPr>
              <a:buFont typeface="Times"/>
              <a:buChar char="•"/>
              <a:defRPr/>
            </a:pPr>
            <a:r>
              <a:rPr lang="en-US">
                <a:ea typeface="+mn-ea"/>
                <a:cs typeface="+mn-cs"/>
              </a:rPr>
              <a:t>Short-term</a:t>
            </a:r>
            <a:endParaRPr/>
          </a:p>
          <a:p>
            <a:pPr lvl="1">
              <a:defRPr/>
            </a:pPr>
            <a:r>
              <a:rPr lang="en-US"/>
              <a:t>Only change the recursive server (local DNS).</a:t>
            </a:r>
            <a:endParaRPr/>
          </a:p>
          <a:p>
            <a:pPr lvl="1">
              <a:defRPr/>
            </a:pPr>
            <a:r>
              <a:rPr lang="en-US"/>
              <a:t>Easy to adopt</a:t>
            </a:r>
            <a:endParaRPr/>
          </a:p>
        </p:txBody>
      </p:sp>
      <p:sp>
        <p:nvSpPr>
          <p:cNvPr id="1352443670" name="Slide Number Placeholder 4"/>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C4701E36-DFFF-5D42-96C5-7F0FD6C253DD}" type="slidenum">
              <a:rPr lang="en-US" sz="1400">
                <a:solidFill>
                  <a:srgbClr val="254C9C"/>
                </a:solidFill>
                <a:latin typeface="Arial"/>
              </a:rPr>
              <a:t>25</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7194361" name="Title 1"/>
          <p:cNvSpPr>
            <a:spLocks noGrp="1"/>
          </p:cNvSpPr>
          <p:nvPr>
            <p:ph type="title"/>
          </p:nvPr>
        </p:nvSpPr>
        <p:spPr bwMode="auto"/>
        <p:txBody>
          <a:bodyPr/>
          <a:lstStyle/>
          <a:p>
            <a:pPr>
              <a:defRPr/>
            </a:pPr>
            <a:r>
              <a:rPr lang="en-US">
                <a:ea typeface="ＭＳ Ｐゴシック"/>
              </a:rPr>
              <a:t>Short-Term Defenses</a:t>
            </a:r>
            <a:endParaRPr/>
          </a:p>
        </p:txBody>
      </p:sp>
      <p:sp>
        <p:nvSpPr>
          <p:cNvPr id="1894442046" name="Content Placeholder 2"/>
          <p:cNvSpPr>
            <a:spLocks noGrp="1"/>
          </p:cNvSpPr>
          <p:nvPr>
            <p:ph idx="1"/>
          </p:nvPr>
        </p:nvSpPr>
        <p:spPr bwMode="auto"/>
        <p:txBody>
          <a:bodyPr/>
          <a:lstStyle/>
          <a:p>
            <a:pPr>
              <a:defRPr/>
            </a:pPr>
            <a:r>
              <a:rPr lang="en-US">
                <a:ea typeface="ＭＳ Ｐゴシック"/>
              </a:rPr>
              <a:t>Source port randomization</a:t>
            </a:r>
            <a:endParaRPr/>
          </a:p>
          <a:p>
            <a:pPr lvl="1">
              <a:defRPr/>
            </a:pPr>
            <a:r>
              <a:rPr lang="en-US">
                <a:ea typeface="ＭＳ Ｐゴシック"/>
              </a:rPr>
              <a:t>Add up to 16 bits of entropy</a:t>
            </a:r>
            <a:endParaRPr/>
          </a:p>
          <a:p>
            <a:pPr lvl="1">
              <a:defRPr/>
            </a:pPr>
            <a:r>
              <a:rPr lang="en-US">
                <a:ea typeface="ＭＳ Ｐゴシック"/>
              </a:rPr>
              <a:t>NAT could de-randomize the port</a:t>
            </a:r>
            <a:endParaRPr/>
          </a:p>
          <a:p>
            <a:pPr lvl="1">
              <a:defRPr/>
            </a:pPr>
            <a:endParaRPr lang="en-US">
              <a:ea typeface="ＭＳ Ｐゴシック"/>
            </a:endParaRPr>
          </a:p>
          <a:p>
            <a:pPr>
              <a:defRPr/>
            </a:pPr>
            <a:r>
              <a:rPr lang="en-US">
                <a:ea typeface="ＭＳ Ｐゴシック"/>
              </a:rPr>
              <a:t>DNS 0x20 encoding</a:t>
            </a:r>
            <a:endParaRPr/>
          </a:p>
          <a:p>
            <a:pPr lvl="1">
              <a:defRPr/>
            </a:pPr>
            <a:r>
              <a:rPr lang="en-US">
                <a:ea typeface="ＭＳ Ｐゴシック"/>
              </a:rPr>
              <a:t>From Georgia tech, CCS 2008</a:t>
            </a:r>
            <a:endParaRPr/>
          </a:p>
          <a:p>
            <a:pPr lvl="1">
              <a:defRPr/>
            </a:pPr>
            <a:endParaRPr lang="en-US">
              <a:ea typeface="ＭＳ Ｐゴシック"/>
            </a:endParaRPr>
          </a:p>
          <a:p>
            <a:pPr>
              <a:defRPr/>
            </a:pPr>
            <a:r>
              <a:rPr lang="en-US">
                <a:ea typeface="ＭＳ Ｐゴシック"/>
              </a:rPr>
              <a:t>Tighter logic for accepting responses</a:t>
            </a:r>
            <a:endParaRPr/>
          </a:p>
        </p:txBody>
      </p:sp>
      <p:sp>
        <p:nvSpPr>
          <p:cNvPr id="3216952" name="Slide Number Placeholder 4"/>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438C4F78-281A-894C-95C4-3912876212FE}" type="slidenum">
              <a:rPr lang="en-US" sz="1400">
                <a:solidFill>
                  <a:srgbClr val="254C9C"/>
                </a:solidFill>
                <a:latin typeface="Arial"/>
              </a:rPr>
              <a:t>26</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3547036" name="Title 1"/>
          <p:cNvSpPr>
            <a:spLocks noGrp="1"/>
          </p:cNvSpPr>
          <p:nvPr>
            <p:ph type="title"/>
          </p:nvPr>
        </p:nvSpPr>
        <p:spPr bwMode="auto"/>
        <p:txBody>
          <a:bodyPr/>
          <a:lstStyle/>
          <a:p>
            <a:pPr>
              <a:defRPr/>
            </a:pPr>
            <a:r>
              <a:rPr lang="en-US">
                <a:ea typeface="ＭＳ Ｐゴシック"/>
              </a:rPr>
              <a:t>DNS-0x20 Bit Encoding</a:t>
            </a:r>
            <a:endParaRPr/>
          </a:p>
        </p:txBody>
      </p:sp>
      <p:sp>
        <p:nvSpPr>
          <p:cNvPr id="1994677723" name="Content Placeholder 2"/>
          <p:cNvSpPr>
            <a:spLocks noGrp="1"/>
          </p:cNvSpPr>
          <p:nvPr>
            <p:ph idx="1"/>
          </p:nvPr>
        </p:nvSpPr>
        <p:spPr bwMode="auto">
          <a:xfrm>
            <a:off x="1981200" y="1600201"/>
            <a:ext cx="8305800" cy="4525963"/>
          </a:xfrm>
        </p:spPr>
        <p:txBody>
          <a:bodyPr/>
          <a:lstStyle/>
          <a:p>
            <a:pPr>
              <a:defRPr/>
            </a:pPr>
            <a:r>
              <a:rPr lang="en-US">
                <a:ea typeface="ＭＳ Ｐゴシック"/>
              </a:rPr>
              <a:t>DNS labels are case insensitive</a:t>
            </a:r>
            <a:endParaRPr/>
          </a:p>
          <a:p>
            <a:pPr lvl="1">
              <a:defRPr/>
            </a:pPr>
            <a:endParaRPr lang="en-US">
              <a:ea typeface="ＭＳ Ｐゴシック"/>
            </a:endParaRPr>
          </a:p>
          <a:p>
            <a:pPr>
              <a:defRPr/>
            </a:pPr>
            <a:r>
              <a:rPr lang="en-US">
                <a:ea typeface="ＭＳ Ｐゴシック"/>
              </a:rPr>
              <a:t>Matching and resolution is entirely case insensitive</a:t>
            </a:r>
            <a:endParaRPr/>
          </a:p>
          <a:p>
            <a:pPr lvl="1">
              <a:defRPr/>
            </a:pPr>
            <a:endParaRPr lang="en-US">
              <a:ea typeface="ＭＳ Ｐゴシック"/>
            </a:endParaRPr>
          </a:p>
          <a:p>
            <a:pPr>
              <a:defRPr/>
            </a:pPr>
            <a:r>
              <a:rPr lang="en-US">
                <a:ea typeface="ＭＳ Ｐゴシック"/>
              </a:rPr>
              <a:t>A resolver can query in any case pattern</a:t>
            </a:r>
            <a:endParaRPr/>
          </a:p>
          <a:p>
            <a:pPr lvl="1">
              <a:defRPr/>
            </a:pPr>
            <a:r>
              <a:rPr lang="en-US">
                <a:ea typeface="ＭＳ Ｐゴシック"/>
              </a:rPr>
              <a:t>E.g., </a:t>
            </a:r>
            <a:r>
              <a:rPr lang="en-US">
                <a:ea typeface="ＭＳ Ｐゴシック"/>
              </a:rPr>
              <a:t>WwW.ExAmpLe.cOM</a:t>
            </a:r>
            <a:endParaRPr lang="en-US">
              <a:ea typeface="ＭＳ Ｐゴシック"/>
            </a:endParaRPr>
          </a:p>
          <a:p>
            <a:pPr lvl="1">
              <a:defRPr/>
            </a:pPr>
            <a:r>
              <a:rPr lang="en-US">
                <a:ea typeface="ＭＳ Ｐゴシック"/>
              </a:rPr>
              <a:t>It will get the answer for </a:t>
            </a:r>
            <a:r>
              <a:rPr lang="en-US">
                <a:ea typeface="ＭＳ Ｐゴシック"/>
              </a:rPr>
              <a:t>www.example.com</a:t>
            </a:r>
            <a:endParaRPr lang="en-US">
              <a:ea typeface="ＭＳ Ｐゴシック"/>
            </a:endParaRPr>
          </a:p>
        </p:txBody>
      </p:sp>
      <p:sp>
        <p:nvSpPr>
          <p:cNvPr id="1374870217" name="Slide Number Placeholder 4"/>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3E90D726-5384-3F41-8C61-2B217153D948}" type="slidenum">
              <a:rPr lang="en-US" sz="1400">
                <a:solidFill>
                  <a:srgbClr val="254C9C"/>
                </a:solidFill>
                <a:latin typeface="Arial"/>
              </a:rPr>
              <a:t>27</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3010435" name="Title 1"/>
          <p:cNvSpPr>
            <a:spLocks noGrp="1"/>
          </p:cNvSpPr>
          <p:nvPr>
            <p:ph type="title"/>
          </p:nvPr>
        </p:nvSpPr>
        <p:spPr bwMode="auto"/>
        <p:txBody>
          <a:bodyPr/>
          <a:lstStyle/>
          <a:p>
            <a:pPr>
              <a:defRPr/>
            </a:pPr>
            <a:r>
              <a:rPr lang="en-US">
                <a:ea typeface="ＭＳ Ｐゴシック"/>
              </a:rPr>
              <a:t>DNS-0x20 DNS Encoding (cont’)</a:t>
            </a:r>
            <a:endParaRPr/>
          </a:p>
        </p:txBody>
      </p:sp>
      <p:sp>
        <p:nvSpPr>
          <p:cNvPr id="85182966" name="Content Placeholder 2"/>
          <p:cNvSpPr>
            <a:spLocks noGrp="1"/>
          </p:cNvSpPr>
          <p:nvPr>
            <p:ph idx="1"/>
          </p:nvPr>
        </p:nvSpPr>
        <p:spPr bwMode="auto">
          <a:xfrm>
            <a:off x="1981200" y="1600200"/>
            <a:ext cx="8229600" cy="4800600"/>
          </a:xfrm>
        </p:spPr>
        <p:txBody>
          <a:bodyPr/>
          <a:lstStyle/>
          <a:p>
            <a:pPr>
              <a:lnSpc>
                <a:spcPct val="80000"/>
              </a:lnSpc>
              <a:defRPr/>
            </a:pPr>
            <a:r>
              <a:rPr lang="en-US" sz="2600">
                <a:ea typeface="ＭＳ Ｐゴシック"/>
              </a:rPr>
              <a:t>The mixed pattern of upper and lower case letters constitutes a channel, which can be used to improve DNS security</a:t>
            </a:r>
            <a:endParaRPr/>
          </a:p>
          <a:p>
            <a:pPr lvl="1">
              <a:lnSpc>
                <a:spcPct val="80000"/>
              </a:lnSpc>
              <a:defRPr/>
            </a:pPr>
            <a:r>
              <a:rPr lang="en-US" sz="2200">
                <a:ea typeface="ＭＳ Ｐゴシック"/>
              </a:rPr>
              <a:t>Only the real server knows the correct pattern</a:t>
            </a:r>
            <a:endParaRPr/>
          </a:p>
          <a:p>
            <a:pPr marL="0" indent="0">
              <a:lnSpc>
                <a:spcPct val="80000"/>
              </a:lnSpc>
              <a:buNone/>
              <a:defRPr/>
            </a:pPr>
            <a:endParaRPr lang="en-US" sz="2600">
              <a:ea typeface="ＭＳ Ｐゴシック"/>
            </a:endParaRPr>
          </a:p>
          <a:p>
            <a:pPr>
              <a:lnSpc>
                <a:spcPct val="80000"/>
              </a:lnSpc>
              <a:defRPr/>
            </a:pPr>
            <a:r>
              <a:rPr lang="en-US" sz="2600">
                <a:ea typeface="ＭＳ Ｐゴシック"/>
              </a:rPr>
              <a:t>A DNS response contains the query being asked</a:t>
            </a:r>
            <a:endParaRPr/>
          </a:p>
          <a:p>
            <a:pPr lvl="1">
              <a:lnSpc>
                <a:spcPct val="80000"/>
              </a:lnSpc>
              <a:defRPr/>
            </a:pPr>
            <a:endParaRPr lang="en-US" sz="2200">
              <a:ea typeface="ＭＳ Ｐゴシック"/>
            </a:endParaRPr>
          </a:p>
          <a:p>
            <a:pPr>
              <a:lnSpc>
                <a:spcPct val="80000"/>
              </a:lnSpc>
              <a:defRPr/>
            </a:pPr>
            <a:r>
              <a:rPr lang="en-US" sz="2600">
                <a:ea typeface="ＭＳ Ｐゴシック"/>
              </a:rPr>
              <a:t>When generating the response, the query is copied from the request exactly into the response</a:t>
            </a:r>
            <a:endParaRPr/>
          </a:p>
          <a:p>
            <a:pPr lvl="1">
              <a:lnSpc>
                <a:spcPct val="80000"/>
              </a:lnSpc>
              <a:defRPr/>
            </a:pPr>
            <a:r>
              <a:rPr lang="en-US" sz="2200">
                <a:ea typeface="ＭＳ Ｐゴシック"/>
              </a:rPr>
              <a:t>The case pattern of the query is preserved in the response</a:t>
            </a:r>
            <a:endParaRPr/>
          </a:p>
          <a:p>
            <a:pPr lvl="1">
              <a:lnSpc>
                <a:spcPct val="80000"/>
              </a:lnSpc>
              <a:defRPr/>
            </a:pPr>
            <a:endParaRPr lang="en-US" sz="2200">
              <a:ea typeface="ＭＳ Ｐゴシック"/>
            </a:endParaRPr>
          </a:p>
          <a:p>
            <a:pPr>
              <a:lnSpc>
                <a:spcPct val="80000"/>
              </a:lnSpc>
              <a:defRPr/>
            </a:pPr>
            <a:r>
              <a:rPr lang="en-US" sz="2600">
                <a:ea typeface="ＭＳ Ｐゴシック"/>
              </a:rPr>
              <a:t>Open source implementations exhibit this behavior</a:t>
            </a:r>
            <a:endParaRPr/>
          </a:p>
          <a:p>
            <a:pPr lvl="1">
              <a:lnSpc>
                <a:spcPct val="80000"/>
              </a:lnSpc>
              <a:defRPr/>
            </a:pPr>
            <a:r>
              <a:rPr lang="en-US" sz="2200">
                <a:ea typeface="ＭＳ Ｐゴシック"/>
              </a:rPr>
              <a:t>The DNS request is rewritten in place</a:t>
            </a:r>
            <a:endParaRPr/>
          </a:p>
          <a:p>
            <a:pPr lvl="1">
              <a:lnSpc>
                <a:spcPct val="80000"/>
              </a:lnSpc>
              <a:defRPr/>
            </a:pPr>
            <a:endParaRPr lang="en-US" sz="2200">
              <a:ea typeface="ＭＳ Ｐゴシック"/>
            </a:endParaRPr>
          </a:p>
        </p:txBody>
      </p:sp>
      <p:sp>
        <p:nvSpPr>
          <p:cNvPr id="205427055" name="Slide Number Placeholder 4"/>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4E10A9B5-ACBB-134D-8CFB-EC9339A23AB5}" type="slidenum">
              <a:rPr lang="en-US" sz="1400">
                <a:solidFill>
                  <a:srgbClr val="254C9C"/>
                </a:solidFill>
                <a:latin typeface="Arial"/>
              </a:rPr>
              <a:t>28</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5894088" name="Title 1"/>
          <p:cNvSpPr>
            <a:spLocks noGrp="1"/>
          </p:cNvSpPr>
          <p:nvPr>
            <p:ph type="title"/>
          </p:nvPr>
        </p:nvSpPr>
        <p:spPr bwMode="auto"/>
        <p:txBody>
          <a:bodyPr/>
          <a:lstStyle/>
          <a:p>
            <a:pPr>
              <a:defRPr/>
            </a:pPr>
            <a:r>
              <a:rPr lang="en-US">
                <a:ea typeface="ＭＳ Ｐゴシック"/>
              </a:rPr>
              <a:t>Query Encoding</a:t>
            </a:r>
            <a:endParaRPr/>
          </a:p>
        </p:txBody>
      </p:sp>
      <p:sp>
        <p:nvSpPr>
          <p:cNvPr id="34837623" name="Content Placeholder 2"/>
          <p:cNvSpPr>
            <a:spLocks noGrp="1"/>
          </p:cNvSpPr>
          <p:nvPr>
            <p:ph idx="1"/>
          </p:nvPr>
        </p:nvSpPr>
        <p:spPr bwMode="auto">
          <a:xfrm>
            <a:off x="1981200" y="1600200"/>
            <a:ext cx="3962400" cy="4495800"/>
          </a:xfrm>
        </p:spPr>
        <p:txBody>
          <a:bodyPr/>
          <a:lstStyle/>
          <a:p>
            <a:pPr>
              <a:defRPr/>
            </a:pPr>
            <a:r>
              <a:rPr lang="en-US" sz="2400">
                <a:ea typeface="ＭＳ Ｐゴシック"/>
              </a:rPr>
              <a:t>Transforms the query into all lowercase</a:t>
            </a:r>
            <a:endParaRPr/>
          </a:p>
          <a:p>
            <a:pPr>
              <a:defRPr/>
            </a:pPr>
            <a:r>
              <a:rPr lang="en-US" sz="2400">
                <a:ea typeface="ＭＳ Ｐゴシック"/>
              </a:rPr>
              <a:t>Encrypt the query with a key shared by all queries on the recursive server (A)</a:t>
            </a:r>
            <a:endParaRPr/>
          </a:p>
          <a:p>
            <a:pPr>
              <a:defRPr/>
            </a:pPr>
            <a:r>
              <a:rPr lang="en-US" sz="2400">
                <a:ea typeface="ＭＳ Ｐゴシック"/>
              </a:rPr>
              <a:t>The cipher text is used to encode the query</a:t>
            </a:r>
            <a:endParaRPr/>
          </a:p>
          <a:p>
            <a:pPr lvl="1">
              <a:defRPr/>
            </a:pPr>
            <a:r>
              <a:rPr lang="en-US" sz="2000">
                <a:ea typeface="ＭＳ Ｐゴシック"/>
              </a:rPr>
              <a:t>0:  buff[</a:t>
            </a:r>
            <a:r>
              <a:rPr lang="en-US" sz="2000">
                <a:ea typeface="ＭＳ Ｐゴシック"/>
              </a:rPr>
              <a:t>i</a:t>
            </a:r>
            <a:r>
              <a:rPr lang="en-US" sz="2000">
                <a:ea typeface="ＭＳ Ｐゴシック"/>
              </a:rPr>
              <a:t>]  |=   0x20 (upper)</a:t>
            </a:r>
            <a:endParaRPr/>
          </a:p>
          <a:p>
            <a:pPr lvl="1">
              <a:defRPr/>
            </a:pPr>
            <a:r>
              <a:rPr lang="en-US" sz="2000">
                <a:ea typeface="ＭＳ Ｐゴシック"/>
              </a:rPr>
              <a:t>1:  buff[</a:t>
            </a:r>
            <a:r>
              <a:rPr lang="en-US" sz="2000">
                <a:ea typeface="ＭＳ Ｐゴシック"/>
              </a:rPr>
              <a:t>i</a:t>
            </a:r>
            <a:r>
              <a:rPr lang="en-US" sz="2000">
                <a:ea typeface="ＭＳ Ｐゴシック"/>
              </a:rPr>
              <a:t>]  &amp;=  0x20 (lower)</a:t>
            </a:r>
            <a:endParaRPr/>
          </a:p>
        </p:txBody>
      </p:sp>
      <p:pic>
        <p:nvPicPr>
          <p:cNvPr id="343928295" name="Picture 2" descr="0X20 encoding&#10;"/>
          <p:cNvPicPr>
            <a:picLocks noChangeAspect="1" noChangeArrowheads="1"/>
          </p:cNvPicPr>
          <p:nvPr/>
        </p:nvPicPr>
        <p:blipFill rotWithShape="1">
          <a:blip r:embed="rId3"/>
          <a:stretch/>
        </p:blipFill>
        <p:spPr bwMode="auto">
          <a:xfrm>
            <a:off x="5943600" y="1524000"/>
            <a:ext cx="4629150" cy="4724399"/>
          </a:xfrm>
          <a:prstGeom prst="rect">
            <a:avLst/>
          </a:prstGeom>
          <a:noFill/>
          <a:ln>
            <a:noFill/>
          </a:ln>
        </p:spPr>
      </p:pic>
      <p:sp>
        <p:nvSpPr>
          <p:cNvPr id="2124872234" name="Slide Number Placeholder 5"/>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1C2C8F2C-8791-0C4F-8CAE-F37CF39FC5DD}" type="slidenum">
              <a:rPr lang="en-US" sz="1400">
                <a:solidFill>
                  <a:srgbClr val="254C9C"/>
                </a:solidFill>
                <a:latin typeface="Arial"/>
              </a:rPr>
              <a:t>29</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0768888" name="Title 1"/>
          <p:cNvSpPr>
            <a:spLocks noGrp="1"/>
          </p:cNvSpPr>
          <p:nvPr>
            <p:ph type="title"/>
          </p:nvPr>
        </p:nvSpPr>
        <p:spPr bwMode="auto"/>
        <p:txBody>
          <a:bodyPr/>
          <a:lstStyle/>
          <a:p>
            <a:pPr>
              <a:defRPr/>
            </a:pPr>
            <a:r>
              <a:rPr lang="en-US">
                <a:ea typeface="ＭＳ Ｐゴシック"/>
              </a:rPr>
              <a:t>DNS-0x20 Encoding Analysis</a:t>
            </a:r>
            <a:endParaRPr/>
          </a:p>
        </p:txBody>
      </p:sp>
      <p:sp>
        <p:nvSpPr>
          <p:cNvPr id="2096019673" name="Content Placeholder 2"/>
          <p:cNvSpPr>
            <a:spLocks noGrp="1"/>
          </p:cNvSpPr>
          <p:nvPr>
            <p:ph idx="1"/>
          </p:nvPr>
        </p:nvSpPr>
        <p:spPr bwMode="auto"/>
        <p:txBody>
          <a:bodyPr/>
          <a:lstStyle/>
          <a:p>
            <a:pPr>
              <a:defRPr/>
            </a:pPr>
            <a:r>
              <a:rPr lang="en-US">
                <a:ea typeface="ＭＳ Ｐゴシック"/>
              </a:rPr>
              <a:t>Do existing authority servers preserve the case pattern?</a:t>
            </a:r>
            <a:endParaRPr/>
          </a:p>
          <a:p>
            <a:pPr lvl="1">
              <a:defRPr/>
            </a:pPr>
            <a:r>
              <a:rPr lang="en-US">
                <a:ea typeface="ＭＳ Ｐゴシック"/>
              </a:rPr>
              <a:t>Yes</a:t>
            </a:r>
            <a:endParaRPr/>
          </a:p>
        </p:txBody>
      </p:sp>
      <p:sp>
        <p:nvSpPr>
          <p:cNvPr id="1411054433" name="Slide Number Placeholder 5"/>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3535E2D0-01BF-074A-B966-0E707EB7FFDD}" type="slidenum">
              <a:rPr lang="en-US" sz="1400">
                <a:solidFill>
                  <a:srgbClr val="254C9C"/>
                </a:solidFill>
                <a:latin typeface="Arial"/>
              </a:rPr>
              <a:t>30</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3144264" name="Slide Number Placeholder 5"/>
          <p:cNvSpPr>
            <a:spLocks noGrp="1"/>
          </p:cNvSpPr>
          <p:nvPr>
            <p:ph type="sldNum" sz="quarter" idx="12"/>
          </p:nvPr>
        </p:nvSpPr>
        <p:spPr bwMode="auto">
          <a:prstGeom prst="rect">
            <a:avLst/>
          </a:prstGeom>
          <a:noFill/>
          <a:ln/>
        </p:spPr>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19C7AD4C-5AEE-B340-A249-1A3779359B19}" type="slidenum">
              <a:rPr lang="en-US" sz="1400">
                <a:solidFill>
                  <a:srgbClr val="254C9C"/>
                </a:solidFill>
                <a:latin typeface="Arial"/>
              </a:rPr>
              <a:t>31</a:t>
            </a:fld>
            <a:endParaRPr lang="en-US" sz="1400">
              <a:latin typeface="Arial"/>
            </a:endParaRPr>
          </a:p>
        </p:txBody>
      </p:sp>
      <p:sp>
        <p:nvSpPr>
          <p:cNvPr id="459130575" name="Rectangle 2"/>
          <p:cNvSpPr>
            <a:spLocks noChangeArrowheads="1" noGrp="1"/>
          </p:cNvSpPr>
          <p:nvPr>
            <p:ph type="title"/>
          </p:nvPr>
        </p:nvSpPr>
        <p:spPr bwMode="auto"/>
        <p:txBody>
          <a:bodyPr/>
          <a:lstStyle/>
          <a:p>
            <a:pPr>
              <a:defRPr/>
            </a:pPr>
            <a:r>
              <a:rPr lang="en-US">
                <a:ea typeface="ＭＳ Ｐゴシック"/>
              </a:rPr>
              <a:t>Other DNS attacks</a:t>
            </a:r>
            <a:endParaRPr/>
          </a:p>
        </p:txBody>
      </p:sp>
      <p:sp>
        <p:nvSpPr>
          <p:cNvPr id="1950005657" name="Rectangle 3"/>
          <p:cNvSpPr>
            <a:spLocks noChangeArrowheads="1" noGrp="1"/>
          </p:cNvSpPr>
          <p:nvPr>
            <p:ph type="body" idx="1"/>
          </p:nvPr>
        </p:nvSpPr>
        <p:spPr bwMode="auto"/>
        <p:txBody>
          <a:bodyPr/>
          <a:lstStyle/>
          <a:p>
            <a:pPr>
              <a:defRPr/>
            </a:pPr>
            <a:r>
              <a:rPr lang="en-US">
                <a:ea typeface="ＭＳ Ｐゴシック"/>
              </a:rPr>
              <a:t>Attacking home routers/gateways</a:t>
            </a:r>
            <a:endParaRPr/>
          </a:p>
          <a:p>
            <a:pPr>
              <a:defRPr/>
            </a:pPr>
            <a:endParaRPr lang="en-US">
              <a:ea typeface="ＭＳ Ｐゴシック"/>
            </a:endParaRPr>
          </a:p>
          <a:p>
            <a:pPr>
              <a:defRPr/>
            </a:pPr>
            <a:r>
              <a:rPr lang="en-US">
                <a:ea typeface="ＭＳ Ｐゴシック"/>
              </a:rPr>
              <a:t>Incidence in Mexico in 2008</a:t>
            </a:r>
            <a:endParaRPr/>
          </a:p>
          <a:p>
            <a:pPr lvl="1">
              <a:defRPr/>
            </a:pPr>
            <a:r>
              <a:rPr lang="en-US">
                <a:ea typeface="ＭＳ Ｐゴシック"/>
              </a:rPr>
              <a:t>an email sent to users</a:t>
            </a:r>
            <a:endParaRPr/>
          </a:p>
          <a:p>
            <a:pPr lvl="1">
              <a:defRPr/>
            </a:pPr>
            <a:r>
              <a:rPr lang="en-US">
                <a:ea typeface="ＭＳ Ｐゴシック"/>
              </a:rPr>
              <a:t>email include URL (HTTP requests) to the HTTP-based interface of wireless routers</a:t>
            </a:r>
            <a:endParaRPr/>
          </a:p>
          <a:p>
            <a:pPr lvl="1">
              <a:defRPr/>
            </a:pPr>
            <a:r>
              <a:rPr lang="en-US">
                <a:ea typeface="ＭＳ Ｐゴシック"/>
              </a:rPr>
              <a:t>using the default password to reconfigure the router/gateway</a:t>
            </a:r>
            <a:endParaRPr/>
          </a:p>
          <a:p>
            <a:pPr>
              <a:defRPr/>
            </a:pPr>
            <a:endParaRPr lang="en-US">
              <a:ea typeface="ＭＳ Ｐゴシック"/>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0745805" name="Title 1"/>
          <p:cNvSpPr>
            <a:spLocks noGrp="1"/>
          </p:cNvSpPr>
          <p:nvPr>
            <p:ph type="title"/>
          </p:nvPr>
        </p:nvSpPr>
        <p:spPr bwMode="auto"/>
        <p:txBody>
          <a:bodyPr/>
          <a:lstStyle/>
          <a:p>
            <a:pPr>
              <a:defRPr/>
            </a:pPr>
            <a:r>
              <a:rPr lang="en-US">
                <a:ea typeface="ＭＳ Ｐゴシック"/>
              </a:rPr>
              <a:t>Long Term Solution</a:t>
            </a:r>
            <a:endParaRPr/>
          </a:p>
        </p:txBody>
      </p:sp>
      <p:sp>
        <p:nvSpPr>
          <p:cNvPr id="1271729334" name="Content Placeholder 2"/>
          <p:cNvSpPr>
            <a:spLocks noGrp="1"/>
          </p:cNvSpPr>
          <p:nvPr>
            <p:ph idx="1"/>
          </p:nvPr>
        </p:nvSpPr>
        <p:spPr bwMode="auto"/>
        <p:txBody>
          <a:bodyPr/>
          <a:lstStyle/>
          <a:p>
            <a:pPr>
              <a:defRPr/>
            </a:pPr>
            <a:r>
              <a:rPr lang="en-US">
                <a:ea typeface="ＭＳ Ｐゴシック"/>
              </a:rPr>
              <a:t>DNSSEC:</a:t>
            </a:r>
            <a:endParaRPr/>
          </a:p>
          <a:p>
            <a:pPr lvl="1">
              <a:defRPr/>
            </a:pPr>
            <a:r>
              <a:rPr lang="en-US">
                <a:ea typeface="ＭＳ Ｐゴシック"/>
              </a:rPr>
              <a:t>Authenticate responses.</a:t>
            </a:r>
            <a:endParaRPr/>
          </a:p>
          <a:p>
            <a:pPr lvl="1">
              <a:defRPr/>
            </a:pPr>
            <a:r>
              <a:rPr lang="en-US">
                <a:ea typeface="ＭＳ Ｐゴシック"/>
              </a:rPr>
              <a:t>Google DNS now is enabled by default.</a:t>
            </a:r>
            <a:endParaRPr/>
          </a:p>
          <a:p>
            <a:pPr>
              <a:defRPr/>
            </a:pPr>
            <a:endParaRPr lang="en-US">
              <a:ea typeface="ＭＳ Ｐゴシック"/>
            </a:endParaRPr>
          </a:p>
          <a:p>
            <a:pPr>
              <a:defRPr/>
            </a:pPr>
            <a:r>
              <a:rPr lang="en-US">
                <a:ea typeface="ＭＳ Ｐゴシック"/>
              </a:rPr>
              <a:t>Challenges in deployment:</a:t>
            </a:r>
            <a:endParaRPr/>
          </a:p>
          <a:p>
            <a:pPr lvl="1">
              <a:defRPr/>
            </a:pPr>
            <a:r>
              <a:rPr lang="en-US">
                <a:ea typeface="ＭＳ Ｐゴシック"/>
              </a:rPr>
              <a:t>Response is large, might no linger fit in single UDP message.</a:t>
            </a:r>
            <a:endParaRPr/>
          </a:p>
          <a:p>
            <a:pPr lvl="1">
              <a:defRPr/>
            </a:pPr>
            <a:r>
              <a:rPr lang="en-US">
                <a:ea typeface="ＭＳ Ｐゴシック"/>
              </a:rPr>
              <a:t>Legacy software and machines.</a:t>
            </a:r>
            <a:br>
              <a:rPr lang="en-US">
                <a:ea typeface="ＭＳ Ｐゴシック"/>
              </a:rPr>
            </a:br>
            <a:endParaRPr lang="en-US">
              <a:ea typeface="ＭＳ Ｐゴシック"/>
            </a:endParaRPr>
          </a:p>
          <a:p>
            <a:pPr>
              <a:defRPr/>
            </a:pPr>
            <a:r>
              <a:rPr lang="en-US">
                <a:ea typeface="ＭＳ Ｐゴシック"/>
              </a:rPr>
              <a:t>Not without problems and controversy</a:t>
            </a:r>
            <a:endParaRPr/>
          </a:p>
        </p:txBody>
      </p:sp>
      <p:sp>
        <p:nvSpPr>
          <p:cNvPr id="1684555484" name="Slide Number Placeholder 5"/>
          <p:cNvSpPr>
            <a:spLocks noGrp="1"/>
          </p:cNvSpPr>
          <p:nvPr>
            <p:ph type="sldNum" sz="quarter" idx="12"/>
          </p:nvPr>
        </p:nvSpPr>
        <p:spPr bwMode="auto"/>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E4A5C476-7D6A-A741-BB2A-A4F18903FADC}" type="slidenum">
              <a:rPr lang="en-US" sz="1400">
                <a:solidFill>
                  <a:srgbClr val="254C9C"/>
                </a:solidFill>
                <a:latin typeface="Arial"/>
              </a:rPr>
              <a:t>32</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1149258" name="Title 1"/>
          <p:cNvSpPr>
            <a:spLocks noGrp="1"/>
          </p:cNvSpPr>
          <p:nvPr>
            <p:ph type="title"/>
          </p:nvPr>
        </p:nvSpPr>
        <p:spPr bwMode="auto"/>
        <p:txBody>
          <a:bodyPr/>
          <a:lstStyle/>
          <a:p>
            <a:pPr>
              <a:defRPr/>
            </a:pPr>
            <a:r>
              <a:rPr lang="en-US"/>
              <a:t>Takeaway</a:t>
            </a:r>
            <a:endParaRPr/>
          </a:p>
        </p:txBody>
      </p:sp>
      <p:sp>
        <p:nvSpPr>
          <p:cNvPr id="479155117" name="Content Placeholder 2"/>
          <p:cNvSpPr>
            <a:spLocks noGrp="1"/>
          </p:cNvSpPr>
          <p:nvPr>
            <p:ph idx="1"/>
          </p:nvPr>
        </p:nvSpPr>
        <p:spPr bwMode="auto"/>
        <p:txBody>
          <a:bodyPr/>
          <a:lstStyle/>
          <a:p>
            <a:pPr>
              <a:defRPr/>
            </a:pPr>
            <a:r>
              <a:rPr lang="en-US"/>
              <a:t>Security problems can be really nuanced</a:t>
            </a:r>
            <a:endParaRPr/>
          </a:p>
          <a:p>
            <a:pPr>
              <a:defRPr/>
            </a:pPr>
            <a:r>
              <a:rPr lang="en-US"/>
              <a:t>More security isn’t better - deep understanding and logical thinking is.</a:t>
            </a:r>
            <a:endParaRPr/>
          </a:p>
          <a:p>
            <a:pPr>
              <a:defRPr/>
            </a:pPr>
            <a:r>
              <a:rPr lang="en-US"/>
              <a:t>Availability is more important than security</a:t>
            </a:r>
            <a:endParaRPr/>
          </a:p>
          <a:p>
            <a:pPr>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7790922" name="Title 1"/>
          <p:cNvSpPr>
            <a:spLocks noGrp="1"/>
          </p:cNvSpPr>
          <p:nvPr>
            <p:ph type="title"/>
          </p:nvPr>
        </p:nvSpPr>
        <p:spPr bwMode="auto"/>
        <p:txBody>
          <a:bodyPr/>
          <a:lstStyle/>
          <a:p>
            <a:pPr>
              <a:defRPr/>
            </a:pPr>
            <a:r>
              <a:rPr lang="en-US">
                <a:ea typeface="ＭＳ Ｐゴシック"/>
              </a:rPr>
              <a:t>Reading List</a:t>
            </a:r>
            <a:endParaRPr/>
          </a:p>
        </p:txBody>
      </p:sp>
      <p:sp>
        <p:nvSpPr>
          <p:cNvPr id="1963154053" name="Content Placeholder 2"/>
          <p:cNvSpPr>
            <a:spLocks noGrp="1"/>
          </p:cNvSpPr>
          <p:nvPr>
            <p:ph idx="1"/>
          </p:nvPr>
        </p:nvSpPr>
        <p:spPr bwMode="auto"/>
        <p:txBody>
          <a:bodyPr/>
          <a:lstStyle/>
          <a:p>
            <a:pPr>
              <a:defRPr/>
            </a:pPr>
            <a:r>
              <a:rPr lang="en-US">
                <a:ea typeface="ＭＳ Ｐゴシック"/>
              </a:rPr>
              <a:t>It’s the end of the cache as we know it</a:t>
            </a:r>
            <a:endParaRPr/>
          </a:p>
          <a:p>
            <a:pPr lvl="1">
              <a:defRPr/>
            </a:pPr>
            <a:r>
              <a:rPr lang="en-US" u="sng">
                <a:ea typeface="ＭＳ Ｐゴシック"/>
                <a:hlinkClick r:id="rId3" tooltip=""/>
              </a:rPr>
              <a:t>https://blackhat.com/presentations/bh-jp-08/bh-jp-08-Kaminsky/BlackHat-Japan-08-Kaminsky-DNS08-BlackOps.pdf</a:t>
            </a:r>
            <a:endParaRPr lang="en-US">
              <a:ea typeface="ＭＳ Ｐゴシック"/>
            </a:endParaRPr>
          </a:p>
          <a:p>
            <a:pPr lvl="1">
              <a:defRPr/>
            </a:pPr>
            <a:endParaRPr lang="en-US">
              <a:ea typeface="ＭＳ Ｐゴシック"/>
            </a:endParaRPr>
          </a:p>
          <a:p>
            <a:pPr>
              <a:defRPr/>
            </a:pPr>
            <a:r>
              <a:rPr lang="en-US" b="1"/>
              <a:t>An Illustrated Guide to the Kaminsky DNS Vulnerability</a:t>
            </a:r>
            <a:endParaRPr/>
          </a:p>
          <a:p>
            <a:pPr lvl="1">
              <a:defRPr/>
            </a:pPr>
            <a:r>
              <a:rPr lang="en-US">
                <a:ea typeface="ＭＳ Ｐゴシック"/>
              </a:rPr>
              <a:t>http://</a:t>
            </a:r>
            <a:r>
              <a:rPr lang="en-US">
                <a:ea typeface="ＭＳ Ｐゴシック"/>
              </a:rPr>
              <a:t>unixwiz.net</a:t>
            </a:r>
            <a:r>
              <a:rPr lang="en-US">
                <a:ea typeface="ＭＳ Ｐゴシック"/>
              </a:rPr>
              <a:t>/</a:t>
            </a:r>
            <a:r>
              <a:rPr lang="en-US">
                <a:ea typeface="ＭＳ Ｐゴシック"/>
              </a:rPr>
              <a:t>techtips</a:t>
            </a:r>
            <a:r>
              <a:rPr lang="en-US">
                <a:ea typeface="ＭＳ Ｐゴシック"/>
              </a:rPr>
              <a:t>/</a:t>
            </a:r>
            <a:r>
              <a:rPr lang="en-US">
                <a:ea typeface="ＭＳ Ｐゴシック"/>
              </a:rPr>
              <a:t>iguide-kaminsky-dns-vuln.html</a:t>
            </a:r>
            <a:endParaRPr lang="en-US">
              <a:ea typeface="ＭＳ Ｐゴシック"/>
            </a:endParaRPr>
          </a:p>
          <a:p>
            <a:pPr>
              <a:defRPr/>
            </a:pPr>
            <a:endParaRPr lang="en-US">
              <a:ea typeface="ＭＳ Ｐゴシック"/>
            </a:endParaRPr>
          </a:p>
        </p:txBody>
      </p:sp>
      <p:sp>
        <p:nvSpPr>
          <p:cNvPr id="898199394" name="Slide Number Placeholder 5"/>
          <p:cNvSpPr>
            <a:spLocks noGrp="1"/>
          </p:cNvSpPr>
          <p:nvPr>
            <p:ph type="sldNum" sz="quarter" idx="12"/>
          </p:nvPr>
        </p:nvSpPr>
        <p:spPr bwMode="auto"/>
        <p:txBody>
          <a:bodyPr/>
          <a:lstStyle>
            <a:lvl1pPr>
              <a:defRPr sz="2400">
                <a:solidFill>
                  <a:schemeClr val="tx1"/>
                </a:solidFill>
                <a:latin typeface="Times New Roman"/>
                <a:ea typeface="ＭＳ Ｐゴシック"/>
              </a:defRPr>
            </a:lvl1pPr>
            <a:lvl2pPr marL="742950" indent="-285750">
              <a:defRPr sz="2400">
                <a:solidFill>
                  <a:schemeClr val="tx1"/>
                </a:solidFill>
                <a:latin typeface="Times New Roman"/>
                <a:ea typeface="ＭＳ Ｐゴシック"/>
              </a:defRPr>
            </a:lvl2pPr>
            <a:lvl3pPr marL="1143000" indent="-228600">
              <a:defRPr sz="2400">
                <a:solidFill>
                  <a:schemeClr val="tx1"/>
                </a:solidFill>
                <a:latin typeface="Times New Roman"/>
                <a:ea typeface="ＭＳ Ｐゴシック"/>
              </a:defRPr>
            </a:lvl3pPr>
            <a:lvl4pPr marL="1600200" indent="-228600">
              <a:defRPr sz="2400">
                <a:solidFill>
                  <a:schemeClr val="tx1"/>
                </a:solidFill>
                <a:latin typeface="Times New Roman"/>
                <a:ea typeface="ＭＳ Ｐゴシック"/>
              </a:defRPr>
            </a:lvl4pPr>
            <a:lvl5pPr marL="2057400" indent="-228600">
              <a:defRPr sz="2400">
                <a:solidFill>
                  <a:schemeClr val="tx1"/>
                </a:solidFill>
                <a:latin typeface="Times New Roman"/>
                <a:ea typeface="ＭＳ Ｐゴシック"/>
              </a:defRPr>
            </a:lvl5pPr>
            <a:lvl6pPr marL="2514600" indent="-228600">
              <a:spcBef>
                <a:spcPts val="0"/>
              </a:spcBef>
              <a:spcAft>
                <a:spcPts val="0"/>
              </a:spcAft>
              <a:defRPr sz="2400">
                <a:solidFill>
                  <a:schemeClr val="tx1"/>
                </a:solidFill>
                <a:latin typeface="Times New Roman"/>
                <a:ea typeface="ＭＳ Ｐゴシック"/>
              </a:defRPr>
            </a:lvl6pPr>
            <a:lvl7pPr marL="2971800" indent="-228600">
              <a:spcBef>
                <a:spcPts val="0"/>
              </a:spcBef>
              <a:spcAft>
                <a:spcPts val="0"/>
              </a:spcAft>
              <a:defRPr sz="2400">
                <a:solidFill>
                  <a:schemeClr val="tx1"/>
                </a:solidFill>
                <a:latin typeface="Times New Roman"/>
                <a:ea typeface="ＭＳ Ｐゴシック"/>
              </a:defRPr>
            </a:lvl7pPr>
            <a:lvl8pPr marL="3429000" indent="-228600">
              <a:spcBef>
                <a:spcPts val="0"/>
              </a:spcBef>
              <a:spcAft>
                <a:spcPts val="0"/>
              </a:spcAft>
              <a:defRPr sz="2400">
                <a:solidFill>
                  <a:schemeClr val="tx1"/>
                </a:solidFill>
                <a:latin typeface="Times New Roman"/>
                <a:ea typeface="ＭＳ Ｐゴシック"/>
              </a:defRPr>
            </a:lvl8pPr>
            <a:lvl9pPr marL="3886200" indent="-228600">
              <a:spcBef>
                <a:spcPts val="0"/>
              </a:spcBef>
              <a:spcAft>
                <a:spcPts val="0"/>
              </a:spcAft>
              <a:defRPr sz="2400">
                <a:solidFill>
                  <a:schemeClr val="tx1"/>
                </a:solidFill>
                <a:latin typeface="Times New Roman"/>
                <a:ea typeface="ＭＳ Ｐゴシック"/>
              </a:defRPr>
            </a:lvl9pPr>
          </a:lstStyle>
          <a:p>
            <a:pPr>
              <a:defRPr/>
            </a:pPr>
            <a:fld id="{E4A5C476-7D6A-A741-BB2A-A4F18903FADC}" type="slidenum">
              <a:rPr lang="en-US" sz="1400">
                <a:solidFill>
                  <a:srgbClr val="254C9C"/>
                </a:solidFill>
                <a:latin typeface="Arial"/>
              </a:rPr>
              <a:t>34</a:t>
            </a:fld>
            <a:endParaRPr lang="en-US" sz="14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4688347" name="PlaceHolder 1"/>
          <p:cNvSpPr>
            <a:spLocks noGrp="1"/>
          </p:cNvSpPr>
          <p:nvPr>
            <p:ph type="title"/>
          </p:nvPr>
        </p:nvSpPr>
        <p:spPr bwMode="auto">
          <a:xfrm>
            <a:off x="3311716" y="1337084"/>
            <a:ext cx="7772039" cy="1717200"/>
          </a:xfrm>
          <a:prstGeom prst="rect">
            <a:avLst/>
          </a:prstGeom>
          <a:noFill/>
          <a:ln w="0">
            <a:noFill/>
          </a:ln>
        </p:spPr>
        <p:txBody>
          <a:bodyPr vert="horz" lIns="50760" tIns="50760" rIns="39240" bIns="50760" numCol="1" spcCol="0" rtlCol="0" anchor="b">
            <a:noAutofit/>
          </a:bodyPr>
          <a:lstStyle/>
          <a:p>
            <a:pPr marL="38160" algn="ctr">
              <a:lnSpc>
                <a:spcPct val="100000"/>
              </a:lnSpc>
              <a:tabLst>
                <a:tab pos="38160" algn="l"/>
                <a:tab pos="482760" algn="l"/>
                <a:tab pos="939960" algn="l"/>
                <a:tab pos="1384200" algn="l"/>
                <a:tab pos="1828800" algn="l"/>
                <a:tab pos="2286000" algn="l"/>
                <a:tab pos="2730600" algn="l"/>
                <a:tab pos="3187800" algn="l"/>
                <a:tab pos="3632040" algn="l"/>
                <a:tab pos="4076640" algn="l"/>
                <a:tab pos="4533840" algn="l"/>
                <a:tab pos="4978440" algn="l"/>
                <a:tab pos="5423039" algn="l"/>
                <a:tab pos="5880240" algn="l"/>
                <a:tab pos="6324480" algn="l"/>
                <a:tab pos="6781680" algn="l"/>
                <a:tab pos="7226280" algn="l"/>
                <a:tab pos="7670880" algn="l"/>
                <a:tab pos="8128080" algn="l"/>
                <a:tab pos="8572680" algn="l"/>
                <a:tab pos="9016920" algn="l"/>
                <a:tab pos="9182160" algn="l"/>
              </a:tabLst>
              <a:defRPr/>
            </a:pPr>
            <a:r>
              <a:rPr lang="en-US" sz="5800" spc="-1">
                <a:solidFill>
                  <a:schemeClr val="dk1"/>
                </a:solidFill>
                <a:latin typeface="Gill Sans"/>
                <a:ea typeface="ヒラギノ角ゴ ProN W3"/>
              </a:rPr>
              <a:t>CSC4780</a:t>
            </a:r>
            <a:endParaRPr lang="en-US" sz="5800" spc="-1">
              <a:solidFill>
                <a:srgbClr val="000000"/>
              </a:solidFill>
              <a:latin typeface="Times New Roman"/>
            </a:endParaRPr>
          </a:p>
        </p:txBody>
      </p:sp>
      <p:sp>
        <p:nvSpPr>
          <p:cNvPr id="1407982299" name="PlaceHolder 2"/>
          <p:cNvSpPr>
            <a:spLocks noGrp="1"/>
          </p:cNvSpPr>
          <p:nvPr>
            <p:ph/>
          </p:nvPr>
        </p:nvSpPr>
        <p:spPr bwMode="auto">
          <a:xfrm>
            <a:off x="2438400" y="4017818"/>
            <a:ext cx="8797636" cy="3698781"/>
          </a:xfrm>
          <a:prstGeom prst="rect">
            <a:avLst/>
          </a:prstGeom>
          <a:noFill/>
          <a:ln w="0">
            <a:noFill/>
          </a:ln>
        </p:spPr>
        <p:txBody>
          <a:bodyPr vert="horz" lIns="50760" tIns="50760" rIns="39240" bIns="50760" numCol="1" spcCol="0" rtlCol="0" anchor="t">
            <a:noAutofit/>
          </a:bodyPr>
          <a:lstStyle/>
          <a:p>
            <a:pPr marL="495360" algn="ctr">
              <a:lnSpc>
                <a:spcPct val="100000"/>
              </a:lnSpc>
              <a:tabLst>
                <a:tab pos="495360" algn="l"/>
                <a:tab pos="939960" algn="l"/>
                <a:tab pos="1397160" algn="l"/>
                <a:tab pos="1841400" algn="l"/>
                <a:tab pos="2286000" algn="l"/>
                <a:tab pos="2743200" algn="l"/>
                <a:tab pos="3187800" algn="l"/>
                <a:tab pos="3645000" algn="l"/>
                <a:tab pos="4089240" algn="l"/>
                <a:tab pos="4533840" algn="l"/>
                <a:tab pos="4991039" algn="l"/>
                <a:tab pos="5435640" algn="l"/>
                <a:tab pos="5880240" algn="l"/>
                <a:tab pos="6337440" algn="l"/>
                <a:tab pos="6781680" algn="l"/>
                <a:tab pos="7238880" algn="l"/>
                <a:tab pos="7683480" algn="l"/>
                <a:tab pos="8128080" algn="l"/>
                <a:tab pos="8585280" algn="l"/>
                <a:tab pos="9029880" algn="l"/>
                <a:tab pos="9474120" algn="l"/>
                <a:tab pos="10096560" algn="l"/>
              </a:tabLst>
              <a:defRPr/>
            </a:pPr>
            <a:r>
              <a:rPr lang="en-US" sz="2700" spc="-1">
                <a:solidFill>
                  <a:schemeClr val="dk1"/>
                </a:solidFill>
                <a:latin typeface="Gill Sans"/>
                <a:ea typeface="ヒラギノ角ゴ ProN W3"/>
              </a:rPr>
              <a:t>DNSSEC</a:t>
            </a:r>
            <a:br>
              <a:rPr sz="2700"/>
            </a:br>
            <a:br>
              <a:rPr sz="2700"/>
            </a:br>
            <a:br>
              <a:rPr sz="2700"/>
            </a:br>
            <a:r>
              <a:rPr lang="en-US" sz="2700" spc="-1">
                <a:solidFill>
                  <a:schemeClr val="dk1"/>
                </a:solidFill>
                <a:latin typeface="Gill Sans"/>
                <a:ea typeface="ヒラギノ角ゴ ProN W3"/>
              </a:rPr>
              <a:t>Slides adapted from Olag Kampman and Bill Manning and Jeff Houston</a:t>
            </a:r>
            <a:endParaRPr lang="en-US" sz="27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8737105"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5800" spc="-1">
                <a:solidFill>
                  <a:srgbClr val="275742"/>
                </a:solidFill>
                <a:latin typeface="Gill Sans"/>
                <a:ea typeface="ヒラギノ角ゴ ProN W3"/>
              </a:rPr>
              <a:t>DNSSEC Mechanisms</a:t>
            </a:r>
            <a:endParaRPr lang="en-US" sz="5800" spc="-1">
              <a:solidFill>
                <a:srgbClr val="000000"/>
              </a:solidFill>
              <a:latin typeface="Times New Roman"/>
            </a:endParaRPr>
          </a:p>
        </p:txBody>
      </p:sp>
      <p:sp>
        <p:nvSpPr>
          <p:cNvPr id="148148061"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a:lnSpc>
                <a:spcPct val="100000"/>
              </a:lnSpc>
              <a:spcBef>
                <a:spcPts val="799"/>
              </a:spcBef>
              <a:defRPr/>
            </a:pP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 New Resource Records</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 Setting Up a Secure Zone</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 Delegating Signing Authority</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815624800" name="Group 3"/>
          <p:cNvGrpSpPr/>
          <p:nvPr/>
        </p:nvGrpSpPr>
        <p:grpSpPr bwMode="auto">
          <a:xfrm>
            <a:off x="6324601" y="5880240"/>
            <a:ext cx="1592273" cy="563040"/>
            <a:chOff x="4800600" y="5880240"/>
            <a:chExt cx="1592273" cy="563040"/>
          </a:xfrm>
        </p:grpSpPr>
        <p:pic>
          <p:nvPicPr>
            <p:cNvPr id="260" name="Picture 1"/>
            <p:cNvPicPr/>
            <p:nvPr/>
          </p:nvPicPr>
          <p:blipFill rotWithShape="1">
            <a:blip r:embed="rId3"/>
            <a:stretch/>
          </p:blipFill>
          <p:spPr bwMode="auto">
            <a:xfrm>
              <a:off x="4800600" y="5880240"/>
              <a:ext cx="840960" cy="563040"/>
            </a:xfrm>
            <a:prstGeom prst="rect">
              <a:avLst/>
            </a:prstGeom>
            <a:ln w="0">
              <a:noFill/>
            </a:ln>
          </p:spPr>
        </p:pic>
        <p:sp>
          <p:nvSpPr>
            <p:cNvPr id="261" name="Rectangle 2"/>
            <p:cNvSpPr/>
            <p:nvPr/>
          </p:nvSpPr>
          <p:spPr bwMode="auto">
            <a:xfrm>
              <a:off x="5580728" y="5978534"/>
              <a:ext cx="812145" cy="369332"/>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200" b="1" spc="-1">
                  <a:solidFill>
                    <a:schemeClr val="dk1"/>
                  </a:solidFill>
                  <a:latin typeface="Gill Sans"/>
                  <a:ea typeface="Gill Sans"/>
                </a:rPr>
                <a:t>Secondary</a:t>
              </a:r>
              <a:endParaRPr lang="en-US" sz="1200" spc="-1">
                <a:solidFill>
                  <a:srgbClr val="000000"/>
                </a:solidFill>
                <a:latin typeface="Arial"/>
              </a:endParaRPr>
            </a:p>
            <a:p>
              <a:pPr algn="ctr">
                <a:lnSpc>
                  <a:spcPct val="100000"/>
                </a:lnSpc>
                <a:defRPr/>
              </a:pPr>
              <a:r>
                <a:rPr lang="en-US" sz="1200" b="1" spc="-1">
                  <a:solidFill>
                    <a:schemeClr val="dk1"/>
                  </a:solidFill>
                  <a:latin typeface="Gill Sans"/>
                  <a:ea typeface="Gill Sans"/>
                </a:rPr>
                <a:t>DNS</a:t>
              </a:r>
              <a:endParaRPr lang="en-US" sz="1200" spc="-1">
                <a:solidFill>
                  <a:srgbClr val="000000"/>
                </a:solidFill>
                <a:latin typeface="Arial"/>
              </a:endParaRPr>
            </a:p>
          </p:txBody>
        </p:sp>
      </p:grpSp>
      <p:grpSp>
        <p:nvGrpSpPr>
          <p:cNvPr id="1130964314" name="Group 6"/>
          <p:cNvGrpSpPr/>
          <p:nvPr/>
        </p:nvGrpSpPr>
        <p:grpSpPr bwMode="auto">
          <a:xfrm>
            <a:off x="4775160" y="3925094"/>
            <a:ext cx="1242720" cy="1284466"/>
            <a:chOff x="3251160" y="3925094"/>
            <a:chExt cx="1242720" cy="1284466"/>
          </a:xfrm>
        </p:grpSpPr>
        <p:pic>
          <p:nvPicPr>
            <p:cNvPr id="263" name="Picture 4"/>
            <p:cNvPicPr/>
            <p:nvPr/>
          </p:nvPicPr>
          <p:blipFill rotWithShape="1">
            <a:blip r:embed="rId3"/>
            <a:stretch/>
          </p:blipFill>
          <p:spPr bwMode="auto">
            <a:xfrm>
              <a:off x="3251160" y="4379760"/>
              <a:ext cx="1242720" cy="829800"/>
            </a:xfrm>
            <a:prstGeom prst="rect">
              <a:avLst/>
            </a:prstGeom>
            <a:ln w="0">
              <a:noFill/>
            </a:ln>
          </p:spPr>
        </p:pic>
        <p:sp>
          <p:nvSpPr>
            <p:cNvPr id="264" name="Rectangle 5"/>
            <p:cNvSpPr/>
            <p:nvPr/>
          </p:nvSpPr>
          <p:spPr bwMode="auto">
            <a:xfrm>
              <a:off x="3756635" y="3925094"/>
              <a:ext cx="619850" cy="369332"/>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200" b="1" spc="-1">
                  <a:solidFill>
                    <a:schemeClr val="dk1"/>
                  </a:solidFill>
                  <a:latin typeface="Gill Sans"/>
                  <a:ea typeface="Gill Sans"/>
                </a:rPr>
                <a:t>primary</a:t>
              </a:r>
              <a:endParaRPr lang="en-US" sz="1200" spc="-1">
                <a:solidFill>
                  <a:srgbClr val="000000"/>
                </a:solidFill>
                <a:latin typeface="Arial"/>
              </a:endParaRPr>
            </a:p>
            <a:p>
              <a:pPr algn="ctr">
                <a:lnSpc>
                  <a:spcPct val="100000"/>
                </a:lnSpc>
                <a:defRPr/>
              </a:pPr>
              <a:r>
                <a:rPr lang="en-US" sz="1200" b="1" spc="-1">
                  <a:solidFill>
                    <a:schemeClr val="dk1"/>
                  </a:solidFill>
                  <a:latin typeface="Gill Sans"/>
                  <a:ea typeface="Gill Sans"/>
                </a:rPr>
                <a:t>DNS</a:t>
              </a:r>
              <a:endParaRPr lang="en-US" sz="1200" spc="-1">
                <a:solidFill>
                  <a:srgbClr val="000000"/>
                </a:solidFill>
                <a:latin typeface="Arial"/>
              </a:endParaRPr>
            </a:p>
          </p:txBody>
        </p:sp>
      </p:grpSp>
      <p:grpSp>
        <p:nvGrpSpPr>
          <p:cNvPr id="2044010374" name="Group 9"/>
          <p:cNvGrpSpPr/>
          <p:nvPr/>
        </p:nvGrpSpPr>
        <p:grpSpPr bwMode="auto">
          <a:xfrm>
            <a:off x="2146441" y="1540814"/>
            <a:ext cx="1662735" cy="1292746"/>
            <a:chOff x="622440" y="1540814"/>
            <a:chExt cx="1662735" cy="1292746"/>
          </a:xfrm>
        </p:grpSpPr>
        <p:pic>
          <p:nvPicPr>
            <p:cNvPr id="266" name="Picture 7"/>
            <p:cNvPicPr/>
            <p:nvPr/>
          </p:nvPicPr>
          <p:blipFill rotWithShape="1">
            <a:blip r:embed="rId4"/>
            <a:stretch/>
          </p:blipFill>
          <p:spPr bwMode="auto">
            <a:xfrm>
              <a:off x="622440" y="1904040"/>
              <a:ext cx="1386720" cy="929520"/>
            </a:xfrm>
            <a:prstGeom prst="rect">
              <a:avLst/>
            </a:prstGeom>
            <a:ln w="0">
              <a:noFill/>
            </a:ln>
          </p:spPr>
        </p:pic>
        <p:sp>
          <p:nvSpPr>
            <p:cNvPr id="267" name="Rectangle 8"/>
            <p:cNvSpPr/>
            <p:nvPr/>
          </p:nvSpPr>
          <p:spPr bwMode="auto">
            <a:xfrm>
              <a:off x="1223025" y="1540814"/>
              <a:ext cx="1062150" cy="369332"/>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200" b="1" spc="-1">
                  <a:solidFill>
                    <a:schemeClr val="dk1"/>
                  </a:solidFill>
                  <a:latin typeface="Gill Sans"/>
                  <a:ea typeface="Gill Sans"/>
                </a:rPr>
                <a:t>Registrars</a:t>
              </a:r>
              <a:endParaRPr lang="en-US" sz="1200" spc="-1">
                <a:solidFill>
                  <a:srgbClr val="000000"/>
                </a:solidFill>
                <a:latin typeface="Arial"/>
              </a:endParaRPr>
            </a:p>
            <a:p>
              <a:pPr algn="ctr">
                <a:lnSpc>
                  <a:spcPct val="100000"/>
                </a:lnSpc>
                <a:defRPr/>
              </a:pPr>
              <a:r>
                <a:rPr lang="en-US" sz="1200" b="1" spc="-1">
                  <a:solidFill>
                    <a:schemeClr val="dk1"/>
                  </a:solidFill>
                  <a:latin typeface="Gill Sans"/>
                  <a:ea typeface="Gill Sans"/>
                </a:rPr>
                <a:t>&amp; Registrants</a:t>
              </a:r>
              <a:endParaRPr lang="en-US" sz="1200" spc="-1">
                <a:solidFill>
                  <a:srgbClr val="000000"/>
                </a:solidFill>
                <a:latin typeface="Arial"/>
              </a:endParaRPr>
            </a:p>
          </p:txBody>
        </p:sp>
      </p:grpSp>
      <p:grpSp>
        <p:nvGrpSpPr>
          <p:cNvPr id="1287525227" name="Group 12"/>
          <p:cNvGrpSpPr/>
          <p:nvPr/>
        </p:nvGrpSpPr>
        <p:grpSpPr bwMode="auto">
          <a:xfrm>
            <a:off x="2382960" y="4300561"/>
            <a:ext cx="1964880" cy="1417493"/>
            <a:chOff x="858960" y="4300560"/>
            <a:chExt cx="1964880" cy="1417493"/>
          </a:xfrm>
        </p:grpSpPr>
        <p:pic>
          <p:nvPicPr>
            <p:cNvPr id="269" name="Picture 10"/>
            <p:cNvPicPr/>
            <p:nvPr/>
          </p:nvPicPr>
          <p:blipFill rotWithShape="1">
            <a:blip r:embed="rId3"/>
            <a:stretch/>
          </p:blipFill>
          <p:spPr bwMode="auto">
            <a:xfrm>
              <a:off x="858960" y="4300560"/>
              <a:ext cx="1964880" cy="1312200"/>
            </a:xfrm>
            <a:prstGeom prst="rect">
              <a:avLst/>
            </a:prstGeom>
            <a:ln w="0">
              <a:noFill/>
            </a:ln>
          </p:spPr>
        </p:pic>
        <p:sp>
          <p:nvSpPr>
            <p:cNvPr id="270" name="Rectangle 11"/>
            <p:cNvSpPr/>
            <p:nvPr/>
          </p:nvSpPr>
          <p:spPr bwMode="auto">
            <a:xfrm>
              <a:off x="1305193" y="5533386"/>
              <a:ext cx="647614" cy="184666"/>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200" b="1" spc="-1">
                  <a:solidFill>
                    <a:schemeClr val="dk1"/>
                  </a:solidFill>
                  <a:latin typeface="Gill Sans"/>
                  <a:ea typeface="Gill Sans"/>
                </a:rPr>
                <a:t>Registry</a:t>
              </a:r>
              <a:endParaRPr lang="en-US" sz="1200" spc="-1">
                <a:solidFill>
                  <a:srgbClr val="000000"/>
                </a:solidFill>
                <a:latin typeface="Arial"/>
              </a:endParaRPr>
            </a:p>
          </p:txBody>
        </p:sp>
      </p:grpSp>
      <p:pic>
        <p:nvPicPr>
          <p:cNvPr id="1143909619" name="Picture 13"/>
          <p:cNvPicPr/>
          <p:nvPr/>
        </p:nvPicPr>
        <p:blipFill rotWithShape="1">
          <a:blip r:embed="rId5"/>
          <a:stretch/>
        </p:blipFill>
        <p:spPr bwMode="auto">
          <a:xfrm>
            <a:off x="8216760" y="3728880"/>
            <a:ext cx="1777680" cy="1110960"/>
          </a:xfrm>
          <a:prstGeom prst="rect">
            <a:avLst/>
          </a:prstGeom>
          <a:ln w="0">
            <a:noFill/>
          </a:ln>
        </p:spPr>
      </p:pic>
      <p:pic>
        <p:nvPicPr>
          <p:cNvPr id="1996268506" name="Picture 14"/>
          <p:cNvPicPr/>
          <p:nvPr/>
        </p:nvPicPr>
        <p:blipFill rotWithShape="1">
          <a:blip r:embed="rId6"/>
          <a:stretch/>
        </p:blipFill>
        <p:spPr bwMode="auto">
          <a:xfrm>
            <a:off x="5600640" y="3911760"/>
            <a:ext cx="2273040" cy="2273040"/>
          </a:xfrm>
          <a:prstGeom prst="rect">
            <a:avLst/>
          </a:prstGeom>
          <a:ln w="0">
            <a:noFill/>
          </a:ln>
        </p:spPr>
      </p:pic>
      <p:pic>
        <p:nvPicPr>
          <p:cNvPr id="1280902195" name="Picture 15"/>
          <p:cNvPicPr/>
          <p:nvPr/>
        </p:nvPicPr>
        <p:blipFill rotWithShape="1">
          <a:blip r:embed="rId7"/>
          <a:stretch/>
        </p:blipFill>
        <p:spPr bwMode="auto">
          <a:xfrm>
            <a:off x="9245640" y="1689120"/>
            <a:ext cx="1547280" cy="1160280"/>
          </a:xfrm>
          <a:prstGeom prst="rect">
            <a:avLst/>
          </a:prstGeom>
          <a:ln w="0">
            <a:noFill/>
          </a:ln>
        </p:spPr>
      </p:pic>
      <p:pic>
        <p:nvPicPr>
          <p:cNvPr id="73471771" name="Picture 16"/>
          <p:cNvPicPr/>
          <p:nvPr/>
        </p:nvPicPr>
        <p:blipFill rotWithShape="1">
          <a:blip r:embed="rId8"/>
          <a:stretch/>
        </p:blipFill>
        <p:spPr bwMode="auto">
          <a:xfrm>
            <a:off x="10007760" y="2873519"/>
            <a:ext cx="393480" cy="698040"/>
          </a:xfrm>
          <a:prstGeom prst="rect">
            <a:avLst/>
          </a:prstGeom>
          <a:ln w="0">
            <a:noFill/>
          </a:ln>
        </p:spPr>
      </p:pic>
      <p:sp>
        <p:nvSpPr>
          <p:cNvPr id="1808452347" name="Freeform 17"/>
          <p:cNvSpPr/>
          <p:nvPr/>
        </p:nvSpPr>
        <p:spPr bwMode="auto">
          <a:xfrm>
            <a:off x="1676280" y="2244600"/>
            <a:ext cx="2963519" cy="2749320"/>
          </a:xfrm>
          <a:custGeom>
            <a:avLst/>
            <a:gdLst>
              <a:gd name="textAreaLeft" fmla="*/ 0 w 2963520"/>
              <a:gd name="textAreaRight" fmla="*/ 2963880 w 2963520"/>
              <a:gd name="textAreaTop" fmla="*/ 0 h 2749320"/>
              <a:gd name="textAreaBottom" fmla="*/ 2749680 h 2749320"/>
            </a:gdLst>
            <a:ahLst/>
            <a:cxnLst/>
            <a:rect l="textAreaLeft" t="textAreaTop" r="textAreaRight" b="textAreaBottom"/>
            <a:pathLst>
              <a:path w="21194" h="20948" fill="norm" stroke="1" extrusionOk="0">
                <a:moveTo>
                  <a:pt x="14402" y="2419"/>
                </a:moveTo>
                <a:cubicBezTo>
                  <a:pt x="13469" y="2281"/>
                  <a:pt x="13411" y="79"/>
                  <a:pt x="12699" y="16"/>
                </a:cubicBezTo>
                <a:cubicBezTo>
                  <a:pt x="12388" y="-12"/>
                  <a:pt x="12075" y="3"/>
                  <a:pt x="11763" y="16"/>
                </a:cubicBezTo>
                <a:cubicBezTo>
                  <a:pt x="11308" y="34"/>
                  <a:pt x="9728" y="1953"/>
                  <a:pt x="9443" y="1830"/>
                </a:cubicBezTo>
                <a:cubicBezTo>
                  <a:pt x="8188" y="1285"/>
                  <a:pt x="9975" y="469"/>
                  <a:pt x="8018" y="469"/>
                </a:cubicBezTo>
                <a:cubicBezTo>
                  <a:pt x="6060" y="469"/>
                  <a:pt x="5379" y="288"/>
                  <a:pt x="5038" y="469"/>
                </a:cubicBezTo>
                <a:cubicBezTo>
                  <a:pt x="4698" y="651"/>
                  <a:pt x="4528" y="1739"/>
                  <a:pt x="4272" y="2465"/>
                </a:cubicBezTo>
                <a:cubicBezTo>
                  <a:pt x="4017" y="3190"/>
                  <a:pt x="4102" y="3281"/>
                  <a:pt x="4017" y="3553"/>
                </a:cubicBezTo>
                <a:cubicBezTo>
                  <a:pt x="3932" y="3825"/>
                  <a:pt x="2400" y="3734"/>
                  <a:pt x="1634" y="3462"/>
                </a:cubicBezTo>
                <a:cubicBezTo>
                  <a:pt x="868" y="3190"/>
                  <a:pt x="1038" y="2918"/>
                  <a:pt x="697" y="3916"/>
                </a:cubicBezTo>
                <a:cubicBezTo>
                  <a:pt x="357" y="4914"/>
                  <a:pt x="-239" y="4097"/>
                  <a:pt x="101" y="6183"/>
                </a:cubicBezTo>
                <a:cubicBezTo>
                  <a:pt x="442" y="8270"/>
                  <a:pt x="357" y="8451"/>
                  <a:pt x="868" y="8723"/>
                </a:cubicBezTo>
                <a:cubicBezTo>
                  <a:pt x="1378" y="8995"/>
                  <a:pt x="1463" y="9358"/>
                  <a:pt x="1038" y="9449"/>
                </a:cubicBezTo>
                <a:cubicBezTo>
                  <a:pt x="612" y="9539"/>
                  <a:pt x="697" y="10719"/>
                  <a:pt x="953" y="11172"/>
                </a:cubicBezTo>
                <a:cubicBezTo>
                  <a:pt x="1208" y="11626"/>
                  <a:pt x="697" y="10900"/>
                  <a:pt x="1378" y="11988"/>
                </a:cubicBezTo>
                <a:cubicBezTo>
                  <a:pt x="2059" y="13077"/>
                  <a:pt x="3506" y="15526"/>
                  <a:pt x="3506" y="15526"/>
                </a:cubicBezTo>
                <a:cubicBezTo>
                  <a:pt x="3506" y="15526"/>
                  <a:pt x="2313" y="19348"/>
                  <a:pt x="3506" y="20310"/>
                </a:cubicBezTo>
                <a:cubicBezTo>
                  <a:pt x="5090" y="21588"/>
                  <a:pt x="7494" y="20596"/>
                  <a:pt x="9465" y="20333"/>
                </a:cubicBezTo>
                <a:cubicBezTo>
                  <a:pt x="11611" y="20047"/>
                  <a:pt x="14034" y="20060"/>
                  <a:pt x="15764" y="18678"/>
                </a:cubicBezTo>
                <a:cubicBezTo>
                  <a:pt x="17281" y="17465"/>
                  <a:pt x="18317" y="13258"/>
                  <a:pt x="18317" y="13258"/>
                </a:cubicBezTo>
                <a:cubicBezTo>
                  <a:pt x="18317" y="13258"/>
                  <a:pt x="20380" y="11097"/>
                  <a:pt x="20956" y="9721"/>
                </a:cubicBezTo>
                <a:cubicBezTo>
                  <a:pt x="21361" y="8753"/>
                  <a:pt x="21126" y="6728"/>
                  <a:pt x="21126" y="6546"/>
                </a:cubicBezTo>
                <a:cubicBezTo>
                  <a:pt x="21126" y="6365"/>
                  <a:pt x="21289" y="3633"/>
                  <a:pt x="20530" y="2555"/>
                </a:cubicBezTo>
                <a:cubicBezTo>
                  <a:pt x="19253" y="741"/>
                  <a:pt x="15934" y="2646"/>
                  <a:pt x="14402" y="2419"/>
                </a:cubicBezTo>
                <a:close/>
                <a:moveTo>
                  <a:pt x="14402" y="2419"/>
                </a:moveTo>
              </a:path>
            </a:pathLst>
          </a:custGeom>
          <a:blipFill rotWithShape="0">
            <a:blip r:embed="rId9">
              <a:alphaModFix amt="20000"/>
            </a:blip>
            <a:tile algn="tl" sx="100000" sy="100000" tx="0" ty="0"/>
          </a:blipFill>
          <a:ln w="0">
            <a:noFill/>
          </a:ln>
          <a:effectLst>
            <a:outerShdw blurRad="127080" dist="75858" dir="2700000" algn="ctr" rotWithShape="0">
              <a:schemeClr val="bg2">
                <a:alpha val="75000"/>
              </a:schemeClr>
            </a:outerShdw>
          </a:effectLst>
        </p:spPr>
        <p:style>
          <a:lnRef idx="0">
            <a:srgbClr val="000000"/>
          </a:lnRef>
          <a:fillRef idx="0">
            <a:srgbClr val="000000"/>
          </a:fillRef>
          <a:effectRef idx="0">
            <a:srgbClr val="000000"/>
          </a:effectRef>
          <a:fontRef idx="minor"/>
        </p:style>
        <p:txBody>
          <a:bodyPr lIns="0" tIns="0" rIns="0" bIns="0" anchor="ctr">
            <a:noAutofit/>
          </a:bodyPr>
          <a:lstStyle/>
          <a:p>
            <a:pPr algn="ctr">
              <a:lnSpc>
                <a:spcPct val="100000"/>
              </a:lnSpc>
              <a:defRPr/>
            </a:pPr>
            <a:endParaRPr lang="en-US" sz="2800" spc="-1">
              <a:solidFill>
                <a:srgbClr val="000000"/>
              </a:solidFill>
              <a:latin typeface="Arial"/>
            </a:endParaRPr>
          </a:p>
          <a:p>
            <a:pPr algn="ctr">
              <a:lnSpc>
                <a:spcPct val="100000"/>
              </a:lnSpc>
              <a:defRPr/>
            </a:pPr>
            <a:endParaRPr lang="en-US" sz="2800" spc="-1">
              <a:solidFill>
                <a:srgbClr val="000000"/>
              </a:solidFill>
              <a:latin typeface="Arial"/>
            </a:endParaRPr>
          </a:p>
        </p:txBody>
      </p:sp>
      <p:grpSp>
        <p:nvGrpSpPr>
          <p:cNvPr id="1745647347" name="Group 20"/>
          <p:cNvGrpSpPr/>
          <p:nvPr/>
        </p:nvGrpSpPr>
        <p:grpSpPr bwMode="auto">
          <a:xfrm>
            <a:off x="6743640" y="2925374"/>
            <a:ext cx="1083593" cy="1293826"/>
            <a:chOff x="5219640" y="2925374"/>
            <a:chExt cx="1083593" cy="1293826"/>
          </a:xfrm>
        </p:grpSpPr>
        <p:pic>
          <p:nvPicPr>
            <p:cNvPr id="277" name="Picture 18"/>
            <p:cNvPicPr/>
            <p:nvPr/>
          </p:nvPicPr>
          <p:blipFill rotWithShape="1">
            <a:blip r:embed="rId3"/>
            <a:stretch/>
          </p:blipFill>
          <p:spPr bwMode="auto">
            <a:xfrm>
              <a:off x="5219640" y="3656880"/>
              <a:ext cx="840960" cy="562320"/>
            </a:xfrm>
            <a:prstGeom prst="rect">
              <a:avLst/>
            </a:prstGeom>
            <a:ln w="0">
              <a:noFill/>
            </a:ln>
          </p:spPr>
        </p:pic>
        <p:sp>
          <p:nvSpPr>
            <p:cNvPr id="278" name="Rectangle 19"/>
            <p:cNvSpPr/>
            <p:nvPr/>
          </p:nvSpPr>
          <p:spPr bwMode="auto">
            <a:xfrm>
              <a:off x="5491088" y="2925374"/>
              <a:ext cx="812145" cy="369332"/>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200" b="1" spc="-1">
                  <a:solidFill>
                    <a:schemeClr val="dk1"/>
                  </a:solidFill>
                  <a:latin typeface="Gill Sans"/>
                  <a:ea typeface="Gill Sans"/>
                </a:rPr>
                <a:t>Secondary</a:t>
              </a:r>
              <a:endParaRPr lang="en-US" sz="1200" spc="-1">
                <a:solidFill>
                  <a:srgbClr val="000000"/>
                </a:solidFill>
                <a:latin typeface="Arial"/>
              </a:endParaRPr>
            </a:p>
            <a:p>
              <a:pPr algn="ctr">
                <a:lnSpc>
                  <a:spcPct val="100000"/>
                </a:lnSpc>
                <a:defRPr/>
              </a:pPr>
              <a:r>
                <a:rPr lang="en-US" sz="1200" b="1" spc="-1">
                  <a:solidFill>
                    <a:schemeClr val="dk1"/>
                  </a:solidFill>
                  <a:latin typeface="Gill Sans"/>
                  <a:ea typeface="Gill Sans"/>
                </a:rPr>
                <a:t>DNS</a:t>
              </a:r>
              <a:endParaRPr lang="en-US" sz="1200" spc="-1">
                <a:solidFill>
                  <a:srgbClr val="000000"/>
                </a:solidFill>
                <a:latin typeface="Arial"/>
              </a:endParaRPr>
            </a:p>
          </p:txBody>
        </p:sp>
      </p:grpSp>
      <p:sp>
        <p:nvSpPr>
          <p:cNvPr id="1526545012" name="Freeform 21"/>
          <p:cNvSpPr/>
          <p:nvPr/>
        </p:nvSpPr>
        <p:spPr bwMode="auto">
          <a:xfrm>
            <a:off x="6292920" y="3592440"/>
            <a:ext cx="2963519" cy="2749320"/>
          </a:xfrm>
          <a:custGeom>
            <a:avLst/>
            <a:gdLst>
              <a:gd name="textAreaLeft" fmla="*/ 0 w 2963520"/>
              <a:gd name="textAreaRight" fmla="*/ 2963880 w 2963520"/>
              <a:gd name="textAreaTop" fmla="*/ 0 h 2749320"/>
              <a:gd name="textAreaBottom" fmla="*/ 2749680 h 2749320"/>
            </a:gdLst>
            <a:ahLst/>
            <a:cxnLst/>
            <a:rect l="textAreaLeft" t="textAreaTop" r="textAreaRight" b="textAreaBottom"/>
            <a:pathLst>
              <a:path w="21194" h="20948" fill="norm" stroke="1" extrusionOk="0">
                <a:moveTo>
                  <a:pt x="14402" y="2419"/>
                </a:moveTo>
                <a:cubicBezTo>
                  <a:pt x="13469" y="2281"/>
                  <a:pt x="13411" y="79"/>
                  <a:pt x="12699" y="16"/>
                </a:cubicBezTo>
                <a:cubicBezTo>
                  <a:pt x="12388" y="-12"/>
                  <a:pt x="12075" y="3"/>
                  <a:pt x="11763" y="16"/>
                </a:cubicBezTo>
                <a:cubicBezTo>
                  <a:pt x="11308" y="34"/>
                  <a:pt x="9728" y="1953"/>
                  <a:pt x="9443" y="1830"/>
                </a:cubicBezTo>
                <a:cubicBezTo>
                  <a:pt x="8188" y="1285"/>
                  <a:pt x="9975" y="469"/>
                  <a:pt x="8018" y="469"/>
                </a:cubicBezTo>
                <a:cubicBezTo>
                  <a:pt x="6060" y="469"/>
                  <a:pt x="5379" y="288"/>
                  <a:pt x="5038" y="469"/>
                </a:cubicBezTo>
                <a:cubicBezTo>
                  <a:pt x="4698" y="651"/>
                  <a:pt x="4528" y="1739"/>
                  <a:pt x="4272" y="2465"/>
                </a:cubicBezTo>
                <a:cubicBezTo>
                  <a:pt x="4017" y="3190"/>
                  <a:pt x="4102" y="3281"/>
                  <a:pt x="4017" y="3553"/>
                </a:cubicBezTo>
                <a:cubicBezTo>
                  <a:pt x="3932" y="3825"/>
                  <a:pt x="2400" y="3734"/>
                  <a:pt x="1634" y="3462"/>
                </a:cubicBezTo>
                <a:cubicBezTo>
                  <a:pt x="868" y="3190"/>
                  <a:pt x="1038" y="2918"/>
                  <a:pt x="697" y="3916"/>
                </a:cubicBezTo>
                <a:cubicBezTo>
                  <a:pt x="357" y="4914"/>
                  <a:pt x="-239" y="4097"/>
                  <a:pt x="101" y="6183"/>
                </a:cubicBezTo>
                <a:cubicBezTo>
                  <a:pt x="442" y="8270"/>
                  <a:pt x="357" y="8451"/>
                  <a:pt x="868" y="8723"/>
                </a:cubicBezTo>
                <a:cubicBezTo>
                  <a:pt x="1378" y="8995"/>
                  <a:pt x="1463" y="9358"/>
                  <a:pt x="1038" y="9449"/>
                </a:cubicBezTo>
                <a:cubicBezTo>
                  <a:pt x="612" y="9539"/>
                  <a:pt x="697" y="10719"/>
                  <a:pt x="953" y="11172"/>
                </a:cubicBezTo>
                <a:cubicBezTo>
                  <a:pt x="1208" y="11626"/>
                  <a:pt x="697" y="10900"/>
                  <a:pt x="1378" y="11988"/>
                </a:cubicBezTo>
                <a:cubicBezTo>
                  <a:pt x="2059" y="13077"/>
                  <a:pt x="3506" y="15526"/>
                  <a:pt x="3506" y="15526"/>
                </a:cubicBezTo>
                <a:cubicBezTo>
                  <a:pt x="3506" y="15526"/>
                  <a:pt x="2313" y="19348"/>
                  <a:pt x="3506" y="20310"/>
                </a:cubicBezTo>
                <a:cubicBezTo>
                  <a:pt x="5090" y="21588"/>
                  <a:pt x="7494" y="20596"/>
                  <a:pt x="9465" y="20333"/>
                </a:cubicBezTo>
                <a:cubicBezTo>
                  <a:pt x="11611" y="20047"/>
                  <a:pt x="14034" y="20060"/>
                  <a:pt x="15764" y="18678"/>
                </a:cubicBezTo>
                <a:cubicBezTo>
                  <a:pt x="17281" y="17465"/>
                  <a:pt x="18317" y="13258"/>
                  <a:pt x="18317" y="13258"/>
                </a:cubicBezTo>
                <a:cubicBezTo>
                  <a:pt x="18317" y="13258"/>
                  <a:pt x="20380" y="11097"/>
                  <a:pt x="20956" y="9721"/>
                </a:cubicBezTo>
                <a:cubicBezTo>
                  <a:pt x="21361" y="8753"/>
                  <a:pt x="21126" y="6728"/>
                  <a:pt x="21126" y="6546"/>
                </a:cubicBezTo>
                <a:cubicBezTo>
                  <a:pt x="21126" y="6365"/>
                  <a:pt x="21289" y="3633"/>
                  <a:pt x="20530" y="2555"/>
                </a:cubicBezTo>
                <a:cubicBezTo>
                  <a:pt x="19253" y="741"/>
                  <a:pt x="15934" y="2646"/>
                  <a:pt x="14402" y="2419"/>
                </a:cubicBezTo>
                <a:close/>
                <a:moveTo>
                  <a:pt x="14402" y="2419"/>
                </a:moveTo>
              </a:path>
            </a:pathLst>
          </a:custGeom>
          <a:blipFill rotWithShape="0">
            <a:blip r:embed="rId9">
              <a:alphaModFix amt="20000"/>
            </a:blip>
            <a:tile algn="tl" sx="100000" sy="100000" tx="0" ty="0"/>
          </a:blipFill>
          <a:ln w="0">
            <a:noFill/>
          </a:ln>
          <a:effectLst>
            <a:outerShdw blurRad="127080" dist="75858" dir="2700000" algn="ctr" rotWithShape="0">
              <a:schemeClr val="bg2">
                <a:alpha val="75000"/>
              </a:schemeClr>
            </a:outerShdw>
          </a:effectLst>
        </p:spPr>
        <p:style>
          <a:lnRef idx="0">
            <a:srgbClr val="000000"/>
          </a:lnRef>
          <a:fillRef idx="0">
            <a:srgbClr val="000000"/>
          </a:fillRef>
          <a:effectRef idx="0">
            <a:srgbClr val="000000"/>
          </a:effectRef>
          <a:fontRef idx="minor"/>
        </p:style>
        <p:txBody>
          <a:bodyPr lIns="0" tIns="0" rIns="0" bIns="0" anchor="ctr">
            <a:noAutofit/>
          </a:bodyPr>
          <a:lstStyle/>
          <a:p>
            <a:pPr algn="ctr">
              <a:lnSpc>
                <a:spcPct val="100000"/>
              </a:lnSpc>
              <a:defRPr/>
            </a:pPr>
            <a:endParaRPr lang="en-US" sz="2800" spc="-1">
              <a:solidFill>
                <a:srgbClr val="000000"/>
              </a:solidFill>
              <a:latin typeface="Arial"/>
            </a:endParaRPr>
          </a:p>
          <a:p>
            <a:pPr algn="ctr">
              <a:lnSpc>
                <a:spcPct val="100000"/>
              </a:lnSpc>
              <a:defRPr/>
            </a:pPr>
            <a:endParaRPr lang="en-US" sz="2800" spc="-1">
              <a:solidFill>
                <a:srgbClr val="000000"/>
              </a:solidFill>
              <a:latin typeface="Arial"/>
            </a:endParaRPr>
          </a:p>
        </p:txBody>
      </p:sp>
      <p:sp>
        <p:nvSpPr>
          <p:cNvPr id="13713481" name="Freeform 22"/>
          <p:cNvSpPr/>
          <p:nvPr/>
        </p:nvSpPr>
        <p:spPr bwMode="auto">
          <a:xfrm>
            <a:off x="4213200" y="1398600"/>
            <a:ext cx="583920" cy="4749480"/>
          </a:xfrm>
          <a:custGeom>
            <a:avLst/>
            <a:gdLst>
              <a:gd name="textAreaLeft" fmla="*/ 0 w 583920"/>
              <a:gd name="textAreaRight" fmla="*/ 584280 w 583920"/>
              <a:gd name="textAreaTop" fmla="*/ 0 h 4749480"/>
              <a:gd name="textAreaBottom" fmla="*/ 4749840 h 4749480"/>
            </a:gdLst>
            <a:ahLst/>
            <a:cxnLst/>
            <a:rect l="textAreaLeft" t="textAreaTop" r="textAreaRight" b="textAreaBottom"/>
            <a:pathLst>
              <a:path w="19635" h="21600" fill="norm" stroke="1" extrusionOk="0">
                <a:moveTo>
                  <a:pt x="16074" y="0"/>
                </a:moveTo>
                <a:cubicBezTo>
                  <a:pt x="16868" y="595"/>
                  <a:pt x="20219" y="1514"/>
                  <a:pt x="19545" y="2287"/>
                </a:cubicBezTo>
                <a:cubicBezTo>
                  <a:pt x="19015" y="2896"/>
                  <a:pt x="13803" y="3277"/>
                  <a:pt x="12702" y="3871"/>
                </a:cubicBezTo>
                <a:cubicBezTo>
                  <a:pt x="10421" y="5102"/>
                  <a:pt x="14690" y="5007"/>
                  <a:pt x="15678" y="5576"/>
                </a:cubicBezTo>
                <a:cubicBezTo>
                  <a:pt x="17959" y="6889"/>
                  <a:pt x="14805" y="7340"/>
                  <a:pt x="12901" y="8012"/>
                </a:cubicBezTo>
                <a:cubicBezTo>
                  <a:pt x="10969" y="8694"/>
                  <a:pt x="7743" y="8553"/>
                  <a:pt x="7347" y="10069"/>
                </a:cubicBezTo>
                <a:cubicBezTo>
                  <a:pt x="6950" y="11585"/>
                  <a:pt x="13297" y="12126"/>
                  <a:pt x="10520" y="12938"/>
                </a:cubicBezTo>
                <a:cubicBezTo>
                  <a:pt x="7743" y="13750"/>
                  <a:pt x="6950" y="14941"/>
                  <a:pt x="6156" y="15374"/>
                </a:cubicBezTo>
                <a:cubicBezTo>
                  <a:pt x="5363" y="15808"/>
                  <a:pt x="4173" y="17377"/>
                  <a:pt x="4966" y="17702"/>
                </a:cubicBezTo>
                <a:cubicBezTo>
                  <a:pt x="5760" y="18027"/>
                  <a:pt x="8537" y="18568"/>
                  <a:pt x="4173" y="19380"/>
                </a:cubicBezTo>
                <a:cubicBezTo>
                  <a:pt x="-191" y="20192"/>
                  <a:pt x="-1381" y="20788"/>
                  <a:pt x="1793" y="21600"/>
                </a:cubicBezTo>
              </a:path>
            </a:pathLst>
          </a:custGeom>
          <a:noFill/>
          <a:ln w="76200">
            <a:solidFill>
              <a:srgbClr val="975500"/>
            </a:solidFill>
            <a:prstDash val="sysDot"/>
            <a:miter/>
          </a:ln>
          <a:effectLst>
            <a:outerShdw blurRad="127080" dist="75858" dir="2700000" algn="ctr" rotWithShape="0">
              <a:schemeClr val="bg2">
                <a:alpha val="75000"/>
              </a:schemeClr>
            </a:outerShdw>
          </a:effectLst>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sp>
        <p:nvSpPr>
          <p:cNvPr id="244052125" name="Line 23"/>
          <p:cNvSpPr/>
          <p:nvPr/>
        </p:nvSpPr>
        <p:spPr bwMode="auto">
          <a:xfrm flipH="1" flipV="1">
            <a:off x="2857440" y="2711160"/>
            <a:ext cx="129960" cy="1630440"/>
          </a:xfrm>
          <a:prstGeom prst="line">
            <a:avLst/>
          </a:prstGeom>
          <a:ln w="762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790866478" name="Rectangle 24"/>
          <p:cNvSpPr/>
          <p:nvPr/>
        </p:nvSpPr>
        <p:spPr bwMode="auto">
          <a:xfrm>
            <a:off x="5747619" y="292518"/>
            <a:ext cx="4044762" cy="430887"/>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2800" spc="-1">
                <a:solidFill>
                  <a:schemeClr val="dk1"/>
                </a:solidFill>
                <a:latin typeface="Gill Sans"/>
                <a:ea typeface="Gill Sans"/>
              </a:rPr>
              <a:t>Data flow through the DNS</a:t>
            </a:r>
            <a:endParaRPr lang="en-US" sz="2800" spc="-1">
              <a:solidFill>
                <a:srgbClr val="000000"/>
              </a:solidFill>
              <a:latin typeface="Arial"/>
            </a:endParaRPr>
          </a:p>
        </p:txBody>
      </p:sp>
      <p:sp>
        <p:nvSpPr>
          <p:cNvPr id="965970314" name="Line 25"/>
          <p:cNvSpPr/>
          <p:nvPr/>
        </p:nvSpPr>
        <p:spPr bwMode="auto">
          <a:xfrm flipH="1">
            <a:off x="3858960" y="4716360"/>
            <a:ext cx="914400" cy="81000"/>
          </a:xfrm>
          <a:prstGeom prst="line">
            <a:avLst/>
          </a:prstGeom>
          <a:ln w="762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998446555" name="Line 26"/>
          <p:cNvSpPr/>
          <p:nvPr/>
        </p:nvSpPr>
        <p:spPr bwMode="auto">
          <a:xfrm flipH="1">
            <a:off x="5467080" y="3762360"/>
            <a:ext cx="1354320" cy="588960"/>
          </a:xfrm>
          <a:prstGeom prst="line">
            <a:avLst/>
          </a:prstGeom>
          <a:ln w="762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206341548" name="Line 27"/>
          <p:cNvSpPr/>
          <p:nvPr/>
        </p:nvSpPr>
        <p:spPr bwMode="auto">
          <a:xfrm flipH="1" flipV="1">
            <a:off x="5341800" y="5208480"/>
            <a:ext cx="1074600" cy="946080"/>
          </a:xfrm>
          <a:prstGeom prst="line">
            <a:avLst/>
          </a:prstGeom>
          <a:ln w="762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168255871" name="Line 28"/>
          <p:cNvSpPr/>
          <p:nvPr/>
        </p:nvSpPr>
        <p:spPr bwMode="auto">
          <a:xfrm flipV="1">
            <a:off x="9307200" y="2630160"/>
            <a:ext cx="347760" cy="99072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266271557" name="Line 29"/>
          <p:cNvSpPr/>
          <p:nvPr/>
        </p:nvSpPr>
        <p:spPr bwMode="auto">
          <a:xfrm flipV="1">
            <a:off x="9396120" y="3095280"/>
            <a:ext cx="604800" cy="61596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557151448" name="Line 30"/>
          <p:cNvSpPr/>
          <p:nvPr/>
        </p:nvSpPr>
        <p:spPr bwMode="auto">
          <a:xfrm flipV="1">
            <a:off x="7378680" y="4514760"/>
            <a:ext cx="1341360" cy="136692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871539374" name="Line 31"/>
          <p:cNvSpPr/>
          <p:nvPr/>
        </p:nvSpPr>
        <p:spPr bwMode="auto">
          <a:xfrm flipV="1">
            <a:off x="7429440" y="4595760"/>
            <a:ext cx="1143000" cy="77292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87601413" name="Line 32"/>
          <p:cNvSpPr/>
          <p:nvPr/>
        </p:nvSpPr>
        <p:spPr bwMode="auto">
          <a:xfrm flipV="1">
            <a:off x="7314960" y="4511520"/>
            <a:ext cx="1177920" cy="4752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072597695" name="Line 33"/>
          <p:cNvSpPr/>
          <p:nvPr/>
        </p:nvSpPr>
        <p:spPr bwMode="auto">
          <a:xfrm>
            <a:off x="7548240" y="4076640"/>
            <a:ext cx="1047960" cy="32364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2063883699" name="Rectangle 34"/>
          <p:cNvSpPr/>
          <p:nvPr/>
        </p:nvSpPr>
        <p:spPr bwMode="auto">
          <a:xfrm>
            <a:off x="5485440" y="789513"/>
            <a:ext cx="3751220" cy="861774"/>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nSpc>
                <a:spcPct val="100000"/>
              </a:lnSpc>
              <a:defRPr/>
            </a:pPr>
            <a:r>
              <a:rPr lang="en-US" sz="2800" spc="-1">
                <a:solidFill>
                  <a:schemeClr val="dk1"/>
                </a:solidFill>
                <a:latin typeface="Gill Sans"/>
                <a:ea typeface="Gill Sans"/>
              </a:rPr>
              <a:t>Where are the vulnerable</a:t>
            </a:r>
            <a:br>
              <a:rPr sz="2800"/>
            </a:br>
            <a:r>
              <a:rPr lang="en-US" sz="2800" spc="-1">
                <a:solidFill>
                  <a:schemeClr val="dk1"/>
                </a:solidFill>
                <a:latin typeface="Gill Sans"/>
                <a:ea typeface="Gill Sans"/>
              </a:rPr>
              <a:t>points?</a:t>
            </a:r>
            <a:endParaRPr lang="en-US" sz="2800" spc="-1">
              <a:solidFill>
                <a:srgbClr val="000000"/>
              </a:solidFill>
              <a:latin typeface="Arial"/>
            </a:endParaRPr>
          </a:p>
        </p:txBody>
      </p:sp>
      <p:grpSp>
        <p:nvGrpSpPr>
          <p:cNvPr id="1296260398" name="Group 43"/>
          <p:cNvGrpSpPr/>
          <p:nvPr/>
        </p:nvGrpSpPr>
        <p:grpSpPr bwMode="auto">
          <a:xfrm>
            <a:off x="4466430" y="2011150"/>
            <a:ext cx="6045330" cy="4325930"/>
            <a:chOff x="2942430" y="2011150"/>
            <a:chExt cx="6045330" cy="4325930"/>
          </a:xfrm>
        </p:grpSpPr>
        <p:sp>
          <p:nvSpPr>
            <p:cNvPr id="294" name="Line 35"/>
            <p:cNvSpPr/>
            <p:nvPr/>
          </p:nvSpPr>
          <p:spPr bwMode="auto">
            <a:xfrm flipH="1" flipV="1">
              <a:off x="5217120" y="2482920"/>
              <a:ext cx="255600" cy="1149840"/>
            </a:xfrm>
            <a:prstGeom prst="line">
              <a:avLst/>
            </a:prstGeom>
            <a:ln w="127000">
              <a:solidFill>
                <a:srgbClr val="A40800"/>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295" name="Line 36"/>
            <p:cNvSpPr/>
            <p:nvPr/>
          </p:nvSpPr>
          <p:spPr bwMode="auto">
            <a:xfrm flipH="1" flipV="1">
              <a:off x="3484440" y="3414960"/>
              <a:ext cx="800280" cy="749520"/>
            </a:xfrm>
            <a:prstGeom prst="line">
              <a:avLst/>
            </a:prstGeom>
            <a:ln w="127000">
              <a:solidFill>
                <a:srgbClr val="A40800"/>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296" name="Line 37"/>
            <p:cNvSpPr/>
            <p:nvPr/>
          </p:nvSpPr>
          <p:spPr bwMode="auto">
            <a:xfrm>
              <a:off x="6618960" y="4452120"/>
              <a:ext cx="1143360" cy="881280"/>
            </a:xfrm>
            <a:prstGeom prst="line">
              <a:avLst/>
            </a:prstGeom>
            <a:ln w="127000">
              <a:solidFill>
                <a:srgbClr val="A40800"/>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297" name="Line 38"/>
            <p:cNvSpPr/>
            <p:nvPr/>
          </p:nvSpPr>
          <p:spPr bwMode="auto">
            <a:xfrm>
              <a:off x="8165880" y="3537360"/>
              <a:ext cx="95040" cy="1810440"/>
            </a:xfrm>
            <a:prstGeom prst="line">
              <a:avLst/>
            </a:prstGeom>
            <a:ln w="127000">
              <a:solidFill>
                <a:srgbClr val="A40800"/>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298" name="Rectangle 39"/>
            <p:cNvSpPr/>
            <p:nvPr/>
          </p:nvSpPr>
          <p:spPr bwMode="auto">
            <a:xfrm>
              <a:off x="4271354" y="2011150"/>
              <a:ext cx="1612172" cy="246221"/>
            </a:xfrm>
            <a:prstGeom prst="rect">
              <a:avLst/>
            </a:prstGeom>
            <a:solidFill>
              <a:schemeClr val="accent1"/>
            </a:solidFill>
            <a:ln w="12700">
              <a:solidFill>
                <a:srgbClr val="000000"/>
              </a:solidFill>
              <a:miter/>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600" spc="-1">
                  <a:solidFill>
                    <a:schemeClr val="dk1"/>
                  </a:solidFill>
                  <a:latin typeface="Royal Pain"/>
                  <a:ea typeface="Royal Pain"/>
                </a:rPr>
                <a:t>Server vulnerability</a:t>
              </a:r>
              <a:endParaRPr lang="en-US" sz="1600" spc="-1">
                <a:solidFill>
                  <a:srgbClr val="000000"/>
                </a:solidFill>
                <a:latin typeface="Arial"/>
              </a:endParaRPr>
            </a:p>
          </p:txBody>
        </p:sp>
        <p:sp>
          <p:nvSpPr>
            <p:cNvPr id="299" name="Rectangle 40"/>
            <p:cNvSpPr/>
            <p:nvPr/>
          </p:nvSpPr>
          <p:spPr bwMode="auto">
            <a:xfrm>
              <a:off x="2942430" y="3091870"/>
              <a:ext cx="1535100" cy="246221"/>
            </a:xfrm>
            <a:prstGeom prst="rect">
              <a:avLst/>
            </a:prstGeom>
            <a:solidFill>
              <a:schemeClr val="accent1"/>
            </a:solidFill>
            <a:ln w="12700">
              <a:solidFill>
                <a:srgbClr val="000000"/>
              </a:solidFill>
              <a:miter/>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600" spc="-1">
                  <a:solidFill>
                    <a:schemeClr val="dk1"/>
                  </a:solidFill>
                  <a:latin typeface="Royal Pain"/>
                  <a:ea typeface="Royal Pain"/>
                </a:rPr>
                <a:t>Man in the Middle</a:t>
              </a:r>
              <a:endParaRPr lang="en-US" sz="1600" spc="-1">
                <a:solidFill>
                  <a:srgbClr val="000000"/>
                </a:solidFill>
                <a:latin typeface="Arial"/>
              </a:endParaRPr>
            </a:p>
          </p:txBody>
        </p:sp>
        <p:sp>
          <p:nvSpPr>
            <p:cNvPr id="300" name="Rectangle 41"/>
            <p:cNvSpPr/>
            <p:nvPr/>
          </p:nvSpPr>
          <p:spPr bwMode="auto">
            <a:xfrm>
              <a:off x="7197120" y="5295600"/>
              <a:ext cx="1790640" cy="1041480"/>
            </a:xfrm>
            <a:prstGeom prst="rect">
              <a:avLst/>
            </a:prstGeom>
            <a:solidFill>
              <a:schemeClr val="accent1"/>
            </a:solidFill>
            <a:ln w="12700">
              <a:solidFill>
                <a:srgbClr val="000000"/>
              </a:solidFill>
              <a:miter/>
            </a:ln>
          </p:spPr>
          <p:style>
            <a:lnRef idx="0">
              <a:srgbClr val="000000"/>
            </a:lnRef>
            <a:fillRef idx="0">
              <a:srgbClr val="000000"/>
            </a:fillRef>
            <a:effectRef idx="0">
              <a:srgbClr val="000000"/>
            </a:effectRef>
            <a:fontRef idx="minor"/>
          </p:style>
          <p:txBody>
            <a:bodyPr lIns="0" tIns="0" rIns="0" bIns="0" anchor="ctr">
              <a:noAutofit/>
            </a:bodyPr>
            <a:lstStyle/>
            <a:p>
              <a:pPr algn="ctr">
                <a:lnSpc>
                  <a:spcPct val="100000"/>
                </a:lnSpc>
                <a:defRPr/>
              </a:pPr>
              <a:r>
                <a:rPr lang="en-US" sz="1600" spc="-1">
                  <a:solidFill>
                    <a:schemeClr val="dk1"/>
                  </a:solidFill>
                  <a:latin typeface="Royal Pain"/>
                  <a:ea typeface="Royal Pain"/>
                </a:rPr>
                <a:t>spoofing</a:t>
              </a:r>
              <a:endParaRPr lang="en-US" sz="1600" spc="-1">
                <a:solidFill>
                  <a:srgbClr val="000000"/>
                </a:solidFill>
                <a:latin typeface="Arial"/>
              </a:endParaRPr>
            </a:p>
            <a:p>
              <a:pPr algn="ctr">
                <a:lnSpc>
                  <a:spcPct val="100000"/>
                </a:lnSpc>
                <a:defRPr/>
              </a:pPr>
              <a:r>
                <a:rPr lang="en-US" sz="1600" spc="-1">
                  <a:solidFill>
                    <a:schemeClr val="dk1"/>
                  </a:solidFill>
                  <a:latin typeface="Royal Pain"/>
                  <a:ea typeface="Royal Pain"/>
                </a:rPr>
                <a:t>&amp;</a:t>
              </a:r>
              <a:endParaRPr lang="en-US" sz="1600" spc="-1">
                <a:solidFill>
                  <a:srgbClr val="000000"/>
                </a:solidFill>
                <a:latin typeface="Arial"/>
              </a:endParaRPr>
            </a:p>
            <a:p>
              <a:pPr algn="ctr">
                <a:lnSpc>
                  <a:spcPct val="100000"/>
                </a:lnSpc>
                <a:defRPr/>
              </a:pPr>
              <a:r>
                <a:rPr lang="en-US" sz="1600" spc="-1">
                  <a:solidFill>
                    <a:schemeClr val="dk1"/>
                  </a:solidFill>
                  <a:latin typeface="Royal Pain"/>
                  <a:ea typeface="Royal Pain"/>
                </a:rPr>
                <a:t>Man in the Middle</a:t>
              </a:r>
              <a:endParaRPr lang="en-US" sz="1600" spc="-1">
                <a:solidFill>
                  <a:srgbClr val="000000"/>
                </a:solidFill>
                <a:latin typeface="Arial"/>
              </a:endParaRPr>
            </a:p>
          </p:txBody>
        </p:sp>
        <p:sp>
          <p:nvSpPr>
            <p:cNvPr id="301" name="Line 42"/>
            <p:cNvSpPr/>
            <p:nvPr/>
          </p:nvSpPr>
          <p:spPr bwMode="auto">
            <a:xfrm flipV="1">
              <a:off x="3117960" y="3438720"/>
              <a:ext cx="309600" cy="1215000"/>
            </a:xfrm>
            <a:prstGeom prst="line">
              <a:avLst/>
            </a:prstGeom>
            <a:ln w="127000">
              <a:solidFill>
                <a:srgbClr val="A40800"/>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1320285" name="PlaceHolder 1"/>
          <p:cNvSpPr>
            <a:spLocks noGrp="1"/>
          </p:cNvSpPr>
          <p:nvPr>
            <p:ph type="title"/>
          </p:nvPr>
        </p:nvSpPr>
        <p:spPr bwMode="auto">
          <a:xfrm>
            <a:off x="2070120" y="177840"/>
            <a:ext cx="7708680" cy="171432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5800" spc="-1">
                <a:solidFill>
                  <a:srgbClr val="275742"/>
                </a:solidFill>
                <a:latin typeface="Gill Sans"/>
                <a:ea typeface="ヒラギノ角ゴ ProN W3"/>
              </a:rPr>
              <a:t>DNSSEC protects all these end-to-end</a:t>
            </a:r>
            <a:endParaRPr lang="en-US" sz="5800" spc="-1">
              <a:solidFill>
                <a:srgbClr val="000000"/>
              </a:solidFill>
              <a:latin typeface="Times New Roman"/>
            </a:endParaRPr>
          </a:p>
        </p:txBody>
      </p:sp>
      <p:sp>
        <p:nvSpPr>
          <p:cNvPr id="2105009955"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As an aside:</a:t>
            </a:r>
            <a:br>
              <a:rPr sz="2800"/>
            </a:br>
            <a:r>
              <a:rPr lang="en-US" sz="2800" spc="-1">
                <a:solidFill>
                  <a:schemeClr val="dk1"/>
                </a:solidFill>
                <a:latin typeface="Gill Sans"/>
                <a:ea typeface="ヒラギノ角ゴ ProN W3"/>
              </a:rPr>
              <a:t>There is a protection mechanism against the man in the middle: </a:t>
            </a:r>
            <a:r>
              <a:rPr lang="en-US" sz="2800" u="sng" spc="-1">
                <a:solidFill>
                  <a:schemeClr val="dk1"/>
                </a:solidFill>
                <a:latin typeface="Gill Sans"/>
                <a:ea typeface="ヒラギノ角ゴ ProN W3"/>
                <a:hlinkClick r:id="rId3" tooltip=""/>
              </a:rPr>
              <a:t>TSIG</a:t>
            </a:r>
            <a:r>
              <a:rPr lang="en-US" sz="2800" spc="-1">
                <a:solidFill>
                  <a:schemeClr val="dk1"/>
                </a:solidFill>
                <a:latin typeface="Gill Sans"/>
                <a:ea typeface="ヒラギノ角ゴ ProN W3"/>
              </a:rPr>
              <a:t> (transaction signature, see RFC </a:t>
            </a:r>
            <a:r>
              <a:rPr lang="en-US" sz="2800" u="sng" spc="-1">
                <a:solidFill>
                  <a:schemeClr val="dk1"/>
                </a:solidFill>
                <a:latin typeface="Gill Sans"/>
                <a:ea typeface="ヒラギノ角ゴ ProN W3"/>
                <a:hlinkClick r:id="rId4" tooltip=""/>
              </a:rPr>
              <a:t>2845</a:t>
            </a:r>
            <a:r>
              <a:rPr lang="en-US" sz="2800" spc="-1">
                <a:solidFill>
                  <a:schemeClr val="dk1"/>
                </a:solidFill>
                <a:latin typeface="Gill Sans"/>
                <a:ea typeface="ヒラギノ角ゴ ProN W3"/>
              </a:rPr>
              <a:t>)</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Provides one hop security</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TSIG is operationally deployed today</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Based on shared secret: not scalable</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8633699" name="PlaceHolder 1"/>
          <p:cNvSpPr>
            <a:spLocks noGrp="1"/>
          </p:cNvSpPr>
          <p:nvPr>
            <p:ph type="title"/>
          </p:nvPr>
        </p:nvSpPr>
        <p:spPr bwMode="auto">
          <a:xfrm>
            <a:off x="2387640" y="355680"/>
            <a:ext cx="7378200" cy="195552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5800" spc="-1">
                <a:solidFill>
                  <a:srgbClr val="275742"/>
                </a:solidFill>
                <a:latin typeface="Gill Sans"/>
                <a:ea typeface="ヒラギノ角ゴ ProN W3"/>
              </a:rPr>
              <a:t>What does DNSSEC provide</a:t>
            </a:r>
            <a:endParaRPr lang="en-US" sz="5800" spc="-1">
              <a:solidFill>
                <a:srgbClr val="000000"/>
              </a:solidFill>
              <a:latin typeface="Times New Roman"/>
            </a:endParaRPr>
          </a:p>
        </p:txBody>
      </p:sp>
      <p:sp>
        <p:nvSpPr>
          <p:cNvPr id="148669304"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200" spc="-1">
                <a:solidFill>
                  <a:schemeClr val="dk1"/>
                </a:solidFill>
                <a:latin typeface="Gill Sans"/>
                <a:ea typeface="ヒラギノ角ゴ ProN W3"/>
              </a:rPr>
              <a:t>provides message authentication and integrity verification through cryptographic signatures</a:t>
            </a:r>
            <a:endParaRPr lang="en-US" sz="2200" spc="-1">
              <a:solidFill>
                <a:schemeClr val="dk1"/>
              </a:solidFill>
              <a:latin typeface="Gill Sans"/>
            </a:endParaRPr>
          </a:p>
          <a:p>
            <a:pPr marL="1015920" lvl="1" indent="-254160">
              <a:spcBef>
                <a:spcPts val="799"/>
              </a:spcBef>
              <a:buClr>
                <a:srgbClr val="000000"/>
              </a:buClr>
              <a:buFont typeface="Gill Sans"/>
              <a:buChar char="•"/>
              <a:defRPr/>
            </a:pPr>
            <a:r>
              <a:rPr lang="en-US" sz="2200" spc="-1">
                <a:solidFill>
                  <a:schemeClr val="dk1"/>
                </a:solidFill>
                <a:latin typeface="Gill Sans"/>
                <a:ea typeface="ヒラギノ角ゴ ProN W3"/>
              </a:rPr>
              <a:t>You know who provided the signature</a:t>
            </a:r>
            <a:endParaRPr lang="en-US" sz="2200" spc="-1">
              <a:solidFill>
                <a:schemeClr val="dk1"/>
              </a:solidFill>
              <a:latin typeface="Gill Sans"/>
            </a:endParaRPr>
          </a:p>
          <a:p>
            <a:pPr marL="1015920" lvl="1" indent="-254160">
              <a:spcBef>
                <a:spcPts val="799"/>
              </a:spcBef>
              <a:buClr>
                <a:srgbClr val="000000"/>
              </a:buClr>
              <a:buFont typeface="Gill Sans"/>
              <a:buChar char="•"/>
              <a:defRPr/>
            </a:pPr>
            <a:r>
              <a:rPr lang="en-US" sz="2200" spc="-1">
                <a:solidFill>
                  <a:schemeClr val="dk1"/>
                </a:solidFill>
                <a:latin typeface="Gill Sans"/>
                <a:ea typeface="ヒラギノ角ゴ ProN W3"/>
              </a:rPr>
              <a:t>No modifications between signing and validation</a:t>
            </a:r>
            <a:endParaRPr lang="en-US" sz="22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200" spc="-1">
                <a:solidFill>
                  <a:schemeClr val="dk1"/>
                </a:solidFill>
                <a:latin typeface="Gill Sans"/>
                <a:ea typeface="ヒラギノ角ゴ ProN W3"/>
              </a:rPr>
              <a:t>It does not provide authorization</a:t>
            </a:r>
            <a:endParaRPr lang="en-US" sz="22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200" spc="-1">
                <a:solidFill>
                  <a:schemeClr val="dk1"/>
                </a:solidFill>
                <a:latin typeface="Gill Sans"/>
                <a:ea typeface="ヒラギノ角ゴ ProN W3"/>
              </a:rPr>
              <a:t>It does not provide confidentiality</a:t>
            </a:r>
            <a:endParaRPr lang="en-US" sz="22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200" spc="-1">
                <a:solidFill>
                  <a:schemeClr val="dk1"/>
                </a:solidFill>
                <a:latin typeface="Gill Sans"/>
                <a:ea typeface="ヒラギノ角ゴ ProN W3"/>
              </a:rPr>
              <a:t>It does not provide protection against DDOS</a:t>
            </a:r>
            <a:endParaRPr lang="en-US" sz="22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254300515" name="Group 3"/>
          <p:cNvGrpSpPr/>
          <p:nvPr/>
        </p:nvGrpSpPr>
        <p:grpSpPr bwMode="auto">
          <a:xfrm>
            <a:off x="4775160" y="3925094"/>
            <a:ext cx="1242720" cy="1284466"/>
            <a:chOff x="3251160" y="3925094"/>
            <a:chExt cx="1242720" cy="1284466"/>
          </a:xfrm>
        </p:grpSpPr>
        <p:pic>
          <p:nvPicPr>
            <p:cNvPr id="307" name="Picture 1"/>
            <p:cNvPicPr/>
            <p:nvPr/>
          </p:nvPicPr>
          <p:blipFill rotWithShape="1">
            <a:blip r:embed="rId3"/>
            <a:stretch/>
          </p:blipFill>
          <p:spPr bwMode="auto">
            <a:xfrm>
              <a:off x="3251160" y="4379760"/>
              <a:ext cx="1242720" cy="829800"/>
            </a:xfrm>
            <a:prstGeom prst="rect">
              <a:avLst/>
            </a:prstGeom>
            <a:ln w="0">
              <a:noFill/>
            </a:ln>
          </p:spPr>
        </p:pic>
        <p:sp>
          <p:nvSpPr>
            <p:cNvPr id="308" name="Rectangle 2"/>
            <p:cNvSpPr/>
            <p:nvPr/>
          </p:nvSpPr>
          <p:spPr bwMode="auto">
            <a:xfrm>
              <a:off x="3756635" y="3925094"/>
              <a:ext cx="619850" cy="369332"/>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200" b="1" spc="-1">
                  <a:solidFill>
                    <a:schemeClr val="dk1"/>
                  </a:solidFill>
                  <a:latin typeface="Gill Sans"/>
                  <a:ea typeface="Gill Sans"/>
                </a:rPr>
                <a:t>primary</a:t>
              </a:r>
              <a:endParaRPr lang="en-US" sz="1200" spc="-1">
                <a:solidFill>
                  <a:srgbClr val="000000"/>
                </a:solidFill>
                <a:latin typeface="Arial"/>
              </a:endParaRPr>
            </a:p>
            <a:p>
              <a:pPr algn="ctr">
                <a:lnSpc>
                  <a:spcPct val="100000"/>
                </a:lnSpc>
                <a:defRPr/>
              </a:pPr>
              <a:r>
                <a:rPr lang="en-US" sz="1200" b="1" spc="-1">
                  <a:solidFill>
                    <a:schemeClr val="dk1"/>
                  </a:solidFill>
                  <a:latin typeface="Gill Sans"/>
                  <a:ea typeface="Gill Sans"/>
                </a:rPr>
                <a:t>DNS</a:t>
              </a:r>
              <a:endParaRPr lang="en-US" sz="1200" spc="-1">
                <a:solidFill>
                  <a:srgbClr val="000000"/>
                </a:solidFill>
                <a:latin typeface="Arial"/>
              </a:endParaRPr>
            </a:p>
          </p:txBody>
        </p:sp>
      </p:grpSp>
      <p:pic>
        <p:nvPicPr>
          <p:cNvPr id="616643460" name="Picture 4"/>
          <p:cNvPicPr/>
          <p:nvPr/>
        </p:nvPicPr>
        <p:blipFill rotWithShape="1">
          <a:blip r:embed="rId4"/>
          <a:stretch/>
        </p:blipFill>
        <p:spPr bwMode="auto">
          <a:xfrm>
            <a:off x="9245640" y="1689120"/>
            <a:ext cx="1547280" cy="1160280"/>
          </a:xfrm>
          <a:prstGeom prst="rect">
            <a:avLst/>
          </a:prstGeom>
          <a:ln w="0">
            <a:noFill/>
          </a:ln>
        </p:spPr>
      </p:pic>
      <p:grpSp>
        <p:nvGrpSpPr>
          <p:cNvPr id="659675138" name="Group 7"/>
          <p:cNvGrpSpPr/>
          <p:nvPr/>
        </p:nvGrpSpPr>
        <p:grpSpPr bwMode="auto">
          <a:xfrm>
            <a:off x="6324601" y="5880240"/>
            <a:ext cx="1592273" cy="563040"/>
            <a:chOff x="4800600" y="5880240"/>
            <a:chExt cx="1592273" cy="563040"/>
          </a:xfrm>
        </p:grpSpPr>
        <p:pic>
          <p:nvPicPr>
            <p:cNvPr id="311" name="Picture 5"/>
            <p:cNvPicPr/>
            <p:nvPr/>
          </p:nvPicPr>
          <p:blipFill rotWithShape="1">
            <a:blip r:embed="rId3"/>
            <a:stretch/>
          </p:blipFill>
          <p:spPr bwMode="auto">
            <a:xfrm>
              <a:off x="4800600" y="5880240"/>
              <a:ext cx="840960" cy="563040"/>
            </a:xfrm>
            <a:prstGeom prst="rect">
              <a:avLst/>
            </a:prstGeom>
            <a:ln w="0">
              <a:noFill/>
            </a:ln>
          </p:spPr>
        </p:pic>
        <p:sp>
          <p:nvSpPr>
            <p:cNvPr id="312" name="Rectangle 6"/>
            <p:cNvSpPr/>
            <p:nvPr/>
          </p:nvSpPr>
          <p:spPr bwMode="auto">
            <a:xfrm>
              <a:off x="5580728" y="5978534"/>
              <a:ext cx="812145" cy="369332"/>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200" b="1" spc="-1">
                  <a:solidFill>
                    <a:schemeClr val="dk1"/>
                  </a:solidFill>
                  <a:latin typeface="Gill Sans"/>
                  <a:ea typeface="Gill Sans"/>
                </a:rPr>
                <a:t>Secondary</a:t>
              </a:r>
              <a:endParaRPr lang="en-US" sz="1200" spc="-1">
                <a:solidFill>
                  <a:srgbClr val="000000"/>
                </a:solidFill>
                <a:latin typeface="Arial"/>
              </a:endParaRPr>
            </a:p>
            <a:p>
              <a:pPr algn="ctr">
                <a:lnSpc>
                  <a:spcPct val="100000"/>
                </a:lnSpc>
                <a:defRPr/>
              </a:pPr>
              <a:r>
                <a:rPr lang="en-US" sz="1200" b="1" spc="-1">
                  <a:solidFill>
                    <a:schemeClr val="dk1"/>
                  </a:solidFill>
                  <a:latin typeface="Gill Sans"/>
                  <a:ea typeface="Gill Sans"/>
                </a:rPr>
                <a:t>DNS</a:t>
              </a:r>
              <a:endParaRPr lang="en-US" sz="1200" spc="-1">
                <a:solidFill>
                  <a:srgbClr val="000000"/>
                </a:solidFill>
                <a:latin typeface="Arial"/>
              </a:endParaRPr>
            </a:p>
          </p:txBody>
        </p:sp>
      </p:grpSp>
      <p:grpSp>
        <p:nvGrpSpPr>
          <p:cNvPr id="315381255" name="Group 10"/>
          <p:cNvGrpSpPr/>
          <p:nvPr/>
        </p:nvGrpSpPr>
        <p:grpSpPr bwMode="auto">
          <a:xfrm>
            <a:off x="2146441" y="1540814"/>
            <a:ext cx="1662735" cy="1292746"/>
            <a:chOff x="622440" y="1540814"/>
            <a:chExt cx="1662735" cy="1292746"/>
          </a:xfrm>
        </p:grpSpPr>
        <p:pic>
          <p:nvPicPr>
            <p:cNvPr id="314" name="Picture 8"/>
            <p:cNvPicPr/>
            <p:nvPr/>
          </p:nvPicPr>
          <p:blipFill rotWithShape="1">
            <a:blip r:embed="rId5"/>
            <a:stretch/>
          </p:blipFill>
          <p:spPr bwMode="auto">
            <a:xfrm>
              <a:off x="622440" y="1904040"/>
              <a:ext cx="1386720" cy="929520"/>
            </a:xfrm>
            <a:prstGeom prst="rect">
              <a:avLst/>
            </a:prstGeom>
            <a:ln w="0">
              <a:noFill/>
            </a:ln>
          </p:spPr>
        </p:pic>
        <p:sp>
          <p:nvSpPr>
            <p:cNvPr id="315" name="Rectangle 9"/>
            <p:cNvSpPr/>
            <p:nvPr/>
          </p:nvSpPr>
          <p:spPr bwMode="auto">
            <a:xfrm>
              <a:off x="1223025" y="1540814"/>
              <a:ext cx="1062150" cy="369332"/>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200" b="1" spc="-1">
                  <a:solidFill>
                    <a:schemeClr val="dk1"/>
                  </a:solidFill>
                  <a:latin typeface="Gill Sans"/>
                  <a:ea typeface="Gill Sans"/>
                </a:rPr>
                <a:t>Registrars</a:t>
              </a:r>
              <a:endParaRPr lang="en-US" sz="1200" spc="-1">
                <a:solidFill>
                  <a:srgbClr val="000000"/>
                </a:solidFill>
                <a:latin typeface="Arial"/>
              </a:endParaRPr>
            </a:p>
            <a:p>
              <a:pPr algn="ctr">
                <a:lnSpc>
                  <a:spcPct val="100000"/>
                </a:lnSpc>
                <a:defRPr/>
              </a:pPr>
              <a:r>
                <a:rPr lang="en-US" sz="1200" b="1" spc="-1">
                  <a:solidFill>
                    <a:schemeClr val="dk1"/>
                  </a:solidFill>
                  <a:latin typeface="Gill Sans"/>
                  <a:ea typeface="Gill Sans"/>
                </a:rPr>
                <a:t>&amp; Registrants</a:t>
              </a:r>
              <a:endParaRPr lang="en-US" sz="1200" spc="-1">
                <a:solidFill>
                  <a:srgbClr val="000000"/>
                </a:solidFill>
                <a:latin typeface="Arial"/>
              </a:endParaRPr>
            </a:p>
          </p:txBody>
        </p:sp>
      </p:grpSp>
      <p:grpSp>
        <p:nvGrpSpPr>
          <p:cNvPr id="1743411768" name="Group 13"/>
          <p:cNvGrpSpPr/>
          <p:nvPr/>
        </p:nvGrpSpPr>
        <p:grpSpPr bwMode="auto">
          <a:xfrm>
            <a:off x="2382960" y="4300561"/>
            <a:ext cx="1964880" cy="1417493"/>
            <a:chOff x="858960" y="4300560"/>
            <a:chExt cx="1964880" cy="1417493"/>
          </a:xfrm>
        </p:grpSpPr>
        <p:pic>
          <p:nvPicPr>
            <p:cNvPr id="317" name="Picture 11"/>
            <p:cNvPicPr/>
            <p:nvPr/>
          </p:nvPicPr>
          <p:blipFill rotWithShape="1">
            <a:blip r:embed="rId3"/>
            <a:stretch/>
          </p:blipFill>
          <p:spPr bwMode="auto">
            <a:xfrm>
              <a:off x="858960" y="4300560"/>
              <a:ext cx="1964880" cy="1312200"/>
            </a:xfrm>
            <a:prstGeom prst="rect">
              <a:avLst/>
            </a:prstGeom>
            <a:ln w="0">
              <a:noFill/>
            </a:ln>
          </p:spPr>
        </p:pic>
        <p:sp>
          <p:nvSpPr>
            <p:cNvPr id="318" name="Rectangle 12"/>
            <p:cNvSpPr/>
            <p:nvPr/>
          </p:nvSpPr>
          <p:spPr bwMode="auto">
            <a:xfrm>
              <a:off x="1305193" y="5533386"/>
              <a:ext cx="647614" cy="184666"/>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200" b="1" spc="-1">
                  <a:solidFill>
                    <a:schemeClr val="dk1"/>
                  </a:solidFill>
                  <a:latin typeface="Gill Sans"/>
                  <a:ea typeface="Gill Sans"/>
                </a:rPr>
                <a:t>Registry</a:t>
              </a:r>
              <a:endParaRPr lang="en-US" sz="1200" spc="-1">
                <a:solidFill>
                  <a:srgbClr val="000000"/>
                </a:solidFill>
                <a:latin typeface="Arial"/>
              </a:endParaRPr>
            </a:p>
          </p:txBody>
        </p:sp>
      </p:grpSp>
      <p:pic>
        <p:nvPicPr>
          <p:cNvPr id="1486101057" name="Picture 14"/>
          <p:cNvPicPr/>
          <p:nvPr/>
        </p:nvPicPr>
        <p:blipFill rotWithShape="1">
          <a:blip r:embed="rId6"/>
          <a:stretch/>
        </p:blipFill>
        <p:spPr bwMode="auto">
          <a:xfrm>
            <a:off x="8216760" y="3728880"/>
            <a:ext cx="1777680" cy="1110960"/>
          </a:xfrm>
          <a:prstGeom prst="rect">
            <a:avLst/>
          </a:prstGeom>
          <a:ln w="0">
            <a:noFill/>
          </a:ln>
        </p:spPr>
      </p:pic>
      <p:pic>
        <p:nvPicPr>
          <p:cNvPr id="866367495" name="Picture 15"/>
          <p:cNvPicPr/>
          <p:nvPr/>
        </p:nvPicPr>
        <p:blipFill rotWithShape="1">
          <a:blip r:embed="rId7"/>
          <a:stretch/>
        </p:blipFill>
        <p:spPr bwMode="auto">
          <a:xfrm>
            <a:off x="5600640" y="3911760"/>
            <a:ext cx="2273040" cy="2273040"/>
          </a:xfrm>
          <a:prstGeom prst="rect">
            <a:avLst/>
          </a:prstGeom>
          <a:ln w="0">
            <a:noFill/>
          </a:ln>
        </p:spPr>
      </p:pic>
      <p:pic>
        <p:nvPicPr>
          <p:cNvPr id="1607693136" name="Picture 16"/>
          <p:cNvPicPr/>
          <p:nvPr/>
        </p:nvPicPr>
        <p:blipFill rotWithShape="1">
          <a:blip r:embed="rId8"/>
          <a:stretch/>
        </p:blipFill>
        <p:spPr bwMode="auto">
          <a:xfrm>
            <a:off x="10007760" y="2873519"/>
            <a:ext cx="393480" cy="698040"/>
          </a:xfrm>
          <a:prstGeom prst="rect">
            <a:avLst/>
          </a:prstGeom>
          <a:ln w="0">
            <a:noFill/>
          </a:ln>
        </p:spPr>
      </p:pic>
      <p:sp>
        <p:nvSpPr>
          <p:cNvPr id="2022990497" name="Freeform 17"/>
          <p:cNvSpPr/>
          <p:nvPr/>
        </p:nvSpPr>
        <p:spPr bwMode="auto">
          <a:xfrm>
            <a:off x="1676280" y="2244600"/>
            <a:ext cx="2963519" cy="2749320"/>
          </a:xfrm>
          <a:custGeom>
            <a:avLst/>
            <a:gdLst>
              <a:gd name="textAreaLeft" fmla="*/ 0 w 2963520"/>
              <a:gd name="textAreaRight" fmla="*/ 2963880 w 2963520"/>
              <a:gd name="textAreaTop" fmla="*/ 0 h 2749320"/>
              <a:gd name="textAreaBottom" fmla="*/ 2749680 h 2749320"/>
            </a:gdLst>
            <a:ahLst/>
            <a:cxnLst/>
            <a:rect l="textAreaLeft" t="textAreaTop" r="textAreaRight" b="textAreaBottom"/>
            <a:pathLst>
              <a:path w="21194" h="20948" fill="norm" stroke="1" extrusionOk="0">
                <a:moveTo>
                  <a:pt x="14402" y="2419"/>
                </a:moveTo>
                <a:cubicBezTo>
                  <a:pt x="13469" y="2281"/>
                  <a:pt x="13411" y="79"/>
                  <a:pt x="12699" y="16"/>
                </a:cubicBezTo>
                <a:cubicBezTo>
                  <a:pt x="12388" y="-12"/>
                  <a:pt x="12075" y="3"/>
                  <a:pt x="11763" y="16"/>
                </a:cubicBezTo>
                <a:cubicBezTo>
                  <a:pt x="11308" y="34"/>
                  <a:pt x="9728" y="1953"/>
                  <a:pt x="9443" y="1830"/>
                </a:cubicBezTo>
                <a:cubicBezTo>
                  <a:pt x="8188" y="1285"/>
                  <a:pt x="9975" y="469"/>
                  <a:pt x="8018" y="469"/>
                </a:cubicBezTo>
                <a:cubicBezTo>
                  <a:pt x="6060" y="469"/>
                  <a:pt x="5379" y="288"/>
                  <a:pt x="5038" y="469"/>
                </a:cubicBezTo>
                <a:cubicBezTo>
                  <a:pt x="4698" y="651"/>
                  <a:pt x="4528" y="1739"/>
                  <a:pt x="4272" y="2465"/>
                </a:cubicBezTo>
                <a:cubicBezTo>
                  <a:pt x="4017" y="3190"/>
                  <a:pt x="4102" y="3281"/>
                  <a:pt x="4017" y="3553"/>
                </a:cubicBezTo>
                <a:cubicBezTo>
                  <a:pt x="3932" y="3825"/>
                  <a:pt x="2400" y="3734"/>
                  <a:pt x="1634" y="3462"/>
                </a:cubicBezTo>
                <a:cubicBezTo>
                  <a:pt x="868" y="3190"/>
                  <a:pt x="1038" y="2918"/>
                  <a:pt x="697" y="3916"/>
                </a:cubicBezTo>
                <a:cubicBezTo>
                  <a:pt x="357" y="4914"/>
                  <a:pt x="-239" y="4097"/>
                  <a:pt x="101" y="6183"/>
                </a:cubicBezTo>
                <a:cubicBezTo>
                  <a:pt x="442" y="8270"/>
                  <a:pt x="357" y="8451"/>
                  <a:pt x="868" y="8723"/>
                </a:cubicBezTo>
                <a:cubicBezTo>
                  <a:pt x="1378" y="8995"/>
                  <a:pt x="1463" y="9358"/>
                  <a:pt x="1038" y="9449"/>
                </a:cubicBezTo>
                <a:cubicBezTo>
                  <a:pt x="612" y="9539"/>
                  <a:pt x="697" y="10719"/>
                  <a:pt x="953" y="11172"/>
                </a:cubicBezTo>
                <a:cubicBezTo>
                  <a:pt x="1208" y="11626"/>
                  <a:pt x="697" y="10900"/>
                  <a:pt x="1378" y="11988"/>
                </a:cubicBezTo>
                <a:cubicBezTo>
                  <a:pt x="2059" y="13077"/>
                  <a:pt x="3506" y="15526"/>
                  <a:pt x="3506" y="15526"/>
                </a:cubicBezTo>
                <a:cubicBezTo>
                  <a:pt x="3506" y="15526"/>
                  <a:pt x="2313" y="19348"/>
                  <a:pt x="3506" y="20310"/>
                </a:cubicBezTo>
                <a:cubicBezTo>
                  <a:pt x="5090" y="21588"/>
                  <a:pt x="7494" y="20596"/>
                  <a:pt x="9465" y="20333"/>
                </a:cubicBezTo>
                <a:cubicBezTo>
                  <a:pt x="11611" y="20047"/>
                  <a:pt x="14034" y="20060"/>
                  <a:pt x="15764" y="18678"/>
                </a:cubicBezTo>
                <a:cubicBezTo>
                  <a:pt x="17281" y="17465"/>
                  <a:pt x="18317" y="13258"/>
                  <a:pt x="18317" y="13258"/>
                </a:cubicBezTo>
                <a:cubicBezTo>
                  <a:pt x="18317" y="13258"/>
                  <a:pt x="20380" y="11097"/>
                  <a:pt x="20956" y="9721"/>
                </a:cubicBezTo>
                <a:cubicBezTo>
                  <a:pt x="21361" y="8753"/>
                  <a:pt x="21126" y="6728"/>
                  <a:pt x="21126" y="6546"/>
                </a:cubicBezTo>
                <a:cubicBezTo>
                  <a:pt x="21126" y="6365"/>
                  <a:pt x="21289" y="3633"/>
                  <a:pt x="20530" y="2555"/>
                </a:cubicBezTo>
                <a:cubicBezTo>
                  <a:pt x="19253" y="741"/>
                  <a:pt x="15934" y="2646"/>
                  <a:pt x="14402" y="2419"/>
                </a:cubicBezTo>
                <a:close/>
                <a:moveTo>
                  <a:pt x="14402" y="2419"/>
                </a:moveTo>
              </a:path>
            </a:pathLst>
          </a:custGeom>
          <a:blipFill rotWithShape="0">
            <a:blip r:embed="rId9">
              <a:alphaModFix amt="20000"/>
            </a:blip>
            <a:tile algn="tl" sx="100000" sy="100000" tx="0" ty="0"/>
          </a:blipFill>
          <a:ln w="0">
            <a:noFill/>
          </a:ln>
          <a:effectLst>
            <a:outerShdw blurRad="127080" dist="75858" dir="2700000" algn="ctr" rotWithShape="0">
              <a:schemeClr val="bg2">
                <a:alpha val="75000"/>
              </a:schemeClr>
            </a:outerShdw>
          </a:effectLst>
        </p:spPr>
        <p:style>
          <a:lnRef idx="0">
            <a:srgbClr val="000000"/>
          </a:lnRef>
          <a:fillRef idx="0">
            <a:srgbClr val="000000"/>
          </a:fillRef>
          <a:effectRef idx="0">
            <a:srgbClr val="000000"/>
          </a:effectRef>
          <a:fontRef idx="minor"/>
        </p:style>
        <p:txBody>
          <a:bodyPr lIns="0" tIns="0" rIns="0" bIns="0" anchor="ctr">
            <a:noAutofit/>
          </a:bodyPr>
          <a:lstStyle/>
          <a:p>
            <a:pPr algn="ctr">
              <a:lnSpc>
                <a:spcPct val="100000"/>
              </a:lnSpc>
              <a:defRPr/>
            </a:pPr>
            <a:endParaRPr lang="en-US" sz="2800" spc="-1">
              <a:solidFill>
                <a:srgbClr val="000000"/>
              </a:solidFill>
              <a:latin typeface="Arial"/>
            </a:endParaRPr>
          </a:p>
          <a:p>
            <a:pPr algn="ctr">
              <a:lnSpc>
                <a:spcPct val="100000"/>
              </a:lnSpc>
              <a:defRPr/>
            </a:pPr>
            <a:endParaRPr lang="en-US" sz="2800" spc="-1">
              <a:solidFill>
                <a:srgbClr val="000000"/>
              </a:solidFill>
              <a:latin typeface="Arial"/>
            </a:endParaRPr>
          </a:p>
        </p:txBody>
      </p:sp>
      <p:grpSp>
        <p:nvGrpSpPr>
          <p:cNvPr id="108396417" name="Group 20"/>
          <p:cNvGrpSpPr/>
          <p:nvPr/>
        </p:nvGrpSpPr>
        <p:grpSpPr bwMode="auto">
          <a:xfrm>
            <a:off x="6743640" y="2925374"/>
            <a:ext cx="1083593" cy="1293826"/>
            <a:chOff x="5219640" y="2925374"/>
            <a:chExt cx="1083593" cy="1293826"/>
          </a:xfrm>
        </p:grpSpPr>
        <p:pic>
          <p:nvPicPr>
            <p:cNvPr id="324" name="Picture 18"/>
            <p:cNvPicPr/>
            <p:nvPr/>
          </p:nvPicPr>
          <p:blipFill rotWithShape="1">
            <a:blip r:embed="rId3"/>
            <a:stretch/>
          </p:blipFill>
          <p:spPr bwMode="auto">
            <a:xfrm>
              <a:off x="5219640" y="3656880"/>
              <a:ext cx="840960" cy="562320"/>
            </a:xfrm>
            <a:prstGeom prst="rect">
              <a:avLst/>
            </a:prstGeom>
            <a:ln w="0">
              <a:noFill/>
            </a:ln>
          </p:spPr>
        </p:pic>
        <p:sp>
          <p:nvSpPr>
            <p:cNvPr id="325" name="Rectangle 19"/>
            <p:cNvSpPr/>
            <p:nvPr/>
          </p:nvSpPr>
          <p:spPr bwMode="auto">
            <a:xfrm>
              <a:off x="5491088" y="2925374"/>
              <a:ext cx="812145" cy="369332"/>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1200" b="1" spc="-1">
                  <a:solidFill>
                    <a:schemeClr val="dk1"/>
                  </a:solidFill>
                  <a:latin typeface="Gill Sans"/>
                  <a:ea typeface="Gill Sans"/>
                </a:rPr>
                <a:t>Secondary</a:t>
              </a:r>
              <a:endParaRPr lang="en-US" sz="1200" spc="-1">
                <a:solidFill>
                  <a:srgbClr val="000000"/>
                </a:solidFill>
                <a:latin typeface="Arial"/>
              </a:endParaRPr>
            </a:p>
            <a:p>
              <a:pPr algn="ctr">
                <a:lnSpc>
                  <a:spcPct val="100000"/>
                </a:lnSpc>
                <a:defRPr/>
              </a:pPr>
              <a:r>
                <a:rPr lang="en-US" sz="1200" b="1" spc="-1">
                  <a:solidFill>
                    <a:schemeClr val="dk1"/>
                  </a:solidFill>
                  <a:latin typeface="Gill Sans"/>
                  <a:ea typeface="Gill Sans"/>
                </a:rPr>
                <a:t>DNS</a:t>
              </a:r>
              <a:endParaRPr lang="en-US" sz="1200" spc="-1">
                <a:solidFill>
                  <a:srgbClr val="000000"/>
                </a:solidFill>
                <a:latin typeface="Arial"/>
              </a:endParaRPr>
            </a:p>
          </p:txBody>
        </p:sp>
      </p:grpSp>
      <p:sp>
        <p:nvSpPr>
          <p:cNvPr id="1498344924" name="Freeform 21"/>
          <p:cNvSpPr/>
          <p:nvPr/>
        </p:nvSpPr>
        <p:spPr bwMode="auto">
          <a:xfrm>
            <a:off x="6292920" y="3592440"/>
            <a:ext cx="2963519" cy="2749320"/>
          </a:xfrm>
          <a:custGeom>
            <a:avLst/>
            <a:gdLst>
              <a:gd name="textAreaLeft" fmla="*/ 0 w 2963520"/>
              <a:gd name="textAreaRight" fmla="*/ 2963880 w 2963520"/>
              <a:gd name="textAreaTop" fmla="*/ 0 h 2749320"/>
              <a:gd name="textAreaBottom" fmla="*/ 2749680 h 2749320"/>
            </a:gdLst>
            <a:ahLst/>
            <a:cxnLst/>
            <a:rect l="textAreaLeft" t="textAreaTop" r="textAreaRight" b="textAreaBottom"/>
            <a:pathLst>
              <a:path w="21194" h="20948" fill="norm" stroke="1" extrusionOk="0">
                <a:moveTo>
                  <a:pt x="14402" y="2419"/>
                </a:moveTo>
                <a:cubicBezTo>
                  <a:pt x="13469" y="2281"/>
                  <a:pt x="13411" y="79"/>
                  <a:pt x="12699" y="16"/>
                </a:cubicBezTo>
                <a:cubicBezTo>
                  <a:pt x="12388" y="-12"/>
                  <a:pt x="12075" y="3"/>
                  <a:pt x="11763" y="16"/>
                </a:cubicBezTo>
                <a:cubicBezTo>
                  <a:pt x="11308" y="34"/>
                  <a:pt x="9728" y="1953"/>
                  <a:pt x="9443" y="1830"/>
                </a:cubicBezTo>
                <a:cubicBezTo>
                  <a:pt x="8188" y="1285"/>
                  <a:pt x="9975" y="469"/>
                  <a:pt x="8018" y="469"/>
                </a:cubicBezTo>
                <a:cubicBezTo>
                  <a:pt x="6060" y="469"/>
                  <a:pt x="5379" y="288"/>
                  <a:pt x="5038" y="469"/>
                </a:cubicBezTo>
                <a:cubicBezTo>
                  <a:pt x="4698" y="651"/>
                  <a:pt x="4528" y="1739"/>
                  <a:pt x="4272" y="2465"/>
                </a:cubicBezTo>
                <a:cubicBezTo>
                  <a:pt x="4017" y="3190"/>
                  <a:pt x="4102" y="3281"/>
                  <a:pt x="4017" y="3553"/>
                </a:cubicBezTo>
                <a:cubicBezTo>
                  <a:pt x="3932" y="3825"/>
                  <a:pt x="2400" y="3734"/>
                  <a:pt x="1634" y="3462"/>
                </a:cubicBezTo>
                <a:cubicBezTo>
                  <a:pt x="868" y="3190"/>
                  <a:pt x="1038" y="2918"/>
                  <a:pt x="697" y="3916"/>
                </a:cubicBezTo>
                <a:cubicBezTo>
                  <a:pt x="357" y="4914"/>
                  <a:pt x="-239" y="4097"/>
                  <a:pt x="101" y="6183"/>
                </a:cubicBezTo>
                <a:cubicBezTo>
                  <a:pt x="442" y="8270"/>
                  <a:pt x="357" y="8451"/>
                  <a:pt x="868" y="8723"/>
                </a:cubicBezTo>
                <a:cubicBezTo>
                  <a:pt x="1378" y="8995"/>
                  <a:pt x="1463" y="9358"/>
                  <a:pt x="1038" y="9449"/>
                </a:cubicBezTo>
                <a:cubicBezTo>
                  <a:pt x="612" y="9539"/>
                  <a:pt x="697" y="10719"/>
                  <a:pt x="953" y="11172"/>
                </a:cubicBezTo>
                <a:cubicBezTo>
                  <a:pt x="1208" y="11626"/>
                  <a:pt x="697" y="10900"/>
                  <a:pt x="1378" y="11988"/>
                </a:cubicBezTo>
                <a:cubicBezTo>
                  <a:pt x="2059" y="13077"/>
                  <a:pt x="3506" y="15526"/>
                  <a:pt x="3506" y="15526"/>
                </a:cubicBezTo>
                <a:cubicBezTo>
                  <a:pt x="3506" y="15526"/>
                  <a:pt x="2313" y="19348"/>
                  <a:pt x="3506" y="20310"/>
                </a:cubicBezTo>
                <a:cubicBezTo>
                  <a:pt x="5090" y="21588"/>
                  <a:pt x="7494" y="20596"/>
                  <a:pt x="9465" y="20333"/>
                </a:cubicBezTo>
                <a:cubicBezTo>
                  <a:pt x="11611" y="20047"/>
                  <a:pt x="14034" y="20060"/>
                  <a:pt x="15764" y="18678"/>
                </a:cubicBezTo>
                <a:cubicBezTo>
                  <a:pt x="17281" y="17465"/>
                  <a:pt x="18317" y="13258"/>
                  <a:pt x="18317" y="13258"/>
                </a:cubicBezTo>
                <a:cubicBezTo>
                  <a:pt x="18317" y="13258"/>
                  <a:pt x="20380" y="11097"/>
                  <a:pt x="20956" y="9721"/>
                </a:cubicBezTo>
                <a:cubicBezTo>
                  <a:pt x="21361" y="8753"/>
                  <a:pt x="21126" y="6728"/>
                  <a:pt x="21126" y="6546"/>
                </a:cubicBezTo>
                <a:cubicBezTo>
                  <a:pt x="21126" y="6365"/>
                  <a:pt x="21289" y="3633"/>
                  <a:pt x="20530" y="2555"/>
                </a:cubicBezTo>
                <a:cubicBezTo>
                  <a:pt x="19253" y="741"/>
                  <a:pt x="15934" y="2646"/>
                  <a:pt x="14402" y="2419"/>
                </a:cubicBezTo>
                <a:close/>
                <a:moveTo>
                  <a:pt x="14402" y="2419"/>
                </a:moveTo>
              </a:path>
            </a:pathLst>
          </a:custGeom>
          <a:blipFill rotWithShape="0">
            <a:blip r:embed="rId9">
              <a:alphaModFix amt="20000"/>
            </a:blip>
            <a:tile algn="tl" sx="100000" sy="100000" tx="0" ty="0"/>
          </a:blipFill>
          <a:ln w="0">
            <a:noFill/>
          </a:ln>
          <a:effectLst>
            <a:outerShdw blurRad="127080" dist="75858" dir="2700000" algn="ctr" rotWithShape="0">
              <a:schemeClr val="bg2">
                <a:alpha val="75000"/>
              </a:schemeClr>
            </a:outerShdw>
          </a:effectLst>
        </p:spPr>
        <p:style>
          <a:lnRef idx="0">
            <a:srgbClr val="000000"/>
          </a:lnRef>
          <a:fillRef idx="0">
            <a:srgbClr val="000000"/>
          </a:fillRef>
          <a:effectRef idx="0">
            <a:srgbClr val="000000"/>
          </a:effectRef>
          <a:fontRef idx="minor"/>
        </p:style>
        <p:txBody>
          <a:bodyPr lIns="0" tIns="0" rIns="0" bIns="0" anchor="ctr">
            <a:noAutofit/>
          </a:bodyPr>
          <a:lstStyle/>
          <a:p>
            <a:pPr algn="ctr">
              <a:lnSpc>
                <a:spcPct val="100000"/>
              </a:lnSpc>
              <a:defRPr/>
            </a:pPr>
            <a:endParaRPr lang="en-US" sz="2800" spc="-1">
              <a:solidFill>
                <a:srgbClr val="000000"/>
              </a:solidFill>
              <a:latin typeface="Arial"/>
            </a:endParaRPr>
          </a:p>
          <a:p>
            <a:pPr algn="ctr">
              <a:lnSpc>
                <a:spcPct val="100000"/>
              </a:lnSpc>
              <a:defRPr/>
            </a:pPr>
            <a:endParaRPr lang="en-US" sz="2800" spc="-1">
              <a:solidFill>
                <a:srgbClr val="000000"/>
              </a:solidFill>
              <a:latin typeface="Arial"/>
            </a:endParaRPr>
          </a:p>
        </p:txBody>
      </p:sp>
      <p:sp>
        <p:nvSpPr>
          <p:cNvPr id="1153521800" name="Freeform 22"/>
          <p:cNvSpPr/>
          <p:nvPr/>
        </p:nvSpPr>
        <p:spPr bwMode="auto">
          <a:xfrm>
            <a:off x="4213200" y="1398600"/>
            <a:ext cx="583920" cy="4749480"/>
          </a:xfrm>
          <a:custGeom>
            <a:avLst/>
            <a:gdLst>
              <a:gd name="textAreaLeft" fmla="*/ 0 w 583920"/>
              <a:gd name="textAreaRight" fmla="*/ 584280 w 583920"/>
              <a:gd name="textAreaTop" fmla="*/ 0 h 4749480"/>
              <a:gd name="textAreaBottom" fmla="*/ 4749840 h 4749480"/>
            </a:gdLst>
            <a:ahLst/>
            <a:cxnLst/>
            <a:rect l="textAreaLeft" t="textAreaTop" r="textAreaRight" b="textAreaBottom"/>
            <a:pathLst>
              <a:path w="19635" h="21600" fill="norm" stroke="1" extrusionOk="0">
                <a:moveTo>
                  <a:pt x="16074" y="0"/>
                </a:moveTo>
                <a:cubicBezTo>
                  <a:pt x="16868" y="595"/>
                  <a:pt x="20219" y="1514"/>
                  <a:pt x="19545" y="2287"/>
                </a:cubicBezTo>
                <a:cubicBezTo>
                  <a:pt x="19015" y="2896"/>
                  <a:pt x="13803" y="3277"/>
                  <a:pt x="12702" y="3871"/>
                </a:cubicBezTo>
                <a:cubicBezTo>
                  <a:pt x="10421" y="5102"/>
                  <a:pt x="14690" y="5007"/>
                  <a:pt x="15678" y="5576"/>
                </a:cubicBezTo>
                <a:cubicBezTo>
                  <a:pt x="17959" y="6889"/>
                  <a:pt x="14805" y="7340"/>
                  <a:pt x="12901" y="8012"/>
                </a:cubicBezTo>
                <a:cubicBezTo>
                  <a:pt x="10969" y="8694"/>
                  <a:pt x="7743" y="8553"/>
                  <a:pt x="7347" y="10069"/>
                </a:cubicBezTo>
                <a:cubicBezTo>
                  <a:pt x="6950" y="11585"/>
                  <a:pt x="13297" y="12126"/>
                  <a:pt x="10520" y="12938"/>
                </a:cubicBezTo>
                <a:cubicBezTo>
                  <a:pt x="7743" y="13750"/>
                  <a:pt x="6950" y="14941"/>
                  <a:pt x="6156" y="15374"/>
                </a:cubicBezTo>
                <a:cubicBezTo>
                  <a:pt x="5363" y="15808"/>
                  <a:pt x="4173" y="17377"/>
                  <a:pt x="4966" y="17702"/>
                </a:cubicBezTo>
                <a:cubicBezTo>
                  <a:pt x="5760" y="18027"/>
                  <a:pt x="8537" y="18568"/>
                  <a:pt x="4173" y="19380"/>
                </a:cubicBezTo>
                <a:cubicBezTo>
                  <a:pt x="-191" y="20192"/>
                  <a:pt x="-1381" y="20788"/>
                  <a:pt x="1793" y="21600"/>
                </a:cubicBezTo>
              </a:path>
            </a:pathLst>
          </a:custGeom>
          <a:noFill/>
          <a:ln w="76200">
            <a:solidFill>
              <a:srgbClr val="975500"/>
            </a:solidFill>
            <a:prstDash val="sysDot"/>
            <a:miter/>
          </a:ln>
          <a:effectLst>
            <a:outerShdw blurRad="127080" dist="75858" dir="2700000" algn="ctr" rotWithShape="0">
              <a:schemeClr val="bg2">
                <a:alpha val="75000"/>
              </a:schemeClr>
            </a:outerShdw>
          </a:effectLst>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sp>
        <p:nvSpPr>
          <p:cNvPr id="1043559238" name="Line 23"/>
          <p:cNvSpPr/>
          <p:nvPr/>
        </p:nvSpPr>
        <p:spPr bwMode="auto">
          <a:xfrm flipH="1" flipV="1">
            <a:off x="2857440" y="2711160"/>
            <a:ext cx="129960" cy="1630440"/>
          </a:xfrm>
          <a:prstGeom prst="line">
            <a:avLst/>
          </a:prstGeom>
          <a:ln w="762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688680289" name="Rectangle 24"/>
          <p:cNvSpPr/>
          <p:nvPr/>
        </p:nvSpPr>
        <p:spPr bwMode="auto">
          <a:xfrm>
            <a:off x="5747619" y="292518"/>
            <a:ext cx="4044762" cy="430887"/>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2800" spc="-1">
                <a:solidFill>
                  <a:schemeClr val="dk1"/>
                </a:solidFill>
                <a:latin typeface="Gill Sans"/>
                <a:ea typeface="Gill Sans"/>
              </a:rPr>
              <a:t>Data flow through the DNS</a:t>
            </a:r>
            <a:endParaRPr lang="en-US" sz="2800" spc="-1">
              <a:solidFill>
                <a:srgbClr val="000000"/>
              </a:solidFill>
              <a:latin typeface="Arial"/>
            </a:endParaRPr>
          </a:p>
        </p:txBody>
      </p:sp>
      <p:sp>
        <p:nvSpPr>
          <p:cNvPr id="550646699" name="Line 25"/>
          <p:cNvSpPr/>
          <p:nvPr/>
        </p:nvSpPr>
        <p:spPr bwMode="auto">
          <a:xfrm flipH="1">
            <a:off x="3858960" y="4716360"/>
            <a:ext cx="914400" cy="81000"/>
          </a:xfrm>
          <a:prstGeom prst="line">
            <a:avLst/>
          </a:prstGeom>
          <a:ln w="762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26122325" name="Line 26"/>
          <p:cNvSpPr/>
          <p:nvPr/>
        </p:nvSpPr>
        <p:spPr bwMode="auto">
          <a:xfrm flipH="1">
            <a:off x="5467080" y="3762360"/>
            <a:ext cx="1354320" cy="588960"/>
          </a:xfrm>
          <a:prstGeom prst="line">
            <a:avLst/>
          </a:prstGeom>
          <a:ln w="762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259667516" name="Line 27"/>
          <p:cNvSpPr/>
          <p:nvPr/>
        </p:nvSpPr>
        <p:spPr bwMode="auto">
          <a:xfrm flipH="1" flipV="1">
            <a:off x="5341800" y="5208480"/>
            <a:ext cx="1074600" cy="946080"/>
          </a:xfrm>
          <a:prstGeom prst="line">
            <a:avLst/>
          </a:prstGeom>
          <a:ln w="762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582404069" name="Line 28"/>
          <p:cNvSpPr/>
          <p:nvPr/>
        </p:nvSpPr>
        <p:spPr bwMode="auto">
          <a:xfrm flipV="1">
            <a:off x="9307200" y="2630160"/>
            <a:ext cx="347760" cy="99072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13031984" name="Line 29"/>
          <p:cNvSpPr/>
          <p:nvPr/>
        </p:nvSpPr>
        <p:spPr bwMode="auto">
          <a:xfrm flipV="1">
            <a:off x="9396120" y="3095280"/>
            <a:ext cx="604800" cy="61596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241041547" name="Line 30"/>
          <p:cNvSpPr/>
          <p:nvPr/>
        </p:nvSpPr>
        <p:spPr bwMode="auto">
          <a:xfrm flipV="1">
            <a:off x="7378680" y="4514760"/>
            <a:ext cx="1341360" cy="136692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412132352" name="Line 31"/>
          <p:cNvSpPr/>
          <p:nvPr/>
        </p:nvSpPr>
        <p:spPr bwMode="auto">
          <a:xfrm flipV="1">
            <a:off x="7429440" y="4595760"/>
            <a:ext cx="1143000" cy="77292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2075763421" name="Line 32"/>
          <p:cNvSpPr/>
          <p:nvPr/>
        </p:nvSpPr>
        <p:spPr bwMode="auto">
          <a:xfrm flipV="1">
            <a:off x="7314960" y="4511520"/>
            <a:ext cx="1177920" cy="4752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418872676" name="Line 33"/>
          <p:cNvSpPr/>
          <p:nvPr/>
        </p:nvSpPr>
        <p:spPr bwMode="auto">
          <a:xfrm>
            <a:off x="7548240" y="4076640"/>
            <a:ext cx="1047960" cy="323640"/>
          </a:xfrm>
          <a:prstGeom prst="line">
            <a:avLst/>
          </a:prstGeom>
          <a:ln w="762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81858349" name="Rectangle 34"/>
          <p:cNvSpPr/>
          <p:nvPr/>
        </p:nvSpPr>
        <p:spPr bwMode="auto">
          <a:xfrm>
            <a:off x="5543761" y="751158"/>
            <a:ext cx="2834879" cy="430887"/>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nSpc>
                <a:spcPct val="100000"/>
              </a:lnSpc>
              <a:defRPr/>
            </a:pPr>
            <a:r>
              <a:rPr lang="en-US" sz="2800" spc="-1">
                <a:solidFill>
                  <a:schemeClr val="dk1"/>
                </a:solidFill>
                <a:latin typeface="Gill Sans"/>
                <a:ea typeface="Gill Sans"/>
              </a:rPr>
              <a:t>End to end security</a:t>
            </a:r>
            <a:endParaRPr lang="en-US" sz="2800" spc="-1">
              <a:solidFill>
                <a:srgbClr val="000000"/>
              </a:solidFill>
              <a:latin typeface="Arial"/>
            </a:endParaRPr>
          </a:p>
        </p:txBody>
      </p:sp>
      <p:grpSp>
        <p:nvGrpSpPr>
          <p:cNvPr id="1179133823" name="Group 56"/>
          <p:cNvGrpSpPr/>
          <p:nvPr/>
        </p:nvGrpSpPr>
        <p:grpSpPr bwMode="auto">
          <a:xfrm>
            <a:off x="3911880" y="1721160"/>
            <a:ext cx="5790600" cy="2933280"/>
            <a:chOff x="2387880" y="1721160"/>
            <a:chExt cx="5790600" cy="2933280"/>
          </a:xfrm>
        </p:grpSpPr>
        <p:sp>
          <p:nvSpPr>
            <p:cNvPr id="341" name="Line 35"/>
            <p:cNvSpPr/>
            <p:nvPr/>
          </p:nvSpPr>
          <p:spPr bwMode="auto">
            <a:xfrm flipV="1">
              <a:off x="3119400" y="3439440"/>
              <a:ext cx="309600" cy="1215000"/>
            </a:xfrm>
            <a:prstGeom prst="line">
              <a:avLst/>
            </a:prstGeom>
            <a:ln w="127000">
              <a:solidFill>
                <a:srgbClr val="66008D"/>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grpSp>
          <p:nvGrpSpPr>
            <p:cNvPr id="342" name="Group 44"/>
            <p:cNvGrpSpPr/>
            <p:nvPr/>
          </p:nvGrpSpPr>
          <p:grpSpPr bwMode="auto">
            <a:xfrm>
              <a:off x="2387880" y="2280240"/>
              <a:ext cx="1737720" cy="1096920"/>
              <a:chOff x="2387880" y="2280240"/>
              <a:chExt cx="1737720" cy="1096920"/>
            </a:xfrm>
          </p:grpSpPr>
          <p:grpSp>
            <p:nvGrpSpPr>
              <p:cNvPr id="343" name="Group 39"/>
              <p:cNvGrpSpPr/>
              <p:nvPr/>
            </p:nvGrpSpPr>
            <p:grpSpPr bwMode="auto">
              <a:xfrm>
                <a:off x="2387880" y="2280240"/>
                <a:ext cx="1714320" cy="1096920"/>
                <a:chOff x="2387880" y="2280240"/>
                <a:chExt cx="1714320" cy="1096920"/>
              </a:xfrm>
            </p:grpSpPr>
            <p:pic>
              <p:nvPicPr>
                <p:cNvPr id="344" name="Picture 36"/>
                <p:cNvPicPr/>
                <p:nvPr/>
              </p:nvPicPr>
              <p:blipFill rotWithShape="1">
                <a:blip r:embed="rId10"/>
                <a:stretch/>
              </p:blipFill>
              <p:spPr bwMode="auto">
                <a:xfrm>
                  <a:off x="2552760" y="2411640"/>
                  <a:ext cx="1385640" cy="733320"/>
                </a:xfrm>
                <a:prstGeom prst="rect">
                  <a:avLst/>
                </a:prstGeom>
                <a:ln w="0">
                  <a:noFill/>
                </a:ln>
              </p:spPr>
            </p:pic>
            <p:sp>
              <p:nvSpPr>
                <p:cNvPr id="345" name="Rectangle 37"/>
                <p:cNvSpPr/>
                <p:nvPr/>
              </p:nvSpPr>
              <p:spPr bwMode="auto">
                <a:xfrm>
                  <a:off x="2395440" y="2281680"/>
                  <a:ext cx="1699920" cy="1095480"/>
                </a:xfrm>
                <a:prstGeom prst="rect">
                  <a:avLst/>
                </a:prstGeom>
                <a:solidFill>
                  <a:srgbClr val="FDFFE2">
                    <a:alpha val="35000"/>
                  </a:srgbClr>
                </a:solidFill>
                <a:ln w="25400">
                  <a:solidFill>
                    <a:srgbClr val="000000">
                      <a:alpha val="34901"/>
                    </a:srgbClr>
                  </a:solidFill>
                  <a:miter/>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346" name="AutoShape 38"/>
                <p:cNvSpPr/>
                <p:nvPr/>
              </p:nvSpPr>
              <p:spPr bwMode="auto">
                <a:xfrm rot="10800000" flipH="1">
                  <a:off x="2387880" y="2280240"/>
                  <a:ext cx="1714320" cy="404640"/>
                </a:xfrm>
                <a:prstGeom prst="triangle">
                  <a:avLst>
                    <a:gd name="adj" fmla="val 50000"/>
                  </a:avLst>
                </a:prstGeom>
                <a:solidFill>
                  <a:srgbClr val="FDFFE2">
                    <a:alpha val="48000"/>
                  </a:srgbClr>
                </a:solidFill>
                <a:ln w="25400">
                  <a:solidFill>
                    <a:srgbClr val="000000">
                      <a:alpha val="47842"/>
                    </a:srgbClr>
                  </a:solidFill>
                  <a:miter/>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grpSp>
            <p:nvGrpSpPr>
              <p:cNvPr id="347" name="Group 43"/>
              <p:cNvGrpSpPr/>
              <p:nvPr/>
            </p:nvGrpSpPr>
            <p:grpSpPr bwMode="auto">
              <a:xfrm>
                <a:off x="3102120" y="2586600"/>
                <a:ext cx="1023480" cy="588960"/>
                <a:chOff x="3102120" y="2586600"/>
                <a:chExt cx="1023480" cy="588960"/>
              </a:xfrm>
            </p:grpSpPr>
            <p:sp>
              <p:nvSpPr>
                <p:cNvPr id="348" name="AutoShape 40"/>
                <p:cNvSpPr/>
                <p:nvPr/>
              </p:nvSpPr>
              <p:spPr bwMode="auto">
                <a:xfrm>
                  <a:off x="3110040" y="2595960"/>
                  <a:ext cx="271080" cy="274320"/>
                </a:xfrm>
                <a:custGeom>
                  <a:avLst/>
                  <a:gdLst>
                    <a:gd name="textAreaLeft" fmla="*/ 0 w 271080"/>
                    <a:gd name="textAreaRight" fmla="*/ 271440 w 271080"/>
                    <a:gd name="textAreaTop" fmla="*/ 0 h 274320"/>
                    <a:gd name="textAreaBottom" fmla="*/ 274680 h 274320"/>
                  </a:gdLst>
                  <a:ahLst/>
                  <a:cxnLst/>
                  <a:rect l="textAreaLeft" t="textAreaTop" r="textAreaRight" b="textAreaBottom"/>
                  <a:pathLst>
                    <a:path w="21933" h="22272" fill="norm" stroke="1" extrusionOk="0">
                      <a:moveTo>
                        <a:pt x="10967" y="0"/>
                      </a:moveTo>
                      <a:lnTo>
                        <a:pt x="14025" y="2605"/>
                      </a:lnTo>
                      <a:lnTo>
                        <a:pt x="18016" y="2605"/>
                      </a:lnTo>
                      <a:lnTo>
                        <a:pt x="18709" y="6597"/>
                      </a:lnTo>
                      <a:lnTo>
                        <a:pt x="21767" y="9202"/>
                      </a:lnTo>
                      <a:lnTo>
                        <a:pt x="19771" y="12712"/>
                      </a:lnTo>
                      <a:lnTo>
                        <a:pt x="20464" y="16704"/>
                      </a:lnTo>
                      <a:lnTo>
                        <a:pt x="16714" y="18090"/>
                      </a:lnTo>
                      <a:lnTo>
                        <a:pt x="14718" y="21600"/>
                      </a:lnTo>
                      <a:lnTo>
                        <a:pt x="10967" y="20214"/>
                      </a:lnTo>
                      <a:lnTo>
                        <a:pt x="7216" y="21600"/>
                      </a:lnTo>
                      <a:lnTo>
                        <a:pt x="5220" y="18090"/>
                      </a:lnTo>
                      <a:lnTo>
                        <a:pt x="1470" y="16704"/>
                      </a:lnTo>
                      <a:lnTo>
                        <a:pt x="2163" y="12712"/>
                      </a:lnTo>
                      <a:lnTo>
                        <a:pt x="167" y="9202"/>
                      </a:lnTo>
                      <a:lnTo>
                        <a:pt x="3225" y="6597"/>
                      </a:lnTo>
                      <a:lnTo>
                        <a:pt x="3918" y="2605"/>
                      </a:lnTo>
                      <a:lnTo>
                        <a:pt x="7909" y="2605"/>
                      </a:lnTo>
                      <a:lnTo>
                        <a:pt x="10967" y="0"/>
                      </a:lnTo>
                      <a:close/>
                      <a:moveTo>
                        <a:pt x="10967" y="0"/>
                      </a:moveTo>
                    </a:path>
                  </a:pathLst>
                </a:custGeom>
                <a:blipFill rotWithShape="0">
                  <a:blip r:embed="rId9"/>
                  <a:tile algn="tl" sx="100000" sy="100000" tx="0" ty="0"/>
                </a:blipFill>
                <a:ln w="25400">
                  <a:solidFill>
                    <a:srgbClr val="000000"/>
                  </a:solidFill>
                  <a:miter/>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sp>
              <p:nvSpPr>
                <p:cNvPr id="349" name="Rectangle 41"/>
                <p:cNvSpPr/>
                <p:nvPr/>
              </p:nvSpPr>
              <p:spPr bwMode="auto">
                <a:xfrm>
                  <a:off x="3129120" y="3041640"/>
                  <a:ext cx="996480" cy="133920"/>
                </a:xfrm>
                <a:prstGeom prst="rect">
                  <a:avLst/>
                </a:prstGeom>
                <a:noFill/>
                <a:ln w="0">
                  <a:noFill/>
                </a:ln>
              </p:spPr>
              <p:style>
                <a:lnRef idx="0">
                  <a:srgbClr val="000000"/>
                </a:lnRef>
                <a:fillRef idx="0">
                  <a:srgbClr val="000000"/>
                </a:fillRef>
                <a:effectRef idx="0">
                  <a:srgbClr val="000000"/>
                </a:effectRef>
                <a:fontRef idx="minor"/>
              </p:style>
              <p:txBody>
                <a:bodyPr lIns="0" tIns="0" rIns="0" bIns="0" anchor="ctr">
                  <a:noAutofit/>
                </a:bodyPr>
                <a:lstStyle/>
                <a:p>
                  <a:pPr algn="ctr">
                    <a:lnSpc>
                      <a:spcPct val="100000"/>
                    </a:lnSpc>
                    <a:defRPr/>
                  </a:pPr>
                  <a:r>
                    <a:rPr lang="en-US" sz="3600" spc="-1">
                      <a:solidFill>
                        <a:schemeClr val="dk1"/>
                      </a:solidFill>
                      <a:latin typeface="Piracy"/>
                      <a:ea typeface="Piracy"/>
                    </a:rPr>
                    <a:t>OK</a:t>
                  </a:r>
                  <a:endParaRPr lang="en-US" sz="3600" spc="-1">
                    <a:solidFill>
                      <a:srgbClr val="000000"/>
                    </a:solidFill>
                    <a:latin typeface="Arial"/>
                  </a:endParaRPr>
                </a:p>
              </p:txBody>
            </p:sp>
            <p:sp>
              <p:nvSpPr>
                <p:cNvPr id="350" name="Oval 42"/>
                <p:cNvSpPr/>
                <p:nvPr/>
              </p:nvSpPr>
              <p:spPr bwMode="auto">
                <a:xfrm>
                  <a:off x="3102120" y="2586600"/>
                  <a:ext cx="283680" cy="285480"/>
                </a:xfrm>
                <a:prstGeom prst="ellipse">
                  <a:avLst/>
                </a:prstGeom>
                <a:solidFill>
                  <a:srgbClr val="A40800">
                    <a:alpha val="72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grpSp>
        <p:grpSp>
          <p:nvGrpSpPr>
            <p:cNvPr id="351" name="Group 53"/>
            <p:cNvGrpSpPr/>
            <p:nvPr/>
          </p:nvGrpSpPr>
          <p:grpSpPr bwMode="auto">
            <a:xfrm>
              <a:off x="5842080" y="1721160"/>
              <a:ext cx="1775880" cy="1096920"/>
              <a:chOff x="5842080" y="1721160"/>
              <a:chExt cx="1775880" cy="1096920"/>
            </a:xfrm>
          </p:grpSpPr>
          <p:grpSp>
            <p:nvGrpSpPr>
              <p:cNvPr id="352" name="Group 48"/>
              <p:cNvGrpSpPr/>
              <p:nvPr/>
            </p:nvGrpSpPr>
            <p:grpSpPr bwMode="auto">
              <a:xfrm>
                <a:off x="5842080" y="1721160"/>
                <a:ext cx="1714320" cy="1096920"/>
                <a:chOff x="5842080" y="1721160"/>
                <a:chExt cx="1714320" cy="1096920"/>
              </a:xfrm>
            </p:grpSpPr>
            <p:pic>
              <p:nvPicPr>
                <p:cNvPr id="353" name="Picture 45"/>
                <p:cNvPicPr/>
                <p:nvPr/>
              </p:nvPicPr>
              <p:blipFill rotWithShape="1">
                <a:blip r:embed="rId10"/>
                <a:stretch/>
              </p:blipFill>
              <p:spPr bwMode="auto">
                <a:xfrm>
                  <a:off x="6006960" y="1852560"/>
                  <a:ext cx="1385640" cy="733320"/>
                </a:xfrm>
                <a:prstGeom prst="rect">
                  <a:avLst/>
                </a:prstGeom>
                <a:ln w="0">
                  <a:noFill/>
                </a:ln>
              </p:spPr>
            </p:pic>
            <p:sp>
              <p:nvSpPr>
                <p:cNvPr id="354" name="Rectangle 46"/>
                <p:cNvSpPr/>
                <p:nvPr/>
              </p:nvSpPr>
              <p:spPr bwMode="auto">
                <a:xfrm>
                  <a:off x="5850000" y="1722600"/>
                  <a:ext cx="1699920" cy="1095480"/>
                </a:xfrm>
                <a:prstGeom prst="rect">
                  <a:avLst/>
                </a:prstGeom>
                <a:solidFill>
                  <a:srgbClr val="FDFFE2">
                    <a:alpha val="35000"/>
                  </a:srgbClr>
                </a:solidFill>
                <a:ln w="25400">
                  <a:solidFill>
                    <a:srgbClr val="000000">
                      <a:alpha val="34901"/>
                    </a:srgbClr>
                  </a:solidFill>
                  <a:miter/>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355" name="AutoShape 47"/>
                <p:cNvSpPr/>
                <p:nvPr/>
              </p:nvSpPr>
              <p:spPr bwMode="auto">
                <a:xfrm rot="10800000" flipH="1">
                  <a:off x="5842080" y="1721160"/>
                  <a:ext cx="1714320" cy="404640"/>
                </a:xfrm>
                <a:prstGeom prst="triangle">
                  <a:avLst>
                    <a:gd name="adj" fmla="val 50000"/>
                  </a:avLst>
                </a:prstGeom>
                <a:solidFill>
                  <a:srgbClr val="FDFFE2">
                    <a:alpha val="48000"/>
                  </a:srgbClr>
                </a:solidFill>
                <a:ln w="25400">
                  <a:solidFill>
                    <a:srgbClr val="000000">
                      <a:alpha val="47842"/>
                    </a:srgbClr>
                  </a:solidFill>
                  <a:miter/>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grpSp>
            <p:nvGrpSpPr>
              <p:cNvPr id="356" name="Group 52"/>
              <p:cNvGrpSpPr/>
              <p:nvPr/>
            </p:nvGrpSpPr>
            <p:grpSpPr bwMode="auto">
              <a:xfrm>
                <a:off x="6556320" y="2027520"/>
                <a:ext cx="1061640" cy="747720"/>
                <a:chOff x="6556320" y="2027520"/>
                <a:chExt cx="1061640" cy="747720"/>
              </a:xfrm>
            </p:grpSpPr>
            <p:sp>
              <p:nvSpPr>
                <p:cNvPr id="357" name="AutoShape 49"/>
                <p:cNvSpPr/>
                <p:nvPr/>
              </p:nvSpPr>
              <p:spPr bwMode="auto">
                <a:xfrm>
                  <a:off x="6564240" y="2036880"/>
                  <a:ext cx="271080" cy="274680"/>
                </a:xfrm>
                <a:custGeom>
                  <a:avLst/>
                  <a:gdLst>
                    <a:gd name="textAreaLeft" fmla="*/ 0 w 271080"/>
                    <a:gd name="textAreaRight" fmla="*/ 271440 w 271080"/>
                    <a:gd name="textAreaTop" fmla="*/ 0 h 274680"/>
                    <a:gd name="textAreaBottom" fmla="*/ 275040 h 274680"/>
                  </a:gdLst>
                  <a:ahLst/>
                  <a:cxnLst/>
                  <a:rect l="textAreaLeft" t="textAreaTop" r="textAreaRight" b="textAreaBottom"/>
                  <a:pathLst>
                    <a:path w="21933" h="22272" fill="norm" stroke="1" extrusionOk="0">
                      <a:moveTo>
                        <a:pt x="10967" y="0"/>
                      </a:moveTo>
                      <a:lnTo>
                        <a:pt x="14025" y="2605"/>
                      </a:lnTo>
                      <a:lnTo>
                        <a:pt x="18016" y="2605"/>
                      </a:lnTo>
                      <a:lnTo>
                        <a:pt x="18709" y="6597"/>
                      </a:lnTo>
                      <a:lnTo>
                        <a:pt x="21767" y="9202"/>
                      </a:lnTo>
                      <a:lnTo>
                        <a:pt x="19771" y="12712"/>
                      </a:lnTo>
                      <a:lnTo>
                        <a:pt x="20464" y="16704"/>
                      </a:lnTo>
                      <a:lnTo>
                        <a:pt x="16714" y="18090"/>
                      </a:lnTo>
                      <a:lnTo>
                        <a:pt x="14718" y="21600"/>
                      </a:lnTo>
                      <a:lnTo>
                        <a:pt x="10967" y="20214"/>
                      </a:lnTo>
                      <a:lnTo>
                        <a:pt x="7216" y="21600"/>
                      </a:lnTo>
                      <a:lnTo>
                        <a:pt x="5220" y="18090"/>
                      </a:lnTo>
                      <a:lnTo>
                        <a:pt x="1470" y="16704"/>
                      </a:lnTo>
                      <a:lnTo>
                        <a:pt x="2163" y="12712"/>
                      </a:lnTo>
                      <a:lnTo>
                        <a:pt x="167" y="9202"/>
                      </a:lnTo>
                      <a:lnTo>
                        <a:pt x="3225" y="6597"/>
                      </a:lnTo>
                      <a:lnTo>
                        <a:pt x="3918" y="2605"/>
                      </a:lnTo>
                      <a:lnTo>
                        <a:pt x="7909" y="2605"/>
                      </a:lnTo>
                      <a:lnTo>
                        <a:pt x="10967" y="0"/>
                      </a:lnTo>
                      <a:close/>
                      <a:moveTo>
                        <a:pt x="10967" y="0"/>
                      </a:moveTo>
                    </a:path>
                  </a:pathLst>
                </a:custGeom>
                <a:blipFill rotWithShape="0">
                  <a:blip r:embed="rId9"/>
                  <a:tile algn="tl" sx="100000" sy="100000" tx="0" ty="0"/>
                </a:blipFill>
                <a:ln w="25400">
                  <a:solidFill>
                    <a:srgbClr val="000000"/>
                  </a:solidFill>
                  <a:miter/>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sp>
              <p:nvSpPr>
                <p:cNvPr id="358" name="Rectangle 50"/>
                <p:cNvSpPr/>
                <p:nvPr/>
              </p:nvSpPr>
              <p:spPr bwMode="auto">
                <a:xfrm>
                  <a:off x="6629400" y="2404800"/>
                  <a:ext cx="988560" cy="370439"/>
                </a:xfrm>
                <a:prstGeom prst="rect">
                  <a:avLst/>
                </a:prstGeom>
                <a:noFill/>
                <a:ln w="0">
                  <a:noFill/>
                </a:ln>
              </p:spPr>
              <p:style>
                <a:lnRef idx="0">
                  <a:srgbClr val="000000"/>
                </a:lnRef>
                <a:fillRef idx="0">
                  <a:srgbClr val="000000"/>
                </a:fillRef>
                <a:effectRef idx="0">
                  <a:srgbClr val="000000"/>
                </a:effectRef>
                <a:fontRef idx="minor"/>
              </p:style>
              <p:txBody>
                <a:bodyPr lIns="0" tIns="0" rIns="0" bIns="0" anchor="ctr">
                  <a:noAutofit/>
                </a:bodyPr>
                <a:lstStyle/>
                <a:p>
                  <a:pPr algn="ctr">
                    <a:lnSpc>
                      <a:spcPct val="100000"/>
                    </a:lnSpc>
                    <a:defRPr/>
                  </a:pPr>
                  <a:r>
                    <a:rPr lang="en-US" sz="3600" spc="-1">
                      <a:solidFill>
                        <a:schemeClr val="dk1"/>
                      </a:solidFill>
                      <a:latin typeface="Piracy"/>
                      <a:ea typeface="Piracy"/>
                    </a:rPr>
                    <a:t>OK</a:t>
                  </a:r>
                  <a:endParaRPr lang="en-US" sz="3600" spc="-1">
                    <a:solidFill>
                      <a:srgbClr val="000000"/>
                    </a:solidFill>
                    <a:latin typeface="Arial"/>
                  </a:endParaRPr>
                </a:p>
              </p:txBody>
            </p:sp>
            <p:sp>
              <p:nvSpPr>
                <p:cNvPr id="359" name="Oval 51"/>
                <p:cNvSpPr/>
                <p:nvPr/>
              </p:nvSpPr>
              <p:spPr bwMode="auto">
                <a:xfrm>
                  <a:off x="6556320" y="2027520"/>
                  <a:ext cx="283680" cy="285840"/>
                </a:xfrm>
                <a:prstGeom prst="ellipse">
                  <a:avLst/>
                </a:prstGeom>
                <a:solidFill>
                  <a:srgbClr val="A40800">
                    <a:alpha val="72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grpSp>
        <p:sp>
          <p:nvSpPr>
            <p:cNvPr id="360" name="Line 54"/>
            <p:cNvSpPr/>
            <p:nvPr/>
          </p:nvSpPr>
          <p:spPr bwMode="auto">
            <a:xfrm>
              <a:off x="7010280" y="2615040"/>
              <a:ext cx="430200" cy="1346759"/>
            </a:xfrm>
            <a:prstGeom prst="line">
              <a:avLst/>
            </a:prstGeom>
            <a:ln w="127000">
              <a:solidFill>
                <a:srgbClr val="66008D"/>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61" name="Line 55"/>
            <p:cNvSpPr/>
            <p:nvPr/>
          </p:nvSpPr>
          <p:spPr bwMode="auto">
            <a:xfrm>
              <a:off x="7327800" y="2259000"/>
              <a:ext cx="850680" cy="216000"/>
            </a:xfrm>
            <a:prstGeom prst="line">
              <a:avLst/>
            </a:prstGeom>
            <a:ln w="127000">
              <a:solidFill>
                <a:srgbClr val="66008D"/>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grpSp>
      <p:sp>
        <p:nvSpPr>
          <p:cNvPr id="703975045" name="AutoShape 57"/>
          <p:cNvSpPr/>
          <p:nvPr/>
        </p:nvSpPr>
        <p:spPr bwMode="auto">
          <a:xfrm rot="2688000">
            <a:off x="2019360" y="31680"/>
            <a:ext cx="2514240" cy="2323800"/>
          </a:xfrm>
          <a:prstGeom prst="rightArrow">
            <a:avLst>
              <a:gd name="adj1" fmla="val 32000"/>
              <a:gd name="adj2" fmla="val 24044"/>
            </a:avLst>
          </a:prstGeom>
          <a:solidFill>
            <a:srgbClr val="1F3A27"/>
          </a:solidFill>
          <a:ln w="25400">
            <a:solidFill>
              <a:srgbClr val="000000"/>
            </a:solidFill>
            <a:miter/>
          </a:ln>
        </p:spPr>
        <p:style>
          <a:lnRef idx="0">
            <a:srgbClr val="000000"/>
          </a:lnRef>
          <a:fillRef idx="0">
            <a:srgbClr val="000000"/>
          </a:fillRef>
          <a:effectRef idx="0">
            <a:srgbClr val="000000"/>
          </a:effectRef>
          <a:fontRef idx="minor"/>
        </p:style>
        <p:txBody>
          <a:bodyPr lIns="0" tIns="0" rIns="0" bIns="0" anchor="ctr">
            <a:noAutofit/>
          </a:bodyPr>
          <a:lstStyle/>
          <a:p>
            <a:pPr algn="ctr">
              <a:lnSpc>
                <a:spcPct val="100000"/>
              </a:lnSpc>
              <a:defRPr/>
            </a:pPr>
            <a:r>
              <a:rPr lang="en-US" sz="2800" spc="-1">
                <a:solidFill>
                  <a:srgbClr val="FFFFFF"/>
                </a:solidFill>
                <a:latin typeface="Gill Sans Italic"/>
                <a:ea typeface="Gill Sans Italic"/>
              </a:rPr>
              <a:t>Apply Sig</a:t>
            </a:r>
            <a:endParaRPr lang="en-US" sz="2800" spc="-1">
              <a:solidFill>
                <a:srgbClr val="FFFFFF"/>
              </a:solidFill>
              <a:latin typeface="Arial"/>
            </a:endParaRPr>
          </a:p>
        </p:txBody>
      </p:sp>
      <p:sp>
        <p:nvSpPr>
          <p:cNvPr id="745600314" name="AutoShape 58"/>
          <p:cNvSpPr/>
          <p:nvPr/>
        </p:nvSpPr>
        <p:spPr bwMode="auto">
          <a:xfrm rot="19172400">
            <a:off x="6090960" y="3075120"/>
            <a:ext cx="2514240" cy="2323800"/>
          </a:xfrm>
          <a:prstGeom prst="rightArrow">
            <a:avLst>
              <a:gd name="adj1" fmla="val 32000"/>
              <a:gd name="adj2" fmla="val 24044"/>
            </a:avLst>
          </a:prstGeom>
          <a:solidFill>
            <a:srgbClr val="1F3A27"/>
          </a:solidFill>
          <a:ln w="25400">
            <a:solidFill>
              <a:srgbClr val="000000"/>
            </a:solidFill>
            <a:miter/>
          </a:ln>
        </p:spPr>
        <p:style>
          <a:lnRef idx="0">
            <a:srgbClr val="000000"/>
          </a:lnRef>
          <a:fillRef idx="0">
            <a:srgbClr val="000000"/>
          </a:fillRef>
          <a:effectRef idx="0">
            <a:srgbClr val="000000"/>
          </a:effectRef>
          <a:fontRef idx="minor"/>
        </p:style>
        <p:txBody>
          <a:bodyPr lIns="0" tIns="0" rIns="0" bIns="0" anchor="ctr">
            <a:noAutofit/>
          </a:bodyPr>
          <a:lstStyle/>
          <a:p>
            <a:pPr algn="ctr">
              <a:lnSpc>
                <a:spcPct val="100000"/>
              </a:lnSpc>
              <a:defRPr/>
            </a:pPr>
            <a:r>
              <a:rPr lang="en-US" sz="2800" spc="-1">
                <a:solidFill>
                  <a:srgbClr val="FFFFFF"/>
                </a:solidFill>
                <a:latin typeface="Gill Sans Italic"/>
                <a:ea typeface="Gill Sans Italic"/>
              </a:rPr>
              <a:t>Validate Sig</a:t>
            </a:r>
            <a:endParaRPr lang="en-US" sz="2800" spc="-1">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3" presetClass="entr" presetSubtype="16" fill="hold" nodeType="afterEffect">
                                  <p:stCondLst>
                                    <p:cond delay="0"/>
                                  </p:stCondLst>
                                  <p:childTnLst>
                                    <p:set>
                                      <p:cBhvr>
                                        <p:cTn id="6" dur="1" fill="hold">
                                          <p:stCondLst>
                                            <p:cond delay="0"/>
                                          </p:stCondLst>
                                        </p:cTn>
                                        <p:tgtEl>
                                          <p:spTgt spid="181858349"/>
                                        </p:tgtEl>
                                        <p:attrNameLst>
                                          <p:attrName>style.visibility</p:attrName>
                                        </p:attrNameLst>
                                      </p:cBhvr>
                                      <p:to>
                                        <p:strVal val="visible"/>
                                      </p:to>
                                    </p:set>
                                    <p:anim calcmode="lin" valueType="num">
                                      <p:cBhvr additive="repl">
                                        <p:cTn id="7" dur="500" fill="hold"/>
                                        <p:tgtEl>
                                          <p:spTgt spid="181858349"/>
                                        </p:tgtEl>
                                        <p:attrNameLst>
                                          <p:attrName>ppt_w</p:attrName>
                                        </p:attrNameLst>
                                      </p:cBhvr>
                                      <p:tavLst>
                                        <p:tav tm="0">
                                          <p:val>
                                            <p:fltVal val="0"/>
                                          </p:val>
                                        </p:tav>
                                        <p:tav tm="100000">
                                          <p:val>
                                            <p:strVal val="#ppt_w"/>
                                          </p:val>
                                        </p:tav>
                                      </p:tavLst>
                                    </p:anim>
                                    <p:anim calcmode="lin" valueType="num">
                                      <p:cBhvr additive="repl">
                                        <p:cTn id="8" dur="500" fill="hold"/>
                                        <p:tgtEl>
                                          <p:spTgt spid="181858349"/>
                                        </p:tgtEl>
                                        <p:attrNameLst>
                                          <p:attrName>ppt_h</p:attrName>
                                        </p:attrNameLst>
                                      </p:cBhvr>
                                      <p:tavLst>
                                        <p:tav tm="0">
                                          <p:val>
                                            <p:fltVal val="0"/>
                                          </p:val>
                                        </p:tav>
                                        <p:tav tm="100000">
                                          <p:val>
                                            <p:strVal val="#ppt_h"/>
                                          </p:val>
                                        </p:tav>
                                      </p:tavLst>
                                    </p:anim>
                                  </p:childTnLst>
                                </p:cTn>
                              </p:par>
                            </p:childTnLst>
                          </p:cTn>
                        </p:par>
                        <p:par>
                          <p:cTn id="9" fill="hold" nodeType="afterEffect">
                            <p:stCondLst>
                              <p:cond delay="500"/>
                            </p:stCondLst>
                            <p:childTnLst>
                              <p:par>
                                <p:cTn id="10" presetID="1" presetClass="entr" fill="hold" nodeType="afterEffect">
                                  <p:stCondLst>
                                    <p:cond delay="0"/>
                                  </p:stCondLst>
                                  <p:childTnLst>
                                    <p:set>
                                      <p:cBhvr>
                                        <p:cTn id="11" dur="1" fill="hold">
                                          <p:stCondLst>
                                            <p:cond delay="499"/>
                                          </p:stCondLst>
                                        </p:cTn>
                                        <p:tgtEl>
                                          <p:spTgt spid="11791338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0591648"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nSpc>
                <a:spcPct val="100000"/>
              </a:lnSpc>
              <a:defRPr/>
            </a:pPr>
            <a:r>
              <a:rPr lang="en-US" sz="4900" spc="-1">
                <a:solidFill>
                  <a:srgbClr val="275742"/>
                </a:solidFill>
                <a:latin typeface="Gill Sans"/>
                <a:ea typeface="ヒラギノ角ゴ ProN W3"/>
              </a:rPr>
              <a:t>Trust and </a:t>
            </a:r>
            <a:br>
              <a:rPr sz="4900"/>
            </a:br>
            <a:r>
              <a:rPr lang="en-US" sz="4900" spc="-1">
                <a:solidFill>
                  <a:srgbClr val="275742"/>
                </a:solidFill>
                <a:latin typeface="Gill Sans"/>
                <a:ea typeface="ヒラギノ角ゴ ProN W3"/>
              </a:rPr>
              <a:t>Confidence</a:t>
            </a:r>
            <a:endParaRPr lang="en-US" sz="4900" spc="-1">
              <a:solidFill>
                <a:srgbClr val="000000"/>
              </a:solidFill>
              <a:latin typeface="Times New Roman"/>
            </a:endParaRPr>
          </a:p>
        </p:txBody>
      </p:sp>
      <p:sp>
        <p:nvSpPr>
          <p:cNvPr id="2060574990" name="PlaceHolder 2"/>
          <p:cNvSpPr>
            <a:spLocks noGrp="1"/>
          </p:cNvSpPr>
          <p:nvPr>
            <p:ph/>
          </p:nvPr>
        </p:nvSpPr>
        <p:spPr bwMode="auto">
          <a:xfrm>
            <a:off x="2501760" y="2400480"/>
            <a:ext cx="7517880" cy="401292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DNSSEC enables confidence in the DNS </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It does not change the trust we put in the Registry/Registrar procedures</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Although introduction of DNSSEC may improve some of the procedures</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Root and TLD still need good practices</a:t>
            </a:r>
            <a:endParaRPr lang="en-US" sz="2800" spc="-1">
              <a:solidFill>
                <a:schemeClr val="dk1"/>
              </a:solidFill>
              <a:latin typeface="Gill Sans"/>
            </a:endParaRPr>
          </a:p>
        </p:txBody>
      </p:sp>
      <p:pic>
        <p:nvPicPr>
          <p:cNvPr id="1661898916" name="Picture 3"/>
          <p:cNvPicPr/>
          <p:nvPr/>
        </p:nvPicPr>
        <p:blipFill rotWithShape="1">
          <a:blip r:embed="rId3"/>
          <a:stretch/>
        </p:blipFill>
        <p:spPr bwMode="auto">
          <a:xfrm>
            <a:off x="9964560" y="1047600"/>
            <a:ext cx="144000" cy="253800"/>
          </a:xfrm>
          <a:prstGeom prst="rect">
            <a:avLst/>
          </a:prstGeom>
          <a:ln w="0">
            <a:noFill/>
          </a:ln>
        </p:spPr>
      </p:pic>
      <p:grpSp>
        <p:nvGrpSpPr>
          <p:cNvPr id="2137070984" name="Group 25"/>
          <p:cNvGrpSpPr/>
          <p:nvPr/>
        </p:nvGrpSpPr>
        <p:grpSpPr bwMode="auto">
          <a:xfrm>
            <a:off x="6518280" y="444600"/>
            <a:ext cx="4152600" cy="2383920"/>
            <a:chOff x="4994280" y="444600"/>
            <a:chExt cx="4152600" cy="2383920"/>
          </a:xfrm>
        </p:grpSpPr>
        <p:pic>
          <p:nvPicPr>
            <p:cNvPr id="368" name="Picture 4"/>
            <p:cNvPicPr/>
            <p:nvPr/>
          </p:nvPicPr>
          <p:blipFill rotWithShape="1">
            <a:blip r:embed="rId4"/>
            <a:stretch/>
          </p:blipFill>
          <p:spPr bwMode="auto">
            <a:xfrm>
              <a:off x="7018200" y="2450880"/>
              <a:ext cx="566280" cy="377640"/>
            </a:xfrm>
            <a:prstGeom prst="rect">
              <a:avLst/>
            </a:prstGeom>
            <a:ln w="0">
              <a:noFill/>
            </a:ln>
          </p:spPr>
        </p:pic>
        <p:pic>
          <p:nvPicPr>
            <p:cNvPr id="369" name="Picture 5"/>
            <p:cNvPicPr/>
            <p:nvPr/>
          </p:nvPicPr>
          <p:blipFill rotWithShape="1">
            <a:blip r:embed="rId4"/>
            <a:stretch/>
          </p:blipFill>
          <p:spPr bwMode="auto">
            <a:xfrm>
              <a:off x="6405480" y="1804320"/>
              <a:ext cx="566280" cy="379439"/>
            </a:xfrm>
            <a:prstGeom prst="rect">
              <a:avLst/>
            </a:prstGeom>
            <a:ln w="0">
              <a:noFill/>
            </a:ln>
          </p:spPr>
        </p:pic>
        <p:pic>
          <p:nvPicPr>
            <p:cNvPr id="370" name="Picture 6"/>
            <p:cNvPicPr/>
            <p:nvPr/>
          </p:nvPicPr>
          <p:blipFill rotWithShape="1">
            <a:blip r:embed="rId5"/>
            <a:stretch/>
          </p:blipFill>
          <p:spPr bwMode="auto">
            <a:xfrm>
              <a:off x="5208480" y="677879"/>
              <a:ext cx="631440" cy="422280"/>
            </a:xfrm>
            <a:prstGeom prst="rect">
              <a:avLst/>
            </a:prstGeom>
            <a:ln w="0">
              <a:noFill/>
            </a:ln>
          </p:spPr>
        </p:pic>
        <p:pic>
          <p:nvPicPr>
            <p:cNvPr id="371" name="Picture 7"/>
            <p:cNvPicPr/>
            <p:nvPr/>
          </p:nvPicPr>
          <p:blipFill rotWithShape="1">
            <a:blip r:embed="rId4"/>
            <a:stretch/>
          </p:blipFill>
          <p:spPr bwMode="auto">
            <a:xfrm>
              <a:off x="5316480" y="1767600"/>
              <a:ext cx="894960" cy="598680"/>
            </a:xfrm>
            <a:prstGeom prst="rect">
              <a:avLst/>
            </a:prstGeom>
            <a:ln w="0">
              <a:noFill/>
            </a:ln>
          </p:spPr>
        </p:pic>
        <p:pic>
          <p:nvPicPr>
            <p:cNvPr id="372" name="Picture 8"/>
            <p:cNvPicPr/>
            <p:nvPr/>
          </p:nvPicPr>
          <p:blipFill rotWithShape="1">
            <a:blip r:embed="rId6"/>
            <a:stretch/>
          </p:blipFill>
          <p:spPr bwMode="auto">
            <a:xfrm>
              <a:off x="7975440" y="1507320"/>
              <a:ext cx="809280" cy="506520"/>
            </a:xfrm>
            <a:prstGeom prst="rect">
              <a:avLst/>
            </a:prstGeom>
            <a:ln w="0">
              <a:noFill/>
            </a:ln>
          </p:spPr>
        </p:pic>
        <p:pic>
          <p:nvPicPr>
            <p:cNvPr id="373" name="Picture 9"/>
            <p:cNvPicPr/>
            <p:nvPr/>
          </p:nvPicPr>
          <p:blipFill rotWithShape="1">
            <a:blip r:embed="rId7"/>
            <a:stretch/>
          </p:blipFill>
          <p:spPr bwMode="auto">
            <a:xfrm>
              <a:off x="6780240" y="1589759"/>
              <a:ext cx="1037879" cy="1038600"/>
            </a:xfrm>
            <a:prstGeom prst="rect">
              <a:avLst/>
            </a:prstGeom>
            <a:ln w="0">
              <a:noFill/>
            </a:ln>
          </p:spPr>
        </p:pic>
        <p:pic>
          <p:nvPicPr>
            <p:cNvPr id="374" name="Picture 10"/>
            <p:cNvPicPr/>
            <p:nvPr/>
          </p:nvPicPr>
          <p:blipFill rotWithShape="1">
            <a:blip r:embed="rId8"/>
            <a:stretch/>
          </p:blipFill>
          <p:spPr bwMode="auto">
            <a:xfrm>
              <a:off x="8442360" y="574920"/>
              <a:ext cx="704520" cy="530280"/>
            </a:xfrm>
            <a:prstGeom prst="rect">
              <a:avLst/>
            </a:prstGeom>
            <a:ln w="0">
              <a:noFill/>
            </a:ln>
          </p:spPr>
        </p:pic>
        <p:sp>
          <p:nvSpPr>
            <p:cNvPr id="375" name="Freeform 11"/>
            <p:cNvSpPr/>
            <p:nvPr/>
          </p:nvSpPr>
          <p:spPr bwMode="auto">
            <a:xfrm>
              <a:off x="4994280" y="830520"/>
              <a:ext cx="1350720" cy="1253160"/>
            </a:xfrm>
            <a:custGeom>
              <a:avLst/>
              <a:gdLst>
                <a:gd name="textAreaLeft" fmla="*/ 0 w 1350720"/>
                <a:gd name="textAreaRight" fmla="*/ 1351080 w 1350720"/>
                <a:gd name="textAreaTop" fmla="*/ 0 h 1253160"/>
                <a:gd name="textAreaBottom" fmla="*/ 1253520 h 1253160"/>
              </a:gdLst>
              <a:ahLst/>
              <a:cxnLst/>
              <a:rect l="textAreaLeft" t="textAreaTop" r="textAreaRight" b="textAreaBottom"/>
              <a:pathLst>
                <a:path w="21194" h="20948" fill="norm" stroke="1" extrusionOk="0">
                  <a:moveTo>
                    <a:pt x="14402" y="2419"/>
                  </a:moveTo>
                  <a:cubicBezTo>
                    <a:pt x="13469" y="2281"/>
                    <a:pt x="13411" y="79"/>
                    <a:pt x="12699" y="16"/>
                  </a:cubicBezTo>
                  <a:cubicBezTo>
                    <a:pt x="12388" y="-12"/>
                    <a:pt x="12075" y="3"/>
                    <a:pt x="11763" y="16"/>
                  </a:cubicBezTo>
                  <a:cubicBezTo>
                    <a:pt x="11308" y="34"/>
                    <a:pt x="9728" y="1953"/>
                    <a:pt x="9443" y="1830"/>
                  </a:cubicBezTo>
                  <a:cubicBezTo>
                    <a:pt x="8188" y="1285"/>
                    <a:pt x="9975" y="469"/>
                    <a:pt x="8018" y="469"/>
                  </a:cubicBezTo>
                  <a:cubicBezTo>
                    <a:pt x="6060" y="469"/>
                    <a:pt x="5379" y="288"/>
                    <a:pt x="5038" y="469"/>
                  </a:cubicBezTo>
                  <a:cubicBezTo>
                    <a:pt x="4698" y="651"/>
                    <a:pt x="4528" y="1739"/>
                    <a:pt x="4272" y="2465"/>
                  </a:cubicBezTo>
                  <a:cubicBezTo>
                    <a:pt x="4017" y="3190"/>
                    <a:pt x="4102" y="3281"/>
                    <a:pt x="4017" y="3553"/>
                  </a:cubicBezTo>
                  <a:cubicBezTo>
                    <a:pt x="3932" y="3825"/>
                    <a:pt x="2400" y="3734"/>
                    <a:pt x="1634" y="3462"/>
                  </a:cubicBezTo>
                  <a:cubicBezTo>
                    <a:pt x="868" y="3190"/>
                    <a:pt x="1038" y="2918"/>
                    <a:pt x="697" y="3916"/>
                  </a:cubicBezTo>
                  <a:cubicBezTo>
                    <a:pt x="357" y="4914"/>
                    <a:pt x="-239" y="4097"/>
                    <a:pt x="101" y="6183"/>
                  </a:cubicBezTo>
                  <a:cubicBezTo>
                    <a:pt x="442" y="8270"/>
                    <a:pt x="357" y="8451"/>
                    <a:pt x="868" y="8723"/>
                  </a:cubicBezTo>
                  <a:cubicBezTo>
                    <a:pt x="1378" y="8995"/>
                    <a:pt x="1463" y="9358"/>
                    <a:pt x="1038" y="9449"/>
                  </a:cubicBezTo>
                  <a:cubicBezTo>
                    <a:pt x="612" y="9539"/>
                    <a:pt x="697" y="10719"/>
                    <a:pt x="953" y="11172"/>
                  </a:cubicBezTo>
                  <a:cubicBezTo>
                    <a:pt x="1208" y="11626"/>
                    <a:pt x="697" y="10900"/>
                    <a:pt x="1378" y="11988"/>
                  </a:cubicBezTo>
                  <a:cubicBezTo>
                    <a:pt x="2059" y="13077"/>
                    <a:pt x="3506" y="15526"/>
                    <a:pt x="3506" y="15526"/>
                  </a:cubicBezTo>
                  <a:cubicBezTo>
                    <a:pt x="3506" y="15526"/>
                    <a:pt x="2313" y="19348"/>
                    <a:pt x="3506" y="20310"/>
                  </a:cubicBezTo>
                  <a:cubicBezTo>
                    <a:pt x="5090" y="21588"/>
                    <a:pt x="7494" y="20596"/>
                    <a:pt x="9465" y="20333"/>
                  </a:cubicBezTo>
                  <a:cubicBezTo>
                    <a:pt x="11611" y="20047"/>
                    <a:pt x="14034" y="20060"/>
                    <a:pt x="15764" y="18678"/>
                  </a:cubicBezTo>
                  <a:cubicBezTo>
                    <a:pt x="17281" y="17465"/>
                    <a:pt x="18317" y="13258"/>
                    <a:pt x="18317" y="13258"/>
                  </a:cubicBezTo>
                  <a:cubicBezTo>
                    <a:pt x="18317" y="13258"/>
                    <a:pt x="20380" y="11097"/>
                    <a:pt x="20956" y="9721"/>
                  </a:cubicBezTo>
                  <a:cubicBezTo>
                    <a:pt x="21361" y="8753"/>
                    <a:pt x="21126" y="6728"/>
                    <a:pt x="21126" y="6546"/>
                  </a:cubicBezTo>
                  <a:cubicBezTo>
                    <a:pt x="21126" y="6365"/>
                    <a:pt x="21289" y="3633"/>
                    <a:pt x="20530" y="2555"/>
                  </a:cubicBezTo>
                  <a:cubicBezTo>
                    <a:pt x="19253" y="741"/>
                    <a:pt x="15934" y="2646"/>
                    <a:pt x="14402" y="2419"/>
                  </a:cubicBezTo>
                  <a:close/>
                  <a:moveTo>
                    <a:pt x="14402" y="2419"/>
                  </a:moveTo>
                </a:path>
              </a:pathLst>
            </a:custGeom>
            <a:blipFill rotWithShape="0">
              <a:blip r:embed="rId9">
                <a:alphaModFix amt="20000"/>
              </a:blip>
              <a:tile algn="tl" sx="100000" sy="100000" tx="0" ty="0"/>
            </a:blipFill>
            <a:ln w="0">
              <a:noFill/>
            </a:ln>
            <a:effectLst>
              <a:outerShdw blurRad="127080" dist="75858" dir="2700000" algn="ctr" rotWithShape="0">
                <a:schemeClr val="bg2">
                  <a:alpha val="75000"/>
                </a:schemeClr>
              </a:outerShdw>
            </a:effectLst>
          </p:spPr>
          <p:style>
            <a:lnRef idx="0">
              <a:srgbClr val="000000"/>
            </a:lnRef>
            <a:fillRef idx="0">
              <a:srgbClr val="000000"/>
            </a:fillRef>
            <a:effectRef idx="0">
              <a:srgbClr val="000000"/>
            </a:effectRef>
            <a:fontRef idx="minor"/>
          </p:style>
          <p:txBody>
            <a:bodyPr lIns="0" tIns="0" rIns="0" bIns="0" anchor="ctr">
              <a:noAutofit/>
            </a:bodyPr>
            <a:lstStyle/>
            <a:p>
              <a:pPr algn="ctr">
                <a:lnSpc>
                  <a:spcPct val="100000"/>
                </a:lnSpc>
                <a:defRPr/>
              </a:pPr>
              <a:endParaRPr lang="en-US" sz="2800" spc="-1">
                <a:solidFill>
                  <a:srgbClr val="000000"/>
                </a:solidFill>
                <a:latin typeface="Arial"/>
              </a:endParaRPr>
            </a:p>
            <a:p>
              <a:pPr algn="ctr">
                <a:lnSpc>
                  <a:spcPct val="100000"/>
                </a:lnSpc>
                <a:defRPr/>
              </a:pPr>
              <a:endParaRPr lang="en-US" sz="2800" spc="-1">
                <a:solidFill>
                  <a:srgbClr val="000000"/>
                </a:solidFill>
                <a:latin typeface="Arial"/>
              </a:endParaRPr>
            </a:p>
          </p:txBody>
        </p:sp>
        <p:pic>
          <p:nvPicPr>
            <p:cNvPr id="376" name="Picture 12"/>
            <p:cNvPicPr/>
            <p:nvPr/>
          </p:nvPicPr>
          <p:blipFill rotWithShape="1">
            <a:blip r:embed="rId4"/>
            <a:stretch/>
          </p:blipFill>
          <p:spPr bwMode="auto">
            <a:xfrm>
              <a:off x="7305840" y="1473840"/>
              <a:ext cx="383760" cy="257040"/>
            </a:xfrm>
            <a:prstGeom prst="rect">
              <a:avLst/>
            </a:prstGeom>
            <a:ln w="0">
              <a:noFill/>
            </a:ln>
          </p:spPr>
        </p:pic>
        <p:sp>
          <p:nvSpPr>
            <p:cNvPr id="377" name="Freeform 13"/>
            <p:cNvSpPr/>
            <p:nvPr/>
          </p:nvSpPr>
          <p:spPr bwMode="auto">
            <a:xfrm>
              <a:off x="7097760" y="1446840"/>
              <a:ext cx="1352160" cy="1253160"/>
            </a:xfrm>
            <a:custGeom>
              <a:avLst/>
              <a:gdLst>
                <a:gd name="textAreaLeft" fmla="*/ 0 w 1352160"/>
                <a:gd name="textAreaRight" fmla="*/ 1352520 w 1352160"/>
                <a:gd name="textAreaTop" fmla="*/ 0 h 1253160"/>
                <a:gd name="textAreaBottom" fmla="*/ 1253520 h 1253160"/>
              </a:gdLst>
              <a:ahLst/>
              <a:cxnLst/>
              <a:rect l="textAreaLeft" t="textAreaTop" r="textAreaRight" b="textAreaBottom"/>
              <a:pathLst>
                <a:path w="21194" h="20948" fill="norm" stroke="1" extrusionOk="0">
                  <a:moveTo>
                    <a:pt x="14402" y="2419"/>
                  </a:moveTo>
                  <a:cubicBezTo>
                    <a:pt x="13469" y="2281"/>
                    <a:pt x="13411" y="79"/>
                    <a:pt x="12699" y="16"/>
                  </a:cubicBezTo>
                  <a:cubicBezTo>
                    <a:pt x="12388" y="-12"/>
                    <a:pt x="12075" y="3"/>
                    <a:pt x="11763" y="16"/>
                  </a:cubicBezTo>
                  <a:cubicBezTo>
                    <a:pt x="11308" y="34"/>
                    <a:pt x="9728" y="1953"/>
                    <a:pt x="9443" y="1830"/>
                  </a:cubicBezTo>
                  <a:cubicBezTo>
                    <a:pt x="8188" y="1285"/>
                    <a:pt x="9975" y="469"/>
                    <a:pt x="8018" y="469"/>
                  </a:cubicBezTo>
                  <a:cubicBezTo>
                    <a:pt x="6060" y="469"/>
                    <a:pt x="5379" y="288"/>
                    <a:pt x="5038" y="469"/>
                  </a:cubicBezTo>
                  <a:cubicBezTo>
                    <a:pt x="4698" y="651"/>
                    <a:pt x="4528" y="1739"/>
                    <a:pt x="4272" y="2465"/>
                  </a:cubicBezTo>
                  <a:cubicBezTo>
                    <a:pt x="4017" y="3190"/>
                    <a:pt x="4102" y="3281"/>
                    <a:pt x="4017" y="3553"/>
                  </a:cubicBezTo>
                  <a:cubicBezTo>
                    <a:pt x="3932" y="3825"/>
                    <a:pt x="2400" y="3734"/>
                    <a:pt x="1634" y="3462"/>
                  </a:cubicBezTo>
                  <a:cubicBezTo>
                    <a:pt x="868" y="3190"/>
                    <a:pt x="1038" y="2918"/>
                    <a:pt x="697" y="3916"/>
                  </a:cubicBezTo>
                  <a:cubicBezTo>
                    <a:pt x="357" y="4914"/>
                    <a:pt x="-239" y="4097"/>
                    <a:pt x="101" y="6183"/>
                  </a:cubicBezTo>
                  <a:cubicBezTo>
                    <a:pt x="442" y="8270"/>
                    <a:pt x="357" y="8451"/>
                    <a:pt x="868" y="8723"/>
                  </a:cubicBezTo>
                  <a:cubicBezTo>
                    <a:pt x="1378" y="8995"/>
                    <a:pt x="1463" y="9358"/>
                    <a:pt x="1038" y="9449"/>
                  </a:cubicBezTo>
                  <a:cubicBezTo>
                    <a:pt x="612" y="9539"/>
                    <a:pt x="697" y="10719"/>
                    <a:pt x="953" y="11172"/>
                  </a:cubicBezTo>
                  <a:cubicBezTo>
                    <a:pt x="1208" y="11626"/>
                    <a:pt x="697" y="10900"/>
                    <a:pt x="1378" y="11988"/>
                  </a:cubicBezTo>
                  <a:cubicBezTo>
                    <a:pt x="2059" y="13077"/>
                    <a:pt x="3506" y="15526"/>
                    <a:pt x="3506" y="15526"/>
                  </a:cubicBezTo>
                  <a:cubicBezTo>
                    <a:pt x="3506" y="15526"/>
                    <a:pt x="2313" y="19348"/>
                    <a:pt x="3506" y="20310"/>
                  </a:cubicBezTo>
                  <a:cubicBezTo>
                    <a:pt x="5090" y="21588"/>
                    <a:pt x="7494" y="20596"/>
                    <a:pt x="9465" y="20333"/>
                  </a:cubicBezTo>
                  <a:cubicBezTo>
                    <a:pt x="11611" y="20047"/>
                    <a:pt x="14034" y="20060"/>
                    <a:pt x="15764" y="18678"/>
                  </a:cubicBezTo>
                  <a:cubicBezTo>
                    <a:pt x="17281" y="17465"/>
                    <a:pt x="18317" y="13258"/>
                    <a:pt x="18317" y="13258"/>
                  </a:cubicBezTo>
                  <a:cubicBezTo>
                    <a:pt x="18317" y="13258"/>
                    <a:pt x="20380" y="11097"/>
                    <a:pt x="20956" y="9721"/>
                  </a:cubicBezTo>
                  <a:cubicBezTo>
                    <a:pt x="21361" y="8753"/>
                    <a:pt x="21126" y="6728"/>
                    <a:pt x="21126" y="6546"/>
                  </a:cubicBezTo>
                  <a:cubicBezTo>
                    <a:pt x="21126" y="6365"/>
                    <a:pt x="21289" y="3633"/>
                    <a:pt x="20530" y="2555"/>
                  </a:cubicBezTo>
                  <a:cubicBezTo>
                    <a:pt x="19253" y="741"/>
                    <a:pt x="15934" y="2646"/>
                    <a:pt x="14402" y="2419"/>
                  </a:cubicBezTo>
                  <a:close/>
                  <a:moveTo>
                    <a:pt x="14402" y="2419"/>
                  </a:moveTo>
                </a:path>
              </a:pathLst>
            </a:custGeom>
            <a:blipFill rotWithShape="0">
              <a:blip r:embed="rId9">
                <a:alphaModFix amt="20000"/>
              </a:blip>
              <a:tile algn="tl" sx="100000" sy="100000" tx="0" ty="0"/>
            </a:blipFill>
            <a:ln w="0">
              <a:noFill/>
            </a:ln>
            <a:effectLst>
              <a:outerShdw blurRad="127080" dist="75858" dir="2700000" algn="ctr" rotWithShape="0">
                <a:schemeClr val="bg2">
                  <a:alpha val="75000"/>
                </a:schemeClr>
              </a:outerShdw>
            </a:effectLst>
          </p:spPr>
          <p:style>
            <a:lnRef idx="0">
              <a:srgbClr val="000000"/>
            </a:lnRef>
            <a:fillRef idx="0">
              <a:srgbClr val="000000"/>
            </a:fillRef>
            <a:effectRef idx="0">
              <a:srgbClr val="000000"/>
            </a:effectRef>
            <a:fontRef idx="minor"/>
          </p:style>
          <p:txBody>
            <a:bodyPr lIns="0" tIns="0" rIns="0" bIns="0" anchor="ctr">
              <a:noAutofit/>
            </a:bodyPr>
            <a:lstStyle/>
            <a:p>
              <a:pPr algn="ctr">
                <a:lnSpc>
                  <a:spcPct val="100000"/>
                </a:lnSpc>
                <a:defRPr/>
              </a:pPr>
              <a:endParaRPr lang="en-US" sz="2800" spc="-1">
                <a:solidFill>
                  <a:srgbClr val="000000"/>
                </a:solidFill>
                <a:latin typeface="Arial"/>
              </a:endParaRPr>
            </a:p>
            <a:p>
              <a:pPr algn="ctr">
                <a:lnSpc>
                  <a:spcPct val="100000"/>
                </a:lnSpc>
                <a:defRPr/>
              </a:pPr>
              <a:endParaRPr lang="en-US" sz="2800" spc="-1">
                <a:solidFill>
                  <a:srgbClr val="000000"/>
                </a:solidFill>
                <a:latin typeface="Arial"/>
              </a:endParaRPr>
            </a:p>
          </p:txBody>
        </p:sp>
        <p:sp>
          <p:nvSpPr>
            <p:cNvPr id="378" name="Freeform 14"/>
            <p:cNvSpPr/>
            <p:nvPr/>
          </p:nvSpPr>
          <p:spPr bwMode="auto">
            <a:xfrm>
              <a:off x="6149880" y="444600"/>
              <a:ext cx="269640" cy="2166480"/>
            </a:xfrm>
            <a:custGeom>
              <a:avLst/>
              <a:gdLst>
                <a:gd name="textAreaLeft" fmla="*/ 0 w 269640"/>
                <a:gd name="textAreaRight" fmla="*/ 270000 w 269640"/>
                <a:gd name="textAreaTop" fmla="*/ 0 h 2166480"/>
                <a:gd name="textAreaBottom" fmla="*/ 2166840 h 2166480"/>
              </a:gdLst>
              <a:ahLst/>
              <a:cxnLst/>
              <a:rect l="textAreaLeft" t="textAreaTop" r="textAreaRight" b="textAreaBottom"/>
              <a:pathLst>
                <a:path w="19635" h="21600" fill="norm" stroke="1" extrusionOk="0">
                  <a:moveTo>
                    <a:pt x="16074" y="0"/>
                  </a:moveTo>
                  <a:cubicBezTo>
                    <a:pt x="16868" y="595"/>
                    <a:pt x="20219" y="1514"/>
                    <a:pt x="19545" y="2287"/>
                  </a:cubicBezTo>
                  <a:cubicBezTo>
                    <a:pt x="19015" y="2896"/>
                    <a:pt x="13803" y="3277"/>
                    <a:pt x="12702" y="3871"/>
                  </a:cubicBezTo>
                  <a:cubicBezTo>
                    <a:pt x="10421" y="5102"/>
                    <a:pt x="14690" y="5007"/>
                    <a:pt x="15678" y="5576"/>
                  </a:cubicBezTo>
                  <a:cubicBezTo>
                    <a:pt x="17959" y="6889"/>
                    <a:pt x="14805" y="7340"/>
                    <a:pt x="12901" y="8012"/>
                  </a:cubicBezTo>
                  <a:cubicBezTo>
                    <a:pt x="10969" y="8694"/>
                    <a:pt x="7743" y="8553"/>
                    <a:pt x="7347" y="10069"/>
                  </a:cubicBezTo>
                  <a:cubicBezTo>
                    <a:pt x="6950" y="11585"/>
                    <a:pt x="13297" y="12126"/>
                    <a:pt x="10520" y="12938"/>
                  </a:cubicBezTo>
                  <a:cubicBezTo>
                    <a:pt x="7743" y="13750"/>
                    <a:pt x="6950" y="14941"/>
                    <a:pt x="6156" y="15374"/>
                  </a:cubicBezTo>
                  <a:cubicBezTo>
                    <a:pt x="5363" y="15808"/>
                    <a:pt x="4173" y="17377"/>
                    <a:pt x="4966" y="17702"/>
                  </a:cubicBezTo>
                  <a:cubicBezTo>
                    <a:pt x="5760" y="18027"/>
                    <a:pt x="8537" y="18568"/>
                    <a:pt x="4173" y="19380"/>
                  </a:cubicBezTo>
                  <a:cubicBezTo>
                    <a:pt x="-191" y="20192"/>
                    <a:pt x="-1381" y="20788"/>
                    <a:pt x="1793" y="21600"/>
                  </a:cubicBezTo>
                </a:path>
              </a:pathLst>
            </a:custGeom>
            <a:noFill/>
            <a:ln w="76200">
              <a:solidFill>
                <a:srgbClr val="975500"/>
              </a:solidFill>
              <a:prstDash val="sysDot"/>
              <a:miter/>
            </a:ln>
            <a:effectLst>
              <a:outerShdw blurRad="127080" dist="75858" dir="2700000" algn="ctr" rotWithShape="0">
                <a:schemeClr val="bg2">
                  <a:alpha val="75000"/>
                </a:schemeClr>
              </a:outerShdw>
            </a:effectLst>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sp>
          <p:nvSpPr>
            <p:cNvPr id="379" name="Line 15"/>
            <p:cNvSpPr/>
            <p:nvPr/>
          </p:nvSpPr>
          <p:spPr bwMode="auto">
            <a:xfrm flipH="1" flipV="1">
              <a:off x="5532120" y="1041480"/>
              <a:ext cx="59040" cy="745200"/>
            </a:xfrm>
            <a:prstGeom prst="line">
              <a:avLst/>
            </a:prstGeom>
            <a:ln w="381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80" name="Line 16"/>
            <p:cNvSpPr/>
            <p:nvPr/>
          </p:nvSpPr>
          <p:spPr bwMode="auto">
            <a:xfrm flipH="1">
              <a:off x="5989320" y="1958040"/>
              <a:ext cx="416160" cy="36720"/>
            </a:xfrm>
            <a:prstGeom prst="line">
              <a:avLst/>
            </a:prstGeom>
            <a:ln w="381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81" name="Line 17"/>
            <p:cNvSpPr/>
            <p:nvPr/>
          </p:nvSpPr>
          <p:spPr bwMode="auto">
            <a:xfrm flipH="1">
              <a:off x="6721200" y="1521360"/>
              <a:ext cx="617760" cy="270000"/>
            </a:xfrm>
            <a:prstGeom prst="line">
              <a:avLst/>
            </a:prstGeom>
            <a:ln w="381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82" name="Line 18"/>
            <p:cNvSpPr/>
            <p:nvPr/>
          </p:nvSpPr>
          <p:spPr bwMode="auto">
            <a:xfrm flipV="1">
              <a:off x="8472240" y="1005120"/>
              <a:ext cx="158760" cy="452520"/>
            </a:xfrm>
            <a:prstGeom prst="line">
              <a:avLst/>
            </a:prstGeom>
            <a:ln w="381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83" name="Line 19"/>
            <p:cNvSpPr/>
            <p:nvPr/>
          </p:nvSpPr>
          <p:spPr bwMode="auto">
            <a:xfrm flipV="1">
              <a:off x="8513640" y="1217880"/>
              <a:ext cx="274680" cy="281160"/>
            </a:xfrm>
            <a:prstGeom prst="line">
              <a:avLst/>
            </a:prstGeom>
            <a:ln w="381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84" name="Line 20"/>
            <p:cNvSpPr/>
            <p:nvPr/>
          </p:nvSpPr>
          <p:spPr bwMode="auto">
            <a:xfrm flipV="1">
              <a:off x="7594560" y="1866240"/>
              <a:ext cx="612720" cy="622440"/>
            </a:xfrm>
            <a:prstGeom prst="line">
              <a:avLst/>
            </a:prstGeom>
            <a:ln w="381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85" name="Line 21"/>
            <p:cNvSpPr/>
            <p:nvPr/>
          </p:nvSpPr>
          <p:spPr bwMode="auto">
            <a:xfrm flipV="1">
              <a:off x="7616520" y="1902600"/>
              <a:ext cx="520920" cy="352800"/>
            </a:xfrm>
            <a:prstGeom prst="line">
              <a:avLst/>
            </a:prstGeom>
            <a:ln w="381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86" name="Line 22"/>
            <p:cNvSpPr/>
            <p:nvPr/>
          </p:nvSpPr>
          <p:spPr bwMode="auto">
            <a:xfrm flipV="1">
              <a:off x="7562520" y="1864440"/>
              <a:ext cx="536760" cy="20880"/>
            </a:xfrm>
            <a:prstGeom prst="line">
              <a:avLst/>
            </a:prstGeom>
            <a:ln w="381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87" name="Line 23"/>
            <p:cNvSpPr/>
            <p:nvPr/>
          </p:nvSpPr>
          <p:spPr bwMode="auto">
            <a:xfrm>
              <a:off x="7670520" y="1662840"/>
              <a:ext cx="478080" cy="147600"/>
            </a:xfrm>
            <a:prstGeom prst="line">
              <a:avLst/>
            </a:prstGeom>
            <a:ln w="38100">
              <a:solidFill>
                <a:srgbClr val="3F691E"/>
              </a:solidFill>
              <a:prstDash val="sysDot"/>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88" name="Line 24"/>
            <p:cNvSpPr/>
            <p:nvPr/>
          </p:nvSpPr>
          <p:spPr bwMode="auto">
            <a:xfrm flipH="1" flipV="1">
              <a:off x="6721200" y="2214000"/>
              <a:ext cx="451080" cy="358920"/>
            </a:xfrm>
            <a:prstGeom prst="line">
              <a:avLst/>
            </a:prstGeom>
            <a:ln w="38100">
              <a:solidFill>
                <a:srgbClr val="003DCC"/>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grpSp>
      <p:sp>
        <p:nvSpPr>
          <p:cNvPr id="821779429" name="Rectangle 26"/>
          <p:cNvSpPr/>
          <p:nvPr/>
        </p:nvSpPr>
        <p:spPr bwMode="auto">
          <a:xfrm>
            <a:off x="5116753" y="2273598"/>
            <a:ext cx="2288255" cy="430887"/>
          </a:xfrm>
          <a:prstGeom prst="rect">
            <a:avLst/>
          </a:prstGeom>
          <a:noFill/>
          <a:ln w="0">
            <a:noFill/>
          </a:ln>
          <a:effectLst>
            <a:outerShdw blurRad="127080" dist="75858" dir="2700000" algn="ctr" rotWithShape="0">
              <a:schemeClr val="bg2">
                <a:alpha val="75000"/>
              </a:schemeClr>
            </a:outerShdw>
          </a:effectLst>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2800" spc="-1">
                <a:solidFill>
                  <a:schemeClr val="dk1"/>
                </a:solidFill>
                <a:latin typeface="Gill Sans"/>
                <a:ea typeface="Gill Sans"/>
              </a:rPr>
              <a:t>Registry system</a:t>
            </a:r>
            <a:endParaRPr lang="en-US" sz="2800" spc="-1">
              <a:solidFill>
                <a:srgbClr val="000000"/>
              </a:solidFill>
              <a:latin typeface="Arial"/>
            </a:endParaRPr>
          </a:p>
        </p:txBody>
      </p:sp>
      <p:sp>
        <p:nvSpPr>
          <p:cNvPr id="2081195865" name="Rectangle 27"/>
          <p:cNvSpPr/>
          <p:nvPr/>
        </p:nvSpPr>
        <p:spPr bwMode="auto">
          <a:xfrm>
            <a:off x="8305292" y="254358"/>
            <a:ext cx="1914177" cy="430887"/>
          </a:xfrm>
          <a:prstGeom prst="rect">
            <a:avLst/>
          </a:prstGeom>
          <a:noFill/>
          <a:ln w="0">
            <a:noFill/>
          </a:ln>
          <a:effectLst>
            <a:outerShdw blurRad="127080" dist="75858" dir="2700000" algn="ctr" rotWithShape="0">
              <a:schemeClr val="bg2">
                <a:alpha val="75000"/>
              </a:schemeClr>
            </a:outerShdw>
          </a:effectLst>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2800" spc="-1">
                <a:solidFill>
                  <a:schemeClr val="dk1"/>
                </a:solidFill>
                <a:latin typeface="Gill Sans"/>
                <a:ea typeface="Gill Sans"/>
              </a:rPr>
              <a:t>DNS system </a:t>
            </a:r>
            <a:endParaRPr lang="en-US" sz="2800"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1545088"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5800" spc="-1">
                <a:solidFill>
                  <a:srgbClr val="275742"/>
                </a:solidFill>
                <a:latin typeface="Gill Sans"/>
                <a:ea typeface="ヒラギノ角ゴ ProN W3"/>
              </a:rPr>
              <a:t>Mechanisms used</a:t>
            </a:r>
            <a:endParaRPr lang="en-US" sz="5800" spc="-1">
              <a:solidFill>
                <a:srgbClr val="000000"/>
              </a:solidFill>
              <a:latin typeface="Times New Roman"/>
            </a:endParaRPr>
          </a:p>
        </p:txBody>
      </p:sp>
      <p:graphicFrame>
        <p:nvGraphicFramePr>
          <p:cNvPr id="1866472828" name="Table 1"/>
          <p:cNvGraphicFramePr>
            <a:graphicFrameLocks xmlns:a="http://schemas.openxmlformats.org/drawingml/2006/main"/>
          </p:cNvGraphicFramePr>
          <p:nvPr/>
        </p:nvGraphicFramePr>
        <p:xfrm rot="0">
          <a:off x="2971920" y="1523880"/>
          <a:ext cx="6933600" cy="4942800"/>
        </p:xfrm>
        <a:graphic>
          <a:graphicData uri="http://schemas.openxmlformats.org/drawingml/2006/table">
            <a:tbl>
              <a:tblPr firstRow="0" firstCol="0" lastRow="0" lastCol="0" bandRow="0" bandCol="0"/>
              <a:tblGrid>
                <a:gridCol w="717480"/>
                <a:gridCol w="2749320"/>
                <a:gridCol w="1155600"/>
                <a:gridCol w="2311200"/>
              </a:tblGrid>
              <a:tr h="569880">
                <a:tc>
                  <a:txBody>
                    <a:bodyPr/>
                    <a:p>
                      <a:pPr defTabSz="914400">
                        <a:lnSpc>
                          <a:spcPct val="100000"/>
                        </a:lnSpc>
                        <a:tabLst>
                          <a:tab pos="0" algn="l"/>
                        </a:tabLst>
                        <a:defRPr/>
                      </a:pPr>
                      <a:r>
                        <a:rPr lang="en-US" sz="1800" b="1" strike="noStrike" spc="-1">
                          <a:solidFill>
                            <a:schemeClr val="dk1"/>
                          </a:solidFill>
                          <a:latin typeface="Gill Sans"/>
                          <a:ea typeface="ヒラギノ角ゴ ProN W3"/>
                        </a:rPr>
                        <a:t>1</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38160" algn="ctr">
                      <a:solidFill>
                        <a:srgbClr val="FFFFFF"/>
                      </a:solidFill>
                    </a:lnB>
                    <a:solidFill>
                      <a:srgbClr val="FFFFFF"/>
                    </a:solidFill>
                  </a:tcPr>
                </a:tc>
                <a:tc>
                  <a:txBody>
                    <a:bodyPr/>
                    <a:p>
                      <a:pPr defTabSz="914400">
                        <a:lnSpc>
                          <a:spcPct val="100000"/>
                        </a:lnSpc>
                        <a:tabLst>
                          <a:tab pos="0" algn="l"/>
                        </a:tabLst>
                        <a:defRPr/>
                      </a:pPr>
                      <a:r>
                        <a:rPr lang="en-US" sz="1800" b="1" u="sng" strike="noStrike" spc="-1">
                          <a:solidFill>
                            <a:schemeClr val="dk1"/>
                          </a:solidFill>
                          <a:latin typeface="Gill Sans"/>
                          <a:ea typeface="ヒラギノ角ゴ ProN W3"/>
                          <a:hlinkClick r:id="rId3" tooltip=""/>
                        </a:rPr>
                        <a:t>RSA</a:t>
                      </a:r>
                      <a:r>
                        <a:rPr lang="en-US" sz="1800" b="1" strike="noStrike" spc="-1">
                          <a:solidFill>
                            <a:schemeClr val="dk1"/>
                          </a:solidFill>
                          <a:latin typeface="Gill Sans"/>
                          <a:ea typeface="ヒラギノ角ゴ ProN W3"/>
                        </a:rPr>
                        <a:t>/</a:t>
                      </a:r>
                      <a:r>
                        <a:rPr lang="en-US" sz="1800" b="1" u="sng" strike="noStrike" spc="-1">
                          <a:solidFill>
                            <a:schemeClr val="dk1"/>
                          </a:solidFill>
                          <a:latin typeface="Gill Sans"/>
                          <a:ea typeface="ヒラギノ角ゴ ProN W3"/>
                          <a:hlinkClick r:id="rId4" tooltip=""/>
                        </a:rPr>
                        <a:t>MD5</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38160" algn="ctr">
                      <a:solidFill>
                        <a:srgbClr val="FFFFFF"/>
                      </a:solidFill>
                    </a:lnB>
                    <a:solidFill>
                      <a:srgbClr val="FFFFFF"/>
                    </a:solidFill>
                  </a:tcPr>
                </a:tc>
                <a:tc>
                  <a:txBody>
                    <a:bodyPr/>
                    <a:p>
                      <a:pPr>
                        <a:defRPr/>
                      </a:pPr>
                      <a:endParaRPr sz="1800" b="1" strike="noStrike" spc="-1">
                        <a:solidFill>
                          <a:schemeClr val="dk1"/>
                        </a:solidFill>
                        <a:latin typeface="Gill Sans"/>
                        <a:ea typeface="ヒラギノ角ゴ ProN W3"/>
                      </a:endParaRPr>
                    </a:p>
                  </a:txBody>
                  <a:tcPr anchor="ctr">
                    <a:lnL w="12240" algn="ctr">
                      <a:solidFill>
                        <a:srgbClr val="FFFFFF"/>
                      </a:solidFill>
                    </a:lnL>
                    <a:lnR w="12240" algn="ctr">
                      <a:solidFill>
                        <a:srgbClr val="FFFFFF"/>
                      </a:solidFill>
                    </a:lnR>
                    <a:lnT w="12240" algn="ctr">
                      <a:solidFill>
                        <a:srgbClr val="FFFFFF"/>
                      </a:solidFill>
                    </a:lnT>
                    <a:lnB w="38160" algn="ctr">
                      <a:solidFill>
                        <a:srgbClr val="FFFFFF"/>
                      </a:solidFill>
                    </a:lnB>
                    <a:solidFill>
                      <a:srgbClr val="FFFFFF"/>
                    </a:solidFill>
                  </a:tcPr>
                </a:tc>
                <a:tc>
                  <a:txBody>
                    <a:bodyPr/>
                    <a:p>
                      <a:pPr algn="ctr" defTabSz="914400">
                        <a:lnSpc>
                          <a:spcPct val="100000"/>
                        </a:lnSpc>
                        <a:tabLst>
                          <a:tab pos="0" algn="l"/>
                        </a:tabLst>
                        <a:defRPr/>
                      </a:pPr>
                      <a:r>
                        <a:rPr lang="en-US" sz="1800" b="1" strike="noStrike" spc="-1">
                          <a:solidFill>
                            <a:schemeClr val="dk1"/>
                          </a:solidFill>
                          <a:latin typeface="Gill Sans"/>
                          <a:ea typeface="ヒラギノ角ゴ ProN W3"/>
                        </a:rPr>
                        <a:t>Must Not Implement</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38160" algn="ctr">
                      <a:solidFill>
                        <a:srgbClr val="FFFFFF"/>
                      </a:solidFill>
                    </a:lnB>
                    <a:solidFill>
                      <a:srgbClr val="FFFFFF"/>
                    </a:solidFill>
                  </a:tcPr>
                </a:tc>
              </a:tr>
              <a:tr h="537840">
                <a:tc>
                  <a:txBody>
                    <a:bodyPr/>
                    <a:p>
                      <a:pPr defTabSz="914400">
                        <a:lnSpc>
                          <a:spcPct val="100000"/>
                        </a:lnSpc>
                        <a:tabLst>
                          <a:tab pos="0" algn="l"/>
                        </a:tabLst>
                        <a:defRPr/>
                      </a:pPr>
                      <a:r>
                        <a:rPr lang="en-US" sz="1800" b="0" strike="noStrike" spc="-1">
                          <a:solidFill>
                            <a:schemeClr val="dk1"/>
                          </a:solidFill>
                          <a:latin typeface="Gill Sans"/>
                          <a:ea typeface="ヒラギノ角ゴ ProN W3"/>
                        </a:rPr>
                        <a:t>3</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38160" algn="ctr">
                      <a:solidFill>
                        <a:srgbClr val="FFFFFF"/>
                      </a:solidFill>
                    </a:lnT>
                    <a:lnB w="12240" algn="ctr">
                      <a:solidFill>
                        <a:srgbClr val="FFFFFF"/>
                      </a:solidFill>
                    </a:lnB>
                    <a:solidFill>
                      <a:srgbClr val="FFFFFF"/>
                    </a:solidFill>
                  </a:tcPr>
                </a:tc>
                <a:tc>
                  <a:txBody>
                    <a:bodyPr/>
                    <a:p>
                      <a:pPr defTabSz="914400">
                        <a:lnSpc>
                          <a:spcPct val="100000"/>
                        </a:lnSpc>
                        <a:tabLst>
                          <a:tab pos="0" algn="l"/>
                        </a:tabLst>
                        <a:defRPr/>
                      </a:pPr>
                      <a:r>
                        <a:rPr lang="en-US" sz="1800" b="0" u="sng" strike="noStrike" spc="-1">
                          <a:solidFill>
                            <a:schemeClr val="dk1"/>
                          </a:solidFill>
                          <a:latin typeface="Gill Sans"/>
                          <a:ea typeface="ヒラギノ角ゴ ProN W3"/>
                          <a:hlinkClick r:id="rId5" tooltip=""/>
                        </a:rPr>
                        <a:t>DSA</a:t>
                      </a:r>
                      <a:r>
                        <a:rPr lang="en-US" sz="1800" b="0" strike="noStrike" spc="-1">
                          <a:solidFill>
                            <a:schemeClr val="dk1"/>
                          </a:solidFill>
                          <a:latin typeface="Gill Sans"/>
                          <a:ea typeface="ヒラギノ角ゴ ProN W3"/>
                        </a:rPr>
                        <a:t>/</a:t>
                      </a:r>
                      <a:r>
                        <a:rPr lang="en-US" sz="1800" b="0" u="sng" strike="noStrike" spc="-1">
                          <a:solidFill>
                            <a:schemeClr val="dk1"/>
                          </a:solidFill>
                          <a:latin typeface="Gill Sans"/>
                          <a:ea typeface="ヒラギノ角ゴ ProN W3"/>
                          <a:hlinkClick r:id="rId6" tooltip=""/>
                        </a:rPr>
                        <a:t>SHA-1</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38160" algn="ctr">
                      <a:solidFill>
                        <a:srgbClr val="FFFFFF"/>
                      </a:solidFill>
                    </a:lnT>
                    <a:lnB w="12240" algn="ctr">
                      <a:solidFill>
                        <a:srgbClr val="FFFFFF"/>
                      </a:solidFill>
                    </a:lnB>
                    <a:solidFill>
                      <a:srgbClr val="FFFFFF"/>
                    </a:solidFill>
                  </a:tcPr>
                </a:tc>
                <a:tc>
                  <a:txBody>
                    <a:bodyPr/>
                    <a:p>
                      <a:pPr>
                        <a:defRPr/>
                      </a:pPr>
                      <a:endParaRPr sz="1800" b="0" strike="noStrike" spc="-1">
                        <a:solidFill>
                          <a:schemeClr val="dk1"/>
                        </a:solidFill>
                        <a:latin typeface="Gill Sans"/>
                        <a:ea typeface="ヒラギノ角ゴ ProN W3"/>
                      </a:endParaRPr>
                    </a:p>
                  </a:txBody>
                  <a:tcPr anchor="ctr">
                    <a:lnL w="12240" algn="ctr">
                      <a:solidFill>
                        <a:srgbClr val="FFFFFF"/>
                      </a:solidFill>
                    </a:lnL>
                    <a:lnR w="12240" algn="ctr">
                      <a:solidFill>
                        <a:srgbClr val="FFFFFF"/>
                      </a:solidFill>
                    </a:lnR>
                    <a:lnT w="38160" algn="ctr">
                      <a:solidFill>
                        <a:srgbClr val="FFFFFF"/>
                      </a:solidFill>
                    </a:lnT>
                    <a:lnB w="12240" algn="ctr">
                      <a:solidFill>
                        <a:srgbClr val="FFFFFF"/>
                      </a:solidFill>
                    </a:lnB>
                    <a:solidFill>
                      <a:srgbClr val="FFFFFF"/>
                    </a:solidFill>
                  </a:tcPr>
                </a:tc>
                <a:tc>
                  <a:txBody>
                    <a:bodyPr/>
                    <a:p>
                      <a:pPr algn="ctr" defTabSz="914400">
                        <a:lnSpc>
                          <a:spcPct val="100000"/>
                        </a:lnSpc>
                        <a:tabLst>
                          <a:tab pos="0" algn="l"/>
                        </a:tabLst>
                        <a:defRPr/>
                      </a:pPr>
                      <a:r>
                        <a:rPr lang="en-US" sz="1800" b="0" strike="noStrike" spc="-1">
                          <a:solidFill>
                            <a:schemeClr val="dk1"/>
                          </a:solidFill>
                          <a:latin typeface="Gill Sans"/>
                          <a:ea typeface="ヒラギノ角ゴ ProN W3"/>
                        </a:rPr>
                        <a:t>Optional</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38160" algn="ctr">
                      <a:solidFill>
                        <a:srgbClr val="FFFFFF"/>
                      </a:solidFill>
                    </a:lnT>
                    <a:lnB w="12240" algn="ctr">
                      <a:solidFill>
                        <a:srgbClr val="FFFFFF"/>
                      </a:solidFill>
                    </a:lnB>
                    <a:solidFill>
                      <a:srgbClr val="FFFFFF"/>
                    </a:solidFill>
                  </a:tcPr>
                </a:tc>
              </a:tr>
              <a:tr h="537840">
                <a:tc>
                  <a:txBody>
                    <a:bodyPr/>
                    <a:p>
                      <a:pPr defTabSz="914400">
                        <a:lnSpc>
                          <a:spcPct val="100000"/>
                        </a:lnSpc>
                        <a:tabLst>
                          <a:tab pos="0" algn="l"/>
                        </a:tabLst>
                        <a:defRPr/>
                      </a:pPr>
                      <a:r>
                        <a:rPr lang="en-US" sz="1800" b="0" strike="noStrike" spc="-1">
                          <a:solidFill>
                            <a:schemeClr val="dk1"/>
                          </a:solidFill>
                          <a:latin typeface="Gill Sans"/>
                          <a:ea typeface="ヒラギノ角ゴ ProN W3"/>
                        </a:rPr>
                        <a:t>5</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defTabSz="914400">
                        <a:lnSpc>
                          <a:spcPct val="100000"/>
                        </a:lnSpc>
                        <a:tabLst>
                          <a:tab pos="0" algn="l"/>
                        </a:tabLst>
                        <a:defRPr/>
                      </a:pPr>
                      <a:r>
                        <a:rPr lang="en-US" sz="1800" b="0" strike="noStrike" spc="-1">
                          <a:solidFill>
                            <a:schemeClr val="dk1"/>
                          </a:solidFill>
                          <a:latin typeface="Gill Sans"/>
                          <a:ea typeface="ヒラギノ角ゴ ProN W3"/>
                        </a:rPr>
                        <a:t>RSA/SHA-1</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defTabSz="914400">
                        <a:lnSpc>
                          <a:spcPct val="100000"/>
                        </a:lnSpc>
                        <a:tabLst>
                          <a:tab pos="0" algn="l"/>
                        </a:tabLst>
                        <a:defRPr/>
                      </a:pPr>
                      <a:r>
                        <a:rPr lang="nl-NL" sz="1800" b="0" u="sng" strike="noStrike" spc="-1">
                          <a:solidFill>
                            <a:schemeClr val="dk1"/>
                          </a:solidFill>
                          <a:latin typeface="Gill Sans"/>
                          <a:ea typeface="ヒラギノ角ゴ ProN W3"/>
                          <a:hlinkClick r:id="rId7" tooltip=""/>
                        </a:rPr>
                        <a:t>RFC 3110</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algn="ctr" defTabSz="914400">
                        <a:lnSpc>
                          <a:spcPct val="100000"/>
                        </a:lnSpc>
                        <a:tabLst>
                          <a:tab pos="0" algn="l"/>
                        </a:tabLst>
                        <a:defRPr/>
                      </a:pPr>
                      <a:r>
                        <a:rPr lang="en-US" sz="1800" b="0" strike="noStrike" spc="-1">
                          <a:solidFill>
                            <a:schemeClr val="dk1"/>
                          </a:solidFill>
                          <a:latin typeface="Gill Sans"/>
                          <a:ea typeface="ヒラギノ角ゴ ProN W3"/>
                        </a:rPr>
                        <a:t>Required</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r>
              <a:tr h="537840">
                <a:tc>
                  <a:txBody>
                    <a:bodyPr/>
                    <a:p>
                      <a:pPr defTabSz="914400">
                        <a:lnSpc>
                          <a:spcPct val="100000"/>
                        </a:lnSpc>
                        <a:tabLst>
                          <a:tab pos="0" algn="l"/>
                        </a:tabLst>
                        <a:defRPr/>
                      </a:pPr>
                      <a:r>
                        <a:rPr lang="en-US" sz="1800" b="0" strike="noStrike" spc="-1">
                          <a:solidFill>
                            <a:schemeClr val="dk1"/>
                          </a:solidFill>
                          <a:latin typeface="Gill Sans"/>
                          <a:ea typeface="ヒラギノ角ゴ ProN W3"/>
                        </a:rPr>
                        <a:t>7</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defTabSz="914400">
                        <a:lnSpc>
                          <a:spcPct val="100000"/>
                        </a:lnSpc>
                        <a:tabLst>
                          <a:tab pos="0" algn="l"/>
                        </a:tabLst>
                        <a:defRPr/>
                      </a:pPr>
                      <a:r>
                        <a:rPr lang="en-US" sz="1800" b="0" strike="noStrike" spc="-1">
                          <a:solidFill>
                            <a:schemeClr val="dk1"/>
                          </a:solidFill>
                          <a:latin typeface="Gill Sans"/>
                          <a:ea typeface="ヒラギノ角ゴ ProN W3"/>
                        </a:rPr>
                        <a:t>RSASHA1-NSEC3-SHA1</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defTabSz="914400">
                        <a:lnSpc>
                          <a:spcPct val="100000"/>
                        </a:lnSpc>
                        <a:tabLst>
                          <a:tab pos="0" algn="l"/>
                        </a:tabLst>
                        <a:defRPr/>
                      </a:pPr>
                      <a:r>
                        <a:rPr lang="nl-NL" sz="1800" b="0" u="sng" strike="noStrike" spc="-1">
                          <a:solidFill>
                            <a:schemeClr val="dk1"/>
                          </a:solidFill>
                          <a:latin typeface="Gill Sans"/>
                          <a:ea typeface="ヒラギノ角ゴ ProN W3"/>
                          <a:hlinkClick r:id="rId8" tooltip=""/>
                        </a:rPr>
                        <a:t>RFC 5155</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algn="ctr" defTabSz="914400">
                        <a:lnSpc>
                          <a:spcPct val="100000"/>
                        </a:lnSpc>
                        <a:tabLst>
                          <a:tab pos="0" algn="l"/>
                        </a:tabLst>
                        <a:defRPr/>
                      </a:pPr>
                      <a:r>
                        <a:rPr lang="en-US" sz="1800" b="0" strike="noStrike" spc="-1">
                          <a:solidFill>
                            <a:schemeClr val="dk1"/>
                          </a:solidFill>
                          <a:latin typeface="Gill Sans"/>
                          <a:ea typeface="ヒラギノ角ゴ ProN W3"/>
                        </a:rPr>
                        <a:t>Recommended</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r>
              <a:tr h="537840">
                <a:tc>
                  <a:txBody>
                    <a:bodyPr/>
                    <a:p>
                      <a:pPr defTabSz="914400">
                        <a:lnSpc>
                          <a:spcPct val="100000"/>
                        </a:lnSpc>
                        <a:tabLst>
                          <a:tab pos="0" algn="l"/>
                        </a:tabLst>
                        <a:defRPr/>
                      </a:pPr>
                      <a:r>
                        <a:rPr lang="en-US" sz="1800" b="0" strike="noStrike" spc="-1">
                          <a:solidFill>
                            <a:schemeClr val="dk1"/>
                          </a:solidFill>
                          <a:latin typeface="Gill Sans"/>
                          <a:ea typeface="ヒラギノ角ゴ ProN W3"/>
                        </a:rPr>
                        <a:t>8</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defTabSz="914400">
                        <a:lnSpc>
                          <a:spcPct val="100000"/>
                        </a:lnSpc>
                        <a:tabLst>
                          <a:tab pos="0" algn="l"/>
                        </a:tabLst>
                        <a:defRPr/>
                      </a:pPr>
                      <a:r>
                        <a:rPr lang="en-US" sz="1800" b="0" strike="noStrike" spc="-1">
                          <a:solidFill>
                            <a:schemeClr val="dk1"/>
                          </a:solidFill>
                          <a:latin typeface="Gill Sans"/>
                          <a:ea typeface="ヒラギノ角ゴ ProN W3"/>
                        </a:rPr>
                        <a:t>RSA/</a:t>
                      </a:r>
                      <a:r>
                        <a:rPr lang="en-US" sz="1800" b="0" u="sng" strike="noStrike" spc="-1">
                          <a:solidFill>
                            <a:schemeClr val="dk1"/>
                          </a:solidFill>
                          <a:latin typeface="Gill Sans"/>
                          <a:ea typeface="ヒラギノ角ゴ ProN W3"/>
                          <a:hlinkClick r:id="rId9" tooltip=""/>
                        </a:rPr>
                        <a:t>SHA-256</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rowSpan="2">
                  <a:txBody>
                    <a:bodyPr/>
                    <a:p>
                      <a:pPr defTabSz="914400">
                        <a:lnSpc>
                          <a:spcPct val="100000"/>
                        </a:lnSpc>
                        <a:tabLst>
                          <a:tab pos="0" algn="l"/>
                        </a:tabLst>
                        <a:defRPr/>
                      </a:pPr>
                      <a:r>
                        <a:rPr lang="fi-FI" sz="1800" b="0" u="sng" strike="noStrike" spc="-1">
                          <a:solidFill>
                            <a:schemeClr val="dk1"/>
                          </a:solidFill>
                          <a:latin typeface="Gill Sans"/>
                          <a:ea typeface="ヒラギノ角ゴ ProN W3"/>
                          <a:hlinkClick r:id="rId10" tooltip=""/>
                        </a:rPr>
                        <a:t>RFC 5702</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algn="ctr" defTabSz="914400">
                        <a:lnSpc>
                          <a:spcPct val="100000"/>
                        </a:lnSpc>
                        <a:tabLst>
                          <a:tab pos="0" algn="l"/>
                        </a:tabLst>
                        <a:defRPr/>
                      </a:pPr>
                      <a:r>
                        <a:rPr lang="en-US" sz="1800" b="0" strike="noStrike" spc="-1">
                          <a:solidFill>
                            <a:schemeClr val="dk1"/>
                          </a:solidFill>
                          <a:latin typeface="Gill Sans"/>
                          <a:ea typeface="ヒラギノ角ゴ ProN W3"/>
                        </a:rPr>
                        <a:t>Recommended</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r>
              <a:tr h="537840">
                <a:tc>
                  <a:txBody>
                    <a:bodyPr/>
                    <a:p>
                      <a:pPr defTabSz="914400">
                        <a:lnSpc>
                          <a:spcPct val="100000"/>
                        </a:lnSpc>
                        <a:tabLst>
                          <a:tab pos="0" algn="l"/>
                        </a:tabLst>
                        <a:defRPr/>
                      </a:pPr>
                      <a:r>
                        <a:rPr lang="en-US" sz="1800" b="0" strike="noStrike" spc="-1">
                          <a:solidFill>
                            <a:schemeClr val="dk1"/>
                          </a:solidFill>
                          <a:latin typeface="Gill Sans"/>
                          <a:ea typeface="ヒラギノ角ゴ ProN W3"/>
                        </a:rPr>
                        <a:t>10</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defTabSz="914400">
                        <a:lnSpc>
                          <a:spcPct val="100000"/>
                        </a:lnSpc>
                        <a:tabLst>
                          <a:tab pos="0" algn="l"/>
                        </a:tabLst>
                        <a:defRPr/>
                      </a:pPr>
                      <a:r>
                        <a:rPr lang="en-US" sz="1800" b="0" strike="noStrike" spc="-1">
                          <a:solidFill>
                            <a:schemeClr val="dk1"/>
                          </a:solidFill>
                          <a:latin typeface="Gill Sans"/>
                          <a:ea typeface="ヒラギノ角ゴ ProN W3"/>
                        </a:rPr>
                        <a:t>RSA/</a:t>
                      </a:r>
                      <a:r>
                        <a:rPr lang="en-US" sz="1800" b="0" u="sng" strike="noStrike" spc="-1">
                          <a:solidFill>
                            <a:schemeClr val="dk1"/>
                          </a:solidFill>
                          <a:latin typeface="Gill Sans"/>
                          <a:ea typeface="ヒラギノ角ゴ ProN W3"/>
                          <a:hlinkClick r:id="rId9" tooltip=""/>
                        </a:rPr>
                        <a:t>SHA-512</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vMerge="1">
                  <a:txBody>
                    <a:bodyPr/>
                    <a:p>
                      <a:pPr>
                        <a:defRPr/>
                      </a:pPr>
                      <a:endParaRPr lang="en-US" sz="1800" b="0" strike="noStrike" spc="-1">
                        <a:solidFill>
                          <a:srgbClr val="000000"/>
                        </a:solidFill>
                        <a:latin typeface="Arial"/>
                      </a:endParaRPr>
                    </a:p>
                  </a:txBody>
                  <a:tcPr marL="90000" marR="90000">
                    <a:lnL w="12700" algn="ctr">
                      <a:noFill/>
                    </a:lnL>
                    <a:lnR w="12700" algn="ctr">
                      <a:noFill/>
                    </a:lnR>
                    <a:lnT w="12700" algn="ctr">
                      <a:noFill/>
                    </a:lnT>
                    <a:lnB w="12700" algn="ctr">
                      <a:noFill/>
                    </a:lnB>
                    <a:solidFill>
                      <a:srgbClr val="729FCF"/>
                    </a:solidFill>
                  </a:tcPr>
                </a:tc>
                <a:tc>
                  <a:txBody>
                    <a:bodyPr/>
                    <a:p>
                      <a:pPr algn="ctr" defTabSz="914400">
                        <a:lnSpc>
                          <a:spcPct val="100000"/>
                        </a:lnSpc>
                        <a:tabLst>
                          <a:tab pos="0" algn="l"/>
                        </a:tabLst>
                        <a:defRPr/>
                      </a:pPr>
                      <a:r>
                        <a:rPr lang="en-US" sz="1800" b="0" strike="noStrike" spc="-1">
                          <a:solidFill>
                            <a:schemeClr val="dk1"/>
                          </a:solidFill>
                          <a:latin typeface="Gill Sans"/>
                          <a:ea typeface="ヒラギノ角ゴ ProN W3"/>
                        </a:rPr>
                        <a:t>Recommended</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r>
              <a:tr h="537840">
                <a:tc>
                  <a:txBody>
                    <a:bodyPr/>
                    <a:p>
                      <a:pPr defTabSz="914400">
                        <a:lnSpc>
                          <a:spcPct val="100000"/>
                        </a:lnSpc>
                        <a:tabLst>
                          <a:tab pos="0" algn="l"/>
                        </a:tabLst>
                        <a:defRPr/>
                      </a:pPr>
                      <a:r>
                        <a:rPr lang="is-IS" sz="1800" b="0" strike="noStrike" spc="-1">
                          <a:solidFill>
                            <a:schemeClr val="dk1"/>
                          </a:solidFill>
                          <a:latin typeface="Gill Sans"/>
                          <a:ea typeface="ヒラギノ角ゴ ProN W3"/>
                        </a:rPr>
                        <a:t>12</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defTabSz="914400">
                        <a:lnSpc>
                          <a:spcPct val="100000"/>
                        </a:lnSpc>
                        <a:tabLst>
                          <a:tab pos="0" algn="l"/>
                        </a:tabLst>
                        <a:defRPr/>
                      </a:pPr>
                      <a:r>
                        <a:rPr lang="sk-SK" sz="1800" b="0" u="sng" strike="noStrike" spc="-1">
                          <a:solidFill>
                            <a:schemeClr val="dk1"/>
                          </a:solidFill>
                          <a:latin typeface="Gill Sans"/>
                          <a:ea typeface="ヒラギノ角ゴ ProN W3"/>
                          <a:hlinkClick r:id="rId11" tooltip=""/>
                        </a:rPr>
                        <a:t>GOST</a:t>
                      </a:r>
                      <a:r>
                        <a:rPr lang="sk-SK" sz="1800" b="0" strike="noStrike" spc="-1">
                          <a:solidFill>
                            <a:schemeClr val="dk1"/>
                          </a:solidFill>
                          <a:latin typeface="Gill Sans"/>
                          <a:ea typeface="ヒラギノ角ゴ ProN W3"/>
                        </a:rPr>
                        <a:t> </a:t>
                      </a:r>
                      <a:r>
                        <a:rPr lang="sk-SK" sz="1800" b="0" u="sng" strike="noStrike" spc="-1">
                          <a:solidFill>
                            <a:schemeClr val="dk1"/>
                          </a:solidFill>
                          <a:latin typeface="Gill Sans"/>
                          <a:ea typeface="ヒラギノ角ゴ ProN W3"/>
                          <a:hlinkClick r:id="rId12" tooltip=""/>
                        </a:rPr>
                        <a:t>R 34.10-2001</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defTabSz="914400">
                        <a:lnSpc>
                          <a:spcPct val="100000"/>
                        </a:lnSpc>
                        <a:tabLst>
                          <a:tab pos="0" algn="l"/>
                        </a:tabLst>
                        <a:defRPr/>
                      </a:pPr>
                      <a:r>
                        <a:rPr lang="nl-NL" sz="1800" b="0" u="sng" strike="noStrike" spc="-1">
                          <a:solidFill>
                            <a:schemeClr val="dk1"/>
                          </a:solidFill>
                          <a:latin typeface="Gill Sans"/>
                          <a:ea typeface="ヒラギノ角ゴ ProN W3"/>
                          <a:hlinkClick r:id="rId13" tooltip=""/>
                        </a:rPr>
                        <a:t>RFC 5933</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algn="ctr" defTabSz="914400">
                        <a:lnSpc>
                          <a:spcPct val="100000"/>
                        </a:lnSpc>
                        <a:tabLst>
                          <a:tab pos="0" algn="l"/>
                        </a:tabLst>
                        <a:defRPr/>
                      </a:pPr>
                      <a:r>
                        <a:rPr lang="en-US" sz="1800" b="0" strike="noStrike" spc="-1">
                          <a:solidFill>
                            <a:schemeClr val="dk1"/>
                          </a:solidFill>
                          <a:latin typeface="Gill Sans"/>
                          <a:ea typeface="ヒラギノ角ゴ ProN W3"/>
                        </a:rPr>
                        <a:t>Optional</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r>
              <a:tr h="537840">
                <a:tc>
                  <a:txBody>
                    <a:bodyPr/>
                    <a:p>
                      <a:pPr defTabSz="914400">
                        <a:lnSpc>
                          <a:spcPct val="100000"/>
                        </a:lnSpc>
                        <a:tabLst>
                          <a:tab pos="0" algn="l"/>
                        </a:tabLst>
                        <a:defRPr/>
                      </a:pPr>
                      <a:r>
                        <a:rPr lang="is-IS" sz="1800" b="0" strike="noStrike" spc="-1">
                          <a:solidFill>
                            <a:schemeClr val="dk1"/>
                          </a:solidFill>
                          <a:latin typeface="Gill Sans"/>
                          <a:ea typeface="ヒラギノ角ゴ ProN W3"/>
                        </a:rPr>
                        <a:t>13</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defTabSz="914400">
                        <a:lnSpc>
                          <a:spcPct val="100000"/>
                        </a:lnSpc>
                        <a:tabLst>
                          <a:tab pos="0" algn="l"/>
                        </a:tabLst>
                        <a:defRPr/>
                      </a:pPr>
                      <a:r>
                        <a:rPr lang="en-US" sz="1800" b="0" u="sng" strike="noStrike" spc="-1">
                          <a:solidFill>
                            <a:schemeClr val="dk1"/>
                          </a:solidFill>
                          <a:latin typeface="Gill Sans"/>
                          <a:ea typeface="ヒラギノ角ゴ ProN W3"/>
                          <a:hlinkClick r:id="rId14" tooltip=""/>
                        </a:rPr>
                        <a:t>ECDSA</a:t>
                      </a:r>
                      <a:r>
                        <a:rPr lang="en-US" sz="1800" b="0" strike="noStrike" spc="-1">
                          <a:solidFill>
                            <a:schemeClr val="dk1"/>
                          </a:solidFill>
                          <a:latin typeface="Gill Sans"/>
                          <a:ea typeface="ヒラギノ角ゴ ProN W3"/>
                        </a:rPr>
                        <a:t>/</a:t>
                      </a:r>
                      <a:r>
                        <a:rPr lang="en-US" sz="1800" b="0" u="sng" strike="noStrike" spc="-1">
                          <a:solidFill>
                            <a:schemeClr val="dk1"/>
                          </a:solidFill>
                          <a:latin typeface="Gill Sans"/>
                          <a:ea typeface="ヒラギノ角ゴ ProN W3"/>
                          <a:hlinkClick r:id="rId9" tooltip=""/>
                        </a:rPr>
                        <a:t>SHA-256</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rowSpan="2">
                  <a:txBody>
                    <a:bodyPr/>
                    <a:p>
                      <a:pPr defTabSz="914400">
                        <a:lnSpc>
                          <a:spcPct val="100000"/>
                        </a:lnSpc>
                        <a:tabLst>
                          <a:tab pos="0" algn="l"/>
                        </a:tabLst>
                        <a:defRPr/>
                      </a:pPr>
                      <a:r>
                        <a:rPr lang="de-DE" sz="1800" b="0" u="sng" strike="noStrike" spc="-1">
                          <a:solidFill>
                            <a:schemeClr val="dk1"/>
                          </a:solidFill>
                          <a:latin typeface="Gill Sans"/>
                          <a:ea typeface="ヒラギノ角ゴ ProN W3"/>
                          <a:hlinkClick r:id="rId15" tooltip=""/>
                        </a:rPr>
                        <a:t>RFC 6605</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algn="ctr" defTabSz="914400">
                        <a:lnSpc>
                          <a:spcPct val="100000"/>
                        </a:lnSpc>
                        <a:tabLst>
                          <a:tab pos="0" algn="l"/>
                        </a:tabLst>
                        <a:defRPr/>
                      </a:pPr>
                      <a:r>
                        <a:rPr lang="en-US" sz="1800" b="0" strike="noStrike" spc="-1">
                          <a:solidFill>
                            <a:schemeClr val="dk1"/>
                          </a:solidFill>
                          <a:latin typeface="Gill Sans"/>
                          <a:ea typeface="ヒラギノ角ゴ ProN W3"/>
                        </a:rPr>
                        <a:t>Recommended</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r>
              <a:tr h="537840">
                <a:tc>
                  <a:txBody>
                    <a:bodyPr/>
                    <a:p>
                      <a:pPr defTabSz="914400">
                        <a:lnSpc>
                          <a:spcPct val="100000"/>
                        </a:lnSpc>
                        <a:tabLst>
                          <a:tab pos="0" algn="l"/>
                        </a:tabLst>
                        <a:defRPr/>
                      </a:pPr>
                      <a:r>
                        <a:rPr lang="en-US" sz="1800" b="0" strike="noStrike" spc="-1">
                          <a:solidFill>
                            <a:schemeClr val="dk1"/>
                          </a:solidFill>
                          <a:latin typeface="Gill Sans"/>
                          <a:ea typeface="ヒラギノ角ゴ ProN W3"/>
                        </a:rPr>
                        <a:t>14</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a:txBody>
                    <a:bodyPr/>
                    <a:p>
                      <a:pPr defTabSz="914400">
                        <a:lnSpc>
                          <a:spcPct val="100000"/>
                        </a:lnSpc>
                        <a:tabLst>
                          <a:tab pos="0" algn="l"/>
                        </a:tabLst>
                        <a:defRPr/>
                      </a:pPr>
                      <a:r>
                        <a:rPr lang="en-US" sz="1800" b="0" strike="noStrike" spc="-1">
                          <a:solidFill>
                            <a:schemeClr val="dk1"/>
                          </a:solidFill>
                          <a:latin typeface="Gill Sans"/>
                          <a:ea typeface="ヒラギノ角ゴ ProN W3"/>
                        </a:rPr>
                        <a:t>ECDSA/</a:t>
                      </a:r>
                      <a:r>
                        <a:rPr lang="en-US" sz="1800" b="0" u="sng" strike="noStrike" spc="-1">
                          <a:solidFill>
                            <a:schemeClr val="dk1"/>
                          </a:solidFill>
                          <a:latin typeface="Gill Sans"/>
                          <a:ea typeface="ヒラギノ角ゴ ProN W3"/>
                          <a:hlinkClick r:id="rId9" tooltip=""/>
                        </a:rPr>
                        <a:t>SHA-384</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c vMerge="1">
                  <a:txBody>
                    <a:bodyPr/>
                    <a:p>
                      <a:pPr>
                        <a:defRPr/>
                      </a:pPr>
                      <a:endParaRPr lang="en-US" sz="1800" b="0" strike="noStrike" spc="-1">
                        <a:solidFill>
                          <a:srgbClr val="000000"/>
                        </a:solidFill>
                        <a:latin typeface="Arial"/>
                      </a:endParaRPr>
                    </a:p>
                  </a:txBody>
                  <a:tcPr marL="90000" marR="90000">
                    <a:lnL w="12700" algn="ctr">
                      <a:noFill/>
                    </a:lnL>
                    <a:lnR w="12700" algn="ctr">
                      <a:noFill/>
                    </a:lnR>
                    <a:lnT w="12700" algn="ctr">
                      <a:noFill/>
                    </a:lnT>
                    <a:lnB w="12700" algn="ctr">
                      <a:noFill/>
                    </a:lnB>
                    <a:solidFill>
                      <a:srgbClr val="729FCF"/>
                    </a:solidFill>
                  </a:tcPr>
                </a:tc>
                <a:tc>
                  <a:txBody>
                    <a:bodyPr/>
                    <a:p>
                      <a:pPr algn="ctr" defTabSz="914400">
                        <a:lnSpc>
                          <a:spcPct val="100000"/>
                        </a:lnSpc>
                        <a:tabLst>
                          <a:tab pos="0" algn="l"/>
                        </a:tabLst>
                        <a:defRPr/>
                      </a:pPr>
                      <a:r>
                        <a:rPr lang="en-US" sz="1800" b="0" strike="noStrike" spc="-1">
                          <a:solidFill>
                            <a:schemeClr val="dk1"/>
                          </a:solidFill>
                          <a:latin typeface="Gill Sans"/>
                          <a:ea typeface="ヒラギノ角ゴ ProN W3"/>
                        </a:rPr>
                        <a:t>Recommended</a:t>
                      </a:r>
                      <a:endParaRPr lang="en-US" sz="1800" b="0" strike="noStrike" spc="-1">
                        <a:solidFill>
                          <a:srgbClr val="000000"/>
                        </a:solidFill>
                        <a:latin typeface="Arial"/>
                      </a:endParaRPr>
                    </a:p>
                  </a:txBody>
                  <a:tcPr anchor="ctr">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2522758"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5800" spc="-1">
                <a:solidFill>
                  <a:srgbClr val="275742"/>
                </a:solidFill>
                <a:latin typeface="Gill Sans"/>
                <a:ea typeface="ヒラギノ角ゴ ProN W3"/>
              </a:rPr>
              <a:t>Three new components</a:t>
            </a:r>
            <a:endParaRPr lang="en-US" sz="5800" spc="-1">
              <a:solidFill>
                <a:srgbClr val="000000"/>
              </a:solidFill>
              <a:latin typeface="Times New Roman"/>
            </a:endParaRPr>
          </a:p>
        </p:txBody>
      </p:sp>
      <p:sp>
        <p:nvSpPr>
          <p:cNvPr id="468534942"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Private Key: kept private and stored locally</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Public Keys: Published in the DNS as a DNSKEY Resource Record</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Signatures: Published in the DNS as a RRSIG Resource Record</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5195942"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5000" spc="-1">
                <a:solidFill>
                  <a:srgbClr val="275742"/>
                </a:solidFill>
                <a:latin typeface="Gill Sans"/>
                <a:ea typeface="ヒラギノ角ゴ ProN W3"/>
              </a:rPr>
              <a:t>Signing is done per Zone</a:t>
            </a:r>
            <a:endParaRPr lang="en-US" sz="5000" spc="-1">
              <a:solidFill>
                <a:srgbClr val="000000"/>
              </a:solidFill>
              <a:latin typeface="Times New Roman"/>
            </a:endParaRPr>
          </a:p>
        </p:txBody>
      </p:sp>
      <p:sp>
        <p:nvSpPr>
          <p:cNvPr id="559550976"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Each zone has one or more key-pairs for signing</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If you have the public keys from a zone you can validate signatures made with the corresponding private keys</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However, signing a complete zone does not scale</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9798379" name="PlaceHolder 1"/>
          <p:cNvSpPr>
            <a:spLocks noGrp="1"/>
          </p:cNvSpPr>
          <p:nvPr>
            <p:ph type="title"/>
          </p:nvPr>
        </p:nvSpPr>
        <p:spPr bwMode="auto">
          <a:xfrm>
            <a:off x="2209800" y="380880"/>
            <a:ext cx="7775280" cy="1599840"/>
          </a:xfrm>
          <a:prstGeom prst="rect">
            <a:avLst/>
          </a:prstGeom>
          <a:noFill/>
          <a:ln w="0">
            <a:noFill/>
          </a:ln>
          <a:effectLst>
            <a:outerShdw blurRad="127080" dist="75858" dir="2700000" rotWithShape="0">
              <a:srgbClr val="000000">
                <a:alpha val="75000"/>
              </a:srgbClr>
            </a:outerShdw>
          </a:effectLst>
        </p:spPr>
        <p:txBody>
          <a:bodyPr vert="horz" lIns="50760" tIns="50760" rIns="39240" bIns="50760" numCol="1" spcCol="0" rtlCol="0" anchor="ctr">
            <a:noAutofit/>
          </a:bodyPr>
          <a:lstStyle/>
          <a:p>
            <a:pPr marL="38160" algn="ctr">
              <a:lnSpc>
                <a:spcPct val="100000"/>
              </a:lnSpc>
              <a:tabLst>
                <a:tab pos="38160" algn="l"/>
                <a:tab pos="482760" algn="l"/>
                <a:tab pos="939960" algn="l"/>
                <a:tab pos="1384200" algn="l"/>
                <a:tab pos="1828800" algn="l"/>
                <a:tab pos="2286000" algn="l"/>
                <a:tab pos="2730600" algn="l"/>
                <a:tab pos="3187800" algn="l"/>
                <a:tab pos="3632040" algn="l"/>
                <a:tab pos="4076640" algn="l"/>
                <a:tab pos="4533840" algn="l"/>
                <a:tab pos="4978440" algn="l"/>
                <a:tab pos="5423039" algn="l"/>
                <a:tab pos="5880240" algn="l"/>
                <a:tab pos="6324480" algn="l"/>
                <a:tab pos="6781680" algn="l"/>
                <a:tab pos="7226280" algn="l"/>
                <a:tab pos="7670880" algn="l"/>
                <a:tab pos="8128080" algn="l"/>
                <a:tab pos="8572680" algn="l"/>
                <a:tab pos="9016920" algn="l"/>
                <a:tab pos="9182160" algn="l"/>
              </a:tabLst>
              <a:defRPr/>
            </a:pPr>
            <a:r>
              <a:rPr lang="en-US" sz="5800" spc="-1">
                <a:solidFill>
                  <a:srgbClr val="275742"/>
                </a:solidFill>
                <a:latin typeface="Gill Sans"/>
                <a:ea typeface="ヒラギノ角ゴ ProN W3"/>
              </a:rPr>
              <a:t>RRs and RRSets</a:t>
            </a:r>
            <a:endParaRPr lang="en-US" sz="5800" spc="-1">
              <a:solidFill>
                <a:srgbClr val="000000"/>
              </a:solidFill>
              <a:latin typeface="Times New Roman"/>
            </a:endParaRPr>
          </a:p>
        </p:txBody>
      </p:sp>
      <p:sp>
        <p:nvSpPr>
          <p:cNvPr id="384932923" name="PlaceHolder 2"/>
          <p:cNvSpPr>
            <a:spLocks noGrp="1"/>
          </p:cNvSpPr>
          <p:nvPr>
            <p:ph/>
          </p:nvPr>
        </p:nvSpPr>
        <p:spPr bwMode="auto">
          <a:xfrm>
            <a:off x="2211240" y="1981080"/>
            <a:ext cx="7772039" cy="4215960"/>
          </a:xfrm>
          <a:prstGeom prst="rect">
            <a:avLst/>
          </a:prstGeom>
          <a:noFill/>
          <a:ln w="0">
            <a:noFill/>
          </a:ln>
        </p:spPr>
        <p:txBody>
          <a:bodyPr vert="horz" lIns="0" tIns="0" rIns="39240" bIns="0" numCol="1" spcCol="0" rtlCol="0" anchor="ctr">
            <a:noAutofit/>
          </a:bodyPr>
          <a:lstStyle/>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600" spc="-1">
                <a:solidFill>
                  <a:schemeClr val="dk1"/>
                </a:solidFill>
                <a:latin typeface="Gill Sans"/>
                <a:ea typeface="ヒラギノ角ゴ ProN W3"/>
              </a:rPr>
              <a:t>Resource Record:</a:t>
            </a:r>
            <a:endParaRPr lang="en-US" sz="26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200" spc="-1">
                <a:solidFill>
                  <a:schemeClr val="dk1"/>
                </a:solidFill>
                <a:latin typeface="Gill Sans"/>
                <a:ea typeface="ヒラギノ角ゴ ProN W3"/>
              </a:rPr>
              <a:t>name  			TTL 	class   type 	rdata</a:t>
            </a:r>
            <a:endParaRPr lang="en-US" sz="2200" spc="-1">
              <a:solidFill>
                <a:schemeClr val="dk1"/>
              </a:solidFill>
              <a:latin typeface="Gill Sans"/>
            </a:endParaRPr>
          </a:p>
          <a:p>
            <a:pPr marL="1181160" lvl="2" indent="-228600">
              <a:lnSpc>
                <a:spcPct val="90000"/>
              </a:lnSpc>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pc="-1">
                <a:solidFill>
                  <a:schemeClr val="dk1"/>
                </a:solidFill>
                <a:latin typeface="Courier New Bold"/>
                <a:ea typeface="Courier New Bold"/>
              </a:rPr>
              <a:t>www.nlnetlabs.nl. </a:t>
            </a:r>
            <a:r>
              <a:rPr lang="en-US" spc="-1">
                <a:solidFill>
                  <a:schemeClr val="dk1"/>
                </a:solidFill>
                <a:latin typeface="Courier New Bold"/>
                <a:ea typeface="ヒラギノ角ゴ ProN W6"/>
              </a:rPr>
              <a:t>	</a:t>
            </a:r>
            <a:r>
              <a:rPr lang="en-US" spc="-1">
                <a:solidFill>
                  <a:schemeClr val="dk1"/>
                </a:solidFill>
                <a:latin typeface="Courier New Bold"/>
                <a:ea typeface="Courier New Bold"/>
              </a:rPr>
              <a:t>7200 </a:t>
            </a:r>
            <a:r>
              <a:rPr lang="en-US" spc="-1">
                <a:solidFill>
                  <a:schemeClr val="dk1"/>
                </a:solidFill>
                <a:latin typeface="Courier New Bold"/>
                <a:ea typeface="ヒラギノ角ゴ ProN W6"/>
              </a:rPr>
              <a:t>	</a:t>
            </a:r>
            <a:r>
              <a:rPr lang="en-US" spc="-1">
                <a:solidFill>
                  <a:schemeClr val="dk1"/>
                </a:solidFill>
                <a:latin typeface="Courier New Bold"/>
                <a:ea typeface="Courier New Bold"/>
              </a:rPr>
              <a:t>IN</a:t>
            </a:r>
            <a:r>
              <a:rPr lang="en-US" spc="-1">
                <a:solidFill>
                  <a:schemeClr val="dk1"/>
                </a:solidFill>
                <a:latin typeface="Courier New Bold"/>
                <a:ea typeface="ヒラギノ角ゴ ProN W6"/>
              </a:rPr>
              <a:t>	</a:t>
            </a:r>
            <a:r>
              <a:rPr lang="en-US" spc="-1">
                <a:solidFill>
                  <a:schemeClr val="dk1"/>
                </a:solidFill>
                <a:latin typeface="Courier New Bold"/>
                <a:ea typeface="Courier New Bold"/>
              </a:rPr>
              <a:t>A </a:t>
            </a:r>
            <a:r>
              <a:rPr lang="en-US" spc="-1">
                <a:solidFill>
                  <a:schemeClr val="dk1"/>
                </a:solidFill>
                <a:latin typeface="Courier New Bold"/>
                <a:ea typeface="ヒラギノ角ゴ ProN W6"/>
              </a:rPr>
              <a:t>	</a:t>
            </a:r>
            <a:r>
              <a:rPr lang="en-US" spc="-1">
                <a:solidFill>
                  <a:schemeClr val="dk1"/>
                </a:solidFill>
                <a:latin typeface="Courier New Bold"/>
                <a:ea typeface="Courier New Bold"/>
              </a:rPr>
              <a:t>192.168.10.3</a:t>
            </a:r>
            <a:endParaRPr lang="en-US" spc="-1">
              <a:solidFill>
                <a:schemeClr val="dk1"/>
              </a:solidFill>
              <a:latin typeface="Gill Sans"/>
            </a:endParaRPr>
          </a:p>
          <a:p>
            <a:pPr>
              <a:spcBef>
                <a:spcPts val="799"/>
              </a:spcBef>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endParaRPr lang="en-US" sz="16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600" spc="-1">
                <a:solidFill>
                  <a:schemeClr val="dk1"/>
                </a:solidFill>
                <a:latin typeface="Gill Sans"/>
                <a:ea typeface="ヒラギノ角ゴ ProN W3"/>
              </a:rPr>
              <a:t>RRset: RRs with same name, class and type:</a:t>
            </a:r>
            <a:endParaRPr lang="en-US" sz="2600" spc="-1">
              <a:solidFill>
                <a:schemeClr val="dk1"/>
              </a:solidFill>
              <a:latin typeface="Gill Sans"/>
            </a:endParaRPr>
          </a:p>
          <a:p>
            <a:pPr marL="1181160" lvl="2" indent="-228600">
              <a:lnSpc>
                <a:spcPct val="90000"/>
              </a:lnSpc>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1700" spc="-1">
                <a:solidFill>
                  <a:schemeClr val="dk1"/>
                </a:solidFill>
                <a:latin typeface="Courier New Bold"/>
                <a:ea typeface="Courier New Bold"/>
              </a:rPr>
              <a:t>www.nlnetlabs.nl. </a:t>
            </a:r>
            <a:r>
              <a:rPr lang="en-US" sz="1700" spc="-1">
                <a:solidFill>
                  <a:schemeClr val="dk1"/>
                </a:solidFill>
                <a:latin typeface="Courier New Bold"/>
                <a:ea typeface="ヒラギノ角ゴ ProN W6"/>
              </a:rPr>
              <a:t>	</a:t>
            </a:r>
            <a:r>
              <a:rPr lang="en-US" sz="1700" spc="-1">
                <a:solidFill>
                  <a:schemeClr val="dk1"/>
                </a:solidFill>
                <a:latin typeface="Courier New Bold"/>
                <a:ea typeface="Courier New Bold"/>
              </a:rPr>
              <a:t>7200</a:t>
            </a:r>
            <a:r>
              <a:rPr lang="en-US" sz="1700" spc="-1">
                <a:solidFill>
                  <a:schemeClr val="dk1"/>
                </a:solidFill>
                <a:latin typeface="Courier New Bold"/>
                <a:ea typeface="ヒラギノ角ゴ ProN W6"/>
              </a:rPr>
              <a:t>	</a:t>
            </a:r>
            <a:r>
              <a:rPr lang="en-US" sz="1700" spc="-1">
                <a:solidFill>
                  <a:schemeClr val="dk1"/>
                </a:solidFill>
                <a:latin typeface="Courier New Bold"/>
                <a:ea typeface="Courier New Bold"/>
              </a:rPr>
              <a:t>IN </a:t>
            </a:r>
            <a:r>
              <a:rPr lang="en-US" sz="1700" spc="-1">
                <a:solidFill>
                  <a:schemeClr val="dk1"/>
                </a:solidFill>
                <a:latin typeface="Courier New Bold"/>
                <a:ea typeface="ヒラギノ角ゴ ProN W6"/>
              </a:rPr>
              <a:t>	</a:t>
            </a:r>
            <a:r>
              <a:rPr lang="en-US" sz="1700" spc="-1">
                <a:solidFill>
                  <a:schemeClr val="dk1"/>
                </a:solidFill>
                <a:latin typeface="Courier New Bold"/>
                <a:ea typeface="Courier New Bold"/>
              </a:rPr>
              <a:t>A</a:t>
            </a:r>
            <a:r>
              <a:rPr lang="en-US" sz="1700" spc="-1">
                <a:solidFill>
                  <a:schemeClr val="dk1"/>
                </a:solidFill>
                <a:latin typeface="Courier New Bold"/>
                <a:ea typeface="ヒラギノ角ゴ ProN W6"/>
              </a:rPr>
              <a:t>	</a:t>
            </a:r>
            <a:r>
              <a:rPr lang="en-US" sz="1700" spc="-1">
                <a:solidFill>
                  <a:schemeClr val="dk1"/>
                </a:solidFill>
                <a:latin typeface="Courier New Bold"/>
                <a:ea typeface="Courier New Bold"/>
              </a:rPr>
              <a:t>192.168.10.3</a:t>
            </a:r>
            <a:endParaRPr lang="en-US" sz="1700" spc="-1">
              <a:solidFill>
                <a:schemeClr val="dk1"/>
              </a:solidFill>
              <a:latin typeface="Gill Sans"/>
            </a:endParaRPr>
          </a:p>
          <a:p>
            <a:pPr marL="3051000" lvl="4" indent="-228600">
              <a:lnSpc>
                <a:spcPct val="90000"/>
              </a:lnSpc>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1700" spc="-1">
                <a:solidFill>
                  <a:schemeClr val="dk1"/>
                </a:solidFill>
                <a:latin typeface="Courier New Bold"/>
                <a:ea typeface="ヒラギノ角ゴ ProN W6"/>
              </a:rPr>
              <a:t>					</a:t>
            </a:r>
            <a:r>
              <a:rPr lang="en-US" sz="1700" spc="-1">
                <a:solidFill>
                  <a:schemeClr val="dk1"/>
                </a:solidFill>
                <a:latin typeface="Courier New Bold"/>
                <a:ea typeface="Courier New Bold"/>
              </a:rPr>
              <a:t>A</a:t>
            </a:r>
            <a:r>
              <a:rPr lang="en-US" sz="1700" spc="-1">
                <a:solidFill>
                  <a:schemeClr val="dk1"/>
                </a:solidFill>
                <a:latin typeface="Courier New Bold"/>
                <a:ea typeface="ヒラギノ角ゴ ProN W6"/>
              </a:rPr>
              <a:t>	</a:t>
            </a:r>
            <a:r>
              <a:rPr lang="en-US" sz="1700" spc="-1">
                <a:solidFill>
                  <a:schemeClr val="dk1"/>
                </a:solidFill>
                <a:latin typeface="Courier New Bold"/>
                <a:ea typeface="Courier New Bold"/>
              </a:rPr>
              <a:t>10.0.0.3</a:t>
            </a:r>
            <a:endParaRPr lang="en-US" sz="1700" spc="-1">
              <a:solidFill>
                <a:schemeClr val="dk1"/>
              </a:solidFill>
              <a:latin typeface="Gill Sans"/>
            </a:endParaRPr>
          </a:p>
          <a:p>
            <a:pPr marL="3051000" lvl="4" indent="-228600">
              <a:lnSpc>
                <a:spcPct val="90000"/>
              </a:lnSpc>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1700" spc="-1">
                <a:solidFill>
                  <a:schemeClr val="dk1"/>
                </a:solidFill>
                <a:latin typeface="Courier New Bold"/>
                <a:ea typeface="ヒラギノ角ゴ ProN W6"/>
              </a:rPr>
              <a:t>					</a:t>
            </a:r>
            <a:r>
              <a:rPr lang="en-US" sz="1700" spc="-1">
                <a:solidFill>
                  <a:schemeClr val="dk1"/>
                </a:solidFill>
                <a:latin typeface="Courier New Bold"/>
                <a:ea typeface="Courier New Bold"/>
              </a:rPr>
              <a:t>A</a:t>
            </a:r>
            <a:r>
              <a:rPr lang="en-US" sz="1700" spc="-1">
                <a:solidFill>
                  <a:schemeClr val="dk1"/>
                </a:solidFill>
                <a:latin typeface="Courier New Bold"/>
                <a:ea typeface="ヒラギノ角ゴ ProN W6"/>
              </a:rPr>
              <a:t>	</a:t>
            </a:r>
            <a:r>
              <a:rPr lang="en-US" sz="1700" spc="-1">
                <a:solidFill>
                  <a:schemeClr val="dk1"/>
                </a:solidFill>
                <a:latin typeface="Courier New Bold"/>
                <a:ea typeface="Courier New Bold"/>
              </a:rPr>
              <a:t>172.25.215.2</a:t>
            </a:r>
            <a:endParaRPr lang="en-US" sz="1700" spc="-1">
              <a:solidFill>
                <a:schemeClr val="dk1"/>
              </a:solidFill>
              <a:latin typeface="Gill Sans"/>
            </a:endParaRPr>
          </a:p>
          <a:p>
            <a:pPr>
              <a:spcBef>
                <a:spcPts val="799"/>
              </a:spcBef>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endParaRPr lang="en-US" sz="14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600" spc="-1">
                <a:solidFill>
                  <a:schemeClr val="dk1"/>
                </a:solidFill>
                <a:latin typeface="Gill Sans"/>
                <a:ea typeface="ヒラギノ角ゴ ProN W3"/>
              </a:rPr>
              <a:t>RRsets are the atomic data units in the DNS</a:t>
            </a:r>
            <a:endParaRPr lang="en-US" sz="26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600" spc="-1">
                <a:solidFill>
                  <a:schemeClr val="dk1"/>
                </a:solidFill>
                <a:latin typeface="Gill Sans"/>
                <a:ea typeface="ヒラギノ角ゴ ProN W3"/>
              </a:rPr>
              <a:t>RRsets are signed, not the individual RRs</a:t>
            </a:r>
            <a:endParaRPr lang="en-US" sz="26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4653460"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5800" spc="-1">
                <a:solidFill>
                  <a:srgbClr val="275742"/>
                </a:solidFill>
                <a:latin typeface="Gill Sans"/>
                <a:ea typeface="ヒラギノ角ゴ ProN W3"/>
              </a:rPr>
              <a:t>DNSKEY RDATA</a:t>
            </a:r>
            <a:endParaRPr lang="en-US" sz="5800" spc="-1">
              <a:solidFill>
                <a:srgbClr val="000000"/>
              </a:solidFill>
              <a:latin typeface="Times New Roman"/>
            </a:endParaRPr>
          </a:p>
        </p:txBody>
      </p:sp>
      <p:sp>
        <p:nvSpPr>
          <p:cNvPr id="1279991268" name="PlaceHolder 2"/>
          <p:cNvSpPr>
            <a:spLocks noGrp="1"/>
          </p:cNvSpPr>
          <p:nvPr>
            <p:ph/>
          </p:nvPr>
        </p:nvSpPr>
        <p:spPr bwMode="auto">
          <a:xfrm>
            <a:off x="1676280" y="1498680"/>
            <a:ext cx="7353000" cy="264132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16 bits: FLAGS</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8 bits: protocol</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8 bits: algorithm</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N*32 bits: public key</a:t>
            </a:r>
            <a:endParaRPr lang="en-US" sz="2800" spc="-1">
              <a:solidFill>
                <a:schemeClr val="dk1"/>
              </a:solidFill>
              <a:latin typeface="Gill Sans"/>
            </a:endParaRPr>
          </a:p>
        </p:txBody>
      </p:sp>
      <p:sp>
        <p:nvSpPr>
          <p:cNvPr id="1244712926" name="Rectangle 3"/>
          <p:cNvSpPr/>
          <p:nvPr/>
        </p:nvSpPr>
        <p:spPr bwMode="auto">
          <a:xfrm>
            <a:off x="1435440" y="4307107"/>
            <a:ext cx="8501558" cy="1723549"/>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nSpc>
                <a:spcPct val="100000"/>
              </a:lnSpc>
              <a:defRPr/>
            </a:pPr>
            <a:r>
              <a:rPr lang="en-US" sz="2800" b="1" spc="-1">
                <a:solidFill>
                  <a:schemeClr val="dk1"/>
                </a:solidFill>
                <a:latin typeface="Courier New"/>
                <a:ea typeface="Courier New"/>
              </a:rPr>
              <a:t>nlnetlabs.nl. 3600 IN DNSKEY	256 3 5 (</a:t>
            </a:r>
            <a:endParaRPr lang="en-US" sz="2800" spc="-1">
              <a:solidFill>
                <a:srgbClr val="000000"/>
              </a:solidFill>
              <a:latin typeface="Arial"/>
            </a:endParaRPr>
          </a:p>
          <a:p>
            <a:pPr marL="2057400">
              <a:defRPr/>
            </a:pPr>
            <a:r>
              <a:rPr lang="en-US" sz="2800" b="1" spc="-1">
                <a:solidFill>
                  <a:schemeClr val="dk1"/>
                </a:solidFill>
                <a:latin typeface="Courier New"/>
                <a:ea typeface="Courier New"/>
              </a:rPr>
              <a:t>AQOvhvXXU61Pr8sCwELcqqq1g4JJ</a:t>
            </a:r>
            <a:endParaRPr lang="en-US" sz="2800" spc="-1">
              <a:solidFill>
                <a:srgbClr val="000000"/>
              </a:solidFill>
              <a:latin typeface="Arial"/>
            </a:endParaRPr>
          </a:p>
          <a:p>
            <a:pPr marL="685800">
              <a:defRPr/>
            </a:pPr>
            <a:r>
              <a:rPr lang="en-US" sz="2800" b="1" spc="-1">
                <a:solidFill>
                  <a:schemeClr val="dk1"/>
                </a:solidFill>
                <a:latin typeface="Courier New"/>
                <a:ea typeface="Courier New"/>
              </a:rPr>
              <a:t>		CALG4C9EtraBKVd+vGIF/unwigfLOA</a:t>
            </a:r>
            <a:endParaRPr lang="en-US" sz="2800" spc="-1">
              <a:solidFill>
                <a:srgbClr val="000000"/>
              </a:solidFill>
              <a:latin typeface="Arial"/>
            </a:endParaRPr>
          </a:p>
          <a:p>
            <a:pPr marL="685800">
              <a:defRPr/>
            </a:pPr>
            <a:r>
              <a:rPr lang="en-US" sz="2800" b="1" spc="-1">
                <a:solidFill>
                  <a:schemeClr val="dk1"/>
                </a:solidFill>
                <a:latin typeface="Courier New"/>
                <a:ea typeface="Courier New"/>
              </a:rPr>
              <a:t>		O3nHp/cgGrG6gJYe8OWKYNgq3kDChN)</a:t>
            </a:r>
            <a:endParaRPr lang="en-US" sz="2800" spc="-1">
              <a:solidFill>
                <a:srgbClr val="000000"/>
              </a:solidFill>
              <a:latin typeface="Arial"/>
            </a:endParaRPr>
          </a:p>
        </p:txBody>
      </p:sp>
      <p:sp>
        <p:nvSpPr>
          <p:cNvPr id="1408884644" name="Rectangle 4"/>
          <p:cNvSpPr/>
          <p:nvPr/>
        </p:nvSpPr>
        <p:spPr bwMode="auto">
          <a:xfrm>
            <a:off x="8043960" y="4378320"/>
            <a:ext cx="659879" cy="329760"/>
          </a:xfrm>
          <a:prstGeom prst="rect">
            <a:avLst/>
          </a:prstGeom>
          <a:solidFill>
            <a:srgbClr val="2A5947">
              <a:alpha val="50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803150666" name="Rectangle 5"/>
          <p:cNvSpPr/>
          <p:nvPr/>
        </p:nvSpPr>
        <p:spPr bwMode="auto">
          <a:xfrm>
            <a:off x="8864760" y="4378320"/>
            <a:ext cx="291600" cy="329760"/>
          </a:xfrm>
          <a:prstGeom prst="rect">
            <a:avLst/>
          </a:prstGeom>
          <a:solidFill>
            <a:srgbClr val="2A5947">
              <a:alpha val="50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1825321012" name="Rectangle 6"/>
          <p:cNvSpPr/>
          <p:nvPr/>
        </p:nvSpPr>
        <p:spPr bwMode="auto">
          <a:xfrm>
            <a:off x="9347160" y="4378320"/>
            <a:ext cx="291600" cy="329760"/>
          </a:xfrm>
          <a:prstGeom prst="rect">
            <a:avLst/>
          </a:prstGeom>
          <a:solidFill>
            <a:srgbClr val="2A5947">
              <a:alpha val="50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1518454833" name="Rectangle 7"/>
          <p:cNvSpPr/>
          <p:nvPr/>
        </p:nvSpPr>
        <p:spPr bwMode="auto">
          <a:xfrm>
            <a:off x="3276480" y="4800600"/>
            <a:ext cx="7162560" cy="1218960"/>
          </a:xfrm>
          <a:prstGeom prst="rect">
            <a:avLst/>
          </a:prstGeom>
          <a:solidFill>
            <a:srgbClr val="2A5947">
              <a:alpha val="50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499"/>
                                          </p:stCondLst>
                                        </p:cTn>
                                        <p:tgtEl>
                                          <p:spTgt spid="1408884644"/>
                                        </p:tgtEl>
                                        <p:attrNameLst>
                                          <p:attrName>style.visibility</p:attrName>
                                        </p:attrNameLst>
                                      </p:cBhvr>
                                      <p:to>
                                        <p:strVal val="visible"/>
                                      </p:to>
                                    </p:set>
                                  </p:childTnLst>
                                </p:cTn>
                              </p:par>
                            </p:childTnLst>
                          </p:cTn>
                        </p:par>
                      </p:childTnLst>
                    </p:cTn>
                  </p:par>
                  <p:par>
                    <p:cTn id="7" fill="hold" nodeType="clickEffect">
                      <p:stCondLst>
                        <p:cond delay="indefinite"/>
                      </p:stCondLst>
                      <p:childTnLst>
                        <p:par>
                          <p:cTn id="8" fill="hold" nodeType="withEffect">
                            <p:stCondLst>
                              <p:cond delay="0"/>
                            </p:stCondLst>
                            <p:childTnLst>
                              <p:par>
                                <p:cTn id="9" presetID="1" presetClass="entr" fill="hold" nodeType="clickEffect">
                                  <p:stCondLst>
                                    <p:cond delay="0"/>
                                  </p:stCondLst>
                                  <p:childTnLst>
                                    <p:set>
                                      <p:cBhvr>
                                        <p:cTn id="10" dur="1" fill="hold">
                                          <p:stCondLst>
                                            <p:cond delay="499"/>
                                          </p:stCondLst>
                                        </p:cTn>
                                        <p:tgtEl>
                                          <p:spTgt spid="803150666"/>
                                        </p:tgtEl>
                                        <p:attrNameLst>
                                          <p:attrName>style.visibility</p:attrName>
                                        </p:attrNameLst>
                                      </p:cBhvr>
                                      <p:to>
                                        <p:strVal val="visible"/>
                                      </p:to>
                                    </p:set>
                                  </p:childTnLst>
                                </p:cTn>
                              </p:par>
                            </p:childTnLst>
                          </p:cTn>
                        </p:par>
                      </p:childTnLst>
                    </p:cTn>
                  </p:par>
                  <p:par>
                    <p:cTn id="11" fill="hold" nodeType="clickEffect">
                      <p:stCondLst>
                        <p:cond delay="indefinite"/>
                      </p:stCondLst>
                      <p:childTnLst>
                        <p:par>
                          <p:cTn id="12" fill="hold" nodeType="withEffect">
                            <p:stCondLst>
                              <p:cond delay="0"/>
                            </p:stCondLst>
                            <p:childTnLst>
                              <p:par>
                                <p:cTn id="13" presetID="1" presetClass="entr" fill="hold" nodeType="clickEffect">
                                  <p:stCondLst>
                                    <p:cond delay="0"/>
                                  </p:stCondLst>
                                  <p:childTnLst>
                                    <p:set>
                                      <p:cBhvr>
                                        <p:cTn id="14" dur="1" fill="hold">
                                          <p:stCondLst>
                                            <p:cond delay="499"/>
                                          </p:stCondLst>
                                        </p:cTn>
                                        <p:tgtEl>
                                          <p:spTgt spid="1825321012"/>
                                        </p:tgtEl>
                                        <p:attrNameLst>
                                          <p:attrName>style.visibility</p:attrName>
                                        </p:attrNameLst>
                                      </p:cBhvr>
                                      <p:to>
                                        <p:strVal val="visible"/>
                                      </p:to>
                                    </p:set>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1" presetClass="entr" fill="hold" nodeType="clickEffect">
                                  <p:stCondLst>
                                    <p:cond delay="0"/>
                                  </p:stCondLst>
                                  <p:childTnLst>
                                    <p:set>
                                      <p:cBhvr>
                                        <p:cTn id="18" dur="1" fill="hold">
                                          <p:stCondLst>
                                            <p:cond delay="499"/>
                                          </p:stCondLst>
                                        </p:cTn>
                                        <p:tgtEl>
                                          <p:spTgt spid="15184548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1460665" name="PlaceHolder 1"/>
          <p:cNvSpPr>
            <a:spLocks noGrp="1"/>
          </p:cNvSpPr>
          <p:nvPr>
            <p:ph/>
          </p:nvPr>
        </p:nvSpPr>
        <p:spPr bwMode="auto">
          <a:xfrm>
            <a:off x="1662240" y="1139760"/>
            <a:ext cx="8091000" cy="1815840"/>
          </a:xfrm>
          <a:prstGeom prst="rect">
            <a:avLst/>
          </a:prstGeom>
          <a:noFill/>
          <a:ln w="0">
            <a:noFill/>
          </a:ln>
        </p:spPr>
        <p:txBody>
          <a:bodyPr vert="horz" lIns="0" tIns="0" rIns="41400" bIns="0" numCol="1" spcCol="0" rtlCol="0" anchor="ctr">
            <a:noAutofit/>
          </a:bodyPr>
          <a:lstStyle/>
          <a:p>
            <a:pPr marL="384120" indent="-343080">
              <a:spcBef>
                <a:spcPts val="799"/>
              </a:spcBef>
              <a:buClr>
                <a:srgbClr val="000000"/>
              </a:buClr>
              <a:buFont typeface="Gill Sans"/>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16 bits - type covered</a:t>
            </a:r>
            <a:endParaRPr lang="en-US" sz="2800" spc="-1">
              <a:solidFill>
                <a:schemeClr val="dk1"/>
              </a:solidFill>
              <a:latin typeface="Gill Sans"/>
            </a:endParaRPr>
          </a:p>
          <a:p>
            <a:pPr marL="384120" indent="-343080">
              <a:spcBef>
                <a:spcPts val="799"/>
              </a:spcBef>
              <a:buClr>
                <a:srgbClr val="000000"/>
              </a:buClr>
              <a:buFont typeface="Gill Sans"/>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8 bits - algorithm</a:t>
            </a:r>
            <a:endParaRPr lang="en-US" sz="2800" spc="-1">
              <a:solidFill>
                <a:schemeClr val="dk1"/>
              </a:solidFill>
              <a:latin typeface="Gill Sans"/>
            </a:endParaRPr>
          </a:p>
          <a:p>
            <a:pPr marL="384120" indent="-343080">
              <a:spcBef>
                <a:spcPts val="799"/>
              </a:spcBef>
              <a:buClr>
                <a:srgbClr val="000000"/>
              </a:buClr>
              <a:buFont typeface="Gill Sans"/>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8 bits - nr. labels covered (used for wildcard queries)</a:t>
            </a:r>
            <a:endParaRPr lang="en-US" sz="2800" spc="-1">
              <a:solidFill>
                <a:schemeClr val="dk1"/>
              </a:solidFill>
              <a:latin typeface="Gill Sans"/>
            </a:endParaRPr>
          </a:p>
          <a:p>
            <a:pPr marL="384120" indent="-343080">
              <a:spcBef>
                <a:spcPts val="799"/>
              </a:spcBef>
              <a:buClr>
                <a:srgbClr val="000000"/>
              </a:buClr>
              <a:buFont typeface="Gill Sans"/>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32 bits - original TTL</a:t>
            </a:r>
            <a:endParaRPr lang="en-US" sz="2800" spc="-1">
              <a:solidFill>
                <a:schemeClr val="dk1"/>
              </a:solidFill>
              <a:latin typeface="Gill Sans"/>
            </a:endParaRPr>
          </a:p>
        </p:txBody>
      </p:sp>
      <p:sp>
        <p:nvSpPr>
          <p:cNvPr id="431958459" name="Rectangle 2"/>
          <p:cNvSpPr/>
          <p:nvPr/>
        </p:nvSpPr>
        <p:spPr bwMode="auto">
          <a:xfrm>
            <a:off x="1867080" y="3035160"/>
            <a:ext cx="8889480" cy="1358640"/>
          </a:xfrm>
          <a:prstGeom prst="rect">
            <a:avLst/>
          </a:prstGeom>
          <a:noFill/>
          <a:ln w="0">
            <a:noFill/>
          </a:ln>
        </p:spPr>
        <p:style>
          <a:lnRef idx="0">
            <a:srgbClr val="000000"/>
          </a:lnRef>
          <a:fillRef idx="0">
            <a:srgbClr val="000000"/>
          </a:fillRef>
          <a:effectRef idx="0">
            <a:srgbClr val="000000"/>
          </a:effectRef>
          <a:fontRef idx="minor"/>
        </p:style>
        <p:txBody>
          <a:bodyPr lIns="0" tIns="0" rIns="41400" bIns="0" anchor="ctr">
            <a:noAutofit/>
          </a:bodyPr>
          <a:lstStyle/>
          <a:p>
            <a:pPr marL="41400">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pc="-1">
                <a:solidFill>
                  <a:schemeClr val="dk1"/>
                </a:solidFill>
                <a:latin typeface="Courier New Bold"/>
                <a:ea typeface="Courier New Bold"/>
              </a:rPr>
              <a:t>nlnetlabs.nl.  3600 IN  RRSIG   A 5  2 3600  (</a:t>
            </a:r>
            <a:endParaRPr lang="en-US" spc="-1">
              <a:solidFill>
                <a:srgbClr val="000000"/>
              </a:solidFill>
              <a:latin typeface="Arial"/>
            </a:endParaRPr>
          </a:p>
          <a:p>
            <a:pPr marL="727200">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pc="-1">
                <a:solidFill>
                  <a:schemeClr val="dk1"/>
                </a:solidFill>
                <a:latin typeface="Courier New Bold"/>
                <a:ea typeface="Monaco"/>
              </a:rPr>
              <a:t>	    20050611144523 20050511144523  3112 nlnetlabs.nl.</a:t>
            </a:r>
            <a:endParaRPr lang="en-US" spc="-1">
              <a:solidFill>
                <a:srgbClr val="000000"/>
              </a:solidFill>
              <a:latin typeface="Arial"/>
            </a:endParaRPr>
          </a:p>
          <a:p>
            <a:pPr marL="41400">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pc="-1">
                <a:solidFill>
                  <a:schemeClr val="dk1"/>
                </a:solidFill>
                <a:latin typeface="Courier New Bold"/>
                <a:ea typeface="Courier New Bold"/>
              </a:rPr>
              <a:t>           VJ+8ijXvbrTLeoAiEk/qMrdudRnYZM1VlqhN</a:t>
            </a:r>
            <a:endParaRPr lang="en-US" spc="-1">
              <a:solidFill>
                <a:srgbClr val="000000"/>
              </a:solidFill>
              <a:latin typeface="Arial"/>
            </a:endParaRPr>
          </a:p>
          <a:p>
            <a:pPr marL="41400">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pc="-1">
                <a:solidFill>
                  <a:schemeClr val="dk1"/>
                </a:solidFill>
                <a:latin typeface="Courier New Bold"/>
                <a:ea typeface="Courier New Bold"/>
              </a:rPr>
              <a:t>           vhYuAcYKe2X/jqYfMfjfSUrmhPo+0/GOZjW</a:t>
            </a:r>
            <a:endParaRPr lang="en-US" spc="-1">
              <a:solidFill>
                <a:srgbClr val="000000"/>
              </a:solidFill>
              <a:latin typeface="Arial"/>
            </a:endParaRPr>
          </a:p>
          <a:p>
            <a:pPr marL="41400">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pc="-1">
                <a:solidFill>
                  <a:schemeClr val="dk1"/>
                </a:solidFill>
                <a:latin typeface="Courier New Bold"/>
                <a:ea typeface="Courier New Bold"/>
              </a:rPr>
              <a:t>           66DJubZPmNSYXw== )</a:t>
            </a:r>
            <a:endParaRPr lang="en-US" spc="-1">
              <a:solidFill>
                <a:srgbClr val="000000"/>
              </a:solidFill>
              <a:latin typeface="Arial"/>
            </a:endParaRPr>
          </a:p>
        </p:txBody>
      </p:sp>
      <p:sp>
        <p:nvSpPr>
          <p:cNvPr id="8119549" name="PlaceHolder 2"/>
          <p:cNvSpPr>
            <a:spLocks noGrp="1"/>
          </p:cNvSpPr>
          <p:nvPr>
            <p:ph type="title"/>
          </p:nvPr>
        </p:nvSpPr>
        <p:spPr bwMode="auto">
          <a:xfrm>
            <a:off x="2209800" y="76320"/>
            <a:ext cx="7772039" cy="1142640"/>
          </a:xfrm>
          <a:prstGeom prst="rect">
            <a:avLst/>
          </a:prstGeom>
          <a:noFill/>
          <a:ln w="0">
            <a:noFill/>
          </a:ln>
          <a:effectLst>
            <a:outerShdw blurRad="127080" dist="75858" dir="2700000" rotWithShape="0">
              <a:srgbClr val="000000">
                <a:alpha val="75000"/>
              </a:srgbClr>
            </a:outerShdw>
          </a:effectLst>
        </p:spPr>
        <p:txBody>
          <a:bodyPr vert="horz" lIns="50760" tIns="50760" rIns="41400" bIns="50760" numCol="1" spcCol="0" rtlCol="0" anchor="ctr">
            <a:noAutofit/>
          </a:bodyPr>
          <a:lstStyle/>
          <a:p>
            <a:pPr marL="41400" algn="ctr">
              <a:lnSpc>
                <a:spcPct val="100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5800" spc="-1">
                <a:solidFill>
                  <a:srgbClr val="275742"/>
                </a:solidFill>
                <a:latin typeface="Gill Sans"/>
                <a:ea typeface="ヒラギノ角ゴ ProN W3"/>
              </a:rPr>
              <a:t>RRSIG RDATA</a:t>
            </a:r>
            <a:endParaRPr lang="en-US" sz="5800" spc="-1">
              <a:solidFill>
                <a:srgbClr val="000000"/>
              </a:solidFill>
              <a:latin typeface="Times New Roman"/>
            </a:endParaRPr>
          </a:p>
        </p:txBody>
      </p:sp>
      <p:sp>
        <p:nvSpPr>
          <p:cNvPr id="1443022534" name="Rectangle 4"/>
          <p:cNvSpPr/>
          <p:nvPr/>
        </p:nvSpPr>
        <p:spPr bwMode="auto">
          <a:xfrm>
            <a:off x="1695360" y="4470480"/>
            <a:ext cx="4368600" cy="1650600"/>
          </a:xfrm>
          <a:prstGeom prst="rect">
            <a:avLst/>
          </a:prstGeom>
          <a:noFill/>
          <a:ln w="0">
            <a:noFill/>
          </a:ln>
        </p:spPr>
        <p:style>
          <a:lnRef idx="0">
            <a:srgbClr val="000000"/>
          </a:lnRef>
          <a:fillRef idx="0">
            <a:srgbClr val="000000"/>
          </a:fillRef>
          <a:effectRef idx="0">
            <a:srgbClr val="000000"/>
          </a:effectRef>
          <a:fontRef idx="minor"/>
        </p:style>
        <p:txBody>
          <a:bodyPr lIns="0" tIns="0" rIns="41400" bIns="0" anchor="ctr">
            <a:noAutofit/>
          </a:bodyPr>
          <a:lstStyle/>
          <a:p>
            <a:pPr marL="324000" indent="-282600">
              <a:lnSpc>
                <a:spcPct val="90000"/>
              </a:lnSpc>
              <a:spcBef>
                <a:spcPts val="601"/>
              </a:spcBef>
              <a:buClr>
                <a:srgbClr val="000000"/>
              </a:buClr>
              <a:buFont typeface="Gill Sans"/>
              <a:buChar char="•"/>
              <a:tabLst>
                <a:tab pos="431640" algn="l"/>
                <a:tab pos="876240" algn="l"/>
                <a:tab pos="1333440" algn="l"/>
                <a:tab pos="1778040" algn="l"/>
                <a:tab pos="2222640" algn="l"/>
                <a:tab pos="2679840" algn="l"/>
                <a:tab pos="3124080" algn="l"/>
                <a:tab pos="3581280" algn="l"/>
                <a:tab pos="4025880" algn="l"/>
                <a:tab pos="4470480" algn="l"/>
                <a:tab pos="4927680" algn="l"/>
                <a:tab pos="5372280" algn="l"/>
                <a:tab pos="5816520" algn="l"/>
                <a:tab pos="6273720" algn="l"/>
                <a:tab pos="6718320" algn="l"/>
                <a:tab pos="7175520" algn="l"/>
                <a:tab pos="7620120" algn="l"/>
                <a:tab pos="8064360" algn="l"/>
                <a:tab pos="8521560" algn="l"/>
                <a:tab pos="8966160" algn="l"/>
                <a:tab pos="9182160" algn="l"/>
              </a:tabLst>
              <a:defRPr/>
            </a:pPr>
            <a:r>
              <a:rPr lang="en-US" sz="2400" spc="-1">
                <a:solidFill>
                  <a:schemeClr val="dk1"/>
                </a:solidFill>
                <a:latin typeface="Gill Sans"/>
                <a:ea typeface="Gill Sans"/>
              </a:rPr>
              <a:t>32 bit - signature expiration</a:t>
            </a:r>
            <a:endParaRPr lang="en-US" sz="2400" spc="-1">
              <a:solidFill>
                <a:srgbClr val="000000"/>
              </a:solidFill>
              <a:latin typeface="Arial"/>
            </a:endParaRPr>
          </a:p>
          <a:p>
            <a:pPr marL="324000" indent="-282600">
              <a:lnSpc>
                <a:spcPct val="90000"/>
              </a:lnSpc>
              <a:spcBef>
                <a:spcPts val="601"/>
              </a:spcBef>
              <a:buClr>
                <a:srgbClr val="000000"/>
              </a:buClr>
              <a:buFont typeface="Gill Sans"/>
              <a:buChar char="•"/>
              <a:tabLst>
                <a:tab pos="431640" algn="l"/>
                <a:tab pos="876240" algn="l"/>
                <a:tab pos="1333440" algn="l"/>
                <a:tab pos="1778040" algn="l"/>
                <a:tab pos="2222640" algn="l"/>
                <a:tab pos="2679840" algn="l"/>
                <a:tab pos="3124080" algn="l"/>
                <a:tab pos="3581280" algn="l"/>
                <a:tab pos="4025880" algn="l"/>
                <a:tab pos="4470480" algn="l"/>
                <a:tab pos="4927680" algn="l"/>
                <a:tab pos="5372280" algn="l"/>
                <a:tab pos="5816520" algn="l"/>
                <a:tab pos="6273720" algn="l"/>
                <a:tab pos="6718320" algn="l"/>
                <a:tab pos="7175520" algn="l"/>
                <a:tab pos="7620120" algn="l"/>
                <a:tab pos="8064360" algn="l"/>
                <a:tab pos="8521560" algn="l"/>
                <a:tab pos="8966160" algn="l"/>
                <a:tab pos="9182160" algn="l"/>
              </a:tabLst>
              <a:defRPr/>
            </a:pPr>
            <a:r>
              <a:rPr lang="en-US" sz="2400" spc="-1">
                <a:solidFill>
                  <a:schemeClr val="dk1"/>
                </a:solidFill>
                <a:latin typeface="Gill Sans"/>
                <a:ea typeface="Gill Sans"/>
              </a:rPr>
              <a:t>32 bit - signature inception</a:t>
            </a:r>
            <a:endParaRPr lang="en-US" sz="2400" spc="-1">
              <a:solidFill>
                <a:srgbClr val="000000"/>
              </a:solidFill>
              <a:latin typeface="Arial"/>
            </a:endParaRPr>
          </a:p>
          <a:p>
            <a:pPr marL="324000" indent="-282600">
              <a:lnSpc>
                <a:spcPct val="90000"/>
              </a:lnSpc>
              <a:spcBef>
                <a:spcPts val="601"/>
              </a:spcBef>
              <a:buClr>
                <a:srgbClr val="000000"/>
              </a:buClr>
              <a:buFont typeface="Gill Sans"/>
              <a:buChar char="•"/>
              <a:tabLst>
                <a:tab pos="431640" algn="l"/>
                <a:tab pos="876240" algn="l"/>
                <a:tab pos="1333440" algn="l"/>
                <a:tab pos="1778040" algn="l"/>
                <a:tab pos="2222640" algn="l"/>
                <a:tab pos="2679840" algn="l"/>
                <a:tab pos="3124080" algn="l"/>
                <a:tab pos="3581280" algn="l"/>
                <a:tab pos="4025880" algn="l"/>
                <a:tab pos="4470480" algn="l"/>
                <a:tab pos="4927680" algn="l"/>
                <a:tab pos="5372280" algn="l"/>
                <a:tab pos="5816520" algn="l"/>
                <a:tab pos="6273720" algn="l"/>
                <a:tab pos="6718320" algn="l"/>
                <a:tab pos="7175520" algn="l"/>
                <a:tab pos="7620120" algn="l"/>
                <a:tab pos="8064360" algn="l"/>
                <a:tab pos="8521560" algn="l"/>
                <a:tab pos="8966160" algn="l"/>
                <a:tab pos="9182160" algn="l"/>
              </a:tabLst>
              <a:defRPr/>
            </a:pPr>
            <a:r>
              <a:rPr lang="en-US" sz="2400" spc="-1">
                <a:solidFill>
                  <a:schemeClr val="dk1"/>
                </a:solidFill>
                <a:latin typeface="Gill Sans"/>
                <a:ea typeface="Gill Sans"/>
              </a:rPr>
              <a:t>16 bit - key tag</a:t>
            </a:r>
            <a:endParaRPr lang="en-US" sz="2400" spc="-1">
              <a:solidFill>
                <a:srgbClr val="000000"/>
              </a:solidFill>
              <a:latin typeface="Arial"/>
            </a:endParaRPr>
          </a:p>
          <a:p>
            <a:pPr marL="324000" indent="-282600">
              <a:lnSpc>
                <a:spcPct val="90000"/>
              </a:lnSpc>
              <a:spcBef>
                <a:spcPts val="601"/>
              </a:spcBef>
              <a:buClr>
                <a:srgbClr val="000000"/>
              </a:buClr>
              <a:buFont typeface="Gill Sans"/>
              <a:buChar char="•"/>
              <a:tabLst>
                <a:tab pos="431640" algn="l"/>
                <a:tab pos="876240" algn="l"/>
                <a:tab pos="1333440" algn="l"/>
                <a:tab pos="1778040" algn="l"/>
                <a:tab pos="2222640" algn="l"/>
                <a:tab pos="2679840" algn="l"/>
                <a:tab pos="3124080" algn="l"/>
                <a:tab pos="3581280" algn="l"/>
                <a:tab pos="4025880" algn="l"/>
                <a:tab pos="4470480" algn="l"/>
                <a:tab pos="4927680" algn="l"/>
                <a:tab pos="5372280" algn="l"/>
                <a:tab pos="5816520" algn="l"/>
                <a:tab pos="6273720" algn="l"/>
                <a:tab pos="6718320" algn="l"/>
                <a:tab pos="7175520" algn="l"/>
                <a:tab pos="7620120" algn="l"/>
                <a:tab pos="8064360" algn="l"/>
                <a:tab pos="8521560" algn="l"/>
                <a:tab pos="8966160" algn="l"/>
                <a:tab pos="9182160" algn="l"/>
              </a:tabLst>
              <a:defRPr/>
            </a:pPr>
            <a:r>
              <a:rPr lang="en-US" sz="2400" spc="-1">
                <a:solidFill>
                  <a:schemeClr val="dk1"/>
                </a:solidFill>
                <a:latin typeface="Gill Sans"/>
                <a:ea typeface="Gill Sans"/>
              </a:rPr>
              <a:t>signer’s name</a:t>
            </a:r>
            <a:endParaRPr lang="en-US" sz="2400" spc="-1">
              <a:solidFill>
                <a:srgbClr val="000000"/>
              </a:solidFill>
              <a:latin typeface="Arial"/>
            </a:endParaRPr>
          </a:p>
        </p:txBody>
      </p:sp>
      <p:sp>
        <p:nvSpPr>
          <p:cNvPr id="1370067836" name="Rectangle 8"/>
          <p:cNvSpPr/>
          <p:nvPr/>
        </p:nvSpPr>
        <p:spPr bwMode="auto">
          <a:xfrm>
            <a:off x="7543920" y="3263760"/>
            <a:ext cx="609120" cy="317160"/>
          </a:xfrm>
          <a:prstGeom prst="rect">
            <a:avLst/>
          </a:prstGeom>
          <a:solidFill>
            <a:srgbClr val="2A5947">
              <a:alpha val="50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1043632319" name="Rectangle 9"/>
          <p:cNvSpPr/>
          <p:nvPr/>
        </p:nvSpPr>
        <p:spPr bwMode="auto">
          <a:xfrm>
            <a:off x="3403560" y="3263760"/>
            <a:ext cx="1942920" cy="317160"/>
          </a:xfrm>
          <a:prstGeom prst="rect">
            <a:avLst/>
          </a:prstGeom>
          <a:solidFill>
            <a:srgbClr val="2A5947">
              <a:alpha val="50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893131278" name="Rectangle 11"/>
          <p:cNvSpPr/>
          <p:nvPr/>
        </p:nvSpPr>
        <p:spPr bwMode="auto">
          <a:xfrm>
            <a:off x="5422800" y="3314880"/>
            <a:ext cx="1942920" cy="266400"/>
          </a:xfrm>
          <a:prstGeom prst="rect">
            <a:avLst/>
          </a:prstGeom>
          <a:solidFill>
            <a:srgbClr val="2A5947">
              <a:alpha val="50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499"/>
                                          </p:stCondLst>
                                        </p:cTn>
                                        <p:tgtEl>
                                          <p:spTgt spid="1370067836"/>
                                        </p:tgtEl>
                                        <p:attrNameLst>
                                          <p:attrName>style.visibility</p:attrName>
                                        </p:attrNameLst>
                                      </p:cBhvr>
                                      <p:to>
                                        <p:strVal val="visible"/>
                                      </p:to>
                                    </p:set>
                                  </p:childTnLst>
                                </p:cTn>
                              </p:par>
                            </p:childTnLst>
                          </p:cTn>
                        </p:par>
                      </p:childTnLst>
                    </p:cTn>
                  </p:par>
                  <p:par>
                    <p:cTn id="7" fill="hold" nodeType="clickEffect">
                      <p:stCondLst>
                        <p:cond delay="indefinite"/>
                      </p:stCondLst>
                      <p:childTnLst>
                        <p:par>
                          <p:cTn id="8" fill="hold" nodeType="withEffect">
                            <p:stCondLst>
                              <p:cond delay="0"/>
                            </p:stCondLst>
                            <p:childTnLst>
                              <p:par>
                                <p:cTn id="9" presetID="1" presetClass="entr" fill="hold" nodeType="clickEffect">
                                  <p:stCondLst>
                                    <p:cond delay="0"/>
                                  </p:stCondLst>
                                  <p:childTnLst>
                                    <p:set>
                                      <p:cBhvr>
                                        <p:cTn id="10" dur="1" fill="hold">
                                          <p:stCondLst>
                                            <p:cond delay="499"/>
                                          </p:stCondLst>
                                        </p:cTn>
                                        <p:tgtEl>
                                          <p:spTgt spid="1043632319"/>
                                        </p:tgtEl>
                                        <p:attrNameLst>
                                          <p:attrName>style.visibility</p:attrName>
                                        </p:attrNameLst>
                                      </p:cBhvr>
                                      <p:to>
                                        <p:strVal val="visible"/>
                                      </p:to>
                                    </p:set>
                                  </p:childTnLst>
                                </p:cTn>
                              </p:par>
                            </p:childTnLst>
                          </p:cTn>
                        </p:par>
                      </p:childTnLst>
                    </p:cTn>
                  </p:par>
                  <p:par>
                    <p:cTn id="11" fill="hold" nodeType="clickEffect">
                      <p:stCondLst>
                        <p:cond delay="indefinite"/>
                      </p:stCondLst>
                      <p:childTnLst>
                        <p:par>
                          <p:cTn id="12" fill="hold" nodeType="withEffect">
                            <p:stCondLst>
                              <p:cond delay="0"/>
                            </p:stCondLst>
                            <p:childTnLst>
                              <p:par>
                                <p:cTn id="13" presetID="1" presetClass="entr" fill="hold" nodeType="clickEffect">
                                  <p:stCondLst>
                                    <p:cond delay="0"/>
                                  </p:stCondLst>
                                  <p:childTnLst>
                                    <p:set>
                                      <p:cBhvr>
                                        <p:cTn id="14" dur="1" fill="hold">
                                          <p:stCondLst>
                                            <p:cond delay="499"/>
                                          </p:stCondLst>
                                        </p:cTn>
                                        <p:tgtEl>
                                          <p:spTgt spid="893131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7991178"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5800" spc="-1">
                <a:solidFill>
                  <a:srgbClr val="275742"/>
                </a:solidFill>
                <a:latin typeface="Gill Sans"/>
                <a:ea typeface="ヒラギノ角ゴ ProN W3"/>
              </a:rPr>
              <a:t>Validate Public Keys</a:t>
            </a:r>
            <a:endParaRPr lang="en-US" sz="5800" spc="-1">
              <a:solidFill>
                <a:srgbClr val="000000"/>
              </a:solidFill>
              <a:latin typeface="Times New Roman"/>
            </a:endParaRPr>
          </a:p>
        </p:txBody>
      </p:sp>
      <p:sp>
        <p:nvSpPr>
          <p:cNvPr id="1593611217"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600" spc="-1">
                <a:solidFill>
                  <a:schemeClr val="dk1"/>
                </a:solidFill>
                <a:latin typeface="Gill Sans"/>
                <a:ea typeface="ヒラギノ角ゴ ProN W3"/>
              </a:rPr>
              <a:t>Make sure you get them from the appropriate entity and configure them as trust-anchors</a:t>
            </a:r>
            <a:endParaRPr lang="en-US" sz="26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600" spc="-1">
                <a:solidFill>
                  <a:schemeClr val="dk1"/>
                </a:solidFill>
                <a:latin typeface="Gill Sans"/>
                <a:ea typeface="ヒラギノ角ゴ ProN W3"/>
              </a:rPr>
              <a:t>If you validate against the wrong public key there is a problem again</a:t>
            </a:r>
            <a:endParaRPr lang="en-US" sz="26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600" spc="-1">
                <a:solidFill>
                  <a:schemeClr val="dk1"/>
                </a:solidFill>
                <a:latin typeface="Gill Sans"/>
                <a:ea typeface="ヒラギノ角ゴ ProN W3"/>
              </a:rPr>
              <a:t>For DNSSEC: key distribution through the DNS</a:t>
            </a:r>
            <a:endParaRPr lang="en-US" sz="2600" spc="-1">
              <a:solidFill>
                <a:schemeClr val="dk1"/>
              </a:solidFill>
              <a:latin typeface="Gill Sans"/>
            </a:endParaRPr>
          </a:p>
          <a:p>
            <a:pPr marL="1015920" lvl="1" indent="-254160">
              <a:spcBef>
                <a:spcPts val="799"/>
              </a:spcBef>
              <a:buClr>
                <a:srgbClr val="000000"/>
              </a:buClr>
              <a:buFont typeface="Gill Sans"/>
              <a:buChar char="•"/>
              <a:defRPr/>
            </a:pPr>
            <a:r>
              <a:rPr lang="en-US" sz="2600" spc="-1">
                <a:solidFill>
                  <a:schemeClr val="dk1"/>
                </a:solidFill>
                <a:latin typeface="Gill Sans"/>
                <a:ea typeface="ヒラギノ角ゴ ProN W3"/>
              </a:rPr>
              <a:t>Ideally only one key needed: that of the root of the DNS hierarchy (more on that later)</a:t>
            </a:r>
            <a:endParaRPr lang="en-US" sz="26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5674965" name="PlaceHolder 1"/>
          <p:cNvSpPr>
            <a:spLocks noGrp="1"/>
          </p:cNvSpPr>
          <p:nvPr>
            <p:ph type="title"/>
          </p:nvPr>
        </p:nvSpPr>
        <p:spPr bwMode="auto">
          <a:xfrm>
            <a:off x="2068680" y="816120"/>
            <a:ext cx="8098920" cy="3627000"/>
          </a:xfrm>
          <a:prstGeom prst="rect">
            <a:avLst/>
          </a:prstGeom>
          <a:noFill/>
          <a:ln w="0">
            <a:noFill/>
          </a:ln>
        </p:spPr>
        <p:txBody>
          <a:bodyPr vert="horz" lIns="50760" tIns="50760" rIns="39240" bIns="50760" numCol="1" spcCol="0" rtlCol="0" anchor="b">
            <a:noAutofit/>
          </a:bodyPr>
          <a:lstStyle/>
          <a:p>
            <a:pPr marL="38160" algn="ctr">
              <a:lnSpc>
                <a:spcPct val="100000"/>
              </a:lnSpc>
              <a:tabLst>
                <a:tab pos="38160" algn="l"/>
                <a:tab pos="482760" algn="l"/>
                <a:tab pos="939960" algn="l"/>
                <a:tab pos="1384200" algn="l"/>
                <a:tab pos="1828800" algn="l"/>
                <a:tab pos="2286000" algn="l"/>
                <a:tab pos="2730600" algn="l"/>
                <a:tab pos="3187800" algn="l"/>
                <a:tab pos="3632040" algn="l"/>
                <a:tab pos="4076640" algn="l"/>
                <a:tab pos="4533840" algn="l"/>
                <a:tab pos="4978440" algn="l"/>
                <a:tab pos="5423039" algn="l"/>
                <a:tab pos="5880240" algn="l"/>
                <a:tab pos="6324480" algn="l"/>
                <a:tab pos="6781680" algn="l"/>
                <a:tab pos="7226280" algn="l"/>
                <a:tab pos="7670880" algn="l"/>
                <a:tab pos="8128080" algn="l"/>
                <a:tab pos="8572680" algn="l"/>
                <a:tab pos="9016920" algn="l"/>
                <a:tab pos="9182160" algn="l"/>
              </a:tabLst>
              <a:defRPr/>
            </a:pPr>
            <a:r>
              <a:rPr lang="en-US" sz="7200" spc="-1">
                <a:solidFill>
                  <a:schemeClr val="dk1"/>
                </a:solidFill>
                <a:latin typeface="Gill Sans"/>
                <a:ea typeface="ヒラギノ角ゴ ProN W3"/>
              </a:rPr>
              <a:t>Delegating Signing Authority</a:t>
            </a:r>
            <a:endParaRPr lang="en-US" sz="7200" spc="-1">
              <a:solidFill>
                <a:srgbClr val="000000"/>
              </a:solidFill>
              <a:latin typeface="Times New Roman"/>
            </a:endParaRPr>
          </a:p>
        </p:txBody>
      </p:sp>
      <p:sp>
        <p:nvSpPr>
          <p:cNvPr id="1526482128" name="PlaceHolder 2"/>
          <p:cNvSpPr>
            <a:spLocks noGrp="1"/>
          </p:cNvSpPr>
          <p:nvPr>
            <p:ph/>
          </p:nvPr>
        </p:nvSpPr>
        <p:spPr bwMode="auto">
          <a:xfrm>
            <a:off x="2895600" y="4646520"/>
            <a:ext cx="6400440" cy="2211120"/>
          </a:xfrm>
          <a:prstGeom prst="rect">
            <a:avLst/>
          </a:prstGeom>
          <a:noFill/>
          <a:ln w="0">
            <a:noFill/>
          </a:ln>
        </p:spPr>
        <p:txBody>
          <a:bodyPr vert="horz" lIns="50760" tIns="50760" rIns="39240" bIns="50760" numCol="1" spcCol="0" rtlCol="0" anchor="t">
            <a:noAutofit/>
          </a:bodyPr>
          <a:lstStyle/>
          <a:p>
            <a:pPr marL="38160" algn="ctr">
              <a:lnSpc>
                <a:spcPct val="100000"/>
              </a:lnSpc>
              <a:tabLst>
                <a:tab pos="38160" algn="l"/>
                <a:tab pos="482760" algn="l"/>
                <a:tab pos="939960" algn="l"/>
                <a:tab pos="1384200" algn="l"/>
                <a:tab pos="1828800" algn="l"/>
                <a:tab pos="2286000" algn="l"/>
                <a:tab pos="2730600" algn="l"/>
                <a:tab pos="3187800" algn="l"/>
                <a:tab pos="3632040" algn="l"/>
                <a:tab pos="4076640" algn="l"/>
                <a:tab pos="4533840" algn="l"/>
                <a:tab pos="4978440" algn="l"/>
                <a:tab pos="5423039" algn="l"/>
                <a:tab pos="5880240" algn="l"/>
                <a:tab pos="6324480" algn="l"/>
                <a:tab pos="6781680" algn="l"/>
                <a:tab pos="7226280" algn="l"/>
                <a:tab pos="7670880" algn="l"/>
                <a:tab pos="8128080" algn="l"/>
                <a:tab pos="8572680" algn="l"/>
                <a:tab pos="9016920" algn="l"/>
                <a:tab pos="9182160" algn="l"/>
              </a:tabLst>
              <a:defRPr/>
            </a:pPr>
            <a:r>
              <a:rPr lang="en-US" sz="5400" spc="-1">
                <a:solidFill>
                  <a:schemeClr val="dk1"/>
                </a:solidFill>
                <a:latin typeface="Gill Sans"/>
                <a:ea typeface="ヒラギノ角ゴ ProN W3"/>
              </a:rPr>
              <a:t>Chains of Trust</a:t>
            </a:r>
            <a:endParaRPr lang="en-US" sz="54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3840632" name="PlaceHolder 1"/>
          <p:cNvSpPr>
            <a:spLocks noGrp="1"/>
          </p:cNvSpPr>
          <p:nvPr>
            <p:ph type="title"/>
          </p:nvPr>
        </p:nvSpPr>
        <p:spPr bwMode="auto">
          <a:xfrm>
            <a:off x="2565480" y="0"/>
            <a:ext cx="7829280" cy="971280"/>
          </a:xfrm>
          <a:prstGeom prst="rect">
            <a:avLst/>
          </a:prstGeom>
          <a:noFill/>
          <a:ln w="0">
            <a:noFill/>
          </a:ln>
          <a:effectLst>
            <a:outerShdw blurRad="127080" dist="75858" dir="2700000" rotWithShape="0">
              <a:srgbClr val="000000">
                <a:alpha val="75000"/>
              </a:srgbClr>
            </a:outerShdw>
          </a:effectLst>
        </p:spPr>
        <p:txBody>
          <a:bodyPr vert="horz" lIns="50760" tIns="50760" rIns="41400" bIns="50760" numCol="1" spcCol="0" rtlCol="0" anchor="ctr">
            <a:noAutofit/>
          </a:bodyPr>
          <a:lstStyle/>
          <a:p>
            <a:pPr marL="41400" algn="ctr">
              <a:lnSpc>
                <a:spcPct val="100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pc="-1">
                <a:solidFill>
                  <a:srgbClr val="275742"/>
                </a:solidFill>
                <a:latin typeface="Gill Sans"/>
                <a:ea typeface="ヒラギノ角ゴ ProN W3"/>
              </a:rPr>
              <a:t>Locally Secured Zones</a:t>
            </a:r>
            <a:endParaRPr lang="en-US" spc="-1">
              <a:solidFill>
                <a:srgbClr val="000000"/>
              </a:solidFill>
              <a:latin typeface="Times New Roman"/>
            </a:endParaRPr>
          </a:p>
        </p:txBody>
      </p:sp>
      <p:sp>
        <p:nvSpPr>
          <p:cNvPr id="1229530721" name="PlaceHolder 2"/>
          <p:cNvSpPr>
            <a:spLocks noGrp="1"/>
          </p:cNvSpPr>
          <p:nvPr>
            <p:ph/>
          </p:nvPr>
        </p:nvSpPr>
        <p:spPr bwMode="auto">
          <a:xfrm>
            <a:off x="2144640" y="88920"/>
            <a:ext cx="7894440" cy="2628720"/>
          </a:xfrm>
          <a:prstGeom prst="rect">
            <a:avLst/>
          </a:prstGeom>
          <a:noFill/>
          <a:ln w="0">
            <a:noFill/>
          </a:ln>
        </p:spPr>
        <p:txBody>
          <a:bodyPr vert="horz" lIns="0" tIns="0" rIns="41400" bIns="0" numCol="1" spcCol="0" rtlCol="0" anchor="ctr">
            <a:noAutofit/>
          </a:bodyPr>
          <a:lstStyle/>
          <a:p>
            <a:pPr marL="384120" indent="-343080">
              <a:lnSpc>
                <a:spcPct val="100000"/>
              </a:lnSpc>
              <a:spcBef>
                <a:spcPts val="799"/>
              </a:spcBef>
              <a:buClr>
                <a:srgbClr val="000000"/>
              </a:buClr>
              <a:buFont typeface="Gill Sans"/>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3600" spc="-1">
                <a:solidFill>
                  <a:schemeClr val="dk1"/>
                </a:solidFill>
                <a:latin typeface="Gill Sans"/>
                <a:ea typeface="ヒラギノ角ゴ ProN W3"/>
              </a:rPr>
              <a:t>Delegate Signing Security</a:t>
            </a:r>
            <a:endParaRPr lang="en-US" sz="3600" spc="-1">
              <a:solidFill>
                <a:schemeClr val="dk1"/>
              </a:solidFill>
              <a:latin typeface="Gill Sans"/>
            </a:endParaRPr>
          </a:p>
        </p:txBody>
      </p:sp>
      <p:sp>
        <p:nvSpPr>
          <p:cNvPr id="1221978658" name="Rectangle 3"/>
          <p:cNvSpPr/>
          <p:nvPr/>
        </p:nvSpPr>
        <p:spPr bwMode="auto">
          <a:xfrm>
            <a:off x="4480180" y="2908070"/>
            <a:ext cx="632800"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net.</a:t>
            </a:r>
            <a:endParaRPr lang="en-US" sz="2800" spc="-1">
              <a:solidFill>
                <a:srgbClr val="000000"/>
              </a:solidFill>
              <a:latin typeface="Arial"/>
            </a:endParaRPr>
          </a:p>
        </p:txBody>
      </p:sp>
      <p:sp>
        <p:nvSpPr>
          <p:cNvPr id="1624948005" name="Line 4"/>
          <p:cNvSpPr/>
          <p:nvPr/>
        </p:nvSpPr>
        <p:spPr bwMode="auto">
          <a:xfrm flipH="1">
            <a:off x="4062360" y="3354120"/>
            <a:ext cx="637920" cy="45576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688102247" name="Rectangle 5"/>
          <p:cNvSpPr/>
          <p:nvPr/>
        </p:nvSpPr>
        <p:spPr bwMode="auto">
          <a:xfrm>
            <a:off x="2998038" y="3744710"/>
            <a:ext cx="1660645"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money.net.</a:t>
            </a:r>
            <a:endParaRPr lang="en-US" sz="2800" spc="-1">
              <a:solidFill>
                <a:srgbClr val="000000"/>
              </a:solidFill>
              <a:latin typeface="Arial"/>
            </a:endParaRPr>
          </a:p>
        </p:txBody>
      </p:sp>
      <p:sp>
        <p:nvSpPr>
          <p:cNvPr id="448782198" name="Line 6"/>
          <p:cNvSpPr/>
          <p:nvPr/>
        </p:nvSpPr>
        <p:spPr bwMode="auto">
          <a:xfrm flipH="1">
            <a:off x="3357480" y="4194000"/>
            <a:ext cx="428400" cy="45396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693344496" name="Line 7"/>
          <p:cNvSpPr/>
          <p:nvPr/>
        </p:nvSpPr>
        <p:spPr bwMode="auto">
          <a:xfrm>
            <a:off x="4697399" y="3354120"/>
            <a:ext cx="564840" cy="379439"/>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168501353" name="Rectangle 8"/>
          <p:cNvSpPr/>
          <p:nvPr/>
        </p:nvSpPr>
        <p:spPr bwMode="auto">
          <a:xfrm>
            <a:off x="4657553" y="3896990"/>
            <a:ext cx="1281373"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kids.net.</a:t>
            </a:r>
            <a:endParaRPr lang="en-US" sz="2800" spc="-1">
              <a:solidFill>
                <a:srgbClr val="000000"/>
              </a:solidFill>
              <a:latin typeface="Arial"/>
            </a:endParaRPr>
          </a:p>
        </p:txBody>
      </p:sp>
      <p:sp>
        <p:nvSpPr>
          <p:cNvPr id="1116378043" name="Line 9"/>
          <p:cNvSpPr/>
          <p:nvPr/>
        </p:nvSpPr>
        <p:spPr bwMode="auto">
          <a:xfrm>
            <a:off x="4697399" y="3354120"/>
            <a:ext cx="2249280" cy="379439"/>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644683019" name="Rectangle 10"/>
          <p:cNvSpPr/>
          <p:nvPr/>
        </p:nvSpPr>
        <p:spPr bwMode="auto">
          <a:xfrm>
            <a:off x="4320426" y="4735430"/>
            <a:ext cx="644149"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dop</a:t>
            </a:r>
            <a:endParaRPr lang="en-US" sz="2800" spc="-1">
              <a:solidFill>
                <a:srgbClr val="000000"/>
              </a:solidFill>
              <a:latin typeface="Arial"/>
            </a:endParaRPr>
          </a:p>
        </p:txBody>
      </p:sp>
      <p:sp>
        <p:nvSpPr>
          <p:cNvPr id="92880694" name="Rectangle 11"/>
          <p:cNvSpPr/>
          <p:nvPr/>
        </p:nvSpPr>
        <p:spPr bwMode="auto">
          <a:xfrm>
            <a:off x="2891280" y="4659110"/>
            <a:ext cx="761040"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corp</a:t>
            </a:r>
            <a:endParaRPr lang="en-US" sz="2800" spc="-1">
              <a:solidFill>
                <a:srgbClr val="000000"/>
              </a:solidFill>
              <a:latin typeface="Arial"/>
            </a:endParaRPr>
          </a:p>
        </p:txBody>
      </p:sp>
      <p:sp>
        <p:nvSpPr>
          <p:cNvPr id="388927045" name="Line 12"/>
          <p:cNvSpPr/>
          <p:nvPr/>
        </p:nvSpPr>
        <p:spPr bwMode="auto">
          <a:xfrm flipH="1">
            <a:off x="2725680" y="5182920"/>
            <a:ext cx="425160" cy="30348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020326991" name="Rectangle 13"/>
          <p:cNvSpPr/>
          <p:nvPr/>
        </p:nvSpPr>
        <p:spPr bwMode="auto">
          <a:xfrm>
            <a:off x="2150378" y="5385950"/>
            <a:ext cx="589004"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dev</a:t>
            </a:r>
            <a:endParaRPr lang="en-US" sz="2800" spc="-1">
              <a:solidFill>
                <a:srgbClr val="000000"/>
              </a:solidFill>
              <a:latin typeface="Arial"/>
            </a:endParaRPr>
          </a:p>
        </p:txBody>
      </p:sp>
      <p:sp>
        <p:nvSpPr>
          <p:cNvPr id="1865611645" name="Rectangle 14"/>
          <p:cNvSpPr/>
          <p:nvPr/>
        </p:nvSpPr>
        <p:spPr bwMode="auto">
          <a:xfrm>
            <a:off x="2995866" y="5497190"/>
            <a:ext cx="1109148"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market</a:t>
            </a:r>
            <a:endParaRPr lang="en-US" sz="2800" spc="-1">
              <a:solidFill>
                <a:srgbClr val="000000"/>
              </a:solidFill>
              <a:latin typeface="Arial"/>
            </a:endParaRPr>
          </a:p>
        </p:txBody>
      </p:sp>
      <p:sp>
        <p:nvSpPr>
          <p:cNvPr id="1351385743" name="Rectangle 15"/>
          <p:cNvSpPr/>
          <p:nvPr/>
        </p:nvSpPr>
        <p:spPr bwMode="auto">
          <a:xfrm>
            <a:off x="4063484" y="5573510"/>
            <a:ext cx="1043553"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dilbert</a:t>
            </a:r>
            <a:endParaRPr lang="en-US" sz="2800" spc="-1">
              <a:solidFill>
                <a:srgbClr val="000000"/>
              </a:solidFill>
              <a:latin typeface="Arial"/>
            </a:endParaRPr>
          </a:p>
        </p:txBody>
      </p:sp>
      <p:sp>
        <p:nvSpPr>
          <p:cNvPr id="992663923" name="Line 16"/>
          <p:cNvSpPr/>
          <p:nvPr/>
        </p:nvSpPr>
        <p:spPr bwMode="auto">
          <a:xfrm>
            <a:off x="3219240" y="5182920"/>
            <a:ext cx="279360" cy="379439"/>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45162263" name="Line 17"/>
          <p:cNvSpPr/>
          <p:nvPr/>
        </p:nvSpPr>
        <p:spPr bwMode="auto">
          <a:xfrm>
            <a:off x="3360720" y="5182920"/>
            <a:ext cx="1336680" cy="45576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702917205" name="Line 18"/>
          <p:cNvSpPr/>
          <p:nvPr/>
        </p:nvSpPr>
        <p:spPr bwMode="auto">
          <a:xfrm flipH="1">
            <a:off x="2373240" y="5868720"/>
            <a:ext cx="74520" cy="30348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965139711" name="Line 19"/>
          <p:cNvSpPr/>
          <p:nvPr/>
        </p:nvSpPr>
        <p:spPr bwMode="auto">
          <a:xfrm>
            <a:off x="2446320" y="5868720"/>
            <a:ext cx="137880" cy="30348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674602782" name="Line 20"/>
          <p:cNvSpPr/>
          <p:nvPr/>
        </p:nvSpPr>
        <p:spPr bwMode="auto">
          <a:xfrm flipH="1">
            <a:off x="6664080" y="4116240"/>
            <a:ext cx="360360" cy="68436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993109444" name="Line 21"/>
          <p:cNvSpPr/>
          <p:nvPr/>
        </p:nvSpPr>
        <p:spPr bwMode="auto">
          <a:xfrm>
            <a:off x="7091040" y="4116240"/>
            <a:ext cx="419400" cy="53172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510405827" name="Rectangle 22"/>
          <p:cNvSpPr/>
          <p:nvPr/>
        </p:nvSpPr>
        <p:spPr bwMode="auto">
          <a:xfrm>
            <a:off x="7212398" y="4735430"/>
            <a:ext cx="700125"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unix</a:t>
            </a:r>
            <a:endParaRPr lang="en-US" sz="2800" spc="-1">
              <a:solidFill>
                <a:srgbClr val="000000"/>
              </a:solidFill>
              <a:latin typeface="Arial"/>
            </a:endParaRPr>
          </a:p>
        </p:txBody>
      </p:sp>
      <p:sp>
        <p:nvSpPr>
          <p:cNvPr id="838707582" name="Rectangle 23"/>
          <p:cNvSpPr/>
          <p:nvPr/>
        </p:nvSpPr>
        <p:spPr bwMode="auto">
          <a:xfrm>
            <a:off x="6243600" y="4686480"/>
            <a:ext cx="964800" cy="507600"/>
          </a:xfrm>
          <a:prstGeom prst="rect">
            <a:avLst/>
          </a:prstGeom>
          <a:noFill/>
          <a:ln w="0">
            <a:noFill/>
          </a:ln>
        </p:spPr>
        <p:style>
          <a:lnRef idx="0">
            <a:srgbClr val="000000"/>
          </a:lnRef>
          <a:fillRef idx="0">
            <a:srgbClr val="000000"/>
          </a:fillRef>
          <a:effectRef idx="0">
            <a:srgbClr val="000000"/>
          </a:effectRef>
          <a:fontRef idx="minor"/>
        </p:style>
        <p:txBody>
          <a:bodyPr lIns="0" tIns="0" rIns="41400" bIns="0" anchor="ctr">
            <a:noAutofit/>
          </a:bodyPr>
          <a:lstStyle/>
          <a:p>
            <a:pPr marL="41400" algn="ctr">
              <a:lnSpc>
                <a:spcPct val="95000"/>
              </a:lnSpc>
              <a:spcBef>
                <a:spcPts val="1500"/>
              </a:spcBef>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mac</a:t>
            </a:r>
            <a:endParaRPr lang="en-US" sz="2800" spc="-1">
              <a:solidFill>
                <a:srgbClr val="000000"/>
              </a:solidFill>
              <a:latin typeface="Arial"/>
            </a:endParaRPr>
          </a:p>
        </p:txBody>
      </p:sp>
      <p:sp>
        <p:nvSpPr>
          <p:cNvPr id="1842962344" name="Rectangle 24"/>
          <p:cNvSpPr/>
          <p:nvPr/>
        </p:nvSpPr>
        <p:spPr bwMode="auto">
          <a:xfrm>
            <a:off x="4898781" y="5039990"/>
            <a:ext cx="1243159"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marnick</a:t>
            </a:r>
            <a:endParaRPr lang="en-US" sz="2800" spc="-1">
              <a:solidFill>
                <a:srgbClr val="000000"/>
              </a:solidFill>
              <a:latin typeface="Arial"/>
            </a:endParaRPr>
          </a:p>
        </p:txBody>
      </p:sp>
      <p:sp>
        <p:nvSpPr>
          <p:cNvPr id="151929365" name="Rectangle 25"/>
          <p:cNvSpPr/>
          <p:nvPr/>
        </p:nvSpPr>
        <p:spPr bwMode="auto">
          <a:xfrm>
            <a:off x="8216488" y="4811389"/>
            <a:ext cx="381064"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39600" algn="ctr">
              <a:lnSpc>
                <a:spcPct val="95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Gill Sans"/>
              </a:rPr>
              <a:t>nt</a:t>
            </a:r>
            <a:endParaRPr lang="en-US" sz="2800" spc="-1">
              <a:solidFill>
                <a:srgbClr val="000000"/>
              </a:solidFill>
              <a:latin typeface="Arial"/>
            </a:endParaRPr>
          </a:p>
        </p:txBody>
      </p:sp>
      <p:sp>
        <p:nvSpPr>
          <p:cNvPr id="339398823" name="Line 26"/>
          <p:cNvSpPr/>
          <p:nvPr/>
        </p:nvSpPr>
        <p:spPr bwMode="auto">
          <a:xfrm>
            <a:off x="7160880" y="4116240"/>
            <a:ext cx="1194120" cy="68436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59301430" name="Rectangle 27"/>
          <p:cNvSpPr/>
          <p:nvPr/>
        </p:nvSpPr>
        <p:spPr bwMode="auto">
          <a:xfrm>
            <a:off x="6564544" y="3668390"/>
            <a:ext cx="1047592"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os.net.</a:t>
            </a:r>
            <a:endParaRPr lang="en-US" sz="2800" spc="-1">
              <a:solidFill>
                <a:srgbClr val="000000"/>
              </a:solidFill>
              <a:latin typeface="Arial"/>
            </a:endParaRPr>
          </a:p>
        </p:txBody>
      </p:sp>
      <p:sp>
        <p:nvSpPr>
          <p:cNvPr id="560496019" name="Rectangle 28"/>
          <p:cNvSpPr/>
          <p:nvPr/>
        </p:nvSpPr>
        <p:spPr bwMode="auto">
          <a:xfrm>
            <a:off x="6561389" y="2753990"/>
            <a:ext cx="794703"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5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2800" spc="-1">
                <a:solidFill>
                  <a:schemeClr val="dk1"/>
                </a:solidFill>
                <a:latin typeface="Gill Sans"/>
                <a:ea typeface="Gill Sans"/>
              </a:rPr>
              <a:t>com.</a:t>
            </a:r>
            <a:endParaRPr lang="en-US" sz="2800" spc="-1">
              <a:solidFill>
                <a:srgbClr val="000000"/>
              </a:solidFill>
              <a:latin typeface="Arial"/>
            </a:endParaRPr>
          </a:p>
        </p:txBody>
      </p:sp>
      <p:sp>
        <p:nvSpPr>
          <p:cNvPr id="1673021894" name="Line 29"/>
          <p:cNvSpPr/>
          <p:nvPr/>
        </p:nvSpPr>
        <p:spPr bwMode="auto">
          <a:xfrm flipH="1">
            <a:off x="4835280" y="2363760"/>
            <a:ext cx="639720" cy="53316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894219643" name="Line 30"/>
          <p:cNvSpPr/>
          <p:nvPr/>
        </p:nvSpPr>
        <p:spPr bwMode="auto">
          <a:xfrm>
            <a:off x="5471760" y="2363760"/>
            <a:ext cx="1263960" cy="60804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402927726" name="Line 31"/>
          <p:cNvSpPr/>
          <p:nvPr/>
        </p:nvSpPr>
        <p:spPr bwMode="auto">
          <a:xfrm>
            <a:off x="7300560" y="2973240"/>
            <a:ext cx="1406520" cy="15084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959388861" name="Line 32"/>
          <p:cNvSpPr/>
          <p:nvPr/>
        </p:nvSpPr>
        <p:spPr bwMode="auto">
          <a:xfrm>
            <a:off x="7300560" y="3049560"/>
            <a:ext cx="1265400" cy="45540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202416390" name="Line 33"/>
          <p:cNvSpPr/>
          <p:nvPr/>
        </p:nvSpPr>
        <p:spPr bwMode="auto">
          <a:xfrm>
            <a:off x="5192399" y="4344840"/>
            <a:ext cx="209520" cy="68436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732746078" name="Line 34"/>
          <p:cNvSpPr/>
          <p:nvPr/>
        </p:nvSpPr>
        <p:spPr bwMode="auto">
          <a:xfrm flipH="1">
            <a:off x="4767240" y="4344840"/>
            <a:ext cx="425160" cy="455760"/>
          </a:xfrm>
          <a:prstGeom prst="line">
            <a:avLst/>
          </a:prstGeom>
          <a:ln w="12700">
            <a:solidFill>
              <a:srgbClr val="000000"/>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431000039" name="Rectangle 35"/>
          <p:cNvSpPr/>
          <p:nvPr/>
        </p:nvSpPr>
        <p:spPr bwMode="auto">
          <a:xfrm>
            <a:off x="5440373" y="1915910"/>
            <a:ext cx="159614" cy="409343"/>
          </a:xfrm>
          <a:prstGeom prst="rect">
            <a:avLst/>
          </a:prstGeom>
          <a:noFill/>
          <a:ln w="0">
            <a:noFill/>
          </a:ln>
        </p:spPr>
        <p:style>
          <a:lnRef idx="0">
            <a:srgbClr val="000000"/>
          </a:lnRef>
          <a:fillRef idx="0">
            <a:srgbClr val="000000"/>
          </a:fillRef>
          <a:effectRef idx="0">
            <a:srgbClr val="000000"/>
          </a:effectRef>
          <a:fontRef idx="minor"/>
        </p:style>
        <p:txBody>
          <a:bodyPr wrap="none" lIns="0" tIns="0" rIns="41040" bIns="0" anchor="ctr">
            <a:spAutoFit/>
          </a:bodyPr>
          <a:lstStyle/>
          <a:p>
            <a:pPr marL="39600" algn="ctr">
              <a:lnSpc>
                <a:spcPct val="95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Gill Sans"/>
              </a:rPr>
              <a:t>.</a:t>
            </a:r>
            <a:endParaRPr lang="en-US" sz="2800" spc="-1">
              <a:solidFill>
                <a:srgbClr val="000000"/>
              </a:solidFill>
              <a:latin typeface="Arial"/>
            </a:endParaRPr>
          </a:p>
        </p:txBody>
      </p:sp>
      <p:sp>
        <p:nvSpPr>
          <p:cNvPr id="1491926500" name="Rectangle 36"/>
          <p:cNvSpPr/>
          <p:nvPr/>
        </p:nvSpPr>
        <p:spPr bwMode="auto">
          <a:xfrm>
            <a:off x="8371560" y="4526280"/>
            <a:ext cx="2225160" cy="255960"/>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b="1" spc="-1">
                <a:solidFill>
                  <a:schemeClr val="dk1"/>
                </a:solidFill>
                <a:latin typeface="Arial"/>
                <a:ea typeface="Arial"/>
              </a:rPr>
              <a:t>Secure entry points</a:t>
            </a:r>
            <a:endParaRPr lang="en-US" spc="-1">
              <a:solidFill>
                <a:srgbClr val="000000"/>
              </a:solidFill>
              <a:latin typeface="Arial"/>
            </a:endParaRPr>
          </a:p>
        </p:txBody>
      </p:sp>
      <p:sp>
        <p:nvSpPr>
          <p:cNvPr id="497284408" name="Line 37"/>
          <p:cNvSpPr/>
          <p:nvPr/>
        </p:nvSpPr>
        <p:spPr bwMode="auto">
          <a:xfrm flipH="1" flipV="1">
            <a:off x="5683080" y="2393640"/>
            <a:ext cx="1111320" cy="527040"/>
          </a:xfrm>
          <a:prstGeom prst="line">
            <a:avLst/>
          </a:prstGeom>
          <a:ln w="38100">
            <a:solidFill>
              <a:srgbClr val="1F3A27"/>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515803893" name="Rectangle 38"/>
          <p:cNvSpPr/>
          <p:nvPr/>
        </p:nvSpPr>
        <p:spPr bwMode="auto">
          <a:xfrm>
            <a:off x="6298028" y="2235438"/>
            <a:ext cx="1302344" cy="430887"/>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2800" spc="-1">
                <a:solidFill>
                  <a:schemeClr val="dk1"/>
                </a:solidFill>
                <a:latin typeface="Gill Sans"/>
                <a:ea typeface="Gill Sans"/>
              </a:rPr>
              <a:t>NS &amp; DS</a:t>
            </a:r>
            <a:endParaRPr lang="en-US" sz="2800" spc="-1">
              <a:solidFill>
                <a:srgbClr val="000000"/>
              </a:solidFill>
              <a:latin typeface="Arial"/>
            </a:endParaRPr>
          </a:p>
        </p:txBody>
      </p:sp>
      <p:sp>
        <p:nvSpPr>
          <p:cNvPr id="1250629451" name="Line 39"/>
          <p:cNvSpPr/>
          <p:nvPr/>
        </p:nvSpPr>
        <p:spPr bwMode="auto">
          <a:xfrm flipV="1">
            <a:off x="4895760" y="2512800"/>
            <a:ext cx="534960" cy="417600"/>
          </a:xfrm>
          <a:prstGeom prst="line">
            <a:avLst/>
          </a:prstGeom>
          <a:ln w="38100">
            <a:solidFill>
              <a:srgbClr val="1F3A27"/>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631220990" name="Line 40"/>
          <p:cNvSpPr/>
          <p:nvPr/>
        </p:nvSpPr>
        <p:spPr bwMode="auto">
          <a:xfrm flipH="1" flipV="1">
            <a:off x="4703520" y="3439800"/>
            <a:ext cx="419040" cy="398520"/>
          </a:xfrm>
          <a:prstGeom prst="line">
            <a:avLst/>
          </a:prstGeom>
          <a:ln w="38100">
            <a:solidFill>
              <a:srgbClr val="1F3A27"/>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1771720888" name="Line 41"/>
          <p:cNvSpPr/>
          <p:nvPr/>
        </p:nvSpPr>
        <p:spPr bwMode="auto">
          <a:xfrm flipV="1">
            <a:off x="4205280" y="3485880"/>
            <a:ext cx="423720" cy="328680"/>
          </a:xfrm>
          <a:prstGeom prst="line">
            <a:avLst/>
          </a:prstGeom>
          <a:ln w="38100">
            <a:solidFill>
              <a:srgbClr val="1F3A27"/>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69267876" name="Line 42"/>
          <p:cNvSpPr/>
          <p:nvPr/>
        </p:nvSpPr>
        <p:spPr bwMode="auto">
          <a:xfrm flipH="1" flipV="1">
            <a:off x="5181600" y="4368600"/>
            <a:ext cx="129960" cy="684360"/>
          </a:xfrm>
          <a:prstGeom prst="line">
            <a:avLst/>
          </a:prstGeom>
          <a:ln w="38100">
            <a:solidFill>
              <a:srgbClr val="1F3A27"/>
            </a:solidFill>
            <a:miter/>
            <a:headEnd type="stealth" w="med" len="med"/>
          </a:ln>
        </p:spPr>
        <p:style>
          <a:lnRef idx="0">
            <a:srgbClr val="000000"/>
          </a:lnRef>
          <a:fillRef idx="0">
            <a:srgbClr val="000000"/>
          </a:fillRef>
          <a:effectRef idx="0">
            <a:srgbClr val="000000"/>
          </a:effectRef>
          <a:fontRef idx="minor"/>
        </p:style>
        <p:txBody>
          <a:bodyPr lIns="0" tIns="0" rIns="0" bIns="0" anchor="t">
            <a:noAutofit/>
          </a:bodyPr>
          <a:lstStyle/>
          <a:p>
            <a:pPr>
              <a:defRPr/>
            </a:pPr>
            <a:endParaRPr lang="en-US" sz="2400" spc="-1">
              <a:solidFill>
                <a:srgbClr val="000000"/>
              </a:solidFill>
              <a:latin typeface="Times New Roman"/>
              <a:ea typeface="ヒラギノ明朝 ProN W3"/>
            </a:endParaRPr>
          </a:p>
        </p:txBody>
      </p:sp>
      <p:sp>
        <p:nvSpPr>
          <p:cNvPr id="375832601" name="Rectangle 43"/>
          <p:cNvSpPr/>
          <p:nvPr/>
        </p:nvSpPr>
        <p:spPr bwMode="auto">
          <a:xfrm>
            <a:off x="2408289" y="2171718"/>
            <a:ext cx="1941942" cy="430887"/>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2800" b="1" spc="-1">
                <a:solidFill>
                  <a:srgbClr val="1F3A27"/>
                </a:solidFill>
                <a:latin typeface="Gill Sans"/>
                <a:ea typeface="Gill Sans"/>
              </a:rPr>
              <a:t>NS and DS</a:t>
            </a:r>
            <a:endParaRPr lang="en-US" sz="2800" spc="-1">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1491926500"/>
                                        </p:tgtEl>
                                        <p:attrNameLst>
                                          <p:attrName>style.visibility</p:attrName>
                                        </p:attrNameLst>
                                      </p:cBhvr>
                                      <p:to>
                                        <p:strVal val="visible"/>
                                      </p:to>
                                    </p:set>
                                    <p:anim calcmode="lin" valueType="num">
                                      <p:cBhvr additive="repl">
                                        <p:cTn id="7" dur="500" fill="hold"/>
                                        <p:tgtEl>
                                          <p:spTgt spid="1491926500"/>
                                        </p:tgtEl>
                                        <p:attrNameLst>
                                          <p:attrName>ppt_x</p:attrName>
                                        </p:attrNameLst>
                                      </p:cBhvr>
                                      <p:tavLst>
                                        <p:tav tm="0">
                                          <p:val>
                                            <p:strVal val="0-#ppt_w/2"/>
                                          </p:val>
                                        </p:tav>
                                        <p:tav tm="100000">
                                          <p:val>
                                            <p:strVal val="#ppt_x"/>
                                          </p:val>
                                        </p:tav>
                                      </p:tavLst>
                                    </p:anim>
                                    <p:anim calcmode="lin" valueType="num">
                                      <p:cBhvr additive="repl">
                                        <p:cTn id="8" dur="500" fill="hold"/>
                                        <p:tgtEl>
                                          <p:spTgt spid="14919265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4562210"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4900" spc="-1">
                <a:solidFill>
                  <a:srgbClr val="275742"/>
                </a:solidFill>
                <a:latin typeface="Gill Sans"/>
                <a:ea typeface="ヒラギノ角ゴ ProN W3"/>
              </a:rPr>
              <a:t>Using the DNS to Distribute Keys</a:t>
            </a:r>
            <a:endParaRPr lang="en-US" sz="4900" spc="-1">
              <a:solidFill>
                <a:srgbClr val="000000"/>
              </a:solidFill>
              <a:latin typeface="Times New Roman"/>
            </a:endParaRPr>
          </a:p>
        </p:txBody>
      </p:sp>
      <p:sp>
        <p:nvSpPr>
          <p:cNvPr id="425964257" name="PlaceHolder 2"/>
          <p:cNvSpPr>
            <a:spLocks noGrp="1"/>
          </p:cNvSpPr>
          <p:nvPr>
            <p:ph/>
          </p:nvPr>
        </p:nvSpPr>
        <p:spPr bwMode="auto">
          <a:xfrm>
            <a:off x="2412839" y="1638360"/>
            <a:ext cx="7353000" cy="4520880"/>
          </a:xfrm>
          <a:prstGeom prst="rect">
            <a:avLst/>
          </a:prstGeom>
          <a:noFill/>
          <a:ln w="0">
            <a:noFill/>
          </a:ln>
        </p:spPr>
        <p:txBody>
          <a:bodyPr vert="horz" lIns="0" tIns="0" rIns="39240" bIns="0" numCol="1" spcCol="0" rtlCol="0" anchor="ctr">
            <a:noAutofit/>
          </a:bodyPr>
          <a:lstStyle/>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600" spc="-1">
                <a:solidFill>
                  <a:schemeClr val="dk1"/>
                </a:solidFill>
                <a:latin typeface="Gill Sans"/>
                <a:ea typeface="ヒラギノ角ゴ ProN W3"/>
              </a:rPr>
              <a:t>Secured islands make key distribution problematic</a:t>
            </a:r>
            <a:endParaRPr lang="en-US" sz="2600" spc="-1">
              <a:solidFill>
                <a:schemeClr val="dk1"/>
              </a:solidFill>
              <a:latin typeface="Gill Sans"/>
            </a:endParaRPr>
          </a:p>
          <a:p>
            <a:pPr>
              <a:spcBef>
                <a:spcPts val="799"/>
              </a:spcBef>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endParaRPr lang="en-US" sz="26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600" spc="-1">
                <a:solidFill>
                  <a:schemeClr val="dk1"/>
                </a:solidFill>
                <a:latin typeface="Gill Sans"/>
                <a:ea typeface="ヒラギノ角ゴ ProN W3"/>
              </a:rPr>
              <a:t>Distributing keys through DNS:</a:t>
            </a:r>
            <a:endParaRPr lang="en-US" sz="26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200" spc="-1">
                <a:solidFill>
                  <a:schemeClr val="dk1"/>
                </a:solidFill>
                <a:latin typeface="Gill Sans"/>
                <a:ea typeface="ヒラギノ角ゴ ProN W3"/>
              </a:rPr>
              <a:t>Use one trusted key to establish authenticity of other keys</a:t>
            </a:r>
            <a:endParaRPr lang="en-US" sz="22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200" spc="-1">
                <a:solidFill>
                  <a:schemeClr val="dk1"/>
                </a:solidFill>
                <a:latin typeface="Gill Sans"/>
                <a:ea typeface="ヒラギノ角ゴ ProN W3"/>
              </a:rPr>
              <a:t>Building chains of trust from the root down</a:t>
            </a:r>
            <a:endParaRPr lang="en-US" sz="22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200" spc="-1">
                <a:solidFill>
                  <a:schemeClr val="dk1"/>
                </a:solidFill>
                <a:latin typeface="Gill Sans"/>
                <a:ea typeface="ヒラギノ角ゴ ProN W3"/>
              </a:rPr>
              <a:t>Parents need to sign the keys of their children</a:t>
            </a:r>
            <a:endParaRPr lang="en-US" sz="2200" spc="-1">
              <a:solidFill>
                <a:schemeClr val="dk1"/>
              </a:solidFill>
              <a:latin typeface="Gill Sans"/>
            </a:endParaRPr>
          </a:p>
          <a:p>
            <a:pPr>
              <a:spcBef>
                <a:spcPts val="799"/>
              </a:spcBef>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endParaRPr lang="en-US" sz="26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600" spc="-1">
                <a:solidFill>
                  <a:schemeClr val="dk1"/>
                </a:solidFill>
                <a:latin typeface="Gill Sans"/>
                <a:ea typeface="ヒラギノ角ゴ ProN W3"/>
              </a:rPr>
              <a:t>Only the root key needed in ideal world</a:t>
            </a:r>
            <a:endParaRPr lang="en-US" sz="26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200" spc="-1">
                <a:solidFill>
                  <a:schemeClr val="dk1"/>
                </a:solidFill>
                <a:latin typeface="Gill Sans"/>
                <a:ea typeface="ヒラギノ角ゴ ProN W3"/>
              </a:rPr>
              <a:t>Parents always delegate security to child</a:t>
            </a:r>
            <a:endParaRPr lang="en-US" sz="22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9698799" name="PlaceHolder 1"/>
          <p:cNvSpPr>
            <a:spLocks noGrp="1"/>
          </p:cNvSpPr>
          <p:nvPr>
            <p:ph type="title"/>
          </p:nvPr>
        </p:nvSpPr>
        <p:spPr bwMode="auto">
          <a:xfrm>
            <a:off x="2209800" y="380880"/>
            <a:ext cx="7775280" cy="1599840"/>
          </a:xfrm>
          <a:prstGeom prst="rect">
            <a:avLst/>
          </a:prstGeom>
          <a:noFill/>
          <a:ln w="0">
            <a:noFill/>
          </a:ln>
          <a:effectLst>
            <a:outerShdw blurRad="127080" dist="75858" dir="2700000" rotWithShape="0">
              <a:srgbClr val="000000">
                <a:alpha val="75000"/>
              </a:srgbClr>
            </a:outerShdw>
          </a:effectLst>
        </p:spPr>
        <p:txBody>
          <a:bodyPr vert="horz" lIns="50760" tIns="50760" rIns="41400" bIns="50760" numCol="1" spcCol="0" rtlCol="0" anchor="ctr">
            <a:noAutofit/>
          </a:bodyPr>
          <a:lstStyle/>
          <a:p>
            <a:pPr marL="41400" algn="ctr">
              <a:lnSpc>
                <a:spcPct val="100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5800" spc="-1">
                <a:solidFill>
                  <a:srgbClr val="275742"/>
                </a:solidFill>
                <a:latin typeface="Gill Sans"/>
                <a:ea typeface="ヒラギノ角ゴ ProN W3"/>
              </a:rPr>
              <a:t>Delegation Signer (DS)</a:t>
            </a:r>
            <a:endParaRPr lang="en-US" sz="5800" spc="-1">
              <a:solidFill>
                <a:srgbClr val="000000"/>
              </a:solidFill>
              <a:latin typeface="Times New Roman"/>
            </a:endParaRPr>
          </a:p>
        </p:txBody>
      </p:sp>
      <p:sp>
        <p:nvSpPr>
          <p:cNvPr id="1466209877" name="PlaceHolder 2"/>
          <p:cNvSpPr>
            <a:spLocks noGrp="1"/>
          </p:cNvSpPr>
          <p:nvPr>
            <p:ph/>
          </p:nvPr>
        </p:nvSpPr>
        <p:spPr bwMode="auto">
          <a:xfrm>
            <a:off x="2209800" y="1981080"/>
            <a:ext cx="7775280" cy="4876560"/>
          </a:xfrm>
          <a:prstGeom prst="rect">
            <a:avLst/>
          </a:prstGeom>
          <a:noFill/>
          <a:ln w="0">
            <a:noFill/>
          </a:ln>
        </p:spPr>
        <p:txBody>
          <a:bodyPr vert="horz" lIns="0" tIns="0" rIns="41400" bIns="0" numCol="1" spcCol="0" rtlCol="0" anchor="ctr">
            <a:noAutofit/>
          </a:bodyPr>
          <a:lstStyle/>
          <a:p>
            <a:pPr marL="384120" indent="-343080">
              <a:spcBef>
                <a:spcPts val="799"/>
              </a:spcBef>
              <a:buClr>
                <a:srgbClr val="000000"/>
              </a:buClr>
              <a:buFont typeface="Gill Sans"/>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Delegation Signer (DS) RR indicates that:</a:t>
            </a:r>
            <a:endParaRPr lang="en-US" sz="2800" spc="-1">
              <a:solidFill>
                <a:schemeClr val="dk1"/>
              </a:solidFill>
              <a:latin typeface="Gill Sans"/>
            </a:endParaRPr>
          </a:p>
          <a:p>
            <a:pPr marL="784080" lvl="1" indent="-285840">
              <a:lnSpc>
                <a:spcPct val="90000"/>
              </a:lnSpc>
              <a:spcBef>
                <a:spcPts val="799"/>
              </a:spcBef>
              <a:buClr>
                <a:srgbClr val="000000"/>
              </a:buClr>
              <a:buFont typeface="Symbol"/>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delegated zone is digitally signed</a:t>
            </a:r>
            <a:endParaRPr lang="en-US" sz="2800" spc="-1">
              <a:solidFill>
                <a:schemeClr val="dk1"/>
              </a:solidFill>
              <a:latin typeface="Gill Sans"/>
            </a:endParaRPr>
          </a:p>
          <a:p>
            <a:pPr marL="784080" lvl="1" indent="-285840">
              <a:lnSpc>
                <a:spcPct val="90000"/>
              </a:lnSpc>
              <a:spcBef>
                <a:spcPts val="799"/>
              </a:spcBef>
              <a:buClr>
                <a:srgbClr val="000000"/>
              </a:buClr>
              <a:buFont typeface="Symbol"/>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indicated key is used for the delegated zone</a:t>
            </a:r>
            <a:endParaRPr lang="en-US" sz="2800" spc="-1">
              <a:solidFill>
                <a:schemeClr val="dk1"/>
              </a:solidFill>
              <a:latin typeface="Gill Sans"/>
            </a:endParaRPr>
          </a:p>
          <a:p>
            <a:pPr>
              <a:spcBef>
                <a:spcPts val="799"/>
              </a:spcBef>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endParaRPr lang="en-US" sz="2800" spc="-1">
              <a:solidFill>
                <a:schemeClr val="dk1"/>
              </a:solidFill>
              <a:latin typeface="Gill Sans"/>
            </a:endParaRPr>
          </a:p>
          <a:p>
            <a:pPr marL="384120" indent="-343080">
              <a:spcBef>
                <a:spcPts val="799"/>
              </a:spcBef>
              <a:buClr>
                <a:srgbClr val="000000"/>
              </a:buClr>
              <a:buFont typeface="Gill Sans"/>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Parent is authorative for the DS of the child’s zone</a:t>
            </a:r>
            <a:endParaRPr lang="en-US" sz="2800" spc="-1">
              <a:solidFill>
                <a:schemeClr val="dk1"/>
              </a:solidFill>
              <a:latin typeface="Gill Sans"/>
            </a:endParaRPr>
          </a:p>
          <a:p>
            <a:pPr marL="784080" lvl="1" indent="-285840">
              <a:lnSpc>
                <a:spcPct val="90000"/>
              </a:lnSpc>
              <a:spcBef>
                <a:spcPts val="799"/>
              </a:spcBef>
              <a:buClr>
                <a:srgbClr val="000000"/>
              </a:buClr>
              <a:buFont typeface="Symbol"/>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Not for the NS record delegating the child’s zone!</a:t>
            </a:r>
            <a:endParaRPr lang="en-US" sz="2800" spc="-1">
              <a:solidFill>
                <a:schemeClr val="dk1"/>
              </a:solidFill>
              <a:latin typeface="Gill Sans"/>
            </a:endParaRPr>
          </a:p>
          <a:p>
            <a:pPr marL="784080" lvl="1" indent="-285840">
              <a:lnSpc>
                <a:spcPct val="90000"/>
              </a:lnSpc>
              <a:spcBef>
                <a:spcPts val="799"/>
              </a:spcBef>
              <a:buClr>
                <a:srgbClr val="000000"/>
              </a:buClr>
              <a:buFont typeface="Symbol"/>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DS </a:t>
            </a:r>
            <a:r>
              <a:rPr lang="en-US" sz="2800" b="1" spc="-1">
                <a:solidFill>
                  <a:schemeClr val="dk1"/>
                </a:solidFill>
                <a:latin typeface="Gill Sans"/>
                <a:ea typeface="ヒラギノ角ゴ ProN W3"/>
              </a:rPr>
              <a:t>should not</a:t>
            </a:r>
            <a:r>
              <a:rPr lang="en-US" sz="2800" spc="-1">
                <a:solidFill>
                  <a:schemeClr val="dk1"/>
                </a:solidFill>
                <a:latin typeface="Gill Sans"/>
                <a:ea typeface="ヒラギノ角ゴ ProN W3"/>
              </a:rPr>
              <a:t> be in the child’s zone</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5628842" name="PlaceHolder 1"/>
          <p:cNvSpPr>
            <a:spLocks noGrp="1"/>
          </p:cNvSpPr>
          <p:nvPr>
            <p:ph/>
          </p:nvPr>
        </p:nvSpPr>
        <p:spPr bwMode="auto">
          <a:xfrm>
            <a:off x="2243280" y="682560"/>
            <a:ext cx="6692400" cy="4723920"/>
          </a:xfrm>
          <a:prstGeom prst="rect">
            <a:avLst/>
          </a:prstGeom>
          <a:noFill/>
          <a:ln w="0">
            <a:noFill/>
          </a:ln>
        </p:spPr>
        <p:txBody>
          <a:bodyPr vert="horz" lIns="0" tIns="0" rIns="41400" bIns="0" numCol="1" spcCol="0" rtlCol="0" anchor="ctr">
            <a:noAutofit/>
          </a:bodyPr>
          <a:lstStyle/>
          <a:p>
            <a:pPr marL="384120" indent="-343080">
              <a:lnSpc>
                <a:spcPct val="100000"/>
              </a:lnSpc>
              <a:spcBef>
                <a:spcPts val="799"/>
              </a:spcBef>
              <a:buClr>
                <a:srgbClr val="000000"/>
              </a:buClr>
              <a:buFont typeface="Gill Sans"/>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16 bits: key tag</a:t>
            </a:r>
            <a:endParaRPr lang="en-US" sz="2800" spc="-1">
              <a:solidFill>
                <a:schemeClr val="dk1"/>
              </a:solidFill>
              <a:latin typeface="Gill Sans"/>
            </a:endParaRPr>
          </a:p>
          <a:p>
            <a:pPr marL="384120" indent="-343080">
              <a:lnSpc>
                <a:spcPct val="100000"/>
              </a:lnSpc>
              <a:spcBef>
                <a:spcPts val="799"/>
              </a:spcBef>
              <a:buClr>
                <a:srgbClr val="000000"/>
              </a:buClr>
              <a:buFont typeface="Gill Sans"/>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8 bits: algorithm</a:t>
            </a:r>
            <a:endParaRPr lang="en-US" sz="2800" spc="-1">
              <a:solidFill>
                <a:schemeClr val="dk1"/>
              </a:solidFill>
              <a:latin typeface="Gill Sans"/>
            </a:endParaRPr>
          </a:p>
          <a:p>
            <a:pPr marL="384120" indent="-343080">
              <a:lnSpc>
                <a:spcPct val="100000"/>
              </a:lnSpc>
              <a:spcBef>
                <a:spcPts val="799"/>
              </a:spcBef>
              <a:buClr>
                <a:srgbClr val="000000"/>
              </a:buClr>
              <a:buFont typeface="Gill Sans"/>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8 bits: digest type</a:t>
            </a:r>
            <a:endParaRPr lang="en-US" sz="2800" spc="-1">
              <a:solidFill>
                <a:schemeClr val="dk1"/>
              </a:solidFill>
              <a:latin typeface="Gill Sans"/>
            </a:endParaRPr>
          </a:p>
          <a:p>
            <a:pPr marL="384120" indent="-343080">
              <a:lnSpc>
                <a:spcPct val="100000"/>
              </a:lnSpc>
              <a:spcBef>
                <a:spcPts val="799"/>
              </a:spcBef>
              <a:buClr>
                <a:srgbClr val="000000"/>
              </a:buClr>
              <a:buFont typeface="Gill Sans"/>
              <a:buChar char="•"/>
              <a:tabLst>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2800" spc="-1">
                <a:solidFill>
                  <a:schemeClr val="dk1"/>
                </a:solidFill>
                <a:latin typeface="Gill Sans"/>
                <a:ea typeface="ヒラギノ角ゴ ProN W3"/>
              </a:rPr>
              <a:t>20 bytes: SHA-1 Digest</a:t>
            </a:r>
            <a:endParaRPr lang="en-US" sz="2800" spc="-1">
              <a:solidFill>
                <a:schemeClr val="dk1"/>
              </a:solidFill>
              <a:latin typeface="Gill Sans"/>
            </a:endParaRPr>
          </a:p>
        </p:txBody>
      </p:sp>
      <p:sp>
        <p:nvSpPr>
          <p:cNvPr id="1069213882" name="Rectangle 2"/>
          <p:cNvSpPr/>
          <p:nvPr/>
        </p:nvSpPr>
        <p:spPr bwMode="auto">
          <a:xfrm>
            <a:off x="1803360" y="4317840"/>
            <a:ext cx="8368920" cy="1345680"/>
          </a:xfrm>
          <a:prstGeom prst="rect">
            <a:avLst/>
          </a:prstGeom>
          <a:noFill/>
          <a:ln w="0">
            <a:noFill/>
          </a:ln>
        </p:spPr>
        <p:style>
          <a:lnRef idx="0">
            <a:srgbClr val="000000"/>
          </a:lnRef>
          <a:fillRef idx="0">
            <a:srgbClr val="000000"/>
          </a:fillRef>
          <a:effectRef idx="0">
            <a:srgbClr val="000000"/>
          </a:effectRef>
          <a:fontRef idx="minor"/>
        </p:style>
        <p:txBody>
          <a:bodyPr lIns="0" tIns="0" rIns="41400" bIns="0" anchor="ctr">
            <a:noAutofit/>
          </a:bodyPr>
          <a:lstStyle/>
          <a:p>
            <a:pPr marL="41400">
              <a:lnSpc>
                <a:spcPct val="89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pc="-1">
                <a:solidFill>
                  <a:schemeClr val="dk1"/>
                </a:solidFill>
                <a:latin typeface="Courier New Bold"/>
                <a:ea typeface="Courier New Bold"/>
              </a:rPr>
              <a:t>$ORIGIN nlnetlabs.nl.</a:t>
            </a:r>
            <a:endParaRPr lang="en-US" spc="-1">
              <a:solidFill>
                <a:srgbClr val="000000"/>
              </a:solidFill>
              <a:latin typeface="Arial"/>
            </a:endParaRPr>
          </a:p>
          <a:p>
            <a:pPr marL="41400">
              <a:lnSpc>
                <a:spcPct val="89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pc="-1">
                <a:solidFill>
                  <a:schemeClr val="dk1"/>
                </a:solidFill>
                <a:latin typeface="Courier New Bold"/>
                <a:ea typeface="Courier New Bold"/>
              </a:rPr>
              <a:t>lab.nlnetlabs.nl.   3600 IN   NS  ns.lab.nlnetlabs.nl</a:t>
            </a:r>
            <a:endParaRPr lang="en-US" spc="-1">
              <a:solidFill>
                <a:srgbClr val="000000"/>
              </a:solidFill>
              <a:latin typeface="Arial"/>
            </a:endParaRPr>
          </a:p>
          <a:p>
            <a:pPr marL="41400">
              <a:lnSpc>
                <a:spcPct val="89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pc="-1">
                <a:solidFill>
                  <a:schemeClr val="dk1"/>
                </a:solidFill>
                <a:latin typeface="Courier New Bold"/>
                <a:ea typeface="Courier New Bold"/>
              </a:rPr>
              <a:t>lab.nlnetlabs.nl.   3600 IN   DS  3112   5  1 (</a:t>
            </a:r>
            <a:br>
              <a:rPr/>
            </a:br>
            <a:r>
              <a:rPr lang="en-US" spc="-1">
                <a:solidFill>
                  <a:schemeClr val="dk1"/>
                </a:solidFill>
                <a:latin typeface="Courier New Bold"/>
                <a:ea typeface="Courier New Bold"/>
              </a:rPr>
              <a:t>                                   239af98b923c023371b52</a:t>
            </a:r>
            <a:endParaRPr lang="en-US" spc="-1">
              <a:solidFill>
                <a:srgbClr val="000000"/>
              </a:solidFill>
              <a:latin typeface="Arial"/>
            </a:endParaRPr>
          </a:p>
          <a:p>
            <a:pPr marL="41400" algn="ctr">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pc="-1">
                <a:solidFill>
                  <a:schemeClr val="dk1"/>
                </a:solidFill>
                <a:latin typeface="Courier New Bold"/>
                <a:ea typeface="Courier New Bold"/>
              </a:rPr>
              <a:t>                                 1g23b92da12f42162b1a9 )</a:t>
            </a:r>
            <a:endParaRPr lang="en-US" spc="-1">
              <a:solidFill>
                <a:srgbClr val="000000"/>
              </a:solidFill>
              <a:latin typeface="Arial"/>
            </a:endParaRPr>
          </a:p>
        </p:txBody>
      </p:sp>
      <p:sp>
        <p:nvSpPr>
          <p:cNvPr id="890223658" name="PlaceHolder 2"/>
          <p:cNvSpPr>
            <a:spLocks noGrp="1"/>
          </p:cNvSpPr>
          <p:nvPr>
            <p:ph type="title"/>
          </p:nvPr>
        </p:nvSpPr>
        <p:spPr bwMode="auto">
          <a:xfrm>
            <a:off x="2298720" y="81000"/>
            <a:ext cx="7772039" cy="2047680"/>
          </a:xfrm>
          <a:prstGeom prst="rect">
            <a:avLst/>
          </a:prstGeom>
          <a:noFill/>
          <a:ln w="0">
            <a:noFill/>
          </a:ln>
          <a:effectLst>
            <a:outerShdw blurRad="127080" dist="75858" dir="2700000" rotWithShape="0">
              <a:srgbClr val="000000">
                <a:alpha val="75000"/>
              </a:srgbClr>
            </a:outerShdw>
          </a:effectLst>
        </p:spPr>
        <p:txBody>
          <a:bodyPr vert="horz" lIns="50760" tIns="50760" rIns="41400" bIns="50760" numCol="1" spcCol="0" rtlCol="0" anchor="ctr">
            <a:noAutofit/>
          </a:bodyPr>
          <a:lstStyle/>
          <a:p>
            <a:pPr marL="41400" algn="ctr">
              <a:lnSpc>
                <a:spcPct val="100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5800" spc="-1">
                <a:solidFill>
                  <a:srgbClr val="275742"/>
                </a:solidFill>
                <a:latin typeface="Gill Sans"/>
                <a:ea typeface="ヒラギノ角ゴ ProN W3"/>
              </a:rPr>
              <a:t>DS RDATA</a:t>
            </a:r>
            <a:endParaRPr lang="en-US" sz="5800" spc="-1">
              <a:solidFill>
                <a:srgbClr val="000000"/>
              </a:solidFill>
              <a:latin typeface="Times New Roman"/>
            </a:endParaRPr>
          </a:p>
        </p:txBody>
      </p:sp>
      <p:sp>
        <p:nvSpPr>
          <p:cNvPr id="406234490" name="Rectangle 4"/>
          <p:cNvSpPr/>
          <p:nvPr/>
        </p:nvSpPr>
        <p:spPr bwMode="auto">
          <a:xfrm>
            <a:off x="6540600" y="4851360"/>
            <a:ext cx="596520" cy="202680"/>
          </a:xfrm>
          <a:prstGeom prst="rect">
            <a:avLst/>
          </a:prstGeom>
          <a:solidFill>
            <a:srgbClr val="2A5947">
              <a:alpha val="50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1355356760" name="Rectangle 5"/>
          <p:cNvSpPr/>
          <p:nvPr/>
        </p:nvSpPr>
        <p:spPr bwMode="auto">
          <a:xfrm>
            <a:off x="7404240" y="4851360"/>
            <a:ext cx="291600" cy="202680"/>
          </a:xfrm>
          <a:prstGeom prst="rect">
            <a:avLst/>
          </a:prstGeom>
          <a:solidFill>
            <a:srgbClr val="2A5947">
              <a:alpha val="50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1601233388" name="Rectangle 6"/>
          <p:cNvSpPr/>
          <p:nvPr/>
        </p:nvSpPr>
        <p:spPr bwMode="auto">
          <a:xfrm>
            <a:off x="7835880" y="4851360"/>
            <a:ext cx="291600" cy="202680"/>
          </a:xfrm>
          <a:prstGeom prst="rect">
            <a:avLst/>
          </a:prstGeom>
          <a:solidFill>
            <a:srgbClr val="2A5947">
              <a:alpha val="50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629718249" name="Rectangle 7"/>
          <p:cNvSpPr/>
          <p:nvPr/>
        </p:nvSpPr>
        <p:spPr bwMode="auto">
          <a:xfrm>
            <a:off x="6692880" y="5118120"/>
            <a:ext cx="2958840" cy="469439"/>
          </a:xfrm>
          <a:prstGeom prst="rect">
            <a:avLst/>
          </a:prstGeom>
          <a:solidFill>
            <a:srgbClr val="2A5947">
              <a:alpha val="50000"/>
            </a:srgbClr>
          </a:solidFill>
          <a:ln w="0">
            <a:noFill/>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499"/>
                                          </p:stCondLst>
                                        </p:cTn>
                                        <p:tgtEl>
                                          <p:spTgt spid="406234490"/>
                                        </p:tgtEl>
                                        <p:attrNameLst>
                                          <p:attrName>style.visibility</p:attrName>
                                        </p:attrNameLst>
                                      </p:cBhvr>
                                      <p:to>
                                        <p:strVal val="visible"/>
                                      </p:to>
                                    </p:set>
                                  </p:childTnLst>
                                </p:cTn>
                              </p:par>
                            </p:childTnLst>
                          </p:cTn>
                        </p:par>
                      </p:childTnLst>
                    </p:cTn>
                  </p:par>
                  <p:par>
                    <p:cTn id="7" fill="hold" nodeType="clickEffect">
                      <p:stCondLst>
                        <p:cond delay="indefinite"/>
                      </p:stCondLst>
                      <p:childTnLst>
                        <p:par>
                          <p:cTn id="8" fill="hold" nodeType="withEffect">
                            <p:stCondLst>
                              <p:cond delay="0"/>
                            </p:stCondLst>
                            <p:childTnLst>
                              <p:par>
                                <p:cTn id="9" presetID="1" presetClass="entr" fill="hold" nodeType="clickEffect">
                                  <p:stCondLst>
                                    <p:cond delay="0"/>
                                  </p:stCondLst>
                                  <p:childTnLst>
                                    <p:set>
                                      <p:cBhvr>
                                        <p:cTn id="10" dur="1" fill="hold">
                                          <p:stCondLst>
                                            <p:cond delay="499"/>
                                          </p:stCondLst>
                                        </p:cTn>
                                        <p:tgtEl>
                                          <p:spTgt spid="1355356760"/>
                                        </p:tgtEl>
                                        <p:attrNameLst>
                                          <p:attrName>style.visibility</p:attrName>
                                        </p:attrNameLst>
                                      </p:cBhvr>
                                      <p:to>
                                        <p:strVal val="visible"/>
                                      </p:to>
                                    </p:set>
                                  </p:childTnLst>
                                </p:cTn>
                              </p:par>
                            </p:childTnLst>
                          </p:cTn>
                        </p:par>
                      </p:childTnLst>
                    </p:cTn>
                  </p:par>
                  <p:par>
                    <p:cTn id="11" fill="hold" nodeType="clickEffect">
                      <p:stCondLst>
                        <p:cond delay="indefinite"/>
                      </p:stCondLst>
                      <p:childTnLst>
                        <p:par>
                          <p:cTn id="12" fill="hold" nodeType="withEffect">
                            <p:stCondLst>
                              <p:cond delay="0"/>
                            </p:stCondLst>
                            <p:childTnLst>
                              <p:par>
                                <p:cTn id="13" presetID="1" presetClass="entr" fill="hold" nodeType="clickEffect">
                                  <p:stCondLst>
                                    <p:cond delay="0"/>
                                  </p:stCondLst>
                                  <p:childTnLst>
                                    <p:set>
                                      <p:cBhvr>
                                        <p:cTn id="14" dur="1" fill="hold">
                                          <p:stCondLst>
                                            <p:cond delay="499"/>
                                          </p:stCondLst>
                                        </p:cTn>
                                        <p:tgtEl>
                                          <p:spTgt spid="1601233388"/>
                                        </p:tgtEl>
                                        <p:attrNameLst>
                                          <p:attrName>style.visibility</p:attrName>
                                        </p:attrNameLst>
                                      </p:cBhvr>
                                      <p:to>
                                        <p:strVal val="visible"/>
                                      </p:to>
                                    </p:set>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1" presetClass="entr" fill="hold" nodeType="clickEffect">
                                  <p:stCondLst>
                                    <p:cond delay="0"/>
                                  </p:stCondLst>
                                  <p:childTnLst>
                                    <p:set>
                                      <p:cBhvr>
                                        <p:cTn id="18" dur="1" fill="hold">
                                          <p:stCondLst>
                                            <p:cond delay="499"/>
                                          </p:stCondLst>
                                        </p:cTn>
                                        <p:tgtEl>
                                          <p:spTgt spid="6297182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3310238"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5800" spc="-1">
                <a:solidFill>
                  <a:srgbClr val="275742"/>
                </a:solidFill>
                <a:latin typeface="Gill Sans"/>
                <a:ea typeface="ヒラギノ角ゴ ProN W3"/>
              </a:rPr>
              <a:t>Key Problem</a:t>
            </a:r>
            <a:endParaRPr lang="en-US" sz="5800" spc="-1">
              <a:solidFill>
                <a:srgbClr val="000000"/>
              </a:solidFill>
              <a:latin typeface="Times New Roman"/>
            </a:endParaRPr>
          </a:p>
        </p:txBody>
      </p:sp>
      <p:sp>
        <p:nvSpPr>
          <p:cNvPr id="644837517"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Interaction with parent administratively expensive</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Should only be done when needed</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You might want to lock these in hardware</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Signing zones should be fast</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Memory restrictions</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Space and time concerns</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Operational exposure higher</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9649430"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4900" spc="-1">
                <a:solidFill>
                  <a:srgbClr val="275742"/>
                </a:solidFill>
                <a:latin typeface="Gill Sans"/>
                <a:ea typeface="ヒラギノ角ゴ ProN W3"/>
              </a:rPr>
              <a:t>More Than One Key:</a:t>
            </a:r>
            <a:br>
              <a:rPr sz="4900"/>
            </a:br>
            <a:r>
              <a:rPr lang="en-US" sz="4900" spc="-1">
                <a:solidFill>
                  <a:srgbClr val="275742"/>
                </a:solidFill>
                <a:latin typeface="Gill Sans"/>
                <a:ea typeface="ヒラギノ角ゴ ProN W3"/>
              </a:rPr>
              <a:t>KSK and ZSK</a:t>
            </a:r>
            <a:endParaRPr lang="en-US" sz="4900" spc="-1">
              <a:solidFill>
                <a:srgbClr val="000000"/>
              </a:solidFill>
              <a:latin typeface="Times New Roman"/>
            </a:endParaRPr>
          </a:p>
        </p:txBody>
      </p:sp>
      <p:sp>
        <p:nvSpPr>
          <p:cNvPr id="1195513156"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600" spc="-1">
                <a:solidFill>
                  <a:schemeClr val="dk1"/>
                </a:solidFill>
                <a:latin typeface="Gill Sans"/>
                <a:ea typeface="ヒラギノ角ゴ ProN W3"/>
              </a:rPr>
              <a:t>RRsets are signed, not RRs</a:t>
            </a:r>
            <a:endParaRPr lang="en-US" sz="26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600" spc="-1">
                <a:solidFill>
                  <a:schemeClr val="dk1"/>
                </a:solidFill>
                <a:latin typeface="Gill Sans"/>
                <a:ea typeface="ヒラギノ角ゴ ProN W3"/>
              </a:rPr>
              <a:t>DS points to specific key</a:t>
            </a:r>
            <a:endParaRPr lang="en-US" sz="2600" spc="-1">
              <a:solidFill>
                <a:schemeClr val="dk1"/>
              </a:solidFill>
              <a:latin typeface="Gill Sans"/>
            </a:endParaRPr>
          </a:p>
          <a:p>
            <a:pPr marL="1015920" lvl="1" indent="-254160">
              <a:spcBef>
                <a:spcPts val="799"/>
              </a:spcBef>
              <a:buClr>
                <a:srgbClr val="000000"/>
              </a:buClr>
              <a:buFont typeface="Gill Sans"/>
              <a:buChar char="•"/>
              <a:defRPr/>
            </a:pPr>
            <a:r>
              <a:rPr lang="en-US" sz="2600" spc="-1">
                <a:solidFill>
                  <a:schemeClr val="dk1"/>
                </a:solidFill>
                <a:latin typeface="Gill Sans"/>
                <a:ea typeface="ヒラギノ角ゴ ProN W3"/>
              </a:rPr>
              <a:t>Signature from that key over DNSKEY RRset transfers trust to all keys in DNSKEY RRset</a:t>
            </a:r>
            <a:endParaRPr lang="en-US" sz="2600" spc="-1">
              <a:solidFill>
                <a:schemeClr val="dk1"/>
              </a:solidFill>
              <a:latin typeface="Gill Sans"/>
            </a:endParaRPr>
          </a:p>
          <a:p>
            <a:pPr>
              <a:lnSpc>
                <a:spcPct val="100000"/>
              </a:lnSpc>
              <a:spcBef>
                <a:spcPts val="799"/>
              </a:spcBef>
              <a:defRPr/>
            </a:pPr>
            <a:endParaRPr lang="en-US" sz="26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600" spc="-1">
                <a:solidFill>
                  <a:schemeClr val="dk1"/>
                </a:solidFill>
                <a:latin typeface="Gill Sans"/>
                <a:ea typeface="ヒラギノ角ゴ ProN W3"/>
              </a:rPr>
              <a:t>Key that DS points to only signs DNSKEY RRset</a:t>
            </a:r>
            <a:endParaRPr lang="en-US" sz="2600" spc="-1">
              <a:solidFill>
                <a:schemeClr val="dk1"/>
              </a:solidFill>
              <a:latin typeface="Gill Sans"/>
            </a:endParaRPr>
          </a:p>
          <a:p>
            <a:pPr marL="1015920" lvl="1" indent="-254160">
              <a:spcBef>
                <a:spcPts val="799"/>
              </a:spcBef>
              <a:buClr>
                <a:srgbClr val="000000"/>
              </a:buClr>
              <a:buFont typeface="Gill Sans"/>
              <a:buChar char="•"/>
              <a:defRPr/>
            </a:pPr>
            <a:r>
              <a:rPr lang="en-US" sz="2600" spc="-1">
                <a:solidFill>
                  <a:schemeClr val="dk1"/>
                </a:solidFill>
                <a:latin typeface="Gill Sans"/>
                <a:ea typeface="ヒラギノ角ゴ ProN W3"/>
              </a:rPr>
              <a:t>Key Signing Key (KSK)</a:t>
            </a:r>
            <a:endParaRPr lang="en-US" sz="26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600" spc="-1">
                <a:solidFill>
                  <a:schemeClr val="dk1"/>
                </a:solidFill>
                <a:latin typeface="Gill Sans"/>
                <a:ea typeface="ヒラギノ角ゴ ProN W3"/>
              </a:rPr>
              <a:t>Other keys in DNSKEY RRset sign entries in zone</a:t>
            </a:r>
            <a:endParaRPr lang="en-US" sz="2600" spc="-1">
              <a:solidFill>
                <a:schemeClr val="dk1"/>
              </a:solidFill>
              <a:latin typeface="Gill Sans"/>
            </a:endParaRPr>
          </a:p>
          <a:p>
            <a:pPr marL="1015920" lvl="1" indent="-254160">
              <a:spcBef>
                <a:spcPts val="799"/>
              </a:spcBef>
              <a:buClr>
                <a:srgbClr val="000000"/>
              </a:buClr>
              <a:buFont typeface="Gill Sans"/>
              <a:buChar char="•"/>
              <a:defRPr/>
            </a:pPr>
            <a:r>
              <a:rPr lang="en-US" sz="2600" spc="-1">
                <a:solidFill>
                  <a:schemeClr val="dk1"/>
                </a:solidFill>
                <a:latin typeface="Gill Sans"/>
                <a:ea typeface="ヒラギノ角ゴ ProN W3"/>
              </a:rPr>
              <a:t>Zone Signing Key (ZSK)</a:t>
            </a:r>
            <a:endParaRPr lang="en-US" sz="26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1669203"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4300" spc="-1">
                <a:solidFill>
                  <a:srgbClr val="275742"/>
                </a:solidFill>
                <a:latin typeface="Gill Sans"/>
                <a:ea typeface="ヒラギノ角ゴ ProN W3"/>
              </a:rPr>
              <a:t>The Important Considerations</a:t>
            </a:r>
            <a:endParaRPr lang="en-US" sz="4300" spc="-1">
              <a:solidFill>
                <a:srgbClr val="000000"/>
              </a:solidFill>
              <a:latin typeface="Times New Roman"/>
            </a:endParaRPr>
          </a:p>
        </p:txBody>
      </p:sp>
      <p:sp>
        <p:nvSpPr>
          <p:cNvPr id="687342293"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KSK and ZSK have different ‘shielding’ properties: KSK on smartcard, ZSK on disk</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ZSK needs ‘daily’ or permanent use. </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KSK less frequent</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ZSK change needs no involvement with 3rd parties</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KSK may need uncontrolled cooperation from 3rd parties</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1922809" name="PlaceHolder 1"/>
          <p:cNvSpPr>
            <a:spLocks noGrp="1"/>
          </p:cNvSpPr>
          <p:nvPr>
            <p:ph type="title"/>
          </p:nvPr>
        </p:nvSpPr>
        <p:spPr bwMode="auto">
          <a:xfrm>
            <a:off x="2209800" y="166680"/>
            <a:ext cx="7775280" cy="2028600"/>
          </a:xfrm>
          <a:prstGeom prst="rect">
            <a:avLst/>
          </a:prstGeom>
          <a:noFill/>
          <a:ln w="0">
            <a:noFill/>
          </a:ln>
          <a:effectLst>
            <a:outerShdw blurRad="127080" dist="75858" dir="2700000" rotWithShape="0">
              <a:srgbClr val="000000">
                <a:alpha val="75000"/>
              </a:srgbClr>
            </a:outerShdw>
          </a:effectLst>
        </p:spPr>
        <p:txBody>
          <a:bodyPr vert="horz" lIns="50760" tIns="50760" rIns="39240" bIns="50760" numCol="1" spcCol="0" rtlCol="0" anchor="ctr">
            <a:noAutofit/>
          </a:bodyPr>
          <a:lstStyle/>
          <a:p>
            <a:pPr marL="38160" algn="ctr">
              <a:lnSpc>
                <a:spcPct val="100000"/>
              </a:lnSpc>
              <a:tabLst>
                <a:tab pos="38160" algn="l"/>
                <a:tab pos="482760" algn="l"/>
                <a:tab pos="939960" algn="l"/>
                <a:tab pos="1384200" algn="l"/>
                <a:tab pos="1828800" algn="l"/>
                <a:tab pos="2286000" algn="l"/>
                <a:tab pos="2730600" algn="l"/>
                <a:tab pos="3187800" algn="l"/>
                <a:tab pos="3632040" algn="l"/>
                <a:tab pos="4076640" algn="l"/>
                <a:tab pos="4533840" algn="l"/>
                <a:tab pos="4978440" algn="l"/>
                <a:tab pos="5423039" algn="l"/>
                <a:tab pos="5880240" algn="l"/>
                <a:tab pos="6324480" algn="l"/>
                <a:tab pos="6781680" algn="l"/>
                <a:tab pos="7226280" algn="l"/>
                <a:tab pos="7670880" algn="l"/>
                <a:tab pos="8128080" algn="l"/>
                <a:tab pos="8572680" algn="l"/>
                <a:tab pos="9016920" algn="l"/>
                <a:tab pos="9182160" algn="l"/>
              </a:tabLst>
              <a:defRPr/>
            </a:pPr>
            <a:r>
              <a:rPr lang="en-US" sz="5400" spc="-1">
                <a:solidFill>
                  <a:srgbClr val="275742"/>
                </a:solidFill>
                <a:latin typeface="Gill Sans"/>
                <a:ea typeface="ヒラギノ角ゴ ProN W3"/>
              </a:rPr>
              <a:t>Initial Key Exchange</a:t>
            </a:r>
            <a:endParaRPr lang="en-US" sz="5400" spc="-1">
              <a:solidFill>
                <a:srgbClr val="000000"/>
              </a:solidFill>
              <a:latin typeface="Times New Roman"/>
            </a:endParaRPr>
          </a:p>
        </p:txBody>
      </p:sp>
      <p:sp>
        <p:nvSpPr>
          <p:cNvPr id="1342560501"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Child needs to:</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Send key signing keyset to parent</a:t>
            </a:r>
            <a:endParaRPr lang="en-US" sz="2800" spc="-1">
              <a:solidFill>
                <a:schemeClr val="dk1"/>
              </a:solidFill>
              <a:latin typeface="Gill Sans"/>
            </a:endParaRPr>
          </a:p>
          <a:p>
            <a:pPr>
              <a:lnSpc>
                <a:spcPct val="100000"/>
              </a:lnSpc>
              <a:spcBef>
                <a:spcPts val="799"/>
              </a:spcBef>
              <a:defRPr/>
            </a:pP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Parent needs to:</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Check childs zone</a:t>
            </a:r>
            <a:endParaRPr lang="en-US" sz="2800" spc="-1">
              <a:solidFill>
                <a:schemeClr val="dk1"/>
              </a:solidFill>
              <a:latin typeface="Gill Sans"/>
            </a:endParaRPr>
          </a:p>
          <a:p>
            <a:pPr marL="1460520" lvl="2" indent="-254160">
              <a:spcBef>
                <a:spcPts val="799"/>
              </a:spcBef>
              <a:buClr>
                <a:srgbClr val="000000"/>
              </a:buClr>
              <a:buFont typeface="Gill Sans"/>
              <a:buChar char="•"/>
              <a:defRPr/>
            </a:pPr>
            <a:r>
              <a:rPr lang="en-US" sz="2800" spc="-1">
                <a:solidFill>
                  <a:schemeClr val="dk1"/>
                </a:solidFill>
                <a:latin typeface="Gill Sans"/>
                <a:ea typeface="ヒラギノ角ゴ ProN W3"/>
              </a:rPr>
              <a:t>for DNSKEY &amp; RRSIGs</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Verify if key can be trusted</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Generate DS RR</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grpSp>
        <p:nvGrpSpPr>
          <p:cNvPr id="1936546363" name="Group 7"/>
          <p:cNvGrpSpPr/>
          <p:nvPr/>
        </p:nvGrpSpPr>
        <p:grpSpPr bwMode="auto">
          <a:xfrm>
            <a:off x="1665120" y="1371600"/>
            <a:ext cx="4217760" cy="2055600"/>
            <a:chOff x="141120" y="1371600"/>
            <a:chExt cx="4217760" cy="2055600"/>
          </a:xfrm>
        </p:grpSpPr>
        <p:sp>
          <p:nvSpPr>
            <p:cNvPr id="480" name="AutoShape 1"/>
            <p:cNvSpPr/>
            <p:nvPr/>
          </p:nvSpPr>
          <p:spPr bwMode="auto">
            <a:xfrm>
              <a:off x="914400" y="1676520"/>
              <a:ext cx="3444480" cy="1750680"/>
            </a:xfrm>
            <a:prstGeom prst="roundRect">
              <a:avLst>
                <a:gd name="adj" fmla="val 83"/>
              </a:avLst>
            </a:prstGeom>
            <a:solidFill>
              <a:srgbClr val="99CCFF"/>
            </a:solidFill>
            <a:ln w="12700">
              <a:solidFill>
                <a:srgbClr val="000000"/>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481" name="Rectangle 2"/>
            <p:cNvSpPr/>
            <p:nvPr/>
          </p:nvSpPr>
          <p:spPr bwMode="auto">
            <a:xfrm>
              <a:off x="2281337" y="1428474"/>
              <a:ext cx="1042527"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$ORIGIN .</a:t>
              </a:r>
              <a:endParaRPr lang="en-US" sz="1600" spc="-1">
                <a:solidFill>
                  <a:srgbClr val="000000"/>
                </a:solidFill>
                <a:latin typeface="Arial"/>
              </a:endParaRPr>
            </a:p>
          </p:txBody>
        </p:sp>
        <p:sp>
          <p:nvSpPr>
            <p:cNvPr id="482" name="Rectangle 3"/>
            <p:cNvSpPr/>
            <p:nvPr/>
          </p:nvSpPr>
          <p:spPr bwMode="auto">
            <a:xfrm>
              <a:off x="877320" y="1735920"/>
              <a:ext cx="3336120" cy="397439"/>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400" b="1" spc="-1">
                  <a:solidFill>
                    <a:schemeClr val="dk1"/>
                  </a:solidFill>
                  <a:latin typeface="Arial"/>
                  <a:ea typeface="Arial"/>
                </a:rPr>
                <a:t>.     DNSKEY (…) 5TQ3s… (</a:t>
              </a:r>
              <a:r>
                <a:rPr lang="en-US" sz="1400" b="1" spc="-1">
                  <a:solidFill>
                    <a:srgbClr val="CC0000"/>
                  </a:solidFill>
                  <a:latin typeface="Arial"/>
                  <a:ea typeface="Arial"/>
                </a:rPr>
                <a:t>8907</a:t>
              </a:r>
              <a:r>
                <a:rPr lang="en-US" sz="1400" b="1" spc="-1">
                  <a:solidFill>
                    <a:schemeClr val="dk1"/>
                  </a:solidFill>
                  <a:latin typeface="Arial"/>
                  <a:ea typeface="Arial"/>
                </a:rPr>
                <a:t>) ; </a:t>
              </a:r>
              <a:r>
                <a:rPr lang="en-US" sz="1400" b="1" spc="-1">
                  <a:solidFill>
                    <a:srgbClr val="CC0000"/>
                  </a:solidFill>
                  <a:latin typeface="Arial"/>
                  <a:ea typeface="Arial"/>
                </a:rPr>
                <a:t>KSK</a:t>
              </a:r>
              <a:endParaRPr lang="en-US" sz="1400" spc="-1">
                <a:solidFill>
                  <a:srgbClr val="000000"/>
                </a:solidFill>
                <a:latin typeface="Arial"/>
              </a:endParaRPr>
            </a:p>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400" b="1" i="1" spc="-1">
                  <a:solidFill>
                    <a:schemeClr val="dk1"/>
                  </a:solidFill>
                  <a:latin typeface="Arial"/>
                  <a:ea typeface="Arial"/>
                </a:rPr>
                <a:t>      DNSKEY (…) lasE5… (2983)   ; ZSK</a:t>
              </a:r>
              <a:endParaRPr lang="en-US" sz="1400" spc="-1">
                <a:solidFill>
                  <a:srgbClr val="000000"/>
                </a:solidFill>
                <a:latin typeface="Arial"/>
              </a:endParaRPr>
            </a:p>
          </p:txBody>
        </p:sp>
        <p:grpSp>
          <p:nvGrpSpPr>
            <p:cNvPr id="483" name="Group 6"/>
            <p:cNvGrpSpPr/>
            <p:nvPr/>
          </p:nvGrpSpPr>
          <p:grpSpPr bwMode="auto">
            <a:xfrm>
              <a:off x="141120" y="1371600"/>
              <a:ext cx="420480" cy="455400"/>
              <a:chOff x="141120" y="1371600"/>
              <a:chExt cx="420480" cy="455400"/>
            </a:xfrm>
          </p:grpSpPr>
          <p:sp>
            <p:nvSpPr>
              <p:cNvPr id="484" name="Rectangle 4"/>
              <p:cNvSpPr/>
              <p:nvPr/>
            </p:nvSpPr>
            <p:spPr bwMode="auto">
              <a:xfrm>
                <a:off x="255002" y="1488954"/>
                <a:ext cx="194517"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600" b="1" spc="-1">
                    <a:solidFill>
                      <a:schemeClr val="dk1"/>
                    </a:solidFill>
                    <a:latin typeface="Arial"/>
                    <a:ea typeface="Arial"/>
                  </a:rPr>
                  <a:t>1</a:t>
                </a:r>
                <a:endParaRPr lang="en-US" sz="1600" spc="-1">
                  <a:solidFill>
                    <a:srgbClr val="000000"/>
                  </a:solidFill>
                  <a:latin typeface="Arial"/>
                </a:endParaRPr>
              </a:p>
            </p:txBody>
          </p:sp>
          <p:sp>
            <p:nvSpPr>
              <p:cNvPr id="485" name="Oval 5"/>
              <p:cNvSpPr/>
              <p:nvPr/>
            </p:nvSpPr>
            <p:spPr bwMode="auto">
              <a:xfrm>
                <a:off x="141120" y="1371600"/>
                <a:ext cx="420480" cy="455400"/>
              </a:xfrm>
              <a:prstGeom prst="ellipse">
                <a:avLst/>
              </a:prstGeom>
              <a:noFill/>
              <a:ln w="25400">
                <a:solidFill>
                  <a:srgbClr val="009999"/>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grpSp>
      <p:grpSp>
        <p:nvGrpSpPr>
          <p:cNvPr id="157508609" name="Group 16"/>
          <p:cNvGrpSpPr/>
          <p:nvPr/>
        </p:nvGrpSpPr>
        <p:grpSpPr bwMode="auto">
          <a:xfrm>
            <a:off x="4973520" y="1981080"/>
            <a:ext cx="5492648" cy="2665080"/>
            <a:chOff x="3449519" y="1981080"/>
            <a:chExt cx="5492648" cy="2665080"/>
          </a:xfrm>
        </p:grpSpPr>
        <p:grpSp>
          <p:nvGrpSpPr>
            <p:cNvPr id="487" name="Group 10"/>
            <p:cNvGrpSpPr/>
            <p:nvPr/>
          </p:nvGrpSpPr>
          <p:grpSpPr bwMode="auto">
            <a:xfrm>
              <a:off x="4856039" y="2266554"/>
              <a:ext cx="4009680" cy="2379606"/>
              <a:chOff x="4856039" y="2266554"/>
              <a:chExt cx="4009680" cy="2379606"/>
            </a:xfrm>
          </p:grpSpPr>
          <p:sp>
            <p:nvSpPr>
              <p:cNvPr id="488" name="AutoShape 8"/>
              <p:cNvSpPr/>
              <p:nvPr/>
            </p:nvSpPr>
            <p:spPr bwMode="auto">
              <a:xfrm>
                <a:off x="4856039" y="2513160"/>
                <a:ext cx="4009680" cy="2133000"/>
              </a:xfrm>
              <a:prstGeom prst="roundRect">
                <a:avLst>
                  <a:gd name="adj" fmla="val 69"/>
                </a:avLst>
              </a:prstGeom>
              <a:solidFill>
                <a:srgbClr val="FFFF00"/>
              </a:solidFill>
              <a:ln w="12700">
                <a:solidFill>
                  <a:srgbClr val="000000"/>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489" name="Rectangle 9"/>
              <p:cNvSpPr/>
              <p:nvPr/>
            </p:nvSpPr>
            <p:spPr bwMode="auto">
              <a:xfrm>
                <a:off x="7465361" y="2266554"/>
                <a:ext cx="1349919"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$ORIGIN net.</a:t>
                </a:r>
                <a:endParaRPr lang="en-US" sz="1600" spc="-1">
                  <a:solidFill>
                    <a:srgbClr val="000000"/>
                  </a:solidFill>
                  <a:latin typeface="Arial"/>
                </a:endParaRPr>
              </a:p>
            </p:txBody>
          </p:sp>
        </p:grpSp>
        <p:sp>
          <p:nvSpPr>
            <p:cNvPr id="490" name="Rectangle 11"/>
            <p:cNvSpPr/>
            <p:nvPr/>
          </p:nvSpPr>
          <p:spPr bwMode="auto">
            <a:xfrm>
              <a:off x="4944473" y="2647427"/>
              <a:ext cx="3997695" cy="457945"/>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net.  DNSKEY (…) q3dEw… (</a:t>
              </a:r>
              <a:r>
                <a:rPr lang="en-US" sz="1600" b="1" spc="-1">
                  <a:solidFill>
                    <a:srgbClr val="CC0000"/>
                  </a:solidFill>
                  <a:latin typeface="Arial"/>
                  <a:ea typeface="Arial"/>
                </a:rPr>
                <a:t>7834</a:t>
              </a:r>
              <a:r>
                <a:rPr lang="en-US" sz="1600" b="1" spc="-1">
                  <a:solidFill>
                    <a:schemeClr val="dk1"/>
                  </a:solidFill>
                  <a:latin typeface="Arial"/>
                  <a:ea typeface="Arial"/>
                </a:rPr>
                <a:t>) ; </a:t>
              </a:r>
              <a:r>
                <a:rPr lang="en-US" sz="1600" b="1" spc="-1">
                  <a:solidFill>
                    <a:srgbClr val="CC0000"/>
                  </a:solidFill>
                  <a:latin typeface="Arial"/>
                  <a:ea typeface="Arial"/>
                </a:rPr>
                <a:t>KSK</a:t>
              </a:r>
              <a:endParaRPr lang="en-US" sz="1600" spc="-1">
                <a:solidFill>
                  <a:srgbClr val="000000"/>
                </a:solidFill>
                <a:latin typeface="Arial"/>
              </a:endParaRPr>
            </a:p>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        DNS</a:t>
              </a:r>
              <a:r>
                <a:rPr lang="en-US" sz="1600" b="1" i="1" spc="-1">
                  <a:solidFill>
                    <a:schemeClr val="dk1"/>
                  </a:solidFill>
                  <a:latin typeface="Arial"/>
                  <a:ea typeface="Arial"/>
                </a:rPr>
                <a:t>KEY (…) 5TQ3s… (5612) ; ZSK</a:t>
              </a:r>
              <a:endParaRPr lang="en-US" sz="1600" spc="-1">
                <a:solidFill>
                  <a:srgbClr val="000000"/>
                </a:solidFill>
                <a:latin typeface="Arial"/>
              </a:endParaRPr>
            </a:p>
          </p:txBody>
        </p:sp>
        <p:sp>
          <p:nvSpPr>
            <p:cNvPr id="491" name="AutoShape 12"/>
            <p:cNvSpPr/>
            <p:nvPr/>
          </p:nvSpPr>
          <p:spPr bwMode="auto">
            <a:xfrm>
              <a:off x="3449519" y="2419200"/>
              <a:ext cx="3111120" cy="385560"/>
            </a:xfrm>
            <a:custGeom>
              <a:avLst/>
              <a:gdLst>
                <a:gd name="textAreaLeft" fmla="*/ 0 w 3111120"/>
                <a:gd name="textAreaRight" fmla="*/ 3111480 w 3111120"/>
                <a:gd name="textAreaTop" fmla="*/ 0 h 385560"/>
                <a:gd name="textAreaBottom" fmla="*/ 385920 h 385560"/>
              </a:gdLst>
              <a:ahLst/>
              <a:cxnLst/>
              <a:rect l="textAreaLeft" t="textAreaTop" r="textAreaRight" b="textAreaBottom"/>
              <a:pathLst>
                <a:path w="21600" h="21600" fill="norm" stroke="1" extrusionOk="0">
                  <a:moveTo>
                    <a:pt x="0" y="21419"/>
                  </a:moveTo>
                  <a:lnTo>
                    <a:pt x="1147" y="21600"/>
                  </a:lnTo>
                  <a:lnTo>
                    <a:pt x="2377" y="21600"/>
                  </a:lnTo>
                  <a:lnTo>
                    <a:pt x="2946" y="21419"/>
                  </a:lnTo>
                  <a:lnTo>
                    <a:pt x="3456" y="20897"/>
                  </a:lnTo>
                  <a:lnTo>
                    <a:pt x="4028" y="20094"/>
                  </a:lnTo>
                  <a:lnTo>
                    <a:pt x="4536" y="18850"/>
                  </a:lnTo>
                  <a:lnTo>
                    <a:pt x="4961" y="17083"/>
                  </a:lnTo>
                  <a:lnTo>
                    <a:pt x="5318" y="14594"/>
                  </a:lnTo>
                  <a:lnTo>
                    <a:pt x="5540" y="11844"/>
                  </a:lnTo>
                  <a:lnTo>
                    <a:pt x="5828" y="8752"/>
                  </a:lnTo>
                  <a:lnTo>
                    <a:pt x="6183" y="5741"/>
                  </a:lnTo>
                  <a:lnTo>
                    <a:pt x="6690" y="3252"/>
                  </a:lnTo>
                  <a:lnTo>
                    <a:pt x="7332" y="1204"/>
                  </a:lnTo>
                  <a:lnTo>
                    <a:pt x="7700" y="683"/>
                  </a:lnTo>
                  <a:lnTo>
                    <a:pt x="8197" y="241"/>
                  </a:lnTo>
                  <a:lnTo>
                    <a:pt x="9346" y="0"/>
                  </a:lnTo>
                  <a:lnTo>
                    <a:pt x="10641" y="502"/>
                  </a:lnTo>
                  <a:lnTo>
                    <a:pt x="12158" y="1486"/>
                  </a:lnTo>
                  <a:lnTo>
                    <a:pt x="13735" y="2710"/>
                  </a:lnTo>
                  <a:lnTo>
                    <a:pt x="15464" y="4497"/>
                  </a:lnTo>
                  <a:lnTo>
                    <a:pt x="17266" y="6524"/>
                  </a:lnTo>
                  <a:lnTo>
                    <a:pt x="21600" y="11464"/>
                  </a:lnTo>
                </a:path>
              </a:pathLst>
            </a:custGeom>
            <a:noFill/>
            <a:ln w="25400">
              <a:solidFill>
                <a:srgbClr val="009999"/>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grpSp>
          <p:nvGrpSpPr>
            <p:cNvPr id="492" name="Group 15"/>
            <p:cNvGrpSpPr/>
            <p:nvPr/>
          </p:nvGrpSpPr>
          <p:grpSpPr bwMode="auto">
            <a:xfrm>
              <a:off x="4995720" y="1981080"/>
              <a:ext cx="420480" cy="455400"/>
              <a:chOff x="4995720" y="1981080"/>
              <a:chExt cx="420480" cy="455400"/>
            </a:xfrm>
          </p:grpSpPr>
          <p:sp>
            <p:nvSpPr>
              <p:cNvPr id="493" name="Rectangle 13"/>
              <p:cNvSpPr/>
              <p:nvPr/>
            </p:nvSpPr>
            <p:spPr bwMode="auto">
              <a:xfrm>
                <a:off x="5106362" y="2082594"/>
                <a:ext cx="194517"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600" b="1" spc="-1">
                    <a:solidFill>
                      <a:schemeClr val="dk1"/>
                    </a:solidFill>
                    <a:latin typeface="Arial"/>
                    <a:ea typeface="Arial"/>
                  </a:rPr>
                  <a:t>4</a:t>
                </a:r>
                <a:endParaRPr lang="en-US" sz="1600" spc="-1">
                  <a:solidFill>
                    <a:srgbClr val="000000"/>
                  </a:solidFill>
                  <a:latin typeface="Arial"/>
                </a:endParaRPr>
              </a:p>
            </p:txBody>
          </p:sp>
          <p:sp>
            <p:nvSpPr>
              <p:cNvPr id="494" name="Oval 14"/>
              <p:cNvSpPr/>
              <p:nvPr/>
            </p:nvSpPr>
            <p:spPr bwMode="auto">
              <a:xfrm>
                <a:off x="4995720" y="1981080"/>
                <a:ext cx="420480" cy="455400"/>
              </a:xfrm>
              <a:prstGeom prst="ellipse">
                <a:avLst/>
              </a:prstGeom>
              <a:noFill/>
              <a:ln w="25400">
                <a:solidFill>
                  <a:srgbClr val="009999"/>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grpSp>
      <p:grpSp>
        <p:nvGrpSpPr>
          <p:cNvPr id="2011501543" name="Group 25"/>
          <p:cNvGrpSpPr/>
          <p:nvPr/>
        </p:nvGrpSpPr>
        <p:grpSpPr bwMode="auto">
          <a:xfrm>
            <a:off x="1665120" y="3809880"/>
            <a:ext cx="5697360" cy="2515680"/>
            <a:chOff x="141120" y="3809880"/>
            <a:chExt cx="5697360" cy="2515680"/>
          </a:xfrm>
        </p:grpSpPr>
        <p:grpSp>
          <p:nvGrpSpPr>
            <p:cNvPr id="496" name="Group 19"/>
            <p:cNvGrpSpPr/>
            <p:nvPr/>
          </p:nvGrpSpPr>
          <p:grpSpPr bwMode="auto">
            <a:xfrm>
              <a:off x="141120" y="4019394"/>
              <a:ext cx="4571640" cy="2306166"/>
              <a:chOff x="141120" y="4019394"/>
              <a:chExt cx="4571640" cy="2306166"/>
            </a:xfrm>
          </p:grpSpPr>
          <p:sp>
            <p:nvSpPr>
              <p:cNvPr id="497" name="AutoShape 17"/>
              <p:cNvSpPr/>
              <p:nvPr/>
            </p:nvSpPr>
            <p:spPr bwMode="auto">
              <a:xfrm>
                <a:off x="141120" y="4341960"/>
                <a:ext cx="4571640" cy="1983600"/>
              </a:xfrm>
              <a:prstGeom prst="roundRect">
                <a:avLst>
                  <a:gd name="adj" fmla="val 79"/>
                </a:avLst>
              </a:prstGeom>
              <a:solidFill>
                <a:srgbClr val="C0C0C0"/>
              </a:solidFill>
              <a:ln w="12700">
                <a:solidFill>
                  <a:srgbClr val="000000"/>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498" name="Rectangle 18"/>
              <p:cNvSpPr/>
              <p:nvPr/>
            </p:nvSpPr>
            <p:spPr bwMode="auto">
              <a:xfrm>
                <a:off x="1767284" y="4019394"/>
                <a:ext cx="1726113"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$ORIGIN foo.net.</a:t>
                </a:r>
                <a:endParaRPr lang="en-US" sz="1600" spc="-1">
                  <a:solidFill>
                    <a:srgbClr val="000000"/>
                  </a:solidFill>
                  <a:latin typeface="Arial"/>
                </a:endParaRPr>
              </a:p>
            </p:txBody>
          </p:sp>
        </p:grpSp>
        <p:sp>
          <p:nvSpPr>
            <p:cNvPr id="499" name="Rectangle 20"/>
            <p:cNvSpPr/>
            <p:nvPr/>
          </p:nvSpPr>
          <p:spPr bwMode="auto">
            <a:xfrm>
              <a:off x="157097" y="4552187"/>
              <a:ext cx="4466606" cy="457945"/>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 foo.net. DNSKEY (…) rwx002…  (</a:t>
              </a:r>
              <a:r>
                <a:rPr lang="en-US" sz="1600" b="1" spc="-1">
                  <a:solidFill>
                    <a:srgbClr val="CC0000"/>
                  </a:solidFill>
                  <a:latin typeface="Arial"/>
                  <a:ea typeface="Arial"/>
                </a:rPr>
                <a:t>4252</a:t>
              </a:r>
              <a:r>
                <a:rPr lang="en-US" sz="1600" b="1" spc="-1">
                  <a:solidFill>
                    <a:schemeClr val="dk1"/>
                  </a:solidFill>
                  <a:latin typeface="Arial"/>
                  <a:ea typeface="Arial"/>
                </a:rPr>
                <a:t>) ; KSK</a:t>
              </a:r>
              <a:endParaRPr lang="en-US" sz="1600" spc="-1">
                <a:solidFill>
                  <a:srgbClr val="000000"/>
                </a:solidFill>
                <a:latin typeface="Arial"/>
              </a:endParaRPr>
            </a:p>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i="1" spc="-1">
                  <a:solidFill>
                    <a:schemeClr val="dk1"/>
                  </a:solidFill>
                  <a:latin typeface="Arial"/>
                  <a:ea typeface="Arial"/>
                </a:rPr>
                <a:t>	DNSKEY (…) sovP42…  (1111) ; ZSK</a:t>
              </a:r>
              <a:endParaRPr lang="en-US" sz="1600" spc="-1">
                <a:solidFill>
                  <a:srgbClr val="000000"/>
                </a:solidFill>
                <a:latin typeface="Arial"/>
              </a:endParaRPr>
            </a:p>
          </p:txBody>
        </p:sp>
        <p:sp>
          <p:nvSpPr>
            <p:cNvPr id="500" name="AutoShape 21"/>
            <p:cNvSpPr/>
            <p:nvPr/>
          </p:nvSpPr>
          <p:spPr bwMode="auto">
            <a:xfrm>
              <a:off x="3218040" y="4035600"/>
              <a:ext cx="2620440" cy="474480"/>
            </a:xfrm>
            <a:custGeom>
              <a:avLst/>
              <a:gdLst>
                <a:gd name="textAreaLeft" fmla="*/ 0 w 2620440"/>
                <a:gd name="textAreaRight" fmla="*/ 2620800 w 2620440"/>
                <a:gd name="textAreaTop" fmla="*/ 0 h 474480"/>
                <a:gd name="textAreaBottom" fmla="*/ 474840 h 474480"/>
              </a:gdLst>
              <a:ahLst/>
              <a:cxnLst/>
              <a:rect l="textAreaLeft" t="textAreaTop" r="textAreaRight" b="textAreaBottom"/>
              <a:pathLst>
                <a:path w="21600" h="21600" fill="norm" stroke="1" extrusionOk="0">
                  <a:moveTo>
                    <a:pt x="21600" y="0"/>
                  </a:moveTo>
                  <a:lnTo>
                    <a:pt x="21443" y="180"/>
                  </a:lnTo>
                  <a:lnTo>
                    <a:pt x="21140" y="539"/>
                  </a:lnTo>
                  <a:lnTo>
                    <a:pt x="20597" y="1078"/>
                  </a:lnTo>
                  <a:lnTo>
                    <a:pt x="19822" y="1829"/>
                  </a:lnTo>
                  <a:lnTo>
                    <a:pt x="18819" y="2728"/>
                  </a:lnTo>
                  <a:lnTo>
                    <a:pt x="17742" y="3806"/>
                  </a:lnTo>
                  <a:lnTo>
                    <a:pt x="16436" y="5063"/>
                  </a:lnTo>
                  <a:lnTo>
                    <a:pt x="15047" y="6501"/>
                  </a:lnTo>
                  <a:lnTo>
                    <a:pt x="13513" y="8085"/>
                  </a:lnTo>
                  <a:lnTo>
                    <a:pt x="11893" y="9718"/>
                  </a:lnTo>
                  <a:lnTo>
                    <a:pt x="10184" y="11335"/>
                  </a:lnTo>
                  <a:lnTo>
                    <a:pt x="8335" y="13132"/>
                  </a:lnTo>
                  <a:lnTo>
                    <a:pt x="4560" y="16921"/>
                  </a:lnTo>
                  <a:lnTo>
                    <a:pt x="0" y="21600"/>
                  </a:lnTo>
                </a:path>
              </a:pathLst>
            </a:custGeom>
            <a:noFill/>
            <a:ln w="25400">
              <a:solidFill>
                <a:srgbClr val="009999"/>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grpSp>
          <p:nvGrpSpPr>
            <p:cNvPr id="501" name="Group 24"/>
            <p:cNvGrpSpPr/>
            <p:nvPr/>
          </p:nvGrpSpPr>
          <p:grpSpPr bwMode="auto">
            <a:xfrm>
              <a:off x="3940200" y="3809880"/>
              <a:ext cx="420480" cy="456840"/>
              <a:chOff x="3940200" y="3809880"/>
              <a:chExt cx="420480" cy="456840"/>
            </a:xfrm>
          </p:grpSpPr>
          <p:sp>
            <p:nvSpPr>
              <p:cNvPr id="502" name="Rectangle 22"/>
              <p:cNvSpPr/>
              <p:nvPr/>
            </p:nvSpPr>
            <p:spPr bwMode="auto">
              <a:xfrm>
                <a:off x="4052282" y="3927234"/>
                <a:ext cx="194517"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600" b="1" spc="-1">
                    <a:solidFill>
                      <a:schemeClr val="dk1"/>
                    </a:solidFill>
                    <a:latin typeface="Arial"/>
                    <a:ea typeface="Arial"/>
                  </a:rPr>
                  <a:t>7</a:t>
                </a:r>
                <a:endParaRPr lang="en-US" sz="1600" spc="-1">
                  <a:solidFill>
                    <a:srgbClr val="000000"/>
                  </a:solidFill>
                  <a:latin typeface="Arial"/>
                </a:endParaRPr>
              </a:p>
            </p:txBody>
          </p:sp>
          <p:sp>
            <p:nvSpPr>
              <p:cNvPr id="503" name="Oval 23"/>
              <p:cNvSpPr/>
              <p:nvPr/>
            </p:nvSpPr>
            <p:spPr bwMode="auto">
              <a:xfrm>
                <a:off x="3940200" y="3809880"/>
                <a:ext cx="420480" cy="456840"/>
              </a:xfrm>
              <a:prstGeom prst="ellipse">
                <a:avLst/>
              </a:prstGeom>
              <a:noFill/>
              <a:ln w="25400">
                <a:solidFill>
                  <a:srgbClr val="009999"/>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grpSp>
      <p:sp>
        <p:nvSpPr>
          <p:cNvPr id="1128646012" name="PlaceHolder 1"/>
          <p:cNvSpPr>
            <a:spLocks noGrp="1"/>
          </p:cNvSpPr>
          <p:nvPr>
            <p:ph type="title"/>
          </p:nvPr>
        </p:nvSpPr>
        <p:spPr bwMode="auto">
          <a:xfrm>
            <a:off x="2489160" y="-135000"/>
            <a:ext cx="7829280" cy="1414080"/>
          </a:xfrm>
          <a:prstGeom prst="rect">
            <a:avLst/>
          </a:prstGeom>
          <a:noFill/>
          <a:ln w="0">
            <a:noFill/>
          </a:ln>
          <a:effectLst>
            <a:outerShdw blurRad="127080" dist="75858" dir="2700000" rotWithShape="0">
              <a:srgbClr val="000000">
                <a:alpha val="75000"/>
              </a:srgbClr>
            </a:outerShdw>
          </a:effectLst>
        </p:spPr>
        <p:txBody>
          <a:bodyPr vert="horz" lIns="50760" tIns="50760" rIns="41400" bIns="50760" numCol="1" spcCol="0" rtlCol="0" anchor="ctr">
            <a:noAutofit/>
          </a:bodyPr>
          <a:lstStyle/>
          <a:p>
            <a:pPr marL="41400" algn="ctr">
              <a:lnSpc>
                <a:spcPct val="100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5300" spc="-1">
                <a:solidFill>
                  <a:srgbClr val="275742"/>
                </a:solidFill>
                <a:latin typeface="Gill Sans"/>
                <a:ea typeface="ヒラギノ角ゴ ProN W3"/>
              </a:rPr>
              <a:t>Walking the Chain of Trust</a:t>
            </a:r>
            <a:endParaRPr lang="en-US" sz="5300" spc="-1">
              <a:solidFill>
                <a:srgbClr val="000000"/>
              </a:solidFill>
              <a:latin typeface="Times New Roman"/>
            </a:endParaRPr>
          </a:p>
        </p:txBody>
      </p:sp>
      <p:grpSp>
        <p:nvGrpSpPr>
          <p:cNvPr id="1516917389" name="Group 29"/>
          <p:cNvGrpSpPr/>
          <p:nvPr/>
        </p:nvGrpSpPr>
        <p:grpSpPr bwMode="auto">
          <a:xfrm>
            <a:off x="2503560" y="888840"/>
            <a:ext cx="2305000" cy="709200"/>
            <a:chOff x="979560" y="888840"/>
            <a:chExt cx="2305000" cy="709200"/>
          </a:xfrm>
        </p:grpSpPr>
        <p:pic>
          <p:nvPicPr>
            <p:cNvPr id="506" name="Picture 27"/>
            <p:cNvPicPr/>
            <p:nvPr/>
          </p:nvPicPr>
          <p:blipFill rotWithShape="1">
            <a:blip r:embed="rId3"/>
            <a:stretch/>
          </p:blipFill>
          <p:spPr bwMode="auto">
            <a:xfrm>
              <a:off x="979560" y="888840"/>
              <a:ext cx="445680" cy="709200"/>
            </a:xfrm>
            <a:prstGeom prst="rect">
              <a:avLst/>
            </a:prstGeom>
            <a:ln w="0">
              <a:noFill/>
            </a:ln>
          </p:spPr>
        </p:pic>
        <p:sp>
          <p:nvSpPr>
            <p:cNvPr id="507" name="Rectangle 28"/>
            <p:cNvSpPr/>
            <p:nvPr/>
          </p:nvSpPr>
          <p:spPr bwMode="auto">
            <a:xfrm>
              <a:off x="1251441" y="951827"/>
              <a:ext cx="2033119" cy="457945"/>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  Locally configured</a:t>
              </a:r>
              <a:endParaRPr lang="en-US" sz="1600" spc="-1">
                <a:solidFill>
                  <a:srgbClr val="000000"/>
                </a:solidFill>
                <a:latin typeface="Arial"/>
              </a:endParaRPr>
            </a:p>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  Trusted key: . </a:t>
              </a:r>
              <a:r>
                <a:rPr lang="en-US" sz="1600" b="1" spc="-1">
                  <a:solidFill>
                    <a:srgbClr val="CC0000"/>
                  </a:solidFill>
                  <a:latin typeface="Arial"/>
                  <a:ea typeface="Arial"/>
                </a:rPr>
                <a:t>8907</a:t>
              </a:r>
              <a:endParaRPr lang="en-US" sz="1600" spc="-1">
                <a:solidFill>
                  <a:srgbClr val="000000"/>
                </a:solidFill>
                <a:latin typeface="Arial"/>
              </a:endParaRPr>
            </a:p>
          </p:txBody>
        </p:sp>
      </p:grpSp>
      <p:sp>
        <p:nvSpPr>
          <p:cNvPr id="74199797" name="Rectangle 30"/>
          <p:cNvSpPr/>
          <p:nvPr/>
        </p:nvSpPr>
        <p:spPr bwMode="auto">
          <a:xfrm>
            <a:off x="1850283" y="2022115"/>
            <a:ext cx="194517"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600" b="1" spc="-1">
                <a:solidFill>
                  <a:schemeClr val="dk1"/>
                </a:solidFill>
                <a:latin typeface="Arial"/>
                <a:ea typeface="Arial"/>
              </a:rPr>
              <a:t>2</a:t>
            </a:r>
            <a:endParaRPr lang="en-US" sz="1600" spc="-1">
              <a:solidFill>
                <a:srgbClr val="000000"/>
              </a:solidFill>
              <a:latin typeface="Arial"/>
            </a:endParaRPr>
          </a:p>
        </p:txBody>
      </p:sp>
      <p:grpSp>
        <p:nvGrpSpPr>
          <p:cNvPr id="757778368" name="Group 35"/>
          <p:cNvGrpSpPr/>
          <p:nvPr/>
        </p:nvGrpSpPr>
        <p:grpSpPr bwMode="auto">
          <a:xfrm>
            <a:off x="1665120" y="1905120"/>
            <a:ext cx="4215240" cy="667080"/>
            <a:chOff x="141120" y="1905120"/>
            <a:chExt cx="4215240" cy="667080"/>
          </a:xfrm>
        </p:grpSpPr>
        <p:grpSp>
          <p:nvGrpSpPr>
            <p:cNvPr id="510" name="Group 33"/>
            <p:cNvGrpSpPr/>
            <p:nvPr/>
          </p:nvGrpSpPr>
          <p:grpSpPr bwMode="auto">
            <a:xfrm>
              <a:off x="720720" y="2131920"/>
              <a:ext cx="3635640" cy="440280"/>
              <a:chOff x="720720" y="2131920"/>
              <a:chExt cx="3635640" cy="440280"/>
            </a:xfrm>
          </p:grpSpPr>
          <p:sp>
            <p:nvSpPr>
              <p:cNvPr id="511" name="AutoShape 31"/>
              <p:cNvSpPr/>
              <p:nvPr/>
            </p:nvSpPr>
            <p:spPr bwMode="auto">
              <a:xfrm>
                <a:off x="720720" y="2131920"/>
                <a:ext cx="448920" cy="260640"/>
              </a:xfrm>
              <a:custGeom>
                <a:avLst/>
                <a:gdLst>
                  <a:gd name="textAreaLeft" fmla="*/ 0 w 448920"/>
                  <a:gd name="textAreaRight" fmla="*/ 449280 w 448920"/>
                  <a:gd name="textAreaTop" fmla="*/ 0 h 260640"/>
                  <a:gd name="textAreaBottom" fmla="*/ 261000 h 260640"/>
                </a:gdLst>
                <a:ahLst/>
                <a:cxnLst/>
                <a:rect l="textAreaLeft" t="textAreaTop" r="textAreaRight" b="textAreaBottom"/>
                <a:pathLst>
                  <a:path w="21600" h="21600" fill="norm" stroke="1" extrusionOk="0">
                    <a:moveTo>
                      <a:pt x="21140" y="21600"/>
                    </a:moveTo>
                    <a:lnTo>
                      <a:pt x="17356" y="21422"/>
                    </a:lnTo>
                    <a:lnTo>
                      <a:pt x="13604" y="21422"/>
                    </a:lnTo>
                    <a:lnTo>
                      <a:pt x="10130" y="21126"/>
                    </a:lnTo>
                    <a:lnTo>
                      <a:pt x="8493" y="20919"/>
                    </a:lnTo>
                    <a:lnTo>
                      <a:pt x="6918" y="20622"/>
                    </a:lnTo>
                    <a:lnTo>
                      <a:pt x="5590" y="20415"/>
                    </a:lnTo>
                    <a:lnTo>
                      <a:pt x="4216" y="20237"/>
                    </a:lnTo>
                    <a:lnTo>
                      <a:pt x="3150" y="19941"/>
                    </a:lnTo>
                    <a:lnTo>
                      <a:pt x="2146" y="19734"/>
                    </a:lnTo>
                    <a:lnTo>
                      <a:pt x="1390" y="19230"/>
                    </a:lnTo>
                    <a:lnTo>
                      <a:pt x="695" y="18726"/>
                    </a:lnTo>
                    <a:lnTo>
                      <a:pt x="247" y="18341"/>
                    </a:lnTo>
                    <a:lnTo>
                      <a:pt x="0" y="17838"/>
                    </a:lnTo>
                    <a:lnTo>
                      <a:pt x="124" y="17156"/>
                    </a:lnTo>
                    <a:lnTo>
                      <a:pt x="556" y="16475"/>
                    </a:lnTo>
                    <a:lnTo>
                      <a:pt x="1266" y="15468"/>
                    </a:lnTo>
                    <a:lnTo>
                      <a:pt x="2254" y="14579"/>
                    </a:lnTo>
                    <a:lnTo>
                      <a:pt x="3459" y="13424"/>
                    </a:lnTo>
                    <a:lnTo>
                      <a:pt x="4787" y="12239"/>
                    </a:lnTo>
                    <a:lnTo>
                      <a:pt x="6223" y="11054"/>
                    </a:lnTo>
                    <a:lnTo>
                      <a:pt x="7813" y="9869"/>
                    </a:lnTo>
                    <a:lnTo>
                      <a:pt x="11025" y="7676"/>
                    </a:lnTo>
                    <a:lnTo>
                      <a:pt x="12477" y="6640"/>
                    </a:lnTo>
                    <a:lnTo>
                      <a:pt x="14036" y="5632"/>
                    </a:lnTo>
                    <a:lnTo>
                      <a:pt x="15349" y="4655"/>
                    </a:lnTo>
                    <a:lnTo>
                      <a:pt x="16492" y="3766"/>
                    </a:lnTo>
                    <a:lnTo>
                      <a:pt x="17480" y="3085"/>
                    </a:lnTo>
                    <a:lnTo>
                      <a:pt x="21600" y="0"/>
                    </a:lnTo>
                  </a:path>
                </a:pathLst>
              </a:custGeom>
              <a:noFill/>
              <a:ln w="25400">
                <a:solidFill>
                  <a:srgbClr val="333399"/>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sp>
            <p:nvSpPr>
              <p:cNvPr id="512" name="Rectangle 32"/>
              <p:cNvSpPr/>
              <p:nvPr/>
            </p:nvSpPr>
            <p:spPr bwMode="auto">
              <a:xfrm>
                <a:off x="1168920" y="2373120"/>
                <a:ext cx="3187440" cy="199080"/>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400" b="1" spc="-1">
                    <a:solidFill>
                      <a:schemeClr val="dk1"/>
                    </a:solidFill>
                    <a:latin typeface="Arial"/>
                    <a:ea typeface="Arial"/>
                  </a:rPr>
                  <a:t>RRSIG  DNSKEY (…)  </a:t>
                </a:r>
                <a:r>
                  <a:rPr lang="en-US" sz="1400" b="1" spc="-1">
                    <a:solidFill>
                      <a:srgbClr val="CC0000"/>
                    </a:solidFill>
                    <a:latin typeface="Arial"/>
                    <a:ea typeface="Arial"/>
                  </a:rPr>
                  <a:t>8907</a:t>
                </a:r>
                <a:r>
                  <a:rPr lang="en-US" sz="1400" b="1" spc="-1">
                    <a:solidFill>
                      <a:schemeClr val="dk1"/>
                    </a:solidFill>
                    <a:latin typeface="Arial"/>
                    <a:ea typeface="Arial"/>
                  </a:rPr>
                  <a:t> .  69Hw9..</a:t>
                </a:r>
                <a:endParaRPr lang="en-US" sz="1400" spc="-1">
                  <a:solidFill>
                    <a:srgbClr val="000000"/>
                  </a:solidFill>
                  <a:latin typeface="Arial"/>
                </a:endParaRPr>
              </a:p>
            </p:txBody>
          </p:sp>
        </p:grpSp>
        <p:sp>
          <p:nvSpPr>
            <p:cNvPr id="513" name="Oval 34"/>
            <p:cNvSpPr/>
            <p:nvPr/>
          </p:nvSpPr>
          <p:spPr bwMode="auto">
            <a:xfrm>
              <a:off x="141120" y="1905120"/>
              <a:ext cx="421920" cy="456840"/>
            </a:xfrm>
            <a:prstGeom prst="ellipse">
              <a:avLst/>
            </a:prstGeom>
            <a:noFill/>
            <a:ln w="25400">
              <a:solidFill>
                <a:srgbClr val="333399"/>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grpSp>
        <p:nvGrpSpPr>
          <p:cNvPr id="1666382847" name="Group 42"/>
          <p:cNvGrpSpPr/>
          <p:nvPr/>
        </p:nvGrpSpPr>
        <p:grpSpPr bwMode="auto">
          <a:xfrm>
            <a:off x="1947720" y="2162160"/>
            <a:ext cx="3320640" cy="1036440"/>
            <a:chOff x="423720" y="2162160"/>
            <a:chExt cx="3320640" cy="1036440"/>
          </a:xfrm>
        </p:grpSpPr>
        <p:grpSp>
          <p:nvGrpSpPr>
            <p:cNvPr id="515" name="Group 38"/>
            <p:cNvGrpSpPr/>
            <p:nvPr/>
          </p:nvGrpSpPr>
          <p:grpSpPr bwMode="auto">
            <a:xfrm>
              <a:off x="565200" y="2162160"/>
              <a:ext cx="3179160" cy="988920"/>
              <a:chOff x="565200" y="2162160"/>
              <a:chExt cx="3179160" cy="988920"/>
            </a:xfrm>
          </p:grpSpPr>
          <p:sp>
            <p:nvSpPr>
              <p:cNvPr id="516" name="Rectangle 36"/>
              <p:cNvSpPr/>
              <p:nvPr/>
            </p:nvSpPr>
            <p:spPr bwMode="auto">
              <a:xfrm>
                <a:off x="1017720" y="2753640"/>
                <a:ext cx="2726640" cy="397439"/>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400" b="1" spc="-1">
                    <a:solidFill>
                      <a:schemeClr val="dk1"/>
                    </a:solidFill>
                    <a:latin typeface="Arial"/>
                    <a:ea typeface="Arial"/>
                  </a:rPr>
                  <a:t>       net.  DS   7834 3 1ab15…</a:t>
                </a:r>
                <a:endParaRPr lang="en-US" sz="1400" spc="-1">
                  <a:solidFill>
                    <a:srgbClr val="000000"/>
                  </a:solidFill>
                  <a:latin typeface="Arial"/>
                </a:endParaRPr>
              </a:p>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400" b="1" spc="-1">
                    <a:solidFill>
                      <a:schemeClr val="dk1"/>
                    </a:solidFill>
                    <a:latin typeface="Arial"/>
                    <a:ea typeface="Arial"/>
                  </a:rPr>
                  <a:t>               </a:t>
                </a:r>
                <a:r>
                  <a:rPr lang="en-US" sz="1400" b="1" i="1" spc="-1">
                    <a:solidFill>
                      <a:schemeClr val="dk1"/>
                    </a:solidFill>
                    <a:latin typeface="Arial"/>
                    <a:ea typeface="Arial"/>
                  </a:rPr>
                  <a:t>RRSIG   DS (…) . 2983</a:t>
                </a:r>
                <a:r>
                  <a:rPr lang="en-US" sz="1400" b="1" spc="-1">
                    <a:solidFill>
                      <a:schemeClr val="dk1"/>
                    </a:solidFill>
                    <a:latin typeface="Arial"/>
                    <a:ea typeface="Arial"/>
                  </a:rPr>
                  <a:t> </a:t>
                </a:r>
                <a:endParaRPr lang="en-US" sz="1400" spc="-1">
                  <a:solidFill>
                    <a:srgbClr val="000000"/>
                  </a:solidFill>
                  <a:latin typeface="Arial"/>
                </a:endParaRPr>
              </a:p>
            </p:txBody>
          </p:sp>
          <p:sp>
            <p:nvSpPr>
              <p:cNvPr id="517" name="AutoShape 37"/>
              <p:cNvSpPr/>
              <p:nvPr/>
            </p:nvSpPr>
            <p:spPr bwMode="auto">
              <a:xfrm>
                <a:off x="565200" y="2162160"/>
                <a:ext cx="910800" cy="802800"/>
              </a:xfrm>
              <a:custGeom>
                <a:avLst/>
                <a:gdLst>
                  <a:gd name="textAreaLeft" fmla="*/ 0 w 910800"/>
                  <a:gd name="textAreaRight" fmla="*/ 911160 w 910800"/>
                  <a:gd name="textAreaTop" fmla="*/ 0 h 802800"/>
                  <a:gd name="textAreaBottom" fmla="*/ 803160 h 802800"/>
                </a:gdLst>
                <a:ahLst/>
                <a:cxnLst/>
                <a:rect l="textAreaLeft" t="textAreaTop" r="textAreaRight" b="textAreaBottom"/>
                <a:pathLst>
                  <a:path w="21600" h="21600" fill="norm" stroke="1" extrusionOk="0">
                    <a:moveTo>
                      <a:pt x="21600" y="0"/>
                    </a:moveTo>
                    <a:lnTo>
                      <a:pt x="17628" y="174"/>
                    </a:lnTo>
                    <a:lnTo>
                      <a:pt x="13766" y="454"/>
                    </a:lnTo>
                    <a:lnTo>
                      <a:pt x="11959" y="541"/>
                    </a:lnTo>
                    <a:lnTo>
                      <a:pt x="10152" y="725"/>
                    </a:lnTo>
                    <a:lnTo>
                      <a:pt x="8473" y="908"/>
                    </a:lnTo>
                    <a:lnTo>
                      <a:pt x="6879" y="1092"/>
                    </a:lnTo>
                    <a:lnTo>
                      <a:pt x="5447" y="1363"/>
                    </a:lnTo>
                    <a:lnTo>
                      <a:pt x="4134" y="1643"/>
                    </a:lnTo>
                    <a:lnTo>
                      <a:pt x="2983" y="2000"/>
                    </a:lnTo>
                    <a:lnTo>
                      <a:pt x="2037" y="2368"/>
                    </a:lnTo>
                    <a:lnTo>
                      <a:pt x="1176" y="2735"/>
                    </a:lnTo>
                    <a:lnTo>
                      <a:pt x="605" y="3276"/>
                    </a:lnTo>
                    <a:lnTo>
                      <a:pt x="145" y="3721"/>
                    </a:lnTo>
                    <a:lnTo>
                      <a:pt x="0" y="4358"/>
                    </a:lnTo>
                    <a:lnTo>
                      <a:pt x="68" y="5093"/>
                    </a:lnTo>
                    <a:lnTo>
                      <a:pt x="349" y="5827"/>
                    </a:lnTo>
                    <a:lnTo>
                      <a:pt x="810" y="6523"/>
                    </a:lnTo>
                    <a:lnTo>
                      <a:pt x="1500" y="7441"/>
                    </a:lnTo>
                    <a:lnTo>
                      <a:pt x="2404" y="8350"/>
                    </a:lnTo>
                    <a:lnTo>
                      <a:pt x="3393" y="9258"/>
                    </a:lnTo>
                    <a:lnTo>
                      <a:pt x="4663" y="10273"/>
                    </a:lnTo>
                    <a:lnTo>
                      <a:pt x="5933" y="11355"/>
                    </a:lnTo>
                    <a:lnTo>
                      <a:pt x="7416" y="12360"/>
                    </a:lnTo>
                    <a:lnTo>
                      <a:pt x="8933" y="13452"/>
                    </a:lnTo>
                    <a:lnTo>
                      <a:pt x="10561" y="14621"/>
                    </a:lnTo>
                    <a:lnTo>
                      <a:pt x="12326" y="15723"/>
                    </a:lnTo>
                    <a:lnTo>
                      <a:pt x="15940" y="18091"/>
                    </a:lnTo>
                    <a:lnTo>
                      <a:pt x="21433" y="21600"/>
                    </a:lnTo>
                  </a:path>
                </a:pathLst>
              </a:custGeom>
              <a:noFill/>
              <a:ln w="25400">
                <a:solidFill>
                  <a:srgbClr val="009999"/>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grpSp>
        <p:grpSp>
          <p:nvGrpSpPr>
            <p:cNvPr id="518" name="Group 41"/>
            <p:cNvGrpSpPr/>
            <p:nvPr/>
          </p:nvGrpSpPr>
          <p:grpSpPr bwMode="auto">
            <a:xfrm>
              <a:off x="423720" y="2743200"/>
              <a:ext cx="420480" cy="455400"/>
              <a:chOff x="423720" y="2743200"/>
              <a:chExt cx="420480" cy="455400"/>
            </a:xfrm>
          </p:grpSpPr>
          <p:sp>
            <p:nvSpPr>
              <p:cNvPr id="519" name="Rectangle 39"/>
              <p:cNvSpPr/>
              <p:nvPr/>
            </p:nvSpPr>
            <p:spPr bwMode="auto">
              <a:xfrm>
                <a:off x="539042" y="2860554"/>
                <a:ext cx="194517"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600" b="1" spc="-1">
                    <a:solidFill>
                      <a:schemeClr val="dk1"/>
                    </a:solidFill>
                    <a:latin typeface="Arial"/>
                    <a:ea typeface="Arial"/>
                  </a:rPr>
                  <a:t>3</a:t>
                </a:r>
                <a:endParaRPr lang="en-US" sz="1600" spc="-1">
                  <a:solidFill>
                    <a:srgbClr val="000000"/>
                  </a:solidFill>
                  <a:latin typeface="Arial"/>
                </a:endParaRPr>
              </a:p>
            </p:txBody>
          </p:sp>
          <p:sp>
            <p:nvSpPr>
              <p:cNvPr id="520" name="Oval 40"/>
              <p:cNvSpPr/>
              <p:nvPr/>
            </p:nvSpPr>
            <p:spPr bwMode="auto">
              <a:xfrm>
                <a:off x="423720" y="2743200"/>
                <a:ext cx="420480" cy="455400"/>
              </a:xfrm>
              <a:prstGeom prst="ellipse">
                <a:avLst/>
              </a:prstGeom>
              <a:noFill/>
              <a:ln w="25400">
                <a:solidFill>
                  <a:srgbClr val="009999"/>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grpSp>
      <p:grpSp>
        <p:nvGrpSpPr>
          <p:cNvPr id="1646858920" name="Group 48"/>
          <p:cNvGrpSpPr/>
          <p:nvPr/>
        </p:nvGrpSpPr>
        <p:grpSpPr bwMode="auto">
          <a:xfrm>
            <a:off x="6395070" y="2997361"/>
            <a:ext cx="3969450" cy="1326973"/>
            <a:chOff x="4871070" y="2997360"/>
            <a:chExt cx="3969450" cy="1326973"/>
          </a:xfrm>
        </p:grpSpPr>
        <p:sp>
          <p:nvSpPr>
            <p:cNvPr id="522" name="Rectangle 43"/>
            <p:cNvSpPr/>
            <p:nvPr/>
          </p:nvSpPr>
          <p:spPr bwMode="auto">
            <a:xfrm>
              <a:off x="4871070" y="3866387"/>
              <a:ext cx="3444660" cy="457945"/>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foo.net.   DS   4252 3 1ab15…</a:t>
              </a:r>
              <a:endParaRPr lang="en-US" sz="1600" spc="-1">
                <a:solidFill>
                  <a:srgbClr val="000000"/>
                </a:solidFill>
                <a:latin typeface="Arial"/>
              </a:endParaRPr>
            </a:p>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                </a:t>
              </a:r>
              <a:r>
                <a:rPr lang="en-US" sz="1600" b="1" i="1" spc="-1">
                  <a:solidFill>
                    <a:schemeClr val="dk1"/>
                  </a:solidFill>
                  <a:latin typeface="Arial"/>
                  <a:ea typeface="Arial"/>
                </a:rPr>
                <a:t>RRSIG  DS (…) net. 5612 </a:t>
              </a:r>
              <a:endParaRPr lang="en-US" sz="1600" spc="-1">
                <a:solidFill>
                  <a:srgbClr val="000000"/>
                </a:solidFill>
                <a:latin typeface="Arial"/>
              </a:endParaRPr>
            </a:p>
          </p:txBody>
        </p:sp>
        <p:sp>
          <p:nvSpPr>
            <p:cNvPr id="523" name="AutoShape 44"/>
            <p:cNvSpPr/>
            <p:nvPr/>
          </p:nvSpPr>
          <p:spPr bwMode="auto">
            <a:xfrm>
              <a:off x="7666200" y="2997360"/>
              <a:ext cx="1174320" cy="1239480"/>
            </a:xfrm>
            <a:custGeom>
              <a:avLst/>
              <a:gdLst>
                <a:gd name="textAreaLeft" fmla="*/ 0 w 1174320"/>
                <a:gd name="textAreaRight" fmla="*/ 1174680 w 1174320"/>
                <a:gd name="textAreaTop" fmla="*/ 0 h 1239480"/>
                <a:gd name="textAreaBottom" fmla="*/ 1239840 h 1239480"/>
              </a:gdLst>
              <a:ahLst/>
              <a:cxnLst/>
              <a:rect l="textAreaLeft" t="textAreaTop" r="textAreaRight" b="textAreaBottom"/>
              <a:pathLst>
                <a:path w="21600" h="21600" fill="norm" stroke="1" extrusionOk="0">
                  <a:moveTo>
                    <a:pt x="72" y="577"/>
                  </a:moveTo>
                  <a:lnTo>
                    <a:pt x="4518" y="220"/>
                  </a:lnTo>
                  <a:lnTo>
                    <a:pt x="8719" y="0"/>
                  </a:lnTo>
                  <a:lnTo>
                    <a:pt x="12655" y="107"/>
                  </a:lnTo>
                  <a:lnTo>
                    <a:pt x="14250" y="220"/>
                  </a:lnTo>
                  <a:lnTo>
                    <a:pt x="15533" y="577"/>
                  </a:lnTo>
                  <a:lnTo>
                    <a:pt x="18180" y="1632"/>
                  </a:lnTo>
                  <a:lnTo>
                    <a:pt x="19232" y="2322"/>
                  </a:lnTo>
                  <a:lnTo>
                    <a:pt x="20277" y="3144"/>
                  </a:lnTo>
                  <a:lnTo>
                    <a:pt x="21064" y="4086"/>
                  </a:lnTo>
                  <a:lnTo>
                    <a:pt x="21600" y="5027"/>
                  </a:lnTo>
                  <a:lnTo>
                    <a:pt x="21329" y="6188"/>
                  </a:lnTo>
                  <a:lnTo>
                    <a:pt x="20793" y="7356"/>
                  </a:lnTo>
                  <a:lnTo>
                    <a:pt x="19741" y="8768"/>
                  </a:lnTo>
                  <a:lnTo>
                    <a:pt x="17908" y="10142"/>
                  </a:lnTo>
                  <a:lnTo>
                    <a:pt x="15804" y="11806"/>
                  </a:lnTo>
                  <a:lnTo>
                    <a:pt x="13462" y="13437"/>
                  </a:lnTo>
                  <a:lnTo>
                    <a:pt x="10558" y="15176"/>
                  </a:lnTo>
                  <a:lnTo>
                    <a:pt x="7667" y="17059"/>
                  </a:lnTo>
                  <a:lnTo>
                    <a:pt x="0" y="21600"/>
                  </a:lnTo>
                </a:path>
              </a:pathLst>
            </a:custGeom>
            <a:noFill/>
            <a:ln w="25400">
              <a:solidFill>
                <a:srgbClr val="009999"/>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grpSp>
          <p:nvGrpSpPr>
            <p:cNvPr id="524" name="Group 47"/>
            <p:cNvGrpSpPr/>
            <p:nvPr/>
          </p:nvGrpSpPr>
          <p:grpSpPr bwMode="auto">
            <a:xfrm>
              <a:off x="8302680" y="3807720"/>
              <a:ext cx="420480" cy="455760"/>
              <a:chOff x="8302680" y="3807720"/>
              <a:chExt cx="420480" cy="455760"/>
            </a:xfrm>
          </p:grpSpPr>
          <p:sp>
            <p:nvSpPr>
              <p:cNvPr id="525" name="Rectangle 45"/>
              <p:cNvSpPr/>
              <p:nvPr/>
            </p:nvSpPr>
            <p:spPr bwMode="auto">
              <a:xfrm>
                <a:off x="8411522" y="3910674"/>
                <a:ext cx="194517"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600" b="1" spc="-1">
                    <a:solidFill>
                      <a:schemeClr val="dk1"/>
                    </a:solidFill>
                    <a:latin typeface="Arial"/>
                    <a:ea typeface="Arial"/>
                  </a:rPr>
                  <a:t>6</a:t>
                </a:r>
                <a:endParaRPr lang="en-US" sz="1600" spc="-1">
                  <a:solidFill>
                    <a:srgbClr val="000000"/>
                  </a:solidFill>
                  <a:latin typeface="Arial"/>
                </a:endParaRPr>
              </a:p>
            </p:txBody>
          </p:sp>
          <p:sp>
            <p:nvSpPr>
              <p:cNvPr id="526" name="Oval 46"/>
              <p:cNvSpPr/>
              <p:nvPr/>
            </p:nvSpPr>
            <p:spPr bwMode="auto">
              <a:xfrm>
                <a:off x="8302680" y="3807720"/>
                <a:ext cx="420480" cy="455760"/>
              </a:xfrm>
              <a:prstGeom prst="ellipse">
                <a:avLst/>
              </a:prstGeom>
              <a:noFill/>
              <a:ln w="25400">
                <a:solidFill>
                  <a:srgbClr val="009999"/>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grpSp>
      <p:grpSp>
        <p:nvGrpSpPr>
          <p:cNvPr id="581582228" name="Group 54"/>
          <p:cNvGrpSpPr/>
          <p:nvPr/>
        </p:nvGrpSpPr>
        <p:grpSpPr bwMode="auto">
          <a:xfrm>
            <a:off x="6097441" y="2897281"/>
            <a:ext cx="4431915" cy="512287"/>
            <a:chOff x="4573440" y="2897280"/>
            <a:chExt cx="4431915" cy="512287"/>
          </a:xfrm>
        </p:grpSpPr>
        <p:sp>
          <p:nvSpPr>
            <p:cNvPr id="528" name="AutoShape 49"/>
            <p:cNvSpPr/>
            <p:nvPr/>
          </p:nvSpPr>
          <p:spPr bwMode="auto">
            <a:xfrm>
              <a:off x="5143680" y="2946240"/>
              <a:ext cx="367920" cy="329760"/>
            </a:xfrm>
            <a:custGeom>
              <a:avLst/>
              <a:gdLst>
                <a:gd name="textAreaLeft" fmla="*/ 0 w 367920"/>
                <a:gd name="textAreaRight" fmla="*/ 368280 w 367920"/>
                <a:gd name="textAreaTop" fmla="*/ 0 h 329760"/>
                <a:gd name="textAreaBottom" fmla="*/ 330120 h 329760"/>
              </a:gdLst>
              <a:ahLst/>
              <a:cxnLst/>
              <a:rect l="textAreaLeft" t="textAreaTop" r="textAreaRight" b="textAreaBottom"/>
              <a:pathLst>
                <a:path w="21600" h="21600" fill="norm" stroke="1" extrusionOk="0">
                  <a:moveTo>
                    <a:pt x="12748" y="21600"/>
                  </a:moveTo>
                  <a:lnTo>
                    <a:pt x="8155" y="19229"/>
                  </a:lnTo>
                  <a:lnTo>
                    <a:pt x="3603" y="16436"/>
                  </a:lnTo>
                  <a:lnTo>
                    <a:pt x="1011" y="14089"/>
                  </a:lnTo>
                  <a:lnTo>
                    <a:pt x="0" y="12751"/>
                  </a:lnTo>
                  <a:lnTo>
                    <a:pt x="0" y="11718"/>
                  </a:lnTo>
                  <a:lnTo>
                    <a:pt x="506" y="10381"/>
                  </a:lnTo>
                  <a:lnTo>
                    <a:pt x="2044" y="9348"/>
                  </a:lnTo>
                  <a:lnTo>
                    <a:pt x="5647" y="6696"/>
                  </a:lnTo>
                  <a:lnTo>
                    <a:pt x="10683" y="4208"/>
                  </a:lnTo>
                  <a:lnTo>
                    <a:pt x="21600" y="0"/>
                  </a:lnTo>
                </a:path>
              </a:pathLst>
            </a:custGeom>
            <a:noFill/>
            <a:ln w="25400">
              <a:solidFill>
                <a:srgbClr val="333399"/>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grpSp>
          <p:nvGrpSpPr>
            <p:cNvPr id="529" name="Group 52"/>
            <p:cNvGrpSpPr/>
            <p:nvPr/>
          </p:nvGrpSpPr>
          <p:grpSpPr bwMode="auto">
            <a:xfrm>
              <a:off x="4573440" y="2897280"/>
              <a:ext cx="420480" cy="450360"/>
              <a:chOff x="4573440" y="2897280"/>
              <a:chExt cx="420480" cy="450360"/>
            </a:xfrm>
          </p:grpSpPr>
          <p:sp>
            <p:nvSpPr>
              <p:cNvPr id="530" name="Rectangle 50"/>
              <p:cNvSpPr/>
              <p:nvPr/>
            </p:nvSpPr>
            <p:spPr bwMode="auto">
              <a:xfrm>
                <a:off x="4684082" y="3029754"/>
                <a:ext cx="194517"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600" b="1" spc="-1">
                    <a:solidFill>
                      <a:schemeClr val="dk1"/>
                    </a:solidFill>
                    <a:latin typeface="Arial"/>
                    <a:ea typeface="Arial"/>
                  </a:rPr>
                  <a:t>5</a:t>
                </a:r>
                <a:endParaRPr lang="en-US" sz="1600" spc="-1">
                  <a:solidFill>
                    <a:srgbClr val="000000"/>
                  </a:solidFill>
                  <a:latin typeface="Arial"/>
                </a:endParaRPr>
              </a:p>
            </p:txBody>
          </p:sp>
          <p:sp>
            <p:nvSpPr>
              <p:cNvPr id="531" name="Oval 51"/>
              <p:cNvSpPr/>
              <p:nvPr/>
            </p:nvSpPr>
            <p:spPr bwMode="auto">
              <a:xfrm>
                <a:off x="4573440" y="2897280"/>
                <a:ext cx="420480" cy="450360"/>
              </a:xfrm>
              <a:prstGeom prst="ellipse">
                <a:avLst/>
              </a:prstGeom>
              <a:noFill/>
              <a:ln w="25400">
                <a:solidFill>
                  <a:srgbClr val="333399"/>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sp>
          <p:nvSpPr>
            <p:cNvPr id="532" name="Rectangle 53"/>
            <p:cNvSpPr/>
            <p:nvPr/>
          </p:nvSpPr>
          <p:spPr bwMode="auto">
            <a:xfrm>
              <a:off x="5121045" y="3180594"/>
              <a:ext cx="3884310"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600" b="1" spc="-1">
                  <a:solidFill>
                    <a:schemeClr val="dk1"/>
                  </a:solidFill>
                  <a:latin typeface="Arial"/>
                  <a:ea typeface="Arial"/>
                </a:rPr>
                <a:t>RRSIG  DNSKEY (…)  </a:t>
              </a:r>
              <a:r>
                <a:rPr lang="en-US" sz="1600" b="1" spc="-1">
                  <a:solidFill>
                    <a:srgbClr val="CC0000"/>
                  </a:solidFill>
                  <a:latin typeface="Arial"/>
                  <a:ea typeface="Arial"/>
                </a:rPr>
                <a:t>7834</a:t>
              </a:r>
              <a:r>
                <a:rPr lang="en-US" sz="1600" b="1" spc="-1">
                  <a:solidFill>
                    <a:schemeClr val="dk1"/>
                  </a:solidFill>
                  <a:latin typeface="Arial"/>
                  <a:ea typeface="Arial"/>
                </a:rPr>
                <a:t> net.  cMas...</a:t>
              </a:r>
              <a:endParaRPr lang="en-US" sz="1600" spc="-1">
                <a:solidFill>
                  <a:srgbClr val="000000"/>
                </a:solidFill>
                <a:latin typeface="Arial"/>
              </a:endParaRPr>
            </a:p>
          </p:txBody>
        </p:sp>
      </p:grpSp>
      <p:grpSp>
        <p:nvGrpSpPr>
          <p:cNvPr id="2142601486" name="Group 60"/>
          <p:cNvGrpSpPr/>
          <p:nvPr/>
        </p:nvGrpSpPr>
        <p:grpSpPr bwMode="auto">
          <a:xfrm>
            <a:off x="1665120" y="4849920"/>
            <a:ext cx="4737460" cy="480240"/>
            <a:chOff x="141120" y="4849920"/>
            <a:chExt cx="4737460" cy="480240"/>
          </a:xfrm>
        </p:grpSpPr>
        <p:sp>
          <p:nvSpPr>
            <p:cNvPr id="534" name="AutoShape 55"/>
            <p:cNvSpPr/>
            <p:nvPr/>
          </p:nvSpPr>
          <p:spPr bwMode="auto">
            <a:xfrm>
              <a:off x="563400" y="4849920"/>
              <a:ext cx="571320" cy="332640"/>
            </a:xfrm>
            <a:custGeom>
              <a:avLst/>
              <a:gdLst>
                <a:gd name="textAreaLeft" fmla="*/ 0 w 571320"/>
                <a:gd name="textAreaRight" fmla="*/ 571680 w 571320"/>
                <a:gd name="textAreaTop" fmla="*/ 0 h 332640"/>
                <a:gd name="textAreaBottom" fmla="*/ 333000 h 332640"/>
              </a:gdLst>
              <a:ahLst/>
              <a:cxnLst/>
              <a:rect l="textAreaLeft" t="textAreaTop" r="textAreaRight" b="textAreaBottom"/>
              <a:pathLst>
                <a:path w="21600" h="21600" fill="norm" stroke="1" extrusionOk="0">
                  <a:moveTo>
                    <a:pt x="18448" y="21600"/>
                  </a:moveTo>
                  <a:lnTo>
                    <a:pt x="11719" y="20124"/>
                  </a:lnTo>
                  <a:lnTo>
                    <a:pt x="8633" y="19420"/>
                  </a:lnTo>
                  <a:lnTo>
                    <a:pt x="5764" y="18694"/>
                  </a:lnTo>
                  <a:lnTo>
                    <a:pt x="3249" y="17991"/>
                  </a:lnTo>
                  <a:lnTo>
                    <a:pt x="1523" y="17217"/>
                  </a:lnTo>
                  <a:lnTo>
                    <a:pt x="367" y="16186"/>
                  </a:lnTo>
                  <a:lnTo>
                    <a:pt x="0" y="14710"/>
                  </a:lnTo>
                  <a:lnTo>
                    <a:pt x="367" y="13280"/>
                  </a:lnTo>
                  <a:lnTo>
                    <a:pt x="1523" y="11804"/>
                  </a:lnTo>
                  <a:lnTo>
                    <a:pt x="3249" y="10327"/>
                  </a:lnTo>
                  <a:lnTo>
                    <a:pt x="5764" y="8898"/>
                  </a:lnTo>
                  <a:lnTo>
                    <a:pt x="8633" y="7070"/>
                  </a:lnTo>
                  <a:lnTo>
                    <a:pt x="11719" y="5265"/>
                  </a:lnTo>
                  <a:lnTo>
                    <a:pt x="21600" y="0"/>
                  </a:lnTo>
                </a:path>
              </a:pathLst>
            </a:custGeom>
            <a:noFill/>
            <a:ln w="25400">
              <a:solidFill>
                <a:srgbClr val="333399"/>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grpSp>
          <p:nvGrpSpPr>
            <p:cNvPr id="535" name="Group 58"/>
            <p:cNvGrpSpPr/>
            <p:nvPr/>
          </p:nvGrpSpPr>
          <p:grpSpPr bwMode="auto">
            <a:xfrm>
              <a:off x="141120" y="4875120"/>
              <a:ext cx="420480" cy="455040"/>
              <a:chOff x="141120" y="4875120"/>
              <a:chExt cx="420480" cy="455040"/>
            </a:xfrm>
          </p:grpSpPr>
          <p:sp>
            <p:nvSpPr>
              <p:cNvPr id="536" name="Rectangle 56"/>
              <p:cNvSpPr/>
              <p:nvPr/>
            </p:nvSpPr>
            <p:spPr bwMode="auto">
              <a:xfrm>
                <a:off x="255002" y="4993194"/>
                <a:ext cx="194517"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600" b="1" spc="-1">
                    <a:solidFill>
                      <a:schemeClr val="dk1"/>
                    </a:solidFill>
                    <a:latin typeface="Arial"/>
                    <a:ea typeface="Arial"/>
                  </a:rPr>
                  <a:t>8</a:t>
                </a:r>
                <a:endParaRPr lang="en-US" sz="1600" spc="-1">
                  <a:solidFill>
                    <a:srgbClr val="000000"/>
                  </a:solidFill>
                  <a:latin typeface="Arial"/>
                </a:endParaRPr>
              </a:p>
            </p:txBody>
          </p:sp>
          <p:sp>
            <p:nvSpPr>
              <p:cNvPr id="537" name="Oval 57"/>
              <p:cNvSpPr/>
              <p:nvPr/>
            </p:nvSpPr>
            <p:spPr bwMode="auto">
              <a:xfrm>
                <a:off x="141120" y="4875120"/>
                <a:ext cx="420480" cy="455040"/>
              </a:xfrm>
              <a:prstGeom prst="ellipse">
                <a:avLst/>
              </a:prstGeom>
              <a:noFill/>
              <a:ln w="25400">
                <a:solidFill>
                  <a:srgbClr val="009999"/>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sp>
          <p:nvSpPr>
            <p:cNvPr id="538" name="Rectangle 59"/>
            <p:cNvSpPr/>
            <p:nvPr/>
          </p:nvSpPr>
          <p:spPr bwMode="auto">
            <a:xfrm>
              <a:off x="1005620" y="5053674"/>
              <a:ext cx="3872960"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600" b="1" spc="-1">
                  <a:solidFill>
                    <a:schemeClr val="dk1"/>
                  </a:solidFill>
                  <a:latin typeface="Arial"/>
                  <a:ea typeface="Arial"/>
                </a:rPr>
                <a:t>RRSIG  DNSKEY (…) </a:t>
              </a:r>
              <a:r>
                <a:rPr lang="en-US" sz="1600" b="1" spc="-1">
                  <a:solidFill>
                    <a:srgbClr val="CC0000"/>
                  </a:solidFill>
                  <a:latin typeface="Arial"/>
                  <a:ea typeface="Arial"/>
                </a:rPr>
                <a:t>4252</a:t>
              </a:r>
              <a:r>
                <a:rPr lang="en-US" sz="1600" b="1" spc="-1">
                  <a:solidFill>
                    <a:schemeClr val="dk1"/>
                  </a:solidFill>
                  <a:latin typeface="Arial"/>
                  <a:ea typeface="Arial"/>
                </a:rPr>
                <a:t> foo.net.  5t...</a:t>
              </a:r>
              <a:endParaRPr lang="en-US" sz="1600" spc="-1">
                <a:solidFill>
                  <a:srgbClr val="000000"/>
                </a:solidFill>
                <a:latin typeface="Arial"/>
              </a:endParaRPr>
            </a:p>
          </p:txBody>
        </p:sp>
      </p:grpSp>
      <p:grpSp>
        <p:nvGrpSpPr>
          <p:cNvPr id="1059803038" name="Group 66"/>
          <p:cNvGrpSpPr/>
          <p:nvPr/>
        </p:nvGrpSpPr>
        <p:grpSpPr bwMode="auto">
          <a:xfrm>
            <a:off x="1891560" y="4952880"/>
            <a:ext cx="5048640" cy="1292040"/>
            <a:chOff x="367560" y="4952880"/>
            <a:chExt cx="5048640" cy="1292040"/>
          </a:xfrm>
        </p:grpSpPr>
        <p:sp>
          <p:nvSpPr>
            <p:cNvPr id="540" name="Rectangle 61"/>
            <p:cNvSpPr/>
            <p:nvPr/>
          </p:nvSpPr>
          <p:spPr bwMode="auto">
            <a:xfrm>
              <a:off x="367560" y="5468400"/>
              <a:ext cx="3834360" cy="454320"/>
            </a:xfrm>
            <a:prstGeom prst="rect">
              <a:avLst/>
            </a:prstGeom>
            <a:noFill/>
            <a:ln w="0">
              <a:noFill/>
            </a:ln>
          </p:spPr>
          <p:style>
            <a:lnRef idx="0">
              <a:srgbClr val="000000"/>
            </a:lnRef>
            <a:fillRef idx="0">
              <a:srgbClr val="000000"/>
            </a:fillRef>
            <a:effectRef idx="0">
              <a:srgbClr val="000000"/>
            </a:effectRef>
            <a:fontRef idx="minor"/>
          </p:style>
          <p:txBody>
            <a:bodyPr wrap="none" lIns="0" tIns="0" rIns="41400" bIns="0" anchor="ctr">
              <a:spAutoFit/>
            </a:bodyPr>
            <a:lstStyle/>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www.foo.net.  A 193.0.0.202</a:t>
              </a:r>
              <a:endParaRPr lang="en-US" sz="1600" spc="-1">
                <a:solidFill>
                  <a:srgbClr val="000000"/>
                </a:solidFill>
                <a:latin typeface="Arial"/>
              </a:endParaRPr>
            </a:p>
            <a:p>
              <a:pPr marL="41400" algn="ctr">
                <a:lnSpc>
                  <a:spcPct val="93000"/>
                </a:lnSpc>
                <a:tabLst>
                  <a:tab pos="38160" algn="l"/>
                  <a:tab pos="495360" algn="l"/>
                  <a:tab pos="939960" algn="l"/>
                  <a:tab pos="1384200" algn="l"/>
                  <a:tab pos="1841400" algn="l"/>
                  <a:tab pos="2286000" algn="l"/>
                  <a:tab pos="2730600" algn="l"/>
                  <a:tab pos="3187800" algn="l"/>
                  <a:tab pos="3632040" algn="l"/>
                  <a:tab pos="4089240" algn="l"/>
                  <a:tab pos="4533840" algn="l"/>
                  <a:tab pos="4978440" algn="l"/>
                  <a:tab pos="5435640" algn="l"/>
                  <a:tab pos="5880240" algn="l"/>
                  <a:tab pos="6324480" algn="l"/>
                  <a:tab pos="6781680" algn="l"/>
                  <a:tab pos="7226280" algn="l"/>
                  <a:tab pos="7683480" algn="l"/>
                  <a:tab pos="8128080" algn="l"/>
                  <a:tab pos="8572680" algn="l"/>
                  <a:tab pos="9029880" algn="l"/>
                  <a:tab pos="9182160" algn="l"/>
                </a:tabLst>
                <a:defRPr/>
              </a:pPr>
              <a:r>
                <a:rPr lang="en-US" sz="1600" b="1" spc="-1">
                  <a:solidFill>
                    <a:schemeClr val="dk1"/>
                  </a:solidFill>
                  <a:latin typeface="Arial"/>
                  <a:ea typeface="Arial"/>
                </a:rPr>
                <a:t>	         </a:t>
              </a:r>
              <a:r>
                <a:rPr lang="en-US" sz="1600" b="1" i="1" spc="-1">
                  <a:solidFill>
                    <a:schemeClr val="dk1"/>
                  </a:solidFill>
                  <a:latin typeface="Arial"/>
                  <a:ea typeface="Arial"/>
                </a:rPr>
                <a:t>RRSIG  A  (…)  1111 foo.net.  a3...</a:t>
              </a:r>
              <a:endParaRPr lang="en-US" sz="1600" spc="-1">
                <a:solidFill>
                  <a:srgbClr val="000000"/>
                </a:solidFill>
                <a:latin typeface="Arial"/>
              </a:endParaRPr>
            </a:p>
          </p:txBody>
        </p:sp>
        <p:sp>
          <p:nvSpPr>
            <p:cNvPr id="541" name="AutoShape 62"/>
            <p:cNvSpPr/>
            <p:nvPr/>
          </p:nvSpPr>
          <p:spPr bwMode="auto">
            <a:xfrm>
              <a:off x="2039040" y="4952880"/>
              <a:ext cx="2885040" cy="1292040"/>
            </a:xfrm>
            <a:custGeom>
              <a:avLst/>
              <a:gdLst>
                <a:gd name="textAreaLeft" fmla="*/ 0 w 2885040"/>
                <a:gd name="textAreaRight" fmla="*/ 2885400 w 2885040"/>
                <a:gd name="textAreaTop" fmla="*/ 0 h 1292040"/>
                <a:gd name="textAreaBottom" fmla="*/ 1292400 h 1292040"/>
              </a:gdLst>
              <a:ahLst/>
              <a:cxnLst/>
              <a:rect l="textAreaLeft" t="textAreaTop" r="textAreaRight" b="textAreaBottom"/>
              <a:pathLst>
                <a:path w="21600" h="21600" fill="norm" stroke="1" extrusionOk="0">
                  <a:moveTo>
                    <a:pt x="15313" y="0"/>
                  </a:moveTo>
                  <a:lnTo>
                    <a:pt x="16621" y="1448"/>
                  </a:lnTo>
                  <a:lnTo>
                    <a:pt x="17826" y="3083"/>
                  </a:lnTo>
                  <a:lnTo>
                    <a:pt x="18403" y="3901"/>
                  </a:lnTo>
                  <a:lnTo>
                    <a:pt x="18947" y="4694"/>
                  </a:lnTo>
                  <a:lnTo>
                    <a:pt x="19416" y="5511"/>
                  </a:lnTo>
                  <a:lnTo>
                    <a:pt x="19821" y="6329"/>
                  </a:lnTo>
                  <a:lnTo>
                    <a:pt x="20586" y="8126"/>
                  </a:lnTo>
                  <a:lnTo>
                    <a:pt x="20918" y="9255"/>
                  </a:lnTo>
                  <a:lnTo>
                    <a:pt x="21212" y="10235"/>
                  </a:lnTo>
                  <a:lnTo>
                    <a:pt x="21422" y="11203"/>
                  </a:lnTo>
                  <a:lnTo>
                    <a:pt x="21565" y="12182"/>
                  </a:lnTo>
                  <a:lnTo>
                    <a:pt x="21600" y="13156"/>
                  </a:lnTo>
                  <a:lnTo>
                    <a:pt x="21530" y="13955"/>
                  </a:lnTo>
                  <a:lnTo>
                    <a:pt x="21387" y="14773"/>
                  </a:lnTo>
                  <a:lnTo>
                    <a:pt x="21212" y="15428"/>
                  </a:lnTo>
                  <a:lnTo>
                    <a:pt x="20953" y="16059"/>
                  </a:lnTo>
                  <a:lnTo>
                    <a:pt x="20586" y="16720"/>
                  </a:lnTo>
                  <a:lnTo>
                    <a:pt x="20373" y="17038"/>
                  </a:lnTo>
                  <a:lnTo>
                    <a:pt x="20115" y="17381"/>
                  </a:lnTo>
                  <a:lnTo>
                    <a:pt x="19783" y="17693"/>
                  </a:lnTo>
                  <a:lnTo>
                    <a:pt x="19454" y="18012"/>
                  </a:lnTo>
                  <a:lnTo>
                    <a:pt x="19052" y="18198"/>
                  </a:lnTo>
                  <a:lnTo>
                    <a:pt x="18616" y="18511"/>
                  </a:lnTo>
                  <a:lnTo>
                    <a:pt x="18106" y="18829"/>
                  </a:lnTo>
                  <a:lnTo>
                    <a:pt x="17564" y="18992"/>
                  </a:lnTo>
                  <a:lnTo>
                    <a:pt x="16906" y="19340"/>
                  </a:lnTo>
                  <a:lnTo>
                    <a:pt x="16149" y="19490"/>
                  </a:lnTo>
                  <a:lnTo>
                    <a:pt x="15313" y="19647"/>
                  </a:lnTo>
                  <a:lnTo>
                    <a:pt x="14353" y="19965"/>
                  </a:lnTo>
                  <a:lnTo>
                    <a:pt x="13337" y="20122"/>
                  </a:lnTo>
                  <a:lnTo>
                    <a:pt x="12275" y="20308"/>
                  </a:lnTo>
                  <a:lnTo>
                    <a:pt x="10129" y="20626"/>
                  </a:lnTo>
                  <a:lnTo>
                    <a:pt x="7945" y="20939"/>
                  </a:lnTo>
                  <a:lnTo>
                    <a:pt x="6929" y="21101"/>
                  </a:lnTo>
                  <a:lnTo>
                    <a:pt x="5936" y="21281"/>
                  </a:lnTo>
                  <a:lnTo>
                    <a:pt x="5028" y="21281"/>
                  </a:lnTo>
                  <a:lnTo>
                    <a:pt x="4190" y="21444"/>
                  </a:lnTo>
                  <a:lnTo>
                    <a:pt x="3456" y="21600"/>
                  </a:lnTo>
                  <a:lnTo>
                    <a:pt x="2844" y="21600"/>
                  </a:lnTo>
                  <a:lnTo>
                    <a:pt x="2337" y="21600"/>
                  </a:lnTo>
                  <a:lnTo>
                    <a:pt x="1866" y="21600"/>
                  </a:lnTo>
                  <a:lnTo>
                    <a:pt x="1499" y="21600"/>
                  </a:lnTo>
                  <a:lnTo>
                    <a:pt x="1132" y="21600"/>
                  </a:lnTo>
                  <a:lnTo>
                    <a:pt x="873" y="21444"/>
                  </a:lnTo>
                  <a:lnTo>
                    <a:pt x="625" y="21444"/>
                  </a:lnTo>
                  <a:lnTo>
                    <a:pt x="437" y="21281"/>
                  </a:lnTo>
                  <a:lnTo>
                    <a:pt x="297" y="21281"/>
                  </a:lnTo>
                  <a:lnTo>
                    <a:pt x="119" y="21101"/>
                  </a:lnTo>
                  <a:lnTo>
                    <a:pt x="0" y="20783"/>
                  </a:lnTo>
                  <a:lnTo>
                    <a:pt x="0" y="20626"/>
                  </a:lnTo>
                  <a:lnTo>
                    <a:pt x="0" y="18849"/>
                  </a:lnTo>
                </a:path>
              </a:pathLst>
            </a:custGeom>
            <a:noFill/>
            <a:ln w="25400">
              <a:solidFill>
                <a:srgbClr val="009999"/>
              </a:solidFill>
              <a:round/>
              <a:tailEnd type="triangle" w="med" len="me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lang="en-US" sz="2400" spc="-1">
                <a:solidFill>
                  <a:srgbClr val="000000"/>
                </a:solidFill>
                <a:latin typeface="Times New Roman"/>
                <a:ea typeface="ヒラギノ明朝 ProN W3"/>
              </a:endParaRPr>
            </a:p>
          </p:txBody>
        </p:sp>
        <p:grpSp>
          <p:nvGrpSpPr>
            <p:cNvPr id="542" name="Group 65"/>
            <p:cNvGrpSpPr/>
            <p:nvPr/>
          </p:nvGrpSpPr>
          <p:grpSpPr bwMode="auto">
            <a:xfrm>
              <a:off x="4995720" y="5410080"/>
              <a:ext cx="420480" cy="456840"/>
              <a:chOff x="4995720" y="5410080"/>
              <a:chExt cx="420480" cy="456840"/>
            </a:xfrm>
          </p:grpSpPr>
          <p:sp>
            <p:nvSpPr>
              <p:cNvPr id="543" name="Rectangle 63"/>
              <p:cNvSpPr/>
              <p:nvPr/>
            </p:nvSpPr>
            <p:spPr bwMode="auto">
              <a:xfrm>
                <a:off x="5111042" y="5527433"/>
                <a:ext cx="194517" cy="228972"/>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ctr">
                <a:spAutoFit/>
              </a:bodyPr>
              <a:lstStyle/>
              <a:p>
                <a:pPr marL="39600" algn="ctr">
                  <a:lnSpc>
                    <a:spcPct val="93000"/>
                  </a:lnSpc>
                  <a:tabLst>
                    <a:tab pos="38160" algn="l"/>
                    <a:tab pos="482760" algn="l"/>
                    <a:tab pos="939960" algn="l"/>
                    <a:tab pos="1384200" algn="l"/>
                    <a:tab pos="1841400" algn="l"/>
                    <a:tab pos="2286000" algn="l"/>
                    <a:tab pos="2730600" algn="l"/>
                    <a:tab pos="3187800" algn="l"/>
                    <a:tab pos="3632040" algn="l"/>
                    <a:tab pos="4076640" algn="l"/>
                    <a:tab pos="4533840" algn="l"/>
                    <a:tab pos="4978440" algn="l"/>
                    <a:tab pos="5435640" algn="l"/>
                    <a:tab pos="5880240" algn="l"/>
                    <a:tab pos="6324480" algn="l"/>
                    <a:tab pos="6781680" algn="l"/>
                    <a:tab pos="7226280" algn="l"/>
                    <a:tab pos="7670880" algn="l"/>
                    <a:tab pos="8128080" algn="l"/>
                    <a:tab pos="8572680" algn="l"/>
                    <a:tab pos="9029880" algn="l"/>
                    <a:tab pos="9182160" algn="l"/>
                  </a:tabLst>
                  <a:defRPr/>
                </a:pPr>
                <a:r>
                  <a:rPr lang="en-US" sz="1600" b="1" spc="-1">
                    <a:solidFill>
                      <a:schemeClr val="dk1"/>
                    </a:solidFill>
                    <a:latin typeface="Arial"/>
                    <a:ea typeface="Arial"/>
                  </a:rPr>
                  <a:t>9</a:t>
                </a:r>
                <a:endParaRPr lang="en-US" sz="1600" spc="-1">
                  <a:solidFill>
                    <a:srgbClr val="000000"/>
                  </a:solidFill>
                  <a:latin typeface="Arial"/>
                </a:endParaRPr>
              </a:p>
            </p:txBody>
          </p:sp>
          <p:sp>
            <p:nvSpPr>
              <p:cNvPr id="544" name="Oval 64"/>
              <p:cNvSpPr/>
              <p:nvPr/>
            </p:nvSpPr>
            <p:spPr bwMode="auto">
              <a:xfrm>
                <a:off x="4995720" y="5410080"/>
                <a:ext cx="420480" cy="456840"/>
              </a:xfrm>
              <a:prstGeom prst="ellipse">
                <a:avLst/>
              </a:prstGeom>
              <a:noFill/>
              <a:ln w="25400">
                <a:solidFill>
                  <a:srgbClr val="009999"/>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gr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1666382847"/>
                                        </p:tgtEl>
                                        <p:attrNameLst>
                                          <p:attrName>style.visibility</p:attrName>
                                        </p:attrNameLst>
                                      </p:cBhvr>
                                      <p:to>
                                        <p:strVal val="visible"/>
                                      </p:to>
                                    </p:set>
                                    <p:animEffect transition="in" filter="wipe(left)">
                                      <p:cBhvr additive="repl">
                                        <p:cTn id="7" dur="500"/>
                                        <p:tgtEl>
                                          <p:spTgt spid="1666382847"/>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1" fill="hold" nodeType="clickEffect">
                                  <p:stCondLst>
                                    <p:cond delay="0"/>
                                  </p:stCondLst>
                                  <p:childTnLst>
                                    <p:set>
                                      <p:cBhvr>
                                        <p:cTn id="11" dur="1" fill="hold">
                                          <p:stCondLst>
                                            <p:cond delay="0"/>
                                          </p:stCondLst>
                                        </p:cTn>
                                        <p:tgtEl>
                                          <p:spTgt spid="157508609"/>
                                        </p:tgtEl>
                                        <p:attrNameLst>
                                          <p:attrName>style.visibility</p:attrName>
                                        </p:attrNameLst>
                                      </p:cBhvr>
                                      <p:to>
                                        <p:strVal val="visible"/>
                                      </p:to>
                                    </p:set>
                                    <p:animEffect transition="in" filter="wipe(up)">
                                      <p:cBhvr additive="repl">
                                        <p:cTn id="12" dur="500"/>
                                        <p:tgtEl>
                                          <p:spTgt spid="157508609"/>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2" fill="hold" nodeType="clickEffect">
                                  <p:stCondLst>
                                    <p:cond delay="0"/>
                                  </p:stCondLst>
                                  <p:childTnLst>
                                    <p:set>
                                      <p:cBhvr>
                                        <p:cTn id="16" dur="1" fill="hold">
                                          <p:stCondLst>
                                            <p:cond delay="0"/>
                                          </p:stCondLst>
                                        </p:cTn>
                                        <p:tgtEl>
                                          <p:spTgt spid="581582228"/>
                                        </p:tgtEl>
                                        <p:attrNameLst>
                                          <p:attrName>style.visibility</p:attrName>
                                        </p:attrNameLst>
                                      </p:cBhvr>
                                      <p:to>
                                        <p:strVal val="visible"/>
                                      </p:to>
                                    </p:set>
                                    <p:animEffect transition="in" filter="wipe(right)">
                                      <p:cBhvr additive="repl">
                                        <p:cTn id="17" dur="500"/>
                                        <p:tgtEl>
                                          <p:spTgt spid="581582228"/>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2" fill="hold" nodeType="clickEffect">
                                  <p:stCondLst>
                                    <p:cond delay="0"/>
                                  </p:stCondLst>
                                  <p:childTnLst>
                                    <p:set>
                                      <p:cBhvr>
                                        <p:cTn id="21" dur="1" fill="hold">
                                          <p:stCondLst>
                                            <p:cond delay="0"/>
                                          </p:stCondLst>
                                        </p:cTn>
                                        <p:tgtEl>
                                          <p:spTgt spid="1646858920"/>
                                        </p:tgtEl>
                                        <p:attrNameLst>
                                          <p:attrName>style.visibility</p:attrName>
                                        </p:attrNameLst>
                                      </p:cBhvr>
                                      <p:to>
                                        <p:strVal val="visible"/>
                                      </p:to>
                                    </p:set>
                                    <p:animEffect transition="in" filter="wipe(right)">
                                      <p:cBhvr additive="repl">
                                        <p:cTn id="22" dur="500"/>
                                        <p:tgtEl>
                                          <p:spTgt spid="1646858920"/>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22" presetClass="entr" presetSubtype="4" fill="hold" nodeType="clickEffect">
                                  <p:stCondLst>
                                    <p:cond delay="0"/>
                                  </p:stCondLst>
                                  <p:childTnLst>
                                    <p:set>
                                      <p:cBhvr>
                                        <p:cTn id="26" dur="1" fill="hold">
                                          <p:stCondLst>
                                            <p:cond delay="0"/>
                                          </p:stCondLst>
                                        </p:cTn>
                                        <p:tgtEl>
                                          <p:spTgt spid="2011501543"/>
                                        </p:tgtEl>
                                        <p:attrNameLst>
                                          <p:attrName>style.visibility</p:attrName>
                                        </p:attrNameLst>
                                      </p:cBhvr>
                                      <p:to>
                                        <p:strVal val="visible"/>
                                      </p:to>
                                    </p:set>
                                    <p:animEffect transition="in" filter="wipe(down)">
                                      <p:cBhvr additive="repl">
                                        <p:cTn id="27" dur="500"/>
                                        <p:tgtEl>
                                          <p:spTgt spid="2011501543"/>
                                        </p:tgtEl>
                                      </p:cBhvr>
                                    </p:animEffect>
                                  </p:childTnLst>
                                </p:cTn>
                              </p:par>
                            </p:childTnLst>
                          </p:cTn>
                        </p:par>
                      </p:childTnLst>
                    </p:cTn>
                  </p:par>
                  <p:par>
                    <p:cTn id="28" fill="hold" nodeType="clickEffect">
                      <p:stCondLst>
                        <p:cond delay="indefinite"/>
                      </p:stCondLst>
                      <p:childTnLst>
                        <p:par>
                          <p:cTn id="29" fill="hold" nodeType="withEffect">
                            <p:stCondLst>
                              <p:cond delay="0"/>
                            </p:stCondLst>
                            <p:childTnLst>
                              <p:par>
                                <p:cTn id="30" presetID="22" presetClass="entr" presetSubtype="4" fill="hold" nodeType="clickEffect">
                                  <p:stCondLst>
                                    <p:cond delay="0"/>
                                  </p:stCondLst>
                                  <p:childTnLst>
                                    <p:set>
                                      <p:cBhvr>
                                        <p:cTn id="31" dur="1" fill="hold">
                                          <p:stCondLst>
                                            <p:cond delay="0"/>
                                          </p:stCondLst>
                                        </p:cTn>
                                        <p:tgtEl>
                                          <p:spTgt spid="2142601486"/>
                                        </p:tgtEl>
                                        <p:attrNameLst>
                                          <p:attrName>style.visibility</p:attrName>
                                        </p:attrNameLst>
                                      </p:cBhvr>
                                      <p:to>
                                        <p:strVal val="visible"/>
                                      </p:to>
                                    </p:set>
                                    <p:animEffect transition="in" filter="wipe(down)">
                                      <p:cBhvr additive="repl">
                                        <p:cTn id="32" dur="500"/>
                                        <p:tgtEl>
                                          <p:spTgt spid="2142601486"/>
                                        </p:tgtEl>
                                      </p:cBhvr>
                                    </p:animEffect>
                                  </p:childTnLst>
                                </p:cTn>
                              </p:par>
                            </p:childTnLst>
                          </p:cTn>
                        </p:par>
                      </p:childTnLst>
                    </p:cTn>
                  </p:par>
                  <p:par>
                    <p:cTn id="33" fill="hold" nodeType="clickEffect">
                      <p:stCondLst>
                        <p:cond delay="indefinite"/>
                      </p:stCondLst>
                      <p:childTnLst>
                        <p:par>
                          <p:cTn id="34" fill="hold" nodeType="withEffect">
                            <p:stCondLst>
                              <p:cond delay="0"/>
                            </p:stCondLst>
                            <p:childTnLst>
                              <p:par>
                                <p:cTn id="35" presetID="22" presetClass="entr" presetSubtype="4" fill="hold" nodeType="clickEffect">
                                  <p:stCondLst>
                                    <p:cond delay="0"/>
                                  </p:stCondLst>
                                  <p:childTnLst>
                                    <p:set>
                                      <p:cBhvr>
                                        <p:cTn id="36" dur="1" fill="hold">
                                          <p:stCondLst>
                                            <p:cond delay="0"/>
                                          </p:stCondLst>
                                        </p:cTn>
                                        <p:tgtEl>
                                          <p:spTgt spid="1059803038"/>
                                        </p:tgtEl>
                                        <p:attrNameLst>
                                          <p:attrName>style.visibility</p:attrName>
                                        </p:attrNameLst>
                                      </p:cBhvr>
                                      <p:to>
                                        <p:strVal val="visible"/>
                                      </p:to>
                                    </p:set>
                                    <p:animEffect transition="in" filter="wipe(down)">
                                      <p:cBhvr additive="repl">
                                        <p:cTn id="37" dur="500"/>
                                        <p:tgtEl>
                                          <p:spTgt spid="1059803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8159152" name="PlaceHolder 1"/>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33520" indent="-216000">
              <a:lnSpc>
                <a:spcPct val="100000"/>
              </a:lnSpc>
              <a:spcBef>
                <a:spcPts val="799"/>
              </a:spcBef>
              <a:buClr>
                <a:srgbClr val="000000"/>
              </a:buClr>
              <a:buFont typeface="Gill Sans"/>
              <a:buChar char="•"/>
              <a:defRPr/>
            </a:pPr>
            <a:r>
              <a:rPr lang="en-US" sz="2200" spc="-1">
                <a:solidFill>
                  <a:schemeClr val="dk1"/>
                </a:solidFill>
                <a:latin typeface="Gill Sans"/>
                <a:ea typeface="ヒラギノ角ゴ ProN W3"/>
              </a:rPr>
              <a:t>Data in zone can be trusted if signed by a Zone-Signing-Key</a:t>
            </a:r>
            <a:endParaRPr lang="en-US" sz="2200" spc="-1">
              <a:solidFill>
                <a:schemeClr val="dk1"/>
              </a:solidFill>
              <a:latin typeface="Gill Sans"/>
            </a:endParaRPr>
          </a:p>
          <a:p>
            <a:pPr marL="533520" indent="-216000">
              <a:lnSpc>
                <a:spcPct val="100000"/>
              </a:lnSpc>
              <a:spcBef>
                <a:spcPts val="799"/>
              </a:spcBef>
              <a:buClr>
                <a:srgbClr val="000000"/>
              </a:buClr>
              <a:buFont typeface="Gill Sans"/>
              <a:buChar char="•"/>
              <a:defRPr/>
            </a:pPr>
            <a:r>
              <a:rPr lang="en-US" sz="2200" spc="-1">
                <a:solidFill>
                  <a:schemeClr val="dk1"/>
                </a:solidFill>
                <a:latin typeface="Gill Sans"/>
                <a:ea typeface="ヒラギノ角ゴ ProN W3"/>
              </a:rPr>
              <a:t>Zone-Signing-Keys can be trusted if signed by a Key-Signing-Key</a:t>
            </a:r>
            <a:endParaRPr lang="en-US" sz="2200" spc="-1">
              <a:solidFill>
                <a:schemeClr val="dk1"/>
              </a:solidFill>
              <a:latin typeface="Gill Sans"/>
            </a:endParaRPr>
          </a:p>
          <a:p>
            <a:pPr marL="533520" indent="-216000">
              <a:lnSpc>
                <a:spcPct val="100000"/>
              </a:lnSpc>
              <a:spcBef>
                <a:spcPts val="799"/>
              </a:spcBef>
              <a:buClr>
                <a:srgbClr val="000000"/>
              </a:buClr>
              <a:buFont typeface="Gill Sans"/>
              <a:buChar char="•"/>
              <a:defRPr/>
            </a:pPr>
            <a:r>
              <a:rPr lang="en-US" sz="2200" spc="-1">
                <a:solidFill>
                  <a:schemeClr val="dk1"/>
                </a:solidFill>
                <a:latin typeface="Gill Sans"/>
                <a:ea typeface="ヒラギノ角ゴ ProN W3"/>
              </a:rPr>
              <a:t>Key-Signing-Key can be trusted if pointed to by trusted DS record</a:t>
            </a:r>
            <a:endParaRPr lang="en-US" sz="2200" spc="-1">
              <a:solidFill>
                <a:schemeClr val="dk1"/>
              </a:solidFill>
              <a:latin typeface="Gill Sans"/>
            </a:endParaRPr>
          </a:p>
          <a:p>
            <a:pPr marL="533520" indent="-216000">
              <a:lnSpc>
                <a:spcPct val="100000"/>
              </a:lnSpc>
              <a:spcBef>
                <a:spcPts val="799"/>
              </a:spcBef>
              <a:buClr>
                <a:srgbClr val="000000"/>
              </a:buClr>
              <a:buFont typeface="Gill Sans"/>
              <a:buChar char="•"/>
              <a:defRPr/>
            </a:pPr>
            <a:r>
              <a:rPr lang="en-US" sz="2200" spc="-1">
                <a:solidFill>
                  <a:schemeClr val="dk1"/>
                </a:solidFill>
                <a:latin typeface="Gill Sans"/>
                <a:ea typeface="ヒラギノ角ゴ ProN W3"/>
              </a:rPr>
              <a:t>DS record can be trusted </a:t>
            </a:r>
            <a:endParaRPr lang="en-US" sz="2200" spc="-1">
              <a:solidFill>
                <a:schemeClr val="dk1"/>
              </a:solidFill>
              <a:latin typeface="Gill Sans"/>
            </a:endParaRPr>
          </a:p>
          <a:p>
            <a:pPr marL="977760" lvl="1" indent="-216000">
              <a:spcBef>
                <a:spcPts val="799"/>
              </a:spcBef>
              <a:buClr>
                <a:srgbClr val="000000"/>
              </a:buClr>
              <a:buFont typeface="Gill Sans"/>
              <a:buChar char="•"/>
              <a:defRPr/>
            </a:pPr>
            <a:r>
              <a:rPr lang="en-US" sz="2200" spc="-1">
                <a:solidFill>
                  <a:schemeClr val="dk1"/>
                </a:solidFill>
                <a:latin typeface="Gill Sans"/>
                <a:ea typeface="ヒラギノ角ゴ ProN W3"/>
              </a:rPr>
              <a:t>if signed by the parents Zone-Signing-Key </a:t>
            </a:r>
            <a:endParaRPr lang="en-US" sz="2200" spc="-1">
              <a:solidFill>
                <a:schemeClr val="dk1"/>
              </a:solidFill>
              <a:latin typeface="Gill Sans"/>
            </a:endParaRPr>
          </a:p>
          <a:p>
            <a:pPr marL="977760" lvl="1" indent="-216000">
              <a:spcBef>
                <a:spcPts val="799"/>
              </a:spcBef>
              <a:buClr>
                <a:srgbClr val="000000"/>
              </a:buClr>
              <a:buFont typeface="Gill Sans"/>
              <a:buChar char="•"/>
              <a:defRPr/>
            </a:pPr>
            <a:r>
              <a:rPr lang="en-US" sz="2200" spc="-1">
                <a:solidFill>
                  <a:schemeClr val="dk1"/>
                </a:solidFill>
                <a:latin typeface="Gill Sans"/>
                <a:ea typeface="ヒラギノ角ゴ ProN W3"/>
              </a:rPr>
              <a:t>or</a:t>
            </a:r>
            <a:endParaRPr lang="en-US" sz="2200" spc="-1">
              <a:solidFill>
                <a:schemeClr val="dk1"/>
              </a:solidFill>
              <a:latin typeface="Gill Sans"/>
            </a:endParaRPr>
          </a:p>
          <a:p>
            <a:pPr marL="977760" lvl="1" indent="-216000">
              <a:spcBef>
                <a:spcPts val="799"/>
              </a:spcBef>
              <a:buClr>
                <a:srgbClr val="000000"/>
              </a:buClr>
              <a:buFont typeface="Gill Sans"/>
              <a:buChar char="•"/>
              <a:defRPr/>
            </a:pPr>
            <a:r>
              <a:rPr lang="en-US" sz="2200" spc="-1">
                <a:solidFill>
                  <a:schemeClr val="dk1"/>
                </a:solidFill>
                <a:latin typeface="Gill Sans"/>
                <a:ea typeface="ヒラギノ角ゴ ProN W3"/>
              </a:rPr>
              <a:t>DS or DNSKEY records can be trusted if exchanged out-of-band and locally stored (Secure entry point) </a:t>
            </a:r>
            <a:endParaRPr lang="en-US" sz="2200" spc="-1">
              <a:solidFill>
                <a:schemeClr val="dk1"/>
              </a:solidFill>
              <a:latin typeface="Gill Sans"/>
            </a:endParaRPr>
          </a:p>
        </p:txBody>
      </p:sp>
      <p:sp>
        <p:nvSpPr>
          <p:cNvPr id="105113999" name="PlaceHolder 2"/>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4800" spc="-1">
                <a:solidFill>
                  <a:srgbClr val="275742"/>
                </a:solidFill>
                <a:latin typeface="Gill Sans"/>
                <a:ea typeface="ヒラギノ角ゴ ProN W3"/>
              </a:rPr>
              <a:t>Chain of Trust Verification, Summary</a:t>
            </a:r>
            <a:endParaRPr lang="en-US" sz="4800" spc="-1">
              <a:solidFill>
                <a:srgbClr val="000000"/>
              </a:solidFill>
              <a:latin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0775361"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5800" spc="-1">
                <a:solidFill>
                  <a:srgbClr val="275742"/>
                </a:solidFill>
                <a:latin typeface="Gill Sans"/>
                <a:ea typeface="ヒラギノ角ゴ ProN W3"/>
              </a:rPr>
              <a:t>Where are we</a:t>
            </a:r>
            <a:endParaRPr lang="en-US" sz="5800" spc="-1">
              <a:solidFill>
                <a:srgbClr val="000000"/>
              </a:solidFill>
              <a:latin typeface="Times New Roman"/>
            </a:endParaRPr>
          </a:p>
        </p:txBody>
      </p:sp>
      <p:sp>
        <p:nvSpPr>
          <p:cNvPr id="1867864986"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DNSKEY</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RRSIG</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DS</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2035303" name="PlaceHolder 1"/>
          <p:cNvSpPr>
            <a:spLocks noGrp="1"/>
          </p:cNvSpPr>
          <p:nvPr>
            <p:ph type="title"/>
          </p:nvPr>
        </p:nvSpPr>
        <p:spPr bwMode="auto">
          <a:xfrm>
            <a:off x="2412839" y="17784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4900" spc="-1">
                <a:solidFill>
                  <a:srgbClr val="275742"/>
                </a:solidFill>
                <a:latin typeface="Gill Sans"/>
                <a:ea typeface="ヒラギノ角ゴ ProN W3"/>
              </a:rPr>
              <a:t>Offline Signing and Denial of Existence</a:t>
            </a:r>
            <a:endParaRPr lang="en-US" sz="4900" spc="-1">
              <a:solidFill>
                <a:srgbClr val="000000"/>
              </a:solidFill>
              <a:latin typeface="Times New Roman"/>
            </a:endParaRPr>
          </a:p>
        </p:txBody>
      </p:sp>
      <p:sp>
        <p:nvSpPr>
          <p:cNvPr id="1780620309" name="PlaceHolder 2"/>
          <p:cNvSpPr>
            <a:spLocks noGrp="1"/>
          </p:cNvSpPr>
          <p:nvPr>
            <p:ph/>
          </p:nvPr>
        </p:nvSpPr>
        <p:spPr bwMode="auto">
          <a:xfrm>
            <a:off x="2412839" y="1638360"/>
            <a:ext cx="7353000" cy="4520880"/>
          </a:xfrm>
          <a:prstGeom prst="rect">
            <a:avLst/>
          </a:prstGeom>
          <a:noFill/>
          <a:ln w="0">
            <a:noFill/>
          </a:ln>
        </p:spPr>
        <p:txBody>
          <a:bodyPr vert="horz" lIns="0" tIns="0" rIns="0" bIns="0" numCol="1" spcCol="0" rtlCol="0" anchor="ctr">
            <a:noAutofit/>
          </a:bodyPr>
          <a:lstStyle/>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Problems with on-the-fly signing</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Private key needs to be stored on an Internet facing system</a:t>
            </a:r>
            <a:endParaRPr lang="en-US" sz="2800" spc="-1">
              <a:solidFill>
                <a:schemeClr val="dk1"/>
              </a:solidFill>
              <a:latin typeface="Gill Sans"/>
            </a:endParaRPr>
          </a:p>
          <a:p>
            <a:pPr marL="1015920" lvl="1" indent="-254160">
              <a:spcBef>
                <a:spcPts val="799"/>
              </a:spcBef>
              <a:buClr>
                <a:srgbClr val="000000"/>
              </a:buClr>
              <a:buFont typeface="Gill Sans"/>
              <a:buChar char="•"/>
              <a:defRPr/>
            </a:pPr>
            <a:r>
              <a:rPr lang="en-US" sz="2800" spc="-1">
                <a:solidFill>
                  <a:schemeClr val="dk1"/>
                </a:solidFill>
                <a:latin typeface="Gill Sans"/>
                <a:ea typeface="ヒラギノ角ゴ ProN W3"/>
              </a:rPr>
              <a:t>Signing is a CPU expensive operation</a:t>
            </a:r>
            <a:endParaRPr lang="en-US" sz="2800" spc="-1">
              <a:solidFill>
                <a:schemeClr val="dk1"/>
              </a:solidFill>
              <a:latin typeface="Gill Sans"/>
            </a:endParaRPr>
          </a:p>
          <a:p>
            <a:pPr marL="571680" indent="-254160">
              <a:lnSpc>
                <a:spcPct val="100000"/>
              </a:lnSpc>
              <a:spcBef>
                <a:spcPts val="799"/>
              </a:spcBef>
              <a:buClr>
                <a:srgbClr val="000000"/>
              </a:buClr>
              <a:buFont typeface="Gill Sans"/>
              <a:buChar char="•"/>
              <a:defRPr/>
            </a:pPr>
            <a:r>
              <a:rPr lang="en-US" sz="2800" spc="-1">
                <a:solidFill>
                  <a:schemeClr val="dk1"/>
                </a:solidFill>
                <a:latin typeface="Gill Sans"/>
                <a:ea typeface="ヒラギノ角ゴ ProN W3"/>
              </a:rPr>
              <a:t>How does one provide a proof that the answer to a question does not exist?</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99645374" name="PlaceHolder 1"/>
          <p:cNvSpPr>
            <a:spLocks noGrp="1"/>
          </p:cNvSpPr>
          <p:nvPr>
            <p:ph/>
          </p:nvPr>
        </p:nvSpPr>
        <p:spPr bwMode="auto">
          <a:xfrm>
            <a:off x="2209800" y="1739880"/>
            <a:ext cx="8000640" cy="4800240"/>
          </a:xfrm>
          <a:prstGeom prst="rect">
            <a:avLst/>
          </a:prstGeom>
          <a:noFill/>
          <a:ln w="0">
            <a:noFill/>
          </a:ln>
        </p:spPr>
        <p:txBody>
          <a:bodyPr vert="horz" lIns="0" tIns="0" rIns="39240" bIns="0" numCol="1" spcCol="0" rtlCol="0" anchor="ctr">
            <a:noAutofit/>
          </a:bodyPr>
          <a:lstStyle/>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Points to the next domain name in the zone</a:t>
            </a:r>
            <a:endParaRPr lang="en-US" sz="28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also lists what are all the existing RRs for “name”</a:t>
            </a:r>
            <a:endParaRPr lang="en-US" sz="28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NSEC record for last name “wraps around” to first name in zone </a:t>
            </a:r>
            <a:endParaRPr lang="en-US" sz="28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N*32 bit type bit map</a:t>
            </a:r>
            <a:endParaRPr lang="en-US" sz="28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Used for authenticated denial-of-existence of data</a:t>
            </a:r>
            <a:endParaRPr lang="en-US" sz="28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authenticated non-existence of TYPEs and labels</a:t>
            </a:r>
            <a:endParaRPr lang="en-US" sz="28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Example:</a:t>
            </a:r>
            <a:endParaRPr lang="en-US" sz="28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1600" spc="-1">
                <a:solidFill>
                  <a:schemeClr val="dk1"/>
                </a:solidFill>
                <a:latin typeface="Courier New Bold"/>
                <a:ea typeface="Courier New Bold"/>
              </a:rPr>
              <a:t>www.nlnetlabs.nl. 3600 IN   NSEC nlnetlabs.nl. A RRSIG NSEC</a:t>
            </a:r>
            <a:endParaRPr lang="en-US" sz="1600" spc="-1">
              <a:solidFill>
                <a:schemeClr val="dk1"/>
              </a:solidFill>
              <a:latin typeface="Gill Sans"/>
            </a:endParaRPr>
          </a:p>
        </p:txBody>
      </p:sp>
      <p:sp>
        <p:nvSpPr>
          <p:cNvPr id="926945052" name="PlaceHolder 2"/>
          <p:cNvSpPr>
            <a:spLocks noGrp="1"/>
          </p:cNvSpPr>
          <p:nvPr>
            <p:ph type="title"/>
          </p:nvPr>
        </p:nvSpPr>
        <p:spPr bwMode="auto">
          <a:xfrm>
            <a:off x="2209800" y="304920"/>
            <a:ext cx="7775280" cy="1752120"/>
          </a:xfrm>
          <a:prstGeom prst="rect">
            <a:avLst/>
          </a:prstGeom>
          <a:noFill/>
          <a:ln w="0">
            <a:noFill/>
          </a:ln>
          <a:effectLst>
            <a:outerShdw blurRad="127080" dist="75858" dir="2700000" rotWithShape="0">
              <a:srgbClr val="000000">
                <a:alpha val="75000"/>
              </a:srgbClr>
            </a:outerShdw>
          </a:effectLst>
        </p:spPr>
        <p:txBody>
          <a:bodyPr vert="horz" lIns="50760" tIns="50760" rIns="39240" bIns="50760" numCol="1" spcCol="0" rtlCol="0" anchor="ctr">
            <a:noAutofit/>
          </a:bodyPr>
          <a:lstStyle/>
          <a:p>
            <a:pPr marL="38160" algn="ctr">
              <a:lnSpc>
                <a:spcPct val="100000"/>
              </a:lnSpc>
              <a:tabLst>
                <a:tab pos="38160" algn="l"/>
                <a:tab pos="482760" algn="l"/>
                <a:tab pos="939960" algn="l"/>
                <a:tab pos="1384200" algn="l"/>
                <a:tab pos="1828800" algn="l"/>
                <a:tab pos="2286000" algn="l"/>
                <a:tab pos="2730600" algn="l"/>
                <a:tab pos="3187800" algn="l"/>
                <a:tab pos="3632040" algn="l"/>
                <a:tab pos="4076640" algn="l"/>
                <a:tab pos="4533840" algn="l"/>
                <a:tab pos="4978440" algn="l"/>
                <a:tab pos="5423039" algn="l"/>
                <a:tab pos="5880240" algn="l"/>
                <a:tab pos="6324480" algn="l"/>
                <a:tab pos="6781680" algn="l"/>
                <a:tab pos="7226280" algn="l"/>
                <a:tab pos="7670880" algn="l"/>
                <a:tab pos="8128080" algn="l"/>
                <a:tab pos="8572680" algn="l"/>
                <a:tab pos="9016920" algn="l"/>
                <a:tab pos="9182160" algn="l"/>
              </a:tabLst>
              <a:defRPr/>
            </a:pPr>
            <a:r>
              <a:rPr lang="en-US" sz="5800" spc="-1">
                <a:solidFill>
                  <a:srgbClr val="275742"/>
                </a:solidFill>
                <a:latin typeface="Gill Sans"/>
                <a:ea typeface="ヒラギノ角ゴ ProN W3"/>
              </a:rPr>
              <a:t>NSEC RDATA</a:t>
            </a:r>
            <a:endParaRPr lang="en-US" sz="5800" spc="-1">
              <a:solidFill>
                <a:srgbClr val="000000"/>
              </a:solidFill>
              <a:latin typeface="Times New Roman"/>
            </a:endParaRPr>
          </a:p>
        </p:txBody>
      </p:sp>
      <p:sp>
        <p:nvSpPr>
          <p:cNvPr id="1684082178" name="AutoShape 2"/>
          <p:cNvSpPr/>
          <p:nvPr/>
        </p:nvSpPr>
        <p:spPr bwMode="auto">
          <a:xfrm>
            <a:off x="6524760" y="5867280"/>
            <a:ext cx="1676160" cy="304560"/>
          </a:xfrm>
          <a:prstGeom prst="roundRect">
            <a:avLst>
              <a:gd name="adj" fmla="val 519"/>
            </a:avLst>
          </a:prstGeom>
          <a:solidFill>
            <a:srgbClr val="FFFF99">
              <a:alpha val="24000"/>
            </a:srgbClr>
          </a:solidFill>
          <a:ln w="12700">
            <a:solidFill>
              <a:srgbClr val="000000">
                <a:alpha val="36078"/>
              </a:srgbClr>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
        <p:nvSpPr>
          <p:cNvPr id="1671796271" name="AutoShape 1"/>
          <p:cNvSpPr/>
          <p:nvPr/>
        </p:nvSpPr>
        <p:spPr bwMode="auto">
          <a:xfrm>
            <a:off x="8191560" y="5867280"/>
            <a:ext cx="1739520" cy="304560"/>
          </a:xfrm>
          <a:prstGeom prst="roundRect">
            <a:avLst>
              <a:gd name="adj" fmla="val 519"/>
            </a:avLst>
          </a:prstGeom>
          <a:solidFill>
            <a:srgbClr val="FFFF99">
              <a:alpha val="24000"/>
            </a:srgbClr>
          </a:solidFill>
          <a:ln w="12700">
            <a:solidFill>
              <a:srgbClr val="000000">
                <a:alpha val="36078"/>
              </a:srgbClr>
            </a:solidFill>
            <a:round/>
          </a:ln>
        </p:spPr>
        <p:style>
          <a:lnRef idx="0">
            <a:srgbClr val="000000"/>
          </a:lnRef>
          <a:fillRef idx="0">
            <a:srgbClr val="000000"/>
          </a:fillRef>
          <a:effectRef idx="0">
            <a:srgbClr val="000000"/>
          </a:effectRef>
          <a:fontRef idx="minor"/>
        </p:style>
        <p:txBody>
          <a:bodyPr lIns="0" tIns="0" rIns="0" bIns="0" anchor="t">
            <a:noAutofit/>
          </a:bodyPr>
          <a:lstStyle/>
          <a:p>
            <a:pPr>
              <a:lnSpc>
                <a:spcPct val="100000"/>
              </a:lnSpc>
              <a:defRPr/>
            </a:pPr>
            <a:endParaRPr sz="2400" spc="-1">
              <a:solidFill>
                <a:srgbClr val="000000"/>
              </a:solidFill>
              <a:latin typeface="Times New Roman"/>
              <a:ea typeface="ヒラギノ明朝 ProN W3"/>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1671796271"/>
                                        </p:tgtEl>
                                        <p:attrNameLst>
                                          <p:attrName>style.visibility</p:attrName>
                                        </p:attrNameLst>
                                      </p:cBhvr>
                                      <p:to>
                                        <p:strVal val="visible"/>
                                      </p:to>
                                    </p:set>
                                    <p:anim calcmode="lin" valueType="num">
                                      <p:cBhvr additive="repl">
                                        <p:cTn id="7" dur="500" fill="hold"/>
                                        <p:tgtEl>
                                          <p:spTgt spid="1671796271"/>
                                        </p:tgtEl>
                                        <p:attrNameLst>
                                          <p:attrName>ppt_x</p:attrName>
                                        </p:attrNameLst>
                                      </p:cBhvr>
                                      <p:tavLst>
                                        <p:tav tm="0">
                                          <p:val>
                                            <p:strVal val="0-#ppt_w/2"/>
                                          </p:val>
                                        </p:tav>
                                        <p:tav tm="100000">
                                          <p:val>
                                            <p:strVal val="#ppt_x"/>
                                          </p:val>
                                        </p:tav>
                                      </p:tavLst>
                                    </p:anim>
                                    <p:anim calcmode="lin" valueType="num">
                                      <p:cBhvr additive="repl">
                                        <p:cTn id="8" dur="500" fill="hold"/>
                                        <p:tgtEl>
                                          <p:spTgt spid="1671796271"/>
                                        </p:tgtEl>
                                        <p:attrNameLst>
                                          <p:attrName>ppt_y</p:attrName>
                                        </p:attrNameLst>
                                      </p:cBhvr>
                                      <p:tavLst>
                                        <p:tav tm="0">
                                          <p:val>
                                            <p:strVal val="#ppt_y"/>
                                          </p:val>
                                        </p:tav>
                                        <p:tav tm="100000">
                                          <p:val>
                                            <p:strVal val="#ppt_y"/>
                                          </p:val>
                                        </p:tav>
                                      </p:tavLst>
                                    </p:anim>
                                  </p:childTnLst>
                                </p:cTn>
                              </p:par>
                            </p:childTnLst>
                          </p:cTn>
                        </p:par>
                      </p:childTnLst>
                    </p:cTn>
                  </p:par>
                  <p:par>
                    <p:cTn id="9" fill="hold" nodeType="clickEffect">
                      <p:stCondLst>
                        <p:cond delay="indefinite"/>
                      </p:stCondLst>
                      <p:childTnLst>
                        <p:par>
                          <p:cTn id="10" fill="hold" nodeType="withEffect">
                            <p:stCondLst>
                              <p:cond delay="0"/>
                            </p:stCondLst>
                            <p:childTnLst>
                              <p:par>
                                <p:cTn id="11" presetID="2" presetClass="entr" presetSubtype="2" fill="hold" nodeType="clickEffect">
                                  <p:stCondLst>
                                    <p:cond delay="0"/>
                                  </p:stCondLst>
                                  <p:childTnLst>
                                    <p:set>
                                      <p:cBhvr>
                                        <p:cTn id="12" dur="1" fill="hold">
                                          <p:stCondLst>
                                            <p:cond delay="0"/>
                                          </p:stCondLst>
                                        </p:cTn>
                                        <p:tgtEl>
                                          <p:spTgt spid="1684082178"/>
                                        </p:tgtEl>
                                        <p:attrNameLst>
                                          <p:attrName>style.visibility</p:attrName>
                                        </p:attrNameLst>
                                      </p:cBhvr>
                                      <p:to>
                                        <p:strVal val="visible"/>
                                      </p:to>
                                    </p:set>
                                    <p:anim calcmode="lin" valueType="num">
                                      <p:cBhvr additive="repl">
                                        <p:cTn id="13" dur="500" fill="hold"/>
                                        <p:tgtEl>
                                          <p:spTgt spid="1684082178"/>
                                        </p:tgtEl>
                                        <p:attrNameLst>
                                          <p:attrName>ppt_x</p:attrName>
                                        </p:attrNameLst>
                                      </p:cBhvr>
                                      <p:tavLst>
                                        <p:tav tm="0">
                                          <p:val>
                                            <p:strVal val="1+#ppt_w/2"/>
                                          </p:val>
                                        </p:tav>
                                        <p:tav tm="100000">
                                          <p:val>
                                            <p:strVal val="#ppt_x"/>
                                          </p:val>
                                        </p:tav>
                                      </p:tavLst>
                                    </p:anim>
                                    <p:anim calcmode="lin" valueType="num">
                                      <p:cBhvr additive="repl">
                                        <p:cTn id="14" dur="500" fill="hold"/>
                                        <p:tgtEl>
                                          <p:spTgt spid="16840821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0443284" name="PlaceHolder 1"/>
          <p:cNvSpPr>
            <a:spLocks noGrp="1"/>
          </p:cNvSpPr>
          <p:nvPr>
            <p:ph type="title"/>
          </p:nvPr>
        </p:nvSpPr>
        <p:spPr bwMode="auto">
          <a:xfrm>
            <a:off x="2209800" y="380880"/>
            <a:ext cx="7775280" cy="1599840"/>
          </a:xfrm>
          <a:prstGeom prst="rect">
            <a:avLst/>
          </a:prstGeom>
          <a:noFill/>
          <a:ln w="0">
            <a:noFill/>
          </a:ln>
          <a:effectLst>
            <a:outerShdw blurRad="127080" dist="75858" dir="2700000" rotWithShape="0">
              <a:srgbClr val="000000">
                <a:alpha val="75000"/>
              </a:srgbClr>
            </a:outerShdw>
          </a:effectLst>
        </p:spPr>
        <p:txBody>
          <a:bodyPr vert="horz" lIns="50760" tIns="50760" rIns="39240" bIns="50760" numCol="1" spcCol="0" rtlCol="0" anchor="ctr">
            <a:noAutofit/>
          </a:bodyPr>
          <a:lstStyle/>
          <a:p>
            <a:pPr marL="38160" algn="ctr">
              <a:lnSpc>
                <a:spcPct val="100000"/>
              </a:lnSpc>
              <a:tabLst>
                <a:tab pos="38160" algn="l"/>
                <a:tab pos="482760" algn="l"/>
                <a:tab pos="939960" algn="l"/>
                <a:tab pos="1384200" algn="l"/>
                <a:tab pos="1828800" algn="l"/>
                <a:tab pos="2286000" algn="l"/>
                <a:tab pos="2730600" algn="l"/>
                <a:tab pos="3187800" algn="l"/>
                <a:tab pos="3632040" algn="l"/>
                <a:tab pos="4076640" algn="l"/>
                <a:tab pos="4533840" algn="l"/>
                <a:tab pos="4978440" algn="l"/>
                <a:tab pos="5423039" algn="l"/>
                <a:tab pos="5880240" algn="l"/>
                <a:tab pos="6324480" algn="l"/>
                <a:tab pos="6781680" algn="l"/>
                <a:tab pos="7226280" algn="l"/>
                <a:tab pos="7670880" algn="l"/>
                <a:tab pos="8128080" algn="l"/>
                <a:tab pos="8572680" algn="l"/>
                <a:tab pos="9016920" algn="l"/>
                <a:tab pos="9182160" algn="l"/>
              </a:tabLst>
              <a:defRPr/>
            </a:pPr>
            <a:r>
              <a:rPr lang="en-US" sz="5800" spc="-1">
                <a:solidFill>
                  <a:srgbClr val="275742"/>
                </a:solidFill>
                <a:latin typeface="Gill Sans"/>
                <a:ea typeface="ヒラギノ角ゴ ProN W3"/>
              </a:rPr>
              <a:t>NSEC Records</a:t>
            </a:r>
            <a:endParaRPr lang="en-US" sz="5800" spc="-1">
              <a:solidFill>
                <a:srgbClr val="000000"/>
              </a:solidFill>
              <a:latin typeface="Times New Roman"/>
            </a:endParaRPr>
          </a:p>
        </p:txBody>
      </p:sp>
      <p:sp>
        <p:nvSpPr>
          <p:cNvPr id="452244064" name="PlaceHolder 2"/>
          <p:cNvSpPr>
            <a:spLocks noGrp="1"/>
          </p:cNvSpPr>
          <p:nvPr>
            <p:ph/>
          </p:nvPr>
        </p:nvSpPr>
        <p:spPr bwMode="auto">
          <a:xfrm>
            <a:off x="2209800" y="1981080"/>
            <a:ext cx="7775280" cy="4876560"/>
          </a:xfrm>
          <a:prstGeom prst="rect">
            <a:avLst/>
          </a:prstGeom>
          <a:noFill/>
          <a:ln w="0">
            <a:noFill/>
          </a:ln>
        </p:spPr>
        <p:txBody>
          <a:bodyPr vert="horz" lIns="0" tIns="0" rIns="39240" bIns="0" numCol="1" spcCol="0" rtlCol="0" anchor="ctr">
            <a:noAutofit/>
          </a:bodyPr>
          <a:lstStyle/>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NSEC RR provides proof of non-existence</a:t>
            </a:r>
            <a:endParaRPr lang="en-US" sz="28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If the servers response is Name Error (NXDOMAIN):</a:t>
            </a:r>
            <a:endParaRPr lang="en-US" sz="28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000" spc="-1">
                <a:solidFill>
                  <a:schemeClr val="dk1"/>
                </a:solidFill>
                <a:latin typeface="Gill Sans"/>
                <a:ea typeface="ヒラギノ角ゴ ProN W3"/>
              </a:rPr>
              <a:t>One or more NSEC RRs indicate that the name or a wildcard expansion does not exist</a:t>
            </a:r>
            <a:endParaRPr lang="en-US" sz="20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If the servers response is NOERROR:</a:t>
            </a:r>
            <a:endParaRPr lang="en-US" sz="28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000" spc="-1">
                <a:solidFill>
                  <a:schemeClr val="dk1"/>
                </a:solidFill>
                <a:latin typeface="Gill Sans"/>
                <a:ea typeface="ヒラギノ角ゴ ProN W3"/>
              </a:rPr>
              <a:t>And empty answer section</a:t>
            </a:r>
            <a:endParaRPr lang="en-US" sz="20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000" spc="-1">
                <a:solidFill>
                  <a:schemeClr val="dk1"/>
                </a:solidFill>
                <a:latin typeface="Gill Sans"/>
                <a:ea typeface="ヒラギノ角ゴ ProN W3"/>
              </a:rPr>
              <a:t>The NSEC proves that the QTYPE did not exist</a:t>
            </a:r>
            <a:endParaRPr lang="en-US" sz="20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More than one NSEC may be required in response</a:t>
            </a:r>
            <a:endParaRPr lang="en-US" sz="28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000" spc="-1">
                <a:solidFill>
                  <a:schemeClr val="dk1"/>
                </a:solidFill>
                <a:latin typeface="Gill Sans"/>
                <a:ea typeface="ヒラギノ角ゴ ProN W3"/>
              </a:rPr>
              <a:t>Wildcards</a:t>
            </a:r>
            <a:endParaRPr lang="en-US" sz="20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7484789" name="PlaceHolder 1"/>
          <p:cNvSpPr>
            <a:spLocks noGrp="1"/>
          </p:cNvSpPr>
          <p:nvPr>
            <p:ph type="title"/>
          </p:nvPr>
        </p:nvSpPr>
        <p:spPr bwMode="auto">
          <a:xfrm>
            <a:off x="2209800" y="380880"/>
            <a:ext cx="7775280" cy="1599840"/>
          </a:xfrm>
          <a:prstGeom prst="rect">
            <a:avLst/>
          </a:prstGeom>
          <a:noFill/>
          <a:ln w="0">
            <a:noFill/>
          </a:ln>
          <a:effectLst>
            <a:outerShdw blurRad="127080" dist="75858" dir="2700000" rotWithShape="0">
              <a:srgbClr val="000000">
                <a:alpha val="75000"/>
              </a:srgbClr>
            </a:outerShdw>
          </a:effectLst>
        </p:spPr>
        <p:txBody>
          <a:bodyPr vert="horz" lIns="50760" tIns="50760" rIns="39240" bIns="50760" numCol="1" spcCol="0" rtlCol="0" anchor="ctr">
            <a:noAutofit/>
          </a:bodyPr>
          <a:lstStyle/>
          <a:p>
            <a:pPr marL="38160" algn="ctr">
              <a:lnSpc>
                <a:spcPct val="100000"/>
              </a:lnSpc>
              <a:tabLst>
                <a:tab pos="38160" algn="l"/>
                <a:tab pos="482760" algn="l"/>
                <a:tab pos="939960" algn="l"/>
                <a:tab pos="1384200" algn="l"/>
                <a:tab pos="1828800" algn="l"/>
                <a:tab pos="2286000" algn="l"/>
                <a:tab pos="2730600" algn="l"/>
                <a:tab pos="3187800" algn="l"/>
                <a:tab pos="3632040" algn="l"/>
                <a:tab pos="4076640" algn="l"/>
                <a:tab pos="4533840" algn="l"/>
                <a:tab pos="4978440" algn="l"/>
                <a:tab pos="5423039" algn="l"/>
                <a:tab pos="5880240" algn="l"/>
                <a:tab pos="6324480" algn="l"/>
                <a:tab pos="6781680" algn="l"/>
                <a:tab pos="7226280" algn="l"/>
                <a:tab pos="7670880" algn="l"/>
                <a:tab pos="8128080" algn="l"/>
                <a:tab pos="8572680" algn="l"/>
                <a:tab pos="9016920" algn="l"/>
                <a:tab pos="9182160" algn="l"/>
              </a:tabLst>
              <a:defRPr/>
            </a:pPr>
            <a:r>
              <a:rPr lang="en-US" sz="5800" spc="-1">
                <a:solidFill>
                  <a:srgbClr val="275742"/>
                </a:solidFill>
                <a:latin typeface="Gill Sans"/>
                <a:ea typeface="ヒラギノ角ゴ ProN W3"/>
              </a:rPr>
              <a:t>NSEC Walk</a:t>
            </a:r>
            <a:endParaRPr lang="en-US" sz="5800" spc="-1">
              <a:solidFill>
                <a:srgbClr val="000000"/>
              </a:solidFill>
              <a:latin typeface="Times New Roman"/>
            </a:endParaRPr>
          </a:p>
        </p:txBody>
      </p:sp>
      <p:sp>
        <p:nvSpPr>
          <p:cNvPr id="1456517068" name="PlaceHolder 2"/>
          <p:cNvSpPr>
            <a:spLocks noGrp="1"/>
          </p:cNvSpPr>
          <p:nvPr>
            <p:ph/>
          </p:nvPr>
        </p:nvSpPr>
        <p:spPr bwMode="auto">
          <a:xfrm>
            <a:off x="2209800" y="1981080"/>
            <a:ext cx="7775280" cy="4876560"/>
          </a:xfrm>
          <a:prstGeom prst="rect">
            <a:avLst/>
          </a:prstGeom>
          <a:noFill/>
          <a:ln w="0">
            <a:noFill/>
          </a:ln>
        </p:spPr>
        <p:txBody>
          <a:bodyPr vert="horz" lIns="0" tIns="0" rIns="39240" bIns="0" numCol="1" spcCol="0" rtlCol="0" anchor="ctr">
            <a:noAutofit/>
          </a:bodyPr>
          <a:lstStyle/>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NSEC records allow for zone enumeration</a:t>
            </a:r>
            <a:endParaRPr lang="en-US" sz="28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Providing privacy was not a requirement at the time</a:t>
            </a:r>
            <a:endParaRPr lang="en-US" sz="28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Zone enumeration is a deployment barrier (why?)</a:t>
            </a:r>
            <a:endParaRPr lang="en-US" sz="28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Solution has been developed: NSEC3</a:t>
            </a:r>
            <a:endParaRPr lang="en-US" sz="2800" spc="-1">
              <a:solidFill>
                <a:schemeClr val="dk1"/>
              </a:solidFill>
              <a:latin typeface="Gill Sans"/>
            </a:endParaRPr>
          </a:p>
          <a:p>
            <a:pPr marL="749160" lvl="1" indent="-254160">
              <a:lnSpc>
                <a:spcPct val="90000"/>
              </a:lnSpc>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RFC 5155</a:t>
            </a:r>
            <a:endParaRPr lang="en-US" sz="2800" spc="-1">
              <a:solidFill>
                <a:schemeClr val="dk1"/>
              </a:solidFill>
              <a:latin typeface="Gill Sans"/>
            </a:endParaRPr>
          </a:p>
          <a:p>
            <a:pPr marL="749160" lvl="1" indent="-254160">
              <a:lnSpc>
                <a:spcPct val="90000"/>
              </a:lnSpc>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Complicated piece of protocol work</a:t>
            </a:r>
            <a:endParaRPr lang="en-US" sz="2800" spc="-1">
              <a:solidFill>
                <a:schemeClr val="dk1"/>
              </a:solidFill>
              <a:latin typeface="Gill Sans"/>
            </a:endParaRPr>
          </a:p>
          <a:p>
            <a:pPr marL="749160" lvl="1" indent="-254160">
              <a:lnSpc>
                <a:spcPct val="90000"/>
              </a:lnSpc>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Hard to troubleshoot</a:t>
            </a:r>
            <a:endParaRPr lang="en-US" sz="2800" spc="-1">
              <a:solidFill>
                <a:schemeClr val="dk1"/>
              </a:solidFill>
              <a:latin typeface="Gill Sans"/>
            </a:endParaRPr>
          </a:p>
          <a:p>
            <a:pPr marL="749160" lvl="1" indent="-254160">
              <a:lnSpc>
                <a:spcPct val="90000"/>
              </a:lnSpc>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Only to be used over Delegation Centric Zones</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1589625" name="Picture 1"/>
          <p:cNvPicPr/>
          <p:nvPr/>
        </p:nvPicPr>
        <p:blipFill rotWithShape="1">
          <a:blip r:embed="rId3"/>
          <a:stretch/>
        </p:blipFill>
        <p:spPr bwMode="auto">
          <a:xfrm>
            <a:off x="1485840" y="-25560"/>
            <a:ext cx="2844360" cy="2844360"/>
          </a:xfrm>
          <a:prstGeom prst="rect">
            <a:avLst/>
          </a:prstGeom>
          <a:ln w="0">
            <a:noFill/>
          </a:ln>
        </p:spPr>
      </p:pic>
      <p:sp>
        <p:nvSpPr>
          <p:cNvPr id="1306605199" name="Rectangle 2"/>
          <p:cNvSpPr/>
          <p:nvPr/>
        </p:nvSpPr>
        <p:spPr bwMode="auto">
          <a:xfrm>
            <a:off x="10089513" y="61920"/>
            <a:ext cx="349495" cy="153888"/>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t">
            <a:spAutoFit/>
          </a:bodyPr>
          <a:lstStyle/>
          <a:p>
            <a:pPr marL="39600" algn="ctr">
              <a:defRPr/>
            </a:pPr>
            <a:r>
              <a:rPr lang="en-US" sz="1000" spc="-1">
                <a:solidFill>
                  <a:srgbClr val="156047"/>
                </a:solidFill>
                <a:latin typeface="Gill Sans"/>
                <a:ea typeface="Gill Sans"/>
              </a:rPr>
              <a:t>page </a:t>
            </a:r>
            <a:endParaRPr lang="en-US" sz="1000" spc="-1">
              <a:solidFill>
                <a:srgbClr val="000000"/>
              </a:solidFill>
              <a:latin typeface="Arial"/>
            </a:endParaRPr>
          </a:p>
        </p:txBody>
      </p:sp>
      <p:pic>
        <p:nvPicPr>
          <p:cNvPr id="918174140" name="Picture 3"/>
          <p:cNvPicPr/>
          <p:nvPr/>
        </p:nvPicPr>
        <p:blipFill rotWithShape="1">
          <a:blip r:embed="rId4"/>
          <a:stretch/>
        </p:blipFill>
        <p:spPr bwMode="auto">
          <a:xfrm>
            <a:off x="5930760" y="6194520"/>
            <a:ext cx="4641480" cy="561600"/>
          </a:xfrm>
          <a:prstGeom prst="rect">
            <a:avLst/>
          </a:prstGeom>
          <a:ln w="0">
            <a:noFill/>
          </a:ln>
        </p:spPr>
      </p:pic>
      <p:pic>
        <p:nvPicPr>
          <p:cNvPr id="92556444" name="Picture 4"/>
          <p:cNvPicPr/>
          <p:nvPr/>
        </p:nvPicPr>
        <p:blipFill rotWithShape="1">
          <a:blip r:embed="rId5"/>
          <a:stretch/>
        </p:blipFill>
        <p:spPr bwMode="auto">
          <a:xfrm>
            <a:off x="1663680" y="6400800"/>
            <a:ext cx="1007640" cy="367920"/>
          </a:xfrm>
          <a:prstGeom prst="rect">
            <a:avLst/>
          </a:prstGeom>
          <a:ln w="0">
            <a:noFill/>
          </a:ln>
        </p:spPr>
      </p:pic>
      <p:sp>
        <p:nvSpPr>
          <p:cNvPr id="1800359640" name="Rectangle 5"/>
          <p:cNvSpPr/>
          <p:nvPr/>
        </p:nvSpPr>
        <p:spPr bwMode="auto">
          <a:xfrm>
            <a:off x="7023198" y="6708379"/>
            <a:ext cx="3593484" cy="107722"/>
          </a:xfrm>
          <a:prstGeom prst="rect">
            <a:avLst/>
          </a:prstGeom>
          <a:noFill/>
          <a:ln w="0">
            <a:noFill/>
          </a:ln>
        </p:spPr>
        <p:style>
          <a:lnRef idx="0">
            <a:srgbClr val="000000"/>
          </a:lnRef>
          <a:fillRef idx="0">
            <a:srgbClr val="000000"/>
          </a:fillRef>
          <a:effectRef idx="0">
            <a:srgbClr val="000000"/>
          </a:effectRef>
          <a:fontRef idx="minor"/>
        </p:style>
        <p:txBody>
          <a:bodyPr wrap="none" lIns="0" tIns="0" rIns="0" bIns="0" anchor="ctr">
            <a:spAutoFit/>
          </a:bodyPr>
          <a:lstStyle/>
          <a:p>
            <a:pPr algn="ctr">
              <a:lnSpc>
                <a:spcPct val="100000"/>
              </a:lnSpc>
              <a:defRPr/>
            </a:pPr>
            <a:r>
              <a:rPr lang="en-US" sz="700" spc="-1">
                <a:solidFill>
                  <a:srgbClr val="2A5947"/>
                </a:solidFill>
                <a:latin typeface="Gill Sans"/>
                <a:ea typeface="Gill Sans"/>
              </a:rPr>
              <a:t>© 2006-2012 NLnet Labs, Licensed under a </a:t>
            </a:r>
            <a:r>
              <a:rPr lang="en-US" sz="700" u="sng" spc="-1">
                <a:solidFill>
                  <a:srgbClr val="009999"/>
                </a:solidFill>
                <a:latin typeface="Gill Sans"/>
                <a:ea typeface="Gill Sans"/>
                <a:hlinkClick r:id="rId6" tooltip=""/>
              </a:rPr>
              <a:t>Creative Commons Attribution 3.0 Unported License</a:t>
            </a:r>
            <a:r>
              <a:rPr lang="en-US" sz="700" spc="-1">
                <a:solidFill>
                  <a:srgbClr val="2A5947"/>
                </a:solidFill>
                <a:latin typeface="Gill Sans"/>
                <a:ea typeface="Gill Sans"/>
              </a:rPr>
              <a:t>.</a:t>
            </a:r>
            <a:endParaRPr lang="en-US" sz="700" spc="-1">
              <a:solidFill>
                <a:srgbClr val="000000"/>
              </a:solidFill>
              <a:latin typeface="Arial"/>
            </a:endParaRPr>
          </a:p>
        </p:txBody>
      </p:sp>
      <p:sp>
        <p:nvSpPr>
          <p:cNvPr id="113753642" name="PlaceHolder 1"/>
          <p:cNvSpPr>
            <a:spLocks noGrp="1"/>
          </p:cNvSpPr>
          <p:nvPr>
            <p:ph type="title"/>
          </p:nvPr>
        </p:nvSpPr>
        <p:spPr bwMode="auto">
          <a:xfrm>
            <a:off x="2209800" y="380880"/>
            <a:ext cx="7772039" cy="1002960"/>
          </a:xfrm>
          <a:prstGeom prst="rect">
            <a:avLst/>
          </a:prstGeom>
          <a:noFill/>
          <a:ln w="0">
            <a:noFill/>
          </a:ln>
          <a:effectLst>
            <a:outerShdw blurRad="127080" dist="75858" dir="2700000" rotWithShape="0">
              <a:srgbClr val="000000">
                <a:alpha val="75000"/>
              </a:srgbClr>
            </a:outerShdw>
          </a:effectLst>
        </p:spPr>
        <p:txBody>
          <a:bodyPr vert="horz" lIns="50760" tIns="50760" rIns="132120" bIns="50760" numCol="1" spcCol="0" rtlCol="0" anchor="ctr">
            <a:noAutofit/>
          </a:bodyPr>
          <a:lstStyle/>
          <a:p>
            <a:pPr marL="39600" algn="ctr">
              <a:lnSpc>
                <a:spcPct val="100000"/>
              </a:lnSpc>
              <a:defRPr/>
            </a:pPr>
            <a:r>
              <a:rPr lang="en-US" sz="7200" spc="-1">
                <a:solidFill>
                  <a:srgbClr val="156047"/>
                </a:solidFill>
                <a:latin typeface="Gill Sans"/>
                <a:ea typeface="ヒラギノ角ゴ ProN W3"/>
              </a:rPr>
              <a:t>NSEC3</a:t>
            </a:r>
            <a:endParaRPr lang="en-US" sz="7200" spc="-1">
              <a:solidFill>
                <a:srgbClr val="000000"/>
              </a:solidFill>
              <a:latin typeface="Times New Roman"/>
            </a:endParaRPr>
          </a:p>
        </p:txBody>
      </p:sp>
      <p:sp>
        <p:nvSpPr>
          <p:cNvPr id="289641372" name="Rectangle 7"/>
          <p:cNvSpPr/>
          <p:nvPr/>
        </p:nvSpPr>
        <p:spPr bwMode="auto">
          <a:xfrm>
            <a:off x="2149680" y="2298600"/>
            <a:ext cx="460616" cy="630941"/>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t">
            <a:spAutoFit/>
          </a:bodyPr>
          <a:lstStyle/>
          <a:p>
            <a:pPr marL="39600">
              <a:defRPr/>
            </a:pPr>
            <a:r>
              <a:rPr lang="en-US" sz="4100" spc="-1">
                <a:solidFill>
                  <a:schemeClr val="dk1"/>
                </a:solidFill>
                <a:latin typeface="Times New Roman"/>
                <a:ea typeface="Times New Roman"/>
              </a:rPr>
              <a:t>A</a:t>
            </a:r>
            <a:endParaRPr lang="en-US" sz="4100" spc="-1">
              <a:solidFill>
                <a:srgbClr val="000000"/>
              </a:solidFill>
              <a:latin typeface="Arial"/>
            </a:endParaRPr>
          </a:p>
        </p:txBody>
      </p:sp>
      <p:sp>
        <p:nvSpPr>
          <p:cNvPr id="1308706410" name="Rectangle 8"/>
          <p:cNvSpPr/>
          <p:nvPr/>
        </p:nvSpPr>
        <p:spPr bwMode="auto">
          <a:xfrm>
            <a:off x="2136360" y="3073320"/>
            <a:ext cx="428760" cy="624960"/>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t">
            <a:spAutoFit/>
          </a:bodyPr>
          <a:lstStyle/>
          <a:p>
            <a:pPr marL="39600">
              <a:defRPr/>
            </a:pPr>
            <a:r>
              <a:rPr lang="en-US" sz="4100" spc="-1">
                <a:solidFill>
                  <a:schemeClr val="dk1"/>
                </a:solidFill>
                <a:latin typeface="Times New Roman"/>
                <a:ea typeface="Times New Roman"/>
              </a:rPr>
              <a:t>C</a:t>
            </a:r>
            <a:endParaRPr lang="en-US" sz="4100" spc="-1">
              <a:solidFill>
                <a:srgbClr val="000000"/>
              </a:solidFill>
              <a:latin typeface="Arial"/>
            </a:endParaRPr>
          </a:p>
        </p:txBody>
      </p:sp>
      <p:sp>
        <p:nvSpPr>
          <p:cNvPr id="1928693051" name="Rectangle 9"/>
          <p:cNvSpPr/>
          <p:nvPr/>
        </p:nvSpPr>
        <p:spPr bwMode="auto">
          <a:xfrm>
            <a:off x="2124120" y="3848040"/>
            <a:ext cx="460616" cy="630941"/>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t">
            <a:spAutoFit/>
          </a:bodyPr>
          <a:lstStyle/>
          <a:p>
            <a:pPr marL="39600">
              <a:defRPr/>
            </a:pPr>
            <a:r>
              <a:rPr lang="en-US" sz="4100" spc="-1">
                <a:solidFill>
                  <a:schemeClr val="dk1"/>
                </a:solidFill>
                <a:latin typeface="Times New Roman"/>
                <a:ea typeface="Times New Roman"/>
              </a:rPr>
              <a:t>N</a:t>
            </a:r>
            <a:endParaRPr lang="en-US" sz="4100" spc="-1">
              <a:solidFill>
                <a:srgbClr val="000000"/>
              </a:solidFill>
              <a:latin typeface="Arial"/>
            </a:endParaRPr>
          </a:p>
        </p:txBody>
      </p:sp>
      <p:sp>
        <p:nvSpPr>
          <p:cNvPr id="616859874" name="Rectangle 10"/>
          <p:cNvSpPr/>
          <p:nvPr/>
        </p:nvSpPr>
        <p:spPr bwMode="auto">
          <a:xfrm>
            <a:off x="2148600" y="4622760"/>
            <a:ext cx="398520" cy="624960"/>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t">
            <a:spAutoFit/>
          </a:bodyPr>
          <a:lstStyle/>
          <a:p>
            <a:pPr marL="39600">
              <a:defRPr/>
            </a:pPr>
            <a:r>
              <a:rPr lang="en-US" sz="4100" spc="-1">
                <a:solidFill>
                  <a:schemeClr val="dk1"/>
                </a:solidFill>
                <a:latin typeface="Times New Roman"/>
                <a:ea typeface="Times New Roman"/>
              </a:rPr>
              <a:t>Z</a:t>
            </a:r>
            <a:endParaRPr lang="en-US" sz="4100" spc="-1">
              <a:solidFill>
                <a:srgbClr val="000000"/>
              </a:solidFill>
              <a:latin typeface="Arial"/>
            </a:endParaRPr>
          </a:p>
        </p:txBody>
      </p:sp>
      <p:sp>
        <p:nvSpPr>
          <p:cNvPr id="1031447028" name="Rectangle 11"/>
          <p:cNvSpPr/>
          <p:nvPr/>
        </p:nvSpPr>
        <p:spPr bwMode="auto">
          <a:xfrm>
            <a:off x="3765720" y="4622760"/>
            <a:ext cx="1180080" cy="624960"/>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t">
            <a:spAutoFit/>
          </a:bodyPr>
          <a:lstStyle/>
          <a:p>
            <a:pPr marL="39600">
              <a:defRPr/>
            </a:pPr>
            <a:r>
              <a:rPr lang="en-US" sz="4100" spc="-1">
                <a:solidFill>
                  <a:schemeClr val="dk1"/>
                </a:solidFill>
                <a:latin typeface="Times New Roman"/>
                <a:ea typeface="Times New Roman"/>
              </a:rPr>
              <a:t>H(A)</a:t>
            </a:r>
            <a:endParaRPr lang="en-US" sz="4100" spc="-1">
              <a:solidFill>
                <a:srgbClr val="000000"/>
              </a:solidFill>
              <a:latin typeface="Arial"/>
            </a:endParaRPr>
          </a:p>
        </p:txBody>
      </p:sp>
      <p:sp>
        <p:nvSpPr>
          <p:cNvPr id="1504411349" name="Rectangle 12"/>
          <p:cNvSpPr/>
          <p:nvPr/>
        </p:nvSpPr>
        <p:spPr bwMode="auto">
          <a:xfrm>
            <a:off x="3778320" y="3073320"/>
            <a:ext cx="1151280" cy="624960"/>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t">
            <a:spAutoFit/>
          </a:bodyPr>
          <a:lstStyle/>
          <a:p>
            <a:pPr marL="39600">
              <a:defRPr/>
            </a:pPr>
            <a:r>
              <a:rPr lang="en-US" sz="4100" spc="-1">
                <a:solidFill>
                  <a:schemeClr val="dk1"/>
                </a:solidFill>
                <a:latin typeface="Times New Roman"/>
                <a:ea typeface="Times New Roman"/>
              </a:rPr>
              <a:t>H(C)</a:t>
            </a:r>
            <a:endParaRPr lang="en-US" sz="4100" spc="-1">
              <a:solidFill>
                <a:srgbClr val="000000"/>
              </a:solidFill>
              <a:latin typeface="Arial"/>
            </a:endParaRPr>
          </a:p>
        </p:txBody>
      </p:sp>
      <p:sp>
        <p:nvSpPr>
          <p:cNvPr id="267329450" name="Rectangle 13"/>
          <p:cNvSpPr/>
          <p:nvPr/>
        </p:nvSpPr>
        <p:spPr bwMode="auto">
          <a:xfrm>
            <a:off x="3765720" y="2298600"/>
            <a:ext cx="1180080" cy="624960"/>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t">
            <a:spAutoFit/>
          </a:bodyPr>
          <a:lstStyle/>
          <a:p>
            <a:pPr marL="39600">
              <a:defRPr/>
            </a:pPr>
            <a:r>
              <a:rPr lang="en-US" sz="4100" spc="-1">
                <a:solidFill>
                  <a:schemeClr val="dk1"/>
                </a:solidFill>
                <a:latin typeface="Times New Roman"/>
                <a:ea typeface="Times New Roman"/>
              </a:rPr>
              <a:t>H(N)</a:t>
            </a:r>
            <a:endParaRPr lang="en-US" sz="4100" spc="-1">
              <a:solidFill>
                <a:srgbClr val="000000"/>
              </a:solidFill>
              <a:latin typeface="Arial"/>
            </a:endParaRPr>
          </a:p>
        </p:txBody>
      </p:sp>
      <p:sp>
        <p:nvSpPr>
          <p:cNvPr id="20650956" name="Rectangle 14"/>
          <p:cNvSpPr/>
          <p:nvPr/>
        </p:nvSpPr>
        <p:spPr bwMode="auto">
          <a:xfrm>
            <a:off x="3791640" y="3848040"/>
            <a:ext cx="1122120" cy="624960"/>
          </a:xfrm>
          <a:prstGeom prst="rect">
            <a:avLst/>
          </a:prstGeom>
          <a:noFill/>
          <a:ln w="0">
            <a:noFill/>
          </a:ln>
        </p:spPr>
        <p:style>
          <a:lnRef idx="0">
            <a:srgbClr val="000000"/>
          </a:lnRef>
          <a:fillRef idx="0">
            <a:srgbClr val="000000"/>
          </a:fillRef>
          <a:effectRef idx="0">
            <a:srgbClr val="000000"/>
          </a:effectRef>
          <a:fontRef idx="minor"/>
        </p:style>
        <p:txBody>
          <a:bodyPr wrap="none" lIns="0" tIns="0" rIns="40679" bIns="0" anchor="t">
            <a:spAutoFit/>
          </a:bodyPr>
          <a:lstStyle/>
          <a:p>
            <a:pPr marL="39600">
              <a:defRPr/>
            </a:pPr>
            <a:r>
              <a:rPr lang="en-US" sz="4100" spc="-1">
                <a:solidFill>
                  <a:schemeClr val="dk1"/>
                </a:solidFill>
                <a:latin typeface="Times New Roman"/>
                <a:ea typeface="Times New Roman"/>
              </a:rPr>
              <a:t>H(Z)</a:t>
            </a:r>
            <a:endParaRPr lang="en-US" sz="4100" spc="-1">
              <a:solidFill>
                <a:srgbClr val="000000"/>
              </a:solidFill>
              <a:latin typeface="Arial"/>
            </a:endParaRPr>
          </a:p>
        </p:txBody>
      </p:sp>
      <p:sp>
        <p:nvSpPr>
          <p:cNvPr id="101826730" name="PlaceHolder 2"/>
          <p:cNvSpPr>
            <a:spLocks noGrp="1"/>
          </p:cNvSpPr>
          <p:nvPr>
            <p:ph/>
          </p:nvPr>
        </p:nvSpPr>
        <p:spPr bwMode="auto">
          <a:xfrm>
            <a:off x="5956320" y="1371600"/>
            <a:ext cx="4519080" cy="4838400"/>
          </a:xfrm>
          <a:prstGeom prst="rect">
            <a:avLst/>
          </a:prstGeom>
          <a:noFill/>
          <a:ln w="0">
            <a:noFill/>
          </a:ln>
        </p:spPr>
        <p:txBody>
          <a:bodyPr vert="horz" lIns="50760" tIns="50760" rIns="132120" bIns="50760" numCol="1" spcCol="0" rtlCol="0" anchor="t">
            <a:noAutofit/>
          </a:bodyPr>
          <a:lstStyle/>
          <a:p>
            <a:pPr marL="382680" indent="-343080">
              <a:lnSpc>
                <a:spcPct val="100000"/>
              </a:lnSpc>
              <a:spcBef>
                <a:spcPts val="700"/>
              </a:spcBef>
              <a:buClr>
                <a:srgbClr val="000000"/>
              </a:buClr>
              <a:buFont typeface="Gill Sans"/>
              <a:buChar char="•"/>
              <a:defRPr/>
            </a:pPr>
            <a:r>
              <a:rPr lang="en-US" sz="3200" spc="-1">
                <a:solidFill>
                  <a:schemeClr val="dk1"/>
                </a:solidFill>
                <a:latin typeface="Gill Sans"/>
                <a:ea typeface="ヒラギノ角ゴ ProN W3"/>
              </a:rPr>
              <a:t>Creates a linked list of the hashed names</a:t>
            </a:r>
            <a:endParaRPr lang="en-US" sz="3200" spc="-1">
              <a:solidFill>
                <a:schemeClr val="dk1"/>
              </a:solidFill>
              <a:latin typeface="Gill Sans"/>
            </a:endParaRPr>
          </a:p>
          <a:p>
            <a:pPr marL="382680" indent="-343080">
              <a:lnSpc>
                <a:spcPct val="100000"/>
              </a:lnSpc>
              <a:spcBef>
                <a:spcPts val="700"/>
              </a:spcBef>
              <a:buClr>
                <a:srgbClr val="000000"/>
              </a:buClr>
              <a:buFont typeface="Gill Sans"/>
              <a:buChar char="•"/>
              <a:defRPr/>
            </a:pPr>
            <a:r>
              <a:rPr lang="en-US" sz="3200" spc="-1">
                <a:solidFill>
                  <a:schemeClr val="dk1"/>
                </a:solidFill>
                <a:latin typeface="Gill Sans"/>
                <a:ea typeface="ヒラギノ角ゴ ProN W3"/>
              </a:rPr>
              <a:t>Non-existence proof of the hash shows non-existence of original</a:t>
            </a:r>
            <a:endParaRPr lang="en-US" sz="3200" spc="-1">
              <a:solidFill>
                <a:schemeClr val="dk1"/>
              </a:solidFill>
              <a:latin typeface="Gill Sans"/>
            </a:endParaRPr>
          </a:p>
          <a:p>
            <a:pPr marL="382680" indent="-343080">
              <a:lnSpc>
                <a:spcPct val="100000"/>
              </a:lnSpc>
              <a:spcBef>
                <a:spcPts val="700"/>
              </a:spcBef>
              <a:buClr>
                <a:srgbClr val="000000"/>
              </a:buClr>
              <a:buFont typeface="Gill Sans"/>
              <a:buChar char="•"/>
              <a:defRPr/>
            </a:pPr>
            <a:r>
              <a:rPr lang="en-US" sz="3200" spc="-1">
                <a:solidFill>
                  <a:schemeClr val="dk1"/>
                </a:solidFill>
                <a:latin typeface="Gill Sans"/>
                <a:ea typeface="ヒラギノ角ゴ ProN W3"/>
              </a:rPr>
              <a:t>Dictionary attack barriers:</a:t>
            </a:r>
            <a:endParaRPr lang="en-US" sz="3200" spc="-1">
              <a:solidFill>
                <a:schemeClr val="dk1"/>
              </a:solidFill>
              <a:latin typeface="Gill Sans"/>
            </a:endParaRPr>
          </a:p>
          <a:p>
            <a:pPr marL="782640" lvl="1" indent="-285840">
              <a:spcBef>
                <a:spcPts val="601"/>
              </a:spcBef>
              <a:buClr>
                <a:srgbClr val="000000"/>
              </a:buClr>
              <a:buFont typeface="Gill Sans"/>
              <a:buChar char="–"/>
              <a:defRPr/>
            </a:pPr>
            <a:r>
              <a:rPr lang="en-US" sz="2800" spc="-1">
                <a:solidFill>
                  <a:schemeClr val="dk1"/>
                </a:solidFill>
                <a:latin typeface="Gill Sans"/>
                <a:ea typeface="ヒラギノ角ゴ ProN W3"/>
              </a:rPr>
              <a:t>Salt</a:t>
            </a:r>
            <a:endParaRPr lang="en-US" sz="2800" spc="-1">
              <a:solidFill>
                <a:schemeClr val="dk1"/>
              </a:solidFill>
              <a:latin typeface="Gill Sans"/>
            </a:endParaRPr>
          </a:p>
          <a:p>
            <a:pPr marL="782640" lvl="1" indent="-285840">
              <a:spcBef>
                <a:spcPts val="601"/>
              </a:spcBef>
              <a:buClr>
                <a:srgbClr val="000000"/>
              </a:buClr>
              <a:buFont typeface="Gill Sans"/>
              <a:buChar char="–"/>
              <a:defRPr/>
            </a:pPr>
            <a:r>
              <a:rPr lang="en-US" sz="2800" spc="-1">
                <a:solidFill>
                  <a:schemeClr val="dk1"/>
                </a:solidFill>
                <a:latin typeface="Gill Sans"/>
                <a:ea typeface="ヒラギノ角ゴ ProN W3"/>
              </a:rPr>
              <a:t>Iterations</a:t>
            </a:r>
            <a:endParaRPr lang="en-US" sz="2800" spc="-1">
              <a:solidFill>
                <a:schemeClr val="dk1"/>
              </a:solidFill>
              <a:latin typeface="Gill Sans"/>
            </a:endParaRPr>
          </a:p>
        </p:txBody>
      </p:sp>
      <p:pic>
        <p:nvPicPr>
          <p:cNvPr id="790597099" name="Picture 16"/>
          <p:cNvPicPr/>
          <p:nvPr/>
        </p:nvPicPr>
        <p:blipFill rotWithShape="1">
          <a:blip r:embed="rId7"/>
          <a:stretch/>
        </p:blipFill>
        <p:spPr bwMode="auto">
          <a:xfrm>
            <a:off x="2566920" y="2610000"/>
            <a:ext cx="1320480" cy="2412720"/>
          </a:xfrm>
          <a:prstGeom prst="rect">
            <a:avLst/>
          </a:prstGeom>
          <a:ln w="0">
            <a:noFill/>
          </a:ln>
        </p:spPr>
      </p:pic>
      <p:pic>
        <p:nvPicPr>
          <p:cNvPr id="1174724518" name="Picture 17"/>
          <p:cNvPicPr/>
          <p:nvPr/>
        </p:nvPicPr>
        <p:blipFill rotWithShape="1">
          <a:blip r:embed="rId8"/>
          <a:stretch/>
        </p:blipFill>
        <p:spPr bwMode="auto">
          <a:xfrm>
            <a:off x="2473320" y="4191120"/>
            <a:ext cx="1307880" cy="939600"/>
          </a:xfrm>
          <a:prstGeom prst="rect">
            <a:avLst/>
          </a:prstGeom>
          <a:ln w="0">
            <a:noFill/>
          </a:ln>
        </p:spPr>
      </p:pic>
      <p:pic>
        <p:nvPicPr>
          <p:cNvPr id="1984983287" name="Picture 18"/>
          <p:cNvPicPr/>
          <p:nvPr/>
        </p:nvPicPr>
        <p:blipFill rotWithShape="1">
          <a:blip r:embed="rId9"/>
          <a:stretch/>
        </p:blipFill>
        <p:spPr bwMode="auto">
          <a:xfrm>
            <a:off x="2527320" y="2592360"/>
            <a:ext cx="1269720" cy="1701360"/>
          </a:xfrm>
          <a:prstGeom prst="rect">
            <a:avLst/>
          </a:prstGeom>
          <a:ln w="0">
            <a:noFill/>
          </a:ln>
        </p:spPr>
      </p:pic>
      <p:pic>
        <p:nvPicPr>
          <p:cNvPr id="701208003" name="Picture 19"/>
          <p:cNvPicPr/>
          <p:nvPr/>
        </p:nvPicPr>
        <p:blipFill rotWithShape="1">
          <a:blip r:embed="rId10"/>
          <a:stretch/>
        </p:blipFill>
        <p:spPr bwMode="auto">
          <a:xfrm>
            <a:off x="2565480" y="3238560"/>
            <a:ext cx="1193400" cy="342720"/>
          </a:xfrm>
          <a:prstGeom prst="rect">
            <a:avLst/>
          </a:prstGeom>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8525332" name="PlaceHolder 1"/>
          <p:cNvSpPr>
            <a:spLocks noGrp="1"/>
          </p:cNvSpPr>
          <p:nvPr>
            <p:ph type="title"/>
          </p:nvPr>
        </p:nvSpPr>
        <p:spPr bwMode="auto">
          <a:xfrm>
            <a:off x="2209800" y="380880"/>
            <a:ext cx="7775280" cy="1599840"/>
          </a:xfrm>
          <a:prstGeom prst="rect">
            <a:avLst/>
          </a:prstGeom>
          <a:noFill/>
          <a:ln w="0">
            <a:noFill/>
          </a:ln>
          <a:effectLst>
            <a:outerShdw blurRad="127080" dist="75858" dir="2700000" rotWithShape="0">
              <a:srgbClr val="000000">
                <a:alpha val="75000"/>
              </a:srgbClr>
            </a:outerShdw>
          </a:effectLst>
        </p:spPr>
        <p:txBody>
          <a:bodyPr vert="horz" lIns="50760" tIns="50760" rIns="39240" bIns="50760" numCol="1" spcCol="0" rtlCol="0" anchor="ctr">
            <a:noAutofit/>
          </a:bodyPr>
          <a:lstStyle/>
          <a:p>
            <a:pPr marL="38160" algn="ctr">
              <a:lnSpc>
                <a:spcPct val="100000"/>
              </a:lnSpc>
              <a:tabLst>
                <a:tab pos="38160" algn="l"/>
                <a:tab pos="482760" algn="l"/>
                <a:tab pos="939960" algn="l"/>
                <a:tab pos="1384200" algn="l"/>
                <a:tab pos="1828800" algn="l"/>
                <a:tab pos="2286000" algn="l"/>
                <a:tab pos="2730600" algn="l"/>
                <a:tab pos="3187800" algn="l"/>
                <a:tab pos="3632040" algn="l"/>
                <a:tab pos="4076640" algn="l"/>
                <a:tab pos="4533840" algn="l"/>
                <a:tab pos="4978440" algn="l"/>
                <a:tab pos="5423039" algn="l"/>
                <a:tab pos="5880240" algn="l"/>
                <a:tab pos="6324480" algn="l"/>
                <a:tab pos="6781680" algn="l"/>
                <a:tab pos="7226280" algn="l"/>
                <a:tab pos="7670880" algn="l"/>
                <a:tab pos="8128080" algn="l"/>
                <a:tab pos="8572680" algn="l"/>
                <a:tab pos="9016920" algn="l"/>
                <a:tab pos="9182160" algn="l"/>
              </a:tabLst>
              <a:defRPr/>
            </a:pPr>
            <a:r>
              <a:rPr lang="en-US" sz="5800" spc="-1">
                <a:solidFill>
                  <a:srgbClr val="275742"/>
                </a:solidFill>
                <a:latin typeface="Gill Sans"/>
                <a:ea typeface="ヒラギノ角ゴ ProN W3"/>
              </a:rPr>
              <a:t>New Resource Records</a:t>
            </a:r>
            <a:endParaRPr lang="en-US" sz="5800" spc="-1">
              <a:solidFill>
                <a:srgbClr val="000000"/>
              </a:solidFill>
              <a:latin typeface="Times New Roman"/>
            </a:endParaRPr>
          </a:p>
        </p:txBody>
      </p:sp>
      <p:sp>
        <p:nvSpPr>
          <p:cNvPr id="701540464" name="PlaceHolder 2"/>
          <p:cNvSpPr>
            <a:spLocks noGrp="1"/>
          </p:cNvSpPr>
          <p:nvPr>
            <p:ph/>
          </p:nvPr>
        </p:nvSpPr>
        <p:spPr bwMode="auto">
          <a:xfrm>
            <a:off x="2412839" y="1638360"/>
            <a:ext cx="7353000" cy="4520880"/>
          </a:xfrm>
          <a:prstGeom prst="rect">
            <a:avLst/>
          </a:prstGeom>
          <a:noFill/>
          <a:ln w="0">
            <a:noFill/>
          </a:ln>
        </p:spPr>
        <p:txBody>
          <a:bodyPr vert="horz" lIns="0" tIns="0" rIns="39240" bIns="0" numCol="1" spcCol="0" rtlCol="0" anchor="ctr">
            <a:noAutofit/>
          </a:bodyPr>
          <a:lstStyle/>
          <a:p>
            <a:pPr marL="380880" indent="-343080">
              <a:lnSpc>
                <a:spcPct val="100000"/>
              </a:lnSpc>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Three Public key crypto related RRs</a:t>
            </a:r>
            <a:endParaRPr lang="en-US" sz="2800" spc="-1">
              <a:solidFill>
                <a:schemeClr val="dk1"/>
              </a:solidFill>
              <a:latin typeface="Gill Sans"/>
            </a:endParaRPr>
          </a:p>
          <a:p>
            <a:pPr marL="781200" lvl="1" indent="-285840">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000" spc="-1">
                <a:solidFill>
                  <a:schemeClr val="dk1"/>
                </a:solidFill>
                <a:latin typeface="Gill Sans"/>
                <a:ea typeface="ヒラギノ角ゴ ProN W3"/>
              </a:rPr>
              <a:t>RRSIG: Signature over RRset made using private key </a:t>
            </a:r>
            <a:endParaRPr lang="en-US" sz="2000" spc="-1">
              <a:solidFill>
                <a:schemeClr val="dk1"/>
              </a:solidFill>
              <a:latin typeface="Gill Sans"/>
            </a:endParaRPr>
          </a:p>
          <a:p>
            <a:pPr marL="781200" lvl="1" indent="-285840">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000" spc="-1">
                <a:solidFill>
                  <a:schemeClr val="dk1"/>
                </a:solidFill>
                <a:latin typeface="Gill Sans"/>
                <a:ea typeface="ヒラギノ角ゴ ProN W3"/>
              </a:rPr>
              <a:t>DNSKEY: Public key, needed for verifying a RRSIG</a:t>
            </a:r>
            <a:endParaRPr lang="en-US" sz="2000" spc="-1">
              <a:solidFill>
                <a:schemeClr val="dk1"/>
              </a:solidFill>
              <a:latin typeface="Gill Sans"/>
            </a:endParaRPr>
          </a:p>
          <a:p>
            <a:pPr marL="781200" lvl="1" indent="-285840">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000" spc="-1">
                <a:solidFill>
                  <a:schemeClr val="dk1"/>
                </a:solidFill>
                <a:latin typeface="Gill Sans"/>
                <a:ea typeface="ヒラギノ角ゴ ProN W3"/>
              </a:rPr>
              <a:t>DS: Delegation Signer; ‘Pointer’ for building chains of authentication</a:t>
            </a:r>
            <a:endParaRPr lang="en-US" sz="2000" spc="-1">
              <a:solidFill>
                <a:schemeClr val="dk1"/>
              </a:solidFill>
              <a:latin typeface="Gill Sans"/>
            </a:endParaRPr>
          </a:p>
          <a:p>
            <a:pPr>
              <a:lnSpc>
                <a:spcPct val="100000"/>
              </a:lnSpc>
              <a:spcBef>
                <a:spcPts val="799"/>
              </a:spcBef>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endParaRPr lang="en-US" sz="2800" spc="-1">
              <a:solidFill>
                <a:schemeClr val="dk1"/>
              </a:solidFill>
              <a:latin typeface="Gill Sans"/>
            </a:endParaRPr>
          </a:p>
          <a:p>
            <a:pPr marL="380880" indent="-343080">
              <a:lnSpc>
                <a:spcPct val="100000"/>
              </a:lnSpc>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One RR for internal consistency </a:t>
            </a:r>
            <a:endParaRPr lang="en-US" sz="2800" spc="-1">
              <a:solidFill>
                <a:schemeClr val="dk1"/>
              </a:solidFill>
              <a:latin typeface="Gill Sans"/>
            </a:endParaRPr>
          </a:p>
          <a:p>
            <a:pPr marL="781200" lvl="1" indent="-285840">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000" spc="-1">
                <a:solidFill>
                  <a:schemeClr val="dk1"/>
                </a:solidFill>
                <a:latin typeface="Gill Sans"/>
                <a:ea typeface="ヒラギノ角ゴ ProN W3"/>
              </a:rPr>
              <a:t>NSEC and NSEC3:  Indicates which name is the next one in the zone and which typecodes are available for the 			current name</a:t>
            </a:r>
            <a:endParaRPr lang="en-US" sz="2000" spc="-1">
              <a:solidFill>
                <a:schemeClr val="dk1"/>
              </a:solidFill>
              <a:latin typeface="Gill Sans"/>
            </a:endParaRPr>
          </a:p>
          <a:p>
            <a:pPr marL="1181160" lvl="2" indent="-22860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pc="-1">
                <a:solidFill>
                  <a:schemeClr val="dk1"/>
                </a:solidFill>
                <a:latin typeface="Gill Sans"/>
                <a:ea typeface="ヒラギノ角ゴ ProN W3"/>
              </a:rPr>
              <a:t>authenticated non-existence of data</a:t>
            </a:r>
            <a:endParaRPr lang="en-US"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63938" name="PlaceHolder 1"/>
          <p:cNvSpPr>
            <a:spLocks noGrp="1"/>
          </p:cNvSpPr>
          <p:nvPr>
            <p:ph type="title"/>
          </p:nvPr>
        </p:nvSpPr>
        <p:spPr bwMode="auto">
          <a:xfrm>
            <a:off x="2209800" y="380880"/>
            <a:ext cx="7775280" cy="1599840"/>
          </a:xfrm>
          <a:prstGeom prst="rect">
            <a:avLst/>
          </a:prstGeom>
          <a:noFill/>
          <a:ln w="0">
            <a:noFill/>
          </a:ln>
          <a:effectLst>
            <a:outerShdw blurRad="127080" dist="75858" dir="2700000" rotWithShape="0">
              <a:srgbClr val="000000">
                <a:alpha val="75000"/>
              </a:srgbClr>
            </a:outerShdw>
          </a:effectLst>
        </p:spPr>
        <p:txBody>
          <a:bodyPr vert="horz" lIns="50760" tIns="50760" rIns="39240" bIns="50760" numCol="1" spcCol="0" rtlCol="0" anchor="ctr">
            <a:noAutofit/>
          </a:bodyPr>
          <a:lstStyle/>
          <a:p>
            <a:pPr marL="38160" algn="ctr">
              <a:lnSpc>
                <a:spcPct val="100000"/>
              </a:lnSpc>
              <a:tabLst>
                <a:tab pos="38160" algn="l"/>
                <a:tab pos="482760" algn="l"/>
                <a:tab pos="939960" algn="l"/>
                <a:tab pos="1384200" algn="l"/>
                <a:tab pos="1828800" algn="l"/>
                <a:tab pos="2286000" algn="l"/>
                <a:tab pos="2730600" algn="l"/>
                <a:tab pos="3187800" algn="l"/>
                <a:tab pos="3632040" algn="l"/>
                <a:tab pos="4076640" algn="l"/>
                <a:tab pos="4533840" algn="l"/>
                <a:tab pos="4978440" algn="l"/>
                <a:tab pos="5423039" algn="l"/>
                <a:tab pos="5880240" algn="l"/>
                <a:tab pos="6324480" algn="l"/>
                <a:tab pos="6781680" algn="l"/>
                <a:tab pos="7226280" algn="l"/>
                <a:tab pos="7670880" algn="l"/>
                <a:tab pos="8128080" algn="l"/>
                <a:tab pos="8572680" algn="l"/>
                <a:tab pos="9016920" algn="l"/>
                <a:tab pos="9182160" algn="l"/>
              </a:tabLst>
              <a:defRPr/>
            </a:pPr>
            <a:r>
              <a:rPr lang="en-US" sz="5800" spc="-1">
                <a:solidFill>
                  <a:srgbClr val="275742"/>
                </a:solidFill>
                <a:latin typeface="Gill Sans"/>
                <a:ea typeface="ヒラギノ角ゴ ProN W3"/>
              </a:rPr>
              <a:t>Other Keys in the DNS</a:t>
            </a:r>
            <a:endParaRPr lang="en-US" sz="5800" spc="-1">
              <a:solidFill>
                <a:srgbClr val="000000"/>
              </a:solidFill>
              <a:latin typeface="Times New Roman"/>
            </a:endParaRPr>
          </a:p>
        </p:txBody>
      </p:sp>
      <p:sp>
        <p:nvSpPr>
          <p:cNvPr id="1724462388" name="PlaceHolder 2"/>
          <p:cNvSpPr>
            <a:spLocks noGrp="1"/>
          </p:cNvSpPr>
          <p:nvPr>
            <p:ph/>
          </p:nvPr>
        </p:nvSpPr>
        <p:spPr bwMode="auto">
          <a:xfrm>
            <a:off x="2412839" y="1638360"/>
            <a:ext cx="7353000" cy="4520880"/>
          </a:xfrm>
          <a:prstGeom prst="rect">
            <a:avLst/>
          </a:prstGeom>
          <a:noFill/>
          <a:ln w="0">
            <a:noFill/>
          </a:ln>
        </p:spPr>
        <p:txBody>
          <a:bodyPr vert="horz" lIns="0" tIns="0" rIns="39240" bIns="0" numCol="1" spcCol="0" rtlCol="0" anchor="ctr">
            <a:noAutofit/>
          </a:bodyPr>
          <a:lstStyle/>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DNSKEY RR can only be used for DNSSEC</a:t>
            </a:r>
            <a:endParaRPr lang="en-US" sz="28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Keys for other applications need to use other RR types</a:t>
            </a:r>
            <a:endParaRPr lang="en-US" sz="28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CERT</a:t>
            </a:r>
            <a:endParaRPr lang="en-US" sz="28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For X.509 certificates</a:t>
            </a:r>
            <a:endParaRPr lang="en-US" sz="2800" spc="-1">
              <a:solidFill>
                <a:schemeClr val="dk1"/>
              </a:solidFill>
              <a:latin typeface="Gill Sans"/>
            </a:endParaRPr>
          </a:p>
          <a:p>
            <a:pPr marL="380880" indent="-34308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Application keys under discussion/development</a:t>
            </a:r>
            <a:endParaRPr lang="en-US" sz="2800" spc="-1">
              <a:solidFill>
                <a:schemeClr val="dk1"/>
              </a:solidFill>
              <a:latin typeface="Gill Sans"/>
            </a:endParaRPr>
          </a:p>
          <a:p>
            <a:pPr marL="781200" lvl="1" indent="-285840">
              <a:lnSpc>
                <a:spcPct val="90000"/>
              </a:lnSpc>
              <a:spcBef>
                <a:spcPts val="799"/>
              </a:spcBef>
              <a:buClr>
                <a:srgbClr val="000000"/>
              </a:buClr>
              <a:buFont typeface="Symbol"/>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IPSECKEY</a:t>
            </a:r>
            <a:endParaRPr lang="en-US" sz="2800" spc="-1">
              <a:solidFill>
                <a:schemeClr val="dk1"/>
              </a:solidFill>
              <a:latin typeface="Gill Sans"/>
            </a:endParaRPr>
          </a:p>
          <a:p>
            <a:pPr marL="384120" indent="-347400">
              <a:spcBef>
                <a:spcPts val="799"/>
              </a:spcBef>
              <a:buClr>
                <a:srgbClr val="000000"/>
              </a:buClr>
              <a:buFont typeface="Gill Sans"/>
              <a:buChar char="•"/>
              <a:tabLst>
                <a:tab pos="482760" algn="l"/>
                <a:tab pos="939960" algn="l"/>
                <a:tab pos="1384200" algn="l"/>
                <a:tab pos="1828800" algn="l"/>
                <a:tab pos="2286000" algn="l"/>
                <a:tab pos="2730600" algn="l"/>
                <a:tab pos="3174840" algn="l"/>
                <a:tab pos="3632040" algn="l"/>
                <a:tab pos="4076640" algn="l"/>
                <a:tab pos="4533840" algn="l"/>
                <a:tab pos="4978440" algn="l"/>
                <a:tab pos="5423039" algn="l"/>
                <a:tab pos="5880240" algn="l"/>
                <a:tab pos="6324480" algn="l"/>
                <a:tab pos="6769080" algn="l"/>
                <a:tab pos="7226280" algn="l"/>
                <a:tab pos="7670880" algn="l"/>
                <a:tab pos="8128080" algn="l"/>
                <a:tab pos="8572680" algn="l"/>
                <a:tab pos="9016920" algn="l"/>
                <a:tab pos="9182160" algn="l"/>
              </a:tabLst>
              <a:defRPr/>
            </a:pPr>
            <a:r>
              <a:rPr lang="en-US" sz="2800" spc="-1">
                <a:solidFill>
                  <a:schemeClr val="dk1"/>
                </a:solidFill>
                <a:latin typeface="Gill Sans"/>
                <a:ea typeface="ヒラギノ角ゴ ProN W3"/>
              </a:rPr>
              <a:t>Need to be careful about overloading DNS system</a:t>
            </a:r>
            <a:endParaRPr lang="en-US" sz="2800" spc="-1">
              <a:solidFill>
                <a:schemeClr val="dk1"/>
              </a:solidFill>
              <a:latin typeface="Gill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8126716" name="PlaceHolder 1"/>
          <p:cNvSpPr>
            <a:spLocks noGrp="1"/>
          </p:cNvSpPr>
          <p:nvPr>
            <p:ph type="title"/>
          </p:nvPr>
        </p:nvSpPr>
        <p:spPr bwMode="auto">
          <a:xfrm>
            <a:off x="2412839" y="-390600"/>
            <a:ext cx="7353000" cy="1434600"/>
          </a:xfrm>
          <a:prstGeom prst="rect">
            <a:avLst/>
          </a:prstGeom>
          <a:noFill/>
          <a:ln w="0">
            <a:noFill/>
          </a:ln>
          <a:effectLst>
            <a:outerShdw blurRad="127080" dist="75858" dir="2700000" rotWithShape="0">
              <a:srgbClr val="000000">
                <a:alpha val="75000"/>
              </a:srgbClr>
            </a:outerShdw>
          </a:effectLst>
        </p:spPr>
        <p:txBody>
          <a:bodyPr vert="horz" lIns="50760" tIns="50760" rIns="50760" bIns="50760" numCol="1" spcCol="0" rtlCol="0" anchor="ctr">
            <a:noAutofit/>
          </a:bodyPr>
          <a:lstStyle/>
          <a:p>
            <a:pPr algn="ctr">
              <a:lnSpc>
                <a:spcPct val="100000"/>
              </a:lnSpc>
              <a:defRPr/>
            </a:pPr>
            <a:r>
              <a:rPr lang="en-US" sz="5800" spc="-1">
                <a:solidFill>
                  <a:srgbClr val="275742"/>
                </a:solidFill>
                <a:latin typeface="Gill Sans"/>
                <a:ea typeface="ヒラギノ角ゴ ProN W3"/>
              </a:rPr>
              <a:t>DNS Sec Deployment</a:t>
            </a:r>
            <a:endParaRPr lang="en-US" sz="5800" spc="-1">
              <a:solidFill>
                <a:srgbClr val="000000"/>
              </a:solidFill>
              <a:latin typeface="Times New Roman"/>
            </a:endParaRPr>
          </a:p>
        </p:txBody>
      </p:sp>
      <p:pic>
        <p:nvPicPr>
          <p:cNvPr id="571107919" name="Picture 4"/>
          <p:cNvPicPr/>
          <p:nvPr/>
        </p:nvPicPr>
        <p:blipFill rotWithShape="1">
          <a:blip r:embed="rId3"/>
          <a:stretch/>
        </p:blipFill>
        <p:spPr bwMode="auto">
          <a:xfrm>
            <a:off x="1733520" y="5029200"/>
            <a:ext cx="8712000" cy="1333080"/>
          </a:xfrm>
          <a:prstGeom prst="rect">
            <a:avLst/>
          </a:prstGeom>
          <a:ln w="0">
            <a:noFill/>
          </a:ln>
        </p:spPr>
      </p:pic>
      <p:pic>
        <p:nvPicPr>
          <p:cNvPr id="239718098" name="Picture 2"/>
          <p:cNvPicPr>
            <a:picLocks noChangeAspect="1" noChangeArrowheads="1"/>
          </p:cNvPicPr>
          <p:nvPr/>
        </p:nvPicPr>
        <p:blipFill rotWithShape="1">
          <a:blip r:embed="rId4"/>
          <a:stretch/>
        </p:blipFill>
        <p:spPr bwMode="auto">
          <a:xfrm>
            <a:off x="1524000" y="825500"/>
            <a:ext cx="9144000" cy="52070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3363122" name="PlaceHolder 1"/>
          <p:cNvSpPr>
            <a:spLocks noGrp="1"/>
          </p:cNvSpPr>
          <p:nvPr>
            <p:ph type="title"/>
          </p:nvPr>
        </p:nvSpPr>
        <p:spPr bwMode="auto">
          <a:xfrm>
            <a:off x="2209800" y="380880"/>
            <a:ext cx="7775280" cy="1599840"/>
          </a:xfrm>
          <a:prstGeom prst="rect">
            <a:avLst/>
          </a:prstGeom>
          <a:noFill/>
          <a:ln w="0">
            <a:noFill/>
          </a:ln>
          <a:effectLst>
            <a:outerShdw blurRad="127080" dist="75858" dir="2700000" rotWithShape="0">
              <a:srgbClr val="000000">
                <a:alpha val="75000"/>
              </a:srgbClr>
            </a:outerShdw>
          </a:effectLst>
        </p:spPr>
        <p:txBody>
          <a:bodyPr vert="horz" lIns="50760" tIns="50760" rIns="39240" bIns="50760" numCol="1" spcCol="0" rtlCol="0" anchor="ctr">
            <a:noAutofit/>
          </a:bodyPr>
          <a:lstStyle/>
          <a:p>
            <a:pPr marL="38160" algn="ctr">
              <a:lnSpc>
                <a:spcPct val="100000"/>
              </a:lnSpc>
              <a:tabLst>
                <a:tab pos="38160" algn="l"/>
                <a:tab pos="482760" algn="l"/>
                <a:tab pos="939960" algn="l"/>
                <a:tab pos="1384200" algn="l"/>
                <a:tab pos="1828800" algn="l"/>
                <a:tab pos="2286000" algn="l"/>
                <a:tab pos="2730600" algn="l"/>
                <a:tab pos="3187800" algn="l"/>
                <a:tab pos="3632040" algn="l"/>
                <a:tab pos="4076640" algn="l"/>
                <a:tab pos="4533840" algn="l"/>
                <a:tab pos="4978440" algn="l"/>
                <a:tab pos="5423039" algn="l"/>
                <a:tab pos="5880240" algn="l"/>
                <a:tab pos="6324480" algn="l"/>
                <a:tab pos="6781680" algn="l"/>
                <a:tab pos="7226280" algn="l"/>
                <a:tab pos="7670880" algn="l"/>
                <a:tab pos="8128080" algn="l"/>
                <a:tab pos="8572680" algn="l"/>
                <a:tab pos="9016920" algn="l"/>
                <a:tab pos="9182160" algn="l"/>
              </a:tabLst>
              <a:defRPr/>
            </a:pPr>
            <a:r>
              <a:rPr lang="en-US" sz="5800" spc="-1">
                <a:solidFill>
                  <a:srgbClr val="275742"/>
                </a:solidFill>
                <a:latin typeface="Gill Sans"/>
                <a:ea typeface="ヒラギノ角ゴ ProN W3"/>
              </a:rPr>
              <a:t>DNSSEC is Great!</a:t>
            </a:r>
            <a:endParaRPr lang="en-US" sz="5800" spc="-1">
              <a:solidFill>
                <a:srgbClr val="000000"/>
              </a:solidFill>
              <a:latin typeface="Times New Roman"/>
            </a:endParaRPr>
          </a:p>
        </p:txBody>
      </p:sp>
      <p:sp>
        <p:nvSpPr>
          <p:cNvPr id="769470970" name="PlaceHolder 2"/>
          <p:cNvSpPr>
            <a:spLocks noGrp="1"/>
          </p:cNvSpPr>
          <p:nvPr>
            <p:ph/>
          </p:nvPr>
        </p:nvSpPr>
        <p:spPr bwMode="auto">
          <a:xfrm>
            <a:off x="609600" y="1638360"/>
            <a:ext cx="9156240" cy="4520880"/>
          </a:xfrm>
          <a:prstGeom prst="rect">
            <a:avLst/>
          </a:prstGeom>
          <a:noFill/>
          <a:ln w="0">
            <a:noFill/>
          </a:ln>
        </p:spPr>
        <p:txBody>
          <a:bodyPr vert="horz" lIns="0" tIns="0" rIns="39240" bIns="0" numCol="1" spcCol="0" rtlCol="0" anchor="ctr">
            <a:noAutofit/>
          </a:bodyPr>
          <a:lstStyle/>
          <a:p>
            <a:pPr>
              <a:defRPr/>
            </a:pPr>
            <a:r>
              <a:rPr lang="en-US" sz="2400"/>
              <a:t>DNSSEC is great! Right?</a:t>
            </a:r>
            <a:endParaRPr/>
          </a:p>
          <a:p>
            <a:pPr>
              <a:defRPr/>
            </a:pPr>
            <a:r>
              <a:rPr lang="en-US" sz="2400"/>
              <a:t>• We can now tell if a DNS response is authentic or not</a:t>
            </a:r>
            <a:endParaRPr/>
          </a:p>
          <a:p>
            <a:pPr>
              <a:defRPr/>
            </a:pPr>
            <a:r>
              <a:rPr lang="en-US" sz="2400"/>
              <a:t>• Any effort to intercept a DNS response and substitute something else</a:t>
            </a:r>
            <a:endParaRPr/>
          </a:p>
          <a:p>
            <a:pPr>
              <a:defRPr/>
            </a:pPr>
            <a:r>
              <a:rPr lang="en-US" sz="2400"/>
              <a:t>will fail on validation</a:t>
            </a:r>
            <a:endParaRPr/>
          </a:p>
          <a:p>
            <a:pPr>
              <a:defRPr/>
            </a:pPr>
            <a:r>
              <a:rPr lang="en-US" sz="2400"/>
              <a:t>• So everyone should be using DNSSEC to sign their DNS names – right?</a:t>
            </a:r>
            <a:endParaRPr/>
          </a:p>
          <a:p>
            <a:pPr>
              <a:defRPr/>
            </a:pPr>
            <a:endParaRPr lang="en-US" sz="2400"/>
          </a:p>
          <a:p>
            <a:pPr>
              <a:defRPr/>
            </a:pPr>
            <a:r>
              <a:rPr lang="en-US" sz="2400"/>
              <a:t>Problem with leaks?</a:t>
            </a:r>
            <a:endParaRPr/>
          </a:p>
          <a:p>
            <a:pPr>
              <a:defRPr/>
            </a:pP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8051751" name="Title 1"/>
          <p:cNvSpPr>
            <a:spLocks noGrp="1"/>
          </p:cNvSpPr>
          <p:nvPr>
            <p:ph type="ctrTitle"/>
          </p:nvPr>
        </p:nvSpPr>
        <p:spPr bwMode="auto"/>
        <p:txBody>
          <a:bodyPr/>
          <a:lstStyle/>
          <a:p>
            <a:pPr>
              <a:defRPr/>
            </a:pPr>
            <a:r>
              <a:rPr/>
              <a:t>NSEC Record Example in DNSSEC</a:t>
            </a:r>
            <a:endParaRPr/>
          </a:p>
        </p:txBody>
      </p:sp>
      <p:sp>
        <p:nvSpPr>
          <p:cNvPr id="81001647" name="Subtitle 2"/>
          <p:cNvSpPr>
            <a:spLocks noGrp="1"/>
          </p:cNvSpPr>
          <p:nvPr>
            <p:ph type="subTitle" idx="1"/>
          </p:nvPr>
        </p:nvSpPr>
        <p:spPr bwMode="auto"/>
        <p:txBody>
          <a:bodyPr/>
          <a:lstStyle/>
          <a:p>
            <a:pPr>
              <a:defRPr/>
            </a:pPr>
            <a:r>
              <a:rPr/>
              <a:t>Demonstrating denial of existence between subdomains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2981382" name="Title 1"/>
          <p:cNvSpPr>
            <a:spLocks noGrp="1"/>
          </p:cNvSpPr>
          <p:nvPr>
            <p:ph type="title"/>
          </p:nvPr>
        </p:nvSpPr>
        <p:spPr bwMode="auto"/>
        <p:txBody>
          <a:bodyPr/>
          <a:lstStyle/>
          <a:p>
            <a:pPr>
              <a:defRPr/>
            </a:pPr>
            <a:r>
              <a:rPr/>
              <a:t>What is an NSEC Record?</a:t>
            </a:r>
            <a:endParaRPr/>
          </a:p>
        </p:txBody>
      </p:sp>
      <p:sp>
        <p:nvSpPr>
          <p:cNvPr id="1068808024" name="Content Placeholder 2"/>
          <p:cNvSpPr>
            <a:spLocks noGrp="1"/>
          </p:cNvSpPr>
          <p:nvPr>
            <p:ph idx="1"/>
          </p:nvPr>
        </p:nvSpPr>
        <p:spPr bwMode="auto"/>
        <p:txBody>
          <a:bodyPr/>
          <a:lstStyle/>
          <a:p>
            <a:pPr>
              <a:defRPr/>
            </a:pPr>
            <a:r>
              <a:rPr/>
              <a:t>• NSEC is used in DNSSEC.</a:t>
            </a:r>
            <a:endParaRPr/>
          </a:p>
          <a:p>
            <a:pPr>
              <a:defRPr/>
            </a:pPr>
            <a:r>
              <a:rPr/>
              <a:t>• It provides authenticated denial of existence.</a:t>
            </a:r>
            <a:endParaRPr/>
          </a:p>
          <a:p>
            <a:pPr>
              <a:defRPr/>
            </a:pPr>
            <a:r>
              <a:rPr/>
              <a:t>• It lists the next valid domain name in canonical order.</a:t>
            </a:r>
            <a:endParaRPr/>
          </a:p>
          <a:p>
            <a:pPr>
              <a:defRPr/>
            </a:pPr>
            <a:r>
              <a:rPr/>
              <a:t>• It proves that no names exist between two domain names.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6889927" name="Title 1"/>
          <p:cNvSpPr>
            <a:spLocks noGrp="1"/>
          </p:cNvSpPr>
          <p:nvPr>
            <p:ph type="title"/>
          </p:nvPr>
        </p:nvSpPr>
        <p:spPr bwMode="auto"/>
        <p:txBody>
          <a:bodyPr/>
          <a:lstStyle/>
          <a:p>
            <a:pPr>
              <a:defRPr/>
            </a:pPr>
            <a:r>
              <a:rPr/>
              <a:t>Example Zone: example.com</a:t>
            </a:r>
            <a:endParaRPr/>
          </a:p>
        </p:txBody>
      </p:sp>
      <p:sp>
        <p:nvSpPr>
          <p:cNvPr id="76294193" name="Content Placeholder 2"/>
          <p:cNvSpPr>
            <a:spLocks noGrp="1"/>
          </p:cNvSpPr>
          <p:nvPr>
            <p:ph idx="1"/>
          </p:nvPr>
        </p:nvSpPr>
        <p:spPr bwMode="auto"/>
        <p:txBody>
          <a:bodyPr/>
          <a:lstStyle/>
          <a:p>
            <a:pPr>
              <a:defRPr/>
            </a:pPr>
            <a:r>
              <a:rPr/>
              <a:t>Existing subdomains:</a:t>
            </a:r>
            <a:endParaRPr/>
          </a:p>
          <a:p>
            <a:pPr>
              <a:defRPr/>
            </a:pPr>
            <a:endParaRPr/>
          </a:p>
          <a:p>
            <a:pPr>
              <a:defRPr/>
            </a:pPr>
            <a:r>
              <a:rPr/>
              <a:t>• a.example.com</a:t>
            </a:r>
            <a:endParaRPr/>
          </a:p>
          <a:p>
            <a:pPr>
              <a:defRPr/>
            </a:pPr>
            <a:r>
              <a:rPr/>
              <a:t>• m.example.com</a:t>
            </a:r>
            <a:endParaRPr/>
          </a:p>
          <a:p>
            <a:pPr>
              <a:defRPr/>
            </a:pPr>
            <a:r>
              <a:rPr/>
              <a:t>• z.example.com</a:t>
            </a:r>
            <a:endParaRPr/>
          </a:p>
          <a:p>
            <a:pPr>
              <a:defRPr/>
            </a:pPr>
            <a:endParaRPr/>
          </a:p>
          <a:p>
            <a:pPr>
              <a:defRPr/>
            </a:pPr>
            <a:r>
              <a:rPr/>
              <a:t>Canonical order:</a:t>
            </a:r>
            <a:endParaRPr/>
          </a:p>
          <a:p>
            <a:pPr>
              <a:defRPr/>
            </a:pPr>
            <a:r>
              <a:rPr/>
              <a:t>a → m → z</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8312564" name="Title 1"/>
          <p:cNvSpPr>
            <a:spLocks noGrp="1"/>
          </p:cNvSpPr>
          <p:nvPr>
            <p:ph type="title"/>
          </p:nvPr>
        </p:nvSpPr>
        <p:spPr bwMode="auto"/>
        <p:txBody>
          <a:bodyPr/>
          <a:lstStyle/>
          <a:p>
            <a:pPr>
              <a:defRPr/>
            </a:pPr>
            <a:r>
              <a:rPr/>
              <a:t>Sample NSEC Record</a:t>
            </a:r>
            <a:endParaRPr/>
          </a:p>
        </p:txBody>
      </p:sp>
      <p:sp>
        <p:nvSpPr>
          <p:cNvPr id="1974607073" name="Content Placeholder 2"/>
          <p:cNvSpPr>
            <a:spLocks noGrp="1"/>
          </p:cNvSpPr>
          <p:nvPr>
            <p:ph idx="1"/>
          </p:nvPr>
        </p:nvSpPr>
        <p:spPr bwMode="auto"/>
        <p:txBody>
          <a:bodyPr/>
          <a:lstStyle/>
          <a:p>
            <a:pPr>
              <a:defRPr/>
            </a:pPr>
            <a:r>
              <a:rPr/>
              <a:t>a.example.com. IN NSEC m.example.com. A RRSIG NSEC</a:t>
            </a:r>
            <a:endParaRPr/>
          </a:p>
          <a:p>
            <a:pPr>
              <a:defRPr/>
            </a:pPr>
            <a:endParaRPr/>
          </a:p>
          <a:p>
            <a:pPr>
              <a:defRPr/>
            </a:pPr>
            <a:r>
              <a:rPr/>
              <a:t>Meaning:</a:t>
            </a:r>
            <a:endParaRPr/>
          </a:p>
          <a:p>
            <a:pPr>
              <a:defRPr/>
            </a:pPr>
            <a:r>
              <a:rPr/>
              <a:t>• The next valid name after a.example.com is m.example.com.</a:t>
            </a:r>
            <a:endParaRPr/>
          </a:p>
          <a:p>
            <a:pPr>
              <a:defRPr/>
            </a:pPr>
            <a:r>
              <a:rPr/>
              <a:t>• No subdomains exist between them.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341343" name="Title 1"/>
          <p:cNvSpPr>
            <a:spLocks noGrp="1"/>
          </p:cNvSpPr>
          <p:nvPr>
            <p:ph type="title"/>
          </p:nvPr>
        </p:nvSpPr>
        <p:spPr bwMode="auto"/>
        <p:txBody>
          <a:bodyPr/>
          <a:lstStyle/>
          <a:p>
            <a:pPr>
              <a:defRPr/>
            </a:pPr>
            <a:r>
              <a:rPr/>
              <a:t>What Does This Prove?</a:t>
            </a:r>
            <a:endParaRPr/>
          </a:p>
        </p:txBody>
      </p:sp>
      <p:sp>
        <p:nvSpPr>
          <p:cNvPr id="1775931573" name="Content Placeholder 2"/>
          <p:cNvSpPr>
            <a:spLocks noGrp="1"/>
          </p:cNvSpPr>
          <p:nvPr>
            <p:ph idx="1"/>
          </p:nvPr>
        </p:nvSpPr>
        <p:spPr bwMode="auto"/>
        <p:txBody>
          <a:bodyPr/>
          <a:lstStyle/>
          <a:p>
            <a:pPr>
              <a:defRPr/>
            </a:pPr>
            <a:r>
              <a:rPr/>
              <a:t>If a query is made for:</a:t>
            </a:r>
            <a:endParaRPr/>
          </a:p>
          <a:p>
            <a:pPr>
              <a:defRPr/>
            </a:pPr>
            <a:r>
              <a:rPr/>
              <a:t>• b.example.com</a:t>
            </a:r>
            <a:endParaRPr/>
          </a:p>
          <a:p>
            <a:pPr>
              <a:defRPr/>
            </a:pPr>
            <a:r>
              <a:rPr/>
              <a:t>• k.example.com</a:t>
            </a:r>
            <a:endParaRPr/>
          </a:p>
          <a:p>
            <a:pPr>
              <a:defRPr/>
            </a:pPr>
            <a:endParaRPr/>
          </a:p>
          <a:p>
            <a:pPr>
              <a:defRPr/>
            </a:pPr>
            <a:r>
              <a:rPr/>
              <a:t>The NSEC record proves these names do not exist</a:t>
            </a:r>
            <a:endParaRPr/>
          </a:p>
          <a:p>
            <a:pPr>
              <a:defRPr/>
            </a:pPr>
            <a:r>
              <a:rPr/>
              <a:t>because they fall between a and 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6350925" name="Title 1"/>
          <p:cNvSpPr>
            <a:spLocks noGrp="1"/>
          </p:cNvSpPr>
          <p:nvPr>
            <p:ph type="ctrTitle"/>
          </p:nvPr>
        </p:nvSpPr>
        <p:spPr bwMode="auto"/>
        <p:txBody>
          <a:bodyPr/>
          <a:lstStyle/>
          <a:p>
            <a:pPr>
              <a:defRPr/>
            </a:pPr>
            <a:r>
              <a:rPr/>
              <a:t>Other Problems with DNSSEC</a:t>
            </a:r>
            <a:endParaRPr/>
          </a:p>
        </p:txBody>
      </p:sp>
      <p:sp>
        <p:nvSpPr>
          <p:cNvPr id="1302900779" name="Subtitle 2"/>
          <p:cNvSpPr>
            <a:spLocks noGrp="1"/>
          </p:cNvSpPr>
          <p:nvPr>
            <p:ph type="subTitle" idx="1"/>
          </p:nvPr>
        </p:nvSpPr>
        <p:spPr bwMode="auto"/>
        <p:txBody>
          <a:bodyPr/>
          <a:lstStyle/>
          <a:p>
            <a:pPr>
              <a:defRPr/>
            </a:pPr>
            <a:r>
              <a:rPr/>
              <a:t>Beyond zone enumeration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6288805" name="Title 1"/>
          <p:cNvSpPr>
            <a:spLocks noGrp="1"/>
          </p:cNvSpPr>
          <p:nvPr>
            <p:ph type="title"/>
          </p:nvPr>
        </p:nvSpPr>
        <p:spPr bwMode="auto"/>
        <p:txBody>
          <a:bodyPr/>
          <a:lstStyle/>
          <a:p>
            <a:pPr>
              <a:defRPr/>
            </a:pPr>
            <a:r>
              <a:rPr/>
              <a:t>1. Key Management Is Difficult</a:t>
            </a:r>
            <a:endParaRPr/>
          </a:p>
        </p:txBody>
      </p:sp>
      <p:sp>
        <p:nvSpPr>
          <p:cNvPr id="1564643723" name="Content Placeholder 2"/>
          <p:cNvSpPr>
            <a:spLocks noGrp="1"/>
          </p:cNvSpPr>
          <p:nvPr>
            <p:ph idx="1"/>
          </p:nvPr>
        </p:nvSpPr>
        <p:spPr bwMode="auto"/>
        <p:txBody>
          <a:bodyPr/>
          <a:lstStyle/>
          <a:p>
            <a:pPr>
              <a:defRPr/>
            </a:pPr>
            <a:r>
              <a:rPr/>
              <a:t>DNSSEC uses cryptographic keys.</a:t>
            </a:r>
            <a:endParaRPr/>
          </a:p>
          <a:p>
            <a:pPr>
              <a:defRPr/>
            </a:pPr>
            <a:r>
              <a:rPr/>
              <a:t>Keys must be created, stored, protected, and rotated.</a:t>
            </a:r>
            <a:endParaRPr/>
          </a:p>
          <a:p>
            <a:pPr>
              <a:defRPr/>
            </a:pPr>
            <a:r>
              <a:rPr/>
              <a:t>If a key is lost or misconfigured, the domain may stop resolving.</a:t>
            </a:r>
            <a:endParaRPr/>
          </a:p>
          <a:p>
            <a:pPr>
              <a:defRPr/>
            </a:pPr>
            <a:r>
              <a:rPr/>
              <a:t>Key rollovers are complex and can cause outages.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2882739" name="Title 1"/>
          <p:cNvSpPr>
            <a:spLocks noGrp="1"/>
          </p:cNvSpPr>
          <p:nvPr>
            <p:ph type="title"/>
          </p:nvPr>
        </p:nvSpPr>
        <p:spPr bwMode="auto"/>
        <p:txBody>
          <a:bodyPr/>
          <a:lstStyle/>
          <a:p>
            <a:pPr>
              <a:defRPr/>
            </a:pPr>
            <a:r>
              <a:rPr/>
              <a:t>2. Configuration Mistakes Cause Outages</a:t>
            </a:r>
            <a:endParaRPr/>
          </a:p>
        </p:txBody>
      </p:sp>
      <p:sp>
        <p:nvSpPr>
          <p:cNvPr id="333699212" name="Content Placeholder 2"/>
          <p:cNvSpPr>
            <a:spLocks noGrp="1"/>
          </p:cNvSpPr>
          <p:nvPr>
            <p:ph idx="1"/>
          </p:nvPr>
        </p:nvSpPr>
        <p:spPr bwMode="auto"/>
        <p:txBody>
          <a:bodyPr/>
          <a:lstStyle/>
          <a:p>
            <a:pPr>
              <a:defRPr/>
            </a:pPr>
            <a:r>
              <a:rPr/>
              <a:t>The DS record at the registrar must match the DNSKEY in the zone.</a:t>
            </a:r>
            <a:endParaRPr/>
          </a:p>
          <a:p>
            <a:pPr>
              <a:defRPr/>
            </a:pPr>
            <a:r>
              <a:rPr/>
              <a:t>If they do not match, resolvers will reject the domain.</a:t>
            </a:r>
            <a:endParaRPr/>
          </a:p>
          <a:p>
            <a:pPr>
              <a:defRPr/>
            </a:pPr>
            <a:r>
              <a:rPr/>
              <a:t>A small mistake can make the entire website unreachable.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4573608" name="Title 1"/>
          <p:cNvSpPr>
            <a:spLocks noGrp="1"/>
          </p:cNvSpPr>
          <p:nvPr>
            <p:ph type="title"/>
          </p:nvPr>
        </p:nvSpPr>
        <p:spPr bwMode="auto"/>
        <p:txBody>
          <a:bodyPr/>
          <a:lstStyle/>
          <a:p>
            <a:pPr>
              <a:defRPr/>
            </a:pPr>
            <a:r>
              <a:rPr/>
              <a:t>3. Larger DNS Responses</a:t>
            </a:r>
            <a:endParaRPr/>
          </a:p>
        </p:txBody>
      </p:sp>
      <p:sp>
        <p:nvSpPr>
          <p:cNvPr id="514930066" name="Content Placeholder 2"/>
          <p:cNvSpPr>
            <a:spLocks noGrp="1"/>
          </p:cNvSpPr>
          <p:nvPr>
            <p:ph idx="1"/>
          </p:nvPr>
        </p:nvSpPr>
        <p:spPr bwMode="auto"/>
        <p:txBody>
          <a:bodyPr/>
          <a:lstStyle/>
          <a:p>
            <a:pPr>
              <a:defRPr/>
            </a:pPr>
            <a:r>
              <a:rPr/>
              <a:t>• DNSSEC adds DNSKEY and RRSIG records.</a:t>
            </a:r>
            <a:endParaRPr/>
          </a:p>
          <a:p>
            <a:pPr>
              <a:defRPr/>
            </a:pPr>
            <a:r>
              <a:rPr/>
              <a:t>• Responses become much larger.</a:t>
            </a:r>
            <a:endParaRPr/>
          </a:p>
          <a:p>
            <a:pPr>
              <a:defRPr/>
            </a:pPr>
            <a:r>
              <a:rPr/>
              <a:t>• Large UDP packets may be fragmented.</a:t>
            </a:r>
            <a:endParaRPr/>
          </a:p>
          <a:p>
            <a:pPr>
              <a:defRPr/>
            </a:pPr>
            <a:r>
              <a:rPr/>
              <a:t>• Some networks drop fragmented packets.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9410964" name="Title 1"/>
          <p:cNvSpPr>
            <a:spLocks noGrp="1"/>
          </p:cNvSpPr>
          <p:nvPr>
            <p:ph type="title"/>
          </p:nvPr>
        </p:nvSpPr>
        <p:spPr bwMode="auto"/>
        <p:txBody>
          <a:bodyPr/>
          <a:lstStyle/>
          <a:p>
            <a:pPr>
              <a:defRPr/>
            </a:pPr>
            <a:r>
              <a:rPr/>
              <a:t>4. Reflection and Amplification Risk</a:t>
            </a:r>
            <a:endParaRPr/>
          </a:p>
        </p:txBody>
      </p:sp>
      <p:sp>
        <p:nvSpPr>
          <p:cNvPr id="492312288" name="Content Placeholder 2"/>
          <p:cNvSpPr>
            <a:spLocks noGrp="1"/>
          </p:cNvSpPr>
          <p:nvPr>
            <p:ph idx="1"/>
          </p:nvPr>
        </p:nvSpPr>
        <p:spPr bwMode="auto"/>
        <p:txBody>
          <a:bodyPr/>
          <a:lstStyle/>
          <a:p>
            <a:pPr marL="0" indent="0">
              <a:buFont typeface="Arial"/>
              <a:buNone/>
              <a:defRPr/>
            </a:pPr>
            <a:r>
              <a:rPr/>
              <a:t>• DNS uses UDP, which can be spoofed.</a:t>
            </a:r>
            <a:endParaRPr/>
          </a:p>
          <a:p>
            <a:pPr marL="0" indent="0">
              <a:buFont typeface="Arial"/>
              <a:buNone/>
              <a:defRPr/>
            </a:pPr>
            <a:r>
              <a:rPr/>
              <a:t>• DNSSEC responses are larger than normal DNS responses.</a:t>
            </a:r>
            <a:endParaRPr/>
          </a:p>
          <a:p>
            <a:pPr marL="0" indent="0">
              <a:buFont typeface="Arial"/>
              <a:buNone/>
              <a:defRPr/>
            </a:pPr>
            <a:r>
              <a:rPr/>
              <a:t>• Attackers can abuse this to amplify DDoS attacks.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0033216" name="Title 1"/>
          <p:cNvSpPr>
            <a:spLocks noGrp="1"/>
          </p:cNvSpPr>
          <p:nvPr>
            <p:ph type="title"/>
          </p:nvPr>
        </p:nvSpPr>
        <p:spPr bwMode="auto"/>
        <p:txBody>
          <a:bodyPr/>
          <a:lstStyle/>
          <a:p>
            <a:pPr>
              <a:defRPr/>
            </a:pPr>
            <a:r>
              <a:rPr/>
              <a:t>5. Performance Overhead</a:t>
            </a:r>
            <a:endParaRPr/>
          </a:p>
        </p:txBody>
      </p:sp>
      <p:sp>
        <p:nvSpPr>
          <p:cNvPr id="1470705282" name="Content Placeholder 2"/>
          <p:cNvSpPr>
            <a:spLocks noGrp="1"/>
          </p:cNvSpPr>
          <p:nvPr>
            <p:ph idx="1"/>
          </p:nvPr>
        </p:nvSpPr>
        <p:spPr bwMode="auto"/>
        <p:txBody>
          <a:bodyPr/>
          <a:lstStyle/>
          <a:p>
            <a:pPr>
              <a:defRPr/>
            </a:pPr>
            <a:r>
              <a:rPr/>
              <a:t>• Servers must generate digital signatures.</a:t>
            </a:r>
            <a:endParaRPr/>
          </a:p>
          <a:p>
            <a:pPr>
              <a:defRPr/>
            </a:pPr>
            <a:r>
              <a:rPr/>
              <a:t>• Resolvers must verify signatures.</a:t>
            </a:r>
            <a:endParaRPr/>
          </a:p>
          <a:p>
            <a:pPr>
              <a:defRPr/>
            </a:pPr>
            <a:r>
              <a:rPr/>
              <a:t>• This adds CPU and memory overhead.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2161179" name="Title 1"/>
          <p:cNvSpPr>
            <a:spLocks noGrp="1"/>
          </p:cNvSpPr>
          <p:nvPr>
            <p:ph type="title"/>
          </p:nvPr>
        </p:nvSpPr>
        <p:spPr bwMode="auto"/>
        <p:txBody>
          <a:bodyPr/>
          <a:lstStyle/>
          <a:p>
            <a:pPr>
              <a:defRPr/>
            </a:pPr>
            <a:r>
              <a:rPr/>
              <a:t>6. Limited Security Scope</a:t>
            </a:r>
            <a:endParaRPr/>
          </a:p>
        </p:txBody>
      </p:sp>
      <p:sp>
        <p:nvSpPr>
          <p:cNvPr id="24216309" name="Content Placeholder 2"/>
          <p:cNvSpPr>
            <a:spLocks noGrp="1"/>
          </p:cNvSpPr>
          <p:nvPr>
            <p:ph idx="1"/>
          </p:nvPr>
        </p:nvSpPr>
        <p:spPr bwMode="auto"/>
        <p:txBody>
          <a:bodyPr/>
          <a:lstStyle/>
          <a:p>
            <a:pPr>
              <a:defRPr/>
            </a:pPr>
            <a:r>
              <a:rPr/>
              <a:t>• DNSSEC protects integrity of DNS data.</a:t>
            </a:r>
            <a:endParaRPr/>
          </a:p>
          <a:p>
            <a:pPr>
              <a:defRPr/>
            </a:pPr>
            <a:r>
              <a:rPr/>
              <a:t>• It does not encrypt DNS traffic.</a:t>
            </a:r>
            <a:endParaRPr/>
          </a:p>
          <a:p>
            <a:pPr>
              <a:defRPr/>
            </a:pPr>
            <a:r>
              <a:rPr/>
              <a:t>• It does not protect against all types of attacks.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2204634" name="Title 1"/>
          <p:cNvSpPr>
            <a:spLocks noGrp="1"/>
          </p:cNvSpPr>
          <p:nvPr>
            <p:ph type="title"/>
          </p:nvPr>
        </p:nvSpPr>
        <p:spPr bwMode="auto"/>
        <p:txBody>
          <a:bodyPr/>
          <a:lstStyle/>
          <a:p>
            <a:pPr>
              <a:defRPr/>
            </a:pPr>
            <a:r>
              <a:rPr lang="en-US"/>
              <a:t>Further reading</a:t>
            </a:r>
            <a:endParaRPr/>
          </a:p>
        </p:txBody>
      </p:sp>
      <p:sp>
        <p:nvSpPr>
          <p:cNvPr id="1343419012" name="Content Placeholder 2"/>
          <p:cNvSpPr>
            <a:spLocks noGrp="1"/>
          </p:cNvSpPr>
          <p:nvPr>
            <p:ph idx="1"/>
          </p:nvPr>
        </p:nvSpPr>
        <p:spPr bwMode="auto"/>
        <p:txBody>
          <a:bodyPr/>
          <a:lstStyle/>
          <a:p>
            <a:pPr>
              <a:defRPr/>
            </a:pPr>
            <a:r>
              <a:rPr lang="en-US" u="sng">
                <a:hlinkClick r:id="rId3" tooltip=""/>
              </a:rPr>
              <a:t>https://www.internetsociety.org/deploy360/dnssec/maps/</a:t>
            </a:r>
            <a:endParaRPr lang="en-US"/>
          </a:p>
          <a:p>
            <a:pPr>
              <a:defRPr/>
            </a:pPr>
            <a:r>
              <a:rPr lang="en-US" u="sng">
                <a:hlinkClick r:id="rId4" tooltip=""/>
              </a:rPr>
              <a:t>https://www.potaroo.net/ispcol/2024-05/dnssec-fin.html</a:t>
            </a:r>
            <a:endParaRPr lang="en-US"/>
          </a:p>
          <a:p>
            <a:pPr>
              <a:defRPr/>
            </a:pPr>
            <a:r>
              <a:rPr lang="en-US" u="sng">
                <a:hlinkClick r:id="rId5" tooltip=""/>
              </a:rPr>
              <a:t>https://www.apnic.net/community/security/dnssec/</a:t>
            </a: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82</Slides>
  <Notes>82</Notes>
  <HiddenSlides>0</HiddenSlides>
  <MMClips>2</MMClips>
  <ScaleCrop>0</ScaleCrop>
  <HeadingPairs>
    <vt:vector size="4" baseType="variant">
      <vt:variant>
        <vt:lpstr>Theme</vt:lpstr>
      </vt:variant>
      <vt:variant>
        <vt:i4>1</vt:i4>
      </vt:variant>
      <vt:variant>
        <vt:lpstr>Slide Titles</vt:lpstr>
      </vt:variant>
      <vt:variant>
        <vt:i4>82</vt:i4>
      </vt:variant>
    </vt:vector>
  </HeadingPairs>
  <TitlesOfParts>
    <vt:vector size="8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Shannigrahi, Susmit</dc:creator>
  <cp:lastModifiedBy/>
  <cp:revision>9</cp:revision>
  <dcterms:created xsi:type="dcterms:W3CDTF">2026-02-09T16:40:55Z</dcterms:created>
  <dcterms:modified xsi:type="dcterms:W3CDTF">2026-03-11T15:01:27Z</dcterms:modified>
</cp:coreProperties>
</file>