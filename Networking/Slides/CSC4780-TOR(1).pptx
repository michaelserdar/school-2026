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0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15.xml" ContentType="application/vnd.openxmlformats-officedocument.theme+xml"/>
  <Override PartName="/ppt/theme/theme5.xml" ContentType="application/vnd.openxmlformats-officedocument.theme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46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8.xml" ContentType="application/vnd.openxmlformats-officedocument.presentationml.slide+xml"/>
  <Override PartName="/ppt/slides/slide20.xml" ContentType="application/vnd.openxmlformats-officedocument.presentationml.slide+xml"/>
  <Override PartName="/ppt/slides/slide57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49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4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40.xml" ContentType="application/vnd.openxmlformats-officedocument.presentationml.slide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35.xml.rels" ContentType="application/vnd.openxmlformats-package.relationships+xml"/>
  <Override PartName="/ppt/slides/_rels/slide36.xml.rels" ContentType="application/vnd.openxmlformats-package.relationships+xml"/>
  <Override PartName="/ppt/slides/_rels/slide37.xml.rels" ContentType="application/vnd.openxmlformats-package.relationships+xml"/>
  <Override PartName="/ppt/slides/_rels/slide56.xml.rels" ContentType="application/vnd.openxmlformats-package.relationships+xml"/>
  <Override PartName="/ppt/slides/_rels/slide2.xml.rels" ContentType="application/vnd.openxmlformats-package.relationships+xml"/>
  <Override PartName="/ppt/slides/_rels/slide44.xml.rels" ContentType="application/vnd.openxmlformats-package.relationships+xml"/>
  <Override PartName="/ppt/slides/_rels/slide55.xml.rels" ContentType="application/vnd.openxmlformats-package.relationships+xml"/>
  <Override PartName="/ppt/slides/_rels/slide1.xml.rels" ContentType="application/vnd.openxmlformats-package.relationships+xml"/>
  <Override PartName="/ppt/slides/_rels/slide43.xml.rels" ContentType="application/vnd.openxmlformats-package.relationships+xml"/>
  <Override PartName="/ppt/slides/_rels/slide54.xml.rels" ContentType="application/vnd.openxmlformats-package.relationships+xml"/>
  <Override PartName="/ppt/slides/_rels/slide42.xml.rels" ContentType="application/vnd.openxmlformats-package.relationships+xml"/>
  <Override PartName="/ppt/slides/_rels/slide53.xml.rels" ContentType="application/vnd.openxmlformats-package.relationships+xml"/>
  <Override PartName="/ppt/slides/_rels/slide39.xml.rels" ContentType="application/vnd.openxmlformats-package.relationships+xml"/>
  <Override PartName="/ppt/slides/_rels/slide41.xml.rels" ContentType="application/vnd.openxmlformats-package.relationships+xml"/>
  <Override PartName="/ppt/slides/_rels/slide52.xml.rels" ContentType="application/vnd.openxmlformats-package.relationships+xml"/>
  <Override PartName="/ppt/slides/_rels/slide46.xml.rels" ContentType="application/vnd.openxmlformats-package.relationships+xml"/>
  <Override PartName="/ppt/slides/_rels/slide47.xml.rels" ContentType="application/vnd.openxmlformats-package.relationships+xml"/>
  <Override PartName="/ppt/slides/_rels/slide10.xml.rels" ContentType="application/vnd.openxmlformats-package.relationships+xml"/>
  <Override PartName="/ppt/slides/_rels/slide45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4.xml.rels" ContentType="application/vnd.openxmlformats-package.relationships+xml"/>
  <Override PartName="/ppt/slides/_rels/slide12.xml.rels" ContentType="application/vnd.openxmlformats-package.relationships+xml"/>
  <Override PartName="/ppt/slides/_rels/slide49.xml.rels" ContentType="application/vnd.openxmlformats-package.relationships+xml"/>
  <Override PartName="/ppt/slides/_rels/slide51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28.xml.rels" ContentType="application/vnd.openxmlformats-package.relationships+xml"/>
  <Override PartName="/ppt/slides/_rels/slide17.xml.rels" ContentType="application/vnd.openxmlformats-package.relationships+xml"/>
  <Override PartName="/ppt/slides/_rels/slide29.xml.rels" ContentType="application/vnd.openxmlformats-package.relationships+xml"/>
  <Override PartName="/ppt/slides/_rels/slide11.xml.rels" ContentType="application/vnd.openxmlformats-package.relationships+xml"/>
  <Override PartName="/ppt/slides/_rels/slide48.xml.rels" ContentType="application/vnd.openxmlformats-package.relationships+xml"/>
  <Override PartName="/ppt/slides/_rels/slide50.xml.rels" ContentType="application/vnd.openxmlformats-package.relationships+xml"/>
  <Override PartName="/ppt/slides/_rels/slide13.xml.rels" ContentType="application/vnd.openxmlformats-package.relationships+xml"/>
  <Override PartName="/ppt/slides/_rels/slide40.xml.rels" ContentType="application/vnd.openxmlformats-package.relationships+xml"/>
  <Override PartName="/ppt/slides/_rels/slide38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20.xml.rels" ContentType="application/vnd.openxmlformats-package.relationships+xml"/>
  <Override PartName="/ppt/slides/_rels/slide57.xml.rels" ContentType="application/vnd.openxmlformats-package.relationships+xml"/>
  <Override PartName="/ppt/slides/_rels/slide4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slide38.xml" ContentType="application/vnd.openxmlformats-officedocument.presentationml.slide+xml"/>
  <Override PartName="/ppt/slides/slide52.xml" ContentType="application/vnd.openxmlformats-officedocument.presentationml.slide+xml"/>
  <Override PartName="/ppt/slides/slide41.xml" ContentType="application/vnd.openxmlformats-officedocument.presentationml.slide+xml"/>
  <Override PartName="/ppt/slides/slide39.xml" ContentType="application/vnd.openxmlformats-officedocument.presentationml.slide+xml"/>
  <Override PartName="/ppt/slides/slide53.xml" ContentType="application/vnd.openxmlformats-officedocument.presentationml.slide+xml"/>
  <Override PartName="/ppt/slides/slide42.xml" ContentType="application/vnd.openxmlformats-officedocument.presentationml.slide+xml"/>
  <Override PartName="/ppt/slides/slide54.xml" ContentType="application/vnd.openxmlformats-officedocument.presentationml.slide+xml"/>
  <Override PartName="/ppt/slides/slide43.xml" ContentType="application/vnd.openxmlformats-officedocument.presentationml.slide+xml"/>
  <Override PartName="/ppt/slides/slide55.xml" ContentType="application/vnd.openxmlformats-officedocument.presentationml.slide+xml"/>
  <Override PartName="/ppt/slides/slide44.xml" ContentType="application/vnd.openxmlformats-officedocument.presentationml.slide+xml"/>
  <Override PartName="/ppt/slides/slide56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_rels/presentation.xml.rels" ContentType="application/vnd.openxmlformats-package.relationships+xml"/>
  <Override PartName="/ppt/media/image29.png" ContentType="image/png"/>
  <Override PartName="/ppt/media/image28.png" ContentType="image/png"/>
  <Override PartName="/ppt/media/image25.png" ContentType="image/png"/>
  <Override PartName="/ppt/media/image27.jpeg" ContentType="image/jpeg"/>
  <Override PartName="/ppt/media/image24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14.png" ContentType="image/png"/>
  <Override PartName="/ppt/media/image5.png" ContentType="image/png"/>
  <Override PartName="/ppt/media/image37.png" ContentType="image/png"/>
  <Override PartName="/ppt/media/image9.png" ContentType="image/png"/>
  <Override PartName="/ppt/media/image20.png" ContentType="image/png"/>
  <Override PartName="/ppt/media/image18.png" ContentType="image/png"/>
  <Override PartName="/ppt/media/image13.png" ContentType="image/png"/>
  <Override PartName="/ppt/media/image36.png" ContentType="image/png"/>
  <Override PartName="/ppt/media/image4.png" ContentType="image/png"/>
  <Override PartName="/ppt/media/image26.png" ContentType="image/png"/>
  <Override PartName="/ppt/media/image1.gif" ContentType="image/gif"/>
  <Override PartName="/ppt/media/image31.png" ContentType="image/png"/>
  <Override PartName="/ppt/media/image32.png" ContentType="image/png"/>
  <Override PartName="/ppt/media/image34.png" ContentType="image/png"/>
  <Override PartName="/ppt/media/image40.png" ContentType="image/png"/>
  <Override PartName="/ppt/media/image41.png" ContentType="image/png"/>
  <Override PartName="/ppt/media/image30.png" ContentType="image/png"/>
  <Override PartName="/ppt/media/image42.png" ContentType="image/png"/>
  <Override PartName="/ppt/media/image12.png" ContentType="image/png"/>
  <Override PartName="/ppt/media/image3.png" ContentType="image/png"/>
  <Override PartName="/ppt/media/image35.png" ContentType="image/png"/>
  <Override PartName="/ppt/media/image8.png" ContentType="image/png"/>
  <Override PartName="/ppt/media/image11.png" ContentType="image/png"/>
  <Override PartName="/ppt/media/image39.png" ContentType="image/png"/>
  <Override PartName="/ppt/media/image7.png" ContentType="image/png"/>
  <Override PartName="/ppt/media/image16.png" ContentType="image/png"/>
  <Override PartName="/ppt/media/image17.jpeg" ContentType="image/jpeg"/>
  <Override PartName="/ppt/media/image33.png" ContentType="image/png"/>
  <Override PartName="/ppt/media/image10.png" ContentType="image/png"/>
  <Override PartName="/ppt/media/image38.png" ContentType="image/png"/>
  <Override PartName="/ppt/media/image6.png" ContentType="image/png"/>
  <Override PartName="/ppt/media/image15.png" ContentType="image/png"/>
  <Override PartName="/ppt/media/image2.wmf" ContentType="image/x-wmf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7" r:id="rId16"/>
  </p:sldMasterIdLst>
  <p:sldIdLst>
    <p:sldId id="256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  <p:sldId id="268" r:id="rId29"/>
    <p:sldId id="269" r:id="rId30"/>
    <p:sldId id="270" r:id="rId31"/>
    <p:sldId id="271" r:id="rId32"/>
    <p:sldId id="272" r:id="rId33"/>
    <p:sldId id="273" r:id="rId34"/>
    <p:sldId id="274" r:id="rId35"/>
    <p:sldId id="275" r:id="rId36"/>
    <p:sldId id="276" r:id="rId37"/>
    <p:sldId id="277" r:id="rId38"/>
    <p:sldId id="278" r:id="rId39"/>
    <p:sldId id="279" r:id="rId40"/>
    <p:sldId id="280" r:id="rId41"/>
    <p:sldId id="281" r:id="rId42"/>
    <p:sldId id="282" r:id="rId43"/>
    <p:sldId id="283" r:id="rId44"/>
    <p:sldId id="284" r:id="rId45"/>
    <p:sldId id="285" r:id="rId46"/>
    <p:sldId id="286" r:id="rId47"/>
    <p:sldId id="287" r:id="rId48"/>
    <p:sldId id="288" r:id="rId49"/>
    <p:sldId id="289" r:id="rId50"/>
    <p:sldId id="290" r:id="rId51"/>
    <p:sldId id="291" r:id="rId52"/>
    <p:sldId id="292" r:id="rId53"/>
    <p:sldId id="293" r:id="rId54"/>
    <p:sldId id="294" r:id="rId55"/>
    <p:sldId id="295" r:id="rId56"/>
    <p:sldId id="296" r:id="rId57"/>
    <p:sldId id="297" r:id="rId58"/>
    <p:sldId id="298" r:id="rId59"/>
    <p:sldId id="299" r:id="rId60"/>
    <p:sldId id="300" r:id="rId61"/>
    <p:sldId id="301" r:id="rId62"/>
    <p:sldId id="302" r:id="rId63"/>
    <p:sldId id="303" r:id="rId64"/>
    <p:sldId id="304" r:id="rId65"/>
    <p:sldId id="305" r:id="rId66"/>
    <p:sldId id="306" r:id="rId67"/>
    <p:sldId id="307" r:id="rId68"/>
    <p:sldId id="308" r:id="rId69"/>
    <p:sldId id="309" r:id="rId70"/>
    <p:sldId id="310" r:id="rId71"/>
    <p:sldId id="311" r:id="rId72"/>
    <p:sldId id="312" r:id="rId73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2.xml"/><Relationship Id="rId29" Type="http://schemas.openxmlformats.org/officeDocument/2006/relationships/slide" Target="slides/slide13.xml"/><Relationship Id="rId30" Type="http://schemas.openxmlformats.org/officeDocument/2006/relationships/slide" Target="slides/slide14.xml"/><Relationship Id="rId31" Type="http://schemas.openxmlformats.org/officeDocument/2006/relationships/slide" Target="slides/slide15.xml"/><Relationship Id="rId32" Type="http://schemas.openxmlformats.org/officeDocument/2006/relationships/slide" Target="slides/slide16.xml"/><Relationship Id="rId33" Type="http://schemas.openxmlformats.org/officeDocument/2006/relationships/slide" Target="slides/slide17.xml"/><Relationship Id="rId34" Type="http://schemas.openxmlformats.org/officeDocument/2006/relationships/slide" Target="slides/slide18.xml"/><Relationship Id="rId35" Type="http://schemas.openxmlformats.org/officeDocument/2006/relationships/slide" Target="slides/slide19.xml"/><Relationship Id="rId36" Type="http://schemas.openxmlformats.org/officeDocument/2006/relationships/slide" Target="slides/slide20.xml"/><Relationship Id="rId37" Type="http://schemas.openxmlformats.org/officeDocument/2006/relationships/slide" Target="slides/slide21.xml"/><Relationship Id="rId38" Type="http://schemas.openxmlformats.org/officeDocument/2006/relationships/slide" Target="slides/slide22.xml"/><Relationship Id="rId39" Type="http://schemas.openxmlformats.org/officeDocument/2006/relationships/slide" Target="slides/slide23.xml"/><Relationship Id="rId40" Type="http://schemas.openxmlformats.org/officeDocument/2006/relationships/slide" Target="slides/slide24.xml"/><Relationship Id="rId41" Type="http://schemas.openxmlformats.org/officeDocument/2006/relationships/slide" Target="slides/slide25.xml"/><Relationship Id="rId42" Type="http://schemas.openxmlformats.org/officeDocument/2006/relationships/slide" Target="slides/slide26.xml"/><Relationship Id="rId43" Type="http://schemas.openxmlformats.org/officeDocument/2006/relationships/slide" Target="slides/slide27.xml"/><Relationship Id="rId44" Type="http://schemas.openxmlformats.org/officeDocument/2006/relationships/slide" Target="slides/slide28.xml"/><Relationship Id="rId45" Type="http://schemas.openxmlformats.org/officeDocument/2006/relationships/slide" Target="slides/slide29.xml"/><Relationship Id="rId46" Type="http://schemas.openxmlformats.org/officeDocument/2006/relationships/slide" Target="slides/slide30.xml"/><Relationship Id="rId47" Type="http://schemas.openxmlformats.org/officeDocument/2006/relationships/slide" Target="slides/slide31.xml"/><Relationship Id="rId48" Type="http://schemas.openxmlformats.org/officeDocument/2006/relationships/slide" Target="slides/slide32.xml"/><Relationship Id="rId49" Type="http://schemas.openxmlformats.org/officeDocument/2006/relationships/slide" Target="slides/slide33.xml"/><Relationship Id="rId50" Type="http://schemas.openxmlformats.org/officeDocument/2006/relationships/slide" Target="slides/slide34.xml"/><Relationship Id="rId51" Type="http://schemas.openxmlformats.org/officeDocument/2006/relationships/slide" Target="slides/slide35.xml"/><Relationship Id="rId52" Type="http://schemas.openxmlformats.org/officeDocument/2006/relationships/slide" Target="slides/slide36.xml"/><Relationship Id="rId53" Type="http://schemas.openxmlformats.org/officeDocument/2006/relationships/slide" Target="slides/slide37.xml"/><Relationship Id="rId54" Type="http://schemas.openxmlformats.org/officeDocument/2006/relationships/slide" Target="slides/slide38.xml"/><Relationship Id="rId55" Type="http://schemas.openxmlformats.org/officeDocument/2006/relationships/slide" Target="slides/slide39.xml"/><Relationship Id="rId56" Type="http://schemas.openxmlformats.org/officeDocument/2006/relationships/slide" Target="slides/slide40.xml"/><Relationship Id="rId57" Type="http://schemas.openxmlformats.org/officeDocument/2006/relationships/slide" Target="slides/slide41.xml"/><Relationship Id="rId58" Type="http://schemas.openxmlformats.org/officeDocument/2006/relationships/slide" Target="slides/slide42.xml"/><Relationship Id="rId59" Type="http://schemas.openxmlformats.org/officeDocument/2006/relationships/slide" Target="slides/slide43.xml"/><Relationship Id="rId60" Type="http://schemas.openxmlformats.org/officeDocument/2006/relationships/slide" Target="slides/slide44.xml"/><Relationship Id="rId61" Type="http://schemas.openxmlformats.org/officeDocument/2006/relationships/slide" Target="slides/slide45.xml"/><Relationship Id="rId62" Type="http://schemas.openxmlformats.org/officeDocument/2006/relationships/slide" Target="slides/slide46.xml"/><Relationship Id="rId63" Type="http://schemas.openxmlformats.org/officeDocument/2006/relationships/slide" Target="slides/slide47.xml"/><Relationship Id="rId64" Type="http://schemas.openxmlformats.org/officeDocument/2006/relationships/slide" Target="slides/slide48.xml"/><Relationship Id="rId65" Type="http://schemas.openxmlformats.org/officeDocument/2006/relationships/slide" Target="slides/slide49.xml"/><Relationship Id="rId66" Type="http://schemas.openxmlformats.org/officeDocument/2006/relationships/slide" Target="slides/slide50.xml"/><Relationship Id="rId67" Type="http://schemas.openxmlformats.org/officeDocument/2006/relationships/slide" Target="slides/slide51.xml"/><Relationship Id="rId68" Type="http://schemas.openxmlformats.org/officeDocument/2006/relationships/slide" Target="slides/slide52.xml"/><Relationship Id="rId69" Type="http://schemas.openxmlformats.org/officeDocument/2006/relationships/slide" Target="slides/slide53.xml"/><Relationship Id="rId70" Type="http://schemas.openxmlformats.org/officeDocument/2006/relationships/slide" Target="slides/slide54.xml"/><Relationship Id="rId71" Type="http://schemas.openxmlformats.org/officeDocument/2006/relationships/slide" Target="slides/slide55.xml"/><Relationship Id="rId72" Type="http://schemas.openxmlformats.org/officeDocument/2006/relationships/slide" Target="slides/slide56.xml"/><Relationship Id="rId73" Type="http://schemas.openxmlformats.org/officeDocument/2006/relationships/slide" Target="slides/slide57.xml"/><Relationship Id="rId7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4B691A-2E8B-40F0-8208-35E4A2C7BBE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EE2A14C-3171-4D5A-A07B-A2CBF0C7919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9B05DD8-FB54-4A49-9432-3A6861A50BB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CCE0875A-F47A-4AE9-B2A9-559D337F505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34F62E69-B096-4D55-B711-AF2D0D9783C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AEDDD56B-D2B2-451F-92F7-8B293B2CD20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88297ED4-B567-4E0C-A4DF-85570D45D0E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25FFAFB4-4EFB-4399-9621-71E1D8E830C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36C88C60-7D41-465E-A61E-42A724CFA81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09510AD8-B330-48BA-91D9-261961B0C8D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3744D117-BE13-4AA9-8EC7-0E1AF02549F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64A931F1-7823-41D3-909F-17B8160A10A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5D1A9F59-40EB-4CB9-A978-04E2521FCCC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ank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9"/>
          </p:nvPr>
        </p:nvSpPr>
        <p:spPr/>
        <p:txBody>
          <a:bodyPr/>
          <a:p>
            <a:fld id="{A0548C7A-D532-496A-A93E-95A59E45E71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9"/>
          </p:nvPr>
        </p:nvSpPr>
        <p:spPr/>
        <p:txBody>
          <a:bodyPr/>
          <a:p>
            <a:fld id="{B5E2CD8A-D8BE-4FF6-BA93-7EE0BBB9765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6"/>
          <p:cNvSpPr/>
          <p:nvPr/>
        </p:nvSpPr>
        <p:spPr>
          <a:xfrm>
            <a:off x="0" y="0"/>
            <a:ext cx="107280" cy="6857640"/>
          </a:xfrm>
          <a:prstGeom prst="rect">
            <a:avLst/>
          </a:prstGeom>
          <a:solidFill>
            <a:schemeClr val="accent5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AC0C0F-8E4A-4AF9-9C26-809C7F2AFE21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Rectangle 6"/>
          <p:cNvSpPr/>
          <p:nvPr/>
        </p:nvSpPr>
        <p:spPr>
          <a:xfrm>
            <a:off x="0" y="0"/>
            <a:ext cx="107280" cy="6857640"/>
          </a:xfrm>
          <a:prstGeom prst="rect">
            <a:avLst/>
          </a:prstGeom>
          <a:solidFill>
            <a:schemeClr val="accent5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"/>
          <p:cNvSpPr/>
          <p:nvPr/>
        </p:nvSpPr>
        <p:spPr>
          <a:xfrm>
            <a:off x="0" y="0"/>
            <a:ext cx="107280" cy="6857640"/>
          </a:xfrm>
          <a:prstGeom prst="rect">
            <a:avLst/>
          </a:prstGeom>
          <a:solidFill>
            <a:schemeClr val="accent5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03D390-DB13-4D0D-BABA-6575E5C46045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Rectangle 6"/>
          <p:cNvSpPr/>
          <p:nvPr/>
        </p:nvSpPr>
        <p:spPr>
          <a:xfrm>
            <a:off x="0" y="0"/>
            <a:ext cx="107280" cy="6857640"/>
          </a:xfrm>
          <a:prstGeom prst="rect">
            <a:avLst/>
          </a:prstGeom>
          <a:solidFill>
            <a:schemeClr val="accent5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6"/>
          <p:cNvSpPr/>
          <p:nvPr/>
        </p:nvSpPr>
        <p:spPr>
          <a:xfrm>
            <a:off x="0" y="0"/>
            <a:ext cx="107280" cy="6857640"/>
          </a:xfrm>
          <a:prstGeom prst="rect">
            <a:avLst/>
          </a:prstGeom>
          <a:solidFill>
            <a:schemeClr val="accent5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ACD4A5-748D-42F1-88FC-1B60BA565421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Rectangle 6"/>
          <p:cNvSpPr/>
          <p:nvPr/>
        </p:nvSpPr>
        <p:spPr>
          <a:xfrm>
            <a:off x="0" y="0"/>
            <a:ext cx="107280" cy="6857640"/>
          </a:xfrm>
          <a:prstGeom prst="rect">
            <a:avLst/>
          </a:prstGeom>
          <a:solidFill>
            <a:schemeClr val="accent5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6"/>
          <p:cNvSpPr/>
          <p:nvPr/>
        </p:nvSpPr>
        <p:spPr>
          <a:xfrm>
            <a:off x="0" y="0"/>
            <a:ext cx="107280" cy="6857640"/>
          </a:xfrm>
          <a:prstGeom prst="rect">
            <a:avLst/>
          </a:prstGeom>
          <a:solidFill>
            <a:schemeClr val="accent5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9B9F63-A944-43AA-B44A-72245B72E49E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Rectangle 6"/>
          <p:cNvSpPr/>
          <p:nvPr/>
        </p:nvSpPr>
        <p:spPr>
          <a:xfrm>
            <a:off x="0" y="0"/>
            <a:ext cx="107280" cy="6857640"/>
          </a:xfrm>
          <a:prstGeom prst="rect">
            <a:avLst/>
          </a:prstGeom>
          <a:solidFill>
            <a:schemeClr val="accent5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6"/>
          <p:cNvSpPr/>
          <p:nvPr/>
        </p:nvSpPr>
        <p:spPr>
          <a:xfrm>
            <a:off x="0" y="0"/>
            <a:ext cx="107280" cy="6857640"/>
          </a:xfrm>
          <a:prstGeom prst="rect">
            <a:avLst/>
          </a:prstGeom>
          <a:solidFill>
            <a:schemeClr val="accent5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9ECC17-B5B1-45A6-B56F-EEA2D4D9AF48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Rectangle 6"/>
          <p:cNvSpPr/>
          <p:nvPr/>
        </p:nvSpPr>
        <p:spPr>
          <a:xfrm>
            <a:off x="0" y="0"/>
            <a:ext cx="107280" cy="6857640"/>
          </a:xfrm>
          <a:prstGeom prst="rect">
            <a:avLst/>
          </a:prstGeom>
          <a:solidFill>
            <a:schemeClr val="accent5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6"/>
          <p:cNvSpPr/>
          <p:nvPr/>
        </p:nvSpPr>
        <p:spPr>
          <a:xfrm>
            <a:off x="0" y="0"/>
            <a:ext cx="107280" cy="6857640"/>
          </a:xfrm>
          <a:prstGeom prst="rect">
            <a:avLst/>
          </a:prstGeom>
          <a:solidFill>
            <a:schemeClr val="accent5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E2E09B-C57F-4914-BE6E-188086CE3473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Rectangle 7"/>
          <p:cNvSpPr/>
          <p:nvPr/>
        </p:nvSpPr>
        <p:spPr>
          <a:xfrm>
            <a:off x="0" y="0"/>
            <a:ext cx="107280" cy="6857640"/>
          </a:xfrm>
          <a:prstGeom prst="rect">
            <a:avLst/>
          </a:prstGeom>
          <a:solidFill>
            <a:schemeClr val="accent5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6"/>
          <p:cNvSpPr/>
          <p:nvPr/>
        </p:nvSpPr>
        <p:spPr>
          <a:xfrm>
            <a:off x="0" y="0"/>
            <a:ext cx="107280" cy="6857640"/>
          </a:xfrm>
          <a:prstGeom prst="rect">
            <a:avLst/>
          </a:prstGeom>
          <a:solidFill>
            <a:schemeClr val="accent5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5" name="PlaceHolder 6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7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8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19ED30-16C8-40BC-84A7-6787819CA0FB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Rectangle 9"/>
          <p:cNvSpPr/>
          <p:nvPr/>
        </p:nvSpPr>
        <p:spPr>
          <a:xfrm>
            <a:off x="0" y="0"/>
            <a:ext cx="107280" cy="6857640"/>
          </a:xfrm>
          <a:prstGeom prst="rect">
            <a:avLst/>
          </a:prstGeom>
          <a:solidFill>
            <a:schemeClr val="accent5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6"/>
          <p:cNvSpPr/>
          <p:nvPr/>
        </p:nvSpPr>
        <p:spPr>
          <a:xfrm>
            <a:off x="0" y="0"/>
            <a:ext cx="107280" cy="6857640"/>
          </a:xfrm>
          <a:prstGeom prst="rect">
            <a:avLst/>
          </a:prstGeom>
          <a:solidFill>
            <a:schemeClr val="accent5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9F85DF-EF75-4C16-9238-2B21E74040FD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Rectangle 5"/>
          <p:cNvSpPr/>
          <p:nvPr/>
        </p:nvSpPr>
        <p:spPr>
          <a:xfrm>
            <a:off x="0" y="0"/>
            <a:ext cx="107280" cy="6857640"/>
          </a:xfrm>
          <a:prstGeom prst="rect">
            <a:avLst/>
          </a:prstGeom>
          <a:solidFill>
            <a:schemeClr val="accent5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6"/>
          <p:cNvSpPr/>
          <p:nvPr/>
        </p:nvSpPr>
        <p:spPr>
          <a:xfrm>
            <a:off x="0" y="0"/>
            <a:ext cx="107280" cy="6857640"/>
          </a:xfrm>
          <a:prstGeom prst="rect">
            <a:avLst/>
          </a:prstGeom>
          <a:solidFill>
            <a:schemeClr val="accent5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68" name="PlaceHolder 1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DEFD60-0625-4135-BD59-836703361684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Rectangle 4"/>
          <p:cNvSpPr/>
          <p:nvPr/>
        </p:nvSpPr>
        <p:spPr>
          <a:xfrm>
            <a:off x="0" y="0"/>
            <a:ext cx="107280" cy="6857640"/>
          </a:xfrm>
          <a:prstGeom prst="rect">
            <a:avLst/>
          </a:prstGeom>
          <a:solidFill>
            <a:schemeClr val="accent5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6"/>
          <p:cNvSpPr/>
          <p:nvPr/>
        </p:nvSpPr>
        <p:spPr>
          <a:xfrm>
            <a:off x="0" y="0"/>
            <a:ext cx="107280" cy="6857640"/>
          </a:xfrm>
          <a:prstGeom prst="rect">
            <a:avLst/>
          </a:prstGeom>
          <a:solidFill>
            <a:schemeClr val="accent5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6F53AA-9790-43B3-8B51-6683F069752C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Rectangle 7"/>
          <p:cNvSpPr/>
          <p:nvPr/>
        </p:nvSpPr>
        <p:spPr>
          <a:xfrm>
            <a:off x="0" y="0"/>
            <a:ext cx="107280" cy="6857640"/>
          </a:xfrm>
          <a:prstGeom prst="rect">
            <a:avLst/>
          </a:prstGeom>
          <a:solidFill>
            <a:schemeClr val="accent5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6"/>
          <p:cNvSpPr/>
          <p:nvPr/>
        </p:nvSpPr>
        <p:spPr>
          <a:xfrm>
            <a:off x="0" y="0"/>
            <a:ext cx="107280" cy="6857640"/>
          </a:xfrm>
          <a:prstGeom prst="rect">
            <a:avLst/>
          </a:prstGeom>
          <a:solidFill>
            <a:schemeClr val="accent5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PlaceHolder 6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392115-D03C-479E-811E-B628EEAAA383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Rectangle 7"/>
          <p:cNvSpPr/>
          <p:nvPr/>
        </p:nvSpPr>
        <p:spPr>
          <a:xfrm>
            <a:off x="0" y="0"/>
            <a:ext cx="107280" cy="6857640"/>
          </a:xfrm>
          <a:prstGeom prst="rect">
            <a:avLst/>
          </a:prstGeom>
          <a:solidFill>
            <a:schemeClr val="accent5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dt" idx="33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sldNum" idx="34"/>
          </p:nvPr>
        </p:nvSpPr>
        <p:spPr>
          <a:xfrm>
            <a:off x="873720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FF32371-D55D-45AB-8FD4-8056BBD1E81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96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dt" idx="35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sldNum" idx="36"/>
          </p:nvPr>
        </p:nvSpPr>
        <p:spPr>
          <a:xfrm>
            <a:off x="873720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F384229-9054-4137-9DE2-3864AEB078B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dt" idx="37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ftr" idx="38"/>
          </p:nvPr>
        </p:nvSpPr>
        <p:spPr>
          <a:xfrm>
            <a:off x="416520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sldNum" idx="39"/>
          </p:nvPr>
        </p:nvSpPr>
        <p:spPr>
          <a:xfrm>
            <a:off x="873720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1980534-7D7E-4EFE-9C3D-70C33B5D28B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54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54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9696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 Black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 Black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cbcbcb"/>
              </a:buClr>
              <a:buSzPct val="7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 Black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 Black"/>
            </a:endParaRPr>
          </a:p>
          <a:p>
            <a:pPr lvl="1" marL="743040" indent="-285840">
              <a:spcBef>
                <a:spcPts val="700"/>
              </a:spcBef>
              <a:buClr>
                <a:srgbClr val="4d4d4d"/>
              </a:buClr>
              <a:buFont typeface="Arial Black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 Black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 Black"/>
            </a:endParaRPr>
          </a:p>
          <a:p>
            <a:pPr lvl="2" marL="1143000" indent="-228600">
              <a:spcBef>
                <a:spcPts val="601"/>
              </a:spcBef>
              <a:buClr>
                <a:srgbClr val="868686"/>
              </a:buClr>
              <a:buFont typeface="Arial Black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 Black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 Black"/>
            </a:endParaRPr>
          </a:p>
          <a:p>
            <a:pPr lvl="3" marL="1600200" indent="-228600">
              <a:spcBef>
                <a:spcPts val="499"/>
              </a:spcBef>
              <a:buClr>
                <a:srgbClr val="000000"/>
              </a:buClr>
              <a:buFont typeface="Arial Black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 Black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 Black"/>
            </a:endParaRPr>
          </a:p>
          <a:p>
            <a:pPr lvl="4" marL="2057400" indent="-228600">
              <a:spcBef>
                <a:spcPts val="499"/>
              </a:spcBef>
              <a:buClr>
                <a:srgbClr val="868686"/>
              </a:buClr>
              <a:buFont typeface="Arial Black"/>
              <a:buChar char="•"/>
              <a:tabLst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 Black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 Black"/>
            </a:endParaRPr>
          </a:p>
          <a:p>
            <a:pPr lvl="5" marL="2057400" indent="-228600">
              <a:spcBef>
                <a:spcPts val="499"/>
              </a:spcBef>
              <a:buClr>
                <a:srgbClr val="000000"/>
              </a:buClr>
              <a:buFont typeface="Arial Black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 Black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 Black"/>
            </a:endParaRPr>
          </a:p>
          <a:p>
            <a:pPr lvl="6" marL="2057400" indent="-228600">
              <a:spcBef>
                <a:spcPts val="499"/>
              </a:spcBef>
              <a:buClr>
                <a:srgbClr val="000000"/>
              </a:buClr>
              <a:buFont typeface="Arial Black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 Black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 Black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8" r:id="rId2"/>
    <p:sldLayoutId id="214748367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slideLayout" Target="../slideLayouts/slideLayout1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wmf"/><Relationship Id="rId2" Type="http://schemas.openxmlformats.org/officeDocument/2006/relationships/image" Target="../media/image2.wmf"/><Relationship Id="rId3" Type="http://schemas.openxmlformats.org/officeDocument/2006/relationships/image" Target="../media/image2.wmf"/><Relationship Id="rId4" Type="http://schemas.openxmlformats.org/officeDocument/2006/relationships/slideLayout" Target="../slideLayouts/slideLayout1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Relationship Id="rId14" Type="http://schemas.openxmlformats.org/officeDocument/2006/relationships/image" Target="../media/image16.png"/><Relationship Id="rId15" Type="http://schemas.openxmlformats.org/officeDocument/2006/relationships/slideLayout" Target="../slideLayouts/slideLayout1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1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8.png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slideLayout" Target="../slideLayouts/slideLayout1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3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jpeg"/><Relationship Id="rId10" Type="http://schemas.openxmlformats.org/officeDocument/2006/relationships/image" Target="../media/image21.png"/><Relationship Id="rId11" Type="http://schemas.openxmlformats.org/officeDocument/2006/relationships/image" Target="../media/image21.png"/><Relationship Id="rId12" Type="http://schemas.openxmlformats.org/officeDocument/2006/relationships/image" Target="../media/image3.png"/><Relationship Id="rId13" Type="http://schemas.openxmlformats.org/officeDocument/2006/relationships/image" Target="../media/image3.png"/><Relationship Id="rId14" Type="http://schemas.openxmlformats.org/officeDocument/2006/relationships/slideLayout" Target="../slideLayouts/slideLayout1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3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jpeg"/><Relationship Id="rId9" Type="http://schemas.openxmlformats.org/officeDocument/2006/relationships/image" Target="../media/image21.png"/><Relationship Id="rId10" Type="http://schemas.openxmlformats.org/officeDocument/2006/relationships/image" Target="../media/image21.png"/><Relationship Id="rId11" Type="http://schemas.openxmlformats.org/officeDocument/2006/relationships/image" Target="../media/image3.png"/><Relationship Id="rId12" Type="http://schemas.openxmlformats.org/officeDocument/2006/relationships/image" Target="../media/image28.png"/><Relationship Id="rId13" Type="http://schemas.openxmlformats.org/officeDocument/2006/relationships/image" Target="../media/image3.png"/><Relationship Id="rId14" Type="http://schemas.openxmlformats.org/officeDocument/2006/relationships/slideLayout" Target="../slideLayouts/slideLayout1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3.png"/><Relationship Id="rId6" Type="http://schemas.openxmlformats.org/officeDocument/2006/relationships/slideLayout" Target="../slideLayouts/slideLayout1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3.png"/><Relationship Id="rId3" Type="http://schemas.openxmlformats.org/officeDocument/2006/relationships/image" Target="../media/image29.png"/><Relationship Id="rId4" Type="http://schemas.openxmlformats.org/officeDocument/2006/relationships/image" Target="../media/image23.png"/><Relationship Id="rId5" Type="http://schemas.openxmlformats.org/officeDocument/2006/relationships/image" Target="../media/image30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slideLayout" Target="../slideLayouts/slideLayout12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12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6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6.png"/><Relationship Id="rId6" Type="http://schemas.openxmlformats.org/officeDocument/2006/relationships/image" Target="../media/image14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13.png"/><Relationship Id="rId10" Type="http://schemas.openxmlformats.org/officeDocument/2006/relationships/image" Target="../media/image29.png"/><Relationship Id="rId11" Type="http://schemas.openxmlformats.org/officeDocument/2006/relationships/image" Target="../media/image29.png"/><Relationship Id="rId12" Type="http://schemas.openxmlformats.org/officeDocument/2006/relationships/slideLayout" Target="../slideLayouts/slideLayout12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11.png"/><Relationship Id="rId3" Type="http://schemas.openxmlformats.org/officeDocument/2006/relationships/image" Target="../media/image14.png"/><Relationship Id="rId4" Type="http://schemas.openxmlformats.org/officeDocument/2006/relationships/image" Target="../media/image7.png"/><Relationship Id="rId5" Type="http://schemas.openxmlformats.org/officeDocument/2006/relationships/image" Target="../media/image13.png"/><Relationship Id="rId6" Type="http://schemas.openxmlformats.org/officeDocument/2006/relationships/image" Target="../media/image3.png"/><Relationship Id="rId7" Type="http://schemas.openxmlformats.org/officeDocument/2006/relationships/slideLayout" Target="../slideLayouts/slideLayout12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11.png"/><Relationship Id="rId3" Type="http://schemas.openxmlformats.org/officeDocument/2006/relationships/image" Target="../media/image14.png"/><Relationship Id="rId4" Type="http://schemas.openxmlformats.org/officeDocument/2006/relationships/image" Target="../media/image7.png"/><Relationship Id="rId5" Type="http://schemas.openxmlformats.org/officeDocument/2006/relationships/image" Target="../media/image13.png"/><Relationship Id="rId6" Type="http://schemas.openxmlformats.org/officeDocument/2006/relationships/image" Target="../media/image3.png"/><Relationship Id="rId7" Type="http://schemas.openxmlformats.org/officeDocument/2006/relationships/image" Target="../media/image3.png"/><Relationship Id="rId8" Type="http://schemas.openxmlformats.org/officeDocument/2006/relationships/slideLayout" Target="../slideLayouts/slideLayout1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11.png"/><Relationship Id="rId3" Type="http://schemas.openxmlformats.org/officeDocument/2006/relationships/image" Target="../media/image14.png"/><Relationship Id="rId4" Type="http://schemas.openxmlformats.org/officeDocument/2006/relationships/image" Target="../media/image7.png"/><Relationship Id="rId5" Type="http://schemas.openxmlformats.org/officeDocument/2006/relationships/image" Target="../media/image13.png"/><Relationship Id="rId6" Type="http://schemas.openxmlformats.org/officeDocument/2006/relationships/image" Target="../media/image3.png"/><Relationship Id="rId7" Type="http://schemas.openxmlformats.org/officeDocument/2006/relationships/image" Target="../media/image3.png"/><Relationship Id="rId8" Type="http://schemas.openxmlformats.org/officeDocument/2006/relationships/slideLayout" Target="../slideLayouts/slideLayout12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7.png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3.png"/><Relationship Id="rId6" Type="http://schemas.openxmlformats.org/officeDocument/2006/relationships/slideLayout" Target="../slideLayouts/slideLayout12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4.png"/><Relationship Id="rId5" Type="http://schemas.openxmlformats.org/officeDocument/2006/relationships/image" Target="../media/image34.png"/><Relationship Id="rId6" Type="http://schemas.openxmlformats.org/officeDocument/2006/relationships/image" Target="../media/image34.png"/><Relationship Id="rId7" Type="http://schemas.openxmlformats.org/officeDocument/2006/relationships/image" Target="../media/image34.png"/><Relationship Id="rId8" Type="http://schemas.openxmlformats.org/officeDocument/2006/relationships/image" Target="../media/image34.png"/><Relationship Id="rId9" Type="http://schemas.openxmlformats.org/officeDocument/2006/relationships/image" Target="../media/image34.png"/><Relationship Id="rId10" Type="http://schemas.openxmlformats.org/officeDocument/2006/relationships/image" Target="../media/image34.png"/><Relationship Id="rId11" Type="http://schemas.openxmlformats.org/officeDocument/2006/relationships/image" Target="../media/image35.png"/><Relationship Id="rId12" Type="http://schemas.openxmlformats.org/officeDocument/2006/relationships/slideLayout" Target="../slideLayouts/slideLayout12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4.png"/><Relationship Id="rId5" Type="http://schemas.openxmlformats.org/officeDocument/2006/relationships/image" Target="../media/image34.png"/><Relationship Id="rId6" Type="http://schemas.openxmlformats.org/officeDocument/2006/relationships/slideLayout" Target="../slideLayouts/slideLayout12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4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slideLayout" Target="../slideLayouts/slideLayout12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4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.png"/><Relationship Id="rId7" Type="http://schemas.openxmlformats.org/officeDocument/2006/relationships/slideLayout" Target="../slideLayouts/slideLayout1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4.png"/><Relationship Id="rId5" Type="http://schemas.openxmlformats.org/officeDocument/2006/relationships/image" Target="../media/image34.png"/><Relationship Id="rId6" Type="http://schemas.openxmlformats.org/officeDocument/2006/relationships/image" Target="../media/image34.png"/><Relationship Id="rId7" Type="http://schemas.openxmlformats.org/officeDocument/2006/relationships/image" Target="../media/image34.png"/><Relationship Id="rId8" Type="http://schemas.openxmlformats.org/officeDocument/2006/relationships/image" Target="../media/image34.png"/><Relationship Id="rId9" Type="http://schemas.openxmlformats.org/officeDocument/2006/relationships/image" Target="../media/image34.png"/><Relationship Id="rId10" Type="http://schemas.openxmlformats.org/officeDocument/2006/relationships/image" Target="../media/image34.png"/><Relationship Id="rId11" Type="http://schemas.openxmlformats.org/officeDocument/2006/relationships/image" Target="../media/image34.png"/><Relationship Id="rId12" Type="http://schemas.openxmlformats.org/officeDocument/2006/relationships/slideLayout" Target="../slideLayouts/slideLayout12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12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image" Target="../media/image39.png"/><Relationship Id="rId3" Type="http://schemas.openxmlformats.org/officeDocument/2006/relationships/slideLayout" Target="../slideLayouts/slideLayout12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12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12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4.png"/><Relationship Id="rId6" Type="http://schemas.openxmlformats.org/officeDocument/2006/relationships/image" Target="../media/image34.png"/><Relationship Id="rId7" Type="http://schemas.openxmlformats.org/officeDocument/2006/relationships/image" Target="../media/image41.png"/><Relationship Id="rId8" Type="http://schemas.openxmlformats.org/officeDocument/2006/relationships/image" Target="../media/image41.png"/><Relationship Id="rId9" Type="http://schemas.openxmlformats.org/officeDocument/2006/relationships/image" Target="../media/image41.png"/><Relationship Id="rId10" Type="http://schemas.openxmlformats.org/officeDocument/2006/relationships/image" Target="../media/image3.png"/><Relationship Id="rId11" Type="http://schemas.openxmlformats.org/officeDocument/2006/relationships/image" Target="../media/image3.png"/><Relationship Id="rId12" Type="http://schemas.openxmlformats.org/officeDocument/2006/relationships/image" Target="../media/image3.png"/><Relationship Id="rId13" Type="http://schemas.openxmlformats.org/officeDocument/2006/relationships/slideLayout" Target="../slideLayouts/slideLayout12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12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12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image" Target="../media/image32.png"/><Relationship Id="rId3" Type="http://schemas.openxmlformats.org/officeDocument/2006/relationships/image" Target="../media/image34.png"/><Relationship Id="rId4" Type="http://schemas.openxmlformats.org/officeDocument/2006/relationships/image" Target="../media/image34.png"/><Relationship Id="rId5" Type="http://schemas.openxmlformats.org/officeDocument/2006/relationships/image" Target="../media/image34.png"/><Relationship Id="rId6" Type="http://schemas.openxmlformats.org/officeDocument/2006/relationships/image" Target="../media/image41.png"/><Relationship Id="rId7" Type="http://schemas.openxmlformats.org/officeDocument/2006/relationships/image" Target="../media/image41.png"/><Relationship Id="rId8" Type="http://schemas.openxmlformats.org/officeDocument/2006/relationships/image" Target="../media/image41.png"/><Relationship Id="rId9" Type="http://schemas.openxmlformats.org/officeDocument/2006/relationships/image" Target="../media/image34.png"/><Relationship Id="rId10" Type="http://schemas.openxmlformats.org/officeDocument/2006/relationships/image" Target="../media/image41.png"/><Relationship Id="rId11" Type="http://schemas.openxmlformats.org/officeDocument/2006/relationships/image" Target="../media/image34.png"/><Relationship Id="rId12" Type="http://schemas.openxmlformats.org/officeDocument/2006/relationships/image" Target="../media/image41.png"/><Relationship Id="rId13" Type="http://schemas.openxmlformats.org/officeDocument/2006/relationships/image" Target="../media/image34.png"/><Relationship Id="rId14" Type="http://schemas.openxmlformats.org/officeDocument/2006/relationships/image" Target="../media/image41.png"/><Relationship Id="rId15" Type="http://schemas.openxmlformats.org/officeDocument/2006/relationships/image" Target="../media/image34.png"/><Relationship Id="rId16" Type="http://schemas.openxmlformats.org/officeDocument/2006/relationships/image" Target="../media/image41.png"/><Relationship Id="rId17" Type="http://schemas.openxmlformats.org/officeDocument/2006/relationships/image" Target="../media/image34.png"/><Relationship Id="rId18" Type="http://schemas.openxmlformats.org/officeDocument/2006/relationships/image" Target="../media/image41.png"/><Relationship Id="rId19" Type="http://schemas.openxmlformats.org/officeDocument/2006/relationships/image" Target="../media/image42.png"/><Relationship Id="rId20" Type="http://schemas.openxmlformats.org/officeDocument/2006/relationships/image" Target="../media/image34.png"/><Relationship Id="rId21" Type="http://schemas.openxmlformats.org/officeDocument/2006/relationships/image" Target="../media/image41.png"/><Relationship Id="rId22" Type="http://schemas.openxmlformats.org/officeDocument/2006/relationships/image" Target="../media/image34.png"/><Relationship Id="rId23" Type="http://schemas.openxmlformats.org/officeDocument/2006/relationships/image" Target="../media/image41.png"/><Relationship Id="rId24" Type="http://schemas.openxmlformats.org/officeDocument/2006/relationships/image" Target="../media/image35.png"/><Relationship Id="rId25" Type="http://schemas.openxmlformats.org/officeDocument/2006/relationships/slideLayout" Target="../slideLayouts/slideLayout12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12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hyperlink" Target="https://www.torproject.org/" TargetMode="External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CSC 4780 – TOR</a:t>
            </a:r>
            <a:endParaRPr b="0" lang="en-US" sz="6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Susmit Shannigrahi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Times New Roman"/>
              </a:rPr>
              <a:t>What is Anonymity?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100000"/>
              </a:lnSpc>
              <a:spcBef>
                <a:spcPts val="550"/>
              </a:spcBef>
              <a:buClr>
                <a:srgbClr val="80808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2200" spc="-1" strike="noStrike">
                <a:solidFill>
                  <a:schemeClr val="lt1">
                    <a:lumMod val="50000"/>
                  </a:schemeClr>
                </a:solidFill>
                <a:latin typeface="Times New Roman"/>
              </a:rPr>
              <a:t>Anonymity</a:t>
            </a:r>
            <a:r>
              <a:rPr b="0" lang="en-US" sz="2200" spc="-1" strike="noStrike">
                <a:solidFill>
                  <a:schemeClr val="lt1">
                    <a:lumMod val="50000"/>
                  </a:schemeClr>
                </a:solidFill>
                <a:latin typeface="Times New Roman"/>
              </a:rPr>
              <a:t> can be defined as maintaining (real-world) identifying information about a transaction and/or the communicating parties hidden 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0">
              <a:lnSpc>
                <a:spcPct val="30000"/>
              </a:lnSpc>
              <a:spcBef>
                <a:spcPts val="55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550"/>
              </a:spcBef>
              <a:buClr>
                <a:srgbClr val="80808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chemeClr val="lt1">
                    <a:lumMod val="50000"/>
                  </a:schemeClr>
                </a:solidFill>
                <a:latin typeface="Times New Roman"/>
              </a:rPr>
              <a:t>Why do we need anonymity?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chemeClr val="lt1">
                    <a:lumMod val="50000"/>
                  </a:schemeClr>
                </a:solidFill>
                <a:latin typeface="Times New Roman"/>
              </a:rPr>
              <a:t>Protecting “sensitive” activities, censorship resistant publishing, protecting against profiling, whistleblowing, etc. 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0">
              <a:lnSpc>
                <a:spcPct val="30000"/>
              </a:lnSpc>
              <a:spcBef>
                <a:spcPts val="55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550"/>
              </a:spcBef>
              <a:buClr>
                <a:srgbClr val="80808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chemeClr val="lt1">
                    <a:lumMod val="50000"/>
                  </a:schemeClr>
                </a:solidFill>
                <a:latin typeface="Times New Roman"/>
              </a:rPr>
              <a:t>Common types of anonymity: sender anonymity, receiver anonymity, unlinkability of the sender and receiver, unlinkability of transactions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0">
              <a:lnSpc>
                <a:spcPct val="40000"/>
              </a:lnSpc>
              <a:spcBef>
                <a:spcPts val="55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550"/>
              </a:spcBef>
              <a:buClr>
                <a:srgbClr val="80808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chemeClr val="lt1">
                    <a:lumMod val="50000"/>
                  </a:schemeClr>
                </a:solidFill>
                <a:latin typeface="Times New Roman"/>
              </a:rPr>
              <a:t>Various levels of anonymity (application and/or network layer)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0">
              <a:lnSpc>
                <a:spcPct val="30000"/>
              </a:lnSpc>
              <a:spcBef>
                <a:spcPts val="55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00E71829-A3DF-4627-B2AE-E7A2695A45C9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Definition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Hiding the </a:t>
            </a:r>
            <a:r>
              <a:rPr b="0" lang="en-US" sz="3200" spc="-1" strike="noStrike">
                <a:solidFill>
                  <a:srgbClr val="ff0000"/>
                </a:solidFill>
                <a:latin typeface="Calibri"/>
              </a:rPr>
              <a:t>identitie(s)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of the parties involved in digital communications from </a:t>
            </a:r>
            <a:r>
              <a:rPr b="0" lang="en-US" sz="3200" spc="-1" strike="noStrike">
                <a:solidFill>
                  <a:srgbClr val="3366ff"/>
                </a:solidFill>
                <a:latin typeface="Calibri"/>
              </a:rPr>
              <a:t>each other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, or from </a:t>
            </a:r>
            <a:r>
              <a:rPr b="0" lang="en-US" sz="3200" spc="-1" strike="noStrike">
                <a:solidFill>
                  <a:srgbClr val="3366ff"/>
                </a:solidFill>
                <a:latin typeface="Calibri"/>
              </a:rPr>
              <a:t>third-parties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“</a:t>
            </a: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Who you are” from the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communicating party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“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Who you are talking to” from everyone else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CF5F8AB9-8F5D-4A1C-A9DB-6AB73B5179A3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Why be Anonymous?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6865"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If you are a cyber-criminal!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DRM infringement, hacker, spammer, terrorist, etc.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But, also if you are: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Journalist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Whistleblower 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Human rights activist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Business executive 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Military/intelligence personnel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Abuse victims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56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56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90E5CBAE-DC5C-419D-8A7B-AACD052247AE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Why be Anonymous?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0616"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How about normal people?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Avoid tracking by advertising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companies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Protect sensitive personal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information from businesses,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like insurance companies,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banks, etc.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Express unpopular or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controversial opinions 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Have a dual life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A professor who is also a pro in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World of Warcraft!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Try uncommon things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…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ff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ff"/>
                </a:solidFill>
                <a:latin typeface="Calibri"/>
              </a:rPr>
              <a:t>It feels good to have some </a:t>
            </a:r>
            <a:r>
              <a:rPr b="0" lang="en-US" sz="2800" spc="-1" strike="noStrike">
                <a:solidFill>
                  <a:srgbClr val="0000ff"/>
                </a:solidFill>
                <a:latin typeface="Calibri"/>
              </a:rPr>
              <a:t>privacy!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56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8ED90ECC-287F-48A9-B251-FA42F60AF9FD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" dur="indefinite" restart="never" nodeType="tmRoot">
          <p:childTnLst>
            <p:seq>
              <p:cTn id="20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Bottomline: Anonymity is </a:t>
            </a:r>
            <a:r>
              <a:rPr b="0" lang="en-US" sz="3200" spc="-1" strike="noStrike">
                <a:solidFill>
                  <a:srgbClr val="ff6600"/>
                </a:solidFill>
                <a:latin typeface="Calibri"/>
              </a:rPr>
              <a:t>not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for criminals only!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B258D077-A911-45AE-8DFA-7DE128B8C195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But, It’s </a:t>
            </a:r>
            <a:r>
              <a:rPr b="0" lang="en-US" sz="4400" spc="-1" strike="noStrike">
                <a:solidFill>
                  <a:srgbClr val="ff6600"/>
                </a:solidFill>
                <a:latin typeface="Calibri"/>
              </a:rPr>
              <a:t>Hard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to be Anonymous!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7491" lnSpcReduction="10000"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Your </a:t>
            </a:r>
            <a:r>
              <a:rPr b="0" lang="en-US" sz="3200" spc="-1" strike="noStrike">
                <a:solidFill>
                  <a:srgbClr val="ff6600"/>
                </a:solidFill>
                <a:latin typeface="Calibri"/>
              </a:rPr>
              <a:t>network location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(IP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address) can be linked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directly to you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ISPs store communications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records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Usually for several years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(Data Retention Laws)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Law enforcement can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subpoena these records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Your </a:t>
            </a:r>
            <a:r>
              <a:rPr b="0" lang="en-US" sz="3200" spc="-1" strike="noStrike">
                <a:solidFill>
                  <a:srgbClr val="ff6600"/>
                </a:solidFill>
                <a:latin typeface="Calibri"/>
              </a:rPr>
              <a:t>application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is being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tracked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Cookies, Flash cookies, E-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Tags, HTML5 Storage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Centralized services like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Skype, Google voice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Browser fingerprinting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Your </a:t>
            </a:r>
            <a:r>
              <a:rPr b="0" lang="en-US" sz="3200" spc="-1" strike="noStrike">
                <a:solidFill>
                  <a:srgbClr val="ff6600"/>
                </a:solidFill>
                <a:latin typeface="Calibri"/>
              </a:rPr>
              <a:t>activities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can be used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to identify you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Unique websites and apps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that you use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Types of links that you click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73B8A7FB-C08C-49FE-AD92-80613086B84C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9" dur="indefinite" restart="never" nodeType="tmRoot">
          <p:childTnLst>
            <p:seq>
              <p:cTn id="40" dur="indefinite" nodeType="mainSeq">
                <p:childTnLst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But, It’s </a:t>
            </a:r>
            <a:r>
              <a:rPr b="0" lang="en-US" sz="4400" spc="-1" strike="noStrike">
                <a:solidFill>
                  <a:srgbClr val="ff6600"/>
                </a:solidFill>
                <a:latin typeface="Calibri"/>
              </a:rPr>
              <a:t>Hard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to be Anonymous!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Your </a:t>
            </a:r>
            <a:r>
              <a:rPr b="0" lang="en-US" sz="3200" spc="-1" strike="noStrike">
                <a:solidFill>
                  <a:srgbClr val="ff6600"/>
                </a:solidFill>
                <a:latin typeface="Calibri"/>
              </a:rPr>
              <a:t>Internet access point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can be wiretapped 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Wireless traffic can be trivially intercepted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Airsnort, Firesheep, etc.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Wifi and Cellular traffic!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Encryption helps, if it’s strong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WEP and WPA are both vulnerable!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Tier 1 ASs and IXPs are compromised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NSA, GCHQ, “5 Eyes”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~1% of all Internet traffic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Focus on </a:t>
            </a:r>
            <a:r>
              <a:rPr b="0" lang="en-US" sz="2400" spc="-1" strike="noStrike">
                <a:solidFill>
                  <a:schemeClr val="accent1"/>
                </a:solidFill>
                <a:latin typeface="Calibri"/>
              </a:rPr>
              <a:t>encrypted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traffic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4BE7F5B9-8334-478F-AA0B-BCB8FD213E36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You Have to Protect at All Layers!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30" name="Content Placeholder 8" descr="tcpipstack.gif"/>
          <p:cNvPicPr/>
          <p:nvPr/>
        </p:nvPicPr>
        <p:blipFill>
          <a:blip r:embed="rId1"/>
          <a:srcRect l="-27921" t="0" r="-27921" b="0"/>
          <a:stretch/>
        </p:blipFill>
        <p:spPr>
          <a:xfrm>
            <a:off x="-1679760" y="1600200"/>
            <a:ext cx="10041120" cy="4141440"/>
          </a:xfrm>
          <a:prstGeom prst="rect">
            <a:avLst/>
          </a:prstGeom>
          <a:ln w="0">
            <a:noFill/>
          </a:ln>
        </p:spPr>
      </p:pic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6492240" y="1600200"/>
            <a:ext cx="537948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Challenge: 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Maintain Performance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6AD022C9-ACF0-4B82-A3BB-C6E9BD78160C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5" dur="indefinite" restart="never" nodeType="tmRoot">
          <p:childTnLst>
            <p:seq>
              <p:cTn id="66" dur="indefinite" nodeType="mainSeq">
                <p:childTnLst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914400" y="304560"/>
            <a:ext cx="1036332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Times New Roman"/>
              </a:rPr>
              <a:t>Modern Anonymity Systems</a:t>
            </a:r>
            <a:endParaRPr b="0" lang="en-US" sz="4400" spc="-1" strike="noStrike">
              <a:solidFill>
                <a:srgbClr val="000000"/>
              </a:solidFill>
              <a:latin typeface="Arial Black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914400" y="2133720"/>
            <a:ext cx="1036332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550"/>
              </a:spcBef>
              <a:buClr>
                <a:srgbClr val="cbcbcb"/>
              </a:buClr>
              <a:buSzPct val="7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imes New Roman"/>
              </a:rPr>
              <a:t>Date back to Chaum’s Mix-Net design</a:t>
            </a:r>
            <a:endParaRPr b="0" lang="en-US" sz="2200" spc="-1" strike="noStrike">
              <a:solidFill>
                <a:srgbClr val="000000"/>
              </a:solidFill>
              <a:latin typeface="Arial Black"/>
            </a:endParaRPr>
          </a:p>
          <a:p>
            <a:pPr marL="343080" indent="-343080">
              <a:lnSpc>
                <a:spcPct val="100000"/>
              </a:lnSpc>
              <a:spcBef>
                <a:spcPts val="550"/>
              </a:spcBef>
              <a:buClr>
                <a:srgbClr val="cbcbcb"/>
              </a:buClr>
              <a:buSzPct val="7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imes New Roman"/>
              </a:rPr>
              <a:t>Suggested hiding correspondence between sender and receiver by wrapping messages in layers of public key encryption</a:t>
            </a:r>
            <a:endParaRPr b="0" lang="en-US" sz="2200" spc="-1" strike="noStrike">
              <a:solidFill>
                <a:srgbClr val="000000"/>
              </a:solidFill>
              <a:latin typeface="Arial Black"/>
            </a:endParaRPr>
          </a:p>
          <a:p>
            <a:pPr marL="343080" indent="-343080">
              <a:lnSpc>
                <a:spcPct val="100000"/>
              </a:lnSpc>
              <a:spcBef>
                <a:spcPts val="550"/>
              </a:spcBef>
              <a:buClr>
                <a:srgbClr val="cbcbcb"/>
              </a:buClr>
              <a:buSzPct val="7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imes New Roman"/>
              </a:rPr>
              <a:t>These messages would traverse a series of mixes en route to the receiver</a:t>
            </a:r>
            <a:endParaRPr b="0" lang="en-US" sz="2200" spc="-1" strike="noStrike">
              <a:solidFill>
                <a:srgbClr val="000000"/>
              </a:solidFill>
              <a:latin typeface="Arial Black"/>
            </a:endParaRPr>
          </a:p>
          <a:p>
            <a:pPr marL="343080" indent="-343080">
              <a:lnSpc>
                <a:spcPct val="100000"/>
              </a:lnSpc>
              <a:spcBef>
                <a:spcPts val="550"/>
              </a:spcBef>
              <a:buClr>
                <a:srgbClr val="cbcbcb"/>
              </a:buClr>
              <a:buSzPct val="70000"/>
              <a:buFont typeface="Monotype Sort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Times New Roman"/>
              </a:rPr>
              <a:t>Mixes decrypt, delay, and re-order messages before passing them onward</a:t>
            </a:r>
            <a:endParaRPr b="0" lang="en-US" sz="2200" spc="-1" strike="noStrike">
              <a:solidFill>
                <a:srgbClr val="000000"/>
              </a:solidFill>
              <a:latin typeface="Arial Black"/>
            </a:endParaRPr>
          </a:p>
          <a:p>
            <a:pPr lvl="1" marL="743040" indent="0">
              <a:lnSpc>
                <a:spcPct val="50000"/>
              </a:lnSpc>
              <a:spcBef>
                <a:spcPts val="55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Arial Black"/>
            </a:endParaRPr>
          </a:p>
          <a:p>
            <a:pPr marL="343080" indent="-343080">
              <a:lnSpc>
                <a:spcPct val="100000"/>
              </a:lnSpc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Arial Blac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914400" y="304560"/>
            <a:ext cx="1036332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Times New Roman"/>
              </a:rPr>
              <a:t>Basic Mix-Net Concept*</a:t>
            </a:r>
            <a:endParaRPr b="0" lang="en-US" sz="4400" spc="-1" strike="noStrike">
              <a:solidFill>
                <a:srgbClr val="000000"/>
              </a:solidFill>
              <a:latin typeface="Arial Black"/>
            </a:endParaRPr>
          </a:p>
        </p:txBody>
      </p:sp>
      <p:pic>
        <p:nvPicPr>
          <p:cNvPr id="135" name="" descr=""/>
          <p:cNvPicPr/>
          <p:nvPr/>
        </p:nvPicPr>
        <p:blipFill>
          <a:blip r:embed="rId1"/>
          <a:stretch/>
        </p:blipFill>
        <p:spPr>
          <a:xfrm>
            <a:off x="1930320" y="2666880"/>
            <a:ext cx="1426680" cy="838440"/>
          </a:xfrm>
          <a:prstGeom prst="rect">
            <a:avLst/>
          </a:prstGeom>
          <a:ln w="0">
            <a:noFill/>
          </a:ln>
        </p:spPr>
      </p:pic>
      <p:pic>
        <p:nvPicPr>
          <p:cNvPr id="136" name="" descr=""/>
          <p:cNvPicPr/>
          <p:nvPr/>
        </p:nvPicPr>
        <p:blipFill>
          <a:blip r:embed="rId2"/>
          <a:stretch/>
        </p:blipFill>
        <p:spPr>
          <a:xfrm>
            <a:off x="5076000" y="2666880"/>
            <a:ext cx="1426680" cy="838440"/>
          </a:xfrm>
          <a:prstGeom prst="rect">
            <a:avLst/>
          </a:prstGeom>
          <a:ln w="0">
            <a:noFill/>
          </a:ln>
        </p:spPr>
      </p:pic>
      <p:pic>
        <p:nvPicPr>
          <p:cNvPr id="137" name="" descr=""/>
          <p:cNvPicPr/>
          <p:nvPr/>
        </p:nvPicPr>
        <p:blipFill>
          <a:blip r:embed="rId3"/>
          <a:stretch/>
        </p:blipFill>
        <p:spPr>
          <a:xfrm>
            <a:off x="8022240" y="2666880"/>
            <a:ext cx="1426680" cy="838440"/>
          </a:xfrm>
          <a:prstGeom prst="rect">
            <a:avLst/>
          </a:prstGeom>
          <a:ln w="0">
            <a:noFill/>
          </a:ln>
        </p:spPr>
      </p:pic>
      <p:grpSp>
        <p:nvGrpSpPr>
          <p:cNvPr id="138" name=""/>
          <p:cNvGrpSpPr/>
          <p:nvPr/>
        </p:nvGrpSpPr>
        <p:grpSpPr>
          <a:xfrm>
            <a:off x="2031840" y="3581280"/>
            <a:ext cx="1015920" cy="761760"/>
            <a:chOff x="2031840" y="3581280"/>
            <a:chExt cx="1015920" cy="761760"/>
          </a:xfrm>
        </p:grpSpPr>
        <p:sp>
          <p:nvSpPr>
            <p:cNvPr id="139" name=""/>
            <p:cNvSpPr/>
            <p:nvPr/>
          </p:nvSpPr>
          <p:spPr>
            <a:xfrm>
              <a:off x="2031840" y="3581280"/>
              <a:ext cx="1015920" cy="761760"/>
            </a:xfrm>
            <a:prstGeom prst="ellipse">
              <a:avLst/>
            </a:prstGeom>
            <a:solidFill>
              <a:srgbClr val="4d4d4d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0" name=""/>
            <p:cNvSpPr/>
            <p:nvPr/>
          </p:nvSpPr>
          <p:spPr>
            <a:xfrm>
              <a:off x="2133360" y="3657240"/>
              <a:ext cx="812880" cy="609840"/>
            </a:xfrm>
            <a:prstGeom prst="ellipse">
              <a:avLst/>
            </a:prstGeom>
            <a:solidFill>
              <a:srgbClr val="868686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1" name=""/>
            <p:cNvSpPr/>
            <p:nvPr/>
          </p:nvSpPr>
          <p:spPr>
            <a:xfrm>
              <a:off x="2235240" y="3733560"/>
              <a:ext cx="609480" cy="457200"/>
            </a:xfrm>
            <a:prstGeom prst="ellipse">
              <a:avLst/>
            </a:prstGeom>
            <a:solidFill>
              <a:srgbClr val="cbcbcb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marL="216000" indent="-216000" algn="ctr">
                <a:buClr>
                  <a:srgbClr val="000000"/>
                </a:buClr>
                <a:buSzPct val="45000"/>
                <a:buFont typeface="Wingdings" charset="2"/>
                <a:buChar char=""/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600" spc="-1" strike="noStrike">
                  <a:solidFill>
                    <a:srgbClr val="000000"/>
                  </a:solidFill>
                  <a:latin typeface="Arial"/>
                </a:rPr>
                <a:t>m1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2" name=""/>
          <p:cNvGrpSpPr/>
          <p:nvPr/>
        </p:nvGrpSpPr>
        <p:grpSpPr>
          <a:xfrm>
            <a:off x="2031840" y="4419720"/>
            <a:ext cx="1015920" cy="761760"/>
            <a:chOff x="2031840" y="4419720"/>
            <a:chExt cx="1015920" cy="761760"/>
          </a:xfrm>
        </p:grpSpPr>
        <p:sp>
          <p:nvSpPr>
            <p:cNvPr id="143" name=""/>
            <p:cNvSpPr/>
            <p:nvPr/>
          </p:nvSpPr>
          <p:spPr>
            <a:xfrm>
              <a:off x="2031840" y="4419720"/>
              <a:ext cx="1015920" cy="761760"/>
            </a:xfrm>
            <a:prstGeom prst="ellipse">
              <a:avLst/>
            </a:prstGeom>
            <a:solidFill>
              <a:srgbClr val="4d4d4d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4" name=""/>
            <p:cNvSpPr/>
            <p:nvPr/>
          </p:nvSpPr>
          <p:spPr>
            <a:xfrm>
              <a:off x="2133360" y="4495680"/>
              <a:ext cx="812880" cy="609840"/>
            </a:xfrm>
            <a:prstGeom prst="ellipse">
              <a:avLst/>
            </a:prstGeom>
            <a:solidFill>
              <a:srgbClr val="868686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5" name=""/>
            <p:cNvSpPr/>
            <p:nvPr/>
          </p:nvSpPr>
          <p:spPr>
            <a:xfrm>
              <a:off x="2235240" y="4572000"/>
              <a:ext cx="609480" cy="457200"/>
            </a:xfrm>
            <a:prstGeom prst="ellipse">
              <a:avLst/>
            </a:prstGeom>
            <a:solidFill>
              <a:srgbClr val="cbcbcb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marL="216000" indent="-216000" algn="ctr">
                <a:buClr>
                  <a:srgbClr val="000000"/>
                </a:buClr>
                <a:buSzPct val="45000"/>
                <a:buFont typeface="Wingdings" charset="2"/>
                <a:buChar char=""/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600" spc="-1" strike="noStrike">
                  <a:solidFill>
                    <a:srgbClr val="000000"/>
                  </a:solidFill>
                  <a:latin typeface="Arial"/>
                </a:rPr>
                <a:t>m2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6" name=""/>
          <p:cNvGrpSpPr/>
          <p:nvPr/>
        </p:nvGrpSpPr>
        <p:grpSpPr>
          <a:xfrm>
            <a:off x="2031840" y="5257800"/>
            <a:ext cx="1015920" cy="761760"/>
            <a:chOff x="2031840" y="5257800"/>
            <a:chExt cx="1015920" cy="761760"/>
          </a:xfrm>
        </p:grpSpPr>
        <p:sp>
          <p:nvSpPr>
            <p:cNvPr id="147" name=""/>
            <p:cNvSpPr/>
            <p:nvPr/>
          </p:nvSpPr>
          <p:spPr>
            <a:xfrm>
              <a:off x="2031840" y="5257800"/>
              <a:ext cx="1015920" cy="761760"/>
            </a:xfrm>
            <a:prstGeom prst="ellipse">
              <a:avLst/>
            </a:prstGeom>
            <a:solidFill>
              <a:srgbClr val="4d4d4d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8" name=""/>
            <p:cNvSpPr/>
            <p:nvPr/>
          </p:nvSpPr>
          <p:spPr>
            <a:xfrm>
              <a:off x="2133360" y="5333760"/>
              <a:ext cx="812880" cy="609840"/>
            </a:xfrm>
            <a:prstGeom prst="ellipse">
              <a:avLst/>
            </a:prstGeom>
            <a:solidFill>
              <a:srgbClr val="868686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9" name=""/>
            <p:cNvSpPr/>
            <p:nvPr/>
          </p:nvSpPr>
          <p:spPr>
            <a:xfrm>
              <a:off x="2235240" y="5410080"/>
              <a:ext cx="609480" cy="457200"/>
            </a:xfrm>
            <a:prstGeom prst="ellipse">
              <a:avLst/>
            </a:prstGeom>
            <a:solidFill>
              <a:srgbClr val="cbcbcb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marL="216000" indent="-216000" algn="ctr">
                <a:buClr>
                  <a:srgbClr val="000000"/>
                </a:buClr>
                <a:buSzPct val="45000"/>
                <a:buFont typeface="Wingdings" charset="2"/>
                <a:buChar char=""/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600" spc="-1" strike="noStrike">
                  <a:solidFill>
                    <a:srgbClr val="000000"/>
                  </a:solidFill>
                  <a:latin typeface="Arial"/>
                </a:rPr>
                <a:t>m3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0" name=""/>
          <p:cNvGrpSpPr/>
          <p:nvPr/>
        </p:nvGrpSpPr>
        <p:grpSpPr>
          <a:xfrm>
            <a:off x="5283360" y="3657600"/>
            <a:ext cx="812520" cy="2286000"/>
            <a:chOff x="5283360" y="3657600"/>
            <a:chExt cx="812520" cy="2286000"/>
          </a:xfrm>
        </p:grpSpPr>
        <p:grpSp>
          <p:nvGrpSpPr>
            <p:cNvPr id="151" name=""/>
            <p:cNvGrpSpPr/>
            <p:nvPr/>
          </p:nvGrpSpPr>
          <p:grpSpPr>
            <a:xfrm>
              <a:off x="5283360" y="5334120"/>
              <a:ext cx="812520" cy="609480"/>
              <a:chOff x="5283360" y="5334120"/>
              <a:chExt cx="812520" cy="609480"/>
            </a:xfrm>
          </p:grpSpPr>
          <p:sp>
            <p:nvSpPr>
              <p:cNvPr id="152" name=""/>
              <p:cNvSpPr/>
              <p:nvPr/>
            </p:nvSpPr>
            <p:spPr>
              <a:xfrm>
                <a:off x="5283360" y="5334120"/>
                <a:ext cx="812520" cy="609480"/>
              </a:xfrm>
              <a:prstGeom prst="ellipse">
                <a:avLst/>
              </a:prstGeom>
              <a:solidFill>
                <a:srgbClr val="86868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US" sz="18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53" name=""/>
              <p:cNvSpPr/>
              <p:nvPr/>
            </p:nvSpPr>
            <p:spPr>
              <a:xfrm>
                <a:off x="5384520" y="5410080"/>
                <a:ext cx="609480" cy="456840"/>
              </a:xfrm>
              <a:prstGeom prst="ellipse">
                <a:avLst/>
              </a:prstGeom>
              <a:solidFill>
                <a:srgbClr val="cbcbcb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 marL="216000" indent="-216000" algn="ctr">
                  <a:buClr>
                    <a:srgbClr val="000000"/>
                  </a:buClr>
                  <a:buSzPct val="45000"/>
                  <a:buFont typeface="Wingdings" charset="2"/>
                  <a:buChar char=""/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1600" spc="-1" strike="noStrike">
                    <a:solidFill>
                      <a:srgbClr val="000000"/>
                    </a:solidFill>
                    <a:latin typeface="Arial"/>
                  </a:rPr>
                  <a:t>m1</a:t>
                </a:r>
                <a:endParaRPr b="0" lang="en-US" sz="16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154" name=""/>
            <p:cNvGrpSpPr/>
            <p:nvPr/>
          </p:nvGrpSpPr>
          <p:grpSpPr>
            <a:xfrm>
              <a:off x="5283360" y="4495680"/>
              <a:ext cx="812520" cy="609840"/>
              <a:chOff x="5283360" y="4495680"/>
              <a:chExt cx="812520" cy="609840"/>
            </a:xfrm>
          </p:grpSpPr>
          <p:sp>
            <p:nvSpPr>
              <p:cNvPr id="155" name=""/>
              <p:cNvSpPr/>
              <p:nvPr/>
            </p:nvSpPr>
            <p:spPr>
              <a:xfrm>
                <a:off x="5283360" y="4495680"/>
                <a:ext cx="812520" cy="609840"/>
              </a:xfrm>
              <a:prstGeom prst="ellipse">
                <a:avLst/>
              </a:prstGeom>
              <a:solidFill>
                <a:srgbClr val="86868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US" sz="18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56" name=""/>
              <p:cNvSpPr/>
              <p:nvPr/>
            </p:nvSpPr>
            <p:spPr>
              <a:xfrm>
                <a:off x="5384520" y="4572000"/>
                <a:ext cx="609480" cy="457200"/>
              </a:xfrm>
              <a:prstGeom prst="ellipse">
                <a:avLst/>
              </a:prstGeom>
              <a:solidFill>
                <a:srgbClr val="cbcbcb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 marL="216000" indent="-216000" algn="ctr">
                  <a:buClr>
                    <a:srgbClr val="000000"/>
                  </a:buClr>
                  <a:buSzPct val="45000"/>
                  <a:buFont typeface="Wingdings" charset="2"/>
                  <a:buChar char=""/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1600" spc="-1" strike="noStrike">
                    <a:solidFill>
                      <a:srgbClr val="000000"/>
                    </a:solidFill>
                    <a:latin typeface="Arial"/>
                  </a:rPr>
                  <a:t>m3</a:t>
                </a:r>
                <a:endParaRPr b="0" lang="en-US" sz="16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157" name=""/>
            <p:cNvGrpSpPr/>
            <p:nvPr/>
          </p:nvGrpSpPr>
          <p:grpSpPr>
            <a:xfrm>
              <a:off x="5283360" y="3657600"/>
              <a:ext cx="812520" cy="609480"/>
              <a:chOff x="5283360" y="3657600"/>
              <a:chExt cx="812520" cy="609480"/>
            </a:xfrm>
          </p:grpSpPr>
          <p:sp>
            <p:nvSpPr>
              <p:cNvPr id="158" name=""/>
              <p:cNvSpPr/>
              <p:nvPr/>
            </p:nvSpPr>
            <p:spPr>
              <a:xfrm>
                <a:off x="5283360" y="3657600"/>
                <a:ext cx="812520" cy="609480"/>
              </a:xfrm>
              <a:prstGeom prst="ellipse">
                <a:avLst/>
              </a:prstGeom>
              <a:solidFill>
                <a:srgbClr val="868686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US" sz="18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59" name=""/>
              <p:cNvSpPr/>
              <p:nvPr/>
            </p:nvSpPr>
            <p:spPr>
              <a:xfrm>
                <a:off x="5384520" y="3733560"/>
                <a:ext cx="609480" cy="456840"/>
              </a:xfrm>
              <a:prstGeom prst="ellipse">
                <a:avLst/>
              </a:prstGeom>
              <a:solidFill>
                <a:srgbClr val="cbcbcb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 marL="216000" indent="-216000" algn="ctr">
                  <a:buClr>
                    <a:srgbClr val="000000"/>
                  </a:buClr>
                  <a:buSzPct val="45000"/>
                  <a:buFont typeface="Wingdings" charset="2"/>
                  <a:buChar char=""/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1600" spc="-1" strike="noStrike">
                    <a:solidFill>
                      <a:srgbClr val="000000"/>
                    </a:solidFill>
                    <a:latin typeface="Arial"/>
                  </a:rPr>
                  <a:t>m2</a:t>
                </a:r>
                <a:endParaRPr b="0" lang="en-US" sz="16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grpSp>
        <p:nvGrpSpPr>
          <p:cNvPr id="160" name=""/>
          <p:cNvGrpSpPr/>
          <p:nvPr/>
        </p:nvGrpSpPr>
        <p:grpSpPr>
          <a:xfrm>
            <a:off x="8331120" y="3733920"/>
            <a:ext cx="609840" cy="2133360"/>
            <a:chOff x="8331120" y="3733920"/>
            <a:chExt cx="609840" cy="2133360"/>
          </a:xfrm>
        </p:grpSpPr>
        <p:sp>
          <p:nvSpPr>
            <p:cNvPr id="161" name=""/>
            <p:cNvSpPr/>
            <p:nvPr/>
          </p:nvSpPr>
          <p:spPr>
            <a:xfrm>
              <a:off x="8331120" y="5410080"/>
              <a:ext cx="609840" cy="457200"/>
            </a:xfrm>
            <a:prstGeom prst="ellipse">
              <a:avLst/>
            </a:prstGeom>
            <a:solidFill>
              <a:srgbClr val="cbcbcb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marL="216000" indent="-216000" algn="ctr">
                <a:buClr>
                  <a:srgbClr val="000000"/>
                </a:buClr>
                <a:buSzPct val="45000"/>
                <a:buFont typeface="Wingdings" charset="2"/>
                <a:buChar char=""/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600" spc="-1" strike="noStrike">
                  <a:solidFill>
                    <a:srgbClr val="000000"/>
                  </a:solidFill>
                  <a:latin typeface="Arial"/>
                </a:rPr>
                <a:t>m2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2" name=""/>
            <p:cNvSpPr/>
            <p:nvPr/>
          </p:nvSpPr>
          <p:spPr>
            <a:xfrm>
              <a:off x="8331120" y="3733920"/>
              <a:ext cx="609840" cy="457200"/>
            </a:xfrm>
            <a:prstGeom prst="ellipse">
              <a:avLst/>
            </a:prstGeom>
            <a:solidFill>
              <a:srgbClr val="cbcbcb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marL="216000" indent="-216000" algn="ctr">
                <a:buClr>
                  <a:srgbClr val="000000"/>
                </a:buClr>
                <a:buSzPct val="45000"/>
                <a:buFont typeface="Wingdings" charset="2"/>
                <a:buChar char=""/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600" spc="-1" strike="noStrike">
                  <a:solidFill>
                    <a:srgbClr val="000000"/>
                  </a:solidFill>
                  <a:latin typeface="Arial"/>
                </a:rPr>
                <a:t>m3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3" name=""/>
            <p:cNvSpPr/>
            <p:nvPr/>
          </p:nvSpPr>
          <p:spPr>
            <a:xfrm>
              <a:off x="8331120" y="4572000"/>
              <a:ext cx="609840" cy="457200"/>
            </a:xfrm>
            <a:prstGeom prst="ellipse">
              <a:avLst/>
            </a:prstGeom>
            <a:solidFill>
              <a:srgbClr val="cbcbcb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marL="216000" indent="-216000" algn="ctr">
                <a:buClr>
                  <a:srgbClr val="000000"/>
                </a:buClr>
                <a:buSzPct val="45000"/>
                <a:buFont typeface="Wingdings" charset="2"/>
                <a:buChar char=""/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600" spc="-1" strike="noStrike">
                  <a:solidFill>
                    <a:srgbClr val="000000"/>
                  </a:solidFill>
                  <a:latin typeface="Arial"/>
                </a:rPr>
                <a:t>m1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4" name=""/>
          <p:cNvGrpSpPr/>
          <p:nvPr/>
        </p:nvGrpSpPr>
        <p:grpSpPr>
          <a:xfrm>
            <a:off x="10789920" y="3795840"/>
            <a:ext cx="729360" cy="2002680"/>
            <a:chOff x="10789920" y="3795840"/>
            <a:chExt cx="729360" cy="2002680"/>
          </a:xfrm>
        </p:grpSpPr>
        <p:sp>
          <p:nvSpPr>
            <p:cNvPr id="165" name=""/>
            <p:cNvSpPr/>
            <p:nvPr/>
          </p:nvSpPr>
          <p:spPr>
            <a:xfrm>
              <a:off x="10829880" y="3795840"/>
              <a:ext cx="68940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 marL="216000" indent="-216000">
                <a:buClr>
                  <a:srgbClr val="000000"/>
                </a:buClr>
                <a:buSzPct val="45000"/>
                <a:buFont typeface="Wingdings" charset="2"/>
                <a:buChar char=""/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600" spc="-1" strike="noStrike">
                  <a:solidFill>
                    <a:srgbClr val="000000"/>
                  </a:solidFill>
                  <a:latin typeface="Arial"/>
                </a:rPr>
                <a:t>m2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6" name=""/>
            <p:cNvSpPr/>
            <p:nvPr/>
          </p:nvSpPr>
          <p:spPr>
            <a:xfrm>
              <a:off x="10829880" y="4622760"/>
              <a:ext cx="68940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 marL="216000" indent="-216000">
                <a:buClr>
                  <a:srgbClr val="000000"/>
                </a:buClr>
                <a:buSzPct val="45000"/>
                <a:buFont typeface="Wingdings" charset="2"/>
                <a:buChar char=""/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600" spc="-1" strike="noStrike">
                  <a:solidFill>
                    <a:srgbClr val="000000"/>
                  </a:solidFill>
                  <a:latin typeface="Arial"/>
                </a:rPr>
                <a:t>m1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7" name=""/>
            <p:cNvSpPr/>
            <p:nvPr/>
          </p:nvSpPr>
          <p:spPr>
            <a:xfrm>
              <a:off x="10789920" y="5460840"/>
              <a:ext cx="68940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 marL="216000" indent="-216000">
                <a:buClr>
                  <a:srgbClr val="000000"/>
                </a:buClr>
                <a:buSzPct val="45000"/>
                <a:buFont typeface="Wingdings" charset="2"/>
                <a:buChar char=""/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600" spc="-1" strike="noStrike">
                  <a:solidFill>
                    <a:srgbClr val="000000"/>
                  </a:solidFill>
                  <a:latin typeface="Arial"/>
                </a:rPr>
                <a:t>m3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8" name=""/>
          <p:cNvGrpSpPr/>
          <p:nvPr/>
        </p:nvGrpSpPr>
        <p:grpSpPr>
          <a:xfrm>
            <a:off x="3313440" y="3990960"/>
            <a:ext cx="1665000" cy="1114560"/>
            <a:chOff x="3313440" y="3990960"/>
            <a:chExt cx="1665000" cy="1114560"/>
          </a:xfrm>
        </p:grpSpPr>
        <p:sp>
          <p:nvSpPr>
            <p:cNvPr id="169" name=""/>
            <p:cNvSpPr/>
            <p:nvPr/>
          </p:nvSpPr>
          <p:spPr>
            <a:xfrm>
              <a:off x="3352680" y="4495680"/>
              <a:ext cx="1625760" cy="609840"/>
            </a:xfrm>
            <a:prstGeom prst="rightArrow">
              <a:avLst>
                <a:gd name="adj1" fmla="val 50000"/>
                <a:gd name="adj2" fmla="val 66647"/>
              </a:avLst>
            </a:prstGeom>
            <a:solidFill>
              <a:srgbClr val="cbcbcb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0" name=""/>
            <p:cNvSpPr/>
            <p:nvPr/>
          </p:nvSpPr>
          <p:spPr>
            <a:xfrm>
              <a:off x="3313440" y="3990960"/>
              <a:ext cx="1341720" cy="581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 marL="216000" indent="-216000">
                <a:buClr>
                  <a:srgbClr val="000000"/>
                </a:buClr>
                <a:buSzPct val="45000"/>
                <a:buFont typeface="Wingdings" charset="2"/>
                <a:buChar char=""/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600" spc="-1" strike="noStrike">
                  <a:solidFill>
                    <a:srgbClr val="000000"/>
                  </a:solidFill>
                  <a:latin typeface="Arial"/>
                </a:rPr>
                <a:t>Decrypt &amp; 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  <a:p>
              <a:pPr marL="216000" indent="-216000">
                <a:buClr>
                  <a:srgbClr val="000000"/>
                </a:buClr>
                <a:buSzPct val="45000"/>
                <a:buFont typeface="Wingdings" charset="2"/>
                <a:buChar char=""/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600" spc="-1" strike="noStrike">
                  <a:solidFill>
                    <a:srgbClr val="000000"/>
                  </a:solidFill>
                  <a:latin typeface="Arial"/>
                </a:rPr>
                <a:t>Permute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1" name=""/>
          <p:cNvGrpSpPr/>
          <p:nvPr/>
        </p:nvGrpSpPr>
        <p:grpSpPr>
          <a:xfrm>
            <a:off x="6361560" y="3962520"/>
            <a:ext cx="1665000" cy="1114200"/>
            <a:chOff x="6361560" y="3962520"/>
            <a:chExt cx="1665000" cy="1114200"/>
          </a:xfrm>
        </p:grpSpPr>
        <p:sp>
          <p:nvSpPr>
            <p:cNvPr id="172" name=""/>
            <p:cNvSpPr/>
            <p:nvPr/>
          </p:nvSpPr>
          <p:spPr>
            <a:xfrm>
              <a:off x="6400800" y="4467240"/>
              <a:ext cx="1625760" cy="609480"/>
            </a:xfrm>
            <a:prstGeom prst="rightArrow">
              <a:avLst>
                <a:gd name="adj1" fmla="val 50000"/>
                <a:gd name="adj2" fmla="val 66686"/>
              </a:avLst>
            </a:prstGeom>
            <a:solidFill>
              <a:srgbClr val="cbcbcb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3" name=""/>
            <p:cNvSpPr/>
            <p:nvPr/>
          </p:nvSpPr>
          <p:spPr>
            <a:xfrm>
              <a:off x="6361560" y="3962520"/>
              <a:ext cx="1341720" cy="581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 marL="216000" indent="-216000">
                <a:buClr>
                  <a:srgbClr val="000000"/>
                </a:buClr>
                <a:buSzPct val="45000"/>
                <a:buFont typeface="Wingdings" charset="2"/>
                <a:buChar char=""/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600" spc="-1" strike="noStrike">
                  <a:solidFill>
                    <a:srgbClr val="000000"/>
                  </a:solidFill>
                  <a:latin typeface="Arial"/>
                </a:rPr>
                <a:t>Decrypt &amp; 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  <a:p>
              <a:pPr marL="216000" indent="-216000">
                <a:buClr>
                  <a:srgbClr val="000000"/>
                </a:buClr>
                <a:buSzPct val="45000"/>
                <a:buFont typeface="Wingdings" charset="2"/>
                <a:buChar char=""/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600" spc="-1" strike="noStrike">
                  <a:solidFill>
                    <a:srgbClr val="000000"/>
                  </a:solidFill>
                  <a:latin typeface="Arial"/>
                </a:rPr>
                <a:t>Permute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4" name=""/>
          <p:cNvGrpSpPr/>
          <p:nvPr/>
        </p:nvGrpSpPr>
        <p:grpSpPr>
          <a:xfrm>
            <a:off x="9105120" y="3962520"/>
            <a:ext cx="1664640" cy="1114200"/>
            <a:chOff x="9105120" y="3962520"/>
            <a:chExt cx="1664640" cy="1114200"/>
          </a:xfrm>
        </p:grpSpPr>
        <p:sp>
          <p:nvSpPr>
            <p:cNvPr id="175" name=""/>
            <p:cNvSpPr/>
            <p:nvPr/>
          </p:nvSpPr>
          <p:spPr>
            <a:xfrm>
              <a:off x="9144000" y="4467240"/>
              <a:ext cx="1625760" cy="609480"/>
            </a:xfrm>
            <a:prstGeom prst="rightArrow">
              <a:avLst>
                <a:gd name="adj1" fmla="val 50000"/>
                <a:gd name="adj2" fmla="val 66686"/>
              </a:avLst>
            </a:prstGeom>
            <a:solidFill>
              <a:srgbClr val="cbcbcb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6" name=""/>
            <p:cNvSpPr/>
            <p:nvPr/>
          </p:nvSpPr>
          <p:spPr>
            <a:xfrm>
              <a:off x="9105120" y="3962520"/>
              <a:ext cx="1341720" cy="581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 marL="216000" indent="-216000">
                <a:buClr>
                  <a:srgbClr val="000000"/>
                </a:buClr>
                <a:buSzPct val="45000"/>
                <a:buFont typeface="Wingdings" charset="2"/>
                <a:buChar char=""/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600" spc="-1" strike="noStrike">
                  <a:solidFill>
                    <a:srgbClr val="000000"/>
                  </a:solidFill>
                  <a:latin typeface="Arial"/>
                </a:rPr>
                <a:t>Decrypt &amp; 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  <a:p>
              <a:pPr marL="216000" indent="-216000">
                <a:buClr>
                  <a:srgbClr val="000000"/>
                </a:buClr>
                <a:buSzPct val="45000"/>
                <a:buFont typeface="Wingdings" charset="2"/>
                <a:buChar char=""/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600" spc="-1" strike="noStrike">
                  <a:solidFill>
                    <a:srgbClr val="000000"/>
                  </a:solidFill>
                  <a:latin typeface="Arial"/>
                </a:rPr>
                <a:t>Permute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77" name=""/>
          <p:cNvSpPr/>
          <p:nvPr/>
        </p:nvSpPr>
        <p:spPr>
          <a:xfrm>
            <a:off x="1992960" y="2224080"/>
            <a:ext cx="1043280" cy="368280"/>
          </a:xfrm>
          <a:prstGeom prst="rect">
            <a:avLst/>
          </a:prstGeom>
          <a:solidFill>
            <a:srgbClr val="4d4d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Server 1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5142600" y="2209680"/>
            <a:ext cx="1043280" cy="368280"/>
          </a:xfrm>
          <a:prstGeom prst="rect">
            <a:avLst/>
          </a:prstGeom>
          <a:solidFill>
            <a:srgbClr val="8686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Server 2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8088840" y="2224080"/>
            <a:ext cx="1043280" cy="368280"/>
          </a:xfrm>
          <a:prstGeom prst="rect">
            <a:avLst/>
          </a:prstGeom>
          <a:solidFill>
            <a:srgbClr val="b2b2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Server 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2262600" y="6058080"/>
            <a:ext cx="347364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Ciphertext = E</a:t>
            </a:r>
            <a:r>
              <a:rPr b="0" lang="en-US" sz="1800" spc="-1" strike="noStrike" baseline="-25000">
                <a:solidFill>
                  <a:srgbClr val="000000"/>
                </a:solidFill>
                <a:latin typeface="Arial"/>
              </a:rPr>
              <a:t>PK1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[E</a:t>
            </a:r>
            <a:r>
              <a:rPr b="0" lang="en-US" sz="1800" spc="-1" strike="noStrike" baseline="-25000">
                <a:solidFill>
                  <a:srgbClr val="000000"/>
                </a:solidFill>
                <a:latin typeface="Arial"/>
              </a:rPr>
              <a:t>PK2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[E</a:t>
            </a:r>
            <a:r>
              <a:rPr b="0" lang="en-US" sz="1800" spc="-1" strike="noStrike" baseline="-25000">
                <a:solidFill>
                  <a:srgbClr val="000000"/>
                </a:solidFill>
                <a:latin typeface="Arial"/>
              </a:rPr>
              <a:t>PK3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[m]]]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3" dur="indefinite" restart="never" nodeType="tmRoot">
          <p:childTnLst>
            <p:seq>
              <p:cTn id="74" dur="indefinite" nodeType="mainSeq">
                <p:childTnLst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9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84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89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4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9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04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96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Definitions 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 type="subTitle"/>
          </p:nvPr>
        </p:nvSpPr>
        <p:spPr>
          <a:xfrm>
            <a:off x="1828800" y="3886200"/>
            <a:ext cx="853416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chemeClr val="dk1">
                  <a:tint val="75000"/>
                </a:schemeClr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07F11578-5E4C-4C0C-BDFB-A9C501CA01E9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Types of Anonymity 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Sender anonymity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Receiver anonymity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Sender-Receiver anonymity 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56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A1164722-2E1B-4CE9-A358-9AED268154D9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Properties 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Unlinkability: the inability of link two or more items of interests to break anonymity, like packets, events, people, actions, etc.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Unobservability: items of interest are indistinguishable from all other items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ED3D8714-7BB6-4A9A-9547-3C5CDB94F581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Quantifying Anonymity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/>
          </p:nvPr>
        </p:nvSpPr>
        <p:spPr>
          <a:xfrm>
            <a:off x="203040" y="1600200"/>
            <a:ext cx="11784960" cy="1265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How can we calculate how anonymous we are?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Anonymity Sets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9" name="Content Placeholder 14"/>
          <p:cNvSpPr/>
          <p:nvPr/>
        </p:nvSpPr>
        <p:spPr>
          <a:xfrm>
            <a:off x="224640" y="6155280"/>
            <a:ext cx="11784960" cy="61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320040" indent="-320040" defTabSz="457200">
              <a:lnSpc>
                <a:spcPct val="100000"/>
              </a:lnSpc>
              <a:spcBef>
                <a:spcPts val="700"/>
              </a:spcBef>
              <a:buClr>
                <a:srgbClr val="c0504d"/>
              </a:buClr>
              <a:buSzPct val="60000"/>
              <a:buFont typeface="Wingdings" charset="2"/>
              <a:buChar char=""/>
            </a:pPr>
            <a:r>
              <a:rPr b="0" lang="en-US" sz="2900" spc="-1" strike="noStrike">
                <a:solidFill>
                  <a:schemeClr val="dk1"/>
                </a:solidFill>
                <a:latin typeface="Calibri"/>
              </a:rPr>
              <a:t>Larger anonymity set = stronger anonymity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0" name="Picture 2" descr="D:\Classes\5700\assets\devil-icon.png"/>
          <p:cNvPicPr/>
          <p:nvPr/>
        </p:nvPicPr>
        <p:blipFill>
          <a:blip r:embed="rId1"/>
          <a:stretch/>
        </p:blipFill>
        <p:spPr>
          <a:xfrm>
            <a:off x="4440960" y="4808160"/>
            <a:ext cx="1767960" cy="1325880"/>
          </a:xfrm>
          <a:prstGeom prst="rect">
            <a:avLst/>
          </a:prstGeom>
          <a:ln w="0">
            <a:noFill/>
          </a:ln>
        </p:spPr>
      </p:pic>
      <p:pic>
        <p:nvPicPr>
          <p:cNvPr id="191" name="Picture 3" descr="D:\Classes\5700\assets\Email-01.png"/>
          <p:cNvPicPr/>
          <p:nvPr/>
        </p:nvPicPr>
        <p:blipFill>
          <a:blip r:embed="rId2"/>
          <a:stretch/>
        </p:blipFill>
        <p:spPr>
          <a:xfrm>
            <a:off x="3175920" y="5037120"/>
            <a:ext cx="1183680" cy="887760"/>
          </a:xfrm>
          <a:prstGeom prst="rect">
            <a:avLst/>
          </a:prstGeom>
          <a:ln w="0">
            <a:noFill/>
          </a:ln>
        </p:spPr>
      </p:pic>
      <p:grpSp>
        <p:nvGrpSpPr>
          <p:cNvPr id="192" name="Group 2"/>
          <p:cNvGrpSpPr/>
          <p:nvPr/>
        </p:nvGrpSpPr>
        <p:grpSpPr>
          <a:xfrm>
            <a:off x="6601320" y="4970880"/>
            <a:ext cx="3588120" cy="953640"/>
            <a:chOff x="6601320" y="4970880"/>
            <a:chExt cx="3588120" cy="953640"/>
          </a:xfrm>
        </p:grpSpPr>
        <p:sp>
          <p:nvSpPr>
            <p:cNvPr id="193" name="Rectangular Callout 2"/>
            <p:cNvSpPr/>
            <p:nvPr/>
          </p:nvSpPr>
          <p:spPr>
            <a:xfrm flipH="1">
              <a:off x="6600960" y="4970880"/>
              <a:ext cx="3588120" cy="953640"/>
            </a:xfrm>
            <a:prstGeom prst="wedgeRectCallout">
              <a:avLst>
                <a:gd name="adj1" fmla="val 62523"/>
                <a:gd name="adj2" fmla="val -6243"/>
              </a:avLst>
            </a:prstGeom>
            <a:solidFill>
              <a:srgbClr val="da1f28"/>
            </a:solidFill>
            <a:ln w="38100">
              <a:solidFill>
                <a:srgbClr val="6d101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Tw Cen MT"/>
              </a:endParaRPr>
            </a:p>
          </p:txBody>
        </p:sp>
        <p:sp>
          <p:nvSpPr>
            <p:cNvPr id="194" name="TextBox 3"/>
            <p:cNvSpPr/>
            <p:nvPr/>
          </p:nvSpPr>
          <p:spPr>
            <a:xfrm flipH="1">
              <a:off x="6600960" y="4970880"/>
              <a:ext cx="3588120" cy="943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2800" spc="-1" strike="noStrike">
                  <a:solidFill>
                    <a:srgbClr val="ffffff"/>
                  </a:solidFill>
                  <a:latin typeface="Calibri"/>
                </a:rPr>
                <a:t>Who sent this message?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95" name="Rounded Rectangle 2"/>
          <p:cNvSpPr/>
          <p:nvPr/>
        </p:nvSpPr>
        <p:spPr>
          <a:xfrm>
            <a:off x="224640" y="2729520"/>
            <a:ext cx="11784960" cy="185580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6" name="TextBox 4"/>
          <p:cNvSpPr/>
          <p:nvPr/>
        </p:nvSpPr>
        <p:spPr>
          <a:xfrm>
            <a:off x="4457160" y="2729520"/>
            <a:ext cx="33188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Suspects (Anonymity Set)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7" name="Picture 4" descr="D:\Classes\5700\assets\User Coat Red-01.png"/>
          <p:cNvPicPr/>
          <p:nvPr/>
        </p:nvPicPr>
        <p:blipFill>
          <a:blip r:embed="rId3"/>
          <a:stretch/>
        </p:blipFill>
        <p:spPr>
          <a:xfrm>
            <a:off x="2288160" y="2856240"/>
            <a:ext cx="1344600" cy="1008360"/>
          </a:xfrm>
          <a:prstGeom prst="rect">
            <a:avLst/>
          </a:prstGeom>
          <a:ln w="0">
            <a:noFill/>
          </a:ln>
        </p:spPr>
      </p:pic>
      <p:pic>
        <p:nvPicPr>
          <p:cNvPr id="198" name="Picture 5" descr="D:\Pictures\soft-scraps icons\User Coat Green-01.png"/>
          <p:cNvPicPr/>
          <p:nvPr/>
        </p:nvPicPr>
        <p:blipFill>
          <a:blip r:embed="rId4"/>
          <a:stretch/>
        </p:blipFill>
        <p:spPr>
          <a:xfrm>
            <a:off x="450720" y="2960280"/>
            <a:ext cx="1344600" cy="1008360"/>
          </a:xfrm>
          <a:prstGeom prst="rect">
            <a:avLst/>
          </a:prstGeom>
          <a:ln w="0">
            <a:noFill/>
          </a:ln>
        </p:spPr>
      </p:pic>
      <p:pic>
        <p:nvPicPr>
          <p:cNvPr id="199" name="Picture 6" descr="D:\Pictures\soft-scraps icons\User Administrator Green-01.png"/>
          <p:cNvPicPr/>
          <p:nvPr/>
        </p:nvPicPr>
        <p:blipFill>
          <a:blip r:embed="rId5"/>
          <a:stretch/>
        </p:blipFill>
        <p:spPr>
          <a:xfrm>
            <a:off x="9068400" y="2856240"/>
            <a:ext cx="1344600" cy="1008360"/>
          </a:xfrm>
          <a:prstGeom prst="rect">
            <a:avLst/>
          </a:prstGeom>
          <a:ln w="0">
            <a:noFill/>
          </a:ln>
        </p:spPr>
      </p:pic>
      <p:pic>
        <p:nvPicPr>
          <p:cNvPr id="200" name="Picture 7" descr="D:\Pictures\soft-scraps icons\User Executive Green-01.png"/>
          <p:cNvPicPr/>
          <p:nvPr/>
        </p:nvPicPr>
        <p:blipFill>
          <a:blip r:embed="rId6"/>
          <a:stretch/>
        </p:blipFill>
        <p:spPr>
          <a:xfrm>
            <a:off x="5582160" y="3124080"/>
            <a:ext cx="1344600" cy="1008360"/>
          </a:xfrm>
          <a:prstGeom prst="rect">
            <a:avLst/>
          </a:prstGeom>
          <a:ln w="0">
            <a:noFill/>
          </a:ln>
        </p:spPr>
      </p:pic>
      <p:pic>
        <p:nvPicPr>
          <p:cNvPr id="201" name="Picture 8" descr="D:\Pictures\soft-scraps icons\User Executive Red-01.png"/>
          <p:cNvPicPr/>
          <p:nvPr/>
        </p:nvPicPr>
        <p:blipFill>
          <a:blip r:embed="rId7"/>
          <a:stretch/>
        </p:blipFill>
        <p:spPr>
          <a:xfrm>
            <a:off x="4050720" y="3124080"/>
            <a:ext cx="1344600" cy="1008360"/>
          </a:xfrm>
          <a:prstGeom prst="rect">
            <a:avLst/>
          </a:prstGeom>
          <a:ln w="0">
            <a:noFill/>
          </a:ln>
        </p:spPr>
      </p:pic>
      <p:pic>
        <p:nvPicPr>
          <p:cNvPr id="202" name="Picture 9" descr="D:\Pictures\soft-scraps icons\User Preppy Blue-01.png"/>
          <p:cNvPicPr/>
          <p:nvPr/>
        </p:nvPicPr>
        <p:blipFill>
          <a:blip r:embed="rId8"/>
          <a:stretch/>
        </p:blipFill>
        <p:spPr>
          <a:xfrm>
            <a:off x="7498800" y="3124080"/>
            <a:ext cx="1344600" cy="1008360"/>
          </a:xfrm>
          <a:prstGeom prst="rect">
            <a:avLst/>
          </a:prstGeom>
          <a:ln w="0">
            <a:noFill/>
          </a:ln>
        </p:spPr>
      </p:pic>
      <p:pic>
        <p:nvPicPr>
          <p:cNvPr id="203" name="Picture 10" descr="D:\Pictures\soft-scraps icons\User Preppy Green-01.png"/>
          <p:cNvPicPr/>
          <p:nvPr/>
        </p:nvPicPr>
        <p:blipFill>
          <a:blip r:embed="rId9"/>
          <a:stretch/>
        </p:blipFill>
        <p:spPr>
          <a:xfrm>
            <a:off x="3095280" y="3465000"/>
            <a:ext cx="1344600" cy="1008360"/>
          </a:xfrm>
          <a:prstGeom prst="rect">
            <a:avLst/>
          </a:prstGeom>
          <a:ln w="0">
            <a:noFill/>
          </a:ln>
        </p:spPr>
      </p:pic>
      <p:pic>
        <p:nvPicPr>
          <p:cNvPr id="204" name="Picture 11" descr="D:\Pictures\soft-scraps icons\User Preppy Red-01.png"/>
          <p:cNvPicPr/>
          <p:nvPr/>
        </p:nvPicPr>
        <p:blipFill>
          <a:blip r:embed="rId10"/>
          <a:stretch/>
        </p:blipFill>
        <p:spPr>
          <a:xfrm>
            <a:off x="4827600" y="3465000"/>
            <a:ext cx="1344600" cy="1008360"/>
          </a:xfrm>
          <a:prstGeom prst="rect">
            <a:avLst/>
          </a:prstGeom>
          <a:ln w="0">
            <a:noFill/>
          </a:ln>
        </p:spPr>
      </p:pic>
      <p:pic>
        <p:nvPicPr>
          <p:cNvPr id="205" name="Picture 12" descr="D:\Classes\5700\assets\User Coat Blue-01.png"/>
          <p:cNvPicPr/>
          <p:nvPr/>
        </p:nvPicPr>
        <p:blipFill>
          <a:blip r:embed="rId11"/>
          <a:stretch/>
        </p:blipFill>
        <p:spPr>
          <a:xfrm>
            <a:off x="1438560" y="3465000"/>
            <a:ext cx="1344600" cy="1008360"/>
          </a:xfrm>
          <a:prstGeom prst="rect">
            <a:avLst/>
          </a:prstGeom>
          <a:ln w="0">
            <a:noFill/>
          </a:ln>
        </p:spPr>
      </p:pic>
      <p:pic>
        <p:nvPicPr>
          <p:cNvPr id="206" name="Picture 13" descr="D:\Pictures\soft-scraps icons\User Executive Blue-01.png"/>
          <p:cNvPicPr/>
          <p:nvPr/>
        </p:nvPicPr>
        <p:blipFill>
          <a:blip r:embed="rId12"/>
          <a:stretch/>
        </p:blipFill>
        <p:spPr>
          <a:xfrm>
            <a:off x="6601680" y="3465000"/>
            <a:ext cx="1344600" cy="1008360"/>
          </a:xfrm>
          <a:prstGeom prst="rect">
            <a:avLst/>
          </a:prstGeom>
          <a:ln w="0">
            <a:noFill/>
          </a:ln>
        </p:spPr>
      </p:pic>
      <p:pic>
        <p:nvPicPr>
          <p:cNvPr id="207" name="Picture 14" descr="D:\Pictures\soft-scraps icons\User Administrator Red-01.png"/>
          <p:cNvPicPr/>
          <p:nvPr/>
        </p:nvPicPr>
        <p:blipFill>
          <a:blip r:embed="rId13"/>
          <a:stretch/>
        </p:blipFill>
        <p:spPr>
          <a:xfrm>
            <a:off x="8395920" y="3465000"/>
            <a:ext cx="1344600" cy="1008360"/>
          </a:xfrm>
          <a:prstGeom prst="rect">
            <a:avLst/>
          </a:prstGeom>
          <a:ln w="0">
            <a:noFill/>
          </a:ln>
        </p:spPr>
      </p:pic>
      <p:pic>
        <p:nvPicPr>
          <p:cNvPr id="208" name="Picture 15" descr="D:\Pictures\soft-scraps icons\User Administrator Blue-01.png"/>
          <p:cNvPicPr/>
          <p:nvPr/>
        </p:nvPicPr>
        <p:blipFill>
          <a:blip r:embed="rId14"/>
          <a:stretch/>
        </p:blipFill>
        <p:spPr>
          <a:xfrm>
            <a:off x="9992160" y="3465000"/>
            <a:ext cx="1344600" cy="100836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87156BD2-D903-4377-89EF-E0A256D365DD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5" dur="indefinite" restart="never" nodeType="tmRoot">
          <p:childTnLst>
            <p:seq>
              <p:cTn id="106" dur="indefinite" nodeType="mainSeq">
                <p:childTnLst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1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12" dur="5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3" dur="5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6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17" dur="5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8" dur="5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1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22" dur="5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3" dur="5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8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29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0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3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4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5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8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9"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0"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3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44" dur="5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5" dur="5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50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53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58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61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64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67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72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75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78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81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6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87" dur="5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8" dur="5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Picture 1" descr="D:\Classes\5700\assets\crowd.jp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96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Anonymity Systems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 type="subTitle"/>
          </p:nvPr>
        </p:nvSpPr>
        <p:spPr>
          <a:xfrm>
            <a:off x="1828800" y="3886200"/>
            <a:ext cx="853416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chemeClr val="dk1">
                  <a:tint val="75000"/>
                </a:schemeClr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16B8D427-9160-450E-B6FA-CD6860350BBE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Crypto (SSL)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13" name="Picture 16" descr="D:\Pictures\soft-scraps icons\User Coat Green-01.png"/>
          <p:cNvPicPr/>
          <p:nvPr/>
        </p:nvPicPr>
        <p:blipFill>
          <a:blip r:embed="rId1"/>
          <a:stretch/>
        </p:blipFill>
        <p:spPr>
          <a:xfrm>
            <a:off x="250560" y="2064960"/>
            <a:ext cx="1344600" cy="1008360"/>
          </a:xfrm>
          <a:prstGeom prst="rect">
            <a:avLst/>
          </a:prstGeom>
          <a:ln w="0">
            <a:noFill/>
          </a:ln>
        </p:spPr>
      </p:pic>
      <p:pic>
        <p:nvPicPr>
          <p:cNvPr id="214" name="Picture 17" descr="D:\Classes\5700\assets\wlogo.png"/>
          <p:cNvPicPr/>
          <p:nvPr/>
        </p:nvPicPr>
        <p:blipFill>
          <a:blip r:embed="rId2"/>
          <a:stretch/>
        </p:blipFill>
        <p:spPr>
          <a:xfrm>
            <a:off x="10708560" y="1554840"/>
            <a:ext cx="1173600" cy="2028240"/>
          </a:xfrm>
          <a:prstGeom prst="rect">
            <a:avLst/>
          </a:prstGeom>
          <a:ln w="0">
            <a:noFill/>
          </a:ln>
        </p:spPr>
      </p:pic>
      <p:sp>
        <p:nvSpPr>
          <p:cNvPr id="215" name="Left-Right Arrow 3"/>
          <p:cNvSpPr/>
          <p:nvPr/>
        </p:nvSpPr>
        <p:spPr>
          <a:xfrm>
            <a:off x="1964880" y="1784520"/>
            <a:ext cx="8515800" cy="1504080"/>
          </a:xfrm>
          <a:prstGeom prst="leftRightArrow">
            <a:avLst>
              <a:gd name="adj1" fmla="val 50000"/>
              <a:gd name="adj2" fmla="val 57257"/>
            </a:avLst>
          </a:prstGeom>
          <a:solidFill>
            <a:schemeClr val="tx2"/>
          </a:solidFill>
          <a:ln>
            <a:solidFill>
              <a:srgbClr val="1f497d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6" name="Left-Right Arrow 4"/>
          <p:cNvSpPr/>
          <p:nvPr/>
        </p:nvSpPr>
        <p:spPr>
          <a:xfrm>
            <a:off x="2329200" y="2123280"/>
            <a:ext cx="7733520" cy="85248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lt1"/>
                </a:solidFill>
                <a:latin typeface="Calibri"/>
              </a:rPr>
              <a:t>Data Traffic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7" name="Picture 18" descr="D:\Classes\5700\assets\devil-icon.png"/>
          <p:cNvPicPr/>
          <p:nvPr/>
        </p:nvPicPr>
        <p:blipFill>
          <a:blip r:embed="rId3"/>
          <a:stretch/>
        </p:blipFill>
        <p:spPr>
          <a:xfrm>
            <a:off x="3957480" y="4256640"/>
            <a:ext cx="1767960" cy="1325880"/>
          </a:xfrm>
          <a:prstGeom prst="rect">
            <a:avLst/>
          </a:prstGeom>
          <a:ln w="0">
            <a:noFill/>
          </a:ln>
        </p:spPr>
      </p:pic>
      <p:pic>
        <p:nvPicPr>
          <p:cNvPr id="218" name="Picture 19" descr="D:\Pictures\soft-scraps icons\Lock Lock-01.png"/>
          <p:cNvPicPr/>
          <p:nvPr/>
        </p:nvPicPr>
        <p:blipFill>
          <a:blip r:embed="rId4"/>
          <a:stretch/>
        </p:blipFill>
        <p:spPr>
          <a:xfrm rot="1561200">
            <a:off x="2844000" y="2637000"/>
            <a:ext cx="1009440" cy="870480"/>
          </a:xfrm>
          <a:prstGeom prst="rect">
            <a:avLst/>
          </a:prstGeom>
          <a:ln w="0">
            <a:noFill/>
          </a:ln>
        </p:spPr>
      </p:pic>
      <p:sp>
        <p:nvSpPr>
          <p:cNvPr id="219" name="Pentagon 2"/>
          <p:cNvSpPr/>
          <p:nvPr/>
        </p:nvSpPr>
        <p:spPr>
          <a:xfrm rot="5400000">
            <a:off x="3576960" y="2829960"/>
            <a:ext cx="2374200" cy="283320"/>
          </a:xfrm>
          <a:prstGeom prst="homePlate">
            <a:avLst>
              <a:gd name="adj" fmla="val 50000"/>
            </a:avLst>
          </a:prstGeom>
          <a:solidFill>
            <a:schemeClr val="accent2"/>
          </a:solidFill>
          <a:ln w="38100">
            <a:solidFill>
              <a:srgbClr val="c0504d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/>
          </p:nvPr>
        </p:nvSpPr>
        <p:spPr>
          <a:xfrm>
            <a:off x="5725800" y="3684960"/>
            <a:ext cx="6244560" cy="2647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Content is unobservable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Due to encryption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Source and destination are trivially linkable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4f81bd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accent1"/>
                </a:solidFill>
                <a:latin typeface="Calibri"/>
              </a:rPr>
              <a:t>No anonymity!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353E0378-CCE9-4C9A-81C3-727441562D45}" type="slidenum">
              <a:t>18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89" dur="indefinite" restart="never" nodeType="tmRoot">
          <p:childTnLst>
            <p:seq>
              <p:cTn id="190" dur="indefinite" nodeType="mainSeq">
                <p:childTnLst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195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200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500"/>
                            </p:stCondLst>
                            <p:childTnLst>
                              <p:par>
                                <p:cTn id="202" nodeType="after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4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05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6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1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12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3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4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6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17" dur="5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8" dur="5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3" dur="500"/>
                                        <p:tgtEl>
                                          <p:spTgt spid="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24" dur="500" fill="hold"/>
                                        <p:tgtEl>
                                          <p:spTgt spid="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5" dur="500" fill="hold"/>
                                        <p:tgtEl>
                                          <p:spTgt spid="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6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8" dur="500"/>
                                        <p:tgtEl>
                                          <p:spTgt spid="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29" dur="500" fill="hold"/>
                                        <p:tgtEl>
                                          <p:spTgt spid="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30" dur="500" fill="hold"/>
                                        <p:tgtEl>
                                          <p:spTgt spid="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1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3" dur="500"/>
                                        <p:tgtEl>
                                          <p:spTgt spid="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34" dur="500" fill="hold"/>
                                        <p:tgtEl>
                                          <p:spTgt spid="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35" dur="500" fill="hold"/>
                                        <p:tgtEl>
                                          <p:spTgt spid="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8" dur="500"/>
                                        <p:tgtEl>
                                          <p:spTgt spid="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39" dur="500" fill="hold"/>
                                        <p:tgtEl>
                                          <p:spTgt spid="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0" dur="500" fill="hold"/>
                                        <p:tgtEl>
                                          <p:spTgt spid="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Anonymizing Proxies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/>
          </p:nvPr>
        </p:nvSpPr>
        <p:spPr>
          <a:xfrm>
            <a:off x="29520" y="4903920"/>
            <a:ext cx="3277800" cy="180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Source is known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4f81bd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accent1"/>
                </a:solidFill>
                <a:latin typeface="Calibri"/>
              </a:rPr>
              <a:t>Destination anonymity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23" name="Picture 20" descr="D:\Pictures\soft-scraps icons\User Coat Green-01.png"/>
          <p:cNvPicPr/>
          <p:nvPr/>
        </p:nvPicPr>
        <p:blipFill>
          <a:blip r:embed="rId1"/>
          <a:stretch/>
        </p:blipFill>
        <p:spPr>
          <a:xfrm>
            <a:off x="250560" y="1611000"/>
            <a:ext cx="1131840" cy="848880"/>
          </a:xfrm>
          <a:prstGeom prst="rect">
            <a:avLst/>
          </a:prstGeom>
          <a:ln w="0">
            <a:noFill/>
          </a:ln>
        </p:spPr>
      </p:pic>
      <p:pic>
        <p:nvPicPr>
          <p:cNvPr id="224" name="Picture 21" descr="D:\Classes\5700\assets\devil-icon.png"/>
          <p:cNvPicPr/>
          <p:nvPr/>
        </p:nvPicPr>
        <p:blipFill>
          <a:blip r:embed="rId2"/>
          <a:stretch/>
        </p:blipFill>
        <p:spPr>
          <a:xfrm>
            <a:off x="2984040" y="4963320"/>
            <a:ext cx="1767960" cy="1325880"/>
          </a:xfrm>
          <a:prstGeom prst="rect">
            <a:avLst/>
          </a:prstGeom>
          <a:ln w="0">
            <a:noFill/>
          </a:ln>
        </p:spPr>
      </p:pic>
      <p:grpSp>
        <p:nvGrpSpPr>
          <p:cNvPr id="225" name="Group 1"/>
          <p:cNvGrpSpPr/>
          <p:nvPr/>
        </p:nvGrpSpPr>
        <p:grpSpPr>
          <a:xfrm>
            <a:off x="1526040" y="1796760"/>
            <a:ext cx="3740760" cy="982440"/>
            <a:chOff x="1526040" y="1796760"/>
            <a:chExt cx="3740760" cy="982440"/>
          </a:xfrm>
        </p:grpSpPr>
        <p:sp>
          <p:nvSpPr>
            <p:cNvPr id="226" name="Left-Right Arrow 1"/>
            <p:cNvSpPr/>
            <p:nvPr/>
          </p:nvSpPr>
          <p:spPr>
            <a:xfrm rot="518400">
              <a:off x="1588320" y="2069280"/>
              <a:ext cx="3665880" cy="444240"/>
            </a:xfrm>
            <a:prstGeom prst="leftRightArrow">
              <a:avLst>
                <a:gd name="adj1" fmla="val 50000"/>
                <a:gd name="adj2" fmla="val 50000"/>
              </a:avLst>
            </a:prstGeom>
            <a:solidFill>
              <a:srgbClr val="4f81bd"/>
            </a:solidFill>
            <a:ln>
              <a:solidFill>
                <a:srgbClr val="3a5f8b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24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227" name="Picture 22" descr="D:\Pictures\soft-scraps icons\Lock Lock-01.png"/>
            <p:cNvPicPr/>
            <p:nvPr/>
          </p:nvPicPr>
          <p:blipFill>
            <a:blip r:embed="rId3"/>
            <a:stretch/>
          </p:blipFill>
          <p:spPr>
            <a:xfrm>
              <a:off x="2012040" y="1830600"/>
              <a:ext cx="703440" cy="52776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228" name="Picture 23" descr="D:\Classes\5700\assets\User Coat Red-01.png"/>
          <p:cNvPicPr/>
          <p:nvPr/>
        </p:nvPicPr>
        <p:blipFill>
          <a:blip r:embed="rId4"/>
          <a:stretch/>
        </p:blipFill>
        <p:spPr>
          <a:xfrm>
            <a:off x="250560" y="2669400"/>
            <a:ext cx="1131840" cy="848880"/>
          </a:xfrm>
          <a:prstGeom prst="rect">
            <a:avLst/>
          </a:prstGeom>
          <a:ln w="0">
            <a:noFill/>
          </a:ln>
        </p:spPr>
      </p:pic>
      <p:pic>
        <p:nvPicPr>
          <p:cNvPr id="229" name="Picture 24" descr="D:\Classes\5700\assets\User Coat Blue-01.png"/>
          <p:cNvPicPr/>
          <p:nvPr/>
        </p:nvPicPr>
        <p:blipFill>
          <a:blip r:embed="rId5"/>
          <a:stretch/>
        </p:blipFill>
        <p:spPr>
          <a:xfrm>
            <a:off x="250560" y="3782160"/>
            <a:ext cx="1131840" cy="848880"/>
          </a:xfrm>
          <a:prstGeom prst="rect">
            <a:avLst/>
          </a:prstGeom>
          <a:ln w="0">
            <a:noFill/>
          </a:ln>
        </p:spPr>
      </p:pic>
      <p:pic>
        <p:nvPicPr>
          <p:cNvPr id="230" name="Picture 25" descr="D:\Pictures\Server_icons_lnx\Icons\128X128\proxy_server.png"/>
          <p:cNvPicPr/>
          <p:nvPr/>
        </p:nvPicPr>
        <p:blipFill>
          <a:blip r:embed="rId6"/>
          <a:stretch/>
        </p:blipFill>
        <p:spPr>
          <a:xfrm>
            <a:off x="5318640" y="2562840"/>
            <a:ext cx="1625400" cy="1218960"/>
          </a:xfrm>
          <a:prstGeom prst="rect">
            <a:avLst/>
          </a:prstGeom>
          <a:ln w="0">
            <a:noFill/>
          </a:ln>
        </p:spPr>
      </p:pic>
      <p:sp>
        <p:nvSpPr>
          <p:cNvPr id="231" name="TextBox 1"/>
          <p:cNvSpPr/>
          <p:nvPr/>
        </p:nvSpPr>
        <p:spPr>
          <a:xfrm>
            <a:off x="5404320" y="3806640"/>
            <a:ext cx="17218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HTTPS Proxy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2" name="Picture 26" descr="D:\Classes\5700\assets\social_google_box.png"/>
          <p:cNvPicPr/>
          <p:nvPr/>
        </p:nvPicPr>
        <p:blipFill>
          <a:blip r:embed="rId7"/>
          <a:stretch/>
        </p:blipFill>
        <p:spPr>
          <a:xfrm>
            <a:off x="10676520" y="1560240"/>
            <a:ext cx="1267200" cy="950400"/>
          </a:xfrm>
          <a:prstGeom prst="rect">
            <a:avLst/>
          </a:prstGeom>
          <a:ln w="0">
            <a:noFill/>
          </a:ln>
        </p:spPr>
      </p:pic>
      <p:pic>
        <p:nvPicPr>
          <p:cNvPr id="233" name="Picture 27" descr="D:\Classes\5700\assets\amazon-1.png"/>
          <p:cNvPicPr/>
          <p:nvPr/>
        </p:nvPicPr>
        <p:blipFill>
          <a:blip r:embed="rId8"/>
          <a:stretch/>
        </p:blipFill>
        <p:spPr>
          <a:xfrm>
            <a:off x="10647360" y="2686320"/>
            <a:ext cx="1296360" cy="972360"/>
          </a:xfrm>
          <a:prstGeom prst="rect">
            <a:avLst/>
          </a:prstGeom>
          <a:ln w="0">
            <a:noFill/>
          </a:ln>
        </p:spPr>
      </p:pic>
      <p:pic>
        <p:nvPicPr>
          <p:cNvPr id="234" name="Picture 28" descr="C:\Users\t0ph3r\Desktop\res\facebook_icon.jpg"/>
          <p:cNvPicPr/>
          <p:nvPr/>
        </p:nvPicPr>
        <p:blipFill>
          <a:blip r:embed="rId9"/>
          <a:stretch/>
        </p:blipFill>
        <p:spPr>
          <a:xfrm>
            <a:off x="10597320" y="3763080"/>
            <a:ext cx="1346400" cy="1009800"/>
          </a:xfrm>
          <a:prstGeom prst="rect">
            <a:avLst/>
          </a:prstGeom>
          <a:ln w="0">
            <a:noFill/>
          </a:ln>
        </p:spPr>
      </p:pic>
      <p:grpSp>
        <p:nvGrpSpPr>
          <p:cNvPr id="235" name="Group 5"/>
          <p:cNvGrpSpPr/>
          <p:nvPr/>
        </p:nvGrpSpPr>
        <p:grpSpPr>
          <a:xfrm>
            <a:off x="1673280" y="2829600"/>
            <a:ext cx="3268800" cy="527760"/>
            <a:chOff x="1673280" y="2829600"/>
            <a:chExt cx="3268800" cy="527760"/>
          </a:xfrm>
        </p:grpSpPr>
        <p:sp>
          <p:nvSpPr>
            <p:cNvPr id="236" name="Left-Right Arrow 2"/>
            <p:cNvSpPr/>
            <p:nvPr/>
          </p:nvSpPr>
          <p:spPr>
            <a:xfrm>
              <a:off x="1673280" y="2903040"/>
              <a:ext cx="3268800" cy="440280"/>
            </a:xfrm>
            <a:prstGeom prst="leftRightArrow">
              <a:avLst>
                <a:gd name="adj1" fmla="val 50000"/>
                <a:gd name="adj2" fmla="val 50000"/>
              </a:avLst>
            </a:prstGeom>
            <a:solidFill>
              <a:srgbClr val="4f81bd"/>
            </a:solidFill>
            <a:ln>
              <a:solidFill>
                <a:srgbClr val="3a5f8b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24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237" name="Picture 35" descr="D:\Pictures\soft-scraps icons\Lock Lock-01.png"/>
            <p:cNvPicPr/>
            <p:nvPr/>
          </p:nvPicPr>
          <p:blipFill>
            <a:blip r:embed="rId10"/>
            <a:stretch/>
          </p:blipFill>
          <p:spPr>
            <a:xfrm>
              <a:off x="2180520" y="2829600"/>
              <a:ext cx="703800" cy="52776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38" name="Group 6"/>
          <p:cNvGrpSpPr/>
          <p:nvPr/>
        </p:nvGrpSpPr>
        <p:grpSpPr>
          <a:xfrm>
            <a:off x="1442520" y="3425760"/>
            <a:ext cx="3729960" cy="1102680"/>
            <a:chOff x="1442520" y="3425760"/>
            <a:chExt cx="3729960" cy="1102680"/>
          </a:xfrm>
        </p:grpSpPr>
        <p:sp>
          <p:nvSpPr>
            <p:cNvPr id="239" name="Left-Right Arrow 7"/>
            <p:cNvSpPr/>
            <p:nvPr/>
          </p:nvSpPr>
          <p:spPr>
            <a:xfrm rot="20959800">
              <a:off x="1452240" y="3759480"/>
              <a:ext cx="3649680" cy="446040"/>
            </a:xfrm>
            <a:prstGeom prst="leftRightArrow">
              <a:avLst>
                <a:gd name="adj1" fmla="val 50000"/>
                <a:gd name="adj2" fmla="val 50000"/>
              </a:avLst>
            </a:prstGeom>
            <a:solidFill>
              <a:srgbClr val="4f81bd"/>
            </a:solidFill>
            <a:ln>
              <a:solidFill>
                <a:srgbClr val="3a5f8b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24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240" name="Picture 36" descr="D:\Pictures\soft-scraps icons\Lock Lock-01.png"/>
            <p:cNvPicPr/>
            <p:nvPr/>
          </p:nvPicPr>
          <p:blipFill>
            <a:blip r:embed="rId11"/>
            <a:stretch/>
          </p:blipFill>
          <p:spPr>
            <a:xfrm>
              <a:off x="2012040" y="3819960"/>
              <a:ext cx="703440" cy="52776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241" name="Left-Right Arrow 10"/>
          <p:cNvSpPr/>
          <p:nvPr/>
        </p:nvSpPr>
        <p:spPr>
          <a:xfrm>
            <a:off x="7346160" y="2952360"/>
            <a:ext cx="3134520" cy="44028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24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2" name="Left-Right Arrow 11"/>
          <p:cNvSpPr/>
          <p:nvPr/>
        </p:nvSpPr>
        <p:spPr>
          <a:xfrm rot="20959200">
            <a:off x="7085160" y="2079000"/>
            <a:ext cx="3499560" cy="44604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24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3" name="Left-Right Arrow 12"/>
          <p:cNvSpPr/>
          <p:nvPr/>
        </p:nvSpPr>
        <p:spPr>
          <a:xfrm rot="518400">
            <a:off x="7046280" y="3686400"/>
            <a:ext cx="3515760" cy="44424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24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4" name="Pentagon 1"/>
          <p:cNvSpPr/>
          <p:nvPr/>
        </p:nvSpPr>
        <p:spPr>
          <a:xfrm rot="5400000">
            <a:off x="2262600" y="3357360"/>
            <a:ext cx="2927520" cy="283320"/>
          </a:xfrm>
          <a:prstGeom prst="homePlate">
            <a:avLst>
              <a:gd name="adj" fmla="val 50000"/>
            </a:avLst>
          </a:prstGeom>
          <a:solidFill>
            <a:schemeClr val="accent2"/>
          </a:solidFill>
          <a:ln w="38100">
            <a:solidFill>
              <a:srgbClr val="c0504d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5" name="Content Placeholder 19"/>
          <p:cNvSpPr/>
          <p:nvPr/>
        </p:nvSpPr>
        <p:spPr>
          <a:xfrm>
            <a:off x="8991000" y="4963320"/>
            <a:ext cx="3291480" cy="180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320040" indent="-320040" defTabSz="457200">
              <a:lnSpc>
                <a:spcPct val="100000"/>
              </a:lnSpc>
              <a:spcBef>
                <a:spcPts val="700"/>
              </a:spcBef>
              <a:buClr>
                <a:srgbClr val="c0504d"/>
              </a:buClr>
              <a:buSzPct val="60000"/>
              <a:buFont typeface="Wingdings" charset="2"/>
              <a:buChar char=""/>
            </a:pPr>
            <a:r>
              <a:rPr b="0" lang="en-US" sz="2900" spc="-1" strike="noStrike">
                <a:solidFill>
                  <a:schemeClr val="dk1"/>
                </a:solidFill>
                <a:latin typeface="Calibri"/>
              </a:rPr>
              <a:t>Destination is known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  <a:p>
            <a:pPr marL="320040" indent="-320040" defTabSz="457200">
              <a:lnSpc>
                <a:spcPct val="100000"/>
              </a:lnSpc>
              <a:spcBef>
                <a:spcPts val="700"/>
              </a:spcBef>
              <a:buClr>
                <a:srgbClr val="c0504d"/>
              </a:buClr>
              <a:buSzPct val="60000"/>
              <a:buFont typeface="Wingdings" charset="2"/>
              <a:buChar char=""/>
            </a:pPr>
            <a:r>
              <a:rPr b="0" lang="en-US" sz="2900" spc="-1" strike="noStrike">
                <a:solidFill>
                  <a:schemeClr val="accent1"/>
                </a:solidFill>
                <a:latin typeface="Calibri"/>
              </a:rPr>
              <a:t>Source anonymity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6" name="Picture 37" descr="D:\Classes\5700\assets\devil-icon.png"/>
          <p:cNvPicPr/>
          <p:nvPr/>
        </p:nvPicPr>
        <p:blipFill>
          <a:blip r:embed="rId12"/>
          <a:stretch/>
        </p:blipFill>
        <p:spPr>
          <a:xfrm>
            <a:off x="7513200" y="4949640"/>
            <a:ext cx="1767960" cy="1325880"/>
          </a:xfrm>
          <a:prstGeom prst="rect">
            <a:avLst/>
          </a:prstGeom>
          <a:ln w="0">
            <a:noFill/>
          </a:ln>
        </p:spPr>
      </p:pic>
      <p:sp>
        <p:nvSpPr>
          <p:cNvPr id="247" name="Pentagon 4"/>
          <p:cNvSpPr/>
          <p:nvPr/>
        </p:nvSpPr>
        <p:spPr>
          <a:xfrm rot="5400000">
            <a:off x="6792120" y="3343680"/>
            <a:ext cx="2927520" cy="283320"/>
          </a:xfrm>
          <a:prstGeom prst="homePlate">
            <a:avLst>
              <a:gd name="adj" fmla="val 50000"/>
            </a:avLst>
          </a:prstGeom>
          <a:solidFill>
            <a:schemeClr val="accent2"/>
          </a:solidFill>
          <a:ln w="38100">
            <a:solidFill>
              <a:srgbClr val="c0504d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48" name="Picture 38" descr="D:\Classes\5700\assets\devil-icon.png"/>
          <p:cNvPicPr/>
          <p:nvPr/>
        </p:nvPicPr>
        <p:blipFill>
          <a:blip r:embed="rId13"/>
          <a:stretch/>
        </p:blipFill>
        <p:spPr>
          <a:xfrm>
            <a:off x="5381640" y="2511000"/>
            <a:ext cx="1767960" cy="1325880"/>
          </a:xfrm>
          <a:prstGeom prst="rect">
            <a:avLst/>
          </a:prstGeom>
          <a:ln w="0">
            <a:noFill/>
          </a:ln>
        </p:spPr>
      </p:pic>
      <p:sp>
        <p:nvSpPr>
          <p:cNvPr id="249" name="Content Placeholder 20"/>
          <p:cNvSpPr/>
          <p:nvPr/>
        </p:nvSpPr>
        <p:spPr>
          <a:xfrm>
            <a:off x="4114440" y="4206600"/>
            <a:ext cx="4033800" cy="70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 defTabSz="457200">
              <a:lnSpc>
                <a:spcPct val="100000"/>
              </a:lnSpc>
              <a:spcBef>
                <a:spcPts val="700"/>
              </a:spcBef>
              <a:tabLst>
                <a:tab algn="l" pos="0"/>
              </a:tabLst>
            </a:pPr>
            <a:r>
              <a:rPr b="1" lang="en-US" sz="2900" spc="-1" strike="noStrike">
                <a:solidFill>
                  <a:schemeClr val="accent2"/>
                </a:solidFill>
                <a:latin typeface="Calibri"/>
              </a:rPr>
              <a:t>No anonymity!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0B04118C-EDA7-4FCE-AA5B-6469213EF1E5}" type="slidenum">
              <a:t>19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41" dur="indefinite" restart="never" nodeType="tmRoot">
          <p:childTnLst>
            <p:seq>
              <p:cTn id="242" dur="indefinite" nodeType="mainSeq">
                <p:childTnLst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247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fill="hold">
                            <p:stCondLst>
                              <p:cond delay="500"/>
                            </p:stCondLst>
                            <p:childTnLst>
                              <p:par>
                                <p:cTn id="249" nodeType="after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251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2" fill="hold">
                            <p:stCondLst>
                              <p:cond delay="1000"/>
                            </p:stCondLst>
                            <p:childTnLst>
                              <p:par>
                                <p:cTn id="253" nodeType="after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255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260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" fill="hold">
                            <p:stCondLst>
                              <p:cond delay="500"/>
                            </p:stCondLst>
                            <p:childTnLst>
                              <p:par>
                                <p:cTn id="262" nodeType="after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264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6" nodeType="after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268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3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74" dur="5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75" dur="5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6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8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79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0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5" dur="500"/>
                                        <p:tgtEl>
                                          <p:spTgt spid="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86" dur="500" fill="hold"/>
                                        <p:tgtEl>
                                          <p:spTgt spid="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7" dur="500" fill="hold"/>
                                        <p:tgtEl>
                                          <p:spTgt spid="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8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0" dur="500"/>
                                        <p:tgtEl>
                                          <p:spTgt spid="2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91" dur="500" fill="hold"/>
                                        <p:tgtEl>
                                          <p:spTgt spid="2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92" dur="500" fill="hold"/>
                                        <p:tgtEl>
                                          <p:spTgt spid="2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nodeType="clickEffect" fill="hold" presetClass="exit" presetID="42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296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97" dur="500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98" dur="500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nodeType="withEffect" fill="hold" presetClass="exit" presetID="42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301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02" dur="500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3" dur="500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" nodeType="withEffect" fill="hold" presetClass="exit" presetID="42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306" dur="500"/>
                                        <p:tgtEl>
                                          <p:spTgt spid="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07" dur="500"/>
                                        <p:tgtEl>
                                          <p:spTgt spid="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8" dur="500"/>
                                        <p:tgtEl>
                                          <p:spTgt spid="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nodeType="withEffect" fill="hold" presetClass="exit" presetID="42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311" dur="500"/>
                                        <p:tgtEl>
                                          <p:spTgt spid="2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12" dur="500"/>
                                        <p:tgtEl>
                                          <p:spTgt spid="2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3" dur="500"/>
                                        <p:tgtEl>
                                          <p:spTgt spid="2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5" fill="hold">
                            <p:stCondLst>
                              <p:cond delay="500"/>
                            </p:stCondLst>
                            <p:childTnLst>
                              <p:par>
                                <p:cTn id="316" nodeType="after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8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19" dur="5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0" dur="5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1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3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24" dur="5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5" dur="5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fill="hold">
                      <p:stCondLst>
                        <p:cond delay="indefinite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0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31" dur="5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32" dur="5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>
                      <p:stCondLst>
                        <p:cond delay="indefinite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nodeType="clickEffect" fill="hold" presetClass="exit" presetID="42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336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37" dur="500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38" dur="500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0" nodeType="withEffect" fill="hold" presetClass="exit" presetID="42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341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42" dur="500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43" dur="500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" nodeType="withEffect" fill="hold" presetClass="exit" presetID="42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346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47" dur="500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48" dur="500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0" fill="hold">
                            <p:stCondLst>
                              <p:cond delay="500"/>
                            </p:stCondLst>
                            <p:childTnLst>
                              <p:par>
                                <p:cTn id="351" nodeType="after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3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54" dur="5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55" dur="5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6" fill="hold">
                      <p:stCondLst>
                        <p:cond delay="indefinite"/>
                      </p:stCondLst>
                      <p:childTnLst>
                        <p:par>
                          <p:cTn id="357" fill="hold">
                            <p:stCondLst>
                              <p:cond delay="0"/>
                            </p:stCondLst>
                            <p:childTnLst>
                              <p:par>
                                <p:cTn id="358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0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61" dur="5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62" dur="5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Anonymizing VPNs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/>
          </p:nvPr>
        </p:nvSpPr>
        <p:spPr>
          <a:xfrm>
            <a:off x="29520" y="4903920"/>
            <a:ext cx="3277800" cy="180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Source is known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4f81bd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accent1"/>
                </a:solidFill>
                <a:latin typeface="Calibri"/>
              </a:rPr>
              <a:t>Destination anonymity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52" name="Picture 29" descr="D:\Pictures\soft-scraps icons\User Coat Green-01.png"/>
          <p:cNvPicPr/>
          <p:nvPr/>
        </p:nvPicPr>
        <p:blipFill>
          <a:blip r:embed="rId1"/>
          <a:stretch/>
        </p:blipFill>
        <p:spPr>
          <a:xfrm>
            <a:off x="250560" y="1611000"/>
            <a:ext cx="1131840" cy="848880"/>
          </a:xfrm>
          <a:prstGeom prst="rect">
            <a:avLst/>
          </a:prstGeom>
          <a:ln w="0">
            <a:noFill/>
          </a:ln>
        </p:spPr>
      </p:pic>
      <p:pic>
        <p:nvPicPr>
          <p:cNvPr id="253" name="Picture 30" descr="D:\Classes\5700\assets\devil-icon.png"/>
          <p:cNvPicPr/>
          <p:nvPr/>
        </p:nvPicPr>
        <p:blipFill>
          <a:blip r:embed="rId2"/>
          <a:stretch/>
        </p:blipFill>
        <p:spPr>
          <a:xfrm>
            <a:off x="2984040" y="4963320"/>
            <a:ext cx="1767960" cy="1325880"/>
          </a:xfrm>
          <a:prstGeom prst="rect">
            <a:avLst/>
          </a:prstGeom>
          <a:ln w="0">
            <a:noFill/>
          </a:ln>
        </p:spPr>
      </p:pic>
      <p:grpSp>
        <p:nvGrpSpPr>
          <p:cNvPr id="254" name="Group 3"/>
          <p:cNvGrpSpPr/>
          <p:nvPr/>
        </p:nvGrpSpPr>
        <p:grpSpPr>
          <a:xfrm>
            <a:off x="1526040" y="1796760"/>
            <a:ext cx="3740760" cy="982440"/>
            <a:chOff x="1526040" y="1796760"/>
            <a:chExt cx="3740760" cy="982440"/>
          </a:xfrm>
        </p:grpSpPr>
        <p:sp>
          <p:nvSpPr>
            <p:cNvPr id="255" name="Left-Right Arrow 5"/>
            <p:cNvSpPr/>
            <p:nvPr/>
          </p:nvSpPr>
          <p:spPr>
            <a:xfrm rot="518400">
              <a:off x="1588320" y="2069280"/>
              <a:ext cx="3665880" cy="444240"/>
            </a:xfrm>
            <a:prstGeom prst="leftRightArrow">
              <a:avLst>
                <a:gd name="adj1" fmla="val 50000"/>
                <a:gd name="adj2" fmla="val 50000"/>
              </a:avLst>
            </a:prstGeom>
            <a:solidFill>
              <a:srgbClr val="4f81bd"/>
            </a:solidFill>
            <a:ln>
              <a:solidFill>
                <a:srgbClr val="3a5f8b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24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256" name="Picture 31" descr="D:\Pictures\soft-scraps icons\Lock Lock-01.png"/>
            <p:cNvPicPr/>
            <p:nvPr/>
          </p:nvPicPr>
          <p:blipFill>
            <a:blip r:embed="rId3"/>
            <a:stretch/>
          </p:blipFill>
          <p:spPr>
            <a:xfrm>
              <a:off x="2012040" y="1830600"/>
              <a:ext cx="703440" cy="52776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257" name="Picture 32" descr="D:\Classes\5700\assets\User Coat Red-01.png"/>
          <p:cNvPicPr/>
          <p:nvPr/>
        </p:nvPicPr>
        <p:blipFill>
          <a:blip r:embed="rId4"/>
          <a:stretch/>
        </p:blipFill>
        <p:spPr>
          <a:xfrm>
            <a:off x="250560" y="2669400"/>
            <a:ext cx="1131840" cy="848880"/>
          </a:xfrm>
          <a:prstGeom prst="rect">
            <a:avLst/>
          </a:prstGeom>
          <a:ln w="0">
            <a:noFill/>
          </a:ln>
        </p:spPr>
      </p:pic>
      <p:pic>
        <p:nvPicPr>
          <p:cNvPr id="258" name="Picture 33" descr="D:\Classes\5700\assets\User Coat Blue-01.png"/>
          <p:cNvPicPr/>
          <p:nvPr/>
        </p:nvPicPr>
        <p:blipFill>
          <a:blip r:embed="rId5"/>
          <a:stretch/>
        </p:blipFill>
        <p:spPr>
          <a:xfrm>
            <a:off x="250560" y="3782160"/>
            <a:ext cx="1131840" cy="848880"/>
          </a:xfrm>
          <a:prstGeom prst="rect">
            <a:avLst/>
          </a:prstGeom>
          <a:ln w="0">
            <a:noFill/>
          </a:ln>
        </p:spPr>
      </p:pic>
      <p:sp>
        <p:nvSpPr>
          <p:cNvPr id="259" name="TextBox 2"/>
          <p:cNvSpPr/>
          <p:nvPr/>
        </p:nvSpPr>
        <p:spPr>
          <a:xfrm>
            <a:off x="5374080" y="3806640"/>
            <a:ext cx="1852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VPN Gateway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0" name="Picture 34" descr="D:\Classes\5700\assets\social_google_box.png"/>
          <p:cNvPicPr/>
          <p:nvPr/>
        </p:nvPicPr>
        <p:blipFill>
          <a:blip r:embed="rId6"/>
          <a:stretch/>
        </p:blipFill>
        <p:spPr>
          <a:xfrm>
            <a:off x="10676520" y="1560240"/>
            <a:ext cx="1267200" cy="950400"/>
          </a:xfrm>
          <a:prstGeom prst="rect">
            <a:avLst/>
          </a:prstGeom>
          <a:ln w="0">
            <a:noFill/>
          </a:ln>
        </p:spPr>
      </p:pic>
      <p:pic>
        <p:nvPicPr>
          <p:cNvPr id="261" name="Picture 48" descr="D:\Classes\5700\assets\amazon-1.png"/>
          <p:cNvPicPr/>
          <p:nvPr/>
        </p:nvPicPr>
        <p:blipFill>
          <a:blip r:embed="rId7"/>
          <a:stretch/>
        </p:blipFill>
        <p:spPr>
          <a:xfrm>
            <a:off x="10647360" y="2686320"/>
            <a:ext cx="1296360" cy="972360"/>
          </a:xfrm>
          <a:prstGeom prst="rect">
            <a:avLst/>
          </a:prstGeom>
          <a:ln w="0">
            <a:noFill/>
          </a:ln>
        </p:spPr>
      </p:pic>
      <p:pic>
        <p:nvPicPr>
          <p:cNvPr id="262" name="Picture 49" descr="C:\Users\t0ph3r\Desktop\res\facebook_icon.jpg"/>
          <p:cNvPicPr/>
          <p:nvPr/>
        </p:nvPicPr>
        <p:blipFill>
          <a:blip r:embed="rId8"/>
          <a:stretch/>
        </p:blipFill>
        <p:spPr>
          <a:xfrm>
            <a:off x="10597320" y="3763080"/>
            <a:ext cx="1346400" cy="1009800"/>
          </a:xfrm>
          <a:prstGeom prst="rect">
            <a:avLst/>
          </a:prstGeom>
          <a:ln w="0">
            <a:noFill/>
          </a:ln>
        </p:spPr>
      </p:pic>
      <p:grpSp>
        <p:nvGrpSpPr>
          <p:cNvPr id="263" name="Group 4"/>
          <p:cNvGrpSpPr/>
          <p:nvPr/>
        </p:nvGrpSpPr>
        <p:grpSpPr>
          <a:xfrm>
            <a:off x="1673280" y="2829600"/>
            <a:ext cx="3268800" cy="527760"/>
            <a:chOff x="1673280" y="2829600"/>
            <a:chExt cx="3268800" cy="527760"/>
          </a:xfrm>
        </p:grpSpPr>
        <p:sp>
          <p:nvSpPr>
            <p:cNvPr id="264" name="Left-Right Arrow 6"/>
            <p:cNvSpPr/>
            <p:nvPr/>
          </p:nvSpPr>
          <p:spPr>
            <a:xfrm>
              <a:off x="1673280" y="2903040"/>
              <a:ext cx="3268800" cy="440280"/>
            </a:xfrm>
            <a:prstGeom prst="leftRightArrow">
              <a:avLst>
                <a:gd name="adj1" fmla="val 50000"/>
                <a:gd name="adj2" fmla="val 50000"/>
              </a:avLst>
            </a:prstGeom>
            <a:solidFill>
              <a:srgbClr val="4f81bd"/>
            </a:solidFill>
            <a:ln>
              <a:solidFill>
                <a:srgbClr val="3a5f8b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24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265" name="Picture 50" descr="D:\Pictures\soft-scraps icons\Lock Lock-01.png"/>
            <p:cNvPicPr/>
            <p:nvPr/>
          </p:nvPicPr>
          <p:blipFill>
            <a:blip r:embed="rId9"/>
            <a:stretch/>
          </p:blipFill>
          <p:spPr>
            <a:xfrm>
              <a:off x="2180520" y="2829600"/>
              <a:ext cx="703800" cy="52776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66" name="Group 8"/>
          <p:cNvGrpSpPr/>
          <p:nvPr/>
        </p:nvGrpSpPr>
        <p:grpSpPr>
          <a:xfrm>
            <a:off x="1442520" y="3425760"/>
            <a:ext cx="3729960" cy="1102680"/>
            <a:chOff x="1442520" y="3425760"/>
            <a:chExt cx="3729960" cy="1102680"/>
          </a:xfrm>
        </p:grpSpPr>
        <p:sp>
          <p:nvSpPr>
            <p:cNvPr id="267" name="Left-Right Arrow 8"/>
            <p:cNvSpPr/>
            <p:nvPr/>
          </p:nvSpPr>
          <p:spPr>
            <a:xfrm rot="20959800">
              <a:off x="1452240" y="3759480"/>
              <a:ext cx="3649680" cy="446040"/>
            </a:xfrm>
            <a:prstGeom prst="leftRightArrow">
              <a:avLst>
                <a:gd name="adj1" fmla="val 50000"/>
                <a:gd name="adj2" fmla="val 50000"/>
              </a:avLst>
            </a:prstGeom>
            <a:solidFill>
              <a:srgbClr val="4f81bd"/>
            </a:solidFill>
            <a:ln>
              <a:solidFill>
                <a:srgbClr val="3a5f8b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24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268" name="Picture 51" descr="D:\Pictures\soft-scraps icons\Lock Lock-01.png"/>
            <p:cNvPicPr/>
            <p:nvPr/>
          </p:nvPicPr>
          <p:blipFill>
            <a:blip r:embed="rId10"/>
            <a:stretch/>
          </p:blipFill>
          <p:spPr>
            <a:xfrm>
              <a:off x="2012040" y="3819960"/>
              <a:ext cx="703440" cy="52776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269" name="Left-Right Arrow 9"/>
          <p:cNvSpPr/>
          <p:nvPr/>
        </p:nvSpPr>
        <p:spPr>
          <a:xfrm>
            <a:off x="7346160" y="2952360"/>
            <a:ext cx="3134520" cy="44028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24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0" name="Left-Right Arrow 16"/>
          <p:cNvSpPr/>
          <p:nvPr/>
        </p:nvSpPr>
        <p:spPr>
          <a:xfrm rot="20959200">
            <a:off x="7085160" y="2079000"/>
            <a:ext cx="3499560" cy="44604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24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1" name="Left-Right Arrow 17"/>
          <p:cNvSpPr/>
          <p:nvPr/>
        </p:nvSpPr>
        <p:spPr>
          <a:xfrm rot="518400">
            <a:off x="7046280" y="3686400"/>
            <a:ext cx="3515760" cy="44424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24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2" name="Pentagon 3"/>
          <p:cNvSpPr/>
          <p:nvPr/>
        </p:nvSpPr>
        <p:spPr>
          <a:xfrm rot="5400000">
            <a:off x="2262600" y="3357360"/>
            <a:ext cx="2927520" cy="283320"/>
          </a:xfrm>
          <a:prstGeom prst="homePlate">
            <a:avLst>
              <a:gd name="adj" fmla="val 50000"/>
            </a:avLst>
          </a:prstGeom>
          <a:solidFill>
            <a:schemeClr val="accent2"/>
          </a:solidFill>
          <a:ln w="38100">
            <a:solidFill>
              <a:srgbClr val="c0504d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3" name="Content Placeholder 16"/>
          <p:cNvSpPr/>
          <p:nvPr/>
        </p:nvSpPr>
        <p:spPr>
          <a:xfrm>
            <a:off x="8991000" y="4963320"/>
            <a:ext cx="3291480" cy="180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320040" indent="-320040" defTabSz="457200">
              <a:lnSpc>
                <a:spcPct val="100000"/>
              </a:lnSpc>
              <a:spcBef>
                <a:spcPts val="700"/>
              </a:spcBef>
              <a:buClr>
                <a:srgbClr val="c0504d"/>
              </a:buClr>
              <a:buSzPct val="60000"/>
              <a:buFont typeface="Wingdings" charset="2"/>
              <a:buChar char=""/>
            </a:pPr>
            <a:r>
              <a:rPr b="0" lang="en-US" sz="2900" spc="-1" strike="noStrike">
                <a:solidFill>
                  <a:schemeClr val="dk1"/>
                </a:solidFill>
                <a:latin typeface="Calibri"/>
              </a:rPr>
              <a:t>Destination is known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  <a:p>
            <a:pPr marL="320040" indent="-320040" defTabSz="457200">
              <a:lnSpc>
                <a:spcPct val="100000"/>
              </a:lnSpc>
              <a:spcBef>
                <a:spcPts val="700"/>
              </a:spcBef>
              <a:buClr>
                <a:srgbClr val="c0504d"/>
              </a:buClr>
              <a:buSzPct val="60000"/>
              <a:buFont typeface="Wingdings" charset="2"/>
              <a:buChar char=""/>
            </a:pPr>
            <a:r>
              <a:rPr b="0" lang="en-US" sz="2900" spc="-1" strike="noStrike">
                <a:solidFill>
                  <a:schemeClr val="accent1"/>
                </a:solidFill>
                <a:latin typeface="Calibri"/>
              </a:rPr>
              <a:t>Source anonymity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4" name="Picture 52" descr="D:\Classes\5700\assets\devil-icon.png"/>
          <p:cNvPicPr/>
          <p:nvPr/>
        </p:nvPicPr>
        <p:blipFill>
          <a:blip r:embed="rId11"/>
          <a:stretch/>
        </p:blipFill>
        <p:spPr>
          <a:xfrm>
            <a:off x="7513200" y="4949640"/>
            <a:ext cx="1767960" cy="1325880"/>
          </a:xfrm>
          <a:prstGeom prst="rect">
            <a:avLst/>
          </a:prstGeom>
          <a:ln w="0">
            <a:noFill/>
          </a:ln>
        </p:spPr>
      </p:pic>
      <p:sp>
        <p:nvSpPr>
          <p:cNvPr id="275" name="Pentagon 6"/>
          <p:cNvSpPr/>
          <p:nvPr/>
        </p:nvSpPr>
        <p:spPr>
          <a:xfrm rot="5400000">
            <a:off x="6792120" y="3343680"/>
            <a:ext cx="2927520" cy="283320"/>
          </a:xfrm>
          <a:prstGeom prst="homePlate">
            <a:avLst>
              <a:gd name="adj" fmla="val 50000"/>
            </a:avLst>
          </a:prstGeom>
          <a:solidFill>
            <a:schemeClr val="accent2"/>
          </a:solidFill>
          <a:ln w="38100">
            <a:solidFill>
              <a:srgbClr val="c0504d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6" name="Content Placeholder 17"/>
          <p:cNvSpPr/>
          <p:nvPr/>
        </p:nvSpPr>
        <p:spPr>
          <a:xfrm>
            <a:off x="4114440" y="4206600"/>
            <a:ext cx="4033800" cy="70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 defTabSz="457200">
              <a:lnSpc>
                <a:spcPct val="100000"/>
              </a:lnSpc>
              <a:spcBef>
                <a:spcPts val="700"/>
              </a:spcBef>
              <a:tabLst>
                <a:tab algn="l" pos="0"/>
              </a:tabLst>
            </a:pPr>
            <a:r>
              <a:rPr b="1" lang="en-US" sz="2900" spc="-1" strike="noStrike">
                <a:solidFill>
                  <a:schemeClr val="accent2"/>
                </a:solidFill>
                <a:latin typeface="Calibri"/>
              </a:rPr>
              <a:t>No anonymity!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7" name="Picture 53" descr="D:\Pictures\Server_icons_lnx\Icons\128X128\firewall_server.png"/>
          <p:cNvPicPr/>
          <p:nvPr/>
        </p:nvPicPr>
        <p:blipFill>
          <a:blip r:embed="rId12"/>
          <a:stretch/>
        </p:blipFill>
        <p:spPr>
          <a:xfrm>
            <a:off x="5267880" y="2533680"/>
            <a:ext cx="1625400" cy="1218960"/>
          </a:xfrm>
          <a:prstGeom prst="rect">
            <a:avLst/>
          </a:prstGeom>
          <a:ln w="0">
            <a:noFill/>
          </a:ln>
        </p:spPr>
      </p:pic>
      <p:pic>
        <p:nvPicPr>
          <p:cNvPr id="278" name="Picture 54" descr="D:\Classes\5700\assets\devil-icon.png"/>
          <p:cNvPicPr/>
          <p:nvPr/>
        </p:nvPicPr>
        <p:blipFill>
          <a:blip r:embed="rId13"/>
          <a:stretch/>
        </p:blipFill>
        <p:spPr>
          <a:xfrm>
            <a:off x="5267880" y="2509560"/>
            <a:ext cx="1767960" cy="132588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891FB34E-0E73-4F29-963C-ADDF96093743}" type="slidenum">
              <a:t>20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63" dur="indefinite" restart="never" nodeType="tmRoot">
          <p:childTnLst>
            <p:seq>
              <p:cTn id="364" dur="indefinite" nodeType="mainSeq">
                <p:childTnLst>
                  <p:par>
                    <p:cTn id="365" fill="hold">
                      <p:stCondLst>
                        <p:cond delay="indefinite"/>
                      </p:stCondLst>
                      <p:childTnLst>
                        <p:par>
                          <p:cTn id="366" fill="hold">
                            <p:stCondLst>
                              <p:cond delay="0"/>
                            </p:stCondLst>
                            <p:childTnLst>
                              <p:par>
                                <p:cTn id="367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9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70" dur="5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71" dur="5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2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4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75" dur="5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76" dur="5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7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9" dur="500"/>
                                        <p:tgtEl>
                                          <p:spTgt spid="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80" dur="500" fill="hold"/>
                                        <p:tgtEl>
                                          <p:spTgt spid="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81" dur="500" fill="hold"/>
                                        <p:tgtEl>
                                          <p:spTgt spid="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2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4" dur="500"/>
                                        <p:tgtEl>
                                          <p:spTgt spid="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85" dur="500" fill="hold"/>
                                        <p:tgtEl>
                                          <p:spTgt spid="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86" dur="500" fill="hold"/>
                                        <p:tgtEl>
                                          <p:spTgt spid="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7" fill="hold">
                            <p:stCondLst>
                              <p:cond delay="500"/>
                            </p:stCondLst>
                            <p:childTnLst>
                              <p:par>
                                <p:cTn id="388" nodeType="after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0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91" dur="50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92" dur="50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3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5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96" dur="50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97" dur="50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8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0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01" dur="500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2" dur="500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3" fill="hold">
                            <p:stCondLst>
                              <p:cond delay="1000"/>
                            </p:stCondLst>
                            <p:childTnLst>
                              <p:par>
                                <p:cTn id="404" nodeType="after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6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07" dur="50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8" dur="50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9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1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12" dur="50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13" dur="50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Using Content to Deanonymize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80" name="Picture 39" descr="D:\Pictures\soft-scraps icons\User Coat Green-01.png"/>
          <p:cNvPicPr/>
          <p:nvPr/>
        </p:nvPicPr>
        <p:blipFill>
          <a:blip r:embed="rId1"/>
          <a:stretch/>
        </p:blipFill>
        <p:spPr>
          <a:xfrm>
            <a:off x="250560" y="1827000"/>
            <a:ext cx="1131840" cy="848880"/>
          </a:xfrm>
          <a:prstGeom prst="rect">
            <a:avLst/>
          </a:prstGeom>
          <a:ln w="0">
            <a:noFill/>
          </a:ln>
        </p:spPr>
      </p:pic>
      <p:grpSp>
        <p:nvGrpSpPr>
          <p:cNvPr id="281" name="Group 7"/>
          <p:cNvGrpSpPr/>
          <p:nvPr/>
        </p:nvGrpSpPr>
        <p:grpSpPr>
          <a:xfrm>
            <a:off x="1547280" y="1987560"/>
            <a:ext cx="3697920" cy="527760"/>
            <a:chOff x="1547280" y="1987560"/>
            <a:chExt cx="3697920" cy="527760"/>
          </a:xfrm>
        </p:grpSpPr>
        <p:sp>
          <p:nvSpPr>
            <p:cNvPr id="282" name="Left-Right Arrow 13"/>
            <p:cNvSpPr/>
            <p:nvPr/>
          </p:nvSpPr>
          <p:spPr>
            <a:xfrm>
              <a:off x="1547280" y="2031480"/>
              <a:ext cx="3697920" cy="440280"/>
            </a:xfrm>
            <a:prstGeom prst="leftRightArrow">
              <a:avLst>
                <a:gd name="adj1" fmla="val 50000"/>
                <a:gd name="adj2" fmla="val 50000"/>
              </a:avLst>
            </a:prstGeom>
            <a:solidFill>
              <a:srgbClr val="4f81bd"/>
            </a:solidFill>
            <a:ln>
              <a:solidFill>
                <a:srgbClr val="3a5f8b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24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283" name="Picture 40" descr="D:\Pictures\soft-scraps icons\Lock Lock-01.png"/>
            <p:cNvPicPr/>
            <p:nvPr/>
          </p:nvPicPr>
          <p:blipFill>
            <a:blip r:embed="rId2"/>
            <a:stretch/>
          </p:blipFill>
          <p:spPr>
            <a:xfrm>
              <a:off x="2012040" y="1987560"/>
              <a:ext cx="703440" cy="52776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284" name="Picture 41" descr="D:\Pictures\Server_icons_lnx\Icons\128X128\proxy_server.png"/>
          <p:cNvPicPr/>
          <p:nvPr/>
        </p:nvPicPr>
        <p:blipFill>
          <a:blip r:embed="rId3"/>
          <a:stretch/>
        </p:blipFill>
        <p:spPr>
          <a:xfrm>
            <a:off x="5318640" y="1641960"/>
            <a:ext cx="1625400" cy="1218960"/>
          </a:xfrm>
          <a:prstGeom prst="rect">
            <a:avLst/>
          </a:prstGeom>
          <a:ln w="0">
            <a:noFill/>
          </a:ln>
        </p:spPr>
      </p:pic>
      <p:sp>
        <p:nvSpPr>
          <p:cNvPr id="285" name="TextBox 7"/>
          <p:cNvSpPr/>
          <p:nvPr/>
        </p:nvSpPr>
        <p:spPr>
          <a:xfrm>
            <a:off x="5270040" y="2862360"/>
            <a:ext cx="17218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HTTPS Proxy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6" name="Picture 42" descr="D:\Classes\5700\assets\social_google_box.png"/>
          <p:cNvPicPr/>
          <p:nvPr/>
        </p:nvPicPr>
        <p:blipFill>
          <a:blip r:embed="rId4"/>
          <a:stretch/>
        </p:blipFill>
        <p:spPr>
          <a:xfrm>
            <a:off x="10676520" y="1776240"/>
            <a:ext cx="1267200" cy="950400"/>
          </a:xfrm>
          <a:prstGeom prst="rect">
            <a:avLst/>
          </a:prstGeom>
          <a:ln w="0">
            <a:noFill/>
          </a:ln>
        </p:spPr>
      </p:pic>
      <p:sp>
        <p:nvSpPr>
          <p:cNvPr id="287" name="Left-Right Arrow 14"/>
          <p:cNvSpPr/>
          <p:nvPr/>
        </p:nvSpPr>
        <p:spPr>
          <a:xfrm>
            <a:off x="7090560" y="2031480"/>
            <a:ext cx="3546360" cy="44028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24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8" name="Content Placeholder 23"/>
          <p:cNvSpPr/>
          <p:nvPr/>
        </p:nvSpPr>
        <p:spPr>
          <a:xfrm>
            <a:off x="8080920" y="4164480"/>
            <a:ext cx="386280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 defTabSz="457200">
              <a:lnSpc>
                <a:spcPct val="100000"/>
              </a:lnSpc>
              <a:spcBef>
                <a:spcPts val="700"/>
              </a:spcBef>
              <a:tabLst>
                <a:tab algn="l" pos="0"/>
              </a:tabLst>
            </a:pPr>
            <a:r>
              <a:rPr b="1" lang="en-US" sz="2900" spc="-1" strike="noStrike">
                <a:solidFill>
                  <a:schemeClr val="accent2"/>
                </a:solidFill>
                <a:latin typeface="Calibri"/>
              </a:rPr>
              <a:t>No anonymity!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9" name="Picture 43" descr="D:\Classes\5700\assets\devil-icon.png"/>
          <p:cNvPicPr/>
          <p:nvPr/>
        </p:nvPicPr>
        <p:blipFill>
          <a:blip r:embed="rId5"/>
          <a:stretch/>
        </p:blipFill>
        <p:spPr>
          <a:xfrm>
            <a:off x="8420040" y="2862360"/>
            <a:ext cx="1767960" cy="1325880"/>
          </a:xfrm>
          <a:prstGeom prst="rect">
            <a:avLst/>
          </a:prstGeom>
          <a:ln w="0">
            <a:noFill/>
          </a:ln>
        </p:spPr>
      </p:pic>
      <p:sp>
        <p:nvSpPr>
          <p:cNvPr id="290" name="Pentagon 5"/>
          <p:cNvSpPr/>
          <p:nvPr/>
        </p:nvSpPr>
        <p:spPr>
          <a:xfrm rot="5400000">
            <a:off x="8645040" y="2204640"/>
            <a:ext cx="1035000" cy="283320"/>
          </a:xfrm>
          <a:prstGeom prst="homePlate">
            <a:avLst>
              <a:gd name="adj" fmla="val 50000"/>
            </a:avLst>
          </a:prstGeom>
          <a:solidFill>
            <a:schemeClr val="accent2"/>
          </a:solidFill>
          <a:ln w="38100">
            <a:solidFill>
              <a:srgbClr val="c0504d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pSp>
        <p:nvGrpSpPr>
          <p:cNvPr id="291" name="Group 10"/>
          <p:cNvGrpSpPr/>
          <p:nvPr/>
        </p:nvGrpSpPr>
        <p:grpSpPr>
          <a:xfrm>
            <a:off x="339840" y="3405960"/>
            <a:ext cx="7611840" cy="1815480"/>
            <a:chOff x="339840" y="3405960"/>
            <a:chExt cx="7611840" cy="1815480"/>
          </a:xfrm>
        </p:grpSpPr>
        <p:sp>
          <p:nvSpPr>
            <p:cNvPr id="292" name="Rectangular Callout 1"/>
            <p:cNvSpPr/>
            <p:nvPr/>
          </p:nvSpPr>
          <p:spPr>
            <a:xfrm flipH="1">
              <a:off x="339840" y="3405960"/>
              <a:ext cx="7611840" cy="1815480"/>
            </a:xfrm>
            <a:prstGeom prst="wedgeRectCallout">
              <a:avLst>
                <a:gd name="adj1" fmla="val 38611"/>
                <a:gd name="adj2" fmla="val -96190"/>
              </a:avLst>
            </a:prstGeom>
            <a:solidFill>
              <a:schemeClr val="accent1"/>
            </a:solidFill>
            <a:ln w="38100">
              <a:solidFill>
                <a:srgbClr val="4f81bd">
                  <a:lumMod val="50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Tw Cen MT"/>
              </a:endParaRPr>
            </a:p>
          </p:txBody>
        </p:sp>
        <p:sp>
          <p:nvSpPr>
            <p:cNvPr id="293" name="TextBox 8"/>
            <p:cNvSpPr/>
            <p:nvPr/>
          </p:nvSpPr>
          <p:spPr>
            <a:xfrm flipH="1">
              <a:off x="339840" y="3405960"/>
              <a:ext cx="7611840" cy="1797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marL="457200" indent="-457200" defTabSz="914400">
                <a:lnSpc>
                  <a:spcPct val="100000"/>
                </a:lnSpc>
                <a:buClr>
                  <a:srgbClr val="ffffff"/>
                </a:buClr>
                <a:buFont typeface="Arial"/>
                <a:buChar char="•"/>
              </a:pPr>
              <a:r>
                <a:rPr b="0" lang="en-US" sz="2800" spc="-1" strike="noStrike">
                  <a:solidFill>
                    <a:srgbClr val="ffffff"/>
                  </a:solidFill>
                  <a:latin typeface="Calibri"/>
                </a:rPr>
                <a:t>Reading Gmail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  <a:p>
              <a:pPr marL="457200" indent="-457200" defTabSz="914400">
                <a:lnSpc>
                  <a:spcPct val="100000"/>
                </a:lnSpc>
                <a:buClr>
                  <a:srgbClr val="ffffff"/>
                </a:buClr>
                <a:buFont typeface="Arial"/>
                <a:buChar char="•"/>
              </a:pPr>
              <a:r>
                <a:rPr b="0" lang="en-US" sz="2800" spc="-1" strike="noStrike">
                  <a:solidFill>
                    <a:srgbClr val="ffffff"/>
                  </a:solidFill>
                  <a:latin typeface="Calibri"/>
                </a:rPr>
                <a:t>Looking up directions to home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  <a:p>
              <a:pPr marL="457200" indent="-457200" defTabSz="914400">
                <a:lnSpc>
                  <a:spcPct val="100000"/>
                </a:lnSpc>
                <a:buClr>
                  <a:srgbClr val="ffffff"/>
                </a:buClr>
                <a:buFont typeface="Arial"/>
                <a:buChar char="•"/>
              </a:pPr>
              <a:r>
                <a:rPr b="0" lang="en-US" sz="2800" spc="-1" strike="noStrike">
                  <a:solidFill>
                    <a:srgbClr val="ffffff"/>
                  </a:solidFill>
                  <a:latin typeface="Calibri"/>
                </a:rPr>
                <a:t>Updating your G+ profile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  <a:p>
              <a:pPr marL="457200" indent="-457200" defTabSz="914400">
                <a:lnSpc>
                  <a:spcPct val="100000"/>
                </a:lnSpc>
                <a:buClr>
                  <a:srgbClr val="ffffff"/>
                </a:buClr>
                <a:buFont typeface="Arial"/>
                <a:buChar char="•"/>
              </a:pPr>
              <a:r>
                <a:rPr b="0" lang="en-US" sz="2800" spc="-1" strike="noStrike">
                  <a:solidFill>
                    <a:srgbClr val="ffffff"/>
                  </a:solidFill>
                  <a:latin typeface="Calibri"/>
                </a:rPr>
                <a:t>Etc…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94" name="PlaceHolder 2"/>
          <p:cNvSpPr>
            <a:spLocks noGrp="1"/>
          </p:cNvSpPr>
          <p:nvPr>
            <p:ph/>
          </p:nvPr>
        </p:nvSpPr>
        <p:spPr>
          <a:xfrm>
            <a:off x="29520" y="5527440"/>
            <a:ext cx="11280600" cy="118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Fact: the NSA leverages common cookies from ad networks, social networks, etc. to track users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E39F24EE-73C6-4178-AD99-6E49AC0B8B12}" type="slidenum">
              <a:t>21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14" dur="indefinite" restart="never" nodeType="tmRoot">
          <p:childTnLst>
            <p:seq>
              <p:cTn id="415" dur="indefinite" nodeType="mainSeq">
                <p:childTnLst>
                  <p:par>
                    <p:cTn id="416" fill="hold">
                      <p:stCondLst>
                        <p:cond delay="indefinite"/>
                      </p:stCondLst>
                      <p:childTnLst>
                        <p:par>
                          <p:cTn id="417" fill="hold">
                            <p:stCondLst>
                              <p:cond delay="0"/>
                            </p:stCondLst>
                            <p:childTnLst>
                              <p:par>
                                <p:cTn id="418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0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21" dur="50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22" dur="50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3" fill="hold">
                      <p:stCondLst>
                        <p:cond delay="indefinite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7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28" dur="50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29" dur="50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0" fill="hold">
                      <p:stCondLst>
                        <p:cond delay="indefinite"/>
                      </p:stCondLst>
                      <p:childTnLst>
                        <p:par>
                          <p:cTn id="431" fill="hold">
                            <p:stCondLst>
                              <p:cond delay="0"/>
                            </p:stCondLst>
                            <p:childTnLst>
                              <p:par>
                                <p:cTn id="432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4" dur="500"/>
                                        <p:tgtEl>
                                          <p:spTgt spid="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35" dur="500" fill="hold"/>
                                        <p:tgtEl>
                                          <p:spTgt spid="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36" dur="500" fill="hold"/>
                                        <p:tgtEl>
                                          <p:spTgt spid="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Data To Protect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6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Personally Identifiable Information (PII)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Name, address, phone number, etc.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OS and browser information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Cookies, etc.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Language information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IP address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Amount of data sent and received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4f81bd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accent1"/>
                </a:solidFill>
                <a:latin typeface="Calibri"/>
              </a:rPr>
              <a:t>Traffic timing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3C7ED4E5-F713-4280-9761-D598D9E238F8}" type="slidenum">
              <a:t>22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96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Some Crypto Background 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8" name="PlaceHolder 2"/>
          <p:cNvSpPr>
            <a:spLocks noGrp="1"/>
          </p:cNvSpPr>
          <p:nvPr>
            <p:ph type="subTitle"/>
          </p:nvPr>
        </p:nvSpPr>
        <p:spPr>
          <a:xfrm>
            <a:off x="1828800" y="3886200"/>
            <a:ext cx="853416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chemeClr val="dk1">
                  <a:tint val="75000"/>
                </a:schemeClr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89EC5183-4BE5-4F95-AFE4-E2F4EAEDBFE4}" type="slidenum">
              <a:t>23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Crypto Algorithms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Symmetric algorithms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Conventional algorithms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Encryption and decryption keys are the </a:t>
            </a:r>
            <a:r>
              <a:rPr b="0" lang="en-US" sz="2800" spc="-1" strike="noStrike">
                <a:solidFill>
                  <a:schemeClr val="accent1"/>
                </a:solidFill>
                <a:latin typeface="Calibri"/>
              </a:rPr>
              <a:t>same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Examples: DES, 3DES, AES, Blowfish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Asymmetric algorithms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Commonly known as Public Key algorithms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Encryption key and decryption key are </a:t>
            </a:r>
            <a:r>
              <a:rPr b="0" lang="en-US" sz="2800" spc="-1" strike="noStrike">
                <a:solidFill>
                  <a:schemeClr val="accent1"/>
                </a:solidFill>
                <a:latin typeface="Calibri"/>
              </a:rPr>
              <a:t>different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Examples: Diffie-Hellman, RSA, Elliptic curve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56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B6F73059-A045-418C-BB6D-9447D5CCB034}" type="slidenum">
              <a:t>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Symmetric Key Crypto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9992"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Let’s say we have a plaintext message </a:t>
            </a:r>
            <a:r>
              <a:rPr b="0" i="1" lang="en-US" sz="3200" spc="-1" strike="noStrike">
                <a:solidFill>
                  <a:schemeClr val="dk1"/>
                </a:solidFill>
                <a:latin typeface="Calibri"/>
              </a:rPr>
              <a:t>M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…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 symmetric encryption algorithm </a:t>
            </a:r>
            <a:r>
              <a:rPr b="0" i="1" lang="en-US" sz="28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…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and a key </a:t>
            </a:r>
            <a:r>
              <a:rPr b="0" i="1" lang="en-US" sz="2800" spc="-1" strike="noStrike">
                <a:solidFill>
                  <a:schemeClr val="dk1"/>
                </a:solidFill>
                <a:latin typeface="Calibri"/>
              </a:rPr>
              <a:t>K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4572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45720"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i="1" lang="en-US" sz="3200" spc="-1" strike="noStrike">
                <a:solidFill>
                  <a:schemeClr val="dk1"/>
                </a:solidFill>
                <a:latin typeface="Calibri"/>
              </a:rPr>
              <a:t>M </a:t>
            </a:r>
            <a:r>
              <a:rPr b="0" i="1" lang="en-US" sz="3200" spc="-1" strike="noStrike">
                <a:solidFill>
                  <a:schemeClr val="dk1"/>
                </a:solidFill>
                <a:latin typeface="Wingdings"/>
              </a:rPr>
              <a:t></a:t>
            </a:r>
            <a:r>
              <a:rPr b="0" i="1" lang="en-US" sz="3200" spc="-1" strike="noStrike">
                <a:solidFill>
                  <a:schemeClr val="dk1"/>
                </a:solidFill>
                <a:latin typeface="Calibri"/>
              </a:rPr>
              <a:t> E(K, M) = C </a:t>
            </a:r>
            <a:r>
              <a:rPr b="0" i="1" lang="en-US" sz="3200" spc="-1" strike="noStrike">
                <a:solidFill>
                  <a:schemeClr val="dk1"/>
                </a:solidFill>
                <a:latin typeface="Wingdings"/>
              </a:rPr>
              <a:t></a:t>
            </a:r>
            <a:r>
              <a:rPr b="0" i="1" lang="en-US" sz="3200" spc="-1" strike="noStrike">
                <a:solidFill>
                  <a:schemeClr val="dk1"/>
                </a:solidFill>
                <a:latin typeface="Calibri"/>
              </a:rPr>
              <a:t> E(K, C) = M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4572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502920" indent="-4572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Advantages: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22960" indent="-4572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Fast and easy to use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502920" indent="-4572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Disadvantages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22960" indent="-4572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How to securely communicate the key?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grpSp>
        <p:nvGrpSpPr>
          <p:cNvPr id="303" name="Group 9"/>
          <p:cNvGrpSpPr/>
          <p:nvPr/>
        </p:nvGrpSpPr>
        <p:grpSpPr>
          <a:xfrm>
            <a:off x="4817520" y="2853360"/>
            <a:ext cx="3107160" cy="516600"/>
            <a:chOff x="4817520" y="2853360"/>
            <a:chExt cx="3107160" cy="516600"/>
          </a:xfrm>
        </p:grpSpPr>
        <p:sp>
          <p:nvSpPr>
            <p:cNvPr id="304" name="Rectangular Callout 5"/>
            <p:cNvSpPr/>
            <p:nvPr/>
          </p:nvSpPr>
          <p:spPr>
            <a:xfrm flipH="1">
              <a:off x="4817160" y="2853360"/>
              <a:ext cx="3107160" cy="502200"/>
            </a:xfrm>
            <a:prstGeom prst="wedgeRectCallout">
              <a:avLst>
                <a:gd name="adj1" fmla="val 3654"/>
                <a:gd name="adj2" fmla="val 103317"/>
              </a:avLst>
            </a:prstGeom>
            <a:solidFill>
              <a:srgbClr val="da1f28"/>
            </a:solidFill>
            <a:ln w="38100">
              <a:solidFill>
                <a:srgbClr val="6d101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Tw Cen MT"/>
              </a:endParaRPr>
            </a:p>
          </p:txBody>
        </p:sp>
        <p:sp>
          <p:nvSpPr>
            <p:cNvPr id="305" name="TextBox 5"/>
            <p:cNvSpPr/>
            <p:nvPr/>
          </p:nvSpPr>
          <p:spPr>
            <a:xfrm flipH="1">
              <a:off x="4817160" y="2853360"/>
              <a:ext cx="3107160" cy="51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2800" spc="-1" strike="noStrike">
                  <a:solidFill>
                    <a:srgbClr val="ffffff"/>
                  </a:solidFill>
                  <a:latin typeface="Calibri"/>
                </a:rPr>
                <a:t>Cyphertext </a:t>
              </a:r>
              <a:r>
                <a:rPr b="0" i="1" lang="en-US" sz="2800" spc="-1" strike="noStrike">
                  <a:solidFill>
                    <a:srgbClr val="ffffff"/>
                  </a:solidFill>
                  <a:latin typeface="Calibri"/>
                </a:rPr>
                <a:t>C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6" name="Group 12"/>
          <p:cNvGrpSpPr/>
          <p:nvPr/>
        </p:nvGrpSpPr>
        <p:grpSpPr>
          <a:xfrm>
            <a:off x="6808320" y="4425120"/>
            <a:ext cx="5073120" cy="972360"/>
            <a:chOff x="6808320" y="4425120"/>
            <a:chExt cx="5073120" cy="972360"/>
          </a:xfrm>
        </p:grpSpPr>
        <p:sp>
          <p:nvSpPr>
            <p:cNvPr id="307" name="Rectangular Callout 6"/>
            <p:cNvSpPr/>
            <p:nvPr/>
          </p:nvSpPr>
          <p:spPr>
            <a:xfrm flipH="1">
              <a:off x="6808320" y="4425120"/>
              <a:ext cx="5073120" cy="972360"/>
            </a:xfrm>
            <a:prstGeom prst="wedgeRectCallout">
              <a:avLst>
                <a:gd name="adj1" fmla="val 25532"/>
                <a:gd name="adj2" fmla="val -81905"/>
              </a:avLst>
            </a:prstGeom>
            <a:solidFill>
              <a:srgbClr val="da1f28"/>
            </a:solidFill>
            <a:ln w="38100">
              <a:solidFill>
                <a:srgbClr val="6d101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Tw Cen MT"/>
              </a:endParaRPr>
            </a:p>
          </p:txBody>
        </p:sp>
        <p:sp>
          <p:nvSpPr>
            <p:cNvPr id="308" name="TextBox 6"/>
            <p:cNvSpPr/>
            <p:nvPr/>
          </p:nvSpPr>
          <p:spPr>
            <a:xfrm flipH="1">
              <a:off x="6808320" y="4425120"/>
              <a:ext cx="5073120" cy="943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2800" spc="-1" strike="noStrike">
                  <a:solidFill>
                    <a:srgbClr val="ffffff"/>
                  </a:solidFill>
                  <a:latin typeface="Calibri"/>
                </a:rPr>
                <a:t>Symmetric encryption is reversible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" name="PlaceHolder 3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EEB054F2-C2F7-41A3-8AF5-26C8519B0D3A}" type="slidenum">
              <a:t>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37" dur="indefinite" restart="never" nodeType="tmRoot">
          <p:childTnLst>
            <p:seq>
              <p:cTn id="438" dur="indefinite" nodeType="mainSeq">
                <p:childTnLst>
                  <p:par>
                    <p:cTn id="439" fill="hold">
                      <p:stCondLst>
                        <p:cond delay="indefinite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id="441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3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44" dur="50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45" dur="50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6" fill="hold">
                      <p:stCondLst>
                        <p:cond delay="indefinite"/>
                      </p:stCondLst>
                      <p:childTnLst>
                        <p:par>
                          <p:cTn id="447" fill="hold">
                            <p:stCondLst>
                              <p:cond delay="0"/>
                            </p:stCondLst>
                            <p:childTnLst>
                              <p:par>
                                <p:cTn id="448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0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51" dur="500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52" dur="500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3" fill="hold">
                      <p:stCondLst>
                        <p:cond delay="indefinite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7" dur="500"/>
                                        <p:tgtEl>
                                          <p:spTgt spid="3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58" dur="500" fill="hold"/>
                                        <p:tgtEl>
                                          <p:spTgt spid="3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59" dur="500" fill="hold"/>
                                        <p:tgtEl>
                                          <p:spTgt spid="3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Public Key Crypto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0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9992"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Let’s say we have plaintext message </a:t>
            </a:r>
            <a:r>
              <a:rPr b="0" i="1" lang="en-US" sz="3200" spc="-1" strike="noStrike">
                <a:solidFill>
                  <a:schemeClr val="dk1"/>
                </a:solidFill>
                <a:latin typeface="Calibri"/>
              </a:rPr>
              <a:t>M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…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 public key algorithm </a:t>
            </a:r>
            <a:r>
              <a:rPr b="0" i="1" lang="en-US" sz="2800" spc="-1" strike="noStrike">
                <a:solidFill>
                  <a:schemeClr val="dk1"/>
                </a:solidFill>
                <a:latin typeface="Calibri"/>
              </a:rPr>
              <a:t>F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…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and two keys </a:t>
            </a:r>
            <a:r>
              <a:rPr b="0" i="1" lang="en-US" sz="2800" spc="-1" strike="noStrike">
                <a:solidFill>
                  <a:schemeClr val="dk1"/>
                </a:solidFill>
                <a:latin typeface="Calibri"/>
              </a:rPr>
              <a:t>K</a:t>
            </a:r>
            <a:r>
              <a:rPr b="0" i="1" lang="en-US" sz="2800" spc="-1" strike="noStrike" baseline="-25000">
                <a:solidFill>
                  <a:schemeClr val="dk1"/>
                </a:solidFill>
                <a:latin typeface="Calibri"/>
              </a:rPr>
              <a:t>P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(public) and </a:t>
            </a:r>
            <a:r>
              <a:rPr b="0" i="1" lang="en-US" sz="2800" spc="-1" strike="noStrike">
                <a:solidFill>
                  <a:schemeClr val="dk1"/>
                </a:solidFill>
                <a:latin typeface="Calibri"/>
              </a:rPr>
              <a:t>K</a:t>
            </a:r>
            <a:r>
              <a:rPr b="0" i="1" lang="en-US" sz="2800" spc="-1" strike="noStrike" baseline="-25000">
                <a:solidFill>
                  <a:schemeClr val="dk1"/>
                </a:solidFill>
                <a:latin typeface="Calibri"/>
              </a:rPr>
              <a:t>S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(private)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indent="0" algn="ctr" defTabSz="457200">
              <a:lnSpc>
                <a:spcPct val="100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b="0" i="1" lang="en-US" sz="2800" spc="-1" strike="noStrike">
                <a:solidFill>
                  <a:schemeClr val="dk1"/>
                </a:solidFill>
                <a:latin typeface="Calibri"/>
              </a:rPr>
              <a:t>M </a:t>
            </a:r>
            <a:r>
              <a:rPr b="0" i="1" lang="en-US" sz="2800" spc="-1" strike="noStrike">
                <a:solidFill>
                  <a:schemeClr val="dk1"/>
                </a:solidFill>
                <a:latin typeface="Wingdings"/>
              </a:rPr>
              <a:t></a:t>
            </a:r>
            <a:r>
              <a:rPr b="0" i="1" lang="en-US" sz="2800" spc="-1" strike="noStrike">
                <a:solidFill>
                  <a:schemeClr val="dk1"/>
                </a:solidFill>
                <a:latin typeface="Calibri"/>
              </a:rPr>
              <a:t> F(K</a:t>
            </a:r>
            <a:r>
              <a:rPr b="0" i="1" lang="en-US" sz="2800" spc="-1" strike="noStrike" baseline="-25000">
                <a:solidFill>
                  <a:schemeClr val="dk1"/>
                </a:solidFill>
                <a:latin typeface="Calibri"/>
              </a:rPr>
              <a:t>P</a:t>
            </a:r>
            <a:r>
              <a:rPr b="0" i="1" lang="en-US" sz="2800" spc="-1" strike="noStrike">
                <a:solidFill>
                  <a:schemeClr val="dk1"/>
                </a:solidFill>
                <a:latin typeface="Calibri"/>
              </a:rPr>
              <a:t>, M) = C </a:t>
            </a:r>
            <a:r>
              <a:rPr b="0" i="1" lang="en-US" sz="2800" spc="-1" strike="noStrike">
                <a:solidFill>
                  <a:schemeClr val="dk1"/>
                </a:solidFill>
                <a:latin typeface="Wingdings"/>
              </a:rPr>
              <a:t></a:t>
            </a:r>
            <a:r>
              <a:rPr b="0" i="1" lang="en-US" sz="2800" spc="-1" strike="noStrike">
                <a:solidFill>
                  <a:schemeClr val="dk1"/>
                </a:solidFill>
                <a:latin typeface="Calibri"/>
              </a:rPr>
              <a:t> F(K</a:t>
            </a:r>
            <a:r>
              <a:rPr b="0" i="1" lang="en-US" sz="2800" spc="-1" strike="noStrike" baseline="-25000">
                <a:solidFill>
                  <a:schemeClr val="dk1"/>
                </a:solidFill>
                <a:latin typeface="Calibri"/>
              </a:rPr>
              <a:t>S</a:t>
            </a:r>
            <a:r>
              <a:rPr b="0" i="1" lang="en-US" sz="2800" spc="-1" strike="noStrike">
                <a:solidFill>
                  <a:schemeClr val="dk1"/>
                </a:solidFill>
                <a:latin typeface="Calibri"/>
              </a:rPr>
              <a:t>, C) = M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algn="ctr" defTabSz="457200">
              <a:lnSpc>
                <a:spcPct val="100000"/>
              </a:lnSpc>
              <a:spcBef>
                <a:spcPts val="700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algn="ctr" defTabSz="457200">
              <a:lnSpc>
                <a:spcPct val="100000"/>
              </a:lnSpc>
              <a:spcBef>
                <a:spcPts val="700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algn="ctr" defTabSz="457200">
              <a:lnSpc>
                <a:spcPct val="100000"/>
              </a:lnSpc>
              <a:spcBef>
                <a:spcPts val="700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algn="ctr" defTabSz="457200">
              <a:lnSpc>
                <a:spcPct val="100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b="0" i="1" lang="en-US" sz="2800" spc="-1" strike="noStrike">
                <a:solidFill>
                  <a:schemeClr val="dk1"/>
                </a:solidFill>
                <a:latin typeface="Calibri"/>
              </a:rPr>
              <a:t>M </a:t>
            </a:r>
            <a:r>
              <a:rPr b="0" i="1" lang="en-US" sz="2800" spc="-1" strike="noStrike">
                <a:solidFill>
                  <a:schemeClr val="dk1"/>
                </a:solidFill>
                <a:latin typeface="Wingdings"/>
              </a:rPr>
              <a:t></a:t>
            </a:r>
            <a:r>
              <a:rPr b="0" i="1" lang="en-US" sz="2800" spc="-1" strike="noStrike">
                <a:solidFill>
                  <a:schemeClr val="dk1"/>
                </a:solidFill>
                <a:latin typeface="Calibri"/>
              </a:rPr>
              <a:t> F(K</a:t>
            </a:r>
            <a:r>
              <a:rPr b="0" i="1" lang="en-US" sz="2800" spc="-1" strike="noStrike" baseline="-25000">
                <a:solidFill>
                  <a:schemeClr val="dk1"/>
                </a:solidFill>
                <a:latin typeface="Calibri"/>
              </a:rPr>
              <a:t>S</a:t>
            </a:r>
            <a:r>
              <a:rPr b="0" i="1" lang="en-US" sz="2800" spc="-1" strike="noStrike">
                <a:solidFill>
                  <a:schemeClr val="dk1"/>
                </a:solidFill>
                <a:latin typeface="Calibri"/>
              </a:rPr>
              <a:t>, M) = C </a:t>
            </a:r>
            <a:r>
              <a:rPr b="0" i="1" lang="en-US" sz="2800" spc="-1" strike="noStrike">
                <a:solidFill>
                  <a:schemeClr val="dk1"/>
                </a:solidFill>
                <a:latin typeface="Wingdings"/>
              </a:rPr>
              <a:t></a:t>
            </a:r>
            <a:r>
              <a:rPr b="0" i="1" lang="en-US" sz="2800" spc="-1" strike="noStrike">
                <a:solidFill>
                  <a:schemeClr val="dk1"/>
                </a:solidFill>
                <a:latin typeface="Calibri"/>
              </a:rPr>
              <a:t> F(K</a:t>
            </a:r>
            <a:r>
              <a:rPr b="0" i="1" lang="en-US" sz="2800" spc="-1" strike="noStrike" baseline="-25000">
                <a:solidFill>
                  <a:schemeClr val="dk1"/>
                </a:solidFill>
                <a:latin typeface="Calibri"/>
              </a:rPr>
              <a:t>P</a:t>
            </a:r>
            <a:r>
              <a:rPr b="0" i="1" lang="en-US" sz="2800" spc="-1" strike="noStrike">
                <a:solidFill>
                  <a:schemeClr val="dk1"/>
                </a:solidFill>
                <a:latin typeface="Calibri"/>
              </a:rPr>
              <a:t>, C) = M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algn="ctr" defTabSz="457200">
              <a:lnSpc>
                <a:spcPct val="100000"/>
              </a:lnSpc>
              <a:spcBef>
                <a:spcPts val="700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grpSp>
        <p:nvGrpSpPr>
          <p:cNvPr id="311" name="Group 11"/>
          <p:cNvGrpSpPr/>
          <p:nvPr/>
        </p:nvGrpSpPr>
        <p:grpSpPr>
          <a:xfrm>
            <a:off x="818640" y="3030120"/>
            <a:ext cx="6663600" cy="518040"/>
            <a:chOff x="818640" y="3030120"/>
            <a:chExt cx="6663600" cy="518040"/>
          </a:xfrm>
        </p:grpSpPr>
        <p:sp>
          <p:nvSpPr>
            <p:cNvPr id="312" name="Rectangular Callout 3"/>
            <p:cNvSpPr/>
            <p:nvPr/>
          </p:nvSpPr>
          <p:spPr>
            <a:xfrm flipH="1">
              <a:off x="818640" y="3046320"/>
              <a:ext cx="6608880" cy="501840"/>
            </a:xfrm>
            <a:prstGeom prst="wedgeRectCallout">
              <a:avLst>
                <a:gd name="adj1" fmla="val -6514"/>
                <a:gd name="adj2" fmla="val 100600"/>
              </a:avLst>
            </a:prstGeom>
            <a:solidFill>
              <a:srgbClr val="da1f28"/>
            </a:solidFill>
            <a:ln w="38100">
              <a:solidFill>
                <a:srgbClr val="6d101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Tw Cen MT"/>
              </a:endParaRPr>
            </a:p>
          </p:txBody>
        </p:sp>
        <p:sp>
          <p:nvSpPr>
            <p:cNvPr id="313" name="TextBox 11"/>
            <p:cNvSpPr/>
            <p:nvPr/>
          </p:nvSpPr>
          <p:spPr>
            <a:xfrm flipH="1">
              <a:off x="873360" y="3030120"/>
              <a:ext cx="6608880" cy="51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2800" spc="-1" strike="noStrike">
                  <a:solidFill>
                    <a:srgbClr val="ffffff"/>
                  </a:solidFill>
                  <a:latin typeface="Calibri"/>
                </a:rPr>
                <a:t>Encrypt with the public key…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4" name="Group 14"/>
          <p:cNvGrpSpPr/>
          <p:nvPr/>
        </p:nvGrpSpPr>
        <p:grpSpPr>
          <a:xfrm>
            <a:off x="5298120" y="6082920"/>
            <a:ext cx="6663600" cy="516600"/>
            <a:chOff x="5298120" y="6082920"/>
            <a:chExt cx="6663600" cy="516600"/>
          </a:xfrm>
        </p:grpSpPr>
        <p:sp>
          <p:nvSpPr>
            <p:cNvPr id="315" name="Rectangular Callout 4"/>
            <p:cNvSpPr/>
            <p:nvPr/>
          </p:nvSpPr>
          <p:spPr>
            <a:xfrm flipH="1">
              <a:off x="5298120" y="6082920"/>
              <a:ext cx="6608880" cy="501840"/>
            </a:xfrm>
            <a:prstGeom prst="wedgeRectCallout">
              <a:avLst>
                <a:gd name="adj1" fmla="val 15787"/>
                <a:gd name="adj2" fmla="val -95012"/>
              </a:avLst>
            </a:prstGeom>
            <a:solidFill>
              <a:srgbClr val="da1f28"/>
            </a:solidFill>
            <a:ln w="38100">
              <a:solidFill>
                <a:srgbClr val="6d101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Tw Cen MT"/>
              </a:endParaRPr>
            </a:p>
          </p:txBody>
        </p:sp>
        <p:sp>
          <p:nvSpPr>
            <p:cNvPr id="316" name="TextBox 12"/>
            <p:cNvSpPr/>
            <p:nvPr/>
          </p:nvSpPr>
          <p:spPr>
            <a:xfrm flipH="1">
              <a:off x="5352840" y="6082920"/>
              <a:ext cx="6608880" cy="51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2800" spc="-1" strike="noStrike">
                  <a:solidFill>
                    <a:srgbClr val="ffffff"/>
                  </a:solidFill>
                  <a:latin typeface="Calibri"/>
                </a:rPr>
                <a:t>Decrypt with the private key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" name="PlaceHolder 3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A40F58DB-B82E-43F6-A696-2B2C70171D89}" type="slidenum">
              <a:t>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60" dur="indefinite" restart="never" nodeType="tmRoot">
          <p:childTnLst>
            <p:seq>
              <p:cTn id="461" dur="indefinite" nodeType="mainSeq">
                <p:childTnLst>
                  <p:par>
                    <p:cTn id="462" fill="hold">
                      <p:stCondLst>
                        <p:cond delay="indefinite"/>
                      </p:stCondLst>
                      <p:childTnLst>
                        <p:par>
                          <p:cTn id="463" fill="hold">
                            <p:stCondLst>
                              <p:cond delay="0"/>
                            </p:stCondLst>
                            <p:childTnLst>
                              <p:par>
                                <p:cTn id="464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6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67" dur="50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68" dur="50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9" fill="hold">
                      <p:stCondLst>
                        <p:cond delay="indefinite"/>
                      </p:stCondLst>
                      <p:childTnLst>
                        <p:par>
                          <p:cTn id="470" fill="hold">
                            <p:stCondLst>
                              <p:cond delay="0"/>
                            </p:stCondLst>
                            <p:childTnLst>
                              <p:par>
                                <p:cTn id="471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3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74" dur="50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75" dur="50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Left Arrow 20"/>
          <p:cNvSpPr/>
          <p:nvPr/>
        </p:nvSpPr>
        <p:spPr>
          <a:xfrm rot="127200">
            <a:off x="3405240" y="2584440"/>
            <a:ext cx="6835680" cy="33444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8" name="Right Arrow 2"/>
          <p:cNvSpPr/>
          <p:nvPr/>
        </p:nvSpPr>
        <p:spPr>
          <a:xfrm>
            <a:off x="1910880" y="1746360"/>
            <a:ext cx="8334000" cy="468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9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Public Key Crypto in Action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0" name="PlaceHolder 2"/>
          <p:cNvSpPr>
            <a:spLocks noGrp="1"/>
          </p:cNvSpPr>
          <p:nvPr>
            <p:ph/>
          </p:nvPr>
        </p:nvSpPr>
        <p:spPr>
          <a:xfrm>
            <a:off x="203040" y="4926960"/>
            <a:ext cx="11784960" cy="177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Safe to distribute the public key K</a:t>
            </a:r>
            <a:r>
              <a:rPr b="0" lang="en-US" sz="3200" spc="-1" strike="noStrike" baseline="-25000">
                <a:solidFill>
                  <a:schemeClr val="dk1"/>
                </a:solidFill>
                <a:latin typeface="Calibri"/>
              </a:rPr>
              <a:t>P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Can only decrypt with the private key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K</a:t>
            </a:r>
            <a:r>
              <a:rPr b="0" lang="en-US" sz="2400" spc="-1" strike="noStrike" baseline="-25000">
                <a:solidFill>
                  <a:schemeClr val="dk1"/>
                </a:solidFill>
                <a:latin typeface="Calibri"/>
              </a:rPr>
              <a:t>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Computationally infeasible to derive K</a:t>
            </a:r>
            <a:r>
              <a:rPr b="0" lang="en-US" sz="2800" spc="-1" strike="noStrike" baseline="-25000">
                <a:solidFill>
                  <a:schemeClr val="dk1"/>
                </a:solidFill>
                <a:latin typeface="Calibri"/>
              </a:rPr>
              <a:t>S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from K</a:t>
            </a:r>
            <a:r>
              <a:rPr b="0" lang="en-US" sz="2800" spc="-1" strike="noStrike" baseline="-25000">
                <a:solidFill>
                  <a:schemeClr val="dk1"/>
                </a:solidFill>
                <a:latin typeface="Calibri"/>
              </a:rPr>
              <a:t>P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56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321" name="Picture 44" descr="D:\Pictures\soft-scraps icons\User Coat Green-01.png"/>
          <p:cNvPicPr/>
          <p:nvPr/>
        </p:nvPicPr>
        <p:blipFill>
          <a:blip r:embed="rId1"/>
          <a:stretch/>
        </p:blipFill>
        <p:spPr>
          <a:xfrm>
            <a:off x="559440" y="1611000"/>
            <a:ext cx="1131840" cy="848880"/>
          </a:xfrm>
          <a:prstGeom prst="rect">
            <a:avLst/>
          </a:prstGeom>
          <a:ln w="0">
            <a:noFill/>
          </a:ln>
        </p:spPr>
      </p:pic>
      <p:pic>
        <p:nvPicPr>
          <p:cNvPr id="322" name="Picture 45" descr="D:\Classes\5700\assets\devil-icon.png"/>
          <p:cNvPicPr/>
          <p:nvPr/>
        </p:nvPicPr>
        <p:blipFill>
          <a:blip r:embed="rId2"/>
          <a:stretch/>
        </p:blipFill>
        <p:spPr>
          <a:xfrm>
            <a:off x="5292000" y="3084480"/>
            <a:ext cx="1490760" cy="1118160"/>
          </a:xfrm>
          <a:prstGeom prst="rect">
            <a:avLst/>
          </a:prstGeom>
          <a:ln w="0">
            <a:noFill/>
          </a:ln>
        </p:spPr>
      </p:pic>
      <p:pic>
        <p:nvPicPr>
          <p:cNvPr id="323" name="Picture 46" descr="D:\Classes\5700\assets\Email-01.png"/>
          <p:cNvPicPr/>
          <p:nvPr/>
        </p:nvPicPr>
        <p:blipFill>
          <a:blip r:embed="rId3"/>
          <a:stretch/>
        </p:blipFill>
        <p:spPr>
          <a:xfrm>
            <a:off x="10429200" y="2622960"/>
            <a:ext cx="1045080" cy="783720"/>
          </a:xfrm>
          <a:prstGeom prst="rect">
            <a:avLst/>
          </a:prstGeom>
          <a:ln w="0">
            <a:noFill/>
          </a:ln>
        </p:spPr>
      </p:pic>
      <p:pic>
        <p:nvPicPr>
          <p:cNvPr id="324" name="Picture 47" descr="D:\Classes\5700\assets\User Coat Blue-01.png"/>
          <p:cNvPicPr/>
          <p:nvPr/>
        </p:nvPicPr>
        <p:blipFill>
          <a:blip r:embed="rId4"/>
          <a:stretch/>
        </p:blipFill>
        <p:spPr>
          <a:xfrm>
            <a:off x="10386000" y="1611000"/>
            <a:ext cx="1131840" cy="848880"/>
          </a:xfrm>
          <a:prstGeom prst="rect">
            <a:avLst/>
          </a:prstGeom>
          <a:ln w="0">
            <a:noFill/>
          </a:ln>
        </p:spPr>
      </p:pic>
      <p:sp>
        <p:nvSpPr>
          <p:cNvPr id="325" name="TextBox 9"/>
          <p:cNvSpPr/>
          <p:nvPr/>
        </p:nvSpPr>
        <p:spPr>
          <a:xfrm>
            <a:off x="568080" y="2553480"/>
            <a:ext cx="1114920" cy="50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&lt;K</a:t>
            </a:r>
            <a:r>
              <a:rPr b="0" lang="en-US" sz="2400" spc="-1" strike="noStrike" baseline="-25000">
                <a:solidFill>
                  <a:schemeClr val="dk1"/>
                </a:solidFill>
                <a:latin typeface="Calibri"/>
              </a:rPr>
              <a:t>P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, K</a:t>
            </a:r>
            <a:r>
              <a:rPr b="0" lang="en-US" sz="2400" spc="-1" strike="noStrike" baseline="-25000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&gt;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Pentagon 8"/>
          <p:cNvSpPr/>
          <p:nvPr/>
        </p:nvSpPr>
        <p:spPr>
          <a:xfrm rot="5400000">
            <a:off x="5164560" y="2210760"/>
            <a:ext cx="1463400" cy="283320"/>
          </a:xfrm>
          <a:prstGeom prst="homePlate">
            <a:avLst>
              <a:gd name="adj" fmla="val 50000"/>
            </a:avLst>
          </a:prstGeom>
          <a:solidFill>
            <a:schemeClr val="accent2"/>
          </a:solidFill>
          <a:ln w="38100">
            <a:solidFill>
              <a:srgbClr val="c0504d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7" name="TextBox 10"/>
          <p:cNvSpPr/>
          <p:nvPr/>
        </p:nvSpPr>
        <p:spPr>
          <a:xfrm>
            <a:off x="5681160" y="4203000"/>
            <a:ext cx="428040" cy="50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K</a:t>
            </a:r>
            <a:r>
              <a:rPr b="0" lang="en-US" sz="2400" spc="-1" strike="noStrike" baseline="-25000">
                <a:solidFill>
                  <a:schemeClr val="dk1"/>
                </a:solidFill>
                <a:latin typeface="Calibri"/>
              </a:rPr>
              <a:t>P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Box 13"/>
          <p:cNvSpPr/>
          <p:nvPr/>
        </p:nvSpPr>
        <p:spPr>
          <a:xfrm>
            <a:off x="9687960" y="2352600"/>
            <a:ext cx="428040" cy="50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K</a:t>
            </a:r>
            <a:r>
              <a:rPr b="0" lang="en-US" sz="2400" spc="-1" strike="noStrike" baseline="-25000">
                <a:solidFill>
                  <a:schemeClr val="dk1"/>
                </a:solidFill>
                <a:latin typeface="Calibri"/>
              </a:rPr>
              <a:t>P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9" name="Picture 62" descr="D:\Pictures\soft-scraps icons\Lock Lock-01.png"/>
          <p:cNvPicPr/>
          <p:nvPr/>
        </p:nvPicPr>
        <p:blipFill>
          <a:blip r:embed="rId5"/>
          <a:stretch/>
        </p:blipFill>
        <p:spPr>
          <a:xfrm rot="1561800">
            <a:off x="10328400" y="2910240"/>
            <a:ext cx="547200" cy="471600"/>
          </a:xfrm>
          <a:prstGeom prst="rect">
            <a:avLst/>
          </a:prstGeom>
          <a:ln w="0">
            <a:noFill/>
          </a:ln>
        </p:spPr>
      </p:pic>
      <p:pic>
        <p:nvPicPr>
          <p:cNvPr id="330" name="Picture 63" descr="D:\Classes\5700\assets\Email-01.png"/>
          <p:cNvPicPr/>
          <p:nvPr/>
        </p:nvPicPr>
        <p:blipFill>
          <a:blip r:embed="rId6"/>
          <a:stretch/>
        </p:blipFill>
        <p:spPr>
          <a:xfrm>
            <a:off x="6783840" y="3887280"/>
            <a:ext cx="1045080" cy="783720"/>
          </a:xfrm>
          <a:prstGeom prst="rect">
            <a:avLst/>
          </a:prstGeom>
          <a:ln w="0">
            <a:noFill/>
          </a:ln>
        </p:spPr>
      </p:pic>
      <p:pic>
        <p:nvPicPr>
          <p:cNvPr id="331" name="Picture 64" descr="D:\Pictures\soft-scraps icons\Lock Lock-01.png"/>
          <p:cNvPicPr/>
          <p:nvPr/>
        </p:nvPicPr>
        <p:blipFill>
          <a:blip r:embed="rId7"/>
          <a:stretch/>
        </p:blipFill>
        <p:spPr>
          <a:xfrm rot="1561800">
            <a:off x="6683040" y="4174920"/>
            <a:ext cx="547200" cy="471600"/>
          </a:xfrm>
          <a:prstGeom prst="rect">
            <a:avLst/>
          </a:prstGeom>
          <a:ln w="0">
            <a:noFill/>
          </a:ln>
        </p:spPr>
      </p:pic>
      <p:pic>
        <p:nvPicPr>
          <p:cNvPr id="332" name="Picture 65" descr="D:\Classes\5700\assets\Email-01.png"/>
          <p:cNvPicPr/>
          <p:nvPr/>
        </p:nvPicPr>
        <p:blipFill>
          <a:blip r:embed="rId8"/>
          <a:stretch/>
        </p:blipFill>
        <p:spPr>
          <a:xfrm>
            <a:off x="2222640" y="2293920"/>
            <a:ext cx="1045080" cy="783720"/>
          </a:xfrm>
          <a:prstGeom prst="rect">
            <a:avLst/>
          </a:prstGeom>
          <a:ln w="0">
            <a:noFill/>
          </a:ln>
        </p:spPr>
      </p:pic>
      <p:pic>
        <p:nvPicPr>
          <p:cNvPr id="333" name="Picture 66" descr="D:\Pictures\soft-scraps icons\Lock Lock-01.png"/>
          <p:cNvPicPr/>
          <p:nvPr/>
        </p:nvPicPr>
        <p:blipFill>
          <a:blip r:embed="rId9"/>
          <a:stretch/>
        </p:blipFill>
        <p:spPr>
          <a:xfrm rot="1561800">
            <a:off x="2121840" y="2581560"/>
            <a:ext cx="547200" cy="471600"/>
          </a:xfrm>
          <a:prstGeom prst="rect">
            <a:avLst/>
          </a:prstGeom>
          <a:ln w="0">
            <a:noFill/>
          </a:ln>
        </p:spPr>
      </p:pic>
      <p:sp>
        <p:nvSpPr>
          <p:cNvPr id="334" name="&quot;No&quot; Symbol 2"/>
          <p:cNvSpPr/>
          <p:nvPr/>
        </p:nvSpPr>
        <p:spPr>
          <a:xfrm>
            <a:off x="6667920" y="3767760"/>
            <a:ext cx="1301760" cy="976320"/>
          </a:xfrm>
          <a:prstGeom prst="noSmoking">
            <a:avLst>
              <a:gd name="adj" fmla="val 13955"/>
            </a:avLst>
          </a:prstGeom>
          <a:solidFill>
            <a:schemeClr val="accent3"/>
          </a:solidFill>
          <a:ln>
            <a:solidFill>
              <a:srgbClr val="9bbb59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FC2E8056-7D89-4203-AD54-CA2B2631A833}" type="slidenum">
              <a:t>27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76" dur="indefinite" restart="never" nodeType="tmRoot">
          <p:childTnLst>
            <p:seq>
              <p:cTn id="477" dur="indefinite" nodeType="mainSeq">
                <p:childTnLst>
                  <p:par>
                    <p:cTn id="478" fill="hold">
                      <p:stCondLst>
                        <p:cond delay="indefinite"/>
                      </p:stCondLst>
                      <p:childTnLst>
                        <p:par>
                          <p:cTn id="479" fill="hold">
                            <p:stCondLst>
                              <p:cond delay="0"/>
                            </p:stCondLst>
                            <p:childTnLst>
                              <p:par>
                                <p:cTn id="480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482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3" fill="hold">
                            <p:stCondLst>
                              <p:cond delay="500"/>
                            </p:stCondLst>
                            <p:childTnLst>
                              <p:par>
                                <p:cTn id="484" nodeType="after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86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87" dur="50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88" dur="50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9" fill="hold">
                      <p:stCondLst>
                        <p:cond delay="indefinite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id="491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93"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94" dur="500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95" dur="500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6" fill="hold">
                      <p:stCondLst>
                        <p:cond delay="indefinite"/>
                      </p:stCondLst>
                      <p:childTnLst>
                        <p:par>
                          <p:cTn id="497" fill="hold">
                            <p:stCondLst>
                              <p:cond delay="0"/>
                            </p:stCondLst>
                            <p:childTnLst>
                              <p:par>
                                <p:cTn id="498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499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1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03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504" dur="50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05" dur="50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6" fill="hold">
                            <p:stCondLst>
                              <p:cond delay="500"/>
                            </p:stCondLst>
                            <p:childTnLst>
                              <p:par>
                                <p:cTn id="507" nodeType="afterEffect" fill="hold" presetClass="entr" presetID="2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 additive="repl">
                                        <p:cTn id="509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1" nodeType="after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13"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514" dur="500" fill="hold"/>
                                        <p:tgtEl>
                                          <p:spTgt spid="3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15" dur="500" fill="hold"/>
                                        <p:tgtEl>
                                          <p:spTgt spid="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6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18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519" dur="500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20" dur="500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1" fill="hold">
                      <p:stCondLst>
                        <p:cond delay="indefinite"/>
                      </p:stCondLst>
                      <p:childTnLst>
                        <p:par>
                          <p:cTn id="522" fill="hold">
                            <p:stCondLst>
                              <p:cond delay="0"/>
                            </p:stCondLst>
                            <p:childTnLst>
                              <p:par>
                                <p:cTn id="523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25"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526" dur="50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27" dur="50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8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30"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531" dur="500" fill="hold"/>
                                        <p:tgtEl>
                                          <p:spTgt spid="3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32" dur="500" fill="hold"/>
                                        <p:tgtEl>
                                          <p:spTgt spid="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3" fill="hold">
                      <p:stCondLst>
                        <p:cond delay="indefinite"/>
                      </p:stCondLst>
                      <p:childTnLst>
                        <p:par>
                          <p:cTn id="534" fill="hold">
                            <p:stCondLst>
                              <p:cond delay="0"/>
                            </p:stCondLst>
                            <p:childTnLst>
                              <p:par>
                                <p:cTn id="535" nodeType="clickEffect" fill="hold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536" dur="500"/>
                                        <p:tgtEl>
                                          <p:spTgt spid="3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37" dur="500"/>
                                        <p:tgtEl>
                                          <p:spTgt spid="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9" nodeType="with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541"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2" fill="hold">
                      <p:stCondLst>
                        <p:cond delay="indefinite"/>
                      </p:stCondLst>
                      <p:childTnLst>
                        <p:par>
                          <p:cTn id="543" fill="hold">
                            <p:stCondLst>
                              <p:cond delay="0"/>
                            </p:stCondLst>
                            <p:childTnLst>
                              <p:par>
                                <p:cTn id="544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46" dur="500"/>
                                        <p:tgtEl>
                                          <p:spTgt spid="3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547" dur="500" fill="hold"/>
                                        <p:tgtEl>
                                          <p:spTgt spid="3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48" dur="500" fill="hold"/>
                                        <p:tgtEl>
                                          <p:spTgt spid="3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9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51" dur="500"/>
                                        <p:tgtEl>
                                          <p:spTgt spid="3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552" dur="500" fill="hold"/>
                                        <p:tgtEl>
                                          <p:spTgt spid="3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53" dur="500" fill="hold"/>
                                        <p:tgtEl>
                                          <p:spTgt spid="3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4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56" dur="500"/>
                                        <p:tgtEl>
                                          <p:spTgt spid="3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557" dur="500" fill="hold"/>
                                        <p:tgtEl>
                                          <p:spTgt spid="3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58" dur="500" fill="hold"/>
                                        <p:tgtEl>
                                          <p:spTgt spid="3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96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Crowds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6" name="PlaceHolder 2"/>
          <p:cNvSpPr>
            <a:spLocks noGrp="1"/>
          </p:cNvSpPr>
          <p:nvPr>
            <p:ph type="subTitle"/>
          </p:nvPr>
        </p:nvSpPr>
        <p:spPr>
          <a:xfrm>
            <a:off x="1828800" y="3886200"/>
            <a:ext cx="853416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chemeClr val="dk1">
                  <a:tint val="75000"/>
                </a:schemeClr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31495324-5795-437A-8C9F-2E25088CEB2C}" type="slidenum">
              <a:t>28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Crowds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blipFill rotWithShape="0">
            <a:blip r:embed="rId1"/>
            <a:stretch/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8E0AAD92-52F6-4661-821E-070CD9B29E9A}" type="slidenum">
              <a:t>29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Picture 55" descr="D:\Classes\5700\assets\social_google_box.png"/>
          <p:cNvPicPr/>
          <p:nvPr/>
        </p:nvPicPr>
        <p:blipFill>
          <a:blip r:embed="rId1"/>
          <a:stretch/>
        </p:blipFill>
        <p:spPr>
          <a:xfrm>
            <a:off x="9740520" y="5368680"/>
            <a:ext cx="1267200" cy="950400"/>
          </a:xfrm>
          <a:prstGeom prst="rect">
            <a:avLst/>
          </a:prstGeom>
          <a:ln w="0">
            <a:noFill/>
          </a:ln>
        </p:spPr>
      </p:pic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Crowds Example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1" name="PlaceHolder 2"/>
          <p:cNvSpPr>
            <a:spLocks noGrp="1"/>
          </p:cNvSpPr>
          <p:nvPr>
            <p:ph/>
          </p:nvPr>
        </p:nvSpPr>
        <p:spPr>
          <a:xfrm>
            <a:off x="203040" y="5261760"/>
            <a:ext cx="8349840" cy="149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Links between users use public key crypto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Users may appear on the path multiple times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342" name="Picture 56" descr="D:\Pictures\soft-scraps icons\User Coat Green-01.png"/>
          <p:cNvPicPr/>
          <p:nvPr/>
        </p:nvPicPr>
        <p:blipFill>
          <a:blip r:embed="rId2"/>
          <a:stretch/>
        </p:blipFill>
        <p:spPr>
          <a:xfrm>
            <a:off x="705960" y="1847520"/>
            <a:ext cx="1344600" cy="1008360"/>
          </a:xfrm>
          <a:prstGeom prst="rect">
            <a:avLst/>
          </a:prstGeom>
          <a:ln w="0">
            <a:noFill/>
          </a:ln>
        </p:spPr>
      </p:pic>
      <p:pic>
        <p:nvPicPr>
          <p:cNvPr id="343" name="Picture 57" descr="D:\Pictures\soft-scraps icons\User Preppy Blue-01.png"/>
          <p:cNvPicPr/>
          <p:nvPr/>
        </p:nvPicPr>
        <p:blipFill>
          <a:blip r:embed="rId3"/>
          <a:stretch/>
        </p:blipFill>
        <p:spPr>
          <a:xfrm>
            <a:off x="4901760" y="1864080"/>
            <a:ext cx="1344600" cy="1008360"/>
          </a:xfrm>
          <a:prstGeom prst="rect">
            <a:avLst/>
          </a:prstGeom>
          <a:ln w="0">
            <a:noFill/>
          </a:ln>
        </p:spPr>
      </p:pic>
      <p:pic>
        <p:nvPicPr>
          <p:cNvPr id="344" name="Picture 58" descr="D:\Pictures\soft-scraps icons\User Preppy Green-01.png"/>
          <p:cNvPicPr/>
          <p:nvPr/>
        </p:nvPicPr>
        <p:blipFill>
          <a:blip r:embed="rId4"/>
          <a:stretch/>
        </p:blipFill>
        <p:spPr>
          <a:xfrm>
            <a:off x="2840400" y="2246400"/>
            <a:ext cx="1344600" cy="1008360"/>
          </a:xfrm>
          <a:prstGeom prst="rect">
            <a:avLst/>
          </a:prstGeom>
          <a:ln w="0">
            <a:noFill/>
          </a:ln>
        </p:spPr>
      </p:pic>
      <p:pic>
        <p:nvPicPr>
          <p:cNvPr id="345" name="Picture 59" descr="D:\Pictures\soft-scraps icons\User Administrator Blue-01.png"/>
          <p:cNvPicPr/>
          <p:nvPr/>
        </p:nvPicPr>
        <p:blipFill>
          <a:blip r:embed="rId5"/>
          <a:stretch/>
        </p:blipFill>
        <p:spPr>
          <a:xfrm>
            <a:off x="7207920" y="1649520"/>
            <a:ext cx="1344600" cy="1008360"/>
          </a:xfrm>
          <a:prstGeom prst="rect">
            <a:avLst/>
          </a:prstGeom>
          <a:ln w="0">
            <a:noFill/>
          </a:ln>
        </p:spPr>
      </p:pic>
      <p:pic>
        <p:nvPicPr>
          <p:cNvPr id="346" name="Picture 60" descr="D:\Pictures\soft-scraps icons\User Executive Blue-01.png"/>
          <p:cNvPicPr/>
          <p:nvPr/>
        </p:nvPicPr>
        <p:blipFill>
          <a:blip r:embed="rId6"/>
          <a:stretch/>
        </p:blipFill>
        <p:spPr>
          <a:xfrm>
            <a:off x="10228680" y="1972080"/>
            <a:ext cx="1344600" cy="1008360"/>
          </a:xfrm>
          <a:prstGeom prst="rect">
            <a:avLst/>
          </a:prstGeom>
          <a:ln w="0">
            <a:noFill/>
          </a:ln>
        </p:spPr>
      </p:pic>
      <p:sp>
        <p:nvSpPr>
          <p:cNvPr id="347" name="TextBox 14"/>
          <p:cNvSpPr/>
          <p:nvPr/>
        </p:nvSpPr>
        <p:spPr>
          <a:xfrm>
            <a:off x="9247320" y="6292080"/>
            <a:ext cx="22536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Final Destination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Curved Down Arrow 2"/>
          <p:cNvSpPr/>
          <p:nvPr/>
        </p:nvSpPr>
        <p:spPr>
          <a:xfrm rot="10800000">
            <a:off x="1378800" y="2930760"/>
            <a:ext cx="3787200" cy="857880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9" name="Bent Arrow 2"/>
          <p:cNvSpPr/>
          <p:nvPr/>
        </p:nvSpPr>
        <p:spPr>
          <a:xfrm flipH="1" rot="5400000">
            <a:off x="3368880" y="1998000"/>
            <a:ext cx="1525320" cy="3461040"/>
          </a:xfrm>
          <a:prstGeom prst="bentArrow">
            <a:avLst>
              <a:gd name="adj1" fmla="val 13371"/>
              <a:gd name="adj2" fmla="val 14713"/>
              <a:gd name="adj3" fmla="val 17844"/>
              <a:gd name="adj4" fmla="val 38383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0" name="Curved Up Arrow 2"/>
          <p:cNvSpPr/>
          <p:nvPr/>
        </p:nvSpPr>
        <p:spPr>
          <a:xfrm>
            <a:off x="745560" y="2981160"/>
            <a:ext cx="10262160" cy="1328040"/>
          </a:xfrm>
          <a:prstGeom prst="curvedUp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351" name="Picture 61" descr="D:\Pictures\soft-scraps icons\User Administrator Green-01.png"/>
          <p:cNvPicPr/>
          <p:nvPr/>
        </p:nvPicPr>
        <p:blipFill>
          <a:blip r:embed="rId7"/>
          <a:stretch/>
        </p:blipFill>
        <p:spPr>
          <a:xfrm>
            <a:off x="5862600" y="3645360"/>
            <a:ext cx="1344600" cy="1008360"/>
          </a:xfrm>
          <a:prstGeom prst="rect">
            <a:avLst/>
          </a:prstGeom>
          <a:ln w="0">
            <a:noFill/>
          </a:ln>
        </p:spPr>
      </p:pic>
      <p:pic>
        <p:nvPicPr>
          <p:cNvPr id="352" name="Picture 73" descr="D:\Pictures\soft-scraps icons\User Executive Green-01.png"/>
          <p:cNvPicPr/>
          <p:nvPr/>
        </p:nvPicPr>
        <p:blipFill>
          <a:blip r:embed="rId8"/>
          <a:stretch/>
        </p:blipFill>
        <p:spPr>
          <a:xfrm>
            <a:off x="8883720" y="3203640"/>
            <a:ext cx="1344600" cy="1008360"/>
          </a:xfrm>
          <a:prstGeom prst="rect">
            <a:avLst/>
          </a:prstGeom>
          <a:ln w="0">
            <a:noFill/>
          </a:ln>
        </p:spPr>
      </p:pic>
      <p:pic>
        <p:nvPicPr>
          <p:cNvPr id="353" name="Picture 74" descr="D:\Classes\5700\assets\User Coat Blue-01.png"/>
          <p:cNvPicPr/>
          <p:nvPr/>
        </p:nvPicPr>
        <p:blipFill>
          <a:blip r:embed="rId9"/>
          <a:stretch/>
        </p:blipFill>
        <p:spPr>
          <a:xfrm>
            <a:off x="1055880" y="3645360"/>
            <a:ext cx="1344600" cy="1008360"/>
          </a:xfrm>
          <a:prstGeom prst="rect">
            <a:avLst/>
          </a:prstGeom>
          <a:ln w="0">
            <a:noFill/>
          </a:ln>
        </p:spPr>
      </p:pic>
      <p:pic>
        <p:nvPicPr>
          <p:cNvPr id="354" name="Picture 75" descr="D:\Classes\5700\assets\Email-01.png"/>
          <p:cNvPicPr/>
          <p:nvPr/>
        </p:nvPicPr>
        <p:blipFill>
          <a:blip r:embed="rId10"/>
          <a:stretch/>
        </p:blipFill>
        <p:spPr>
          <a:xfrm>
            <a:off x="1902240" y="4216320"/>
            <a:ext cx="1045080" cy="783720"/>
          </a:xfrm>
          <a:prstGeom prst="rect">
            <a:avLst/>
          </a:prstGeom>
          <a:ln w="0">
            <a:noFill/>
          </a:ln>
        </p:spPr>
      </p:pic>
      <p:pic>
        <p:nvPicPr>
          <p:cNvPr id="355" name="Picture 76" descr="D:\Classes\5700\assets\Email-01.png"/>
          <p:cNvPicPr/>
          <p:nvPr/>
        </p:nvPicPr>
        <p:blipFill>
          <a:blip r:embed="rId11"/>
          <a:stretch/>
        </p:blipFill>
        <p:spPr>
          <a:xfrm>
            <a:off x="10485360" y="5059800"/>
            <a:ext cx="1045080" cy="78372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065D9C28-8C71-4400-88EB-53536C166E2E}" type="slidenum">
              <a:t>30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59" dur="indefinite" restart="never" nodeType="tmRoot">
          <p:childTnLst>
            <p:seq>
              <p:cTn id="560" dur="indefinite" nodeType="mainSeq">
                <p:childTnLst>
                  <p:par>
                    <p:cTn id="561" fill="hold">
                      <p:stCondLst>
                        <p:cond delay="indefinite"/>
                      </p:stCondLst>
                      <p:childTnLst>
                        <p:par>
                          <p:cTn id="562" fill="hold">
                            <p:stCondLst>
                              <p:cond delay="0"/>
                            </p:stCondLst>
                            <p:childTnLst>
                              <p:par>
                                <p:cTn id="563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65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566" dur="500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67" dur="500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8" fill="hold">
                      <p:stCondLst>
                        <p:cond delay="indefinite"/>
                      </p:stCondLst>
                      <p:childTnLst>
                        <p:par>
                          <p:cTn id="569" fill="hold">
                            <p:stCondLst>
                              <p:cond delay="0"/>
                            </p:stCondLst>
                            <p:childTnLst>
                              <p:par>
                                <p:cTn id="570" nodeType="clickEffect" fill="hold" presetClass="path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0.00069 C 0.0191 0.00301 0.03819 0.00139 0.05781 -0.00139 C 0.06771 -0.00578 0.0776 -0.01018 0.08767 -0.01318 C 0.09305 -0.02058 0.10121 -0.02267 0.10851 -0.02521 C 0.11823 -0.02868 0.12726 -0.03654 0.1368 -0.04117 C 0.14114 -0.04649 0.14462 -0.04718 0.15035 -0.04903 C 0.1684 -0.06106 0.18559 -0.07401 0.2026 -0.08881 C 0.20486 -0.09089 0.20625 -0.09436 0.20851 -0.09667 C 0.21684 -0.10569 0.21649 -0.10245 0.22344 -0.11078 C 0.23785 -0.12789 0.22726 -0.11795 0.2368 -0.1265 C 0.24201 -0.13645 0.23837 -0.13113 0.24878 -0.14061 C 0.25434 -0.1457 0.26111 -0.15726 0.26528 -0.16443 C 0.26788 -0.16883 0.275 -0.18062 0.27708 -0.18617 C 0.27778 -0.18802 0.27778 -0.19033 0.27864 -0.19218 C 0.27986 -0.1945 0.28177 -0.19588 0.28316 -0.1982 C 0.28542 -0.2019 0.28715 -0.20606 0.28906 -0.20999 C 0.29271 -0.21716 0.29305 -0.22341 0.29809 -0.22988 C 0.29965 -0.23682 0.30243 -0.24283 0.30399 -0.24977 C 0.30451 -0.25254 0.30555 -0.25786 0.30555 -0.25786 E">
                                      <p:cBhvr>
                                        <p:cTn id="571" dur="1250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2" fill="hold">
                      <p:stCondLst>
                        <p:cond delay="indefinite"/>
                      </p:stCondLst>
                      <p:childTnLst>
                        <p:par>
                          <p:cTn id="573" fill="hold">
                            <p:stCondLst>
                              <p:cond delay="0"/>
                            </p:stCondLst>
                            <p:childTnLst>
                              <p:par>
                                <p:cTn id="574" nodeType="clickEffect" fill="hold" presetClass="path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0556 -0.25763 C 0.30278 -0.24723 0.30122 -0.23682 0.29653 -0.2278 C 0.29253 -0.21046 0.28472 -0.19565 0.27118 -0.1901 C 0.26562 -0.18224 0.24792 -0.17276 0.23993 -0.16813 C 0.23785 -0.16698 0.23316 -0.16513 0.2309 -0.1642 C 0.22795 -0.16281 0.22205 -0.16027 0.22205 -0.16027 C 0.21701 -0.15356 0.21059 -0.1531 0.20399 -0.15033 C 0.19219 -0.13899 0.17187 -0.13622 0.15781 -0.13437 C 0.13889 -0.13506 0.11997 -0.13506 0.10104 -0.13622 C 0.09444 -0.13668 0.08941 -0.14015 0.08316 -0.14223 C 0.06545 -0.14801 0.04983 -0.15888 0.03247 -0.16605 C 0.02656 -0.17438 0.01719 -0.17392 0.01007 -0.18016 C 0.00295 -0.1864 -0.00226 -0.18872 -0.00938 -0.19404 C -0.01944 -0.20167 -0.02431 -0.21554 -0.03333 -0.22387 C -0.03438 -0.22572 -0.03559 -0.22757 -0.03628 -0.22965 C -0.03698 -0.2315 -0.03681 -0.23381 -0.03767 -0.23566 C -0.03924 -0.2389 -0.04184 -0.24098 -0.04375 -0.24376 C -0.04566 -0.25139 -0.04514 -0.24746 -0.04514 -0.25555 E">
                                      <p:cBhvr>
                                        <p:cTn id="575" dur="1250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6" fill="hold">
                      <p:stCondLst>
                        <p:cond delay="indefinite"/>
                      </p:stCondLst>
                      <p:childTnLst>
                        <p:par>
                          <p:cTn id="577" fill="hold">
                            <p:stCondLst>
                              <p:cond delay="0"/>
                            </p:stCondLst>
                            <p:childTnLst>
                              <p:par>
                                <p:cTn id="578" nodeType="clickEffect" fill="hold" presetClass="path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514 -0.25555 C -0.03056 -0.24584 -0.04514 -0.25787 -0.03768 -0.24561 C -0.03646 -0.24376 -0.03455 -0.2433 -0.03316 -0.24168 C -0.03056 -0.23867 -0.02847 -0.23451 -0.0257 -0.23173 C -0.01806 -0.22387 -0.01059 -0.21624 -0.0033 -0.20768 C -0.00122 -0.20514 0.00087 -0.20259 0.0026 -0.19982 C 0.00382 -0.19797 0.00434 -0.19542 0.00555 -0.19381 C 0.00677 -0.19219 0.00868 -0.19149 0.01007 -0.18987 C 0.01805 -0.18062 0.025 -0.16999 0.03403 -0.16212 C 0.03784 -0.15426 0.04635 -0.14524 0.0533 -0.14223 C 0.06163 -0.13506 0.06718 -0.12558 0.07725 -0.12234 C 0.0901 -0.11101 0.10451 -0.10454 0.11909 -0.09852 C 0.12413 -0.09159 0.12882 -0.0932 0.13541 -0.08858 C 0.15451 -0.07563 0.17708 -0.07077 0.19809 -0.06661 C 0.2059 -0.06337 0.21406 -0.06221 0.22205 -0.0606 C 0.24201 -0.05227 0.26389 -0.04926 0.28472 -0.04672 C 0.30312 -0.04094 0.32274 -0.04071 0.34149 -0.03886 C 0.36441 -0.03955 0.38715 -0.03955 0.40989 -0.04071 C 0.4283 -0.04163 0.44705 -0.05065 0.46528 -0.05273 C 0.47708 -0.05597 0.48923 -0.05666 0.50121 -0.05875 C 0.51284 -0.06083 0.52361 -0.06499 0.53541 -0.06661 C 0.55364 -0.07285 0.57291 -0.07401 0.59062 -0.08257 C 0.59618 -0.0895 0.60382 -0.08835 0.61007 -0.09436 C 0.6118 -0.09598 0.61284 -0.09875 0.61458 -0.10037 C 0.61597 -0.10153 0.61771 -0.10153 0.61909 -0.10246 C 0.62569 -0.10685 0.63142 -0.11124 0.63854 -0.11425 C 0.64392 -0.11934 0.64843 -0.12211 0.65486 -0.12419 C 0.6592 -0.13044 0.66528 -0.13159 0.67135 -0.13414 C 0.67569 -0.1383 0.68055 -0.13946 0.68472 -0.14408 C 0.68975 -0.14963 0.68837 -0.15287 0.69514 -0.15611 C 0.69635 -0.16097 0.70278 -0.17091 0.70555 -0.17392 C 0.70677 -0.1753 0.70868 -0.17507 0.71007 -0.176 C 0.71146 -0.17715 0.71319 -0.17831 0.71458 -0.17993 C 0.71771 -0.18363 0.7217 -0.18687 0.72361 -0.19196 C 0.72465 -0.1945 0.725 -0.19774 0.72656 -0.19982 C 0.7276 -0.20121 0.72951 -0.20121 0.73107 -0.2019 C 0.7342 -0.21462 0.73194 -0.21069 0.73541 -0.21578 E">
                                      <p:cBhvr>
                                        <p:cTn id="579" dur="1250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0" fill="hold">
                      <p:stCondLst>
                        <p:cond delay="indefinite"/>
                      </p:stCondLst>
                      <p:childTnLst>
                        <p:par>
                          <p:cTn id="581" fill="hold">
                            <p:stCondLst>
                              <p:cond delay="0"/>
                            </p:stCondLst>
                            <p:childTnLst>
                              <p:par>
                                <p:cTn id="582" nodeType="clickEffect" fill="hold" presetClass="path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73541 -0.21578 C 0.73802 -0.16929 0.73888 -0.12304 0.74288 -0.07655 C 0.74236 -0.06268 0.74236 -0.0488 0.74149 -0.03492 C 0.74027 -0.01434 0.73368 0.00693 0.72951 0.02682 C 0.72708 0.03792 0.72534 0.04903 0.72048 0.05874 C 0.71649 0.0747 0.7125 0.08811 0.70555 0.10245 C 0.70347 0.111 0.69982 0.11794 0.69513 0.12419 E">
                                      <p:cBhvr>
                                        <p:cTn id="583" dur="1250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4" fill="hold">
                      <p:stCondLst>
                        <p:cond delay="indefinite"/>
                      </p:stCondLst>
                      <p:childTnLst>
                        <p:par>
                          <p:cTn id="585" fill="hold">
                            <p:stCondLst>
                              <p:cond delay="0"/>
                            </p:stCondLst>
                            <p:childTnLst>
                              <p:par>
                                <p:cTn id="586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587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9" fill="hold">
                      <p:stCondLst>
                        <p:cond delay="indefinite"/>
                      </p:stCondLst>
                      <p:childTnLst>
                        <p:par>
                          <p:cTn id="590" fill="hold">
                            <p:stCondLst>
                              <p:cond delay="0"/>
                            </p:stCondLst>
                            <p:childTnLst>
                              <p:par>
                                <p:cTn id="59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93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4" fill="hold">
                            <p:stCondLst>
                              <p:cond delay="500"/>
                            </p:stCondLst>
                            <p:childTnLst>
                              <p:par>
                                <p:cTn id="595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97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9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01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2" fill="hold">
                      <p:stCondLst>
                        <p:cond delay="indefinite"/>
                      </p:stCondLst>
                      <p:childTnLst>
                        <p:par>
                          <p:cTn id="603" fill="hold">
                            <p:stCondLst>
                              <p:cond delay="0"/>
                            </p:stCondLst>
                            <p:childTnLst>
                              <p:par>
                                <p:cTn id="604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06"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607" dur="500" fill="hold"/>
                                        <p:tgtEl>
                                          <p:spTgt spid="3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08" dur="500" fill="hold"/>
                                        <p:tgtEl>
                                          <p:spTgt spid="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9" fill="hold">
                      <p:stCondLst>
                        <p:cond delay="indefinite"/>
                      </p:stCondLst>
                      <p:childTnLst>
                        <p:par>
                          <p:cTn id="610" fill="hold">
                            <p:stCondLst>
                              <p:cond delay="0"/>
                            </p:stCondLst>
                            <p:childTnLst>
                              <p:par>
                                <p:cTn id="611" nodeType="clickEffect" fill="hold" presetClass="path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006 -1.84089E-006 C 0.0099 -0.00347 0.01042 -0.00948 0.01649 -0.01989 C 0.0191 -0.03122 0.02049 -0.04324 0.02691 -0.0518 C 0.02795 -0.0666 0.0276 -0.08325 0.03142 -0.09736 C 0.03264 -0.1073 0.03351 -0.11748 0.03576 -0.12719 C 0.03663 -0.13136 0.03889 -0.13922 0.03889 -0.13922 C 0.04219 -0.17298 0.04063 -0.15911 0.04323 -0.18108 C 0.04514 -0.21739 0.05573 -0.26688 0.04028 -0.29833 C 0.03785 -0.30897 0.03038 -0.31544 0.02396 -0.32215 C 0.0158 -0.33071 0.02622 -0.32076 0.01788 -0.3321 C 0.0151 -0.3358 0.01181 -0.33834 0.00903 -0.34204 C 0.00156 -0.33557 0.000520000000000001 -0.32308 -0.00747 -0.31614 C -0.01267 -0.3055 -0.01354 -0.30203 -0.0224 -0.29833 C -0.03403 -0.28792 -0.02795 -0.29186 -0.04028 -0.28631 C -0.04653 -0.28353 -0.05174 -0.27705 -0.05816 -0.27451 C -0.07049 -0.26272 -0.08385 -0.25624 -0.09705 -0.24653 C -0.10937 -0.23751 -0.09653 -0.24236 -0.10903 -0.23866 C -0.11615 -0.23219 -0.12465 -0.22826 -0.13281 -0.22479 C -0.13872 -0.21669 -0.13229 -0.22409 -0.14184 -0.21878 C -0.14358 -0.21785 -0.14479 -0.216 -0.14635 -0.21484 C -0.15556 -0.2086 -0.16962 -0.20791 -0.17917 -0.20675 C -0.18889 -0.20259 -0.20017 -0.20097 -0.21042 -0.19889 C -0.21875 -0.19495 -0.22691 -0.19426 -0.23576 -0.19287 C -0.26128 -0.18108 -0.28819 -0.17368 -0.31493 -0.16905 C -0.32726 -0.16327 -0.34219 -0.1635 -0.35521 -0.16119 C -0.38073 -0.1568 -0.40573 -0.14986 -0.43142 -0.14708 C -0.46406 -0.13691 -0.50087 -0.14731 -0.53437 -0.15124 C -0.54201 -0.15448 -0.55816 -0.15703 -0.55816 -0.15703 C -0.57101 -0.16304 -0.55035 -0.15402 -0.57917 -0.16119 C -0.58177 -0.16188 -0.58403 -0.16443 -0.58663 -0.16512 C -0.59045 -0.16628 -0.59444 -0.16628 -0.59844 -0.16697 C -0.60851 -0.1716 -0.61771 -0.17692 -0.6283 -0.179 C -0.63872 -0.18385 -0.62604 -0.17853 -0.64479 -0.18293 C -0.64826 -0.18385 -0.65174 -0.18594 -0.65521 -0.18686 C -0.67448 -0.19195 -0.69583 -0.19588 -0.71337 -0.20883 C -0.72066 -0.21415 -0.72726 -0.22109 -0.73437 -0.22664 C -0.73819 -0.22964 -0.74271 -0.23126 -0.74635 -0.23473 C -0.76476 -0.25138 -0.73455 -0.22363 -0.75521 -0.24468 C -0.75799 -0.24768 -0.76424 -0.25254 -0.76424 -0.25254 C -0.76788 -0.26017 -0.77326 -0.26364 -0.7776 -0.27035 C -0.78177 -0.27682 -0.78351 -0.2833 -0.78663 -0.29024 C -0.7908 -0.29949 -0.79479 -0.30527 -0.79705 -0.31614 C -0.79896 -0.33788 -0.8 -0.35245 -0.8 -0.37581 C -0.79219 -0.3691 -0.7967 -0.36817 -0.79253 -0.35985 C -0.78785 -0.3506 -0.78125 -0.3425 -0.77604 -0.33395 C -0.7717 -0.32678 -0.76858 -0.31938 -0.76267 -0.31429 C -0.75486 -0.29833 -0.7651 -0.31753 -0.75521 -0.30434 C -0.74983 -0.29717 -0.74635 -0.287 -0.74028 -0.28029 C -0.7349 -0.27451 -0.72778 -0.27497 -0.7224 -0.27035 C -0.7151 -0.26387 -0.70573 -0.26133 -0.69705 -0.25855 C -0.66424 -0.25971 -0.65156 -0.25925 -0.62535 -0.26457 C -0.61163 -0.27012 -0.59757 -0.27312 -0.58351 -0.27636 C -0.56979 -0.2796 -0.55712 -0.28445 -0.54323 -0.28631 C -0.53368 -0.29093 -0.52396 -0.29417 -0.51493 -0.30018 C -0.50625 -0.31244 -0.5184 -0.29671 -0.50747 -0.30619 C -0.50104 -0.31174 -0.49722 -0.321 -0.48958 -0.324 C -0.48281 -0.33371 -0.47448 -0.34112 -0.46858 -0.35198 C -0.4651 -0.35846 -0.46545 -0.36424 -0.46111 -0.36979 C -0.45851 -0.38112 -0.45365 -0.38945 -0.45365 -0.40171 C -0.4526 -0.35222 -0.45122 -0.33603 -0.45365 -0.29024 C -0.45417 -0.27937 -0.46233 -0.26295 -0.46719 -0.25462 C -0.47483 -0.24167 -0.4776 -0.23681 -0.48663 -0.22479 C -0.49462 -0.21415 -0.48368 -0.22317 -0.4941 -0.21276 C -0.50417 -0.20282 -0.51528 -0.19472 -0.52535 -0.18501 C -0.53247 -0.1783 -0.53906 -0.17206 -0.54774 -0.16905 C -0.55503 -0.16281 -0.56389 -0.15772 -0.5717 -0.1531 C -0.57604 -0.15055 -0.5809 -0.14986 -0.58507 -0.14708 C -0.60747 -0.13228 -0.63212 -0.12557 -0.65677 -0.12326 C -0.67222 -0.1184 -0.6901 -0.11517 -0.70451 -0.12534 E">
                                      <p:cBhvr>
                                        <p:cTn id="612" dur="4000" fill="hold"/>
                                        <p:tgtEl>
                                          <p:spTgt spid="3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3" fill="hold">
                      <p:stCondLst>
                        <p:cond delay="indefinite"/>
                      </p:stCondLst>
                      <p:childTnLst>
                        <p:par>
                          <p:cTn id="614" fill="hold">
                            <p:stCondLst>
                              <p:cond delay="0"/>
                            </p:stCondLst>
                            <p:childTnLst>
                              <p:par>
                                <p:cTn id="615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17" dur="500"/>
                                        <p:tgtEl>
                                          <p:spTgt spid="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618" dur="500" fill="hold"/>
                                        <p:tgtEl>
                                          <p:spTgt spid="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19" dur="500" fill="hold"/>
                                        <p:tgtEl>
                                          <p:spTgt spid="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0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22" dur="500"/>
                                        <p:tgtEl>
                                          <p:spTgt spid="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623" dur="500" fill="hold"/>
                                        <p:tgtEl>
                                          <p:spTgt spid="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24" dur="500" fill="hold"/>
                                        <p:tgtEl>
                                          <p:spTgt spid="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Anonymity in Crowds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7" name="PlaceHolder 2"/>
          <p:cNvSpPr>
            <a:spLocks noGrp="1"/>
          </p:cNvSpPr>
          <p:nvPr>
            <p:ph/>
          </p:nvPr>
        </p:nvSpPr>
        <p:spPr>
          <a:xfrm>
            <a:off x="184680" y="4475880"/>
            <a:ext cx="10878840" cy="250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7491" lnSpcReduction="10000"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No source anonymity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Target receives </a:t>
            </a:r>
            <a:r>
              <a:rPr b="0" i="1" lang="en-US" sz="2800" spc="-1" strike="noStrike">
                <a:solidFill>
                  <a:schemeClr val="dk1"/>
                </a:solidFill>
                <a:latin typeface="Calibri"/>
              </a:rPr>
              <a:t>m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incoming messages (</a:t>
            </a:r>
            <a:r>
              <a:rPr b="0" i="1" lang="en-US" sz="28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may = 0)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Target sends </a:t>
            </a:r>
            <a:r>
              <a:rPr b="0" i="1" lang="en-US" sz="2800" spc="-1" strike="noStrike">
                <a:solidFill>
                  <a:schemeClr val="dk1"/>
                </a:solidFill>
                <a:latin typeface="Calibri"/>
              </a:rPr>
              <a:t>m + 1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outgoing messages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Thus, the target is sending something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Destination anonymity is maintained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If the source isn’t sending directly to the receiver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358" name="Picture 67" descr="D:\Classes\5700\assets\social_google_box.png"/>
          <p:cNvPicPr/>
          <p:nvPr/>
        </p:nvPicPr>
        <p:blipFill>
          <a:blip r:embed="rId1"/>
          <a:stretch/>
        </p:blipFill>
        <p:spPr>
          <a:xfrm>
            <a:off x="10924200" y="1649880"/>
            <a:ext cx="1267200" cy="950400"/>
          </a:xfrm>
          <a:prstGeom prst="rect">
            <a:avLst/>
          </a:prstGeom>
          <a:ln w="0">
            <a:noFill/>
          </a:ln>
        </p:spPr>
      </p:pic>
      <p:pic>
        <p:nvPicPr>
          <p:cNvPr id="359" name="Picture 68" descr="D:\Pictures\soft-scraps icons\User Preppy Green-01.png"/>
          <p:cNvPicPr/>
          <p:nvPr/>
        </p:nvPicPr>
        <p:blipFill>
          <a:blip r:embed="rId2"/>
          <a:stretch/>
        </p:blipFill>
        <p:spPr>
          <a:xfrm>
            <a:off x="2867760" y="2465280"/>
            <a:ext cx="1344600" cy="1008360"/>
          </a:xfrm>
          <a:prstGeom prst="rect">
            <a:avLst/>
          </a:prstGeom>
          <a:ln w="0">
            <a:noFill/>
          </a:ln>
        </p:spPr>
      </p:pic>
      <p:pic>
        <p:nvPicPr>
          <p:cNvPr id="360" name="Picture 69" descr="D:\Pictures\soft-scraps icons\User Executive Blue-01.png"/>
          <p:cNvPicPr/>
          <p:nvPr/>
        </p:nvPicPr>
        <p:blipFill>
          <a:blip r:embed="rId3"/>
          <a:stretch/>
        </p:blipFill>
        <p:spPr>
          <a:xfrm>
            <a:off x="8238960" y="2465280"/>
            <a:ext cx="1344600" cy="1008360"/>
          </a:xfrm>
          <a:prstGeom prst="rect">
            <a:avLst/>
          </a:prstGeom>
          <a:ln w="0">
            <a:noFill/>
          </a:ln>
        </p:spPr>
      </p:pic>
      <p:pic>
        <p:nvPicPr>
          <p:cNvPr id="361" name="Picture 70" descr="D:\Pictures\soft-scraps icons\User Administrator Green-01.png"/>
          <p:cNvPicPr/>
          <p:nvPr/>
        </p:nvPicPr>
        <p:blipFill>
          <a:blip r:embed="rId4"/>
          <a:stretch/>
        </p:blipFill>
        <p:spPr>
          <a:xfrm>
            <a:off x="5553360" y="1591920"/>
            <a:ext cx="1344600" cy="1008360"/>
          </a:xfrm>
          <a:prstGeom prst="rect">
            <a:avLst/>
          </a:prstGeom>
          <a:ln w="0">
            <a:noFill/>
          </a:ln>
        </p:spPr>
      </p:pic>
      <p:pic>
        <p:nvPicPr>
          <p:cNvPr id="362" name="Picture 71" descr="D:\Classes\5700\assets\User Coat Blue-01.png"/>
          <p:cNvPicPr/>
          <p:nvPr/>
        </p:nvPicPr>
        <p:blipFill>
          <a:blip r:embed="rId5"/>
          <a:stretch/>
        </p:blipFill>
        <p:spPr>
          <a:xfrm>
            <a:off x="182880" y="1591920"/>
            <a:ext cx="1344600" cy="1008360"/>
          </a:xfrm>
          <a:prstGeom prst="rect">
            <a:avLst/>
          </a:prstGeom>
          <a:ln w="0">
            <a:noFill/>
          </a:ln>
        </p:spPr>
      </p:pic>
      <p:sp>
        <p:nvSpPr>
          <p:cNvPr id="363" name="Left-Right Arrow 15"/>
          <p:cNvSpPr/>
          <p:nvPr/>
        </p:nvSpPr>
        <p:spPr>
          <a:xfrm rot="948000">
            <a:off x="1669680" y="2324520"/>
            <a:ext cx="1308960" cy="51840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4" name="Left-Right Arrow 21"/>
          <p:cNvSpPr/>
          <p:nvPr/>
        </p:nvSpPr>
        <p:spPr>
          <a:xfrm rot="948000">
            <a:off x="7040520" y="2313360"/>
            <a:ext cx="1308960" cy="51840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5" name="Left-Right Arrow 22"/>
          <p:cNvSpPr/>
          <p:nvPr/>
        </p:nvSpPr>
        <p:spPr>
          <a:xfrm rot="20667000">
            <a:off x="4102200" y="2313360"/>
            <a:ext cx="1309680" cy="51804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6" name="Left-Right Arrow 23"/>
          <p:cNvSpPr/>
          <p:nvPr/>
        </p:nvSpPr>
        <p:spPr>
          <a:xfrm rot="20667000">
            <a:off x="9473400" y="2327040"/>
            <a:ext cx="1309680" cy="51804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67" name="Picture 72" descr="D:\Classes\5700\assets\devil-icon.png"/>
          <p:cNvPicPr/>
          <p:nvPr/>
        </p:nvPicPr>
        <p:blipFill>
          <a:blip r:embed="rId6"/>
          <a:stretch/>
        </p:blipFill>
        <p:spPr>
          <a:xfrm>
            <a:off x="1362960" y="3234600"/>
            <a:ext cx="1490760" cy="1118160"/>
          </a:xfrm>
          <a:prstGeom prst="rect">
            <a:avLst/>
          </a:prstGeom>
          <a:ln w="0">
            <a:noFill/>
          </a:ln>
        </p:spPr>
      </p:pic>
      <p:sp>
        <p:nvSpPr>
          <p:cNvPr id="368" name="Pentagon 7"/>
          <p:cNvSpPr/>
          <p:nvPr/>
        </p:nvSpPr>
        <p:spPr>
          <a:xfrm rot="5400000">
            <a:off x="1650600" y="2466720"/>
            <a:ext cx="1251360" cy="283320"/>
          </a:xfrm>
          <a:prstGeom prst="homePlate">
            <a:avLst>
              <a:gd name="adj" fmla="val 50000"/>
            </a:avLst>
          </a:prstGeom>
          <a:solidFill>
            <a:schemeClr val="accent2"/>
          </a:solidFill>
          <a:ln w="38100">
            <a:solidFill>
              <a:srgbClr val="c0504d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5EE88172-C45B-4021-AF08-85A89D0ED07D}" type="slidenum">
              <a:t>31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25" dur="indefinite" restart="never" nodeType="tmRoot">
          <p:childTnLst>
            <p:seq>
              <p:cTn id="626" dur="indefinite" nodeType="mainSeq">
                <p:childTnLst>
                  <p:par>
                    <p:cTn id="627" fill="hold">
                      <p:stCondLst>
                        <p:cond delay="indefinite"/>
                      </p:stCondLst>
                      <p:childTnLst>
                        <p:par>
                          <p:cTn id="628" fill="hold">
                            <p:stCondLst>
                              <p:cond delay="0"/>
                            </p:stCondLst>
                            <p:childTnLst>
                              <p:par>
                                <p:cTn id="629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31"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632" dur="500" fill="hold"/>
                                        <p:tgtEl>
                                          <p:spTgt spid="3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33" dur="500" fill="hold"/>
                                        <p:tgtEl>
                                          <p:spTgt spid="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4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36"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637" dur="500" fill="hold"/>
                                        <p:tgtEl>
                                          <p:spTgt spid="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38" dur="500" fill="hold"/>
                                        <p:tgtEl>
                                          <p:spTgt spid="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9" fill="hold">
                      <p:stCondLst>
                        <p:cond delay="indefinite"/>
                      </p:stCondLst>
                      <p:childTnLst>
                        <p:par>
                          <p:cTn id="640" fill="hold">
                            <p:stCondLst>
                              <p:cond delay="0"/>
                            </p:stCondLst>
                            <p:childTnLst>
                              <p:par>
                                <p:cTn id="641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43" dur="500"/>
                                        <p:tgtEl>
                                          <p:spTgt spid="3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644" dur="500" fill="hold"/>
                                        <p:tgtEl>
                                          <p:spTgt spid="3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45" dur="500" fill="hold"/>
                                        <p:tgtEl>
                                          <p:spTgt spid="3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6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48" dur="500"/>
                                        <p:tgtEl>
                                          <p:spTgt spid="3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649" dur="500" fill="hold"/>
                                        <p:tgtEl>
                                          <p:spTgt spid="3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50" dur="500" fill="hold"/>
                                        <p:tgtEl>
                                          <p:spTgt spid="3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Anonymity in Crowds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0" name="PlaceHolder 2"/>
          <p:cNvSpPr>
            <a:spLocks noGrp="1"/>
          </p:cNvSpPr>
          <p:nvPr>
            <p:ph/>
          </p:nvPr>
        </p:nvSpPr>
        <p:spPr>
          <a:xfrm>
            <a:off x="203400" y="4653360"/>
            <a:ext cx="11569680" cy="220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Source and destination are anonymous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Source and destination are jondo proxies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Destination is hidden by encryption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371" name="Picture 77" descr="D:\Classes\5700\assets\social_google_box.png"/>
          <p:cNvPicPr/>
          <p:nvPr/>
        </p:nvPicPr>
        <p:blipFill>
          <a:blip r:embed="rId1"/>
          <a:stretch/>
        </p:blipFill>
        <p:spPr>
          <a:xfrm>
            <a:off x="10924200" y="1649880"/>
            <a:ext cx="1267200" cy="950400"/>
          </a:xfrm>
          <a:prstGeom prst="rect">
            <a:avLst/>
          </a:prstGeom>
          <a:ln w="0">
            <a:noFill/>
          </a:ln>
        </p:spPr>
      </p:pic>
      <p:pic>
        <p:nvPicPr>
          <p:cNvPr id="372" name="Picture 85" descr="D:\Pictures\soft-scraps icons\User Preppy Green-01.png"/>
          <p:cNvPicPr/>
          <p:nvPr/>
        </p:nvPicPr>
        <p:blipFill>
          <a:blip r:embed="rId2"/>
          <a:stretch/>
        </p:blipFill>
        <p:spPr>
          <a:xfrm>
            <a:off x="2867760" y="2465280"/>
            <a:ext cx="1344600" cy="1008360"/>
          </a:xfrm>
          <a:prstGeom prst="rect">
            <a:avLst/>
          </a:prstGeom>
          <a:ln w="0">
            <a:noFill/>
          </a:ln>
        </p:spPr>
      </p:pic>
      <p:pic>
        <p:nvPicPr>
          <p:cNvPr id="373" name="Picture 86" descr="D:\Pictures\soft-scraps icons\User Executive Blue-01.png"/>
          <p:cNvPicPr/>
          <p:nvPr/>
        </p:nvPicPr>
        <p:blipFill>
          <a:blip r:embed="rId3"/>
          <a:stretch/>
        </p:blipFill>
        <p:spPr>
          <a:xfrm>
            <a:off x="8238960" y="2465280"/>
            <a:ext cx="1344600" cy="1008360"/>
          </a:xfrm>
          <a:prstGeom prst="rect">
            <a:avLst/>
          </a:prstGeom>
          <a:ln w="0">
            <a:noFill/>
          </a:ln>
        </p:spPr>
      </p:pic>
      <p:pic>
        <p:nvPicPr>
          <p:cNvPr id="374" name="Picture 87" descr="D:\Pictures\soft-scraps icons\User Administrator Green-01.png"/>
          <p:cNvPicPr/>
          <p:nvPr/>
        </p:nvPicPr>
        <p:blipFill>
          <a:blip r:embed="rId4"/>
          <a:stretch/>
        </p:blipFill>
        <p:spPr>
          <a:xfrm>
            <a:off x="5553360" y="1591920"/>
            <a:ext cx="1344600" cy="1008360"/>
          </a:xfrm>
          <a:prstGeom prst="rect">
            <a:avLst/>
          </a:prstGeom>
          <a:ln w="0">
            <a:noFill/>
          </a:ln>
        </p:spPr>
      </p:pic>
      <p:pic>
        <p:nvPicPr>
          <p:cNvPr id="375" name="Picture 88" descr="D:\Classes\5700\assets\User Coat Blue-01.png"/>
          <p:cNvPicPr/>
          <p:nvPr/>
        </p:nvPicPr>
        <p:blipFill>
          <a:blip r:embed="rId5"/>
          <a:stretch/>
        </p:blipFill>
        <p:spPr>
          <a:xfrm>
            <a:off x="182880" y="1591920"/>
            <a:ext cx="1344600" cy="1008360"/>
          </a:xfrm>
          <a:prstGeom prst="rect">
            <a:avLst/>
          </a:prstGeom>
          <a:ln w="0">
            <a:noFill/>
          </a:ln>
        </p:spPr>
      </p:pic>
      <p:sp>
        <p:nvSpPr>
          <p:cNvPr id="376" name="Left-Right Arrow 18"/>
          <p:cNvSpPr/>
          <p:nvPr/>
        </p:nvSpPr>
        <p:spPr>
          <a:xfrm rot="948000">
            <a:off x="1669680" y="2324520"/>
            <a:ext cx="1308960" cy="51840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7" name="Left-Right Arrow 19"/>
          <p:cNvSpPr/>
          <p:nvPr/>
        </p:nvSpPr>
        <p:spPr>
          <a:xfrm rot="948000">
            <a:off x="7040520" y="2313360"/>
            <a:ext cx="1308960" cy="51840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8" name="Left-Right Arrow 20"/>
          <p:cNvSpPr/>
          <p:nvPr/>
        </p:nvSpPr>
        <p:spPr>
          <a:xfrm rot="20667000">
            <a:off x="4102200" y="2313360"/>
            <a:ext cx="1309680" cy="51804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9" name="Left-Right Arrow 25"/>
          <p:cNvSpPr/>
          <p:nvPr/>
        </p:nvSpPr>
        <p:spPr>
          <a:xfrm rot="20667000">
            <a:off x="9473400" y="2327040"/>
            <a:ext cx="1309680" cy="51804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80" name="Picture 89" descr="D:\Classes\5700\assets\devil-icon.png"/>
          <p:cNvPicPr/>
          <p:nvPr/>
        </p:nvPicPr>
        <p:blipFill>
          <a:blip r:embed="rId6"/>
          <a:stretch/>
        </p:blipFill>
        <p:spPr>
          <a:xfrm>
            <a:off x="4164480" y="3233880"/>
            <a:ext cx="1490760" cy="1118160"/>
          </a:xfrm>
          <a:prstGeom prst="rect">
            <a:avLst/>
          </a:prstGeom>
          <a:ln w="0">
            <a:noFill/>
          </a:ln>
        </p:spPr>
      </p:pic>
      <p:sp>
        <p:nvSpPr>
          <p:cNvPr id="381" name="Pentagon 11"/>
          <p:cNvSpPr/>
          <p:nvPr/>
        </p:nvSpPr>
        <p:spPr>
          <a:xfrm rot="5400000">
            <a:off x="4180320" y="2452680"/>
            <a:ext cx="1251360" cy="283320"/>
          </a:xfrm>
          <a:prstGeom prst="homePlate">
            <a:avLst>
              <a:gd name="adj" fmla="val 50000"/>
            </a:avLst>
          </a:prstGeom>
          <a:solidFill>
            <a:schemeClr val="accent2"/>
          </a:solidFill>
          <a:ln w="38100">
            <a:solidFill>
              <a:srgbClr val="c0504d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82" name="Picture 90" descr="D:\Classes\5700\assets\devil-icon.png"/>
          <p:cNvPicPr/>
          <p:nvPr/>
        </p:nvPicPr>
        <p:blipFill>
          <a:blip r:embed="rId7"/>
          <a:stretch/>
        </p:blipFill>
        <p:spPr>
          <a:xfrm>
            <a:off x="6904800" y="3233880"/>
            <a:ext cx="1490760" cy="1118160"/>
          </a:xfrm>
          <a:prstGeom prst="rect">
            <a:avLst/>
          </a:prstGeom>
          <a:ln w="0">
            <a:noFill/>
          </a:ln>
        </p:spPr>
      </p:pic>
      <p:sp>
        <p:nvSpPr>
          <p:cNvPr id="383" name="Pentagon 12"/>
          <p:cNvSpPr/>
          <p:nvPr/>
        </p:nvSpPr>
        <p:spPr>
          <a:xfrm rot="5400000">
            <a:off x="6920280" y="2452680"/>
            <a:ext cx="1251360" cy="283320"/>
          </a:xfrm>
          <a:prstGeom prst="homePlate">
            <a:avLst>
              <a:gd name="adj" fmla="val 50000"/>
            </a:avLst>
          </a:prstGeom>
          <a:solidFill>
            <a:schemeClr val="accent2"/>
          </a:solidFill>
          <a:ln w="38100">
            <a:solidFill>
              <a:srgbClr val="c0504d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CFC21E3A-7638-47B5-B9FD-637303FBD573}" type="slidenum">
              <a:t>32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51" dur="indefinite" restart="never" nodeType="tmRoot">
          <p:childTnLst>
            <p:seq>
              <p:cTn id="652" dur="indefinite" nodeType="mainSeq">
                <p:childTnLst>
                  <p:par>
                    <p:cTn id="653" fill="hold">
                      <p:stCondLst>
                        <p:cond delay="indefinite"/>
                      </p:stCondLst>
                      <p:childTnLst>
                        <p:par>
                          <p:cTn id="654" fill="hold">
                            <p:stCondLst>
                              <p:cond delay="0"/>
                            </p:stCondLst>
                            <p:childTnLst>
                              <p:par>
                                <p:cTn id="655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57" dur="500"/>
                                        <p:tgtEl>
                                          <p:spTgt spid="3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658" dur="500" fill="hold"/>
                                        <p:tgtEl>
                                          <p:spTgt spid="3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59" dur="500" fill="hold"/>
                                        <p:tgtEl>
                                          <p:spTgt spid="3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0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62" dur="500"/>
                                        <p:tgtEl>
                                          <p:spTgt spid="3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663" dur="500" fill="hold"/>
                                        <p:tgtEl>
                                          <p:spTgt spid="3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64" dur="500" fill="hold"/>
                                        <p:tgtEl>
                                          <p:spTgt spid="3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5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67" dur="500"/>
                                        <p:tgtEl>
                                          <p:spTgt spid="3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668" dur="500" fill="hold"/>
                                        <p:tgtEl>
                                          <p:spTgt spid="3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69" dur="500" fill="hold"/>
                                        <p:tgtEl>
                                          <p:spTgt spid="3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Anonymity in Crowds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5" name="PlaceHolder 2"/>
          <p:cNvSpPr>
            <a:spLocks noGrp="1"/>
          </p:cNvSpPr>
          <p:nvPr>
            <p:ph/>
          </p:nvPr>
        </p:nvSpPr>
        <p:spPr>
          <a:xfrm>
            <a:off x="203400" y="4339080"/>
            <a:ext cx="11805840" cy="2415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Destination is known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Obviously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Source is anonymous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O(n) possible sources, where n is the number of jondos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386" name="Picture 78" descr="D:\Classes\5700\assets\social_google_box.png"/>
          <p:cNvPicPr/>
          <p:nvPr/>
        </p:nvPicPr>
        <p:blipFill>
          <a:blip r:embed="rId1"/>
          <a:stretch/>
        </p:blipFill>
        <p:spPr>
          <a:xfrm>
            <a:off x="10924200" y="1649880"/>
            <a:ext cx="1267200" cy="950400"/>
          </a:xfrm>
          <a:prstGeom prst="rect">
            <a:avLst/>
          </a:prstGeom>
          <a:ln w="0">
            <a:noFill/>
          </a:ln>
        </p:spPr>
      </p:pic>
      <p:pic>
        <p:nvPicPr>
          <p:cNvPr id="387" name="Picture 79" descr="D:\Pictures\soft-scraps icons\User Preppy Green-01.png"/>
          <p:cNvPicPr/>
          <p:nvPr/>
        </p:nvPicPr>
        <p:blipFill>
          <a:blip r:embed="rId2"/>
          <a:stretch/>
        </p:blipFill>
        <p:spPr>
          <a:xfrm>
            <a:off x="2867760" y="2465280"/>
            <a:ext cx="1344600" cy="1008360"/>
          </a:xfrm>
          <a:prstGeom prst="rect">
            <a:avLst/>
          </a:prstGeom>
          <a:ln w="0">
            <a:noFill/>
          </a:ln>
        </p:spPr>
      </p:pic>
      <p:pic>
        <p:nvPicPr>
          <p:cNvPr id="388" name="Picture 80" descr="D:\Pictures\soft-scraps icons\User Executive Blue-01.png"/>
          <p:cNvPicPr/>
          <p:nvPr/>
        </p:nvPicPr>
        <p:blipFill>
          <a:blip r:embed="rId3"/>
          <a:stretch/>
        </p:blipFill>
        <p:spPr>
          <a:xfrm>
            <a:off x="8238960" y="2465280"/>
            <a:ext cx="1344600" cy="1008360"/>
          </a:xfrm>
          <a:prstGeom prst="rect">
            <a:avLst/>
          </a:prstGeom>
          <a:ln w="0">
            <a:noFill/>
          </a:ln>
        </p:spPr>
      </p:pic>
      <p:pic>
        <p:nvPicPr>
          <p:cNvPr id="389" name="Picture 81" descr="D:\Pictures\soft-scraps icons\User Administrator Green-01.png"/>
          <p:cNvPicPr/>
          <p:nvPr/>
        </p:nvPicPr>
        <p:blipFill>
          <a:blip r:embed="rId4"/>
          <a:stretch/>
        </p:blipFill>
        <p:spPr>
          <a:xfrm>
            <a:off x="5553360" y="1591920"/>
            <a:ext cx="1344600" cy="1008360"/>
          </a:xfrm>
          <a:prstGeom prst="rect">
            <a:avLst/>
          </a:prstGeom>
          <a:ln w="0">
            <a:noFill/>
          </a:ln>
        </p:spPr>
      </p:pic>
      <p:pic>
        <p:nvPicPr>
          <p:cNvPr id="390" name="Picture 82" descr="D:\Classes\5700\assets\User Coat Blue-01.png"/>
          <p:cNvPicPr/>
          <p:nvPr/>
        </p:nvPicPr>
        <p:blipFill>
          <a:blip r:embed="rId5"/>
          <a:stretch/>
        </p:blipFill>
        <p:spPr>
          <a:xfrm>
            <a:off x="182880" y="1591920"/>
            <a:ext cx="1344600" cy="1008360"/>
          </a:xfrm>
          <a:prstGeom prst="rect">
            <a:avLst/>
          </a:prstGeom>
          <a:ln w="0">
            <a:noFill/>
          </a:ln>
        </p:spPr>
      </p:pic>
      <p:sp>
        <p:nvSpPr>
          <p:cNvPr id="391" name="Left-Right Arrow 24"/>
          <p:cNvSpPr/>
          <p:nvPr/>
        </p:nvSpPr>
        <p:spPr>
          <a:xfrm rot="948000">
            <a:off x="1669680" y="2324520"/>
            <a:ext cx="1308960" cy="51840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2" name="Left-Right Arrow 29"/>
          <p:cNvSpPr/>
          <p:nvPr/>
        </p:nvSpPr>
        <p:spPr>
          <a:xfrm rot="948000">
            <a:off x="7040520" y="2313360"/>
            <a:ext cx="1308960" cy="51840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3" name="Left-Right Arrow 30"/>
          <p:cNvSpPr/>
          <p:nvPr/>
        </p:nvSpPr>
        <p:spPr>
          <a:xfrm rot="20667000">
            <a:off x="4102200" y="2313360"/>
            <a:ext cx="1309680" cy="51804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4" name="Left-Right Arrow 31"/>
          <p:cNvSpPr/>
          <p:nvPr/>
        </p:nvSpPr>
        <p:spPr>
          <a:xfrm rot="20667000">
            <a:off x="9473400" y="2327040"/>
            <a:ext cx="1309680" cy="51804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95" name="Picture 83" descr="D:\Classes\5700\assets\devil-icon.png"/>
          <p:cNvPicPr/>
          <p:nvPr/>
        </p:nvPicPr>
        <p:blipFill>
          <a:blip r:embed="rId6"/>
          <a:stretch/>
        </p:blipFill>
        <p:spPr>
          <a:xfrm>
            <a:off x="9560160" y="3220560"/>
            <a:ext cx="1490760" cy="1118160"/>
          </a:xfrm>
          <a:prstGeom prst="rect">
            <a:avLst/>
          </a:prstGeom>
          <a:ln w="0">
            <a:noFill/>
          </a:ln>
        </p:spPr>
      </p:pic>
      <p:sp>
        <p:nvSpPr>
          <p:cNvPr id="396" name="Pentagon 9"/>
          <p:cNvSpPr/>
          <p:nvPr/>
        </p:nvSpPr>
        <p:spPr>
          <a:xfrm rot="5400000">
            <a:off x="9576000" y="2439720"/>
            <a:ext cx="1251360" cy="283320"/>
          </a:xfrm>
          <a:prstGeom prst="homePlate">
            <a:avLst>
              <a:gd name="adj" fmla="val 50000"/>
            </a:avLst>
          </a:prstGeom>
          <a:solidFill>
            <a:schemeClr val="accent2"/>
          </a:solidFill>
          <a:ln w="38100">
            <a:solidFill>
              <a:srgbClr val="c0504d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97" name="Picture 84" descr="D:\Classes\5700\assets\devil-icon.png"/>
          <p:cNvPicPr/>
          <p:nvPr/>
        </p:nvPicPr>
        <p:blipFill>
          <a:blip r:embed="rId7"/>
          <a:stretch/>
        </p:blipFill>
        <p:spPr>
          <a:xfrm>
            <a:off x="10782720" y="1536840"/>
            <a:ext cx="1490760" cy="111816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C7D2D947-877C-40CB-AF98-663549FF9716}" type="slidenum">
              <a:t>33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70" dur="indefinite" restart="never" nodeType="tmRoot">
          <p:childTnLst>
            <p:seq>
              <p:cTn id="671" dur="indefinite" nodeType="mainSeq">
                <p:childTnLst>
                  <p:par>
                    <p:cTn id="672" fill="hold">
                      <p:stCondLst>
                        <p:cond delay="indefinite"/>
                      </p:stCondLst>
                      <p:childTnLst>
                        <p:par>
                          <p:cTn id="673" fill="hold">
                            <p:stCondLst>
                              <p:cond delay="0"/>
                            </p:stCondLst>
                            <p:childTnLst>
                              <p:par>
                                <p:cTn id="674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76" dur="500"/>
                                        <p:tgtEl>
                                          <p:spTgt spid="3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677" dur="500" fill="hold"/>
                                        <p:tgtEl>
                                          <p:spTgt spid="3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78" dur="500" fill="hold"/>
                                        <p:tgtEl>
                                          <p:spTgt spid="3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9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81" dur="500"/>
                                        <p:tgtEl>
                                          <p:spTgt spid="3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682" dur="500" fill="hold"/>
                                        <p:tgtEl>
                                          <p:spTgt spid="3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83" dur="500" fill="hold"/>
                                        <p:tgtEl>
                                          <p:spTgt spid="3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4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86" dur="500"/>
                                        <p:tgtEl>
                                          <p:spTgt spid="3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687" dur="500" fill="hold"/>
                                        <p:tgtEl>
                                          <p:spTgt spid="3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88" dur="500" fill="hold"/>
                                        <p:tgtEl>
                                          <p:spTgt spid="3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9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91" dur="500"/>
                                        <p:tgtEl>
                                          <p:spTgt spid="3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692" dur="500" fill="hold"/>
                                        <p:tgtEl>
                                          <p:spTgt spid="3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93" dur="500" fill="hold"/>
                                        <p:tgtEl>
                                          <p:spTgt spid="3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Anonymity in Crowds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9" name="PlaceHolder 2"/>
          <p:cNvSpPr>
            <a:spLocks noGrp="1"/>
          </p:cNvSpPr>
          <p:nvPr>
            <p:ph/>
          </p:nvPr>
        </p:nvSpPr>
        <p:spPr>
          <a:xfrm>
            <a:off x="203400" y="3589200"/>
            <a:ext cx="11805840" cy="316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Destination is known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Evil jondo is able to decrypt the message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Source is somewhat anonymous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Suppose there are </a:t>
            </a:r>
            <a:r>
              <a:rPr b="0" i="1" lang="en-US" sz="28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evil jondos in the system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If </a:t>
            </a:r>
            <a:r>
              <a:rPr b="0" i="1" lang="en-US" sz="2800" spc="-1" strike="noStrike">
                <a:solidFill>
                  <a:schemeClr val="dk1"/>
                </a:solidFill>
                <a:latin typeface="Calibri"/>
              </a:rPr>
              <a:t>p</a:t>
            </a:r>
            <a:r>
              <a:rPr b="0" i="1" lang="en-US" sz="2800" spc="-1" strike="noStrike" baseline="-25000">
                <a:solidFill>
                  <a:schemeClr val="dk1"/>
                </a:solidFill>
                <a:latin typeface="Calibri"/>
              </a:rPr>
              <a:t>f</a:t>
            </a:r>
            <a:r>
              <a:rPr b="0" i="1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&gt; 0.5, and </a:t>
            </a:r>
            <a:r>
              <a:rPr b="0" i="1" lang="en-US" sz="2800" spc="-1" strike="noStrike">
                <a:solidFill>
                  <a:schemeClr val="dk1"/>
                </a:solidFill>
                <a:latin typeface="Calibri"/>
              </a:rPr>
              <a:t>n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&gt; 3(</a:t>
            </a:r>
            <a:r>
              <a:rPr b="0" i="1" lang="en-US" sz="28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+ 1), then the source cannot be inferred with probability &gt; 0.5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400" name="Picture 91" descr="D:\Classes\5700\assets\social_google_box.png"/>
          <p:cNvPicPr/>
          <p:nvPr/>
        </p:nvPicPr>
        <p:blipFill>
          <a:blip r:embed="rId1"/>
          <a:stretch/>
        </p:blipFill>
        <p:spPr>
          <a:xfrm>
            <a:off x="10924200" y="1649880"/>
            <a:ext cx="1267200" cy="950400"/>
          </a:xfrm>
          <a:prstGeom prst="rect">
            <a:avLst/>
          </a:prstGeom>
          <a:ln w="0">
            <a:noFill/>
          </a:ln>
        </p:spPr>
      </p:pic>
      <p:pic>
        <p:nvPicPr>
          <p:cNvPr id="401" name="Picture 97" descr="D:\Pictures\soft-scraps icons\User Administrator Green-01.png"/>
          <p:cNvPicPr/>
          <p:nvPr/>
        </p:nvPicPr>
        <p:blipFill>
          <a:blip r:embed="rId2"/>
          <a:stretch/>
        </p:blipFill>
        <p:spPr>
          <a:xfrm>
            <a:off x="5553360" y="1591920"/>
            <a:ext cx="1344600" cy="1008360"/>
          </a:xfrm>
          <a:prstGeom prst="rect">
            <a:avLst/>
          </a:prstGeom>
          <a:ln w="0">
            <a:noFill/>
          </a:ln>
        </p:spPr>
      </p:pic>
      <p:pic>
        <p:nvPicPr>
          <p:cNvPr id="402" name="Picture 98" descr="D:\Classes\5700\assets\User Coat Blue-01.png"/>
          <p:cNvPicPr/>
          <p:nvPr/>
        </p:nvPicPr>
        <p:blipFill>
          <a:blip r:embed="rId3"/>
          <a:stretch/>
        </p:blipFill>
        <p:spPr>
          <a:xfrm>
            <a:off x="182880" y="1591920"/>
            <a:ext cx="1344600" cy="1008360"/>
          </a:xfrm>
          <a:prstGeom prst="rect">
            <a:avLst/>
          </a:prstGeom>
          <a:ln w="0">
            <a:noFill/>
          </a:ln>
        </p:spPr>
      </p:pic>
      <p:sp>
        <p:nvSpPr>
          <p:cNvPr id="403" name="Left-Right Arrow 26"/>
          <p:cNvSpPr/>
          <p:nvPr/>
        </p:nvSpPr>
        <p:spPr>
          <a:xfrm rot="948000">
            <a:off x="1669680" y="2324520"/>
            <a:ext cx="1308960" cy="51840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4" name="Left-Right Arrow 27"/>
          <p:cNvSpPr/>
          <p:nvPr/>
        </p:nvSpPr>
        <p:spPr>
          <a:xfrm rot="948000">
            <a:off x="7040520" y="2313360"/>
            <a:ext cx="1308960" cy="51840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5" name="Left-Right Arrow 28"/>
          <p:cNvSpPr/>
          <p:nvPr/>
        </p:nvSpPr>
        <p:spPr>
          <a:xfrm rot="20667000">
            <a:off x="4102200" y="2313360"/>
            <a:ext cx="1309680" cy="51804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6" name="Left-Right Arrow 33"/>
          <p:cNvSpPr/>
          <p:nvPr/>
        </p:nvSpPr>
        <p:spPr>
          <a:xfrm rot="20667000">
            <a:off x="9473400" y="2327040"/>
            <a:ext cx="1309680" cy="51804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407" name="Picture 99" descr="D:\Classes\5700\assets\devil-icon.png"/>
          <p:cNvPicPr/>
          <p:nvPr/>
        </p:nvPicPr>
        <p:blipFill>
          <a:blip r:embed="rId4"/>
          <a:stretch/>
        </p:blipFill>
        <p:spPr>
          <a:xfrm>
            <a:off x="2795760" y="2355480"/>
            <a:ext cx="1490760" cy="1118160"/>
          </a:xfrm>
          <a:prstGeom prst="rect">
            <a:avLst/>
          </a:prstGeom>
          <a:ln w="0">
            <a:noFill/>
          </a:ln>
        </p:spPr>
      </p:pic>
      <p:pic>
        <p:nvPicPr>
          <p:cNvPr id="408" name="Picture 100" descr="D:\Classes\5700\assets\devil-icon.png"/>
          <p:cNvPicPr/>
          <p:nvPr/>
        </p:nvPicPr>
        <p:blipFill>
          <a:blip r:embed="rId5"/>
          <a:stretch/>
        </p:blipFill>
        <p:spPr>
          <a:xfrm>
            <a:off x="8200800" y="2425680"/>
            <a:ext cx="1490760" cy="111816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36E437BE-4DA0-43AA-BE25-817636D07F8F}" type="slidenum">
              <a:t>34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94" dur="indefinite" restart="never" nodeType="tmRoot">
          <p:childTnLst>
            <p:seq>
              <p:cTn id="695" dur="indefinite" nodeType="mainSeq">
                <p:childTnLst>
                  <p:par>
                    <p:cTn id="696" fill="hold">
                      <p:stCondLst>
                        <p:cond delay="indefinite"/>
                      </p:stCondLst>
                      <p:childTnLst>
                        <p:par>
                          <p:cTn id="697" fill="hold">
                            <p:stCondLst>
                              <p:cond delay="0"/>
                            </p:stCondLst>
                            <p:childTnLst>
                              <p:par>
                                <p:cTn id="698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00" dur="500"/>
                                        <p:tgtEl>
                                          <p:spTgt spid="3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701" dur="500" fill="hold"/>
                                        <p:tgtEl>
                                          <p:spTgt spid="3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02" dur="500" fill="hold"/>
                                        <p:tgtEl>
                                          <p:spTgt spid="3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3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05" dur="500"/>
                                        <p:tgtEl>
                                          <p:spTgt spid="3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706" dur="500" fill="hold"/>
                                        <p:tgtEl>
                                          <p:spTgt spid="3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07" dur="500" fill="hold"/>
                                        <p:tgtEl>
                                          <p:spTgt spid="3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8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10" dur="500"/>
                                        <p:tgtEl>
                                          <p:spTgt spid="3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711" dur="500" fill="hold"/>
                                        <p:tgtEl>
                                          <p:spTgt spid="3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12" dur="500" fill="hold"/>
                                        <p:tgtEl>
                                          <p:spTgt spid="3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3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15" dur="500"/>
                                        <p:tgtEl>
                                          <p:spTgt spid="3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716" dur="500" fill="hold"/>
                                        <p:tgtEl>
                                          <p:spTgt spid="3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17" dur="500" fill="hold"/>
                                        <p:tgtEl>
                                          <p:spTgt spid="3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8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20" dur="500"/>
                                        <p:tgtEl>
                                          <p:spTgt spid="3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721" dur="500" fill="hold"/>
                                        <p:tgtEl>
                                          <p:spTgt spid="3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22" dur="500" fill="hold"/>
                                        <p:tgtEl>
                                          <p:spTgt spid="3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Other Implementation Details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0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Crowds requires a central server called a </a:t>
            </a:r>
            <a:r>
              <a:rPr b="0" lang="en-US" sz="3200" spc="-1" strike="noStrike">
                <a:solidFill>
                  <a:schemeClr val="accent1"/>
                </a:solidFill>
                <a:latin typeface="Calibri"/>
              </a:rPr>
              <a:t>Blender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Keep track of who is running jondos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Kind of like a BitTorrent tracker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Broadcasts new jondos to existing jondos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Facilitates exchanges of public keys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729FCB1D-99BE-4611-9AAB-C298F5614247}" type="slidenum">
              <a:t>35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Summary of Crowds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2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The good: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Crowds has excellent scalability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Each user helps forward messages and handle load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More users = better anonymity for everyone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Strong source anonymity guarantees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The bad: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Very weak destination anonymity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Evil jondos can always see the destination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Weak unlinkability guarantees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033FFAE1-3C19-4E89-97D8-CACB6FB95528}" type="slidenum">
              <a:t>36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96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Mixes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4" name="PlaceHolder 2"/>
          <p:cNvSpPr>
            <a:spLocks noGrp="1"/>
          </p:cNvSpPr>
          <p:nvPr>
            <p:ph type="subTitle"/>
          </p:nvPr>
        </p:nvSpPr>
        <p:spPr>
          <a:xfrm>
            <a:off x="1828800" y="3886200"/>
            <a:ext cx="853416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chemeClr val="dk1">
                  <a:tint val="75000"/>
                </a:schemeClr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FD4B5EDB-8187-4D89-B36F-804719554B43}" type="slidenum">
              <a:t>37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Mix Networks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6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 different approach to anonymity than Crowds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Originally designed for anonymous email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David Chaum, 1981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Concept has since been generalized for TCP traffic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Hugely influential ideas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Onion routing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Traffic mixing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Dummy traffic (a.k.a. cover traffic)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F8E8B556-10F5-4069-B741-D1223D1653B2}" type="slidenum">
              <a:t>38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Mix Proxies and Onion Routing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8" name="PlaceHolder 2"/>
          <p:cNvSpPr>
            <a:spLocks noGrp="1"/>
          </p:cNvSpPr>
          <p:nvPr>
            <p:ph/>
          </p:nvPr>
        </p:nvSpPr>
        <p:spPr>
          <a:xfrm>
            <a:off x="203040" y="5589360"/>
            <a:ext cx="11784960" cy="11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Mixes form a cascade of anonymous proxies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All traffic is protected with layers of encryption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419" name="Picture 92" descr="D:\Classes\5700\assets\User Coat Blue-01.png"/>
          <p:cNvPicPr/>
          <p:nvPr/>
        </p:nvPicPr>
        <p:blipFill>
          <a:blip r:embed="rId1"/>
          <a:stretch/>
        </p:blipFill>
        <p:spPr>
          <a:xfrm>
            <a:off x="601200" y="1591920"/>
            <a:ext cx="952200" cy="714240"/>
          </a:xfrm>
          <a:prstGeom prst="rect">
            <a:avLst/>
          </a:prstGeom>
          <a:ln w="0">
            <a:noFill/>
          </a:ln>
        </p:spPr>
      </p:pic>
      <p:pic>
        <p:nvPicPr>
          <p:cNvPr id="420" name="Picture 93" descr="D:\Classes\5700\assets\social_google_box.png"/>
          <p:cNvPicPr/>
          <p:nvPr/>
        </p:nvPicPr>
        <p:blipFill>
          <a:blip r:embed="rId2"/>
          <a:stretch/>
        </p:blipFill>
        <p:spPr>
          <a:xfrm>
            <a:off x="10949040" y="4263840"/>
            <a:ext cx="994680" cy="745920"/>
          </a:xfrm>
          <a:prstGeom prst="rect">
            <a:avLst/>
          </a:prstGeom>
          <a:ln w="0">
            <a:noFill/>
          </a:ln>
        </p:spPr>
      </p:pic>
      <p:pic>
        <p:nvPicPr>
          <p:cNvPr id="421" name="Picture 94" descr="D:\Pictures\Server_icons_lnx\Icons\128X128\server.png"/>
          <p:cNvPicPr/>
          <p:nvPr/>
        </p:nvPicPr>
        <p:blipFill>
          <a:blip r:embed="rId3"/>
          <a:stretch/>
        </p:blipFill>
        <p:spPr>
          <a:xfrm>
            <a:off x="3585600" y="1933200"/>
            <a:ext cx="1135080" cy="851400"/>
          </a:xfrm>
          <a:prstGeom prst="rect">
            <a:avLst/>
          </a:prstGeom>
          <a:ln w="0">
            <a:noFill/>
          </a:ln>
        </p:spPr>
      </p:pic>
      <p:pic>
        <p:nvPicPr>
          <p:cNvPr id="422" name="Picture 95" descr="D:\Pictures\Server_icons_lnx\Icons\128X128\server.png"/>
          <p:cNvPicPr/>
          <p:nvPr/>
        </p:nvPicPr>
        <p:blipFill>
          <a:blip r:embed="rId4"/>
          <a:stretch/>
        </p:blipFill>
        <p:spPr>
          <a:xfrm>
            <a:off x="4330080" y="3245760"/>
            <a:ext cx="1135080" cy="851400"/>
          </a:xfrm>
          <a:prstGeom prst="rect">
            <a:avLst/>
          </a:prstGeom>
          <a:ln w="0">
            <a:noFill/>
          </a:ln>
        </p:spPr>
      </p:pic>
      <p:pic>
        <p:nvPicPr>
          <p:cNvPr id="423" name="Picture 96" descr="D:\Pictures\Server_icons_lnx\Icons\128X128\server.png"/>
          <p:cNvPicPr/>
          <p:nvPr/>
        </p:nvPicPr>
        <p:blipFill>
          <a:blip r:embed="rId5"/>
          <a:stretch/>
        </p:blipFill>
        <p:spPr>
          <a:xfrm>
            <a:off x="5898240" y="1647000"/>
            <a:ext cx="1135080" cy="851400"/>
          </a:xfrm>
          <a:prstGeom prst="rect">
            <a:avLst/>
          </a:prstGeom>
          <a:ln w="0">
            <a:noFill/>
          </a:ln>
        </p:spPr>
      </p:pic>
      <p:pic>
        <p:nvPicPr>
          <p:cNvPr id="424" name="Picture 108" descr="D:\Pictures\Server_icons_lnx\Icons\128X128\server.png"/>
          <p:cNvPicPr/>
          <p:nvPr/>
        </p:nvPicPr>
        <p:blipFill>
          <a:blip r:embed="rId6"/>
          <a:stretch/>
        </p:blipFill>
        <p:spPr>
          <a:xfrm>
            <a:off x="6465960" y="3013920"/>
            <a:ext cx="1135080" cy="851400"/>
          </a:xfrm>
          <a:prstGeom prst="rect">
            <a:avLst/>
          </a:prstGeom>
          <a:ln w="0">
            <a:noFill/>
          </a:ln>
        </p:spPr>
      </p:pic>
      <p:pic>
        <p:nvPicPr>
          <p:cNvPr id="425" name="Picture 109" descr="D:\Pictures\Server_icons_lnx\Icons\128X128\server.png"/>
          <p:cNvPicPr/>
          <p:nvPr/>
        </p:nvPicPr>
        <p:blipFill>
          <a:blip r:embed="rId7"/>
          <a:stretch/>
        </p:blipFill>
        <p:spPr>
          <a:xfrm>
            <a:off x="2331360" y="2987280"/>
            <a:ext cx="1135080" cy="851400"/>
          </a:xfrm>
          <a:prstGeom prst="rect">
            <a:avLst/>
          </a:prstGeom>
          <a:ln w="0">
            <a:noFill/>
          </a:ln>
        </p:spPr>
      </p:pic>
      <p:pic>
        <p:nvPicPr>
          <p:cNvPr id="426" name="Picture 110" descr="D:\Pictures\Server_icons_lnx\Icons\128X128\server.png"/>
          <p:cNvPicPr/>
          <p:nvPr/>
        </p:nvPicPr>
        <p:blipFill>
          <a:blip r:embed="rId8"/>
          <a:stretch/>
        </p:blipFill>
        <p:spPr>
          <a:xfrm>
            <a:off x="7812000" y="1880640"/>
            <a:ext cx="1135080" cy="851400"/>
          </a:xfrm>
          <a:prstGeom prst="rect">
            <a:avLst/>
          </a:prstGeom>
          <a:ln w="0">
            <a:noFill/>
          </a:ln>
        </p:spPr>
      </p:pic>
      <p:pic>
        <p:nvPicPr>
          <p:cNvPr id="427" name="Picture 111" descr="D:\Pictures\Server_icons_lnx\Icons\128X128\server.png"/>
          <p:cNvPicPr/>
          <p:nvPr/>
        </p:nvPicPr>
        <p:blipFill>
          <a:blip r:embed="rId9"/>
          <a:stretch/>
        </p:blipFill>
        <p:spPr>
          <a:xfrm>
            <a:off x="8500680" y="3395880"/>
            <a:ext cx="1135080" cy="851400"/>
          </a:xfrm>
          <a:prstGeom prst="rect">
            <a:avLst/>
          </a:prstGeom>
          <a:ln w="0">
            <a:noFill/>
          </a:ln>
        </p:spPr>
      </p:pic>
      <p:pic>
        <p:nvPicPr>
          <p:cNvPr id="428" name="Picture 112" descr="D:\Pictures\Server_icons_lnx\Icons\128X128\server.png"/>
          <p:cNvPicPr/>
          <p:nvPr/>
        </p:nvPicPr>
        <p:blipFill>
          <a:blip r:embed="rId10"/>
          <a:stretch/>
        </p:blipFill>
        <p:spPr>
          <a:xfrm>
            <a:off x="9634320" y="2296080"/>
            <a:ext cx="1135080" cy="851400"/>
          </a:xfrm>
          <a:prstGeom prst="rect">
            <a:avLst/>
          </a:prstGeom>
          <a:ln w="0">
            <a:noFill/>
          </a:ln>
        </p:spPr>
      </p:pic>
      <p:grpSp>
        <p:nvGrpSpPr>
          <p:cNvPr id="429" name="Group 13"/>
          <p:cNvGrpSpPr/>
          <p:nvPr/>
        </p:nvGrpSpPr>
        <p:grpSpPr>
          <a:xfrm>
            <a:off x="7698240" y="1203120"/>
            <a:ext cx="1422720" cy="516600"/>
            <a:chOff x="7698240" y="1203120"/>
            <a:chExt cx="1422720" cy="516600"/>
          </a:xfrm>
        </p:grpSpPr>
        <p:sp>
          <p:nvSpPr>
            <p:cNvPr id="430" name="Rectangular Callout 10"/>
            <p:cNvSpPr/>
            <p:nvPr/>
          </p:nvSpPr>
          <p:spPr>
            <a:xfrm flipH="1">
              <a:off x="7698240" y="1203120"/>
              <a:ext cx="1411200" cy="501840"/>
            </a:xfrm>
            <a:prstGeom prst="wedgeRectCallout">
              <a:avLst>
                <a:gd name="adj1" fmla="val -6514"/>
                <a:gd name="adj2" fmla="val 100600"/>
              </a:avLst>
            </a:prstGeom>
            <a:solidFill>
              <a:srgbClr val="da1f28"/>
            </a:solidFill>
            <a:ln w="38100">
              <a:solidFill>
                <a:srgbClr val="6d101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Tw Cen MT"/>
              </a:endParaRPr>
            </a:p>
          </p:txBody>
        </p:sp>
        <p:sp>
          <p:nvSpPr>
            <p:cNvPr id="431" name="TextBox 15"/>
            <p:cNvSpPr/>
            <p:nvPr/>
          </p:nvSpPr>
          <p:spPr>
            <a:xfrm flipH="1">
              <a:off x="7709760" y="1203120"/>
              <a:ext cx="1411200" cy="51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2800" spc="-1" strike="noStrike">
                  <a:solidFill>
                    <a:srgbClr val="ffffff"/>
                  </a:solidFill>
                  <a:latin typeface="Calibri"/>
                </a:rPr>
                <a:t>Mix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32" name="TextBox 16"/>
          <p:cNvSpPr/>
          <p:nvPr/>
        </p:nvSpPr>
        <p:spPr>
          <a:xfrm>
            <a:off x="2114640" y="3839040"/>
            <a:ext cx="1569240" cy="43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c00000"/>
                </a:solidFill>
                <a:latin typeface="Calibri"/>
              </a:rPr>
              <a:t>&lt;K</a:t>
            </a:r>
            <a:r>
              <a:rPr b="0" lang="en-US" sz="2000" spc="-1" strike="noStrike" baseline="-25000">
                <a:solidFill>
                  <a:srgbClr val="c00000"/>
                </a:solidFill>
                <a:latin typeface="Calibri"/>
              </a:rPr>
              <a:t>P</a:t>
            </a:r>
            <a:r>
              <a:rPr b="0" lang="en-US" sz="2000" spc="-1" strike="noStrike">
                <a:solidFill>
                  <a:srgbClr val="c00000"/>
                </a:solidFill>
                <a:latin typeface="Calibri"/>
              </a:rPr>
              <a:t>, K</a:t>
            </a:r>
            <a:r>
              <a:rPr b="0" lang="en-US" sz="2000" spc="-1" strike="noStrike" baseline="-25000">
                <a:solidFill>
                  <a:srgbClr val="c00000"/>
                </a:solidFill>
                <a:latin typeface="Calibri"/>
              </a:rPr>
              <a:t>S</a:t>
            </a:r>
            <a:r>
              <a:rPr b="0" lang="en-US" sz="2000" spc="-1" strike="noStrike">
                <a:solidFill>
                  <a:srgbClr val="c00000"/>
                </a:solidFill>
                <a:latin typeface="Calibri"/>
              </a:rPr>
              <a:t>&gt;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TextBox 18"/>
          <p:cNvSpPr/>
          <p:nvPr/>
        </p:nvSpPr>
        <p:spPr>
          <a:xfrm>
            <a:off x="3368880" y="2732400"/>
            <a:ext cx="1569240" cy="43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7030a0"/>
                </a:solidFill>
                <a:latin typeface="Calibri"/>
              </a:rPr>
              <a:t>&lt;K</a:t>
            </a:r>
            <a:r>
              <a:rPr b="0" lang="en-US" sz="2000" spc="-1" strike="noStrike" baseline="-25000">
                <a:solidFill>
                  <a:srgbClr val="7030a0"/>
                </a:solidFill>
                <a:latin typeface="Calibri"/>
              </a:rPr>
              <a:t>P</a:t>
            </a:r>
            <a:r>
              <a:rPr b="0" lang="en-US" sz="2000" spc="-1" strike="noStrike">
                <a:solidFill>
                  <a:srgbClr val="7030a0"/>
                </a:solidFill>
                <a:latin typeface="Calibri"/>
              </a:rPr>
              <a:t>, K</a:t>
            </a:r>
            <a:r>
              <a:rPr b="0" lang="en-US" sz="2000" spc="-1" strike="noStrike" baseline="-25000">
                <a:solidFill>
                  <a:srgbClr val="7030a0"/>
                </a:solidFill>
                <a:latin typeface="Calibri"/>
              </a:rPr>
              <a:t>S</a:t>
            </a:r>
            <a:r>
              <a:rPr b="0" lang="en-US" sz="2000" spc="-1" strike="noStrike">
                <a:solidFill>
                  <a:srgbClr val="7030a0"/>
                </a:solidFill>
                <a:latin typeface="Calibri"/>
              </a:rPr>
              <a:t>&gt;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TextBox 19"/>
          <p:cNvSpPr/>
          <p:nvPr/>
        </p:nvSpPr>
        <p:spPr>
          <a:xfrm>
            <a:off x="4113360" y="4036680"/>
            <a:ext cx="1569240" cy="43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002060"/>
                </a:solidFill>
                <a:latin typeface="Calibri"/>
              </a:rPr>
              <a:t>&lt;K</a:t>
            </a:r>
            <a:r>
              <a:rPr b="0" lang="en-US" sz="2000" spc="-1" strike="noStrike" baseline="-25000">
                <a:solidFill>
                  <a:srgbClr val="002060"/>
                </a:solidFill>
                <a:latin typeface="Calibri"/>
              </a:rPr>
              <a:t>P</a:t>
            </a:r>
            <a:r>
              <a:rPr b="0" lang="en-US" sz="2000" spc="-1" strike="noStrike">
                <a:solidFill>
                  <a:srgbClr val="002060"/>
                </a:solidFill>
                <a:latin typeface="Calibri"/>
              </a:rPr>
              <a:t>, K</a:t>
            </a:r>
            <a:r>
              <a:rPr b="0" lang="en-US" sz="2000" spc="-1" strike="noStrike" baseline="-25000">
                <a:solidFill>
                  <a:srgbClr val="002060"/>
                </a:solidFill>
                <a:latin typeface="Calibri"/>
              </a:rPr>
              <a:t>S</a:t>
            </a:r>
            <a:r>
              <a:rPr b="0" lang="en-US" sz="2000" spc="-1" strike="noStrike">
                <a:solidFill>
                  <a:srgbClr val="002060"/>
                </a:solidFill>
                <a:latin typeface="Calibri"/>
              </a:rPr>
              <a:t>&gt;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TextBox 20"/>
          <p:cNvSpPr/>
          <p:nvPr/>
        </p:nvSpPr>
        <p:spPr>
          <a:xfrm>
            <a:off x="9417240" y="3095280"/>
            <a:ext cx="1569240" cy="43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0070c0"/>
                </a:solidFill>
                <a:latin typeface="Calibri"/>
              </a:rPr>
              <a:t>&lt;K</a:t>
            </a:r>
            <a:r>
              <a:rPr b="0" lang="en-US" sz="2000" spc="-1" strike="noStrike" baseline="-25000">
                <a:solidFill>
                  <a:srgbClr val="0070c0"/>
                </a:solidFill>
                <a:latin typeface="Calibri"/>
              </a:rPr>
              <a:t>P</a:t>
            </a:r>
            <a:r>
              <a:rPr b="0" lang="en-US" sz="2000" spc="-1" strike="noStrike">
                <a:solidFill>
                  <a:srgbClr val="0070c0"/>
                </a:solidFill>
                <a:latin typeface="Calibri"/>
              </a:rPr>
              <a:t>, K</a:t>
            </a:r>
            <a:r>
              <a:rPr b="0" lang="en-US" sz="2000" spc="-1" strike="noStrike" baseline="-25000">
                <a:solidFill>
                  <a:srgbClr val="0070c0"/>
                </a:solidFill>
                <a:latin typeface="Calibri"/>
              </a:rPr>
              <a:t>S</a:t>
            </a:r>
            <a:r>
              <a:rPr b="0" lang="en-US" sz="2000" spc="-1" strike="noStrike">
                <a:solidFill>
                  <a:srgbClr val="0070c0"/>
                </a:solidFill>
                <a:latin typeface="Calibri"/>
              </a:rPr>
              <a:t>&gt;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TextBox 21"/>
          <p:cNvSpPr/>
          <p:nvPr/>
        </p:nvSpPr>
        <p:spPr>
          <a:xfrm>
            <a:off x="6248880" y="3804480"/>
            <a:ext cx="1569240" cy="43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00b050"/>
                </a:solidFill>
                <a:latin typeface="Calibri"/>
              </a:rPr>
              <a:t>&lt;K</a:t>
            </a:r>
            <a:r>
              <a:rPr b="0" lang="en-US" sz="2000" spc="-1" strike="noStrike" baseline="-25000">
                <a:solidFill>
                  <a:srgbClr val="00b050"/>
                </a:solidFill>
                <a:latin typeface="Calibri"/>
              </a:rPr>
              <a:t>P</a:t>
            </a:r>
            <a:r>
              <a:rPr b="0" lang="en-US" sz="2000" spc="-1" strike="noStrike">
                <a:solidFill>
                  <a:srgbClr val="00b050"/>
                </a:solidFill>
                <a:latin typeface="Calibri"/>
              </a:rPr>
              <a:t>, K</a:t>
            </a:r>
            <a:r>
              <a:rPr b="0" lang="en-US" sz="2000" spc="-1" strike="noStrike" baseline="-25000">
                <a:solidFill>
                  <a:srgbClr val="00b050"/>
                </a:solidFill>
                <a:latin typeface="Calibri"/>
              </a:rPr>
              <a:t>S</a:t>
            </a:r>
            <a:r>
              <a:rPr b="0" lang="en-US" sz="2000" spc="-1" strike="noStrike">
                <a:solidFill>
                  <a:srgbClr val="00b050"/>
                </a:solidFill>
                <a:latin typeface="Calibri"/>
              </a:rPr>
              <a:t>&gt;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TextBox 22"/>
          <p:cNvSpPr/>
          <p:nvPr/>
        </p:nvSpPr>
        <p:spPr>
          <a:xfrm>
            <a:off x="7630920" y="2648160"/>
            <a:ext cx="1569240" cy="43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ff0000"/>
                </a:solidFill>
                <a:latin typeface="Calibri"/>
              </a:rPr>
              <a:t>&lt;K</a:t>
            </a:r>
            <a:r>
              <a:rPr b="0" lang="en-US" sz="2000" spc="-1" strike="noStrike" baseline="-25000">
                <a:solidFill>
                  <a:srgbClr val="ff0000"/>
                </a:solidFill>
                <a:latin typeface="Calibri"/>
              </a:rPr>
              <a:t>P</a:t>
            </a:r>
            <a:r>
              <a:rPr b="0" lang="en-US" sz="2000" spc="-1" strike="noStrike">
                <a:solidFill>
                  <a:srgbClr val="ff0000"/>
                </a:solidFill>
                <a:latin typeface="Calibri"/>
              </a:rPr>
              <a:t>, K</a:t>
            </a:r>
            <a:r>
              <a:rPr b="0" lang="en-US" sz="2000" spc="-1" strike="noStrike" baseline="-25000">
                <a:solidFill>
                  <a:srgbClr val="ff0000"/>
                </a:solidFill>
                <a:latin typeface="Calibri"/>
              </a:rPr>
              <a:t>S</a:t>
            </a:r>
            <a:r>
              <a:rPr b="0" lang="en-US" sz="2000" spc="-1" strike="noStrike">
                <a:solidFill>
                  <a:srgbClr val="ff0000"/>
                </a:solidFill>
                <a:latin typeface="Calibri"/>
              </a:rPr>
              <a:t>&gt;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TextBox 23"/>
          <p:cNvSpPr/>
          <p:nvPr/>
        </p:nvSpPr>
        <p:spPr>
          <a:xfrm>
            <a:off x="8283600" y="4186800"/>
            <a:ext cx="1569240" cy="43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ffc000"/>
                </a:solidFill>
                <a:latin typeface="Calibri"/>
              </a:rPr>
              <a:t>&lt;K</a:t>
            </a:r>
            <a:r>
              <a:rPr b="0" lang="en-US" sz="2000" spc="-1" strike="noStrike" baseline="-25000">
                <a:solidFill>
                  <a:srgbClr val="ffc000"/>
                </a:solidFill>
                <a:latin typeface="Calibri"/>
              </a:rPr>
              <a:t>P</a:t>
            </a:r>
            <a:r>
              <a:rPr b="0" lang="en-US" sz="2000" spc="-1" strike="noStrike">
                <a:solidFill>
                  <a:srgbClr val="ffc000"/>
                </a:solidFill>
                <a:latin typeface="Calibri"/>
              </a:rPr>
              <a:t>, K</a:t>
            </a:r>
            <a:r>
              <a:rPr b="0" lang="en-US" sz="2000" spc="-1" strike="noStrike" baseline="-25000">
                <a:solidFill>
                  <a:srgbClr val="ffc000"/>
                </a:solidFill>
                <a:latin typeface="Calibri"/>
              </a:rPr>
              <a:t>S</a:t>
            </a:r>
            <a:r>
              <a:rPr b="0" lang="en-US" sz="2000" spc="-1" strike="noStrike">
                <a:solidFill>
                  <a:srgbClr val="ffc000"/>
                </a:solidFill>
                <a:latin typeface="Calibri"/>
              </a:rPr>
              <a:t>&gt;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TextBox 24"/>
          <p:cNvSpPr/>
          <p:nvPr/>
        </p:nvSpPr>
        <p:spPr>
          <a:xfrm>
            <a:off x="5681160" y="2427480"/>
            <a:ext cx="1569240" cy="43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92d050"/>
                </a:solidFill>
                <a:latin typeface="Calibri"/>
              </a:rPr>
              <a:t>&lt;K</a:t>
            </a:r>
            <a:r>
              <a:rPr b="0" lang="en-US" sz="2000" spc="-1" strike="noStrike" baseline="-25000">
                <a:solidFill>
                  <a:srgbClr val="92d050"/>
                </a:solidFill>
                <a:latin typeface="Calibri"/>
              </a:rPr>
              <a:t>P</a:t>
            </a:r>
            <a:r>
              <a:rPr b="0" lang="en-US" sz="2000" spc="-1" strike="noStrike">
                <a:solidFill>
                  <a:srgbClr val="92d050"/>
                </a:solidFill>
                <a:latin typeface="Calibri"/>
              </a:rPr>
              <a:t>, K</a:t>
            </a:r>
            <a:r>
              <a:rPr b="0" lang="en-US" sz="2000" spc="-1" strike="noStrike" baseline="-25000">
                <a:solidFill>
                  <a:srgbClr val="92d050"/>
                </a:solidFill>
                <a:latin typeface="Calibri"/>
              </a:rPr>
              <a:t>S</a:t>
            </a:r>
            <a:r>
              <a:rPr b="0" lang="en-US" sz="2000" spc="-1" strike="noStrike">
                <a:solidFill>
                  <a:srgbClr val="92d050"/>
                </a:solidFill>
                <a:latin typeface="Calibri"/>
              </a:rPr>
              <a:t>&gt;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Left-Right Arrow 32"/>
          <p:cNvSpPr/>
          <p:nvPr/>
        </p:nvSpPr>
        <p:spPr>
          <a:xfrm rot="318000">
            <a:off x="1692000" y="2095920"/>
            <a:ext cx="1902240" cy="27360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1" name="Left-Right Arrow 36"/>
          <p:cNvSpPr/>
          <p:nvPr/>
        </p:nvSpPr>
        <p:spPr>
          <a:xfrm rot="1015800">
            <a:off x="4656600" y="2739240"/>
            <a:ext cx="1848240" cy="28152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2" name="Left-Right Arrow 37"/>
          <p:cNvSpPr/>
          <p:nvPr/>
        </p:nvSpPr>
        <p:spPr>
          <a:xfrm rot="20879400">
            <a:off x="7608960" y="3085560"/>
            <a:ext cx="2076840" cy="27432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3" name="TextBox 30"/>
          <p:cNvSpPr/>
          <p:nvPr/>
        </p:nvSpPr>
        <p:spPr>
          <a:xfrm>
            <a:off x="-10440" y="2359080"/>
            <a:ext cx="2176200" cy="43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[</a:t>
            </a:r>
            <a:r>
              <a:rPr b="0" lang="en-US" sz="2000" spc="-1" strike="noStrike">
                <a:solidFill>
                  <a:srgbClr val="7030a0"/>
                </a:solidFill>
                <a:latin typeface="Calibri"/>
              </a:rPr>
              <a:t>K</a:t>
            </a:r>
            <a:r>
              <a:rPr b="0" lang="en-US" sz="2000" spc="-1" strike="noStrike" baseline="-25000">
                <a:solidFill>
                  <a:srgbClr val="7030a0"/>
                </a:solidFill>
                <a:latin typeface="Calibri"/>
              </a:rPr>
              <a:t>P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 ,</a:t>
            </a:r>
            <a:r>
              <a:rPr b="0" lang="en-US" sz="2000" spc="-1" strike="noStrike">
                <a:solidFill>
                  <a:srgbClr val="00b050"/>
                </a:solidFill>
                <a:latin typeface="Calibri"/>
              </a:rPr>
              <a:t> K</a:t>
            </a:r>
            <a:r>
              <a:rPr b="0" lang="en-US" sz="2000" spc="-1" strike="noStrike" baseline="-25000">
                <a:solidFill>
                  <a:srgbClr val="00b050"/>
                </a:solidFill>
                <a:latin typeface="Calibri"/>
              </a:rPr>
              <a:t>P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,</a:t>
            </a:r>
            <a:r>
              <a:rPr b="0" lang="en-US" sz="2000" spc="-1" strike="noStrike" baseline="-25000">
                <a:solidFill>
                  <a:srgbClr val="00b05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b0f0"/>
                </a:solidFill>
                <a:latin typeface="Calibri"/>
              </a:rPr>
              <a:t>K</a:t>
            </a:r>
            <a:r>
              <a:rPr b="0" lang="en-US" sz="2000" spc="-1" strike="noStrike" baseline="-25000">
                <a:solidFill>
                  <a:srgbClr val="00b0f0"/>
                </a:solidFill>
                <a:latin typeface="Calibri"/>
              </a:rPr>
              <a:t>P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44" name="Group 18"/>
          <p:cNvGrpSpPr/>
          <p:nvPr/>
        </p:nvGrpSpPr>
        <p:grpSpPr>
          <a:xfrm>
            <a:off x="3463200" y="864000"/>
            <a:ext cx="2868480" cy="910800"/>
            <a:chOff x="3463200" y="864000"/>
            <a:chExt cx="2868480" cy="910800"/>
          </a:xfrm>
        </p:grpSpPr>
        <p:sp>
          <p:nvSpPr>
            <p:cNvPr id="445" name="Rectangular Callout 11"/>
            <p:cNvSpPr/>
            <p:nvPr/>
          </p:nvSpPr>
          <p:spPr>
            <a:xfrm flipH="1">
              <a:off x="3462840" y="864000"/>
              <a:ext cx="2845080" cy="910800"/>
            </a:xfrm>
            <a:prstGeom prst="wedgeRectCallout">
              <a:avLst>
                <a:gd name="adj1" fmla="val -5235"/>
                <a:gd name="adj2" fmla="val 124562"/>
              </a:avLst>
            </a:prstGeom>
            <a:solidFill>
              <a:srgbClr val="da1f28"/>
            </a:solidFill>
            <a:ln w="38100">
              <a:solidFill>
                <a:srgbClr val="6d101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Tw Cen MT"/>
              </a:endParaRPr>
            </a:p>
          </p:txBody>
        </p:sp>
        <p:sp>
          <p:nvSpPr>
            <p:cNvPr id="446" name="TextBox 37"/>
            <p:cNvSpPr/>
            <p:nvPr/>
          </p:nvSpPr>
          <p:spPr>
            <a:xfrm flipH="1">
              <a:off x="3486240" y="864000"/>
              <a:ext cx="2845080" cy="517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2800" spc="-1" strike="noStrike">
                  <a:solidFill>
                    <a:srgbClr val="ffffff"/>
                  </a:solidFill>
                  <a:latin typeface="Calibri"/>
                </a:rPr>
                <a:t>Encrypted Tunnels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47" name="Up-Down Arrow 2"/>
          <p:cNvSpPr/>
          <p:nvPr/>
        </p:nvSpPr>
        <p:spPr>
          <a:xfrm rot="20521200">
            <a:off x="10458360" y="3459240"/>
            <a:ext cx="440640" cy="896760"/>
          </a:xfrm>
          <a:prstGeom prst="up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>
            <a:solidFill>
              <a:srgbClr val="9bbb59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pSp>
        <p:nvGrpSpPr>
          <p:cNvPr id="448" name="Group 19"/>
          <p:cNvGrpSpPr/>
          <p:nvPr/>
        </p:nvGrpSpPr>
        <p:grpSpPr>
          <a:xfrm>
            <a:off x="7223400" y="4623480"/>
            <a:ext cx="3524040" cy="910800"/>
            <a:chOff x="7223400" y="4623480"/>
            <a:chExt cx="3524040" cy="910800"/>
          </a:xfrm>
        </p:grpSpPr>
        <p:sp>
          <p:nvSpPr>
            <p:cNvPr id="449" name="Rectangular Callout 12"/>
            <p:cNvSpPr/>
            <p:nvPr/>
          </p:nvSpPr>
          <p:spPr>
            <a:xfrm flipH="1">
              <a:off x="7223400" y="4623480"/>
              <a:ext cx="3494880" cy="910800"/>
            </a:xfrm>
            <a:prstGeom prst="wedgeRectCallout">
              <a:avLst>
                <a:gd name="adj1" fmla="val -45843"/>
                <a:gd name="adj2" fmla="val -112064"/>
              </a:avLst>
            </a:prstGeom>
            <a:solidFill>
              <a:srgbClr val="da1f28"/>
            </a:solidFill>
            <a:ln w="38100">
              <a:solidFill>
                <a:srgbClr val="6d101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Tw Cen MT"/>
              </a:endParaRPr>
            </a:p>
          </p:txBody>
        </p:sp>
        <p:sp>
          <p:nvSpPr>
            <p:cNvPr id="450" name="TextBox 38"/>
            <p:cNvSpPr/>
            <p:nvPr/>
          </p:nvSpPr>
          <p:spPr>
            <a:xfrm flipH="1">
              <a:off x="7252560" y="4623480"/>
              <a:ext cx="3494880" cy="517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2800" spc="-1" strike="noStrike">
                  <a:solidFill>
                    <a:srgbClr val="ffffff"/>
                  </a:solidFill>
                  <a:latin typeface="Calibri"/>
                </a:rPr>
                <a:t>Non-encrypted data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51" name="TextBox 39"/>
          <p:cNvSpPr/>
          <p:nvPr/>
        </p:nvSpPr>
        <p:spPr>
          <a:xfrm>
            <a:off x="1036440" y="4700520"/>
            <a:ext cx="2692800" cy="43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2000" spc="-1" strike="noStrike">
                <a:solidFill>
                  <a:schemeClr val="dk1"/>
                </a:solidFill>
                <a:latin typeface="Calibri"/>
              </a:rPr>
              <a:t>E(</a:t>
            </a:r>
            <a:r>
              <a:rPr b="0" i="1" lang="en-US" sz="2000" spc="-1" strike="noStrike">
                <a:solidFill>
                  <a:srgbClr val="7030a0"/>
                </a:solidFill>
                <a:latin typeface="Calibri"/>
              </a:rPr>
              <a:t>K</a:t>
            </a:r>
            <a:r>
              <a:rPr b="0" i="1" lang="en-US" sz="2000" spc="-1" strike="noStrike" baseline="-25000">
                <a:solidFill>
                  <a:srgbClr val="7030a0"/>
                </a:solidFill>
                <a:latin typeface="Calibri"/>
              </a:rPr>
              <a:t>P </a:t>
            </a:r>
            <a:r>
              <a:rPr b="0" i="1" lang="en-US" sz="2000" spc="-1" strike="noStrike">
                <a:solidFill>
                  <a:schemeClr val="dk1"/>
                </a:solidFill>
                <a:latin typeface="Calibri"/>
              </a:rPr>
              <a:t>, E(</a:t>
            </a:r>
            <a:r>
              <a:rPr b="0" i="1" lang="en-US" sz="2000" spc="-1" strike="noStrike">
                <a:solidFill>
                  <a:srgbClr val="00b050"/>
                </a:solidFill>
                <a:latin typeface="Calibri"/>
              </a:rPr>
              <a:t>K</a:t>
            </a:r>
            <a:r>
              <a:rPr b="0" i="1" lang="en-US" sz="2000" spc="-1" strike="noStrike" baseline="-25000">
                <a:solidFill>
                  <a:srgbClr val="00b050"/>
                </a:solidFill>
                <a:latin typeface="Calibri"/>
              </a:rPr>
              <a:t>P </a:t>
            </a:r>
            <a:r>
              <a:rPr b="0" i="1" lang="en-US" sz="2000" spc="-1" strike="noStrike">
                <a:solidFill>
                  <a:schemeClr val="dk1"/>
                </a:solidFill>
                <a:latin typeface="Calibri"/>
              </a:rPr>
              <a:t>, E(</a:t>
            </a:r>
            <a:r>
              <a:rPr b="0" i="1" lang="en-US" sz="2000" spc="-1" strike="noStrike">
                <a:solidFill>
                  <a:srgbClr val="00b0f0"/>
                </a:solidFill>
                <a:latin typeface="Calibri"/>
              </a:rPr>
              <a:t>K</a:t>
            </a:r>
            <a:r>
              <a:rPr b="0" i="1" lang="en-US" sz="2000" spc="-1" strike="noStrike" baseline="-25000">
                <a:solidFill>
                  <a:srgbClr val="00b0f0"/>
                </a:solidFill>
                <a:latin typeface="Calibri"/>
              </a:rPr>
              <a:t>P </a:t>
            </a:r>
            <a:r>
              <a:rPr b="0" i="1" lang="en-US" sz="2000" spc="-1" strike="noStrike">
                <a:solidFill>
                  <a:schemeClr val="dk1"/>
                </a:solidFill>
                <a:latin typeface="Calibri"/>
              </a:rPr>
              <a:t>, M))) = C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Oval 4"/>
          <p:cNvSpPr/>
          <p:nvPr/>
        </p:nvSpPr>
        <p:spPr>
          <a:xfrm>
            <a:off x="296640" y="2820600"/>
            <a:ext cx="1568520" cy="117648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3" name="Oval 5"/>
          <p:cNvSpPr/>
          <p:nvPr/>
        </p:nvSpPr>
        <p:spPr>
          <a:xfrm>
            <a:off x="371160" y="2876040"/>
            <a:ext cx="1420200" cy="10652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4" name="Oval 6"/>
          <p:cNvSpPr/>
          <p:nvPr/>
        </p:nvSpPr>
        <p:spPr>
          <a:xfrm>
            <a:off x="522360" y="2990160"/>
            <a:ext cx="1117080" cy="83772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455" name="Picture 113" descr="D:\Classes\5700\assets\Email-01.png"/>
          <p:cNvPicPr/>
          <p:nvPr/>
        </p:nvPicPr>
        <p:blipFill>
          <a:blip r:embed="rId11"/>
          <a:stretch/>
        </p:blipFill>
        <p:spPr>
          <a:xfrm>
            <a:off x="675360" y="3104640"/>
            <a:ext cx="811800" cy="60876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EAA1BF5E-2161-4A81-AAA7-8B7F15444206}" type="slidenum">
              <a:t>39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23" dur="indefinite" restart="never" nodeType="tmRoot">
          <p:childTnLst>
            <p:seq>
              <p:cTn id="724" dur="indefinite" nodeType="mainSeq">
                <p:childTnLst>
                  <p:par>
                    <p:cTn id="725" fill="hold">
                      <p:stCondLst>
                        <p:cond delay="indefinite"/>
                      </p:stCondLst>
                      <p:childTnLst>
                        <p:par>
                          <p:cTn id="726" fill="hold">
                            <p:stCondLst>
                              <p:cond delay="0"/>
                            </p:stCondLst>
                            <p:childTnLst>
                              <p:par>
                                <p:cTn id="727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29" dur="5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730" dur="50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31" dur="50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2" fill="hold">
                      <p:stCondLst>
                        <p:cond delay="indefinite"/>
                      </p:stCondLst>
                      <p:childTnLst>
                        <p:par>
                          <p:cTn id="733" fill="hold">
                            <p:stCondLst>
                              <p:cond delay="0"/>
                            </p:stCondLst>
                            <p:childTnLst>
                              <p:par>
                                <p:cTn id="734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736" dur="5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7" fill="hold">
                      <p:stCondLst>
                        <p:cond delay="indefinite"/>
                      </p:stCondLst>
                      <p:childTnLst>
                        <p:par>
                          <p:cTn id="738" fill="hold">
                            <p:stCondLst>
                              <p:cond delay="0"/>
                            </p:stCondLst>
                            <p:childTnLst>
                              <p:par>
                                <p:cTn id="739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741" dur="5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2" fill="hold">
                      <p:stCondLst>
                        <p:cond delay="indefinite"/>
                      </p:stCondLst>
                      <p:childTnLst>
                        <p:par>
                          <p:cTn id="743" fill="hold">
                            <p:stCondLst>
                              <p:cond delay="0"/>
                            </p:stCondLst>
                            <p:childTnLst>
                              <p:par>
                                <p:cTn id="744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746" dur="5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7" fill="hold">
                      <p:stCondLst>
                        <p:cond delay="indefinite"/>
                      </p:stCondLst>
                      <p:childTnLst>
                        <p:par>
                          <p:cTn id="748" fill="hold">
                            <p:stCondLst>
                              <p:cond delay="0"/>
                            </p:stCondLst>
                            <p:childTnLst>
                              <p:par>
                                <p:cTn id="749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51" dur="5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752" dur="500" fill="hold"/>
                                        <p:tgtEl>
                                          <p:spTgt spid="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53" dur="500" fill="hold"/>
                                        <p:tgtEl>
                                          <p:spTgt spid="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4" fill="hold">
                      <p:stCondLst>
                        <p:cond delay="indefinite"/>
                      </p:stCondLst>
                      <p:childTnLst>
                        <p:par>
                          <p:cTn id="755" fill="hold">
                            <p:stCondLst>
                              <p:cond delay="0"/>
                            </p:stCondLst>
                            <p:childTnLst>
                              <p:par>
                                <p:cTn id="756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58" dur="5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759" dur="500" fill="hold"/>
                                        <p:tgtEl>
                                          <p:spTgt spid="4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60" dur="500" fill="hold"/>
                                        <p:tgtEl>
                                          <p:spTgt spid="4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1" fill="hold">
                      <p:stCondLst>
                        <p:cond delay="indefinite"/>
                      </p:stCondLst>
                      <p:childTnLst>
                        <p:par>
                          <p:cTn id="762" fill="hold">
                            <p:stCondLst>
                              <p:cond delay="0"/>
                            </p:stCondLst>
                            <p:childTnLst>
                              <p:par>
                                <p:cTn id="763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765" dur="5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6" fill="hold">
                            <p:stCondLst>
                              <p:cond delay="500"/>
                            </p:stCondLst>
                            <p:childTnLst>
                              <p:par>
                                <p:cTn id="767" nodeType="after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769" dur="5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71" nodeType="after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773"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4" fill="hold">
                            <p:stCondLst>
                              <p:cond delay="1500"/>
                            </p:stCondLst>
                            <p:childTnLst>
                              <p:par>
                                <p:cTn id="775" nodeType="after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77" dur="5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778" dur="500" fill="hold"/>
                                        <p:tgtEl>
                                          <p:spTgt spid="4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79" dur="500" fill="hold"/>
                                        <p:tgtEl>
                                          <p:spTgt spid="4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0" fill="hold">
                      <p:stCondLst>
                        <p:cond delay="indefinite"/>
                      </p:stCondLst>
                      <p:childTnLst>
                        <p:par>
                          <p:cTn id="781" fill="hold">
                            <p:stCondLst>
                              <p:cond delay="0"/>
                            </p:stCondLst>
                            <p:childTnLst>
                              <p:par>
                                <p:cTn id="782" nodeType="clickEffect" fill="hold" presetClass="path" presetID="42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006 -9.89824E-007 L 0.24774 -0.13367 E">
                                      <p:cBhvr>
                                        <p:cTn id="783" dur="1500" fill="hold"/>
                                        <p:tgtEl>
                                          <p:spTgt spid="4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84" nodeType="withEffect" fill="hold" presetClass="path" presetID="42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006 -9.89824E-007 L 0.2434 -0.13182 E">
                                      <p:cBhvr>
                                        <p:cTn id="785" dur="1500" fill="hold"/>
                                        <p:tgtEl>
                                          <p:spTgt spid="4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86" nodeType="withEffect" fill="hold" presetClass="path" presetID="42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006 -9.89824E-007 L 0.24618 -0.13159 E">
                                      <p:cBhvr>
                                        <p:cTn id="787" dur="1500" fill="hold"/>
                                        <p:tgtEl>
                                          <p:spTgt spid="4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88" nodeType="withEffect" fill="hold" presetClass="path" presetID="42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006 -9.89824E-007 L 0.24479 -0.12974 E">
                                      <p:cBhvr>
                                        <p:cTn id="789" dur="1500" fill="hold"/>
                                        <p:tgtEl>
                                          <p:spTgt spid="4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0" fill="hold">
                      <p:stCondLst>
                        <p:cond delay="indefinite"/>
                      </p:stCondLst>
                      <p:childTnLst>
                        <p:par>
                          <p:cTn id="791" fill="hold">
                            <p:stCondLst>
                              <p:cond delay="0"/>
                            </p:stCondLst>
                            <p:childTnLst>
                              <p:par>
                                <p:cTn id="792" nodeType="clickEffect" fill="hold" presetClass="exit" presetID="16" presetSubtype="21">
                                  <p:stCondLst>
                                    <p:cond delay="0"/>
                                  </p:stCondLst>
                                  <p:childTnLst>
                                    <p:animEffect filter="barn(inVertical)" transition="out">
                                      <p:cBhvr additive="repl">
                                        <p:cTn id="793"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5" fill="hold">
                      <p:stCondLst>
                        <p:cond delay="indefinite"/>
                      </p:stCondLst>
                      <p:childTnLst>
                        <p:par>
                          <p:cTn id="796" fill="hold">
                            <p:stCondLst>
                              <p:cond delay="0"/>
                            </p:stCondLst>
                            <p:childTnLst>
                              <p:par>
                                <p:cTn id="797" nodeType="clickEffect" fill="hold" presetClass="path" presetID="42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4774 -0.13367 L 0.47447 -0.01896 E">
                                      <p:cBhvr>
                                        <p:cTn id="798" dur="1500" fill="hold"/>
                                        <p:tgtEl>
                                          <p:spTgt spid="4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99" nodeType="withEffect" fill="hold" presetClass="path" presetID="42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4774 -0.13367 L 0.47465 -0.02081 E">
                                      <p:cBhvr>
                                        <p:cTn id="800" dur="1500" fill="hold"/>
                                        <p:tgtEl>
                                          <p:spTgt spid="4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01" nodeType="withEffect" fill="hold" presetClass="path" presetID="42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4774 -0.13367 L 0.47309 -0.02081 E">
                                      <p:cBhvr>
                                        <p:cTn id="802" dur="1500" fill="hold"/>
                                        <p:tgtEl>
                                          <p:spTgt spid="4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3" fill="hold">
                      <p:stCondLst>
                        <p:cond delay="indefinite"/>
                      </p:stCondLst>
                      <p:childTnLst>
                        <p:par>
                          <p:cTn id="804" fill="hold">
                            <p:stCondLst>
                              <p:cond delay="0"/>
                            </p:stCondLst>
                            <p:childTnLst>
                              <p:par>
                                <p:cTn id="805" nodeType="clickEffect" fill="hold" presetClass="exit" presetID="16" presetSubtype="21">
                                  <p:stCondLst>
                                    <p:cond delay="0"/>
                                  </p:stCondLst>
                                  <p:childTnLst>
                                    <p:animEffect filter="barn(inVertical)" transition="out">
                                      <p:cBhvr additive="repl">
                                        <p:cTn id="806" dur="5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8" fill="hold">
                      <p:stCondLst>
                        <p:cond delay="indefinite"/>
                      </p:stCondLst>
                      <p:childTnLst>
                        <p:par>
                          <p:cTn id="809" fill="hold">
                            <p:stCondLst>
                              <p:cond delay="0"/>
                            </p:stCondLst>
                            <p:childTnLst>
                              <p:par>
                                <p:cTn id="810" nodeType="clickEffect" fill="hold" presetClass="path" presetID="42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7447 -0.01896 L 0.74027 -0.09898 E">
                                      <p:cBhvr>
                                        <p:cTn id="811" dur="1500" fill="hold"/>
                                        <p:tgtEl>
                                          <p:spTgt spid="4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12" nodeType="withEffect" fill="hold" presetClass="path" presetID="42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7447 -0.01896 L 0.74166 -0.10106 E">
                                      <p:cBhvr>
                                        <p:cTn id="813" dur="1500" fill="hold"/>
                                        <p:tgtEl>
                                          <p:spTgt spid="4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4" fill="hold">
                      <p:stCondLst>
                        <p:cond delay="indefinite"/>
                      </p:stCondLst>
                      <p:childTnLst>
                        <p:par>
                          <p:cTn id="815" fill="hold">
                            <p:stCondLst>
                              <p:cond delay="0"/>
                            </p:stCondLst>
                            <p:childTnLst>
                              <p:par>
                                <p:cTn id="816" nodeType="clickEffect" fill="hold" presetClass="exit" presetID="16" presetSubtype="21">
                                  <p:stCondLst>
                                    <p:cond delay="0"/>
                                  </p:stCondLst>
                                  <p:childTnLst>
                                    <p:animEffect filter="barn(inVertical)" transition="out">
                                      <p:cBhvr additive="repl">
                                        <p:cTn id="817" dur="5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9" fill="hold">
                      <p:stCondLst>
                        <p:cond delay="indefinite"/>
                      </p:stCondLst>
                      <p:childTnLst>
                        <p:par>
                          <p:cTn id="820" fill="hold">
                            <p:stCondLst>
                              <p:cond delay="0"/>
                            </p:stCondLst>
                            <p:childTnLst>
                              <p:par>
                                <p:cTn id="821" nodeType="clickEffect" fill="hold" presetClass="entr" presetID="16" presetSubtype="2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Horizontal)" transition="in">
                                      <p:cBhvr additive="repl">
                                        <p:cTn id="823" dur="5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4" fill="hold">
                            <p:stCondLst>
                              <p:cond delay="500"/>
                            </p:stCondLst>
                            <p:childTnLst>
                              <p:par>
                                <p:cTn id="825" nodeType="afterEffect" fill="hold" presetClass="path" presetID="42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74027 -0.09898 L 0.85208 0.09528 E">
                                      <p:cBhvr>
                                        <p:cTn id="826" dur="1500" fill="hold"/>
                                        <p:tgtEl>
                                          <p:spTgt spid="4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7" fill="hold">
                      <p:stCondLst>
                        <p:cond delay="indefinite"/>
                      </p:stCondLst>
                      <p:childTnLst>
                        <p:par>
                          <p:cTn id="828" fill="hold">
                            <p:stCondLst>
                              <p:cond delay="0"/>
                            </p:stCondLst>
                            <p:childTnLst>
                              <p:par>
                                <p:cTn id="829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31" dur="500"/>
                                        <p:tgtEl>
                                          <p:spTgt spid="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32" dur="500" fill="hold"/>
                                        <p:tgtEl>
                                          <p:spTgt spid="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33" dur="500" fill="hold"/>
                                        <p:tgtEl>
                                          <p:spTgt spid="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4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36" dur="500"/>
                                        <p:tgtEl>
                                          <p:spTgt spid="4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37" dur="500" fill="hold"/>
                                        <p:tgtEl>
                                          <p:spTgt spid="4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38" dur="500" fill="hold"/>
                                        <p:tgtEl>
                                          <p:spTgt spid="4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9" fill="hold">
                            <p:stCondLst>
                              <p:cond delay="500"/>
                            </p:stCondLst>
                            <p:childTnLst>
                              <p:par>
                                <p:cTn id="840" nodeType="after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42" dur="5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43" dur="500" fill="hold"/>
                                        <p:tgtEl>
                                          <p:spTgt spid="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44" dur="500" fill="hold"/>
                                        <p:tgtEl>
                                          <p:spTgt spid="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5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47" dur="5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48" dur="500" fill="hold"/>
                                        <p:tgtEl>
                                          <p:spTgt spid="4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49" dur="500" fill="hold"/>
                                        <p:tgtEl>
                                          <p:spTgt spid="4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6" name="Straight Connector 27"/>
          <p:cNvCxnSpPr>
            <a:stCxn id="457" idx="2"/>
          </p:cNvCxnSpPr>
          <p:nvPr/>
        </p:nvCxnSpPr>
        <p:spPr>
          <a:xfrm flipH="1">
            <a:off x="3535200" y="3414240"/>
            <a:ext cx="1178280" cy="2290680"/>
          </a:xfrm>
          <a:prstGeom prst="straightConnector1">
            <a:avLst/>
          </a:prstGeom>
          <a:ln w="38100">
            <a:solidFill>
              <a:srgbClr val="4a7ebb"/>
            </a:solidFill>
            <a:prstDash val="sysDot"/>
            <a:round/>
          </a:ln>
        </p:spPr>
      </p:cxnSp>
      <p:cxnSp>
        <p:nvCxnSpPr>
          <p:cNvPr id="458" name="Straight Connector 5"/>
          <p:cNvCxnSpPr/>
          <p:nvPr/>
        </p:nvCxnSpPr>
        <p:spPr>
          <a:xfrm>
            <a:off x="5140080" y="3364200"/>
            <a:ext cx="360" cy="2327040"/>
          </a:xfrm>
          <a:prstGeom prst="straightConnector1">
            <a:avLst/>
          </a:prstGeom>
          <a:ln w="38100">
            <a:solidFill>
              <a:srgbClr val="c0504d"/>
            </a:solidFill>
            <a:prstDash val="sysDot"/>
            <a:round/>
          </a:ln>
        </p:spPr>
      </p:cxnSp>
      <p:cxnSp>
        <p:nvCxnSpPr>
          <p:cNvPr id="459" name="Straight Connector 6"/>
          <p:cNvCxnSpPr/>
          <p:nvPr/>
        </p:nvCxnSpPr>
        <p:spPr>
          <a:xfrm>
            <a:off x="6684480" y="3364200"/>
            <a:ext cx="360" cy="2327040"/>
          </a:xfrm>
          <a:prstGeom prst="straightConnector1">
            <a:avLst/>
          </a:prstGeom>
          <a:ln w="38100">
            <a:solidFill>
              <a:srgbClr val="9bbb59"/>
            </a:solidFill>
            <a:prstDash val="sysDot"/>
            <a:round/>
          </a:ln>
        </p:spPr>
      </p:cxnSp>
      <p:cxnSp>
        <p:nvCxnSpPr>
          <p:cNvPr id="460" name="Straight Connector 7"/>
          <p:cNvCxnSpPr/>
          <p:nvPr/>
        </p:nvCxnSpPr>
        <p:spPr>
          <a:xfrm flipH="1">
            <a:off x="6684480" y="4695840"/>
            <a:ext cx="1436040" cy="360"/>
          </a:xfrm>
          <a:prstGeom prst="straightConnector1">
            <a:avLst/>
          </a:prstGeom>
          <a:ln w="76200">
            <a:solidFill>
              <a:srgbClr val="000000"/>
            </a:solidFill>
            <a:round/>
          </a:ln>
        </p:spPr>
      </p:cxnSp>
      <p:cxnSp>
        <p:nvCxnSpPr>
          <p:cNvPr id="461" name="Straight Arrow Connector 3"/>
          <p:cNvCxnSpPr/>
          <p:nvPr/>
        </p:nvCxnSpPr>
        <p:spPr>
          <a:xfrm>
            <a:off x="6760440" y="4444200"/>
            <a:ext cx="1360080" cy="360"/>
          </a:xfrm>
          <a:prstGeom prst="straightConnector1">
            <a:avLst/>
          </a:prstGeom>
          <a:ln w="7620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462" name="Can 4"/>
          <p:cNvSpPr/>
          <p:nvPr/>
        </p:nvSpPr>
        <p:spPr>
          <a:xfrm rot="16200000">
            <a:off x="7337880" y="3280320"/>
            <a:ext cx="947520" cy="2547000"/>
          </a:xfrm>
          <a:prstGeom prst="can">
            <a:avLst>
              <a:gd name="adj" fmla="val 25000"/>
            </a:avLst>
          </a:prstGeom>
          <a:solidFill>
            <a:schemeClr val="accent3"/>
          </a:solidFill>
          <a:ln>
            <a:solidFill>
              <a:srgbClr val="9bbb59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3" name="Can 5"/>
          <p:cNvSpPr/>
          <p:nvPr/>
        </p:nvSpPr>
        <p:spPr>
          <a:xfrm rot="16200000">
            <a:off x="5108040" y="3257640"/>
            <a:ext cx="1252800" cy="2547000"/>
          </a:xfrm>
          <a:prstGeom prst="can">
            <a:avLst>
              <a:gd name="adj" fmla="val 25000"/>
            </a:avLst>
          </a:prstGeom>
          <a:solidFill>
            <a:schemeClr val="accent2"/>
          </a:solidFill>
          <a:ln>
            <a:solidFill>
              <a:srgbClr val="c0504d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4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Another View of Encrypted Paths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5" name="Can 6"/>
          <p:cNvSpPr/>
          <p:nvPr/>
        </p:nvSpPr>
        <p:spPr>
          <a:xfrm rot="16200000">
            <a:off x="2904480" y="3236040"/>
            <a:ext cx="1541880" cy="2547000"/>
          </a:xfrm>
          <a:prstGeom prst="can">
            <a:avLst>
              <a:gd name="adj" fmla="val 25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466" name="Picture 101" descr="D:\Classes\5700\assets\User Coat Blue-01.png"/>
          <p:cNvPicPr/>
          <p:nvPr/>
        </p:nvPicPr>
        <p:blipFill>
          <a:blip r:embed="rId1"/>
          <a:stretch/>
        </p:blipFill>
        <p:spPr>
          <a:xfrm>
            <a:off x="364680" y="4267800"/>
            <a:ext cx="952200" cy="714240"/>
          </a:xfrm>
          <a:prstGeom prst="rect">
            <a:avLst/>
          </a:prstGeom>
          <a:ln w="0">
            <a:noFill/>
          </a:ln>
        </p:spPr>
      </p:pic>
      <p:pic>
        <p:nvPicPr>
          <p:cNvPr id="467" name="Picture 102" descr="D:\Classes\5700\assets\social_google_box.png"/>
          <p:cNvPicPr/>
          <p:nvPr/>
        </p:nvPicPr>
        <p:blipFill>
          <a:blip r:embed="rId2"/>
          <a:stretch/>
        </p:blipFill>
        <p:spPr>
          <a:xfrm>
            <a:off x="11076480" y="4251960"/>
            <a:ext cx="994680" cy="745920"/>
          </a:xfrm>
          <a:prstGeom prst="rect">
            <a:avLst/>
          </a:prstGeom>
          <a:ln w="0">
            <a:noFill/>
          </a:ln>
        </p:spPr>
      </p:pic>
      <p:sp>
        <p:nvSpPr>
          <p:cNvPr id="468" name="Oval 1"/>
          <p:cNvSpPr/>
          <p:nvPr/>
        </p:nvSpPr>
        <p:spPr>
          <a:xfrm>
            <a:off x="2464560" y="3869280"/>
            <a:ext cx="390600" cy="1252800"/>
          </a:xfrm>
          <a:prstGeom prst="ellipse">
            <a:avLst/>
          </a:prstGeom>
          <a:solidFill>
            <a:schemeClr val="accent2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9" name="Oval 2"/>
          <p:cNvSpPr/>
          <p:nvPr/>
        </p:nvSpPr>
        <p:spPr>
          <a:xfrm>
            <a:off x="2505960" y="4106160"/>
            <a:ext cx="272160" cy="778680"/>
          </a:xfrm>
          <a:prstGeom prst="ellipse">
            <a:avLst/>
          </a:prstGeom>
          <a:solidFill>
            <a:schemeClr val="accent3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470" name="Picture 103" descr="D:\Pictures\Server_icons_lnx\Icons\128X128\server.png"/>
          <p:cNvPicPr/>
          <p:nvPr/>
        </p:nvPicPr>
        <p:blipFill>
          <a:blip r:embed="rId3"/>
          <a:stretch/>
        </p:blipFill>
        <p:spPr>
          <a:xfrm>
            <a:off x="4145760" y="2126160"/>
            <a:ext cx="1135080" cy="851400"/>
          </a:xfrm>
          <a:prstGeom prst="rect">
            <a:avLst/>
          </a:prstGeom>
          <a:ln w="0">
            <a:noFill/>
          </a:ln>
        </p:spPr>
      </p:pic>
      <p:sp>
        <p:nvSpPr>
          <p:cNvPr id="457" name="TextBox 17"/>
          <p:cNvSpPr/>
          <p:nvPr/>
        </p:nvSpPr>
        <p:spPr>
          <a:xfrm>
            <a:off x="3928680" y="2977920"/>
            <a:ext cx="1569240" cy="43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accent1"/>
                </a:solidFill>
                <a:latin typeface="Calibri"/>
              </a:rPr>
              <a:t>&lt;K</a:t>
            </a:r>
            <a:r>
              <a:rPr b="0" lang="en-US" sz="2000" spc="-1" strike="noStrike" baseline="-25000">
                <a:solidFill>
                  <a:schemeClr val="accent1"/>
                </a:solidFill>
                <a:latin typeface="Calibri"/>
              </a:rPr>
              <a:t>P</a:t>
            </a:r>
            <a:r>
              <a:rPr b="0" lang="en-US" sz="2000" spc="-1" strike="noStrike">
                <a:solidFill>
                  <a:schemeClr val="accent1"/>
                </a:solidFill>
                <a:latin typeface="Calibri"/>
              </a:rPr>
              <a:t>, K</a:t>
            </a:r>
            <a:r>
              <a:rPr b="0" lang="en-US" sz="2000" spc="-1" strike="noStrike" baseline="-25000">
                <a:solidFill>
                  <a:schemeClr val="accent1"/>
                </a:solidFill>
                <a:latin typeface="Calibri"/>
              </a:rPr>
              <a:t>S</a:t>
            </a:r>
            <a:r>
              <a:rPr b="0" lang="en-US" sz="2000" spc="-1" strike="noStrike">
                <a:solidFill>
                  <a:schemeClr val="accent1"/>
                </a:solidFill>
                <a:latin typeface="Calibri"/>
              </a:rPr>
              <a:t>&gt;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1" name="Picture 104" descr="D:\Pictures\Server_icons_lnx\Icons\128X128\server.png"/>
          <p:cNvPicPr/>
          <p:nvPr/>
        </p:nvPicPr>
        <p:blipFill>
          <a:blip r:embed="rId4"/>
          <a:stretch/>
        </p:blipFill>
        <p:spPr>
          <a:xfrm>
            <a:off x="6285600" y="2112480"/>
            <a:ext cx="1135080" cy="851400"/>
          </a:xfrm>
          <a:prstGeom prst="rect">
            <a:avLst/>
          </a:prstGeom>
          <a:ln w="0">
            <a:noFill/>
          </a:ln>
        </p:spPr>
      </p:pic>
      <p:sp>
        <p:nvSpPr>
          <p:cNvPr id="472" name="TextBox 25"/>
          <p:cNvSpPr/>
          <p:nvPr/>
        </p:nvSpPr>
        <p:spPr>
          <a:xfrm>
            <a:off x="6068520" y="2964240"/>
            <a:ext cx="1569240" cy="43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accent2"/>
                </a:solidFill>
                <a:latin typeface="Calibri"/>
              </a:rPr>
              <a:t>&lt;K</a:t>
            </a:r>
            <a:r>
              <a:rPr b="0" lang="en-US" sz="2000" spc="-1" strike="noStrike" baseline="-25000">
                <a:solidFill>
                  <a:schemeClr val="accent2"/>
                </a:solidFill>
                <a:latin typeface="Calibri"/>
              </a:rPr>
              <a:t>P</a:t>
            </a:r>
            <a:r>
              <a:rPr b="0" lang="en-US" sz="2000" spc="-1" strike="noStrike">
                <a:solidFill>
                  <a:schemeClr val="accent2"/>
                </a:solidFill>
                <a:latin typeface="Calibri"/>
              </a:rPr>
              <a:t>, K</a:t>
            </a:r>
            <a:r>
              <a:rPr b="0" lang="en-US" sz="2000" spc="-1" strike="noStrike" baseline="-25000">
                <a:solidFill>
                  <a:schemeClr val="accent2"/>
                </a:solidFill>
                <a:latin typeface="Calibri"/>
              </a:rPr>
              <a:t>S</a:t>
            </a:r>
            <a:r>
              <a:rPr b="0" lang="en-US" sz="2000" spc="-1" strike="noStrike">
                <a:solidFill>
                  <a:schemeClr val="accent2"/>
                </a:solidFill>
                <a:latin typeface="Calibri"/>
              </a:rPr>
              <a:t>&gt;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3" name="Picture 105" descr="D:\Pictures\Server_icons_lnx\Icons\128X128\server.png"/>
          <p:cNvPicPr/>
          <p:nvPr/>
        </p:nvPicPr>
        <p:blipFill>
          <a:blip r:embed="rId5"/>
          <a:stretch/>
        </p:blipFill>
        <p:spPr>
          <a:xfrm>
            <a:off x="8344800" y="2112480"/>
            <a:ext cx="1135080" cy="851400"/>
          </a:xfrm>
          <a:prstGeom prst="rect">
            <a:avLst/>
          </a:prstGeom>
          <a:ln w="0">
            <a:noFill/>
          </a:ln>
        </p:spPr>
      </p:pic>
      <p:sp>
        <p:nvSpPr>
          <p:cNvPr id="474" name="TextBox 26"/>
          <p:cNvSpPr/>
          <p:nvPr/>
        </p:nvSpPr>
        <p:spPr>
          <a:xfrm>
            <a:off x="8127720" y="2964240"/>
            <a:ext cx="1569240" cy="43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accent3"/>
                </a:solidFill>
                <a:latin typeface="Calibri"/>
              </a:rPr>
              <a:t>&lt;K</a:t>
            </a:r>
            <a:r>
              <a:rPr b="0" lang="en-US" sz="2000" spc="-1" strike="noStrike" baseline="-25000">
                <a:solidFill>
                  <a:schemeClr val="accent3"/>
                </a:solidFill>
                <a:latin typeface="Calibri"/>
              </a:rPr>
              <a:t>P</a:t>
            </a:r>
            <a:r>
              <a:rPr b="0" lang="en-US" sz="2000" spc="-1" strike="noStrike">
                <a:solidFill>
                  <a:schemeClr val="accent3"/>
                </a:solidFill>
                <a:latin typeface="Calibri"/>
              </a:rPr>
              <a:t>, K</a:t>
            </a:r>
            <a:r>
              <a:rPr b="0" lang="en-US" sz="2000" spc="-1" strike="noStrike" baseline="-25000">
                <a:solidFill>
                  <a:schemeClr val="accent3"/>
                </a:solidFill>
                <a:latin typeface="Calibri"/>
              </a:rPr>
              <a:t>S</a:t>
            </a:r>
            <a:r>
              <a:rPr b="0" lang="en-US" sz="2000" spc="-1" strike="noStrike">
                <a:solidFill>
                  <a:schemeClr val="accent3"/>
                </a:solidFill>
                <a:latin typeface="Calibri"/>
              </a:rPr>
              <a:t>&gt;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75" name="Straight Arrow Connector 4"/>
          <p:cNvCxnSpPr/>
          <p:nvPr/>
        </p:nvCxnSpPr>
        <p:spPr>
          <a:xfrm flipH="1">
            <a:off x="1043640" y="4695840"/>
            <a:ext cx="938160" cy="360"/>
          </a:xfrm>
          <a:prstGeom prst="straightConnector1">
            <a:avLst/>
          </a:prstGeom>
          <a:ln w="7620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476" name="Straight Connector 8"/>
          <p:cNvCxnSpPr/>
          <p:nvPr/>
        </p:nvCxnSpPr>
        <p:spPr>
          <a:xfrm flipH="1">
            <a:off x="1043640" y="4444200"/>
            <a:ext cx="938160" cy="360"/>
          </a:xfrm>
          <a:prstGeom prst="straightConnector1">
            <a:avLst/>
          </a:prstGeom>
          <a:ln w="76200">
            <a:solidFill>
              <a:srgbClr val="000000"/>
            </a:solidFill>
            <a:round/>
          </a:ln>
        </p:spPr>
      </p:cxnSp>
      <p:sp>
        <p:nvSpPr>
          <p:cNvPr id="3" name="PlaceHolder 2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2D84AEAA-8208-473E-A762-A31B382B13F9}" type="slidenum">
              <a:t>40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Return Traffic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8" name="PlaceHolder 2"/>
          <p:cNvSpPr>
            <a:spLocks noGrp="1"/>
          </p:cNvSpPr>
          <p:nvPr>
            <p:ph/>
          </p:nvPr>
        </p:nvSpPr>
        <p:spPr>
          <a:xfrm>
            <a:off x="203040" y="1600200"/>
            <a:ext cx="11784960" cy="257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In a mix network, how can the destination respond to the sender?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During path establishment, the sender places keys at each mix along the path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Data is re-encrypted as it travels the reverse path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479" name="Picture 106" descr="D:\Classes\5700\assets\User Coat Blue-01.png"/>
          <p:cNvPicPr/>
          <p:nvPr/>
        </p:nvPicPr>
        <p:blipFill>
          <a:blip r:embed="rId1"/>
          <a:stretch/>
        </p:blipFill>
        <p:spPr>
          <a:xfrm>
            <a:off x="183240" y="4357080"/>
            <a:ext cx="952200" cy="714240"/>
          </a:xfrm>
          <a:prstGeom prst="rect">
            <a:avLst/>
          </a:prstGeom>
          <a:ln w="0">
            <a:noFill/>
          </a:ln>
        </p:spPr>
      </p:pic>
      <p:pic>
        <p:nvPicPr>
          <p:cNvPr id="480" name="Picture 107" descr="D:\Classes\5700\assets\social_google_box.png"/>
          <p:cNvPicPr/>
          <p:nvPr/>
        </p:nvPicPr>
        <p:blipFill>
          <a:blip r:embed="rId2"/>
          <a:stretch/>
        </p:blipFill>
        <p:spPr>
          <a:xfrm>
            <a:off x="10985760" y="4341240"/>
            <a:ext cx="994680" cy="745920"/>
          </a:xfrm>
          <a:prstGeom prst="rect">
            <a:avLst/>
          </a:prstGeom>
          <a:ln w="0">
            <a:noFill/>
          </a:ln>
        </p:spPr>
      </p:pic>
      <p:pic>
        <p:nvPicPr>
          <p:cNvPr id="481" name="Picture 119" descr="D:\Pictures\Server_icons_lnx\Icons\128X128\server.png"/>
          <p:cNvPicPr/>
          <p:nvPr/>
        </p:nvPicPr>
        <p:blipFill>
          <a:blip r:embed="rId3"/>
          <a:stretch/>
        </p:blipFill>
        <p:spPr>
          <a:xfrm>
            <a:off x="2746800" y="4288680"/>
            <a:ext cx="1135080" cy="851400"/>
          </a:xfrm>
          <a:prstGeom prst="rect">
            <a:avLst/>
          </a:prstGeom>
          <a:ln w="0">
            <a:noFill/>
          </a:ln>
        </p:spPr>
      </p:pic>
      <p:pic>
        <p:nvPicPr>
          <p:cNvPr id="482" name="Picture 120" descr="D:\Pictures\Server_icons_lnx\Icons\128X128\server.png"/>
          <p:cNvPicPr/>
          <p:nvPr/>
        </p:nvPicPr>
        <p:blipFill>
          <a:blip r:embed="rId4"/>
          <a:stretch/>
        </p:blipFill>
        <p:spPr>
          <a:xfrm>
            <a:off x="5492880" y="4288680"/>
            <a:ext cx="1135080" cy="851400"/>
          </a:xfrm>
          <a:prstGeom prst="rect">
            <a:avLst/>
          </a:prstGeom>
          <a:ln w="0">
            <a:noFill/>
          </a:ln>
        </p:spPr>
      </p:pic>
      <p:pic>
        <p:nvPicPr>
          <p:cNvPr id="483" name="Picture 121" descr="D:\Pictures\Server_icons_lnx\Icons\128X128\server.png"/>
          <p:cNvPicPr/>
          <p:nvPr/>
        </p:nvPicPr>
        <p:blipFill>
          <a:blip r:embed="rId5"/>
          <a:stretch/>
        </p:blipFill>
        <p:spPr>
          <a:xfrm>
            <a:off x="8238960" y="4288680"/>
            <a:ext cx="1135080" cy="851400"/>
          </a:xfrm>
          <a:prstGeom prst="rect">
            <a:avLst/>
          </a:prstGeom>
          <a:ln w="0">
            <a:noFill/>
          </a:ln>
        </p:spPr>
      </p:pic>
      <p:sp>
        <p:nvSpPr>
          <p:cNvPr id="484" name="Left-Right Arrow 34"/>
          <p:cNvSpPr/>
          <p:nvPr/>
        </p:nvSpPr>
        <p:spPr>
          <a:xfrm>
            <a:off x="1149840" y="4578120"/>
            <a:ext cx="1596600" cy="27288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5" name="Up-Down Arrow 1"/>
          <p:cNvSpPr/>
          <p:nvPr/>
        </p:nvSpPr>
        <p:spPr>
          <a:xfrm rot="16200000">
            <a:off x="10008720" y="3944520"/>
            <a:ext cx="342360" cy="1609920"/>
          </a:xfrm>
          <a:prstGeom prst="up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>
            <a:solidFill>
              <a:srgbClr val="9bbb59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6" name="Left-Right Arrow 35"/>
          <p:cNvSpPr/>
          <p:nvPr/>
        </p:nvSpPr>
        <p:spPr>
          <a:xfrm>
            <a:off x="3882600" y="4613760"/>
            <a:ext cx="1596600" cy="27288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7" name="Left-Right Arrow 39"/>
          <p:cNvSpPr/>
          <p:nvPr/>
        </p:nvSpPr>
        <p:spPr>
          <a:xfrm>
            <a:off x="6628680" y="4613760"/>
            <a:ext cx="1596600" cy="27288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8" name="TextBox 27"/>
          <p:cNvSpPr/>
          <p:nvPr/>
        </p:nvSpPr>
        <p:spPr>
          <a:xfrm>
            <a:off x="527400" y="5140440"/>
            <a:ext cx="106812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accent2"/>
                </a:solidFill>
                <a:latin typeface="Calibri"/>
              </a:rPr>
              <a:t>&lt;K</a:t>
            </a:r>
            <a:r>
              <a:rPr b="0" lang="en-US" sz="1800" spc="-1" strike="noStrike" baseline="-25000">
                <a:solidFill>
                  <a:schemeClr val="accent2"/>
                </a:solidFill>
                <a:latin typeface="Calibri"/>
              </a:rPr>
              <a:t>P1</a:t>
            </a:r>
            <a:r>
              <a:rPr b="0" lang="en-US" sz="1800" spc="-1" strike="noStrike">
                <a:solidFill>
                  <a:schemeClr val="accent2"/>
                </a:solidFill>
                <a:latin typeface="Calibri"/>
              </a:rPr>
              <a:t> , K</a:t>
            </a:r>
            <a:r>
              <a:rPr b="0" lang="en-US" sz="1800" spc="-1" strike="noStrike" baseline="-25000">
                <a:solidFill>
                  <a:schemeClr val="accent2"/>
                </a:solidFill>
                <a:latin typeface="Calibri"/>
              </a:rPr>
              <a:t>S1</a:t>
            </a:r>
            <a:r>
              <a:rPr b="0" lang="en-US" sz="1800" spc="-1" strike="noStrike">
                <a:solidFill>
                  <a:schemeClr val="accent2"/>
                </a:solidFill>
                <a:latin typeface="Calibri"/>
              </a:rPr>
              <a:t>&gt;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TextBox 28"/>
          <p:cNvSpPr/>
          <p:nvPr/>
        </p:nvSpPr>
        <p:spPr>
          <a:xfrm>
            <a:off x="527400" y="5455800"/>
            <a:ext cx="106812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accent3"/>
                </a:solidFill>
                <a:latin typeface="Calibri"/>
              </a:rPr>
              <a:t>&lt;K</a:t>
            </a:r>
            <a:r>
              <a:rPr b="0" lang="en-US" sz="1800" spc="-1" strike="noStrike" baseline="-25000">
                <a:solidFill>
                  <a:schemeClr val="accent3"/>
                </a:solidFill>
                <a:latin typeface="Calibri"/>
              </a:rPr>
              <a:t>P2</a:t>
            </a:r>
            <a:r>
              <a:rPr b="0" lang="en-US" sz="1800" spc="-1" strike="noStrike">
                <a:solidFill>
                  <a:schemeClr val="accent3"/>
                </a:solidFill>
                <a:latin typeface="Calibri"/>
              </a:rPr>
              <a:t> , K</a:t>
            </a:r>
            <a:r>
              <a:rPr b="0" lang="en-US" sz="1800" spc="-1" strike="noStrike" baseline="-25000">
                <a:solidFill>
                  <a:schemeClr val="accent3"/>
                </a:solidFill>
                <a:latin typeface="Calibri"/>
              </a:rPr>
              <a:t>S2</a:t>
            </a:r>
            <a:r>
              <a:rPr b="0" lang="en-US" sz="1800" spc="-1" strike="noStrike">
                <a:solidFill>
                  <a:schemeClr val="accent3"/>
                </a:solidFill>
                <a:latin typeface="Calibri"/>
              </a:rPr>
              <a:t>&gt;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TextBox 29"/>
          <p:cNvSpPr/>
          <p:nvPr/>
        </p:nvSpPr>
        <p:spPr>
          <a:xfrm>
            <a:off x="527400" y="5772960"/>
            <a:ext cx="106812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accent4"/>
                </a:solidFill>
                <a:latin typeface="Calibri"/>
              </a:rPr>
              <a:t>&lt;K</a:t>
            </a:r>
            <a:r>
              <a:rPr b="0" lang="en-US" sz="1800" spc="-1" strike="noStrike" baseline="-25000">
                <a:solidFill>
                  <a:schemeClr val="accent4"/>
                </a:solidFill>
                <a:latin typeface="Calibri"/>
              </a:rPr>
              <a:t>P3</a:t>
            </a:r>
            <a:r>
              <a:rPr b="0" lang="en-US" sz="1800" spc="-1" strike="noStrike">
                <a:solidFill>
                  <a:schemeClr val="accent4"/>
                </a:solidFill>
                <a:latin typeface="Calibri"/>
              </a:rPr>
              <a:t> , K</a:t>
            </a:r>
            <a:r>
              <a:rPr b="0" lang="en-US" sz="1800" spc="-1" strike="noStrike" baseline="-25000">
                <a:solidFill>
                  <a:schemeClr val="accent4"/>
                </a:solidFill>
                <a:latin typeface="Calibri"/>
              </a:rPr>
              <a:t>S3</a:t>
            </a:r>
            <a:r>
              <a:rPr b="0" lang="en-US" sz="1800" spc="-1" strike="noStrike">
                <a:solidFill>
                  <a:schemeClr val="accent4"/>
                </a:solidFill>
                <a:latin typeface="Calibri"/>
              </a:rPr>
              <a:t>&gt;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TextBox 31"/>
          <p:cNvSpPr/>
          <p:nvPr/>
        </p:nvSpPr>
        <p:spPr>
          <a:xfrm>
            <a:off x="3097080" y="5149440"/>
            <a:ext cx="43416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accent2"/>
                </a:solidFill>
                <a:latin typeface="Calibri"/>
              </a:rPr>
              <a:t>K</a:t>
            </a:r>
            <a:r>
              <a:rPr b="0" lang="en-US" sz="1800" spc="-1" strike="noStrike" baseline="-25000">
                <a:solidFill>
                  <a:schemeClr val="accent2"/>
                </a:solidFill>
                <a:latin typeface="Calibri"/>
              </a:rPr>
              <a:t>P1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TextBox 32"/>
          <p:cNvSpPr/>
          <p:nvPr/>
        </p:nvSpPr>
        <p:spPr>
          <a:xfrm>
            <a:off x="5843160" y="5140440"/>
            <a:ext cx="43416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accent3"/>
                </a:solidFill>
                <a:latin typeface="Calibri"/>
              </a:rPr>
              <a:t>K</a:t>
            </a:r>
            <a:r>
              <a:rPr b="0" lang="en-US" sz="1800" spc="-1" strike="noStrike" baseline="-25000">
                <a:solidFill>
                  <a:schemeClr val="accent3"/>
                </a:solidFill>
                <a:latin typeface="Calibri"/>
              </a:rPr>
              <a:t>P2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TextBox 33"/>
          <p:cNvSpPr/>
          <p:nvPr/>
        </p:nvSpPr>
        <p:spPr>
          <a:xfrm>
            <a:off x="8589960" y="5112720"/>
            <a:ext cx="43416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accent4"/>
                </a:solidFill>
                <a:latin typeface="Calibri"/>
              </a:rPr>
              <a:t>K</a:t>
            </a:r>
            <a:r>
              <a:rPr b="0" lang="en-US" sz="1800" spc="-1" strike="noStrike" baseline="-25000">
                <a:solidFill>
                  <a:schemeClr val="accent4"/>
                </a:solidFill>
                <a:latin typeface="Calibri"/>
              </a:rPr>
              <a:t>P3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Oval 3"/>
          <p:cNvSpPr/>
          <p:nvPr/>
        </p:nvSpPr>
        <p:spPr>
          <a:xfrm>
            <a:off x="2529720" y="5553720"/>
            <a:ext cx="1568880" cy="11764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5" name="Oval 9"/>
          <p:cNvSpPr/>
          <p:nvPr/>
        </p:nvSpPr>
        <p:spPr>
          <a:xfrm>
            <a:off x="5350680" y="5609160"/>
            <a:ext cx="1420200" cy="106524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6" name="Oval 10"/>
          <p:cNvSpPr/>
          <p:nvPr/>
        </p:nvSpPr>
        <p:spPr>
          <a:xfrm>
            <a:off x="8238960" y="5723280"/>
            <a:ext cx="1117080" cy="83772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497" name="Picture 122" descr="D:\Classes\5700\assets\Email-01.png"/>
          <p:cNvPicPr/>
          <p:nvPr/>
        </p:nvPicPr>
        <p:blipFill>
          <a:blip r:embed="rId6"/>
          <a:stretch/>
        </p:blipFill>
        <p:spPr>
          <a:xfrm>
            <a:off x="10985760" y="5837760"/>
            <a:ext cx="811800" cy="60876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9EF885D7-3E7F-4A6C-B542-C41F9993BC31}" type="slidenum">
              <a:t>41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50" dur="indefinite" restart="never" nodeType="tmRoot">
          <p:childTnLst>
            <p:seq>
              <p:cTn id="851" dur="indefinite" nodeType="mainSeq">
                <p:childTnLst>
                  <p:par>
                    <p:cTn id="852" fill="hold">
                      <p:stCondLst>
                        <p:cond delay="indefinite"/>
                      </p:stCondLst>
                      <p:childTnLst>
                        <p:par>
                          <p:cTn id="853" fill="hold">
                            <p:stCondLst>
                              <p:cond delay="0"/>
                            </p:stCondLst>
                            <p:childTnLst>
                              <p:par>
                                <p:cTn id="854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56" dur="5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57" dur="500" fill="hold"/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58" dur="500" fill="hold"/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9" fill="hold">
                      <p:stCondLst>
                        <p:cond delay="indefinite"/>
                      </p:stCondLst>
                      <p:childTnLst>
                        <p:par>
                          <p:cTn id="860" fill="hold">
                            <p:stCondLst>
                              <p:cond delay="0"/>
                            </p:stCondLst>
                            <p:childTnLst>
                              <p:par>
                                <p:cTn id="861" nodeType="clickEffect" fill="hold" presetClass="path" presetID="42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006 -3.358E-006 L -0.21355 -0.00046 E">
                                      <p:cBhvr>
                                        <p:cTn id="862" dur="1250" fill="hold"/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3" fill="hold">
                            <p:stCondLst>
                              <p:cond delay="1250"/>
                            </p:stCondLst>
                            <p:childTnLst>
                              <p:par>
                                <p:cTn id="864" nodeType="after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866" dur="5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7" fill="hold">
                      <p:stCondLst>
                        <p:cond delay="indefinite"/>
                      </p:stCondLst>
                      <p:childTnLst>
                        <p:par>
                          <p:cTn id="868" fill="hold">
                            <p:stCondLst>
                              <p:cond delay="0"/>
                            </p:stCondLst>
                            <p:childTnLst>
                              <p:par>
                                <p:cTn id="869" nodeType="clickEffect" fill="hold" presetClass="path" presetID="42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1355 -0.00046 L -0.43143 -0.00115 E">
                                      <p:cBhvr>
                                        <p:cTn id="870" dur="1250" fill="hold"/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71" nodeType="withEffect" fill="hold" presetClass="path" presetID="42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87 -0.00047 L -0.2217 -0.00093 E">
                                      <p:cBhvr>
                                        <p:cTn id="872" dur="1250" fill="hold"/>
                                        <p:tgtEl>
                                          <p:spTgt spid="4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3" fill="hold">
                            <p:stCondLst>
                              <p:cond delay="1250"/>
                            </p:stCondLst>
                            <p:childTnLst>
                              <p:par>
                                <p:cTn id="874" nodeType="after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876" dur="5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7" fill="hold">
                      <p:stCondLst>
                        <p:cond delay="indefinite"/>
                      </p:stCondLst>
                      <p:childTnLst>
                        <p:par>
                          <p:cTn id="878" fill="hold">
                            <p:stCondLst>
                              <p:cond delay="0"/>
                            </p:stCondLst>
                            <p:childTnLst>
                              <p:par>
                                <p:cTn id="879" nodeType="clickEffect" fill="hold" presetClass="path" presetID="42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3143 -0.00115 L -0.66129 -0.00162 E">
                                      <p:cBhvr>
                                        <p:cTn id="880" dur="1250" fill="hold"/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81" nodeType="withEffect" fill="hold" presetClass="path" presetID="42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1875 -0.00115 L -0.44722 -0.00185 E">
                                      <p:cBhvr>
                                        <p:cTn id="882" dur="1250" fill="hold"/>
                                        <p:tgtEl>
                                          <p:spTgt spid="4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83" nodeType="withEffect" fill="hold" presetClass="path" presetID="42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9 -0.00116 L -0.2224 -0.00162 E">
                                      <p:cBhvr>
                                        <p:cTn id="884" dur="1250" fill="hold"/>
                                        <p:tgtEl>
                                          <p:spTgt spid="4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5" fill="hold">
                            <p:stCondLst>
                              <p:cond delay="1250"/>
                            </p:stCondLst>
                            <p:childTnLst>
                              <p:par>
                                <p:cTn id="886" nodeType="after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888" dur="5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9" fill="hold">
                      <p:stCondLst>
                        <p:cond delay="indefinite"/>
                      </p:stCondLst>
                      <p:childTnLst>
                        <p:par>
                          <p:cTn id="890" fill="hold">
                            <p:stCondLst>
                              <p:cond delay="0"/>
                            </p:stCondLst>
                            <p:childTnLst>
                              <p:par>
                                <p:cTn id="891" nodeType="clickEffect" fill="hold" presetClass="path" presetID="42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6129 -0.00162 L -0.84792 -0.00416 E">
                                      <p:cBhvr>
                                        <p:cTn id="892" dur="1250" fill="hold"/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93" nodeType="withEffect" fill="hold" presetClass="path" presetID="42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4861 -0.00162 L -0.63524 -0.00208 E">
                                      <p:cBhvr>
                                        <p:cTn id="894" dur="1250" fill="hold"/>
                                        <p:tgtEl>
                                          <p:spTgt spid="4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95" nodeType="withEffect" fill="hold" presetClass="path" presetID="42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2396 -0.00162 L -0.41198 -0.00208 E">
                                      <p:cBhvr>
                                        <p:cTn id="896" dur="1250" fill="hold"/>
                                        <p:tgtEl>
                                          <p:spTgt spid="4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97" nodeType="withEffect" fill="hold" presetClass="path" presetID="42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22 -0.00162 L -0.18698 -0.00208 E">
                                      <p:cBhvr>
                                        <p:cTn id="898" dur="1250" fill="hold"/>
                                        <p:tgtEl>
                                          <p:spTgt spid="4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9" fill="hold">
                            <p:stCondLst>
                              <p:cond delay="1250"/>
                            </p:stCondLst>
                            <p:childTnLst>
                              <p:par>
                                <p:cTn id="900" nodeType="afterEffect" fill="hold" presetClass="exit" presetID="16" presetSubtype="21">
                                  <p:stCondLst>
                                    <p:cond delay="0"/>
                                  </p:stCondLst>
                                  <p:childTnLst>
                                    <p:animEffect filter="barn(inVertical)" transition="out">
                                      <p:cBhvr additive="repl">
                                        <p:cTn id="901" dur="5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3" fill="hold">
                            <p:stCondLst>
                              <p:cond delay="1750"/>
                            </p:stCondLst>
                            <p:childTnLst>
                              <p:par>
                                <p:cTn id="904" nodeType="afterEffect" fill="hold" presetClass="exit" presetID="16" presetSubtype="21">
                                  <p:stCondLst>
                                    <p:cond delay="0"/>
                                  </p:stCondLst>
                                  <p:childTnLst>
                                    <p:animEffect filter="barn(inVertical)" transition="out">
                                      <p:cBhvr additive="repl">
                                        <p:cTn id="905" dur="5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7" fill="hold">
                            <p:stCondLst>
                              <p:cond delay="2250"/>
                            </p:stCondLst>
                            <p:childTnLst>
                              <p:par>
                                <p:cTn id="908" nodeType="afterEffect" fill="hold" presetClass="exit" presetID="16" presetSubtype="21">
                                  <p:stCondLst>
                                    <p:cond delay="0"/>
                                  </p:stCondLst>
                                  <p:childTnLst>
                                    <p:animEffect filter="barn(inVertical)" transition="out">
                                      <p:cBhvr additive="repl">
                                        <p:cTn id="909" dur="5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Oval 58"/>
          <p:cNvSpPr/>
          <p:nvPr/>
        </p:nvSpPr>
        <p:spPr>
          <a:xfrm>
            <a:off x="7871760" y="3877920"/>
            <a:ext cx="1638720" cy="1229040"/>
          </a:xfrm>
          <a:prstGeom prst="ellipse">
            <a:avLst/>
          </a:prstGeom>
          <a:solidFill>
            <a:schemeClr val="accent2"/>
          </a:solidFill>
          <a:ln>
            <a:solidFill>
              <a:srgbClr val="c0504d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9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Traffic Mixing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0" name="PlaceHolder 2"/>
          <p:cNvSpPr>
            <a:spLocks noGrp="1"/>
          </p:cNvSpPr>
          <p:nvPr>
            <p:ph/>
          </p:nvPr>
        </p:nvSpPr>
        <p:spPr>
          <a:xfrm>
            <a:off x="39240" y="1690560"/>
            <a:ext cx="4218840" cy="50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Hinders timing attacks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00" spc="-1" strike="noStrike">
                <a:solidFill>
                  <a:schemeClr val="dk1"/>
                </a:solidFill>
                <a:latin typeface="Calibri"/>
              </a:rPr>
              <a:t>Messages may be artificially delayed</a:t>
            </a:r>
            <a:endParaRPr b="0" lang="en-US" sz="21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00" spc="-1" strike="noStrike">
                <a:solidFill>
                  <a:schemeClr val="dk1"/>
                </a:solidFill>
                <a:latin typeface="Calibri"/>
              </a:rPr>
              <a:t>Temporal correlation is warped</a:t>
            </a:r>
            <a:endParaRPr b="0" lang="en-US" sz="21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Problems: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00" spc="-1" strike="noStrike">
                <a:solidFill>
                  <a:schemeClr val="dk1"/>
                </a:solidFill>
                <a:latin typeface="Calibri"/>
              </a:rPr>
              <a:t>Requires lots of traffic</a:t>
            </a:r>
            <a:endParaRPr b="0" lang="en-US" sz="21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00" spc="-1" strike="noStrike">
                <a:solidFill>
                  <a:schemeClr val="dk1"/>
                </a:solidFill>
                <a:latin typeface="Calibri"/>
              </a:rPr>
              <a:t>Adds latency to network flows</a:t>
            </a:r>
            <a:endParaRPr b="0" lang="en-US" sz="21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501" name="Picture 114" descr="D:\Classes\5700\assets\User Coat Blue-01.png"/>
          <p:cNvPicPr/>
          <p:nvPr/>
        </p:nvPicPr>
        <p:blipFill>
          <a:blip r:embed="rId1"/>
          <a:stretch/>
        </p:blipFill>
        <p:spPr>
          <a:xfrm>
            <a:off x="4389840" y="3198240"/>
            <a:ext cx="952200" cy="714240"/>
          </a:xfrm>
          <a:prstGeom prst="rect">
            <a:avLst/>
          </a:prstGeom>
          <a:ln w="0">
            <a:noFill/>
          </a:ln>
        </p:spPr>
      </p:pic>
      <p:pic>
        <p:nvPicPr>
          <p:cNvPr id="502" name="Picture 115" descr="D:\Pictures\Server_icons_lnx\Icons\128X128\server.png"/>
          <p:cNvPicPr/>
          <p:nvPr/>
        </p:nvPicPr>
        <p:blipFill>
          <a:blip r:embed="rId2"/>
          <a:stretch/>
        </p:blipFill>
        <p:spPr>
          <a:xfrm>
            <a:off x="8138880" y="4085280"/>
            <a:ext cx="1135080" cy="851400"/>
          </a:xfrm>
          <a:prstGeom prst="rect">
            <a:avLst/>
          </a:prstGeom>
          <a:ln w="0">
            <a:noFill/>
          </a:ln>
        </p:spPr>
      </p:pic>
      <p:pic>
        <p:nvPicPr>
          <p:cNvPr id="503" name="Picture 116" descr="D:\Pictures\soft-scraps icons\User Executive Red-01.png"/>
          <p:cNvPicPr/>
          <p:nvPr/>
        </p:nvPicPr>
        <p:blipFill>
          <a:blip r:embed="rId3"/>
          <a:stretch/>
        </p:blipFill>
        <p:spPr>
          <a:xfrm>
            <a:off x="4422240" y="3946320"/>
            <a:ext cx="890280" cy="667800"/>
          </a:xfrm>
          <a:prstGeom prst="rect">
            <a:avLst/>
          </a:prstGeom>
          <a:ln w="0">
            <a:noFill/>
          </a:ln>
        </p:spPr>
      </p:pic>
      <p:pic>
        <p:nvPicPr>
          <p:cNvPr id="504" name="Picture 117" descr="D:\Pictures\soft-scraps icons\User Preppy Red-01.png"/>
          <p:cNvPicPr/>
          <p:nvPr/>
        </p:nvPicPr>
        <p:blipFill>
          <a:blip r:embed="rId4"/>
          <a:stretch/>
        </p:blipFill>
        <p:spPr>
          <a:xfrm>
            <a:off x="4422240" y="4650480"/>
            <a:ext cx="890280" cy="667800"/>
          </a:xfrm>
          <a:prstGeom prst="rect">
            <a:avLst/>
          </a:prstGeom>
          <a:ln w="0">
            <a:noFill/>
          </a:ln>
        </p:spPr>
      </p:pic>
      <p:pic>
        <p:nvPicPr>
          <p:cNvPr id="505" name="Picture 118" descr="D:\Pictures\soft-scraps icons\User Administrator Green-01.png"/>
          <p:cNvPicPr/>
          <p:nvPr/>
        </p:nvPicPr>
        <p:blipFill>
          <a:blip r:embed="rId5"/>
          <a:stretch/>
        </p:blipFill>
        <p:spPr>
          <a:xfrm>
            <a:off x="4422240" y="5382720"/>
            <a:ext cx="890280" cy="667800"/>
          </a:xfrm>
          <a:prstGeom prst="rect">
            <a:avLst/>
          </a:prstGeom>
          <a:ln w="0">
            <a:noFill/>
          </a:ln>
        </p:spPr>
      </p:pic>
      <p:grpSp>
        <p:nvGrpSpPr>
          <p:cNvPr id="506" name="Group 15"/>
          <p:cNvGrpSpPr/>
          <p:nvPr/>
        </p:nvGrpSpPr>
        <p:grpSpPr>
          <a:xfrm>
            <a:off x="5553000" y="3520440"/>
            <a:ext cx="2202480" cy="599760"/>
            <a:chOff x="5553000" y="3520440"/>
            <a:chExt cx="2202480" cy="599760"/>
          </a:xfrm>
        </p:grpSpPr>
        <p:cxnSp>
          <p:nvCxnSpPr>
            <p:cNvPr id="507" name="Straight Arrow Connector 1"/>
            <p:cNvCxnSpPr/>
            <p:nvPr/>
          </p:nvCxnSpPr>
          <p:spPr>
            <a:xfrm>
              <a:off x="5553000" y="3520440"/>
              <a:ext cx="2202840" cy="543960"/>
            </a:xfrm>
            <a:prstGeom prst="straightConnector1">
              <a:avLst/>
            </a:prstGeom>
            <a:ln w="57150">
              <a:solidFill>
                <a:srgbClr val="4a7ebb"/>
              </a:solidFill>
              <a:round/>
              <a:tailEnd len="med" type="triangle" w="med"/>
            </a:ln>
          </p:spPr>
        </p:cxnSp>
        <p:sp>
          <p:nvSpPr>
            <p:cNvPr id="508" name="TextBox 34"/>
            <p:cNvSpPr/>
            <p:nvPr/>
          </p:nvSpPr>
          <p:spPr>
            <a:xfrm>
              <a:off x="6966000" y="3664800"/>
              <a:ext cx="33516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2400" spc="-1" strike="noStrike">
                  <a:solidFill>
                    <a:schemeClr val="dk1"/>
                  </a:solidFill>
                  <a:latin typeface="Calibri"/>
                </a:rPr>
                <a:t>1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09" name="Group 16"/>
          <p:cNvGrpSpPr/>
          <p:nvPr/>
        </p:nvGrpSpPr>
        <p:grpSpPr>
          <a:xfrm>
            <a:off x="5414760" y="4368960"/>
            <a:ext cx="2340720" cy="615240"/>
            <a:chOff x="5414760" y="4368960"/>
            <a:chExt cx="2340720" cy="615240"/>
          </a:xfrm>
        </p:grpSpPr>
        <p:cxnSp>
          <p:nvCxnSpPr>
            <p:cNvPr id="510" name="Straight Arrow Connector 2"/>
            <p:cNvCxnSpPr/>
            <p:nvPr/>
          </p:nvCxnSpPr>
          <p:spPr>
            <a:xfrm flipV="1">
              <a:off x="5414760" y="4368960"/>
              <a:ext cx="2341080" cy="615600"/>
            </a:xfrm>
            <a:prstGeom prst="straightConnector1">
              <a:avLst/>
            </a:prstGeom>
            <a:ln w="57150">
              <a:solidFill>
                <a:srgbClr val="4bacc6"/>
              </a:solidFill>
              <a:round/>
              <a:tailEnd len="med" type="triangle" w="med"/>
            </a:ln>
          </p:spPr>
        </p:cxnSp>
        <p:sp>
          <p:nvSpPr>
            <p:cNvPr id="511" name="TextBox 35"/>
            <p:cNvSpPr/>
            <p:nvPr/>
          </p:nvSpPr>
          <p:spPr>
            <a:xfrm>
              <a:off x="6654600" y="4368960"/>
              <a:ext cx="33516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2400" spc="-1" strike="noStrike">
                  <a:solidFill>
                    <a:schemeClr val="dk1"/>
                  </a:solidFill>
                  <a:latin typeface="Calibri"/>
                </a:rPr>
                <a:t>2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12" name="Group 17"/>
          <p:cNvGrpSpPr/>
          <p:nvPr/>
        </p:nvGrpSpPr>
        <p:grpSpPr>
          <a:xfrm>
            <a:off x="5414760" y="4614120"/>
            <a:ext cx="2340720" cy="1102680"/>
            <a:chOff x="5414760" y="4614120"/>
            <a:chExt cx="2340720" cy="1102680"/>
          </a:xfrm>
        </p:grpSpPr>
        <p:cxnSp>
          <p:nvCxnSpPr>
            <p:cNvPr id="513" name="Straight Arrow Connector 11"/>
            <p:cNvCxnSpPr/>
            <p:nvPr/>
          </p:nvCxnSpPr>
          <p:spPr>
            <a:xfrm flipV="1">
              <a:off x="5414760" y="4614120"/>
              <a:ext cx="2341080" cy="1103040"/>
            </a:xfrm>
            <a:prstGeom prst="straightConnector1">
              <a:avLst/>
            </a:prstGeom>
            <a:ln w="57150">
              <a:solidFill>
                <a:srgbClr val="9bbb59"/>
              </a:solidFill>
              <a:round/>
              <a:tailEnd len="med" type="triangle" w="med"/>
            </a:ln>
          </p:spPr>
        </p:cxnSp>
        <p:sp>
          <p:nvSpPr>
            <p:cNvPr id="514" name="TextBox 36"/>
            <p:cNvSpPr/>
            <p:nvPr/>
          </p:nvSpPr>
          <p:spPr>
            <a:xfrm>
              <a:off x="6248880" y="4984560"/>
              <a:ext cx="33516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2400" spc="-1" strike="noStrike">
                  <a:solidFill>
                    <a:schemeClr val="dk1"/>
                  </a:solidFill>
                  <a:latin typeface="Calibri"/>
                </a:rPr>
                <a:t>3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15" name="Group 26"/>
          <p:cNvGrpSpPr/>
          <p:nvPr/>
        </p:nvGrpSpPr>
        <p:grpSpPr>
          <a:xfrm>
            <a:off x="5553000" y="3985920"/>
            <a:ext cx="2202480" cy="455400"/>
            <a:chOff x="5553000" y="3985920"/>
            <a:chExt cx="2202480" cy="455400"/>
          </a:xfrm>
        </p:grpSpPr>
        <p:cxnSp>
          <p:nvCxnSpPr>
            <p:cNvPr id="516" name="Straight Arrow Connector 12"/>
            <p:cNvCxnSpPr/>
            <p:nvPr/>
          </p:nvCxnSpPr>
          <p:spPr>
            <a:xfrm>
              <a:off x="5553000" y="4216680"/>
              <a:ext cx="2202840" cy="360"/>
            </a:xfrm>
            <a:prstGeom prst="straightConnector1">
              <a:avLst/>
            </a:prstGeom>
            <a:ln w="57150">
              <a:solidFill>
                <a:srgbClr val="c0504d"/>
              </a:solidFill>
              <a:round/>
              <a:tailEnd len="med" type="triangle" w="med"/>
            </a:ln>
          </p:spPr>
        </p:cxnSp>
        <p:sp>
          <p:nvSpPr>
            <p:cNvPr id="517" name="TextBox 42"/>
            <p:cNvSpPr/>
            <p:nvPr/>
          </p:nvSpPr>
          <p:spPr>
            <a:xfrm>
              <a:off x="5773680" y="3985920"/>
              <a:ext cx="33516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2400" spc="-1" strike="noStrike">
                  <a:solidFill>
                    <a:schemeClr val="dk1"/>
                  </a:solidFill>
                  <a:latin typeface="Calibri"/>
                </a:rPr>
                <a:t>4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18" name="TextBox 43"/>
          <p:cNvSpPr/>
          <p:nvPr/>
        </p:nvSpPr>
        <p:spPr>
          <a:xfrm>
            <a:off x="5896440" y="2998080"/>
            <a:ext cx="15159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 u="sng">
                <a:solidFill>
                  <a:schemeClr val="dk1"/>
                </a:solidFill>
                <a:uFillTx/>
                <a:latin typeface="Calibri"/>
              </a:rPr>
              <a:t>Arrival Order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19" name="Group 27"/>
          <p:cNvGrpSpPr/>
          <p:nvPr/>
        </p:nvGrpSpPr>
        <p:grpSpPr>
          <a:xfrm>
            <a:off x="9648360" y="3520440"/>
            <a:ext cx="2319840" cy="726120"/>
            <a:chOff x="9648360" y="3520440"/>
            <a:chExt cx="2319840" cy="726120"/>
          </a:xfrm>
        </p:grpSpPr>
        <p:cxnSp>
          <p:nvCxnSpPr>
            <p:cNvPr id="520" name="Straight Arrow Connector 13"/>
            <p:cNvCxnSpPr/>
            <p:nvPr/>
          </p:nvCxnSpPr>
          <p:spPr>
            <a:xfrm flipV="1">
              <a:off x="9648360" y="3520440"/>
              <a:ext cx="2320200" cy="667800"/>
            </a:xfrm>
            <a:prstGeom prst="straightConnector1">
              <a:avLst/>
            </a:prstGeom>
            <a:ln w="57150">
              <a:solidFill>
                <a:srgbClr val="c0504d"/>
              </a:solidFill>
              <a:round/>
              <a:tailEnd len="med" type="triangle" w="med"/>
            </a:ln>
          </p:spPr>
        </p:cxnSp>
        <p:sp>
          <p:nvSpPr>
            <p:cNvPr id="521" name="TextBox 44"/>
            <p:cNvSpPr/>
            <p:nvPr/>
          </p:nvSpPr>
          <p:spPr>
            <a:xfrm>
              <a:off x="9781920" y="3791160"/>
              <a:ext cx="33516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2400" spc="-1" strike="noStrike">
                  <a:solidFill>
                    <a:schemeClr val="dk1"/>
                  </a:solidFill>
                  <a:latin typeface="Calibri"/>
                </a:rPr>
                <a:t>1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22" name="Group 28"/>
          <p:cNvGrpSpPr/>
          <p:nvPr/>
        </p:nvGrpSpPr>
        <p:grpSpPr>
          <a:xfrm>
            <a:off x="9711000" y="4049640"/>
            <a:ext cx="2257200" cy="455400"/>
            <a:chOff x="9711000" y="4049640"/>
            <a:chExt cx="2257200" cy="455400"/>
          </a:xfrm>
        </p:grpSpPr>
        <p:cxnSp>
          <p:nvCxnSpPr>
            <p:cNvPr id="523" name="Straight Arrow Connector 14"/>
            <p:cNvCxnSpPr/>
            <p:nvPr/>
          </p:nvCxnSpPr>
          <p:spPr>
            <a:xfrm flipV="1">
              <a:off x="9711000" y="4187880"/>
              <a:ext cx="2257560" cy="140760"/>
            </a:xfrm>
            <a:prstGeom prst="straightConnector1">
              <a:avLst/>
            </a:prstGeom>
            <a:ln w="57150">
              <a:solidFill>
                <a:srgbClr val="4bacc6"/>
              </a:solidFill>
              <a:round/>
              <a:tailEnd len="med" type="triangle" w="med"/>
            </a:ln>
          </p:spPr>
        </p:cxnSp>
        <p:sp>
          <p:nvSpPr>
            <p:cNvPr id="524" name="TextBox 45"/>
            <p:cNvSpPr/>
            <p:nvPr/>
          </p:nvSpPr>
          <p:spPr>
            <a:xfrm>
              <a:off x="10238400" y="4049640"/>
              <a:ext cx="33516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2400" spc="-1" strike="noStrike">
                  <a:solidFill>
                    <a:schemeClr val="dk1"/>
                  </a:solidFill>
                  <a:latin typeface="Calibri"/>
                </a:rPr>
                <a:t>2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25" name="Group 29"/>
          <p:cNvGrpSpPr/>
          <p:nvPr/>
        </p:nvGrpSpPr>
        <p:grpSpPr>
          <a:xfrm>
            <a:off x="9648360" y="4419720"/>
            <a:ext cx="2319840" cy="455400"/>
            <a:chOff x="9648360" y="4419720"/>
            <a:chExt cx="2319840" cy="455400"/>
          </a:xfrm>
        </p:grpSpPr>
        <p:cxnSp>
          <p:nvCxnSpPr>
            <p:cNvPr id="526" name="Straight Arrow Connector 15"/>
            <p:cNvCxnSpPr/>
            <p:nvPr/>
          </p:nvCxnSpPr>
          <p:spPr>
            <a:xfrm>
              <a:off x="9648360" y="4492440"/>
              <a:ext cx="2320200" cy="309600"/>
            </a:xfrm>
            <a:prstGeom prst="straightConnector1">
              <a:avLst/>
            </a:prstGeom>
            <a:ln w="57150">
              <a:solidFill>
                <a:srgbClr val="4a7ebb"/>
              </a:solidFill>
              <a:round/>
              <a:tailEnd len="med" type="triangle" w="med"/>
            </a:ln>
          </p:spPr>
        </p:cxnSp>
        <p:sp>
          <p:nvSpPr>
            <p:cNvPr id="527" name="TextBox 52"/>
            <p:cNvSpPr/>
            <p:nvPr/>
          </p:nvSpPr>
          <p:spPr>
            <a:xfrm>
              <a:off x="10671120" y="4419720"/>
              <a:ext cx="33516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2400" spc="-1" strike="noStrike">
                  <a:solidFill>
                    <a:schemeClr val="dk1"/>
                  </a:solidFill>
                  <a:latin typeface="Calibri"/>
                </a:rPr>
                <a:t>3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28" name="Group 30"/>
          <p:cNvGrpSpPr/>
          <p:nvPr/>
        </p:nvGrpSpPr>
        <p:grpSpPr>
          <a:xfrm>
            <a:off x="9648360" y="4676760"/>
            <a:ext cx="2066760" cy="971280"/>
            <a:chOff x="9648360" y="4676760"/>
            <a:chExt cx="2066760" cy="971280"/>
          </a:xfrm>
        </p:grpSpPr>
        <p:cxnSp>
          <p:nvCxnSpPr>
            <p:cNvPr id="529" name="Straight Arrow Connector 16"/>
            <p:cNvCxnSpPr/>
            <p:nvPr/>
          </p:nvCxnSpPr>
          <p:spPr>
            <a:xfrm>
              <a:off x="9648360" y="4676760"/>
              <a:ext cx="2067120" cy="971640"/>
            </a:xfrm>
            <a:prstGeom prst="straightConnector1">
              <a:avLst/>
            </a:prstGeom>
            <a:ln w="57150">
              <a:solidFill>
                <a:srgbClr val="9bbb59"/>
              </a:solidFill>
              <a:round/>
              <a:tailEnd len="med" type="triangle" w="med"/>
            </a:ln>
          </p:spPr>
        </p:cxnSp>
        <p:sp>
          <p:nvSpPr>
            <p:cNvPr id="530" name="TextBox 53"/>
            <p:cNvSpPr/>
            <p:nvPr/>
          </p:nvSpPr>
          <p:spPr>
            <a:xfrm>
              <a:off x="10908720" y="5141880"/>
              <a:ext cx="33516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2400" spc="-1" strike="noStrike">
                  <a:solidFill>
                    <a:schemeClr val="dk1"/>
                  </a:solidFill>
                  <a:latin typeface="Calibri"/>
                </a:rPr>
                <a:t>4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31" name="TextBox 54"/>
          <p:cNvSpPr/>
          <p:nvPr/>
        </p:nvSpPr>
        <p:spPr>
          <a:xfrm>
            <a:off x="9840600" y="3012120"/>
            <a:ext cx="13514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 u="sng">
                <a:solidFill>
                  <a:schemeClr val="dk1"/>
                </a:solidFill>
                <a:uFillTx/>
                <a:latin typeface="Calibri"/>
              </a:rPr>
              <a:t>Send Order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32" name="Picture 124" descr="D:\Classes\5700\assets\devil-icon.png"/>
          <p:cNvPicPr/>
          <p:nvPr/>
        </p:nvPicPr>
        <p:blipFill>
          <a:blip r:embed="rId6"/>
          <a:stretch/>
        </p:blipFill>
        <p:spPr>
          <a:xfrm>
            <a:off x="8019360" y="5603400"/>
            <a:ext cx="1490760" cy="1118160"/>
          </a:xfrm>
          <a:prstGeom prst="rect">
            <a:avLst/>
          </a:prstGeom>
          <a:ln w="0">
            <a:noFill/>
          </a:ln>
        </p:spPr>
      </p:pic>
      <p:sp>
        <p:nvSpPr>
          <p:cNvPr id="533" name="Pentagon 10"/>
          <p:cNvSpPr/>
          <p:nvPr/>
        </p:nvSpPr>
        <p:spPr>
          <a:xfrm rot="5400000">
            <a:off x="8431560" y="5171760"/>
            <a:ext cx="475920" cy="283320"/>
          </a:xfrm>
          <a:prstGeom prst="homePlate">
            <a:avLst>
              <a:gd name="adj" fmla="val 50000"/>
            </a:avLst>
          </a:prstGeom>
          <a:solidFill>
            <a:schemeClr val="accent2"/>
          </a:solidFill>
          <a:ln w="38100">
            <a:solidFill>
              <a:srgbClr val="c0504d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pSp>
        <p:nvGrpSpPr>
          <p:cNvPr id="534" name="Group 31"/>
          <p:cNvGrpSpPr/>
          <p:nvPr/>
        </p:nvGrpSpPr>
        <p:grpSpPr>
          <a:xfrm>
            <a:off x="5368680" y="109080"/>
            <a:ext cx="6107400" cy="2318040"/>
            <a:chOff x="5368680" y="109080"/>
            <a:chExt cx="6107400" cy="2318040"/>
          </a:xfrm>
        </p:grpSpPr>
        <p:sp>
          <p:nvSpPr>
            <p:cNvPr id="535" name="Rectangular Callout 7"/>
            <p:cNvSpPr/>
            <p:nvPr/>
          </p:nvSpPr>
          <p:spPr>
            <a:xfrm flipH="1">
              <a:off x="5368320" y="109080"/>
              <a:ext cx="6107400" cy="2318040"/>
            </a:xfrm>
            <a:prstGeom prst="wedgeRectCallout">
              <a:avLst>
                <a:gd name="adj1" fmla="val -3963"/>
                <a:gd name="adj2" fmla="val 126751"/>
              </a:avLst>
            </a:prstGeom>
            <a:solidFill>
              <a:schemeClr val="accent1"/>
            </a:solidFill>
            <a:ln w="38100">
              <a:solidFill>
                <a:srgbClr val="4f81bd">
                  <a:lumMod val="50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Tw Cen MT"/>
              </a:endParaRPr>
            </a:p>
          </p:txBody>
        </p:sp>
        <p:sp>
          <p:nvSpPr>
            <p:cNvPr id="536" name="TextBox 55"/>
            <p:cNvSpPr/>
            <p:nvPr/>
          </p:nvSpPr>
          <p:spPr>
            <a:xfrm flipH="1">
              <a:off x="5368320" y="109080"/>
              <a:ext cx="6107400" cy="1371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marL="457200" indent="-457200" defTabSz="914400">
                <a:lnSpc>
                  <a:spcPct val="100000"/>
                </a:lnSpc>
                <a:buClr>
                  <a:srgbClr val="ffffff"/>
                </a:buClr>
                <a:buFont typeface="Arial"/>
                <a:buChar char="•"/>
              </a:pPr>
              <a:r>
                <a:rPr b="0" lang="en-US" sz="2800" spc="-1" strike="noStrike">
                  <a:solidFill>
                    <a:srgbClr val="ffffff"/>
                  </a:solidFill>
                  <a:latin typeface="Calibri"/>
                </a:rPr>
                <a:t>Mix collects messages for </a:t>
              </a:r>
              <a:r>
                <a:rPr b="0" i="1" lang="en-US" sz="2800" spc="-1" strike="noStrike">
                  <a:solidFill>
                    <a:srgbClr val="ffffff"/>
                  </a:solidFill>
                  <a:latin typeface="Calibri"/>
                </a:rPr>
                <a:t>t </a:t>
              </a:r>
              <a:r>
                <a:rPr b="0" lang="en-US" sz="2800" spc="-1" strike="noStrike">
                  <a:solidFill>
                    <a:srgbClr val="ffffff"/>
                  </a:solidFill>
                  <a:latin typeface="Calibri"/>
                </a:rPr>
                <a:t>seconds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  <a:p>
              <a:pPr marL="457200" indent="-457200" defTabSz="914400">
                <a:lnSpc>
                  <a:spcPct val="100000"/>
                </a:lnSpc>
                <a:buClr>
                  <a:srgbClr val="ffffff"/>
                </a:buClr>
                <a:buFont typeface="Arial"/>
                <a:buChar char="•"/>
              </a:pPr>
              <a:r>
                <a:rPr b="0" lang="en-US" sz="2800" spc="-1" strike="noStrike">
                  <a:solidFill>
                    <a:srgbClr val="ffffff"/>
                  </a:solidFill>
                  <a:latin typeface="Calibri"/>
                </a:rPr>
                <a:t>Messages are randomly shuffled and sent in a different order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" name="PlaceHolder 3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820C16D2-B925-4681-AF07-8974E7AB689C}" type="slidenum">
              <a:t>42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11" dur="indefinite" restart="never" nodeType="tmRoot">
          <p:childTnLst>
            <p:seq>
              <p:cTn id="912" dur="indefinite" nodeType="mainSeq">
                <p:childTnLst>
                  <p:par>
                    <p:cTn id="913" fill="hold">
                      <p:stCondLst>
                        <p:cond delay="indefinite"/>
                      </p:stCondLst>
                      <p:childTnLst>
                        <p:par>
                          <p:cTn id="914" fill="hold">
                            <p:stCondLst>
                              <p:cond delay="0"/>
                            </p:stCondLst>
                            <p:childTnLst>
                              <p:par>
                                <p:cTn id="915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917" dur="5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8" fill="hold">
                            <p:stCondLst>
                              <p:cond delay="500"/>
                            </p:stCondLst>
                            <p:childTnLst>
                              <p:par>
                                <p:cTn id="919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921" dur="5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2" fill="hold">
                            <p:stCondLst>
                              <p:cond delay="1000"/>
                            </p:stCondLst>
                            <p:childTnLst>
                              <p:par>
                                <p:cTn id="923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925" dur="5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6" fill="hold">
                            <p:stCondLst>
                              <p:cond delay="1500"/>
                            </p:stCondLst>
                            <p:childTnLst>
                              <p:par>
                                <p:cTn id="927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929" dur="5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0" fill="hold">
                      <p:stCondLst>
                        <p:cond delay="indefinite"/>
                      </p:stCondLst>
                      <p:childTnLst>
                        <p:par>
                          <p:cTn id="931" fill="hold">
                            <p:stCondLst>
                              <p:cond delay="0"/>
                            </p:stCondLst>
                            <p:childTnLst>
                              <p:par>
                                <p:cTn id="932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34" dur="500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935" dur="500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36" dur="500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7" fill="hold">
                      <p:stCondLst>
                        <p:cond delay="indefinite"/>
                      </p:stCondLst>
                      <p:childTnLst>
                        <p:par>
                          <p:cTn id="938" fill="hold">
                            <p:stCondLst>
                              <p:cond delay="0"/>
                            </p:stCondLst>
                            <p:childTnLst>
                              <p:par>
                                <p:cTn id="939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941" dur="5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2" fill="hold">
                            <p:stCondLst>
                              <p:cond delay="500"/>
                            </p:stCondLst>
                            <p:childTnLst>
                              <p:par>
                                <p:cTn id="943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945" dur="5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6" fill="hold">
                            <p:stCondLst>
                              <p:cond delay="1000"/>
                            </p:stCondLst>
                            <p:childTnLst>
                              <p:par>
                                <p:cTn id="947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949" dur="5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0" fill="hold">
                            <p:stCondLst>
                              <p:cond delay="1500"/>
                            </p:stCondLst>
                            <p:childTnLst>
                              <p:par>
                                <p:cTn id="951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953" dur="50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4" fill="hold">
                      <p:stCondLst>
                        <p:cond delay="indefinite"/>
                      </p:stCondLst>
                      <p:childTnLst>
                        <p:par>
                          <p:cTn id="955" fill="hold">
                            <p:stCondLst>
                              <p:cond delay="0"/>
                            </p:stCondLst>
                            <p:childTnLst>
                              <p:par>
                                <p:cTn id="956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58" dur="500"/>
                                        <p:tgtEl>
                                          <p:spTgt spid="5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959" dur="500" fill="hold"/>
                                        <p:tgtEl>
                                          <p:spTgt spid="5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60" dur="500" fill="hold"/>
                                        <p:tgtEl>
                                          <p:spTgt spid="5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1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63" dur="500"/>
                                        <p:tgtEl>
                                          <p:spTgt spid="5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964" dur="500" fill="hold"/>
                                        <p:tgtEl>
                                          <p:spTgt spid="5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65" dur="500" fill="hold"/>
                                        <p:tgtEl>
                                          <p:spTgt spid="5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6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68" dur="500"/>
                                        <p:tgtEl>
                                          <p:spTgt spid="5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969" dur="500" fill="hold"/>
                                        <p:tgtEl>
                                          <p:spTgt spid="5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70" dur="500" fill="hold"/>
                                        <p:tgtEl>
                                          <p:spTgt spid="5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1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73" dur="500"/>
                                        <p:tgtEl>
                                          <p:spTgt spid="5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974" dur="500" fill="hold"/>
                                        <p:tgtEl>
                                          <p:spTgt spid="5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75" dur="500" fill="hold"/>
                                        <p:tgtEl>
                                          <p:spTgt spid="5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6" fill="hold">
                      <p:stCondLst>
                        <p:cond delay="indefinite"/>
                      </p:stCondLst>
                      <p:childTnLst>
                        <p:par>
                          <p:cTn id="977" fill="hold">
                            <p:stCondLst>
                              <p:cond delay="0"/>
                            </p:stCondLst>
                            <p:childTnLst>
                              <p:par>
                                <p:cTn id="978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80" dur="500"/>
                                        <p:tgtEl>
                                          <p:spTgt spid="5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981" dur="500" fill="hold"/>
                                        <p:tgtEl>
                                          <p:spTgt spid="5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82" dur="500" fill="hold"/>
                                        <p:tgtEl>
                                          <p:spTgt spid="5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3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85" dur="500"/>
                                        <p:tgtEl>
                                          <p:spTgt spid="5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986" dur="500" fill="hold"/>
                                        <p:tgtEl>
                                          <p:spTgt spid="5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87" dur="500" fill="hold"/>
                                        <p:tgtEl>
                                          <p:spTgt spid="5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Dummy / Cover Traffic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38" name="PlaceHolder 2"/>
          <p:cNvSpPr>
            <a:spLocks noGrp="1"/>
          </p:cNvSpPr>
          <p:nvPr>
            <p:ph/>
          </p:nvPr>
        </p:nvSpPr>
        <p:spPr>
          <a:xfrm>
            <a:off x="203040" y="1600200"/>
            <a:ext cx="11784960" cy="1156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Simple idea: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Send useless traffic to help obfuscate real traffic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539" name="Picture 123" descr="D:\Classes\5700\assets\User Coat Blue-01.png"/>
          <p:cNvPicPr/>
          <p:nvPr/>
        </p:nvPicPr>
        <p:blipFill>
          <a:blip r:embed="rId1"/>
          <a:stretch/>
        </p:blipFill>
        <p:spPr>
          <a:xfrm>
            <a:off x="183240" y="4357080"/>
            <a:ext cx="952200" cy="714240"/>
          </a:xfrm>
          <a:prstGeom prst="rect">
            <a:avLst/>
          </a:prstGeom>
          <a:ln w="0">
            <a:noFill/>
          </a:ln>
        </p:spPr>
      </p:pic>
      <p:pic>
        <p:nvPicPr>
          <p:cNvPr id="540" name="Picture 135" descr="D:\Classes\5700\assets\social_google_box.png"/>
          <p:cNvPicPr/>
          <p:nvPr/>
        </p:nvPicPr>
        <p:blipFill>
          <a:blip r:embed="rId2"/>
          <a:stretch/>
        </p:blipFill>
        <p:spPr>
          <a:xfrm>
            <a:off x="10985760" y="4341240"/>
            <a:ext cx="994680" cy="745920"/>
          </a:xfrm>
          <a:prstGeom prst="rect">
            <a:avLst/>
          </a:prstGeom>
          <a:ln w="0">
            <a:noFill/>
          </a:ln>
        </p:spPr>
      </p:pic>
      <p:pic>
        <p:nvPicPr>
          <p:cNvPr id="541" name="Picture 136" descr="D:\Pictures\Server_icons_lnx\Icons\128X128\server.png"/>
          <p:cNvPicPr/>
          <p:nvPr/>
        </p:nvPicPr>
        <p:blipFill>
          <a:blip r:embed="rId3"/>
          <a:stretch/>
        </p:blipFill>
        <p:spPr>
          <a:xfrm>
            <a:off x="2746800" y="4288680"/>
            <a:ext cx="1135080" cy="851400"/>
          </a:xfrm>
          <a:prstGeom prst="rect">
            <a:avLst/>
          </a:prstGeom>
          <a:ln w="0">
            <a:noFill/>
          </a:ln>
        </p:spPr>
      </p:pic>
      <p:pic>
        <p:nvPicPr>
          <p:cNvPr id="542" name="Picture 137" descr="D:\Pictures\Server_icons_lnx\Icons\128X128\server.png"/>
          <p:cNvPicPr/>
          <p:nvPr/>
        </p:nvPicPr>
        <p:blipFill>
          <a:blip r:embed="rId4"/>
          <a:stretch/>
        </p:blipFill>
        <p:spPr>
          <a:xfrm>
            <a:off x="5492880" y="4288680"/>
            <a:ext cx="1135080" cy="851400"/>
          </a:xfrm>
          <a:prstGeom prst="rect">
            <a:avLst/>
          </a:prstGeom>
          <a:ln w="0">
            <a:noFill/>
          </a:ln>
        </p:spPr>
      </p:pic>
      <p:pic>
        <p:nvPicPr>
          <p:cNvPr id="543" name="Picture 138" descr="D:\Pictures\Server_icons_lnx\Icons\128X128\server.png"/>
          <p:cNvPicPr/>
          <p:nvPr/>
        </p:nvPicPr>
        <p:blipFill>
          <a:blip r:embed="rId5"/>
          <a:stretch/>
        </p:blipFill>
        <p:spPr>
          <a:xfrm>
            <a:off x="8238960" y="4288680"/>
            <a:ext cx="1135080" cy="851400"/>
          </a:xfrm>
          <a:prstGeom prst="rect">
            <a:avLst/>
          </a:prstGeom>
          <a:ln w="0">
            <a:noFill/>
          </a:ln>
        </p:spPr>
      </p:pic>
      <p:pic>
        <p:nvPicPr>
          <p:cNvPr id="544" name="Picture 139" descr="D:\Pictures\Server_icons_lnx\Icons\128X128\server.png"/>
          <p:cNvPicPr/>
          <p:nvPr/>
        </p:nvPicPr>
        <p:blipFill>
          <a:blip r:embed="rId6"/>
          <a:stretch/>
        </p:blipFill>
        <p:spPr>
          <a:xfrm>
            <a:off x="2746800" y="2994480"/>
            <a:ext cx="1135080" cy="851400"/>
          </a:xfrm>
          <a:prstGeom prst="rect">
            <a:avLst/>
          </a:prstGeom>
          <a:ln w="0">
            <a:noFill/>
          </a:ln>
        </p:spPr>
      </p:pic>
      <p:pic>
        <p:nvPicPr>
          <p:cNvPr id="545" name="Picture 140" descr="D:\Pictures\Server_icons_lnx\Icons\128X128\server.png"/>
          <p:cNvPicPr/>
          <p:nvPr/>
        </p:nvPicPr>
        <p:blipFill>
          <a:blip r:embed="rId7"/>
          <a:stretch/>
        </p:blipFill>
        <p:spPr>
          <a:xfrm>
            <a:off x="5492880" y="2994480"/>
            <a:ext cx="1135080" cy="851400"/>
          </a:xfrm>
          <a:prstGeom prst="rect">
            <a:avLst/>
          </a:prstGeom>
          <a:ln w="0">
            <a:noFill/>
          </a:ln>
        </p:spPr>
      </p:pic>
      <p:pic>
        <p:nvPicPr>
          <p:cNvPr id="546" name="Picture 141" descr="D:\Pictures\Server_icons_lnx\Icons\128X128\server.png"/>
          <p:cNvPicPr/>
          <p:nvPr/>
        </p:nvPicPr>
        <p:blipFill>
          <a:blip r:embed="rId8"/>
          <a:stretch/>
        </p:blipFill>
        <p:spPr>
          <a:xfrm>
            <a:off x="8238960" y="2994480"/>
            <a:ext cx="1135080" cy="851400"/>
          </a:xfrm>
          <a:prstGeom prst="rect">
            <a:avLst/>
          </a:prstGeom>
          <a:ln w="0">
            <a:noFill/>
          </a:ln>
        </p:spPr>
      </p:pic>
      <p:pic>
        <p:nvPicPr>
          <p:cNvPr id="547" name="Picture 142" descr="D:\Pictures\Server_icons_lnx\Icons\128X128\server.png"/>
          <p:cNvPicPr/>
          <p:nvPr/>
        </p:nvPicPr>
        <p:blipFill>
          <a:blip r:embed="rId9"/>
          <a:stretch/>
        </p:blipFill>
        <p:spPr>
          <a:xfrm>
            <a:off x="2746800" y="5562360"/>
            <a:ext cx="1135080" cy="851400"/>
          </a:xfrm>
          <a:prstGeom prst="rect">
            <a:avLst/>
          </a:prstGeom>
          <a:ln w="0">
            <a:noFill/>
          </a:ln>
        </p:spPr>
      </p:pic>
      <p:pic>
        <p:nvPicPr>
          <p:cNvPr id="548" name="Picture 143" descr="D:\Pictures\Server_icons_lnx\Icons\128X128\server.png"/>
          <p:cNvPicPr/>
          <p:nvPr/>
        </p:nvPicPr>
        <p:blipFill>
          <a:blip r:embed="rId10"/>
          <a:stretch/>
        </p:blipFill>
        <p:spPr>
          <a:xfrm>
            <a:off x="5492880" y="5562360"/>
            <a:ext cx="1135080" cy="851400"/>
          </a:xfrm>
          <a:prstGeom prst="rect">
            <a:avLst/>
          </a:prstGeom>
          <a:ln w="0">
            <a:noFill/>
          </a:ln>
        </p:spPr>
      </p:pic>
      <p:pic>
        <p:nvPicPr>
          <p:cNvPr id="549" name="Picture 144" descr="D:\Pictures\Server_icons_lnx\Icons\128X128\server.png"/>
          <p:cNvPicPr/>
          <p:nvPr/>
        </p:nvPicPr>
        <p:blipFill>
          <a:blip r:embed="rId11"/>
          <a:stretch/>
        </p:blipFill>
        <p:spPr>
          <a:xfrm>
            <a:off x="8238960" y="5562360"/>
            <a:ext cx="1135080" cy="851400"/>
          </a:xfrm>
          <a:prstGeom prst="rect">
            <a:avLst/>
          </a:prstGeom>
          <a:ln w="0">
            <a:noFill/>
          </a:ln>
        </p:spPr>
      </p:pic>
      <p:cxnSp>
        <p:nvCxnSpPr>
          <p:cNvPr id="550" name="Straight Arrow Connector 5"/>
          <p:cNvCxnSpPr>
            <a:endCxn id="544" idx="1"/>
          </p:cNvCxnSpPr>
          <p:nvPr/>
        </p:nvCxnSpPr>
        <p:spPr>
          <a:xfrm flipV="1">
            <a:off x="968760" y="3420000"/>
            <a:ext cx="1778400" cy="1294920"/>
          </a:xfrm>
          <a:prstGeom prst="straightConnector1">
            <a:avLst/>
          </a:prstGeom>
          <a:ln w="76200">
            <a:solidFill>
              <a:srgbClr val="4a7ebb"/>
            </a:solidFill>
            <a:round/>
            <a:tailEnd len="med" type="triangle" w="med"/>
          </a:ln>
        </p:spPr>
      </p:cxnSp>
      <p:cxnSp>
        <p:nvCxnSpPr>
          <p:cNvPr id="551" name="Straight Arrow Connector 6"/>
          <p:cNvCxnSpPr>
            <a:stCxn id="544" idx="3"/>
            <a:endCxn id="548" idx="1"/>
          </p:cNvCxnSpPr>
          <p:nvPr/>
        </p:nvCxnSpPr>
        <p:spPr>
          <a:xfrm>
            <a:off x="3881880" y="3420000"/>
            <a:ext cx="1611360" cy="2568240"/>
          </a:xfrm>
          <a:prstGeom prst="straightConnector1">
            <a:avLst/>
          </a:prstGeom>
          <a:ln w="76200">
            <a:solidFill>
              <a:srgbClr val="4a7ebb"/>
            </a:solidFill>
            <a:round/>
            <a:tailEnd len="med" type="triangle" w="med"/>
          </a:ln>
        </p:spPr>
      </p:cxnSp>
      <p:cxnSp>
        <p:nvCxnSpPr>
          <p:cNvPr id="552" name="Straight Arrow Connector 7"/>
          <p:cNvCxnSpPr>
            <a:stCxn id="548" idx="3"/>
            <a:endCxn id="543" idx="1"/>
          </p:cNvCxnSpPr>
          <p:nvPr/>
        </p:nvCxnSpPr>
        <p:spPr>
          <a:xfrm flipV="1">
            <a:off x="6627960" y="4714200"/>
            <a:ext cx="1611360" cy="1274040"/>
          </a:xfrm>
          <a:prstGeom prst="straightConnector1">
            <a:avLst/>
          </a:prstGeom>
          <a:ln w="76200">
            <a:solidFill>
              <a:srgbClr val="4a7ebb"/>
            </a:solidFill>
            <a:round/>
            <a:tailEnd len="med" type="triangle" w="med"/>
          </a:ln>
        </p:spPr>
      </p:cxnSp>
      <p:cxnSp>
        <p:nvCxnSpPr>
          <p:cNvPr id="553" name="Straight Arrow Connector 8"/>
          <p:cNvCxnSpPr>
            <a:stCxn id="543" idx="3"/>
            <a:endCxn id="540" idx="1"/>
          </p:cNvCxnSpPr>
          <p:nvPr/>
        </p:nvCxnSpPr>
        <p:spPr>
          <a:xfrm>
            <a:off x="9374040" y="4714200"/>
            <a:ext cx="1612080" cy="360"/>
          </a:xfrm>
          <a:prstGeom prst="straightConnector1">
            <a:avLst/>
          </a:prstGeom>
          <a:ln w="76200">
            <a:solidFill>
              <a:srgbClr val="4a7ebb"/>
            </a:solidFill>
            <a:round/>
            <a:tailEnd len="med" type="triangle" w="med"/>
          </a:ln>
        </p:spPr>
      </p:cxnSp>
      <p:cxnSp>
        <p:nvCxnSpPr>
          <p:cNvPr id="554" name="Straight Arrow Connector 9"/>
          <p:cNvCxnSpPr>
            <a:endCxn id="541" idx="1"/>
          </p:cNvCxnSpPr>
          <p:nvPr/>
        </p:nvCxnSpPr>
        <p:spPr>
          <a:xfrm flipV="1">
            <a:off x="968760" y="4714200"/>
            <a:ext cx="1778400" cy="720"/>
          </a:xfrm>
          <a:prstGeom prst="straightConnector1">
            <a:avLst/>
          </a:prstGeom>
          <a:ln w="57150">
            <a:solidFill>
              <a:srgbClr val="9bbb59"/>
            </a:solidFill>
            <a:round/>
            <a:tailEnd len="med" type="triangle" w="med"/>
          </a:ln>
        </p:spPr>
      </p:cxnSp>
      <p:cxnSp>
        <p:nvCxnSpPr>
          <p:cNvPr id="555" name="Straight Arrow Connector 10"/>
          <p:cNvCxnSpPr>
            <a:endCxn id="547" idx="1"/>
          </p:cNvCxnSpPr>
          <p:nvPr/>
        </p:nvCxnSpPr>
        <p:spPr>
          <a:xfrm>
            <a:off x="968760" y="4714560"/>
            <a:ext cx="1778400" cy="1273680"/>
          </a:xfrm>
          <a:prstGeom prst="straightConnector1">
            <a:avLst/>
          </a:prstGeom>
          <a:ln w="57150">
            <a:solidFill>
              <a:srgbClr val="9bbb59"/>
            </a:solidFill>
            <a:round/>
            <a:tailEnd len="med" type="triangle" w="med"/>
          </a:ln>
        </p:spPr>
      </p:cxnSp>
      <p:cxnSp>
        <p:nvCxnSpPr>
          <p:cNvPr id="556" name="Straight Arrow Connector 18"/>
          <p:cNvCxnSpPr>
            <a:stCxn id="541" idx="3"/>
            <a:endCxn id="545" idx="1"/>
          </p:cNvCxnSpPr>
          <p:nvPr/>
        </p:nvCxnSpPr>
        <p:spPr>
          <a:xfrm flipV="1">
            <a:off x="3881880" y="3420000"/>
            <a:ext cx="1611360" cy="1294560"/>
          </a:xfrm>
          <a:prstGeom prst="straightConnector1">
            <a:avLst/>
          </a:prstGeom>
          <a:ln w="57150">
            <a:solidFill>
              <a:srgbClr val="9bbb59"/>
            </a:solidFill>
            <a:round/>
            <a:tailEnd len="med" type="triangle" w="med"/>
          </a:ln>
        </p:spPr>
      </p:cxnSp>
      <p:cxnSp>
        <p:nvCxnSpPr>
          <p:cNvPr id="557" name="Straight Arrow Connector 21"/>
          <p:cNvCxnSpPr>
            <a:stCxn id="547" idx="3"/>
            <a:endCxn id="548" idx="1"/>
          </p:cNvCxnSpPr>
          <p:nvPr/>
        </p:nvCxnSpPr>
        <p:spPr>
          <a:xfrm>
            <a:off x="3881880" y="5987880"/>
            <a:ext cx="1611360" cy="360"/>
          </a:xfrm>
          <a:prstGeom prst="straightConnector1">
            <a:avLst/>
          </a:prstGeom>
          <a:ln w="57150">
            <a:solidFill>
              <a:srgbClr val="9bbb59"/>
            </a:solidFill>
            <a:round/>
            <a:tailEnd len="med" type="triangle" w="med"/>
          </a:ln>
        </p:spPr>
      </p:cxnSp>
      <p:cxnSp>
        <p:nvCxnSpPr>
          <p:cNvPr id="558" name="Straight Arrow Connector 23"/>
          <p:cNvCxnSpPr>
            <a:stCxn id="545" idx="3"/>
            <a:endCxn id="546" idx="1"/>
          </p:cNvCxnSpPr>
          <p:nvPr/>
        </p:nvCxnSpPr>
        <p:spPr>
          <a:xfrm>
            <a:off x="6627960" y="3420000"/>
            <a:ext cx="1611360" cy="360"/>
          </a:xfrm>
          <a:prstGeom prst="straightConnector1">
            <a:avLst/>
          </a:prstGeom>
          <a:ln w="57150">
            <a:solidFill>
              <a:srgbClr val="9bbb59"/>
            </a:solidFill>
            <a:round/>
            <a:tailEnd len="med" type="triangle" w="med"/>
          </a:ln>
        </p:spPr>
      </p:cxnSp>
      <p:cxnSp>
        <p:nvCxnSpPr>
          <p:cNvPr id="559" name="Straight Arrow Connector 25"/>
          <p:cNvCxnSpPr>
            <a:stCxn id="548" idx="3"/>
            <a:endCxn id="549" idx="1"/>
          </p:cNvCxnSpPr>
          <p:nvPr/>
        </p:nvCxnSpPr>
        <p:spPr>
          <a:xfrm>
            <a:off x="6627960" y="5987880"/>
            <a:ext cx="1611360" cy="360"/>
          </a:xfrm>
          <a:prstGeom prst="straightConnector1">
            <a:avLst/>
          </a:prstGeom>
          <a:ln w="57150">
            <a:solidFill>
              <a:srgbClr val="9bbb59"/>
            </a:solidFill>
            <a:round/>
            <a:tailEnd len="med" type="triangle" w="med"/>
          </a:ln>
        </p:spPr>
      </p:cxnSp>
      <p:sp>
        <p:nvSpPr>
          <p:cNvPr id="560" name="&quot;No&quot; Symbol 1"/>
          <p:cNvSpPr/>
          <p:nvPr/>
        </p:nvSpPr>
        <p:spPr>
          <a:xfrm>
            <a:off x="8932680" y="3326040"/>
            <a:ext cx="883800" cy="662760"/>
          </a:xfrm>
          <a:prstGeom prst="noSmoking">
            <a:avLst>
              <a:gd name="adj" fmla="val 18750"/>
            </a:avLst>
          </a:prstGeom>
          <a:solidFill>
            <a:schemeClr val="accent3"/>
          </a:solidFill>
          <a:ln>
            <a:solidFill>
              <a:srgbClr val="9bbb59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1" name="&quot;No&quot; Symbol 4"/>
          <p:cNvSpPr/>
          <p:nvPr/>
        </p:nvSpPr>
        <p:spPr>
          <a:xfrm>
            <a:off x="8932680" y="5917680"/>
            <a:ext cx="883800" cy="662760"/>
          </a:xfrm>
          <a:prstGeom prst="noSmoking">
            <a:avLst>
              <a:gd name="adj" fmla="val 18750"/>
            </a:avLst>
          </a:prstGeom>
          <a:solidFill>
            <a:schemeClr val="accent3"/>
          </a:solidFill>
          <a:ln>
            <a:solidFill>
              <a:srgbClr val="9bbb59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67D8FBB7-82B7-48E9-AFD7-67089910197B}" type="slidenum">
              <a:t>43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88" dur="indefinite" restart="never" nodeType="tmRoot">
          <p:childTnLst>
            <p:seq>
              <p:cTn id="989" dur="indefinite" nodeType="mainSeq">
                <p:childTnLst>
                  <p:par>
                    <p:cTn id="990" fill="hold">
                      <p:stCondLst>
                        <p:cond delay="indefinite"/>
                      </p:stCondLst>
                      <p:childTnLst>
                        <p:par>
                          <p:cTn id="991" fill="hold">
                            <p:stCondLst>
                              <p:cond delay="0"/>
                            </p:stCondLst>
                            <p:childTnLst>
                              <p:par>
                                <p:cTn id="992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994" dur="5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5" fill="hold">
                            <p:stCondLst>
                              <p:cond delay="500"/>
                            </p:stCondLst>
                            <p:childTnLst>
                              <p:par>
                                <p:cTn id="996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998" dur="500"/>
                                        <p:tgtEl>
                                          <p:spTgt spid="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00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002" dur="5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3" fill="hold">
                            <p:stCondLst>
                              <p:cond delay="1500"/>
                            </p:stCondLst>
                            <p:childTnLst>
                              <p:par>
                                <p:cTn id="1004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006" dur="5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par>
                                <p:cTn id="1009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011" dur="5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2" nodeType="with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014" dur="500"/>
                                        <p:tgtEl>
                                          <p:spTgt spid="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5" fill="hold">
                            <p:stCondLst>
                              <p:cond delay="500"/>
                            </p:stCondLst>
                            <p:childTnLst>
                              <p:par>
                                <p:cTn id="1016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018" dur="500"/>
                                        <p:tgtEl>
                                          <p:spTgt spid="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9" nodeType="with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021" dur="500"/>
                                        <p:tgtEl>
                                          <p:spTgt spid="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2" fill="hold">
                            <p:stCondLst>
                              <p:cond delay="1000"/>
                            </p:stCondLst>
                            <p:childTnLst>
                              <p:par>
                                <p:cTn id="1023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025" dur="500"/>
                                        <p:tgtEl>
                                          <p:spTgt spid="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6" nodeType="with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028" dur="50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30" nodeType="after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32" dur="50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033" dur="500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34" dur="500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5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37" dur="500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038" dur="500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39" dur="500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96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Tor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3" name="PlaceHolder 2"/>
          <p:cNvSpPr>
            <a:spLocks noGrp="1"/>
          </p:cNvSpPr>
          <p:nvPr>
            <p:ph type="subTitle"/>
          </p:nvPr>
        </p:nvSpPr>
        <p:spPr>
          <a:xfrm>
            <a:off x="1828800" y="3886200"/>
            <a:ext cx="853416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Well, not Thor!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E4669BE9-F956-4D65-A6BF-F8B6314BD8B4}" type="slidenum">
              <a:t>44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Tor: The 2</a:t>
            </a:r>
            <a:r>
              <a:rPr b="0" lang="en-US" sz="4400" spc="-1" strike="noStrike" baseline="30000">
                <a:solidFill>
                  <a:schemeClr val="dk1"/>
                </a:solidFill>
                <a:latin typeface="Calibri"/>
              </a:rPr>
              <a:t>nd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Generation Onion Router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5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Basic design: a mix network with improvements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Perfect forward secrecy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Introduces </a:t>
            </a:r>
            <a:r>
              <a:rPr b="0" lang="en-US" sz="2800" spc="-1" strike="noStrike">
                <a:solidFill>
                  <a:schemeClr val="accent1"/>
                </a:solidFill>
                <a:latin typeface="Calibri"/>
              </a:rPr>
              <a:t>guards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to improve source anonymity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Introduces </a:t>
            </a:r>
            <a:r>
              <a:rPr b="0" lang="en-US" sz="2800" spc="-1" strike="noStrike">
                <a:solidFill>
                  <a:schemeClr val="accent1"/>
                </a:solidFill>
                <a:latin typeface="Calibri"/>
              </a:rPr>
              <a:t>sessions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for long term communicatios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Takes bandwidth into account when selecting </a:t>
            </a:r>
            <a:r>
              <a:rPr b="0" lang="en-US" sz="2800" spc="-1" strike="noStrike">
                <a:solidFill>
                  <a:schemeClr val="accent1"/>
                </a:solidFill>
                <a:latin typeface="Calibri"/>
              </a:rPr>
              <a:t>relays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Mixes in Tor are called relays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Introduces </a:t>
            </a:r>
            <a:r>
              <a:rPr b="0" lang="en-US" sz="2800" spc="-1" strike="noStrike">
                <a:solidFill>
                  <a:schemeClr val="accent1"/>
                </a:solidFill>
                <a:latin typeface="Calibri"/>
              </a:rPr>
              <a:t>hidden services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Servers that are only accessible via the Tor overlay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822CA855-38A5-4599-9AA2-F7749B62F23D}" type="slidenum">
              <a:t>45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Deployment and Statistics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7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5303"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Largest, most well deployed anonymity preserving service on the Internet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Publicly available since 2002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Continues to be developed and improved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Currently, ~5000 Tor relays around the world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All relays are run by volunteers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It is suspected that some are controlled by intelligence agencies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500K – 900K daily users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Numbers are likely larger now, thanks to Snowden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568" name="Picture 125" descr="D:\Classes\5700\assets\Torproject.png"/>
          <p:cNvPicPr/>
          <p:nvPr/>
        </p:nvPicPr>
        <p:blipFill>
          <a:blip r:embed="rId1"/>
          <a:stretch/>
        </p:blipFill>
        <p:spPr>
          <a:xfrm>
            <a:off x="10078920" y="95400"/>
            <a:ext cx="1978560" cy="111276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2B273E06-7863-48BF-8FD7-B6D26B3F59D4}" type="slidenum">
              <a:t>46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Celebrities Use Tor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570" name="Content Placeholder 44" descr=""/>
          <p:cNvPicPr/>
          <p:nvPr/>
        </p:nvPicPr>
        <p:blipFill>
          <a:blip r:embed="rId1"/>
          <a:srcRect l="0" t="16394" r="0" b="16394"/>
          <a:stretch/>
        </p:blipFill>
        <p:spPr>
          <a:xfrm>
            <a:off x="3310560" y="2302200"/>
            <a:ext cx="5392800" cy="3591000"/>
          </a:xfrm>
          <a:prstGeom prst="rect">
            <a:avLst/>
          </a:prstGeom>
          <a:ln w="0">
            <a:noFill/>
          </a:ln>
        </p:spPr>
      </p:pic>
      <p:sp>
        <p:nvSpPr>
          <p:cNvPr id="571" name="Left Arrow 2"/>
          <p:cNvSpPr/>
          <p:nvPr/>
        </p:nvSpPr>
        <p:spPr>
          <a:xfrm rot="20866800">
            <a:off x="8598240" y="4812480"/>
            <a:ext cx="2056680" cy="109656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572" name="Picture 126" descr="D:\Classes\5700\assets\Torproject.png"/>
          <p:cNvPicPr/>
          <p:nvPr/>
        </p:nvPicPr>
        <p:blipFill>
          <a:blip r:embed="rId2"/>
          <a:stretch/>
        </p:blipFill>
        <p:spPr>
          <a:xfrm>
            <a:off x="10078920" y="95400"/>
            <a:ext cx="1978560" cy="11127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7A2E9F3F-FFDD-4277-991C-1068138DF78D}" type="slidenum">
              <a:t>47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How Do You Use Tor?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4" name="PlaceHolder 2"/>
          <p:cNvSpPr>
            <a:spLocks noGrp="1"/>
          </p:cNvSpPr>
          <p:nvPr>
            <p:ph/>
          </p:nvPr>
        </p:nvSpPr>
        <p:spPr>
          <a:xfrm>
            <a:off x="0" y="1600200"/>
            <a:ext cx="12191760" cy="510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514440" indent="-51444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Calibri"/>
              <a:buAutoNum type="arabicPeriod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Download, install, and execute the Tor client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34480" indent="-5144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The client acts as a SOCKS proxy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834480" indent="-5144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The client builds and maintains </a:t>
            </a:r>
            <a:r>
              <a:rPr b="0" lang="en-US" sz="2800" spc="-1" strike="noStrike">
                <a:solidFill>
                  <a:schemeClr val="accent1"/>
                </a:solidFill>
                <a:latin typeface="Calibri"/>
              </a:rPr>
              <a:t>circuits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of relays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514440" indent="-51444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Calibri"/>
              <a:buAutoNum type="arabicPeriod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Configure your browser to use the Tor client as a proxy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34480" indent="-5144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Any app that supports SOCKS proxies will work with Tor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514440" indent="-51444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Calibri"/>
              <a:buAutoNum type="arabicPeriod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All traffic from the browser will now be routed through the Tor overlay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575" name="Picture 127" descr="D:\Classes\5700\assets\Torproject.png"/>
          <p:cNvPicPr/>
          <p:nvPr/>
        </p:nvPicPr>
        <p:blipFill>
          <a:blip r:embed="rId1"/>
          <a:stretch/>
        </p:blipFill>
        <p:spPr>
          <a:xfrm>
            <a:off x="10078920" y="95400"/>
            <a:ext cx="1978560" cy="111276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D3E28E7A-BB99-493F-86D5-CBFEAD92F2C7}" type="slidenum">
              <a:t>48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Selecting Relays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7" name="PlaceHolder 2"/>
          <p:cNvSpPr>
            <a:spLocks noGrp="1"/>
          </p:cNvSpPr>
          <p:nvPr>
            <p:ph/>
          </p:nvPr>
        </p:nvSpPr>
        <p:spPr>
          <a:xfrm>
            <a:off x="203040" y="1600200"/>
            <a:ext cx="11854080" cy="5257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0616"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How do clients locate the Tor relays?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Tor Consensus File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Hosted by trusted </a:t>
            </a:r>
            <a:r>
              <a:rPr b="0" lang="en-US" sz="2800" spc="-1" strike="noStrike">
                <a:solidFill>
                  <a:schemeClr val="accent1"/>
                </a:solidFill>
                <a:latin typeface="Calibri"/>
              </a:rPr>
              <a:t>directory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servers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Lists all known relays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IP address, uptime, measured bandwidth, etc.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Not all relays are created equal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Entry/guard and exit relays are specially labelled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Why?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Tor does not select relays randomly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Chance of selection is proportional to bandwidth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Why? Is this a good idea?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578" name="Picture 128" descr="D:\Classes\5700\assets\Torproject.png"/>
          <p:cNvPicPr/>
          <p:nvPr/>
        </p:nvPicPr>
        <p:blipFill>
          <a:blip r:embed="rId1"/>
          <a:stretch/>
        </p:blipFill>
        <p:spPr>
          <a:xfrm>
            <a:off x="10078920" y="95400"/>
            <a:ext cx="1978560" cy="111276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C462F25F-28FA-4E03-8CB9-79C6CCDE00C9}" type="slidenum">
              <a:t>49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Attacks Against Tor Circuits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0" name="PlaceHolder 2"/>
          <p:cNvSpPr>
            <a:spLocks noGrp="1"/>
          </p:cNvSpPr>
          <p:nvPr>
            <p:ph/>
          </p:nvPr>
        </p:nvSpPr>
        <p:spPr>
          <a:xfrm>
            <a:off x="167040" y="5131440"/>
            <a:ext cx="11902320" cy="1726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Tor users can choose any number of relays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Default configuration is 3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Why would higher or lower number be better or worse?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581" name="Picture 129" descr="D:\Classes\5700\assets\Torproject.png"/>
          <p:cNvPicPr/>
          <p:nvPr/>
        </p:nvPicPr>
        <p:blipFill>
          <a:blip r:embed="rId1"/>
          <a:stretch/>
        </p:blipFill>
        <p:spPr>
          <a:xfrm>
            <a:off x="10078920" y="95400"/>
            <a:ext cx="1978560" cy="1112760"/>
          </a:xfrm>
          <a:prstGeom prst="rect">
            <a:avLst/>
          </a:prstGeom>
          <a:ln w="0">
            <a:noFill/>
          </a:ln>
        </p:spPr>
      </p:pic>
      <p:pic>
        <p:nvPicPr>
          <p:cNvPr id="582" name="Picture 130" descr="D:\Classes\5700\assets\User Coat Blue-01.png"/>
          <p:cNvPicPr/>
          <p:nvPr/>
        </p:nvPicPr>
        <p:blipFill>
          <a:blip r:embed="rId2"/>
          <a:stretch/>
        </p:blipFill>
        <p:spPr>
          <a:xfrm>
            <a:off x="273600" y="3314880"/>
            <a:ext cx="952200" cy="714240"/>
          </a:xfrm>
          <a:prstGeom prst="rect">
            <a:avLst/>
          </a:prstGeom>
          <a:ln w="0">
            <a:noFill/>
          </a:ln>
        </p:spPr>
      </p:pic>
      <p:pic>
        <p:nvPicPr>
          <p:cNvPr id="583" name="Picture 131" descr="D:\Classes\5700\assets\social_google_box.png"/>
          <p:cNvPicPr/>
          <p:nvPr/>
        </p:nvPicPr>
        <p:blipFill>
          <a:blip r:embed="rId3"/>
          <a:stretch/>
        </p:blipFill>
        <p:spPr>
          <a:xfrm>
            <a:off x="11075400" y="3299040"/>
            <a:ext cx="994680" cy="745920"/>
          </a:xfrm>
          <a:prstGeom prst="rect">
            <a:avLst/>
          </a:prstGeom>
          <a:ln w="0">
            <a:noFill/>
          </a:ln>
        </p:spPr>
      </p:pic>
      <p:pic>
        <p:nvPicPr>
          <p:cNvPr id="584" name="Picture 132" descr="D:\Pictures\Server_icons_lnx\Icons\128X128\server.png"/>
          <p:cNvPicPr/>
          <p:nvPr/>
        </p:nvPicPr>
        <p:blipFill>
          <a:blip r:embed="rId4"/>
          <a:stretch/>
        </p:blipFill>
        <p:spPr>
          <a:xfrm>
            <a:off x="2836800" y="3246120"/>
            <a:ext cx="1135080" cy="851400"/>
          </a:xfrm>
          <a:prstGeom prst="rect">
            <a:avLst/>
          </a:prstGeom>
          <a:ln w="0">
            <a:noFill/>
          </a:ln>
        </p:spPr>
      </p:pic>
      <p:pic>
        <p:nvPicPr>
          <p:cNvPr id="585" name="Picture 133" descr="D:\Pictures\Server_icons_lnx\Icons\128X128\server.png"/>
          <p:cNvPicPr/>
          <p:nvPr/>
        </p:nvPicPr>
        <p:blipFill>
          <a:blip r:embed="rId5"/>
          <a:stretch/>
        </p:blipFill>
        <p:spPr>
          <a:xfrm>
            <a:off x="5583240" y="3246120"/>
            <a:ext cx="1135080" cy="851400"/>
          </a:xfrm>
          <a:prstGeom prst="rect">
            <a:avLst/>
          </a:prstGeom>
          <a:ln w="0">
            <a:noFill/>
          </a:ln>
        </p:spPr>
      </p:pic>
      <p:pic>
        <p:nvPicPr>
          <p:cNvPr id="586" name="Picture 134" descr="D:\Pictures\Server_icons_lnx\Icons\128X128\server.png"/>
          <p:cNvPicPr/>
          <p:nvPr/>
        </p:nvPicPr>
        <p:blipFill>
          <a:blip r:embed="rId6"/>
          <a:stretch/>
        </p:blipFill>
        <p:spPr>
          <a:xfrm>
            <a:off x="8329320" y="3246120"/>
            <a:ext cx="1135080" cy="851400"/>
          </a:xfrm>
          <a:prstGeom prst="rect">
            <a:avLst/>
          </a:prstGeom>
          <a:ln w="0">
            <a:noFill/>
          </a:ln>
        </p:spPr>
      </p:pic>
      <p:sp>
        <p:nvSpPr>
          <p:cNvPr id="587" name="Left-Right Arrow 38"/>
          <p:cNvSpPr/>
          <p:nvPr/>
        </p:nvSpPr>
        <p:spPr>
          <a:xfrm>
            <a:off x="1239840" y="3535560"/>
            <a:ext cx="1596600" cy="27288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88" name="Up-Down Arrow 4"/>
          <p:cNvSpPr/>
          <p:nvPr/>
        </p:nvSpPr>
        <p:spPr>
          <a:xfrm rot="16200000">
            <a:off x="10098720" y="2901960"/>
            <a:ext cx="342360" cy="1609920"/>
          </a:xfrm>
          <a:prstGeom prst="up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>
            <a:solidFill>
              <a:srgbClr val="9bbb59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89" name="Left-Right Arrow 42"/>
          <p:cNvSpPr/>
          <p:nvPr/>
        </p:nvSpPr>
        <p:spPr>
          <a:xfrm>
            <a:off x="3972960" y="3571200"/>
            <a:ext cx="1596600" cy="27288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90" name="Left-Right Arrow 43"/>
          <p:cNvSpPr/>
          <p:nvPr/>
        </p:nvSpPr>
        <p:spPr>
          <a:xfrm>
            <a:off x="6719040" y="3571200"/>
            <a:ext cx="1596600" cy="27288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91" name="TextBox 40"/>
          <p:cNvSpPr/>
          <p:nvPr/>
        </p:nvSpPr>
        <p:spPr>
          <a:xfrm>
            <a:off x="2991960" y="4253040"/>
            <a:ext cx="82404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Entry/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Guard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TextBox 41"/>
          <p:cNvSpPr/>
          <p:nvPr/>
        </p:nvSpPr>
        <p:spPr>
          <a:xfrm>
            <a:off x="5695920" y="4253400"/>
            <a:ext cx="9097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Middle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TextBox 46"/>
          <p:cNvSpPr/>
          <p:nvPr/>
        </p:nvSpPr>
        <p:spPr>
          <a:xfrm>
            <a:off x="8617320" y="4273920"/>
            <a:ext cx="5590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Exit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94" name="Group 20"/>
          <p:cNvGrpSpPr/>
          <p:nvPr/>
        </p:nvGrpSpPr>
        <p:grpSpPr>
          <a:xfrm>
            <a:off x="843120" y="1755360"/>
            <a:ext cx="3927240" cy="966240"/>
            <a:chOff x="843120" y="1755360"/>
            <a:chExt cx="3927240" cy="966240"/>
          </a:xfrm>
        </p:grpSpPr>
        <p:sp>
          <p:nvSpPr>
            <p:cNvPr id="595" name="Rectangular Callout 8"/>
            <p:cNvSpPr/>
            <p:nvPr/>
          </p:nvSpPr>
          <p:spPr>
            <a:xfrm flipH="1">
              <a:off x="842760" y="1755360"/>
              <a:ext cx="3927240" cy="966240"/>
            </a:xfrm>
            <a:prstGeom prst="wedgeRectCallout">
              <a:avLst>
                <a:gd name="adj1" fmla="val -8730"/>
                <a:gd name="adj2" fmla="val 92022"/>
              </a:avLst>
            </a:prstGeom>
            <a:solidFill>
              <a:schemeClr val="accent3"/>
            </a:solidFill>
            <a:ln w="38100">
              <a:solidFill>
                <a:srgbClr val="9bbb59">
                  <a:lumMod val="50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Tw Cen MT"/>
              </a:endParaRPr>
            </a:p>
          </p:txBody>
        </p:sp>
        <p:sp>
          <p:nvSpPr>
            <p:cNvPr id="596" name="TextBox 47"/>
            <p:cNvSpPr/>
            <p:nvPr/>
          </p:nvSpPr>
          <p:spPr>
            <a:xfrm flipH="1">
              <a:off x="842760" y="1755360"/>
              <a:ext cx="3927240" cy="943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2800" spc="-1" strike="noStrike">
                  <a:solidFill>
                    <a:srgbClr val="ffffff"/>
                  </a:solidFill>
                  <a:latin typeface="Calibri"/>
                </a:rPr>
                <a:t>Source: known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2800" spc="-1" strike="noStrike">
                  <a:solidFill>
                    <a:srgbClr val="ffffff"/>
                  </a:solidFill>
                  <a:latin typeface="Calibri"/>
                </a:rPr>
                <a:t>Dest: unknown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97" name="Group 21"/>
          <p:cNvGrpSpPr/>
          <p:nvPr/>
        </p:nvGrpSpPr>
        <p:grpSpPr>
          <a:xfrm>
            <a:off x="3526560" y="1755360"/>
            <a:ext cx="4112280" cy="966240"/>
            <a:chOff x="3526560" y="1755360"/>
            <a:chExt cx="4112280" cy="966240"/>
          </a:xfrm>
        </p:grpSpPr>
        <p:sp>
          <p:nvSpPr>
            <p:cNvPr id="598" name="Rectangular Callout 9"/>
            <p:cNvSpPr/>
            <p:nvPr/>
          </p:nvSpPr>
          <p:spPr>
            <a:xfrm flipH="1">
              <a:off x="3526200" y="1755360"/>
              <a:ext cx="4112280" cy="966240"/>
            </a:xfrm>
            <a:prstGeom prst="wedgeRectCallout">
              <a:avLst>
                <a:gd name="adj1" fmla="val -8730"/>
                <a:gd name="adj2" fmla="val 92022"/>
              </a:avLst>
            </a:prstGeom>
            <a:solidFill>
              <a:schemeClr val="accent1"/>
            </a:solidFill>
            <a:ln w="38100">
              <a:solidFill>
                <a:srgbClr val="4f81bd">
                  <a:lumMod val="50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Tw Cen MT"/>
              </a:endParaRPr>
            </a:p>
          </p:txBody>
        </p:sp>
        <p:sp>
          <p:nvSpPr>
            <p:cNvPr id="599" name="TextBox 48"/>
            <p:cNvSpPr/>
            <p:nvPr/>
          </p:nvSpPr>
          <p:spPr>
            <a:xfrm flipH="1">
              <a:off x="3526200" y="1755360"/>
              <a:ext cx="4112280" cy="943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2800" spc="-1" strike="noStrike">
                  <a:solidFill>
                    <a:srgbClr val="ffffff"/>
                  </a:solidFill>
                  <a:latin typeface="Calibri"/>
                </a:rPr>
                <a:t>Source: unknown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2800" spc="-1" strike="noStrike">
                  <a:solidFill>
                    <a:srgbClr val="ffffff"/>
                  </a:solidFill>
                  <a:latin typeface="Calibri"/>
                </a:rPr>
                <a:t>Dest: unknown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00" name="Group 22"/>
          <p:cNvGrpSpPr/>
          <p:nvPr/>
        </p:nvGrpSpPr>
        <p:grpSpPr>
          <a:xfrm>
            <a:off x="6525000" y="1755360"/>
            <a:ext cx="3927240" cy="966240"/>
            <a:chOff x="6525000" y="1755360"/>
            <a:chExt cx="3927240" cy="966240"/>
          </a:xfrm>
        </p:grpSpPr>
        <p:sp>
          <p:nvSpPr>
            <p:cNvPr id="601" name="Rectangular Callout 15"/>
            <p:cNvSpPr/>
            <p:nvPr/>
          </p:nvSpPr>
          <p:spPr>
            <a:xfrm flipH="1">
              <a:off x="6524640" y="1755360"/>
              <a:ext cx="3927240" cy="966240"/>
            </a:xfrm>
            <a:prstGeom prst="wedgeRectCallout">
              <a:avLst>
                <a:gd name="adj1" fmla="val -8730"/>
                <a:gd name="adj2" fmla="val 92022"/>
              </a:avLst>
            </a:prstGeom>
            <a:solidFill>
              <a:schemeClr val="accent3"/>
            </a:solidFill>
            <a:ln w="38100">
              <a:solidFill>
                <a:srgbClr val="9bbb59">
                  <a:lumMod val="50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Tw Cen MT"/>
              </a:endParaRPr>
            </a:p>
          </p:txBody>
        </p:sp>
        <p:sp>
          <p:nvSpPr>
            <p:cNvPr id="602" name="TextBox 49"/>
            <p:cNvSpPr/>
            <p:nvPr/>
          </p:nvSpPr>
          <p:spPr>
            <a:xfrm flipH="1">
              <a:off x="6524640" y="1755360"/>
              <a:ext cx="3927240" cy="943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2800" spc="-1" strike="noStrike">
                  <a:solidFill>
                    <a:srgbClr val="ffffff"/>
                  </a:solidFill>
                  <a:latin typeface="Calibri"/>
                </a:rPr>
                <a:t>Source: unknown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2800" spc="-1" strike="noStrike">
                  <a:solidFill>
                    <a:srgbClr val="ffffff"/>
                  </a:solidFill>
                  <a:latin typeface="Calibri"/>
                </a:rPr>
                <a:t>Dest: known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03" name="Group 23"/>
          <p:cNvGrpSpPr/>
          <p:nvPr/>
        </p:nvGrpSpPr>
        <p:grpSpPr>
          <a:xfrm>
            <a:off x="4196520" y="1749240"/>
            <a:ext cx="3909240" cy="966240"/>
            <a:chOff x="4196520" y="1749240"/>
            <a:chExt cx="3909240" cy="966240"/>
          </a:xfrm>
        </p:grpSpPr>
        <p:sp>
          <p:nvSpPr>
            <p:cNvPr id="604" name="Rectangular Callout 16"/>
            <p:cNvSpPr/>
            <p:nvPr/>
          </p:nvSpPr>
          <p:spPr>
            <a:xfrm flipH="1">
              <a:off x="4196160" y="1749240"/>
              <a:ext cx="3909240" cy="966240"/>
            </a:xfrm>
            <a:prstGeom prst="wedgeRectCallout">
              <a:avLst>
                <a:gd name="adj1" fmla="val -2213"/>
                <a:gd name="adj2" fmla="val 45429"/>
              </a:avLst>
            </a:prstGeom>
            <a:solidFill>
              <a:schemeClr val="accent2"/>
            </a:solidFill>
            <a:ln w="38100">
              <a:solidFill>
                <a:srgbClr val="c0504d">
                  <a:lumMod val="50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Tw Cen MT"/>
              </a:endParaRPr>
            </a:p>
          </p:txBody>
        </p:sp>
        <p:sp>
          <p:nvSpPr>
            <p:cNvPr id="605" name="TextBox 50"/>
            <p:cNvSpPr/>
            <p:nvPr/>
          </p:nvSpPr>
          <p:spPr>
            <a:xfrm flipH="1">
              <a:off x="4196160" y="1749240"/>
              <a:ext cx="3909240" cy="943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2800" spc="-1" strike="noStrike">
                  <a:solidFill>
                    <a:srgbClr val="ffffff"/>
                  </a:solidFill>
                  <a:latin typeface="Calibri"/>
                </a:rPr>
                <a:t>Source: known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2800" spc="-1" strike="noStrike">
                  <a:solidFill>
                    <a:srgbClr val="ffffff"/>
                  </a:solidFill>
                  <a:latin typeface="Calibri"/>
                </a:rPr>
                <a:t>Dest: known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606" name="Picture 151" descr="D:\Classes\5700\assets\Tor_logo1.png"/>
          <p:cNvPicPr/>
          <p:nvPr/>
        </p:nvPicPr>
        <p:blipFill>
          <a:blip r:embed="rId7"/>
          <a:stretch/>
        </p:blipFill>
        <p:spPr>
          <a:xfrm>
            <a:off x="2730960" y="3475800"/>
            <a:ext cx="595800" cy="657720"/>
          </a:xfrm>
          <a:prstGeom prst="rect">
            <a:avLst/>
          </a:prstGeom>
          <a:ln w="0">
            <a:noFill/>
          </a:ln>
        </p:spPr>
      </p:pic>
      <p:pic>
        <p:nvPicPr>
          <p:cNvPr id="607" name="Picture 152" descr="D:\Classes\5700\assets\Tor_logo1.png"/>
          <p:cNvPicPr/>
          <p:nvPr/>
        </p:nvPicPr>
        <p:blipFill>
          <a:blip r:embed="rId8"/>
          <a:stretch/>
        </p:blipFill>
        <p:spPr>
          <a:xfrm>
            <a:off x="5523840" y="3440160"/>
            <a:ext cx="595800" cy="657720"/>
          </a:xfrm>
          <a:prstGeom prst="rect">
            <a:avLst/>
          </a:prstGeom>
          <a:ln w="0">
            <a:noFill/>
          </a:ln>
        </p:spPr>
      </p:pic>
      <p:pic>
        <p:nvPicPr>
          <p:cNvPr id="608" name="Picture 153" descr="D:\Classes\5700\assets\Tor_logo1.png"/>
          <p:cNvPicPr/>
          <p:nvPr/>
        </p:nvPicPr>
        <p:blipFill>
          <a:blip r:embed="rId9"/>
          <a:stretch/>
        </p:blipFill>
        <p:spPr>
          <a:xfrm>
            <a:off x="8242920" y="3440160"/>
            <a:ext cx="595800" cy="657720"/>
          </a:xfrm>
          <a:prstGeom prst="rect">
            <a:avLst/>
          </a:prstGeom>
          <a:ln w="0">
            <a:noFill/>
          </a:ln>
        </p:spPr>
      </p:pic>
      <p:pic>
        <p:nvPicPr>
          <p:cNvPr id="609" name="Picture 154" descr="D:\Classes\5700\assets\devil-icon.png"/>
          <p:cNvPicPr/>
          <p:nvPr/>
        </p:nvPicPr>
        <p:blipFill>
          <a:blip r:embed="rId10"/>
          <a:stretch/>
        </p:blipFill>
        <p:spPr>
          <a:xfrm>
            <a:off x="2658960" y="3131280"/>
            <a:ext cx="1490760" cy="1118160"/>
          </a:xfrm>
          <a:prstGeom prst="rect">
            <a:avLst/>
          </a:prstGeom>
          <a:ln w="0">
            <a:noFill/>
          </a:ln>
        </p:spPr>
      </p:pic>
      <p:pic>
        <p:nvPicPr>
          <p:cNvPr id="610" name="Picture 155" descr="D:\Classes\5700\assets\devil-icon.png"/>
          <p:cNvPicPr/>
          <p:nvPr/>
        </p:nvPicPr>
        <p:blipFill>
          <a:blip r:embed="rId11"/>
          <a:stretch/>
        </p:blipFill>
        <p:spPr>
          <a:xfrm>
            <a:off x="5405040" y="3155400"/>
            <a:ext cx="1490760" cy="1118160"/>
          </a:xfrm>
          <a:prstGeom prst="rect">
            <a:avLst/>
          </a:prstGeom>
          <a:ln w="0">
            <a:noFill/>
          </a:ln>
        </p:spPr>
      </p:pic>
      <p:pic>
        <p:nvPicPr>
          <p:cNvPr id="611" name="Picture 156" descr="D:\Classes\5700\assets\devil-icon.png"/>
          <p:cNvPicPr/>
          <p:nvPr/>
        </p:nvPicPr>
        <p:blipFill>
          <a:blip r:embed="rId12"/>
          <a:stretch/>
        </p:blipFill>
        <p:spPr>
          <a:xfrm>
            <a:off x="8097120" y="3215880"/>
            <a:ext cx="1490760" cy="111816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F2CB9CA3-E353-47A8-8902-C8F76A12AE65}" type="slidenum">
              <a:t>50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40" dur="indefinite" restart="never" nodeType="tmRoot">
          <p:childTnLst>
            <p:seq>
              <p:cTn id="1041" dur="indefinite" nodeType="mainSeq">
                <p:childTnLst>
                  <p:par>
                    <p:cTn id="1042" fill="hold">
                      <p:stCondLst>
                        <p:cond delay="indefinite"/>
                      </p:stCondLst>
                      <p:childTnLst>
                        <p:par>
                          <p:cTn id="1043" fill="hold">
                            <p:stCondLst>
                              <p:cond delay="0"/>
                            </p:stCondLst>
                            <p:childTnLst>
                              <p:par>
                                <p:cTn id="1044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46" dur="500"/>
                                        <p:tgtEl>
                                          <p:spTgt spid="6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047" dur="500" fill="hold"/>
                                        <p:tgtEl>
                                          <p:spTgt spid="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48" dur="500" fill="hold"/>
                                        <p:tgtEl>
                                          <p:spTgt spid="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9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51" dur="50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052" dur="500" fill="hold"/>
                                        <p:tgtEl>
                                          <p:spTgt spid="5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53" dur="500" fill="hold"/>
                                        <p:tgtEl>
                                          <p:spTgt spid="5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4" fill="hold">
                      <p:stCondLst>
                        <p:cond delay="indefinite"/>
                      </p:stCondLst>
                      <p:childTnLst>
                        <p:par>
                          <p:cTn id="1055" fill="hold">
                            <p:stCondLst>
                              <p:cond delay="0"/>
                            </p:stCondLst>
                            <p:childTnLst>
                              <p:par>
                                <p:cTn id="1056" nodeType="clickEffect" fill="hold" presetClass="exit" presetID="42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057" dur="500"/>
                                        <p:tgtEl>
                                          <p:spTgt spid="6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058" dur="500"/>
                                        <p:tgtEl>
                                          <p:spTgt spid="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59" dur="500"/>
                                        <p:tgtEl>
                                          <p:spTgt spid="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1" nodeType="withEffect" fill="hold" presetClass="exit" presetID="42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062" dur="50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063" dur="500"/>
                                        <p:tgtEl>
                                          <p:spTgt spid="5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64" dur="500"/>
                                        <p:tgtEl>
                                          <p:spTgt spid="5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6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68" dur="500"/>
                                        <p:tgtEl>
                                          <p:spTgt spid="6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069" dur="500" fill="hold"/>
                                        <p:tgtEl>
                                          <p:spTgt spid="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70" dur="500" fill="hold"/>
                                        <p:tgtEl>
                                          <p:spTgt spid="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1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73" dur="50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074" dur="500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75" dur="500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6" fill="hold">
                      <p:stCondLst>
                        <p:cond delay="indefinite"/>
                      </p:stCondLst>
                      <p:childTnLst>
                        <p:par>
                          <p:cTn id="1077" fill="hold">
                            <p:stCondLst>
                              <p:cond delay="0"/>
                            </p:stCondLst>
                            <p:childTnLst>
                              <p:par>
                                <p:cTn id="1078" nodeType="clickEffect" fill="hold" presetClass="exit" presetID="42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079" dur="500"/>
                                        <p:tgtEl>
                                          <p:spTgt spid="6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080" dur="500"/>
                                        <p:tgtEl>
                                          <p:spTgt spid="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81" dur="500"/>
                                        <p:tgtEl>
                                          <p:spTgt spid="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3" nodeType="withEffect" fill="hold" presetClass="exit" presetID="42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084" dur="50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085" dur="500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86" dur="500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8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90" dur="500"/>
                                        <p:tgtEl>
                                          <p:spTgt spid="6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091" dur="500" fill="hold"/>
                                        <p:tgtEl>
                                          <p:spTgt spid="6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92" dur="500" fill="hold"/>
                                        <p:tgtEl>
                                          <p:spTgt spid="6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3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95" dur="500"/>
                                        <p:tgtEl>
                                          <p:spTgt spid="6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096" dur="500" fill="hold"/>
                                        <p:tgtEl>
                                          <p:spTgt spid="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97" dur="500" fill="hold"/>
                                        <p:tgtEl>
                                          <p:spTgt spid="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8" fill="hold">
                      <p:stCondLst>
                        <p:cond delay="indefinite"/>
                      </p:stCondLst>
                      <p:childTnLst>
                        <p:par>
                          <p:cTn id="1099" fill="hold">
                            <p:stCondLst>
                              <p:cond delay="0"/>
                            </p:stCondLst>
                            <p:childTnLst>
                              <p:par>
                                <p:cTn id="1100" nodeType="clickEffect" fill="hold" presetClass="exit" presetID="42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101" dur="500"/>
                                        <p:tgtEl>
                                          <p:spTgt spid="6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102" dur="500"/>
                                        <p:tgtEl>
                                          <p:spTgt spid="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03" dur="500"/>
                                        <p:tgtEl>
                                          <p:spTgt spid="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5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07" dur="500"/>
                                        <p:tgtEl>
                                          <p:spTgt spid="6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108" dur="500" fill="hold"/>
                                        <p:tgtEl>
                                          <p:spTgt spid="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09" dur="500" fill="hold"/>
                                        <p:tgtEl>
                                          <p:spTgt spid="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0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12" dur="500"/>
                                        <p:tgtEl>
                                          <p:spTgt spid="6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113" dur="500" fill="hold"/>
                                        <p:tgtEl>
                                          <p:spTgt spid="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14" dur="500" fill="hold"/>
                                        <p:tgtEl>
                                          <p:spTgt spid="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Predecessor Attack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3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740" lnSpcReduction="10000"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Assumptions: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i="1" lang="en-US" sz="2800" spc="-1" strike="noStrike">
                <a:solidFill>
                  <a:schemeClr val="dk1"/>
                </a:solidFill>
                <a:latin typeface="Calibri"/>
              </a:rPr>
              <a:t>N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total relays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i="1" lang="en-US" sz="28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of which are controlled by an attacker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Attacker goal: control the first and last relay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M/N chance for first relay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(M-1)/(N-1) chance for the last relay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Roughly (M/N)</a:t>
            </a:r>
            <a:r>
              <a:rPr b="0" lang="en-US" sz="2800" spc="-1" strike="noStrike" baseline="30000">
                <a:solidFill>
                  <a:schemeClr val="dk1"/>
                </a:solidFill>
                <a:latin typeface="Calibri"/>
              </a:rPr>
              <a:t>2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chance overall, </a:t>
            </a:r>
            <a:r>
              <a:rPr b="0" lang="en-US" sz="2800" spc="-1" strike="noStrike">
                <a:solidFill>
                  <a:schemeClr val="accent1"/>
                </a:solidFill>
                <a:latin typeface="Calibri"/>
              </a:rPr>
              <a:t>for a single circuit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However, client periodically builds new circuits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Over time, the chances for the attacker to be in the correct positions improves!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grpSp>
        <p:nvGrpSpPr>
          <p:cNvPr id="614" name="Group 24"/>
          <p:cNvGrpSpPr/>
          <p:nvPr/>
        </p:nvGrpSpPr>
        <p:grpSpPr>
          <a:xfrm>
            <a:off x="1364400" y="2251800"/>
            <a:ext cx="9916920" cy="2319840"/>
            <a:chOff x="1364400" y="2251800"/>
            <a:chExt cx="9916920" cy="2319840"/>
          </a:xfrm>
        </p:grpSpPr>
        <p:sp>
          <p:nvSpPr>
            <p:cNvPr id="615" name="Rectangular Callout 13"/>
            <p:cNvSpPr/>
            <p:nvPr/>
          </p:nvSpPr>
          <p:spPr>
            <a:xfrm flipH="1">
              <a:off x="1364040" y="2251800"/>
              <a:ext cx="9916920" cy="2319840"/>
            </a:xfrm>
            <a:prstGeom prst="wedgeRectCallout">
              <a:avLst>
                <a:gd name="adj1" fmla="val -2213"/>
                <a:gd name="adj2" fmla="val 45429"/>
              </a:avLst>
            </a:prstGeom>
            <a:solidFill>
              <a:schemeClr val="accent2"/>
            </a:solidFill>
            <a:ln w="38100">
              <a:solidFill>
                <a:srgbClr val="c0504d">
                  <a:lumMod val="50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Tw Cen MT"/>
              </a:endParaRPr>
            </a:p>
          </p:txBody>
        </p:sp>
        <p:sp>
          <p:nvSpPr>
            <p:cNvPr id="616" name="TextBox 51"/>
            <p:cNvSpPr/>
            <p:nvPr/>
          </p:nvSpPr>
          <p:spPr>
            <a:xfrm flipH="1">
              <a:off x="1618560" y="2470320"/>
              <a:ext cx="9371160" cy="1797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marL="457200" indent="-457200" defTabSz="914400">
                <a:lnSpc>
                  <a:spcPct val="100000"/>
                </a:lnSpc>
                <a:buClr>
                  <a:srgbClr val="ffffff"/>
                </a:buClr>
                <a:buFont typeface="Arial"/>
                <a:buChar char="•"/>
              </a:pPr>
              <a:r>
                <a:rPr b="0" lang="en-US" sz="2800" spc="-1" strike="noStrike">
                  <a:solidFill>
                    <a:srgbClr val="ffffff"/>
                  </a:solidFill>
                  <a:latin typeface="Calibri"/>
                </a:rPr>
                <a:t>This is the predecessor attack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  <a:p>
              <a:pPr marL="457200" indent="-457200" defTabSz="914400">
                <a:lnSpc>
                  <a:spcPct val="100000"/>
                </a:lnSpc>
                <a:buClr>
                  <a:srgbClr val="ffffff"/>
                </a:buClr>
                <a:buFont typeface="Arial"/>
                <a:buChar char="•"/>
              </a:pPr>
              <a:r>
                <a:rPr b="0" lang="en-US" sz="2800" spc="-1" strike="noStrike">
                  <a:solidFill>
                    <a:srgbClr val="ffffff"/>
                  </a:solidFill>
                  <a:latin typeface="Calibri"/>
                </a:rPr>
                <a:t>Attacker controls the first and last relay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  <a:p>
              <a:pPr marL="457200" indent="-457200" defTabSz="914400">
                <a:lnSpc>
                  <a:spcPct val="100000"/>
                </a:lnSpc>
                <a:buClr>
                  <a:srgbClr val="ffffff"/>
                </a:buClr>
                <a:buFont typeface="Arial"/>
                <a:buChar char="•"/>
              </a:pPr>
              <a:r>
                <a:rPr b="0" lang="en-US" sz="2800" spc="-1" strike="noStrike">
                  <a:solidFill>
                    <a:srgbClr val="ffffff"/>
                  </a:solidFill>
                  <a:latin typeface="Calibri"/>
                </a:rPr>
                <a:t>Probability of being in the right positions increases over time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" name="PlaceHolder 3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2AA1E8A1-721F-47B6-BB82-C84B2ED661DB}" type="slidenum">
              <a:t>51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15" dur="indefinite" restart="never" nodeType="tmRoot">
          <p:childTnLst>
            <p:seq>
              <p:cTn id="1116" dur="indefinite" nodeType="mainSeq">
                <p:childTnLst>
                  <p:par>
                    <p:cTn id="1117" fill="hold">
                      <p:stCondLst>
                        <p:cond delay="indefinite"/>
                      </p:stCondLst>
                      <p:childTnLst>
                        <p:par>
                          <p:cTn id="1118" fill="hold">
                            <p:stCondLst>
                              <p:cond delay="0"/>
                            </p:stCondLst>
                            <p:childTnLst>
                              <p:par>
                                <p:cTn id="1119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21" dur="500"/>
                                        <p:tgtEl>
                                          <p:spTgt spid="6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122" dur="500" fill="hold"/>
                                        <p:tgtEl>
                                          <p:spTgt spid="6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23" dur="500" fill="hold"/>
                                        <p:tgtEl>
                                          <p:spTgt spid="6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4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26" dur="500"/>
                                        <p:tgtEl>
                                          <p:spTgt spid="6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127" dur="500" fill="hold"/>
                                        <p:tgtEl>
                                          <p:spTgt spid="6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28" dur="500" fill="hold"/>
                                        <p:tgtEl>
                                          <p:spTgt spid="6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9" fill="hold">
                      <p:stCondLst>
                        <p:cond delay="indefinite"/>
                      </p:stCondLst>
                      <p:childTnLst>
                        <p:par>
                          <p:cTn id="1130" fill="hold">
                            <p:stCondLst>
                              <p:cond delay="0"/>
                            </p:stCondLst>
                            <p:childTnLst>
                              <p:par>
                                <p:cTn id="1131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33" dur="500"/>
                                        <p:tgtEl>
                                          <p:spTgt spid="6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134" dur="500" fill="hold"/>
                                        <p:tgtEl>
                                          <p:spTgt spid="6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35" dur="500" fill="hold"/>
                                        <p:tgtEl>
                                          <p:spTgt spid="6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Guard Relays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8" name="PlaceHolder 2"/>
          <p:cNvSpPr>
            <a:spLocks noGrp="1"/>
          </p:cNvSpPr>
          <p:nvPr>
            <p:ph/>
          </p:nvPr>
        </p:nvSpPr>
        <p:spPr>
          <a:xfrm>
            <a:off x="0" y="1600200"/>
            <a:ext cx="12191760" cy="5257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Guard relays help prevent attackers from becoming the first relay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Tor selects 3 guard relays and uses them for 3 months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After 3 months, 3 new guards are selected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Only relays that: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Have long and consistent uptimes…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Have high bandwidth…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And are manually vetted may become guards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Problem: what happens if you choose an evil guard?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M/N chance of full compromise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619" name="Picture 145" descr="D:\Classes\5700\assets\Torproject.png"/>
          <p:cNvPicPr/>
          <p:nvPr/>
        </p:nvPicPr>
        <p:blipFill>
          <a:blip r:embed="rId1"/>
          <a:stretch/>
        </p:blipFill>
        <p:spPr>
          <a:xfrm>
            <a:off x="10078920" y="95400"/>
            <a:ext cx="1978560" cy="111276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C4163A02-7510-4214-8BF4-950CBA4433EA}" type="slidenum">
              <a:t>52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36" dur="indefinite" restart="never" nodeType="tmRoot">
          <p:childTnLst>
            <p:seq>
              <p:cTn id="1137" dur="indefinite" nodeType="mainSeq">
                <p:childTnLst>
                  <p:par>
                    <p:cTn id="1138" fill="hold">
                      <p:stCondLst>
                        <p:cond delay="indefinite"/>
                      </p:stCondLst>
                      <p:childTnLst>
                        <p:par>
                          <p:cTn id="1139" fill="hold">
                            <p:stCondLst>
                              <p:cond delay="0"/>
                            </p:stCondLst>
                            <p:childTnLst>
                              <p:par>
                                <p:cTn id="1140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42" dur="500"/>
                                        <p:tgtEl>
                                          <p:spTgt spid="6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143" dur="500" fill="hold"/>
                                        <p:tgtEl>
                                          <p:spTgt spid="6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44" dur="500" fill="hold"/>
                                        <p:tgtEl>
                                          <p:spTgt spid="6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5" fill="hold">
                      <p:stCondLst>
                        <p:cond delay="indefinite"/>
                      </p:stCondLst>
                      <p:childTnLst>
                        <p:par>
                          <p:cTn id="1146" fill="hold">
                            <p:stCondLst>
                              <p:cond delay="0"/>
                            </p:stCondLst>
                            <p:childTnLst>
                              <p:par>
                                <p:cTn id="1147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49" dur="500"/>
                                        <p:tgtEl>
                                          <p:spTgt spid="6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150" dur="500" fill="hold"/>
                                        <p:tgtEl>
                                          <p:spTgt spid="6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51" dur="500" fill="hold"/>
                                        <p:tgtEl>
                                          <p:spTgt spid="6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Hidden Services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1" name="PlaceHolder 2"/>
          <p:cNvSpPr>
            <a:spLocks noGrp="1"/>
          </p:cNvSpPr>
          <p:nvPr>
            <p:ph/>
          </p:nvPr>
        </p:nvSpPr>
        <p:spPr>
          <a:xfrm>
            <a:off x="203040" y="1514880"/>
            <a:ext cx="11784960" cy="534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0616"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Tor is very good at hiding the source of traffic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But the destination is often an exposed website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What if we want to run an anonymous service?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i.e. a website, where nobody knows the IP address?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Tor supports Hidden Services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Allows you to run a server and have people connect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…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without disclosing the IP or DNS name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Many hidden services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Tor Mail, Tor Char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DuckDuckGo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Wikileaks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622" name="Picture 146" descr="D:\Classes\5700\assets\Torproject.png"/>
          <p:cNvPicPr/>
          <p:nvPr/>
        </p:nvPicPr>
        <p:blipFill>
          <a:blip r:embed="rId1"/>
          <a:stretch/>
        </p:blipFill>
        <p:spPr>
          <a:xfrm>
            <a:off x="10078920" y="95400"/>
            <a:ext cx="1978560" cy="1112760"/>
          </a:xfrm>
          <a:prstGeom prst="rect">
            <a:avLst/>
          </a:prstGeom>
          <a:ln w="0">
            <a:noFill/>
          </a:ln>
        </p:spPr>
      </p:pic>
      <p:sp>
        <p:nvSpPr>
          <p:cNvPr id="623" name="Content Placeholder 52"/>
          <p:cNvSpPr/>
          <p:nvPr/>
        </p:nvSpPr>
        <p:spPr>
          <a:xfrm>
            <a:off x="5149800" y="5349960"/>
            <a:ext cx="5058360" cy="10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lvl="1" marL="640080" indent="-274320" defTabSz="457200">
              <a:lnSpc>
                <a:spcPct val="100000"/>
              </a:lnSpc>
              <a:spcBef>
                <a:spcPts val="550"/>
              </a:spcBef>
              <a:buClr>
                <a:srgbClr val="4f81bd"/>
              </a:buClr>
              <a:buSzPct val="70000"/>
              <a:buFont typeface="Wingdings 2" charset="2"/>
              <a:buChar char=""/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The Pirate Bay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lvl="1" marL="640080" indent="-274320" defTabSz="457200">
              <a:lnSpc>
                <a:spcPct val="100000"/>
              </a:lnSpc>
              <a:spcBef>
                <a:spcPts val="550"/>
              </a:spcBef>
              <a:buClr>
                <a:srgbClr val="4f81bd"/>
              </a:buClr>
              <a:buSzPct val="70000"/>
              <a:buFont typeface="Wingdings 2" charset="2"/>
              <a:buChar char=""/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Silk Road (2.0)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46E9ABCC-4FF0-4534-9320-A62DF900F602}" type="slidenum">
              <a:t>53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TextBox 56"/>
          <p:cNvSpPr/>
          <p:nvPr/>
        </p:nvSpPr>
        <p:spPr>
          <a:xfrm>
            <a:off x="4473360" y="1665720"/>
            <a:ext cx="38782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 u="sng">
                <a:solidFill>
                  <a:schemeClr val="dk1"/>
                </a:solidFill>
                <a:uFillTx/>
                <a:latin typeface="Calibri"/>
              </a:rPr>
              <a:t>https://go2ndkjdf8whfanf4o.onion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Oval 7"/>
          <p:cNvSpPr/>
          <p:nvPr/>
        </p:nvSpPr>
        <p:spPr>
          <a:xfrm>
            <a:off x="6701400" y="3357360"/>
            <a:ext cx="1305360" cy="978840"/>
          </a:xfrm>
          <a:prstGeom prst="ellipse">
            <a:avLst/>
          </a:prstGeom>
          <a:solidFill>
            <a:schemeClr val="accent3"/>
          </a:solidFill>
          <a:ln>
            <a:solidFill>
              <a:srgbClr val="9bbb59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6" name="Oval 8"/>
          <p:cNvSpPr/>
          <p:nvPr/>
        </p:nvSpPr>
        <p:spPr>
          <a:xfrm>
            <a:off x="5760360" y="2207160"/>
            <a:ext cx="1305360" cy="978840"/>
          </a:xfrm>
          <a:prstGeom prst="ellipse">
            <a:avLst/>
          </a:prstGeom>
          <a:solidFill>
            <a:schemeClr val="accent3"/>
          </a:solidFill>
          <a:ln>
            <a:solidFill>
              <a:srgbClr val="9bbb59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7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Hidden Service Example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8" name="PlaceHolder 2"/>
          <p:cNvSpPr>
            <a:spLocks noGrp="1"/>
          </p:cNvSpPr>
          <p:nvPr>
            <p:ph/>
          </p:nvPr>
        </p:nvSpPr>
        <p:spPr>
          <a:xfrm>
            <a:off x="182160" y="5868360"/>
            <a:ext cx="11784960" cy="95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6865" lnSpcReduction="10000"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Onion URL is a hash, allows any Tor user to find the introduction points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629" name="Picture 147" descr="D:\Classes\5700\assets\Torproject.png"/>
          <p:cNvPicPr/>
          <p:nvPr/>
        </p:nvPicPr>
        <p:blipFill>
          <a:blip r:embed="rId1"/>
          <a:stretch/>
        </p:blipFill>
        <p:spPr>
          <a:xfrm>
            <a:off x="10078920" y="95400"/>
            <a:ext cx="1978560" cy="1112760"/>
          </a:xfrm>
          <a:prstGeom prst="rect">
            <a:avLst/>
          </a:prstGeom>
          <a:ln w="0">
            <a:noFill/>
          </a:ln>
        </p:spPr>
      </p:pic>
      <p:pic>
        <p:nvPicPr>
          <p:cNvPr id="630" name="Picture 148" descr="D:\Classes\5700\assets\User Coat Blue-01.png"/>
          <p:cNvPicPr/>
          <p:nvPr/>
        </p:nvPicPr>
        <p:blipFill>
          <a:blip r:embed="rId2"/>
          <a:stretch/>
        </p:blipFill>
        <p:spPr>
          <a:xfrm>
            <a:off x="164880" y="2719440"/>
            <a:ext cx="952200" cy="714240"/>
          </a:xfrm>
          <a:prstGeom prst="rect">
            <a:avLst/>
          </a:prstGeom>
          <a:ln w="0">
            <a:noFill/>
          </a:ln>
        </p:spPr>
      </p:pic>
      <p:pic>
        <p:nvPicPr>
          <p:cNvPr id="631" name="Picture 149" descr="D:\Pictures\Server_icons_lnx\Icons\128X128\server.png"/>
          <p:cNvPicPr/>
          <p:nvPr/>
        </p:nvPicPr>
        <p:blipFill>
          <a:blip r:embed="rId3"/>
          <a:stretch/>
        </p:blipFill>
        <p:spPr>
          <a:xfrm>
            <a:off x="4179240" y="2586960"/>
            <a:ext cx="1135080" cy="851400"/>
          </a:xfrm>
          <a:prstGeom prst="rect">
            <a:avLst/>
          </a:prstGeom>
          <a:ln w="0">
            <a:noFill/>
          </a:ln>
        </p:spPr>
      </p:pic>
      <p:pic>
        <p:nvPicPr>
          <p:cNvPr id="632" name="Picture 150" descr="D:\Pictures\Server_icons_lnx\Icons\128X128\server.png"/>
          <p:cNvPicPr/>
          <p:nvPr/>
        </p:nvPicPr>
        <p:blipFill>
          <a:blip r:embed="rId4"/>
          <a:stretch/>
        </p:blipFill>
        <p:spPr>
          <a:xfrm>
            <a:off x="5892840" y="2275560"/>
            <a:ext cx="1135080" cy="851400"/>
          </a:xfrm>
          <a:prstGeom prst="rect">
            <a:avLst/>
          </a:prstGeom>
          <a:ln w="0">
            <a:noFill/>
          </a:ln>
        </p:spPr>
      </p:pic>
      <p:pic>
        <p:nvPicPr>
          <p:cNvPr id="633" name="Picture 177" descr="D:\Pictures\Server_icons_lnx\Icons\128X128\server.png"/>
          <p:cNvPicPr/>
          <p:nvPr/>
        </p:nvPicPr>
        <p:blipFill>
          <a:blip r:embed="rId5"/>
          <a:stretch/>
        </p:blipFill>
        <p:spPr>
          <a:xfrm>
            <a:off x="8015760" y="2297520"/>
            <a:ext cx="1135080" cy="851400"/>
          </a:xfrm>
          <a:prstGeom prst="rect">
            <a:avLst/>
          </a:prstGeom>
          <a:ln w="0">
            <a:noFill/>
          </a:ln>
        </p:spPr>
      </p:pic>
      <p:sp>
        <p:nvSpPr>
          <p:cNvPr id="634" name="Left-Right Arrow 40"/>
          <p:cNvSpPr/>
          <p:nvPr/>
        </p:nvSpPr>
        <p:spPr>
          <a:xfrm rot="1550400">
            <a:off x="1188720" y="3401280"/>
            <a:ext cx="1067040" cy="27576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35" name="Up-Down Arrow 3"/>
          <p:cNvSpPr/>
          <p:nvPr/>
        </p:nvSpPr>
        <p:spPr>
          <a:xfrm rot="16943400">
            <a:off x="9853920" y="2264040"/>
            <a:ext cx="345600" cy="1594080"/>
          </a:xfrm>
          <a:prstGeom prst="up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>
            <a:solidFill>
              <a:srgbClr val="9bbb59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36" name="Left-Right Arrow 41"/>
          <p:cNvSpPr/>
          <p:nvPr/>
        </p:nvSpPr>
        <p:spPr>
          <a:xfrm rot="1216800">
            <a:off x="3142080" y="4436640"/>
            <a:ext cx="763200" cy="28548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637" name="Picture 178" descr="D:\Classes\5700\assets\Tor_logo1.png"/>
          <p:cNvPicPr/>
          <p:nvPr/>
        </p:nvPicPr>
        <p:blipFill>
          <a:blip r:embed="rId6"/>
          <a:stretch/>
        </p:blipFill>
        <p:spPr>
          <a:xfrm>
            <a:off x="4073760" y="2816640"/>
            <a:ext cx="595800" cy="657720"/>
          </a:xfrm>
          <a:prstGeom prst="rect">
            <a:avLst/>
          </a:prstGeom>
          <a:ln w="0">
            <a:noFill/>
          </a:ln>
        </p:spPr>
      </p:pic>
      <p:pic>
        <p:nvPicPr>
          <p:cNvPr id="638" name="Picture 179" descr="D:\Classes\5700\assets\Tor_logo1.png"/>
          <p:cNvPicPr/>
          <p:nvPr/>
        </p:nvPicPr>
        <p:blipFill>
          <a:blip r:embed="rId7"/>
          <a:stretch/>
        </p:blipFill>
        <p:spPr>
          <a:xfrm>
            <a:off x="5832720" y="2469600"/>
            <a:ext cx="595800" cy="657720"/>
          </a:xfrm>
          <a:prstGeom prst="rect">
            <a:avLst/>
          </a:prstGeom>
          <a:ln w="0">
            <a:noFill/>
          </a:ln>
        </p:spPr>
      </p:pic>
      <p:pic>
        <p:nvPicPr>
          <p:cNvPr id="639" name="Picture 180" descr="D:\Classes\5700\assets\Tor_logo1.png"/>
          <p:cNvPicPr/>
          <p:nvPr/>
        </p:nvPicPr>
        <p:blipFill>
          <a:blip r:embed="rId8"/>
          <a:stretch/>
        </p:blipFill>
        <p:spPr>
          <a:xfrm>
            <a:off x="7930080" y="2491560"/>
            <a:ext cx="595800" cy="657720"/>
          </a:xfrm>
          <a:prstGeom prst="rect">
            <a:avLst/>
          </a:prstGeom>
          <a:ln w="0">
            <a:noFill/>
          </a:ln>
        </p:spPr>
      </p:pic>
      <p:pic>
        <p:nvPicPr>
          <p:cNvPr id="640" name="Picture 181" descr="D:\Pictures\Server_icons_lnx\Icons\128X128\server.png"/>
          <p:cNvPicPr/>
          <p:nvPr/>
        </p:nvPicPr>
        <p:blipFill>
          <a:blip r:embed="rId9"/>
          <a:stretch/>
        </p:blipFill>
        <p:spPr>
          <a:xfrm>
            <a:off x="2544840" y="2275200"/>
            <a:ext cx="1135080" cy="851400"/>
          </a:xfrm>
          <a:prstGeom prst="rect">
            <a:avLst/>
          </a:prstGeom>
          <a:ln w="0">
            <a:noFill/>
          </a:ln>
        </p:spPr>
      </p:pic>
      <p:pic>
        <p:nvPicPr>
          <p:cNvPr id="641" name="Picture 182" descr="D:\Classes\5700\assets\Tor_logo1.png"/>
          <p:cNvPicPr/>
          <p:nvPr/>
        </p:nvPicPr>
        <p:blipFill>
          <a:blip r:embed="rId10"/>
          <a:stretch/>
        </p:blipFill>
        <p:spPr>
          <a:xfrm>
            <a:off x="2438640" y="2504880"/>
            <a:ext cx="595800" cy="657720"/>
          </a:xfrm>
          <a:prstGeom prst="rect">
            <a:avLst/>
          </a:prstGeom>
          <a:ln w="0">
            <a:noFill/>
          </a:ln>
        </p:spPr>
      </p:pic>
      <p:pic>
        <p:nvPicPr>
          <p:cNvPr id="642" name="Picture 183" descr="D:\Pictures\Server_icons_lnx\Icons\128X128\server.png"/>
          <p:cNvPicPr/>
          <p:nvPr/>
        </p:nvPicPr>
        <p:blipFill>
          <a:blip r:embed="rId11"/>
          <a:stretch/>
        </p:blipFill>
        <p:spPr>
          <a:xfrm>
            <a:off x="3739680" y="4739400"/>
            <a:ext cx="1135080" cy="851400"/>
          </a:xfrm>
          <a:prstGeom prst="rect">
            <a:avLst/>
          </a:prstGeom>
          <a:ln w="0">
            <a:noFill/>
          </a:ln>
        </p:spPr>
      </p:pic>
      <p:pic>
        <p:nvPicPr>
          <p:cNvPr id="643" name="Picture 184" descr="D:\Classes\5700\assets\Tor_logo1.png"/>
          <p:cNvPicPr/>
          <p:nvPr/>
        </p:nvPicPr>
        <p:blipFill>
          <a:blip r:embed="rId12"/>
          <a:stretch/>
        </p:blipFill>
        <p:spPr>
          <a:xfrm>
            <a:off x="3633480" y="4969080"/>
            <a:ext cx="595800" cy="657720"/>
          </a:xfrm>
          <a:prstGeom prst="rect">
            <a:avLst/>
          </a:prstGeom>
          <a:ln w="0">
            <a:noFill/>
          </a:ln>
        </p:spPr>
      </p:pic>
      <p:pic>
        <p:nvPicPr>
          <p:cNvPr id="644" name="Picture 185" descr="D:\Pictures\Server_icons_lnx\Icons\128X128\server.png"/>
          <p:cNvPicPr/>
          <p:nvPr/>
        </p:nvPicPr>
        <p:blipFill>
          <a:blip r:embed="rId13"/>
          <a:stretch/>
        </p:blipFill>
        <p:spPr>
          <a:xfrm>
            <a:off x="5077800" y="3910680"/>
            <a:ext cx="1135080" cy="851400"/>
          </a:xfrm>
          <a:prstGeom prst="rect">
            <a:avLst/>
          </a:prstGeom>
          <a:ln w="0">
            <a:noFill/>
          </a:ln>
        </p:spPr>
      </p:pic>
      <p:pic>
        <p:nvPicPr>
          <p:cNvPr id="645" name="Picture 186" descr="D:\Classes\5700\assets\Tor_logo1.png"/>
          <p:cNvPicPr/>
          <p:nvPr/>
        </p:nvPicPr>
        <p:blipFill>
          <a:blip r:embed="rId14"/>
          <a:stretch/>
        </p:blipFill>
        <p:spPr>
          <a:xfrm>
            <a:off x="4971600" y="4140000"/>
            <a:ext cx="595800" cy="657720"/>
          </a:xfrm>
          <a:prstGeom prst="rect">
            <a:avLst/>
          </a:prstGeom>
          <a:ln w="0">
            <a:noFill/>
          </a:ln>
        </p:spPr>
      </p:pic>
      <p:pic>
        <p:nvPicPr>
          <p:cNvPr id="646" name="Picture 187" descr="D:\Pictures\Server_icons_lnx\Icons\128X128\server.png"/>
          <p:cNvPicPr/>
          <p:nvPr/>
        </p:nvPicPr>
        <p:blipFill>
          <a:blip r:embed="rId15"/>
          <a:stretch/>
        </p:blipFill>
        <p:spPr>
          <a:xfrm>
            <a:off x="6880320" y="3408480"/>
            <a:ext cx="1135080" cy="851400"/>
          </a:xfrm>
          <a:prstGeom prst="rect">
            <a:avLst/>
          </a:prstGeom>
          <a:ln w="0">
            <a:noFill/>
          </a:ln>
        </p:spPr>
      </p:pic>
      <p:pic>
        <p:nvPicPr>
          <p:cNvPr id="647" name="Picture 188" descr="D:\Classes\5700\assets\Tor_logo1.png"/>
          <p:cNvPicPr/>
          <p:nvPr/>
        </p:nvPicPr>
        <p:blipFill>
          <a:blip r:embed="rId16"/>
          <a:stretch/>
        </p:blipFill>
        <p:spPr>
          <a:xfrm>
            <a:off x="6774120" y="3638160"/>
            <a:ext cx="595800" cy="657720"/>
          </a:xfrm>
          <a:prstGeom prst="rect">
            <a:avLst/>
          </a:prstGeom>
          <a:ln w="0">
            <a:noFill/>
          </a:ln>
        </p:spPr>
      </p:pic>
      <p:pic>
        <p:nvPicPr>
          <p:cNvPr id="648" name="Picture 189" descr="D:\Pictures\Server_icons_lnx\Icons\128X128\server.png"/>
          <p:cNvPicPr/>
          <p:nvPr/>
        </p:nvPicPr>
        <p:blipFill>
          <a:blip r:embed="rId17"/>
          <a:stretch/>
        </p:blipFill>
        <p:spPr>
          <a:xfrm>
            <a:off x="8885160" y="3870000"/>
            <a:ext cx="1135080" cy="851400"/>
          </a:xfrm>
          <a:prstGeom prst="rect">
            <a:avLst/>
          </a:prstGeom>
          <a:ln w="0">
            <a:noFill/>
          </a:ln>
        </p:spPr>
      </p:pic>
      <p:pic>
        <p:nvPicPr>
          <p:cNvPr id="649" name="Picture 190" descr="D:\Classes\5700\assets\Tor_logo1.png"/>
          <p:cNvPicPr/>
          <p:nvPr/>
        </p:nvPicPr>
        <p:blipFill>
          <a:blip r:embed="rId18"/>
          <a:stretch/>
        </p:blipFill>
        <p:spPr>
          <a:xfrm>
            <a:off x="8778960" y="4099680"/>
            <a:ext cx="595800" cy="657720"/>
          </a:xfrm>
          <a:prstGeom prst="rect">
            <a:avLst/>
          </a:prstGeom>
          <a:ln w="0">
            <a:noFill/>
          </a:ln>
        </p:spPr>
      </p:pic>
      <p:pic>
        <p:nvPicPr>
          <p:cNvPr id="650" name="Picture 191" descr="D:\Pictures\Server_icons_lnx\Icons\128X128\black_server.png"/>
          <p:cNvPicPr/>
          <p:nvPr/>
        </p:nvPicPr>
        <p:blipFill>
          <a:blip r:embed="rId19"/>
          <a:stretch/>
        </p:blipFill>
        <p:spPr>
          <a:xfrm>
            <a:off x="10881000" y="2879280"/>
            <a:ext cx="1086120" cy="814680"/>
          </a:xfrm>
          <a:prstGeom prst="rect">
            <a:avLst/>
          </a:prstGeom>
          <a:ln w="0">
            <a:noFill/>
          </a:ln>
        </p:spPr>
      </p:pic>
      <p:sp>
        <p:nvSpPr>
          <p:cNvPr id="651" name="TextBox 60"/>
          <p:cNvSpPr/>
          <p:nvPr/>
        </p:nvSpPr>
        <p:spPr>
          <a:xfrm>
            <a:off x="10888560" y="2168640"/>
            <a:ext cx="92484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Hidden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Service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Up-Down Arrow 8"/>
          <p:cNvSpPr/>
          <p:nvPr/>
        </p:nvSpPr>
        <p:spPr>
          <a:xfrm rot="13681800">
            <a:off x="10220400" y="3054240"/>
            <a:ext cx="381600" cy="1112400"/>
          </a:xfrm>
          <a:prstGeom prst="up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>
            <a:solidFill>
              <a:srgbClr val="9bbb59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3" name="Up-Down Arrow 9"/>
          <p:cNvSpPr/>
          <p:nvPr/>
        </p:nvSpPr>
        <p:spPr>
          <a:xfrm rot="18481200">
            <a:off x="8200080" y="3750840"/>
            <a:ext cx="374760" cy="899640"/>
          </a:xfrm>
          <a:prstGeom prst="up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>
            <a:solidFill>
              <a:srgbClr val="9bbb59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4" name="Up-Down Arrow 10"/>
          <p:cNvSpPr/>
          <p:nvPr/>
        </p:nvSpPr>
        <p:spPr>
          <a:xfrm rot="16200000">
            <a:off x="7354080" y="2157840"/>
            <a:ext cx="342360" cy="1037520"/>
          </a:xfrm>
          <a:prstGeom prst="up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>
            <a:solidFill>
              <a:srgbClr val="9bbb59">
                <a:lumMod val="5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pSp>
        <p:nvGrpSpPr>
          <p:cNvPr id="655" name="Group 25"/>
          <p:cNvGrpSpPr/>
          <p:nvPr/>
        </p:nvGrpSpPr>
        <p:grpSpPr>
          <a:xfrm>
            <a:off x="4838400" y="725400"/>
            <a:ext cx="2750400" cy="966240"/>
            <a:chOff x="4838400" y="725400"/>
            <a:chExt cx="2750400" cy="966240"/>
          </a:xfrm>
        </p:grpSpPr>
        <p:sp>
          <p:nvSpPr>
            <p:cNvPr id="656" name="Rectangular Callout 14"/>
            <p:cNvSpPr/>
            <p:nvPr/>
          </p:nvSpPr>
          <p:spPr>
            <a:xfrm flipH="1">
              <a:off x="4838400" y="725400"/>
              <a:ext cx="2750400" cy="966240"/>
            </a:xfrm>
            <a:prstGeom prst="wedgeRectCallout">
              <a:avLst>
                <a:gd name="adj1" fmla="val -8730"/>
                <a:gd name="adj2" fmla="val 92022"/>
              </a:avLst>
            </a:prstGeom>
            <a:solidFill>
              <a:schemeClr val="accent3"/>
            </a:solidFill>
            <a:ln w="38100">
              <a:solidFill>
                <a:srgbClr val="9bbb59">
                  <a:lumMod val="50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Tw Cen MT"/>
              </a:endParaRPr>
            </a:p>
          </p:txBody>
        </p:sp>
        <p:sp>
          <p:nvSpPr>
            <p:cNvPr id="657" name="TextBox 61"/>
            <p:cNvSpPr/>
            <p:nvPr/>
          </p:nvSpPr>
          <p:spPr>
            <a:xfrm flipH="1">
              <a:off x="4838400" y="725400"/>
              <a:ext cx="2750400" cy="943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2800" spc="-1" strike="noStrike">
                  <a:solidFill>
                    <a:srgbClr val="ffffff"/>
                  </a:solidFill>
                  <a:latin typeface="Calibri"/>
                </a:rPr>
                <a:t>Introduction Points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658" name="Picture 192" descr="D:\Pictures\Server_icons_lnx\Icons\128X128\server.png"/>
          <p:cNvPicPr/>
          <p:nvPr/>
        </p:nvPicPr>
        <p:blipFill>
          <a:blip r:embed="rId20"/>
          <a:stretch/>
        </p:blipFill>
        <p:spPr>
          <a:xfrm>
            <a:off x="6987240" y="4721760"/>
            <a:ext cx="1135080" cy="851400"/>
          </a:xfrm>
          <a:prstGeom prst="rect">
            <a:avLst/>
          </a:prstGeom>
          <a:ln w="0">
            <a:noFill/>
          </a:ln>
        </p:spPr>
      </p:pic>
      <p:pic>
        <p:nvPicPr>
          <p:cNvPr id="659" name="Picture 193" descr="D:\Classes\5700\assets\Tor_logo1.png"/>
          <p:cNvPicPr/>
          <p:nvPr/>
        </p:nvPicPr>
        <p:blipFill>
          <a:blip r:embed="rId21"/>
          <a:stretch/>
        </p:blipFill>
        <p:spPr>
          <a:xfrm>
            <a:off x="6881040" y="4951440"/>
            <a:ext cx="595800" cy="657720"/>
          </a:xfrm>
          <a:prstGeom prst="rect">
            <a:avLst/>
          </a:prstGeom>
          <a:ln w="0">
            <a:noFill/>
          </a:ln>
        </p:spPr>
      </p:pic>
      <p:pic>
        <p:nvPicPr>
          <p:cNvPr id="660" name="Picture 194" descr="D:\Pictures\Server_icons_lnx\Icons\128X128\server.png"/>
          <p:cNvPicPr/>
          <p:nvPr/>
        </p:nvPicPr>
        <p:blipFill>
          <a:blip r:embed="rId22"/>
          <a:stretch/>
        </p:blipFill>
        <p:spPr>
          <a:xfrm>
            <a:off x="2177280" y="3652560"/>
            <a:ext cx="1135080" cy="851400"/>
          </a:xfrm>
          <a:prstGeom prst="rect">
            <a:avLst/>
          </a:prstGeom>
          <a:ln w="0">
            <a:noFill/>
          </a:ln>
        </p:spPr>
      </p:pic>
      <p:pic>
        <p:nvPicPr>
          <p:cNvPr id="661" name="Picture 195" descr="D:\Classes\5700\assets\Tor_logo1.png"/>
          <p:cNvPicPr/>
          <p:nvPr/>
        </p:nvPicPr>
        <p:blipFill>
          <a:blip r:embed="rId23"/>
          <a:stretch/>
        </p:blipFill>
        <p:spPr>
          <a:xfrm>
            <a:off x="2071080" y="3882240"/>
            <a:ext cx="595800" cy="657720"/>
          </a:xfrm>
          <a:prstGeom prst="rect">
            <a:avLst/>
          </a:prstGeom>
          <a:ln w="0">
            <a:noFill/>
          </a:ln>
        </p:spPr>
      </p:pic>
      <p:sp>
        <p:nvSpPr>
          <p:cNvPr id="662" name="Left-Up Arrow 2"/>
          <p:cNvSpPr/>
          <p:nvPr/>
        </p:nvSpPr>
        <p:spPr>
          <a:xfrm>
            <a:off x="8122680" y="3775680"/>
            <a:ext cx="3577680" cy="1683000"/>
          </a:xfrm>
          <a:prstGeom prst="leftUpArrow">
            <a:avLst>
              <a:gd name="adj1" fmla="val 8782"/>
              <a:gd name="adj2" fmla="val 11362"/>
              <a:gd name="adj3" fmla="val 11731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63" name="Left-Right Arrow 45"/>
          <p:cNvSpPr/>
          <p:nvPr/>
        </p:nvSpPr>
        <p:spPr>
          <a:xfrm rot="21457800">
            <a:off x="4873680" y="4956840"/>
            <a:ext cx="2054880" cy="38160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664" name="Picture 196" descr="D:\Classes\5700\assets\Email-01.png"/>
          <p:cNvPicPr/>
          <p:nvPr/>
        </p:nvPicPr>
        <p:blipFill>
          <a:blip r:embed="rId24"/>
          <a:stretch/>
        </p:blipFill>
        <p:spPr>
          <a:xfrm>
            <a:off x="711720" y="3104640"/>
            <a:ext cx="811800" cy="608760"/>
          </a:xfrm>
          <a:prstGeom prst="rect">
            <a:avLst/>
          </a:prstGeom>
          <a:ln w="0">
            <a:noFill/>
          </a:ln>
        </p:spPr>
      </p:pic>
      <p:grpSp>
        <p:nvGrpSpPr>
          <p:cNvPr id="665" name="Group 33"/>
          <p:cNvGrpSpPr/>
          <p:nvPr/>
        </p:nvGrpSpPr>
        <p:grpSpPr>
          <a:xfrm>
            <a:off x="314280" y="4721760"/>
            <a:ext cx="2998080" cy="966240"/>
            <a:chOff x="314280" y="4721760"/>
            <a:chExt cx="2998080" cy="966240"/>
          </a:xfrm>
        </p:grpSpPr>
        <p:sp>
          <p:nvSpPr>
            <p:cNvPr id="666" name="Rectangular Callout 18"/>
            <p:cNvSpPr/>
            <p:nvPr/>
          </p:nvSpPr>
          <p:spPr>
            <a:xfrm flipH="1">
              <a:off x="314280" y="4721760"/>
              <a:ext cx="2998080" cy="966240"/>
            </a:xfrm>
            <a:prstGeom prst="wedgeRectCallout">
              <a:avLst>
                <a:gd name="adj1" fmla="val -66378"/>
                <a:gd name="adj2" fmla="val -12460"/>
              </a:avLst>
            </a:prstGeom>
            <a:solidFill>
              <a:schemeClr val="accent1"/>
            </a:solidFill>
            <a:ln w="38100">
              <a:solidFill>
                <a:srgbClr val="4f81bd">
                  <a:lumMod val="50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Tw Cen MT"/>
              </a:endParaRPr>
            </a:p>
          </p:txBody>
        </p:sp>
        <p:sp>
          <p:nvSpPr>
            <p:cNvPr id="667" name="TextBox 62"/>
            <p:cNvSpPr/>
            <p:nvPr/>
          </p:nvSpPr>
          <p:spPr>
            <a:xfrm flipH="1">
              <a:off x="314280" y="4721760"/>
              <a:ext cx="2998080" cy="517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2800" spc="-1" strike="noStrike">
                  <a:solidFill>
                    <a:srgbClr val="ffffff"/>
                  </a:solidFill>
                  <a:latin typeface="Calibri"/>
                </a:rPr>
                <a:t>Rendezvous Point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" name="PlaceHolder 3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70DB9187-B17C-4F60-BF42-E3E2D5468E90}" type="slidenum">
              <a:t>54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52" dur="indefinite" restart="never" nodeType="tmRoot">
          <p:childTnLst>
            <p:seq>
              <p:cTn id="1153" dur="indefinite" nodeType="mainSeq">
                <p:childTnLst>
                  <p:par>
                    <p:cTn id="1154" fill="hold">
                      <p:stCondLst>
                        <p:cond delay="indefinite"/>
                      </p:stCondLst>
                      <p:childTnLst>
                        <p:par>
                          <p:cTn id="1155" fill="hold">
                            <p:stCondLst>
                              <p:cond delay="0"/>
                            </p:stCondLst>
                            <p:childTnLst>
                              <p:par>
                                <p:cTn id="1156" nodeType="clickEffect" fill="hold" presetClass="entr" presetID="2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 additive="repl">
                                        <p:cTn id="1158" dur="500"/>
                                        <p:tgtEl>
                                          <p:spTgt spid="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9" nodeType="withEffect" fill="hold" presetClass="entr" presetID="2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 additive="repl">
                                        <p:cTn id="1161" dur="500"/>
                                        <p:tgtEl>
                                          <p:spTgt spid="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2" fill="hold">
                            <p:stCondLst>
                              <p:cond delay="500"/>
                            </p:stCondLst>
                            <p:childTnLst>
                              <p:par>
                                <p:cTn id="1163" nodeType="afterEffect" fill="hold" presetClass="entr" presetID="2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 additive="repl">
                                        <p:cTn id="1165" dur="500"/>
                                        <p:tgtEl>
                                          <p:spTgt spid="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6" nodeType="withEffect" fill="hold" presetClass="entr" presetID="2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 additive="repl">
                                        <p:cTn id="1168" dur="500"/>
                                        <p:tgtEl>
                                          <p:spTgt spid="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9" fill="hold">
                            <p:stCondLst>
                              <p:cond delay="1000"/>
                            </p:stCondLst>
                            <p:childTnLst>
                              <p:par>
                                <p:cTn id="1170" nodeType="after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1172" dur="500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3" nodeType="with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1175" dur="500"/>
                                        <p:tgtEl>
                                          <p:spTgt spid="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6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78" dur="500"/>
                                        <p:tgtEl>
                                          <p:spTgt spid="6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179" dur="500" fill="hold"/>
                                        <p:tgtEl>
                                          <p:spTgt spid="6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80" dur="500" fill="hold"/>
                                        <p:tgtEl>
                                          <p:spTgt spid="6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1" fill="hold">
                      <p:stCondLst>
                        <p:cond delay="indefinite"/>
                      </p:stCondLst>
                      <p:childTnLst>
                        <p:par>
                          <p:cTn id="1182" fill="hold">
                            <p:stCondLst>
                              <p:cond delay="0"/>
                            </p:stCondLst>
                            <p:childTnLst>
                              <p:par>
                                <p:cTn id="1183" nodeType="clickEffect" fill="hold" presetClass="exit" presetID="42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184" dur="500"/>
                                        <p:tgtEl>
                                          <p:spTgt spid="6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185" dur="500"/>
                                        <p:tgtEl>
                                          <p:spTgt spid="6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86" dur="500"/>
                                        <p:tgtEl>
                                          <p:spTgt spid="6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8" nodeType="with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1190" dur="500"/>
                                        <p:tgtEl>
                                          <p:spTgt spid="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1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93" dur="500"/>
                                        <p:tgtEl>
                                          <p:spTgt spid="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194" dur="500" fill="hold"/>
                                        <p:tgtEl>
                                          <p:spTgt spid="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95" dur="500" fill="hold"/>
                                        <p:tgtEl>
                                          <p:spTgt spid="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6" fill="hold">
                      <p:stCondLst>
                        <p:cond delay="indefinite"/>
                      </p:stCondLst>
                      <p:childTnLst>
                        <p:par>
                          <p:cTn id="1197" fill="hold">
                            <p:stCondLst>
                              <p:cond delay="0"/>
                            </p:stCondLst>
                            <p:childTnLst>
                              <p:par>
                                <p:cTn id="1198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200" dur="500"/>
                                        <p:tgtEl>
                                          <p:spTgt spid="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1" fill="hold">
                            <p:stCondLst>
                              <p:cond delay="500"/>
                            </p:stCondLst>
                            <p:childTnLst>
                              <p:par>
                                <p:cTn id="1202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204" dur="500"/>
                                        <p:tgtEl>
                                          <p:spTgt spid="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5" fill="hold">
                            <p:stCondLst>
                              <p:cond delay="1000"/>
                            </p:stCondLst>
                            <p:childTnLst>
                              <p:par>
                                <p:cTn id="1206" nodeType="after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08" dur="500"/>
                                        <p:tgtEl>
                                          <p:spTgt spid="6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209" dur="500" fill="hold"/>
                                        <p:tgtEl>
                                          <p:spTgt spid="6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10" dur="500" fill="hold"/>
                                        <p:tgtEl>
                                          <p:spTgt spid="6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1" fill="hold">
                      <p:stCondLst>
                        <p:cond delay="indefinite"/>
                      </p:stCondLst>
                      <p:childTnLst>
                        <p:par>
                          <p:cTn id="1212" fill="hold">
                            <p:stCondLst>
                              <p:cond delay="0"/>
                            </p:stCondLst>
                            <p:childTnLst>
                              <p:par>
                                <p:cTn id="1213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15" dur="500"/>
                                        <p:tgtEl>
                                          <p:spTgt spid="6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216" dur="500" fill="hold"/>
                                        <p:tgtEl>
                                          <p:spTgt spid="6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17" dur="500" fill="hold"/>
                                        <p:tgtEl>
                                          <p:spTgt spid="6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8" fill="hold">
                            <p:stCondLst>
                              <p:cond delay="500"/>
                            </p:stCondLst>
                            <p:childTnLst>
                              <p:par>
                                <p:cTn id="1219" nodeType="afterEffect" fill="hold" presetClass="path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006 -2.39593E-006 C 0.01162 -0.00277 0.02621 -0.00647 0.03732 -0.01202 C 0.04756 -0.01711 0.05659 -0.02544 0.06718 -0.02983 C 0.06978 -0.03214 0.07187 -0.03561 0.07465 -0.03792 C 0.07742 -0.04001 0.0809 -0.03977 0.08367 -0.04186 C 0.09253 -0.04833 0.09357 -0.05064 0.10312 -0.05365 C 0.10867 -0.05897 0.11492 -0.06174 0.121 -0.06568 C 0.1276 -0.07007 0.13315 -0.07516 0.14044 -0.0777 C 0.14669 -0.08325 0.15069 -0.08372 0.15833 -0.08557 C 0.17621 -0.08418 0.18801 -0.0821 0.20451 -0.0777 C 0.2085 -0.07655 0.21405 -0.07631 0.21787 -0.07354 C 0.23697 -0.06059 0.25468 -0.04718 0.27621 -0.04186 C 0.28367 -0.04255 0.29114 -0.04232 0.2986 -0.04371 C 0.30485 -0.04486 0.31162 -0.05018 0.31805 -0.0518 C 0.3302 -0.05504 0.35017 -0.05689 0.36128 -0.0636 C 0.37274 -0.07053 0.37083 -0.07123 0.38072 -0.07562 C 0.38558 -0.07793 0.39079 -0.07886 0.39565 -0.08163 C 0.40069 -0.08464 0.40103 -0.08603 0.40607 -0.08765 C 0.41215 -0.08973 0.41805 -0.09088 0.42395 -0.09343 C 0.43454 -0.10337 0.42673 -0.09736 0.45069 -0.10152 C 0.47395 -0.10569 0.49583 -0.10638 0.51944 -0.10754 C 0.52499 -0.10846 0.53037 -0.11147 0.53593 -0.11147 C 0.54965 -0.11147 0.56006 -0.10962 0.57326 -0.10754 C 0.58697 -0.10083 0.60346 -0.10222 0.61787 -0.09944 C 0.62499 -0.09644 0.63159 -0.09482 0.63888 -0.09343 C 0.64774 -0.08973 0.65694 -0.08903 0.66579 -0.08557 C 0.6743 -0.0821 0.68246 -0.07816 0.69114 -0.07562 C 0.7026 -0.06799 0.71596 -0.06568 0.72846 -0.0636 C 0.73992 -0.05897 0.72655 -0.06383 0.75086 -0.05966 C 0.7644 -0.05735 0.7776 -0.05018 0.79114 -0.04787 C 0.79826 -0.04463 0.80451 -0.04024 0.81197 -0.03792 C 0.81666 -0.03376 0.82065 -0.03307 0.82551 -0.02983 C 0.83593 -0.02266 0.82395 -0.02844 0.83437 -0.02405 C 0.83836 -0.0185 0.84149 -0.01942 0.84635 -0.01595 C 0.84947 -0.01364 0.85537 -0.00809 0.85537 -0.00809 C 0.86162 0.00463 0.85867 0.00047 0.86267 0.00579 E">
                                      <p:cBhvr>
                                        <p:cTn id="1220" dur="1500" fill="hold"/>
                                        <p:tgtEl>
                                          <p:spTgt spid="6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1" fill="hold">
                      <p:stCondLst>
                        <p:cond delay="indefinite"/>
                      </p:stCondLst>
                      <p:childTnLst>
                        <p:par>
                          <p:cTn id="1222" fill="hold">
                            <p:stCondLst>
                              <p:cond delay="0"/>
                            </p:stCondLst>
                            <p:childTnLst>
                              <p:par>
                                <p:cTn id="1223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1225" dur="500"/>
                                        <p:tgtEl>
                                          <p:spTgt spid="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6" fill="hold">
                            <p:stCondLst>
                              <p:cond delay="500"/>
                            </p:stCondLst>
                            <p:childTnLst>
                              <p:par>
                                <p:cTn id="1227" nodeType="afterEffect" fill="hold" presetClass="entr" presetID="2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 additive="repl">
                                        <p:cTn id="1229" dur="500"/>
                                        <p:tgtEl>
                                          <p:spTgt spid="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0" fill="hold">
                            <p:stCondLst>
                              <p:cond delay="1000"/>
                            </p:stCondLst>
                            <p:childTnLst>
                              <p:par>
                                <p:cTn id="1231" nodeType="after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232" dur="500"/>
                                        <p:tgtEl>
                                          <p:spTgt spid="6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4" nodeType="withEffect" fill="hold" presetClass="exit" presetID="42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235" dur="500"/>
                                        <p:tgtEl>
                                          <p:spTgt spid="6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236" dur="500"/>
                                        <p:tgtEl>
                                          <p:spTgt spid="6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37" dur="500"/>
                                        <p:tgtEl>
                                          <p:spTgt spid="6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Perfect Forward Secrecy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9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8115"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In traditional mix networks, all traffic is encrypted using public/private keypairs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Problem: what happens if a private key is stolen?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All </a:t>
            </a:r>
            <a:r>
              <a:rPr b="0" lang="en-US" sz="2800" spc="-1" strike="noStrike">
                <a:solidFill>
                  <a:schemeClr val="accent1"/>
                </a:solidFill>
                <a:latin typeface="Calibri"/>
              </a:rPr>
              <a:t>future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traffic can be observed and decrypted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If </a:t>
            </a:r>
            <a:r>
              <a:rPr b="0" lang="en-US" sz="2800" spc="-1" strike="noStrike">
                <a:solidFill>
                  <a:schemeClr val="accent1"/>
                </a:solidFill>
                <a:latin typeface="Calibri"/>
              </a:rPr>
              <a:t>past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traffic has been logged, it can also be decrypted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Tor implements Perfect Forward Secrecy (PFC)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The client negotiates a new public key pair with each relay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Original keypairs are only used for signatures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i.e. to verify the authenticity of messages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670" name="Picture 157" descr="D:\Classes\5700\assets\Torproject.png"/>
          <p:cNvPicPr/>
          <p:nvPr/>
        </p:nvPicPr>
        <p:blipFill>
          <a:blip r:embed="rId1"/>
          <a:stretch/>
        </p:blipFill>
        <p:spPr>
          <a:xfrm>
            <a:off x="10078920" y="95400"/>
            <a:ext cx="1978560" cy="1112760"/>
          </a:xfrm>
          <a:prstGeom prst="rect">
            <a:avLst/>
          </a:prstGeom>
          <a:ln w="0">
            <a:noFill/>
          </a:ln>
        </p:spPr>
      </p:pic>
      <p:grpSp>
        <p:nvGrpSpPr>
          <p:cNvPr id="671" name="Group 32"/>
          <p:cNvGrpSpPr/>
          <p:nvPr/>
        </p:nvGrpSpPr>
        <p:grpSpPr>
          <a:xfrm>
            <a:off x="1346400" y="1706040"/>
            <a:ext cx="9916920" cy="2319840"/>
            <a:chOff x="1346400" y="1706040"/>
            <a:chExt cx="9916920" cy="2319840"/>
          </a:xfrm>
        </p:grpSpPr>
        <p:sp>
          <p:nvSpPr>
            <p:cNvPr id="672" name="Rectangular Callout 17"/>
            <p:cNvSpPr/>
            <p:nvPr/>
          </p:nvSpPr>
          <p:spPr>
            <a:xfrm flipH="1">
              <a:off x="1346040" y="1706040"/>
              <a:ext cx="9916920" cy="2319840"/>
            </a:xfrm>
            <a:prstGeom prst="wedgeRectCallout">
              <a:avLst>
                <a:gd name="adj1" fmla="val -2213"/>
                <a:gd name="adj2" fmla="val 45429"/>
              </a:avLst>
            </a:prstGeom>
            <a:solidFill>
              <a:schemeClr val="accent2"/>
            </a:solidFill>
            <a:ln w="38100">
              <a:solidFill>
                <a:srgbClr val="c0504d">
                  <a:lumMod val="50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Tw Cen MT"/>
              </a:endParaRPr>
            </a:p>
          </p:txBody>
        </p:sp>
        <p:sp>
          <p:nvSpPr>
            <p:cNvPr id="673" name="TextBox 57"/>
            <p:cNvSpPr/>
            <p:nvPr/>
          </p:nvSpPr>
          <p:spPr>
            <a:xfrm flipH="1">
              <a:off x="1600560" y="1924200"/>
              <a:ext cx="9371160" cy="1797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marL="457200" indent="-457200" defTabSz="914400">
                <a:lnSpc>
                  <a:spcPct val="100000"/>
                </a:lnSpc>
                <a:buClr>
                  <a:srgbClr val="ffffff"/>
                </a:buClr>
                <a:buFont typeface="Arial"/>
                <a:buChar char="•"/>
              </a:pPr>
              <a:r>
                <a:rPr b="0" lang="en-US" sz="2800" spc="-1" strike="noStrike">
                  <a:solidFill>
                    <a:srgbClr val="ffffff"/>
                  </a:solidFill>
                  <a:latin typeface="Calibri"/>
                </a:rPr>
                <a:t>An attacker who compromises a private key can still eavesdrop on future traffic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  <a:p>
              <a:pPr marL="457200" indent="-457200" defTabSz="914400">
                <a:lnSpc>
                  <a:spcPct val="100000"/>
                </a:lnSpc>
                <a:buClr>
                  <a:srgbClr val="ffffff"/>
                </a:buClr>
                <a:buFont typeface="Arial"/>
                <a:buChar char="•"/>
              </a:pPr>
              <a:r>
                <a:rPr b="0" lang="en-US" sz="2800" spc="-1" strike="noStrike">
                  <a:solidFill>
                    <a:srgbClr val="ffffff"/>
                  </a:solidFill>
                  <a:latin typeface="Calibri"/>
                </a:rPr>
                <a:t>… </a:t>
              </a:r>
              <a:r>
                <a:rPr b="0" lang="en-US" sz="2800" spc="-1" strike="noStrike">
                  <a:solidFill>
                    <a:srgbClr val="ffffff"/>
                  </a:solidFill>
                  <a:latin typeface="Calibri"/>
                </a:rPr>
                <a:t>but past traffic is encrypted with </a:t>
              </a:r>
              <a:r>
                <a:rPr b="0" lang="en-US" sz="2800" spc="-1" strike="noStrike">
                  <a:solidFill>
                    <a:schemeClr val="accent1"/>
                  </a:solidFill>
                  <a:latin typeface="Calibri"/>
                </a:rPr>
                <a:t>ephemeral</a:t>
              </a:r>
              <a:r>
                <a:rPr b="0" lang="en-US" sz="2800" spc="-1" strike="noStrike">
                  <a:solidFill>
                    <a:srgbClr val="ffffff"/>
                  </a:solidFill>
                  <a:latin typeface="Calibri"/>
                </a:rPr>
                <a:t> keypairs that are not stored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" name="PlaceHolder 3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815BB03A-6C79-43F7-BF23-BC8C7D894B3E}" type="slidenum">
              <a:t>55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39" dur="indefinite" restart="never" nodeType="tmRoot">
          <p:childTnLst>
            <p:seq>
              <p:cTn id="1240" dur="indefinite" nodeType="mainSeq">
                <p:childTnLst>
                  <p:par>
                    <p:cTn id="1241" fill="hold">
                      <p:stCondLst>
                        <p:cond delay="indefinite"/>
                      </p:stCondLst>
                      <p:childTnLst>
                        <p:par>
                          <p:cTn id="1242" fill="hold">
                            <p:stCondLst>
                              <p:cond delay="0"/>
                            </p:stCondLst>
                            <p:childTnLst>
                              <p:par>
                                <p:cTn id="1243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45" dur="500"/>
                                        <p:tgtEl>
                                          <p:spTgt spid="6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246" dur="500" fill="hold"/>
                                        <p:tgtEl>
                                          <p:spTgt spid="6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47" dur="500" fill="hold"/>
                                        <p:tgtEl>
                                          <p:spTgt spid="6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8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50" dur="500"/>
                                        <p:tgtEl>
                                          <p:spTgt spid="6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251" dur="500" fill="hold"/>
                                        <p:tgtEl>
                                          <p:spTgt spid="6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52" dur="500" fill="hold"/>
                                        <p:tgtEl>
                                          <p:spTgt spid="6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3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55" dur="500"/>
                                        <p:tgtEl>
                                          <p:spTgt spid="6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256" dur="500" fill="hold"/>
                                        <p:tgtEl>
                                          <p:spTgt spid="6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57" dur="500" fill="hold"/>
                                        <p:tgtEl>
                                          <p:spTgt spid="6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8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60" dur="500"/>
                                        <p:tgtEl>
                                          <p:spTgt spid="6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261" dur="500" fill="hold"/>
                                        <p:tgtEl>
                                          <p:spTgt spid="6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62" dur="500" fill="hold"/>
                                        <p:tgtEl>
                                          <p:spTgt spid="6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3" fill="hold">
                      <p:stCondLst>
                        <p:cond delay="indefinite"/>
                      </p:stCondLst>
                      <p:childTnLst>
                        <p:par>
                          <p:cTn id="1264" fill="hold">
                            <p:stCondLst>
                              <p:cond delay="0"/>
                            </p:stCondLst>
                            <p:childTnLst>
                              <p:par>
                                <p:cTn id="1265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67" dur="500"/>
                                        <p:tgtEl>
                                          <p:spTgt spid="6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268" dur="500" fill="hold"/>
                                        <p:tgtEl>
                                          <p:spTgt spid="6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69" dur="500" fill="hold"/>
                                        <p:tgtEl>
                                          <p:spTgt spid="6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Discussion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5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Main challenges?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Performance 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Scalability 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Resourceful adversaries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…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Alternatives to Tor?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Peer-to-peer structures 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50B1FF07-213B-4960-B1A6-C06ADD255014}" type="slidenum">
              <a:t>56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70" dur="indefinite" restart="never" nodeType="tmRoot">
          <p:childTnLst>
            <p:seq>
              <p:cTn id="1271" dur="indefinite" nodeType="mainSeq">
                <p:childTnLst>
                  <p:par>
                    <p:cTn id="1272" fill="hold">
                      <p:stCondLst>
                        <p:cond delay="indefinite"/>
                      </p:stCondLst>
                      <p:childTnLst>
                        <p:par>
                          <p:cTn id="1273" fill="hold">
                            <p:stCondLst>
                              <p:cond delay="0"/>
                            </p:stCondLst>
                            <p:childTnLst>
                              <p:par>
                                <p:cTn id="127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6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8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0" fill="hold">
                      <p:stCondLst>
                        <p:cond delay="indefinite"/>
                      </p:stCondLst>
                      <p:childTnLst>
                        <p:par>
                          <p:cTn id="1281" fill="hold">
                            <p:stCondLst>
                              <p:cond delay="0"/>
                            </p:stCondLst>
                            <p:childTnLst>
                              <p:par>
                                <p:cTn id="128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4" fill="hold">
                      <p:stCondLst>
                        <p:cond delay="indefinite"/>
                      </p:stCondLst>
                      <p:childTnLst>
                        <p:par>
                          <p:cTn id="1285" fill="hold">
                            <p:stCondLst>
                              <p:cond delay="0"/>
                            </p:stCondLst>
                            <p:childTnLst>
                              <p:par>
                                <p:cTn id="128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marL="2232360" indent="0" defTabSz="914400">
              <a:lnSpc>
                <a:spcPct val="90000"/>
              </a:lnSpc>
              <a:buNone/>
            </a:pPr>
            <a:r>
              <a:rPr b="0" lang="en-US" sz="4400" spc="-9" strike="noStrike">
                <a:solidFill>
                  <a:schemeClr val="dk1"/>
                </a:solidFill>
                <a:latin typeface="Aptos Display"/>
              </a:rPr>
              <a:t>References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77" name="object 2"/>
          <p:cNvSpPr/>
          <p:nvPr/>
        </p:nvSpPr>
        <p:spPr>
          <a:xfrm>
            <a:off x="838080" y="1825560"/>
            <a:ext cx="10515240" cy="85824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Slides: Amir Houmansadr CS660: Advanced Information Assurance, UMASS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https://cse.sc.edu/~huangct/CSCE715F06/715presentation9.ppt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hlinkClick r:id="rId1"/>
              </a:rPr>
              <a:t>https://www.torproject.org/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8517</TotalTime>
  <Application>LibreOffice/24.2.7.2$Linux_X86_64 LibreOffice_project/420$Build-2</Application>
  <AppVersion>15.0000</AppVersion>
  <Words>3078</Words>
  <Paragraphs>481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2026-02-09T16:40:55Z</dcterms:created>
  <dc:creator>Shannigrahi, Susmit</dc:creator>
  <dc:description/>
  <dc:language>en-US</dc:language>
  <cp:lastModifiedBy/>
  <dcterms:modified xsi:type="dcterms:W3CDTF">2026-04-12T06:53:20Z</dcterms:modified>
  <cp:revision>20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Widescreen</vt:lpwstr>
  </property>
  <property fmtid="{D5CDD505-2E9C-101B-9397-08002B2CF9AE}" pid="4" name="Slides">
    <vt:i4>54</vt:i4>
  </property>
</Properties>
</file>