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6.xml"/>
  <Override ContentType="application/vnd.openxmlformats-officedocument.theme+xml" PartName="/ppt/theme/theme7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3" r:id="rId4"/>
    <p:sldMasterId id="2147483654" r:id="rId5"/>
    <p:sldMasterId id="2147483655" r:id="rId6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88" d="100"/>
          <a:sy n="88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4.xml" Type="http://schemas.openxmlformats.org/officeDocument/2006/relationships/slide"/><Relationship Id="rId11" Target="slides/slide5.xml" Type="http://schemas.openxmlformats.org/officeDocument/2006/relationships/slide"/><Relationship Id="rId12" Target="slides/slide6.xml" Type="http://schemas.openxmlformats.org/officeDocument/2006/relationships/slide"/><Relationship Id="rId13" Target="slides/slide7.xml" Type="http://schemas.openxmlformats.org/officeDocument/2006/relationships/slide"/><Relationship Id="rId14" Target="slides/slide8.xml" Type="http://schemas.openxmlformats.org/officeDocument/2006/relationships/slide"/><Relationship Id="rId15" Target="slides/slide9.xml" Type="http://schemas.openxmlformats.org/officeDocument/2006/relationships/slide"/><Relationship Id="rId16" Target="slides/slide10.xml" Type="http://schemas.openxmlformats.org/officeDocument/2006/relationships/slide"/><Relationship Id="rId17" Target="slides/slide11.xml" Type="http://schemas.openxmlformats.org/officeDocument/2006/relationships/slide"/><Relationship Id="rId18" Target="slides/slide12.xml" Type="http://schemas.openxmlformats.org/officeDocument/2006/relationships/slide"/><Relationship Id="rId19" Target="slides/slide13.xml" Type="http://schemas.openxmlformats.org/officeDocument/2006/relationships/slide"/><Relationship Id="rId2" Target="slideMasters/slideMaster2.xml" Type="http://schemas.openxmlformats.org/officeDocument/2006/relationships/slideMaster"/><Relationship Id="rId20" Target="slides/slide14.xml" Type="http://schemas.openxmlformats.org/officeDocument/2006/relationships/slide"/><Relationship Id="rId21" Target="slides/slide15.xml" Type="http://schemas.openxmlformats.org/officeDocument/2006/relationships/slide"/><Relationship Id="rId22" Target="slides/slide16.xml" Type="http://schemas.openxmlformats.org/officeDocument/2006/relationships/slide"/><Relationship Id="rId23" Target="slides/slide17.xml" Type="http://schemas.openxmlformats.org/officeDocument/2006/relationships/slide"/><Relationship Id="rId24" Target="slides/slide18.xml" Type="http://schemas.openxmlformats.org/officeDocument/2006/relationships/slide"/><Relationship Id="rId25" Target="slides/slide19.xml" Type="http://schemas.openxmlformats.org/officeDocument/2006/relationships/slide"/><Relationship Id="rId26" Target="slides/slide20.xml" Type="http://schemas.openxmlformats.org/officeDocument/2006/relationships/slide"/><Relationship Id="rId27" Target="slides/slide21.xml" Type="http://schemas.openxmlformats.org/officeDocument/2006/relationships/slide"/><Relationship Id="rId28" Target="slides/slide22.xml" Type="http://schemas.openxmlformats.org/officeDocument/2006/relationships/slide"/><Relationship Id="rId29" Target="slides/slide23.xml" Type="http://schemas.openxmlformats.org/officeDocument/2006/relationships/slide"/><Relationship Id="rId3" Target="slideMasters/slideMaster3.xml" Type="http://schemas.openxmlformats.org/officeDocument/2006/relationships/slideMaster"/><Relationship Id="rId30" Target="slides/slide24.xml" Type="http://schemas.openxmlformats.org/officeDocument/2006/relationships/slide"/><Relationship Id="rId31" Target="slides/slide25.xml" Type="http://schemas.openxmlformats.org/officeDocument/2006/relationships/slide"/><Relationship Id="rId32" Target="slides/slide26.xml" Type="http://schemas.openxmlformats.org/officeDocument/2006/relationships/slide"/><Relationship Id="rId33" Target="slides/slide27.xml" Type="http://schemas.openxmlformats.org/officeDocument/2006/relationships/slide"/><Relationship Id="rId34" Target="slides/slide28.xml" Type="http://schemas.openxmlformats.org/officeDocument/2006/relationships/slide"/><Relationship Id="rId35" Target="slides/slide29.xml" Type="http://schemas.openxmlformats.org/officeDocument/2006/relationships/slide"/><Relationship Id="rId36" Target="slides/slide30.xml" Type="http://schemas.openxmlformats.org/officeDocument/2006/relationships/slide"/><Relationship Id="rId37" Target="slides/slide31.xml" Type="http://schemas.openxmlformats.org/officeDocument/2006/relationships/slide"/><Relationship Id="rId38" Target="slides/slide32.xml" Type="http://schemas.openxmlformats.org/officeDocument/2006/relationships/slide"/><Relationship Id="rId39" Target="slides/slide33.xml" Type="http://schemas.openxmlformats.org/officeDocument/2006/relationships/slide"/><Relationship Id="rId4" Target="slideMasters/slideMaster4.xml" Type="http://schemas.openxmlformats.org/officeDocument/2006/relationships/slideMaster"/><Relationship Id="rId40" Target="slides/slide34.xml" Type="http://schemas.openxmlformats.org/officeDocument/2006/relationships/slide"/><Relationship Id="rId41" Target="slides/slide35.xml" Type="http://schemas.openxmlformats.org/officeDocument/2006/relationships/slide"/><Relationship Id="rId42" Target="slides/slide36.xml" Type="http://schemas.openxmlformats.org/officeDocument/2006/relationships/slide"/><Relationship Id="rId43" Target="slides/slide37.xml" Type="http://schemas.openxmlformats.org/officeDocument/2006/relationships/slide"/><Relationship Id="rId44" Target="slides/slide38.xml" Type="http://schemas.openxmlformats.org/officeDocument/2006/relationships/slide"/><Relationship Id="rId45" Target="slides/slide39.xml" Type="http://schemas.openxmlformats.org/officeDocument/2006/relationships/slide"/><Relationship Id="rId46" Target="slides/slide40.xml" Type="http://schemas.openxmlformats.org/officeDocument/2006/relationships/slide"/><Relationship Id="rId47" Target="slides/slide41.xml" Type="http://schemas.openxmlformats.org/officeDocument/2006/relationships/slide"/><Relationship Id="rId48" Target="slides/slide42.xml" Type="http://schemas.openxmlformats.org/officeDocument/2006/relationships/slide"/><Relationship Id="rId49" Target="slides/slide43.xml" Type="http://schemas.openxmlformats.org/officeDocument/2006/relationships/slide"/><Relationship Id="rId5" Target="slideMasters/slideMaster5.xml" Type="http://schemas.openxmlformats.org/officeDocument/2006/relationships/slideMaster"/><Relationship Id="rId50" Target="notesMasters/notesMaster1.xml" Type="http://schemas.openxmlformats.org/officeDocument/2006/relationships/notesMaster"/><Relationship Id="rId51" Target="presProps.xml" Type="http://schemas.openxmlformats.org/officeDocument/2006/relationships/presProps"/><Relationship Id="rId52" Target="viewProps.xml" Type="http://schemas.openxmlformats.org/officeDocument/2006/relationships/viewProps"/><Relationship Id="rId53" Target="theme/theme1.xml" Type="http://schemas.openxmlformats.org/officeDocument/2006/relationships/theme"/><Relationship Id="rId54" Target="tableStyles.xml" Type="http://schemas.openxmlformats.org/officeDocument/2006/relationships/tableStyles"/><Relationship Id="rId6" Target="slideMasters/slideMaster6.xml" Type="http://schemas.openxmlformats.org/officeDocument/2006/relationships/slideMaster"/><Relationship Id="rId7" Target="slides/slide1.xml" Type="http://schemas.openxmlformats.org/officeDocument/2006/relationships/slide"/><Relationship Id="rId8" Target="slides/slide2.xml" Type="http://schemas.openxmlformats.org/officeDocument/2006/relationships/slide"/><Relationship Id="rId9" Target="slides/slide3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7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4280"/>
            <a:ext cx="502848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Cantarell"/>
              </a:rPr>
              <a:t>Click to move the slide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991EAEF-4C57-4695-8080-7206306865F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Rectangle 2"/>
          <p:cNvSpPr/>
          <p:nvPr/>
        </p:nvSpPr>
        <p:spPr>
          <a:xfrm>
            <a:off x="-360" y="0"/>
            <a:ext cx="2972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The University of Adelaide, School of Computer Science</a:t>
            </a:r>
            <a:endParaRPr lang="en-US" sz="1300" b="0" strike="noStrike" spc="-1">
              <a:solidFill>
                <a:srgbClr val="000000"/>
              </a:solidFill>
              <a:latin typeface="Arial Black"/>
            </a:endParaRPr>
          </a:p>
        </p:txBody>
      </p:sp>
      <p:sp>
        <p:nvSpPr>
          <p:cNvPr id="1430" name="Rectangle 3"/>
          <p:cNvSpPr/>
          <p:nvPr/>
        </p:nvSpPr>
        <p:spPr>
          <a:xfrm>
            <a:off x="3885840" y="0"/>
            <a:ext cx="2972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69B9EC9-BE70-45C6-A205-D67CB271EEDA}" type="datetime3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24 January 2026</a:t>
            </a:fld>
            <a:endParaRPr lang="en-US" sz="1300" b="0" strike="noStrike" spc="-1">
              <a:solidFill>
                <a:srgbClr val="000000"/>
              </a:solidFill>
              <a:latin typeface="Arial Black"/>
            </a:endParaRPr>
          </a:p>
        </p:txBody>
      </p:sp>
      <p:sp>
        <p:nvSpPr>
          <p:cNvPr id="1431" name="Rectangle 6"/>
          <p:cNvSpPr/>
          <p:nvPr/>
        </p:nvSpPr>
        <p:spPr>
          <a:xfrm>
            <a:off x="0" y="8687160"/>
            <a:ext cx="29718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Chapter 2 — Instructions: Language of the Computer</a:t>
            </a:r>
            <a:endParaRPr lang="en-US" sz="1300" b="0" strike="noStrike" spc="-1">
              <a:solidFill>
                <a:srgbClr val="000000"/>
              </a:solidFill>
              <a:latin typeface="Arial Black"/>
            </a:endParaRPr>
          </a:p>
        </p:txBody>
      </p:sp>
      <p:sp>
        <p:nvSpPr>
          <p:cNvPr id="1432" name="Rectangle 7"/>
          <p:cNvSpPr/>
          <p:nvPr/>
        </p:nvSpPr>
        <p:spPr>
          <a:xfrm>
            <a:off x="3885840" y="8687160"/>
            <a:ext cx="2972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C3EC968-BFEC-48E0-8E72-83DB4B6572EE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US" sz="1300" b="0" strike="noStrike" spc="-1">
              <a:solidFill>
                <a:srgbClr val="000000"/>
              </a:solidFill>
              <a:latin typeface="Arial Black"/>
            </a:endParaRPr>
          </a:p>
        </p:txBody>
      </p:sp>
      <p:sp>
        <p:nvSpPr>
          <p:cNvPr id="14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30588"/>
          </a:xfrm>
          <a:prstGeom prst="rect">
            <a:avLst/>
          </a:prstGeom>
          <a:ln w="0">
            <a:noFill/>
          </a:ln>
        </p:spPr>
      </p:sp>
      <p:sp>
        <p:nvSpPr>
          <p:cNvPr id="1434" name="PlaceHolder 2"/>
          <p:cNvSpPr>
            <a:spLocks noGrp="1"/>
          </p:cNvSpPr>
          <p:nvPr>
            <p:ph type="body"/>
          </p:nvPr>
        </p:nvSpPr>
        <p:spPr>
          <a:xfrm>
            <a:off x="913680" y="4344120"/>
            <a:ext cx="5030280" cy="411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AU" sz="179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Rectangle 8"/>
          <p:cNvSpPr/>
          <p:nvPr/>
        </p:nvSpPr>
        <p:spPr>
          <a:xfrm>
            <a:off x="-360" y="0"/>
            <a:ext cx="2972160" cy="45648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The University of Adelaide, School of Computer Science</a:t>
            </a:r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39" name="Rectangle 9"/>
          <p:cNvSpPr/>
          <p:nvPr/>
        </p:nvSpPr>
        <p:spPr>
          <a:xfrm>
            <a:off x="3885840" y="-360"/>
            <a:ext cx="2972160" cy="45684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t">
            <a:noAutofit/>
          </a:bodyPr>
          <a:lstStyle/>
          <a:p>
            <a:pPr algn="r">
              <a:lnSpc>
                <a:spcPct val="100000"/>
              </a:lnSpc>
            </a:pPr>
            <a:fld id="{670C9664-AB61-4BF6-8B99-B3320D18D912}" type="datetime3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24 January 2026</a:t>
            </a:fld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40" name="Rectangle 10"/>
          <p:cNvSpPr/>
          <p:nvPr/>
        </p:nvSpPr>
        <p:spPr>
          <a:xfrm>
            <a:off x="0" y="8687160"/>
            <a:ext cx="2971800" cy="45648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Chapter 2 — Instructions: Language of the Computer</a:t>
            </a:r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41" name="Rectangle 11"/>
          <p:cNvSpPr/>
          <p:nvPr/>
        </p:nvSpPr>
        <p:spPr>
          <a:xfrm>
            <a:off x="3885840" y="8687160"/>
            <a:ext cx="2972160" cy="45612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 algn="r">
              <a:lnSpc>
                <a:spcPct val="100000"/>
              </a:lnSpc>
            </a:pPr>
            <a:fld id="{4EE72BA3-0CBA-4FD2-B06D-84F165324534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17</a:t>
            </a:fld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30588"/>
          </a:xfrm>
          <a:prstGeom prst="rect">
            <a:avLst/>
          </a:prstGeom>
          <a:ln w="0">
            <a:noFill/>
          </a:ln>
        </p:spPr>
      </p:sp>
      <p:sp>
        <p:nvSpPr>
          <p:cNvPr id="1443" name="PlaceHolder 2"/>
          <p:cNvSpPr>
            <a:spLocks noGrp="1"/>
          </p:cNvSpPr>
          <p:nvPr>
            <p:ph type="body"/>
          </p:nvPr>
        </p:nvSpPr>
        <p:spPr>
          <a:xfrm>
            <a:off x="913680" y="4344120"/>
            <a:ext cx="5030280" cy="411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AU" sz="179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Rectangle 12"/>
          <p:cNvSpPr/>
          <p:nvPr/>
        </p:nvSpPr>
        <p:spPr>
          <a:xfrm>
            <a:off x="-360" y="0"/>
            <a:ext cx="2972160" cy="45648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The University of Adelaide, School of Computer Science</a:t>
            </a:r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46" name="Rectangle 13"/>
          <p:cNvSpPr/>
          <p:nvPr/>
        </p:nvSpPr>
        <p:spPr>
          <a:xfrm>
            <a:off x="3885840" y="-360"/>
            <a:ext cx="2972160" cy="45684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t">
            <a:noAutofit/>
          </a:bodyPr>
          <a:lstStyle/>
          <a:p>
            <a:pPr algn="r">
              <a:lnSpc>
                <a:spcPct val="100000"/>
              </a:lnSpc>
            </a:pPr>
            <a:fld id="{312EDCCD-1E44-415C-B8D3-74009815548B}" type="datetime3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24 January 2026</a:t>
            </a:fld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47" name="Rectangle 14"/>
          <p:cNvSpPr/>
          <p:nvPr/>
        </p:nvSpPr>
        <p:spPr>
          <a:xfrm>
            <a:off x="0" y="8687160"/>
            <a:ext cx="2971800" cy="45648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Chapter 2 — Instructions: Language of the Computer</a:t>
            </a:r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48" name="Rectangle 15"/>
          <p:cNvSpPr/>
          <p:nvPr/>
        </p:nvSpPr>
        <p:spPr>
          <a:xfrm>
            <a:off x="3885840" y="8687160"/>
            <a:ext cx="2972160" cy="45648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 algn="r">
              <a:lnSpc>
                <a:spcPct val="100000"/>
              </a:lnSpc>
            </a:pPr>
            <a:fld id="{21D9EF22-794F-4076-9A27-30E42077C9E4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19</a:t>
            </a:fld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30588"/>
          </a:xfrm>
          <a:prstGeom prst="rect">
            <a:avLst/>
          </a:prstGeom>
          <a:ln w="0">
            <a:noFill/>
          </a:ln>
        </p:spPr>
      </p:sp>
      <p:sp>
        <p:nvSpPr>
          <p:cNvPr id="1450" name="PlaceHolder 2"/>
          <p:cNvSpPr>
            <a:spLocks noGrp="1"/>
          </p:cNvSpPr>
          <p:nvPr>
            <p:ph type="body"/>
          </p:nvPr>
        </p:nvSpPr>
        <p:spPr>
          <a:xfrm>
            <a:off x="913680" y="4344120"/>
            <a:ext cx="5030280" cy="411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AU" sz="179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Rectangle 20"/>
          <p:cNvSpPr/>
          <p:nvPr/>
        </p:nvSpPr>
        <p:spPr>
          <a:xfrm>
            <a:off x="-360" y="0"/>
            <a:ext cx="2972160" cy="45648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The University of Adelaide, School of Computer Science</a:t>
            </a:r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52" name="Rectangle 21"/>
          <p:cNvSpPr/>
          <p:nvPr/>
        </p:nvSpPr>
        <p:spPr>
          <a:xfrm>
            <a:off x="3885840" y="-360"/>
            <a:ext cx="2972160" cy="45684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t">
            <a:noAutofit/>
          </a:bodyPr>
          <a:lstStyle/>
          <a:p>
            <a:pPr algn="r">
              <a:lnSpc>
                <a:spcPct val="100000"/>
              </a:lnSpc>
            </a:pPr>
            <a:fld id="{D75D03E1-B2FE-45EF-B780-B723EF46F0A6}" type="datetime3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24 January 2026</a:t>
            </a:fld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53" name="Rectangle 22"/>
          <p:cNvSpPr/>
          <p:nvPr/>
        </p:nvSpPr>
        <p:spPr>
          <a:xfrm>
            <a:off x="0" y="8687160"/>
            <a:ext cx="2971800" cy="45648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Chapter 2 — Instructions: Language of the Computer</a:t>
            </a:r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54" name="Rectangle 23"/>
          <p:cNvSpPr/>
          <p:nvPr/>
        </p:nvSpPr>
        <p:spPr>
          <a:xfrm>
            <a:off x="3885480" y="8687160"/>
            <a:ext cx="2972160" cy="45648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 algn="r">
              <a:lnSpc>
                <a:spcPct val="100000"/>
              </a:lnSpc>
            </a:pPr>
            <a:fld id="{E2542236-9B59-469D-8C7E-81DE2307493E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21</a:t>
            </a:fld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30588"/>
          </a:xfrm>
          <a:prstGeom prst="rect">
            <a:avLst/>
          </a:prstGeom>
          <a:ln w="0">
            <a:noFill/>
          </a:ln>
        </p:spPr>
      </p:sp>
      <p:sp>
        <p:nvSpPr>
          <p:cNvPr id="1456" name="PlaceHolder 2"/>
          <p:cNvSpPr>
            <a:spLocks noGrp="1"/>
          </p:cNvSpPr>
          <p:nvPr>
            <p:ph type="body"/>
          </p:nvPr>
        </p:nvSpPr>
        <p:spPr>
          <a:xfrm>
            <a:off x="913680" y="4344120"/>
            <a:ext cx="5030280" cy="411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AU" sz="179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Ndn can help organizing the namespaces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Once that’s done, data discovery and provenance is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Straight forward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Retrieval, transparent failover, and specialized operations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 this work, we take a real access log and try to  quantify NDN’s improvements to a climate 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workflow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467" name="PlaceHolder 2"/>
          <p:cNvSpPr>
            <a:spLocks noGrp="1"/>
          </p:cNvSpPr>
          <p:nvPr>
            <p:ph type="body"/>
          </p:nvPr>
        </p:nvSpPr>
        <p:spPr>
          <a:xfrm>
            <a:off x="913680" y="4343040"/>
            <a:ext cx="5030280" cy="411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191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Slide Number Placeholder 3"/>
          <p:cNvSpPr/>
          <p:nvPr/>
        </p:nvSpPr>
        <p:spPr>
          <a:xfrm>
            <a:off x="3885480" y="8687160"/>
            <a:ext cx="2972160" cy="45684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 algn="r">
              <a:lnSpc>
                <a:spcPct val="100000"/>
              </a:lnSpc>
            </a:pPr>
            <a:fld id="{AEEFFF7E-F7A2-4CB0-8EA4-644E7E44636A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38</a:t>
            </a:fld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470" name="PlaceHolder 2"/>
          <p:cNvSpPr>
            <a:spLocks noGrp="1"/>
          </p:cNvSpPr>
          <p:nvPr>
            <p:ph type="body"/>
          </p:nvPr>
        </p:nvSpPr>
        <p:spPr>
          <a:xfrm>
            <a:off x="913680" y="4343040"/>
            <a:ext cx="5030280" cy="411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191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Slide Number Placeholder 1"/>
          <p:cNvSpPr/>
          <p:nvPr/>
        </p:nvSpPr>
        <p:spPr>
          <a:xfrm>
            <a:off x="3885840" y="8687160"/>
            <a:ext cx="2971800" cy="45684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 algn="r">
              <a:lnSpc>
                <a:spcPct val="100000"/>
              </a:lnSpc>
            </a:pPr>
            <a:fld id="{4F368255-DAC9-4DA9-924E-C1FE1B25D74F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40</a:t>
            </a:fld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8640" y="686160"/>
            <a:ext cx="4500720" cy="3429000"/>
          </a:xfrm>
          <a:prstGeom prst="rect">
            <a:avLst/>
          </a:prstGeom>
          <a:ln w="0">
            <a:noFill/>
          </a:ln>
        </p:spPr>
      </p:sp>
      <p:sp>
        <p:nvSpPr>
          <p:cNvPr id="1473" name="PlaceHolder 2"/>
          <p:cNvSpPr>
            <a:spLocks noGrp="1"/>
          </p:cNvSpPr>
          <p:nvPr>
            <p:ph type="body"/>
          </p:nvPr>
        </p:nvSpPr>
        <p:spPr>
          <a:xfrm>
            <a:off x="913680" y="4343040"/>
            <a:ext cx="5030280" cy="411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191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4" name="Slide Number Placeholder 2"/>
          <p:cNvSpPr/>
          <p:nvPr/>
        </p:nvSpPr>
        <p:spPr>
          <a:xfrm>
            <a:off x="3885480" y="8687160"/>
            <a:ext cx="2972160" cy="45684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 algn="r">
              <a:lnSpc>
                <a:spcPct val="100000"/>
              </a:lnSpc>
            </a:pPr>
            <a:fld id="{9FEAAD8C-2AE6-402C-BF41-11A3F6F3AFE4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41</a:t>
            </a:fld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14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Mention interest aggregation</a:t>
            </a:r>
          </a:p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Caching</a:t>
            </a:r>
          </a:p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8640" y="686160"/>
            <a:ext cx="4500720" cy="3429000"/>
          </a:xfrm>
          <a:prstGeom prst="rect">
            <a:avLst/>
          </a:prstGeom>
          <a:ln w="0">
            <a:noFill/>
          </a:ln>
        </p:spPr>
      </p:sp>
      <p:sp>
        <p:nvSpPr>
          <p:cNvPr id="1478" name="PlaceHolder 2"/>
          <p:cNvSpPr>
            <a:spLocks noGrp="1"/>
          </p:cNvSpPr>
          <p:nvPr>
            <p:ph type="body"/>
          </p:nvPr>
        </p:nvSpPr>
        <p:spPr>
          <a:xfrm>
            <a:off x="913680" y="4343040"/>
            <a:ext cx="5030280" cy="411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191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9" name="Slide Number Placeholder 4"/>
          <p:cNvSpPr/>
          <p:nvPr/>
        </p:nvSpPr>
        <p:spPr>
          <a:xfrm>
            <a:off x="3885480" y="8687160"/>
            <a:ext cx="2972160" cy="456840"/>
          </a:xfrm>
          <a:prstGeom prst="rect">
            <a:avLst/>
          </a:prstGeom>
          <a:noFill/>
          <a:ln w="54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840" tIns="48240" rIns="96840" bIns="48240" anchor="b">
            <a:noAutofit/>
          </a:bodyPr>
          <a:lstStyle/>
          <a:p>
            <a:pPr algn="r">
              <a:lnSpc>
                <a:spcPct val="100000"/>
              </a:lnSpc>
            </a:pPr>
            <a:fld id="{A07BAD26-23E2-4559-BD1F-8E3A5DE3176E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43</a:t>
            </a:fld>
            <a:endParaRPr lang="en-US" sz="1300" b="0" strike="noStrike" spc="-1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media/image1.png" Type="http://schemas.openxmlformats.org/officeDocument/2006/relationships/image"/></Relationships>
</file>

<file path=ppt/slideMasters/_rels/slideMaster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theme/theme2.xml" Type="http://schemas.openxmlformats.org/officeDocument/2006/relationships/theme"/></Relationships>
</file>

<file path=ppt/slideMasters/_rels/slideMaster3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slideMasters/_rels/slideMaster4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/Relationships>
</file>

<file path=ppt/slideMasters/_rels/slideMaster5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/Relationships>
</file>

<file path=ppt/slideMasters/_rels/slideMaster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theme/theme6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8277480" y="5619600"/>
            <a:ext cx="2996280" cy="13392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Cantarel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ntarel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Cantarel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Cantarel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</a:rPr>
              <a:t>Seventh Outline Level</a:t>
            </a:r>
          </a:p>
        </p:txBody>
      </p:sp>
      <p:pic>
        <p:nvPicPr>
          <p:cNvPr id="3" name="Picture 2"/>
          <p:cNvPicPr/>
          <p:nvPr/>
        </p:nvPicPr>
        <p:blipFill>
          <a:blip r:embed="rId3"/>
          <a:stretch/>
        </p:blipFill>
        <p:spPr>
          <a:xfrm>
            <a:off x="101160" y="5577840"/>
            <a:ext cx="1910520" cy="1256760"/>
          </a:xfrm>
          <a:prstGeom prst="rect">
            <a:avLst/>
          </a:prstGeom>
          <a:ln w="5472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1084320" y="1506240"/>
            <a:ext cx="2041200" cy="13392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Cantarell"/>
            </a:endParaRPr>
          </a:p>
        </p:txBody>
      </p:sp>
      <p:sp>
        <p:nvSpPr>
          <p:cNvPr id="7" name="CustomShape 2"/>
          <p:cNvSpPr/>
          <p:nvPr/>
        </p:nvSpPr>
        <p:spPr>
          <a:xfrm>
            <a:off x="0" y="0"/>
            <a:ext cx="180000" cy="685440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Cantarell"/>
            </a:endParaRPr>
          </a:p>
        </p:txBody>
      </p:sp>
      <p:sp>
        <p:nvSpPr>
          <p:cNvPr id="8" name="CustomShape 3"/>
          <p:cNvSpPr/>
          <p:nvPr/>
        </p:nvSpPr>
        <p:spPr>
          <a:xfrm>
            <a:off x="10987200" y="6492240"/>
            <a:ext cx="1190160" cy="36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fld id="{F98AA868-A492-48DA-86D5-7CB4C02942C9}" type="slidenum">
              <a:rPr lang="en-US" sz="1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‹#›</a:t>
            </a:fld>
            <a:endParaRPr lang="en-US" sz="16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ntarel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Cantarel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Cantarel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1"/>
          <p:cNvSpPr/>
          <p:nvPr/>
        </p:nvSpPr>
        <p:spPr>
          <a:xfrm>
            <a:off x="1084320" y="1506240"/>
            <a:ext cx="2043000" cy="13572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Cantarell"/>
            </a:endParaRPr>
          </a:p>
        </p:txBody>
      </p:sp>
      <p:sp>
        <p:nvSpPr>
          <p:cNvPr id="12" name="CustomShape 2"/>
          <p:cNvSpPr/>
          <p:nvPr/>
        </p:nvSpPr>
        <p:spPr>
          <a:xfrm>
            <a:off x="0" y="0"/>
            <a:ext cx="181800" cy="685620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Cantarel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43560"/>
            <a:ext cx="1554480" cy="427320"/>
          </a:xfrm>
          <a:prstGeom prst="rect">
            <a:avLst/>
          </a:prstGeom>
          <a:noFill/>
          <a:ln w="5472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0" y="6309360"/>
            <a:ext cx="1371600" cy="401400"/>
          </a:xfrm>
          <a:prstGeom prst="rect">
            <a:avLst/>
          </a:prstGeom>
          <a:noFill/>
          <a:ln w="54720">
            <a:noFill/>
          </a:ln>
        </p:spPr>
        <p:txBody>
          <a:bodyPr lIns="90000" tIns="45000" rIns="90000" bIns="45000" anchor="t">
            <a:noAutofit/>
          </a:bodyPr>
          <a:lstStyle/>
          <a:p>
            <a:fld id="{1EA5D0C9-8D2C-4E1E-91D5-ED2263E1760B}" type="slidenum">
              <a:rPr lang="en-US" sz="1800" b="0" strike="noStrike" spc="-1">
                <a:solidFill>
                  <a:srgbClr val="000000"/>
                </a:solidFill>
                <a:latin typeface="Montserrat"/>
              </a:rPr>
              <a:t>‹#›</a:t>
            </a:fld>
            <a:endParaRPr lang="en-US" sz="1800" b="0" strike="noStrike" spc="-1">
              <a:solidFill>
                <a:srgbClr val="000000"/>
              </a:solidFill>
              <a:latin typeface="Cantarel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1"/>
          <p:cNvSpPr/>
          <p:nvPr/>
        </p:nvSpPr>
        <p:spPr>
          <a:xfrm>
            <a:off x="1084320" y="1506240"/>
            <a:ext cx="2043360" cy="13608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Cantarell"/>
            </a:endParaRPr>
          </a:p>
        </p:txBody>
      </p:sp>
      <p:sp>
        <p:nvSpPr>
          <p:cNvPr id="18" name="CustomShape 2"/>
          <p:cNvSpPr/>
          <p:nvPr/>
        </p:nvSpPr>
        <p:spPr>
          <a:xfrm>
            <a:off x="0" y="0"/>
            <a:ext cx="182160" cy="68565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Cantarel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1188720" cy="401400"/>
          </a:xfrm>
          <a:prstGeom prst="rect">
            <a:avLst/>
          </a:prstGeom>
          <a:noFill/>
          <a:ln w="54720">
            <a:noFill/>
          </a:ln>
        </p:spPr>
        <p:txBody>
          <a:bodyPr lIns="90000" tIns="45000" rIns="90000" bIns="45000" anchor="t">
            <a:noAutofit/>
          </a:bodyPr>
          <a:lstStyle/>
          <a:p>
            <a:fld id="{BE107345-FE6E-4C9A-ACA2-91316809195C}" type="slidenum">
              <a:rPr lang="en-US" sz="1800" b="0" strike="noStrike" spc="-1">
                <a:solidFill>
                  <a:srgbClr val="000000"/>
                </a:solidFill>
                <a:latin typeface="Montserrat"/>
              </a:rPr>
              <a:t>‹#›</a:t>
            </a:fld>
            <a:endParaRPr lang="en-US" sz="1800" b="0" strike="noStrike" spc="-1">
              <a:solidFill>
                <a:srgbClr val="000000"/>
              </a:solidFill>
              <a:latin typeface="Cantarel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body"/>
          </p:nvPr>
        </p:nvSpPr>
        <p:spPr>
          <a:xfrm>
            <a:off x="921600" y="1811520"/>
            <a:ext cx="10348560" cy="4411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0"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0">
              <a:spcBef>
                <a:spcPts val="1134"/>
              </a:spcBef>
              <a:buNone/>
            </a:pPr>
            <a:r>
              <a:rPr lang="en-US" sz="2000" b="0" strike="noStrike" spc="-1">
                <a:solidFill>
                  <a:srgbClr val="454F5B"/>
                </a:solidFill>
                <a:latin typeface="Montserrat"/>
                <a:ea typeface="Montserrat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0">
              <a:spcBef>
                <a:spcPts val="850"/>
              </a:spcBef>
              <a:buNone/>
            </a:pPr>
            <a:r>
              <a:rPr lang="en-US" sz="2000" b="0" strike="noStrike" spc="-1">
                <a:solidFill>
                  <a:srgbClr val="454F5B"/>
                </a:solidFill>
                <a:latin typeface="Montserrat"/>
                <a:ea typeface="Montserrat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0">
              <a:spcBef>
                <a:spcPts val="567"/>
              </a:spcBef>
              <a:buNone/>
            </a:pPr>
            <a:r>
              <a:rPr lang="en-US" sz="2000" b="0" strike="noStrike" spc="-1">
                <a:solidFill>
                  <a:srgbClr val="454F5B"/>
                </a:solidFill>
                <a:latin typeface="Montserrat"/>
                <a:ea typeface="Montserrat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24"/>
          <p:cNvSpPr/>
          <p:nvPr/>
        </p:nvSpPr>
        <p:spPr>
          <a:xfrm>
            <a:off x="1084320" y="1506240"/>
            <a:ext cx="2044440" cy="13716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Cantarell"/>
            </a:endParaRPr>
          </a:p>
        </p:txBody>
      </p:sp>
      <p:sp>
        <p:nvSpPr>
          <p:cNvPr id="24" name="Shape 25"/>
          <p:cNvSpPr/>
          <p:nvPr/>
        </p:nvSpPr>
        <p:spPr>
          <a:xfrm>
            <a:off x="0" y="0"/>
            <a:ext cx="183240" cy="685764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strike="noStrike" spc="-1">
              <a:solidFill>
                <a:srgbClr val="FFFFFF"/>
              </a:solidFill>
              <a:latin typeface="Cantarel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921600" y="634320"/>
            <a:ext cx="10348560" cy="65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400" b="1" strike="noStrike" spc="-1">
                <a:solidFill>
                  <a:srgbClr val="454F5B"/>
                </a:solidFill>
                <a:latin typeface="Montserrat"/>
                <a:ea typeface="Montserrat"/>
              </a:rPr>
              <a:t>Click to edit Master title style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1DEB47-4041-49E0-86E7-84F9E1D30D4F}" type="slidenum">
              <a:rPr lang="en-US" sz="1200" b="0" strike="noStrike" spc="-1">
                <a:solidFill>
                  <a:srgbClr val="8B8B8B"/>
                </a:solidFill>
                <a:latin typeface="Arial"/>
                <a:ea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1084320" y="1506240"/>
            <a:ext cx="2043000" cy="13572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Cantarell"/>
            </a:endParaRPr>
          </a:p>
        </p:txBody>
      </p:sp>
      <p:sp>
        <p:nvSpPr>
          <p:cNvPr id="28" name="CustomShape 2"/>
          <p:cNvSpPr/>
          <p:nvPr/>
        </p:nvSpPr>
        <p:spPr>
          <a:xfrm>
            <a:off x="0" y="0"/>
            <a:ext cx="181800" cy="685620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Cantarel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343560"/>
            <a:ext cx="1554480" cy="427320"/>
          </a:xfrm>
          <a:prstGeom prst="rect">
            <a:avLst/>
          </a:prstGeom>
          <a:noFill/>
          <a:ln w="5472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972800" y="6309360"/>
            <a:ext cx="1371600" cy="401400"/>
          </a:xfrm>
          <a:prstGeom prst="rect">
            <a:avLst/>
          </a:prstGeom>
          <a:noFill/>
          <a:ln w="54720">
            <a:noFill/>
          </a:ln>
        </p:spPr>
        <p:txBody>
          <a:bodyPr lIns="90000" tIns="45000" rIns="90000" bIns="45000" anchor="t">
            <a:noAutofit/>
          </a:bodyPr>
          <a:lstStyle/>
          <a:p>
            <a:fld id="{A2A65ADA-70A9-4D3F-A4DA-418A5016979D}" type="slidenum">
              <a:rPr lang="en-US" sz="1800" b="0" strike="noStrike" spc="-1">
                <a:solidFill>
                  <a:srgbClr val="000000"/>
                </a:solidFill>
                <a:latin typeface="Montserrat"/>
              </a:rPr>
              <a:t>‹#›</a:t>
            </a:fld>
            <a:endParaRPr lang="en-US" sz="1800" b="0" strike="noStrike" spc="-1">
              <a:solidFill>
                <a:srgbClr val="000000"/>
              </a:solidFill>
              <a:latin typeface="Cantarel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mailto:sshannigrahi@tntech.edu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7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6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6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7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8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7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9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3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3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12" Target="../media/image42.png" Type="http://schemas.openxmlformats.org/officeDocument/2006/relationships/image"/><Relationship Id="rId13" Target="../media/image43.png" Type="http://schemas.openxmlformats.org/officeDocument/2006/relationships/image"/><Relationship Id="rId14" Target="../media/image44.png" Type="http://schemas.openxmlformats.org/officeDocument/2006/relationships/image"/><Relationship Id="rId15" Target="../media/image45.png" Type="http://schemas.openxmlformats.org/officeDocument/2006/relationships/image"/><Relationship Id="rId16" Target="../media/image46.png" Type="http://schemas.openxmlformats.org/officeDocument/2006/relationships/image"/><Relationship Id="rId17" Target="../media/image47.png" Type="http://schemas.openxmlformats.org/officeDocument/2006/relationships/image"/><Relationship Id="rId18" Target="../media/image48.png" Type="http://schemas.openxmlformats.org/officeDocument/2006/relationships/image"/><Relationship Id="rId19" Target="../media/image49.png" Type="http://schemas.openxmlformats.org/officeDocument/2006/relationships/image"/><Relationship Id="rId2" Target="../media/image32.png" Type="http://schemas.openxmlformats.org/officeDocument/2006/relationships/image"/><Relationship Id="rId20" Target="../media/image50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51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10" Target="../media/image39.png" Type="http://schemas.openxmlformats.org/officeDocument/2006/relationships/image"/><Relationship Id="rId11" Target="../media/image53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14" Target="../media/image43.png" Type="http://schemas.openxmlformats.org/officeDocument/2006/relationships/image"/><Relationship Id="rId15" Target="../media/image44.png" Type="http://schemas.openxmlformats.org/officeDocument/2006/relationships/image"/><Relationship Id="rId16" Target="../media/image45.png" Type="http://schemas.openxmlformats.org/officeDocument/2006/relationships/image"/><Relationship Id="rId17" Target="../media/image46.png" Type="http://schemas.openxmlformats.org/officeDocument/2006/relationships/image"/><Relationship Id="rId18" Target="../media/image47.png" Type="http://schemas.openxmlformats.org/officeDocument/2006/relationships/image"/><Relationship Id="rId19" Target="../media/image48.png" Type="http://schemas.openxmlformats.org/officeDocument/2006/relationships/image"/><Relationship Id="rId2" Target="../notesSlides/notesSlide23.xml" Type="http://schemas.openxmlformats.org/officeDocument/2006/relationships/notesSlide"/><Relationship Id="rId20" Target="../media/image49.png" Type="http://schemas.openxmlformats.org/officeDocument/2006/relationships/image"/><Relationship Id="rId21" Target="../media/image50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52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54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4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idx="4294967295" type="title"/>
          </p:nvPr>
        </p:nvSpPr>
        <p:spPr>
          <a:xfrm>
            <a:off x="185400" y="2468880"/>
            <a:ext cx="11244600" cy="182880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all" dirty="0" i="0" kern="1200" kumimoji="0" lang="en-US" noProof="0" normalizeH="0" spc="-1" strike="noStrike" sz="2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DejaVu Sans"/>
                <a:cs typeface="+mn-cs"/>
              </a:rPr>
              <a:t>CSC4780 – Network security</a:t>
            </a:r>
            <a:endParaRPr b="0" baseline="0" cap="none" dirty="0" i="0" kern="1200" kumimoji="0" lang="en-US" noProof="0" normalizeH="0" spc="-1" strike="noStrike" sz="26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  <p:sp>
        <p:nvSpPr>
          <p:cNvPr id="40" name="CustomShape 2"/>
          <p:cNvSpPr/>
          <p:nvPr/>
        </p:nvSpPr>
        <p:spPr>
          <a:xfrm>
            <a:off x="2817720" y="5402880"/>
            <a:ext cx="8623800" cy="114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bIns="91440" lIns="90000" rIns="90000" tIns="91440">
            <a:noAutofit/>
          </a:bodyPr>
          <a:lstStyle/>
          <a:p>
            <a:pPr algn="r">
              <a:lnSpc>
                <a:spcPct val="100000"/>
              </a:lnSpc>
            </a:pPr>
            <a:endParaRPr b="0" dirty="0" lang="en-US" spc="-1" strike="noStrike" sz="2400">
              <a:solidFill>
                <a:srgbClr val="000000"/>
              </a:solidFill>
              <a:latin typeface="Cantarell"/>
            </a:endParaRPr>
          </a:p>
          <a:p>
            <a:pPr algn="r">
              <a:lnSpc>
                <a:spcPct val="100000"/>
              </a:lnSpc>
            </a:pPr>
            <a:endParaRPr b="0" dirty="0" lang="en-US" spc="-1" strike="noStrike" sz="2400">
              <a:solidFill>
                <a:srgbClr val="000000"/>
              </a:solidFill>
              <a:latin typeface="Cantarell"/>
            </a:endParaRPr>
          </a:p>
          <a:p>
            <a:pPr algn="r">
              <a:lnSpc>
                <a:spcPct val="100000"/>
              </a:lnSpc>
            </a:pPr>
            <a:endParaRPr b="0" dirty="0" lang="en-US" spc="-1" strike="noStrike" sz="2400">
              <a:solidFill>
                <a:srgbClr val="000000"/>
              </a:solidFill>
              <a:latin typeface="Cantarell"/>
            </a:endParaRPr>
          </a:p>
          <a:p>
            <a:pPr algn="r">
              <a:lnSpc>
                <a:spcPct val="100000"/>
              </a:lnSpc>
            </a:pPr>
            <a:endParaRPr b="0" dirty="0" lang="en-US" spc="-1" strike="noStrike" sz="2400">
              <a:solidFill>
                <a:srgbClr val="000000"/>
              </a:solidFill>
              <a:latin typeface="Cantarell"/>
            </a:endParaRPr>
          </a:p>
          <a:p>
            <a:pPr algn="r">
              <a:lnSpc>
                <a:spcPct val="100000"/>
              </a:lnSpc>
            </a:pPr>
            <a:r>
              <a:rPr b="1" dirty="0" lang="en-US" spc="-1" strike="noStrike" sz="2400">
                <a:solidFill>
                  <a:srgbClr val="454F5B"/>
                </a:solidFill>
                <a:latin typeface="Montserrat"/>
                <a:ea typeface="Montserrat"/>
              </a:rPr>
              <a:t>Instructor: Susmit Shannigrahi</a:t>
            </a:r>
            <a:endParaRPr b="0" dirty="0" lang="en-US" spc="-1" strike="noStrike" sz="2400">
              <a:solidFill>
                <a:srgbClr val="000000"/>
              </a:solidFill>
              <a:latin typeface="Cantarell"/>
            </a:endParaRPr>
          </a:p>
          <a:p>
            <a:pPr algn="r">
              <a:lnSpc>
                <a:spcPct val="100000"/>
              </a:lnSpc>
            </a:pPr>
            <a:r>
              <a:rPr b="1" dirty="0" lang="en-US" spc="-1" strike="noStrike" sz="2400">
                <a:solidFill>
                  <a:srgbClr val="454F5B"/>
                </a:solidFill>
                <a:latin typeface="Montserrat"/>
                <a:ea typeface="Montserrat"/>
                <a:hlinkClick r:id="rId2"/>
              </a:rPr>
              <a:t>sshannigrahi@tntech.edu</a:t>
            </a:r>
            <a:endParaRPr b="0" dirty="0" lang="en-US" spc="-1" strike="noStrike" sz="2400">
              <a:solidFill>
                <a:srgbClr val="000000"/>
              </a:solidFill>
              <a:latin typeface="Cantarell"/>
            </a:endParaRPr>
          </a:p>
          <a:p>
            <a:pPr algn="r">
              <a:lnSpc>
                <a:spcPct val="100000"/>
              </a:lnSpc>
            </a:pPr>
            <a:endParaRPr b="0" dirty="0" lang="en-US" spc="-1" strike="noStrike" sz="2400">
              <a:solidFill>
                <a:srgbClr val="000000"/>
              </a:solidFill>
              <a:latin typeface="Cantarell"/>
            </a:endParaRPr>
          </a:p>
          <a:p>
            <a:pPr algn="r">
              <a:lnSpc>
                <a:spcPct val="100000"/>
              </a:lnSpc>
            </a:pPr>
            <a:endParaRPr b="0" dirty="0" lang="en-US" spc="-1" strike="noStrike" sz="2400">
              <a:solidFill>
                <a:srgbClr val="000000"/>
              </a:solidFill>
              <a:latin typeface="Cantarell"/>
            </a:endParaRPr>
          </a:p>
          <a:p>
            <a:pPr algn="r">
              <a:lnSpc>
                <a:spcPct val="100000"/>
              </a:lnSpc>
            </a:pPr>
            <a:endParaRPr b="0" dirty="0" lang="en-US" spc="-1" strike="noStrike" sz="24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41" name="Title 1"/>
          <p:cNvSpPr txBox="1"/>
          <p:nvPr/>
        </p:nvSpPr>
        <p:spPr>
          <a:xfrm>
            <a:off x="0" y="0"/>
            <a:ext cx="36000" cy="427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2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Chapter 1: Fundamentals 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  <p:sp>
        <p:nvSpPr>
          <p:cNvPr id="43" name="CustomShape 26"/>
          <p:cNvSpPr/>
          <p:nvPr/>
        </p:nvSpPr>
        <p:spPr>
          <a:xfrm>
            <a:off x="1081440" y="1989000"/>
            <a:ext cx="10345320" cy="440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lang="en-US" spc="-1" strike="noStrike" sz="2600">
                <a:solidFill>
                  <a:srgbClr val="000000"/>
                </a:solidFill>
                <a:latin typeface="Arial"/>
                <a:ea typeface="Montserrat"/>
              </a:rPr>
              <a:t>Networking is ubiquitous </a:t>
            </a:r>
            <a:endParaRPr b="1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1" lang="en-US" spc="-1" strike="noStrike" sz="2200">
                <a:solidFill>
                  <a:srgbClr val="C9211E"/>
                </a:solidFill>
                <a:latin typeface="Arial"/>
                <a:ea typeface="Montserrat"/>
              </a:rPr>
              <a:t>(Breakout) </a:t>
            </a:r>
            <a:r>
              <a:rPr b="0" lang="en-US" spc="-1" strike="noStrike" sz="2200">
                <a:solidFill>
                  <a:srgbClr val="000000"/>
                </a:solidFill>
                <a:latin typeface="Arial"/>
                <a:ea typeface="Montserrat"/>
              </a:rPr>
              <a:t>What did you use it for today? </a:t>
            </a:r>
            <a:endParaRPr b="1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endParaRPr b="1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lang="en-US" spc="-1" strike="noStrike" sz="2600">
                <a:solidFill>
                  <a:srgbClr val="000000"/>
                </a:solidFill>
                <a:latin typeface="Arial"/>
                <a:ea typeface="Montserrat"/>
              </a:rPr>
              <a:t>First things first:</a:t>
            </a:r>
            <a:endParaRPr b="1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200">
                <a:solidFill>
                  <a:srgbClr val="000000"/>
                </a:solidFill>
                <a:latin typeface="Arial"/>
                <a:ea typeface="Montserrat"/>
              </a:rPr>
              <a:t>Terminology</a:t>
            </a:r>
            <a:endParaRPr b="1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200">
                <a:solidFill>
                  <a:srgbClr val="000000"/>
                </a:solidFill>
                <a:latin typeface="Arial"/>
                <a:ea typeface="Montserrat"/>
              </a:rPr>
              <a:t>Basic tools</a:t>
            </a:r>
            <a:endParaRPr b="1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200">
                <a:solidFill>
                  <a:srgbClr val="000000"/>
                </a:solidFill>
                <a:latin typeface="Arial"/>
                <a:ea typeface="Montserrat"/>
              </a:rPr>
              <a:t>What does it take to build an Internet?</a:t>
            </a:r>
            <a:endParaRPr b="1" lang="en-US" spc="-1" strike="noStrike" sz="22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itle 2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3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Links, Nodes, Network, Internet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  <p:sp>
        <p:nvSpPr>
          <p:cNvPr id="46" name="CustomShape 24"/>
          <p:cNvSpPr/>
          <p:nvPr/>
        </p:nvSpPr>
        <p:spPr>
          <a:xfrm>
            <a:off x="1081440" y="1989000"/>
            <a:ext cx="10345320" cy="440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lang="en-US" spc="-1" strike="noStrike" sz="2600">
                <a:solidFill>
                  <a:srgbClr val="000000"/>
                </a:solidFill>
                <a:latin typeface="Arial"/>
                <a:ea typeface="Montserrat"/>
              </a:rPr>
              <a:t>You can view the network as a graph</a:t>
            </a:r>
            <a:br>
              <a:rPr sz="2600"/>
            </a:br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 </a:t>
            </a:r>
            <a:endParaRPr b="1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lang="en-US" spc="-1" strike="noStrike" sz="2600">
                <a:solidFill>
                  <a:srgbClr val="000000"/>
                </a:solidFill>
                <a:latin typeface="Arial"/>
                <a:ea typeface="Montserrat"/>
              </a:rPr>
              <a:t>Each device (a phone, a computer) is a node</a:t>
            </a:r>
            <a:br>
              <a:rPr sz="2600"/>
            </a:br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 </a:t>
            </a:r>
            <a:endParaRPr b="1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lang="en-US" spc="-1" strike="noStrike" sz="2600">
                <a:solidFill>
                  <a:srgbClr val="000000"/>
                </a:solidFill>
                <a:latin typeface="Arial"/>
                <a:ea typeface="Montserrat"/>
              </a:rPr>
              <a:t>Each connection is a link </a:t>
            </a:r>
            <a:endParaRPr b="1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600">
                <a:solidFill>
                  <a:srgbClr val="000000"/>
                </a:solidFill>
                <a:latin typeface="Arial"/>
                <a:ea typeface="Montserrat"/>
              </a:rPr>
              <a:t>Wires = real links</a:t>
            </a:r>
            <a:endParaRPr b="1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600">
                <a:solidFill>
                  <a:srgbClr val="000000"/>
                </a:solidFill>
                <a:latin typeface="Arial"/>
                <a:ea typeface="Montserrat"/>
              </a:rPr>
              <a:t>Bluetooth, Radio, Infrared = virtual links</a:t>
            </a:r>
            <a:br>
              <a:rPr sz="2600"/>
            </a:br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 </a:t>
            </a:r>
            <a:endParaRPr b="1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lang="en-US" spc="-1" strike="noStrike" sz="2600">
                <a:solidFill>
                  <a:srgbClr val="000000"/>
                </a:solidFill>
                <a:latin typeface="Arial"/>
                <a:ea typeface="Montserrat"/>
              </a:rPr>
              <a:t>Nodes + links = a network</a:t>
            </a:r>
            <a:endParaRPr b="1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600">
                <a:solidFill>
                  <a:srgbClr val="000000"/>
                </a:solidFill>
                <a:latin typeface="Arial"/>
                <a:ea typeface="Montserrat"/>
              </a:rPr>
              <a:t>Many connected networks = Internet</a:t>
            </a:r>
            <a:br>
              <a:rPr sz="2600"/>
            </a:br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 </a:t>
            </a:r>
            <a:endParaRPr b="1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endParaRPr b="1" lang="en-US" spc="-1" strike="noStrike" sz="26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itle 3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4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Links, Nodes, Cloud, Routers, Switches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  <p:sp>
        <p:nvSpPr>
          <p:cNvPr id="49" name="CustomShape 22"/>
          <p:cNvSpPr/>
          <p:nvPr/>
        </p:nvSpPr>
        <p:spPr>
          <a:xfrm>
            <a:off x="1081440" y="1989000"/>
            <a:ext cx="10345320" cy="440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endParaRPr b="1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pic>
        <p:nvPicPr>
          <p:cNvPr descr="Links, Nodes, Cloud, Routers, Switches" id="50" name="Picture 49"/>
          <p:cNvPicPr/>
          <p:nvPr/>
        </p:nvPicPr>
        <p:blipFill>
          <a:blip r:embed="rId3"/>
          <a:stretch/>
        </p:blipFill>
        <p:spPr>
          <a:xfrm>
            <a:off x="2468880" y="2103120"/>
            <a:ext cx="8138160" cy="4183200"/>
          </a:xfrm>
          <a:prstGeom prst="rect">
            <a:avLst/>
          </a:prstGeom>
          <a:ln w="54720">
            <a:noFill/>
          </a:ln>
        </p:spPr>
      </p:pic>
      <p:sp>
        <p:nvSpPr>
          <p:cNvPr id="51" name="Title 4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Network and the Internet" id="52" name="Title 5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A Network and the Internet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  <p:sp>
        <p:nvSpPr>
          <p:cNvPr id="53" name="CustomShape 16"/>
          <p:cNvSpPr/>
          <p:nvPr/>
        </p:nvSpPr>
        <p:spPr>
          <a:xfrm>
            <a:off x="1081440" y="1989000"/>
            <a:ext cx="10345320" cy="440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endParaRPr b="1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pic>
        <p:nvPicPr>
          <p:cNvPr descr="Network" id="54" name="Picture 1"/>
          <p:cNvPicPr/>
          <p:nvPr/>
        </p:nvPicPr>
        <p:blipFill>
          <a:blip r:embed="rId3"/>
          <a:stretch/>
        </p:blipFill>
        <p:spPr>
          <a:xfrm>
            <a:off x="731520" y="2140200"/>
            <a:ext cx="4601160" cy="4169160"/>
          </a:xfrm>
          <a:prstGeom prst="rect">
            <a:avLst/>
          </a:prstGeom>
          <a:ln w="54720">
            <a:noFill/>
          </a:ln>
        </p:spPr>
      </p:pic>
      <p:pic>
        <p:nvPicPr>
          <p:cNvPr descr="A Network and the Internet" id="55" name="Picture 2"/>
          <p:cNvPicPr/>
          <p:nvPr/>
        </p:nvPicPr>
        <p:blipFill>
          <a:blip r:embed="rId4"/>
          <a:stretch/>
        </p:blipFill>
        <p:spPr>
          <a:xfrm>
            <a:off x="7132320" y="2103120"/>
            <a:ext cx="4402800" cy="3840480"/>
          </a:xfrm>
          <a:prstGeom prst="rect">
            <a:avLst/>
          </a:prstGeom>
          <a:ln w="54720">
            <a:noFill/>
          </a:ln>
        </p:spPr>
      </p:pic>
      <p:sp>
        <p:nvSpPr>
          <p:cNvPr id="56" name="Straight Connector 55"/>
          <p:cNvSpPr/>
          <p:nvPr/>
        </p:nvSpPr>
        <p:spPr>
          <a:xfrm>
            <a:off x="6035040" y="1989000"/>
            <a:ext cx="0" cy="4503240"/>
          </a:xfrm>
          <a:prstGeom prst="line">
            <a:avLst/>
          </a:prstGeom>
          <a:ln w="54720">
            <a:solidFill>
              <a:srgbClr val="000000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57" name="Title 5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Network Architecture" id="58" name="Title 6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Network Architecture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  <p:sp>
        <p:nvSpPr>
          <p:cNvPr id="59" name="CustomShape 6"/>
          <p:cNvSpPr/>
          <p:nvPr/>
        </p:nvSpPr>
        <p:spPr>
          <a:xfrm>
            <a:off x="914400" y="1371600"/>
            <a:ext cx="11061720" cy="559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pPr>
              <a:lnSpc>
                <a:spcPct val="100000"/>
              </a:lnSpc>
            </a:pPr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  <a:p>
            <a:pPr>
              <a:lnSpc>
                <a:spcPct val="100000"/>
              </a:lnSpc>
            </a:pPr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endParaRPr b="0" lang="en-US" spc="-1" strike="noStrike" sz="26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21240" y="2103120"/>
            <a:ext cx="9868680" cy="292284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200">
                <a:solidFill>
                  <a:srgbClr val="000000"/>
                </a:solidFill>
                <a:latin typeface="Arial"/>
                <a:ea typeface="DejaVu Sans"/>
              </a:rPr>
              <a:t>What are the requirements from a network?</a:t>
            </a:r>
            <a:br>
              <a:rPr sz="2200"/>
            </a:br>
            <a:r>
              <a:rPr b="0" lang="en-US" spc="-1" strike="noStrike" sz="2200">
                <a:solidFill>
                  <a:srgbClr val="000000"/>
                </a:solidFill>
                <a:latin typeface="Arial"/>
              </a:rPr>
              <a:t> </a:t>
            </a:r>
            <a:endParaRPr b="0" lang="en-US" spc="-1" strike="noStrike" sz="2200">
              <a:solidFill>
                <a:srgbClr val="000000"/>
              </a:solidFill>
              <a:latin typeface="Cantarell"/>
            </a:endParaRPr>
          </a:p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200">
                <a:solidFill>
                  <a:srgbClr val="000000"/>
                </a:solidFill>
                <a:latin typeface="Arial"/>
                <a:ea typeface="DejaVu Sans"/>
              </a:rPr>
              <a:t>Architecture = High-level blueprint</a:t>
            </a:r>
            <a:endParaRPr b="0" lang="en-US" spc="-1" strike="noStrike" sz="2200">
              <a:solidFill>
                <a:srgbClr val="000000"/>
              </a:solidFill>
              <a:latin typeface="Cantarell"/>
            </a:endParaRPr>
          </a:p>
          <a:p>
            <a:pPr indent="-216000" lvl="1" marL="432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200">
                <a:solidFill>
                  <a:srgbClr val="000000"/>
                </a:solidFill>
                <a:latin typeface="Arial"/>
                <a:ea typeface="DejaVu Sans"/>
              </a:rPr>
              <a:t>Protocols = Building blocks of the architecture</a:t>
            </a:r>
            <a:endParaRPr b="0" lang="en-US" spc="-1" strike="noStrike" sz="2200">
              <a:solidFill>
                <a:srgbClr val="000000"/>
              </a:solidFill>
              <a:latin typeface="Cantarell"/>
            </a:endParaRPr>
          </a:p>
          <a:p>
            <a:pPr indent="-216000" lvl="1" marL="432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200">
                <a:solidFill>
                  <a:srgbClr val="000000"/>
                </a:solidFill>
                <a:latin typeface="Arial"/>
                <a:ea typeface="DejaVu Sans"/>
              </a:rPr>
              <a:t>Layering = Break down the problem in smaller pieces</a:t>
            </a:r>
            <a:endParaRPr b="0" lang="en-US" spc="-1" strike="noStrike" sz="2200">
              <a:solidFill>
                <a:srgbClr val="000000"/>
              </a:solidFill>
              <a:latin typeface="Cantarell"/>
            </a:endParaRPr>
          </a:p>
          <a:p>
            <a:pPr indent="-216000" lvl="1" marL="432000">
              <a:buClr>
                <a:srgbClr val="000000"/>
              </a:buClr>
              <a:buSzPct val="45000"/>
              <a:buFont charset="2" typeface="Wingdings"/>
              <a:buChar char=""/>
            </a:pPr>
            <a:endParaRPr b="0" lang="en-US" spc="-1" strike="noStrike" sz="2200">
              <a:solidFill>
                <a:srgbClr val="000000"/>
              </a:solidFill>
              <a:latin typeface="Cantarell"/>
            </a:endParaRPr>
          </a:p>
        </p:txBody>
      </p:sp>
      <p:pic>
        <p:nvPicPr>
          <p:cNvPr descr="Network Architecture" id="61" name="Shape 4 (test)"/>
          <p:cNvPicPr/>
          <p:nvPr/>
        </p:nvPicPr>
        <p:blipFill>
          <a:blip r:embed="rId2"/>
          <a:stretch/>
        </p:blipFill>
        <p:spPr>
          <a:xfrm>
            <a:off x="3566160" y="3931920"/>
            <a:ext cx="4389120" cy="2732040"/>
          </a:xfrm>
          <a:prstGeom prst="rect">
            <a:avLst/>
          </a:prstGeom>
          <a:ln w="54720">
            <a:noFill/>
          </a:ln>
        </p:spPr>
      </p:pic>
      <p:sp>
        <p:nvSpPr>
          <p:cNvPr id="62" name="Title 6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Network Layers" id="63" name="Title 7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Network Layers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  <p:sp>
        <p:nvSpPr>
          <p:cNvPr id="64" name="CustomShape 4"/>
          <p:cNvSpPr/>
          <p:nvPr/>
        </p:nvSpPr>
        <p:spPr>
          <a:xfrm>
            <a:off x="914400" y="1371600"/>
            <a:ext cx="11061720" cy="559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pPr>
              <a:lnSpc>
                <a:spcPct val="100000"/>
              </a:lnSpc>
            </a:pPr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  <a:p>
            <a:pPr>
              <a:lnSpc>
                <a:spcPct val="100000"/>
              </a:lnSpc>
            </a:pPr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endParaRPr b="0" lang="en-US" spc="-1" strike="noStrike" sz="2600">
              <a:solidFill>
                <a:srgbClr val="000000"/>
              </a:solidFill>
              <a:latin typeface="Cantarell"/>
            </a:endParaRPr>
          </a:p>
        </p:txBody>
      </p:sp>
      <p:pic>
        <p:nvPicPr>
          <p:cNvPr descr="Network Architecture layers" id="65" name="Picture 64"/>
          <p:cNvPicPr/>
          <p:nvPr/>
        </p:nvPicPr>
        <p:blipFill>
          <a:blip r:embed="rId2"/>
          <a:stretch/>
        </p:blipFill>
        <p:spPr>
          <a:xfrm>
            <a:off x="1064160" y="2286000"/>
            <a:ext cx="4239360" cy="3059280"/>
          </a:xfrm>
          <a:prstGeom prst="rect">
            <a:avLst/>
          </a:prstGeom>
          <a:ln w="54720">
            <a:noFill/>
          </a:ln>
        </p:spPr>
      </p:pic>
      <p:pic>
        <p:nvPicPr>
          <p:cNvPr descr="Network Layers" id="66" name="Picture 65"/>
          <p:cNvPicPr/>
          <p:nvPr/>
        </p:nvPicPr>
        <p:blipFill>
          <a:blip r:embed="rId3"/>
          <a:stretch/>
        </p:blipFill>
        <p:spPr>
          <a:xfrm>
            <a:off x="6594840" y="2021400"/>
            <a:ext cx="5381280" cy="3190680"/>
          </a:xfrm>
          <a:prstGeom prst="rect">
            <a:avLst/>
          </a:prstGeom>
          <a:ln w="54720">
            <a:noFill/>
          </a:ln>
        </p:spPr>
      </p:pic>
      <p:sp>
        <p:nvSpPr>
          <p:cNvPr id="67" name="TextBox 66"/>
          <p:cNvSpPr txBox="1"/>
          <p:nvPr/>
        </p:nvSpPr>
        <p:spPr>
          <a:xfrm>
            <a:off x="548640" y="5486400"/>
            <a:ext cx="9784080" cy="136836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200">
                <a:solidFill>
                  <a:srgbClr val="000000"/>
                </a:solidFill>
                <a:latin typeface="Arial"/>
                <a:ea typeface="DejaVu Sans"/>
              </a:rPr>
              <a:t>Makes it easier to divide functionality</a:t>
            </a:r>
            <a:endParaRPr b="0" lang="en-US" spc="-1" strike="noStrike" sz="2200">
              <a:solidFill>
                <a:srgbClr val="000000"/>
              </a:solidFill>
              <a:latin typeface="Cantarell"/>
            </a:endParaRPr>
          </a:p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200">
                <a:solidFill>
                  <a:srgbClr val="000000"/>
                </a:solidFill>
                <a:latin typeface="Arial"/>
                <a:ea typeface="DejaVu Sans"/>
              </a:rPr>
              <a:t>Hides implementation details</a:t>
            </a:r>
            <a:endParaRPr b="0" lang="en-US" spc="-1" strike="noStrike" sz="2200">
              <a:solidFill>
                <a:srgbClr val="000000"/>
              </a:solidFill>
              <a:latin typeface="Cantarell"/>
            </a:endParaRPr>
          </a:p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200">
                <a:solidFill>
                  <a:srgbClr val="CE181E"/>
                </a:solidFill>
                <a:latin typeface="Arial"/>
                <a:ea typeface="DejaVu Sans"/>
              </a:rPr>
              <a:t>Breakout – few other reasons?</a:t>
            </a:r>
            <a:endParaRPr b="0" lang="en-US" spc="-1" strike="noStrike" sz="22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68" name="Straight Connector 67"/>
          <p:cNvSpPr/>
          <p:nvPr/>
        </p:nvSpPr>
        <p:spPr>
          <a:xfrm flipV="1">
            <a:off x="6309360" y="1737360"/>
            <a:ext cx="0" cy="329184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309360" y="1371600"/>
            <a:ext cx="1920240" cy="36576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r>
              <a:rPr b="0" lang="en-US" spc="-1" strike="noStrike" sz="1800">
                <a:solidFill>
                  <a:srgbClr val="FF0000"/>
                </a:solidFill>
                <a:latin typeface="Cantarell"/>
              </a:rPr>
              <a:t>Export Service</a:t>
            </a:r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70" name="Straight Connector 69"/>
          <p:cNvSpPr/>
          <p:nvPr/>
        </p:nvSpPr>
        <p:spPr>
          <a:xfrm>
            <a:off x="5852160" y="1737360"/>
            <a:ext cx="0" cy="3291840"/>
          </a:xfrm>
          <a:prstGeom prst="line">
            <a:avLst/>
          </a:prstGeom>
          <a:ln w="54720">
            <a:solidFill>
              <a:srgbClr val="00A933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572000" y="1371600"/>
            <a:ext cx="1920240" cy="36576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r>
              <a:rPr b="0" lang="en-US" spc="-1" strike="noStrike" sz="1800">
                <a:solidFill>
                  <a:srgbClr val="158466"/>
                </a:solidFill>
                <a:latin typeface="Cantarell"/>
              </a:rPr>
              <a:t>Use Service</a:t>
            </a:r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72" name="Title 7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8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IP Suite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966960" y="6035040"/>
            <a:ext cx="1142280" cy="36468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Cantarell"/>
              </a:rPr>
              <a:t>wikipedia</a:t>
            </a:r>
          </a:p>
        </p:txBody>
      </p:sp>
      <p:pic>
        <p:nvPicPr>
          <p:cNvPr id="76" name="Picture 75" descr="IP network stack"/>
          <p:cNvPicPr/>
          <p:nvPr/>
        </p:nvPicPr>
        <p:blipFill>
          <a:blip r:embed="rId2"/>
          <a:stretch/>
        </p:blipFill>
        <p:spPr>
          <a:xfrm>
            <a:off x="8595360" y="1278720"/>
            <a:ext cx="2619000" cy="3476160"/>
          </a:xfrm>
          <a:prstGeom prst="rect">
            <a:avLst/>
          </a:prstGeom>
          <a:ln w="54720">
            <a:noFill/>
          </a:ln>
        </p:spPr>
      </p:pic>
      <p:grpSp>
        <p:nvGrpSpPr>
          <p:cNvPr descr="IP suite" id="2" name="Group 1">
            <a:extLst>
              <a:ext uri="{FF2B5EF4-FFF2-40B4-BE49-F238E27FC236}">
                <a16:creationId xmlns:a16="http://schemas.microsoft.com/office/drawing/2014/main" id="{C664FF97-E6BC-C7CD-936B-29091B54B3F6}"/>
              </a:ext>
            </a:extLst>
          </p:cNvPr>
          <p:cNvGrpSpPr/>
          <p:nvPr/>
        </p:nvGrpSpPr>
        <p:grpSpPr>
          <a:xfrm>
            <a:off x="3452760" y="822960"/>
            <a:ext cx="8617320" cy="5650920"/>
            <a:chOff x="3452760" y="822960"/>
            <a:chExt cx="8617320" cy="5650920"/>
          </a:xfrm>
        </p:grpSpPr>
        <p:pic>
          <p:nvPicPr>
            <p:cNvPr descr="IP Suite" id="74" name="Picture 73"/>
            <p:cNvPicPr/>
            <p:nvPr/>
          </p:nvPicPr>
          <p:blipFill>
            <a:blip r:embed="rId3"/>
            <a:stretch/>
          </p:blipFill>
          <p:spPr>
            <a:xfrm>
              <a:off x="3452760" y="822960"/>
              <a:ext cx="4776840" cy="5650920"/>
            </a:xfrm>
            <a:prstGeom prst="rect">
              <a:avLst/>
            </a:prstGeom>
            <a:ln w="54720">
              <a:noFill/>
            </a:ln>
          </p:spPr>
        </p:pic>
        <p:pic>
          <p:nvPicPr>
            <p:cNvPr descr="IP Suite" id="77" name="Picture 76"/>
            <p:cNvPicPr/>
            <p:nvPr/>
          </p:nvPicPr>
          <p:blipFill>
            <a:blip r:embed="rId2"/>
            <a:stretch/>
          </p:blipFill>
          <p:spPr>
            <a:xfrm>
              <a:off x="8595360" y="1278720"/>
              <a:ext cx="3474720" cy="4611960"/>
            </a:xfrm>
            <a:prstGeom prst="rect">
              <a:avLst/>
            </a:prstGeom>
            <a:ln w="54720">
              <a:noFill/>
            </a:ln>
          </p:spPr>
        </p:pic>
      </p:grpSp>
      <p:sp>
        <p:nvSpPr>
          <p:cNvPr id="78" name="TextBox 77"/>
          <p:cNvSpPr txBox="1"/>
          <p:nvPr/>
        </p:nvSpPr>
        <p:spPr>
          <a:xfrm>
            <a:off x="457200" y="6126480"/>
            <a:ext cx="8595360" cy="120564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r>
              <a:rPr b="0" dirty="0" lang="en-US" spc="-1" strike="noStrike" sz="1800">
                <a:solidFill>
                  <a:srgbClr val="000000"/>
                </a:solidFill>
                <a:latin typeface="Arial"/>
              </a:rPr>
              <a:t>We reject kings, presidents, and voting. We believe in rough consensus</a:t>
            </a:r>
            <a:endParaRPr b="0" dirty="0" lang="en-US" spc="-1" strike="noStrike" sz="1800">
              <a:solidFill>
                <a:srgbClr val="000000"/>
              </a:solidFill>
              <a:latin typeface="Cantarell"/>
            </a:endParaRPr>
          </a:p>
          <a:p>
            <a:r>
              <a:rPr b="0" dirty="0" lang="en-US" spc="-1" strike="noStrike" sz="1800">
                <a:solidFill>
                  <a:srgbClr val="000000"/>
                </a:solidFill>
                <a:latin typeface="Arial"/>
              </a:rPr>
              <a:t>and running code. (David Clark, IETF, July 1992)</a:t>
            </a:r>
            <a:endParaRPr b="0" dirty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79" name="Title 8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9"/>
          <p:cNvSpPr/>
          <p:nvPr/>
        </p:nvSpPr>
        <p:spPr>
          <a:xfrm>
            <a:off x="1097280" y="201168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Apps (HTTP)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97280" y="31089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Transport (TCP/UDP)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77840" y="402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Network (IP)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77840" y="4887360"/>
            <a:ext cx="2286000" cy="64008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Link (Ethernet)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17280" y="201168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Apps (HTTP)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17280" y="31089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Transport (TCP/UDP)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97840" y="402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Network (IP)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97840" y="4887360"/>
            <a:ext cx="2286000" cy="64008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Link (Ethernet)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741840" y="5139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Ethernet Interface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0" y="4023360"/>
            <a:ext cx="2468880" cy="173736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441840" y="510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Ethernet Interface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57600" y="4023360"/>
            <a:ext cx="2468880" cy="173736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traight Connector 91"/>
          <p:cNvSpPr/>
          <p:nvPr/>
        </p:nvSpPr>
        <p:spPr>
          <a:xfrm>
            <a:off x="3383280" y="3291840"/>
            <a:ext cx="5634000" cy="0"/>
          </a:xfrm>
          <a:prstGeom prst="line">
            <a:avLst/>
          </a:prstGeom>
          <a:ln w="54720">
            <a:solidFill>
              <a:srgbClr val="FF3838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63520" y="2926080"/>
            <a:ext cx="12718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Segments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traight Connector 93"/>
          <p:cNvSpPr/>
          <p:nvPr/>
        </p:nvSpPr>
        <p:spPr>
          <a:xfrm>
            <a:off x="3383280" y="2250720"/>
            <a:ext cx="5634000" cy="0"/>
          </a:xfrm>
          <a:prstGeom prst="line">
            <a:avLst/>
          </a:prstGeom>
          <a:ln w="54720">
            <a:solidFill>
              <a:srgbClr val="FF0000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899520" y="1884960"/>
            <a:ext cx="6760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Data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traight Connector 95"/>
          <p:cNvSpPr/>
          <p:nvPr/>
        </p:nvSpPr>
        <p:spPr>
          <a:xfrm>
            <a:off x="3383280" y="4410720"/>
            <a:ext cx="5634000" cy="0"/>
          </a:xfrm>
          <a:prstGeom prst="line">
            <a:avLst/>
          </a:prstGeom>
          <a:ln w="54720">
            <a:solidFill>
              <a:srgbClr val="3465A4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863520" y="4044960"/>
            <a:ext cx="104472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Packets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traight Connector 97"/>
          <p:cNvSpPr/>
          <p:nvPr/>
        </p:nvSpPr>
        <p:spPr>
          <a:xfrm>
            <a:off x="3383280" y="5274720"/>
            <a:ext cx="5634000" cy="0"/>
          </a:xfrm>
          <a:prstGeom prst="line">
            <a:avLst/>
          </a:prstGeom>
          <a:ln w="54720">
            <a:solidFill>
              <a:srgbClr val="069A2E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863520" y="4764960"/>
            <a:ext cx="9928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Frames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268360" y="6146640"/>
            <a:ext cx="166680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Bits (1010001)</a:t>
            </a:r>
          </a:p>
        </p:txBody>
      </p:sp>
      <p:pic>
        <p:nvPicPr>
          <p:cNvPr id="101" name="Picture 1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5840" y="66960"/>
            <a:ext cx="2590560" cy="1761840"/>
          </a:xfrm>
          <a:prstGeom prst="rect">
            <a:avLst/>
          </a:prstGeom>
          <a:ln w="54720">
            <a:noFill/>
          </a:ln>
        </p:spPr>
      </p:pic>
      <p:cxnSp>
        <p:nvCxnSpPr>
          <p:cNvPr id="102" name="Elbow Connector 101"/>
          <p:cNvCxnSpPr>
            <a:stCxn id="83" idx="0"/>
            <a:endCxn id="89" idx="2"/>
          </p:cNvCxnSpPr>
          <p:nvPr/>
        </p:nvCxnSpPr>
        <p:spPr>
          <a:xfrm flipH="1" rot="16200000">
            <a:off x="3439800" y="4308480"/>
            <a:ext cx="233640" cy="2671560"/>
          </a:xfrm>
          <a:prstGeom prst="bentConnector3">
            <a:avLst>
              <a:gd fmla="val 491975" name="adj1"/>
            </a:avLst>
          </a:prstGeom>
          <a:ln w="54720">
            <a:solidFill>
              <a:srgbClr val="FF0000"/>
            </a:solidFill>
            <a:custDash>
              <a:ds d="33553" sp="83553"/>
              <a:ds d="33553" sp="83553"/>
              <a:ds d="167105" sp="83553"/>
              <a:ds d="167105" sp="83553"/>
              <a:ds d="167105" sp="83553"/>
            </a:custDash>
            <a:round/>
          </a:ln>
        </p:spPr>
      </p:cxnSp>
      <p:cxnSp>
        <p:nvCxnSpPr>
          <p:cNvPr id="103" name="Elbow Connector 102"/>
          <p:cNvCxnSpPr>
            <a:stCxn id="89" idx="0"/>
            <a:endCxn id="91" idx="2"/>
          </p:cNvCxnSpPr>
          <p:nvPr/>
        </p:nvCxnSpPr>
        <p:spPr>
          <a:xfrm rot="16200000">
            <a:off x="6242040" y="4410720"/>
            <a:ext cx="360" cy="2700360"/>
          </a:xfrm>
          <a:prstGeom prst="bentConnector3">
            <a:avLst>
              <a:gd fmla="val 101600000" name="adj1"/>
            </a:avLst>
          </a:prstGeom>
          <a:ln w="54720">
            <a:solidFill>
              <a:srgbClr val="158466"/>
            </a:solidFill>
            <a:round/>
          </a:ln>
        </p:spPr>
      </p:cxnSp>
      <p:cxnSp>
        <p:nvCxnSpPr>
          <p:cNvPr id="104" name="Elbow Connector 103"/>
          <p:cNvCxnSpPr>
            <a:stCxn id="91" idx="2"/>
            <a:endCxn id="87" idx="2"/>
          </p:cNvCxnSpPr>
          <p:nvPr/>
        </p:nvCxnSpPr>
        <p:spPr>
          <a:xfrm flipH="1" flipV="1" rot="5400000">
            <a:off x="8749800" y="4369680"/>
            <a:ext cx="233640" cy="2549160"/>
          </a:xfrm>
          <a:prstGeom prst="bentConnector3">
            <a:avLst>
              <a:gd fmla="val -391975" name="adj1"/>
            </a:avLst>
          </a:prstGeom>
          <a:ln w="54720">
            <a:solidFill>
              <a:srgbClr val="FF0000"/>
            </a:solidFill>
            <a:custDash>
              <a:ds d="197000" sp="197000"/>
            </a:custDash>
            <a:round/>
          </a:ln>
        </p:spPr>
      </p:cxnSp>
      <p:pic>
        <p:nvPicPr>
          <p:cNvPr id="105" name="Picture 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869680" y="91440"/>
            <a:ext cx="2590560" cy="1761840"/>
          </a:xfrm>
          <a:prstGeom prst="rect">
            <a:avLst/>
          </a:prstGeom>
          <a:ln w="54720">
            <a:noFill/>
          </a:ln>
        </p:spPr>
      </p:pic>
      <p:sp>
        <p:nvSpPr>
          <p:cNvPr id="106" name="Title 9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B986670E-01A4-4D7B-34FA-F5D0B3E09EBC}"/>
              </a:ext>
            </a:extLst>
          </p:cNvPr>
          <p:cNvSpPr txBox="1">
            <a:spLocks noGrp="1"/>
          </p:cNvSpPr>
          <p:nvPr>
            <p:ph idx="4294967295" type="title"/>
          </p:nvPr>
        </p:nvSpPr>
        <p:spPr>
          <a:xfrm>
            <a:off x="4501871" y="-22662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kern="1200" sz="4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  <a:lvl6pPr>
              <a:defRPr>
                <a:latin typeface="+mn-lt"/>
                <a:ea typeface="+mn-ea"/>
                <a:cs typeface="+mn-cs"/>
              </a:defRPr>
            </a:lvl6pPr>
            <a:lvl7pPr>
              <a:defRPr>
                <a:latin typeface="+mn-lt"/>
                <a:ea typeface="+mn-ea"/>
                <a:cs typeface="+mn-cs"/>
              </a:defRPr>
            </a:lvl7pPr>
            <a:lvl8pPr>
              <a:defRPr>
                <a:latin typeface="+mn-lt"/>
                <a:ea typeface="+mn-ea"/>
                <a:cs typeface="+mn-cs"/>
              </a:defRPr>
            </a:lvl8pPr>
            <a:lvl9pPr>
              <a:defRPr>
                <a:latin typeface="+mn-lt"/>
                <a:ea typeface="+mn-ea"/>
                <a:cs typeface="+mn-cs"/>
              </a:defRPr>
            </a:lvl9pPr>
          </a:lstStyle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TCP/IP Layers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What does it take to create a link?" id="107" name="Title 10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7120" cy="12902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2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What does it take to create a link?</a:t>
            </a:r>
            <a:endParaRPr b="0" baseline="0" cap="none" dirty="0" i="0" kern="1200" kumimoji="0" lang="en-US" noProof="0" normalizeH="0" spc="-1" strike="noStrike" sz="3200" u="none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266120" y="5394960"/>
            <a:ext cx="8039520" cy="102348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000">
                <a:solidFill>
                  <a:srgbClr val="000000"/>
                </a:solidFill>
                <a:latin typeface="Montserrat"/>
              </a:rPr>
              <a:t>Common abstractions</a:t>
            </a:r>
            <a:endParaRPr b="0" lang="en-US" spc="-1" strike="noStrike" sz="20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000">
                <a:solidFill>
                  <a:srgbClr val="000000"/>
                </a:solidFill>
                <a:latin typeface="Montserrat"/>
              </a:rPr>
              <a:t>Why?</a:t>
            </a:r>
            <a:endParaRPr b="0" lang="en-US" spc="-1" strike="noStrike" sz="2000">
              <a:solidFill>
                <a:srgbClr val="000000"/>
              </a:solidFill>
              <a:latin typeface="Arial"/>
            </a:endParaRPr>
          </a:p>
        </p:txBody>
      </p:sp>
      <p:pic>
        <p:nvPicPr>
          <p:cNvPr descr="What does it take to create a link?" id="109" name="Picture 108"/>
          <p:cNvPicPr/>
          <p:nvPr/>
        </p:nvPicPr>
        <p:blipFill>
          <a:blip r:embed="rId2"/>
          <a:stretch/>
        </p:blipFill>
        <p:spPr>
          <a:xfrm>
            <a:off x="2011680" y="1694520"/>
            <a:ext cx="7717320" cy="3517560"/>
          </a:xfrm>
          <a:prstGeom prst="rect">
            <a:avLst/>
          </a:prstGeom>
          <a:ln w="54720">
            <a:noFill/>
          </a:ln>
        </p:spPr>
      </p:pic>
      <p:sp>
        <p:nvSpPr>
          <p:cNvPr id="110" name="Title 10"/>
          <p:cNvSpPr txBox="1"/>
          <p:nvPr/>
        </p:nvSpPr>
        <p:spPr>
          <a:xfrm>
            <a:off x="0" y="0"/>
            <a:ext cx="36000" cy="427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acket to Low level Signals" id="111" name="Title 11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7120" cy="12902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2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Packet to Low level Signals</a:t>
            </a:r>
            <a:endParaRPr b="0" baseline="0" cap="none" dirty="0" i="0" kern="1200" kumimoji="0" lang="en-US" noProof="0" normalizeH="0" spc="-1" strike="noStrike" sz="3200" u="none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57920" y="2387880"/>
            <a:ext cx="11334960" cy="2103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Bit pattern - 0101001</a:t>
            </a:r>
            <a:endParaRPr b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Must encode it into electrical signals and then decode it on the other end!</a:t>
            </a:r>
            <a:endParaRPr b="0" lang="en-US" spc="-1" strike="noStrike" sz="2600">
              <a:solidFill>
                <a:srgbClr val="000000"/>
              </a:solidFill>
              <a:latin typeface="Arial"/>
            </a:endParaRPr>
          </a:p>
        </p:txBody>
      </p:sp>
      <p:pic>
        <p:nvPicPr>
          <p:cNvPr descr="Frames " id="113" name="Picture 112"/>
          <p:cNvPicPr/>
          <p:nvPr/>
        </p:nvPicPr>
        <p:blipFill>
          <a:blip r:embed="rId2"/>
          <a:stretch/>
        </p:blipFill>
        <p:spPr>
          <a:xfrm>
            <a:off x="2107440" y="3790800"/>
            <a:ext cx="7676640" cy="2352240"/>
          </a:xfrm>
          <a:prstGeom prst="rect">
            <a:avLst/>
          </a:prstGeom>
          <a:ln w="54720">
            <a:noFill/>
          </a:ln>
        </p:spPr>
      </p:pic>
      <p:sp>
        <p:nvSpPr>
          <p:cNvPr id="114" name="Title 11"/>
          <p:cNvSpPr txBox="1"/>
          <p:nvPr/>
        </p:nvSpPr>
        <p:spPr>
          <a:xfrm>
            <a:off x="0" y="0"/>
            <a:ext cx="36000" cy="427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Frames – bag of bits " id="115" name="Title 12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Frames – bag of bits 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descr="Frames" id="116" name="Picture 115"/>
          <p:cNvPicPr/>
          <p:nvPr/>
        </p:nvPicPr>
        <p:blipFill>
          <a:blip r:embed="rId3"/>
          <a:stretch/>
        </p:blipFill>
        <p:spPr>
          <a:xfrm>
            <a:off x="2682360" y="2177640"/>
            <a:ext cx="6886080" cy="2523600"/>
          </a:xfrm>
          <a:prstGeom prst="rect">
            <a:avLst/>
          </a:prstGeom>
          <a:ln w="54720"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548640" y="4846320"/>
            <a:ext cx="11578680" cy="279684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Bits - between adaptors </a:t>
            </a:r>
            <a:endParaRPr b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Frames – between hosts (two computers)</a:t>
            </a:r>
            <a:endParaRPr b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The job of adaptors is to find frames in a bit sequence</a:t>
            </a:r>
            <a:br>
              <a:rPr sz="2600"/>
            </a:br>
            <a:r>
              <a:rPr b="0" lang="en-US" spc="-1" strike="noStrike" sz="26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Frames are link layer protocols</a:t>
            </a:r>
            <a:endParaRPr b="0" lang="en-US" spc="-1" strike="noStrike" sz="2600">
              <a:solidFill>
                <a:srgbClr val="000000"/>
              </a:solidFill>
              <a:latin typeface="Arial"/>
            </a:endParaRPr>
          </a:p>
          <a:p>
            <a:endParaRPr b="0" lang="en-US" spc="-1" strike="noStrike" sz="26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itle 12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/>
          </p:cNvSpPr>
          <p:nvPr/>
        </p:nvSpPr>
        <p:spPr>
          <a:xfrm>
            <a:off x="912240" y="518040"/>
            <a:ext cx="11042640" cy="762120"/>
          </a:xfrm>
          <a:prstGeom prst="rect">
            <a:avLst/>
          </a:prstGeom>
          <a:noFill/>
          <a:ln w="0">
            <a:noFill/>
            <a:prstDash/>
          </a:ln>
          <a:effectLst/>
        </p:spPr>
        <p:txBody>
          <a:bodyPr anchor="b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216000" marR="0" rtl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i="0" kern="1200" kumimoji="0" lang="en-US" noProof="0" normalizeH="0" spc="-1" strike="noStrike" sz="32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j-ea"/>
                <a:cs typeface="+mj-cs"/>
              </a:rPr>
              <a:t>Point to Point Links</a:t>
            </a:r>
            <a:endParaRPr b="0" baseline="0" cap="none" i="0" kern="1200" kumimoji="0" lang="en-US" noProof="0" normalizeH="0" spc="-1" strike="noStrike" sz="32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j-ea"/>
              <a:cs typeface="+mj-cs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idx="4294967295" type="title"/>
          </p:nvPr>
        </p:nvSpPr>
        <p:spPr>
          <a:xfrm>
            <a:off x="912813" y="1125538"/>
            <a:ext cx="11026775" cy="5111750"/>
          </a:xfrm>
          <a:prstGeom prst="rect">
            <a:avLst/>
          </a:prstGeom>
          <a:noFill/>
          <a:ln w="0">
            <a:noFill/>
            <a:prstDash/>
          </a:ln>
          <a:effectLst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>
              <a:avLst/>
            </a:prstTxWarp>
            <a:normAutofit/>
          </a:bodyPr>
          <a:lstStyle/>
          <a:p>
            <a:pPr algn="l" defTabSz="914400" eaLnBrk="1" fontAlgn="auto" hangingPunct="1" indent="0" latinLnBrk="0" lvl="0" marL="432000" marR="0" rtl="0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Tx/>
              <a:buSzTx/>
              <a:buFont charset="0" panose="020B0604020202020204" pitchFamily="34" typeface="Arial"/>
              <a:buNone/>
              <a:tabLst/>
              <a:defRPr/>
            </a:pPr>
            <a:endParaRPr b="0" baseline="0" cap="none" dirty="0" i="0" kern="1200" kumimoji="0" lang="en-US" noProof="0" normalizeH="0" spc="-1" strike="noStrike" sz="2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  <a:p>
            <a:pPr algn="l" defTabSz="914400" eaLnBrk="1" fontAlgn="auto" hangingPunct="1" indent="-216000" latinLnBrk="0" lvl="0" marL="216000" marR="0" rtl="0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ct val="45000"/>
              <a:buFont charset="2" typeface="Wingdings"/>
              <a:buChar char=""/>
              <a:tabLst/>
              <a:defRPr/>
            </a:pPr>
            <a:r>
              <a:rPr b="0" baseline="0" cap="none" dirty="0" i="0" kern="1200" kumimoji="0" lang="en-US" noProof="0" normalizeH="0" spc="-1" strike="noStrike" sz="24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tarell"/>
                <a:ea typeface="+mn-ea"/>
                <a:cs typeface="+mn-cs"/>
              </a:rPr>
              <a:t>Requirements:</a:t>
            </a:r>
          </a:p>
          <a:p>
            <a:pPr algn="l" defTabSz="914400" eaLnBrk="1" fontAlgn="auto" hangingPunct="1" indent="-216000" latinLnBrk="0" lvl="1" marL="432000" marR="0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45000"/>
              <a:buFont charset="2" typeface="Wingdings"/>
              <a:buChar char=""/>
              <a:tabLst/>
              <a:defRPr/>
            </a:pPr>
            <a:r>
              <a:rPr b="0" baseline="0" cap="none" dirty="0" i="0" kern="1200" kumimoji="0" lang="en-US" noProof="0" normalizeH="0" spc="-1" strike="noStrike" sz="24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tarell"/>
                <a:ea typeface="+mn-ea"/>
                <a:cs typeface="+mn-cs"/>
              </a:rPr>
              <a:t>Packet framing: encapsulation of network-layer datagram in data link frame</a:t>
            </a:r>
          </a:p>
          <a:p>
            <a:pPr algn="l" defTabSz="914400" eaLnBrk="1" fontAlgn="auto" hangingPunct="1" indent="-216000" latinLnBrk="0" lvl="1" marL="432000" marR="0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45000"/>
              <a:buFont charset="2" typeface="Wingdings"/>
              <a:buChar char=""/>
              <a:tabLst/>
              <a:defRPr/>
            </a:pPr>
            <a:r>
              <a:rPr b="0" baseline="0" cap="none" dirty="0" i="0" kern="1200" kumimoji="0" lang="en-US" noProof="0" normalizeH="0" spc="-1" strike="noStrike" sz="24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tarell"/>
                <a:ea typeface="+mn-ea"/>
                <a:cs typeface="+mn-cs"/>
              </a:rPr>
              <a:t>Bit transparency: Does not care about what its carrying</a:t>
            </a:r>
          </a:p>
          <a:p>
            <a:pPr algn="l" defTabSz="914400" eaLnBrk="1" fontAlgn="auto" hangingPunct="1" indent="-216000" latinLnBrk="0" lvl="1" marL="432000" marR="0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45000"/>
              <a:buFont charset="2" typeface="Wingdings"/>
              <a:buChar char=""/>
              <a:tabLst/>
              <a:defRPr/>
            </a:pPr>
            <a:r>
              <a:rPr b="0" baseline="0" cap="none" dirty="0" i="0" kern="1200" kumimoji="0" lang="en-US" noProof="0" normalizeH="0" spc="-1" strike="noStrike" sz="24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tarell"/>
                <a:ea typeface="+mn-ea"/>
                <a:cs typeface="+mn-cs"/>
              </a:rPr>
              <a:t>Error Detection: Correction is on upper layers</a:t>
            </a:r>
          </a:p>
          <a:p>
            <a:pPr algn="l" defTabSz="914400" eaLnBrk="1" fontAlgn="auto" hangingPunct="1" indent="-216000" latinLnBrk="0" lvl="1" marL="432000" marR="0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45000"/>
              <a:buFont charset="2" typeface="Wingdings"/>
              <a:buChar char=""/>
              <a:tabLst/>
              <a:defRPr/>
            </a:pPr>
            <a:r>
              <a:rPr b="0" baseline="0" cap="none" dirty="0" i="0" kern="1200" kumimoji="0" lang="en-US" noProof="0" normalizeH="0" spc="-1" strike="noStrike" sz="24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tarell"/>
                <a:ea typeface="+mn-ea"/>
                <a:cs typeface="+mn-cs"/>
              </a:rPr>
              <a:t>Connection liveness</a:t>
            </a:r>
          </a:p>
          <a:p>
            <a:pPr algn="l" defTabSz="914400" eaLnBrk="1" fontAlgn="auto" hangingPunct="1" indent="-216000" latinLnBrk="0" lvl="1" marL="432000" marR="0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45000"/>
              <a:buFont charset="2" typeface="Wingdings"/>
              <a:buChar char=""/>
              <a:tabLst/>
              <a:defRPr/>
            </a:pPr>
            <a:r>
              <a:rPr b="0" baseline="0" cap="none" dirty="0" i="0" kern="1200" kumimoji="0" lang="en-US" noProof="0" normalizeH="0" spc="-1" strike="noStrike" sz="24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tarell"/>
                <a:ea typeface="+mn-ea"/>
                <a:cs typeface="+mn-cs"/>
              </a:rPr>
              <a:t>Network layer address negotiation</a:t>
            </a:r>
          </a:p>
        </p:txBody>
      </p:sp>
      <p:pic>
        <p:nvPicPr>
          <p:cNvPr descr="P2P frame" id="121" name="Picture 5"/>
          <p:cNvPicPr/>
          <p:nvPr/>
        </p:nvPicPr>
        <p:blipFill>
          <a:blip r:embed="rId3"/>
          <a:stretch/>
        </p:blipFill>
        <p:spPr>
          <a:xfrm>
            <a:off x="1589040" y="5866674"/>
            <a:ext cx="8852760" cy="731520"/>
          </a:xfrm>
          <a:prstGeom prst="rect">
            <a:avLst/>
          </a:prstGeom>
          <a:ln w="54720">
            <a:noFill/>
          </a:ln>
        </p:spPr>
      </p:pic>
      <p:sp>
        <p:nvSpPr>
          <p:cNvPr id="122" name="Title 13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4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Reliable Delivery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" name="CustomShape 11"/>
          <p:cNvSpPr/>
          <p:nvPr/>
        </p:nvSpPr>
        <p:spPr>
          <a:xfrm>
            <a:off x="1081440" y="1989000"/>
            <a:ext cx="10345320" cy="440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CustomShape 12"/>
          <p:cNvSpPr/>
          <p:nvPr/>
        </p:nvSpPr>
        <p:spPr>
          <a:xfrm>
            <a:off x="1081440" y="1989000"/>
            <a:ext cx="10345320" cy="440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dirty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Frames might get lost</a:t>
            </a:r>
            <a:endParaRPr b="0" dirty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dirty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Too many bits lost</a:t>
            </a:r>
            <a:endParaRPr b="0" dirty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dirty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Clock did not sync properly</a:t>
            </a:r>
            <a:endParaRPr b="0" dirty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dirty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Error detected but the report got lost</a:t>
            </a:r>
            <a:br>
              <a:rPr dirty="0" sz="2200"/>
            </a:br>
            <a:r>
              <a:rPr b="0" dirty="0" lang="en-US" spc="-1" strike="noStrike" sz="2200">
                <a:solidFill>
                  <a:srgbClr val="000000"/>
                </a:solidFill>
                <a:latin typeface="Montserrat"/>
              </a:rPr>
              <a:t> </a:t>
            </a:r>
            <a:endParaRPr b="0" dirty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dirty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Can we build links that does not have errors?</a:t>
            </a:r>
            <a:endParaRPr b="0" dirty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dirty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Not possible</a:t>
            </a:r>
            <a:br>
              <a:rPr dirty="0" sz="2200"/>
            </a:br>
            <a:r>
              <a:rPr b="0" dirty="0" lang="en-US" spc="-1" strike="noStrike" sz="2200">
                <a:solidFill>
                  <a:srgbClr val="000000"/>
                </a:solidFill>
                <a:latin typeface="Montserrat"/>
              </a:rPr>
              <a:t> </a:t>
            </a:r>
            <a:endParaRPr b="0" dirty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dirty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How about all those error correction stuff we learned?</a:t>
            </a:r>
            <a:endParaRPr b="0" dirty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dirty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Can we add them to frames?</a:t>
            </a:r>
            <a:endParaRPr b="0" dirty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dirty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We could, but think of the overhead</a:t>
            </a:r>
            <a:endParaRPr b="0" dirty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dirty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What happens when the entire frame is lost?</a:t>
            </a:r>
            <a:endParaRPr b="0" dirty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endParaRPr b="0" dirty="0" lang="en-US" spc="-1" strike="noStrike" sz="22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itle 14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5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Stop and Wait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8" name="CustomShape 17"/>
          <p:cNvSpPr/>
          <p:nvPr/>
        </p:nvSpPr>
        <p:spPr>
          <a:xfrm>
            <a:off x="1081440" y="1989000"/>
            <a:ext cx="10345320" cy="440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pic>
        <p:nvPicPr>
          <p:cNvPr descr="Stop and wait protocol" id="129" name="Picture 3"/>
          <p:cNvPicPr/>
          <p:nvPr/>
        </p:nvPicPr>
        <p:blipFill>
          <a:blip r:embed="rId3"/>
          <a:stretch/>
        </p:blipFill>
        <p:spPr>
          <a:xfrm>
            <a:off x="6816600" y="952560"/>
            <a:ext cx="4610160" cy="4209840"/>
          </a:xfrm>
          <a:prstGeom prst="rect">
            <a:avLst/>
          </a:prstGeom>
          <a:ln w="54720">
            <a:noFill/>
          </a:ln>
        </p:spPr>
      </p:pic>
      <p:sp>
        <p:nvSpPr>
          <p:cNvPr id="130" name="CustomShape 18"/>
          <p:cNvSpPr/>
          <p:nvPr/>
        </p:nvSpPr>
        <p:spPr>
          <a:xfrm>
            <a:off x="1081440" y="1989000"/>
            <a:ext cx="10345320" cy="440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dirty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Sender sends a frame, sets a </a:t>
            </a:r>
            <a:br>
              <a:rPr dirty="0" sz="2600"/>
            </a:br>
            <a:r>
              <a:rPr b="0" dirty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timeout (e.g., 1 sec)</a:t>
            </a:r>
            <a:br>
              <a:rPr dirty="0" sz="2600"/>
            </a:br>
            <a:r>
              <a:rPr b="0" dirty="0" lang="en-US" spc="-1" strike="noStrike" sz="2600">
                <a:solidFill>
                  <a:srgbClr val="000000"/>
                </a:solidFill>
                <a:latin typeface="Montserrat"/>
              </a:rPr>
              <a:t> </a:t>
            </a:r>
            <a:endParaRPr b="0" dirty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dirty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Receiver receives the frame, </a:t>
            </a:r>
            <a:endParaRPr b="0" dirty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dirty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sends an ACK</a:t>
            </a:r>
            <a:br>
              <a:rPr dirty="0" sz="2600"/>
            </a:br>
            <a:endParaRPr b="0" dirty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dirty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Sender </a:t>
            </a:r>
            <a:endParaRPr b="0" dirty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dirty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sends the next frame on ACK</a:t>
            </a:r>
            <a:endParaRPr b="0" dirty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dirty="0" lang="en-US" spc="-1" strike="noStrike" sz="2600">
                <a:solidFill>
                  <a:srgbClr val="000000"/>
                </a:solidFill>
                <a:latin typeface="Montserrat"/>
                <a:ea typeface="Montserrat"/>
              </a:rPr>
              <a:t>retransmits the same frame if timeout happens</a:t>
            </a:r>
            <a:br>
              <a:rPr dirty="0" sz="2600"/>
            </a:br>
            <a:r>
              <a:rPr b="0" dirty="0" lang="en-US" spc="-1" strike="noStrike" sz="2600">
                <a:solidFill>
                  <a:srgbClr val="000000"/>
                </a:solidFill>
                <a:latin typeface="Montserrat"/>
              </a:rPr>
              <a:t> </a:t>
            </a:r>
            <a:endParaRPr b="0" dirty="0" lang="en-US" spc="-1" strike="noStrike" sz="2600">
              <a:solidFill>
                <a:srgbClr val="000000"/>
              </a:solidFill>
              <a:latin typeface="Arial"/>
            </a:endParaRPr>
          </a:p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1" dirty="0" lang="en-US" spc="-1" strike="noStrike" sz="2600">
                <a:solidFill>
                  <a:srgbClr val="CE181E"/>
                </a:solidFill>
                <a:latin typeface="Montserrat"/>
                <a:ea typeface="Montserrat"/>
              </a:rPr>
              <a:t>If I had to attack this protocol, how would I do it?</a:t>
            </a:r>
            <a:endParaRPr b="0" dirty="0" lang="en-US" spc="-1" strike="noStrike" sz="26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itle 15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 16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Ethernet – Wire as Shared Medium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822960" y="1651680"/>
            <a:ext cx="11578680" cy="332856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marL="216000">
              <a:lnSpc>
                <a:spcPct val="9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lang="en-US" spc="-1" strike="noStrike" sz="2400">
                <a:solidFill>
                  <a:srgbClr val="C9211E"/>
                </a:solidFill>
                <a:latin typeface="Montserrat"/>
                <a:ea typeface="Montserrat"/>
              </a:rPr>
              <a:t>We created a frame – how to use it for communication?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marL="216000">
              <a:lnSpc>
                <a:spcPct val="9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br>
              <a:rPr sz="2400"/>
            </a:b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Most successful local area networking technology of last 20 years.</a:t>
            </a:r>
            <a:br>
              <a:rPr sz="2400"/>
            </a:b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Developed in the mid-1970s by researchers at the Xerox Palo Alto Research Centers (PARC).</a:t>
            </a:r>
            <a:br>
              <a:rPr sz="2400"/>
            </a:b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marL="216000"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For alohanet the medium was the atmosphere, for ethernet, coax cables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</p:txBody>
      </p:sp>
      <p:pic>
        <p:nvPicPr>
          <p:cNvPr descr="Ethernet" id="134" name="Picture 133"/>
          <p:cNvPicPr/>
          <p:nvPr/>
        </p:nvPicPr>
        <p:blipFill>
          <a:blip r:embed="rId3"/>
          <a:stretch/>
        </p:blipFill>
        <p:spPr>
          <a:xfrm>
            <a:off x="3446640" y="4937760"/>
            <a:ext cx="4965840" cy="1819800"/>
          </a:xfrm>
          <a:prstGeom prst="rect">
            <a:avLst/>
          </a:prstGeom>
          <a:ln w="54720">
            <a:noFill/>
          </a:ln>
        </p:spPr>
      </p:pic>
      <p:sp>
        <p:nvSpPr>
          <p:cNvPr id="135" name="TextBox 134"/>
          <p:cNvSpPr txBox="1"/>
          <p:nvPr/>
        </p:nvSpPr>
        <p:spPr>
          <a:xfrm>
            <a:off x="4165560" y="5486400"/>
            <a:ext cx="955080" cy="34668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highlight>
                  <a:srgbClr val="FFF200"/>
                </a:highlight>
                <a:latin typeface="Arial"/>
              </a:rPr>
              <a:t>Frames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7365960" y="5505480"/>
            <a:ext cx="955080" cy="34668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highlight>
                  <a:srgbClr val="FFF200"/>
                </a:highlight>
                <a:latin typeface="Arial"/>
              </a:rPr>
              <a:t>Frames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itle 16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thernet is a broadcast medium" id="138" name="Picture 4"/>
          <p:cNvPicPr/>
          <p:nvPr/>
        </p:nvPicPr>
        <p:blipFill>
          <a:blip r:embed="rId3"/>
          <a:stretch/>
        </p:blipFill>
        <p:spPr>
          <a:xfrm>
            <a:off x="1487880" y="1125360"/>
            <a:ext cx="9262800" cy="4319640"/>
          </a:xfrm>
          <a:prstGeom prst="rect">
            <a:avLst/>
          </a:prstGeom>
          <a:ln w="54720">
            <a:noFill/>
          </a:ln>
        </p:spPr>
      </p:pic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14320" y="47160"/>
            <a:ext cx="11042640" cy="77004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lstStyle/>
          <a:p>
            <a:pPr indent="0" marL="216000">
              <a:buNone/>
            </a:pPr>
            <a:r>
              <a:rPr b="1" dirty="0" lang="en-US" spc="-1" strike="noStrike" sz="4400">
                <a:solidFill>
                  <a:srgbClr val="000000"/>
                </a:solidFill>
                <a:latin typeface="Cantarell"/>
              </a:rPr>
              <a:t>Ethernet</a:t>
            </a:r>
            <a:endParaRPr b="0" dirty="0" lang="en-US" spc="-1" strike="noStrike" sz="44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0" name="Text Box 2"/>
          <p:cNvSpPr/>
          <p:nvPr/>
        </p:nvSpPr>
        <p:spPr>
          <a:xfrm>
            <a:off x="5410440" y="5805360"/>
            <a:ext cx="216036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46800" lIns="90000" rIns="90000" tIns="46800" wrap="none">
            <a:spAutoFit/>
          </a:bodyPr>
          <a:lstStyle/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pc="-1" strike="noStrike" sz="2000">
                <a:solidFill>
                  <a:srgbClr val="000099"/>
                </a:solidFill>
                <a:latin typeface="Arial"/>
              </a:rPr>
              <a:t>Ethernet repeater</a:t>
            </a:r>
            <a:endParaRPr b="0" lang="en-US" spc="-1" strike="noStrike" sz="2000">
              <a:solidFill>
                <a:srgbClr val="000000"/>
              </a:solidFill>
              <a:latin typeface="Arial Black"/>
            </a:endParaRPr>
          </a:p>
        </p:txBody>
      </p:sp>
      <p:sp>
        <p:nvSpPr>
          <p:cNvPr id="141" name="Title 17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8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Ethernet – Random Access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822960" y="2011680"/>
            <a:ext cx="11578680" cy="408420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marL="216000">
              <a:lnSpc>
                <a:spcPct val="9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How to allow many adaptors to send frames over the wire?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9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Random access</a:t>
            </a:r>
            <a:br>
              <a:rPr sz="2200"/>
            </a:br>
            <a:r>
              <a:rPr b="1" lang="en-US" spc="-1" strike="noStrike" sz="22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9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When you have data – send at Full channel rate!</a:t>
            </a:r>
            <a:endParaRPr b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9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No coordination needed.</a:t>
            </a:r>
            <a:br>
              <a:rPr sz="2200"/>
            </a:br>
            <a:r>
              <a:rPr b="0" lang="en-US" spc="-1" strike="noStrike" sz="22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marL="216000">
              <a:lnSpc>
                <a:spcPct val="9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If collision happens</a:t>
            </a:r>
            <a:endParaRPr b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9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Detect</a:t>
            </a:r>
            <a:endParaRPr b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9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Recover</a:t>
            </a:r>
            <a:endParaRPr b="0" lang="en-US" spc="-1" strike="noStrike" sz="22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9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200">
                <a:solidFill>
                  <a:srgbClr val="000000"/>
                </a:solidFill>
                <a:latin typeface="Montserrat"/>
                <a:ea typeface="Montserrat"/>
              </a:rPr>
              <a:t>Retransmit</a:t>
            </a:r>
            <a:endParaRPr b="0" lang="en-US" spc="-1" strike="noStrike" sz="22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itle 18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thernet header" id="145" name="Picture 6"/>
          <p:cNvPicPr/>
          <p:nvPr/>
        </p:nvPicPr>
        <p:blipFill>
          <a:blip r:embed="rId3"/>
          <a:stretch/>
        </p:blipFill>
        <p:spPr>
          <a:xfrm>
            <a:off x="2446920" y="3036960"/>
            <a:ext cx="7297920" cy="784080"/>
          </a:xfrm>
          <a:prstGeom prst="rect">
            <a:avLst/>
          </a:prstGeom>
          <a:ln w="5472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914400" y="365760"/>
            <a:ext cx="11042640" cy="77004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lstStyle/>
          <a:p>
            <a:pPr indent="0" marL="216000">
              <a:buNone/>
            </a:pPr>
            <a:r>
              <a:rPr b="1" dirty="0" lang="en-US" spc="-1" strike="noStrike" sz="4400">
                <a:solidFill>
                  <a:srgbClr val="000000"/>
                </a:solidFill>
                <a:latin typeface="Cantarell"/>
              </a:rPr>
              <a:t>Ethernet Frame</a:t>
            </a:r>
            <a:endParaRPr b="0" dirty="0" lang="en-US" spc="-1" strike="noStrike" sz="44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7" name="Straight Connector 146"/>
          <p:cNvSpPr/>
          <p:nvPr/>
        </p:nvSpPr>
        <p:spPr>
          <a:xfrm flipV="1">
            <a:off x="1188720" y="3931920"/>
            <a:ext cx="1645920" cy="1554480"/>
          </a:xfrm>
          <a:prstGeom prst="line">
            <a:avLst/>
          </a:prstGeom>
          <a:ln w="54720">
            <a:solidFill>
              <a:srgbClr val="00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Cantarell"/>
              </a:rPr>
              <a:t>SYNC- 7 bytes of 10101010</a:t>
            </a:r>
            <a:br>
              <a:rPr sz="1800"/>
            </a:br>
            <a:r>
              <a:rPr b="0" lang="en-US" spc="-1" strike="noStrike" sz="1800">
                <a:solidFill>
                  <a:srgbClr val="000000"/>
                </a:solidFill>
                <a:latin typeface="Cantarell"/>
              </a:rPr>
              <a:t>1 byte of 10101011</a:t>
            </a:r>
          </a:p>
        </p:txBody>
      </p:sp>
      <p:sp>
        <p:nvSpPr>
          <p:cNvPr id="148" name="Straight Connector 147"/>
          <p:cNvSpPr/>
          <p:nvPr/>
        </p:nvSpPr>
        <p:spPr>
          <a:xfrm flipV="1">
            <a:off x="4663440" y="3821040"/>
            <a:ext cx="457200" cy="1939680"/>
          </a:xfrm>
          <a:prstGeom prst="line">
            <a:avLst/>
          </a:prstGeom>
          <a:ln w="54720">
            <a:solidFill>
              <a:srgbClr val="00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9" name="Straight Connector 148"/>
          <p:cNvSpPr/>
          <p:nvPr/>
        </p:nvSpPr>
        <p:spPr>
          <a:xfrm flipH="1" flipV="1">
            <a:off x="5852160" y="3821040"/>
            <a:ext cx="274320" cy="1848240"/>
          </a:xfrm>
          <a:prstGeom prst="line">
            <a:avLst/>
          </a:prstGeom>
          <a:ln w="54720">
            <a:solidFill>
              <a:srgbClr val="00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4572000" y="6126480"/>
            <a:ext cx="214812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MAC ADDRESSES</a:t>
            </a:r>
          </a:p>
        </p:txBody>
      </p:sp>
      <p:sp>
        <p:nvSpPr>
          <p:cNvPr id="151" name="Straight Connector 150"/>
          <p:cNvSpPr/>
          <p:nvPr/>
        </p:nvSpPr>
        <p:spPr>
          <a:xfrm flipV="1">
            <a:off x="7132320" y="3749040"/>
            <a:ext cx="91440" cy="1645920"/>
          </a:xfrm>
          <a:prstGeom prst="line">
            <a:avLst/>
          </a:prstGeom>
          <a:ln w="54720">
            <a:solidFill>
              <a:srgbClr val="00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6949440" y="5760720"/>
            <a:ext cx="2238120" cy="60228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Upper layer protocol</a:t>
            </a:r>
          </a:p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(usually IP)</a:t>
            </a:r>
          </a:p>
        </p:txBody>
      </p:sp>
      <p:sp>
        <p:nvSpPr>
          <p:cNvPr id="153" name="Straight Connector 152"/>
          <p:cNvSpPr/>
          <p:nvPr/>
        </p:nvSpPr>
        <p:spPr>
          <a:xfrm flipV="1">
            <a:off x="8312760" y="3762720"/>
            <a:ext cx="0" cy="809280"/>
          </a:xfrm>
          <a:prstGeom prst="line">
            <a:avLst/>
          </a:prstGeom>
          <a:ln w="54720">
            <a:solidFill>
              <a:srgbClr val="00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7863840" y="4682880"/>
            <a:ext cx="100656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Payload</a:t>
            </a:r>
          </a:p>
        </p:txBody>
      </p:sp>
      <p:sp>
        <p:nvSpPr>
          <p:cNvPr id="155" name="Title 19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Wireless l" id="157" name="PlaceHolder 1"/>
          <p:cNvSpPr>
            <a:spLocks noGrp="1"/>
          </p:cNvSpPr>
          <p:nvPr>
            <p:ph type="title"/>
          </p:nvPr>
        </p:nvSpPr>
        <p:spPr>
          <a:xfrm>
            <a:off x="814320" y="55080"/>
            <a:ext cx="11042640" cy="76212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lstStyle/>
          <a:p>
            <a:pPr indent="0" marL="216000">
              <a:buNone/>
            </a:pPr>
            <a:r>
              <a:rPr b="1" dirty="0" lang="en-US" spc="-1" strike="noStrike" sz="4400">
                <a:solidFill>
                  <a:srgbClr val="000000"/>
                </a:solidFill>
                <a:latin typeface="Cantarell"/>
              </a:rPr>
              <a:t>Wireless Links</a:t>
            </a:r>
            <a:endParaRPr b="0" dirty="0" lang="en-US" spc="-1" strike="noStrike" sz="4400">
              <a:solidFill>
                <a:srgbClr val="000000"/>
              </a:solidFill>
              <a:latin typeface="Cantarell"/>
            </a:endParaRPr>
          </a:p>
        </p:txBody>
      </p:sp>
      <p:grpSp>
        <p:nvGrpSpPr>
          <p:cNvPr descr="Wireless - how it works" id="2" name="Group 1">
            <a:extLst>
              <a:ext uri="{FF2B5EF4-FFF2-40B4-BE49-F238E27FC236}">
                <a16:creationId xmlns:a16="http://schemas.microsoft.com/office/drawing/2014/main" id="{EEE53733-A0CA-BA48-C876-A441E47CED5A}"/>
              </a:ext>
            </a:extLst>
          </p:cNvPr>
          <p:cNvGrpSpPr/>
          <p:nvPr/>
        </p:nvGrpSpPr>
        <p:grpSpPr>
          <a:xfrm>
            <a:off x="963000" y="1371600"/>
            <a:ext cx="10575360" cy="5239440"/>
            <a:chOff x="963000" y="1371600"/>
            <a:chExt cx="10575360" cy="5239440"/>
          </a:xfrm>
        </p:grpSpPr>
        <p:pic>
          <p:nvPicPr>
            <p:cNvPr id="156" name="Picture 7"/>
            <p:cNvPicPr/>
            <p:nvPr/>
          </p:nvPicPr>
          <p:blipFill>
            <a:blip r:embed="rId2"/>
            <a:stretch/>
          </p:blipFill>
          <p:spPr>
            <a:xfrm>
              <a:off x="963000" y="1850400"/>
              <a:ext cx="7083720" cy="4001760"/>
            </a:xfrm>
            <a:prstGeom prst="rect">
              <a:avLst/>
            </a:prstGeom>
            <a:ln w="54720">
              <a:noFill/>
            </a:ln>
          </p:spPr>
        </p:pic>
        <p:sp>
          <p:nvSpPr>
            <p:cNvPr id="158" name="Text Box 3"/>
            <p:cNvSpPr/>
            <p:nvPr/>
          </p:nvSpPr>
          <p:spPr>
            <a:xfrm>
              <a:off x="4291200" y="5805360"/>
              <a:ext cx="463536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pc="-1" strike="noStrike" sz="2000">
                  <a:solidFill>
                    <a:srgbClr val="000099"/>
                  </a:solidFill>
                  <a:latin typeface="Arial"/>
                </a:rPr>
                <a:t>A wireless network using a base station</a:t>
              </a:r>
              <a:endParaRPr b="0" lang="en-US" spc="-1" strike="noStrike" sz="2000">
                <a:solidFill>
                  <a:srgbClr val="000000"/>
                </a:solidFill>
                <a:latin typeface="Arial Black"/>
              </a:endParaRPr>
            </a:p>
          </p:txBody>
        </p:sp>
        <p:pic>
          <p:nvPicPr>
            <p:cNvPr id="159" name="Picture 158"/>
            <p:cNvPicPr/>
            <p:nvPr/>
          </p:nvPicPr>
          <p:blipFill>
            <a:blip r:embed="rId3"/>
            <a:stretch/>
          </p:blipFill>
          <p:spPr>
            <a:xfrm>
              <a:off x="10424160" y="1371600"/>
              <a:ext cx="1114200" cy="781560"/>
            </a:xfrm>
            <a:prstGeom prst="rect">
              <a:avLst/>
            </a:prstGeom>
            <a:ln w="54720">
              <a:noFill/>
            </a:ln>
          </p:spPr>
        </p:pic>
        <p:pic>
          <p:nvPicPr>
            <p:cNvPr id="160" name="Picture 159"/>
            <p:cNvPicPr/>
            <p:nvPr/>
          </p:nvPicPr>
          <p:blipFill>
            <a:blip r:embed="rId4"/>
            <a:stretch/>
          </p:blipFill>
          <p:spPr>
            <a:xfrm>
              <a:off x="8442720" y="1440360"/>
              <a:ext cx="1249920" cy="1668600"/>
            </a:xfrm>
            <a:prstGeom prst="rect">
              <a:avLst/>
            </a:prstGeom>
            <a:ln w="54720">
              <a:noFill/>
            </a:ln>
          </p:spPr>
        </p:pic>
        <p:pic>
          <p:nvPicPr>
            <p:cNvPr id="161" name="Picture 160"/>
            <p:cNvPicPr/>
            <p:nvPr/>
          </p:nvPicPr>
          <p:blipFill>
            <a:blip r:embed="rId4"/>
            <a:stretch/>
          </p:blipFill>
          <p:spPr>
            <a:xfrm>
              <a:off x="8595360" y="3566160"/>
              <a:ext cx="1027440" cy="1371600"/>
            </a:xfrm>
            <a:prstGeom prst="rect">
              <a:avLst/>
            </a:prstGeom>
            <a:ln w="54720">
              <a:noFill/>
            </a:ln>
          </p:spPr>
        </p:pic>
        <p:pic>
          <p:nvPicPr>
            <p:cNvPr id="162" name="Picture 161"/>
            <p:cNvPicPr/>
            <p:nvPr/>
          </p:nvPicPr>
          <p:blipFill>
            <a:blip r:embed="rId4"/>
            <a:stretch/>
          </p:blipFill>
          <p:spPr>
            <a:xfrm>
              <a:off x="8503920" y="5029200"/>
              <a:ext cx="1184760" cy="1581840"/>
            </a:xfrm>
            <a:prstGeom prst="rect">
              <a:avLst/>
            </a:prstGeom>
            <a:ln w="54720">
              <a:noFill/>
            </a:ln>
          </p:spPr>
        </p:pic>
        <p:sp>
          <p:nvSpPr>
            <p:cNvPr id="163" name="Straight Connector 162"/>
            <p:cNvSpPr/>
            <p:nvPr/>
          </p:nvSpPr>
          <p:spPr>
            <a:xfrm>
              <a:off x="7863840" y="4206240"/>
              <a:ext cx="1005840" cy="548640"/>
            </a:xfrm>
            <a:prstGeom prst="line">
              <a:avLst/>
            </a:prstGeom>
            <a:ln w="54720">
              <a:solidFill>
                <a:srgbClr val="3465A4"/>
              </a:solidFill>
              <a:round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" name="Straight Connector 163"/>
            <p:cNvSpPr/>
            <p:nvPr/>
          </p:nvSpPr>
          <p:spPr>
            <a:xfrm>
              <a:off x="7772400" y="4206240"/>
              <a:ext cx="914400" cy="1737360"/>
            </a:xfrm>
            <a:prstGeom prst="line">
              <a:avLst/>
            </a:prstGeom>
            <a:ln w="54720">
              <a:solidFill>
                <a:srgbClr val="3465A4"/>
              </a:solidFill>
              <a:round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" name="Straight Connector 164"/>
            <p:cNvSpPr/>
            <p:nvPr/>
          </p:nvSpPr>
          <p:spPr>
            <a:xfrm flipV="1">
              <a:off x="7772400" y="2651760"/>
              <a:ext cx="1005840" cy="1554480"/>
            </a:xfrm>
            <a:prstGeom prst="line">
              <a:avLst/>
            </a:prstGeom>
            <a:ln w="54720">
              <a:solidFill>
                <a:srgbClr val="3465A4"/>
              </a:solidFill>
              <a:round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6" name="TextBox 165"/>
          <p:cNvSpPr txBox="1"/>
          <p:nvPr/>
        </p:nvSpPr>
        <p:spPr>
          <a:xfrm>
            <a:off x="9692640" y="2377440"/>
            <a:ext cx="2739960" cy="213804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Typically connects to</a:t>
            </a:r>
          </a:p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Base stations</a:t>
            </a:r>
            <a:br>
              <a:rPr sz="1800"/>
            </a:br>
            <a:br>
              <a:rPr sz="1800"/>
            </a:br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Multiple access</a:t>
            </a:r>
            <a:br>
              <a:rPr sz="1800"/>
            </a:br>
            <a:br>
              <a:rPr sz="1800"/>
            </a:br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Handoff protocols</a:t>
            </a:r>
            <a:br>
              <a:rPr sz="1800"/>
            </a:b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Wireless != Mobile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itle 20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14320" y="0"/>
            <a:ext cx="11042640" cy="76212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lstStyle/>
          <a:p>
            <a:pPr indent="0" marL="216000">
              <a:buNone/>
            </a:pPr>
            <a:r>
              <a:rPr b="1" dirty="0" lang="en-US" spc="-1" strike="noStrike" sz="4400">
                <a:solidFill>
                  <a:srgbClr val="000000"/>
                </a:solidFill>
                <a:latin typeface="Cantarell"/>
              </a:rPr>
              <a:t>Wireless Links – problems and attacks?</a:t>
            </a:r>
            <a:endParaRPr b="0" dirty="0" lang="en-US" spc="-1" strike="noStrike" sz="4400">
              <a:solidFill>
                <a:srgbClr val="000000"/>
              </a:solidFill>
              <a:latin typeface="Cantarell"/>
            </a:endParaRPr>
          </a:p>
        </p:txBody>
      </p:sp>
      <p:grpSp>
        <p:nvGrpSpPr>
          <p:cNvPr descr="Wireless Links and Hidden Terminal" id="3" name="Group 2">
            <a:extLst>
              <a:ext uri="{FF2B5EF4-FFF2-40B4-BE49-F238E27FC236}">
                <a16:creationId xmlns:a16="http://schemas.microsoft.com/office/drawing/2014/main" id="{D9F51ADA-23A6-517C-86EE-8CA90BCD77A3}"/>
              </a:ext>
            </a:extLst>
          </p:cNvPr>
          <p:cNvGrpSpPr/>
          <p:nvPr/>
        </p:nvGrpSpPr>
        <p:grpSpPr>
          <a:xfrm>
            <a:off x="640080" y="1653840"/>
            <a:ext cx="9879840" cy="5092920"/>
            <a:chOff x="640080" y="1653840"/>
            <a:chExt cx="9879840" cy="5092920"/>
          </a:xfrm>
        </p:grpSpPr>
        <p:pic>
          <p:nvPicPr>
            <p:cNvPr id="169" name="Picture 168"/>
            <p:cNvPicPr/>
            <p:nvPr/>
          </p:nvPicPr>
          <p:blipFill>
            <a:blip r:embed="rId3"/>
            <a:stretch/>
          </p:blipFill>
          <p:spPr>
            <a:xfrm>
              <a:off x="1155600" y="4023360"/>
              <a:ext cx="764640" cy="731520"/>
            </a:xfrm>
            <a:prstGeom prst="rect">
              <a:avLst/>
            </a:prstGeom>
            <a:ln w="54720">
              <a:noFill/>
            </a:ln>
          </p:spPr>
        </p:pic>
        <p:pic>
          <p:nvPicPr>
            <p:cNvPr id="170" name="Picture 169"/>
            <p:cNvPicPr/>
            <p:nvPr/>
          </p:nvPicPr>
          <p:blipFill>
            <a:blip r:embed="rId3"/>
            <a:stretch/>
          </p:blipFill>
          <p:spPr>
            <a:xfrm>
              <a:off x="3657600" y="2934000"/>
              <a:ext cx="852120" cy="815040"/>
            </a:xfrm>
            <a:prstGeom prst="rect">
              <a:avLst/>
            </a:prstGeom>
            <a:ln w="54720">
              <a:noFill/>
            </a:ln>
          </p:spPr>
        </p:pic>
        <p:sp>
          <p:nvSpPr>
            <p:cNvPr id="171" name="TextBox 170"/>
            <p:cNvSpPr txBox="1"/>
            <p:nvPr/>
          </p:nvSpPr>
          <p:spPr>
            <a:xfrm>
              <a:off x="640080" y="4225680"/>
              <a:ext cx="457200" cy="620640"/>
            </a:xfrm>
            <a:prstGeom prst="rect">
              <a:avLst/>
            </a:prstGeom>
            <a:noFill/>
            <a:ln w="54720">
              <a:noFill/>
            </a:ln>
          </p:spPr>
          <p:txBody>
            <a:bodyPr anchor="t" bIns="45000" lIns="90000" rIns="90000" tIns="45000">
              <a:noAutofit/>
            </a:bodyPr>
            <a:lstStyle/>
            <a:p>
              <a:r>
                <a:rPr b="1" lang="en-US" spc="-1" strike="noStrike" sz="1800">
                  <a:solidFill>
                    <a:srgbClr val="000000"/>
                  </a:solidFill>
                  <a:latin typeface="Arial"/>
                </a:rPr>
                <a:t>A 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72" name="Picture 171"/>
            <p:cNvPicPr/>
            <p:nvPr/>
          </p:nvPicPr>
          <p:blipFill>
            <a:blip r:embed="rId4"/>
            <a:stretch/>
          </p:blipFill>
          <p:spPr>
            <a:xfrm>
              <a:off x="1964880" y="3931920"/>
              <a:ext cx="412560" cy="761760"/>
            </a:xfrm>
            <a:prstGeom prst="rect">
              <a:avLst/>
            </a:prstGeom>
            <a:ln w="54720">
              <a:noFill/>
            </a:ln>
          </p:spPr>
        </p:pic>
        <p:pic>
          <p:nvPicPr>
            <p:cNvPr id="173" name="Picture 172"/>
            <p:cNvPicPr/>
            <p:nvPr/>
          </p:nvPicPr>
          <p:blipFill>
            <a:blip r:embed="rId3"/>
            <a:stretch/>
          </p:blipFill>
          <p:spPr>
            <a:xfrm>
              <a:off x="3171240" y="1653840"/>
              <a:ext cx="852120" cy="815040"/>
            </a:xfrm>
            <a:prstGeom prst="rect">
              <a:avLst/>
            </a:prstGeom>
            <a:ln w="54720">
              <a:noFill/>
            </a:ln>
          </p:spPr>
        </p:pic>
        <p:pic>
          <p:nvPicPr>
            <p:cNvPr id="174" name="Picture 173"/>
            <p:cNvPicPr/>
            <p:nvPr/>
          </p:nvPicPr>
          <p:blipFill>
            <a:blip r:embed="rId5"/>
            <a:stretch/>
          </p:blipFill>
          <p:spPr>
            <a:xfrm>
              <a:off x="731520" y="2099520"/>
              <a:ext cx="2371320" cy="1923840"/>
            </a:xfrm>
            <a:prstGeom prst="rect">
              <a:avLst/>
            </a:prstGeom>
            <a:ln w="54720">
              <a:noFill/>
            </a:ln>
          </p:spPr>
        </p:pic>
        <p:pic>
          <p:nvPicPr>
            <p:cNvPr id="175" name="Picture 174"/>
            <p:cNvPicPr/>
            <p:nvPr/>
          </p:nvPicPr>
          <p:blipFill>
            <a:blip r:embed="rId4"/>
            <a:stretch/>
          </p:blipFill>
          <p:spPr>
            <a:xfrm rot="3972000">
              <a:off x="3320280" y="2234160"/>
              <a:ext cx="554760" cy="1024200"/>
            </a:xfrm>
            <a:prstGeom prst="rect">
              <a:avLst/>
            </a:prstGeom>
            <a:ln w="54720">
              <a:noFill/>
            </a:ln>
          </p:spPr>
        </p:pic>
        <p:sp>
          <p:nvSpPr>
            <p:cNvPr id="176" name="TextBox 175"/>
            <p:cNvSpPr txBox="1"/>
            <p:nvPr/>
          </p:nvSpPr>
          <p:spPr>
            <a:xfrm>
              <a:off x="4023360" y="2011680"/>
              <a:ext cx="457200" cy="620640"/>
            </a:xfrm>
            <a:prstGeom prst="rect">
              <a:avLst/>
            </a:prstGeom>
            <a:noFill/>
            <a:ln w="54720">
              <a:noFill/>
            </a:ln>
          </p:spPr>
          <p:txBody>
            <a:bodyPr anchor="t" bIns="45000" lIns="90000" rIns="90000" tIns="45000">
              <a:noAutofit/>
            </a:bodyPr>
            <a:lstStyle/>
            <a:p>
              <a:r>
                <a:rPr b="1" lang="en-US" spc="-1" strike="noStrike" sz="1800">
                  <a:solidFill>
                    <a:srgbClr val="000000"/>
                  </a:solidFill>
                  <a:latin typeface="Arial"/>
                </a:rPr>
                <a:t>B 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4206240" y="3657600"/>
              <a:ext cx="457200" cy="620640"/>
            </a:xfrm>
            <a:prstGeom prst="rect">
              <a:avLst/>
            </a:prstGeom>
            <a:noFill/>
            <a:ln w="54720">
              <a:noFill/>
            </a:ln>
          </p:spPr>
          <p:txBody>
            <a:bodyPr anchor="t" bIns="45000" lIns="90000" rIns="90000" tIns="45000">
              <a:noAutofit/>
            </a:bodyPr>
            <a:lstStyle/>
            <a:p>
              <a:r>
                <a:rPr b="1" lang="en-US" spc="-1" strike="noStrike" sz="1800">
                  <a:solidFill>
                    <a:srgbClr val="000000"/>
                  </a:solidFill>
                  <a:latin typeface="Arial"/>
                </a:rPr>
                <a:t>C 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097280" y="5120640"/>
              <a:ext cx="3383280" cy="1626120"/>
            </a:xfrm>
            <a:prstGeom prst="rect">
              <a:avLst/>
            </a:prstGeom>
            <a:noFill/>
            <a:ln w="54720">
              <a:noFill/>
            </a:ln>
          </p:spPr>
          <p:txBody>
            <a:bodyPr anchor="t" bIns="45000" lIns="90000" rIns="90000" tIns="45000">
              <a:noAutofit/>
            </a:bodyPr>
            <a:lstStyle/>
            <a:p>
              <a:r>
                <a:rPr b="1" lang="en-US" spc="-1" strike="noStrike" sz="1800">
                  <a:solidFill>
                    <a:srgbClr val="000000"/>
                  </a:solidFill>
                  <a:latin typeface="Arial"/>
                </a:rPr>
                <a:t>A and C can talk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  <a:p>
              <a:r>
                <a:rPr b="1" lang="en-US" spc="-1" strike="noStrike" sz="1800">
                  <a:solidFill>
                    <a:srgbClr val="000000"/>
                  </a:solidFill>
                  <a:latin typeface="Arial"/>
                </a:rPr>
                <a:t>B and C can talk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  <a:p>
              <a:r>
                <a:rPr b="1" lang="en-US" spc="-1" strike="noStrike" sz="1800">
                  <a:solidFill>
                    <a:srgbClr val="000000"/>
                  </a:solidFill>
                  <a:latin typeface="Arial"/>
                </a:rPr>
                <a:t>A and B can not!!!</a:t>
              </a:r>
              <a:br>
                <a:rPr sz="1800"/>
              </a:br>
              <a:r>
                <a:rPr b="1" lang="en-US" spc="-1" strike="noStrike" sz="1800">
                  <a:solidFill>
                    <a:srgbClr val="000000"/>
                  </a:solidFill>
                  <a:latin typeface="Arial"/>
                </a:rPr>
                <a:t>Interference at B</a:t>
              </a:r>
              <a:br>
                <a:rPr sz="1800"/>
              </a:br>
              <a:br>
                <a:rPr sz="1800"/>
              </a:br>
              <a:r>
                <a:rPr b="1" lang="en-US" spc="-1" strike="noStrike" sz="1800">
                  <a:solidFill>
                    <a:srgbClr val="000000"/>
                  </a:solidFill>
                  <a:latin typeface="Arial"/>
                </a:rPr>
                <a:t>  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6492240" y="1920240"/>
              <a:ext cx="2485080" cy="1789560"/>
            </a:xfrm>
            <a:prstGeom prst="rect">
              <a:avLst/>
            </a:prstGeom>
            <a:noFill/>
            <a:ln w="54720">
              <a:noFill/>
            </a:ln>
          </p:spPr>
          <p:txBody>
            <a:bodyPr anchor="t" bIns="45000" lIns="90000" rIns="90000" tIns="45000" wrap="none">
              <a:noAutofit/>
            </a:bodyPr>
            <a:lstStyle/>
            <a:p>
              <a:r>
                <a:rPr b="1" lang="en-US" spc="-1" strike="noStrike" sz="2400">
                  <a:solidFill>
                    <a:srgbClr val="000000"/>
                  </a:solidFill>
                  <a:latin typeface="Arial"/>
                </a:rPr>
                <a:t>Hidden terminal</a:t>
              </a:r>
              <a:br>
                <a:rPr sz="2400"/>
              </a:br>
              <a:endParaRPr b="0" lang="en-US" spc="-1" strike="noStrike" sz="2400">
                <a:solidFill>
                  <a:srgbClr val="000000"/>
                </a:solidFill>
                <a:latin typeface="Arial"/>
              </a:endParaRPr>
            </a:p>
            <a:p>
              <a:r>
                <a:rPr b="1" lang="en-US" spc="-1" strike="noStrike" sz="2400">
                  <a:solidFill>
                    <a:srgbClr val="000000"/>
                  </a:solidFill>
                  <a:latin typeface="Arial"/>
                </a:rPr>
                <a:t>Signal Fading</a:t>
              </a:r>
              <a:br>
                <a:rPr sz="2400"/>
              </a:br>
              <a:r>
                <a:rPr b="1" lang="en-US" spc="-1" strike="noStrike" sz="2400">
                  <a:solidFill>
                    <a:srgbClr val="000000"/>
                  </a:solidFill>
                  <a:latin typeface="Arial"/>
                </a:rPr>
                <a:t> </a:t>
              </a:r>
              <a:endParaRPr b="0" lang="en-US" spc="-1" strike="noStrike" sz="2400">
                <a:solidFill>
                  <a:srgbClr val="000000"/>
                </a:solidFill>
                <a:latin typeface="Arial"/>
              </a:endParaRPr>
            </a:p>
            <a:p>
              <a:endParaRPr b="0" lang="en-US" spc="-1" strike="noStrike" sz="24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" name="Text Box 11"/>
            <p:cNvSpPr/>
            <p:nvPr/>
          </p:nvSpPr>
          <p:spPr>
            <a:xfrm>
              <a:off x="8097480" y="6164640"/>
              <a:ext cx="586080" cy="276840"/>
            </a:xfrm>
            <a:prstGeom prst="rect">
              <a:avLst/>
            </a:prstGeom>
            <a:noFill/>
            <a:ln w="5472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b="0" lang="en-US" spc="-1" strike="noStrike" sz="1200">
                  <a:solidFill>
                    <a:srgbClr val="000000"/>
                  </a:solidFill>
                  <a:latin typeface="Arial"/>
                  <a:ea typeface="Arial"/>
                </a:rPr>
                <a:t>space</a:t>
              </a:r>
              <a:endParaRPr b="0" lang="en-US" spc="-1" strike="noStrike" sz="1200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81" name="Group 9"/>
            <p:cNvGrpSpPr/>
            <p:nvPr/>
          </p:nvGrpSpPr>
          <p:grpSpPr>
            <a:xfrm>
              <a:off x="6219000" y="3718080"/>
              <a:ext cx="4300920" cy="2392200"/>
              <a:chOff x="6219000" y="3718080"/>
              <a:chExt cx="4300920" cy="2392200"/>
            </a:xfrm>
          </p:grpSpPr>
          <p:sp>
            <p:nvSpPr>
              <p:cNvPr id="182" name="Text Box 12"/>
              <p:cNvSpPr/>
              <p:nvPr/>
            </p:nvSpPr>
            <p:spPr>
              <a:xfrm>
                <a:off x="6219000" y="3917520"/>
                <a:ext cx="299520" cy="307440"/>
              </a:xfrm>
              <a:prstGeom prst="rect">
                <a:avLst/>
              </a:prstGeom>
              <a:noFill/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b="0" lang="en-US" spc="-1" strike="noStrike" sz="1400">
                    <a:solidFill>
                      <a:srgbClr val="FF0000"/>
                    </a:solidFill>
                    <a:latin typeface="Arial"/>
                    <a:ea typeface="Arial"/>
                  </a:rPr>
                  <a:t>A</a:t>
                </a:r>
                <a:endParaRPr b="0" lang="en-US" spc="-1" strike="noStrike" sz="14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83" name="Text Box 13"/>
              <p:cNvSpPr/>
              <p:nvPr/>
            </p:nvSpPr>
            <p:spPr>
              <a:xfrm>
                <a:off x="8575560" y="3913560"/>
                <a:ext cx="412560" cy="307440"/>
              </a:xfrm>
              <a:prstGeom prst="rect">
                <a:avLst/>
              </a:prstGeom>
              <a:noFill/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b="0" lang="en-US" spc="-1" strike="noStrike" sz="1400">
                    <a:solidFill>
                      <a:srgbClr val="000000"/>
                    </a:solidFill>
                    <a:latin typeface="Arial"/>
                    <a:ea typeface="Arial"/>
                  </a:rPr>
                  <a:t>B</a:t>
                </a:r>
                <a:endParaRPr b="0" lang="en-US" spc="-1" strike="noStrike" sz="14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84" name="Text Box 14"/>
              <p:cNvSpPr/>
              <p:nvPr/>
            </p:nvSpPr>
            <p:spPr>
              <a:xfrm>
                <a:off x="10102320" y="3963960"/>
                <a:ext cx="308880" cy="307440"/>
              </a:xfrm>
              <a:prstGeom prst="rect">
                <a:avLst/>
              </a:prstGeom>
              <a:noFill/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b="0" lang="en-US" spc="-1" strike="noStrike" sz="1400">
                    <a:solidFill>
                      <a:srgbClr val="000000"/>
                    </a:solidFill>
                    <a:latin typeface="Arial"/>
                    <a:ea typeface="Arial"/>
                  </a:rPr>
                  <a:t>C</a:t>
                </a:r>
                <a:endParaRPr b="0" lang="en-US" spc="-1" strike="noStrike" sz="14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85" name="Text Box 15"/>
              <p:cNvSpPr/>
              <p:nvPr/>
            </p:nvSpPr>
            <p:spPr>
              <a:xfrm>
                <a:off x="6370920" y="4894920"/>
                <a:ext cx="831240" cy="459720"/>
              </a:xfrm>
              <a:prstGeom prst="rect">
                <a:avLst/>
              </a:prstGeom>
              <a:noFill/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b="0" lang="en-US" spc="-1" strike="noStrike" sz="1200">
                    <a:solidFill>
                      <a:srgbClr val="FF0000"/>
                    </a:solidFill>
                    <a:latin typeface="Arial"/>
                    <a:ea typeface="Arial"/>
                  </a:rPr>
                  <a:t>A</a:t>
                </a:r>
                <a:r>
                  <a:rPr b="0" lang="ja-JP" spc="-1" strike="noStrike" sz="1200">
                    <a:solidFill>
                      <a:srgbClr val="FF0000"/>
                    </a:solidFill>
                    <a:latin typeface="Arial"/>
                    <a:ea typeface="Arial"/>
                  </a:rPr>
                  <a:t>’</a:t>
                </a:r>
                <a:r>
                  <a:rPr b="0" lang="en-US" spc="-1" strike="noStrike" sz="1200">
                    <a:solidFill>
                      <a:srgbClr val="FF0000"/>
                    </a:solidFill>
                    <a:latin typeface="Arial"/>
                    <a:ea typeface="Arial"/>
                  </a:rPr>
                  <a:t>s signal</a:t>
                </a:r>
                <a:endParaRPr b="0" lang="en-US" spc="-1" strike="noStrike" sz="1200">
                  <a:solidFill>
                    <a:srgbClr val="000000"/>
                  </a:solidFill>
                  <a:latin typeface="Cantarell"/>
                </a:endParaRPr>
              </a:p>
              <a:p>
                <a:pPr>
                  <a:lnSpc>
                    <a:spcPct val="100000"/>
                  </a:lnSpc>
                </a:pPr>
                <a:r>
                  <a:rPr b="0" lang="en-US" spc="-1" strike="noStrike" sz="1200">
                    <a:solidFill>
                      <a:srgbClr val="FF0000"/>
                    </a:solidFill>
                    <a:latin typeface="Arial"/>
                    <a:ea typeface="Arial"/>
                  </a:rPr>
                  <a:t>strength</a:t>
                </a:r>
                <a:endParaRPr b="0" lang="en-US" spc="-1" strike="noStrike" sz="12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86" name="Line 11"/>
              <p:cNvSpPr/>
              <p:nvPr/>
            </p:nvSpPr>
            <p:spPr>
              <a:xfrm>
                <a:off x="6346440" y="6110280"/>
                <a:ext cx="4099680" cy="0"/>
              </a:xfrm>
              <a:prstGeom prst="line">
                <a:avLst/>
              </a:prstGeom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46800" lIns="90000" rIns="90000" tIns="-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87" name="Line 12"/>
              <p:cNvSpPr/>
              <p:nvPr/>
            </p:nvSpPr>
            <p:spPr>
              <a:xfrm>
                <a:off x="6278760" y="4716720"/>
                <a:ext cx="0" cy="1344960"/>
              </a:xfrm>
              <a:prstGeom prst="line">
                <a:avLst/>
              </a:prstGeom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88" name="Freeform 5"/>
              <p:cNvSpPr/>
              <p:nvPr/>
            </p:nvSpPr>
            <p:spPr>
              <a:xfrm>
                <a:off x="6382440" y="4782240"/>
                <a:ext cx="3762720" cy="1277280"/>
              </a:xfrm>
              <a:custGeom>
                <a:avLst/>
                <a:gdLst/>
                <a:ahLst/>
                <a:cxnLst/>
                <a:rect b="b" l="l" r="r" t="t"/>
                <a:pathLst>
                  <a:path h="681" w="1887">
                    <a:moveTo>
                      <a:pt x="0" y="0"/>
                    </a:moveTo>
                    <a:cubicBezTo>
                      <a:pt x="161" y="25"/>
                      <a:pt x="737" y="52"/>
                      <a:pt x="966" y="151"/>
                    </a:cubicBezTo>
                    <a:cubicBezTo>
                      <a:pt x="1195" y="250"/>
                      <a:pt x="1220" y="507"/>
                      <a:pt x="1373" y="594"/>
                    </a:cubicBezTo>
                    <a:cubicBezTo>
                      <a:pt x="1526" y="681"/>
                      <a:pt x="1780" y="657"/>
                      <a:pt x="1887" y="673"/>
                    </a:cubicBezTo>
                  </a:path>
                </a:pathLst>
              </a:custGeom>
              <a:noFill/>
              <a:ln w="38160">
                <a:solidFill>
                  <a:srgbClr val="FF0000"/>
                </a:solidFill>
                <a:round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89" name="Freeform 6"/>
              <p:cNvSpPr/>
              <p:nvPr/>
            </p:nvSpPr>
            <p:spPr>
              <a:xfrm flipH="1">
                <a:off x="6498720" y="4746960"/>
                <a:ext cx="3762360" cy="1277280"/>
              </a:xfrm>
              <a:custGeom>
                <a:avLst/>
                <a:gdLst/>
                <a:ahLst/>
                <a:cxnLst/>
                <a:rect b="b" l="l" r="r" t="t"/>
                <a:pathLst>
                  <a:path h="681" w="1887">
                    <a:moveTo>
                      <a:pt x="0" y="0"/>
                    </a:moveTo>
                    <a:cubicBezTo>
                      <a:pt x="161" y="25"/>
                      <a:pt x="737" y="52"/>
                      <a:pt x="966" y="151"/>
                    </a:cubicBezTo>
                    <a:cubicBezTo>
                      <a:pt x="1195" y="250"/>
                      <a:pt x="1220" y="507"/>
                      <a:pt x="1373" y="594"/>
                    </a:cubicBezTo>
                    <a:cubicBezTo>
                      <a:pt x="1526" y="681"/>
                      <a:pt x="1780" y="657"/>
                      <a:pt x="1887" y="673"/>
                    </a:cubicBezTo>
                  </a:path>
                </a:pathLst>
              </a:custGeom>
              <a:noFill/>
              <a:ln w="38160">
                <a:solidFill>
                  <a:srgbClr val="3333CC"/>
                </a:solidFill>
                <a:round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90" name="Text Box 16"/>
              <p:cNvSpPr/>
              <p:nvPr/>
            </p:nvSpPr>
            <p:spPr>
              <a:xfrm>
                <a:off x="9679320" y="4810320"/>
                <a:ext cx="840600" cy="459720"/>
              </a:xfrm>
              <a:prstGeom prst="rect">
                <a:avLst/>
              </a:prstGeom>
              <a:noFill/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b="0" lang="en-US" spc="-1" strike="noStrike" sz="1200">
                    <a:solidFill>
                      <a:srgbClr val="3333CC"/>
                    </a:solidFill>
                    <a:latin typeface="Arial"/>
                    <a:ea typeface="Arial"/>
                  </a:rPr>
                  <a:t>C</a:t>
                </a:r>
                <a:r>
                  <a:rPr b="0" lang="ja-JP" spc="-1" strike="noStrike" sz="1200">
                    <a:solidFill>
                      <a:srgbClr val="3333CC"/>
                    </a:solidFill>
                    <a:latin typeface="Arial"/>
                    <a:ea typeface="Arial"/>
                  </a:rPr>
                  <a:t>’</a:t>
                </a:r>
                <a:r>
                  <a:rPr b="0" lang="en-US" spc="-1" strike="noStrike" sz="1200">
                    <a:solidFill>
                      <a:srgbClr val="3333CC"/>
                    </a:solidFill>
                    <a:latin typeface="Arial"/>
                    <a:ea typeface="Arial"/>
                  </a:rPr>
                  <a:t>s signal</a:t>
                </a:r>
                <a:endParaRPr b="0" lang="en-US" spc="-1" strike="noStrike" sz="1200">
                  <a:solidFill>
                    <a:srgbClr val="000000"/>
                  </a:solidFill>
                  <a:latin typeface="Cantarell"/>
                </a:endParaRPr>
              </a:p>
              <a:p>
                <a:pPr>
                  <a:lnSpc>
                    <a:spcPct val="100000"/>
                  </a:lnSpc>
                </a:pPr>
                <a:r>
                  <a:rPr b="0" lang="en-US" spc="-1" strike="noStrike" sz="1200">
                    <a:solidFill>
                      <a:srgbClr val="3333CC"/>
                    </a:solidFill>
                    <a:latin typeface="Arial"/>
                    <a:ea typeface="Arial"/>
                  </a:rPr>
                  <a:t>strength</a:t>
                </a:r>
                <a:endParaRPr b="0" lang="en-US" spc="-1" strike="noStrike" sz="12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91" name="Line 13"/>
              <p:cNvSpPr/>
              <p:nvPr/>
            </p:nvSpPr>
            <p:spPr>
              <a:xfrm flipH="1">
                <a:off x="6754320" y="4583520"/>
                <a:ext cx="33840" cy="1492920"/>
              </a:xfrm>
              <a:prstGeom prst="line">
                <a:avLst/>
              </a:prstGeom>
              <a:ln cap="sq" w="9360">
                <a:solidFill>
                  <a:srgbClr val="000000"/>
                </a:solidFill>
                <a:custDash>
                  <a:ds d="100000" sp="100000"/>
                </a:custDash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92" name="Line 14"/>
              <p:cNvSpPr/>
              <p:nvPr/>
            </p:nvSpPr>
            <p:spPr>
              <a:xfrm>
                <a:off x="8288640" y="4664160"/>
                <a:ext cx="0" cy="1427400"/>
              </a:xfrm>
              <a:prstGeom prst="line">
                <a:avLst/>
              </a:prstGeom>
              <a:ln cap="sq" w="9360">
                <a:solidFill>
                  <a:srgbClr val="000000"/>
                </a:solidFill>
                <a:custDash>
                  <a:ds d="100000" sp="100000"/>
                </a:custDash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93" name="Line 15"/>
              <p:cNvSpPr/>
              <p:nvPr/>
            </p:nvSpPr>
            <p:spPr>
              <a:xfrm>
                <a:off x="9646560" y="4645440"/>
                <a:ext cx="0" cy="1395360"/>
              </a:xfrm>
              <a:prstGeom prst="line">
                <a:avLst/>
              </a:prstGeom>
              <a:ln cap="sq" w="9360">
                <a:solidFill>
                  <a:srgbClr val="000000"/>
                </a:solidFill>
                <a:custDash>
                  <a:ds d="100000" sp="100000"/>
                </a:custDash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194" name="Group 10"/>
              <p:cNvGrpSpPr/>
              <p:nvPr/>
            </p:nvGrpSpPr>
            <p:grpSpPr>
              <a:xfrm>
                <a:off x="6412320" y="3754080"/>
                <a:ext cx="787680" cy="759240"/>
                <a:chOff x="6412320" y="3754080"/>
                <a:chExt cx="787680" cy="759240"/>
              </a:xfrm>
            </p:grpSpPr>
            <p:pic>
              <p:nvPicPr>
                <p:cNvPr descr="laptop_stylized_small" id="195" name="Picture 14"/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6412320" y="3926160"/>
                  <a:ext cx="787680" cy="587160"/>
                </a:xfrm>
                <a:prstGeom prst="rect">
                  <a:avLst/>
                </a:prstGeom>
                <a:ln w="54720">
                  <a:noFill/>
                </a:ln>
              </p:spPr>
            </p:pic>
            <p:pic>
              <p:nvPicPr>
                <p:cNvPr descr="antenna_stylized" id="196" name="Picture 15"/>
                <p:cNvPicPr/>
                <p:nvPr/>
              </p:nvPicPr>
              <p:blipFill>
                <a:blip r:embed="rId7"/>
                <a:stretch/>
              </p:blipFill>
              <p:spPr>
                <a:xfrm>
                  <a:off x="6426360" y="3754080"/>
                  <a:ext cx="761040" cy="486720"/>
                </a:xfrm>
                <a:prstGeom prst="rect">
                  <a:avLst/>
                </a:prstGeom>
                <a:ln w="54720">
                  <a:noFill/>
                </a:ln>
              </p:spPr>
            </p:pic>
          </p:grpSp>
          <p:grpSp>
            <p:nvGrpSpPr>
              <p:cNvPr id="197" name="Group 11"/>
              <p:cNvGrpSpPr/>
              <p:nvPr/>
            </p:nvGrpSpPr>
            <p:grpSpPr>
              <a:xfrm>
                <a:off x="7905240" y="3801600"/>
                <a:ext cx="787680" cy="759240"/>
                <a:chOff x="7905240" y="3801600"/>
                <a:chExt cx="787680" cy="759240"/>
              </a:xfrm>
            </p:grpSpPr>
            <p:pic>
              <p:nvPicPr>
                <p:cNvPr descr="laptop_stylized_small" id="198" name="Picture 16"/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7905240" y="3973680"/>
                  <a:ext cx="787680" cy="587160"/>
                </a:xfrm>
                <a:prstGeom prst="rect">
                  <a:avLst/>
                </a:prstGeom>
                <a:ln w="54720">
                  <a:noFill/>
                </a:ln>
              </p:spPr>
            </p:pic>
            <p:pic>
              <p:nvPicPr>
                <p:cNvPr descr="antenna_stylized" id="199" name="Picture 17"/>
                <p:cNvPicPr/>
                <p:nvPr/>
              </p:nvPicPr>
              <p:blipFill>
                <a:blip r:embed="rId7"/>
                <a:stretch/>
              </p:blipFill>
              <p:spPr>
                <a:xfrm>
                  <a:off x="7919280" y="3801600"/>
                  <a:ext cx="761400" cy="487080"/>
                </a:xfrm>
                <a:prstGeom prst="rect">
                  <a:avLst/>
                </a:prstGeom>
                <a:ln w="54720">
                  <a:noFill/>
                </a:ln>
              </p:spPr>
            </p:pic>
          </p:grpSp>
          <p:grpSp>
            <p:nvGrpSpPr>
              <p:cNvPr id="200" name="Group 12"/>
              <p:cNvGrpSpPr/>
              <p:nvPr/>
            </p:nvGrpSpPr>
            <p:grpSpPr>
              <a:xfrm>
                <a:off x="9257760" y="3718080"/>
                <a:ext cx="788040" cy="759240"/>
                <a:chOff x="9257760" y="3718080"/>
                <a:chExt cx="788040" cy="759240"/>
              </a:xfrm>
            </p:grpSpPr>
            <p:pic>
              <p:nvPicPr>
                <p:cNvPr descr="laptop_stylized_small" id="201" name="Picture 18"/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9257760" y="3890160"/>
                  <a:ext cx="788040" cy="587160"/>
                </a:xfrm>
                <a:prstGeom prst="rect">
                  <a:avLst/>
                </a:prstGeom>
                <a:ln w="54720">
                  <a:noFill/>
                </a:ln>
              </p:spPr>
            </p:pic>
            <p:pic>
              <p:nvPicPr>
                <p:cNvPr descr="antenna_stylized" id="202" name="Picture 19"/>
                <p:cNvPicPr/>
                <p:nvPr/>
              </p:nvPicPr>
              <p:blipFill>
                <a:blip r:embed="rId7"/>
                <a:stretch/>
              </p:blipFill>
              <p:spPr>
                <a:xfrm>
                  <a:off x="9272160" y="3718080"/>
                  <a:ext cx="761040" cy="487080"/>
                </a:xfrm>
                <a:prstGeom prst="rect">
                  <a:avLst/>
                </a:prstGeom>
                <a:ln w="54720">
                  <a:noFill/>
                </a:ln>
              </p:spPr>
            </p:pic>
          </p:grpSp>
        </p:grpSp>
      </p:grpSp>
      <p:sp>
        <p:nvSpPr>
          <p:cNvPr id="203" name="Title 21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itle 22"/>
          <p:cNvSpPr/>
          <p:nvPr/>
        </p:nvSpPr>
        <p:spPr>
          <a:xfrm>
            <a:off x="1097280" y="201168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Apps (HTTP)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97280" y="31089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Transport (TCP/UDP)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077840" y="402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Network (IP)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077840" y="4887360"/>
            <a:ext cx="2286000" cy="64008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Link (Ethernet)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017280" y="201168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Apps (HTTP)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017280" y="31089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Transport (TCP/UDP)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997840" y="402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Network (IP)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997840" y="4887360"/>
            <a:ext cx="2286000" cy="64008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Link (Ethernet)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741840" y="5139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Ethernet Interface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3657600" y="4023360"/>
            <a:ext cx="2468880" cy="173736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6441840" y="510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Ethernet Interface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357600" y="4023360"/>
            <a:ext cx="2468880" cy="173736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traight Connector 215"/>
          <p:cNvSpPr/>
          <p:nvPr/>
        </p:nvSpPr>
        <p:spPr>
          <a:xfrm>
            <a:off x="3383280" y="3291840"/>
            <a:ext cx="5634000" cy="0"/>
          </a:xfrm>
          <a:prstGeom prst="line">
            <a:avLst/>
          </a:prstGeom>
          <a:ln w="54720">
            <a:solidFill>
              <a:srgbClr val="FF3838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3863520" y="2926080"/>
            <a:ext cx="12718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Segments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traight Connector 217"/>
          <p:cNvSpPr/>
          <p:nvPr/>
        </p:nvSpPr>
        <p:spPr>
          <a:xfrm>
            <a:off x="3383280" y="2250720"/>
            <a:ext cx="5634000" cy="0"/>
          </a:xfrm>
          <a:prstGeom prst="line">
            <a:avLst/>
          </a:prstGeom>
          <a:ln w="54720">
            <a:solidFill>
              <a:srgbClr val="FF0000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3899520" y="1884960"/>
            <a:ext cx="6760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Data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traight Connector 219"/>
          <p:cNvSpPr/>
          <p:nvPr/>
        </p:nvSpPr>
        <p:spPr>
          <a:xfrm>
            <a:off x="3383280" y="4410720"/>
            <a:ext cx="5634000" cy="0"/>
          </a:xfrm>
          <a:prstGeom prst="line">
            <a:avLst/>
          </a:prstGeom>
          <a:ln w="54720">
            <a:solidFill>
              <a:srgbClr val="3465A4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3863520" y="4044960"/>
            <a:ext cx="104472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Packets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traight Connector 221"/>
          <p:cNvSpPr/>
          <p:nvPr/>
        </p:nvSpPr>
        <p:spPr>
          <a:xfrm>
            <a:off x="3383280" y="5274720"/>
            <a:ext cx="5634000" cy="0"/>
          </a:xfrm>
          <a:prstGeom prst="line">
            <a:avLst/>
          </a:prstGeom>
          <a:ln w="54720">
            <a:solidFill>
              <a:srgbClr val="069A2E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3863520" y="4764960"/>
            <a:ext cx="9928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Frames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2268360" y="6146640"/>
            <a:ext cx="166680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Bits (1010001)</a:t>
            </a:r>
          </a:p>
        </p:txBody>
      </p:sp>
      <p:pic>
        <p:nvPicPr>
          <p:cNvPr id="225" name="Picture 2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5840" y="66960"/>
            <a:ext cx="2590560" cy="1761840"/>
          </a:xfrm>
          <a:prstGeom prst="rect">
            <a:avLst/>
          </a:prstGeom>
          <a:ln w="54720">
            <a:noFill/>
          </a:ln>
        </p:spPr>
      </p:pic>
      <p:cxnSp>
        <p:nvCxnSpPr>
          <p:cNvPr id="226" name="Elbow Connector 225"/>
          <p:cNvCxnSpPr>
            <a:stCxn id="207" idx="0"/>
            <a:endCxn id="213" idx="2"/>
          </p:cNvCxnSpPr>
          <p:nvPr/>
        </p:nvCxnSpPr>
        <p:spPr>
          <a:xfrm flipH="1" rot="16200000">
            <a:off x="3439800" y="4308480"/>
            <a:ext cx="233640" cy="2671560"/>
          </a:xfrm>
          <a:prstGeom prst="bentConnector3">
            <a:avLst>
              <a:gd fmla="val 491975" name="adj1"/>
            </a:avLst>
          </a:prstGeom>
          <a:ln w="54720">
            <a:solidFill>
              <a:srgbClr val="FF0000"/>
            </a:solidFill>
            <a:custDash>
              <a:ds d="33553" sp="83553"/>
              <a:ds d="33553" sp="83553"/>
              <a:ds d="167105" sp="83553"/>
              <a:ds d="167105" sp="83553"/>
              <a:ds d="167105" sp="83553"/>
            </a:custDash>
            <a:round/>
          </a:ln>
        </p:spPr>
      </p:cxnSp>
      <p:cxnSp>
        <p:nvCxnSpPr>
          <p:cNvPr id="227" name="Elbow Connector 226"/>
          <p:cNvCxnSpPr>
            <a:stCxn id="213" idx="0"/>
            <a:endCxn id="215" idx="2"/>
          </p:cNvCxnSpPr>
          <p:nvPr/>
        </p:nvCxnSpPr>
        <p:spPr>
          <a:xfrm rot="16200000">
            <a:off x="6242040" y="4410720"/>
            <a:ext cx="360" cy="2700360"/>
          </a:xfrm>
          <a:prstGeom prst="bentConnector3">
            <a:avLst>
              <a:gd fmla="val 101600000" name="adj1"/>
            </a:avLst>
          </a:prstGeom>
          <a:ln w="54720">
            <a:solidFill>
              <a:srgbClr val="158466"/>
            </a:solidFill>
            <a:round/>
          </a:ln>
        </p:spPr>
      </p:cxnSp>
      <p:cxnSp>
        <p:nvCxnSpPr>
          <p:cNvPr id="228" name="Elbow Connector 227"/>
          <p:cNvCxnSpPr>
            <a:stCxn id="215" idx="2"/>
            <a:endCxn id="211" idx="2"/>
          </p:cNvCxnSpPr>
          <p:nvPr/>
        </p:nvCxnSpPr>
        <p:spPr>
          <a:xfrm flipH="1" flipV="1" rot="5400000">
            <a:off x="8749800" y="4369680"/>
            <a:ext cx="233640" cy="2549160"/>
          </a:xfrm>
          <a:prstGeom prst="bentConnector3">
            <a:avLst>
              <a:gd fmla="val -391975" name="adj1"/>
            </a:avLst>
          </a:prstGeom>
          <a:ln w="54720">
            <a:solidFill>
              <a:srgbClr val="FF0000"/>
            </a:solidFill>
            <a:custDash>
              <a:ds d="197000" sp="197000"/>
            </a:custDash>
            <a:round/>
          </a:ln>
        </p:spPr>
      </p:cxnSp>
      <p:pic>
        <p:nvPicPr>
          <p:cNvPr id="229" name="Picture 2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869680" y="91440"/>
            <a:ext cx="2590560" cy="1761840"/>
          </a:xfrm>
          <a:prstGeom prst="rect">
            <a:avLst/>
          </a:prstGeom>
          <a:ln w="54720">
            <a:noFill/>
          </a:ln>
        </p:spPr>
      </p:pic>
      <p:sp>
        <p:nvSpPr>
          <p:cNvPr id="230" name="Title 22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8028F346-48FF-A63B-93F5-F91F0BD1F58F}"/>
              </a:ext>
            </a:extLst>
          </p:cNvPr>
          <p:cNvSpPr txBox="1">
            <a:spLocks noGrp="1"/>
          </p:cNvSpPr>
          <p:nvPr>
            <p:ph idx="4294967295" type="title"/>
          </p:nvPr>
        </p:nvSpPr>
        <p:spPr>
          <a:xfrm>
            <a:off x="4501871" y="-22662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kern="1200" sz="4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  <a:lvl6pPr>
              <a:defRPr>
                <a:latin typeface="+mn-lt"/>
                <a:ea typeface="+mn-ea"/>
                <a:cs typeface="+mn-cs"/>
              </a:defRPr>
            </a:lvl6pPr>
            <a:lvl7pPr>
              <a:defRPr>
                <a:latin typeface="+mn-lt"/>
                <a:ea typeface="+mn-ea"/>
                <a:cs typeface="+mn-cs"/>
              </a:defRPr>
            </a:lvl7pPr>
            <a:lvl8pPr>
              <a:defRPr>
                <a:latin typeface="+mn-lt"/>
                <a:ea typeface="+mn-ea"/>
                <a:cs typeface="+mn-cs"/>
              </a:defRPr>
            </a:lvl8pPr>
            <a:lvl9pPr>
              <a:defRPr>
                <a:latin typeface="+mn-lt"/>
                <a:ea typeface="+mn-ea"/>
                <a:cs typeface="+mn-cs"/>
              </a:defRPr>
            </a:lvl9pPr>
          </a:lstStyle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TCP/IP Layers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itle 23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Switching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613440" y="2011680"/>
            <a:ext cx="11578680" cy="526644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marL="2160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800">
                <a:solidFill>
                  <a:srgbClr val="000000"/>
                </a:solidFill>
                <a:latin typeface="Montserrat"/>
                <a:ea typeface="Montserrat"/>
              </a:rPr>
              <a:t>Switch</a:t>
            </a:r>
            <a:endParaRPr b="0" lang="en-US" spc="-1" strike="noStrike" sz="28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171360"/>
                <a:tab algn="l" pos="1085760"/>
                <a:tab algn="l" pos="2000160"/>
                <a:tab algn="l" pos="2914560"/>
                <a:tab algn="l" pos="3828960"/>
                <a:tab algn="l" pos="4743360"/>
                <a:tab algn="l" pos="5657760"/>
                <a:tab algn="l" pos="6572160"/>
                <a:tab algn="l" pos="7486560"/>
                <a:tab algn="l" pos="8400960"/>
                <a:tab algn="l" pos="931536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A mechanism to interconnect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171360"/>
                <a:tab algn="l" pos="1085760"/>
                <a:tab algn="l" pos="2000160"/>
                <a:tab algn="l" pos="2914560"/>
                <a:tab algn="l" pos="3828960"/>
                <a:tab algn="l" pos="4743360"/>
                <a:tab algn="l" pos="5657760"/>
                <a:tab algn="l" pos="6572160"/>
                <a:tab algn="l" pos="7486560"/>
                <a:tab algn="l" pos="8400960"/>
                <a:tab algn="l" pos="931536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links to form a large network</a:t>
            </a:r>
            <a:br>
              <a:rPr sz="2400"/>
            </a:b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171360"/>
                <a:tab algn="l" pos="1085760"/>
                <a:tab algn="l" pos="2000160"/>
                <a:tab algn="l" pos="2914560"/>
                <a:tab algn="l" pos="3828960"/>
                <a:tab algn="l" pos="4743360"/>
                <a:tab algn="l" pos="5657760"/>
                <a:tab algn="l" pos="6572160"/>
                <a:tab algn="l" pos="7486560"/>
                <a:tab algn="l" pos="8400960"/>
                <a:tab algn="l" pos="931536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Forward </a:t>
            </a:r>
            <a:r>
              <a:rPr b="1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frames </a:t>
            </a:r>
            <a:br>
              <a:rPr sz="2400"/>
            </a:b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171360"/>
                <a:tab algn="l" pos="1085760"/>
                <a:tab algn="l" pos="2000160"/>
                <a:tab algn="l" pos="2914560"/>
                <a:tab algn="l" pos="3828960"/>
                <a:tab algn="l" pos="4743360"/>
                <a:tab algn="l" pos="5657760"/>
                <a:tab algn="l" pos="6572160"/>
                <a:tab algn="l" pos="7486560"/>
                <a:tab algn="l" pos="8400960"/>
                <a:tab algn="l" pos="931536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Separate the collision domains</a:t>
            </a:r>
            <a:br>
              <a:rPr sz="2400"/>
            </a:b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171360"/>
                <a:tab algn="l" pos="1085760"/>
                <a:tab algn="l" pos="2000160"/>
                <a:tab algn="l" pos="2914560"/>
                <a:tab algn="l" pos="3828960"/>
                <a:tab algn="l" pos="4743360"/>
                <a:tab algn="l" pos="5657760"/>
                <a:tab algn="l" pos="6572160"/>
                <a:tab algn="l" pos="7486560"/>
                <a:tab algn="l" pos="8400960"/>
                <a:tab algn="l" pos="931536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Filter packets between LANs</a:t>
            </a:r>
            <a:br>
              <a:rPr sz="2400"/>
            </a:b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1" marL="43200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171360"/>
                <a:tab algn="l" pos="1085760"/>
                <a:tab algn="l" pos="2000160"/>
                <a:tab algn="l" pos="2914560"/>
                <a:tab algn="l" pos="3828960"/>
                <a:tab algn="l" pos="4743360"/>
                <a:tab algn="l" pos="5657760"/>
                <a:tab algn="l" pos="6572160"/>
                <a:tab algn="l" pos="7486560"/>
                <a:tab algn="l" pos="8400960"/>
                <a:tab algn="l" pos="931536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Connects two or more LAN segments - </a:t>
            </a:r>
            <a:r>
              <a:rPr b="1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Bridging</a:t>
            </a: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</p:txBody>
      </p:sp>
      <p:pic>
        <p:nvPicPr>
          <p:cNvPr descr="Switching diagram" id="233" name="Picture 8"/>
          <p:cNvPicPr/>
          <p:nvPr/>
        </p:nvPicPr>
        <p:blipFill>
          <a:blip r:embed="rId3"/>
          <a:stretch/>
        </p:blipFill>
        <p:spPr>
          <a:xfrm>
            <a:off x="6400800" y="600840"/>
            <a:ext cx="5445720" cy="4794120"/>
          </a:xfrm>
          <a:prstGeom prst="rect">
            <a:avLst/>
          </a:prstGeom>
          <a:ln w="54720">
            <a:noFill/>
          </a:ln>
        </p:spPr>
      </p:pic>
      <p:sp>
        <p:nvSpPr>
          <p:cNvPr id="234" name="Rectangle 233"/>
          <p:cNvSpPr/>
          <p:nvPr/>
        </p:nvSpPr>
        <p:spPr>
          <a:xfrm>
            <a:off x="5760720" y="274320"/>
            <a:ext cx="3108960" cy="32918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6400800" y="3840480"/>
            <a:ext cx="2216880" cy="60228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LAN 1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Collision domain 1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ectangle 235"/>
          <p:cNvSpPr/>
          <p:nvPr/>
        </p:nvSpPr>
        <p:spPr>
          <a:xfrm>
            <a:off x="9144000" y="3017520"/>
            <a:ext cx="3108960" cy="32918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6675120" y="5341320"/>
            <a:ext cx="2216880" cy="60228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LAN 2 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Collision domain 2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itle 23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CustomShape 27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Switching Table	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0" name="CustomShape 28"/>
          <p:cNvSpPr/>
          <p:nvPr/>
        </p:nvSpPr>
        <p:spPr>
          <a:xfrm>
            <a:off x="1081440" y="1989000"/>
            <a:ext cx="10345320" cy="440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ustomShape 29"/>
          <p:cNvSpPr/>
          <p:nvPr/>
        </p:nvSpPr>
        <p:spPr>
          <a:xfrm>
            <a:off x="1081440" y="1989000"/>
            <a:ext cx="10345320" cy="440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91440" lIns="90000" rIns="90000" tIns="91440">
            <a:noAutofit/>
          </a:bodyPr>
          <a:lstStyle/>
          <a:p>
            <a:pPr indent="-339480" marL="343080">
              <a:lnSpc>
                <a:spcPct val="100000"/>
              </a:lnSpc>
              <a:buClr>
                <a:srgbClr val="963334"/>
              </a:buClr>
              <a:buFont charset="2" typeface="Wingdings"/>
              <a:buChar char=""/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  <a:ea typeface="Montserrat"/>
              </a:rPr>
              <a:t>To decide how to forward a packet, a switch consults a </a:t>
            </a:r>
            <a:r>
              <a:rPr b="0" i="1" lang="en-US" spc="-1" strike="noStrike" sz="2400">
                <a:solidFill>
                  <a:srgbClr val="FF33CC"/>
                </a:solidFill>
                <a:latin typeface="Montserrat"/>
                <a:ea typeface="Montserrat"/>
              </a:rPr>
              <a:t>forwarding table</a:t>
            </a:r>
            <a:br>
              <a:rPr sz="2400"/>
            </a:br>
            <a:r>
              <a:rPr b="0" i="1" lang="en-US" spc="-1" strike="noStrike" sz="2400">
                <a:solidFill>
                  <a:srgbClr val="FF33CC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</p:txBody>
      </p:sp>
      <p:pic>
        <p:nvPicPr>
          <p:cNvPr descr="Switching diagram" id="242" name="Picture 9"/>
          <p:cNvPicPr/>
          <p:nvPr/>
        </p:nvPicPr>
        <p:blipFill>
          <a:blip r:embed="rId3"/>
          <a:stretch/>
        </p:blipFill>
        <p:spPr>
          <a:xfrm>
            <a:off x="1189800" y="3284280"/>
            <a:ext cx="3889440" cy="3424320"/>
          </a:xfrm>
          <a:prstGeom prst="rect">
            <a:avLst/>
          </a:prstGeom>
          <a:ln w="54720">
            <a:noFill/>
          </a:ln>
        </p:spPr>
      </p:pic>
      <p:sp>
        <p:nvSpPr>
          <p:cNvPr descr="Switching table" id="243" name="PlaceHolder 1"/>
          <p:cNvSpPr>
            <a:spLocks noGrp="1"/>
          </p:cNvSpPr>
          <p:nvPr>
            <p:ph/>
          </p:nvPr>
        </p:nvSpPr>
        <p:spPr>
          <a:xfrm>
            <a:off x="8054640" y="2624400"/>
            <a:ext cx="2735280" cy="3959280"/>
          </a:xfrm>
          <a:prstGeom prst="rect">
            <a:avLst/>
          </a:prstGeom>
          <a:noFill/>
          <a:ln cap="sq" w="9360">
            <a:solidFill>
              <a:srgbClr val="000000"/>
            </a:solidFill>
            <a:miter/>
          </a:ln>
        </p:spPr>
        <p:txBody>
          <a:bodyPr anchor="t" bIns="45720" lIns="91440" rIns="91440" tIns="45720">
            <a:normAutofit fontScale="93740"/>
          </a:bodyPr>
          <a:lstStyle/>
          <a:p>
            <a:pPr indent="-342720" marL="342720">
              <a:spcBef>
                <a:spcPts val="400"/>
              </a:spcBef>
              <a:buNone/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Destination, Port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  <a:p>
            <a:pPr indent="-342720" marL="342720">
              <a:spcBef>
                <a:spcPts val="400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-------------------------------------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  <a:p>
            <a:pPr indent="-342720" marL="342720">
              <a:spcBef>
                <a:spcPts val="400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A			3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  <a:p>
            <a:pPr indent="-342720" marL="342720">
              <a:spcBef>
                <a:spcPts val="400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B			0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  <a:p>
            <a:pPr indent="-342720" marL="342720">
              <a:spcBef>
                <a:spcPts val="400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C			3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  <a:p>
            <a:pPr indent="-342720" marL="342720">
              <a:spcBef>
                <a:spcPts val="400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D			3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  <a:p>
            <a:pPr indent="-342720" marL="342720">
              <a:spcBef>
                <a:spcPts val="400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E			2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  <a:p>
            <a:pPr indent="-342720" marL="342720">
              <a:spcBef>
                <a:spcPts val="400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F			1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  <a:p>
            <a:pPr indent="-342720" marL="342720">
              <a:spcBef>
                <a:spcPts val="400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G			0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  <a:p>
            <a:pPr indent="-342720" marL="342720">
              <a:spcBef>
                <a:spcPts val="400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H			0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  <a:p>
            <a:pPr indent="-342720" marL="342720">
              <a:spcBef>
                <a:spcPts val="400"/>
              </a:spcBef>
              <a:buNone/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 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  <a:p>
            <a:pPr indent="-342720" marL="342720">
              <a:spcBef>
                <a:spcPts val="400"/>
              </a:spcBef>
              <a:tabLst>
                <a:tab algn="l" pos="0"/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dirty="0" lang="en-US" spc="-1" strike="noStrike" sz="1600">
                <a:solidFill>
                  <a:srgbClr val="000000"/>
                </a:solidFill>
                <a:latin typeface="Cantarell"/>
              </a:rPr>
              <a:t>Forwarding Table for Switch 2</a:t>
            </a:r>
            <a:endParaRPr b="0" dirty="0" lang="en-US" spc="-1" strike="noStrike" sz="1600">
              <a:solidFill>
                <a:srgbClr val="000000"/>
              </a:solidFill>
              <a:latin typeface="Cantarell"/>
            </a:endParaRPr>
          </a:p>
        </p:txBody>
      </p:sp>
      <p:pic>
        <p:nvPicPr>
          <p:cNvPr descr="Switching frame" id="244" name="Picture 10"/>
          <p:cNvPicPr/>
          <p:nvPr/>
        </p:nvPicPr>
        <p:blipFill>
          <a:blip r:embed="rId4"/>
          <a:stretch/>
        </p:blipFill>
        <p:spPr>
          <a:xfrm>
            <a:off x="4754880" y="770400"/>
            <a:ext cx="7297920" cy="784080"/>
          </a:xfrm>
          <a:prstGeom prst="rect">
            <a:avLst/>
          </a:prstGeom>
          <a:ln w="54720">
            <a:noFill/>
          </a:ln>
        </p:spPr>
      </p:pic>
      <p:sp>
        <p:nvSpPr>
          <p:cNvPr id="245" name="Title 24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CustomShape 31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CE181E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I</a:t>
            </a: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nternet </a:t>
            </a: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CE181E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P</a:t>
            </a: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rotocol </a:t>
            </a: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CE181E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(IP)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7" name="Title 25"/>
          <p:cNvSpPr txBox="1"/>
          <p:nvPr/>
        </p:nvSpPr>
        <p:spPr>
          <a:xfrm>
            <a:off x="388800" y="1554480"/>
            <a:ext cx="11315520" cy="506700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What is an internetwork?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An arbitrary collection of networks interconnected to provide some sort of host-host to packet delivery service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</p:txBody>
      </p:sp>
      <p:pic>
        <p:nvPicPr>
          <p:cNvPr descr="Internet" id="248" name="Picture 12"/>
          <p:cNvPicPr/>
          <p:nvPr/>
        </p:nvPicPr>
        <p:blipFill>
          <a:blip r:embed="rId3"/>
          <a:stretch/>
        </p:blipFill>
        <p:spPr>
          <a:xfrm>
            <a:off x="4023360" y="3108960"/>
            <a:ext cx="4248000" cy="3608640"/>
          </a:xfrm>
          <a:prstGeom prst="rect">
            <a:avLst/>
          </a:prstGeom>
          <a:ln w="54720">
            <a:noFill/>
          </a:ln>
        </p:spPr>
      </p:pic>
      <p:sp>
        <p:nvSpPr>
          <p:cNvPr id="249" name="Title 25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30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Global Address in IP – Each node has an unique address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1" name="Title 26"/>
          <p:cNvSpPr txBox="1"/>
          <p:nvPr/>
        </p:nvSpPr>
        <p:spPr>
          <a:xfrm>
            <a:off x="388800" y="1554480"/>
            <a:ext cx="11315520" cy="506700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A 32 bit number in quad-dot notation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Identifies an Interface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A host might have several interfaces!!!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129.82.138.254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10000001.01010010.10001010.11111110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</p:txBody>
      </p:sp>
      <p:pic>
        <p:nvPicPr>
          <p:cNvPr descr="addressing" id="252" name="Picture 11"/>
          <p:cNvPicPr/>
          <p:nvPr/>
        </p:nvPicPr>
        <p:blipFill>
          <a:blip r:embed="rId3"/>
          <a:stretch/>
        </p:blipFill>
        <p:spPr>
          <a:xfrm>
            <a:off x="6534720" y="3931920"/>
            <a:ext cx="3889440" cy="2482560"/>
          </a:xfrm>
          <a:prstGeom prst="rect">
            <a:avLst/>
          </a:prstGeom>
          <a:ln w="54720">
            <a:noFill/>
          </a:ln>
        </p:spPr>
      </p:pic>
      <p:sp>
        <p:nvSpPr>
          <p:cNvPr id="253" name="Title 26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32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IP addresses are in Network + Host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" name="Title 27"/>
          <p:cNvSpPr txBox="1"/>
          <p:nvPr/>
        </p:nvSpPr>
        <p:spPr>
          <a:xfrm>
            <a:off x="388800" y="1554480"/>
            <a:ext cx="11315520" cy="506700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1.1.2.1 →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1.1 → Network part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2.1 → host part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Each octet can range from 1- 255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Hierarchical address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4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400">
              <a:solidFill>
                <a:srgbClr val="000000"/>
              </a:solidFill>
              <a:latin typeface="Arial"/>
            </a:endParaRPr>
          </a:p>
        </p:txBody>
      </p:sp>
      <p:pic>
        <p:nvPicPr>
          <p:cNvPr descr="internetworking - how it works" id="256" name="Picture 13"/>
          <p:cNvPicPr/>
          <p:nvPr/>
        </p:nvPicPr>
        <p:blipFill>
          <a:blip r:embed="rId3"/>
          <a:stretch/>
        </p:blipFill>
        <p:spPr>
          <a:xfrm>
            <a:off x="6903360" y="2388960"/>
            <a:ext cx="4248000" cy="3608640"/>
          </a:xfrm>
          <a:prstGeom prst="rect">
            <a:avLst/>
          </a:prstGeom>
          <a:ln w="54720">
            <a:noFill/>
          </a:ln>
        </p:spPr>
      </p:pic>
      <p:sp>
        <p:nvSpPr>
          <p:cNvPr id="257" name="TextBox 256"/>
          <p:cNvSpPr txBox="1"/>
          <p:nvPr/>
        </p:nvSpPr>
        <p:spPr>
          <a:xfrm>
            <a:off x="8207640" y="1882080"/>
            <a:ext cx="87876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sngStrike" sz="1800">
                <a:solidFill>
                  <a:srgbClr val="000000"/>
                </a:solidFill>
                <a:latin typeface="Arial"/>
              </a:rPr>
              <a:t>5.1.6.7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traight Connector 257"/>
          <p:cNvSpPr/>
          <p:nvPr/>
        </p:nvSpPr>
        <p:spPr>
          <a:xfrm flipH="1" flipV="1">
            <a:off x="9189360" y="4034880"/>
            <a:ext cx="457200" cy="548640"/>
          </a:xfrm>
          <a:prstGeom prst="line">
            <a:avLst/>
          </a:prstGeom>
          <a:ln w="54720">
            <a:solidFill>
              <a:srgbClr val="00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9865080" y="4400640"/>
            <a:ext cx="225036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1.1.*.* | Interface 3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6470640" y="2705040"/>
            <a:ext cx="87876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1.1.2.2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328880" y="1882080"/>
            <a:ext cx="87876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1.1.2.1</a:t>
            </a:r>
          </a:p>
        </p:txBody>
      </p:sp>
      <p:sp>
        <p:nvSpPr>
          <p:cNvPr descr="ip addressing" id="262" name="TextBox 261"/>
          <p:cNvSpPr txBox="1"/>
          <p:nvPr/>
        </p:nvSpPr>
        <p:spPr>
          <a:xfrm>
            <a:off x="457200" y="4572000"/>
            <a:ext cx="6217920" cy="232164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r>
              <a:rPr b="1" dirty="0" lang="en-US" spc="-1" strike="noStrike" sz="2400">
                <a:latin typeface="Cambria"/>
              </a:rPr>
              <a:t>129.82.138</a:t>
            </a:r>
            <a:r>
              <a:rPr b="0" dirty="0" lang="en-US" spc="-1" strike="noStrike" sz="2400">
                <a:latin typeface="Cambria"/>
              </a:rPr>
              <a:t>.254</a:t>
            </a:r>
            <a:br>
              <a:rPr dirty="0" sz="2400"/>
            </a:br>
            <a:br>
              <a:rPr dirty="0" sz="2400"/>
            </a:br>
            <a:r>
              <a:rPr b="1" dirty="0" lang="en-US" spc="-1" strike="noStrike" sz="2400">
                <a:latin typeface="Cambria"/>
              </a:rPr>
              <a:t>10000001.01010010.10001010</a:t>
            </a:r>
            <a:r>
              <a:rPr b="0" dirty="0" lang="en-US" spc="-1" strike="noStrike" sz="2400">
                <a:latin typeface="Cambria"/>
              </a:rPr>
              <a:t>.11111110</a:t>
            </a:r>
            <a:br>
              <a:rPr dirty="0" sz="2400"/>
            </a:br>
            <a:endParaRPr b="0" dirty="0" lang="en-US" spc="-1" strike="noStrike" sz="2400">
              <a:latin typeface="Arial"/>
            </a:endParaRPr>
          </a:p>
          <a:p>
            <a:r>
              <a:rPr b="1" dirty="0" lang="en-US" spc="-1" strike="noStrike" sz="2400">
                <a:latin typeface="Cambria"/>
              </a:rPr>
              <a:t>Network part (24 bits). </a:t>
            </a:r>
            <a:r>
              <a:rPr b="0" dirty="0" lang="en-US" spc="-1" strike="noStrike" sz="2400">
                <a:latin typeface="Cambria"/>
              </a:rPr>
              <a:t>Host part(8 bits)</a:t>
            </a:r>
            <a:endParaRPr b="0" dirty="0" lang="en-US" spc="-1" strike="noStrike" sz="2400">
              <a:latin typeface="Arial"/>
            </a:endParaRPr>
          </a:p>
        </p:txBody>
      </p:sp>
      <p:sp>
        <p:nvSpPr>
          <p:cNvPr id="263" name="Title 27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33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You have an address – Send data now. </a:t>
            </a: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C9211E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Problems?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5" name="Title 28"/>
          <p:cNvSpPr txBox="1"/>
          <p:nvPr/>
        </p:nvSpPr>
        <p:spPr>
          <a:xfrm>
            <a:off x="388800" y="1554480"/>
            <a:ext cx="11315520" cy="506700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lvl="2" marL="64800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Packet Delivery Model</a:t>
            </a:r>
            <a:endParaRPr b="0" lang="en-US" spc="-1" strike="noStrike" sz="2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itle 28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itle 29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IP Packet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descr="IP header" id="268" name="Picture 20"/>
          <p:cNvPicPr/>
          <p:nvPr/>
        </p:nvPicPr>
        <p:blipFill>
          <a:blip r:embed="rId3"/>
          <a:stretch/>
        </p:blipFill>
        <p:spPr>
          <a:xfrm>
            <a:off x="839160" y="2011680"/>
            <a:ext cx="4830120" cy="3755880"/>
          </a:xfrm>
          <a:prstGeom prst="rect">
            <a:avLst/>
          </a:prstGeom>
          <a:ln w="54720">
            <a:noFill/>
          </a:ln>
        </p:spPr>
      </p:pic>
      <p:sp>
        <p:nvSpPr>
          <p:cNvPr id="269" name="TextBox 268"/>
          <p:cNvSpPr txBox="1"/>
          <p:nvPr/>
        </p:nvSpPr>
        <p:spPr>
          <a:xfrm>
            <a:off x="6492240" y="822960"/>
            <a:ext cx="5388120" cy="832608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Version (4): 4 </a:t>
            </a:r>
            <a:br>
              <a:rPr sz="1800"/>
            </a:b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Hlen (4): number of 32-bit words in header</a:t>
            </a:r>
            <a:br>
              <a:rPr sz="1800"/>
            </a:b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TOS (8): type of service (not widely used)</a:t>
            </a:r>
            <a:br>
              <a:rPr sz="1800"/>
            </a:b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Length (16): number of bytes in this datagram</a:t>
            </a:r>
            <a:br>
              <a:rPr sz="1800"/>
            </a:b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Ident (16): used by fragmentation</a:t>
            </a:r>
            <a:br>
              <a:rPr sz="1800"/>
            </a:b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Flags/Offset (16): used by fragmentation</a:t>
            </a:r>
            <a:br>
              <a:rPr sz="1800"/>
            </a:b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TTL (8): number of hops this datagram has traveled</a:t>
            </a:r>
            <a:br>
              <a:rPr sz="1800"/>
            </a:b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Protocol (8): demux key (TCP=6, UDP=17)</a:t>
            </a:r>
            <a:br>
              <a:rPr sz="1800"/>
            </a:b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Checksum (16): of the header only</a:t>
            </a:r>
            <a:br>
              <a:rPr sz="1800"/>
            </a:b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DestAddr &amp; SrcAddr (32)</a:t>
            </a:r>
          </a:p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itle 29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30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IP Routing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613440" y="2011680"/>
            <a:ext cx="11578680" cy="42847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85480" marL="74268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171360"/>
                <a:tab algn="l" pos="1085760"/>
                <a:tab algn="l" pos="2000160"/>
                <a:tab algn="l" pos="2914560"/>
                <a:tab algn="l" pos="3828960"/>
                <a:tab algn="l" pos="4743360"/>
                <a:tab algn="l" pos="5657760"/>
                <a:tab algn="l" pos="6572160"/>
                <a:tab algn="l" pos="7486560"/>
                <a:tab algn="l" pos="8400960"/>
                <a:tab algn="l" pos="9315360"/>
              </a:tabLst>
            </a:pPr>
            <a:r>
              <a:rPr b="0" lang="en-US" spc="-1" strike="noStrike" sz="2800">
                <a:solidFill>
                  <a:srgbClr val="000000"/>
                </a:solidFill>
                <a:latin typeface="Montserrat"/>
                <a:ea typeface="Montserrat"/>
              </a:rPr>
              <a:t> Forwarding: </a:t>
            </a:r>
            <a:endParaRPr b="0" lang="en-US" spc="-1" strike="noStrike" sz="2800">
              <a:solidFill>
                <a:srgbClr val="000000"/>
              </a:solidFill>
              <a:latin typeface="Arial"/>
            </a:endParaRPr>
          </a:p>
          <a:p>
            <a:pPr indent="-216000" lvl="5" marL="1296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228600"/>
                <a:tab algn="l" pos="1143000"/>
                <a:tab algn="l" pos="2057400"/>
                <a:tab algn="l" pos="2971800"/>
                <a:tab algn="l" pos="3886200"/>
                <a:tab algn="l" pos="4800600"/>
                <a:tab algn="l" pos="5715000"/>
                <a:tab algn="l" pos="6629400"/>
                <a:tab algn="l" pos="7543800"/>
                <a:tab algn="l" pos="8458200"/>
              </a:tabLst>
            </a:pPr>
            <a:r>
              <a:rPr b="0" lang="en-US" spc="-1" strike="noStrike" sz="2800">
                <a:solidFill>
                  <a:srgbClr val="000000"/>
                </a:solidFill>
                <a:latin typeface="Montserrat"/>
                <a:ea typeface="Montserrat"/>
              </a:rPr>
              <a:t> to select an output port based on destination address and routing table</a:t>
            </a:r>
            <a:endParaRPr b="0" lang="en-US" spc="-1" strike="noStrike" sz="2800">
              <a:solidFill>
                <a:srgbClr val="000000"/>
              </a:solidFill>
              <a:latin typeface="Arial"/>
            </a:endParaRPr>
          </a:p>
          <a:p>
            <a:pPr indent="-216000" lvl="5" marL="1296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228600"/>
                <a:tab algn="l" pos="1143000"/>
                <a:tab algn="l" pos="2057400"/>
                <a:tab algn="l" pos="2971800"/>
                <a:tab algn="l" pos="3886200"/>
                <a:tab algn="l" pos="4800600"/>
                <a:tab algn="l" pos="5715000"/>
                <a:tab algn="l" pos="6629400"/>
                <a:tab algn="l" pos="7543800"/>
                <a:tab algn="l" pos="8458200"/>
              </a:tabLst>
            </a:pPr>
            <a:r>
              <a:rPr b="1" lang="en-US" spc="-1" strike="noStrike" sz="2800">
                <a:solidFill>
                  <a:srgbClr val="CE181E"/>
                </a:solidFill>
                <a:latin typeface="Montserrat"/>
                <a:ea typeface="Montserrat"/>
              </a:rPr>
              <a:t>Local path</a:t>
            </a:r>
            <a:br>
              <a:rPr sz="2800"/>
            </a:br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 </a:t>
            </a:r>
            <a:endParaRPr b="0" lang="en-US" spc="-1" strike="noStrike" sz="2800">
              <a:solidFill>
                <a:srgbClr val="000000"/>
              </a:solidFill>
              <a:latin typeface="Arial"/>
            </a:endParaRPr>
          </a:p>
          <a:p>
            <a:pPr indent="-216000" lvl="2" marL="64800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  <a:tab algn="l" pos="8915400"/>
              </a:tabLst>
            </a:pPr>
            <a:r>
              <a:rPr b="0" lang="en-US" spc="-1" strike="noStrike" sz="2800">
                <a:solidFill>
                  <a:srgbClr val="000000"/>
                </a:solidFill>
                <a:latin typeface="Montserrat"/>
                <a:ea typeface="Montserrat"/>
              </a:rPr>
              <a:t> Routing: </a:t>
            </a:r>
            <a:endParaRPr b="0" lang="en-US" spc="-1" strike="noStrike" sz="2800">
              <a:solidFill>
                <a:srgbClr val="000000"/>
              </a:solidFill>
              <a:latin typeface="Arial"/>
            </a:endParaRPr>
          </a:p>
          <a:p>
            <a:pPr indent="-216000" lvl="5" marL="1296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228600"/>
                <a:tab algn="l" pos="1143000"/>
                <a:tab algn="l" pos="2057400"/>
                <a:tab algn="l" pos="2971800"/>
                <a:tab algn="l" pos="3886200"/>
                <a:tab algn="l" pos="4800600"/>
                <a:tab algn="l" pos="5715000"/>
                <a:tab algn="l" pos="6629400"/>
                <a:tab algn="l" pos="7543800"/>
                <a:tab algn="l" pos="8458200"/>
              </a:tabLst>
            </a:pPr>
            <a:r>
              <a:rPr b="0" lang="en-US" spc="-1" strike="noStrike" sz="2800">
                <a:solidFill>
                  <a:srgbClr val="000000"/>
                </a:solidFill>
                <a:latin typeface="Montserrat"/>
                <a:ea typeface="Montserrat"/>
              </a:rPr>
              <a:t>process by which routing table is built</a:t>
            </a:r>
            <a:endParaRPr b="0" lang="en-US" spc="-1" strike="noStrike" sz="2800">
              <a:solidFill>
                <a:srgbClr val="000000"/>
              </a:solidFill>
              <a:latin typeface="Arial"/>
            </a:endParaRPr>
          </a:p>
          <a:p>
            <a:pPr indent="-216000" lvl="5" marL="1296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228600"/>
                <a:tab algn="l" pos="1143000"/>
                <a:tab algn="l" pos="2057400"/>
                <a:tab algn="l" pos="2971800"/>
                <a:tab algn="l" pos="3886200"/>
                <a:tab algn="l" pos="4800600"/>
                <a:tab algn="l" pos="5715000"/>
                <a:tab algn="l" pos="6629400"/>
                <a:tab algn="l" pos="7543800"/>
                <a:tab algn="l" pos="8458200"/>
              </a:tabLst>
            </a:pPr>
            <a:r>
              <a:rPr b="1" lang="en-US" spc="-1" strike="noStrike" sz="2800">
                <a:solidFill>
                  <a:srgbClr val="CE181E"/>
                </a:solidFill>
                <a:latin typeface="Montserrat"/>
                <a:ea typeface="Montserrat"/>
              </a:rPr>
              <a:t>End-to-end path</a:t>
            </a:r>
            <a:endParaRPr b="0" lang="en-US" spc="-1" strike="noStrike" sz="2800">
              <a:solidFill>
                <a:srgbClr val="000000"/>
              </a:solidFill>
              <a:latin typeface="Arial"/>
            </a:endParaRPr>
          </a:p>
        </p:txBody>
      </p:sp>
      <p:pic>
        <p:nvPicPr>
          <p:cNvPr descr="Forwarding table" id="273" name="Picture 21"/>
          <p:cNvPicPr/>
          <p:nvPr/>
        </p:nvPicPr>
        <p:blipFill>
          <a:blip r:embed="rId3"/>
          <a:stretch/>
        </p:blipFill>
        <p:spPr>
          <a:xfrm>
            <a:off x="6949440" y="3113640"/>
            <a:ext cx="4961880" cy="1732680"/>
          </a:xfrm>
          <a:prstGeom prst="rect">
            <a:avLst/>
          </a:prstGeom>
          <a:ln w="54720">
            <a:noFill/>
          </a:ln>
        </p:spPr>
      </p:pic>
      <p:sp>
        <p:nvSpPr>
          <p:cNvPr id="274" name="Title 30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814320" y="55080"/>
            <a:ext cx="11042640" cy="76212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lstStyle/>
          <a:p>
            <a:pPr indent="0" marL="216000">
              <a:buNone/>
            </a:pPr>
            <a:r>
              <a:rPr b="1" dirty="0" lang="en-US" spc="-1" strike="noStrike" sz="2800">
                <a:solidFill>
                  <a:srgbClr val="000000"/>
                </a:solidFill>
                <a:latin typeface="Cantarell"/>
              </a:rPr>
              <a:t>Interdomain Routing</a:t>
            </a:r>
            <a:endParaRPr b="0" dirty="0" lang="en-US" spc="-1" strike="noStrike" sz="2800">
              <a:solidFill>
                <a:srgbClr val="000000"/>
              </a:solidFill>
              <a:latin typeface="Cantarell"/>
            </a:endParaRPr>
          </a:p>
        </p:txBody>
      </p:sp>
      <p:grpSp>
        <p:nvGrpSpPr>
          <p:cNvPr descr="BGP protocol" id="2" name="Group 1">
            <a:extLst>
              <a:ext uri="{FF2B5EF4-FFF2-40B4-BE49-F238E27FC236}">
                <a16:creationId xmlns:a16="http://schemas.microsoft.com/office/drawing/2014/main" id="{3C31A4CB-29C1-4D4F-88F6-72C8E9C81BC6}"/>
              </a:ext>
            </a:extLst>
          </p:cNvPr>
          <p:cNvGrpSpPr/>
          <p:nvPr/>
        </p:nvGrpSpPr>
        <p:grpSpPr>
          <a:xfrm>
            <a:off x="297000" y="817200"/>
            <a:ext cx="11955960" cy="5387040"/>
            <a:chOff x="297000" y="817200"/>
            <a:chExt cx="11955960" cy="5387040"/>
          </a:xfrm>
        </p:grpSpPr>
        <p:sp>
          <p:nvSpPr>
            <p:cNvPr id="275" name="Picture 22"/>
            <p:cNvSpPr txBox="1"/>
            <p:nvPr/>
          </p:nvSpPr>
          <p:spPr>
            <a:xfrm>
              <a:off x="297000" y="981000"/>
              <a:ext cx="5702400" cy="4751640"/>
            </a:xfrm>
            <a:prstGeom prst="rect">
              <a:avLst/>
            </a:prstGeom>
            <a:blipFill rotWithShape="0">
              <a:blip r:embed="rId2"/>
              <a:stretch/>
            </a:blipFill>
            <a:ln w="54720">
              <a:noFill/>
            </a:ln>
          </p:spPr>
          <p:txBody>
            <a:bodyPr anchor="t" bIns="46800" lIns="90000" rIns="90000" tIns="46800">
              <a:noAutofit/>
            </a:bodyPr>
            <a:lstStyle/>
            <a:p>
              <a:pPr algn="ctr"/>
              <a:r>
                <a:rPr b="0" lang="en-US" spc="-1" strike="noStrike" sz="1800">
                  <a:solidFill>
                    <a:srgbClr val="CE181E"/>
                  </a:solidFill>
                  <a:latin typeface="Cantarell"/>
                </a:rPr>
                <a:t>                              IGP</a:t>
              </a:r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  <a:p>
              <a:pPr algn="ctr"/>
              <a:r>
                <a:rPr b="0" lang="en-US" spc="-1" strike="noStrike" sz="1800">
                  <a:solidFill>
                    <a:srgbClr val="CE181E"/>
                  </a:solidFill>
                  <a:latin typeface="Cantarell"/>
                </a:rPr>
                <a:t>                    Interior gateway protocol</a:t>
              </a:r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277" name="Text Box 4"/>
            <p:cNvSpPr/>
            <p:nvPr/>
          </p:nvSpPr>
          <p:spPr>
            <a:xfrm>
              <a:off x="2440080" y="5805360"/>
              <a:ext cx="711252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247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pc="-1" strike="noStrike" sz="2000">
                  <a:solidFill>
                    <a:srgbClr val="0033CC"/>
                  </a:solidFill>
                  <a:latin typeface="Arial"/>
                </a:rPr>
                <a:t>A network with four autonomous systems</a:t>
              </a:r>
              <a:endParaRPr b="0" lang="en-US" spc="-1" strike="noStrike" sz="2000">
                <a:solidFill>
                  <a:srgbClr val="000000"/>
                </a:solidFill>
                <a:latin typeface="Arial Black"/>
              </a:endParaRPr>
            </a:p>
          </p:txBody>
        </p:sp>
        <p:sp>
          <p:nvSpPr>
            <p:cNvPr id="278" name="Straight Connector 277"/>
            <p:cNvSpPr/>
            <p:nvPr/>
          </p:nvSpPr>
          <p:spPr>
            <a:xfrm>
              <a:off x="1954800" y="1737360"/>
              <a:ext cx="1920240" cy="0"/>
            </a:xfrm>
            <a:prstGeom prst="line">
              <a:avLst/>
            </a:prstGeom>
            <a:ln w="54720">
              <a:solidFill>
                <a:srgbClr val="000000"/>
              </a:solidFill>
              <a:round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-45000" lIns="90000" rIns="90000" tIns="-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279" name="Straight Connector 278"/>
            <p:cNvSpPr/>
            <p:nvPr/>
          </p:nvSpPr>
          <p:spPr>
            <a:xfrm>
              <a:off x="4057920" y="1828800"/>
              <a:ext cx="0" cy="457200"/>
            </a:xfrm>
            <a:prstGeom prst="line">
              <a:avLst/>
            </a:prstGeom>
            <a:ln w="54720">
              <a:solidFill>
                <a:srgbClr val="000000"/>
              </a:solidFill>
              <a:round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280" name="Straight Connector 279"/>
            <p:cNvSpPr/>
            <p:nvPr/>
          </p:nvSpPr>
          <p:spPr>
            <a:xfrm>
              <a:off x="1954800" y="2560320"/>
              <a:ext cx="2194560" cy="0"/>
            </a:xfrm>
            <a:prstGeom prst="line">
              <a:avLst/>
            </a:prstGeom>
            <a:ln w="54720">
              <a:solidFill>
                <a:srgbClr val="000000"/>
              </a:solidFill>
              <a:round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-45000" lIns="90000" rIns="90000" tIns="-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1497600" y="4792320"/>
              <a:ext cx="3958560" cy="602640"/>
            </a:xfrm>
            <a:prstGeom prst="rect">
              <a:avLst/>
            </a:prstGeom>
            <a:noFill/>
            <a:ln w="54720">
              <a:noFill/>
            </a:ln>
          </p:spPr>
          <p:txBody>
            <a:bodyPr anchor="t" bIns="45000" lIns="90000" rIns="90000" tIns="45000">
              <a:noAutofit/>
            </a:bodyPr>
            <a:lstStyle/>
            <a:p>
              <a:r>
                <a:rPr b="0" lang="en-US" spc="-1" strike="noStrike" sz="1800">
                  <a:solidFill>
                    <a:srgbClr val="CE181E"/>
                  </a:solidFill>
                  <a:latin typeface="Arial"/>
                </a:rPr>
                <a:t>                              IGP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  <a:p>
              <a:r>
                <a:rPr b="0" lang="en-US" spc="-1" strike="noStrike" sz="1800">
                  <a:solidFill>
                    <a:srgbClr val="CE181E"/>
                  </a:solidFill>
                  <a:latin typeface="Arial"/>
                </a:rPr>
                <a:t>                    Interior gateway protocol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" name="Picture 23"/>
            <p:cNvSpPr txBox="1"/>
            <p:nvPr/>
          </p:nvSpPr>
          <p:spPr>
            <a:xfrm>
              <a:off x="6550560" y="817200"/>
              <a:ext cx="5702400" cy="4751640"/>
            </a:xfrm>
            <a:prstGeom prst="rect">
              <a:avLst/>
            </a:prstGeom>
            <a:blipFill rotWithShape="0">
              <a:blip r:embed="rId2"/>
              <a:stretch/>
            </a:blipFill>
            <a:ln w="54720">
              <a:noFill/>
            </a:ln>
          </p:spPr>
          <p:txBody>
            <a:bodyPr anchor="t" bIns="46800" lIns="90000" rIns="90000" tIns="46800">
              <a:noAutofit/>
            </a:bodyPr>
            <a:lstStyle/>
            <a:p>
              <a:pPr algn="ctr"/>
              <a:r>
                <a:rPr b="0" lang="en-US" spc="-1" strike="noStrike" sz="1800">
                  <a:solidFill>
                    <a:srgbClr val="CE181E"/>
                  </a:solidFill>
                  <a:latin typeface="Cantarell"/>
                </a:rPr>
                <a:t>                              IGP</a:t>
              </a:r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  <a:p>
              <a:pPr algn="ctr"/>
              <a:r>
                <a:rPr b="0" lang="en-US" spc="-1" strike="noStrike" sz="1800">
                  <a:solidFill>
                    <a:srgbClr val="CE181E"/>
                  </a:solidFill>
                  <a:latin typeface="Cantarell"/>
                </a:rPr>
                <a:t>                    Interior gateway protocol</a:t>
              </a:r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283" name="Straight Connector 282"/>
            <p:cNvSpPr/>
            <p:nvPr/>
          </p:nvSpPr>
          <p:spPr>
            <a:xfrm>
              <a:off x="7488360" y="1573560"/>
              <a:ext cx="1920240" cy="0"/>
            </a:xfrm>
            <a:prstGeom prst="line">
              <a:avLst/>
            </a:prstGeom>
            <a:ln w="54720">
              <a:solidFill>
                <a:srgbClr val="000000"/>
              </a:solidFill>
              <a:round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-45000" lIns="90000" rIns="90000" tIns="-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284" name="Straight Connector 283"/>
            <p:cNvSpPr/>
            <p:nvPr/>
          </p:nvSpPr>
          <p:spPr>
            <a:xfrm>
              <a:off x="9591480" y="1665000"/>
              <a:ext cx="0" cy="457200"/>
            </a:xfrm>
            <a:prstGeom prst="line">
              <a:avLst/>
            </a:prstGeom>
            <a:ln w="54720">
              <a:solidFill>
                <a:srgbClr val="000000"/>
              </a:solidFill>
              <a:round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285" name="Straight Connector 284"/>
            <p:cNvSpPr/>
            <p:nvPr/>
          </p:nvSpPr>
          <p:spPr>
            <a:xfrm>
              <a:off x="7488360" y="2396520"/>
              <a:ext cx="2194560" cy="0"/>
            </a:xfrm>
            <a:prstGeom prst="line">
              <a:avLst/>
            </a:prstGeom>
            <a:ln w="54720">
              <a:solidFill>
                <a:srgbClr val="000000"/>
              </a:solidFill>
              <a:round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-45000" lIns="90000" rIns="90000" tIns="-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7031160" y="4628520"/>
              <a:ext cx="3958560" cy="602640"/>
            </a:xfrm>
            <a:prstGeom prst="rect">
              <a:avLst/>
            </a:prstGeom>
            <a:noFill/>
            <a:ln w="54720">
              <a:noFill/>
            </a:ln>
          </p:spPr>
          <p:txBody>
            <a:bodyPr anchor="t" bIns="45000" lIns="90000" rIns="90000" tIns="45000">
              <a:noAutofit/>
            </a:bodyPr>
            <a:lstStyle/>
            <a:p>
              <a:r>
                <a:rPr b="0" lang="en-US" spc="-1" strike="noStrike" sz="1800">
                  <a:solidFill>
                    <a:srgbClr val="CE181E"/>
                  </a:solidFill>
                  <a:latin typeface="Arial"/>
                </a:rPr>
                <a:t>                              IGP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  <a:p>
              <a:r>
                <a:rPr b="0" lang="en-US" spc="-1" strike="noStrike" sz="1800">
                  <a:solidFill>
                    <a:srgbClr val="CE181E"/>
                  </a:solidFill>
                  <a:latin typeface="Arial"/>
                </a:rPr>
                <a:t>                    Interior gateway protocol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7" name="Straight Connector 286"/>
            <p:cNvSpPr/>
            <p:nvPr/>
          </p:nvSpPr>
          <p:spPr>
            <a:xfrm flipV="1">
              <a:off x="5120640" y="2651760"/>
              <a:ext cx="1920240" cy="1280160"/>
            </a:xfrm>
            <a:prstGeom prst="line">
              <a:avLst/>
            </a:prstGeom>
            <a:ln w="54720">
              <a:solidFill>
                <a:srgbClr val="3465A4"/>
              </a:solidFill>
              <a:round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" name="Straight Connector 287"/>
            <p:cNvSpPr/>
            <p:nvPr/>
          </p:nvSpPr>
          <p:spPr>
            <a:xfrm>
              <a:off x="5760720" y="2651760"/>
              <a:ext cx="1828800" cy="1005840"/>
            </a:xfrm>
            <a:prstGeom prst="line">
              <a:avLst/>
            </a:prstGeom>
            <a:ln w="54720">
              <a:solidFill>
                <a:srgbClr val="3465A4"/>
              </a:solidFill>
              <a:round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" name="Straight Connector 288"/>
            <p:cNvSpPr/>
            <p:nvPr/>
          </p:nvSpPr>
          <p:spPr>
            <a:xfrm>
              <a:off x="5486400" y="4389120"/>
              <a:ext cx="1371600" cy="0"/>
            </a:xfrm>
            <a:prstGeom prst="line">
              <a:avLst/>
            </a:prstGeom>
            <a:ln w="54720">
              <a:solidFill>
                <a:srgbClr val="3465A4"/>
              </a:solidFill>
              <a:round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-45000" lIns="90000" rIns="90000" tIns="-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0" name="Straight Connector 289"/>
            <p:cNvSpPr/>
            <p:nvPr/>
          </p:nvSpPr>
          <p:spPr>
            <a:xfrm flipV="1">
              <a:off x="5120640" y="3108960"/>
              <a:ext cx="0" cy="822960"/>
            </a:xfrm>
            <a:prstGeom prst="line">
              <a:avLst/>
            </a:prstGeom>
            <a:ln w="54720">
              <a:solidFill>
                <a:srgbClr val="3465A4"/>
              </a:solidFill>
              <a:round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1" name="Straight Connector 290"/>
            <p:cNvSpPr/>
            <p:nvPr/>
          </p:nvSpPr>
          <p:spPr>
            <a:xfrm>
              <a:off x="5852160" y="2468880"/>
              <a:ext cx="914400" cy="0"/>
            </a:xfrm>
            <a:prstGeom prst="line">
              <a:avLst/>
            </a:prstGeom>
            <a:ln w="54720">
              <a:solidFill>
                <a:srgbClr val="3465A4"/>
              </a:solidFill>
              <a:round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-45000" lIns="90000" rIns="90000" tIns="-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2" name="Straight Connector 291"/>
            <p:cNvSpPr/>
            <p:nvPr/>
          </p:nvSpPr>
          <p:spPr>
            <a:xfrm>
              <a:off x="7223760" y="2743200"/>
              <a:ext cx="731520" cy="822960"/>
            </a:xfrm>
            <a:prstGeom prst="line">
              <a:avLst/>
            </a:prstGeom>
            <a:ln w="54720">
              <a:solidFill>
                <a:srgbClr val="3465A4"/>
              </a:solidFill>
              <a:round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4023360" y="3603600"/>
              <a:ext cx="3958560" cy="858240"/>
            </a:xfrm>
            <a:prstGeom prst="rect">
              <a:avLst/>
            </a:prstGeom>
            <a:noFill/>
            <a:ln w="54720">
              <a:noFill/>
            </a:ln>
          </p:spPr>
          <p:txBody>
            <a:bodyPr anchor="t" bIns="45000" lIns="90000" rIns="90000" tIns="45000">
              <a:noAutofit/>
            </a:bodyPr>
            <a:lstStyle/>
            <a:p>
              <a:r>
                <a:rPr b="0" lang="en-US" spc="-1" strike="noStrike" sz="1800">
                  <a:solidFill>
                    <a:srgbClr val="CE181E"/>
                  </a:solidFill>
                  <a:latin typeface="Arial"/>
                </a:rPr>
                <a:t>                              BGP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  <a:p>
              <a:r>
                <a:rPr b="0" lang="en-US" spc="-1" strike="noStrike" sz="1800">
                  <a:solidFill>
                    <a:srgbClr val="CE181E"/>
                  </a:solidFill>
                  <a:latin typeface="Arial"/>
                </a:rPr>
                <a:t>                    Border gateway                                      protocol</a:t>
              </a:r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4" name="Title 31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814320" y="-615240"/>
            <a:ext cx="11042640" cy="143244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lstStyle/>
          <a:p>
            <a:pPr indent="0" marL="216000">
              <a:buNone/>
            </a:pPr>
            <a:r>
              <a:rPr b="1" dirty="0" lang="en-US" spc="-1" strike="noStrike" sz="3200">
                <a:solidFill>
                  <a:srgbClr val="000000"/>
                </a:solidFill>
                <a:latin typeface="Montserrat"/>
              </a:rPr>
              <a:t>BGP: Path vector protocol</a:t>
            </a:r>
            <a:endParaRPr b="0" dirty="0" lang="en-US" spc="-1" strike="noStrike" sz="32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296" name="Freeform 295"/>
          <p:cNvSpPr/>
          <p:nvPr/>
        </p:nvSpPr>
        <p:spPr>
          <a:xfrm>
            <a:off x="8229600" y="2194560"/>
            <a:ext cx="2651760" cy="1554480"/>
          </a:xfrm>
          <a:custGeom>
            <a:avLst/>
            <a:gdLst>
              <a:gd fmla="*/ 368280 w 2651760" name="textAreaLeft"/>
              <a:gd fmla="*/ 2100600 w 2651760" name="textAreaRight"/>
              <a:gd fmla="*/ 238680 h 1554480" name="textAreaTop"/>
              <a:gd fmla="*/ 1247400 h 1554480" name="textAreaBottom"/>
            </a:gdLst>
            <a:ahLst/>
            <a:cxnLst/>
            <a:rect b="textAreaBottom" l="textAreaLeft" r="textAreaRight" t="textAreaTop"/>
            <a:pathLst>
              <a:path h="21600" w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fill="none" h="21600" w="21600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fill="none" h="21600" w="21600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fill="none" h="21600" w="21600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fill="none" h="21600" w="21600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fill="none" h="21600" w="21600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fill="none" h="21600" w="21600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fill="none" h="21600" w="21600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fill="none" h="21600" w="21600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fill="none" h="21600" w="21600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fill="none" h="21600" w="21600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fill="none" h="21600" w="21600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Freeform 296"/>
          <p:cNvSpPr/>
          <p:nvPr/>
        </p:nvSpPr>
        <p:spPr>
          <a:xfrm>
            <a:off x="5212080" y="2468880"/>
            <a:ext cx="2651760" cy="1554480"/>
          </a:xfrm>
          <a:custGeom>
            <a:avLst/>
            <a:gdLst>
              <a:gd fmla="*/ 368280 w 2651760" name="textAreaLeft"/>
              <a:gd fmla="*/ 2100600 w 2651760" name="textAreaRight"/>
              <a:gd fmla="*/ 238680 h 1554480" name="textAreaTop"/>
              <a:gd fmla="*/ 1247400 h 1554480" name="textAreaBottom"/>
            </a:gdLst>
            <a:ahLst/>
            <a:cxnLst/>
            <a:rect b="textAreaBottom" l="textAreaLeft" r="textAreaRight" t="textAreaTop"/>
            <a:pathLst>
              <a:path h="21600" w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fill="none" h="21600" w="21600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fill="none" h="21600" w="21600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fill="none" h="21600" w="21600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fill="none" h="21600" w="21600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fill="none" h="21600" w="21600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fill="none" h="21600" w="21600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fill="none" h="21600" w="21600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fill="none" h="21600" w="21600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fill="none" h="21600" w="21600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fill="none" h="21600" w="21600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fill="none" h="21600" w="21600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Freeform 297"/>
          <p:cNvSpPr/>
          <p:nvPr/>
        </p:nvSpPr>
        <p:spPr>
          <a:xfrm>
            <a:off x="2286000" y="4023360"/>
            <a:ext cx="2651760" cy="1554480"/>
          </a:xfrm>
          <a:custGeom>
            <a:avLst/>
            <a:gdLst>
              <a:gd fmla="*/ 368280 w 2651760" name="textAreaLeft"/>
              <a:gd fmla="*/ 2100600 w 2651760" name="textAreaRight"/>
              <a:gd fmla="*/ 238680 h 1554480" name="textAreaTop"/>
              <a:gd fmla="*/ 1247400 h 1554480" name="textAreaBottom"/>
            </a:gdLst>
            <a:ahLst/>
            <a:cxnLst/>
            <a:rect b="textAreaBottom" l="textAreaLeft" r="textAreaRight" t="textAreaTop"/>
            <a:pathLst>
              <a:path h="21600" w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fill="none" h="21600" w="21600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fill="none" h="21600" w="21600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fill="none" h="21600" w="21600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fill="none" h="21600" w="21600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fill="none" h="21600" w="21600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fill="none" h="21600" w="21600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fill="none" h="21600" w="21600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fill="none" h="21600" w="21600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fill="none" h="21600" w="21600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fill="none" h="21600" w="21600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fill="none" h="21600" w="21600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Freeform 298"/>
          <p:cNvSpPr/>
          <p:nvPr/>
        </p:nvSpPr>
        <p:spPr>
          <a:xfrm>
            <a:off x="1463040" y="1920240"/>
            <a:ext cx="2651760" cy="1554480"/>
          </a:xfrm>
          <a:custGeom>
            <a:avLst/>
            <a:gdLst>
              <a:gd fmla="*/ 368280 w 2651760" name="textAreaLeft"/>
              <a:gd fmla="*/ 2100600 w 2651760" name="textAreaRight"/>
              <a:gd fmla="*/ 238680 h 1554480" name="textAreaTop"/>
              <a:gd fmla="*/ 1247400 h 1554480" name="textAreaBottom"/>
            </a:gdLst>
            <a:ahLst/>
            <a:cxnLst/>
            <a:rect b="textAreaBottom" l="textAreaLeft" r="textAreaRight" t="textAreaTop"/>
            <a:pathLst>
              <a:path h="21600" w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fill="none" h="21600" w="21600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fill="none" h="21600" w="21600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fill="none" h="21600" w="21600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fill="none" h="21600" w="21600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fill="none" h="21600" w="21600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fill="none" h="21600" w="21600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fill="none" h="21600" w="21600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fill="none" h="21600" w="21600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fill="none" h="21600" w="21600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fill="none" h="21600" w="21600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fill="none" h="21600" w="21600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9235440" y="2651760"/>
            <a:ext cx="93060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AS 223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943600" y="3017520"/>
            <a:ext cx="93060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AS 225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291840" y="4500000"/>
            <a:ext cx="93060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AS 245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2179800" y="2377440"/>
            <a:ext cx="105696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AS 7770</a:t>
            </a:r>
          </a:p>
        </p:txBody>
      </p:sp>
      <p:sp>
        <p:nvSpPr>
          <p:cNvPr id="304" name="Straight Connector 303"/>
          <p:cNvSpPr/>
          <p:nvPr/>
        </p:nvSpPr>
        <p:spPr>
          <a:xfrm flipH="1">
            <a:off x="7772400" y="3200400"/>
            <a:ext cx="548640" cy="0"/>
          </a:xfrm>
          <a:prstGeom prst="line">
            <a:avLst/>
          </a:prstGeom>
          <a:ln w="54720">
            <a:solidFill>
              <a:srgbClr val="00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305" name="Rectangle 304"/>
          <p:cNvSpPr/>
          <p:nvPr/>
        </p:nvSpPr>
        <p:spPr>
          <a:xfrm>
            <a:off x="9052560" y="4023360"/>
            <a:ext cx="2103120" cy="5486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Path: AS 223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577840" y="4297680"/>
            <a:ext cx="2377440" cy="5486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Path: AS 223, AS 225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737360" y="5852160"/>
            <a:ext cx="3657600" cy="5486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Path: AS 223, AS 225, AS 245</a:t>
            </a:r>
          </a:p>
        </p:txBody>
      </p:sp>
      <p:sp>
        <p:nvSpPr>
          <p:cNvPr id="308" name="Straight Connector 307"/>
          <p:cNvSpPr/>
          <p:nvPr/>
        </p:nvSpPr>
        <p:spPr>
          <a:xfrm flipH="1">
            <a:off x="4937760" y="3749040"/>
            <a:ext cx="548640" cy="640080"/>
          </a:xfrm>
          <a:prstGeom prst="line">
            <a:avLst/>
          </a:prstGeom>
          <a:ln w="54720">
            <a:solidFill>
              <a:srgbClr val="00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309" name="Straight Connector 308"/>
          <p:cNvSpPr/>
          <p:nvPr/>
        </p:nvSpPr>
        <p:spPr>
          <a:xfrm flipH="1" flipV="1">
            <a:off x="1920240" y="3383280"/>
            <a:ext cx="457200" cy="1188720"/>
          </a:xfrm>
          <a:prstGeom prst="line">
            <a:avLst/>
          </a:prstGeom>
          <a:ln w="54720">
            <a:solidFill>
              <a:srgbClr val="00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310" name="Rectangle 309"/>
          <p:cNvSpPr/>
          <p:nvPr/>
        </p:nvSpPr>
        <p:spPr>
          <a:xfrm>
            <a:off x="822960" y="1463040"/>
            <a:ext cx="4206240" cy="5486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Path: AS 223, AS 225, AS 245, AS 7770</a:t>
            </a:r>
          </a:p>
        </p:txBody>
      </p:sp>
      <p:sp>
        <p:nvSpPr>
          <p:cNvPr id="311" name="Straight Connector 310"/>
          <p:cNvSpPr/>
          <p:nvPr/>
        </p:nvSpPr>
        <p:spPr>
          <a:xfrm>
            <a:off x="4114800" y="2377440"/>
            <a:ext cx="1371600" cy="91440"/>
          </a:xfrm>
          <a:prstGeom prst="line">
            <a:avLst/>
          </a:prstGeom>
          <a:ln w="54720">
            <a:solidFill>
              <a:srgbClr val="00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312" name="Rectangle 311"/>
          <p:cNvSpPr/>
          <p:nvPr/>
        </p:nvSpPr>
        <p:spPr>
          <a:xfrm>
            <a:off x="5943600" y="1554480"/>
            <a:ext cx="4206240" cy="5486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Path: AS 223, </a:t>
            </a:r>
            <a:r>
              <a:rPr b="1" lang="en-US" spc="-1" strike="noStrike" sz="1800">
                <a:solidFill>
                  <a:srgbClr val="CE181E"/>
                </a:solidFill>
                <a:latin typeface="Arial"/>
              </a:rPr>
              <a:t>AS 225</a:t>
            </a:r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, AS 245, AS 7770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955280" y="1188720"/>
            <a:ext cx="75240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CE181E"/>
                </a:solidFill>
                <a:latin typeface="Arial"/>
              </a:rPr>
              <a:t>Loop!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itle 32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id="29" nodeType="click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31" nodeType="with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itle 33"/>
          <p:cNvSpPr/>
          <p:nvPr/>
        </p:nvSpPr>
        <p:spPr>
          <a:xfrm>
            <a:off x="1097280" y="201168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Apps (HTTP)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1097280" y="31089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Transport (TCP/UDP)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077840" y="402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Network (IP)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077840" y="4887360"/>
            <a:ext cx="2286000" cy="64008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Link (Ethernet)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9017280" y="201168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Apps (HTTP)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017280" y="31089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Transport (TCP/UDP)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997840" y="402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Network (IP)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97840" y="4887360"/>
            <a:ext cx="2286000" cy="64008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Link (Ethernet)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3741840" y="5139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Ethernet Interface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3657600" y="4023360"/>
            <a:ext cx="2468880" cy="173736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Rectangle 324"/>
          <p:cNvSpPr/>
          <p:nvPr/>
        </p:nvSpPr>
        <p:spPr>
          <a:xfrm>
            <a:off x="6441840" y="510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Ethernet Interface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357600" y="4023360"/>
            <a:ext cx="2468880" cy="173736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traight Connector 326"/>
          <p:cNvSpPr/>
          <p:nvPr/>
        </p:nvSpPr>
        <p:spPr>
          <a:xfrm>
            <a:off x="3383280" y="3291840"/>
            <a:ext cx="5634000" cy="0"/>
          </a:xfrm>
          <a:prstGeom prst="line">
            <a:avLst/>
          </a:prstGeom>
          <a:ln w="54720">
            <a:solidFill>
              <a:srgbClr val="FF3838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3863520" y="2926080"/>
            <a:ext cx="12718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Segments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traight Connector 328"/>
          <p:cNvSpPr/>
          <p:nvPr/>
        </p:nvSpPr>
        <p:spPr>
          <a:xfrm>
            <a:off x="3383280" y="2250720"/>
            <a:ext cx="5634000" cy="0"/>
          </a:xfrm>
          <a:prstGeom prst="line">
            <a:avLst/>
          </a:prstGeom>
          <a:ln w="54720">
            <a:solidFill>
              <a:srgbClr val="FF0000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3899520" y="1884960"/>
            <a:ext cx="6760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Data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traight Connector 330"/>
          <p:cNvSpPr/>
          <p:nvPr/>
        </p:nvSpPr>
        <p:spPr>
          <a:xfrm>
            <a:off x="3383280" y="4410720"/>
            <a:ext cx="5634000" cy="0"/>
          </a:xfrm>
          <a:prstGeom prst="line">
            <a:avLst/>
          </a:prstGeom>
          <a:ln w="54720">
            <a:solidFill>
              <a:srgbClr val="3465A4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3863520" y="4044960"/>
            <a:ext cx="104472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Packets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traight Connector 332"/>
          <p:cNvSpPr/>
          <p:nvPr/>
        </p:nvSpPr>
        <p:spPr>
          <a:xfrm>
            <a:off x="3383280" y="5274720"/>
            <a:ext cx="5634000" cy="0"/>
          </a:xfrm>
          <a:prstGeom prst="line">
            <a:avLst/>
          </a:prstGeom>
          <a:ln w="54720">
            <a:solidFill>
              <a:srgbClr val="069A2E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334" name="TextBox 333"/>
          <p:cNvSpPr txBox="1"/>
          <p:nvPr/>
        </p:nvSpPr>
        <p:spPr>
          <a:xfrm>
            <a:off x="3863520" y="4764960"/>
            <a:ext cx="9928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Frames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2268360" y="6146640"/>
            <a:ext cx="166680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Bits (1010001)</a:t>
            </a:r>
          </a:p>
        </p:txBody>
      </p:sp>
      <p:pic>
        <p:nvPicPr>
          <p:cNvPr id="336" name="Picture 3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5840" y="66960"/>
            <a:ext cx="2590560" cy="1761840"/>
          </a:xfrm>
          <a:prstGeom prst="rect">
            <a:avLst/>
          </a:prstGeom>
          <a:ln w="54720">
            <a:noFill/>
          </a:ln>
        </p:spPr>
      </p:pic>
      <p:cxnSp>
        <p:nvCxnSpPr>
          <p:cNvPr id="337" name="Elbow Connector 336"/>
          <p:cNvCxnSpPr>
            <a:stCxn id="318" idx="0"/>
            <a:endCxn id="324" idx="2"/>
          </p:cNvCxnSpPr>
          <p:nvPr/>
        </p:nvCxnSpPr>
        <p:spPr>
          <a:xfrm flipH="1" rot="16200000">
            <a:off x="3439800" y="4308480"/>
            <a:ext cx="233640" cy="2671560"/>
          </a:xfrm>
          <a:prstGeom prst="bentConnector3">
            <a:avLst>
              <a:gd fmla="val 491975" name="adj1"/>
            </a:avLst>
          </a:prstGeom>
          <a:ln w="54720">
            <a:solidFill>
              <a:srgbClr val="FF0000"/>
            </a:solidFill>
            <a:custDash>
              <a:ds d="33553" sp="83553"/>
              <a:ds d="33553" sp="83553"/>
              <a:ds d="167105" sp="83553"/>
              <a:ds d="167105" sp="83553"/>
              <a:ds d="167105" sp="83553"/>
            </a:custDash>
            <a:round/>
          </a:ln>
        </p:spPr>
      </p:cxnSp>
      <p:cxnSp>
        <p:nvCxnSpPr>
          <p:cNvPr id="338" name="Elbow Connector 337"/>
          <p:cNvCxnSpPr>
            <a:stCxn id="324" idx="0"/>
            <a:endCxn id="326" idx="2"/>
          </p:cNvCxnSpPr>
          <p:nvPr/>
        </p:nvCxnSpPr>
        <p:spPr>
          <a:xfrm rot="16200000">
            <a:off x="6242040" y="4410720"/>
            <a:ext cx="360" cy="2700360"/>
          </a:xfrm>
          <a:prstGeom prst="bentConnector3">
            <a:avLst>
              <a:gd fmla="val 101600000" name="adj1"/>
            </a:avLst>
          </a:prstGeom>
          <a:ln w="54720">
            <a:solidFill>
              <a:srgbClr val="158466"/>
            </a:solidFill>
            <a:round/>
          </a:ln>
        </p:spPr>
      </p:cxnSp>
      <p:cxnSp>
        <p:nvCxnSpPr>
          <p:cNvPr id="339" name="Elbow Connector 338"/>
          <p:cNvCxnSpPr>
            <a:stCxn id="326" idx="2"/>
            <a:endCxn id="322" idx="2"/>
          </p:cNvCxnSpPr>
          <p:nvPr/>
        </p:nvCxnSpPr>
        <p:spPr>
          <a:xfrm flipH="1" flipV="1" rot="5400000">
            <a:off x="8749800" y="4369680"/>
            <a:ext cx="233640" cy="2549160"/>
          </a:xfrm>
          <a:prstGeom prst="bentConnector3">
            <a:avLst>
              <a:gd fmla="val -391975" name="adj1"/>
            </a:avLst>
          </a:prstGeom>
          <a:ln w="54720">
            <a:solidFill>
              <a:srgbClr val="FF0000"/>
            </a:solidFill>
            <a:custDash>
              <a:ds d="197000" sp="197000"/>
            </a:custDash>
            <a:round/>
          </a:ln>
        </p:spPr>
      </p:cxnSp>
      <p:pic>
        <p:nvPicPr>
          <p:cNvPr id="340" name="Picture 3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869680" y="91440"/>
            <a:ext cx="2590560" cy="1761840"/>
          </a:xfrm>
          <a:prstGeom prst="rect">
            <a:avLst/>
          </a:prstGeom>
          <a:ln w="54720">
            <a:noFill/>
          </a:ln>
        </p:spPr>
      </p:pic>
      <p:sp>
        <p:nvSpPr>
          <p:cNvPr id="341" name="Title 33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85E4E16B-2937-E016-D974-2D098ACEE712}"/>
              </a:ext>
            </a:extLst>
          </p:cNvPr>
          <p:cNvSpPr txBox="1">
            <a:spLocks noGrp="1"/>
          </p:cNvSpPr>
          <p:nvPr>
            <p:ph idx="4294967295" type="title"/>
          </p:nvPr>
        </p:nvSpPr>
        <p:spPr>
          <a:xfrm>
            <a:off x="4501871" y="-22662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kern="1200" sz="4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  <a:lvl6pPr>
              <a:defRPr>
                <a:latin typeface="+mn-lt"/>
                <a:ea typeface="+mn-ea"/>
                <a:cs typeface="+mn-cs"/>
              </a:defRPr>
            </a:lvl6pPr>
            <a:lvl7pPr>
              <a:defRPr>
                <a:latin typeface="+mn-lt"/>
                <a:ea typeface="+mn-ea"/>
                <a:cs typeface="+mn-cs"/>
              </a:defRPr>
            </a:lvl7pPr>
            <a:lvl8pPr>
              <a:defRPr>
                <a:latin typeface="+mn-lt"/>
                <a:ea typeface="+mn-ea"/>
                <a:cs typeface="+mn-cs"/>
              </a:defRPr>
            </a:lvl8pPr>
            <a:lvl9pPr>
              <a:defRPr>
                <a:latin typeface="+mn-lt"/>
                <a:ea typeface="+mn-ea"/>
                <a:cs typeface="+mn-cs"/>
              </a:defRPr>
            </a:lvl9pPr>
          </a:lstStyle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TCP/IP Layers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itle 34"/>
          <p:cNvSpPr>
            <a:spLocks noGrp="1"/>
          </p:cNvSpPr>
          <p:nvPr>
            <p:ph idx="4294967295" type="title"/>
          </p:nvPr>
        </p:nvSpPr>
        <p:spPr>
          <a:xfrm>
            <a:off x="921600" y="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What is transport layer?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3" name="TextBox 342"/>
          <p:cNvSpPr txBox="1"/>
          <p:nvPr/>
        </p:nvSpPr>
        <p:spPr>
          <a:xfrm>
            <a:off x="613440" y="2011680"/>
            <a:ext cx="11578680" cy="205488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pPr indent="-216000" marL="216000">
              <a:lnSpc>
                <a:spcPct val="90000"/>
              </a:lnSpc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endParaRPr b="0" lang="en-US" spc="-1" strike="noStrike" sz="2800">
              <a:solidFill>
                <a:srgbClr val="000000"/>
              </a:solidFill>
              <a:latin typeface="Arial"/>
            </a:endParaRPr>
          </a:p>
          <a:p>
            <a:pPr indent="-216000" marL="216000">
              <a:lnSpc>
                <a:spcPct val="90000"/>
              </a:lnSpc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pc="-1" strike="noStrike" sz="2800">
                <a:solidFill>
                  <a:srgbClr val="000000"/>
                </a:solidFill>
                <a:latin typeface="Montserrat"/>
                <a:ea typeface="Montserrat"/>
              </a:rPr>
              <a:t>Problem:  How to turn this host-to-host packet delivery service into a process-to-process communication channel?</a:t>
            </a:r>
            <a:endParaRPr b="0" lang="en-US" spc="-1" strike="noStrike" sz="2800">
              <a:solidFill>
                <a:srgbClr val="000000"/>
              </a:solidFill>
              <a:latin typeface="Arial"/>
            </a:endParaRPr>
          </a:p>
          <a:p>
            <a:pPr indent="-216000" marL="216000">
              <a:lnSpc>
                <a:spcPct val="90000"/>
              </a:lnSpc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endParaRPr b="0" lang="en-US" spc="-1" strike="noStrike" sz="2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itle 34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Footer Placeholder 5"/>
          <p:cNvSpPr/>
          <p:nvPr/>
        </p:nvSpPr>
        <p:spPr>
          <a:xfrm>
            <a:off x="7435800" y="6445080"/>
            <a:ext cx="386100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46800" lIns="90000" rIns="90000" tIns="46800">
            <a:noAutofit/>
          </a:bodyPr>
          <a:lstStyle/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pc="-1" strike="noStrike" sz="1800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descr="end-to-end protocols" id="346" name="Group 62"/>
          <p:cNvGrpSpPr/>
          <p:nvPr/>
        </p:nvGrpSpPr>
        <p:grpSpPr>
          <a:xfrm>
            <a:off x="6802920" y="1601640"/>
            <a:ext cx="4719600" cy="4545000"/>
            <a:chOff x="6802920" y="1601640"/>
            <a:chExt cx="4719600" cy="4545000"/>
          </a:xfrm>
        </p:grpSpPr>
        <p:sp>
          <p:nvSpPr>
            <p:cNvPr id="347" name="Freeform 152"/>
            <p:cNvSpPr/>
            <p:nvPr/>
          </p:nvSpPr>
          <p:spPr>
            <a:xfrm>
              <a:off x="6802920" y="1768320"/>
              <a:ext cx="2315520" cy="1071720"/>
            </a:xfrm>
            <a:custGeom>
              <a:avLst/>
              <a:gdLst/>
              <a:ahLst/>
              <a:cxnLst/>
              <a:rect b="b" l="l" r="r" t="t"/>
              <a:pathLst>
                <a:path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 w="5472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grpSp>
          <p:nvGrpSpPr>
            <p:cNvPr id="348" name="Group 63"/>
            <p:cNvGrpSpPr/>
            <p:nvPr/>
          </p:nvGrpSpPr>
          <p:grpSpPr>
            <a:xfrm>
              <a:off x="7026840" y="3103560"/>
              <a:ext cx="1945440" cy="933120"/>
              <a:chOff x="7026840" y="3103560"/>
              <a:chExt cx="1945440" cy="933120"/>
            </a:xfrm>
          </p:grpSpPr>
          <p:sp>
            <p:nvSpPr>
              <p:cNvPr id="349" name="Rectangle 35"/>
              <p:cNvSpPr/>
              <p:nvPr/>
            </p:nvSpPr>
            <p:spPr>
              <a:xfrm>
                <a:off x="7338600" y="3367080"/>
                <a:ext cx="1316160" cy="669600"/>
              </a:xfrm>
              <a:prstGeom prst="rect">
                <a:avLst/>
              </a:prstGeom>
              <a:solidFill>
                <a:srgbClr val="DDDDD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350" name="AutoShape 22"/>
              <p:cNvSpPr/>
              <p:nvPr/>
            </p:nvSpPr>
            <p:spPr>
              <a:xfrm>
                <a:off x="7026840" y="3103560"/>
                <a:ext cx="1945440" cy="317880"/>
              </a:xfrm>
              <a:prstGeom prst="triangle">
                <a:avLst>
                  <a:gd fmla="val 50000" name="adj"/>
                </a:avLst>
              </a:prstGeom>
              <a:solidFill>
                <a:srgbClr val="DDDDD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sp>
          <p:nvSpPr>
            <p:cNvPr id="351" name="Freeform 153"/>
            <p:cNvSpPr/>
            <p:nvPr/>
          </p:nvSpPr>
          <p:spPr>
            <a:xfrm>
              <a:off x="7018200" y="4481280"/>
              <a:ext cx="4301280" cy="1665360"/>
            </a:xfrm>
            <a:custGeom>
              <a:avLst/>
              <a:gdLst/>
              <a:ahLst/>
              <a:cxnLst/>
              <a:rect b="b" l="l" r="r" t="t"/>
              <a:pathLst>
                <a:path h="1049" w="2032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 w="5472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52" name="Line 80"/>
            <p:cNvSpPr/>
            <p:nvPr/>
          </p:nvSpPr>
          <p:spPr>
            <a:xfrm flipV="1">
              <a:off x="10582920" y="5025600"/>
              <a:ext cx="186120" cy="523800"/>
            </a:xfrm>
            <a:prstGeom prst="line">
              <a:avLst/>
            </a:prstGeom>
            <a:ln cap="sq" w="1260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53" name="Line 81"/>
            <p:cNvSpPr/>
            <p:nvPr/>
          </p:nvSpPr>
          <p:spPr>
            <a:xfrm>
              <a:off x="10466640" y="5540400"/>
              <a:ext cx="114120" cy="2880"/>
            </a:xfrm>
            <a:prstGeom prst="line">
              <a:avLst/>
            </a:prstGeom>
            <a:ln cap="sq" w="1260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-43920" lIns="90000" rIns="90000" tIns="-4392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54" name="Line 82"/>
            <p:cNvSpPr/>
            <p:nvPr/>
          </p:nvSpPr>
          <p:spPr>
            <a:xfrm>
              <a:off x="10693080" y="5232240"/>
              <a:ext cx="152280" cy="0"/>
            </a:xfrm>
            <a:prstGeom prst="line">
              <a:avLst/>
            </a:prstGeom>
            <a:ln cap="sq" w="1260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55" name="Line 83"/>
            <p:cNvSpPr/>
            <p:nvPr/>
          </p:nvSpPr>
          <p:spPr>
            <a:xfrm flipH="1">
              <a:off x="7966800" y="4781520"/>
              <a:ext cx="338760" cy="46980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56" name="Line 84"/>
            <p:cNvSpPr/>
            <p:nvPr/>
          </p:nvSpPr>
          <p:spPr>
            <a:xfrm>
              <a:off x="8001000" y="4832280"/>
              <a:ext cx="26208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57" name="Line 85"/>
            <p:cNvSpPr/>
            <p:nvPr/>
          </p:nvSpPr>
          <p:spPr>
            <a:xfrm>
              <a:off x="7655760" y="5168880"/>
              <a:ext cx="36396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58" name="Line 86"/>
            <p:cNvSpPr/>
            <p:nvPr/>
          </p:nvSpPr>
          <p:spPr>
            <a:xfrm>
              <a:off x="8151120" y="5248080"/>
              <a:ext cx="65376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59" name="Line 87"/>
            <p:cNvSpPr/>
            <p:nvPr/>
          </p:nvSpPr>
          <p:spPr>
            <a:xfrm flipH="1">
              <a:off x="8470440" y="5155920"/>
              <a:ext cx="71640" cy="8604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39240" lIns="90000" rIns="90000" tIns="3924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60" name="Line 88"/>
            <p:cNvSpPr/>
            <p:nvPr/>
          </p:nvSpPr>
          <p:spPr>
            <a:xfrm>
              <a:off x="8220600" y="5244840"/>
              <a:ext cx="2520" cy="8280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36000" lIns="90000" rIns="90000" tIns="36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61" name="Line 89"/>
            <p:cNvSpPr/>
            <p:nvPr/>
          </p:nvSpPr>
          <p:spPr>
            <a:xfrm flipV="1">
              <a:off x="8750160" y="5252760"/>
              <a:ext cx="0" cy="7632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29520" lIns="90000" rIns="90000" tIns="2952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62" name="Line 90"/>
            <p:cNvSpPr/>
            <p:nvPr/>
          </p:nvSpPr>
          <p:spPr>
            <a:xfrm>
              <a:off x="8858160" y="5111640"/>
              <a:ext cx="670680" cy="27000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63" name="Line 91"/>
            <p:cNvSpPr/>
            <p:nvPr/>
          </p:nvSpPr>
          <p:spPr>
            <a:xfrm>
              <a:off x="8123400" y="5046480"/>
              <a:ext cx="10800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64" name="Line 92"/>
            <p:cNvSpPr/>
            <p:nvPr/>
          </p:nvSpPr>
          <p:spPr>
            <a:xfrm>
              <a:off x="7929000" y="3638520"/>
              <a:ext cx="312840" cy="7452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27720" lIns="90000" rIns="90000" tIns="2772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65" name="Line 93"/>
            <p:cNvSpPr/>
            <p:nvPr/>
          </p:nvSpPr>
          <p:spPr>
            <a:xfrm flipV="1">
              <a:off x="7720920" y="3791880"/>
              <a:ext cx="224640" cy="324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3560" lIns="90000" rIns="90000" tIns="-4356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grpSp>
          <p:nvGrpSpPr>
            <p:cNvPr id="366" name="Group 64"/>
            <p:cNvGrpSpPr/>
            <p:nvPr/>
          </p:nvGrpSpPr>
          <p:grpSpPr>
            <a:xfrm>
              <a:off x="7348680" y="3558960"/>
              <a:ext cx="675360" cy="352080"/>
              <a:chOff x="7348680" y="3558960"/>
              <a:chExt cx="675360" cy="352080"/>
            </a:xfrm>
          </p:grpSpPr>
          <p:pic>
            <p:nvPicPr>
              <p:cNvPr descr="access_point_stylized_small" id="367" name="Picture 26"/>
              <p:cNvPicPr/>
              <p:nvPr/>
            </p:nvPicPr>
            <p:blipFill>
              <a:blip r:embed="rId2"/>
              <a:stretch/>
            </p:blipFill>
            <p:spPr>
              <a:xfrm>
                <a:off x="7386840" y="3604320"/>
                <a:ext cx="493560" cy="30672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antenna_radiation_stylized" id="368" name="Picture 27"/>
              <p:cNvPicPr/>
              <p:nvPr/>
            </p:nvPicPr>
            <p:blipFill>
              <a:blip r:embed="rId3"/>
              <a:stretch/>
            </p:blipFill>
            <p:spPr>
              <a:xfrm>
                <a:off x="7348680" y="3558960"/>
                <a:ext cx="675360" cy="105840"/>
              </a:xfrm>
              <a:prstGeom prst="rect">
                <a:avLst/>
              </a:prstGeom>
              <a:ln w="54720">
                <a:noFill/>
              </a:ln>
            </p:spPr>
          </p:pic>
        </p:grpSp>
        <p:sp>
          <p:nvSpPr>
            <p:cNvPr id="369" name="Freeform 154"/>
            <p:cNvSpPr/>
            <p:nvPr/>
          </p:nvSpPr>
          <p:spPr>
            <a:xfrm>
              <a:off x="9219960" y="3585960"/>
              <a:ext cx="1752480" cy="674640"/>
            </a:xfrm>
            <a:custGeom>
              <a:avLst/>
              <a:gdLst/>
              <a:ahLst/>
              <a:cxnLst/>
              <a:rect b="b" l="l" r="r" t="t"/>
              <a:pathLst>
                <a:path h="425" w="828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 w="5472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70" name="Freeform 155"/>
            <p:cNvSpPr/>
            <p:nvPr/>
          </p:nvSpPr>
          <p:spPr>
            <a:xfrm>
              <a:off x="9215640" y="2060280"/>
              <a:ext cx="2306880" cy="1125720"/>
            </a:xfrm>
            <a:custGeom>
              <a:avLst/>
              <a:gdLst/>
              <a:ahLst/>
              <a:cxnLst/>
              <a:rect b="b" l="l" r="r" t="t"/>
              <a:pathLst>
                <a:path h="459" w="765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00CCFF"/>
                </a:gs>
              </a:gsLst>
              <a:lin ang="10800000"/>
            </a:gradFill>
            <a:ln w="5472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71" name="Line 94"/>
            <p:cNvSpPr/>
            <p:nvPr/>
          </p:nvSpPr>
          <p:spPr>
            <a:xfrm>
              <a:off x="9727920" y="3871800"/>
              <a:ext cx="217800" cy="12060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72" name="Line 95"/>
            <p:cNvSpPr/>
            <p:nvPr/>
          </p:nvSpPr>
          <p:spPr>
            <a:xfrm>
              <a:off x="9857160" y="3792240"/>
              <a:ext cx="37260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73" name="Line 96"/>
            <p:cNvSpPr/>
            <p:nvPr/>
          </p:nvSpPr>
          <p:spPr>
            <a:xfrm flipV="1">
              <a:off x="10172520" y="3877920"/>
              <a:ext cx="180000" cy="10476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74" name="Line 97"/>
            <p:cNvSpPr/>
            <p:nvPr/>
          </p:nvSpPr>
          <p:spPr>
            <a:xfrm>
              <a:off x="8830440" y="2646360"/>
              <a:ext cx="679680" cy="2880"/>
            </a:xfrm>
            <a:prstGeom prst="line">
              <a:avLst/>
            </a:prstGeom>
            <a:ln cap="sq" w="9360">
              <a:solidFill>
                <a:srgbClr val="969696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3920" lIns="90000" rIns="90000" tIns="-4392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75" name="Line 98"/>
            <p:cNvSpPr/>
            <p:nvPr/>
          </p:nvSpPr>
          <p:spPr>
            <a:xfrm>
              <a:off x="9677160" y="4755960"/>
              <a:ext cx="520920" cy="18432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76" name="Line 99"/>
            <p:cNvSpPr/>
            <p:nvPr/>
          </p:nvSpPr>
          <p:spPr>
            <a:xfrm flipV="1">
              <a:off x="8849520" y="4743000"/>
              <a:ext cx="429480" cy="19836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77" name="Line 100"/>
            <p:cNvSpPr/>
            <p:nvPr/>
          </p:nvSpPr>
          <p:spPr>
            <a:xfrm>
              <a:off x="8906760" y="5035320"/>
              <a:ext cx="129564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78" name="Line 101"/>
            <p:cNvSpPr/>
            <p:nvPr/>
          </p:nvSpPr>
          <p:spPr>
            <a:xfrm flipV="1">
              <a:off x="9969480" y="2550600"/>
              <a:ext cx="165240" cy="8748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0680" lIns="90000" rIns="90000" tIns="4068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79" name="Line 102"/>
            <p:cNvSpPr/>
            <p:nvPr/>
          </p:nvSpPr>
          <p:spPr>
            <a:xfrm>
              <a:off x="9740520" y="2724120"/>
              <a:ext cx="0" cy="82440"/>
            </a:xfrm>
            <a:prstGeom prst="line">
              <a:avLst/>
            </a:prstGeom>
            <a:ln cap="sq" w="9360">
              <a:solidFill>
                <a:srgbClr val="969696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35640" lIns="90000" rIns="90000" tIns="3564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80" name="Line 103"/>
            <p:cNvSpPr/>
            <p:nvPr/>
          </p:nvSpPr>
          <p:spPr>
            <a:xfrm flipV="1">
              <a:off x="9969480" y="2620440"/>
              <a:ext cx="351360" cy="28908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81" name="Line 104"/>
            <p:cNvSpPr/>
            <p:nvPr/>
          </p:nvSpPr>
          <p:spPr>
            <a:xfrm>
              <a:off x="10456200" y="2619360"/>
              <a:ext cx="0" cy="19692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82" name="Line 105"/>
            <p:cNvSpPr/>
            <p:nvPr/>
          </p:nvSpPr>
          <p:spPr>
            <a:xfrm>
              <a:off x="9994680" y="2925720"/>
              <a:ext cx="25164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83" name="Line 106"/>
            <p:cNvSpPr/>
            <p:nvPr/>
          </p:nvSpPr>
          <p:spPr>
            <a:xfrm>
              <a:off x="10733400" y="2916000"/>
              <a:ext cx="23652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84" name="Line 107"/>
            <p:cNvSpPr/>
            <p:nvPr/>
          </p:nvSpPr>
          <p:spPr>
            <a:xfrm flipH="1">
              <a:off x="9594000" y="2992320"/>
              <a:ext cx="131040" cy="704880"/>
            </a:xfrm>
            <a:prstGeom prst="line">
              <a:avLst/>
            </a:prstGeom>
            <a:ln cap="sq" w="9360">
              <a:solidFill>
                <a:srgbClr val="969696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85" name="Line 108"/>
            <p:cNvSpPr/>
            <p:nvPr/>
          </p:nvSpPr>
          <p:spPr>
            <a:xfrm flipH="1">
              <a:off x="10383480" y="2992320"/>
              <a:ext cx="148320" cy="72720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86" name="Line 109"/>
            <p:cNvSpPr/>
            <p:nvPr/>
          </p:nvSpPr>
          <p:spPr>
            <a:xfrm flipV="1">
              <a:off x="9562680" y="4133880"/>
              <a:ext cx="302760" cy="43632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387" name="Line 110"/>
            <p:cNvSpPr/>
            <p:nvPr/>
          </p:nvSpPr>
          <p:spPr>
            <a:xfrm>
              <a:off x="10993680" y="2914560"/>
              <a:ext cx="237240" cy="0"/>
            </a:xfrm>
            <a:prstGeom prst="line">
              <a:avLst/>
            </a:prstGeom>
            <a:ln cap="sq" w="9360">
              <a:solidFill>
                <a:srgbClr val="808080"/>
              </a:solidFill>
              <a:custDash>
                <a:ds d="403846" sp="303846"/>
              </a:custDash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grpSp>
          <p:nvGrpSpPr>
            <p:cNvPr id="388" name="Group 65"/>
            <p:cNvGrpSpPr/>
            <p:nvPr/>
          </p:nvGrpSpPr>
          <p:grpSpPr>
            <a:xfrm>
              <a:off x="7936920" y="1901880"/>
              <a:ext cx="624600" cy="620640"/>
              <a:chOff x="7936920" y="1901880"/>
              <a:chExt cx="624600" cy="620640"/>
            </a:xfrm>
          </p:grpSpPr>
          <p:sp>
            <p:nvSpPr>
              <p:cNvPr id="389" name="Line 111"/>
              <p:cNvSpPr/>
              <p:nvPr/>
            </p:nvSpPr>
            <p:spPr>
              <a:xfrm flipH="1">
                <a:off x="8049960" y="2081520"/>
                <a:ext cx="188640" cy="39924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390" name="Line 112"/>
              <p:cNvSpPr/>
              <p:nvPr/>
            </p:nvSpPr>
            <p:spPr>
              <a:xfrm>
                <a:off x="8239320" y="2081520"/>
                <a:ext cx="188640" cy="39708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391" name="Line 113"/>
              <p:cNvSpPr/>
              <p:nvPr/>
            </p:nvSpPr>
            <p:spPr>
              <a:xfrm>
                <a:off x="8050320" y="2478960"/>
                <a:ext cx="188640" cy="4356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240" lIns="90000" rIns="90000" tIns="-324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392" name="Line 114"/>
              <p:cNvSpPr/>
              <p:nvPr/>
            </p:nvSpPr>
            <p:spPr>
              <a:xfrm flipH="1">
                <a:off x="8238960" y="2478960"/>
                <a:ext cx="188640" cy="4356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240" lIns="90000" rIns="90000" tIns="-324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393" name="Line 115"/>
              <p:cNvSpPr/>
              <p:nvPr/>
            </p:nvSpPr>
            <p:spPr>
              <a:xfrm>
                <a:off x="8239320" y="2090520"/>
                <a:ext cx="0" cy="43200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394" name="Line 116"/>
              <p:cNvSpPr/>
              <p:nvPr/>
            </p:nvSpPr>
            <p:spPr>
              <a:xfrm flipV="1">
                <a:off x="8050320" y="2437560"/>
                <a:ext cx="188640" cy="4284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960" lIns="90000" rIns="90000" tIns="-396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395" name="Line 117"/>
              <p:cNvSpPr/>
              <p:nvPr/>
            </p:nvSpPr>
            <p:spPr>
              <a:xfrm flipH="1" flipV="1">
                <a:off x="8238960" y="2437560"/>
                <a:ext cx="188640" cy="4068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6120" lIns="90000" rIns="90000" tIns="-61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396" name="Line 118"/>
              <p:cNvSpPr/>
              <p:nvPr/>
            </p:nvSpPr>
            <p:spPr>
              <a:xfrm>
                <a:off x="8130600" y="2307240"/>
                <a:ext cx="108360" cy="3276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14040" lIns="90000" rIns="90000" tIns="-1404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397" name="Line 119"/>
              <p:cNvSpPr/>
              <p:nvPr/>
            </p:nvSpPr>
            <p:spPr>
              <a:xfrm flipV="1">
                <a:off x="8239320" y="2306880"/>
                <a:ext cx="114120" cy="3276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14040" lIns="90000" rIns="90000" tIns="-1404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398" name="Line 120"/>
              <p:cNvSpPr/>
              <p:nvPr/>
            </p:nvSpPr>
            <p:spPr>
              <a:xfrm>
                <a:off x="8094600" y="2365920"/>
                <a:ext cx="139320" cy="4392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2880" lIns="90000" rIns="90000" tIns="-288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399" name="Line 121"/>
              <p:cNvSpPr/>
              <p:nvPr/>
            </p:nvSpPr>
            <p:spPr>
              <a:xfrm flipV="1">
                <a:off x="8239320" y="2374200"/>
                <a:ext cx="140040" cy="3852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8280" lIns="90000" rIns="90000" tIns="-828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00" name="Line 122"/>
              <p:cNvSpPr/>
              <p:nvPr/>
            </p:nvSpPr>
            <p:spPr>
              <a:xfrm flipV="1">
                <a:off x="8239320" y="2246760"/>
                <a:ext cx="72000" cy="1620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0600" lIns="90000" rIns="90000" tIns="-306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01" name="Line 123"/>
              <p:cNvSpPr/>
              <p:nvPr/>
            </p:nvSpPr>
            <p:spPr>
              <a:xfrm flipV="1">
                <a:off x="8239320" y="2164320"/>
                <a:ext cx="44640" cy="1188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4920" lIns="90000" rIns="90000" tIns="-349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02" name="Line 124"/>
              <p:cNvSpPr/>
              <p:nvPr/>
            </p:nvSpPr>
            <p:spPr>
              <a:xfrm>
                <a:off x="8157960" y="2241720"/>
                <a:ext cx="87480" cy="2160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25200" lIns="90000" rIns="90000" tIns="-252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03" name="Line 125"/>
              <p:cNvSpPr/>
              <p:nvPr/>
            </p:nvSpPr>
            <p:spPr>
              <a:xfrm>
                <a:off x="8196840" y="2161440"/>
                <a:ext cx="50040" cy="2088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25920" lIns="90000" rIns="90000" tIns="-259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04" name="Oval 34"/>
              <p:cNvSpPr/>
              <p:nvPr/>
            </p:nvSpPr>
            <p:spPr>
              <a:xfrm>
                <a:off x="8205840" y="2044800"/>
                <a:ext cx="63000" cy="46080"/>
              </a:xfrm>
              <a:prstGeom prst="ellipse">
                <a:avLst/>
              </a:prstGeom>
              <a:solidFill>
                <a:srgbClr val="808080"/>
              </a:soli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3680" lIns="90000" rIns="90000" tIns="-136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pic>
            <p:nvPicPr>
              <p:cNvPr descr="cell_tower_radiation_gray" id="405" name="Picture 28"/>
              <p:cNvPicPr/>
              <p:nvPr/>
            </p:nvPicPr>
            <p:blipFill>
              <a:blip r:embed="rId4"/>
              <a:stretch/>
            </p:blipFill>
            <p:spPr>
              <a:xfrm>
                <a:off x="7936920" y="1901880"/>
                <a:ext cx="624600" cy="342720"/>
              </a:xfrm>
              <a:prstGeom prst="rect">
                <a:avLst/>
              </a:prstGeom>
              <a:ln w="54720">
                <a:noFill/>
              </a:ln>
            </p:spPr>
          </p:pic>
        </p:grpSp>
        <p:grpSp>
          <p:nvGrpSpPr>
            <p:cNvPr id="406" name="Group 66"/>
            <p:cNvGrpSpPr/>
            <p:nvPr/>
          </p:nvGrpSpPr>
          <p:grpSpPr>
            <a:xfrm>
              <a:off x="8252280" y="2462040"/>
              <a:ext cx="605520" cy="254160"/>
              <a:chOff x="8252280" y="2462040"/>
              <a:chExt cx="605520" cy="254160"/>
            </a:xfrm>
          </p:grpSpPr>
          <p:sp>
            <p:nvSpPr>
              <p:cNvPr id="407" name="Line 126"/>
              <p:cNvSpPr/>
              <p:nvPr/>
            </p:nvSpPr>
            <p:spPr>
              <a:xfrm>
                <a:off x="8252280" y="2462040"/>
                <a:ext cx="203040" cy="95400"/>
              </a:xfrm>
              <a:prstGeom prst="line">
                <a:avLst/>
              </a:prstGeom>
              <a:ln cap="sq" w="9360">
                <a:solidFill>
                  <a:srgbClr val="969696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08" name="Oval 35"/>
              <p:cNvSpPr/>
              <p:nvPr/>
            </p:nvSpPr>
            <p:spPr>
              <a:xfrm>
                <a:off x="8338680" y="2620800"/>
                <a:ext cx="516600" cy="954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1240" lIns="90000" rIns="90000" tIns="212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09" name="Rectangle 36"/>
              <p:cNvSpPr/>
              <p:nvPr/>
            </p:nvSpPr>
            <p:spPr>
              <a:xfrm>
                <a:off x="8338680" y="2611440"/>
                <a:ext cx="519120" cy="5868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1880" lIns="90000" rIns="90000" tIns="118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10" name="Oval 36"/>
              <p:cNvSpPr/>
              <p:nvPr/>
            </p:nvSpPr>
            <p:spPr>
              <a:xfrm>
                <a:off x="8336880" y="2546280"/>
                <a:ext cx="516600" cy="1112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2040" lIns="90000" rIns="90000" tIns="320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411" name="Group 67"/>
              <p:cNvGrpSpPr/>
              <p:nvPr/>
            </p:nvGrpSpPr>
            <p:grpSpPr>
              <a:xfrm>
                <a:off x="8440560" y="2574720"/>
                <a:ext cx="292320" cy="52560"/>
                <a:chOff x="8440560" y="2574720"/>
                <a:chExt cx="292320" cy="52560"/>
              </a:xfrm>
            </p:grpSpPr>
            <p:sp>
              <p:nvSpPr>
                <p:cNvPr id="412" name="Freeform 156"/>
                <p:cNvSpPr/>
                <p:nvPr/>
              </p:nvSpPr>
              <p:spPr>
                <a:xfrm>
                  <a:off x="8440560" y="2574720"/>
                  <a:ext cx="292320" cy="525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5760" lIns="90000" rIns="90000" tIns="57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413" name="Freeform 157"/>
                <p:cNvSpPr/>
                <p:nvPr/>
              </p:nvSpPr>
              <p:spPr>
                <a:xfrm>
                  <a:off x="8453520" y="2574720"/>
                  <a:ext cx="266040" cy="525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5760" lIns="90000" rIns="90000" tIns="57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414" name="Line 127"/>
              <p:cNvSpPr/>
              <p:nvPr/>
            </p:nvSpPr>
            <p:spPr>
              <a:xfrm>
                <a:off x="8338680" y="2598480"/>
                <a:ext cx="0" cy="7488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8080" lIns="90000" rIns="90000" tIns="2808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15" name="Line 128"/>
              <p:cNvSpPr/>
              <p:nvPr/>
            </p:nvSpPr>
            <p:spPr>
              <a:xfrm>
                <a:off x="8853480" y="2601720"/>
                <a:ext cx="0" cy="7308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6280" lIns="90000" rIns="90000" tIns="2628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416" name="Group 68"/>
            <p:cNvGrpSpPr/>
            <p:nvPr/>
          </p:nvGrpSpPr>
          <p:grpSpPr>
            <a:xfrm>
              <a:off x="9469800" y="2549520"/>
              <a:ext cx="520560" cy="174240"/>
              <a:chOff x="9469800" y="2549520"/>
              <a:chExt cx="520560" cy="174240"/>
            </a:xfrm>
          </p:grpSpPr>
          <p:sp>
            <p:nvSpPr>
              <p:cNvPr id="417" name="Oval 37"/>
              <p:cNvSpPr/>
              <p:nvPr/>
            </p:nvSpPr>
            <p:spPr>
              <a:xfrm>
                <a:off x="9471600" y="2626200"/>
                <a:ext cx="516600" cy="975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2680" lIns="90000" rIns="90000" tIns="226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18" name="Rectangle 37"/>
              <p:cNvSpPr/>
              <p:nvPr/>
            </p:nvSpPr>
            <p:spPr>
              <a:xfrm>
                <a:off x="9471600" y="2616120"/>
                <a:ext cx="518760" cy="601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3320" lIns="90000" rIns="90000" tIns="133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19" name="Oval 38"/>
              <p:cNvSpPr/>
              <p:nvPr/>
            </p:nvSpPr>
            <p:spPr>
              <a:xfrm>
                <a:off x="9469800" y="2549520"/>
                <a:ext cx="516240" cy="11412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200" lIns="90000" rIns="90000" tIns="342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420" name="Group 69"/>
              <p:cNvGrpSpPr/>
              <p:nvPr/>
            </p:nvGrpSpPr>
            <p:grpSpPr>
              <a:xfrm>
                <a:off x="9573480" y="2579040"/>
                <a:ext cx="291600" cy="53280"/>
                <a:chOff x="9573480" y="2579040"/>
                <a:chExt cx="291600" cy="53280"/>
              </a:xfrm>
            </p:grpSpPr>
            <p:sp>
              <p:nvSpPr>
                <p:cNvPr id="421" name="Freeform 158"/>
                <p:cNvSpPr/>
                <p:nvPr/>
              </p:nvSpPr>
              <p:spPr>
                <a:xfrm>
                  <a:off x="9573480" y="2579040"/>
                  <a:ext cx="291600" cy="532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480" lIns="90000" rIns="90000" tIns="64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422" name="Freeform 159"/>
                <p:cNvSpPr/>
                <p:nvPr/>
              </p:nvSpPr>
              <p:spPr>
                <a:xfrm>
                  <a:off x="9586440" y="2579040"/>
                  <a:ext cx="265320" cy="532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480" lIns="90000" rIns="90000" tIns="64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423" name="Line 129"/>
              <p:cNvSpPr/>
              <p:nvPr/>
            </p:nvSpPr>
            <p:spPr>
              <a:xfrm>
                <a:off x="9471600" y="2603520"/>
                <a:ext cx="0" cy="763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9520" lIns="90000" rIns="90000" tIns="295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24" name="Line 130"/>
              <p:cNvSpPr/>
              <p:nvPr/>
            </p:nvSpPr>
            <p:spPr>
              <a:xfrm>
                <a:off x="9986040" y="2606760"/>
                <a:ext cx="0" cy="745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720" lIns="90000" rIns="90000" tIns="277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425" name="Group 70"/>
            <p:cNvGrpSpPr/>
            <p:nvPr/>
          </p:nvGrpSpPr>
          <p:grpSpPr>
            <a:xfrm>
              <a:off x="9484560" y="2813040"/>
              <a:ext cx="520920" cy="174240"/>
              <a:chOff x="9484560" y="2813040"/>
              <a:chExt cx="520920" cy="174240"/>
            </a:xfrm>
          </p:grpSpPr>
          <p:sp>
            <p:nvSpPr>
              <p:cNvPr id="426" name="Oval 39"/>
              <p:cNvSpPr/>
              <p:nvPr/>
            </p:nvSpPr>
            <p:spPr>
              <a:xfrm>
                <a:off x="9486360" y="2889720"/>
                <a:ext cx="516600" cy="975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2680" lIns="90000" rIns="90000" tIns="226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27" name="Rectangle 38"/>
              <p:cNvSpPr/>
              <p:nvPr/>
            </p:nvSpPr>
            <p:spPr>
              <a:xfrm>
                <a:off x="9486360" y="2879640"/>
                <a:ext cx="519120" cy="601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3320" lIns="90000" rIns="90000" tIns="133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28" name="Oval 40"/>
              <p:cNvSpPr/>
              <p:nvPr/>
            </p:nvSpPr>
            <p:spPr>
              <a:xfrm>
                <a:off x="9484560" y="2813040"/>
                <a:ext cx="516600" cy="11412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200" lIns="90000" rIns="90000" tIns="342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429" name="Group 71"/>
              <p:cNvGrpSpPr/>
              <p:nvPr/>
            </p:nvGrpSpPr>
            <p:grpSpPr>
              <a:xfrm>
                <a:off x="9588240" y="2842560"/>
                <a:ext cx="291960" cy="53280"/>
                <a:chOff x="9588240" y="2842560"/>
                <a:chExt cx="291960" cy="53280"/>
              </a:xfrm>
            </p:grpSpPr>
            <p:sp>
              <p:nvSpPr>
                <p:cNvPr id="430" name="Freeform 160"/>
                <p:cNvSpPr/>
                <p:nvPr/>
              </p:nvSpPr>
              <p:spPr>
                <a:xfrm>
                  <a:off x="9588240" y="2842560"/>
                  <a:ext cx="291960" cy="532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480" lIns="90000" rIns="90000" tIns="64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431" name="Freeform 161"/>
                <p:cNvSpPr/>
                <p:nvPr/>
              </p:nvSpPr>
              <p:spPr>
                <a:xfrm>
                  <a:off x="9601200" y="2842560"/>
                  <a:ext cx="265320" cy="532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480" lIns="90000" rIns="90000" tIns="64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432" name="Line 131"/>
              <p:cNvSpPr/>
              <p:nvPr/>
            </p:nvSpPr>
            <p:spPr>
              <a:xfrm>
                <a:off x="9486360" y="2867040"/>
                <a:ext cx="0" cy="763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9520" lIns="90000" rIns="90000" tIns="295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33" name="Line 132"/>
              <p:cNvSpPr/>
              <p:nvPr/>
            </p:nvSpPr>
            <p:spPr>
              <a:xfrm>
                <a:off x="10001160" y="2870280"/>
                <a:ext cx="0" cy="745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720" lIns="90000" rIns="90000" tIns="277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434" name="Group 72"/>
            <p:cNvGrpSpPr/>
            <p:nvPr/>
          </p:nvGrpSpPr>
          <p:grpSpPr>
            <a:xfrm>
              <a:off x="10217160" y="2814480"/>
              <a:ext cx="519840" cy="174240"/>
              <a:chOff x="10217160" y="2814480"/>
              <a:chExt cx="519840" cy="174240"/>
            </a:xfrm>
          </p:grpSpPr>
          <p:sp>
            <p:nvSpPr>
              <p:cNvPr id="435" name="Oval 41"/>
              <p:cNvSpPr/>
              <p:nvPr/>
            </p:nvSpPr>
            <p:spPr>
              <a:xfrm>
                <a:off x="10218600" y="2891160"/>
                <a:ext cx="515880" cy="975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2680" lIns="90000" rIns="90000" tIns="226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36" name="Rectangle 39"/>
              <p:cNvSpPr/>
              <p:nvPr/>
            </p:nvSpPr>
            <p:spPr>
              <a:xfrm>
                <a:off x="10218600" y="2881080"/>
                <a:ext cx="518400" cy="601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3320" lIns="90000" rIns="90000" tIns="133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37" name="Oval 42"/>
              <p:cNvSpPr/>
              <p:nvPr/>
            </p:nvSpPr>
            <p:spPr>
              <a:xfrm>
                <a:off x="10217160" y="2814480"/>
                <a:ext cx="515880" cy="11412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200" lIns="90000" rIns="90000" tIns="342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438" name="Group 73"/>
              <p:cNvGrpSpPr/>
              <p:nvPr/>
            </p:nvGrpSpPr>
            <p:grpSpPr>
              <a:xfrm>
                <a:off x="10320120" y="2844000"/>
                <a:ext cx="291600" cy="53280"/>
                <a:chOff x="10320120" y="2844000"/>
                <a:chExt cx="291600" cy="53280"/>
              </a:xfrm>
            </p:grpSpPr>
            <p:sp>
              <p:nvSpPr>
                <p:cNvPr id="439" name="Freeform 162"/>
                <p:cNvSpPr/>
                <p:nvPr/>
              </p:nvSpPr>
              <p:spPr>
                <a:xfrm>
                  <a:off x="10320120" y="2844000"/>
                  <a:ext cx="291600" cy="532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480" lIns="90000" rIns="90000" tIns="64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440" name="Freeform 163"/>
                <p:cNvSpPr/>
                <p:nvPr/>
              </p:nvSpPr>
              <p:spPr>
                <a:xfrm>
                  <a:off x="10333080" y="2844000"/>
                  <a:ext cx="264960" cy="532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480" lIns="90000" rIns="90000" tIns="64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441" name="Line 133"/>
              <p:cNvSpPr/>
              <p:nvPr/>
            </p:nvSpPr>
            <p:spPr>
              <a:xfrm>
                <a:off x="10218600" y="2868480"/>
                <a:ext cx="0" cy="763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9520" lIns="90000" rIns="90000" tIns="295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42" name="Line 134"/>
              <p:cNvSpPr/>
              <p:nvPr/>
            </p:nvSpPr>
            <p:spPr>
              <a:xfrm>
                <a:off x="10733040" y="2871720"/>
                <a:ext cx="0" cy="745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720" lIns="90000" rIns="90000" tIns="277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443" name="Group 74"/>
            <p:cNvGrpSpPr/>
            <p:nvPr/>
          </p:nvGrpSpPr>
          <p:grpSpPr>
            <a:xfrm>
              <a:off x="10119600" y="2449440"/>
              <a:ext cx="519840" cy="174240"/>
              <a:chOff x="10119600" y="2449440"/>
              <a:chExt cx="519840" cy="174240"/>
            </a:xfrm>
          </p:grpSpPr>
          <p:sp>
            <p:nvSpPr>
              <p:cNvPr id="444" name="Oval 43"/>
              <p:cNvSpPr/>
              <p:nvPr/>
            </p:nvSpPr>
            <p:spPr>
              <a:xfrm>
                <a:off x="10121040" y="2526120"/>
                <a:ext cx="515880" cy="975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2680" lIns="90000" rIns="90000" tIns="226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45" name="Rectangle 40"/>
              <p:cNvSpPr/>
              <p:nvPr/>
            </p:nvSpPr>
            <p:spPr>
              <a:xfrm>
                <a:off x="10121040" y="2516040"/>
                <a:ext cx="518400" cy="601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3320" lIns="90000" rIns="90000" tIns="133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46" name="Oval 44"/>
              <p:cNvSpPr/>
              <p:nvPr/>
            </p:nvSpPr>
            <p:spPr>
              <a:xfrm>
                <a:off x="10119600" y="2449440"/>
                <a:ext cx="515880" cy="11412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200" lIns="90000" rIns="90000" tIns="342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447" name="Group 75"/>
              <p:cNvGrpSpPr/>
              <p:nvPr/>
            </p:nvGrpSpPr>
            <p:grpSpPr>
              <a:xfrm>
                <a:off x="10222920" y="2478960"/>
                <a:ext cx="291240" cy="53280"/>
                <a:chOff x="10222920" y="2478960"/>
                <a:chExt cx="291240" cy="53280"/>
              </a:xfrm>
            </p:grpSpPr>
            <p:sp>
              <p:nvSpPr>
                <p:cNvPr id="448" name="Freeform 164"/>
                <p:cNvSpPr/>
                <p:nvPr/>
              </p:nvSpPr>
              <p:spPr>
                <a:xfrm>
                  <a:off x="10222920" y="2478960"/>
                  <a:ext cx="291240" cy="532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480" lIns="90000" rIns="90000" tIns="64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449" name="Freeform 165"/>
                <p:cNvSpPr/>
                <p:nvPr/>
              </p:nvSpPr>
              <p:spPr>
                <a:xfrm>
                  <a:off x="10235880" y="2478960"/>
                  <a:ext cx="264960" cy="532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480" lIns="90000" rIns="90000" tIns="64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450" name="Line 135"/>
              <p:cNvSpPr/>
              <p:nvPr/>
            </p:nvSpPr>
            <p:spPr>
              <a:xfrm>
                <a:off x="10121040" y="2503440"/>
                <a:ext cx="0" cy="763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9520" lIns="90000" rIns="90000" tIns="295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51" name="Line 136"/>
              <p:cNvSpPr/>
              <p:nvPr/>
            </p:nvSpPr>
            <p:spPr>
              <a:xfrm>
                <a:off x="10635480" y="2506680"/>
                <a:ext cx="0" cy="745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720" lIns="90000" rIns="90000" tIns="277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452" name="Group 76"/>
            <p:cNvGrpSpPr/>
            <p:nvPr/>
          </p:nvGrpSpPr>
          <p:grpSpPr>
            <a:xfrm>
              <a:off x="10182960" y="3700440"/>
              <a:ext cx="655560" cy="205920"/>
              <a:chOff x="10182960" y="3700440"/>
              <a:chExt cx="655560" cy="205920"/>
            </a:xfrm>
          </p:grpSpPr>
          <p:sp>
            <p:nvSpPr>
              <p:cNvPr id="453" name="Oval 45"/>
              <p:cNvSpPr/>
              <p:nvPr/>
            </p:nvSpPr>
            <p:spPr>
              <a:xfrm>
                <a:off x="10185480" y="3791160"/>
                <a:ext cx="650160" cy="1152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560" lIns="90000" rIns="90000" tIns="345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54" name="Rectangle 41"/>
              <p:cNvSpPr/>
              <p:nvPr/>
            </p:nvSpPr>
            <p:spPr>
              <a:xfrm>
                <a:off x="10185480" y="3779280"/>
                <a:ext cx="653040" cy="709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4120" lIns="90000" rIns="90000" tIns="241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55" name="Oval 46"/>
              <p:cNvSpPr/>
              <p:nvPr/>
            </p:nvSpPr>
            <p:spPr>
              <a:xfrm>
                <a:off x="10182960" y="3700440"/>
                <a:ext cx="650520" cy="1346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456" name="Group 77"/>
              <p:cNvGrpSpPr/>
              <p:nvPr/>
            </p:nvGrpSpPr>
            <p:grpSpPr>
              <a:xfrm>
                <a:off x="10313640" y="3735360"/>
                <a:ext cx="367200" cy="63000"/>
                <a:chOff x="10313640" y="3735360"/>
                <a:chExt cx="367200" cy="63000"/>
              </a:xfrm>
            </p:grpSpPr>
            <p:sp>
              <p:nvSpPr>
                <p:cNvPr id="457" name="Freeform 166"/>
                <p:cNvSpPr/>
                <p:nvPr/>
              </p:nvSpPr>
              <p:spPr>
                <a:xfrm>
                  <a:off x="10313640" y="3735360"/>
                  <a:ext cx="367200" cy="6300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200" lIns="90000" rIns="90000" tIns="162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458" name="Freeform 167"/>
                <p:cNvSpPr/>
                <p:nvPr/>
              </p:nvSpPr>
              <p:spPr>
                <a:xfrm>
                  <a:off x="10329840" y="3735360"/>
                  <a:ext cx="334080" cy="6300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200" lIns="90000" rIns="90000" tIns="162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459" name="Line 137"/>
              <p:cNvSpPr/>
              <p:nvPr/>
            </p:nvSpPr>
            <p:spPr>
              <a:xfrm>
                <a:off x="10185480" y="3764160"/>
                <a:ext cx="0" cy="9036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3560" lIns="90000" rIns="90000" tIns="4356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60" name="Line 138"/>
              <p:cNvSpPr/>
              <p:nvPr/>
            </p:nvSpPr>
            <p:spPr>
              <a:xfrm>
                <a:off x="10833480" y="3768120"/>
                <a:ext cx="0" cy="8460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7800" lIns="90000" rIns="90000" tIns="37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sp>
          <p:nvSpPr>
            <p:cNvPr id="461" name="Line 139"/>
            <p:cNvSpPr/>
            <p:nvPr/>
          </p:nvSpPr>
          <p:spPr>
            <a:xfrm>
              <a:off x="8436600" y="3798720"/>
              <a:ext cx="90576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grpSp>
          <p:nvGrpSpPr>
            <p:cNvPr id="462" name="Group 78"/>
            <p:cNvGrpSpPr/>
            <p:nvPr/>
          </p:nvGrpSpPr>
          <p:grpSpPr>
            <a:xfrm>
              <a:off x="9315000" y="3687480"/>
              <a:ext cx="655920" cy="205920"/>
              <a:chOff x="9315000" y="3687480"/>
              <a:chExt cx="655920" cy="205920"/>
            </a:xfrm>
          </p:grpSpPr>
          <p:sp>
            <p:nvSpPr>
              <p:cNvPr id="463" name="Oval 47"/>
              <p:cNvSpPr/>
              <p:nvPr/>
            </p:nvSpPr>
            <p:spPr>
              <a:xfrm>
                <a:off x="9317520" y="3778200"/>
                <a:ext cx="650520" cy="1152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560" lIns="90000" rIns="90000" tIns="345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64" name="Rectangle 42"/>
              <p:cNvSpPr/>
              <p:nvPr/>
            </p:nvSpPr>
            <p:spPr>
              <a:xfrm>
                <a:off x="9317520" y="3766680"/>
                <a:ext cx="653400" cy="7128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4480" lIns="90000" rIns="90000" tIns="244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65" name="Oval 48"/>
              <p:cNvSpPr/>
              <p:nvPr/>
            </p:nvSpPr>
            <p:spPr>
              <a:xfrm>
                <a:off x="9315000" y="3687480"/>
                <a:ext cx="650520" cy="135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466" name="Group 79"/>
              <p:cNvGrpSpPr/>
              <p:nvPr/>
            </p:nvGrpSpPr>
            <p:grpSpPr>
              <a:xfrm>
                <a:off x="9445680" y="3722400"/>
                <a:ext cx="367200" cy="63360"/>
                <a:chOff x="9445680" y="3722400"/>
                <a:chExt cx="367200" cy="63360"/>
              </a:xfrm>
            </p:grpSpPr>
            <p:sp>
              <p:nvSpPr>
                <p:cNvPr id="467" name="Freeform 168"/>
                <p:cNvSpPr/>
                <p:nvPr/>
              </p:nvSpPr>
              <p:spPr>
                <a:xfrm>
                  <a:off x="9445680" y="3722400"/>
                  <a:ext cx="367200" cy="633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560" lIns="90000" rIns="90000" tIns="165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468" name="Freeform 169"/>
                <p:cNvSpPr/>
                <p:nvPr/>
              </p:nvSpPr>
              <p:spPr>
                <a:xfrm>
                  <a:off x="9461880" y="3722400"/>
                  <a:ext cx="334080" cy="633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560" lIns="90000" rIns="90000" tIns="165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469" name="Line 140"/>
              <p:cNvSpPr/>
              <p:nvPr/>
            </p:nvSpPr>
            <p:spPr>
              <a:xfrm>
                <a:off x="9317520" y="3751200"/>
                <a:ext cx="0" cy="9036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3560" lIns="90000" rIns="90000" tIns="4356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70" name="Line 141"/>
              <p:cNvSpPr/>
              <p:nvPr/>
            </p:nvSpPr>
            <p:spPr>
              <a:xfrm>
                <a:off x="9965520" y="3755160"/>
                <a:ext cx="0" cy="8460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7800" lIns="90000" rIns="90000" tIns="37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471" name="Group 80"/>
            <p:cNvGrpSpPr/>
            <p:nvPr/>
          </p:nvGrpSpPr>
          <p:grpSpPr>
            <a:xfrm>
              <a:off x="9729720" y="3967200"/>
              <a:ext cx="655920" cy="205920"/>
              <a:chOff x="9729720" y="3967200"/>
              <a:chExt cx="655920" cy="205920"/>
            </a:xfrm>
          </p:grpSpPr>
          <p:sp>
            <p:nvSpPr>
              <p:cNvPr id="472" name="Oval 49"/>
              <p:cNvSpPr/>
              <p:nvPr/>
            </p:nvSpPr>
            <p:spPr>
              <a:xfrm>
                <a:off x="9732240" y="4057920"/>
                <a:ext cx="650520" cy="1152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560" lIns="90000" rIns="90000" tIns="345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73" name="Rectangle 43"/>
              <p:cNvSpPr/>
              <p:nvPr/>
            </p:nvSpPr>
            <p:spPr>
              <a:xfrm>
                <a:off x="9732240" y="4046040"/>
                <a:ext cx="653400" cy="709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4120" lIns="90000" rIns="90000" tIns="241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74" name="Oval 50"/>
              <p:cNvSpPr/>
              <p:nvPr/>
            </p:nvSpPr>
            <p:spPr>
              <a:xfrm>
                <a:off x="9729720" y="3967200"/>
                <a:ext cx="650520" cy="1346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475" name="Group 81"/>
              <p:cNvGrpSpPr/>
              <p:nvPr/>
            </p:nvGrpSpPr>
            <p:grpSpPr>
              <a:xfrm>
                <a:off x="9860400" y="4002120"/>
                <a:ext cx="367200" cy="63000"/>
                <a:chOff x="9860400" y="4002120"/>
                <a:chExt cx="367200" cy="63000"/>
              </a:xfrm>
            </p:grpSpPr>
            <p:sp>
              <p:nvSpPr>
                <p:cNvPr id="476" name="Freeform 170"/>
                <p:cNvSpPr/>
                <p:nvPr/>
              </p:nvSpPr>
              <p:spPr>
                <a:xfrm>
                  <a:off x="9860400" y="4002120"/>
                  <a:ext cx="367200" cy="6300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200" lIns="90000" rIns="90000" tIns="162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477" name="Freeform 171"/>
                <p:cNvSpPr/>
                <p:nvPr/>
              </p:nvSpPr>
              <p:spPr>
                <a:xfrm>
                  <a:off x="9876600" y="4002120"/>
                  <a:ext cx="334080" cy="6300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200" lIns="90000" rIns="90000" tIns="162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478" name="Line 142"/>
              <p:cNvSpPr/>
              <p:nvPr/>
            </p:nvSpPr>
            <p:spPr>
              <a:xfrm>
                <a:off x="9732240" y="4030920"/>
                <a:ext cx="0" cy="9036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3560" lIns="90000" rIns="90000" tIns="4356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79" name="Line 143"/>
              <p:cNvSpPr/>
              <p:nvPr/>
            </p:nvSpPr>
            <p:spPr>
              <a:xfrm>
                <a:off x="10380240" y="4034880"/>
                <a:ext cx="0" cy="8460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7800" lIns="90000" rIns="90000" tIns="37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480" name="Group 82"/>
            <p:cNvGrpSpPr/>
            <p:nvPr/>
          </p:nvGrpSpPr>
          <p:grpSpPr>
            <a:xfrm>
              <a:off x="9988200" y="4862520"/>
              <a:ext cx="829440" cy="244080"/>
              <a:chOff x="9988200" y="4862520"/>
              <a:chExt cx="829440" cy="244080"/>
            </a:xfrm>
          </p:grpSpPr>
          <p:sp>
            <p:nvSpPr>
              <p:cNvPr id="481" name="Oval 51"/>
              <p:cNvSpPr/>
              <p:nvPr/>
            </p:nvSpPr>
            <p:spPr>
              <a:xfrm>
                <a:off x="9991080" y="4970160"/>
                <a:ext cx="822600" cy="1364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82" name="Rectangle 44"/>
              <p:cNvSpPr/>
              <p:nvPr/>
            </p:nvSpPr>
            <p:spPr>
              <a:xfrm>
                <a:off x="9991080" y="4956120"/>
                <a:ext cx="826560" cy="8424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7440" lIns="90000" rIns="90000" tIns="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83" name="Oval 52"/>
              <p:cNvSpPr/>
              <p:nvPr/>
            </p:nvSpPr>
            <p:spPr>
              <a:xfrm>
                <a:off x="9988200" y="4862520"/>
                <a:ext cx="822600" cy="1598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484" name="Group 83"/>
              <p:cNvGrpSpPr/>
              <p:nvPr/>
            </p:nvGrpSpPr>
            <p:grpSpPr>
              <a:xfrm>
                <a:off x="10153080" y="4903920"/>
                <a:ext cx="464760" cy="74880"/>
                <a:chOff x="10153080" y="4903920"/>
                <a:chExt cx="464760" cy="74880"/>
              </a:xfrm>
            </p:grpSpPr>
            <p:sp>
              <p:nvSpPr>
                <p:cNvPr id="485" name="Freeform 172"/>
                <p:cNvSpPr/>
                <p:nvPr/>
              </p:nvSpPr>
              <p:spPr>
                <a:xfrm>
                  <a:off x="10153080" y="4903920"/>
                  <a:ext cx="464760" cy="748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080" lIns="90000" rIns="90000" tIns="280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486" name="Freeform 173"/>
                <p:cNvSpPr/>
                <p:nvPr/>
              </p:nvSpPr>
              <p:spPr>
                <a:xfrm>
                  <a:off x="10173960" y="4903920"/>
                  <a:ext cx="422280" cy="748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080" lIns="90000" rIns="90000" tIns="280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487" name="Line 144"/>
              <p:cNvSpPr/>
              <p:nvPr/>
            </p:nvSpPr>
            <p:spPr>
              <a:xfrm>
                <a:off x="9991080" y="493776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88" name="Line 145"/>
              <p:cNvSpPr/>
              <p:nvPr/>
            </p:nvSpPr>
            <p:spPr>
              <a:xfrm>
                <a:off x="10810800" y="494244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489" name="Group 84"/>
            <p:cNvGrpSpPr/>
            <p:nvPr/>
          </p:nvGrpSpPr>
          <p:grpSpPr>
            <a:xfrm>
              <a:off x="9154440" y="4564080"/>
              <a:ext cx="828720" cy="244080"/>
              <a:chOff x="9154440" y="4564080"/>
              <a:chExt cx="828720" cy="244080"/>
            </a:xfrm>
          </p:grpSpPr>
          <p:sp>
            <p:nvSpPr>
              <p:cNvPr id="490" name="Oval 53"/>
              <p:cNvSpPr/>
              <p:nvPr/>
            </p:nvSpPr>
            <p:spPr>
              <a:xfrm>
                <a:off x="9157320" y="4671720"/>
                <a:ext cx="822240" cy="1364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91" name="Rectangle 45"/>
              <p:cNvSpPr/>
              <p:nvPr/>
            </p:nvSpPr>
            <p:spPr>
              <a:xfrm>
                <a:off x="9157320" y="4657680"/>
                <a:ext cx="825840" cy="8424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7440" lIns="90000" rIns="90000" tIns="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92" name="Oval 54"/>
              <p:cNvSpPr/>
              <p:nvPr/>
            </p:nvSpPr>
            <p:spPr>
              <a:xfrm>
                <a:off x="9154440" y="4564080"/>
                <a:ext cx="822240" cy="1598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493" name="Group 85"/>
              <p:cNvGrpSpPr/>
              <p:nvPr/>
            </p:nvGrpSpPr>
            <p:grpSpPr>
              <a:xfrm>
                <a:off x="9318960" y="4605480"/>
                <a:ext cx="464040" cy="74880"/>
                <a:chOff x="9318960" y="4605480"/>
                <a:chExt cx="464040" cy="74880"/>
              </a:xfrm>
            </p:grpSpPr>
            <p:sp>
              <p:nvSpPr>
                <p:cNvPr id="494" name="Freeform 174"/>
                <p:cNvSpPr/>
                <p:nvPr/>
              </p:nvSpPr>
              <p:spPr>
                <a:xfrm>
                  <a:off x="9318960" y="4605480"/>
                  <a:ext cx="464040" cy="748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080" lIns="90000" rIns="90000" tIns="280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495" name="Freeform 175"/>
                <p:cNvSpPr/>
                <p:nvPr/>
              </p:nvSpPr>
              <p:spPr>
                <a:xfrm>
                  <a:off x="9339480" y="4605480"/>
                  <a:ext cx="421920" cy="748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080" lIns="90000" rIns="90000" tIns="280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496" name="Line 146"/>
              <p:cNvSpPr/>
              <p:nvPr/>
            </p:nvSpPr>
            <p:spPr>
              <a:xfrm>
                <a:off x="9157320" y="463932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497" name="Line 147"/>
              <p:cNvSpPr/>
              <p:nvPr/>
            </p:nvSpPr>
            <p:spPr>
              <a:xfrm>
                <a:off x="9976680" y="464400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498" name="Group 86"/>
            <p:cNvGrpSpPr/>
            <p:nvPr/>
          </p:nvGrpSpPr>
          <p:grpSpPr>
            <a:xfrm>
              <a:off x="8188920" y="4906800"/>
              <a:ext cx="829440" cy="244080"/>
              <a:chOff x="8188920" y="4906800"/>
              <a:chExt cx="829440" cy="244080"/>
            </a:xfrm>
          </p:grpSpPr>
          <p:sp>
            <p:nvSpPr>
              <p:cNvPr id="499" name="Oval 55"/>
              <p:cNvSpPr/>
              <p:nvPr/>
            </p:nvSpPr>
            <p:spPr>
              <a:xfrm>
                <a:off x="8191800" y="5014440"/>
                <a:ext cx="822960" cy="1364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500" name="Rectangle 46"/>
              <p:cNvSpPr/>
              <p:nvPr/>
            </p:nvSpPr>
            <p:spPr>
              <a:xfrm>
                <a:off x="8191800" y="5000400"/>
                <a:ext cx="826560" cy="8424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7440" lIns="90000" rIns="90000" tIns="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501" name="Oval 56"/>
              <p:cNvSpPr/>
              <p:nvPr/>
            </p:nvSpPr>
            <p:spPr>
              <a:xfrm>
                <a:off x="8188920" y="4906800"/>
                <a:ext cx="822960" cy="1598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502" name="Group 87"/>
              <p:cNvGrpSpPr/>
              <p:nvPr/>
            </p:nvGrpSpPr>
            <p:grpSpPr>
              <a:xfrm>
                <a:off x="8354160" y="4948200"/>
                <a:ext cx="464760" cy="74880"/>
                <a:chOff x="8354160" y="4948200"/>
                <a:chExt cx="464760" cy="74880"/>
              </a:xfrm>
            </p:grpSpPr>
            <p:sp>
              <p:nvSpPr>
                <p:cNvPr id="503" name="Freeform 176"/>
                <p:cNvSpPr/>
                <p:nvPr/>
              </p:nvSpPr>
              <p:spPr>
                <a:xfrm>
                  <a:off x="8354160" y="4948200"/>
                  <a:ext cx="464760" cy="748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080" lIns="90000" rIns="90000" tIns="280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04" name="Freeform 177"/>
                <p:cNvSpPr/>
                <p:nvPr/>
              </p:nvSpPr>
              <p:spPr>
                <a:xfrm>
                  <a:off x="8374680" y="4948200"/>
                  <a:ext cx="422640" cy="748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080" lIns="90000" rIns="90000" tIns="280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505" name="Line 148"/>
              <p:cNvSpPr/>
              <p:nvPr/>
            </p:nvSpPr>
            <p:spPr>
              <a:xfrm>
                <a:off x="8191800" y="498204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506" name="Line 149"/>
              <p:cNvSpPr/>
              <p:nvPr/>
            </p:nvSpPr>
            <p:spPr>
              <a:xfrm>
                <a:off x="9011880" y="498672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507" name="Group 88"/>
            <p:cNvGrpSpPr/>
            <p:nvPr/>
          </p:nvGrpSpPr>
          <p:grpSpPr>
            <a:xfrm>
              <a:off x="7935120" y="3700440"/>
              <a:ext cx="520920" cy="171000"/>
              <a:chOff x="7935120" y="3700440"/>
              <a:chExt cx="520920" cy="171000"/>
            </a:xfrm>
          </p:grpSpPr>
          <p:sp>
            <p:nvSpPr>
              <p:cNvPr id="508" name="Oval 57"/>
              <p:cNvSpPr/>
              <p:nvPr/>
            </p:nvSpPr>
            <p:spPr>
              <a:xfrm>
                <a:off x="7936920" y="3775680"/>
                <a:ext cx="516600" cy="957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0880" lIns="90000" rIns="90000" tIns="208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509" name="Rectangle 47"/>
              <p:cNvSpPr/>
              <p:nvPr/>
            </p:nvSpPr>
            <p:spPr>
              <a:xfrm>
                <a:off x="7936920" y="3765960"/>
                <a:ext cx="519120" cy="5904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2240" lIns="90000" rIns="90000" tIns="122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510" name="Oval 58"/>
              <p:cNvSpPr/>
              <p:nvPr/>
            </p:nvSpPr>
            <p:spPr>
              <a:xfrm>
                <a:off x="7935120" y="3700440"/>
                <a:ext cx="516600" cy="1119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2760" lIns="90000" rIns="90000" tIns="327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511" name="Group 89"/>
              <p:cNvGrpSpPr/>
              <p:nvPr/>
            </p:nvGrpSpPr>
            <p:grpSpPr>
              <a:xfrm>
                <a:off x="8038800" y="3729240"/>
                <a:ext cx="291960" cy="52560"/>
                <a:chOff x="8038800" y="3729240"/>
                <a:chExt cx="291960" cy="52560"/>
              </a:xfrm>
            </p:grpSpPr>
            <p:sp>
              <p:nvSpPr>
                <p:cNvPr id="512" name="Freeform 178"/>
                <p:cNvSpPr/>
                <p:nvPr/>
              </p:nvSpPr>
              <p:spPr>
                <a:xfrm>
                  <a:off x="8038800" y="3729240"/>
                  <a:ext cx="291960" cy="525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5760" lIns="90000" rIns="90000" tIns="57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13" name="Freeform 179"/>
                <p:cNvSpPr/>
                <p:nvPr/>
              </p:nvSpPr>
              <p:spPr>
                <a:xfrm>
                  <a:off x="8051760" y="3729240"/>
                  <a:ext cx="265320" cy="525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5760" lIns="90000" rIns="90000" tIns="57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514" name="Line 150"/>
              <p:cNvSpPr/>
              <p:nvPr/>
            </p:nvSpPr>
            <p:spPr>
              <a:xfrm>
                <a:off x="7936920" y="3753360"/>
                <a:ext cx="0" cy="7956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2760" lIns="90000" rIns="90000" tIns="3276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515" name="Line 151"/>
              <p:cNvSpPr/>
              <p:nvPr/>
            </p:nvSpPr>
            <p:spPr>
              <a:xfrm>
                <a:off x="8451720" y="3756600"/>
                <a:ext cx="0" cy="781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1320" lIns="90000" rIns="90000" tIns="313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516" name="Group 90"/>
            <p:cNvGrpSpPr/>
            <p:nvPr/>
          </p:nvGrpSpPr>
          <p:grpSpPr>
            <a:xfrm>
              <a:off x="9414360" y="5060880"/>
              <a:ext cx="594000" cy="422280"/>
              <a:chOff x="9414360" y="5060880"/>
              <a:chExt cx="594000" cy="422280"/>
            </a:xfrm>
          </p:grpSpPr>
          <p:grpSp>
            <p:nvGrpSpPr>
              <p:cNvPr id="517" name="Group 91"/>
              <p:cNvGrpSpPr/>
              <p:nvPr/>
            </p:nvGrpSpPr>
            <p:grpSpPr>
              <a:xfrm>
                <a:off x="9507600" y="5060880"/>
                <a:ext cx="500760" cy="109800"/>
                <a:chOff x="9507600" y="5060880"/>
                <a:chExt cx="500760" cy="109800"/>
              </a:xfrm>
            </p:grpSpPr>
            <p:sp>
              <p:nvSpPr>
                <p:cNvPr id="518" name="Freeform 180"/>
                <p:cNvSpPr/>
                <p:nvPr/>
              </p:nvSpPr>
              <p:spPr>
                <a:xfrm>
                  <a:off x="9641880" y="5080680"/>
                  <a:ext cx="89280" cy="60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32" w="199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4040" lIns="90000" rIns="90000" tIns="140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19" name="Freeform 181"/>
                <p:cNvSpPr/>
                <p:nvPr/>
              </p:nvSpPr>
              <p:spPr>
                <a:xfrm>
                  <a:off x="9795240" y="5079600"/>
                  <a:ext cx="60480" cy="464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80" w="128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60" lIns="90000" rIns="90000" tIns="-3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20" name="Freeform 182"/>
                <p:cNvSpPr/>
                <p:nvPr/>
              </p:nvSpPr>
              <p:spPr>
                <a:xfrm>
                  <a:off x="9583920" y="5068440"/>
                  <a:ext cx="147240" cy="975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78" w="322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0" lIns="90000" rIns="90000" tIns="468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21" name="Freeform 183"/>
                <p:cNvSpPr/>
                <p:nvPr/>
              </p:nvSpPr>
              <p:spPr>
                <a:xfrm>
                  <a:off x="9792360" y="5065200"/>
                  <a:ext cx="128160" cy="651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52" w="283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8360" lIns="90000" rIns="90000" tIns="183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22" name="Freeform 184"/>
                <p:cNvSpPr/>
                <p:nvPr/>
              </p:nvSpPr>
              <p:spPr>
                <a:xfrm>
                  <a:off x="9529200" y="5096160"/>
                  <a:ext cx="51480" cy="60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38" w="114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4040" lIns="90000" rIns="90000" tIns="140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23" name="Freeform 185"/>
                <p:cNvSpPr/>
                <p:nvPr/>
              </p:nvSpPr>
              <p:spPr>
                <a:xfrm>
                  <a:off x="9896040" y="5060880"/>
                  <a:ext cx="112320" cy="806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10" w="246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33840" lIns="90000" rIns="90000" tIns="338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24" name="Freeform 186"/>
                <p:cNvSpPr/>
                <p:nvPr/>
              </p:nvSpPr>
              <p:spPr>
                <a:xfrm>
                  <a:off x="9617400" y="5083920"/>
                  <a:ext cx="89280" cy="60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36" w="198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4040" lIns="90000" rIns="90000" tIns="1404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25" name="Freeform 187"/>
                <p:cNvSpPr/>
                <p:nvPr/>
              </p:nvSpPr>
              <p:spPr>
                <a:xfrm>
                  <a:off x="9770040" y="5083920"/>
                  <a:ext cx="60480" cy="464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83" w="128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60" lIns="90000" rIns="90000" tIns="-3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26" name="Freeform 188"/>
                <p:cNvSpPr/>
                <p:nvPr/>
              </p:nvSpPr>
              <p:spPr>
                <a:xfrm>
                  <a:off x="9559080" y="5073120"/>
                  <a:ext cx="144720" cy="975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79" w="323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0" lIns="90000" rIns="90000" tIns="468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27" name="Freeform 189"/>
                <p:cNvSpPr/>
                <p:nvPr/>
              </p:nvSpPr>
              <p:spPr>
                <a:xfrm>
                  <a:off x="9765000" y="5069880"/>
                  <a:ext cx="128160" cy="651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53" w="282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8360" lIns="90000" rIns="90000" tIns="183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28" name="Freeform 190"/>
                <p:cNvSpPr/>
                <p:nvPr/>
              </p:nvSpPr>
              <p:spPr>
                <a:xfrm>
                  <a:off x="9507600" y="5106240"/>
                  <a:ext cx="51480" cy="597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36" w="115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2960" lIns="90000" rIns="90000" tIns="12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29" name="Freeform 191"/>
                <p:cNvSpPr/>
                <p:nvPr/>
              </p:nvSpPr>
              <p:spPr>
                <a:xfrm>
                  <a:off x="9871560" y="5065200"/>
                  <a:ext cx="112680" cy="806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10" w="245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33840" lIns="90000" rIns="90000" tIns="3384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pic>
            <p:nvPicPr>
              <p:cNvPr descr="access_point_stylized_gray_small" id="530" name="Picture 29"/>
              <p:cNvPicPr/>
              <p:nvPr/>
            </p:nvPicPr>
            <p:blipFill>
              <a:blip r:embed="rId5"/>
              <a:stretch/>
            </p:blipFill>
            <p:spPr>
              <a:xfrm>
                <a:off x="9414360" y="5095080"/>
                <a:ext cx="557280" cy="388080"/>
              </a:xfrm>
              <a:prstGeom prst="rect">
                <a:avLst/>
              </a:prstGeom>
              <a:ln w="54720">
                <a:noFill/>
              </a:ln>
            </p:spPr>
          </p:pic>
        </p:grpSp>
        <p:grpSp>
          <p:nvGrpSpPr>
            <p:cNvPr id="531" name="Group 92"/>
            <p:cNvGrpSpPr/>
            <p:nvPr/>
          </p:nvGrpSpPr>
          <p:grpSpPr>
            <a:xfrm>
              <a:off x="7384680" y="3565440"/>
              <a:ext cx="530280" cy="358200"/>
              <a:chOff x="7384680" y="3565440"/>
              <a:chExt cx="530280" cy="358200"/>
            </a:xfrm>
          </p:grpSpPr>
          <p:grpSp>
            <p:nvGrpSpPr>
              <p:cNvPr id="532" name="Group 93"/>
              <p:cNvGrpSpPr/>
              <p:nvPr/>
            </p:nvGrpSpPr>
            <p:grpSpPr>
              <a:xfrm>
                <a:off x="7467480" y="3565440"/>
                <a:ext cx="447480" cy="93240"/>
                <a:chOff x="7467480" y="3565440"/>
                <a:chExt cx="447480" cy="93240"/>
              </a:xfrm>
            </p:grpSpPr>
            <p:sp>
              <p:nvSpPr>
                <p:cNvPr id="533" name="Freeform 192"/>
                <p:cNvSpPr/>
                <p:nvPr/>
              </p:nvSpPr>
              <p:spPr>
                <a:xfrm>
                  <a:off x="7588080" y="3582360"/>
                  <a:ext cx="79560" cy="514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32" w="199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" lIns="90000" rIns="90000" tIns="468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34" name="Freeform 193"/>
                <p:cNvSpPr/>
                <p:nvPr/>
              </p:nvSpPr>
              <p:spPr>
                <a:xfrm>
                  <a:off x="7724520" y="3581280"/>
                  <a:ext cx="54000" cy="392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80" w="128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7560" lIns="90000" rIns="90000" tIns="-75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35" name="Freeform 194"/>
                <p:cNvSpPr/>
                <p:nvPr/>
              </p:nvSpPr>
              <p:spPr>
                <a:xfrm>
                  <a:off x="7535880" y="3571920"/>
                  <a:ext cx="131760" cy="8280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78" w="322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36000" lIns="90000" rIns="90000" tIns="360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36" name="Freeform 195"/>
                <p:cNvSpPr/>
                <p:nvPr/>
              </p:nvSpPr>
              <p:spPr>
                <a:xfrm>
                  <a:off x="7722000" y="3569040"/>
                  <a:ext cx="114840" cy="554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52" w="283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8640" lIns="90000" rIns="90000" tIns="86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37" name="Freeform 196"/>
                <p:cNvSpPr/>
                <p:nvPr/>
              </p:nvSpPr>
              <p:spPr>
                <a:xfrm>
                  <a:off x="7487280" y="3595320"/>
                  <a:ext cx="46080" cy="51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38" w="114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5040" lIns="90000" rIns="90000" tIns="50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38" name="Freeform 197"/>
                <p:cNvSpPr/>
                <p:nvPr/>
              </p:nvSpPr>
              <p:spPr>
                <a:xfrm>
                  <a:off x="7814520" y="3565440"/>
                  <a:ext cx="100440" cy="687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10" w="246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1960" lIns="90000" rIns="90000" tIns="21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539" name="Freeform 198"/>
                <p:cNvSpPr/>
                <p:nvPr/>
              </p:nvSpPr>
              <p:spPr>
                <a:xfrm>
                  <a:off x="7566120" y="3585240"/>
                  <a:ext cx="79560" cy="5148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36" w="198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" lIns="90000" rIns="90000" tIns="46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40" name="Freeform 199"/>
                <p:cNvSpPr/>
                <p:nvPr/>
              </p:nvSpPr>
              <p:spPr>
                <a:xfrm>
                  <a:off x="7702200" y="3585240"/>
                  <a:ext cx="54360" cy="392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83" w="128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7560" lIns="90000" rIns="90000" tIns="-75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41" name="Freeform 200"/>
                <p:cNvSpPr/>
                <p:nvPr/>
              </p:nvSpPr>
              <p:spPr>
                <a:xfrm>
                  <a:off x="7513560" y="3575880"/>
                  <a:ext cx="129600" cy="8280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79" w="323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36000" lIns="90000" rIns="90000" tIns="360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42" name="Freeform 201"/>
                <p:cNvSpPr/>
                <p:nvPr/>
              </p:nvSpPr>
              <p:spPr>
                <a:xfrm>
                  <a:off x="7697520" y="3573000"/>
                  <a:ext cx="114840" cy="554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53" w="282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8640" lIns="90000" rIns="90000" tIns="864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43" name="Freeform 202"/>
                <p:cNvSpPr/>
                <p:nvPr/>
              </p:nvSpPr>
              <p:spPr>
                <a:xfrm>
                  <a:off x="7467480" y="3603960"/>
                  <a:ext cx="46080" cy="507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236" w="115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3960" lIns="90000" rIns="90000" tIns="3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44" name="Freeform 203"/>
                <p:cNvSpPr/>
                <p:nvPr/>
              </p:nvSpPr>
              <p:spPr>
                <a:xfrm>
                  <a:off x="7792560" y="3569040"/>
                  <a:ext cx="100800" cy="687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10" w="245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1960" lIns="90000" rIns="90000" tIns="21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pic>
            <p:nvPicPr>
              <p:cNvPr descr="access_point_stylized_gray_small" id="545" name="Picture 30"/>
              <p:cNvPicPr/>
              <p:nvPr/>
            </p:nvPicPr>
            <p:blipFill>
              <a:blip r:embed="rId5"/>
              <a:stretch/>
            </p:blipFill>
            <p:spPr>
              <a:xfrm>
                <a:off x="7384680" y="3594240"/>
                <a:ext cx="497520" cy="329400"/>
              </a:xfrm>
              <a:prstGeom prst="rect">
                <a:avLst/>
              </a:prstGeom>
              <a:ln w="54720">
                <a:noFill/>
              </a:ln>
            </p:spPr>
          </p:pic>
        </p:grpSp>
        <p:sp>
          <p:nvSpPr>
            <p:cNvPr id="546" name="Line 152"/>
            <p:cNvSpPr/>
            <p:nvPr/>
          </p:nvSpPr>
          <p:spPr>
            <a:xfrm>
              <a:off x="10466640" y="5536440"/>
              <a:ext cx="114120" cy="3240"/>
            </a:xfrm>
            <a:prstGeom prst="line">
              <a:avLst/>
            </a:prstGeom>
            <a:ln cap="sq" w="1260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-43560" lIns="90000" rIns="90000" tIns="-4356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grpSp>
          <p:nvGrpSpPr>
            <p:cNvPr id="547" name="Group 94"/>
            <p:cNvGrpSpPr/>
            <p:nvPr/>
          </p:nvGrpSpPr>
          <p:grpSpPr>
            <a:xfrm>
              <a:off x="7566480" y="4589280"/>
              <a:ext cx="552600" cy="372960"/>
              <a:chOff x="7566480" y="4589280"/>
              <a:chExt cx="552600" cy="372960"/>
            </a:xfrm>
          </p:grpSpPr>
          <p:pic>
            <p:nvPicPr>
              <p:cNvPr descr="desktop_computer_stylized_medium" id="548" name="Picture 31"/>
              <p:cNvPicPr/>
              <p:nvPr/>
            </p:nvPicPr>
            <p:blipFill>
              <a:blip r:embed="rId6"/>
              <a:stretch/>
            </p:blipFill>
            <p:spPr>
              <a:xfrm flipH="1">
                <a:off x="7566480" y="4589280"/>
                <a:ext cx="552600" cy="3729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549" name="Freeform 204"/>
              <p:cNvSpPr/>
              <p:nvPr/>
            </p:nvSpPr>
            <p:spPr>
              <a:xfrm flipH="1">
                <a:off x="7801560" y="4624920"/>
                <a:ext cx="260280" cy="171000"/>
              </a:xfrm>
              <a:custGeom>
                <a:avLst/>
                <a:gdLst/>
                <a:ahLst/>
                <a:cxnLst/>
                <a:rect b="b" l="l" r="r" t="t"/>
                <a:pathLst>
                  <a:path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550" name="Group 95"/>
            <p:cNvGrpSpPr/>
            <p:nvPr/>
          </p:nvGrpSpPr>
          <p:grpSpPr>
            <a:xfrm>
              <a:off x="7143480" y="5010120"/>
              <a:ext cx="643320" cy="406440"/>
              <a:chOff x="7143480" y="5010120"/>
              <a:chExt cx="643320" cy="406440"/>
            </a:xfrm>
          </p:grpSpPr>
          <p:pic>
            <p:nvPicPr>
              <p:cNvPr descr="desktop_computer_stylized_medium" id="551" name="Picture 32"/>
              <p:cNvPicPr/>
              <p:nvPr/>
            </p:nvPicPr>
            <p:blipFill>
              <a:blip r:embed="rId7"/>
              <a:stretch/>
            </p:blipFill>
            <p:spPr>
              <a:xfrm flipH="1">
                <a:off x="7143480" y="5010120"/>
                <a:ext cx="643320" cy="40644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552" name="Freeform 205"/>
              <p:cNvSpPr/>
              <p:nvPr/>
            </p:nvSpPr>
            <p:spPr>
              <a:xfrm flipH="1">
                <a:off x="7417080" y="5049000"/>
                <a:ext cx="303480" cy="186120"/>
              </a:xfrm>
              <a:custGeom>
                <a:avLst/>
                <a:gdLst/>
                <a:ahLst/>
                <a:cxnLst/>
                <a:rect b="b" l="l" r="r" t="t"/>
                <a:pathLst>
                  <a:path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553" name="Group 96"/>
            <p:cNvGrpSpPr/>
            <p:nvPr/>
          </p:nvGrpSpPr>
          <p:grpSpPr>
            <a:xfrm>
              <a:off x="7780680" y="5311800"/>
              <a:ext cx="569160" cy="349200"/>
              <a:chOff x="7780680" y="5311800"/>
              <a:chExt cx="569160" cy="349200"/>
            </a:xfrm>
          </p:grpSpPr>
          <p:pic>
            <p:nvPicPr>
              <p:cNvPr descr="desktop_computer_stylized_medium" id="554" name="Picture 33"/>
              <p:cNvPicPr/>
              <p:nvPr/>
            </p:nvPicPr>
            <p:blipFill>
              <a:blip r:embed="rId8"/>
              <a:stretch/>
            </p:blipFill>
            <p:spPr>
              <a:xfrm flipH="1">
                <a:off x="7780680" y="5311800"/>
                <a:ext cx="569160" cy="34920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555" name="Freeform 206"/>
              <p:cNvSpPr/>
              <p:nvPr/>
            </p:nvSpPr>
            <p:spPr>
              <a:xfrm flipH="1">
                <a:off x="8023320" y="5345280"/>
                <a:ext cx="268560" cy="159840"/>
              </a:xfrm>
              <a:custGeom>
                <a:avLst/>
                <a:gdLst/>
                <a:ahLst/>
                <a:cxnLst/>
                <a:rect b="b" l="l" r="r" t="t"/>
                <a:pathLst>
                  <a:path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556" name="Group 97"/>
            <p:cNvGrpSpPr/>
            <p:nvPr/>
          </p:nvGrpSpPr>
          <p:grpSpPr>
            <a:xfrm>
              <a:off x="8600040" y="5294160"/>
              <a:ext cx="569160" cy="351000"/>
              <a:chOff x="8600040" y="5294160"/>
              <a:chExt cx="569160" cy="351000"/>
            </a:xfrm>
          </p:grpSpPr>
          <p:pic>
            <p:nvPicPr>
              <p:cNvPr descr="desktop_computer_stylized_medium" id="557" name="Picture 34"/>
              <p:cNvPicPr/>
              <p:nvPr/>
            </p:nvPicPr>
            <p:blipFill>
              <a:blip r:embed="rId8"/>
              <a:stretch/>
            </p:blipFill>
            <p:spPr>
              <a:xfrm>
                <a:off x="8600040" y="5294160"/>
                <a:ext cx="569160" cy="35100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558" name="Freeform 207"/>
              <p:cNvSpPr/>
              <p:nvPr/>
            </p:nvSpPr>
            <p:spPr>
              <a:xfrm>
                <a:off x="8658000" y="5327640"/>
                <a:ext cx="268200" cy="160920"/>
              </a:xfrm>
              <a:custGeom>
                <a:avLst/>
                <a:gdLst/>
                <a:ahLst/>
                <a:cxnLst/>
                <a:rect b="b" l="l" r="r" t="t"/>
                <a:pathLst>
                  <a:path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pic>
          <p:nvPicPr>
            <p:cNvPr descr="car_icon_small" id="559" name="Picture 35"/>
            <p:cNvPicPr/>
            <p:nvPr/>
          </p:nvPicPr>
          <p:blipFill>
            <a:blip r:embed="rId9"/>
            <a:stretch/>
          </p:blipFill>
          <p:spPr>
            <a:xfrm>
              <a:off x="8322480" y="1776240"/>
              <a:ext cx="1132200" cy="168480"/>
            </a:xfrm>
            <a:prstGeom prst="rect">
              <a:avLst/>
            </a:prstGeom>
            <a:ln w="54720">
              <a:noFill/>
            </a:ln>
          </p:spPr>
        </p:pic>
        <p:grpSp>
          <p:nvGrpSpPr>
            <p:cNvPr id="560" name="Group 98"/>
            <p:cNvGrpSpPr/>
            <p:nvPr/>
          </p:nvGrpSpPr>
          <p:grpSpPr>
            <a:xfrm>
              <a:off x="7350840" y="1601640"/>
              <a:ext cx="554400" cy="385920"/>
              <a:chOff x="7350840" y="1601640"/>
              <a:chExt cx="554400" cy="385920"/>
            </a:xfrm>
          </p:grpSpPr>
          <p:pic>
            <p:nvPicPr>
              <p:cNvPr descr="iphone_stylized_small" id="561" name="Picture 36"/>
              <p:cNvPicPr/>
              <p:nvPr/>
            </p:nvPicPr>
            <p:blipFill>
              <a:blip r:embed="rId10"/>
              <a:stretch/>
            </p:blipFill>
            <p:spPr>
              <a:xfrm>
                <a:off x="7563600" y="1658880"/>
                <a:ext cx="182520" cy="32868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antenna_radiation_stylized" id="562" name="Picture 37"/>
              <p:cNvPicPr/>
              <p:nvPr/>
            </p:nvPicPr>
            <p:blipFill>
              <a:blip r:embed="rId11"/>
              <a:stretch/>
            </p:blipFill>
            <p:spPr>
              <a:xfrm>
                <a:off x="7350840" y="1601640"/>
                <a:ext cx="554400" cy="88560"/>
              </a:xfrm>
              <a:prstGeom prst="rect">
                <a:avLst/>
              </a:prstGeom>
              <a:ln w="54720">
                <a:noFill/>
              </a:ln>
            </p:spPr>
          </p:pic>
        </p:grpSp>
        <p:grpSp>
          <p:nvGrpSpPr>
            <p:cNvPr id="563" name="Group 99"/>
            <p:cNvGrpSpPr/>
            <p:nvPr/>
          </p:nvGrpSpPr>
          <p:grpSpPr>
            <a:xfrm>
              <a:off x="10854000" y="5057640"/>
              <a:ext cx="302400" cy="480960"/>
              <a:chOff x="10854000" y="5057640"/>
              <a:chExt cx="302400" cy="480960"/>
            </a:xfrm>
          </p:grpSpPr>
          <p:sp>
            <p:nvSpPr>
              <p:cNvPr id="564" name="Freeform 208"/>
              <p:cNvSpPr/>
              <p:nvPr/>
            </p:nvSpPr>
            <p:spPr>
              <a:xfrm>
                <a:off x="11093400" y="5058360"/>
                <a:ext cx="60120" cy="459000"/>
              </a:xfrm>
              <a:custGeom>
                <a:avLst/>
                <a:gdLst/>
                <a:ahLst/>
                <a:cxnLst/>
                <a:rect b="b" l="l" r="r" t="t"/>
                <a:pathLst>
                  <a:path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3333"/>
                  </a:gs>
                  <a:gs pos="100000">
                    <a:srgbClr val="DDDDDD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565" name="Rectangle 48"/>
              <p:cNvSpPr/>
              <p:nvPr/>
            </p:nvSpPr>
            <p:spPr>
              <a:xfrm>
                <a:off x="10868760" y="5057640"/>
                <a:ext cx="222480" cy="458640"/>
              </a:xfrm>
              <a:prstGeom prst="rect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66" name="Freeform 209"/>
              <p:cNvSpPr/>
              <p:nvPr/>
            </p:nvSpPr>
            <p:spPr>
              <a:xfrm>
                <a:off x="11104560" y="5085720"/>
                <a:ext cx="35640" cy="424800"/>
              </a:xfrm>
              <a:custGeom>
                <a:avLst/>
                <a:gdLst/>
                <a:ahLst/>
                <a:cxnLst/>
                <a:rect b="b" l="l" r="r" t="t"/>
                <a:pathLst>
                  <a:path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8F8F8"/>
                  </a:gs>
                  <a:gs pos="100000">
                    <a:srgbClr val="808080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67" name="Freeform 210"/>
              <p:cNvSpPr/>
              <p:nvPr/>
            </p:nvSpPr>
            <p:spPr>
              <a:xfrm>
                <a:off x="11097000" y="5300640"/>
                <a:ext cx="55440" cy="37800"/>
              </a:xfrm>
              <a:custGeom>
                <a:avLst/>
                <a:gdLst/>
                <a:ahLst/>
                <a:cxnLst/>
                <a:rect b="b" l="l" r="r" t="t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9000" lIns="90000" rIns="90000" tIns="-9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68" name="Rectangle 49"/>
              <p:cNvSpPr/>
              <p:nvPr/>
            </p:nvSpPr>
            <p:spPr>
              <a:xfrm>
                <a:off x="10868760" y="5109840"/>
                <a:ext cx="12672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569" name="Group 100"/>
              <p:cNvGrpSpPr/>
              <p:nvPr/>
            </p:nvGrpSpPr>
            <p:grpSpPr>
              <a:xfrm>
                <a:off x="10983240" y="5105520"/>
                <a:ext cx="123120" cy="28800"/>
                <a:chOff x="10983240" y="5105520"/>
                <a:chExt cx="123120" cy="28800"/>
              </a:xfrm>
            </p:grpSpPr>
            <p:sp>
              <p:nvSpPr>
                <p:cNvPr id="570" name="AutoShape 23"/>
                <p:cNvSpPr/>
                <p:nvPr/>
              </p:nvSpPr>
              <p:spPr>
                <a:xfrm>
                  <a:off x="10983240" y="5105520"/>
                  <a:ext cx="123120" cy="28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5920" lIns="90000" rIns="90000" tIns="-2592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71" name="AutoShape 24"/>
                <p:cNvSpPr/>
                <p:nvPr/>
              </p:nvSpPr>
              <p:spPr>
                <a:xfrm>
                  <a:off x="10985040" y="5108400"/>
                  <a:ext cx="119160" cy="230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0240" lIns="90000" rIns="90000" tIns="-3024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572" name="Rectangle 50"/>
              <p:cNvSpPr/>
              <p:nvPr/>
            </p:nvSpPr>
            <p:spPr>
              <a:xfrm>
                <a:off x="10870920" y="5176440"/>
                <a:ext cx="12672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573" name="Group 101"/>
              <p:cNvGrpSpPr/>
              <p:nvPr/>
            </p:nvGrpSpPr>
            <p:grpSpPr>
              <a:xfrm>
                <a:off x="10982520" y="5171040"/>
                <a:ext cx="123480" cy="26640"/>
                <a:chOff x="10982520" y="5171040"/>
                <a:chExt cx="123480" cy="26640"/>
              </a:xfrm>
            </p:grpSpPr>
            <p:sp>
              <p:nvSpPr>
                <p:cNvPr id="574" name="AutoShape 25"/>
                <p:cNvSpPr/>
                <p:nvPr/>
              </p:nvSpPr>
              <p:spPr>
                <a:xfrm>
                  <a:off x="10982520" y="5171040"/>
                  <a:ext cx="123480" cy="266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360" lIns="90000" rIns="90000" tIns="-2736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75" name="AutoShape 26"/>
                <p:cNvSpPr/>
                <p:nvPr/>
              </p:nvSpPr>
              <p:spPr>
                <a:xfrm>
                  <a:off x="10984680" y="5174280"/>
                  <a:ext cx="118800" cy="2052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2040" lIns="90000" rIns="90000" tIns="-3204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576" name="Rectangle 51"/>
              <p:cNvSpPr/>
              <p:nvPr/>
            </p:nvSpPr>
            <p:spPr>
              <a:xfrm>
                <a:off x="10870920" y="5243400"/>
                <a:ext cx="12672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77" name="Rectangle 52"/>
              <p:cNvSpPr/>
              <p:nvPr/>
            </p:nvSpPr>
            <p:spPr>
              <a:xfrm>
                <a:off x="10872720" y="5303880"/>
                <a:ext cx="12672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578" name="Group 102"/>
              <p:cNvGrpSpPr/>
              <p:nvPr/>
            </p:nvGrpSpPr>
            <p:grpSpPr>
              <a:xfrm>
                <a:off x="10980360" y="5298120"/>
                <a:ext cx="123120" cy="30240"/>
                <a:chOff x="10980360" y="5298120"/>
                <a:chExt cx="123120" cy="30240"/>
              </a:xfrm>
            </p:grpSpPr>
            <p:sp>
              <p:nvSpPr>
                <p:cNvPr id="579" name="AutoShape 27"/>
                <p:cNvSpPr/>
                <p:nvPr/>
              </p:nvSpPr>
              <p:spPr>
                <a:xfrm>
                  <a:off x="10980360" y="5298120"/>
                  <a:ext cx="123120" cy="302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5200" lIns="90000" rIns="90000" tIns="-2520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80" name="AutoShape 28"/>
                <p:cNvSpPr/>
                <p:nvPr/>
              </p:nvSpPr>
              <p:spPr>
                <a:xfrm>
                  <a:off x="10982160" y="5298120"/>
                  <a:ext cx="119160" cy="266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360" lIns="90000" rIns="90000" tIns="-2736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581" name="Freeform 211"/>
              <p:cNvSpPr/>
              <p:nvPr/>
            </p:nvSpPr>
            <p:spPr>
              <a:xfrm>
                <a:off x="11097720" y="5243400"/>
                <a:ext cx="55800" cy="37440"/>
              </a:xfrm>
              <a:custGeom>
                <a:avLst/>
                <a:gdLst/>
                <a:ahLst/>
                <a:cxnLst/>
                <a:rect b="b" l="l" r="r" t="t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9360" lIns="90000" rIns="90000" tIns="-93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582" name="Group 103"/>
              <p:cNvGrpSpPr/>
              <p:nvPr/>
            </p:nvGrpSpPr>
            <p:grpSpPr>
              <a:xfrm>
                <a:off x="10981080" y="5238000"/>
                <a:ext cx="123480" cy="27720"/>
                <a:chOff x="10981080" y="5238000"/>
                <a:chExt cx="123480" cy="27720"/>
              </a:xfrm>
            </p:grpSpPr>
            <p:sp>
              <p:nvSpPr>
                <p:cNvPr id="583" name="AutoShape 29"/>
                <p:cNvSpPr/>
                <p:nvPr/>
              </p:nvSpPr>
              <p:spPr>
                <a:xfrm>
                  <a:off x="10981080" y="5238000"/>
                  <a:ext cx="123480" cy="2772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000" lIns="90000" rIns="90000" tIns="-2700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584" name="AutoShape 30"/>
                <p:cNvSpPr/>
                <p:nvPr/>
              </p:nvSpPr>
              <p:spPr>
                <a:xfrm>
                  <a:off x="10983240" y="5241240"/>
                  <a:ext cx="121320" cy="212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1320" lIns="90000" rIns="90000" tIns="-3132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585" name="Rectangle 53"/>
              <p:cNvSpPr/>
              <p:nvPr/>
            </p:nvSpPr>
            <p:spPr>
              <a:xfrm>
                <a:off x="11088720" y="5057640"/>
                <a:ext cx="14760" cy="45864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86" name="Freeform 212"/>
              <p:cNvSpPr/>
              <p:nvPr/>
            </p:nvSpPr>
            <p:spPr>
              <a:xfrm>
                <a:off x="11102760" y="5173560"/>
                <a:ext cx="50400" cy="42480"/>
              </a:xfrm>
              <a:custGeom>
                <a:avLst/>
                <a:gdLst/>
                <a:ahLst/>
                <a:cxnLst/>
                <a:rect b="b" l="l" r="r" t="t"/>
                <a:pathLst>
                  <a:path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4320" lIns="90000" rIns="90000" tIns="-43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87" name="Freeform 213"/>
              <p:cNvSpPr/>
              <p:nvPr/>
            </p:nvSpPr>
            <p:spPr>
              <a:xfrm>
                <a:off x="11103480" y="5108040"/>
                <a:ext cx="51840" cy="47880"/>
              </a:xfrm>
              <a:custGeom>
                <a:avLst/>
                <a:gdLst/>
                <a:ahLst/>
                <a:cxnLst/>
                <a:rect b="b" l="l" r="r" t="t"/>
                <a:pathLst>
                  <a:path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080" lIns="90000" rIns="90000" tIns="10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88" name="Oval 59"/>
              <p:cNvSpPr/>
              <p:nvPr/>
            </p:nvSpPr>
            <p:spPr>
              <a:xfrm>
                <a:off x="11145960" y="5495760"/>
                <a:ext cx="10440" cy="19080"/>
              </a:xfrm>
              <a:prstGeom prst="ellipse">
                <a:avLst/>
              </a:prstGeom>
              <a:solidFill>
                <a:srgbClr val="3333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89" name="Freeform 214"/>
              <p:cNvSpPr/>
              <p:nvPr/>
            </p:nvSpPr>
            <p:spPr>
              <a:xfrm>
                <a:off x="11100600" y="5496480"/>
                <a:ext cx="51840" cy="39960"/>
              </a:xfrm>
              <a:custGeom>
                <a:avLst/>
                <a:gdLst/>
                <a:ahLst/>
                <a:cxnLst/>
                <a:rect b="b" l="l" r="r" t="t"/>
                <a:pathLst>
                  <a:path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6840" lIns="90000" rIns="90000" tIns="-68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90" name="AutoShape 31"/>
              <p:cNvSpPr/>
              <p:nvPr/>
            </p:nvSpPr>
            <p:spPr>
              <a:xfrm>
                <a:off x="10854000" y="5508720"/>
                <a:ext cx="253800" cy="2988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5560" lIns="90000" rIns="90000" tIns="-255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591" name="AutoShape 32"/>
              <p:cNvSpPr/>
              <p:nvPr/>
            </p:nvSpPr>
            <p:spPr>
              <a:xfrm>
                <a:off x="10868760" y="5516280"/>
                <a:ext cx="226080" cy="15840"/>
              </a:xfrm>
              <a:prstGeom prst="roundRect">
                <a:avLst>
                  <a:gd fmla="val 50000" name="adj"/>
                </a:avLst>
              </a:prstGeom>
              <a:gradFill rotWithShape="0">
                <a:gsLst>
                  <a:gs pos="0">
                    <a:srgbClr val="808080"/>
                  </a:gs>
                  <a:gs pos="100000">
                    <a:srgbClr val="000000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5280" lIns="90000" rIns="90000" tIns="-35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92" name="Oval 60"/>
              <p:cNvSpPr/>
              <p:nvPr/>
            </p:nvSpPr>
            <p:spPr>
              <a:xfrm>
                <a:off x="10889640" y="5449680"/>
                <a:ext cx="33480" cy="28440"/>
              </a:xfrm>
              <a:prstGeom prst="ellipse">
                <a:avLst/>
              </a:prstGeom>
              <a:solidFill>
                <a:srgbClr val="33CC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93" name="Oval 61"/>
              <p:cNvSpPr/>
              <p:nvPr/>
            </p:nvSpPr>
            <p:spPr>
              <a:xfrm>
                <a:off x="10927800" y="5449680"/>
                <a:ext cx="33840" cy="28440"/>
              </a:xfrm>
              <a:prstGeom prst="ellipse">
                <a:avLst/>
              </a:prstGeom>
              <a:solidFill>
                <a:srgbClr val="FF0000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94" name="Oval 62"/>
              <p:cNvSpPr/>
              <p:nvPr/>
            </p:nvSpPr>
            <p:spPr>
              <a:xfrm>
                <a:off x="10963800" y="5449680"/>
                <a:ext cx="33840" cy="28440"/>
              </a:xfrm>
              <a:prstGeom prst="ellipse">
                <a:avLst/>
              </a:prstGeom>
              <a:solidFill>
                <a:srgbClr val="33CC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95" name="Rectangle 54"/>
              <p:cNvSpPr/>
              <p:nvPr/>
            </p:nvSpPr>
            <p:spPr>
              <a:xfrm>
                <a:off x="11050920" y="5340240"/>
                <a:ext cx="16560" cy="152280"/>
              </a:xfrm>
              <a:prstGeom prst="rect">
                <a:avLst/>
              </a:prstGeom>
              <a:solidFill>
                <a:srgbClr val="292929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596" name="Group 104"/>
            <p:cNvGrpSpPr/>
            <p:nvPr/>
          </p:nvGrpSpPr>
          <p:grpSpPr>
            <a:xfrm>
              <a:off x="10432440" y="5359320"/>
              <a:ext cx="303120" cy="480960"/>
              <a:chOff x="10432440" y="5359320"/>
              <a:chExt cx="303120" cy="480960"/>
            </a:xfrm>
          </p:grpSpPr>
          <p:sp>
            <p:nvSpPr>
              <p:cNvPr id="597" name="Freeform 215"/>
              <p:cNvSpPr/>
              <p:nvPr/>
            </p:nvSpPr>
            <p:spPr>
              <a:xfrm>
                <a:off x="10672560" y="5360040"/>
                <a:ext cx="60120" cy="459000"/>
              </a:xfrm>
              <a:custGeom>
                <a:avLst/>
                <a:gdLst/>
                <a:ahLst/>
                <a:cxnLst/>
                <a:rect b="b" l="l" r="r" t="t"/>
                <a:pathLst>
                  <a:path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3333"/>
                  </a:gs>
                  <a:gs pos="100000">
                    <a:srgbClr val="DDDDDD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598" name="Rectangle 55"/>
              <p:cNvSpPr/>
              <p:nvPr/>
            </p:nvSpPr>
            <p:spPr>
              <a:xfrm>
                <a:off x="10447560" y="5359320"/>
                <a:ext cx="222120" cy="458640"/>
              </a:xfrm>
              <a:prstGeom prst="rect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599" name="Freeform 216"/>
              <p:cNvSpPr/>
              <p:nvPr/>
            </p:nvSpPr>
            <p:spPr>
              <a:xfrm>
                <a:off x="10683720" y="5387400"/>
                <a:ext cx="35280" cy="424800"/>
              </a:xfrm>
              <a:custGeom>
                <a:avLst/>
                <a:gdLst/>
                <a:ahLst/>
                <a:cxnLst/>
                <a:rect b="b" l="l" r="r" t="t"/>
                <a:pathLst>
                  <a:path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8F8F8"/>
                  </a:gs>
                  <a:gs pos="100000">
                    <a:srgbClr val="808080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00" name="Freeform 217"/>
              <p:cNvSpPr/>
              <p:nvPr/>
            </p:nvSpPr>
            <p:spPr>
              <a:xfrm>
                <a:off x="10675800" y="5602320"/>
                <a:ext cx="55800" cy="37800"/>
              </a:xfrm>
              <a:custGeom>
                <a:avLst/>
                <a:gdLst/>
                <a:ahLst/>
                <a:cxnLst/>
                <a:rect b="b" l="l" r="r" t="t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9000" lIns="90000" rIns="90000" tIns="-9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01" name="Rectangle 56"/>
              <p:cNvSpPr/>
              <p:nvPr/>
            </p:nvSpPr>
            <p:spPr>
              <a:xfrm>
                <a:off x="10447560" y="5411520"/>
                <a:ext cx="12708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602" name="Group 105"/>
              <p:cNvGrpSpPr/>
              <p:nvPr/>
            </p:nvGrpSpPr>
            <p:grpSpPr>
              <a:xfrm>
                <a:off x="10562040" y="5407200"/>
                <a:ext cx="123480" cy="28800"/>
                <a:chOff x="10562040" y="5407200"/>
                <a:chExt cx="123480" cy="28800"/>
              </a:xfrm>
            </p:grpSpPr>
            <p:sp>
              <p:nvSpPr>
                <p:cNvPr id="603" name="AutoShape 33"/>
                <p:cNvSpPr/>
                <p:nvPr/>
              </p:nvSpPr>
              <p:spPr>
                <a:xfrm>
                  <a:off x="10562040" y="5407200"/>
                  <a:ext cx="123480" cy="28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5920" lIns="90000" rIns="90000" tIns="-2592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04" name="AutoShape 34"/>
                <p:cNvSpPr/>
                <p:nvPr/>
              </p:nvSpPr>
              <p:spPr>
                <a:xfrm>
                  <a:off x="10564200" y="5410080"/>
                  <a:ext cx="118800" cy="230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0240" lIns="90000" rIns="90000" tIns="-3024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605" name="Rectangle 57"/>
              <p:cNvSpPr/>
              <p:nvPr/>
            </p:nvSpPr>
            <p:spPr>
              <a:xfrm>
                <a:off x="10449360" y="5478120"/>
                <a:ext cx="12708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606" name="Group 106"/>
              <p:cNvGrpSpPr/>
              <p:nvPr/>
            </p:nvGrpSpPr>
            <p:grpSpPr>
              <a:xfrm>
                <a:off x="10561680" y="5472720"/>
                <a:ext cx="123480" cy="26640"/>
                <a:chOff x="10561680" y="5472720"/>
                <a:chExt cx="123480" cy="26640"/>
              </a:xfrm>
            </p:grpSpPr>
            <p:sp>
              <p:nvSpPr>
                <p:cNvPr id="607" name="AutoShape 35"/>
                <p:cNvSpPr/>
                <p:nvPr/>
              </p:nvSpPr>
              <p:spPr>
                <a:xfrm>
                  <a:off x="10561680" y="5472720"/>
                  <a:ext cx="123480" cy="266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360" lIns="90000" rIns="90000" tIns="-2736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08" name="AutoShape 36"/>
                <p:cNvSpPr/>
                <p:nvPr/>
              </p:nvSpPr>
              <p:spPr>
                <a:xfrm>
                  <a:off x="10563480" y="5475960"/>
                  <a:ext cx="119160" cy="2052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2040" lIns="90000" rIns="90000" tIns="-3204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609" name="Rectangle 58"/>
              <p:cNvSpPr/>
              <p:nvPr/>
            </p:nvSpPr>
            <p:spPr>
              <a:xfrm>
                <a:off x="10449360" y="5545080"/>
                <a:ext cx="12708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10" name="Rectangle 59"/>
              <p:cNvSpPr/>
              <p:nvPr/>
            </p:nvSpPr>
            <p:spPr>
              <a:xfrm>
                <a:off x="10451160" y="5605560"/>
                <a:ext cx="12744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611" name="Group 107"/>
              <p:cNvGrpSpPr/>
              <p:nvPr/>
            </p:nvGrpSpPr>
            <p:grpSpPr>
              <a:xfrm>
                <a:off x="10558800" y="5599800"/>
                <a:ext cx="123840" cy="30240"/>
                <a:chOff x="10558800" y="5599800"/>
                <a:chExt cx="123840" cy="30240"/>
              </a:xfrm>
            </p:grpSpPr>
            <p:sp>
              <p:nvSpPr>
                <p:cNvPr id="612" name="AutoShape 37"/>
                <p:cNvSpPr/>
                <p:nvPr/>
              </p:nvSpPr>
              <p:spPr>
                <a:xfrm>
                  <a:off x="10558800" y="5599800"/>
                  <a:ext cx="123840" cy="302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5200" lIns="90000" rIns="90000" tIns="-2520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13" name="AutoShape 38"/>
                <p:cNvSpPr/>
                <p:nvPr/>
              </p:nvSpPr>
              <p:spPr>
                <a:xfrm>
                  <a:off x="10560600" y="5599800"/>
                  <a:ext cx="119520" cy="266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360" lIns="90000" rIns="90000" tIns="-2736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614" name="Freeform 218"/>
              <p:cNvSpPr/>
              <p:nvPr/>
            </p:nvSpPr>
            <p:spPr>
              <a:xfrm>
                <a:off x="10676880" y="5545080"/>
                <a:ext cx="55800" cy="37440"/>
              </a:xfrm>
              <a:custGeom>
                <a:avLst/>
                <a:gdLst/>
                <a:ahLst/>
                <a:cxnLst/>
                <a:rect b="b" l="l" r="r" t="t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9360" lIns="90000" rIns="90000" tIns="-93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615" name="Group 108"/>
              <p:cNvGrpSpPr/>
              <p:nvPr/>
            </p:nvGrpSpPr>
            <p:grpSpPr>
              <a:xfrm>
                <a:off x="10559880" y="5539680"/>
                <a:ext cx="123840" cy="27720"/>
                <a:chOff x="10559880" y="5539680"/>
                <a:chExt cx="123840" cy="27720"/>
              </a:xfrm>
            </p:grpSpPr>
            <p:sp>
              <p:nvSpPr>
                <p:cNvPr id="616" name="AutoShape 39"/>
                <p:cNvSpPr/>
                <p:nvPr/>
              </p:nvSpPr>
              <p:spPr>
                <a:xfrm>
                  <a:off x="10559880" y="5539680"/>
                  <a:ext cx="123840" cy="2772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000" lIns="90000" rIns="90000" tIns="-2700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17" name="AutoShape 40"/>
                <p:cNvSpPr/>
                <p:nvPr/>
              </p:nvSpPr>
              <p:spPr>
                <a:xfrm>
                  <a:off x="10561680" y="5542920"/>
                  <a:ext cx="122040" cy="212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1320" lIns="90000" rIns="90000" tIns="-3132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618" name="Rectangle 60"/>
              <p:cNvSpPr/>
              <p:nvPr/>
            </p:nvSpPr>
            <p:spPr>
              <a:xfrm>
                <a:off x="10667880" y="5359320"/>
                <a:ext cx="14760" cy="45864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19" name="Freeform 219"/>
              <p:cNvSpPr/>
              <p:nvPr/>
            </p:nvSpPr>
            <p:spPr>
              <a:xfrm>
                <a:off x="10681560" y="5475240"/>
                <a:ext cx="50400" cy="42480"/>
              </a:xfrm>
              <a:custGeom>
                <a:avLst/>
                <a:gdLst/>
                <a:ahLst/>
                <a:cxnLst/>
                <a:rect b="b" l="l" r="r" t="t"/>
                <a:pathLst>
                  <a:path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4320" lIns="90000" rIns="90000" tIns="-43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20" name="Freeform 220"/>
              <p:cNvSpPr/>
              <p:nvPr/>
            </p:nvSpPr>
            <p:spPr>
              <a:xfrm>
                <a:off x="10682640" y="5409720"/>
                <a:ext cx="51840" cy="47880"/>
              </a:xfrm>
              <a:custGeom>
                <a:avLst/>
                <a:gdLst/>
                <a:ahLst/>
                <a:cxnLst/>
                <a:rect b="b" l="l" r="r" t="t"/>
                <a:pathLst>
                  <a:path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080" lIns="90000" rIns="90000" tIns="10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21" name="Oval 63"/>
              <p:cNvSpPr/>
              <p:nvPr/>
            </p:nvSpPr>
            <p:spPr>
              <a:xfrm>
                <a:off x="10724760" y="5797440"/>
                <a:ext cx="10800" cy="19080"/>
              </a:xfrm>
              <a:prstGeom prst="ellipse">
                <a:avLst/>
              </a:prstGeom>
              <a:solidFill>
                <a:srgbClr val="3333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22" name="Freeform 221"/>
              <p:cNvSpPr/>
              <p:nvPr/>
            </p:nvSpPr>
            <p:spPr>
              <a:xfrm>
                <a:off x="10679760" y="5798160"/>
                <a:ext cx="51840" cy="39960"/>
              </a:xfrm>
              <a:custGeom>
                <a:avLst/>
                <a:gdLst/>
                <a:ahLst/>
                <a:cxnLst/>
                <a:rect b="b" l="l" r="r" t="t"/>
                <a:pathLst>
                  <a:path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6840" lIns="90000" rIns="90000" tIns="-68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23" name="AutoShape 41"/>
              <p:cNvSpPr/>
              <p:nvPr/>
            </p:nvSpPr>
            <p:spPr>
              <a:xfrm>
                <a:off x="10432440" y="5810400"/>
                <a:ext cx="254520" cy="2988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5560" lIns="90000" rIns="90000" tIns="-255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624" name="AutoShape 42"/>
              <p:cNvSpPr/>
              <p:nvPr/>
            </p:nvSpPr>
            <p:spPr>
              <a:xfrm>
                <a:off x="10447560" y="5817960"/>
                <a:ext cx="226440" cy="15840"/>
              </a:xfrm>
              <a:prstGeom prst="roundRect">
                <a:avLst>
                  <a:gd fmla="val 50000" name="adj"/>
                </a:avLst>
              </a:prstGeom>
              <a:gradFill rotWithShape="0">
                <a:gsLst>
                  <a:gs pos="0">
                    <a:srgbClr val="808080"/>
                  </a:gs>
                  <a:gs pos="100000">
                    <a:srgbClr val="000000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5280" lIns="90000" rIns="90000" tIns="-35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25" name="Oval 64"/>
              <p:cNvSpPr/>
              <p:nvPr/>
            </p:nvSpPr>
            <p:spPr>
              <a:xfrm>
                <a:off x="10468080" y="5751360"/>
                <a:ext cx="33480" cy="28440"/>
              </a:xfrm>
              <a:prstGeom prst="ellipse">
                <a:avLst/>
              </a:prstGeom>
              <a:solidFill>
                <a:srgbClr val="33CC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26" name="Oval 65"/>
              <p:cNvSpPr/>
              <p:nvPr/>
            </p:nvSpPr>
            <p:spPr>
              <a:xfrm>
                <a:off x="10506600" y="5751360"/>
                <a:ext cx="33480" cy="28440"/>
              </a:xfrm>
              <a:prstGeom prst="ellipse">
                <a:avLst/>
              </a:prstGeom>
              <a:solidFill>
                <a:srgbClr val="FF0000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27" name="Oval 66"/>
              <p:cNvSpPr/>
              <p:nvPr/>
            </p:nvSpPr>
            <p:spPr>
              <a:xfrm>
                <a:off x="10542600" y="5751360"/>
                <a:ext cx="33480" cy="28440"/>
              </a:xfrm>
              <a:prstGeom prst="ellipse">
                <a:avLst/>
              </a:prstGeom>
              <a:solidFill>
                <a:srgbClr val="33CC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28" name="Rectangle 61"/>
              <p:cNvSpPr/>
              <p:nvPr/>
            </p:nvSpPr>
            <p:spPr>
              <a:xfrm>
                <a:off x="10629720" y="5641920"/>
                <a:ext cx="16920" cy="152280"/>
              </a:xfrm>
              <a:prstGeom prst="rect">
                <a:avLst/>
              </a:prstGeom>
              <a:solidFill>
                <a:srgbClr val="292929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629" name="Group 109"/>
            <p:cNvGrpSpPr/>
            <p:nvPr/>
          </p:nvGrpSpPr>
          <p:grpSpPr>
            <a:xfrm>
              <a:off x="6935760" y="2098440"/>
              <a:ext cx="713880" cy="415080"/>
              <a:chOff x="6935760" y="2098440"/>
              <a:chExt cx="713880" cy="415080"/>
            </a:xfrm>
          </p:grpSpPr>
          <p:pic>
            <p:nvPicPr>
              <p:cNvPr descr="antenna_stylized" id="630" name="Picture 38"/>
              <p:cNvPicPr/>
              <p:nvPr/>
            </p:nvPicPr>
            <p:blipFill>
              <a:blip r:embed="rId12"/>
              <a:stretch/>
            </p:blipFill>
            <p:spPr>
              <a:xfrm>
                <a:off x="6935760" y="2098440"/>
                <a:ext cx="708120" cy="22392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laptop_keyboard" id="631" name="Picture 39"/>
              <p:cNvPicPr/>
              <p:nvPr/>
            </p:nvPicPr>
            <p:blipFill>
              <a:blip r:embed="rId13"/>
              <a:stretch/>
            </p:blipFill>
            <p:spPr>
              <a:xfrm flipH="1" rot="82800">
                <a:off x="6971040" y="2346840"/>
                <a:ext cx="582840" cy="15948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632" name="Freeform 222"/>
              <p:cNvSpPr/>
              <p:nvPr/>
            </p:nvSpPr>
            <p:spPr>
              <a:xfrm>
                <a:off x="7163280" y="2192040"/>
                <a:ext cx="469440" cy="208080"/>
              </a:xfrm>
              <a:custGeom>
                <a:avLst/>
                <a:gdLst/>
                <a:ahLst/>
                <a:cxnLst/>
                <a:rect b="b" l="l" r="r" t="t"/>
                <a:pathLst>
                  <a:path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sq" w="9360">
                <a:solidFill>
                  <a:srgbClr val="000000"/>
                </a:solidFill>
                <a:round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pic>
            <p:nvPicPr>
              <p:cNvPr descr="screen" id="633" name="Picture 40"/>
              <p:cNvPicPr/>
              <p:nvPr/>
            </p:nvPicPr>
            <p:blipFill>
              <a:blip r:embed="rId14"/>
              <a:stretch/>
            </p:blipFill>
            <p:spPr>
              <a:xfrm>
                <a:off x="7186320" y="2197440"/>
                <a:ext cx="426600" cy="1893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634" name="Freeform 223"/>
              <p:cNvSpPr/>
              <p:nvPr/>
            </p:nvSpPr>
            <p:spPr>
              <a:xfrm>
                <a:off x="7248600" y="2185920"/>
                <a:ext cx="398160" cy="38520"/>
              </a:xfrm>
              <a:custGeom>
                <a:avLst/>
                <a:gdLst/>
                <a:ahLst/>
                <a:cxnLst/>
                <a:rect b="b" l="l" r="r" t="t"/>
                <a:pathLst>
                  <a:path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AEAEA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8280" lIns="90000" rIns="90000" tIns="-82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35" name="Freeform 224"/>
              <p:cNvSpPr/>
              <p:nvPr/>
            </p:nvSpPr>
            <p:spPr>
              <a:xfrm>
                <a:off x="7158960" y="2185560"/>
                <a:ext cx="110520" cy="161280"/>
              </a:xfrm>
              <a:custGeom>
                <a:avLst/>
                <a:gdLst/>
                <a:ahLst/>
                <a:cxnLst/>
                <a:rect b="b" l="l" r="r" t="t"/>
                <a:pathLst>
                  <a:path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36" name="Freeform 225"/>
              <p:cNvSpPr/>
              <p:nvPr/>
            </p:nvSpPr>
            <p:spPr>
              <a:xfrm>
                <a:off x="7524720" y="2214360"/>
                <a:ext cx="119160" cy="186120"/>
              </a:xfrm>
              <a:custGeom>
                <a:avLst/>
                <a:gdLst/>
                <a:ahLst/>
                <a:cxnLst/>
                <a:rect b="b" l="l" r="r" t="t"/>
                <a:pathLst>
                  <a:path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637" name="Freeform 226"/>
              <p:cNvSpPr/>
              <p:nvPr/>
            </p:nvSpPr>
            <p:spPr>
              <a:xfrm>
                <a:off x="7157880" y="2338920"/>
                <a:ext cx="436320" cy="62640"/>
              </a:xfrm>
              <a:custGeom>
                <a:avLst/>
                <a:gdLst/>
                <a:ahLst/>
                <a:cxnLst/>
                <a:rect b="b" l="l" r="r" t="t"/>
                <a:pathLst>
                  <a:path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840" lIns="90000" rIns="90000" tIns="158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38" name="Freeform 227"/>
              <p:cNvSpPr/>
              <p:nvPr/>
            </p:nvSpPr>
            <p:spPr>
              <a:xfrm>
                <a:off x="7538040" y="2216160"/>
                <a:ext cx="111600" cy="186840"/>
              </a:xfrm>
              <a:custGeom>
                <a:avLst/>
                <a:gdLst/>
                <a:ahLst/>
                <a:cxnLst/>
                <a:rect b="b" l="l" r="r" t="t"/>
                <a:pathLst>
                  <a:path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39" name="Freeform 228"/>
              <p:cNvSpPr/>
              <p:nvPr/>
            </p:nvSpPr>
            <p:spPr>
              <a:xfrm>
                <a:off x="7158600" y="2347200"/>
                <a:ext cx="388080" cy="61920"/>
              </a:xfrm>
              <a:custGeom>
                <a:avLst/>
                <a:gdLst/>
                <a:ahLst/>
                <a:cxnLst/>
                <a:rect b="b" l="l" r="r" t="t"/>
                <a:pathLst>
                  <a:path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120" lIns="90000" rIns="90000" tIns="15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640" name="Group 110"/>
              <p:cNvGrpSpPr/>
              <p:nvPr/>
            </p:nvGrpSpPr>
            <p:grpSpPr>
              <a:xfrm>
                <a:off x="7151760" y="2413440"/>
                <a:ext cx="131400" cy="36720"/>
                <a:chOff x="7151760" y="2413440"/>
                <a:chExt cx="131400" cy="36720"/>
              </a:xfrm>
            </p:grpSpPr>
            <p:sp>
              <p:nvSpPr>
                <p:cNvPr id="641" name="Freeform 229"/>
                <p:cNvSpPr/>
                <p:nvPr/>
              </p:nvSpPr>
              <p:spPr>
                <a:xfrm>
                  <a:off x="7151760" y="2413440"/>
                  <a:ext cx="131400" cy="367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0080" lIns="90000" rIns="90000" tIns="-100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42" name="Freeform 230"/>
                <p:cNvSpPr/>
                <p:nvPr/>
              </p:nvSpPr>
              <p:spPr>
                <a:xfrm>
                  <a:off x="7154280" y="2414160"/>
                  <a:ext cx="127080" cy="349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4D4D4D"/>
                    </a:gs>
                  </a:gsLst>
                  <a:lin ang="81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1880" lIns="90000" rIns="90000" tIns="-118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43" name="Freeform 231"/>
                <p:cNvSpPr/>
                <p:nvPr/>
              </p:nvSpPr>
              <p:spPr>
                <a:xfrm>
                  <a:off x="7163280" y="2427840"/>
                  <a:ext cx="45000" cy="111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640" lIns="90000" rIns="90000" tIns="-3564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44" name="Freeform 232"/>
                <p:cNvSpPr/>
                <p:nvPr/>
              </p:nvSpPr>
              <p:spPr>
                <a:xfrm>
                  <a:off x="7161840" y="2432880"/>
                  <a:ext cx="33480" cy="6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960" lIns="90000" rIns="90000" tIns="-39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45" name="Freeform 233"/>
                <p:cNvSpPr/>
                <p:nvPr/>
              </p:nvSpPr>
              <p:spPr>
                <a:xfrm>
                  <a:off x="7200720" y="2435040"/>
                  <a:ext cx="45000" cy="115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280" lIns="90000" rIns="90000" tIns="-352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46" name="Freeform 234"/>
                <p:cNvSpPr/>
                <p:nvPr/>
              </p:nvSpPr>
              <p:spPr>
                <a:xfrm>
                  <a:off x="7199280" y="2440440"/>
                  <a:ext cx="33480" cy="6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960" lIns="90000" rIns="90000" tIns="-39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647" name="Freeform 235"/>
              <p:cNvSpPr/>
              <p:nvPr/>
            </p:nvSpPr>
            <p:spPr>
              <a:xfrm>
                <a:off x="7377480" y="2419200"/>
                <a:ext cx="159120" cy="81000"/>
              </a:xfrm>
              <a:custGeom>
                <a:avLst/>
                <a:gdLst/>
                <a:ahLst/>
                <a:cxnLst/>
                <a:rect b="b" l="l" r="r" t="t"/>
                <a:pathLst>
                  <a:path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4200" lIns="90000" rIns="90000" tIns="342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48" name="Freeform 236"/>
              <p:cNvSpPr/>
              <p:nvPr/>
            </p:nvSpPr>
            <p:spPr>
              <a:xfrm>
                <a:off x="6970320" y="2425680"/>
                <a:ext cx="407880" cy="7380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000" lIns="90000" rIns="90000" tIns="27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49" name="Freeform 237"/>
              <p:cNvSpPr/>
              <p:nvPr/>
            </p:nvSpPr>
            <p:spPr>
              <a:xfrm>
                <a:off x="6970320" y="2412000"/>
                <a:ext cx="4320" cy="14760"/>
              </a:xfrm>
              <a:custGeom>
                <a:avLst/>
                <a:gdLst/>
                <a:ahLst/>
                <a:cxnLst/>
                <a:rect b="b" l="l" r="r" t="t"/>
                <a:pathLst>
                  <a:path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2040" lIns="90000" rIns="90000" tIns="-320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50" name="Freeform 238"/>
              <p:cNvSpPr/>
              <p:nvPr/>
            </p:nvSpPr>
            <p:spPr>
              <a:xfrm>
                <a:off x="6970680" y="2351160"/>
                <a:ext cx="189720" cy="61920"/>
              </a:xfrm>
              <a:custGeom>
                <a:avLst/>
                <a:gdLst/>
                <a:ahLst/>
                <a:cxnLst/>
                <a:rect b="b" l="l" r="r" t="t"/>
                <a:pathLst>
                  <a:path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120" lIns="90000" rIns="90000" tIns="15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51" name="Freeform 239"/>
              <p:cNvSpPr/>
              <p:nvPr/>
            </p:nvSpPr>
            <p:spPr>
              <a:xfrm>
                <a:off x="6983280" y="2415240"/>
                <a:ext cx="387000" cy="7092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4120" lIns="90000" rIns="90000" tIns="24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52" name="Freeform 240"/>
              <p:cNvSpPr/>
              <p:nvPr/>
            </p:nvSpPr>
            <p:spPr>
              <a:xfrm flipV="1">
                <a:off x="7370280" y="2410200"/>
                <a:ext cx="157680" cy="7344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6640" lIns="90000" rIns="90000" tIns="266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653" name="Group 111"/>
            <p:cNvGrpSpPr/>
            <p:nvPr/>
          </p:nvGrpSpPr>
          <p:grpSpPr>
            <a:xfrm>
              <a:off x="9029520" y="5541840"/>
              <a:ext cx="632160" cy="414000"/>
              <a:chOff x="9029520" y="5541840"/>
              <a:chExt cx="632160" cy="414000"/>
            </a:xfrm>
          </p:grpSpPr>
          <p:pic>
            <p:nvPicPr>
              <p:cNvPr descr="antenna_stylized" id="654" name="Picture 41"/>
              <p:cNvPicPr/>
              <p:nvPr/>
            </p:nvPicPr>
            <p:blipFill>
              <a:blip r:embed="rId15"/>
              <a:stretch/>
            </p:blipFill>
            <p:spPr>
              <a:xfrm>
                <a:off x="9029520" y="5541840"/>
                <a:ext cx="627840" cy="22356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laptop_keyboard" id="655" name="Picture 42"/>
              <p:cNvPicPr/>
              <p:nvPr/>
            </p:nvPicPr>
            <p:blipFill>
              <a:blip r:embed="rId16"/>
              <a:stretch/>
            </p:blipFill>
            <p:spPr>
              <a:xfrm flipH="1" rot="81600">
                <a:off x="9060840" y="5789880"/>
                <a:ext cx="516600" cy="15948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656" name="Freeform 241"/>
              <p:cNvSpPr/>
              <p:nvPr/>
            </p:nvSpPr>
            <p:spPr>
              <a:xfrm>
                <a:off x="9231120" y="5635440"/>
                <a:ext cx="416160" cy="208080"/>
              </a:xfrm>
              <a:custGeom>
                <a:avLst/>
                <a:gdLst/>
                <a:ahLst/>
                <a:cxnLst/>
                <a:rect b="b" l="l" r="r" t="t"/>
                <a:pathLst>
                  <a:path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sq" w="9360">
                <a:solidFill>
                  <a:srgbClr val="000000"/>
                </a:solidFill>
                <a:round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pic>
            <p:nvPicPr>
              <p:cNvPr descr="screen" id="657" name="Picture 43"/>
              <p:cNvPicPr/>
              <p:nvPr/>
            </p:nvPicPr>
            <p:blipFill>
              <a:blip r:embed="rId17"/>
              <a:stretch/>
            </p:blipFill>
            <p:spPr>
              <a:xfrm>
                <a:off x="9251640" y="5640840"/>
                <a:ext cx="378360" cy="1893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658" name="Freeform 242"/>
              <p:cNvSpPr/>
              <p:nvPr/>
            </p:nvSpPr>
            <p:spPr>
              <a:xfrm>
                <a:off x="9307080" y="5629320"/>
                <a:ext cx="352800" cy="38520"/>
              </a:xfrm>
              <a:custGeom>
                <a:avLst/>
                <a:gdLst/>
                <a:ahLst/>
                <a:cxnLst/>
                <a:rect b="b" l="l" r="r" t="t"/>
                <a:pathLst>
                  <a:path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AEAEA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8280" lIns="90000" rIns="90000" tIns="-82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59" name="Freeform 243"/>
              <p:cNvSpPr/>
              <p:nvPr/>
            </p:nvSpPr>
            <p:spPr>
              <a:xfrm>
                <a:off x="9227160" y="5628960"/>
                <a:ext cx="97920" cy="161280"/>
              </a:xfrm>
              <a:custGeom>
                <a:avLst/>
                <a:gdLst/>
                <a:ahLst/>
                <a:cxnLst/>
                <a:rect b="b" l="l" r="r" t="t"/>
                <a:pathLst>
                  <a:path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60" name="Freeform 244"/>
              <p:cNvSpPr/>
              <p:nvPr/>
            </p:nvSpPr>
            <p:spPr>
              <a:xfrm>
                <a:off x="9551880" y="5657760"/>
                <a:ext cx="105120" cy="186120"/>
              </a:xfrm>
              <a:custGeom>
                <a:avLst/>
                <a:gdLst/>
                <a:ahLst/>
                <a:cxnLst/>
                <a:rect b="b" l="l" r="r" t="t"/>
                <a:pathLst>
                  <a:path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661" name="Freeform 245"/>
              <p:cNvSpPr/>
              <p:nvPr/>
            </p:nvSpPr>
            <p:spPr>
              <a:xfrm>
                <a:off x="9226440" y="5781960"/>
                <a:ext cx="386640" cy="62640"/>
              </a:xfrm>
              <a:custGeom>
                <a:avLst/>
                <a:gdLst/>
                <a:ahLst/>
                <a:cxnLst/>
                <a:rect b="b" l="l" r="r" t="t"/>
                <a:pathLst>
                  <a:path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840" lIns="90000" rIns="90000" tIns="158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62" name="Freeform 246"/>
              <p:cNvSpPr/>
              <p:nvPr/>
            </p:nvSpPr>
            <p:spPr>
              <a:xfrm>
                <a:off x="9563400" y="5659200"/>
                <a:ext cx="98280" cy="186840"/>
              </a:xfrm>
              <a:custGeom>
                <a:avLst/>
                <a:gdLst/>
                <a:ahLst/>
                <a:cxnLst/>
                <a:rect b="b" l="l" r="r" t="t"/>
                <a:pathLst>
                  <a:path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63" name="Freeform 247"/>
              <p:cNvSpPr/>
              <p:nvPr/>
            </p:nvSpPr>
            <p:spPr>
              <a:xfrm>
                <a:off x="9226800" y="5790240"/>
                <a:ext cx="344160" cy="61920"/>
              </a:xfrm>
              <a:custGeom>
                <a:avLst/>
                <a:gdLst/>
                <a:ahLst/>
                <a:cxnLst/>
                <a:rect b="b" l="l" r="r" t="t"/>
                <a:pathLst>
                  <a:path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120" lIns="90000" rIns="90000" tIns="15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664" name="Group 112"/>
              <p:cNvGrpSpPr/>
              <p:nvPr/>
            </p:nvGrpSpPr>
            <p:grpSpPr>
              <a:xfrm>
                <a:off x="9221040" y="5856840"/>
                <a:ext cx="116640" cy="36720"/>
                <a:chOff x="9221040" y="5856840"/>
                <a:chExt cx="116640" cy="36720"/>
              </a:xfrm>
            </p:grpSpPr>
            <p:sp>
              <p:nvSpPr>
                <p:cNvPr id="665" name="Freeform 248"/>
                <p:cNvSpPr/>
                <p:nvPr/>
              </p:nvSpPr>
              <p:spPr>
                <a:xfrm>
                  <a:off x="9221040" y="5856840"/>
                  <a:ext cx="116640" cy="367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0080" lIns="90000" rIns="90000" tIns="-100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66" name="Freeform 249"/>
                <p:cNvSpPr/>
                <p:nvPr/>
              </p:nvSpPr>
              <p:spPr>
                <a:xfrm>
                  <a:off x="9222840" y="5857560"/>
                  <a:ext cx="113040" cy="349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4D4D4D"/>
                    </a:gs>
                  </a:gsLst>
                  <a:lin ang="81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1880" lIns="90000" rIns="90000" tIns="-118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67" name="Freeform 250"/>
                <p:cNvSpPr/>
                <p:nvPr/>
              </p:nvSpPr>
              <p:spPr>
                <a:xfrm>
                  <a:off x="9231480" y="5871240"/>
                  <a:ext cx="39960" cy="111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640" lIns="90000" rIns="90000" tIns="-3564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68" name="Freeform 251"/>
                <p:cNvSpPr/>
                <p:nvPr/>
              </p:nvSpPr>
              <p:spPr>
                <a:xfrm>
                  <a:off x="9230040" y="5876280"/>
                  <a:ext cx="29880" cy="6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960" lIns="90000" rIns="90000" tIns="-39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69" name="Freeform 252"/>
                <p:cNvSpPr/>
                <p:nvPr/>
              </p:nvSpPr>
              <p:spPr>
                <a:xfrm>
                  <a:off x="9264240" y="5878440"/>
                  <a:ext cx="39960" cy="115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280" lIns="90000" rIns="90000" tIns="-352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70" name="Freeform 253"/>
                <p:cNvSpPr/>
                <p:nvPr/>
              </p:nvSpPr>
              <p:spPr>
                <a:xfrm>
                  <a:off x="9262800" y="5883840"/>
                  <a:ext cx="29880" cy="6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960" lIns="90000" rIns="90000" tIns="-39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671" name="Freeform 254"/>
              <p:cNvSpPr/>
              <p:nvPr/>
            </p:nvSpPr>
            <p:spPr>
              <a:xfrm>
                <a:off x="9421200" y="5862240"/>
                <a:ext cx="141120" cy="80640"/>
              </a:xfrm>
              <a:custGeom>
                <a:avLst/>
                <a:gdLst/>
                <a:ahLst/>
                <a:cxnLst/>
                <a:rect b="b" l="l" r="r" t="t"/>
                <a:pathLst>
                  <a:path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3840" lIns="90000" rIns="90000" tIns="338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72" name="Freeform 255"/>
              <p:cNvSpPr/>
              <p:nvPr/>
            </p:nvSpPr>
            <p:spPr>
              <a:xfrm>
                <a:off x="9059760" y="5868720"/>
                <a:ext cx="361800" cy="7380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000" lIns="90000" rIns="90000" tIns="27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73" name="Freeform 256"/>
              <p:cNvSpPr/>
              <p:nvPr/>
            </p:nvSpPr>
            <p:spPr>
              <a:xfrm>
                <a:off x="9060120" y="5855040"/>
                <a:ext cx="3960" cy="14760"/>
              </a:xfrm>
              <a:custGeom>
                <a:avLst/>
                <a:gdLst/>
                <a:ahLst/>
                <a:cxnLst/>
                <a:rect b="b" l="l" r="r" t="t"/>
                <a:pathLst>
                  <a:path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2040" lIns="90000" rIns="90000" tIns="-320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74" name="Freeform 257"/>
              <p:cNvSpPr/>
              <p:nvPr/>
            </p:nvSpPr>
            <p:spPr>
              <a:xfrm>
                <a:off x="9060120" y="5794200"/>
                <a:ext cx="168120" cy="61560"/>
              </a:xfrm>
              <a:custGeom>
                <a:avLst/>
                <a:gdLst/>
                <a:ahLst/>
                <a:cxnLst/>
                <a:rect b="b" l="l" r="r" t="t"/>
                <a:pathLst>
                  <a:path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4760" lIns="90000" rIns="90000" tIns="147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75" name="Freeform 258"/>
              <p:cNvSpPr/>
              <p:nvPr/>
            </p:nvSpPr>
            <p:spPr>
              <a:xfrm>
                <a:off x="9071640" y="5858280"/>
                <a:ext cx="343440" cy="7092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4120" lIns="90000" rIns="90000" tIns="24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76" name="Freeform 259"/>
              <p:cNvSpPr/>
              <p:nvPr/>
            </p:nvSpPr>
            <p:spPr>
              <a:xfrm flipV="1">
                <a:off x="9414360" y="5853240"/>
                <a:ext cx="139680" cy="7344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6640" lIns="90000" rIns="90000" tIns="266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677" name="Group 113"/>
            <p:cNvGrpSpPr/>
            <p:nvPr/>
          </p:nvGrpSpPr>
          <p:grpSpPr>
            <a:xfrm>
              <a:off x="7281000" y="3097080"/>
              <a:ext cx="592560" cy="413640"/>
              <a:chOff x="7281000" y="3097080"/>
              <a:chExt cx="592560" cy="413640"/>
            </a:xfrm>
          </p:grpSpPr>
          <p:pic>
            <p:nvPicPr>
              <p:cNvPr descr="antenna_stylized" id="678" name="Picture 44"/>
              <p:cNvPicPr/>
              <p:nvPr/>
            </p:nvPicPr>
            <p:blipFill>
              <a:blip r:embed="rId18"/>
              <a:stretch/>
            </p:blipFill>
            <p:spPr>
              <a:xfrm>
                <a:off x="7281000" y="3097080"/>
                <a:ext cx="588240" cy="22356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laptop_keyboard" id="679" name="Picture 45"/>
              <p:cNvPicPr/>
              <p:nvPr/>
            </p:nvPicPr>
            <p:blipFill>
              <a:blip r:embed="rId19"/>
              <a:stretch/>
            </p:blipFill>
            <p:spPr>
              <a:xfrm flipH="1" rot="81600">
                <a:off x="7310880" y="3345120"/>
                <a:ext cx="484200" cy="15948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680" name="Freeform 260"/>
              <p:cNvSpPr/>
              <p:nvPr/>
            </p:nvSpPr>
            <p:spPr>
              <a:xfrm>
                <a:off x="7470000" y="3190680"/>
                <a:ext cx="390240" cy="208080"/>
              </a:xfrm>
              <a:custGeom>
                <a:avLst/>
                <a:gdLst/>
                <a:ahLst/>
                <a:cxnLst/>
                <a:rect b="b" l="l" r="r" t="t"/>
                <a:pathLst>
                  <a:path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sq" w="9360">
                <a:solidFill>
                  <a:srgbClr val="000000"/>
                </a:solidFill>
                <a:round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pic>
            <p:nvPicPr>
              <p:cNvPr descr="screen" id="681" name="Picture 46"/>
              <p:cNvPicPr/>
              <p:nvPr/>
            </p:nvPicPr>
            <p:blipFill>
              <a:blip r:embed="rId20"/>
              <a:stretch/>
            </p:blipFill>
            <p:spPr>
              <a:xfrm>
                <a:off x="7489080" y="3196080"/>
                <a:ext cx="354240" cy="1893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682" name="Freeform 261"/>
              <p:cNvSpPr/>
              <p:nvPr/>
            </p:nvSpPr>
            <p:spPr>
              <a:xfrm>
                <a:off x="7540920" y="3184560"/>
                <a:ext cx="330480" cy="38520"/>
              </a:xfrm>
              <a:custGeom>
                <a:avLst/>
                <a:gdLst/>
                <a:ahLst/>
                <a:cxnLst/>
                <a:rect b="b" l="l" r="r" t="t"/>
                <a:pathLst>
                  <a:path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AEAEA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8280" lIns="90000" rIns="90000" tIns="-82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83" name="Freeform 262"/>
              <p:cNvSpPr/>
              <p:nvPr/>
            </p:nvSpPr>
            <p:spPr>
              <a:xfrm>
                <a:off x="7466040" y="3184200"/>
                <a:ext cx="91800" cy="161280"/>
              </a:xfrm>
              <a:custGeom>
                <a:avLst/>
                <a:gdLst/>
                <a:ahLst/>
                <a:cxnLst/>
                <a:rect b="b" l="l" r="r" t="t"/>
                <a:pathLst>
                  <a:path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84" name="Freeform 263"/>
              <p:cNvSpPr/>
              <p:nvPr/>
            </p:nvSpPr>
            <p:spPr>
              <a:xfrm>
                <a:off x="7769880" y="3213000"/>
                <a:ext cx="99000" cy="186120"/>
              </a:xfrm>
              <a:custGeom>
                <a:avLst/>
                <a:gdLst/>
                <a:ahLst/>
                <a:cxnLst/>
                <a:rect b="b" l="l" r="r" t="t"/>
                <a:pathLst>
                  <a:path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685" name="Freeform 264"/>
              <p:cNvSpPr/>
              <p:nvPr/>
            </p:nvSpPr>
            <p:spPr>
              <a:xfrm>
                <a:off x="7465320" y="3337200"/>
                <a:ext cx="362160" cy="62640"/>
              </a:xfrm>
              <a:custGeom>
                <a:avLst/>
                <a:gdLst/>
                <a:ahLst/>
                <a:cxnLst/>
                <a:rect b="b" l="l" r="r" t="t"/>
                <a:pathLst>
                  <a:path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840" lIns="90000" rIns="90000" tIns="158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86" name="Freeform 265"/>
              <p:cNvSpPr/>
              <p:nvPr/>
            </p:nvSpPr>
            <p:spPr>
              <a:xfrm>
                <a:off x="7781040" y="3214440"/>
                <a:ext cx="92520" cy="186840"/>
              </a:xfrm>
              <a:custGeom>
                <a:avLst/>
                <a:gdLst/>
                <a:ahLst/>
                <a:cxnLst/>
                <a:rect b="b" l="l" r="r" t="t"/>
                <a:pathLst>
                  <a:path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87" name="Freeform 266"/>
              <p:cNvSpPr/>
              <p:nvPr/>
            </p:nvSpPr>
            <p:spPr>
              <a:xfrm>
                <a:off x="7465680" y="3345480"/>
                <a:ext cx="322560" cy="61920"/>
              </a:xfrm>
              <a:custGeom>
                <a:avLst/>
                <a:gdLst/>
                <a:ahLst/>
                <a:cxnLst/>
                <a:rect b="b" l="l" r="r" t="t"/>
                <a:pathLst>
                  <a:path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120" lIns="90000" rIns="90000" tIns="15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688" name="Group 114"/>
              <p:cNvGrpSpPr/>
              <p:nvPr/>
            </p:nvGrpSpPr>
            <p:grpSpPr>
              <a:xfrm>
                <a:off x="7460280" y="3412080"/>
                <a:ext cx="109440" cy="36720"/>
                <a:chOff x="7460280" y="3412080"/>
                <a:chExt cx="109440" cy="36720"/>
              </a:xfrm>
            </p:grpSpPr>
            <p:sp>
              <p:nvSpPr>
                <p:cNvPr id="689" name="Freeform 267"/>
                <p:cNvSpPr/>
                <p:nvPr/>
              </p:nvSpPr>
              <p:spPr>
                <a:xfrm>
                  <a:off x="7460280" y="3412080"/>
                  <a:ext cx="109440" cy="367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0080" lIns="90000" rIns="90000" tIns="-100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90" name="Freeform 268"/>
                <p:cNvSpPr/>
                <p:nvPr/>
              </p:nvSpPr>
              <p:spPr>
                <a:xfrm>
                  <a:off x="7462440" y="3412800"/>
                  <a:ext cx="105480" cy="349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4D4D4D"/>
                    </a:gs>
                  </a:gsLst>
                  <a:lin ang="81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1880" lIns="90000" rIns="90000" tIns="-118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91" name="Freeform 269"/>
                <p:cNvSpPr/>
                <p:nvPr/>
              </p:nvSpPr>
              <p:spPr>
                <a:xfrm>
                  <a:off x="7470000" y="3426480"/>
                  <a:ext cx="37440" cy="111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640" lIns="90000" rIns="90000" tIns="-3564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92" name="Freeform 270"/>
                <p:cNvSpPr/>
                <p:nvPr/>
              </p:nvSpPr>
              <p:spPr>
                <a:xfrm>
                  <a:off x="7468560" y="3431520"/>
                  <a:ext cx="28440" cy="6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960" lIns="90000" rIns="90000" tIns="-39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93" name="Freeform 271"/>
                <p:cNvSpPr/>
                <p:nvPr/>
              </p:nvSpPr>
              <p:spPr>
                <a:xfrm>
                  <a:off x="7501320" y="3433680"/>
                  <a:ext cx="37440" cy="115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280" lIns="90000" rIns="90000" tIns="-352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694" name="Freeform 272"/>
                <p:cNvSpPr/>
                <p:nvPr/>
              </p:nvSpPr>
              <p:spPr>
                <a:xfrm>
                  <a:off x="7499880" y="3439080"/>
                  <a:ext cx="28080" cy="6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960" lIns="90000" rIns="90000" tIns="-39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695" name="Freeform 273"/>
              <p:cNvSpPr/>
              <p:nvPr/>
            </p:nvSpPr>
            <p:spPr>
              <a:xfrm>
                <a:off x="7647480" y="3417480"/>
                <a:ext cx="132480" cy="80640"/>
              </a:xfrm>
              <a:custGeom>
                <a:avLst/>
                <a:gdLst/>
                <a:ahLst/>
                <a:cxnLst/>
                <a:rect b="b" l="l" r="r" t="t"/>
                <a:pathLst>
                  <a:path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3840" lIns="90000" rIns="90000" tIns="338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96" name="Freeform 274"/>
              <p:cNvSpPr/>
              <p:nvPr/>
            </p:nvSpPr>
            <p:spPr>
              <a:xfrm>
                <a:off x="7309080" y="3423960"/>
                <a:ext cx="339120" cy="7380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000" lIns="90000" rIns="90000" tIns="27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97" name="Freeform 275"/>
              <p:cNvSpPr/>
              <p:nvPr/>
            </p:nvSpPr>
            <p:spPr>
              <a:xfrm>
                <a:off x="7309800" y="3410280"/>
                <a:ext cx="3240" cy="14760"/>
              </a:xfrm>
              <a:custGeom>
                <a:avLst/>
                <a:gdLst/>
                <a:ahLst/>
                <a:cxnLst/>
                <a:rect b="b" l="l" r="r" t="t"/>
                <a:pathLst>
                  <a:path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2040" lIns="90000" rIns="90000" tIns="-320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98" name="Freeform 276"/>
              <p:cNvSpPr/>
              <p:nvPr/>
            </p:nvSpPr>
            <p:spPr>
              <a:xfrm>
                <a:off x="7309800" y="3349440"/>
                <a:ext cx="157320" cy="61560"/>
              </a:xfrm>
              <a:custGeom>
                <a:avLst/>
                <a:gdLst/>
                <a:ahLst/>
                <a:cxnLst/>
                <a:rect b="b" l="l" r="r" t="t"/>
                <a:pathLst>
                  <a:path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4760" lIns="90000" rIns="90000" tIns="147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699" name="Freeform 277"/>
              <p:cNvSpPr/>
              <p:nvPr/>
            </p:nvSpPr>
            <p:spPr>
              <a:xfrm>
                <a:off x="7320240" y="3413520"/>
                <a:ext cx="321480" cy="7092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4120" lIns="90000" rIns="90000" tIns="24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700" name="Freeform 278"/>
              <p:cNvSpPr/>
              <p:nvPr/>
            </p:nvSpPr>
            <p:spPr>
              <a:xfrm flipV="1">
                <a:off x="7641720" y="3408480"/>
                <a:ext cx="131040" cy="7344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6640" lIns="90000" rIns="90000" tIns="266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701" name="Group 115"/>
            <p:cNvGrpSpPr/>
            <p:nvPr/>
          </p:nvGrpSpPr>
          <p:grpSpPr>
            <a:xfrm>
              <a:off x="7786440" y="3278160"/>
              <a:ext cx="552240" cy="372960"/>
              <a:chOff x="7786440" y="3278160"/>
              <a:chExt cx="552240" cy="372960"/>
            </a:xfrm>
          </p:grpSpPr>
          <p:pic>
            <p:nvPicPr>
              <p:cNvPr descr="desktop_computer_stylized_medium" id="702" name="Picture 47"/>
              <p:cNvPicPr/>
              <p:nvPr/>
            </p:nvPicPr>
            <p:blipFill>
              <a:blip r:embed="rId6"/>
              <a:stretch/>
            </p:blipFill>
            <p:spPr>
              <a:xfrm flipH="1">
                <a:off x="7786440" y="3278160"/>
                <a:ext cx="552240" cy="3729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703" name="Freeform 279"/>
              <p:cNvSpPr/>
              <p:nvPr/>
            </p:nvSpPr>
            <p:spPr>
              <a:xfrm flipH="1">
                <a:off x="8022600" y="3313800"/>
                <a:ext cx="259920" cy="171000"/>
              </a:xfrm>
              <a:custGeom>
                <a:avLst/>
                <a:gdLst/>
                <a:ahLst/>
                <a:cxnLst/>
                <a:rect b="b" l="l" r="r" t="t"/>
                <a:pathLst>
                  <a:path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704" name="Group 116"/>
            <p:cNvGrpSpPr/>
            <p:nvPr/>
          </p:nvGrpSpPr>
          <p:grpSpPr>
            <a:xfrm>
              <a:off x="9609480" y="5478480"/>
              <a:ext cx="632160" cy="414000"/>
              <a:chOff x="9609480" y="5478480"/>
              <a:chExt cx="632160" cy="414000"/>
            </a:xfrm>
          </p:grpSpPr>
          <p:pic>
            <p:nvPicPr>
              <p:cNvPr descr="antenna_stylized" id="705" name="Picture 48"/>
              <p:cNvPicPr/>
              <p:nvPr/>
            </p:nvPicPr>
            <p:blipFill>
              <a:blip r:embed="rId15"/>
              <a:stretch/>
            </p:blipFill>
            <p:spPr>
              <a:xfrm>
                <a:off x="9609480" y="5478480"/>
                <a:ext cx="627840" cy="22356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laptop_keyboard" id="706" name="Picture 49"/>
              <p:cNvPicPr/>
              <p:nvPr/>
            </p:nvPicPr>
            <p:blipFill>
              <a:blip r:embed="rId16"/>
              <a:stretch/>
            </p:blipFill>
            <p:spPr>
              <a:xfrm flipH="1" rot="81600">
                <a:off x="9640800" y="5726520"/>
                <a:ext cx="516600" cy="15948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707" name="Freeform 280"/>
              <p:cNvSpPr/>
              <p:nvPr/>
            </p:nvSpPr>
            <p:spPr>
              <a:xfrm>
                <a:off x="9811080" y="5572080"/>
                <a:ext cx="416160" cy="208080"/>
              </a:xfrm>
              <a:custGeom>
                <a:avLst/>
                <a:gdLst/>
                <a:ahLst/>
                <a:cxnLst/>
                <a:rect b="b" l="l" r="r" t="t"/>
                <a:pathLst>
                  <a:path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sq" w="9360">
                <a:solidFill>
                  <a:srgbClr val="000000"/>
                </a:solidFill>
                <a:round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pic>
            <p:nvPicPr>
              <p:cNvPr descr="screen" id="708" name="Picture 50"/>
              <p:cNvPicPr/>
              <p:nvPr/>
            </p:nvPicPr>
            <p:blipFill>
              <a:blip r:embed="rId17"/>
              <a:stretch/>
            </p:blipFill>
            <p:spPr>
              <a:xfrm>
                <a:off x="9831600" y="5577480"/>
                <a:ext cx="378360" cy="1893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709" name="Freeform 281"/>
              <p:cNvSpPr/>
              <p:nvPr/>
            </p:nvSpPr>
            <p:spPr>
              <a:xfrm>
                <a:off x="9886680" y="5565960"/>
                <a:ext cx="352800" cy="38520"/>
              </a:xfrm>
              <a:custGeom>
                <a:avLst/>
                <a:gdLst/>
                <a:ahLst/>
                <a:cxnLst/>
                <a:rect b="b" l="l" r="r" t="t"/>
                <a:pathLst>
                  <a:path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AEAEA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8280" lIns="90000" rIns="90000" tIns="-82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710" name="Freeform 282"/>
              <p:cNvSpPr/>
              <p:nvPr/>
            </p:nvSpPr>
            <p:spPr>
              <a:xfrm>
                <a:off x="9807120" y="5565600"/>
                <a:ext cx="97920" cy="161280"/>
              </a:xfrm>
              <a:custGeom>
                <a:avLst/>
                <a:gdLst/>
                <a:ahLst/>
                <a:cxnLst/>
                <a:rect b="b" l="l" r="r" t="t"/>
                <a:pathLst>
                  <a:path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711" name="Freeform 283"/>
              <p:cNvSpPr/>
              <p:nvPr/>
            </p:nvSpPr>
            <p:spPr>
              <a:xfrm>
                <a:off x="10131480" y="5594400"/>
                <a:ext cx="105120" cy="186120"/>
              </a:xfrm>
              <a:custGeom>
                <a:avLst/>
                <a:gdLst/>
                <a:ahLst/>
                <a:cxnLst/>
                <a:rect b="b" l="l" r="r" t="t"/>
                <a:pathLst>
                  <a:path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712" name="Freeform 284"/>
              <p:cNvSpPr/>
              <p:nvPr/>
            </p:nvSpPr>
            <p:spPr>
              <a:xfrm>
                <a:off x="9806040" y="5718600"/>
                <a:ext cx="387000" cy="62640"/>
              </a:xfrm>
              <a:custGeom>
                <a:avLst/>
                <a:gdLst/>
                <a:ahLst/>
                <a:cxnLst/>
                <a:rect b="b" l="l" r="r" t="t"/>
                <a:pathLst>
                  <a:path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840" lIns="90000" rIns="90000" tIns="158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713" name="Freeform 285"/>
              <p:cNvSpPr/>
              <p:nvPr/>
            </p:nvSpPr>
            <p:spPr>
              <a:xfrm>
                <a:off x="10143000" y="5595840"/>
                <a:ext cx="98640" cy="186840"/>
              </a:xfrm>
              <a:custGeom>
                <a:avLst/>
                <a:gdLst/>
                <a:ahLst/>
                <a:cxnLst/>
                <a:rect b="b" l="l" r="r" t="t"/>
                <a:pathLst>
                  <a:path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714" name="Freeform 286"/>
              <p:cNvSpPr/>
              <p:nvPr/>
            </p:nvSpPr>
            <p:spPr>
              <a:xfrm>
                <a:off x="9806760" y="5726880"/>
                <a:ext cx="344160" cy="61920"/>
              </a:xfrm>
              <a:custGeom>
                <a:avLst/>
                <a:gdLst/>
                <a:ahLst/>
                <a:cxnLst/>
                <a:rect b="b" l="l" r="r" t="t"/>
                <a:pathLst>
                  <a:path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120" lIns="90000" rIns="90000" tIns="15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715" name="Group 117"/>
              <p:cNvGrpSpPr/>
              <p:nvPr/>
            </p:nvGrpSpPr>
            <p:grpSpPr>
              <a:xfrm>
                <a:off x="9801000" y="5793480"/>
                <a:ext cx="116640" cy="36720"/>
                <a:chOff x="9801000" y="5793480"/>
                <a:chExt cx="116640" cy="36720"/>
              </a:xfrm>
            </p:grpSpPr>
            <p:sp>
              <p:nvSpPr>
                <p:cNvPr id="716" name="Freeform 287"/>
                <p:cNvSpPr/>
                <p:nvPr/>
              </p:nvSpPr>
              <p:spPr>
                <a:xfrm>
                  <a:off x="9801000" y="5793480"/>
                  <a:ext cx="116640" cy="367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0080" lIns="90000" rIns="90000" tIns="-100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717" name="Freeform 288"/>
                <p:cNvSpPr/>
                <p:nvPr/>
              </p:nvSpPr>
              <p:spPr>
                <a:xfrm>
                  <a:off x="9802800" y="5794200"/>
                  <a:ext cx="112680" cy="349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4D4D4D"/>
                    </a:gs>
                  </a:gsLst>
                  <a:lin ang="81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1880" lIns="90000" rIns="90000" tIns="-118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718" name="Freeform 289"/>
                <p:cNvSpPr/>
                <p:nvPr/>
              </p:nvSpPr>
              <p:spPr>
                <a:xfrm>
                  <a:off x="9811440" y="5807880"/>
                  <a:ext cx="39960" cy="1116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640" lIns="90000" rIns="90000" tIns="-3564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719" name="Freeform 290"/>
                <p:cNvSpPr/>
                <p:nvPr/>
              </p:nvSpPr>
              <p:spPr>
                <a:xfrm>
                  <a:off x="9810000" y="5812920"/>
                  <a:ext cx="29880" cy="6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960" lIns="90000" rIns="90000" tIns="-39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720" name="Freeform 291"/>
                <p:cNvSpPr/>
                <p:nvPr/>
              </p:nvSpPr>
              <p:spPr>
                <a:xfrm>
                  <a:off x="9844200" y="5815080"/>
                  <a:ext cx="39600" cy="1152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280" lIns="90000" rIns="90000" tIns="-352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721" name="Freeform 292"/>
                <p:cNvSpPr/>
                <p:nvPr/>
              </p:nvSpPr>
              <p:spPr>
                <a:xfrm>
                  <a:off x="9842760" y="5820480"/>
                  <a:ext cx="29520" cy="6840"/>
                </a:xfrm>
                <a:custGeom>
                  <a:avLst/>
                  <a:gdLst/>
                  <a:ahLst/>
                  <a:cxnLst/>
                  <a:rect b="b" l="l" r="r" t="t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960" lIns="90000" rIns="90000" tIns="-399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722" name="Freeform 293"/>
              <p:cNvSpPr/>
              <p:nvPr/>
            </p:nvSpPr>
            <p:spPr>
              <a:xfrm>
                <a:off x="10001160" y="5798880"/>
                <a:ext cx="141120" cy="80640"/>
              </a:xfrm>
              <a:custGeom>
                <a:avLst/>
                <a:gdLst/>
                <a:ahLst/>
                <a:cxnLst/>
                <a:rect b="b" l="l" r="r" t="t"/>
                <a:pathLst>
                  <a:path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3840" lIns="90000" rIns="90000" tIns="338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723" name="Freeform 294"/>
              <p:cNvSpPr/>
              <p:nvPr/>
            </p:nvSpPr>
            <p:spPr>
              <a:xfrm>
                <a:off x="9639720" y="5805360"/>
                <a:ext cx="361800" cy="7380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000" lIns="90000" rIns="90000" tIns="27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724" name="Freeform 295"/>
              <p:cNvSpPr/>
              <p:nvPr/>
            </p:nvSpPr>
            <p:spPr>
              <a:xfrm>
                <a:off x="9640080" y="5791680"/>
                <a:ext cx="3960" cy="14760"/>
              </a:xfrm>
              <a:custGeom>
                <a:avLst/>
                <a:gdLst/>
                <a:ahLst/>
                <a:cxnLst/>
                <a:rect b="b" l="l" r="r" t="t"/>
                <a:pathLst>
                  <a:path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2040" lIns="90000" rIns="90000" tIns="-320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725" name="Freeform 296"/>
              <p:cNvSpPr/>
              <p:nvPr/>
            </p:nvSpPr>
            <p:spPr>
              <a:xfrm>
                <a:off x="9640080" y="5730840"/>
                <a:ext cx="168120" cy="61560"/>
              </a:xfrm>
              <a:custGeom>
                <a:avLst/>
                <a:gdLst/>
                <a:ahLst/>
                <a:cxnLst/>
                <a:rect b="b" l="l" r="r" t="t"/>
                <a:pathLst>
                  <a:path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4760" lIns="90000" rIns="90000" tIns="147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726" name="Freeform 297"/>
              <p:cNvSpPr/>
              <p:nvPr/>
            </p:nvSpPr>
            <p:spPr>
              <a:xfrm>
                <a:off x="9651600" y="5794920"/>
                <a:ext cx="343080" cy="7092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4120" lIns="90000" rIns="90000" tIns="24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727" name="Freeform 298"/>
              <p:cNvSpPr/>
              <p:nvPr/>
            </p:nvSpPr>
            <p:spPr>
              <a:xfrm flipV="1">
                <a:off x="9994320" y="5789880"/>
                <a:ext cx="139680" cy="73440"/>
              </a:xfrm>
              <a:custGeom>
                <a:avLst/>
                <a:gdLst/>
                <a:ahLst/>
                <a:cxnLst/>
                <a:rect b="b" l="l" r="r" t="t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6640" lIns="90000" rIns="90000" tIns="266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</p:grpSp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406080" y="228240"/>
            <a:ext cx="11175840" cy="114300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/>
          <a:p>
            <a:pPr indent="0" marL="216000">
              <a:buNone/>
            </a:pPr>
            <a:r>
              <a:rPr b="0" dirty="0" lang="en-US" spc="-1" strike="noStrike" sz="4400">
                <a:solidFill>
                  <a:srgbClr val="000000"/>
                </a:solidFill>
                <a:latin typeface="Cantarell"/>
              </a:rPr>
              <a:t>Transport services and protocols</a:t>
            </a:r>
          </a:p>
        </p:txBody>
      </p:sp>
      <p:sp>
        <p:nvSpPr>
          <p:cNvPr id="729" name="PlaceHolder 2"/>
          <p:cNvSpPr>
            <a:spLocks noGrp="1"/>
          </p:cNvSpPr>
          <p:nvPr>
            <p:ph/>
          </p:nvPr>
        </p:nvSpPr>
        <p:spPr>
          <a:xfrm>
            <a:off x="583560" y="1511280"/>
            <a:ext cx="5448600" cy="511488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rmAutofit fontScale="96865"/>
          </a:bodyPr>
          <a:lstStyle/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provide</a:t>
            </a:r>
            <a:r>
              <a:rPr b="0" i="1" lang="en-US" spc="-1" strike="noStrike" sz="2400">
                <a:solidFill>
                  <a:srgbClr val="FF0000"/>
                </a:solidFill>
                <a:latin typeface="Cantarell"/>
              </a:rPr>
              <a:t> </a:t>
            </a:r>
            <a:r>
              <a:rPr b="0" i="1" lang="en-US" spc="-1" strike="noStrike" sz="2400">
                <a:solidFill>
                  <a:srgbClr val="CC0000"/>
                </a:solidFill>
                <a:latin typeface="Cantarell"/>
              </a:rPr>
              <a:t>logical communication</a:t>
            </a: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 between app processes running on different hosts</a:t>
            </a: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transport protocols run in end systems </a:t>
            </a:r>
          </a:p>
          <a:p>
            <a:pPr indent="-324000" lvl="1" marL="864000">
              <a:spcBef>
                <a:spcPts val="598"/>
              </a:spcBef>
              <a:buClr>
                <a:srgbClr val="000000"/>
              </a:buClr>
              <a:buSzPct val="75000"/>
              <a:buFont charset="2" typeface="Symbol"/>
              <a:buChar char="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send side: breaks app messages into </a:t>
            </a:r>
            <a:r>
              <a:rPr b="0" i="1" lang="en-US" spc="-1" strike="noStrike" sz="2400">
                <a:solidFill>
                  <a:srgbClr val="CC0000"/>
                </a:solidFill>
                <a:latin typeface="Cantarell"/>
              </a:rPr>
              <a:t>segments</a:t>
            </a: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, passes to  network layer</a:t>
            </a:r>
          </a:p>
          <a:p>
            <a:pPr indent="-324000" lvl="1" marL="864000">
              <a:spcBef>
                <a:spcPts val="598"/>
              </a:spcBef>
              <a:buClr>
                <a:srgbClr val="000000"/>
              </a:buClr>
              <a:buSzPct val="75000"/>
              <a:buFont charset="2" typeface="Symbol"/>
              <a:buChar char="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rcv side: reassembles segments into messages, passes to app layer</a:t>
            </a: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more than one transport protocol available to apps</a:t>
            </a:r>
          </a:p>
          <a:p>
            <a:pPr indent="-324000" lvl="1" marL="864000">
              <a:spcBef>
                <a:spcPts val="598"/>
              </a:spcBef>
              <a:buClr>
                <a:srgbClr val="000000"/>
              </a:buClr>
              <a:buSzPct val="75000"/>
              <a:buFont charset="2" typeface="Symbol"/>
              <a:buChar char="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Internet: TCP and UDP</a:t>
            </a:r>
          </a:p>
        </p:txBody>
      </p:sp>
      <p:grpSp>
        <p:nvGrpSpPr>
          <p:cNvPr id="730" name="Group 118"/>
          <p:cNvGrpSpPr/>
          <p:nvPr/>
        </p:nvGrpSpPr>
        <p:grpSpPr>
          <a:xfrm>
            <a:off x="10475640" y="4454640"/>
            <a:ext cx="1409760" cy="957240"/>
            <a:chOff x="10475640" y="4454640"/>
            <a:chExt cx="1409760" cy="957240"/>
          </a:xfrm>
        </p:grpSpPr>
        <p:grpSp>
          <p:nvGrpSpPr>
            <p:cNvPr id="731" name="Group 119"/>
            <p:cNvGrpSpPr/>
            <p:nvPr/>
          </p:nvGrpSpPr>
          <p:grpSpPr>
            <a:xfrm>
              <a:off x="10799640" y="4454640"/>
              <a:ext cx="1085760" cy="857160"/>
              <a:chOff x="10799640" y="4454640"/>
              <a:chExt cx="1085760" cy="857160"/>
            </a:xfrm>
          </p:grpSpPr>
          <p:sp>
            <p:nvSpPr>
              <p:cNvPr id="732" name="Rectangle 62"/>
              <p:cNvSpPr/>
              <p:nvPr/>
            </p:nvSpPr>
            <p:spPr>
              <a:xfrm>
                <a:off x="10930680" y="4459320"/>
                <a:ext cx="901800" cy="776160"/>
              </a:xfrm>
              <a:prstGeom prst="rect">
                <a:avLst/>
              </a:prstGeom>
              <a:solidFill>
                <a:srgbClr val="3333CC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33" name="Rectangle 63"/>
              <p:cNvSpPr/>
              <p:nvPr/>
            </p:nvSpPr>
            <p:spPr>
              <a:xfrm>
                <a:off x="10886040" y="4483080"/>
                <a:ext cx="920880" cy="800280"/>
              </a:xfrm>
              <a:prstGeom prst="rect">
                <a:avLst/>
              </a:prstGeom>
              <a:solidFill>
                <a:srgbClr val="FFFFFF"/>
              </a:solidFill>
              <a:ln cap="sq" w="1260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34" name="Rectangle 64"/>
              <p:cNvSpPr/>
              <p:nvPr/>
            </p:nvSpPr>
            <p:spPr>
              <a:xfrm>
                <a:off x="10892520" y="4659480"/>
                <a:ext cx="901440" cy="171360"/>
              </a:xfrm>
              <a:prstGeom prst="rect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35" name="Text Box 5"/>
              <p:cNvSpPr/>
              <p:nvPr/>
            </p:nvSpPr>
            <p:spPr>
              <a:xfrm>
                <a:off x="10799640" y="4454640"/>
                <a:ext cx="1085760" cy="857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000">
                    <a:solidFill>
                      <a:srgbClr val="000000"/>
                    </a:solidFill>
                    <a:latin typeface="Tahoma"/>
                  </a:rPr>
                  <a:t>application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000">
                    <a:solidFill>
                      <a:srgbClr val="FFFFFF"/>
                    </a:solidFill>
                    <a:latin typeface="Tahoma"/>
                  </a:rPr>
                  <a:t>transport</a:t>
                </a:r>
                <a:endParaRPr b="0" lang="en-US" spc="-1" strike="noStrike" sz="1000">
                  <a:solidFill>
                    <a:srgbClr val="000000"/>
                  </a:solidFill>
                  <a:latin typeface="Tahoma"/>
                </a:endParaRP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000">
                    <a:solidFill>
                      <a:srgbClr val="000000"/>
                    </a:solidFill>
                    <a:latin typeface="Tahoma"/>
                  </a:rPr>
                  <a:t>network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000">
                    <a:solidFill>
                      <a:srgbClr val="000000"/>
                    </a:solidFill>
                    <a:latin typeface="Tahoma"/>
                  </a:rPr>
                  <a:t>data link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000">
                    <a:solidFill>
                      <a:srgbClr val="000000"/>
                    </a:solidFill>
                    <a:latin typeface="Tahoma"/>
                  </a:rPr>
                  <a:t>physical</a:t>
                </a:r>
              </a:p>
            </p:txBody>
          </p:sp>
          <p:sp>
            <p:nvSpPr>
              <p:cNvPr id="736" name="Line 153"/>
              <p:cNvSpPr/>
              <p:nvPr/>
            </p:nvSpPr>
            <p:spPr>
              <a:xfrm>
                <a:off x="10886040" y="4826160"/>
                <a:ext cx="921240" cy="4680"/>
              </a:xfrm>
              <a:prstGeom prst="line">
                <a:avLst/>
              </a:prstGeom>
              <a:ln cap="sq" w="1260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42120" lIns="90000" rIns="90000" tIns="-42120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37" name="Line 154"/>
              <p:cNvSpPr/>
              <p:nvPr/>
            </p:nvSpPr>
            <p:spPr>
              <a:xfrm>
                <a:off x="10899000" y="4964040"/>
                <a:ext cx="920520" cy="5040"/>
              </a:xfrm>
              <a:prstGeom prst="line">
                <a:avLst/>
              </a:prstGeom>
              <a:ln cap="sq" w="1260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41760" lIns="90000" rIns="90000" tIns="-41760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38" name="Line 155"/>
              <p:cNvSpPr/>
              <p:nvPr/>
            </p:nvSpPr>
            <p:spPr>
              <a:xfrm>
                <a:off x="10899000" y="5102280"/>
                <a:ext cx="920520" cy="4680"/>
              </a:xfrm>
              <a:prstGeom prst="line">
                <a:avLst/>
              </a:prstGeom>
              <a:ln cap="sq" w="1260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42120" lIns="90000" rIns="90000" tIns="-42120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</p:grpSp>
        <p:sp>
          <p:nvSpPr>
            <p:cNvPr id="739" name="Freeform 299"/>
            <p:cNvSpPr/>
            <p:nvPr/>
          </p:nvSpPr>
          <p:spPr>
            <a:xfrm>
              <a:off x="10475640" y="4469040"/>
              <a:ext cx="406440" cy="942840"/>
            </a:xfrm>
            <a:custGeom>
              <a:avLst/>
              <a:gdLst/>
              <a:ahLst/>
              <a:cxnLst/>
              <a:rect b="b" l="l" r="r" t="t"/>
              <a:pathLst>
                <a:path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10800000"/>
            </a:gradFill>
            <a:ln w="9360">
              <a:solidFill>
                <a:srgbClr val="FF0000"/>
              </a:solidFill>
              <a:round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pc="-1" strike="noStrike" sz="1600">
                <a:solidFill>
                  <a:srgbClr val="000000"/>
                </a:solidFill>
                <a:latin typeface="Tahoma"/>
              </a:endParaRPr>
            </a:p>
          </p:txBody>
        </p:sp>
      </p:grpSp>
      <p:grpSp>
        <p:nvGrpSpPr>
          <p:cNvPr id="740" name="Group 120"/>
          <p:cNvGrpSpPr/>
          <p:nvPr/>
        </p:nvGrpSpPr>
        <p:grpSpPr>
          <a:xfrm>
            <a:off x="7813800" y="1671120"/>
            <a:ext cx="3551040" cy="3285000"/>
            <a:chOff x="7813800" y="1671120"/>
            <a:chExt cx="3551040" cy="3285000"/>
          </a:xfrm>
        </p:grpSpPr>
        <p:sp>
          <p:nvSpPr>
            <p:cNvPr id="741" name="Rectangle 65"/>
            <p:cNvSpPr/>
            <p:nvPr/>
          </p:nvSpPr>
          <p:spPr>
            <a:xfrm rot="2937600">
              <a:off x="7779600" y="3271680"/>
              <a:ext cx="3521880" cy="31824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6800" lIns="90000" rIns="90000" tIns="46800" wrap="none">
              <a:noAutofit/>
            </a:bodyPr>
            <a:lstStyle/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pc="-1" strike="noStrike" sz="160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742" name="Text Box 6"/>
            <p:cNvSpPr/>
            <p:nvPr/>
          </p:nvSpPr>
          <p:spPr>
            <a:xfrm rot="2937600">
              <a:off x="8340840" y="3237120"/>
              <a:ext cx="259164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 wrap="none">
              <a:spAutoFit/>
            </a:bodyPr>
            <a:lstStyle/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pc="-1" strike="noStrike" sz="1600">
                  <a:solidFill>
                    <a:srgbClr val="FFFFFF"/>
                  </a:solidFill>
                  <a:latin typeface="Tahoma"/>
                </a:rPr>
                <a:t>logical end-end transport</a:t>
              </a:r>
              <a:endParaRPr b="0" lang="en-US" spc="-1" strike="noStrike" sz="160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743" name="Freeform 300"/>
            <p:cNvSpPr/>
            <p:nvPr/>
          </p:nvSpPr>
          <p:spPr>
            <a:xfrm rot="2937600">
              <a:off x="7998840" y="1783080"/>
              <a:ext cx="517680" cy="483120"/>
            </a:xfrm>
            <a:custGeom>
              <a:avLst/>
              <a:gdLst/>
              <a:ahLst/>
              <a:cxnLst/>
              <a:rect b="b" l="l" r="r" t="t"/>
              <a:pathLst>
                <a:path h="264" w="282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6800" lIns="90000" rIns="90000" tIns="46800" wrap="none">
              <a:noAutofit/>
            </a:bodyPr>
            <a:lstStyle/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pc="-1" strike="noStrike" sz="160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744" name="Freeform 301"/>
            <p:cNvSpPr/>
            <p:nvPr/>
          </p:nvSpPr>
          <p:spPr>
            <a:xfrm flipH="1" rot="2937600">
              <a:off x="10845360" y="4255200"/>
              <a:ext cx="517320" cy="483480"/>
            </a:xfrm>
            <a:custGeom>
              <a:avLst/>
              <a:gdLst/>
              <a:ahLst/>
              <a:cxnLst/>
              <a:rect b="b" l="l" r="r" t="t"/>
              <a:pathLst>
                <a:path h="264" w="282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6800" lIns="90000" rIns="90000" tIns="46800" wrap="none">
              <a:noAutofit/>
            </a:bodyPr>
            <a:lstStyle/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pc="-1" strike="noStrike" sz="1600">
                <a:solidFill>
                  <a:srgbClr val="000000"/>
                </a:solidFill>
                <a:latin typeface="Tahoma"/>
              </a:endParaRPr>
            </a:p>
          </p:txBody>
        </p:sp>
      </p:grpSp>
      <p:grpSp>
        <p:nvGrpSpPr>
          <p:cNvPr id="745" name="Group 121"/>
          <p:cNvGrpSpPr/>
          <p:nvPr/>
        </p:nvGrpSpPr>
        <p:grpSpPr>
          <a:xfrm>
            <a:off x="7283520" y="1297080"/>
            <a:ext cx="1409760" cy="957240"/>
            <a:chOff x="7283520" y="1297080"/>
            <a:chExt cx="1409760" cy="957240"/>
          </a:xfrm>
        </p:grpSpPr>
        <p:grpSp>
          <p:nvGrpSpPr>
            <p:cNvPr id="746" name="Group 122"/>
            <p:cNvGrpSpPr/>
            <p:nvPr/>
          </p:nvGrpSpPr>
          <p:grpSpPr>
            <a:xfrm>
              <a:off x="7607520" y="1297080"/>
              <a:ext cx="1085760" cy="857160"/>
              <a:chOff x="7607520" y="1297080"/>
              <a:chExt cx="1085760" cy="857160"/>
            </a:xfrm>
          </p:grpSpPr>
          <p:sp>
            <p:nvSpPr>
              <p:cNvPr id="747" name="Rectangle 66"/>
              <p:cNvSpPr/>
              <p:nvPr/>
            </p:nvSpPr>
            <p:spPr>
              <a:xfrm>
                <a:off x="7738560" y="1301760"/>
                <a:ext cx="901800" cy="776160"/>
              </a:xfrm>
              <a:prstGeom prst="rect">
                <a:avLst/>
              </a:prstGeom>
              <a:solidFill>
                <a:srgbClr val="3333CC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48" name="Rectangle 67"/>
              <p:cNvSpPr/>
              <p:nvPr/>
            </p:nvSpPr>
            <p:spPr>
              <a:xfrm>
                <a:off x="7693920" y="1325520"/>
                <a:ext cx="920880" cy="800280"/>
              </a:xfrm>
              <a:prstGeom prst="rect">
                <a:avLst/>
              </a:prstGeom>
              <a:solidFill>
                <a:srgbClr val="FFFFFF"/>
              </a:solidFill>
              <a:ln cap="sq" w="1260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49" name="Rectangle 68"/>
              <p:cNvSpPr/>
              <p:nvPr/>
            </p:nvSpPr>
            <p:spPr>
              <a:xfrm>
                <a:off x="7700400" y="1501920"/>
                <a:ext cx="901440" cy="171360"/>
              </a:xfrm>
              <a:prstGeom prst="rect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50" name="Text Box 7"/>
              <p:cNvSpPr/>
              <p:nvPr/>
            </p:nvSpPr>
            <p:spPr>
              <a:xfrm>
                <a:off x="7607520" y="1297080"/>
                <a:ext cx="1085760" cy="857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000">
                    <a:solidFill>
                      <a:srgbClr val="000000"/>
                    </a:solidFill>
                    <a:latin typeface="Tahoma"/>
                  </a:rPr>
                  <a:t>application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000">
                    <a:solidFill>
                      <a:srgbClr val="FFFFFF"/>
                    </a:solidFill>
                    <a:latin typeface="Tahoma"/>
                  </a:rPr>
                  <a:t>transport</a:t>
                </a:r>
                <a:endParaRPr b="0" lang="en-US" spc="-1" strike="noStrike" sz="1000">
                  <a:solidFill>
                    <a:srgbClr val="000000"/>
                  </a:solidFill>
                  <a:latin typeface="Tahoma"/>
                </a:endParaRP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000">
                    <a:solidFill>
                      <a:srgbClr val="000000"/>
                    </a:solidFill>
                    <a:latin typeface="Tahoma"/>
                  </a:rPr>
                  <a:t>network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000">
                    <a:solidFill>
                      <a:srgbClr val="000000"/>
                    </a:solidFill>
                    <a:latin typeface="Tahoma"/>
                  </a:rPr>
                  <a:t>data link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000">
                    <a:solidFill>
                      <a:srgbClr val="000000"/>
                    </a:solidFill>
                    <a:latin typeface="Tahoma"/>
                  </a:rPr>
                  <a:t>physical</a:t>
                </a:r>
              </a:p>
            </p:txBody>
          </p:sp>
          <p:sp>
            <p:nvSpPr>
              <p:cNvPr id="751" name="Line 156"/>
              <p:cNvSpPr/>
              <p:nvPr/>
            </p:nvSpPr>
            <p:spPr>
              <a:xfrm>
                <a:off x="7693920" y="1668600"/>
                <a:ext cx="921240" cy="4680"/>
              </a:xfrm>
              <a:prstGeom prst="line">
                <a:avLst/>
              </a:prstGeom>
              <a:ln cap="sq" w="1260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42120" lIns="90000" rIns="90000" tIns="-42120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52" name="Line 157"/>
              <p:cNvSpPr/>
              <p:nvPr/>
            </p:nvSpPr>
            <p:spPr>
              <a:xfrm>
                <a:off x="7706880" y="1806480"/>
                <a:ext cx="920520" cy="5040"/>
              </a:xfrm>
              <a:prstGeom prst="line">
                <a:avLst/>
              </a:prstGeom>
              <a:ln cap="sq" w="1260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41760" lIns="90000" rIns="90000" tIns="-41760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53" name="Line 158"/>
              <p:cNvSpPr/>
              <p:nvPr/>
            </p:nvSpPr>
            <p:spPr>
              <a:xfrm>
                <a:off x="7706880" y="1944720"/>
                <a:ext cx="920520" cy="4680"/>
              </a:xfrm>
              <a:prstGeom prst="line">
                <a:avLst/>
              </a:prstGeom>
              <a:ln cap="sq" w="1260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42120" lIns="90000" rIns="90000" tIns="-42120">
                <a:no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pc="-1" strike="noStrike" sz="1600">
                  <a:solidFill>
                    <a:srgbClr val="000000"/>
                  </a:solidFill>
                  <a:latin typeface="Tahoma"/>
                </a:endParaRPr>
              </a:p>
            </p:txBody>
          </p:sp>
        </p:grpSp>
        <p:sp>
          <p:nvSpPr>
            <p:cNvPr id="754" name="Freeform 302"/>
            <p:cNvSpPr/>
            <p:nvPr/>
          </p:nvSpPr>
          <p:spPr>
            <a:xfrm>
              <a:off x="7283520" y="1311480"/>
              <a:ext cx="406440" cy="942840"/>
            </a:xfrm>
            <a:custGeom>
              <a:avLst/>
              <a:gdLst/>
              <a:ahLst/>
              <a:cxnLst/>
              <a:rect b="b" l="l" r="r" t="t"/>
              <a:pathLst>
                <a:path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10800000"/>
            </a:gradFill>
            <a:ln w="9360">
              <a:solidFill>
                <a:srgbClr val="FF0000"/>
              </a:solidFill>
              <a:round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pc="-1" strike="noStrike" sz="1600">
                <a:solidFill>
                  <a:srgbClr val="000000"/>
                </a:solidFill>
                <a:latin typeface="Tahoma"/>
              </a:endParaRPr>
            </a:p>
          </p:txBody>
        </p:sp>
      </p:grpSp>
      <p:sp>
        <p:nvSpPr>
          <p:cNvPr id="755" name="Title 35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>
              <p:cTn dur="indefinite" id="2" nodeType="mainSeq">
                <p:childTnLst>
                  <p:par>
                    <p:cTn fill="hold" id="3">
                      <p:stCondLst>
                        <p:cond delay="0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dur="500" id="7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>
                            <p:stCondLst>
                              <p:cond delay="500"/>
                            </p:stCondLst>
                            <p:childTnLst>
                              <p:par>
                                <p:cTn fill="hold" id="9" nodeType="afterEffect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id="11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2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dur="500" id="14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ree way handshake" id="756" name="Picture 24"/>
          <p:cNvPicPr/>
          <p:nvPr/>
        </p:nvPicPr>
        <p:blipFill>
          <a:blip r:embed="rId2"/>
          <a:stretch/>
        </p:blipFill>
        <p:spPr>
          <a:xfrm>
            <a:off x="771840" y="1828800"/>
            <a:ext cx="7585200" cy="3749040"/>
          </a:xfrm>
          <a:prstGeom prst="rect">
            <a:avLst/>
          </a:prstGeom>
          <a:ln w="54720">
            <a:noFill/>
          </a:ln>
        </p:spPr>
      </p:pic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753120" y="152280"/>
            <a:ext cx="11042640" cy="94500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lstStyle/>
          <a:p>
            <a:pPr indent="0" marL="216000">
              <a:buNone/>
            </a:pPr>
            <a:r>
              <a:rPr b="0" dirty="0" lang="en-US" spc="-1" strike="noStrike" sz="4000">
                <a:solidFill>
                  <a:srgbClr val="000000"/>
                </a:solidFill>
                <a:latin typeface="Cantarell"/>
              </a:rPr>
              <a:t>TCP Three-way Handshake</a:t>
            </a:r>
          </a:p>
        </p:txBody>
      </p:sp>
      <p:sp>
        <p:nvSpPr>
          <p:cNvPr id="758" name="Rectangle 4"/>
          <p:cNvSpPr/>
          <p:nvPr/>
        </p:nvSpPr>
        <p:spPr>
          <a:xfrm>
            <a:off x="528120" y="5733360"/>
            <a:ext cx="835452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46800" lIns="90000" rIns="90000" tIns="46800">
            <a:spAutoFit/>
          </a:bodyPr>
          <a:lstStyle/>
          <a:p>
            <a:pPr algn="ctr"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pc="-1" strike="noStrike" sz="2400">
                <a:solidFill>
                  <a:srgbClr val="003399"/>
                </a:solidFill>
                <a:latin typeface="Arial"/>
              </a:rPr>
              <a:t>Timeline for three-way handshake algorithm</a:t>
            </a:r>
            <a:endParaRPr b="0" lang="en-US" spc="-1" strike="noStrike" sz="2400">
              <a:solidFill>
                <a:srgbClr val="000000"/>
              </a:solidFill>
              <a:latin typeface="Arial Black"/>
            </a:endParaRPr>
          </a:p>
        </p:txBody>
      </p:sp>
      <p:sp>
        <p:nvSpPr>
          <p:cNvPr id="759" name="Straight Connector 758"/>
          <p:cNvSpPr/>
          <p:nvPr/>
        </p:nvSpPr>
        <p:spPr>
          <a:xfrm>
            <a:off x="2052000" y="2668320"/>
            <a:ext cx="4846320" cy="82296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760" name="Straight Connector 759"/>
          <p:cNvSpPr/>
          <p:nvPr/>
        </p:nvSpPr>
        <p:spPr>
          <a:xfrm flipH="1">
            <a:off x="2052000" y="3566160"/>
            <a:ext cx="4663440" cy="91440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761" name="Straight Connector 760"/>
          <p:cNvSpPr/>
          <p:nvPr/>
        </p:nvSpPr>
        <p:spPr>
          <a:xfrm>
            <a:off x="2052000" y="4480560"/>
            <a:ext cx="4937760" cy="82296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762" name="TextBox 761"/>
          <p:cNvSpPr txBox="1"/>
          <p:nvPr/>
        </p:nvSpPr>
        <p:spPr>
          <a:xfrm>
            <a:off x="7548840" y="2194560"/>
            <a:ext cx="4783320" cy="451764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The idea is to tell each other </a:t>
            </a:r>
          </a:p>
          <a:p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The ISNs</a:t>
            </a:r>
          </a:p>
          <a:p>
            <a:endParaRPr b="0" lang="en-US" spc="-1" strike="noStrike" sz="2600">
              <a:solidFill>
                <a:srgbClr val="000000"/>
              </a:solidFill>
              <a:latin typeface="Arial"/>
            </a:endParaRPr>
          </a:p>
          <a:p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SYN → Client tells server that</a:t>
            </a:r>
          </a:p>
          <a:p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it wants to open a connection,</a:t>
            </a:r>
          </a:p>
          <a:p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Client’s ISN = x</a:t>
            </a:r>
            <a:br>
              <a:rPr sz="2600"/>
            </a:br>
            <a:br>
              <a:rPr sz="2600"/>
            </a:br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SYN+ ACK → Server tells </a:t>
            </a:r>
          </a:p>
          <a:p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Client → Okay → Server’s ISN </a:t>
            </a:r>
            <a:br>
              <a:rPr sz="2600"/>
            </a:br>
            <a:r>
              <a:rPr b="0" lang="en-US" spc="-1" strike="noStrike" sz="2600">
                <a:solidFill>
                  <a:srgbClr val="000000"/>
                </a:solidFill>
                <a:latin typeface="Arial"/>
              </a:rPr>
              <a:t>= y, ACK = CLSeq + 1</a:t>
            </a:r>
            <a:br>
              <a:rPr sz="2600"/>
            </a:br>
            <a:br>
              <a:rPr sz="2600"/>
            </a:br>
            <a:r>
              <a:rPr b="0" lang="en-US" spc="-1" strike="noStrike" sz="2600">
                <a:solidFill>
                  <a:srgbClr val="CE181E"/>
                </a:solidFill>
                <a:latin typeface="Arial"/>
              </a:rPr>
              <a:t>Why increment by 1?</a:t>
            </a:r>
            <a:endParaRPr b="0" lang="en-US" spc="-1" strike="noStrike" sz="26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Title 36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">
                      <p:stCondLst>
                        <p:cond delay="indefinite"/>
                      </p:stCondLst>
                      <p:childTnLst>
                        <p:par>
                          <p:cTn fill="hold" id="8">
                            <p:stCondLst>
                              <p:cond delay="0"/>
                            </p:stCondLst>
                            <p:childTnLst>
                              <p:par>
                                <p:cTn fill="hold" id="9" nodeType="click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>
                      <p:stCondLst>
                        <p:cond delay="indefinite"/>
                      </p:stCondLst>
                      <p:childTnLst>
                        <p:par>
                          <p:cTn fill="hold" id="12">
                            <p:stCondLst>
                              <p:cond delay="0"/>
                            </p:stCondLst>
                            <p:childTnLst>
                              <p:par>
                                <p:cTn fill="hold" id="13" nodeType="click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Title 37"/>
          <p:cNvSpPr/>
          <p:nvPr/>
        </p:nvSpPr>
        <p:spPr>
          <a:xfrm>
            <a:off x="1097280" y="201168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Apps (HTTP)</a:t>
            </a:r>
          </a:p>
        </p:txBody>
      </p:sp>
      <p:sp>
        <p:nvSpPr>
          <p:cNvPr id="765" name="Rectangle 764"/>
          <p:cNvSpPr/>
          <p:nvPr/>
        </p:nvSpPr>
        <p:spPr>
          <a:xfrm>
            <a:off x="1097280" y="31089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Transport (TCP/UDP)</a:t>
            </a:r>
          </a:p>
        </p:txBody>
      </p:sp>
      <p:sp>
        <p:nvSpPr>
          <p:cNvPr id="766" name="Rectangle 765"/>
          <p:cNvSpPr/>
          <p:nvPr/>
        </p:nvSpPr>
        <p:spPr>
          <a:xfrm>
            <a:off x="1077840" y="402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Network (IP)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1077840" y="4887360"/>
            <a:ext cx="2286000" cy="64008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Link (Ethernet)</a:t>
            </a:r>
          </a:p>
        </p:txBody>
      </p:sp>
      <p:sp>
        <p:nvSpPr>
          <p:cNvPr id="768" name="Rectangle 767"/>
          <p:cNvSpPr/>
          <p:nvPr/>
        </p:nvSpPr>
        <p:spPr>
          <a:xfrm>
            <a:off x="9017280" y="201168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Apps (HTTP)</a:t>
            </a:r>
          </a:p>
        </p:txBody>
      </p:sp>
      <p:sp>
        <p:nvSpPr>
          <p:cNvPr id="769" name="Rectangle 768"/>
          <p:cNvSpPr/>
          <p:nvPr/>
        </p:nvSpPr>
        <p:spPr>
          <a:xfrm>
            <a:off x="9017280" y="31089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Transport (TCP/UDP)</a:t>
            </a:r>
          </a:p>
        </p:txBody>
      </p:sp>
      <p:sp>
        <p:nvSpPr>
          <p:cNvPr id="770" name="Rectangle 769"/>
          <p:cNvSpPr/>
          <p:nvPr/>
        </p:nvSpPr>
        <p:spPr>
          <a:xfrm>
            <a:off x="8997840" y="402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Network (IP)</a:t>
            </a:r>
          </a:p>
        </p:txBody>
      </p:sp>
      <p:sp>
        <p:nvSpPr>
          <p:cNvPr id="771" name="Rectangle 770"/>
          <p:cNvSpPr/>
          <p:nvPr/>
        </p:nvSpPr>
        <p:spPr>
          <a:xfrm>
            <a:off x="8997840" y="4887360"/>
            <a:ext cx="2286000" cy="64008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Link (Ethernet)</a:t>
            </a:r>
          </a:p>
        </p:txBody>
      </p:sp>
      <p:sp>
        <p:nvSpPr>
          <p:cNvPr id="772" name="Rectangle 771"/>
          <p:cNvSpPr/>
          <p:nvPr/>
        </p:nvSpPr>
        <p:spPr>
          <a:xfrm>
            <a:off x="3741840" y="5139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Ethernet Interface</a:t>
            </a:r>
          </a:p>
        </p:txBody>
      </p:sp>
      <p:sp>
        <p:nvSpPr>
          <p:cNvPr id="773" name="Rectangle 772"/>
          <p:cNvSpPr/>
          <p:nvPr/>
        </p:nvSpPr>
        <p:spPr>
          <a:xfrm>
            <a:off x="3657600" y="4023360"/>
            <a:ext cx="2468880" cy="173736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Rectangle 773"/>
          <p:cNvSpPr/>
          <p:nvPr/>
        </p:nvSpPr>
        <p:spPr>
          <a:xfrm>
            <a:off x="6441840" y="5103360"/>
            <a:ext cx="2286000" cy="64008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pPr algn="ctr"/>
            <a:r>
              <a:rPr b="0" lang="en-US" spc="-1" strike="noStrike" sz="1800">
                <a:solidFill>
                  <a:srgbClr val="000000"/>
                </a:solidFill>
                <a:latin typeface="Montserrat"/>
              </a:rPr>
              <a:t>Ethernet Interface</a:t>
            </a:r>
          </a:p>
        </p:txBody>
      </p:sp>
      <p:sp>
        <p:nvSpPr>
          <p:cNvPr id="775" name="Rectangle 774"/>
          <p:cNvSpPr/>
          <p:nvPr/>
        </p:nvSpPr>
        <p:spPr>
          <a:xfrm>
            <a:off x="6357600" y="4023360"/>
            <a:ext cx="2468880" cy="173736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5000" lIns="90000" rIns="90000" tIns="45000" wrap="none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traight Connector 775"/>
          <p:cNvSpPr/>
          <p:nvPr/>
        </p:nvSpPr>
        <p:spPr>
          <a:xfrm>
            <a:off x="3383280" y="3291840"/>
            <a:ext cx="5634000" cy="0"/>
          </a:xfrm>
          <a:prstGeom prst="line">
            <a:avLst/>
          </a:prstGeom>
          <a:ln w="54720">
            <a:solidFill>
              <a:srgbClr val="FF3838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777" name="TextBox 776"/>
          <p:cNvSpPr txBox="1"/>
          <p:nvPr/>
        </p:nvSpPr>
        <p:spPr>
          <a:xfrm>
            <a:off x="3863520" y="2926080"/>
            <a:ext cx="12718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Segments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traight Connector 777"/>
          <p:cNvSpPr/>
          <p:nvPr/>
        </p:nvSpPr>
        <p:spPr>
          <a:xfrm>
            <a:off x="3383280" y="2250720"/>
            <a:ext cx="5634000" cy="0"/>
          </a:xfrm>
          <a:prstGeom prst="line">
            <a:avLst/>
          </a:prstGeom>
          <a:ln w="54720">
            <a:solidFill>
              <a:srgbClr val="FF0000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779" name="TextBox 778"/>
          <p:cNvSpPr txBox="1"/>
          <p:nvPr/>
        </p:nvSpPr>
        <p:spPr>
          <a:xfrm>
            <a:off x="3899520" y="1884960"/>
            <a:ext cx="6760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Data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traight Connector 779"/>
          <p:cNvSpPr/>
          <p:nvPr/>
        </p:nvSpPr>
        <p:spPr>
          <a:xfrm>
            <a:off x="3383280" y="4410720"/>
            <a:ext cx="5634000" cy="0"/>
          </a:xfrm>
          <a:prstGeom prst="line">
            <a:avLst/>
          </a:prstGeom>
          <a:ln w="54720">
            <a:solidFill>
              <a:srgbClr val="3465A4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781" name="TextBox 780"/>
          <p:cNvSpPr txBox="1"/>
          <p:nvPr/>
        </p:nvSpPr>
        <p:spPr>
          <a:xfrm>
            <a:off x="3863520" y="4044960"/>
            <a:ext cx="104472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Packets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traight Connector 781"/>
          <p:cNvSpPr/>
          <p:nvPr/>
        </p:nvSpPr>
        <p:spPr>
          <a:xfrm>
            <a:off x="3383280" y="5274720"/>
            <a:ext cx="5634000" cy="0"/>
          </a:xfrm>
          <a:prstGeom prst="line">
            <a:avLst/>
          </a:prstGeom>
          <a:ln w="54720">
            <a:solidFill>
              <a:srgbClr val="069A2E"/>
            </a:solidFill>
            <a:custDash>
              <a:ds d="197000" sp="197000"/>
            </a:custDash>
            <a:round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-45000" lIns="90000" rIns="90000" tIns="-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783" name="TextBox 782"/>
          <p:cNvSpPr txBox="1"/>
          <p:nvPr/>
        </p:nvSpPr>
        <p:spPr>
          <a:xfrm>
            <a:off x="3863520" y="4764960"/>
            <a:ext cx="99288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1" lang="en-US" spc="-1" strike="noStrike" sz="1800">
                <a:solidFill>
                  <a:srgbClr val="000000"/>
                </a:solidFill>
                <a:latin typeface="Arial"/>
              </a:rPr>
              <a:t>Frames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TextBox 783"/>
          <p:cNvSpPr txBox="1"/>
          <p:nvPr/>
        </p:nvSpPr>
        <p:spPr>
          <a:xfrm>
            <a:off x="2268360" y="6146640"/>
            <a:ext cx="1666800" cy="346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 wrap="none">
            <a:noAutofit/>
          </a:bodyPr>
          <a:lstStyle/>
          <a:p>
            <a:r>
              <a:rPr b="0" lang="en-US" spc="-1" strike="noStrike" sz="1800">
                <a:solidFill>
                  <a:srgbClr val="000000"/>
                </a:solidFill>
                <a:latin typeface="Arial"/>
              </a:rPr>
              <a:t>Bits (1010001)</a:t>
            </a:r>
          </a:p>
        </p:txBody>
      </p:sp>
      <p:pic>
        <p:nvPicPr>
          <p:cNvPr id="785" name="Picture 7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5840" y="66960"/>
            <a:ext cx="2590560" cy="1761840"/>
          </a:xfrm>
          <a:prstGeom prst="rect">
            <a:avLst/>
          </a:prstGeom>
          <a:ln w="54720">
            <a:noFill/>
          </a:ln>
        </p:spPr>
      </p:pic>
      <p:cxnSp>
        <p:nvCxnSpPr>
          <p:cNvPr id="786" name="Elbow Connector 785"/>
          <p:cNvCxnSpPr>
            <a:stCxn id="767" idx="0"/>
            <a:endCxn id="773" idx="2"/>
          </p:cNvCxnSpPr>
          <p:nvPr/>
        </p:nvCxnSpPr>
        <p:spPr>
          <a:xfrm flipH="1" rot="16200000">
            <a:off x="3439800" y="4308480"/>
            <a:ext cx="233640" cy="2671560"/>
          </a:xfrm>
          <a:prstGeom prst="bentConnector3">
            <a:avLst>
              <a:gd fmla="val 491975" name="adj1"/>
            </a:avLst>
          </a:prstGeom>
          <a:ln w="54720">
            <a:solidFill>
              <a:srgbClr val="FF0000"/>
            </a:solidFill>
            <a:custDash>
              <a:ds d="33553" sp="83553"/>
              <a:ds d="33553" sp="83553"/>
              <a:ds d="167105" sp="83553"/>
              <a:ds d="167105" sp="83553"/>
              <a:ds d="167105" sp="83553"/>
            </a:custDash>
            <a:round/>
          </a:ln>
        </p:spPr>
      </p:cxnSp>
      <p:cxnSp>
        <p:nvCxnSpPr>
          <p:cNvPr id="787" name="Elbow Connector 786"/>
          <p:cNvCxnSpPr>
            <a:stCxn id="773" idx="0"/>
            <a:endCxn id="775" idx="2"/>
          </p:cNvCxnSpPr>
          <p:nvPr/>
        </p:nvCxnSpPr>
        <p:spPr>
          <a:xfrm rot="16200000">
            <a:off x="6242040" y="4410720"/>
            <a:ext cx="360" cy="2700360"/>
          </a:xfrm>
          <a:prstGeom prst="bentConnector3">
            <a:avLst>
              <a:gd fmla="val 101600000" name="adj1"/>
            </a:avLst>
          </a:prstGeom>
          <a:ln w="54720">
            <a:solidFill>
              <a:srgbClr val="158466"/>
            </a:solidFill>
            <a:round/>
          </a:ln>
        </p:spPr>
      </p:cxnSp>
      <p:cxnSp>
        <p:nvCxnSpPr>
          <p:cNvPr id="788" name="Elbow Connector 787"/>
          <p:cNvCxnSpPr>
            <a:stCxn id="775" idx="2"/>
            <a:endCxn id="771" idx="2"/>
          </p:cNvCxnSpPr>
          <p:nvPr/>
        </p:nvCxnSpPr>
        <p:spPr>
          <a:xfrm flipH="1" flipV="1" rot="5400000">
            <a:off x="8749800" y="4369680"/>
            <a:ext cx="233640" cy="2549160"/>
          </a:xfrm>
          <a:prstGeom prst="bentConnector3">
            <a:avLst>
              <a:gd fmla="val -391975" name="adj1"/>
            </a:avLst>
          </a:prstGeom>
          <a:ln w="54720">
            <a:solidFill>
              <a:srgbClr val="FF0000"/>
            </a:solidFill>
            <a:custDash>
              <a:ds d="197000" sp="197000"/>
            </a:custDash>
            <a:round/>
          </a:ln>
        </p:spPr>
      </p:cxnSp>
      <p:pic>
        <p:nvPicPr>
          <p:cNvPr id="789" name="Picture 7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869680" y="91440"/>
            <a:ext cx="2590560" cy="1761840"/>
          </a:xfrm>
          <a:prstGeom prst="rect">
            <a:avLst/>
          </a:prstGeom>
          <a:ln w="54720">
            <a:noFill/>
          </a:ln>
        </p:spPr>
      </p:pic>
      <p:sp>
        <p:nvSpPr>
          <p:cNvPr id="790" name="Title 37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5D383268-1CD8-AAE0-A93A-4E28DADC5C47}"/>
              </a:ext>
            </a:extLst>
          </p:cNvPr>
          <p:cNvSpPr txBox="1">
            <a:spLocks noGrp="1"/>
          </p:cNvSpPr>
          <p:nvPr>
            <p:ph idx="4294967295" type="title"/>
          </p:nvPr>
        </p:nvSpPr>
        <p:spPr>
          <a:xfrm>
            <a:off x="4501871" y="-226620"/>
            <a:ext cx="10345320" cy="128844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kern="1200" sz="4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  <a:lvl6pPr>
              <a:defRPr>
                <a:latin typeface="+mn-lt"/>
                <a:ea typeface="+mn-ea"/>
                <a:cs typeface="+mn-cs"/>
              </a:defRPr>
            </a:lvl6pPr>
            <a:lvl7pPr>
              <a:defRPr>
                <a:latin typeface="+mn-lt"/>
                <a:ea typeface="+mn-ea"/>
                <a:cs typeface="+mn-cs"/>
              </a:defRPr>
            </a:lvl7pPr>
            <a:lvl8pPr>
              <a:defRPr>
                <a:latin typeface="+mn-lt"/>
                <a:ea typeface="+mn-ea"/>
                <a:cs typeface="+mn-cs"/>
              </a:defRPr>
            </a:lvl8pPr>
            <a:lvl9pPr>
              <a:defRPr>
                <a:latin typeface="+mn-lt"/>
                <a:ea typeface="+mn-ea"/>
                <a:cs typeface="+mn-cs"/>
              </a:defRPr>
            </a:lvl9pPr>
          </a:lstStyle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TCP/IP Layers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tarel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client server model" id="791" name="Group 582"/>
          <p:cNvGrpSpPr/>
          <p:nvPr/>
        </p:nvGrpSpPr>
        <p:grpSpPr>
          <a:xfrm>
            <a:off x="723960" y="1492200"/>
            <a:ext cx="4719600" cy="4545000"/>
            <a:chOff x="723960" y="1492200"/>
            <a:chExt cx="4719600" cy="4545000"/>
          </a:xfrm>
        </p:grpSpPr>
        <p:sp>
          <p:nvSpPr>
            <p:cNvPr id="792" name="Freeform 148"/>
            <p:cNvSpPr/>
            <p:nvPr/>
          </p:nvSpPr>
          <p:spPr>
            <a:xfrm>
              <a:off x="723960" y="1658880"/>
              <a:ext cx="2315520" cy="1071720"/>
            </a:xfrm>
            <a:custGeom>
              <a:avLst/>
              <a:gdLst>
                <a:gd fmla="*/ 0 w 2315520" name="textAreaLeft"/>
                <a:gd fmla="*/ 2315880 w 2315520" name="textAreaRight"/>
                <a:gd fmla="*/ 0 h 1071720" name="textAreaTop"/>
                <a:gd fmla="*/ 1072080 h 1071720" name="textAreaBottom"/>
              </a:gdLst>
              <a:ahLst/>
              <a:cxnLst/>
              <a:rect b="textAreaBottom" l="textAreaLeft" r="textAreaRight" t="textAreaTop"/>
              <a:pathLst>
                <a:path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 w="5472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grpSp>
          <p:nvGrpSpPr>
            <p:cNvPr id="793" name="Group 56"/>
            <p:cNvGrpSpPr/>
            <p:nvPr/>
          </p:nvGrpSpPr>
          <p:grpSpPr>
            <a:xfrm>
              <a:off x="947880" y="2994120"/>
              <a:ext cx="1945440" cy="933120"/>
              <a:chOff x="947880" y="2994120"/>
              <a:chExt cx="1945440" cy="933120"/>
            </a:xfrm>
          </p:grpSpPr>
          <p:sp>
            <p:nvSpPr>
              <p:cNvPr id="794" name="Rectangle 28"/>
              <p:cNvSpPr/>
              <p:nvPr/>
            </p:nvSpPr>
            <p:spPr>
              <a:xfrm>
                <a:off x="1259640" y="3257640"/>
                <a:ext cx="1316160" cy="669600"/>
              </a:xfrm>
              <a:prstGeom prst="rect">
                <a:avLst/>
              </a:prstGeom>
              <a:solidFill>
                <a:srgbClr val="DDDDD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795" name="AutoShape 43"/>
              <p:cNvSpPr/>
              <p:nvPr/>
            </p:nvSpPr>
            <p:spPr>
              <a:xfrm>
                <a:off x="947880" y="2994120"/>
                <a:ext cx="1945440" cy="317880"/>
              </a:xfrm>
              <a:prstGeom prst="triangle">
                <a:avLst>
                  <a:gd fmla="val 50000" name="adj"/>
                </a:avLst>
              </a:prstGeom>
              <a:solidFill>
                <a:srgbClr val="DDDDD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sp>
          <p:nvSpPr>
            <p:cNvPr id="796" name="Freeform 149"/>
            <p:cNvSpPr/>
            <p:nvPr/>
          </p:nvSpPr>
          <p:spPr>
            <a:xfrm>
              <a:off x="939240" y="4371840"/>
              <a:ext cx="4301280" cy="1665360"/>
            </a:xfrm>
            <a:custGeom>
              <a:avLst/>
              <a:gdLst>
                <a:gd fmla="*/ 0 w 4301280" name="textAreaLeft"/>
                <a:gd fmla="*/ 4301640 w 4301280" name="textAreaRight"/>
                <a:gd fmla="*/ 0 h 1665360" name="textAreaTop"/>
                <a:gd fmla="*/ 1665720 h 1665360" name="textAreaBottom"/>
              </a:gdLst>
              <a:ahLst/>
              <a:cxnLst/>
              <a:rect b="textAreaBottom" l="textAreaLeft" r="textAreaRight" t="textAreaTop"/>
              <a:pathLst>
                <a:path h="1049" w="2032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 w="5472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797" name="Line 72"/>
            <p:cNvSpPr/>
            <p:nvPr/>
          </p:nvSpPr>
          <p:spPr>
            <a:xfrm flipH="1" flipV="1">
              <a:off x="4480920" y="4987440"/>
              <a:ext cx="23040" cy="452520"/>
            </a:xfrm>
            <a:prstGeom prst="line">
              <a:avLst/>
            </a:prstGeom>
            <a:ln cap="sq" w="1260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798" name="Line 73"/>
            <p:cNvSpPr/>
            <p:nvPr/>
          </p:nvSpPr>
          <p:spPr>
            <a:xfrm>
              <a:off x="4387680" y="5430960"/>
              <a:ext cx="114120" cy="2880"/>
            </a:xfrm>
            <a:prstGeom prst="line">
              <a:avLst/>
            </a:prstGeom>
            <a:ln cap="sq" w="1260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-43920" lIns="90000" rIns="90000" tIns="-4392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799" name="Line 74"/>
            <p:cNvSpPr/>
            <p:nvPr/>
          </p:nvSpPr>
          <p:spPr>
            <a:xfrm>
              <a:off x="4668120" y="4970520"/>
              <a:ext cx="95400" cy="152280"/>
            </a:xfrm>
            <a:prstGeom prst="line">
              <a:avLst/>
            </a:prstGeom>
            <a:ln cap="sq" w="1260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00" name="Line 75"/>
            <p:cNvSpPr/>
            <p:nvPr/>
          </p:nvSpPr>
          <p:spPr>
            <a:xfrm>
              <a:off x="1922040" y="4722840"/>
              <a:ext cx="198720" cy="16992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01" name="Line 76"/>
            <p:cNvSpPr/>
            <p:nvPr/>
          </p:nvSpPr>
          <p:spPr>
            <a:xfrm flipV="1">
              <a:off x="1576800" y="4946400"/>
              <a:ext cx="552600" cy="11268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02" name="Line 77"/>
            <p:cNvSpPr/>
            <p:nvPr/>
          </p:nvSpPr>
          <p:spPr>
            <a:xfrm flipH="1">
              <a:off x="2144160" y="5040360"/>
              <a:ext cx="207360" cy="17784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03" name="Line 78"/>
            <p:cNvSpPr/>
            <p:nvPr/>
          </p:nvSpPr>
          <p:spPr>
            <a:xfrm flipH="1" flipV="1">
              <a:off x="2532960" y="5046120"/>
              <a:ext cx="137880" cy="17316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04" name="Line 79"/>
            <p:cNvSpPr/>
            <p:nvPr/>
          </p:nvSpPr>
          <p:spPr>
            <a:xfrm>
              <a:off x="2779200" y="5002200"/>
              <a:ext cx="670680" cy="27000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05" name="Line 159"/>
            <p:cNvSpPr/>
            <p:nvPr/>
          </p:nvSpPr>
          <p:spPr>
            <a:xfrm>
              <a:off x="1850040" y="3529080"/>
              <a:ext cx="312840" cy="7452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27720" lIns="90000" rIns="90000" tIns="2772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06" name="Line 160"/>
            <p:cNvSpPr/>
            <p:nvPr/>
          </p:nvSpPr>
          <p:spPr>
            <a:xfrm flipV="1">
              <a:off x="1641960" y="3682440"/>
              <a:ext cx="224640" cy="324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3560" lIns="90000" rIns="90000" tIns="-4356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grpSp>
          <p:nvGrpSpPr>
            <p:cNvPr id="807" name="Group 57"/>
            <p:cNvGrpSpPr/>
            <p:nvPr/>
          </p:nvGrpSpPr>
          <p:grpSpPr>
            <a:xfrm>
              <a:off x="1269720" y="3449520"/>
              <a:ext cx="675360" cy="352080"/>
              <a:chOff x="1269720" y="3449520"/>
              <a:chExt cx="675360" cy="352080"/>
            </a:xfrm>
          </p:grpSpPr>
          <p:pic>
            <p:nvPicPr>
              <p:cNvPr descr="access_point_stylized_small" id="808" name="Picture 51"/>
              <p:cNvPicPr/>
              <p:nvPr/>
            </p:nvPicPr>
            <p:blipFill>
              <a:blip r:embed="rId3"/>
              <a:stretch/>
            </p:blipFill>
            <p:spPr>
              <a:xfrm>
                <a:off x="1307880" y="3494880"/>
                <a:ext cx="493560" cy="30672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antenna_radiation_stylized" id="809" name="Picture 52"/>
              <p:cNvPicPr/>
              <p:nvPr/>
            </p:nvPicPr>
            <p:blipFill>
              <a:blip r:embed="rId4"/>
              <a:stretch/>
            </p:blipFill>
            <p:spPr>
              <a:xfrm>
                <a:off x="1269720" y="3449520"/>
                <a:ext cx="675360" cy="105840"/>
              </a:xfrm>
              <a:prstGeom prst="rect">
                <a:avLst/>
              </a:prstGeom>
              <a:ln w="54720">
                <a:noFill/>
              </a:ln>
            </p:spPr>
          </p:pic>
        </p:grpSp>
        <p:sp>
          <p:nvSpPr>
            <p:cNvPr id="810" name="Freeform 150"/>
            <p:cNvSpPr/>
            <p:nvPr/>
          </p:nvSpPr>
          <p:spPr>
            <a:xfrm>
              <a:off x="3141000" y="3476520"/>
              <a:ext cx="1752480" cy="674640"/>
            </a:xfrm>
            <a:custGeom>
              <a:avLst/>
              <a:gdLst>
                <a:gd fmla="*/ 0 w 1752480" name="textAreaLeft"/>
                <a:gd fmla="*/ 1752840 w 1752480" name="textAreaRight"/>
                <a:gd fmla="*/ 0 h 674640" name="textAreaTop"/>
                <a:gd fmla="*/ 675000 h 674640" name="textAreaBottom"/>
              </a:gdLst>
              <a:ahLst/>
              <a:cxnLst/>
              <a:rect b="textAreaBottom" l="textAreaLeft" r="textAreaRight" t="textAreaTop"/>
              <a:pathLst>
                <a:path h="425" w="828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 w="5472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11" name="Freeform 151"/>
            <p:cNvSpPr/>
            <p:nvPr/>
          </p:nvSpPr>
          <p:spPr>
            <a:xfrm>
              <a:off x="3136680" y="1950840"/>
              <a:ext cx="2306880" cy="1125720"/>
            </a:xfrm>
            <a:custGeom>
              <a:avLst/>
              <a:gdLst>
                <a:gd fmla="*/ 0 w 2306880" name="textAreaLeft"/>
                <a:gd fmla="*/ 2307240 w 2306880" name="textAreaRight"/>
                <a:gd fmla="*/ 0 h 1125720" name="textAreaTop"/>
                <a:gd fmla="*/ 1126080 h 1125720" name="textAreaBottom"/>
              </a:gdLst>
              <a:ahLst/>
              <a:cxnLst/>
              <a:rect b="textAreaBottom" l="textAreaLeft" r="textAreaRight" t="textAreaTop"/>
              <a:pathLst>
                <a:path h="459" w="765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00CCFF"/>
                </a:gs>
              </a:gsLst>
              <a:lin ang="10800000"/>
            </a:gradFill>
            <a:ln w="5472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12" name="Line 161"/>
            <p:cNvSpPr/>
            <p:nvPr/>
          </p:nvSpPr>
          <p:spPr>
            <a:xfrm>
              <a:off x="3648960" y="3762360"/>
              <a:ext cx="217800" cy="12060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13" name="Line 162"/>
            <p:cNvSpPr/>
            <p:nvPr/>
          </p:nvSpPr>
          <p:spPr>
            <a:xfrm>
              <a:off x="3778200" y="3682800"/>
              <a:ext cx="37260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14" name="Line 163"/>
            <p:cNvSpPr/>
            <p:nvPr/>
          </p:nvSpPr>
          <p:spPr>
            <a:xfrm flipV="1">
              <a:off x="4093560" y="3768480"/>
              <a:ext cx="180000" cy="10476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15" name="Line 164"/>
            <p:cNvSpPr/>
            <p:nvPr/>
          </p:nvSpPr>
          <p:spPr>
            <a:xfrm>
              <a:off x="2751480" y="2536920"/>
              <a:ext cx="679680" cy="2880"/>
            </a:xfrm>
            <a:prstGeom prst="line">
              <a:avLst/>
            </a:prstGeom>
            <a:ln cap="sq" w="9360">
              <a:solidFill>
                <a:srgbClr val="969696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3920" lIns="90000" rIns="90000" tIns="-4392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16" name="Line 165"/>
            <p:cNvSpPr/>
            <p:nvPr/>
          </p:nvSpPr>
          <p:spPr>
            <a:xfrm>
              <a:off x="3598200" y="4646520"/>
              <a:ext cx="520920" cy="18432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17" name="Line 166"/>
            <p:cNvSpPr/>
            <p:nvPr/>
          </p:nvSpPr>
          <p:spPr>
            <a:xfrm flipV="1">
              <a:off x="2770560" y="4633560"/>
              <a:ext cx="429480" cy="19836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18" name="Line 167"/>
            <p:cNvSpPr/>
            <p:nvPr/>
          </p:nvSpPr>
          <p:spPr>
            <a:xfrm>
              <a:off x="2827800" y="4925880"/>
              <a:ext cx="129564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19" name="Line 168"/>
            <p:cNvSpPr/>
            <p:nvPr/>
          </p:nvSpPr>
          <p:spPr>
            <a:xfrm flipV="1">
              <a:off x="3890520" y="2441160"/>
              <a:ext cx="165240" cy="8748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0680" lIns="90000" rIns="90000" tIns="4068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20" name="Line 169"/>
            <p:cNvSpPr/>
            <p:nvPr/>
          </p:nvSpPr>
          <p:spPr>
            <a:xfrm>
              <a:off x="3661560" y="2614680"/>
              <a:ext cx="0" cy="82440"/>
            </a:xfrm>
            <a:prstGeom prst="line">
              <a:avLst/>
            </a:prstGeom>
            <a:ln cap="sq" w="9360">
              <a:solidFill>
                <a:srgbClr val="969696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35640" lIns="90000" rIns="90000" tIns="3564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21" name="Line 170"/>
            <p:cNvSpPr/>
            <p:nvPr/>
          </p:nvSpPr>
          <p:spPr>
            <a:xfrm flipV="1">
              <a:off x="3890520" y="2511000"/>
              <a:ext cx="351360" cy="28908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22" name="Line 171"/>
            <p:cNvSpPr/>
            <p:nvPr/>
          </p:nvSpPr>
          <p:spPr>
            <a:xfrm>
              <a:off x="4377240" y="2509920"/>
              <a:ext cx="0" cy="19692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23" name="Line 172"/>
            <p:cNvSpPr/>
            <p:nvPr/>
          </p:nvSpPr>
          <p:spPr>
            <a:xfrm>
              <a:off x="3915720" y="2816280"/>
              <a:ext cx="25164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24" name="Line 173"/>
            <p:cNvSpPr/>
            <p:nvPr/>
          </p:nvSpPr>
          <p:spPr>
            <a:xfrm>
              <a:off x="4654440" y="2806560"/>
              <a:ext cx="23652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25" name="Line 174"/>
            <p:cNvSpPr/>
            <p:nvPr/>
          </p:nvSpPr>
          <p:spPr>
            <a:xfrm flipH="1">
              <a:off x="3515040" y="2882880"/>
              <a:ext cx="131040" cy="704880"/>
            </a:xfrm>
            <a:prstGeom prst="line">
              <a:avLst/>
            </a:prstGeom>
            <a:ln cap="sq" w="9360">
              <a:solidFill>
                <a:srgbClr val="969696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26" name="Line 175"/>
            <p:cNvSpPr/>
            <p:nvPr/>
          </p:nvSpPr>
          <p:spPr>
            <a:xfrm flipH="1">
              <a:off x="4304520" y="2882880"/>
              <a:ext cx="148320" cy="72720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27" name="Line 176"/>
            <p:cNvSpPr/>
            <p:nvPr/>
          </p:nvSpPr>
          <p:spPr>
            <a:xfrm flipV="1">
              <a:off x="3483720" y="4024440"/>
              <a:ext cx="302760" cy="43632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sp>
          <p:nvSpPr>
            <p:cNvPr id="828" name="Line 177"/>
            <p:cNvSpPr/>
            <p:nvPr/>
          </p:nvSpPr>
          <p:spPr>
            <a:xfrm>
              <a:off x="4914720" y="2805120"/>
              <a:ext cx="237240" cy="0"/>
            </a:xfrm>
            <a:prstGeom prst="line">
              <a:avLst/>
            </a:prstGeom>
            <a:ln cap="sq" w="9360">
              <a:solidFill>
                <a:srgbClr val="808080"/>
              </a:solidFill>
              <a:custDash>
                <a:ds d="403846" sp="303846"/>
              </a:custDash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grpSp>
          <p:nvGrpSpPr>
            <p:cNvPr id="829" name="Group 58"/>
            <p:cNvGrpSpPr/>
            <p:nvPr/>
          </p:nvGrpSpPr>
          <p:grpSpPr>
            <a:xfrm>
              <a:off x="1857960" y="1792440"/>
              <a:ext cx="624600" cy="620640"/>
              <a:chOff x="1857960" y="1792440"/>
              <a:chExt cx="624600" cy="620640"/>
            </a:xfrm>
          </p:grpSpPr>
          <p:sp>
            <p:nvSpPr>
              <p:cNvPr id="830" name="Line 178"/>
              <p:cNvSpPr/>
              <p:nvPr/>
            </p:nvSpPr>
            <p:spPr>
              <a:xfrm flipH="1">
                <a:off x="1971000" y="1972080"/>
                <a:ext cx="188640" cy="39924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31" name="Line 179"/>
              <p:cNvSpPr/>
              <p:nvPr/>
            </p:nvSpPr>
            <p:spPr>
              <a:xfrm>
                <a:off x="2160360" y="1972080"/>
                <a:ext cx="188640" cy="39708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32" name="Line 180"/>
              <p:cNvSpPr/>
              <p:nvPr/>
            </p:nvSpPr>
            <p:spPr>
              <a:xfrm>
                <a:off x="1971360" y="2369520"/>
                <a:ext cx="188640" cy="4356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240" lIns="90000" rIns="90000" tIns="-324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33" name="Line 181"/>
              <p:cNvSpPr/>
              <p:nvPr/>
            </p:nvSpPr>
            <p:spPr>
              <a:xfrm flipH="1">
                <a:off x="2160000" y="2369520"/>
                <a:ext cx="188640" cy="4356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240" lIns="90000" rIns="90000" tIns="-324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34" name="Line 182"/>
              <p:cNvSpPr/>
              <p:nvPr/>
            </p:nvSpPr>
            <p:spPr>
              <a:xfrm>
                <a:off x="2160360" y="1981080"/>
                <a:ext cx="0" cy="43200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35" name="Line 183"/>
              <p:cNvSpPr/>
              <p:nvPr/>
            </p:nvSpPr>
            <p:spPr>
              <a:xfrm flipV="1">
                <a:off x="1971360" y="2328120"/>
                <a:ext cx="188640" cy="4284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960" lIns="90000" rIns="90000" tIns="-396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36" name="Line 184"/>
              <p:cNvSpPr/>
              <p:nvPr/>
            </p:nvSpPr>
            <p:spPr>
              <a:xfrm flipH="1" flipV="1">
                <a:off x="2160000" y="2328120"/>
                <a:ext cx="188640" cy="4068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6120" lIns="90000" rIns="90000" tIns="-61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37" name="Line 185"/>
              <p:cNvSpPr/>
              <p:nvPr/>
            </p:nvSpPr>
            <p:spPr>
              <a:xfrm>
                <a:off x="2051640" y="2197800"/>
                <a:ext cx="108360" cy="3276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14040" lIns="90000" rIns="90000" tIns="-1404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38" name="Line 186"/>
              <p:cNvSpPr/>
              <p:nvPr/>
            </p:nvSpPr>
            <p:spPr>
              <a:xfrm flipV="1">
                <a:off x="2160360" y="2197440"/>
                <a:ext cx="114120" cy="3276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14040" lIns="90000" rIns="90000" tIns="-1404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39" name="Line 187"/>
              <p:cNvSpPr/>
              <p:nvPr/>
            </p:nvSpPr>
            <p:spPr>
              <a:xfrm>
                <a:off x="2015640" y="2256480"/>
                <a:ext cx="139320" cy="4392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2880" lIns="90000" rIns="90000" tIns="-288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40" name="Line 188"/>
              <p:cNvSpPr/>
              <p:nvPr/>
            </p:nvSpPr>
            <p:spPr>
              <a:xfrm flipV="1">
                <a:off x="2160360" y="2264760"/>
                <a:ext cx="140040" cy="3852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8280" lIns="90000" rIns="90000" tIns="-828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41" name="Line 189"/>
              <p:cNvSpPr/>
              <p:nvPr/>
            </p:nvSpPr>
            <p:spPr>
              <a:xfrm flipV="1">
                <a:off x="2160360" y="2137320"/>
                <a:ext cx="72000" cy="1620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0600" lIns="90000" rIns="90000" tIns="-306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42" name="Line 190"/>
              <p:cNvSpPr/>
              <p:nvPr/>
            </p:nvSpPr>
            <p:spPr>
              <a:xfrm flipV="1">
                <a:off x="2160360" y="2054880"/>
                <a:ext cx="44640" cy="1188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4920" lIns="90000" rIns="90000" tIns="-349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43" name="Line 191"/>
              <p:cNvSpPr/>
              <p:nvPr/>
            </p:nvSpPr>
            <p:spPr>
              <a:xfrm>
                <a:off x="2079000" y="2132280"/>
                <a:ext cx="87480" cy="2160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25200" lIns="90000" rIns="90000" tIns="-252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44" name="Line 192"/>
              <p:cNvSpPr/>
              <p:nvPr/>
            </p:nvSpPr>
            <p:spPr>
              <a:xfrm>
                <a:off x="2117880" y="2052000"/>
                <a:ext cx="50040" cy="20880"/>
              </a:xfrm>
              <a:prstGeom prst="line">
                <a:avLst/>
              </a:prstGeom>
              <a:ln cap="sq" w="1908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25920" lIns="90000" rIns="90000" tIns="-259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45" name="Oval 67"/>
              <p:cNvSpPr/>
              <p:nvPr/>
            </p:nvSpPr>
            <p:spPr>
              <a:xfrm>
                <a:off x="2126880" y="1935360"/>
                <a:ext cx="63000" cy="46080"/>
              </a:xfrm>
              <a:prstGeom prst="ellipse">
                <a:avLst/>
              </a:prstGeom>
              <a:solidFill>
                <a:srgbClr val="808080"/>
              </a:soli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3680" lIns="90000" rIns="90000" tIns="-136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pic>
            <p:nvPicPr>
              <p:cNvPr descr="cell_tower_radiation_gray" id="846" name="Picture 53"/>
              <p:cNvPicPr/>
              <p:nvPr/>
            </p:nvPicPr>
            <p:blipFill>
              <a:blip r:embed="rId5"/>
              <a:stretch/>
            </p:blipFill>
            <p:spPr>
              <a:xfrm>
                <a:off x="1857960" y="1792440"/>
                <a:ext cx="624600" cy="342720"/>
              </a:xfrm>
              <a:prstGeom prst="rect">
                <a:avLst/>
              </a:prstGeom>
              <a:ln w="54720">
                <a:noFill/>
              </a:ln>
            </p:spPr>
          </p:pic>
        </p:grpSp>
        <p:grpSp>
          <p:nvGrpSpPr>
            <p:cNvPr id="847" name="Group 59"/>
            <p:cNvGrpSpPr/>
            <p:nvPr/>
          </p:nvGrpSpPr>
          <p:grpSpPr>
            <a:xfrm>
              <a:off x="2173320" y="2352600"/>
              <a:ext cx="605520" cy="254160"/>
              <a:chOff x="2173320" y="2352600"/>
              <a:chExt cx="605520" cy="254160"/>
            </a:xfrm>
          </p:grpSpPr>
          <p:sp>
            <p:nvSpPr>
              <p:cNvPr id="848" name="Line 193"/>
              <p:cNvSpPr/>
              <p:nvPr/>
            </p:nvSpPr>
            <p:spPr>
              <a:xfrm>
                <a:off x="2173320" y="2352600"/>
                <a:ext cx="203040" cy="95400"/>
              </a:xfrm>
              <a:prstGeom prst="line">
                <a:avLst/>
              </a:prstGeom>
              <a:ln cap="sq" w="9360">
                <a:solidFill>
                  <a:srgbClr val="969696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49" name="Oval 68"/>
              <p:cNvSpPr/>
              <p:nvPr/>
            </p:nvSpPr>
            <p:spPr>
              <a:xfrm>
                <a:off x="2259720" y="2511360"/>
                <a:ext cx="516600" cy="954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1240" lIns="90000" rIns="90000" tIns="212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50" name="Rectangle 29"/>
              <p:cNvSpPr/>
              <p:nvPr/>
            </p:nvSpPr>
            <p:spPr>
              <a:xfrm>
                <a:off x="2259720" y="2502000"/>
                <a:ext cx="519120" cy="5868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1880" lIns="90000" rIns="90000" tIns="118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51" name="Oval 69"/>
              <p:cNvSpPr/>
              <p:nvPr/>
            </p:nvSpPr>
            <p:spPr>
              <a:xfrm>
                <a:off x="2257920" y="2436840"/>
                <a:ext cx="516600" cy="1112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2040" lIns="90000" rIns="90000" tIns="320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852" name="Group 60"/>
              <p:cNvGrpSpPr/>
              <p:nvPr/>
            </p:nvGrpSpPr>
            <p:grpSpPr>
              <a:xfrm>
                <a:off x="2361600" y="2465280"/>
                <a:ext cx="292320" cy="52560"/>
                <a:chOff x="2361600" y="2465280"/>
                <a:chExt cx="292320" cy="52560"/>
              </a:xfrm>
            </p:grpSpPr>
            <p:sp>
              <p:nvSpPr>
                <p:cNvPr id="853" name="Freeform 303"/>
                <p:cNvSpPr/>
                <p:nvPr/>
              </p:nvSpPr>
              <p:spPr>
                <a:xfrm>
                  <a:off x="2361600" y="2465280"/>
                  <a:ext cx="292320" cy="52560"/>
                </a:xfrm>
                <a:custGeom>
                  <a:avLst/>
                  <a:gdLst>
                    <a:gd fmla="*/ 0 w 292320" name="textAreaLeft"/>
                    <a:gd fmla="*/ 292680 w 292320" name="textAreaRight"/>
                    <a:gd fmla="*/ 0 h 52560" name="textAreaTop"/>
                    <a:gd fmla="*/ 52920 h 5256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120" lIns="90000" rIns="90000" tIns="612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854" name="Freeform 304"/>
                <p:cNvSpPr/>
                <p:nvPr/>
              </p:nvSpPr>
              <p:spPr>
                <a:xfrm>
                  <a:off x="2374560" y="2465280"/>
                  <a:ext cx="266040" cy="52560"/>
                </a:xfrm>
                <a:custGeom>
                  <a:avLst/>
                  <a:gdLst>
                    <a:gd fmla="*/ 0 w 266040" name="textAreaLeft"/>
                    <a:gd fmla="*/ 266400 w 266040" name="textAreaRight"/>
                    <a:gd fmla="*/ 0 h 52560" name="textAreaTop"/>
                    <a:gd fmla="*/ 52920 h 5256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120" lIns="90000" rIns="90000" tIns="612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855" name="Line 194"/>
              <p:cNvSpPr/>
              <p:nvPr/>
            </p:nvSpPr>
            <p:spPr>
              <a:xfrm>
                <a:off x="2259720" y="2489040"/>
                <a:ext cx="0" cy="7488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8080" lIns="90000" rIns="90000" tIns="2808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56" name="Line 195"/>
              <p:cNvSpPr/>
              <p:nvPr/>
            </p:nvSpPr>
            <p:spPr>
              <a:xfrm>
                <a:off x="2774520" y="2492280"/>
                <a:ext cx="0" cy="7308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6280" lIns="90000" rIns="90000" tIns="2628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857" name="Group 61"/>
            <p:cNvGrpSpPr/>
            <p:nvPr/>
          </p:nvGrpSpPr>
          <p:grpSpPr>
            <a:xfrm>
              <a:off x="3390840" y="2440080"/>
              <a:ext cx="520560" cy="174240"/>
              <a:chOff x="3390840" y="2440080"/>
              <a:chExt cx="520560" cy="174240"/>
            </a:xfrm>
          </p:grpSpPr>
          <p:sp>
            <p:nvSpPr>
              <p:cNvPr id="858" name="Oval 70"/>
              <p:cNvSpPr/>
              <p:nvPr/>
            </p:nvSpPr>
            <p:spPr>
              <a:xfrm>
                <a:off x="3392640" y="2516760"/>
                <a:ext cx="516600" cy="975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2680" lIns="90000" rIns="90000" tIns="226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59" name="Rectangle 30"/>
              <p:cNvSpPr/>
              <p:nvPr/>
            </p:nvSpPr>
            <p:spPr>
              <a:xfrm>
                <a:off x="3392640" y="2506680"/>
                <a:ext cx="518760" cy="601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3320" lIns="90000" rIns="90000" tIns="133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60" name="Oval 71"/>
              <p:cNvSpPr/>
              <p:nvPr/>
            </p:nvSpPr>
            <p:spPr>
              <a:xfrm>
                <a:off x="3390840" y="2440080"/>
                <a:ext cx="516240" cy="11412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200" lIns="90000" rIns="90000" tIns="342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861" name="Group 123"/>
              <p:cNvGrpSpPr/>
              <p:nvPr/>
            </p:nvGrpSpPr>
            <p:grpSpPr>
              <a:xfrm>
                <a:off x="3494520" y="2469600"/>
                <a:ext cx="291600" cy="53280"/>
                <a:chOff x="3494520" y="2469600"/>
                <a:chExt cx="291600" cy="53280"/>
              </a:xfrm>
            </p:grpSpPr>
            <p:sp>
              <p:nvSpPr>
                <p:cNvPr id="862" name="Freeform 305"/>
                <p:cNvSpPr/>
                <p:nvPr/>
              </p:nvSpPr>
              <p:spPr>
                <a:xfrm>
                  <a:off x="3494520" y="2469600"/>
                  <a:ext cx="291600" cy="53280"/>
                </a:xfrm>
                <a:custGeom>
                  <a:avLst/>
                  <a:gdLst>
                    <a:gd fmla="*/ 0 w 291600" name="textAreaLeft"/>
                    <a:gd fmla="*/ 291960 w 291600" name="textAreaRight"/>
                    <a:gd fmla="*/ 0 h 53280" name="textAreaTop"/>
                    <a:gd fmla="*/ 53640 h 532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840" lIns="90000" rIns="90000" tIns="68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863" name="Freeform 306"/>
                <p:cNvSpPr/>
                <p:nvPr/>
              </p:nvSpPr>
              <p:spPr>
                <a:xfrm>
                  <a:off x="3507480" y="2469600"/>
                  <a:ext cx="265320" cy="53280"/>
                </a:xfrm>
                <a:custGeom>
                  <a:avLst/>
                  <a:gdLst>
                    <a:gd fmla="*/ 0 w 265320" name="textAreaLeft"/>
                    <a:gd fmla="*/ 265680 w 265320" name="textAreaRight"/>
                    <a:gd fmla="*/ 0 h 53280" name="textAreaTop"/>
                    <a:gd fmla="*/ 53640 h 532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840" lIns="90000" rIns="90000" tIns="68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864" name="Line 196"/>
              <p:cNvSpPr/>
              <p:nvPr/>
            </p:nvSpPr>
            <p:spPr>
              <a:xfrm>
                <a:off x="3392640" y="2494080"/>
                <a:ext cx="0" cy="763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9520" lIns="90000" rIns="90000" tIns="295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65" name="Line 197"/>
              <p:cNvSpPr/>
              <p:nvPr/>
            </p:nvSpPr>
            <p:spPr>
              <a:xfrm>
                <a:off x="3907080" y="2497320"/>
                <a:ext cx="0" cy="745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720" lIns="90000" rIns="90000" tIns="277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866" name="Group 124"/>
            <p:cNvGrpSpPr/>
            <p:nvPr/>
          </p:nvGrpSpPr>
          <p:grpSpPr>
            <a:xfrm>
              <a:off x="3405600" y="2703600"/>
              <a:ext cx="520920" cy="174240"/>
              <a:chOff x="3405600" y="2703600"/>
              <a:chExt cx="520920" cy="174240"/>
            </a:xfrm>
          </p:grpSpPr>
          <p:sp>
            <p:nvSpPr>
              <p:cNvPr id="867" name="Oval 72"/>
              <p:cNvSpPr/>
              <p:nvPr/>
            </p:nvSpPr>
            <p:spPr>
              <a:xfrm>
                <a:off x="3407400" y="2780280"/>
                <a:ext cx="516600" cy="975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2680" lIns="90000" rIns="90000" tIns="226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68" name="Rectangle 31"/>
              <p:cNvSpPr/>
              <p:nvPr/>
            </p:nvSpPr>
            <p:spPr>
              <a:xfrm>
                <a:off x="3407400" y="2770200"/>
                <a:ext cx="519120" cy="601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3320" lIns="90000" rIns="90000" tIns="133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69" name="Oval 73"/>
              <p:cNvSpPr/>
              <p:nvPr/>
            </p:nvSpPr>
            <p:spPr>
              <a:xfrm>
                <a:off x="3405600" y="2703600"/>
                <a:ext cx="516600" cy="11412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200" lIns="90000" rIns="90000" tIns="342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870" name="Group 125"/>
              <p:cNvGrpSpPr/>
              <p:nvPr/>
            </p:nvGrpSpPr>
            <p:grpSpPr>
              <a:xfrm>
                <a:off x="3509280" y="2733120"/>
                <a:ext cx="291960" cy="53280"/>
                <a:chOff x="3509280" y="2733120"/>
                <a:chExt cx="291960" cy="53280"/>
              </a:xfrm>
            </p:grpSpPr>
            <p:sp>
              <p:nvSpPr>
                <p:cNvPr id="871" name="Freeform 307"/>
                <p:cNvSpPr/>
                <p:nvPr/>
              </p:nvSpPr>
              <p:spPr>
                <a:xfrm>
                  <a:off x="3509280" y="2733120"/>
                  <a:ext cx="291960" cy="53280"/>
                </a:xfrm>
                <a:custGeom>
                  <a:avLst/>
                  <a:gdLst>
                    <a:gd fmla="*/ 0 w 291960" name="textAreaLeft"/>
                    <a:gd fmla="*/ 291960 w 291960" name="textAreaRight"/>
                    <a:gd fmla="*/ 0 h 53280" name="textAreaTop"/>
                    <a:gd fmla="*/ 53640 h 532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840" lIns="90000" rIns="90000" tIns="68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872" name="Freeform 308"/>
                <p:cNvSpPr/>
                <p:nvPr/>
              </p:nvSpPr>
              <p:spPr>
                <a:xfrm>
                  <a:off x="3522240" y="2733120"/>
                  <a:ext cx="265320" cy="53280"/>
                </a:xfrm>
                <a:custGeom>
                  <a:avLst/>
                  <a:gdLst>
                    <a:gd fmla="*/ 0 w 265320" name="textAreaLeft"/>
                    <a:gd fmla="*/ 265680 w 265320" name="textAreaRight"/>
                    <a:gd fmla="*/ 0 h 53280" name="textAreaTop"/>
                    <a:gd fmla="*/ 53640 h 532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840" lIns="90000" rIns="90000" tIns="68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873" name="Line 198"/>
              <p:cNvSpPr/>
              <p:nvPr/>
            </p:nvSpPr>
            <p:spPr>
              <a:xfrm>
                <a:off x="3407400" y="2757600"/>
                <a:ext cx="0" cy="763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9520" lIns="90000" rIns="90000" tIns="295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74" name="Line 199"/>
              <p:cNvSpPr/>
              <p:nvPr/>
            </p:nvSpPr>
            <p:spPr>
              <a:xfrm>
                <a:off x="3922200" y="2760840"/>
                <a:ext cx="0" cy="745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720" lIns="90000" rIns="90000" tIns="277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875" name="Group 126"/>
            <p:cNvGrpSpPr/>
            <p:nvPr/>
          </p:nvGrpSpPr>
          <p:grpSpPr>
            <a:xfrm>
              <a:off x="4138200" y="2705040"/>
              <a:ext cx="519840" cy="174240"/>
              <a:chOff x="4138200" y="2705040"/>
              <a:chExt cx="519840" cy="174240"/>
            </a:xfrm>
          </p:grpSpPr>
          <p:sp>
            <p:nvSpPr>
              <p:cNvPr id="876" name="Oval 74"/>
              <p:cNvSpPr/>
              <p:nvPr/>
            </p:nvSpPr>
            <p:spPr>
              <a:xfrm>
                <a:off x="4139640" y="2781720"/>
                <a:ext cx="515880" cy="975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2680" lIns="90000" rIns="90000" tIns="226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77" name="Rectangle 32"/>
              <p:cNvSpPr/>
              <p:nvPr/>
            </p:nvSpPr>
            <p:spPr>
              <a:xfrm>
                <a:off x="4139640" y="2771640"/>
                <a:ext cx="518400" cy="601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3320" lIns="90000" rIns="90000" tIns="133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78" name="Oval 75"/>
              <p:cNvSpPr/>
              <p:nvPr/>
            </p:nvSpPr>
            <p:spPr>
              <a:xfrm>
                <a:off x="4138200" y="2705040"/>
                <a:ext cx="515880" cy="11412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200" lIns="90000" rIns="90000" tIns="342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879" name="Group 127"/>
              <p:cNvGrpSpPr/>
              <p:nvPr/>
            </p:nvGrpSpPr>
            <p:grpSpPr>
              <a:xfrm>
                <a:off x="4241160" y="2734560"/>
                <a:ext cx="291600" cy="53280"/>
                <a:chOff x="4241160" y="2734560"/>
                <a:chExt cx="291600" cy="53280"/>
              </a:xfrm>
            </p:grpSpPr>
            <p:sp>
              <p:nvSpPr>
                <p:cNvPr id="880" name="Freeform 309"/>
                <p:cNvSpPr/>
                <p:nvPr/>
              </p:nvSpPr>
              <p:spPr>
                <a:xfrm>
                  <a:off x="4241160" y="2734560"/>
                  <a:ext cx="291600" cy="53280"/>
                </a:xfrm>
                <a:custGeom>
                  <a:avLst/>
                  <a:gdLst>
                    <a:gd fmla="*/ 0 w 291600" name="textAreaLeft"/>
                    <a:gd fmla="*/ 291960 w 291600" name="textAreaRight"/>
                    <a:gd fmla="*/ 0 h 53280" name="textAreaTop"/>
                    <a:gd fmla="*/ 53640 h 532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840" lIns="90000" rIns="90000" tIns="68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881" name="Freeform 310"/>
                <p:cNvSpPr/>
                <p:nvPr/>
              </p:nvSpPr>
              <p:spPr>
                <a:xfrm>
                  <a:off x="4254120" y="2734560"/>
                  <a:ext cx="264960" cy="53280"/>
                </a:xfrm>
                <a:custGeom>
                  <a:avLst/>
                  <a:gdLst>
                    <a:gd fmla="*/ 0 w 264960" name="textAreaLeft"/>
                    <a:gd fmla="*/ 265320 w 264960" name="textAreaRight"/>
                    <a:gd fmla="*/ 0 h 53280" name="textAreaTop"/>
                    <a:gd fmla="*/ 53640 h 532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840" lIns="90000" rIns="90000" tIns="68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882" name="Line 200"/>
              <p:cNvSpPr/>
              <p:nvPr/>
            </p:nvSpPr>
            <p:spPr>
              <a:xfrm>
                <a:off x="4139640" y="2759040"/>
                <a:ext cx="0" cy="763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9520" lIns="90000" rIns="90000" tIns="295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83" name="Line 201"/>
              <p:cNvSpPr/>
              <p:nvPr/>
            </p:nvSpPr>
            <p:spPr>
              <a:xfrm>
                <a:off x="4654080" y="2762280"/>
                <a:ext cx="0" cy="745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720" lIns="90000" rIns="90000" tIns="277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884" name="Group 128"/>
            <p:cNvGrpSpPr/>
            <p:nvPr/>
          </p:nvGrpSpPr>
          <p:grpSpPr>
            <a:xfrm>
              <a:off x="4040640" y="2340000"/>
              <a:ext cx="519840" cy="174240"/>
              <a:chOff x="4040640" y="2340000"/>
              <a:chExt cx="519840" cy="174240"/>
            </a:xfrm>
          </p:grpSpPr>
          <p:sp>
            <p:nvSpPr>
              <p:cNvPr id="885" name="Oval 76"/>
              <p:cNvSpPr/>
              <p:nvPr/>
            </p:nvSpPr>
            <p:spPr>
              <a:xfrm>
                <a:off x="4042080" y="2416680"/>
                <a:ext cx="515880" cy="975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2680" lIns="90000" rIns="90000" tIns="226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86" name="Rectangle 33"/>
              <p:cNvSpPr/>
              <p:nvPr/>
            </p:nvSpPr>
            <p:spPr>
              <a:xfrm>
                <a:off x="4042080" y="2406600"/>
                <a:ext cx="518400" cy="601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3320" lIns="90000" rIns="90000" tIns="133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87" name="Oval 77"/>
              <p:cNvSpPr/>
              <p:nvPr/>
            </p:nvSpPr>
            <p:spPr>
              <a:xfrm>
                <a:off x="4040640" y="2340000"/>
                <a:ext cx="515880" cy="11412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200" lIns="90000" rIns="90000" tIns="342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888" name="Group 129"/>
              <p:cNvGrpSpPr/>
              <p:nvPr/>
            </p:nvGrpSpPr>
            <p:grpSpPr>
              <a:xfrm>
                <a:off x="4143960" y="2369520"/>
                <a:ext cx="291240" cy="53280"/>
                <a:chOff x="4143960" y="2369520"/>
                <a:chExt cx="291240" cy="53280"/>
              </a:xfrm>
            </p:grpSpPr>
            <p:sp>
              <p:nvSpPr>
                <p:cNvPr id="889" name="Freeform 311"/>
                <p:cNvSpPr/>
                <p:nvPr/>
              </p:nvSpPr>
              <p:spPr>
                <a:xfrm>
                  <a:off x="4143960" y="2369520"/>
                  <a:ext cx="291240" cy="53280"/>
                </a:xfrm>
                <a:custGeom>
                  <a:avLst/>
                  <a:gdLst>
                    <a:gd fmla="*/ 0 w 291240" name="textAreaLeft"/>
                    <a:gd fmla="*/ 291600 w 291240" name="textAreaRight"/>
                    <a:gd fmla="*/ 0 h 53280" name="textAreaTop"/>
                    <a:gd fmla="*/ 53640 h 532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840" lIns="90000" rIns="90000" tIns="68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890" name="Freeform 312"/>
                <p:cNvSpPr/>
                <p:nvPr/>
              </p:nvSpPr>
              <p:spPr>
                <a:xfrm>
                  <a:off x="4156920" y="2369520"/>
                  <a:ext cx="264960" cy="53280"/>
                </a:xfrm>
                <a:custGeom>
                  <a:avLst/>
                  <a:gdLst>
                    <a:gd fmla="*/ 0 w 264960" name="textAreaLeft"/>
                    <a:gd fmla="*/ 265320 w 264960" name="textAreaRight"/>
                    <a:gd fmla="*/ 0 h 53280" name="textAreaTop"/>
                    <a:gd fmla="*/ 53640 h 532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840" lIns="90000" rIns="90000" tIns="68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891" name="Line 202"/>
              <p:cNvSpPr/>
              <p:nvPr/>
            </p:nvSpPr>
            <p:spPr>
              <a:xfrm>
                <a:off x="4042080" y="2394000"/>
                <a:ext cx="0" cy="763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9520" lIns="90000" rIns="90000" tIns="295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92" name="Line 203"/>
              <p:cNvSpPr/>
              <p:nvPr/>
            </p:nvSpPr>
            <p:spPr>
              <a:xfrm>
                <a:off x="4556520" y="2397240"/>
                <a:ext cx="0" cy="745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720" lIns="90000" rIns="90000" tIns="277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893" name="Group 130"/>
            <p:cNvGrpSpPr/>
            <p:nvPr/>
          </p:nvGrpSpPr>
          <p:grpSpPr>
            <a:xfrm>
              <a:off x="4104000" y="3591000"/>
              <a:ext cx="655560" cy="205920"/>
              <a:chOff x="4104000" y="3591000"/>
              <a:chExt cx="655560" cy="205920"/>
            </a:xfrm>
          </p:grpSpPr>
          <p:sp>
            <p:nvSpPr>
              <p:cNvPr id="894" name="Oval 78"/>
              <p:cNvSpPr/>
              <p:nvPr/>
            </p:nvSpPr>
            <p:spPr>
              <a:xfrm>
                <a:off x="4106520" y="3681720"/>
                <a:ext cx="650160" cy="1152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560" lIns="90000" rIns="90000" tIns="345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95" name="Rectangle 34"/>
              <p:cNvSpPr/>
              <p:nvPr/>
            </p:nvSpPr>
            <p:spPr>
              <a:xfrm>
                <a:off x="4106520" y="3669840"/>
                <a:ext cx="653040" cy="709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4120" lIns="90000" rIns="90000" tIns="241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896" name="Oval 79"/>
              <p:cNvSpPr/>
              <p:nvPr/>
            </p:nvSpPr>
            <p:spPr>
              <a:xfrm>
                <a:off x="4104000" y="3591000"/>
                <a:ext cx="650520" cy="1346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897" name="Group 131"/>
              <p:cNvGrpSpPr/>
              <p:nvPr/>
            </p:nvGrpSpPr>
            <p:grpSpPr>
              <a:xfrm>
                <a:off x="4234680" y="3625920"/>
                <a:ext cx="367200" cy="63000"/>
                <a:chOff x="4234680" y="3625920"/>
                <a:chExt cx="367200" cy="63000"/>
              </a:xfrm>
            </p:grpSpPr>
            <p:sp>
              <p:nvSpPr>
                <p:cNvPr id="898" name="Freeform 313"/>
                <p:cNvSpPr/>
                <p:nvPr/>
              </p:nvSpPr>
              <p:spPr>
                <a:xfrm>
                  <a:off x="4234680" y="3625920"/>
                  <a:ext cx="367200" cy="63000"/>
                </a:xfrm>
                <a:custGeom>
                  <a:avLst/>
                  <a:gdLst>
                    <a:gd fmla="*/ 0 w 367200" name="textAreaLeft"/>
                    <a:gd fmla="*/ 367560 w 367200" name="textAreaRight"/>
                    <a:gd fmla="*/ 0 h 63000" name="textAreaTop"/>
                    <a:gd fmla="*/ 63360 h 6300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560" lIns="90000" rIns="90000" tIns="165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899" name="Freeform 314"/>
                <p:cNvSpPr/>
                <p:nvPr/>
              </p:nvSpPr>
              <p:spPr>
                <a:xfrm>
                  <a:off x="4250880" y="3625920"/>
                  <a:ext cx="334080" cy="63000"/>
                </a:xfrm>
                <a:custGeom>
                  <a:avLst/>
                  <a:gdLst>
                    <a:gd fmla="*/ 0 w 334080" name="textAreaLeft"/>
                    <a:gd fmla="*/ 334440 w 334080" name="textAreaRight"/>
                    <a:gd fmla="*/ 0 h 63000" name="textAreaTop"/>
                    <a:gd fmla="*/ 63360 h 6300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560" lIns="90000" rIns="90000" tIns="165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900" name="Line 204"/>
              <p:cNvSpPr/>
              <p:nvPr/>
            </p:nvSpPr>
            <p:spPr>
              <a:xfrm>
                <a:off x="4106520" y="3654720"/>
                <a:ext cx="0" cy="9036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3560" lIns="90000" rIns="90000" tIns="4356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01" name="Line 205"/>
              <p:cNvSpPr/>
              <p:nvPr/>
            </p:nvSpPr>
            <p:spPr>
              <a:xfrm>
                <a:off x="4754520" y="3658680"/>
                <a:ext cx="0" cy="8460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7800" lIns="90000" rIns="90000" tIns="37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sp>
          <p:nvSpPr>
            <p:cNvPr id="902" name="Line 206"/>
            <p:cNvSpPr/>
            <p:nvPr/>
          </p:nvSpPr>
          <p:spPr>
            <a:xfrm>
              <a:off x="2357640" y="3689280"/>
              <a:ext cx="905760" cy="0"/>
            </a:xfrm>
            <a:prstGeom prst="line">
              <a:avLst/>
            </a:prstGeom>
            <a:ln cap="sq" w="936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46800" lIns="90000" rIns="90000" tIns="-468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grpSp>
          <p:nvGrpSpPr>
            <p:cNvPr id="903" name="Group 132"/>
            <p:cNvGrpSpPr/>
            <p:nvPr/>
          </p:nvGrpSpPr>
          <p:grpSpPr>
            <a:xfrm>
              <a:off x="3236040" y="3578040"/>
              <a:ext cx="655920" cy="205920"/>
              <a:chOff x="3236040" y="3578040"/>
              <a:chExt cx="655920" cy="205920"/>
            </a:xfrm>
          </p:grpSpPr>
          <p:sp>
            <p:nvSpPr>
              <p:cNvPr id="904" name="Oval 80"/>
              <p:cNvSpPr/>
              <p:nvPr/>
            </p:nvSpPr>
            <p:spPr>
              <a:xfrm>
                <a:off x="3238560" y="3668760"/>
                <a:ext cx="650520" cy="1152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560" lIns="90000" rIns="90000" tIns="345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05" name="Rectangle 69"/>
              <p:cNvSpPr/>
              <p:nvPr/>
            </p:nvSpPr>
            <p:spPr>
              <a:xfrm>
                <a:off x="3238560" y="3657240"/>
                <a:ext cx="653400" cy="7128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4480" lIns="90000" rIns="90000" tIns="244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06" name="Oval 81"/>
              <p:cNvSpPr/>
              <p:nvPr/>
            </p:nvSpPr>
            <p:spPr>
              <a:xfrm>
                <a:off x="3236040" y="3578040"/>
                <a:ext cx="650520" cy="135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907" name="Group 133"/>
              <p:cNvGrpSpPr/>
              <p:nvPr/>
            </p:nvGrpSpPr>
            <p:grpSpPr>
              <a:xfrm>
                <a:off x="3366720" y="3612960"/>
                <a:ext cx="367200" cy="63360"/>
                <a:chOff x="3366720" y="3612960"/>
                <a:chExt cx="367200" cy="63360"/>
              </a:xfrm>
            </p:grpSpPr>
            <p:sp>
              <p:nvSpPr>
                <p:cNvPr id="908" name="Freeform 315"/>
                <p:cNvSpPr/>
                <p:nvPr/>
              </p:nvSpPr>
              <p:spPr>
                <a:xfrm>
                  <a:off x="3366720" y="3612960"/>
                  <a:ext cx="367200" cy="63360"/>
                </a:xfrm>
                <a:custGeom>
                  <a:avLst/>
                  <a:gdLst>
                    <a:gd fmla="*/ 0 w 367200" name="textAreaLeft"/>
                    <a:gd fmla="*/ 367560 w 367200" name="textAreaRight"/>
                    <a:gd fmla="*/ 0 h 63360" name="textAreaTop"/>
                    <a:gd fmla="*/ 63720 h 6336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920" lIns="90000" rIns="90000" tIns="1692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09" name="Freeform 316"/>
                <p:cNvSpPr/>
                <p:nvPr/>
              </p:nvSpPr>
              <p:spPr>
                <a:xfrm>
                  <a:off x="3382920" y="3612960"/>
                  <a:ext cx="334080" cy="63360"/>
                </a:xfrm>
                <a:custGeom>
                  <a:avLst/>
                  <a:gdLst>
                    <a:gd fmla="*/ 0 w 334080" name="textAreaLeft"/>
                    <a:gd fmla="*/ 334440 w 334080" name="textAreaRight"/>
                    <a:gd fmla="*/ 0 h 63360" name="textAreaTop"/>
                    <a:gd fmla="*/ 63720 h 6336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920" lIns="90000" rIns="90000" tIns="1692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910" name="Line 207"/>
              <p:cNvSpPr/>
              <p:nvPr/>
            </p:nvSpPr>
            <p:spPr>
              <a:xfrm>
                <a:off x="3238560" y="3641760"/>
                <a:ext cx="0" cy="9036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3560" lIns="90000" rIns="90000" tIns="4356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11" name="Line 208"/>
              <p:cNvSpPr/>
              <p:nvPr/>
            </p:nvSpPr>
            <p:spPr>
              <a:xfrm>
                <a:off x="3886560" y="3645720"/>
                <a:ext cx="0" cy="8460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7800" lIns="90000" rIns="90000" tIns="37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912" name="Group 134"/>
            <p:cNvGrpSpPr/>
            <p:nvPr/>
          </p:nvGrpSpPr>
          <p:grpSpPr>
            <a:xfrm>
              <a:off x="3650760" y="3857760"/>
              <a:ext cx="655920" cy="205920"/>
              <a:chOff x="3650760" y="3857760"/>
              <a:chExt cx="655920" cy="205920"/>
            </a:xfrm>
          </p:grpSpPr>
          <p:sp>
            <p:nvSpPr>
              <p:cNvPr id="913" name="Oval 82"/>
              <p:cNvSpPr/>
              <p:nvPr/>
            </p:nvSpPr>
            <p:spPr>
              <a:xfrm>
                <a:off x="3653280" y="3948480"/>
                <a:ext cx="650520" cy="1152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4560" lIns="90000" rIns="90000" tIns="345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14" name="Rectangle 70"/>
              <p:cNvSpPr/>
              <p:nvPr/>
            </p:nvSpPr>
            <p:spPr>
              <a:xfrm>
                <a:off x="3653280" y="3936600"/>
                <a:ext cx="653400" cy="7092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4120" lIns="90000" rIns="90000" tIns="2412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15" name="Oval 83"/>
              <p:cNvSpPr/>
              <p:nvPr/>
            </p:nvSpPr>
            <p:spPr>
              <a:xfrm>
                <a:off x="3650760" y="3857760"/>
                <a:ext cx="650520" cy="1346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916" name="Group 135"/>
              <p:cNvGrpSpPr/>
              <p:nvPr/>
            </p:nvGrpSpPr>
            <p:grpSpPr>
              <a:xfrm>
                <a:off x="3781440" y="3892680"/>
                <a:ext cx="367200" cy="63000"/>
                <a:chOff x="3781440" y="3892680"/>
                <a:chExt cx="367200" cy="63000"/>
              </a:xfrm>
            </p:grpSpPr>
            <p:sp>
              <p:nvSpPr>
                <p:cNvPr id="917" name="Freeform 317"/>
                <p:cNvSpPr/>
                <p:nvPr/>
              </p:nvSpPr>
              <p:spPr>
                <a:xfrm>
                  <a:off x="3781440" y="3892680"/>
                  <a:ext cx="367200" cy="63000"/>
                </a:xfrm>
                <a:custGeom>
                  <a:avLst/>
                  <a:gdLst>
                    <a:gd fmla="*/ 0 w 367200" name="textAreaLeft"/>
                    <a:gd fmla="*/ 367560 w 367200" name="textAreaRight"/>
                    <a:gd fmla="*/ 0 h 63000" name="textAreaTop"/>
                    <a:gd fmla="*/ 63360 h 6300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560" lIns="90000" rIns="90000" tIns="165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18" name="Freeform 318"/>
                <p:cNvSpPr/>
                <p:nvPr/>
              </p:nvSpPr>
              <p:spPr>
                <a:xfrm>
                  <a:off x="3797640" y="3892680"/>
                  <a:ext cx="334080" cy="63000"/>
                </a:xfrm>
                <a:custGeom>
                  <a:avLst/>
                  <a:gdLst>
                    <a:gd fmla="*/ 0 w 334080" name="textAreaLeft"/>
                    <a:gd fmla="*/ 334440 w 334080" name="textAreaRight"/>
                    <a:gd fmla="*/ 0 h 63000" name="textAreaTop"/>
                    <a:gd fmla="*/ 63360 h 6300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6560" lIns="90000" rIns="90000" tIns="165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919" name="Line 209"/>
              <p:cNvSpPr/>
              <p:nvPr/>
            </p:nvSpPr>
            <p:spPr>
              <a:xfrm>
                <a:off x="3653280" y="3921480"/>
                <a:ext cx="0" cy="9036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3560" lIns="90000" rIns="90000" tIns="4356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20" name="Line 210"/>
              <p:cNvSpPr/>
              <p:nvPr/>
            </p:nvSpPr>
            <p:spPr>
              <a:xfrm>
                <a:off x="4301280" y="3925440"/>
                <a:ext cx="0" cy="8460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7800" lIns="90000" rIns="90000" tIns="37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921" name="Group 136"/>
            <p:cNvGrpSpPr/>
            <p:nvPr/>
          </p:nvGrpSpPr>
          <p:grpSpPr>
            <a:xfrm>
              <a:off x="3909240" y="4753080"/>
              <a:ext cx="829440" cy="244080"/>
              <a:chOff x="3909240" y="4753080"/>
              <a:chExt cx="829440" cy="244080"/>
            </a:xfrm>
          </p:grpSpPr>
          <p:sp>
            <p:nvSpPr>
              <p:cNvPr id="922" name="Oval 84"/>
              <p:cNvSpPr/>
              <p:nvPr/>
            </p:nvSpPr>
            <p:spPr>
              <a:xfrm>
                <a:off x="3912120" y="4860720"/>
                <a:ext cx="822600" cy="1364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23" name="Rectangle 71"/>
              <p:cNvSpPr/>
              <p:nvPr/>
            </p:nvSpPr>
            <p:spPr>
              <a:xfrm>
                <a:off x="3912120" y="4846680"/>
                <a:ext cx="826560" cy="8424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7440" lIns="90000" rIns="90000" tIns="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24" name="Oval 85"/>
              <p:cNvSpPr/>
              <p:nvPr/>
            </p:nvSpPr>
            <p:spPr>
              <a:xfrm>
                <a:off x="3909240" y="4753080"/>
                <a:ext cx="822600" cy="1598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925" name="Group 137"/>
              <p:cNvGrpSpPr/>
              <p:nvPr/>
            </p:nvGrpSpPr>
            <p:grpSpPr>
              <a:xfrm>
                <a:off x="4074120" y="4794480"/>
                <a:ext cx="464760" cy="74880"/>
                <a:chOff x="4074120" y="4794480"/>
                <a:chExt cx="464760" cy="74880"/>
              </a:xfrm>
            </p:grpSpPr>
            <p:sp>
              <p:nvSpPr>
                <p:cNvPr id="926" name="Freeform 319"/>
                <p:cNvSpPr/>
                <p:nvPr/>
              </p:nvSpPr>
              <p:spPr>
                <a:xfrm>
                  <a:off x="4074120" y="4794480"/>
                  <a:ext cx="464760" cy="74880"/>
                </a:xfrm>
                <a:custGeom>
                  <a:avLst/>
                  <a:gdLst>
                    <a:gd fmla="*/ 0 w 464760" name="textAreaLeft"/>
                    <a:gd fmla="*/ 465120 w 464760" name="textAreaRight"/>
                    <a:gd fmla="*/ 0 h 74880" name="textAreaTop"/>
                    <a:gd fmla="*/ 75240 h 748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440" lIns="90000" rIns="90000" tIns="284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27" name="Freeform 320"/>
                <p:cNvSpPr/>
                <p:nvPr/>
              </p:nvSpPr>
              <p:spPr>
                <a:xfrm>
                  <a:off x="4095000" y="4794480"/>
                  <a:ext cx="422280" cy="74880"/>
                </a:xfrm>
                <a:custGeom>
                  <a:avLst/>
                  <a:gdLst>
                    <a:gd fmla="*/ 0 w 422280" name="textAreaLeft"/>
                    <a:gd fmla="*/ 422640 w 422280" name="textAreaRight"/>
                    <a:gd fmla="*/ 0 h 74880" name="textAreaTop"/>
                    <a:gd fmla="*/ 75240 h 748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440" lIns="90000" rIns="90000" tIns="284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928" name="Line 211"/>
              <p:cNvSpPr/>
              <p:nvPr/>
            </p:nvSpPr>
            <p:spPr>
              <a:xfrm>
                <a:off x="3912120" y="482832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29" name="Line 212"/>
              <p:cNvSpPr/>
              <p:nvPr/>
            </p:nvSpPr>
            <p:spPr>
              <a:xfrm>
                <a:off x="4731840" y="483300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930" name="Group 138"/>
            <p:cNvGrpSpPr/>
            <p:nvPr/>
          </p:nvGrpSpPr>
          <p:grpSpPr>
            <a:xfrm>
              <a:off x="3075480" y="4454640"/>
              <a:ext cx="828720" cy="244080"/>
              <a:chOff x="3075480" y="4454640"/>
              <a:chExt cx="828720" cy="244080"/>
            </a:xfrm>
          </p:grpSpPr>
          <p:sp>
            <p:nvSpPr>
              <p:cNvPr id="931" name="Oval 86"/>
              <p:cNvSpPr/>
              <p:nvPr/>
            </p:nvSpPr>
            <p:spPr>
              <a:xfrm>
                <a:off x="3078360" y="4562280"/>
                <a:ext cx="822240" cy="1364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32" name="Rectangle 72"/>
              <p:cNvSpPr/>
              <p:nvPr/>
            </p:nvSpPr>
            <p:spPr>
              <a:xfrm>
                <a:off x="3078360" y="4548240"/>
                <a:ext cx="825840" cy="8424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7440" lIns="90000" rIns="90000" tIns="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33" name="Oval 87"/>
              <p:cNvSpPr/>
              <p:nvPr/>
            </p:nvSpPr>
            <p:spPr>
              <a:xfrm>
                <a:off x="3075480" y="4454640"/>
                <a:ext cx="822240" cy="1598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934" name="Group 139"/>
              <p:cNvGrpSpPr/>
              <p:nvPr/>
            </p:nvGrpSpPr>
            <p:grpSpPr>
              <a:xfrm>
                <a:off x="3240000" y="4496040"/>
                <a:ext cx="464040" cy="74880"/>
                <a:chOff x="3240000" y="4496040"/>
                <a:chExt cx="464040" cy="74880"/>
              </a:xfrm>
            </p:grpSpPr>
            <p:sp>
              <p:nvSpPr>
                <p:cNvPr id="935" name="Freeform 321"/>
                <p:cNvSpPr/>
                <p:nvPr/>
              </p:nvSpPr>
              <p:spPr>
                <a:xfrm>
                  <a:off x="3240000" y="4496040"/>
                  <a:ext cx="464040" cy="74880"/>
                </a:xfrm>
                <a:custGeom>
                  <a:avLst/>
                  <a:gdLst>
                    <a:gd fmla="*/ 0 w 464040" name="textAreaLeft"/>
                    <a:gd fmla="*/ 464400 w 464040" name="textAreaRight"/>
                    <a:gd fmla="*/ 0 h 74880" name="textAreaTop"/>
                    <a:gd fmla="*/ 75240 h 748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440" lIns="90000" rIns="90000" tIns="284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36" name="Freeform 322"/>
                <p:cNvSpPr/>
                <p:nvPr/>
              </p:nvSpPr>
              <p:spPr>
                <a:xfrm>
                  <a:off x="3260520" y="4496040"/>
                  <a:ext cx="421920" cy="74880"/>
                </a:xfrm>
                <a:custGeom>
                  <a:avLst/>
                  <a:gdLst>
                    <a:gd fmla="*/ 0 w 421920" name="textAreaLeft"/>
                    <a:gd fmla="*/ 422280 w 421920" name="textAreaRight"/>
                    <a:gd fmla="*/ 0 h 74880" name="textAreaTop"/>
                    <a:gd fmla="*/ 75240 h 748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440" lIns="90000" rIns="90000" tIns="284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937" name="Line 213"/>
              <p:cNvSpPr/>
              <p:nvPr/>
            </p:nvSpPr>
            <p:spPr>
              <a:xfrm>
                <a:off x="3078360" y="452988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38" name="Line 214"/>
              <p:cNvSpPr/>
              <p:nvPr/>
            </p:nvSpPr>
            <p:spPr>
              <a:xfrm>
                <a:off x="3897720" y="453456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939" name="Group 140"/>
            <p:cNvGrpSpPr/>
            <p:nvPr/>
          </p:nvGrpSpPr>
          <p:grpSpPr>
            <a:xfrm>
              <a:off x="2109960" y="4797360"/>
              <a:ext cx="829440" cy="244080"/>
              <a:chOff x="2109960" y="4797360"/>
              <a:chExt cx="829440" cy="244080"/>
            </a:xfrm>
          </p:grpSpPr>
          <p:sp>
            <p:nvSpPr>
              <p:cNvPr id="940" name="Oval 88"/>
              <p:cNvSpPr/>
              <p:nvPr/>
            </p:nvSpPr>
            <p:spPr>
              <a:xfrm>
                <a:off x="2112840" y="4905000"/>
                <a:ext cx="822960" cy="1364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41" name="Rectangle 73"/>
              <p:cNvSpPr/>
              <p:nvPr/>
            </p:nvSpPr>
            <p:spPr>
              <a:xfrm>
                <a:off x="2112840" y="4890960"/>
                <a:ext cx="826560" cy="8424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7440" lIns="90000" rIns="90000" tIns="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42" name="Oval 89"/>
              <p:cNvSpPr/>
              <p:nvPr/>
            </p:nvSpPr>
            <p:spPr>
              <a:xfrm>
                <a:off x="2109960" y="4797360"/>
                <a:ext cx="822960" cy="1598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943" name="Group 141"/>
              <p:cNvGrpSpPr/>
              <p:nvPr/>
            </p:nvGrpSpPr>
            <p:grpSpPr>
              <a:xfrm>
                <a:off x="2275200" y="4838760"/>
                <a:ext cx="464760" cy="74880"/>
                <a:chOff x="2275200" y="4838760"/>
                <a:chExt cx="464760" cy="74880"/>
              </a:xfrm>
            </p:grpSpPr>
            <p:sp>
              <p:nvSpPr>
                <p:cNvPr id="944" name="Freeform 323"/>
                <p:cNvSpPr/>
                <p:nvPr/>
              </p:nvSpPr>
              <p:spPr>
                <a:xfrm>
                  <a:off x="2275200" y="4838760"/>
                  <a:ext cx="464760" cy="74880"/>
                </a:xfrm>
                <a:custGeom>
                  <a:avLst/>
                  <a:gdLst>
                    <a:gd fmla="*/ 0 w 464760" name="textAreaLeft"/>
                    <a:gd fmla="*/ 465120 w 464760" name="textAreaRight"/>
                    <a:gd fmla="*/ 0 h 74880" name="textAreaTop"/>
                    <a:gd fmla="*/ 75240 h 748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440" lIns="90000" rIns="90000" tIns="284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45" name="Freeform 324"/>
                <p:cNvSpPr/>
                <p:nvPr/>
              </p:nvSpPr>
              <p:spPr>
                <a:xfrm>
                  <a:off x="2295720" y="4838760"/>
                  <a:ext cx="422640" cy="74880"/>
                </a:xfrm>
                <a:custGeom>
                  <a:avLst/>
                  <a:gdLst>
                    <a:gd fmla="*/ 0 w 422640" name="textAreaLeft"/>
                    <a:gd fmla="*/ 423000 w 422640" name="textAreaRight"/>
                    <a:gd fmla="*/ 0 h 74880" name="textAreaTop"/>
                    <a:gd fmla="*/ 75240 h 7488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8440" lIns="90000" rIns="90000" tIns="284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946" name="Line 215"/>
              <p:cNvSpPr/>
              <p:nvPr/>
            </p:nvSpPr>
            <p:spPr>
              <a:xfrm>
                <a:off x="2112840" y="487260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47" name="Line 216"/>
              <p:cNvSpPr/>
              <p:nvPr/>
            </p:nvSpPr>
            <p:spPr>
              <a:xfrm>
                <a:off x="2932920" y="4877280"/>
                <a:ext cx="0" cy="1069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948" name="Group 142"/>
            <p:cNvGrpSpPr/>
            <p:nvPr/>
          </p:nvGrpSpPr>
          <p:grpSpPr>
            <a:xfrm>
              <a:off x="1856160" y="3591000"/>
              <a:ext cx="520920" cy="171000"/>
              <a:chOff x="1856160" y="3591000"/>
              <a:chExt cx="520920" cy="171000"/>
            </a:xfrm>
          </p:grpSpPr>
          <p:sp>
            <p:nvSpPr>
              <p:cNvPr id="949" name="Oval 90"/>
              <p:cNvSpPr/>
              <p:nvPr/>
            </p:nvSpPr>
            <p:spPr>
              <a:xfrm>
                <a:off x="1857960" y="3666240"/>
                <a:ext cx="516600" cy="957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20880" lIns="90000" rIns="90000" tIns="2088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50" name="Rectangle 74"/>
              <p:cNvSpPr/>
              <p:nvPr/>
            </p:nvSpPr>
            <p:spPr>
              <a:xfrm>
                <a:off x="1857960" y="3656520"/>
                <a:ext cx="519120" cy="5904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12240" lIns="90000" rIns="90000" tIns="1224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51" name="Oval 91"/>
              <p:cNvSpPr/>
              <p:nvPr/>
            </p:nvSpPr>
            <p:spPr>
              <a:xfrm>
                <a:off x="1856160" y="3591000"/>
                <a:ext cx="516600" cy="11196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32760" lIns="90000" rIns="90000" tIns="327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grpSp>
            <p:nvGrpSpPr>
              <p:cNvPr id="952" name="Group 143"/>
              <p:cNvGrpSpPr/>
              <p:nvPr/>
            </p:nvGrpSpPr>
            <p:grpSpPr>
              <a:xfrm>
                <a:off x="1959840" y="3619800"/>
                <a:ext cx="291960" cy="52560"/>
                <a:chOff x="1959840" y="3619800"/>
                <a:chExt cx="291960" cy="52560"/>
              </a:xfrm>
            </p:grpSpPr>
            <p:sp>
              <p:nvSpPr>
                <p:cNvPr id="953" name="Freeform 325"/>
                <p:cNvSpPr/>
                <p:nvPr/>
              </p:nvSpPr>
              <p:spPr>
                <a:xfrm>
                  <a:off x="1959840" y="3619800"/>
                  <a:ext cx="291960" cy="52560"/>
                </a:xfrm>
                <a:custGeom>
                  <a:avLst/>
                  <a:gdLst>
                    <a:gd fmla="*/ 0 w 291960" name="textAreaLeft"/>
                    <a:gd fmla="*/ 291960 w 291960" name="textAreaRight"/>
                    <a:gd fmla="*/ 0 h 52560" name="textAreaTop"/>
                    <a:gd fmla="*/ 52920 h 5256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120" lIns="90000" rIns="90000" tIns="612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54" name="Freeform 326"/>
                <p:cNvSpPr/>
                <p:nvPr/>
              </p:nvSpPr>
              <p:spPr>
                <a:xfrm>
                  <a:off x="1972800" y="3619800"/>
                  <a:ext cx="265320" cy="52560"/>
                </a:xfrm>
                <a:custGeom>
                  <a:avLst/>
                  <a:gdLst>
                    <a:gd fmla="*/ 0 w 265320" name="textAreaLeft"/>
                    <a:gd fmla="*/ 265680 w 265320" name="textAreaRight"/>
                    <a:gd fmla="*/ 0 h 52560" name="textAreaTop"/>
                    <a:gd fmla="*/ 52920 h 52560" name="textAreaBottom"/>
                  </a:gdLst>
                  <a:ahLst/>
                  <a:cxnLst/>
                  <a:rect b="textAreaBottom" l="textAreaLeft" r="textAreaRight" t="textAreaTop"/>
                  <a:pathLst>
                    <a:path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cap="sq" w="1260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6120" lIns="90000" rIns="90000" tIns="612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955" name="Line 217"/>
              <p:cNvSpPr/>
              <p:nvPr/>
            </p:nvSpPr>
            <p:spPr>
              <a:xfrm>
                <a:off x="1857960" y="3643920"/>
                <a:ext cx="0" cy="7956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2760" lIns="90000" rIns="90000" tIns="3276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956" name="Line 218"/>
              <p:cNvSpPr/>
              <p:nvPr/>
            </p:nvSpPr>
            <p:spPr>
              <a:xfrm>
                <a:off x="2372760" y="3647160"/>
                <a:ext cx="0" cy="78120"/>
              </a:xfrm>
              <a:prstGeom prst="line">
                <a:avLst/>
              </a:prstGeom>
              <a:ln cap="sq" w="9360">
                <a:solidFill>
                  <a:srgbClr val="80808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1320" lIns="90000" rIns="90000" tIns="3132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</p:grpSp>
        <p:grpSp>
          <p:nvGrpSpPr>
            <p:cNvPr id="957" name="Group 144"/>
            <p:cNvGrpSpPr/>
            <p:nvPr/>
          </p:nvGrpSpPr>
          <p:grpSpPr>
            <a:xfrm>
              <a:off x="3335400" y="4951440"/>
              <a:ext cx="594000" cy="422280"/>
              <a:chOff x="3335400" y="4951440"/>
              <a:chExt cx="594000" cy="422280"/>
            </a:xfrm>
          </p:grpSpPr>
          <p:grpSp>
            <p:nvGrpSpPr>
              <p:cNvPr id="958" name="Group 145"/>
              <p:cNvGrpSpPr/>
              <p:nvPr/>
            </p:nvGrpSpPr>
            <p:grpSpPr>
              <a:xfrm>
                <a:off x="3428640" y="4951440"/>
                <a:ext cx="500760" cy="109800"/>
                <a:chOff x="3428640" y="4951440"/>
                <a:chExt cx="500760" cy="109800"/>
              </a:xfrm>
            </p:grpSpPr>
            <p:sp>
              <p:nvSpPr>
                <p:cNvPr id="959" name="Freeform 327"/>
                <p:cNvSpPr/>
                <p:nvPr/>
              </p:nvSpPr>
              <p:spPr>
                <a:xfrm>
                  <a:off x="3562920" y="4971240"/>
                  <a:ext cx="89280" cy="60840"/>
                </a:xfrm>
                <a:custGeom>
                  <a:avLst/>
                  <a:gdLst>
                    <a:gd fmla="*/ 0 w 89280" name="textAreaLeft"/>
                    <a:gd fmla="*/ 89640 w 89280" name="textAreaRight"/>
                    <a:gd fmla="*/ 0 h 60840" name="textAreaTop"/>
                    <a:gd fmla="*/ 61200 h 60840" name="textAreaBottom"/>
                  </a:gdLst>
                  <a:ahLst/>
                  <a:cxnLst/>
                  <a:rect b="textAreaBottom" l="textAreaLeft" r="textAreaRight" t="textAreaTop"/>
                  <a:pathLst>
                    <a:path h="232" w="199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4400" lIns="90000" rIns="90000" tIns="144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60" name="Freeform 328"/>
                <p:cNvSpPr/>
                <p:nvPr/>
              </p:nvSpPr>
              <p:spPr>
                <a:xfrm>
                  <a:off x="3716280" y="4970160"/>
                  <a:ext cx="60480" cy="46440"/>
                </a:xfrm>
                <a:custGeom>
                  <a:avLst/>
                  <a:gdLst>
                    <a:gd fmla="*/ 0 w 60480" name="textAreaLeft"/>
                    <a:gd fmla="*/ 60840 w 60480" name="textAreaRight"/>
                    <a:gd fmla="*/ 0 h 46440" name="textAreaTop"/>
                    <a:gd fmla="*/ 46800 h 46440" name="textAreaBottom"/>
                  </a:gdLst>
                  <a:ahLst/>
                  <a:cxnLst/>
                  <a:rect b="textAreaBottom" l="textAreaLeft" r="textAreaRight" t="textAreaTop"/>
                  <a:pathLst>
                    <a:path h="180" w="128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0" lIns="90000" rIns="90000" tIns="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61" name="Freeform 329"/>
                <p:cNvSpPr/>
                <p:nvPr/>
              </p:nvSpPr>
              <p:spPr>
                <a:xfrm>
                  <a:off x="3504960" y="4959000"/>
                  <a:ext cx="147240" cy="97560"/>
                </a:xfrm>
                <a:custGeom>
                  <a:avLst/>
                  <a:gdLst>
                    <a:gd fmla="*/ 0 w 147240" name="textAreaLeft"/>
                    <a:gd fmla="*/ 147600 w 147240" name="textAreaRight"/>
                    <a:gd fmla="*/ 0 h 97560" name="textAreaTop"/>
                    <a:gd fmla="*/ 97920 h 97560" name="textAreaBottom"/>
                  </a:gdLst>
                  <a:ahLst/>
                  <a:cxnLst/>
                  <a:rect b="textAreaBottom" l="textAreaLeft" r="textAreaRight" t="textAreaTop"/>
                  <a:pathLst>
                    <a:path h="378" w="322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0" lIns="90000" rIns="90000" tIns="468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62" name="Freeform 330"/>
                <p:cNvSpPr/>
                <p:nvPr/>
              </p:nvSpPr>
              <p:spPr>
                <a:xfrm>
                  <a:off x="3713400" y="4955760"/>
                  <a:ext cx="128160" cy="65160"/>
                </a:xfrm>
                <a:custGeom>
                  <a:avLst/>
                  <a:gdLst>
                    <a:gd fmla="*/ 0 w 128160" name="textAreaLeft"/>
                    <a:gd fmla="*/ 128520 w 128160" name="textAreaRight"/>
                    <a:gd fmla="*/ 0 h 65160" name="textAreaTop"/>
                    <a:gd fmla="*/ 65520 h 65160" name="textAreaBottom"/>
                  </a:gdLst>
                  <a:ahLst/>
                  <a:cxnLst/>
                  <a:rect b="textAreaBottom" l="textAreaLeft" r="textAreaRight" t="textAreaTop"/>
                  <a:pathLst>
                    <a:path h="252" w="283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8720" lIns="90000" rIns="90000" tIns="1872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63" name="Freeform 331"/>
                <p:cNvSpPr/>
                <p:nvPr/>
              </p:nvSpPr>
              <p:spPr>
                <a:xfrm>
                  <a:off x="3450240" y="4986720"/>
                  <a:ext cx="51480" cy="60840"/>
                </a:xfrm>
                <a:custGeom>
                  <a:avLst/>
                  <a:gdLst>
                    <a:gd fmla="*/ 0 w 51480" name="textAreaLeft"/>
                    <a:gd fmla="*/ 51840 w 51480" name="textAreaRight"/>
                    <a:gd fmla="*/ 0 h 60840" name="textAreaTop"/>
                    <a:gd fmla="*/ 61200 h 60840" name="textAreaBottom"/>
                  </a:gdLst>
                  <a:ahLst/>
                  <a:cxnLst/>
                  <a:rect b="textAreaBottom" l="textAreaLeft" r="textAreaRight" t="textAreaTop"/>
                  <a:pathLst>
                    <a:path h="238" w="114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4400" lIns="90000" rIns="90000" tIns="144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64" name="Freeform 332"/>
                <p:cNvSpPr/>
                <p:nvPr/>
              </p:nvSpPr>
              <p:spPr>
                <a:xfrm>
                  <a:off x="3817080" y="4951440"/>
                  <a:ext cx="112320" cy="80640"/>
                </a:xfrm>
                <a:custGeom>
                  <a:avLst/>
                  <a:gdLst>
                    <a:gd fmla="*/ 0 w 112320" name="textAreaLeft"/>
                    <a:gd fmla="*/ 112680 w 112320" name="textAreaRight"/>
                    <a:gd fmla="*/ 0 h 80640" name="textAreaTop"/>
                    <a:gd fmla="*/ 81000 h 80640" name="textAreaBottom"/>
                  </a:gdLst>
                  <a:ahLst/>
                  <a:cxnLst/>
                  <a:rect b="textAreaBottom" l="textAreaLeft" r="textAreaRight" t="textAreaTop"/>
                  <a:pathLst>
                    <a:path h="310" w="246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34200" lIns="90000" rIns="90000" tIns="342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65" name="Freeform 333"/>
                <p:cNvSpPr/>
                <p:nvPr/>
              </p:nvSpPr>
              <p:spPr>
                <a:xfrm>
                  <a:off x="3538440" y="4974480"/>
                  <a:ext cx="89280" cy="60840"/>
                </a:xfrm>
                <a:custGeom>
                  <a:avLst/>
                  <a:gdLst>
                    <a:gd fmla="*/ 0 w 89280" name="textAreaLeft"/>
                    <a:gd fmla="*/ 89640 w 89280" name="textAreaRight"/>
                    <a:gd fmla="*/ 0 h 60840" name="textAreaTop"/>
                    <a:gd fmla="*/ 61200 h 60840" name="textAreaBottom"/>
                  </a:gdLst>
                  <a:ahLst/>
                  <a:cxnLst/>
                  <a:rect b="textAreaBottom" l="textAreaLeft" r="textAreaRight" t="textAreaTop"/>
                  <a:pathLst>
                    <a:path h="236" w="198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4400" lIns="90000" rIns="90000" tIns="144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966" name="Freeform 334"/>
                <p:cNvSpPr/>
                <p:nvPr/>
              </p:nvSpPr>
              <p:spPr>
                <a:xfrm>
                  <a:off x="3691080" y="4974480"/>
                  <a:ext cx="60480" cy="46440"/>
                </a:xfrm>
                <a:custGeom>
                  <a:avLst/>
                  <a:gdLst>
                    <a:gd fmla="*/ 0 w 60480" name="textAreaLeft"/>
                    <a:gd fmla="*/ 60840 w 60480" name="textAreaRight"/>
                    <a:gd fmla="*/ 0 h 46440" name="textAreaTop"/>
                    <a:gd fmla="*/ 46800 h 46440" name="textAreaBottom"/>
                  </a:gdLst>
                  <a:ahLst/>
                  <a:cxnLst/>
                  <a:rect b="textAreaBottom" l="textAreaLeft" r="textAreaRight" t="textAreaTop"/>
                  <a:pathLst>
                    <a:path h="183" w="128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0" lIns="90000" rIns="90000" tIns="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967" name="Freeform 335"/>
                <p:cNvSpPr/>
                <p:nvPr/>
              </p:nvSpPr>
              <p:spPr>
                <a:xfrm>
                  <a:off x="3480120" y="4963680"/>
                  <a:ext cx="144720" cy="97560"/>
                </a:xfrm>
                <a:custGeom>
                  <a:avLst/>
                  <a:gdLst>
                    <a:gd fmla="*/ 0 w 144720" name="textAreaLeft"/>
                    <a:gd fmla="*/ 145080 w 144720" name="textAreaRight"/>
                    <a:gd fmla="*/ 0 h 97560" name="textAreaTop"/>
                    <a:gd fmla="*/ 97920 h 97560" name="textAreaBottom"/>
                  </a:gdLst>
                  <a:ahLst/>
                  <a:cxnLst/>
                  <a:rect b="textAreaBottom" l="textAreaLeft" r="textAreaRight" t="textAreaTop"/>
                  <a:pathLst>
                    <a:path h="379" w="323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0" lIns="90000" rIns="90000" tIns="468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968" name="Freeform 336"/>
                <p:cNvSpPr/>
                <p:nvPr/>
              </p:nvSpPr>
              <p:spPr>
                <a:xfrm>
                  <a:off x="3686040" y="4960440"/>
                  <a:ext cx="128160" cy="65160"/>
                </a:xfrm>
                <a:custGeom>
                  <a:avLst/>
                  <a:gdLst>
                    <a:gd fmla="*/ 0 w 128160" name="textAreaLeft"/>
                    <a:gd fmla="*/ 128520 w 128160" name="textAreaRight"/>
                    <a:gd fmla="*/ 0 h 65160" name="textAreaTop"/>
                    <a:gd fmla="*/ 65520 h 65160" name="textAreaBottom"/>
                  </a:gdLst>
                  <a:ahLst/>
                  <a:cxnLst/>
                  <a:rect b="textAreaBottom" l="textAreaLeft" r="textAreaRight" t="textAreaTop"/>
                  <a:pathLst>
                    <a:path h="253" w="282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8720" lIns="90000" rIns="90000" tIns="187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969" name="Freeform 337"/>
                <p:cNvSpPr/>
                <p:nvPr/>
              </p:nvSpPr>
              <p:spPr>
                <a:xfrm>
                  <a:off x="3428640" y="4996800"/>
                  <a:ext cx="51480" cy="59760"/>
                </a:xfrm>
                <a:custGeom>
                  <a:avLst/>
                  <a:gdLst>
                    <a:gd fmla="*/ 0 w 51480" name="textAreaLeft"/>
                    <a:gd fmla="*/ 51840 w 51480" name="textAreaRight"/>
                    <a:gd fmla="*/ 0 h 59760" name="textAreaTop"/>
                    <a:gd fmla="*/ 60120 h 59760" name="textAreaBottom"/>
                  </a:gdLst>
                  <a:ahLst/>
                  <a:cxnLst/>
                  <a:rect b="textAreaBottom" l="textAreaLeft" r="textAreaRight" t="textAreaTop"/>
                  <a:pathLst>
                    <a:path h="236" w="115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13320" lIns="90000" rIns="90000" tIns="133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970" name="Freeform 338"/>
                <p:cNvSpPr/>
                <p:nvPr/>
              </p:nvSpPr>
              <p:spPr>
                <a:xfrm>
                  <a:off x="3792600" y="4955760"/>
                  <a:ext cx="112680" cy="80640"/>
                </a:xfrm>
                <a:custGeom>
                  <a:avLst/>
                  <a:gdLst>
                    <a:gd fmla="*/ 0 w 112680" name="textAreaLeft"/>
                    <a:gd fmla="*/ 113040 w 112680" name="textAreaRight"/>
                    <a:gd fmla="*/ 0 h 80640" name="textAreaTop"/>
                    <a:gd fmla="*/ 81000 h 80640" name="textAreaBottom"/>
                  </a:gdLst>
                  <a:ahLst/>
                  <a:cxnLst/>
                  <a:rect b="textAreaBottom" l="textAreaLeft" r="textAreaRight" t="textAreaTop"/>
                  <a:pathLst>
                    <a:path h="310" w="245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34200" lIns="90000" rIns="90000" tIns="342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pic>
            <p:nvPicPr>
              <p:cNvPr descr="access_point_stylized_gray_small" id="971" name="Picture 54"/>
              <p:cNvPicPr/>
              <p:nvPr/>
            </p:nvPicPr>
            <p:blipFill>
              <a:blip r:embed="rId6"/>
              <a:stretch/>
            </p:blipFill>
            <p:spPr>
              <a:xfrm>
                <a:off x="3335400" y="4985640"/>
                <a:ext cx="557280" cy="388080"/>
              </a:xfrm>
              <a:prstGeom prst="rect">
                <a:avLst/>
              </a:prstGeom>
              <a:ln w="54720">
                <a:noFill/>
              </a:ln>
            </p:spPr>
          </p:pic>
        </p:grpSp>
        <p:grpSp>
          <p:nvGrpSpPr>
            <p:cNvPr id="972" name="Group 146"/>
            <p:cNvGrpSpPr/>
            <p:nvPr/>
          </p:nvGrpSpPr>
          <p:grpSpPr>
            <a:xfrm>
              <a:off x="1305720" y="3456000"/>
              <a:ext cx="530280" cy="358200"/>
              <a:chOff x="1305720" y="3456000"/>
              <a:chExt cx="530280" cy="358200"/>
            </a:xfrm>
          </p:grpSpPr>
          <p:grpSp>
            <p:nvGrpSpPr>
              <p:cNvPr id="973" name="Group 147"/>
              <p:cNvGrpSpPr/>
              <p:nvPr/>
            </p:nvGrpSpPr>
            <p:grpSpPr>
              <a:xfrm>
                <a:off x="1388520" y="3456000"/>
                <a:ext cx="447480" cy="93240"/>
                <a:chOff x="1388520" y="3456000"/>
                <a:chExt cx="447480" cy="93240"/>
              </a:xfrm>
            </p:grpSpPr>
            <p:sp>
              <p:nvSpPr>
                <p:cNvPr id="974" name="Freeform 339"/>
                <p:cNvSpPr/>
                <p:nvPr/>
              </p:nvSpPr>
              <p:spPr>
                <a:xfrm>
                  <a:off x="1509120" y="3472920"/>
                  <a:ext cx="79560" cy="51480"/>
                </a:xfrm>
                <a:custGeom>
                  <a:avLst/>
                  <a:gdLst>
                    <a:gd fmla="*/ 0 w 79560" name="textAreaLeft"/>
                    <a:gd fmla="*/ 79920 w 79560" name="textAreaRight"/>
                    <a:gd fmla="*/ 0 h 51480" name="textAreaTop"/>
                    <a:gd fmla="*/ 51840 h 51480" name="textAreaBottom"/>
                  </a:gdLst>
                  <a:ahLst/>
                  <a:cxnLst/>
                  <a:rect b="textAreaBottom" l="textAreaLeft" r="textAreaRight" t="textAreaTop"/>
                  <a:pathLst>
                    <a:path h="232" w="199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5040" lIns="90000" rIns="90000" tIns="504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75" name="Freeform 340"/>
                <p:cNvSpPr/>
                <p:nvPr/>
              </p:nvSpPr>
              <p:spPr>
                <a:xfrm>
                  <a:off x="1645560" y="3471840"/>
                  <a:ext cx="54000" cy="39240"/>
                </a:xfrm>
                <a:custGeom>
                  <a:avLst/>
                  <a:gdLst>
                    <a:gd fmla="*/ 0 w 54000" name="textAreaLeft"/>
                    <a:gd fmla="*/ 54360 w 54000" name="textAreaRight"/>
                    <a:gd fmla="*/ 0 h 39240" name="textAreaTop"/>
                    <a:gd fmla="*/ 39600 h 39240" name="textAreaBottom"/>
                  </a:gdLst>
                  <a:ahLst/>
                  <a:cxnLst/>
                  <a:rect b="textAreaBottom" l="textAreaLeft" r="textAreaRight" t="textAreaTop"/>
                  <a:pathLst>
                    <a:path h="180" w="128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7200" lIns="90000" rIns="90000" tIns="-72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76" name="Freeform 341"/>
                <p:cNvSpPr/>
                <p:nvPr/>
              </p:nvSpPr>
              <p:spPr>
                <a:xfrm>
                  <a:off x="1456920" y="3462480"/>
                  <a:ext cx="131760" cy="82800"/>
                </a:xfrm>
                <a:custGeom>
                  <a:avLst/>
                  <a:gdLst>
                    <a:gd fmla="*/ 0 w 131760" name="textAreaLeft"/>
                    <a:gd fmla="*/ 132120 w 131760" name="textAreaRight"/>
                    <a:gd fmla="*/ 0 h 82800" name="textAreaTop"/>
                    <a:gd fmla="*/ 83160 h 82800" name="textAreaBottom"/>
                  </a:gdLst>
                  <a:ahLst/>
                  <a:cxnLst/>
                  <a:rect b="textAreaBottom" l="textAreaLeft" r="textAreaRight" t="textAreaTop"/>
                  <a:pathLst>
                    <a:path h="378" w="322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36360" lIns="90000" rIns="90000" tIns="3636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77" name="Freeform 342"/>
                <p:cNvSpPr/>
                <p:nvPr/>
              </p:nvSpPr>
              <p:spPr>
                <a:xfrm>
                  <a:off x="1643040" y="3459600"/>
                  <a:ext cx="114840" cy="55440"/>
                </a:xfrm>
                <a:custGeom>
                  <a:avLst/>
                  <a:gdLst>
                    <a:gd fmla="*/ 0 w 114840" name="textAreaLeft"/>
                    <a:gd fmla="*/ 115200 w 114840" name="textAreaRight"/>
                    <a:gd fmla="*/ 0 h 55440" name="textAreaTop"/>
                    <a:gd fmla="*/ 55800 h 55440" name="textAreaBottom"/>
                  </a:gdLst>
                  <a:ahLst/>
                  <a:cxnLst/>
                  <a:rect b="textAreaBottom" l="textAreaLeft" r="textAreaRight" t="textAreaTop"/>
                  <a:pathLst>
                    <a:path h="252" w="283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9000" lIns="90000" rIns="90000" tIns="90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78" name="Freeform 343"/>
                <p:cNvSpPr/>
                <p:nvPr/>
              </p:nvSpPr>
              <p:spPr>
                <a:xfrm>
                  <a:off x="1408320" y="3485880"/>
                  <a:ext cx="46080" cy="51840"/>
                </a:xfrm>
                <a:custGeom>
                  <a:avLst/>
                  <a:gdLst>
                    <a:gd fmla="*/ 0 w 46080" name="textAreaLeft"/>
                    <a:gd fmla="*/ 46440 w 46080" name="textAreaRight"/>
                    <a:gd fmla="*/ 0 h 51840" name="textAreaTop"/>
                    <a:gd fmla="*/ 52200 h 51840" name="textAreaBottom"/>
                  </a:gdLst>
                  <a:ahLst/>
                  <a:cxnLst/>
                  <a:rect b="textAreaBottom" l="textAreaLeft" r="textAreaRight" t="textAreaTop"/>
                  <a:pathLst>
                    <a:path h="238" w="114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5400" lIns="90000" rIns="90000" tIns="540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79" name="Freeform 344"/>
                <p:cNvSpPr/>
                <p:nvPr/>
              </p:nvSpPr>
              <p:spPr>
                <a:xfrm>
                  <a:off x="1735560" y="3456000"/>
                  <a:ext cx="100440" cy="68760"/>
                </a:xfrm>
                <a:custGeom>
                  <a:avLst/>
                  <a:gdLst>
                    <a:gd fmla="*/ 0 w 100440" name="textAreaLeft"/>
                    <a:gd fmla="*/ 100800 w 100440" name="textAreaRight"/>
                    <a:gd fmla="*/ 0 h 68760" name="textAreaTop"/>
                    <a:gd fmla="*/ 69120 h 68760" name="textAreaBottom"/>
                  </a:gdLst>
                  <a:ahLst/>
                  <a:cxnLst/>
                  <a:rect b="textAreaBottom" l="textAreaLeft" r="textAreaRight" t="textAreaTop"/>
                  <a:pathLst>
                    <a:path h="310" w="246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2320" lIns="90000" rIns="90000" tIns="22320">
                  <a:noAutofit/>
                </a:bodyPr>
                <a:lstStyle/>
                <a:p>
                  <a:endParaRPr b="0" lang="en-US" spc="-1" strike="noStrike" sz="1800">
                    <a:solidFill>
                      <a:srgbClr val="000000"/>
                    </a:solidFill>
                    <a:latin typeface="Cantarell"/>
                  </a:endParaRPr>
                </a:p>
              </p:txBody>
            </p:sp>
            <p:sp>
              <p:nvSpPr>
                <p:cNvPr id="980" name="Freeform 345"/>
                <p:cNvSpPr/>
                <p:nvPr/>
              </p:nvSpPr>
              <p:spPr>
                <a:xfrm>
                  <a:off x="1487160" y="3475800"/>
                  <a:ext cx="79560" cy="51480"/>
                </a:xfrm>
                <a:custGeom>
                  <a:avLst/>
                  <a:gdLst>
                    <a:gd fmla="*/ 0 w 79560" name="textAreaLeft"/>
                    <a:gd fmla="*/ 79560 w 79560" name="textAreaRight"/>
                    <a:gd fmla="*/ 0 h 51480" name="textAreaTop"/>
                    <a:gd fmla="*/ 51840 h 51480" name="textAreaBottom"/>
                  </a:gdLst>
                  <a:ahLst/>
                  <a:cxnLst/>
                  <a:rect b="textAreaBottom" l="textAreaLeft" r="textAreaRight" t="textAreaTop"/>
                  <a:pathLst>
                    <a:path h="236" w="198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5040" lIns="90000" rIns="90000" tIns="504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981" name="Freeform 346"/>
                <p:cNvSpPr/>
                <p:nvPr/>
              </p:nvSpPr>
              <p:spPr>
                <a:xfrm>
                  <a:off x="1623240" y="3475800"/>
                  <a:ext cx="54360" cy="39240"/>
                </a:xfrm>
                <a:custGeom>
                  <a:avLst/>
                  <a:gdLst>
                    <a:gd fmla="*/ 0 w 54360" name="textAreaLeft"/>
                    <a:gd fmla="*/ 54720 w 54360" name="textAreaRight"/>
                    <a:gd fmla="*/ 0 h 39240" name="textAreaTop"/>
                    <a:gd fmla="*/ 39600 h 39240" name="textAreaBottom"/>
                  </a:gdLst>
                  <a:ahLst/>
                  <a:cxnLst/>
                  <a:rect b="textAreaBottom" l="textAreaLeft" r="textAreaRight" t="textAreaTop"/>
                  <a:pathLst>
                    <a:path h="183" w="128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7200" lIns="90000" rIns="90000" tIns="-72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982" name="Freeform 347"/>
                <p:cNvSpPr/>
                <p:nvPr/>
              </p:nvSpPr>
              <p:spPr>
                <a:xfrm>
                  <a:off x="1434600" y="3466440"/>
                  <a:ext cx="129600" cy="82800"/>
                </a:xfrm>
                <a:custGeom>
                  <a:avLst/>
                  <a:gdLst>
                    <a:gd fmla="*/ 0 w 129600" name="textAreaLeft"/>
                    <a:gd fmla="*/ 129960 w 129600" name="textAreaRight"/>
                    <a:gd fmla="*/ 0 h 82800" name="textAreaTop"/>
                    <a:gd fmla="*/ 83160 h 82800" name="textAreaBottom"/>
                  </a:gdLst>
                  <a:ahLst/>
                  <a:cxnLst/>
                  <a:rect b="textAreaBottom" l="textAreaLeft" r="textAreaRight" t="textAreaTop"/>
                  <a:pathLst>
                    <a:path h="379" w="323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36360" lIns="90000" rIns="90000" tIns="3636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983" name="Freeform 348"/>
                <p:cNvSpPr/>
                <p:nvPr/>
              </p:nvSpPr>
              <p:spPr>
                <a:xfrm>
                  <a:off x="1618560" y="3463560"/>
                  <a:ext cx="114840" cy="55440"/>
                </a:xfrm>
                <a:custGeom>
                  <a:avLst/>
                  <a:gdLst>
                    <a:gd fmla="*/ 0 w 114840" name="textAreaLeft"/>
                    <a:gd fmla="*/ 115200 w 114840" name="textAreaRight"/>
                    <a:gd fmla="*/ 0 h 55440" name="textAreaTop"/>
                    <a:gd fmla="*/ 55800 h 55440" name="textAreaBottom"/>
                  </a:gdLst>
                  <a:ahLst/>
                  <a:cxnLst/>
                  <a:rect b="textAreaBottom" l="textAreaLeft" r="textAreaRight" t="textAreaTop"/>
                  <a:pathLst>
                    <a:path h="253" w="282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9000" lIns="90000" rIns="90000" tIns="90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984" name="Freeform 349"/>
                <p:cNvSpPr/>
                <p:nvPr/>
              </p:nvSpPr>
              <p:spPr>
                <a:xfrm>
                  <a:off x="1388520" y="3494520"/>
                  <a:ext cx="46080" cy="50760"/>
                </a:xfrm>
                <a:custGeom>
                  <a:avLst/>
                  <a:gdLst>
                    <a:gd fmla="*/ 0 w 46080" name="textAreaLeft"/>
                    <a:gd fmla="*/ 46440 w 46080" name="textAreaRight"/>
                    <a:gd fmla="*/ 0 h 50760" name="textAreaTop"/>
                    <a:gd fmla="*/ 51120 h 50760" name="textAreaBottom"/>
                  </a:gdLst>
                  <a:ahLst/>
                  <a:cxnLst/>
                  <a:rect b="textAreaBottom" l="textAreaLeft" r="textAreaRight" t="textAreaTop"/>
                  <a:pathLst>
                    <a:path h="236" w="115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320" lIns="90000" rIns="90000" tIns="43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985" name="Freeform 350"/>
                <p:cNvSpPr/>
                <p:nvPr/>
              </p:nvSpPr>
              <p:spPr>
                <a:xfrm>
                  <a:off x="1713600" y="3459600"/>
                  <a:ext cx="100800" cy="68760"/>
                </a:xfrm>
                <a:custGeom>
                  <a:avLst/>
                  <a:gdLst>
                    <a:gd fmla="*/ 0 w 100800" name="textAreaLeft"/>
                    <a:gd fmla="*/ 101160 w 100800" name="textAreaRight"/>
                    <a:gd fmla="*/ 0 h 68760" name="textAreaTop"/>
                    <a:gd fmla="*/ 69120 h 68760" name="textAreaBottom"/>
                  </a:gdLst>
                  <a:ahLst/>
                  <a:cxnLst/>
                  <a:rect b="textAreaBottom" l="textAreaLeft" r="textAreaRight" t="textAreaTop"/>
                  <a:pathLst>
                    <a:path h="310" w="245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sq" w="9360">
                  <a:solidFill>
                    <a:srgbClr val="808080"/>
                  </a:solidFill>
                  <a:round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22320" lIns="90000" rIns="90000" tIns="223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pic>
            <p:nvPicPr>
              <p:cNvPr descr="access_point_stylized_gray_small" id="986" name="Picture 55"/>
              <p:cNvPicPr/>
              <p:nvPr/>
            </p:nvPicPr>
            <p:blipFill>
              <a:blip r:embed="rId6"/>
              <a:stretch/>
            </p:blipFill>
            <p:spPr>
              <a:xfrm>
                <a:off x="1305720" y="3484800"/>
                <a:ext cx="497520" cy="329400"/>
              </a:xfrm>
              <a:prstGeom prst="rect">
                <a:avLst/>
              </a:prstGeom>
              <a:ln w="54720">
                <a:noFill/>
              </a:ln>
            </p:spPr>
          </p:pic>
        </p:grpSp>
        <p:sp>
          <p:nvSpPr>
            <p:cNvPr id="987" name="Line 219"/>
            <p:cNvSpPr/>
            <p:nvPr/>
          </p:nvSpPr>
          <p:spPr>
            <a:xfrm>
              <a:off x="4387680" y="5427000"/>
              <a:ext cx="114120" cy="3240"/>
            </a:xfrm>
            <a:prstGeom prst="line">
              <a:avLst/>
            </a:prstGeom>
            <a:ln cap="sq" w="12600">
              <a:solidFill>
                <a:srgbClr val="80808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-43560" lIns="90000" rIns="90000" tIns="-4356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Cantarell"/>
              </a:endParaRPr>
            </a:p>
          </p:txBody>
        </p:sp>
        <p:grpSp>
          <p:nvGrpSpPr>
            <p:cNvPr id="988" name="Group 148"/>
            <p:cNvGrpSpPr/>
            <p:nvPr/>
          </p:nvGrpSpPr>
          <p:grpSpPr>
            <a:xfrm>
              <a:off x="1487520" y="4479840"/>
              <a:ext cx="552600" cy="372960"/>
              <a:chOff x="1487520" y="4479840"/>
              <a:chExt cx="552600" cy="372960"/>
            </a:xfrm>
          </p:grpSpPr>
          <p:pic>
            <p:nvPicPr>
              <p:cNvPr descr="desktop_computer_stylized_medium" id="989" name="Picture 56"/>
              <p:cNvPicPr/>
              <p:nvPr/>
            </p:nvPicPr>
            <p:blipFill>
              <a:blip r:embed="rId7"/>
              <a:stretch/>
            </p:blipFill>
            <p:spPr>
              <a:xfrm flipH="1">
                <a:off x="1487520" y="4479840"/>
                <a:ext cx="552600" cy="3729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990" name="Freeform 351"/>
              <p:cNvSpPr/>
              <p:nvPr/>
            </p:nvSpPr>
            <p:spPr>
              <a:xfrm flipH="1">
                <a:off x="1721160" y="4515480"/>
                <a:ext cx="260280" cy="171000"/>
              </a:xfrm>
              <a:custGeom>
                <a:avLst/>
                <a:gdLst>
                  <a:gd fmla="*/ -360 w 260280" name="textAreaLeft"/>
                  <a:gd fmla="*/ 260280 w 260280" name="textAreaRight"/>
                  <a:gd fmla="*/ 0 h 171000" name="textAreaTop"/>
                  <a:gd fmla="*/ 171360 h 171000" name="textAreaBottom"/>
                </a:gdLst>
                <a:ahLst/>
                <a:cxnLst/>
                <a:rect b="textAreaBottom" l="textAreaLeft" r="textAreaRight" t="textAreaTop"/>
                <a:pathLst>
                  <a:path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991" name="Group 149"/>
            <p:cNvGrpSpPr/>
            <p:nvPr/>
          </p:nvGrpSpPr>
          <p:grpSpPr>
            <a:xfrm>
              <a:off x="1064520" y="4900680"/>
              <a:ext cx="643320" cy="406440"/>
              <a:chOff x="1064520" y="4900680"/>
              <a:chExt cx="643320" cy="406440"/>
            </a:xfrm>
          </p:grpSpPr>
          <p:pic>
            <p:nvPicPr>
              <p:cNvPr descr="desktop_computer_stylized_medium" id="992" name="Picture 57"/>
              <p:cNvPicPr/>
              <p:nvPr/>
            </p:nvPicPr>
            <p:blipFill>
              <a:blip r:embed="rId8"/>
              <a:stretch/>
            </p:blipFill>
            <p:spPr>
              <a:xfrm flipH="1">
                <a:off x="1064520" y="4900680"/>
                <a:ext cx="643320" cy="40644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993" name="Freeform 352"/>
              <p:cNvSpPr/>
              <p:nvPr/>
            </p:nvSpPr>
            <p:spPr>
              <a:xfrm flipH="1">
                <a:off x="1336680" y="4939560"/>
                <a:ext cx="303480" cy="186120"/>
              </a:xfrm>
              <a:custGeom>
                <a:avLst/>
                <a:gdLst>
                  <a:gd fmla="*/ 0 w 303480" name="textAreaLeft"/>
                  <a:gd fmla="*/ 303480 w 303480" name="textAreaRight"/>
                  <a:gd fmla="*/ 0 h 186120" name="textAreaTop"/>
                  <a:gd fmla="*/ 186480 h 186120" name="textAreaBottom"/>
                </a:gdLst>
                <a:ahLst/>
                <a:cxnLst/>
                <a:rect b="textAreaBottom" l="textAreaLeft" r="textAreaRight" t="textAreaTop"/>
                <a:pathLst>
                  <a:path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994" name="Group 150"/>
            <p:cNvGrpSpPr/>
            <p:nvPr/>
          </p:nvGrpSpPr>
          <p:grpSpPr>
            <a:xfrm>
              <a:off x="1701720" y="5202360"/>
              <a:ext cx="569160" cy="349200"/>
              <a:chOff x="1701720" y="5202360"/>
              <a:chExt cx="569160" cy="349200"/>
            </a:xfrm>
          </p:grpSpPr>
          <p:pic>
            <p:nvPicPr>
              <p:cNvPr descr="desktop_computer_stylized_medium" id="995" name="Picture 58"/>
              <p:cNvPicPr/>
              <p:nvPr/>
            </p:nvPicPr>
            <p:blipFill>
              <a:blip r:embed="rId9"/>
              <a:stretch/>
            </p:blipFill>
            <p:spPr>
              <a:xfrm flipH="1">
                <a:off x="1701720" y="5202360"/>
                <a:ext cx="569160" cy="34920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996" name="Freeform 353"/>
              <p:cNvSpPr/>
              <p:nvPr/>
            </p:nvSpPr>
            <p:spPr>
              <a:xfrm flipH="1">
                <a:off x="1944360" y="5235840"/>
                <a:ext cx="268560" cy="159840"/>
              </a:xfrm>
              <a:custGeom>
                <a:avLst/>
                <a:gdLst>
                  <a:gd fmla="*/ 360 w 268560" name="textAreaLeft"/>
                  <a:gd fmla="*/ 269280 w 268560" name="textAreaRight"/>
                  <a:gd fmla="*/ 0 h 159840" name="textAreaTop"/>
                  <a:gd fmla="*/ 160200 h 159840" name="textAreaBottom"/>
                </a:gdLst>
                <a:ahLst/>
                <a:cxnLst/>
                <a:rect b="textAreaBottom" l="textAreaLeft" r="textAreaRight" t="textAreaTop"/>
                <a:pathLst>
                  <a:path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997" name="Group 151"/>
            <p:cNvGrpSpPr/>
            <p:nvPr/>
          </p:nvGrpSpPr>
          <p:grpSpPr>
            <a:xfrm>
              <a:off x="2521080" y="5184720"/>
              <a:ext cx="569160" cy="351000"/>
              <a:chOff x="2521080" y="5184720"/>
              <a:chExt cx="569160" cy="351000"/>
            </a:xfrm>
          </p:grpSpPr>
          <p:pic>
            <p:nvPicPr>
              <p:cNvPr descr="desktop_computer_stylized_medium" id="998" name="Picture 59"/>
              <p:cNvPicPr/>
              <p:nvPr/>
            </p:nvPicPr>
            <p:blipFill>
              <a:blip r:embed="rId9"/>
              <a:stretch/>
            </p:blipFill>
            <p:spPr>
              <a:xfrm>
                <a:off x="2521080" y="5184720"/>
                <a:ext cx="569160" cy="35100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999" name="Freeform 354"/>
              <p:cNvSpPr/>
              <p:nvPr/>
            </p:nvSpPr>
            <p:spPr>
              <a:xfrm>
                <a:off x="2579040" y="5218200"/>
                <a:ext cx="268200" cy="160920"/>
              </a:xfrm>
              <a:custGeom>
                <a:avLst/>
                <a:gdLst>
                  <a:gd fmla="*/ 0 w 268200" name="textAreaLeft"/>
                  <a:gd fmla="*/ 268560 w 268200" name="textAreaRight"/>
                  <a:gd fmla="*/ 0 h 160920" name="textAreaTop"/>
                  <a:gd fmla="*/ 161280 h 160920" name="textAreaBottom"/>
                </a:gdLst>
                <a:ahLst/>
                <a:cxnLst/>
                <a:rect b="textAreaBottom" l="textAreaLeft" r="textAreaRight" t="textAreaTop"/>
                <a:pathLst>
                  <a:path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pic>
          <p:nvPicPr>
            <p:cNvPr descr="car_icon_small" id="1000" name="Picture 60"/>
            <p:cNvPicPr/>
            <p:nvPr/>
          </p:nvPicPr>
          <p:blipFill>
            <a:blip r:embed="rId10"/>
            <a:stretch/>
          </p:blipFill>
          <p:spPr>
            <a:xfrm>
              <a:off x="2243520" y="1666800"/>
              <a:ext cx="1132200" cy="168480"/>
            </a:xfrm>
            <a:prstGeom prst="rect">
              <a:avLst/>
            </a:prstGeom>
            <a:ln w="54720">
              <a:noFill/>
            </a:ln>
          </p:spPr>
        </p:pic>
        <p:grpSp>
          <p:nvGrpSpPr>
            <p:cNvPr id="1001" name="Group 152"/>
            <p:cNvGrpSpPr/>
            <p:nvPr/>
          </p:nvGrpSpPr>
          <p:grpSpPr>
            <a:xfrm>
              <a:off x="1271880" y="1492200"/>
              <a:ext cx="554400" cy="385920"/>
              <a:chOff x="1271880" y="1492200"/>
              <a:chExt cx="554400" cy="385920"/>
            </a:xfrm>
          </p:grpSpPr>
          <p:pic>
            <p:nvPicPr>
              <p:cNvPr descr="iphone_stylized_small" id="1002" name="Picture 61"/>
              <p:cNvPicPr/>
              <p:nvPr/>
            </p:nvPicPr>
            <p:blipFill>
              <a:blip r:embed="rId11"/>
              <a:stretch/>
            </p:blipFill>
            <p:spPr>
              <a:xfrm>
                <a:off x="1484640" y="1549440"/>
                <a:ext cx="182520" cy="32868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antenna_radiation_stylized" id="1003" name="Picture 62"/>
              <p:cNvPicPr/>
              <p:nvPr/>
            </p:nvPicPr>
            <p:blipFill>
              <a:blip r:embed="rId12"/>
              <a:stretch/>
            </p:blipFill>
            <p:spPr>
              <a:xfrm>
                <a:off x="1271880" y="1492200"/>
                <a:ext cx="554400" cy="88560"/>
              </a:xfrm>
              <a:prstGeom prst="rect">
                <a:avLst/>
              </a:prstGeom>
              <a:ln w="54720">
                <a:noFill/>
              </a:ln>
            </p:spPr>
          </p:pic>
        </p:grpSp>
        <p:grpSp>
          <p:nvGrpSpPr>
            <p:cNvPr id="1004" name="Group 153"/>
            <p:cNvGrpSpPr/>
            <p:nvPr/>
          </p:nvGrpSpPr>
          <p:grpSpPr>
            <a:xfrm>
              <a:off x="4775040" y="4948200"/>
              <a:ext cx="302400" cy="480960"/>
              <a:chOff x="4775040" y="4948200"/>
              <a:chExt cx="302400" cy="480960"/>
            </a:xfrm>
          </p:grpSpPr>
          <p:sp>
            <p:nvSpPr>
              <p:cNvPr id="1005" name="Freeform 355"/>
              <p:cNvSpPr/>
              <p:nvPr/>
            </p:nvSpPr>
            <p:spPr>
              <a:xfrm>
                <a:off x="5014440" y="4948920"/>
                <a:ext cx="60120" cy="459000"/>
              </a:xfrm>
              <a:custGeom>
                <a:avLst/>
                <a:gdLst>
                  <a:gd fmla="*/ 0 w 60120" name="textAreaLeft"/>
                  <a:gd fmla="*/ 60480 w 60120" name="textAreaRight"/>
                  <a:gd fmla="*/ 0 h 459000" name="textAreaTop"/>
                  <a:gd fmla="*/ 459360 h 459000" name="textAreaBottom"/>
                </a:gdLst>
                <a:ahLst/>
                <a:cxnLst/>
                <a:rect b="textAreaBottom" l="textAreaLeft" r="textAreaRight" t="textAreaTop"/>
                <a:pathLst>
                  <a:path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3333"/>
                  </a:gs>
                  <a:gs pos="100000">
                    <a:srgbClr val="DDDDDD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006" name="Rectangle 75"/>
              <p:cNvSpPr/>
              <p:nvPr/>
            </p:nvSpPr>
            <p:spPr>
              <a:xfrm>
                <a:off x="4789800" y="4948200"/>
                <a:ext cx="222480" cy="458640"/>
              </a:xfrm>
              <a:prstGeom prst="rect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07" name="Freeform 356"/>
              <p:cNvSpPr/>
              <p:nvPr/>
            </p:nvSpPr>
            <p:spPr>
              <a:xfrm>
                <a:off x="5025600" y="4976280"/>
                <a:ext cx="35640" cy="424800"/>
              </a:xfrm>
              <a:custGeom>
                <a:avLst/>
                <a:gdLst>
                  <a:gd fmla="*/ 0 w 35640" name="textAreaLeft"/>
                  <a:gd fmla="*/ 36000 w 35640" name="textAreaRight"/>
                  <a:gd fmla="*/ 0 h 424800" name="textAreaTop"/>
                  <a:gd fmla="*/ 425160 h 424800" name="textAreaBottom"/>
                </a:gdLst>
                <a:ahLst/>
                <a:cxnLst/>
                <a:rect b="textAreaBottom" l="textAreaLeft" r="textAreaRight" t="textAreaTop"/>
                <a:pathLst>
                  <a:path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8F8F8"/>
                  </a:gs>
                  <a:gs pos="100000">
                    <a:srgbClr val="808080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08" name="Freeform 357"/>
              <p:cNvSpPr/>
              <p:nvPr/>
            </p:nvSpPr>
            <p:spPr>
              <a:xfrm>
                <a:off x="5018040" y="5191200"/>
                <a:ext cx="55440" cy="37800"/>
              </a:xfrm>
              <a:custGeom>
                <a:avLst/>
                <a:gdLst>
                  <a:gd fmla="*/ 0 w 55440" name="textAreaLeft"/>
                  <a:gd fmla="*/ 55800 w 55440" name="textAreaRight"/>
                  <a:gd fmla="*/ 0 h 37800" name="textAreaTop"/>
                  <a:gd fmla="*/ 38160 h 37800" name="textAreaBottom"/>
                </a:gdLst>
                <a:ahLst/>
                <a:cxnLst/>
                <a:rect b="textAreaBottom" l="textAreaLeft" r="textAreaRight" t="textAreaTop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8640" lIns="90000" rIns="90000" tIns="-86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09" name="Rectangle 76"/>
              <p:cNvSpPr/>
              <p:nvPr/>
            </p:nvSpPr>
            <p:spPr>
              <a:xfrm>
                <a:off x="4789800" y="5000400"/>
                <a:ext cx="12672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010" name="Group 154"/>
              <p:cNvGrpSpPr/>
              <p:nvPr/>
            </p:nvGrpSpPr>
            <p:grpSpPr>
              <a:xfrm>
                <a:off x="4904280" y="4996080"/>
                <a:ext cx="123120" cy="28800"/>
                <a:chOff x="4904280" y="4996080"/>
                <a:chExt cx="123120" cy="28800"/>
              </a:xfrm>
            </p:grpSpPr>
            <p:sp>
              <p:nvSpPr>
                <p:cNvPr id="1011" name="AutoShape 44"/>
                <p:cNvSpPr/>
                <p:nvPr/>
              </p:nvSpPr>
              <p:spPr>
                <a:xfrm>
                  <a:off x="4904280" y="4996080"/>
                  <a:ext cx="123120" cy="28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5920" lIns="90000" rIns="90000" tIns="-2592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12" name="AutoShape 45"/>
                <p:cNvSpPr/>
                <p:nvPr/>
              </p:nvSpPr>
              <p:spPr>
                <a:xfrm>
                  <a:off x="4906080" y="4998960"/>
                  <a:ext cx="119160" cy="230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0240" lIns="90000" rIns="90000" tIns="-3024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013" name="Rectangle 77"/>
              <p:cNvSpPr/>
              <p:nvPr/>
            </p:nvSpPr>
            <p:spPr>
              <a:xfrm>
                <a:off x="4791960" y="5067000"/>
                <a:ext cx="12672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014" name="Group 155"/>
              <p:cNvGrpSpPr/>
              <p:nvPr/>
            </p:nvGrpSpPr>
            <p:grpSpPr>
              <a:xfrm>
                <a:off x="4903560" y="5061600"/>
                <a:ext cx="123480" cy="26640"/>
                <a:chOff x="4903560" y="5061600"/>
                <a:chExt cx="123480" cy="26640"/>
              </a:xfrm>
            </p:grpSpPr>
            <p:sp>
              <p:nvSpPr>
                <p:cNvPr id="1015" name="AutoShape 46"/>
                <p:cNvSpPr/>
                <p:nvPr/>
              </p:nvSpPr>
              <p:spPr>
                <a:xfrm>
                  <a:off x="4903560" y="5061600"/>
                  <a:ext cx="123480" cy="266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360" lIns="90000" rIns="90000" tIns="-2736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16" name="AutoShape 47"/>
                <p:cNvSpPr/>
                <p:nvPr/>
              </p:nvSpPr>
              <p:spPr>
                <a:xfrm>
                  <a:off x="4905720" y="5064840"/>
                  <a:ext cx="118800" cy="2052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2040" lIns="90000" rIns="90000" tIns="-3204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017" name="Rectangle 78"/>
              <p:cNvSpPr/>
              <p:nvPr/>
            </p:nvSpPr>
            <p:spPr>
              <a:xfrm>
                <a:off x="4791960" y="5133960"/>
                <a:ext cx="12672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18" name="Rectangle 79"/>
              <p:cNvSpPr/>
              <p:nvPr/>
            </p:nvSpPr>
            <p:spPr>
              <a:xfrm>
                <a:off x="4793760" y="5194440"/>
                <a:ext cx="12672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019" name="Group 156"/>
              <p:cNvGrpSpPr/>
              <p:nvPr/>
            </p:nvGrpSpPr>
            <p:grpSpPr>
              <a:xfrm>
                <a:off x="4901400" y="5188680"/>
                <a:ext cx="123120" cy="30240"/>
                <a:chOff x="4901400" y="5188680"/>
                <a:chExt cx="123120" cy="30240"/>
              </a:xfrm>
            </p:grpSpPr>
            <p:sp>
              <p:nvSpPr>
                <p:cNvPr id="1020" name="AutoShape 48"/>
                <p:cNvSpPr/>
                <p:nvPr/>
              </p:nvSpPr>
              <p:spPr>
                <a:xfrm>
                  <a:off x="4901400" y="5188680"/>
                  <a:ext cx="123120" cy="302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5200" lIns="90000" rIns="90000" tIns="-2520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21" name="AutoShape 49"/>
                <p:cNvSpPr/>
                <p:nvPr/>
              </p:nvSpPr>
              <p:spPr>
                <a:xfrm>
                  <a:off x="4903200" y="5188680"/>
                  <a:ext cx="119160" cy="266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360" lIns="90000" rIns="90000" tIns="-2736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022" name="Freeform 358"/>
              <p:cNvSpPr/>
              <p:nvPr/>
            </p:nvSpPr>
            <p:spPr>
              <a:xfrm>
                <a:off x="5018760" y="5133960"/>
                <a:ext cx="55800" cy="37440"/>
              </a:xfrm>
              <a:custGeom>
                <a:avLst/>
                <a:gdLst>
                  <a:gd fmla="*/ 0 w 55800" name="textAreaLeft"/>
                  <a:gd fmla="*/ 56160 w 55800" name="textAreaRight"/>
                  <a:gd fmla="*/ 0 h 37440" name="textAreaTop"/>
                  <a:gd fmla="*/ 37800 h 37440" name="textAreaBottom"/>
                </a:gdLst>
                <a:ahLst/>
                <a:cxnLst/>
                <a:rect b="textAreaBottom" l="textAreaLeft" r="textAreaRight" t="textAreaTop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9000" lIns="90000" rIns="90000" tIns="-9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023" name="Group 157"/>
              <p:cNvGrpSpPr/>
              <p:nvPr/>
            </p:nvGrpSpPr>
            <p:grpSpPr>
              <a:xfrm>
                <a:off x="4902120" y="5128560"/>
                <a:ext cx="123480" cy="27720"/>
                <a:chOff x="4902120" y="5128560"/>
                <a:chExt cx="123480" cy="27720"/>
              </a:xfrm>
            </p:grpSpPr>
            <p:sp>
              <p:nvSpPr>
                <p:cNvPr id="1024" name="AutoShape 50"/>
                <p:cNvSpPr/>
                <p:nvPr/>
              </p:nvSpPr>
              <p:spPr>
                <a:xfrm>
                  <a:off x="4902120" y="5128560"/>
                  <a:ext cx="123480" cy="2772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000" lIns="90000" rIns="90000" tIns="-2700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25" name="AutoShape 51"/>
                <p:cNvSpPr/>
                <p:nvPr/>
              </p:nvSpPr>
              <p:spPr>
                <a:xfrm>
                  <a:off x="4904280" y="5131800"/>
                  <a:ext cx="121320" cy="212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1320" lIns="90000" rIns="90000" tIns="-3132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026" name="Rectangle 80"/>
              <p:cNvSpPr/>
              <p:nvPr/>
            </p:nvSpPr>
            <p:spPr>
              <a:xfrm>
                <a:off x="5009760" y="4948200"/>
                <a:ext cx="14760" cy="45864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27" name="Freeform 359"/>
              <p:cNvSpPr/>
              <p:nvPr/>
            </p:nvSpPr>
            <p:spPr>
              <a:xfrm>
                <a:off x="5023800" y="5064120"/>
                <a:ext cx="50400" cy="42480"/>
              </a:xfrm>
              <a:custGeom>
                <a:avLst/>
                <a:gdLst>
                  <a:gd fmla="*/ 0 w 50400" name="textAreaLeft"/>
                  <a:gd fmla="*/ 50760 w 50400" name="textAreaRight"/>
                  <a:gd fmla="*/ 0 h 42480" name="textAreaTop"/>
                  <a:gd fmla="*/ 42840 h 42480" name="textAreaBottom"/>
                </a:gdLst>
                <a:ahLst/>
                <a:cxnLst/>
                <a:rect b="textAreaBottom" l="textAreaLeft" r="textAreaRight" t="textAreaTop"/>
                <a:pathLst>
                  <a:path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960" lIns="90000" rIns="90000" tIns="-39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28" name="Freeform 360"/>
              <p:cNvSpPr/>
              <p:nvPr/>
            </p:nvSpPr>
            <p:spPr>
              <a:xfrm>
                <a:off x="5024520" y="4998600"/>
                <a:ext cx="51840" cy="47880"/>
              </a:xfrm>
              <a:custGeom>
                <a:avLst/>
                <a:gdLst>
                  <a:gd fmla="*/ 0 w 51840" name="textAreaLeft"/>
                  <a:gd fmla="*/ 52200 w 51840" name="textAreaRight"/>
                  <a:gd fmla="*/ 0 h 47880" name="textAreaTop"/>
                  <a:gd fmla="*/ 48240 h 47880" name="textAreaBottom"/>
                </a:gdLst>
                <a:ahLst/>
                <a:cxnLst/>
                <a:rect b="textAreaBottom" l="textAreaLeft" r="textAreaRight" t="textAreaTop"/>
                <a:pathLst>
                  <a:path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440" lIns="90000" rIns="90000" tIns="14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29" name="Oval 92"/>
              <p:cNvSpPr/>
              <p:nvPr/>
            </p:nvSpPr>
            <p:spPr>
              <a:xfrm>
                <a:off x="5067000" y="5386320"/>
                <a:ext cx="10440" cy="19080"/>
              </a:xfrm>
              <a:prstGeom prst="ellipse">
                <a:avLst/>
              </a:prstGeom>
              <a:solidFill>
                <a:srgbClr val="3333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30" name="Freeform 361"/>
              <p:cNvSpPr/>
              <p:nvPr/>
            </p:nvSpPr>
            <p:spPr>
              <a:xfrm>
                <a:off x="5021640" y="5387040"/>
                <a:ext cx="51840" cy="39960"/>
              </a:xfrm>
              <a:custGeom>
                <a:avLst/>
                <a:gdLst>
                  <a:gd fmla="*/ 0 w 51840" name="textAreaLeft"/>
                  <a:gd fmla="*/ 52200 w 51840" name="textAreaRight"/>
                  <a:gd fmla="*/ 0 h 39960" name="textAreaTop"/>
                  <a:gd fmla="*/ 40320 h 39960" name="textAreaBottom"/>
                </a:gdLst>
                <a:ahLst/>
                <a:cxnLst/>
                <a:rect b="textAreaBottom" l="textAreaLeft" r="textAreaRight" t="textAreaTop"/>
                <a:pathLst>
                  <a:path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6480" lIns="90000" rIns="90000" tIns="-64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31" name="AutoShape 52"/>
              <p:cNvSpPr/>
              <p:nvPr/>
            </p:nvSpPr>
            <p:spPr>
              <a:xfrm>
                <a:off x="4775040" y="5399280"/>
                <a:ext cx="253800" cy="2988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5560" lIns="90000" rIns="90000" tIns="-255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032" name="AutoShape 53"/>
              <p:cNvSpPr/>
              <p:nvPr/>
            </p:nvSpPr>
            <p:spPr>
              <a:xfrm>
                <a:off x="4789800" y="5406840"/>
                <a:ext cx="226080" cy="15840"/>
              </a:xfrm>
              <a:prstGeom prst="roundRect">
                <a:avLst>
                  <a:gd fmla="val 50000" name="adj"/>
                </a:avLst>
              </a:prstGeom>
              <a:gradFill rotWithShape="0">
                <a:gsLst>
                  <a:gs pos="0">
                    <a:srgbClr val="808080"/>
                  </a:gs>
                  <a:gs pos="100000">
                    <a:srgbClr val="000000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5280" lIns="90000" rIns="90000" tIns="-35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33" name="Oval 93"/>
              <p:cNvSpPr/>
              <p:nvPr/>
            </p:nvSpPr>
            <p:spPr>
              <a:xfrm>
                <a:off x="4810680" y="5340240"/>
                <a:ext cx="33480" cy="28440"/>
              </a:xfrm>
              <a:prstGeom prst="ellipse">
                <a:avLst/>
              </a:prstGeom>
              <a:solidFill>
                <a:srgbClr val="33CC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34" name="Oval 94"/>
              <p:cNvSpPr/>
              <p:nvPr/>
            </p:nvSpPr>
            <p:spPr>
              <a:xfrm>
                <a:off x="4848840" y="5340240"/>
                <a:ext cx="33840" cy="28440"/>
              </a:xfrm>
              <a:prstGeom prst="ellipse">
                <a:avLst/>
              </a:prstGeom>
              <a:solidFill>
                <a:srgbClr val="FF0000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35" name="Oval 95"/>
              <p:cNvSpPr/>
              <p:nvPr/>
            </p:nvSpPr>
            <p:spPr>
              <a:xfrm>
                <a:off x="4884840" y="5340240"/>
                <a:ext cx="33840" cy="28440"/>
              </a:xfrm>
              <a:prstGeom prst="ellipse">
                <a:avLst/>
              </a:prstGeom>
              <a:solidFill>
                <a:srgbClr val="33CC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36" name="Rectangle 81"/>
              <p:cNvSpPr/>
              <p:nvPr/>
            </p:nvSpPr>
            <p:spPr>
              <a:xfrm>
                <a:off x="4971960" y="5230800"/>
                <a:ext cx="16560" cy="152280"/>
              </a:xfrm>
              <a:prstGeom prst="rect">
                <a:avLst/>
              </a:prstGeom>
              <a:solidFill>
                <a:srgbClr val="292929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1037" name="Group 158"/>
            <p:cNvGrpSpPr/>
            <p:nvPr/>
          </p:nvGrpSpPr>
          <p:grpSpPr>
            <a:xfrm>
              <a:off x="4353480" y="5249880"/>
              <a:ext cx="303120" cy="480960"/>
              <a:chOff x="4353480" y="5249880"/>
              <a:chExt cx="303120" cy="480960"/>
            </a:xfrm>
          </p:grpSpPr>
          <p:sp>
            <p:nvSpPr>
              <p:cNvPr id="1038" name="Freeform 362"/>
              <p:cNvSpPr/>
              <p:nvPr/>
            </p:nvSpPr>
            <p:spPr>
              <a:xfrm>
                <a:off x="4593600" y="5250600"/>
                <a:ext cx="60120" cy="459000"/>
              </a:xfrm>
              <a:custGeom>
                <a:avLst/>
                <a:gdLst>
                  <a:gd fmla="*/ 0 w 60120" name="textAreaLeft"/>
                  <a:gd fmla="*/ 60480 w 60120" name="textAreaRight"/>
                  <a:gd fmla="*/ 0 h 459000" name="textAreaTop"/>
                  <a:gd fmla="*/ 459360 h 459000" name="textAreaBottom"/>
                </a:gdLst>
                <a:ahLst/>
                <a:cxnLst/>
                <a:rect b="textAreaBottom" l="textAreaLeft" r="textAreaRight" t="textAreaTop"/>
                <a:pathLst>
                  <a:path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3333"/>
                  </a:gs>
                  <a:gs pos="100000">
                    <a:srgbClr val="DDDDDD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039" name="Rectangle 82"/>
              <p:cNvSpPr/>
              <p:nvPr/>
            </p:nvSpPr>
            <p:spPr>
              <a:xfrm>
                <a:off x="4368600" y="5249880"/>
                <a:ext cx="222120" cy="458640"/>
              </a:xfrm>
              <a:prstGeom prst="rect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40" name="Freeform 363"/>
              <p:cNvSpPr/>
              <p:nvPr/>
            </p:nvSpPr>
            <p:spPr>
              <a:xfrm>
                <a:off x="4604760" y="5277960"/>
                <a:ext cx="35280" cy="424800"/>
              </a:xfrm>
              <a:custGeom>
                <a:avLst/>
                <a:gdLst>
                  <a:gd fmla="*/ 0 w 35280" name="textAreaLeft"/>
                  <a:gd fmla="*/ 35640 w 35280" name="textAreaRight"/>
                  <a:gd fmla="*/ 0 h 424800" name="textAreaTop"/>
                  <a:gd fmla="*/ 425160 h 424800" name="textAreaBottom"/>
                </a:gdLst>
                <a:ahLst/>
                <a:cxnLst/>
                <a:rect b="textAreaBottom" l="textAreaLeft" r="textAreaRight" t="textAreaTop"/>
                <a:pathLst>
                  <a:path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8F8F8"/>
                  </a:gs>
                  <a:gs pos="100000">
                    <a:srgbClr val="808080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41" name="Freeform 364"/>
              <p:cNvSpPr/>
              <p:nvPr/>
            </p:nvSpPr>
            <p:spPr>
              <a:xfrm>
                <a:off x="4596840" y="5492880"/>
                <a:ext cx="55800" cy="37800"/>
              </a:xfrm>
              <a:custGeom>
                <a:avLst/>
                <a:gdLst>
                  <a:gd fmla="*/ 0 w 55800" name="textAreaLeft"/>
                  <a:gd fmla="*/ 56160 w 55800" name="textAreaRight"/>
                  <a:gd fmla="*/ 0 h 37800" name="textAreaTop"/>
                  <a:gd fmla="*/ 38160 h 37800" name="textAreaBottom"/>
                </a:gdLst>
                <a:ahLst/>
                <a:cxnLst/>
                <a:rect b="textAreaBottom" l="textAreaLeft" r="textAreaRight" t="textAreaTop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8640" lIns="90000" rIns="90000" tIns="-86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42" name="Rectangle 83"/>
              <p:cNvSpPr/>
              <p:nvPr/>
            </p:nvSpPr>
            <p:spPr>
              <a:xfrm>
                <a:off x="4368600" y="5302080"/>
                <a:ext cx="12708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043" name="Group 159"/>
              <p:cNvGrpSpPr/>
              <p:nvPr/>
            </p:nvGrpSpPr>
            <p:grpSpPr>
              <a:xfrm>
                <a:off x="4483080" y="5297760"/>
                <a:ext cx="123480" cy="28800"/>
                <a:chOff x="4483080" y="5297760"/>
                <a:chExt cx="123480" cy="28800"/>
              </a:xfrm>
            </p:grpSpPr>
            <p:sp>
              <p:nvSpPr>
                <p:cNvPr id="1044" name="AutoShape 54"/>
                <p:cNvSpPr/>
                <p:nvPr/>
              </p:nvSpPr>
              <p:spPr>
                <a:xfrm>
                  <a:off x="4483080" y="5297760"/>
                  <a:ext cx="123480" cy="28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5920" lIns="90000" rIns="90000" tIns="-2592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45" name="AutoShape 55"/>
                <p:cNvSpPr/>
                <p:nvPr/>
              </p:nvSpPr>
              <p:spPr>
                <a:xfrm>
                  <a:off x="4485240" y="5300640"/>
                  <a:ext cx="118800" cy="230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0240" lIns="90000" rIns="90000" tIns="-3024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046" name="Rectangle 84"/>
              <p:cNvSpPr/>
              <p:nvPr/>
            </p:nvSpPr>
            <p:spPr>
              <a:xfrm>
                <a:off x="4370400" y="5368680"/>
                <a:ext cx="12708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047" name="Group 160"/>
              <p:cNvGrpSpPr/>
              <p:nvPr/>
            </p:nvGrpSpPr>
            <p:grpSpPr>
              <a:xfrm>
                <a:off x="4482720" y="5363280"/>
                <a:ext cx="123480" cy="26640"/>
                <a:chOff x="4482720" y="5363280"/>
                <a:chExt cx="123480" cy="26640"/>
              </a:xfrm>
            </p:grpSpPr>
            <p:sp>
              <p:nvSpPr>
                <p:cNvPr id="1048" name="AutoShape 56"/>
                <p:cNvSpPr/>
                <p:nvPr/>
              </p:nvSpPr>
              <p:spPr>
                <a:xfrm>
                  <a:off x="4482720" y="5363280"/>
                  <a:ext cx="123480" cy="266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360" lIns="90000" rIns="90000" tIns="-2736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49" name="AutoShape 57"/>
                <p:cNvSpPr/>
                <p:nvPr/>
              </p:nvSpPr>
              <p:spPr>
                <a:xfrm>
                  <a:off x="4484520" y="5366520"/>
                  <a:ext cx="119160" cy="2052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2040" lIns="90000" rIns="90000" tIns="-3204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050" name="Rectangle 85"/>
              <p:cNvSpPr/>
              <p:nvPr/>
            </p:nvSpPr>
            <p:spPr>
              <a:xfrm>
                <a:off x="4370400" y="5435640"/>
                <a:ext cx="12708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51" name="Rectangle 86"/>
              <p:cNvSpPr/>
              <p:nvPr/>
            </p:nvSpPr>
            <p:spPr>
              <a:xfrm>
                <a:off x="4372200" y="5496120"/>
                <a:ext cx="127440" cy="936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7440" lIns="90000" rIns="90000" tIns="-3744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052" name="Group 161"/>
              <p:cNvGrpSpPr/>
              <p:nvPr/>
            </p:nvGrpSpPr>
            <p:grpSpPr>
              <a:xfrm>
                <a:off x="4479840" y="5490360"/>
                <a:ext cx="123840" cy="30240"/>
                <a:chOff x="4479840" y="5490360"/>
                <a:chExt cx="123840" cy="30240"/>
              </a:xfrm>
            </p:grpSpPr>
            <p:sp>
              <p:nvSpPr>
                <p:cNvPr id="1053" name="AutoShape 58"/>
                <p:cNvSpPr/>
                <p:nvPr/>
              </p:nvSpPr>
              <p:spPr>
                <a:xfrm>
                  <a:off x="4479840" y="5490360"/>
                  <a:ext cx="123840" cy="302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5200" lIns="90000" rIns="90000" tIns="-2520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54" name="AutoShape 59"/>
                <p:cNvSpPr/>
                <p:nvPr/>
              </p:nvSpPr>
              <p:spPr>
                <a:xfrm>
                  <a:off x="4481640" y="5490360"/>
                  <a:ext cx="119520" cy="266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360" lIns="90000" rIns="90000" tIns="-2736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055" name="Freeform 365"/>
              <p:cNvSpPr/>
              <p:nvPr/>
            </p:nvSpPr>
            <p:spPr>
              <a:xfrm>
                <a:off x="4597920" y="5435640"/>
                <a:ext cx="55800" cy="37440"/>
              </a:xfrm>
              <a:custGeom>
                <a:avLst/>
                <a:gdLst>
                  <a:gd fmla="*/ 0 w 55800" name="textAreaLeft"/>
                  <a:gd fmla="*/ 56160 w 55800" name="textAreaRight"/>
                  <a:gd fmla="*/ 0 h 37440" name="textAreaTop"/>
                  <a:gd fmla="*/ 37800 h 37440" name="textAreaBottom"/>
                </a:gdLst>
                <a:ahLst/>
                <a:cxnLst/>
                <a:rect b="textAreaBottom" l="textAreaLeft" r="textAreaRight" t="textAreaTop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9000" lIns="90000" rIns="90000" tIns="-9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056" name="Group 162"/>
              <p:cNvGrpSpPr/>
              <p:nvPr/>
            </p:nvGrpSpPr>
            <p:grpSpPr>
              <a:xfrm>
                <a:off x="4480920" y="5430240"/>
                <a:ext cx="123840" cy="27720"/>
                <a:chOff x="4480920" y="5430240"/>
                <a:chExt cx="123840" cy="27720"/>
              </a:xfrm>
            </p:grpSpPr>
            <p:sp>
              <p:nvSpPr>
                <p:cNvPr id="1057" name="AutoShape 60"/>
                <p:cNvSpPr/>
                <p:nvPr/>
              </p:nvSpPr>
              <p:spPr>
                <a:xfrm>
                  <a:off x="4480920" y="5430240"/>
                  <a:ext cx="123840" cy="2772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7000" lIns="90000" rIns="90000" tIns="-2700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58" name="AutoShape 61"/>
                <p:cNvSpPr/>
                <p:nvPr/>
              </p:nvSpPr>
              <p:spPr>
                <a:xfrm>
                  <a:off x="4482720" y="5433480"/>
                  <a:ext cx="122040" cy="212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31320" lIns="90000" rIns="90000" tIns="-31320" wrap="none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059" name="Rectangle 87"/>
              <p:cNvSpPr/>
              <p:nvPr/>
            </p:nvSpPr>
            <p:spPr>
              <a:xfrm>
                <a:off x="4588920" y="5249880"/>
                <a:ext cx="14760" cy="45864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60" name="Freeform 366"/>
              <p:cNvSpPr/>
              <p:nvPr/>
            </p:nvSpPr>
            <p:spPr>
              <a:xfrm>
                <a:off x="4602600" y="5365800"/>
                <a:ext cx="50400" cy="42480"/>
              </a:xfrm>
              <a:custGeom>
                <a:avLst/>
                <a:gdLst>
                  <a:gd fmla="*/ 0 w 50400" name="textAreaLeft"/>
                  <a:gd fmla="*/ 50760 w 50400" name="textAreaRight"/>
                  <a:gd fmla="*/ 0 h 42480" name="textAreaTop"/>
                  <a:gd fmla="*/ 42840 h 42480" name="textAreaBottom"/>
                </a:gdLst>
                <a:ahLst/>
                <a:cxnLst/>
                <a:rect b="textAreaBottom" l="textAreaLeft" r="textAreaRight" t="textAreaTop"/>
                <a:pathLst>
                  <a:path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960" lIns="90000" rIns="90000" tIns="-39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61" name="Freeform 367"/>
              <p:cNvSpPr/>
              <p:nvPr/>
            </p:nvSpPr>
            <p:spPr>
              <a:xfrm>
                <a:off x="4603680" y="5300280"/>
                <a:ext cx="51840" cy="47880"/>
              </a:xfrm>
              <a:custGeom>
                <a:avLst/>
                <a:gdLst>
                  <a:gd fmla="*/ 0 w 51840" name="textAreaLeft"/>
                  <a:gd fmla="*/ 52200 w 51840" name="textAreaRight"/>
                  <a:gd fmla="*/ 0 h 47880" name="textAreaTop"/>
                  <a:gd fmla="*/ 48240 h 47880" name="textAreaBottom"/>
                </a:gdLst>
                <a:ahLst/>
                <a:cxnLst/>
                <a:rect b="textAreaBottom" l="textAreaLeft" r="textAreaRight" t="textAreaTop"/>
                <a:pathLst>
                  <a:path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440" lIns="90000" rIns="90000" tIns="144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62" name="Oval 96"/>
              <p:cNvSpPr/>
              <p:nvPr/>
            </p:nvSpPr>
            <p:spPr>
              <a:xfrm>
                <a:off x="4645800" y="5688000"/>
                <a:ext cx="10800" cy="19080"/>
              </a:xfrm>
              <a:prstGeom prst="ellipse">
                <a:avLst/>
              </a:prstGeom>
              <a:solidFill>
                <a:srgbClr val="3333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63" name="Freeform 368"/>
              <p:cNvSpPr/>
              <p:nvPr/>
            </p:nvSpPr>
            <p:spPr>
              <a:xfrm>
                <a:off x="4600800" y="5688720"/>
                <a:ext cx="51840" cy="39960"/>
              </a:xfrm>
              <a:custGeom>
                <a:avLst/>
                <a:gdLst>
                  <a:gd fmla="*/ 0 w 51840" name="textAreaLeft"/>
                  <a:gd fmla="*/ 52200 w 51840" name="textAreaRight"/>
                  <a:gd fmla="*/ 0 h 39960" name="textAreaTop"/>
                  <a:gd fmla="*/ 40320 h 39960" name="textAreaBottom"/>
                </a:gdLst>
                <a:ahLst/>
                <a:cxnLst/>
                <a:rect b="textAreaBottom" l="textAreaLeft" r="textAreaRight" t="textAreaTop"/>
                <a:pathLst>
                  <a:path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6480" lIns="90000" rIns="90000" tIns="-64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64" name="AutoShape 62"/>
              <p:cNvSpPr/>
              <p:nvPr/>
            </p:nvSpPr>
            <p:spPr>
              <a:xfrm>
                <a:off x="4353480" y="5700960"/>
                <a:ext cx="254520" cy="2988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5560" lIns="90000" rIns="90000" tIns="-25560" wrap="none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065" name="AutoShape 63"/>
              <p:cNvSpPr/>
              <p:nvPr/>
            </p:nvSpPr>
            <p:spPr>
              <a:xfrm>
                <a:off x="4368600" y="5708520"/>
                <a:ext cx="226440" cy="15840"/>
              </a:xfrm>
              <a:prstGeom prst="roundRect">
                <a:avLst>
                  <a:gd fmla="val 50000" name="adj"/>
                </a:avLst>
              </a:prstGeom>
              <a:gradFill rotWithShape="0">
                <a:gsLst>
                  <a:gs pos="0">
                    <a:srgbClr val="808080"/>
                  </a:gs>
                  <a:gs pos="100000">
                    <a:srgbClr val="000000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5280" lIns="90000" rIns="90000" tIns="-35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66" name="Oval 97"/>
              <p:cNvSpPr/>
              <p:nvPr/>
            </p:nvSpPr>
            <p:spPr>
              <a:xfrm>
                <a:off x="4389120" y="5641920"/>
                <a:ext cx="33480" cy="28440"/>
              </a:xfrm>
              <a:prstGeom prst="ellipse">
                <a:avLst/>
              </a:prstGeom>
              <a:solidFill>
                <a:srgbClr val="33CC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67" name="Oval 98"/>
              <p:cNvSpPr/>
              <p:nvPr/>
            </p:nvSpPr>
            <p:spPr>
              <a:xfrm>
                <a:off x="4427640" y="5641920"/>
                <a:ext cx="33480" cy="28440"/>
              </a:xfrm>
              <a:prstGeom prst="ellipse">
                <a:avLst/>
              </a:prstGeom>
              <a:solidFill>
                <a:srgbClr val="FF0000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68" name="Oval 99"/>
              <p:cNvSpPr/>
              <p:nvPr/>
            </p:nvSpPr>
            <p:spPr>
              <a:xfrm>
                <a:off x="4463640" y="5641920"/>
                <a:ext cx="33480" cy="28440"/>
              </a:xfrm>
              <a:prstGeom prst="ellipse">
                <a:avLst/>
              </a:prstGeom>
              <a:solidFill>
                <a:srgbClr val="33CC33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69" name="Rectangle 88"/>
              <p:cNvSpPr/>
              <p:nvPr/>
            </p:nvSpPr>
            <p:spPr>
              <a:xfrm>
                <a:off x="4550760" y="5532480"/>
                <a:ext cx="16920" cy="152280"/>
              </a:xfrm>
              <a:prstGeom prst="rect">
                <a:avLst/>
              </a:prstGeom>
              <a:solidFill>
                <a:srgbClr val="292929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1070" name="Group 163"/>
            <p:cNvGrpSpPr/>
            <p:nvPr/>
          </p:nvGrpSpPr>
          <p:grpSpPr>
            <a:xfrm>
              <a:off x="856800" y="1989000"/>
              <a:ext cx="713880" cy="415080"/>
              <a:chOff x="856800" y="1989000"/>
              <a:chExt cx="713880" cy="415080"/>
            </a:xfrm>
          </p:grpSpPr>
          <p:pic>
            <p:nvPicPr>
              <p:cNvPr descr="antenna_stylized" id="1071" name="Picture 63"/>
              <p:cNvPicPr/>
              <p:nvPr/>
            </p:nvPicPr>
            <p:blipFill>
              <a:blip r:embed="rId13"/>
              <a:stretch/>
            </p:blipFill>
            <p:spPr>
              <a:xfrm>
                <a:off x="856800" y="1989000"/>
                <a:ext cx="708120" cy="22392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laptop_keyboard" id="1072" name="Picture 64"/>
              <p:cNvPicPr/>
              <p:nvPr/>
            </p:nvPicPr>
            <p:blipFill>
              <a:blip r:embed="rId14"/>
              <a:stretch/>
            </p:blipFill>
            <p:spPr>
              <a:xfrm flipH="1" rot="82800">
                <a:off x="892080" y="2237400"/>
                <a:ext cx="582840" cy="15948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1073" name="Freeform 369"/>
              <p:cNvSpPr/>
              <p:nvPr/>
            </p:nvSpPr>
            <p:spPr>
              <a:xfrm>
                <a:off x="1084320" y="2082600"/>
                <a:ext cx="469440" cy="208080"/>
              </a:xfrm>
              <a:custGeom>
                <a:avLst/>
                <a:gdLst>
                  <a:gd fmla="*/ 0 w 469440" name="textAreaLeft"/>
                  <a:gd fmla="*/ 469800 w 469440" name="textAreaRight"/>
                  <a:gd fmla="*/ 0 h 208080" name="textAreaTop"/>
                  <a:gd fmla="*/ 208440 h 208080" name="textAreaBottom"/>
                </a:gdLst>
                <a:ahLst/>
                <a:cxnLst/>
                <a:rect b="textAreaBottom" l="textAreaLeft" r="textAreaRight" t="textAreaTop"/>
                <a:pathLst>
                  <a:path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sq" w="9360">
                <a:solidFill>
                  <a:srgbClr val="000000"/>
                </a:solidFill>
                <a:round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pic>
            <p:nvPicPr>
              <p:cNvPr descr="screen" id="1074" name="Picture 65"/>
              <p:cNvPicPr/>
              <p:nvPr/>
            </p:nvPicPr>
            <p:blipFill>
              <a:blip r:embed="rId15"/>
              <a:stretch/>
            </p:blipFill>
            <p:spPr>
              <a:xfrm>
                <a:off x="1107360" y="2088000"/>
                <a:ext cx="426600" cy="1893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1075" name="Freeform 370"/>
              <p:cNvSpPr/>
              <p:nvPr/>
            </p:nvSpPr>
            <p:spPr>
              <a:xfrm>
                <a:off x="1169640" y="2076480"/>
                <a:ext cx="398160" cy="38520"/>
              </a:xfrm>
              <a:custGeom>
                <a:avLst/>
                <a:gdLst>
                  <a:gd fmla="*/ 0 w 398160" name="textAreaLeft"/>
                  <a:gd fmla="*/ 398520 w 398160" name="textAreaRight"/>
                  <a:gd fmla="*/ 0 h 38520" name="textAreaTop"/>
                  <a:gd fmla="*/ 38880 h 38520" name="textAreaBottom"/>
                </a:gdLst>
                <a:ahLst/>
                <a:cxnLst/>
                <a:rect b="textAreaBottom" l="textAreaLeft" r="textAreaRight" t="textAreaTop"/>
                <a:pathLst>
                  <a:path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AEAEA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7920" lIns="90000" rIns="90000" tIns="-79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76" name="Freeform 371"/>
              <p:cNvSpPr/>
              <p:nvPr/>
            </p:nvSpPr>
            <p:spPr>
              <a:xfrm>
                <a:off x="1080000" y="2076120"/>
                <a:ext cx="110520" cy="161280"/>
              </a:xfrm>
              <a:custGeom>
                <a:avLst/>
                <a:gdLst>
                  <a:gd fmla="*/ 0 w 110520" name="textAreaLeft"/>
                  <a:gd fmla="*/ 110880 w 110520" name="textAreaRight"/>
                  <a:gd fmla="*/ 0 h 161280" name="textAreaTop"/>
                  <a:gd fmla="*/ 161640 h 161280" name="textAreaBottom"/>
                </a:gdLst>
                <a:ahLst/>
                <a:cxnLst/>
                <a:rect b="textAreaBottom" l="textAreaLeft" r="textAreaRight" t="textAreaTop"/>
                <a:pathLst>
                  <a:path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77" name="Freeform 372"/>
              <p:cNvSpPr/>
              <p:nvPr/>
            </p:nvSpPr>
            <p:spPr>
              <a:xfrm>
                <a:off x="1445760" y="2104920"/>
                <a:ext cx="119160" cy="186120"/>
              </a:xfrm>
              <a:custGeom>
                <a:avLst/>
                <a:gdLst>
                  <a:gd fmla="*/ 0 w 119160" name="textAreaLeft"/>
                  <a:gd fmla="*/ 119520 w 119160" name="textAreaRight"/>
                  <a:gd fmla="*/ 0 h 186120" name="textAreaTop"/>
                  <a:gd fmla="*/ 186480 h 186120" name="textAreaBottom"/>
                </a:gdLst>
                <a:ahLst/>
                <a:cxnLst/>
                <a:rect b="textAreaBottom" l="textAreaLeft" r="textAreaRight" t="textAreaTop"/>
                <a:pathLst>
                  <a:path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078" name="Freeform 373"/>
              <p:cNvSpPr/>
              <p:nvPr/>
            </p:nvSpPr>
            <p:spPr>
              <a:xfrm>
                <a:off x="1078920" y="2229480"/>
                <a:ext cx="436320" cy="62640"/>
              </a:xfrm>
              <a:custGeom>
                <a:avLst/>
                <a:gdLst>
                  <a:gd fmla="*/ 0 w 436320" name="textAreaLeft"/>
                  <a:gd fmla="*/ 436680 w 436320" name="textAreaRight"/>
                  <a:gd fmla="*/ 0 h 62640" name="textAreaTop"/>
                  <a:gd fmla="*/ 63000 h 62640" name="textAreaBottom"/>
                </a:gdLst>
                <a:ahLst/>
                <a:cxnLst/>
                <a:rect b="textAreaBottom" l="textAreaLeft" r="textAreaRight" t="textAreaTop"/>
                <a:pathLst>
                  <a:path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6200" lIns="90000" rIns="90000" tIns="162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79" name="Freeform 374"/>
              <p:cNvSpPr/>
              <p:nvPr/>
            </p:nvSpPr>
            <p:spPr>
              <a:xfrm>
                <a:off x="1459080" y="2106720"/>
                <a:ext cx="111600" cy="186840"/>
              </a:xfrm>
              <a:custGeom>
                <a:avLst/>
                <a:gdLst>
                  <a:gd fmla="*/ 0 w 111600" name="textAreaLeft"/>
                  <a:gd fmla="*/ 111960 w 111600" name="textAreaRight"/>
                  <a:gd fmla="*/ 0 h 186840" name="textAreaTop"/>
                  <a:gd fmla="*/ 187200 h 186840" name="textAreaBottom"/>
                </a:gdLst>
                <a:ahLst/>
                <a:cxnLst/>
                <a:rect b="textAreaBottom" l="textAreaLeft" r="textAreaRight" t="textAreaTop"/>
                <a:pathLst>
                  <a:path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80" name="Freeform 375"/>
              <p:cNvSpPr/>
              <p:nvPr/>
            </p:nvSpPr>
            <p:spPr>
              <a:xfrm>
                <a:off x="1079640" y="2237760"/>
                <a:ext cx="388080" cy="61920"/>
              </a:xfrm>
              <a:custGeom>
                <a:avLst/>
                <a:gdLst>
                  <a:gd fmla="*/ 0 w 388080" name="textAreaLeft"/>
                  <a:gd fmla="*/ 388440 w 388080" name="textAreaRight"/>
                  <a:gd fmla="*/ 0 h 61920" name="textAreaTop"/>
                  <a:gd fmla="*/ 62280 h 61920" name="textAreaBottom"/>
                </a:gdLst>
                <a:ahLst/>
                <a:cxnLst/>
                <a:rect b="textAreaBottom" l="textAreaLeft" r="textAreaRight" t="textAreaTop"/>
                <a:pathLst>
                  <a:path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480" lIns="90000" rIns="90000" tIns="154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081" name="Group 164"/>
              <p:cNvGrpSpPr/>
              <p:nvPr/>
            </p:nvGrpSpPr>
            <p:grpSpPr>
              <a:xfrm>
                <a:off x="1072800" y="2304000"/>
                <a:ext cx="131400" cy="36720"/>
                <a:chOff x="1072800" y="2304000"/>
                <a:chExt cx="131400" cy="36720"/>
              </a:xfrm>
            </p:grpSpPr>
            <p:sp>
              <p:nvSpPr>
                <p:cNvPr id="1082" name="Freeform 376"/>
                <p:cNvSpPr/>
                <p:nvPr/>
              </p:nvSpPr>
              <p:spPr>
                <a:xfrm>
                  <a:off x="1072800" y="2304000"/>
                  <a:ext cx="131400" cy="36720"/>
                </a:xfrm>
                <a:custGeom>
                  <a:avLst/>
                  <a:gdLst>
                    <a:gd fmla="*/ 0 w 131400" name="textAreaLeft"/>
                    <a:gd fmla="*/ 131760 w 131400" name="textAreaRight"/>
                    <a:gd fmla="*/ 0 h 36720" name="textAreaTop"/>
                    <a:gd fmla="*/ 37080 h 36720" name="textAreaBottom"/>
                  </a:gdLst>
                  <a:ahLst/>
                  <a:cxnLst/>
                  <a:rect b="textAreaBottom" l="textAreaLeft" r="textAreaRight" t="textAreaTop"/>
                  <a:pathLst>
                    <a:path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9720" lIns="90000" rIns="90000" tIns="-97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83" name="Freeform 377"/>
                <p:cNvSpPr/>
                <p:nvPr/>
              </p:nvSpPr>
              <p:spPr>
                <a:xfrm>
                  <a:off x="1075320" y="2304720"/>
                  <a:ext cx="127080" cy="34920"/>
                </a:xfrm>
                <a:custGeom>
                  <a:avLst/>
                  <a:gdLst>
                    <a:gd fmla="*/ 0 w 127080" name="textAreaLeft"/>
                    <a:gd fmla="*/ 127440 w 127080" name="textAreaRight"/>
                    <a:gd fmla="*/ 0 h 34920" name="textAreaTop"/>
                    <a:gd fmla="*/ 35280 h 34920" name="textAreaBottom"/>
                  </a:gdLst>
                  <a:ahLst/>
                  <a:cxnLst/>
                  <a:rect b="textAreaBottom" l="textAreaLeft" r="textAreaRight" t="textAreaTop"/>
                  <a:pathLst>
                    <a:path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4D4D4D"/>
                    </a:gs>
                  </a:gsLst>
                  <a:lin ang="81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1520" lIns="90000" rIns="90000" tIns="-115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84" name="Freeform 378"/>
                <p:cNvSpPr/>
                <p:nvPr/>
              </p:nvSpPr>
              <p:spPr>
                <a:xfrm>
                  <a:off x="1084320" y="2318400"/>
                  <a:ext cx="45000" cy="11160"/>
                </a:xfrm>
                <a:custGeom>
                  <a:avLst/>
                  <a:gdLst>
                    <a:gd fmla="*/ 0 w 45000" name="textAreaLeft"/>
                    <a:gd fmla="*/ 45360 w 45000" name="textAreaRight"/>
                    <a:gd fmla="*/ 0 h 11160" name="textAreaTop"/>
                    <a:gd fmla="*/ 11520 h 11160" name="textAreaBottom"/>
                  </a:gdLst>
                  <a:ahLst/>
                  <a:cxnLst/>
                  <a:rect b="textAreaBottom" l="textAreaLeft" r="textAreaRight" t="textAreaTop"/>
                  <a:pathLst>
                    <a:path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280" lIns="90000" rIns="90000" tIns="-352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85" name="Freeform 379"/>
                <p:cNvSpPr/>
                <p:nvPr/>
              </p:nvSpPr>
              <p:spPr>
                <a:xfrm>
                  <a:off x="1082880" y="2323440"/>
                  <a:ext cx="33480" cy="6840"/>
                </a:xfrm>
                <a:custGeom>
                  <a:avLst/>
                  <a:gdLst>
                    <a:gd fmla="*/ 0 w 33480" name="textAreaLeft"/>
                    <a:gd fmla="*/ 33840 w 33480" name="textAreaRight"/>
                    <a:gd fmla="*/ 0 h 6840" name="textAreaTop"/>
                    <a:gd fmla="*/ 7200 h 6840" name="textAreaBottom"/>
                  </a:gdLst>
                  <a:ahLst/>
                  <a:cxnLst/>
                  <a:rect b="textAreaBottom" l="textAreaLeft" r="textAreaRight" t="textAreaTop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600" lIns="90000" rIns="90000" tIns="-396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86" name="Freeform 380"/>
                <p:cNvSpPr/>
                <p:nvPr/>
              </p:nvSpPr>
              <p:spPr>
                <a:xfrm>
                  <a:off x="1121760" y="2325600"/>
                  <a:ext cx="45000" cy="11520"/>
                </a:xfrm>
                <a:custGeom>
                  <a:avLst/>
                  <a:gdLst>
                    <a:gd fmla="*/ 0 w 45000" name="textAreaLeft"/>
                    <a:gd fmla="*/ 45360 w 45000" name="textAreaRight"/>
                    <a:gd fmla="*/ 0 h 11520" name="textAreaTop"/>
                    <a:gd fmla="*/ 11880 h 11520" name="textAreaBottom"/>
                  </a:gdLst>
                  <a:ahLst/>
                  <a:cxnLst/>
                  <a:rect b="textAreaBottom" l="textAreaLeft" r="textAreaRight" t="textAreaTop"/>
                  <a:pathLst>
                    <a:path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4920" lIns="90000" rIns="90000" tIns="-349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087" name="Freeform 381"/>
                <p:cNvSpPr/>
                <p:nvPr/>
              </p:nvSpPr>
              <p:spPr>
                <a:xfrm>
                  <a:off x="1120320" y="2331000"/>
                  <a:ext cx="33480" cy="6840"/>
                </a:xfrm>
                <a:custGeom>
                  <a:avLst/>
                  <a:gdLst>
                    <a:gd fmla="*/ 0 w 33480" name="textAreaLeft"/>
                    <a:gd fmla="*/ 33840 w 33480" name="textAreaRight"/>
                    <a:gd fmla="*/ 0 h 6840" name="textAreaTop"/>
                    <a:gd fmla="*/ 7200 h 6840" name="textAreaBottom"/>
                  </a:gdLst>
                  <a:ahLst/>
                  <a:cxnLst/>
                  <a:rect b="textAreaBottom" l="textAreaLeft" r="textAreaRight" t="textAreaTop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600" lIns="90000" rIns="90000" tIns="-396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088" name="Freeform 382"/>
              <p:cNvSpPr/>
              <p:nvPr/>
            </p:nvSpPr>
            <p:spPr>
              <a:xfrm>
                <a:off x="1298520" y="2309760"/>
                <a:ext cx="159120" cy="81000"/>
              </a:xfrm>
              <a:custGeom>
                <a:avLst/>
                <a:gdLst>
                  <a:gd fmla="*/ 0 w 159120" name="textAreaLeft"/>
                  <a:gd fmla="*/ 159480 w 159120" name="textAreaRight"/>
                  <a:gd fmla="*/ 0 h 81000" name="textAreaTop"/>
                  <a:gd fmla="*/ 81360 h 81000" name="textAreaBottom"/>
                </a:gdLst>
                <a:ahLst/>
                <a:cxnLst/>
                <a:rect b="textAreaBottom" l="textAreaLeft" r="textAreaRight" t="textAreaTop"/>
                <a:pathLst>
                  <a:path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4560" lIns="90000" rIns="90000" tIns="345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89" name="Freeform 383"/>
              <p:cNvSpPr/>
              <p:nvPr/>
            </p:nvSpPr>
            <p:spPr>
              <a:xfrm>
                <a:off x="891360" y="2316240"/>
                <a:ext cx="407880" cy="73800"/>
              </a:xfrm>
              <a:custGeom>
                <a:avLst/>
                <a:gdLst>
                  <a:gd fmla="*/ 0 w 407880" name="textAreaLeft"/>
                  <a:gd fmla="*/ 408240 w 407880" name="textAreaRight"/>
                  <a:gd fmla="*/ 0 h 73800" name="textAreaTop"/>
                  <a:gd fmla="*/ 74160 h 7380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360" lIns="90000" rIns="90000" tIns="273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90" name="Freeform 384"/>
              <p:cNvSpPr/>
              <p:nvPr/>
            </p:nvSpPr>
            <p:spPr>
              <a:xfrm>
                <a:off x="891360" y="2302560"/>
                <a:ext cx="4320" cy="14760"/>
              </a:xfrm>
              <a:custGeom>
                <a:avLst/>
                <a:gdLst>
                  <a:gd fmla="*/ 0 w 4320" name="textAreaLeft"/>
                  <a:gd fmla="*/ 4680 w 4320" name="textAreaRight"/>
                  <a:gd fmla="*/ 0 h 14760" name="textAreaTop"/>
                  <a:gd fmla="*/ 15120 h 14760" name="textAreaBottom"/>
                </a:gdLst>
                <a:ahLst/>
                <a:cxnLst/>
                <a:rect b="textAreaBottom" l="textAreaLeft" r="textAreaRight" t="textAreaTop"/>
                <a:pathLst>
                  <a:path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1680" lIns="90000" rIns="90000" tIns="-316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91" name="Freeform 385"/>
              <p:cNvSpPr/>
              <p:nvPr/>
            </p:nvSpPr>
            <p:spPr>
              <a:xfrm>
                <a:off x="891720" y="2241720"/>
                <a:ext cx="189720" cy="61920"/>
              </a:xfrm>
              <a:custGeom>
                <a:avLst/>
                <a:gdLst>
                  <a:gd fmla="*/ 0 w 189720" name="textAreaLeft"/>
                  <a:gd fmla="*/ 190080 w 189720" name="textAreaRight"/>
                  <a:gd fmla="*/ 0 h 61920" name="textAreaTop"/>
                  <a:gd fmla="*/ 62280 h 61920" name="textAreaBottom"/>
                </a:gdLst>
                <a:ahLst/>
                <a:cxnLst/>
                <a:rect b="textAreaBottom" l="textAreaLeft" r="textAreaRight" t="textAreaTop"/>
                <a:pathLst>
                  <a:path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480" lIns="90000" rIns="90000" tIns="154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92" name="Freeform 386"/>
              <p:cNvSpPr/>
              <p:nvPr/>
            </p:nvSpPr>
            <p:spPr>
              <a:xfrm>
                <a:off x="904320" y="2305800"/>
                <a:ext cx="387000" cy="70920"/>
              </a:xfrm>
              <a:custGeom>
                <a:avLst/>
                <a:gdLst>
                  <a:gd fmla="*/ 0 w 387000" name="textAreaLeft"/>
                  <a:gd fmla="*/ 387360 w 387000" name="textAreaRight"/>
                  <a:gd fmla="*/ 0 h 70920" name="textAreaTop"/>
                  <a:gd fmla="*/ 71280 h 7092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4480" lIns="90000" rIns="90000" tIns="244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093" name="Freeform 387"/>
              <p:cNvSpPr/>
              <p:nvPr/>
            </p:nvSpPr>
            <p:spPr>
              <a:xfrm flipV="1">
                <a:off x="1291320" y="2300760"/>
                <a:ext cx="157680" cy="73440"/>
              </a:xfrm>
              <a:custGeom>
                <a:avLst/>
                <a:gdLst>
                  <a:gd fmla="*/ 0 w 157680" name="textAreaLeft"/>
                  <a:gd fmla="*/ 158040 w 157680" name="textAreaRight"/>
                  <a:gd fmla="*/ 360 h 73440" name="textAreaTop"/>
                  <a:gd fmla="*/ 74160 h 7344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000" lIns="90000" rIns="90000" tIns="27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1094" name="Group 165"/>
            <p:cNvGrpSpPr/>
            <p:nvPr/>
          </p:nvGrpSpPr>
          <p:grpSpPr>
            <a:xfrm>
              <a:off x="2950560" y="5432400"/>
              <a:ext cx="632160" cy="414000"/>
              <a:chOff x="2950560" y="5432400"/>
              <a:chExt cx="632160" cy="414000"/>
            </a:xfrm>
          </p:grpSpPr>
          <p:pic>
            <p:nvPicPr>
              <p:cNvPr descr="antenna_stylized" id="1095" name="Picture 66"/>
              <p:cNvPicPr/>
              <p:nvPr/>
            </p:nvPicPr>
            <p:blipFill>
              <a:blip r:embed="rId16"/>
              <a:stretch/>
            </p:blipFill>
            <p:spPr>
              <a:xfrm>
                <a:off x="2950560" y="5432400"/>
                <a:ext cx="627840" cy="22356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laptop_keyboard" id="1096" name="Picture 67"/>
              <p:cNvPicPr/>
              <p:nvPr/>
            </p:nvPicPr>
            <p:blipFill>
              <a:blip r:embed="rId17"/>
              <a:stretch/>
            </p:blipFill>
            <p:spPr>
              <a:xfrm flipH="1" rot="81600">
                <a:off x="2981880" y="5680440"/>
                <a:ext cx="516600" cy="15948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1097" name="Freeform 388"/>
              <p:cNvSpPr/>
              <p:nvPr/>
            </p:nvSpPr>
            <p:spPr>
              <a:xfrm>
                <a:off x="3152160" y="5526000"/>
                <a:ext cx="416160" cy="208080"/>
              </a:xfrm>
              <a:custGeom>
                <a:avLst/>
                <a:gdLst>
                  <a:gd fmla="*/ 0 w 416160" name="textAreaLeft"/>
                  <a:gd fmla="*/ 416520 w 416160" name="textAreaRight"/>
                  <a:gd fmla="*/ 0 h 208080" name="textAreaTop"/>
                  <a:gd fmla="*/ 208440 h 208080" name="textAreaBottom"/>
                </a:gdLst>
                <a:ahLst/>
                <a:cxnLst/>
                <a:rect b="textAreaBottom" l="textAreaLeft" r="textAreaRight" t="textAreaTop"/>
                <a:pathLst>
                  <a:path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sq" w="9360">
                <a:solidFill>
                  <a:srgbClr val="000000"/>
                </a:solidFill>
                <a:round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pic>
            <p:nvPicPr>
              <p:cNvPr descr="screen" id="1098" name="Picture 68"/>
              <p:cNvPicPr/>
              <p:nvPr/>
            </p:nvPicPr>
            <p:blipFill>
              <a:blip r:embed="rId18"/>
              <a:stretch/>
            </p:blipFill>
            <p:spPr>
              <a:xfrm>
                <a:off x="3172680" y="5531400"/>
                <a:ext cx="378360" cy="1893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1099" name="Freeform 389"/>
              <p:cNvSpPr/>
              <p:nvPr/>
            </p:nvSpPr>
            <p:spPr>
              <a:xfrm>
                <a:off x="3228120" y="5519880"/>
                <a:ext cx="352800" cy="38520"/>
              </a:xfrm>
              <a:custGeom>
                <a:avLst/>
                <a:gdLst>
                  <a:gd fmla="*/ 0 w 352800" name="textAreaLeft"/>
                  <a:gd fmla="*/ 353160 w 352800" name="textAreaRight"/>
                  <a:gd fmla="*/ 0 h 38520" name="textAreaTop"/>
                  <a:gd fmla="*/ 38880 h 38520" name="textAreaBottom"/>
                </a:gdLst>
                <a:ahLst/>
                <a:cxnLst/>
                <a:rect b="textAreaBottom" l="textAreaLeft" r="textAreaRight" t="textAreaTop"/>
                <a:pathLst>
                  <a:path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AEAEA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7920" lIns="90000" rIns="90000" tIns="-79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00" name="Freeform 390"/>
              <p:cNvSpPr/>
              <p:nvPr/>
            </p:nvSpPr>
            <p:spPr>
              <a:xfrm>
                <a:off x="3148200" y="5519520"/>
                <a:ext cx="97920" cy="161280"/>
              </a:xfrm>
              <a:custGeom>
                <a:avLst/>
                <a:gdLst>
                  <a:gd fmla="*/ 0 w 97920" name="textAreaLeft"/>
                  <a:gd fmla="*/ 98280 w 97920" name="textAreaRight"/>
                  <a:gd fmla="*/ 0 h 161280" name="textAreaTop"/>
                  <a:gd fmla="*/ 161640 h 161280" name="textAreaBottom"/>
                </a:gdLst>
                <a:ahLst/>
                <a:cxnLst/>
                <a:rect b="textAreaBottom" l="textAreaLeft" r="textAreaRight" t="textAreaTop"/>
                <a:pathLst>
                  <a:path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01" name="Freeform 391"/>
              <p:cNvSpPr/>
              <p:nvPr/>
            </p:nvSpPr>
            <p:spPr>
              <a:xfrm>
                <a:off x="3472920" y="5548320"/>
                <a:ext cx="105120" cy="186120"/>
              </a:xfrm>
              <a:custGeom>
                <a:avLst/>
                <a:gdLst>
                  <a:gd fmla="*/ 0 w 105120" name="textAreaLeft"/>
                  <a:gd fmla="*/ 105480 w 105120" name="textAreaRight"/>
                  <a:gd fmla="*/ 0 h 186120" name="textAreaTop"/>
                  <a:gd fmla="*/ 186480 h 186120" name="textAreaBottom"/>
                </a:gdLst>
                <a:ahLst/>
                <a:cxnLst/>
                <a:rect b="textAreaBottom" l="textAreaLeft" r="textAreaRight" t="textAreaTop"/>
                <a:pathLst>
                  <a:path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102" name="Freeform 392"/>
              <p:cNvSpPr/>
              <p:nvPr/>
            </p:nvSpPr>
            <p:spPr>
              <a:xfrm>
                <a:off x="3147480" y="5672520"/>
                <a:ext cx="386640" cy="62640"/>
              </a:xfrm>
              <a:custGeom>
                <a:avLst/>
                <a:gdLst>
                  <a:gd fmla="*/ 0 w 386640" name="textAreaLeft"/>
                  <a:gd fmla="*/ 387000 w 386640" name="textAreaRight"/>
                  <a:gd fmla="*/ 0 h 62640" name="textAreaTop"/>
                  <a:gd fmla="*/ 63000 h 62640" name="textAreaBottom"/>
                </a:gdLst>
                <a:ahLst/>
                <a:cxnLst/>
                <a:rect b="textAreaBottom" l="textAreaLeft" r="textAreaRight" t="textAreaTop"/>
                <a:pathLst>
                  <a:path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6200" lIns="90000" rIns="90000" tIns="162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03" name="Freeform 393"/>
              <p:cNvSpPr/>
              <p:nvPr/>
            </p:nvSpPr>
            <p:spPr>
              <a:xfrm>
                <a:off x="3484440" y="5549760"/>
                <a:ext cx="98280" cy="186840"/>
              </a:xfrm>
              <a:custGeom>
                <a:avLst/>
                <a:gdLst>
                  <a:gd fmla="*/ 0 w 98280" name="textAreaLeft"/>
                  <a:gd fmla="*/ 98640 w 98280" name="textAreaRight"/>
                  <a:gd fmla="*/ 0 h 186840" name="textAreaTop"/>
                  <a:gd fmla="*/ 187200 h 186840" name="textAreaBottom"/>
                </a:gdLst>
                <a:ahLst/>
                <a:cxnLst/>
                <a:rect b="textAreaBottom" l="textAreaLeft" r="textAreaRight" t="textAreaTop"/>
                <a:pathLst>
                  <a:path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04" name="Freeform 394"/>
              <p:cNvSpPr/>
              <p:nvPr/>
            </p:nvSpPr>
            <p:spPr>
              <a:xfrm>
                <a:off x="3147840" y="5680800"/>
                <a:ext cx="344160" cy="61920"/>
              </a:xfrm>
              <a:custGeom>
                <a:avLst/>
                <a:gdLst>
                  <a:gd fmla="*/ 0 w 344160" name="textAreaLeft"/>
                  <a:gd fmla="*/ 344520 w 344160" name="textAreaRight"/>
                  <a:gd fmla="*/ 0 h 61920" name="textAreaTop"/>
                  <a:gd fmla="*/ 62280 h 61920" name="textAreaBottom"/>
                </a:gdLst>
                <a:ahLst/>
                <a:cxnLst/>
                <a:rect b="textAreaBottom" l="textAreaLeft" r="textAreaRight" t="textAreaTop"/>
                <a:pathLst>
                  <a:path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480" lIns="90000" rIns="90000" tIns="154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105" name="Group 166"/>
              <p:cNvGrpSpPr/>
              <p:nvPr/>
            </p:nvGrpSpPr>
            <p:grpSpPr>
              <a:xfrm>
                <a:off x="3142080" y="5747400"/>
                <a:ext cx="116640" cy="36720"/>
                <a:chOff x="3142080" y="5747400"/>
                <a:chExt cx="116640" cy="36720"/>
              </a:xfrm>
            </p:grpSpPr>
            <p:sp>
              <p:nvSpPr>
                <p:cNvPr id="1106" name="Freeform 395"/>
                <p:cNvSpPr/>
                <p:nvPr/>
              </p:nvSpPr>
              <p:spPr>
                <a:xfrm>
                  <a:off x="3142080" y="5747400"/>
                  <a:ext cx="116640" cy="36720"/>
                </a:xfrm>
                <a:custGeom>
                  <a:avLst/>
                  <a:gdLst>
                    <a:gd fmla="*/ 0 w 116640" name="textAreaLeft"/>
                    <a:gd fmla="*/ 117000 w 116640" name="textAreaRight"/>
                    <a:gd fmla="*/ 0 h 36720" name="textAreaTop"/>
                    <a:gd fmla="*/ 37080 h 36720" name="textAreaBottom"/>
                  </a:gdLst>
                  <a:ahLst/>
                  <a:cxnLst/>
                  <a:rect b="textAreaBottom" l="textAreaLeft" r="textAreaRight" t="textAreaTop"/>
                  <a:pathLst>
                    <a:path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9720" lIns="90000" rIns="90000" tIns="-97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07" name="Freeform 396"/>
                <p:cNvSpPr/>
                <p:nvPr/>
              </p:nvSpPr>
              <p:spPr>
                <a:xfrm>
                  <a:off x="3143880" y="5748120"/>
                  <a:ext cx="113040" cy="34920"/>
                </a:xfrm>
                <a:custGeom>
                  <a:avLst/>
                  <a:gdLst>
                    <a:gd fmla="*/ 0 w 113040" name="textAreaLeft"/>
                    <a:gd fmla="*/ 113400 w 113040" name="textAreaRight"/>
                    <a:gd fmla="*/ 0 h 34920" name="textAreaTop"/>
                    <a:gd fmla="*/ 35280 h 34920" name="textAreaBottom"/>
                  </a:gdLst>
                  <a:ahLst/>
                  <a:cxnLst/>
                  <a:rect b="textAreaBottom" l="textAreaLeft" r="textAreaRight" t="textAreaTop"/>
                  <a:pathLst>
                    <a:path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4D4D4D"/>
                    </a:gs>
                  </a:gsLst>
                  <a:lin ang="81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1520" lIns="90000" rIns="90000" tIns="-115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08" name="Freeform 397"/>
                <p:cNvSpPr/>
                <p:nvPr/>
              </p:nvSpPr>
              <p:spPr>
                <a:xfrm>
                  <a:off x="3152520" y="5761800"/>
                  <a:ext cx="39960" cy="11160"/>
                </a:xfrm>
                <a:custGeom>
                  <a:avLst/>
                  <a:gdLst>
                    <a:gd fmla="*/ 0 w 39960" name="textAreaLeft"/>
                    <a:gd fmla="*/ 40320 w 39960" name="textAreaRight"/>
                    <a:gd fmla="*/ 0 h 11160" name="textAreaTop"/>
                    <a:gd fmla="*/ 11520 h 11160" name="textAreaBottom"/>
                  </a:gdLst>
                  <a:ahLst/>
                  <a:cxnLst/>
                  <a:rect b="textAreaBottom" l="textAreaLeft" r="textAreaRight" t="textAreaTop"/>
                  <a:pathLst>
                    <a:path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280" lIns="90000" rIns="90000" tIns="-352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09" name="Freeform 398"/>
                <p:cNvSpPr/>
                <p:nvPr/>
              </p:nvSpPr>
              <p:spPr>
                <a:xfrm>
                  <a:off x="3151080" y="5766840"/>
                  <a:ext cx="29880" cy="6840"/>
                </a:xfrm>
                <a:custGeom>
                  <a:avLst/>
                  <a:gdLst>
                    <a:gd fmla="*/ 0 w 29880" name="textAreaLeft"/>
                    <a:gd fmla="*/ 30240 w 29880" name="textAreaRight"/>
                    <a:gd fmla="*/ 0 h 6840" name="textAreaTop"/>
                    <a:gd fmla="*/ 7200 h 6840" name="textAreaBottom"/>
                  </a:gdLst>
                  <a:ahLst/>
                  <a:cxnLst/>
                  <a:rect b="textAreaBottom" l="textAreaLeft" r="textAreaRight" t="textAreaTop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600" lIns="90000" rIns="90000" tIns="-396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10" name="Freeform 399"/>
                <p:cNvSpPr/>
                <p:nvPr/>
              </p:nvSpPr>
              <p:spPr>
                <a:xfrm>
                  <a:off x="3185280" y="5769000"/>
                  <a:ext cx="39960" cy="11520"/>
                </a:xfrm>
                <a:custGeom>
                  <a:avLst/>
                  <a:gdLst>
                    <a:gd fmla="*/ 0 w 39960" name="textAreaLeft"/>
                    <a:gd fmla="*/ 40320 w 39960" name="textAreaRight"/>
                    <a:gd fmla="*/ 0 h 11520" name="textAreaTop"/>
                    <a:gd fmla="*/ 11880 h 11520" name="textAreaBottom"/>
                  </a:gdLst>
                  <a:ahLst/>
                  <a:cxnLst/>
                  <a:rect b="textAreaBottom" l="textAreaLeft" r="textAreaRight" t="textAreaTop"/>
                  <a:pathLst>
                    <a:path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4920" lIns="90000" rIns="90000" tIns="-349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11" name="Freeform 400"/>
                <p:cNvSpPr/>
                <p:nvPr/>
              </p:nvSpPr>
              <p:spPr>
                <a:xfrm>
                  <a:off x="3183840" y="5774400"/>
                  <a:ext cx="29880" cy="6840"/>
                </a:xfrm>
                <a:custGeom>
                  <a:avLst/>
                  <a:gdLst>
                    <a:gd fmla="*/ 0 w 29880" name="textAreaLeft"/>
                    <a:gd fmla="*/ 30240 w 29880" name="textAreaRight"/>
                    <a:gd fmla="*/ 0 h 6840" name="textAreaTop"/>
                    <a:gd fmla="*/ 7200 h 6840" name="textAreaBottom"/>
                  </a:gdLst>
                  <a:ahLst/>
                  <a:cxnLst/>
                  <a:rect b="textAreaBottom" l="textAreaLeft" r="textAreaRight" t="textAreaTop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600" lIns="90000" rIns="90000" tIns="-396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112" name="Freeform 401"/>
              <p:cNvSpPr/>
              <p:nvPr/>
            </p:nvSpPr>
            <p:spPr>
              <a:xfrm>
                <a:off x="3342240" y="5752800"/>
                <a:ext cx="141120" cy="80640"/>
              </a:xfrm>
              <a:custGeom>
                <a:avLst/>
                <a:gdLst>
                  <a:gd fmla="*/ 0 w 141120" name="textAreaLeft"/>
                  <a:gd fmla="*/ 141480 w 141120" name="textAreaRight"/>
                  <a:gd fmla="*/ 0 h 80640" name="textAreaTop"/>
                  <a:gd fmla="*/ 81000 h 80640" name="textAreaBottom"/>
                </a:gdLst>
                <a:ahLst/>
                <a:cxnLst/>
                <a:rect b="textAreaBottom" l="textAreaLeft" r="textAreaRight" t="textAreaTop"/>
                <a:pathLst>
                  <a:path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4200" lIns="90000" rIns="90000" tIns="342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13" name="Freeform 402"/>
              <p:cNvSpPr/>
              <p:nvPr/>
            </p:nvSpPr>
            <p:spPr>
              <a:xfrm>
                <a:off x="2980800" y="5759280"/>
                <a:ext cx="361800" cy="73800"/>
              </a:xfrm>
              <a:custGeom>
                <a:avLst/>
                <a:gdLst>
                  <a:gd fmla="*/ 0 w 361800" name="textAreaLeft"/>
                  <a:gd fmla="*/ 361800 w 361800" name="textAreaRight"/>
                  <a:gd fmla="*/ 0 h 73800" name="textAreaTop"/>
                  <a:gd fmla="*/ 74160 h 7380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360" lIns="90000" rIns="90000" tIns="273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14" name="Freeform 403"/>
              <p:cNvSpPr/>
              <p:nvPr/>
            </p:nvSpPr>
            <p:spPr>
              <a:xfrm>
                <a:off x="2981160" y="5745600"/>
                <a:ext cx="3960" cy="14760"/>
              </a:xfrm>
              <a:custGeom>
                <a:avLst/>
                <a:gdLst>
                  <a:gd fmla="*/ 0 w 3960" name="textAreaLeft"/>
                  <a:gd fmla="*/ 4320 w 3960" name="textAreaRight"/>
                  <a:gd fmla="*/ 0 h 14760" name="textAreaTop"/>
                  <a:gd fmla="*/ 15120 h 14760" name="textAreaBottom"/>
                </a:gdLst>
                <a:ahLst/>
                <a:cxnLst/>
                <a:rect b="textAreaBottom" l="textAreaLeft" r="textAreaRight" t="textAreaTop"/>
                <a:pathLst>
                  <a:path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1680" lIns="90000" rIns="90000" tIns="-316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15" name="Freeform 404"/>
              <p:cNvSpPr/>
              <p:nvPr/>
            </p:nvSpPr>
            <p:spPr>
              <a:xfrm>
                <a:off x="2981160" y="5684760"/>
                <a:ext cx="168120" cy="61560"/>
              </a:xfrm>
              <a:custGeom>
                <a:avLst/>
                <a:gdLst>
                  <a:gd fmla="*/ 0 w 168120" name="textAreaLeft"/>
                  <a:gd fmla="*/ 168480 w 168120" name="textAreaRight"/>
                  <a:gd fmla="*/ 0 h 61560" name="textAreaTop"/>
                  <a:gd fmla="*/ 61920 h 61560" name="textAreaBottom"/>
                </a:gdLst>
                <a:ahLst/>
                <a:cxnLst/>
                <a:rect b="textAreaBottom" l="textAreaLeft" r="textAreaRight" t="textAreaTop"/>
                <a:pathLst>
                  <a:path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120" lIns="90000" rIns="90000" tIns="15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16" name="Freeform 405"/>
              <p:cNvSpPr/>
              <p:nvPr/>
            </p:nvSpPr>
            <p:spPr>
              <a:xfrm>
                <a:off x="2992680" y="5748840"/>
                <a:ext cx="343440" cy="70920"/>
              </a:xfrm>
              <a:custGeom>
                <a:avLst/>
                <a:gdLst>
                  <a:gd fmla="*/ 0 w 343440" name="textAreaLeft"/>
                  <a:gd fmla="*/ 343800 w 343440" name="textAreaRight"/>
                  <a:gd fmla="*/ 0 h 70920" name="textAreaTop"/>
                  <a:gd fmla="*/ 71280 h 7092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4480" lIns="90000" rIns="90000" tIns="244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17" name="Freeform 406"/>
              <p:cNvSpPr/>
              <p:nvPr/>
            </p:nvSpPr>
            <p:spPr>
              <a:xfrm flipV="1">
                <a:off x="3335400" y="5743800"/>
                <a:ext cx="139680" cy="73440"/>
              </a:xfrm>
              <a:custGeom>
                <a:avLst/>
                <a:gdLst>
                  <a:gd fmla="*/ 0 w 139680" name="textAreaLeft"/>
                  <a:gd fmla="*/ 140040 w 139680" name="textAreaRight"/>
                  <a:gd fmla="*/ 360 h 73440" name="textAreaTop"/>
                  <a:gd fmla="*/ 74160 h 7344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000" lIns="90000" rIns="90000" tIns="27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1118" name="Group 167"/>
            <p:cNvGrpSpPr/>
            <p:nvPr/>
          </p:nvGrpSpPr>
          <p:grpSpPr>
            <a:xfrm>
              <a:off x="1202040" y="2987640"/>
              <a:ext cx="592560" cy="413640"/>
              <a:chOff x="1202040" y="2987640"/>
              <a:chExt cx="592560" cy="413640"/>
            </a:xfrm>
          </p:grpSpPr>
          <p:pic>
            <p:nvPicPr>
              <p:cNvPr descr="antenna_stylized" id="1119" name="Picture 69"/>
              <p:cNvPicPr/>
              <p:nvPr/>
            </p:nvPicPr>
            <p:blipFill>
              <a:blip r:embed="rId19"/>
              <a:stretch/>
            </p:blipFill>
            <p:spPr>
              <a:xfrm>
                <a:off x="1202040" y="2987640"/>
                <a:ext cx="588240" cy="22356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laptop_keyboard" id="1120" name="Picture 70"/>
              <p:cNvPicPr/>
              <p:nvPr/>
            </p:nvPicPr>
            <p:blipFill>
              <a:blip r:embed="rId20"/>
              <a:stretch/>
            </p:blipFill>
            <p:spPr>
              <a:xfrm flipH="1" rot="81600">
                <a:off x="1231920" y="3235680"/>
                <a:ext cx="484200" cy="15948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1121" name="Freeform 407"/>
              <p:cNvSpPr/>
              <p:nvPr/>
            </p:nvSpPr>
            <p:spPr>
              <a:xfrm>
                <a:off x="1391040" y="3081240"/>
                <a:ext cx="390240" cy="208080"/>
              </a:xfrm>
              <a:custGeom>
                <a:avLst/>
                <a:gdLst>
                  <a:gd fmla="*/ 0 w 390240" name="textAreaLeft"/>
                  <a:gd fmla="*/ 390600 w 390240" name="textAreaRight"/>
                  <a:gd fmla="*/ 0 h 208080" name="textAreaTop"/>
                  <a:gd fmla="*/ 208440 h 208080" name="textAreaBottom"/>
                </a:gdLst>
                <a:ahLst/>
                <a:cxnLst/>
                <a:rect b="textAreaBottom" l="textAreaLeft" r="textAreaRight" t="textAreaTop"/>
                <a:pathLst>
                  <a:path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sq" w="9360">
                <a:solidFill>
                  <a:srgbClr val="000000"/>
                </a:solidFill>
                <a:round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pic>
            <p:nvPicPr>
              <p:cNvPr descr="screen" id="1122" name="Picture 71"/>
              <p:cNvPicPr/>
              <p:nvPr/>
            </p:nvPicPr>
            <p:blipFill>
              <a:blip r:embed="rId21"/>
              <a:stretch/>
            </p:blipFill>
            <p:spPr>
              <a:xfrm>
                <a:off x="1410120" y="3086640"/>
                <a:ext cx="354240" cy="1893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1123" name="Freeform 408"/>
              <p:cNvSpPr/>
              <p:nvPr/>
            </p:nvSpPr>
            <p:spPr>
              <a:xfrm>
                <a:off x="1461960" y="3075120"/>
                <a:ext cx="330480" cy="38520"/>
              </a:xfrm>
              <a:custGeom>
                <a:avLst/>
                <a:gdLst>
                  <a:gd fmla="*/ 0 w 330480" name="textAreaLeft"/>
                  <a:gd fmla="*/ 330840 w 330480" name="textAreaRight"/>
                  <a:gd fmla="*/ 0 h 38520" name="textAreaTop"/>
                  <a:gd fmla="*/ 38880 h 38520" name="textAreaBottom"/>
                </a:gdLst>
                <a:ahLst/>
                <a:cxnLst/>
                <a:rect b="textAreaBottom" l="textAreaLeft" r="textAreaRight" t="textAreaTop"/>
                <a:pathLst>
                  <a:path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AEAEA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7920" lIns="90000" rIns="90000" tIns="-79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24" name="Freeform 409"/>
              <p:cNvSpPr/>
              <p:nvPr/>
            </p:nvSpPr>
            <p:spPr>
              <a:xfrm>
                <a:off x="1387080" y="3074760"/>
                <a:ext cx="91800" cy="161280"/>
              </a:xfrm>
              <a:custGeom>
                <a:avLst/>
                <a:gdLst>
                  <a:gd fmla="*/ 0 w 91800" name="textAreaLeft"/>
                  <a:gd fmla="*/ 92160 w 91800" name="textAreaRight"/>
                  <a:gd fmla="*/ 0 h 161280" name="textAreaTop"/>
                  <a:gd fmla="*/ 161640 h 161280" name="textAreaBottom"/>
                </a:gdLst>
                <a:ahLst/>
                <a:cxnLst/>
                <a:rect b="textAreaBottom" l="textAreaLeft" r="textAreaRight" t="textAreaTop"/>
                <a:pathLst>
                  <a:path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25" name="Freeform 410"/>
              <p:cNvSpPr/>
              <p:nvPr/>
            </p:nvSpPr>
            <p:spPr>
              <a:xfrm>
                <a:off x="1690920" y="3103560"/>
                <a:ext cx="99000" cy="186120"/>
              </a:xfrm>
              <a:custGeom>
                <a:avLst/>
                <a:gdLst>
                  <a:gd fmla="*/ 0 w 99000" name="textAreaLeft"/>
                  <a:gd fmla="*/ 99360 w 99000" name="textAreaRight"/>
                  <a:gd fmla="*/ 0 h 186120" name="textAreaTop"/>
                  <a:gd fmla="*/ 186480 h 186120" name="textAreaBottom"/>
                </a:gdLst>
                <a:ahLst/>
                <a:cxnLst/>
                <a:rect b="textAreaBottom" l="textAreaLeft" r="textAreaRight" t="textAreaTop"/>
                <a:pathLst>
                  <a:path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126" name="Freeform 411"/>
              <p:cNvSpPr/>
              <p:nvPr/>
            </p:nvSpPr>
            <p:spPr>
              <a:xfrm>
                <a:off x="1386360" y="3227760"/>
                <a:ext cx="362160" cy="62640"/>
              </a:xfrm>
              <a:custGeom>
                <a:avLst/>
                <a:gdLst>
                  <a:gd fmla="*/ 0 w 362160" name="textAreaLeft"/>
                  <a:gd fmla="*/ 362160 w 362160" name="textAreaRight"/>
                  <a:gd fmla="*/ 0 h 62640" name="textAreaTop"/>
                  <a:gd fmla="*/ 63000 h 62640" name="textAreaBottom"/>
                </a:gdLst>
                <a:ahLst/>
                <a:cxnLst/>
                <a:rect b="textAreaBottom" l="textAreaLeft" r="textAreaRight" t="textAreaTop"/>
                <a:pathLst>
                  <a:path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6200" lIns="90000" rIns="90000" tIns="162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27" name="Freeform 412"/>
              <p:cNvSpPr/>
              <p:nvPr/>
            </p:nvSpPr>
            <p:spPr>
              <a:xfrm>
                <a:off x="1702080" y="3105000"/>
                <a:ext cx="92520" cy="186840"/>
              </a:xfrm>
              <a:custGeom>
                <a:avLst/>
                <a:gdLst>
                  <a:gd fmla="*/ 0 w 92520" name="textAreaLeft"/>
                  <a:gd fmla="*/ 92880 w 92520" name="textAreaRight"/>
                  <a:gd fmla="*/ 0 h 186840" name="textAreaTop"/>
                  <a:gd fmla="*/ 187200 h 186840" name="textAreaBottom"/>
                </a:gdLst>
                <a:ahLst/>
                <a:cxnLst/>
                <a:rect b="textAreaBottom" l="textAreaLeft" r="textAreaRight" t="textAreaTop"/>
                <a:pathLst>
                  <a:path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28" name="Freeform 413"/>
              <p:cNvSpPr/>
              <p:nvPr/>
            </p:nvSpPr>
            <p:spPr>
              <a:xfrm>
                <a:off x="1386720" y="3236040"/>
                <a:ext cx="322560" cy="61920"/>
              </a:xfrm>
              <a:custGeom>
                <a:avLst/>
                <a:gdLst>
                  <a:gd fmla="*/ 0 w 322560" name="textAreaLeft"/>
                  <a:gd fmla="*/ 322920 w 322560" name="textAreaRight"/>
                  <a:gd fmla="*/ 0 h 61920" name="textAreaTop"/>
                  <a:gd fmla="*/ 62280 h 61920" name="textAreaBottom"/>
                </a:gdLst>
                <a:ahLst/>
                <a:cxnLst/>
                <a:rect b="textAreaBottom" l="textAreaLeft" r="textAreaRight" t="textAreaTop"/>
                <a:pathLst>
                  <a:path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480" lIns="90000" rIns="90000" tIns="154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129" name="Group 168"/>
              <p:cNvGrpSpPr/>
              <p:nvPr/>
            </p:nvGrpSpPr>
            <p:grpSpPr>
              <a:xfrm>
                <a:off x="1381320" y="3302640"/>
                <a:ext cx="109440" cy="36720"/>
                <a:chOff x="1381320" y="3302640"/>
                <a:chExt cx="109440" cy="36720"/>
              </a:xfrm>
            </p:grpSpPr>
            <p:sp>
              <p:nvSpPr>
                <p:cNvPr id="1130" name="Freeform 414"/>
                <p:cNvSpPr/>
                <p:nvPr/>
              </p:nvSpPr>
              <p:spPr>
                <a:xfrm>
                  <a:off x="1381320" y="3302640"/>
                  <a:ext cx="109440" cy="36720"/>
                </a:xfrm>
                <a:custGeom>
                  <a:avLst/>
                  <a:gdLst>
                    <a:gd fmla="*/ 0 w 109440" name="textAreaLeft"/>
                    <a:gd fmla="*/ 109800 w 109440" name="textAreaRight"/>
                    <a:gd fmla="*/ 0 h 36720" name="textAreaTop"/>
                    <a:gd fmla="*/ 37080 h 36720" name="textAreaBottom"/>
                  </a:gdLst>
                  <a:ahLst/>
                  <a:cxnLst/>
                  <a:rect b="textAreaBottom" l="textAreaLeft" r="textAreaRight" t="textAreaTop"/>
                  <a:pathLst>
                    <a:path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9720" lIns="90000" rIns="90000" tIns="-97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31" name="Freeform 415"/>
                <p:cNvSpPr/>
                <p:nvPr/>
              </p:nvSpPr>
              <p:spPr>
                <a:xfrm>
                  <a:off x="1383480" y="3303360"/>
                  <a:ext cx="105480" cy="34920"/>
                </a:xfrm>
                <a:custGeom>
                  <a:avLst/>
                  <a:gdLst>
                    <a:gd fmla="*/ 0 w 105480" name="textAreaLeft"/>
                    <a:gd fmla="*/ 105840 w 105480" name="textAreaRight"/>
                    <a:gd fmla="*/ 0 h 34920" name="textAreaTop"/>
                    <a:gd fmla="*/ 35280 h 34920" name="textAreaBottom"/>
                  </a:gdLst>
                  <a:ahLst/>
                  <a:cxnLst/>
                  <a:rect b="textAreaBottom" l="textAreaLeft" r="textAreaRight" t="textAreaTop"/>
                  <a:pathLst>
                    <a:path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4D4D4D"/>
                    </a:gs>
                  </a:gsLst>
                  <a:lin ang="81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1520" lIns="90000" rIns="90000" tIns="-115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32" name="Freeform 416"/>
                <p:cNvSpPr/>
                <p:nvPr/>
              </p:nvSpPr>
              <p:spPr>
                <a:xfrm>
                  <a:off x="1391040" y="3317040"/>
                  <a:ext cx="37440" cy="11160"/>
                </a:xfrm>
                <a:custGeom>
                  <a:avLst/>
                  <a:gdLst>
                    <a:gd fmla="*/ 0 w 37440" name="textAreaLeft"/>
                    <a:gd fmla="*/ 37800 w 37440" name="textAreaRight"/>
                    <a:gd fmla="*/ 0 h 11160" name="textAreaTop"/>
                    <a:gd fmla="*/ 11520 h 11160" name="textAreaBottom"/>
                  </a:gdLst>
                  <a:ahLst/>
                  <a:cxnLst/>
                  <a:rect b="textAreaBottom" l="textAreaLeft" r="textAreaRight" t="textAreaTop"/>
                  <a:pathLst>
                    <a:path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280" lIns="90000" rIns="90000" tIns="-352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33" name="Freeform 417"/>
                <p:cNvSpPr/>
                <p:nvPr/>
              </p:nvSpPr>
              <p:spPr>
                <a:xfrm>
                  <a:off x="1389600" y="3322080"/>
                  <a:ext cx="28440" cy="6840"/>
                </a:xfrm>
                <a:custGeom>
                  <a:avLst/>
                  <a:gdLst>
                    <a:gd fmla="*/ 0 w 28440" name="textAreaLeft"/>
                    <a:gd fmla="*/ 28800 w 28440" name="textAreaRight"/>
                    <a:gd fmla="*/ 0 h 6840" name="textAreaTop"/>
                    <a:gd fmla="*/ 7200 h 6840" name="textAreaBottom"/>
                  </a:gdLst>
                  <a:ahLst/>
                  <a:cxnLst/>
                  <a:rect b="textAreaBottom" l="textAreaLeft" r="textAreaRight" t="textAreaTop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600" lIns="90000" rIns="90000" tIns="-396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34" name="Freeform 418"/>
                <p:cNvSpPr/>
                <p:nvPr/>
              </p:nvSpPr>
              <p:spPr>
                <a:xfrm>
                  <a:off x="1422360" y="3324240"/>
                  <a:ext cx="37440" cy="11520"/>
                </a:xfrm>
                <a:custGeom>
                  <a:avLst/>
                  <a:gdLst>
                    <a:gd fmla="*/ 0 w 37440" name="textAreaLeft"/>
                    <a:gd fmla="*/ 37800 w 37440" name="textAreaRight"/>
                    <a:gd fmla="*/ 0 h 11520" name="textAreaTop"/>
                    <a:gd fmla="*/ 11880 h 11520" name="textAreaBottom"/>
                  </a:gdLst>
                  <a:ahLst/>
                  <a:cxnLst/>
                  <a:rect b="textAreaBottom" l="textAreaLeft" r="textAreaRight" t="textAreaTop"/>
                  <a:pathLst>
                    <a:path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4920" lIns="90000" rIns="90000" tIns="-349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35" name="Freeform 419"/>
                <p:cNvSpPr/>
                <p:nvPr/>
              </p:nvSpPr>
              <p:spPr>
                <a:xfrm>
                  <a:off x="1420920" y="3329640"/>
                  <a:ext cx="28080" cy="6840"/>
                </a:xfrm>
                <a:custGeom>
                  <a:avLst/>
                  <a:gdLst>
                    <a:gd fmla="*/ 0 w 28080" name="textAreaLeft"/>
                    <a:gd fmla="*/ 28440 w 28080" name="textAreaRight"/>
                    <a:gd fmla="*/ 0 h 6840" name="textAreaTop"/>
                    <a:gd fmla="*/ 7200 h 6840" name="textAreaBottom"/>
                  </a:gdLst>
                  <a:ahLst/>
                  <a:cxnLst/>
                  <a:rect b="textAreaBottom" l="textAreaLeft" r="textAreaRight" t="textAreaTop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600" lIns="90000" rIns="90000" tIns="-396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136" name="Freeform 420"/>
              <p:cNvSpPr/>
              <p:nvPr/>
            </p:nvSpPr>
            <p:spPr>
              <a:xfrm>
                <a:off x="1568520" y="3308040"/>
                <a:ext cx="132480" cy="80640"/>
              </a:xfrm>
              <a:custGeom>
                <a:avLst/>
                <a:gdLst>
                  <a:gd fmla="*/ 0 w 132480" name="textAreaLeft"/>
                  <a:gd fmla="*/ 132840 w 132480" name="textAreaRight"/>
                  <a:gd fmla="*/ 0 h 80640" name="textAreaTop"/>
                  <a:gd fmla="*/ 81000 h 80640" name="textAreaBottom"/>
                </a:gdLst>
                <a:ahLst/>
                <a:cxnLst/>
                <a:rect b="textAreaBottom" l="textAreaLeft" r="textAreaRight" t="textAreaTop"/>
                <a:pathLst>
                  <a:path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4200" lIns="90000" rIns="90000" tIns="342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37" name="Freeform 421"/>
              <p:cNvSpPr/>
              <p:nvPr/>
            </p:nvSpPr>
            <p:spPr>
              <a:xfrm>
                <a:off x="1230120" y="3314520"/>
                <a:ext cx="339120" cy="73800"/>
              </a:xfrm>
              <a:custGeom>
                <a:avLst/>
                <a:gdLst>
                  <a:gd fmla="*/ 0 w 339120" name="textAreaLeft"/>
                  <a:gd fmla="*/ 339480 w 339120" name="textAreaRight"/>
                  <a:gd fmla="*/ 0 h 73800" name="textAreaTop"/>
                  <a:gd fmla="*/ 74160 h 7380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360" lIns="90000" rIns="90000" tIns="273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38" name="Freeform 422"/>
              <p:cNvSpPr/>
              <p:nvPr/>
            </p:nvSpPr>
            <p:spPr>
              <a:xfrm>
                <a:off x="1230840" y="3300840"/>
                <a:ext cx="3240" cy="14760"/>
              </a:xfrm>
              <a:custGeom>
                <a:avLst/>
                <a:gdLst>
                  <a:gd fmla="*/ 0 w 3240" name="textAreaLeft"/>
                  <a:gd fmla="*/ 3600 w 3240" name="textAreaRight"/>
                  <a:gd fmla="*/ 0 h 14760" name="textAreaTop"/>
                  <a:gd fmla="*/ 15120 h 14760" name="textAreaBottom"/>
                </a:gdLst>
                <a:ahLst/>
                <a:cxnLst/>
                <a:rect b="textAreaBottom" l="textAreaLeft" r="textAreaRight" t="textAreaTop"/>
                <a:pathLst>
                  <a:path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1680" lIns="90000" rIns="90000" tIns="-316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39" name="Freeform 423"/>
              <p:cNvSpPr/>
              <p:nvPr/>
            </p:nvSpPr>
            <p:spPr>
              <a:xfrm>
                <a:off x="1230840" y="3240000"/>
                <a:ext cx="157320" cy="61560"/>
              </a:xfrm>
              <a:custGeom>
                <a:avLst/>
                <a:gdLst>
                  <a:gd fmla="*/ 0 w 157320" name="textAreaLeft"/>
                  <a:gd fmla="*/ 157680 w 157320" name="textAreaRight"/>
                  <a:gd fmla="*/ 0 h 61560" name="textAreaTop"/>
                  <a:gd fmla="*/ 61920 h 61560" name="textAreaBottom"/>
                </a:gdLst>
                <a:ahLst/>
                <a:cxnLst/>
                <a:rect b="textAreaBottom" l="textAreaLeft" r="textAreaRight" t="textAreaTop"/>
                <a:pathLst>
                  <a:path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120" lIns="90000" rIns="90000" tIns="15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40" name="Freeform 424"/>
              <p:cNvSpPr/>
              <p:nvPr/>
            </p:nvSpPr>
            <p:spPr>
              <a:xfrm>
                <a:off x="1241280" y="3304080"/>
                <a:ext cx="321480" cy="70920"/>
              </a:xfrm>
              <a:custGeom>
                <a:avLst/>
                <a:gdLst>
                  <a:gd fmla="*/ 0 w 321480" name="textAreaLeft"/>
                  <a:gd fmla="*/ 321840 w 321480" name="textAreaRight"/>
                  <a:gd fmla="*/ 0 h 70920" name="textAreaTop"/>
                  <a:gd fmla="*/ 71280 h 7092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4480" lIns="90000" rIns="90000" tIns="244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41" name="Freeform 425"/>
              <p:cNvSpPr/>
              <p:nvPr/>
            </p:nvSpPr>
            <p:spPr>
              <a:xfrm flipV="1">
                <a:off x="1562760" y="3299040"/>
                <a:ext cx="131040" cy="73440"/>
              </a:xfrm>
              <a:custGeom>
                <a:avLst/>
                <a:gdLst>
                  <a:gd fmla="*/ 0 w 131040" name="textAreaLeft"/>
                  <a:gd fmla="*/ 131400 w 131040" name="textAreaRight"/>
                  <a:gd fmla="*/ 360 h 73440" name="textAreaTop"/>
                  <a:gd fmla="*/ 74160 h 7344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000" lIns="90000" rIns="90000" tIns="27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1142" name="Group 169"/>
            <p:cNvGrpSpPr/>
            <p:nvPr/>
          </p:nvGrpSpPr>
          <p:grpSpPr>
            <a:xfrm>
              <a:off x="1707480" y="3168720"/>
              <a:ext cx="552240" cy="372960"/>
              <a:chOff x="1707480" y="3168720"/>
              <a:chExt cx="552240" cy="372960"/>
            </a:xfrm>
          </p:grpSpPr>
          <p:pic>
            <p:nvPicPr>
              <p:cNvPr descr="desktop_computer_stylized_medium" id="1143" name="Picture 72"/>
              <p:cNvPicPr/>
              <p:nvPr/>
            </p:nvPicPr>
            <p:blipFill>
              <a:blip r:embed="rId7"/>
              <a:stretch/>
            </p:blipFill>
            <p:spPr>
              <a:xfrm flipH="1">
                <a:off x="1707480" y="3168720"/>
                <a:ext cx="552240" cy="3729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1144" name="Freeform 426"/>
              <p:cNvSpPr/>
              <p:nvPr/>
            </p:nvSpPr>
            <p:spPr>
              <a:xfrm flipH="1">
                <a:off x="1943640" y="3204360"/>
                <a:ext cx="259920" cy="171000"/>
              </a:xfrm>
              <a:custGeom>
                <a:avLst/>
                <a:gdLst>
                  <a:gd fmla="*/ 360 w 259920" name="textAreaLeft"/>
                  <a:gd fmla="*/ 260640 w 259920" name="textAreaRight"/>
                  <a:gd fmla="*/ 0 h 171000" name="textAreaTop"/>
                  <a:gd fmla="*/ 171360 h 171000" name="textAreaBottom"/>
                </a:gdLst>
                <a:ahLst/>
                <a:cxnLst/>
                <a:rect b="textAreaBottom" l="textAreaLeft" r="textAreaRight" t="textAreaTop"/>
                <a:pathLst>
                  <a:path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99"/>
                  </a:gs>
                </a:gsLst>
                <a:lin ang="135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  <p:grpSp>
          <p:nvGrpSpPr>
            <p:cNvPr id="1145" name="Group 170"/>
            <p:cNvGrpSpPr/>
            <p:nvPr/>
          </p:nvGrpSpPr>
          <p:grpSpPr>
            <a:xfrm>
              <a:off x="3530520" y="5369040"/>
              <a:ext cx="632160" cy="414000"/>
              <a:chOff x="3530520" y="5369040"/>
              <a:chExt cx="632160" cy="414000"/>
            </a:xfrm>
          </p:grpSpPr>
          <p:pic>
            <p:nvPicPr>
              <p:cNvPr descr="antenna_stylized" id="1146" name="Picture 73"/>
              <p:cNvPicPr/>
              <p:nvPr/>
            </p:nvPicPr>
            <p:blipFill>
              <a:blip r:embed="rId16"/>
              <a:stretch/>
            </p:blipFill>
            <p:spPr>
              <a:xfrm>
                <a:off x="3530520" y="5369040"/>
                <a:ext cx="627840" cy="223560"/>
              </a:xfrm>
              <a:prstGeom prst="rect">
                <a:avLst/>
              </a:prstGeom>
              <a:ln w="54720">
                <a:noFill/>
              </a:ln>
            </p:spPr>
          </p:pic>
          <p:pic>
            <p:nvPicPr>
              <p:cNvPr descr="laptop_keyboard" id="1147" name="Picture 74"/>
              <p:cNvPicPr/>
              <p:nvPr/>
            </p:nvPicPr>
            <p:blipFill>
              <a:blip r:embed="rId17"/>
              <a:stretch/>
            </p:blipFill>
            <p:spPr>
              <a:xfrm flipH="1" rot="81600">
                <a:off x="3561840" y="5617080"/>
                <a:ext cx="516600" cy="15948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1148" name="Freeform 427"/>
              <p:cNvSpPr/>
              <p:nvPr/>
            </p:nvSpPr>
            <p:spPr>
              <a:xfrm>
                <a:off x="3732120" y="5462640"/>
                <a:ext cx="416160" cy="208080"/>
              </a:xfrm>
              <a:custGeom>
                <a:avLst/>
                <a:gdLst>
                  <a:gd fmla="*/ 0 w 416160" name="textAreaLeft"/>
                  <a:gd fmla="*/ 416520 w 416160" name="textAreaRight"/>
                  <a:gd fmla="*/ 0 h 208080" name="textAreaTop"/>
                  <a:gd fmla="*/ 208440 h 208080" name="textAreaBottom"/>
                </a:gdLst>
                <a:ahLst/>
                <a:cxnLst/>
                <a:rect b="textAreaBottom" l="textAreaLeft" r="textAreaRight" t="textAreaTop"/>
                <a:pathLst>
                  <a:path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sq" w="9360">
                <a:solidFill>
                  <a:srgbClr val="000000"/>
                </a:solidFill>
                <a:round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pic>
            <p:nvPicPr>
              <p:cNvPr descr="screen" id="1149" name="Picture 75"/>
              <p:cNvPicPr/>
              <p:nvPr/>
            </p:nvPicPr>
            <p:blipFill>
              <a:blip r:embed="rId18"/>
              <a:stretch/>
            </p:blipFill>
            <p:spPr>
              <a:xfrm>
                <a:off x="3752640" y="5468040"/>
                <a:ext cx="378360" cy="189360"/>
              </a:xfrm>
              <a:prstGeom prst="rect">
                <a:avLst/>
              </a:prstGeom>
              <a:ln w="54720">
                <a:noFill/>
              </a:ln>
            </p:spPr>
          </p:pic>
          <p:sp>
            <p:nvSpPr>
              <p:cNvPr id="1150" name="Freeform 428"/>
              <p:cNvSpPr/>
              <p:nvPr/>
            </p:nvSpPr>
            <p:spPr>
              <a:xfrm>
                <a:off x="3807720" y="5456520"/>
                <a:ext cx="352800" cy="38520"/>
              </a:xfrm>
              <a:custGeom>
                <a:avLst/>
                <a:gdLst>
                  <a:gd fmla="*/ 0 w 352800" name="textAreaLeft"/>
                  <a:gd fmla="*/ 353160 w 352800" name="textAreaRight"/>
                  <a:gd fmla="*/ 0 h 38520" name="textAreaTop"/>
                  <a:gd fmla="*/ 38880 h 38520" name="textAreaBottom"/>
                </a:gdLst>
                <a:ahLst/>
                <a:cxnLst/>
                <a:rect b="textAreaBottom" l="textAreaLeft" r="textAreaRight" t="textAreaTop"/>
                <a:pathLst>
                  <a:path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AEAEA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7920" lIns="90000" rIns="90000" tIns="-79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51" name="Freeform 429"/>
              <p:cNvSpPr/>
              <p:nvPr/>
            </p:nvSpPr>
            <p:spPr>
              <a:xfrm>
                <a:off x="3728160" y="5456160"/>
                <a:ext cx="97920" cy="161280"/>
              </a:xfrm>
              <a:custGeom>
                <a:avLst/>
                <a:gdLst>
                  <a:gd fmla="*/ 0 w 97920" name="textAreaLeft"/>
                  <a:gd fmla="*/ 98280 w 97920" name="textAreaRight"/>
                  <a:gd fmla="*/ 0 h 161280" name="textAreaTop"/>
                  <a:gd fmla="*/ 161640 h 161280" name="textAreaBottom"/>
                </a:gdLst>
                <a:ahLst/>
                <a:cxnLst/>
                <a:rect b="textAreaBottom" l="textAreaLeft" r="textAreaRight" t="textAreaTop"/>
                <a:pathLst>
                  <a:path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52" name="Freeform 430"/>
              <p:cNvSpPr/>
              <p:nvPr/>
            </p:nvSpPr>
            <p:spPr>
              <a:xfrm>
                <a:off x="4052520" y="5484960"/>
                <a:ext cx="105120" cy="186120"/>
              </a:xfrm>
              <a:custGeom>
                <a:avLst/>
                <a:gdLst>
                  <a:gd fmla="*/ 0 w 105120" name="textAreaLeft"/>
                  <a:gd fmla="*/ 105480 w 105120" name="textAreaRight"/>
                  <a:gd fmla="*/ 0 h 186120" name="textAreaTop"/>
                  <a:gd fmla="*/ 186480 h 186120" name="textAreaBottom"/>
                </a:gdLst>
                <a:ahLst/>
                <a:cxnLst/>
                <a:rect b="textAreaBottom" l="textAreaLeft" r="textAreaRight" t="textAreaTop"/>
                <a:pathLst>
                  <a:path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000000"/>
                  </a:solidFill>
                  <a:latin typeface="Cantarell"/>
                </a:endParaRPr>
              </a:p>
            </p:txBody>
          </p:sp>
          <p:sp>
            <p:nvSpPr>
              <p:cNvPr id="1153" name="Freeform 431"/>
              <p:cNvSpPr/>
              <p:nvPr/>
            </p:nvSpPr>
            <p:spPr>
              <a:xfrm>
                <a:off x="3727080" y="5609160"/>
                <a:ext cx="387000" cy="62640"/>
              </a:xfrm>
              <a:custGeom>
                <a:avLst/>
                <a:gdLst>
                  <a:gd fmla="*/ 0 w 387000" name="textAreaLeft"/>
                  <a:gd fmla="*/ 387360 w 387000" name="textAreaRight"/>
                  <a:gd fmla="*/ 0 h 62640" name="textAreaTop"/>
                  <a:gd fmla="*/ 63000 h 62640" name="textAreaBottom"/>
                </a:gdLst>
                <a:ahLst/>
                <a:cxnLst/>
                <a:rect b="textAreaBottom" l="textAreaLeft" r="textAreaRight" t="textAreaTop"/>
                <a:pathLst>
                  <a:path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6200" lIns="90000" rIns="90000" tIns="162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54" name="Freeform 432"/>
              <p:cNvSpPr/>
              <p:nvPr/>
            </p:nvSpPr>
            <p:spPr>
              <a:xfrm>
                <a:off x="4064040" y="5486400"/>
                <a:ext cx="98640" cy="186840"/>
              </a:xfrm>
              <a:custGeom>
                <a:avLst/>
                <a:gdLst>
                  <a:gd fmla="*/ 0 w 98640" name="textAreaLeft"/>
                  <a:gd fmla="*/ 99000 w 98640" name="textAreaRight"/>
                  <a:gd fmla="*/ 0 h 186840" name="textAreaTop"/>
                  <a:gd fmla="*/ 187200 h 186840" name="textAreaBottom"/>
                </a:gdLst>
                <a:ahLst/>
                <a:cxnLst/>
                <a:rect b="textAreaBottom" l="textAreaLeft" r="textAreaRight" t="textAreaTop"/>
                <a:pathLst>
                  <a:path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55" name="Freeform 433"/>
              <p:cNvSpPr/>
              <p:nvPr/>
            </p:nvSpPr>
            <p:spPr>
              <a:xfrm>
                <a:off x="3727800" y="5617440"/>
                <a:ext cx="344160" cy="61920"/>
              </a:xfrm>
              <a:custGeom>
                <a:avLst/>
                <a:gdLst>
                  <a:gd fmla="*/ 0 w 344160" name="textAreaLeft"/>
                  <a:gd fmla="*/ 344520 w 344160" name="textAreaRight"/>
                  <a:gd fmla="*/ 0 h 61920" name="textAreaTop"/>
                  <a:gd fmla="*/ 62280 h 61920" name="textAreaBottom"/>
                </a:gdLst>
                <a:ahLst/>
                <a:cxnLst/>
                <a:rect b="textAreaBottom" l="textAreaLeft" r="textAreaRight" t="textAreaTop"/>
                <a:pathLst>
                  <a:path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000099"/>
                  </a:gs>
                </a:gsLst>
                <a:lin ang="10800000"/>
              </a:gra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480" lIns="90000" rIns="90000" tIns="154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grpSp>
            <p:nvGrpSpPr>
              <p:cNvPr id="1156" name="Group 171"/>
              <p:cNvGrpSpPr/>
              <p:nvPr/>
            </p:nvGrpSpPr>
            <p:grpSpPr>
              <a:xfrm>
                <a:off x="3722040" y="5684040"/>
                <a:ext cx="116640" cy="36720"/>
                <a:chOff x="3722040" y="5684040"/>
                <a:chExt cx="116640" cy="36720"/>
              </a:xfrm>
            </p:grpSpPr>
            <p:sp>
              <p:nvSpPr>
                <p:cNvPr id="1157" name="Freeform 434"/>
                <p:cNvSpPr/>
                <p:nvPr/>
              </p:nvSpPr>
              <p:spPr>
                <a:xfrm>
                  <a:off x="3722040" y="5684040"/>
                  <a:ext cx="116640" cy="36720"/>
                </a:xfrm>
                <a:custGeom>
                  <a:avLst/>
                  <a:gdLst>
                    <a:gd fmla="*/ 0 w 116640" name="textAreaLeft"/>
                    <a:gd fmla="*/ 117000 w 116640" name="textAreaRight"/>
                    <a:gd fmla="*/ 0 h 36720" name="textAreaTop"/>
                    <a:gd fmla="*/ 37080 h 36720" name="textAreaBottom"/>
                  </a:gdLst>
                  <a:ahLst/>
                  <a:cxnLst/>
                  <a:rect b="textAreaBottom" l="textAreaLeft" r="textAreaRight" t="textAreaTop"/>
                  <a:pathLst>
                    <a:path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9720" lIns="90000" rIns="90000" tIns="-97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58" name="Freeform 435"/>
                <p:cNvSpPr/>
                <p:nvPr/>
              </p:nvSpPr>
              <p:spPr>
                <a:xfrm>
                  <a:off x="3723840" y="5684760"/>
                  <a:ext cx="112680" cy="34920"/>
                </a:xfrm>
                <a:custGeom>
                  <a:avLst/>
                  <a:gdLst>
                    <a:gd fmla="*/ 0 w 112680" name="textAreaLeft"/>
                    <a:gd fmla="*/ 113040 w 112680" name="textAreaRight"/>
                    <a:gd fmla="*/ 0 h 34920" name="textAreaTop"/>
                    <a:gd fmla="*/ 35280 h 34920" name="textAreaBottom"/>
                  </a:gdLst>
                  <a:ahLst/>
                  <a:cxnLst/>
                  <a:rect b="textAreaBottom" l="textAreaLeft" r="textAreaRight" t="textAreaTop"/>
                  <a:pathLst>
                    <a:path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4D4D4D"/>
                    </a:gs>
                  </a:gsLst>
                  <a:lin ang="8100000"/>
                </a:gra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11520" lIns="90000" rIns="90000" tIns="-115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59" name="Freeform 436"/>
                <p:cNvSpPr/>
                <p:nvPr/>
              </p:nvSpPr>
              <p:spPr>
                <a:xfrm>
                  <a:off x="3732480" y="5698440"/>
                  <a:ext cx="39960" cy="11160"/>
                </a:xfrm>
                <a:custGeom>
                  <a:avLst/>
                  <a:gdLst>
                    <a:gd fmla="*/ 0 w 39960" name="textAreaLeft"/>
                    <a:gd fmla="*/ 40320 w 39960" name="textAreaRight"/>
                    <a:gd fmla="*/ 0 h 11160" name="textAreaTop"/>
                    <a:gd fmla="*/ 11520 h 11160" name="textAreaBottom"/>
                  </a:gdLst>
                  <a:ahLst/>
                  <a:cxnLst/>
                  <a:rect b="textAreaBottom" l="textAreaLeft" r="textAreaRight" t="textAreaTop"/>
                  <a:pathLst>
                    <a:path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5280" lIns="90000" rIns="90000" tIns="-3528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60" name="Freeform 437"/>
                <p:cNvSpPr/>
                <p:nvPr/>
              </p:nvSpPr>
              <p:spPr>
                <a:xfrm>
                  <a:off x="3731040" y="5703480"/>
                  <a:ext cx="29880" cy="6840"/>
                </a:xfrm>
                <a:custGeom>
                  <a:avLst/>
                  <a:gdLst>
                    <a:gd fmla="*/ 0 w 29880" name="textAreaLeft"/>
                    <a:gd fmla="*/ 30240 w 29880" name="textAreaRight"/>
                    <a:gd fmla="*/ 0 h 6840" name="textAreaTop"/>
                    <a:gd fmla="*/ 7200 h 6840" name="textAreaBottom"/>
                  </a:gdLst>
                  <a:ahLst/>
                  <a:cxnLst/>
                  <a:rect b="textAreaBottom" l="textAreaLeft" r="textAreaRight" t="textAreaTop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600" lIns="90000" rIns="90000" tIns="-396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61" name="Freeform 438"/>
                <p:cNvSpPr/>
                <p:nvPr/>
              </p:nvSpPr>
              <p:spPr>
                <a:xfrm>
                  <a:off x="3765240" y="5705640"/>
                  <a:ext cx="39600" cy="11520"/>
                </a:xfrm>
                <a:custGeom>
                  <a:avLst/>
                  <a:gdLst>
                    <a:gd fmla="*/ 0 w 39600" name="textAreaLeft"/>
                    <a:gd fmla="*/ 39960 w 39600" name="textAreaRight"/>
                    <a:gd fmla="*/ 0 h 11520" name="textAreaTop"/>
                    <a:gd fmla="*/ 11880 h 11520" name="textAreaBottom"/>
                  </a:gdLst>
                  <a:ahLst/>
                  <a:cxnLst/>
                  <a:rect b="textAreaBottom" l="textAreaLeft" r="textAreaRight" t="textAreaTop"/>
                  <a:pathLst>
                    <a:path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4920" lIns="90000" rIns="90000" tIns="-3492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  <p:sp>
              <p:nvSpPr>
                <p:cNvPr id="1162" name="Freeform 439"/>
                <p:cNvSpPr/>
                <p:nvPr/>
              </p:nvSpPr>
              <p:spPr>
                <a:xfrm>
                  <a:off x="3763800" y="5711040"/>
                  <a:ext cx="29520" cy="6840"/>
                </a:xfrm>
                <a:custGeom>
                  <a:avLst/>
                  <a:gdLst>
                    <a:gd fmla="*/ 0 w 29520" name="textAreaLeft"/>
                    <a:gd fmla="*/ 29880 w 29520" name="textAreaRight"/>
                    <a:gd fmla="*/ 0 h 6840" name="textAreaTop"/>
                    <a:gd fmla="*/ 7200 h 6840" name="textAreaBottom"/>
                  </a:gdLst>
                  <a:ahLst/>
                  <a:cxnLst/>
                  <a:rect b="textAreaBottom" l="textAreaLeft" r="textAreaRight" t="textAreaTop"/>
                  <a:pathLst>
                    <a:path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5472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-39600" lIns="90000" rIns="90000" tIns="-39600">
                  <a:noAutofit/>
                </a:bodyPr>
                <a:lstStyle/>
                <a:p>
                  <a:endParaRPr b="0" lang="en-US" spc="-1" strike="noStrike" sz="1800">
                    <a:solidFill>
                      <a:srgbClr val="FFFFFF"/>
                    </a:solidFill>
                    <a:latin typeface="Cantarell"/>
                  </a:endParaRPr>
                </a:p>
              </p:txBody>
            </p:sp>
          </p:grpSp>
          <p:sp>
            <p:nvSpPr>
              <p:cNvPr id="1163" name="Freeform 440"/>
              <p:cNvSpPr/>
              <p:nvPr/>
            </p:nvSpPr>
            <p:spPr>
              <a:xfrm>
                <a:off x="3922200" y="5689440"/>
                <a:ext cx="141120" cy="80640"/>
              </a:xfrm>
              <a:custGeom>
                <a:avLst/>
                <a:gdLst>
                  <a:gd fmla="*/ 0 w 141120" name="textAreaLeft"/>
                  <a:gd fmla="*/ 141480 w 141120" name="textAreaRight"/>
                  <a:gd fmla="*/ 0 h 80640" name="textAreaTop"/>
                  <a:gd fmla="*/ 81000 h 80640" name="textAreaBottom"/>
                </a:gdLst>
                <a:ahLst/>
                <a:cxnLst/>
                <a:rect b="textAreaBottom" l="textAreaLeft" r="textAreaRight" t="textAreaTop"/>
                <a:pathLst>
                  <a:path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34200" lIns="90000" rIns="90000" tIns="342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64" name="Freeform 441"/>
              <p:cNvSpPr/>
              <p:nvPr/>
            </p:nvSpPr>
            <p:spPr>
              <a:xfrm>
                <a:off x="3560760" y="5695920"/>
                <a:ext cx="361800" cy="73800"/>
              </a:xfrm>
              <a:custGeom>
                <a:avLst/>
                <a:gdLst>
                  <a:gd fmla="*/ 0 w 361800" name="textAreaLeft"/>
                  <a:gd fmla="*/ 361800 w 361800" name="textAreaRight"/>
                  <a:gd fmla="*/ 0 h 73800" name="textAreaTop"/>
                  <a:gd fmla="*/ 74160 h 7380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360" lIns="90000" rIns="90000" tIns="2736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65" name="Freeform 442"/>
              <p:cNvSpPr/>
              <p:nvPr/>
            </p:nvSpPr>
            <p:spPr>
              <a:xfrm>
                <a:off x="3561120" y="5682240"/>
                <a:ext cx="3960" cy="14760"/>
              </a:xfrm>
              <a:custGeom>
                <a:avLst/>
                <a:gdLst>
                  <a:gd fmla="*/ 0 w 3960" name="textAreaLeft"/>
                  <a:gd fmla="*/ 4320 w 3960" name="textAreaRight"/>
                  <a:gd fmla="*/ 0 h 14760" name="textAreaTop"/>
                  <a:gd fmla="*/ 15120 h 14760" name="textAreaBottom"/>
                </a:gdLst>
                <a:ahLst/>
                <a:cxnLst/>
                <a:rect b="textAreaBottom" l="textAreaLeft" r="textAreaRight" t="textAreaTop"/>
                <a:pathLst>
                  <a:path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-31680" lIns="90000" rIns="90000" tIns="-316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66" name="Freeform 443"/>
              <p:cNvSpPr/>
              <p:nvPr/>
            </p:nvSpPr>
            <p:spPr>
              <a:xfrm>
                <a:off x="3561120" y="5621400"/>
                <a:ext cx="168120" cy="61560"/>
              </a:xfrm>
              <a:custGeom>
                <a:avLst/>
                <a:gdLst>
                  <a:gd fmla="*/ 0 w 168120" name="textAreaLeft"/>
                  <a:gd fmla="*/ 168480 w 168120" name="textAreaRight"/>
                  <a:gd fmla="*/ 0 h 61560" name="textAreaTop"/>
                  <a:gd fmla="*/ 61920 h 61560" name="textAreaBottom"/>
                </a:gdLst>
                <a:ahLst/>
                <a:cxnLst/>
                <a:rect b="textAreaBottom" l="textAreaLeft" r="textAreaRight" t="textAreaTop"/>
                <a:pathLst>
                  <a:path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5120" lIns="90000" rIns="90000" tIns="1512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67" name="Freeform 444"/>
              <p:cNvSpPr/>
              <p:nvPr/>
            </p:nvSpPr>
            <p:spPr>
              <a:xfrm>
                <a:off x="3572640" y="5685480"/>
                <a:ext cx="343080" cy="70920"/>
              </a:xfrm>
              <a:custGeom>
                <a:avLst/>
                <a:gdLst>
                  <a:gd fmla="*/ 0 w 343080" name="textAreaLeft"/>
                  <a:gd fmla="*/ 343440 w 343080" name="textAreaRight"/>
                  <a:gd fmla="*/ 0 h 70920" name="textAreaTop"/>
                  <a:gd fmla="*/ 71280 h 7092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4480" lIns="90000" rIns="90000" tIns="2448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  <p:sp>
            <p:nvSpPr>
              <p:cNvPr id="1168" name="Freeform 445"/>
              <p:cNvSpPr/>
              <p:nvPr/>
            </p:nvSpPr>
            <p:spPr>
              <a:xfrm flipV="1">
                <a:off x="3915360" y="5680440"/>
                <a:ext cx="139680" cy="73440"/>
              </a:xfrm>
              <a:custGeom>
                <a:avLst/>
                <a:gdLst>
                  <a:gd fmla="*/ 0 w 139680" name="textAreaLeft"/>
                  <a:gd fmla="*/ 140040 w 139680" name="textAreaRight"/>
                  <a:gd fmla="*/ 360 h 73440" name="textAreaTop"/>
                  <a:gd fmla="*/ 74160 h 73440" name="textAreaBottom"/>
                </a:gdLst>
                <a:ahLst/>
                <a:cxnLst/>
                <a:rect b="textAreaBottom" l="textAreaLeft" r="textAreaRight" t="textAreaTop"/>
                <a:pathLst>
                  <a:path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5472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7000" lIns="90000" rIns="90000" tIns="27000">
                <a:noAutofit/>
              </a:bodyPr>
              <a:lstStyle/>
              <a:p>
                <a:endParaRPr b="0" lang="en-US" spc="-1" strike="noStrike" sz="1800">
                  <a:solidFill>
                    <a:srgbClr val="FFFFFF"/>
                  </a:solidFill>
                  <a:latin typeface="Cantarell"/>
                </a:endParaRPr>
              </a:p>
            </p:txBody>
          </p:sp>
        </p:grpSp>
      </p:grpSp>
      <p:sp>
        <p:nvSpPr>
          <p:cNvPr id="1169" name="PlaceHolder 1"/>
          <p:cNvSpPr>
            <a:spLocks noGrp="1"/>
          </p:cNvSpPr>
          <p:nvPr>
            <p:ph type="title"/>
          </p:nvPr>
        </p:nvSpPr>
        <p:spPr>
          <a:xfrm>
            <a:off x="488880" y="184320"/>
            <a:ext cx="10363320" cy="85248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/>
          <a:p>
            <a:pPr indent="0" marL="216000">
              <a:buNone/>
            </a:pPr>
            <a:r>
              <a:rPr b="0" dirty="0" lang="en-US" spc="-1" strike="noStrike" sz="4400">
                <a:solidFill>
                  <a:srgbClr val="000000"/>
                </a:solidFill>
                <a:latin typeface="Cantarell"/>
              </a:rPr>
              <a:t>Client-server architecture</a:t>
            </a:r>
          </a:p>
        </p:txBody>
      </p:sp>
      <p:sp>
        <p:nvSpPr>
          <p:cNvPr id="1170" name="PlaceHolder 2"/>
          <p:cNvSpPr>
            <a:spLocks noGrp="1"/>
          </p:cNvSpPr>
          <p:nvPr>
            <p:ph/>
          </p:nvPr>
        </p:nvSpPr>
        <p:spPr>
          <a:xfrm>
            <a:off x="6336720" y="1415880"/>
            <a:ext cx="5524200" cy="464832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rmAutofit fontScale="96865"/>
          </a:bodyPr>
          <a:lstStyle/>
          <a:p>
            <a:pPr indent="-342720" marL="342720">
              <a:spcBef>
                <a:spcPts val="697"/>
              </a:spcBef>
              <a:buNone/>
            </a:pPr>
            <a:r>
              <a:rPr b="0" lang="en-US" spc="-1" strike="noStrike" sz="2800">
                <a:solidFill>
                  <a:srgbClr val="CC0000"/>
                </a:solidFill>
                <a:latin typeface="Cantarell"/>
              </a:rPr>
              <a:t>server: 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always-on host</a:t>
            </a: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permanent IP address</a:t>
            </a: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data centers for scaling</a:t>
            </a:r>
          </a:p>
          <a:p>
            <a:pPr indent="-342720" marL="342720">
              <a:spcBef>
                <a:spcPts val="2625"/>
              </a:spcBef>
              <a:buNone/>
            </a:pPr>
            <a:r>
              <a:rPr b="0" lang="en-US" spc="-1" strike="noStrike" sz="2800">
                <a:solidFill>
                  <a:srgbClr val="CC0000"/>
                </a:solidFill>
                <a:latin typeface="Cantarell"/>
              </a:rPr>
              <a:t>clients: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communicate with server</a:t>
            </a: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may be intermittently connected</a:t>
            </a: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may have dynamic IP addresses</a:t>
            </a: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do not communicate directly with each other</a:t>
            </a:r>
          </a:p>
        </p:txBody>
      </p:sp>
      <p:sp>
        <p:nvSpPr>
          <p:cNvPr id="1171" name="Line 220"/>
          <p:cNvSpPr/>
          <p:nvPr/>
        </p:nvSpPr>
        <p:spPr>
          <a:xfrm>
            <a:off x="1665360" y="3235320"/>
            <a:ext cx="2675520" cy="1978200"/>
          </a:xfrm>
          <a:prstGeom prst="line">
            <a:avLst/>
          </a:prstGeom>
          <a:ln cap="sq" w="76320">
            <a:solidFill>
              <a:srgbClr val="CC0000"/>
            </a:solidFill>
            <a:miter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46800" lIns="90000" rIns="90000" tIns="46800">
            <a:noAutofit/>
          </a:bodyPr>
          <a:lstStyle/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Line 221"/>
          <p:cNvSpPr/>
          <p:nvPr/>
        </p:nvSpPr>
        <p:spPr>
          <a:xfrm>
            <a:off x="2948760" y="1844640"/>
            <a:ext cx="1974600" cy="3110040"/>
          </a:xfrm>
          <a:prstGeom prst="line">
            <a:avLst/>
          </a:prstGeom>
          <a:ln cap="sq" w="76320">
            <a:solidFill>
              <a:srgbClr val="CC0000"/>
            </a:solidFill>
            <a:miter/>
            <a:headEnd len="med" type="triangle" w="med"/>
            <a:tailEnd len="med" type="triangle" w="med"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46800" lIns="90000" rIns="90000" tIns="46800">
            <a:noAutofit/>
          </a:bodyPr>
          <a:lstStyle/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Text Box 8"/>
          <p:cNvSpPr/>
          <p:nvPr/>
        </p:nvSpPr>
        <p:spPr>
          <a:xfrm>
            <a:off x="667800" y="4067280"/>
            <a:ext cx="141228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t" bIns="46800" lIns="90000" rIns="90000" tIns="46800" wrap="none">
            <a:spAutoFit/>
          </a:bodyPr>
          <a:lstStyle/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pc="-1" strike="noStrike" sz="1800">
                <a:solidFill>
                  <a:srgbClr val="CC0000"/>
                </a:solidFill>
                <a:latin typeface="Arial"/>
              </a:rPr>
              <a:t>client/server</a:t>
            </a:r>
            <a:endParaRPr b="0" lang="en-US" spc="-1" strike="noStrike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Title 38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PlaceHolder 1"/>
          <p:cNvSpPr>
            <a:spLocks noGrp="1"/>
          </p:cNvSpPr>
          <p:nvPr>
            <p:ph type="title"/>
          </p:nvPr>
        </p:nvSpPr>
        <p:spPr>
          <a:xfrm>
            <a:off x="711360" y="228240"/>
            <a:ext cx="10363320" cy="114300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/>
          <a:p>
            <a:pPr indent="0" marL="216000">
              <a:buNone/>
            </a:pPr>
            <a:r>
              <a:rPr b="0" dirty="0" lang="en-US" spc="-1" strike="noStrike" sz="3600">
                <a:solidFill>
                  <a:srgbClr val="000000"/>
                </a:solidFill>
                <a:latin typeface="Cantarell"/>
              </a:rPr>
              <a:t>Securing Data - Application Layer Function</a:t>
            </a:r>
          </a:p>
        </p:txBody>
      </p:sp>
      <p:sp>
        <p:nvSpPr>
          <p:cNvPr id="1176" name="PlaceHolder 2"/>
          <p:cNvSpPr>
            <a:spLocks noGrp="1"/>
          </p:cNvSpPr>
          <p:nvPr>
            <p:ph/>
          </p:nvPr>
        </p:nvSpPr>
        <p:spPr>
          <a:xfrm>
            <a:off x="710640" y="1600200"/>
            <a:ext cx="5079960" cy="464832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rmAutofit fontScale="93740"/>
          </a:bodyPr>
          <a:lstStyle/>
          <a:p>
            <a:pPr indent="-342720" marL="342720">
              <a:spcBef>
                <a:spcPts val="697"/>
              </a:spcBef>
              <a:buNone/>
            </a:pPr>
            <a:r>
              <a:rPr b="0" lang="en-US" spc="-1" strike="noStrike" sz="2800">
                <a:solidFill>
                  <a:srgbClr val="22228B"/>
                </a:solidFill>
                <a:latin typeface="Cantarell"/>
              </a:rPr>
              <a:t>TCP &amp; UDP 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pPr indent="-324000" marL="432000"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800">
                <a:solidFill>
                  <a:srgbClr val="000000"/>
                </a:solidFill>
                <a:latin typeface="Cantarell"/>
              </a:rPr>
              <a:t>no encryption</a:t>
            </a:r>
          </a:p>
          <a:p>
            <a:pPr indent="-324000" marL="432000"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800">
                <a:solidFill>
                  <a:srgbClr val="000000"/>
                </a:solidFill>
                <a:latin typeface="Cantarell"/>
              </a:rPr>
              <a:t>cleartext passwds sent into socket traverse Internet  in cleartext</a:t>
            </a:r>
          </a:p>
          <a:p>
            <a:pPr indent="-342720" marL="342720">
              <a:spcBef>
                <a:spcPts val="697"/>
              </a:spcBef>
              <a:buNone/>
            </a:pPr>
            <a:r>
              <a:rPr b="0" lang="en-US" spc="-1" strike="noStrike" sz="2800">
                <a:solidFill>
                  <a:srgbClr val="22228B"/>
                </a:solidFill>
                <a:latin typeface="Cantarell"/>
              </a:rPr>
              <a:t>SSL</a:t>
            </a:r>
            <a:r>
              <a:rPr b="0" lang="en-US" spc="-1" strike="noStrike" sz="2800">
                <a:solidFill>
                  <a:srgbClr val="000000"/>
                </a:solidFill>
                <a:latin typeface="Cantarell"/>
              </a:rPr>
              <a:t> </a:t>
            </a:r>
          </a:p>
          <a:p>
            <a:pPr indent="-324000" marL="432000"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800">
                <a:solidFill>
                  <a:srgbClr val="000000"/>
                </a:solidFill>
                <a:latin typeface="Cantarell"/>
              </a:rPr>
              <a:t>provides encrypted TCP connection</a:t>
            </a:r>
          </a:p>
          <a:p>
            <a:pPr indent="-324000" marL="432000"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800">
                <a:solidFill>
                  <a:srgbClr val="000000"/>
                </a:solidFill>
                <a:latin typeface="Cantarell"/>
              </a:rPr>
              <a:t>data integrity</a:t>
            </a:r>
          </a:p>
          <a:p>
            <a:pPr indent="-324000" marL="432000"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800">
                <a:solidFill>
                  <a:srgbClr val="000000"/>
                </a:solidFill>
                <a:latin typeface="Cantarell"/>
              </a:rPr>
              <a:t>end-point authentication</a:t>
            </a:r>
          </a:p>
        </p:txBody>
      </p:sp>
      <p:sp>
        <p:nvSpPr>
          <p:cNvPr id="1177" name="PlaceHolder 3"/>
          <p:cNvSpPr>
            <a:spLocks noGrp="1"/>
          </p:cNvSpPr>
          <p:nvPr>
            <p:ph/>
          </p:nvPr>
        </p:nvSpPr>
        <p:spPr>
          <a:xfrm>
            <a:off x="6166800" y="1463040"/>
            <a:ext cx="5080320" cy="464832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rmAutofit/>
          </a:bodyPr>
          <a:lstStyle/>
          <a:p>
            <a:pPr indent="-342720" marL="342720">
              <a:spcBef>
                <a:spcPts val="697"/>
              </a:spcBef>
              <a:buNone/>
            </a:pPr>
            <a:r>
              <a:rPr b="0" lang="en-US" spc="-1" strike="noStrike" sz="2800">
                <a:solidFill>
                  <a:srgbClr val="22228B"/>
                </a:solidFill>
                <a:latin typeface="Cantarell"/>
              </a:rPr>
              <a:t>SSL is at app layer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pPr indent="-324000" marL="432000">
              <a:spcBef>
                <a:spcPts val="697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800">
                <a:solidFill>
                  <a:srgbClr val="000000"/>
                </a:solidFill>
                <a:latin typeface="Cantarell"/>
              </a:rPr>
              <a:t>Apps use SSL libraries, which </a:t>
            </a:r>
            <a:r>
              <a:rPr b="0" lang="ja-JP" spc="-1" strike="noStrike" sz="2800">
                <a:solidFill>
                  <a:srgbClr val="000000"/>
                </a:solidFill>
                <a:latin typeface="Cantarell"/>
              </a:rPr>
              <a:t>“</a:t>
            </a:r>
            <a:r>
              <a:rPr b="0" lang="en-US" spc="-1" strike="noStrike" sz="2800">
                <a:solidFill>
                  <a:srgbClr val="000000"/>
                </a:solidFill>
                <a:latin typeface="Cantarell"/>
              </a:rPr>
              <a:t>talk</a:t>
            </a:r>
            <a:r>
              <a:rPr b="0" lang="ja-JP" spc="-1" strike="noStrike" sz="2800">
                <a:solidFill>
                  <a:srgbClr val="000000"/>
                </a:solidFill>
                <a:latin typeface="Cantarell"/>
              </a:rPr>
              <a:t>”</a:t>
            </a:r>
            <a:r>
              <a:rPr b="0" lang="en-US" spc="-1" strike="noStrike" sz="2800">
                <a:solidFill>
                  <a:srgbClr val="000000"/>
                </a:solidFill>
                <a:latin typeface="Cantarell"/>
              </a:rPr>
              <a:t> to TCP</a:t>
            </a:r>
          </a:p>
          <a:p>
            <a:pPr indent="-342720" marL="342720">
              <a:spcBef>
                <a:spcPts val="697"/>
              </a:spcBef>
              <a:buNone/>
            </a:pPr>
            <a:r>
              <a:rPr b="0" lang="en-US" spc="-1" strike="noStrike" sz="2800">
                <a:solidFill>
                  <a:srgbClr val="22228B"/>
                </a:solidFill>
                <a:latin typeface="Cantarell"/>
              </a:rPr>
              <a:t>SSL socket API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pPr indent="-342720" lvl="1" marL="342720">
              <a:spcBef>
                <a:spcPts val="697"/>
              </a:spcBef>
              <a:buClr>
                <a:srgbClr val="000099"/>
              </a:buClr>
              <a:buSzPct val="65000"/>
              <a:buFont charset="2" typeface="Wingdings"/>
              <a:buChar char=""/>
            </a:pPr>
            <a:r>
              <a:rPr b="0" lang="en-US" spc="-1" strike="noStrike" sz="2800">
                <a:solidFill>
                  <a:srgbClr val="000000"/>
                </a:solidFill>
                <a:latin typeface="Cantarell"/>
              </a:rPr>
              <a:t>cleartext passwds sent into socket traverse Internet  encrypted </a:t>
            </a:r>
          </a:p>
          <a:p>
            <a:pPr indent="-342720" lvl="1" marL="342720">
              <a:spcBef>
                <a:spcPts val="697"/>
              </a:spcBef>
              <a:buClr>
                <a:srgbClr val="000099"/>
              </a:buClr>
              <a:buSzPct val="65000"/>
              <a:buFont charset="2" typeface="Wingdings"/>
              <a:buChar char=""/>
            </a:pPr>
            <a:r>
              <a:rPr b="0" lang="en-US" spc="-1" strike="noStrike" sz="2800">
                <a:solidFill>
                  <a:srgbClr val="000000"/>
                </a:solidFill>
                <a:latin typeface="Cantarell"/>
              </a:rPr>
              <a:t>More on this later.</a:t>
            </a:r>
          </a:p>
          <a:p>
            <a:pPr indent="0" lvl="1" marL="342720">
              <a:spcBef>
                <a:spcPts val="598"/>
              </a:spcBef>
              <a:buNone/>
            </a:pPr>
            <a:endParaRPr b="0" lang="en-US" spc="-1" strike="noStrike" sz="2400">
              <a:solidFill>
                <a:srgbClr val="000000"/>
              </a:solidFill>
              <a:latin typeface="Cantarell"/>
            </a:endParaRPr>
          </a:p>
          <a:p>
            <a:pPr indent="0" marL="432000">
              <a:spcBef>
                <a:spcPts val="598"/>
              </a:spcBef>
              <a:buNone/>
            </a:pPr>
            <a:endParaRPr b="0" lang="en-US" spc="-1" strike="noStrike" sz="24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178" name="Title 39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PlaceHolder 1"/>
          <p:cNvSpPr>
            <a:spLocks noGrp="1"/>
          </p:cNvSpPr>
          <p:nvPr>
            <p:ph type="title"/>
          </p:nvPr>
        </p:nvSpPr>
        <p:spPr>
          <a:xfrm>
            <a:off x="622080" y="301680"/>
            <a:ext cx="10363320" cy="86976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/>
          <a:p>
            <a:pPr indent="0" marL="216000">
              <a:buNone/>
            </a:pPr>
            <a:r>
              <a:rPr b="0" dirty="0" lang="en-US" spc="-1" strike="noStrike" sz="4000">
                <a:solidFill>
                  <a:srgbClr val="000000"/>
                </a:solidFill>
                <a:latin typeface="Cantarell"/>
              </a:rPr>
              <a:t>Electronic mail</a:t>
            </a:r>
          </a:p>
        </p:txBody>
      </p:sp>
      <p:sp>
        <p:nvSpPr>
          <p:cNvPr id="1180" name="PlaceHolder 2"/>
          <p:cNvSpPr>
            <a:spLocks noGrp="1"/>
          </p:cNvSpPr>
          <p:nvPr>
            <p:ph/>
          </p:nvPr>
        </p:nvSpPr>
        <p:spPr>
          <a:xfrm>
            <a:off x="725760" y="1726920"/>
            <a:ext cx="5244840" cy="487656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rmAutofit fontScale="99366" lnSpcReduction="10000"/>
          </a:bodyPr>
          <a:lstStyle/>
          <a:p>
            <a:pPr indent="-342720" marL="342720">
              <a:spcBef>
                <a:spcPts val="697"/>
              </a:spcBef>
              <a:buNone/>
            </a:pPr>
            <a:r>
              <a:rPr b="0" i="1" lang="en-US" spc="-1" strike="noStrike" sz="2800">
                <a:solidFill>
                  <a:srgbClr val="CC0000"/>
                </a:solidFill>
                <a:latin typeface="Cantarell"/>
              </a:rPr>
              <a:t>Three major components:</a:t>
            </a:r>
            <a:r>
              <a:rPr b="0" lang="en-US" spc="-1" strike="noStrike" sz="2800">
                <a:solidFill>
                  <a:srgbClr val="CC0000"/>
                </a:solidFill>
                <a:latin typeface="Cantarell"/>
              </a:rPr>
              <a:t> 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user agents </a:t>
            </a: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mail servers </a:t>
            </a:r>
          </a:p>
          <a:p>
            <a:pPr indent="-324000" marL="432000">
              <a:spcBef>
                <a:spcPts val="598"/>
              </a:spcBef>
              <a:spcAft>
                <a:spcPts val="2248"/>
              </a:spcAft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simple mail transfer protocol: SMTP</a:t>
            </a:r>
          </a:p>
          <a:p>
            <a:pPr indent="-342720" marL="342720">
              <a:spcBef>
                <a:spcPts val="799"/>
              </a:spcBef>
              <a:buNone/>
            </a:pPr>
            <a:r>
              <a:rPr b="0" i="1" lang="en-US" spc="-1" strike="noStrike" sz="3200">
                <a:solidFill>
                  <a:srgbClr val="CC0000"/>
                </a:solidFill>
                <a:latin typeface="Cantarell"/>
              </a:rPr>
              <a:t>User Agent</a:t>
            </a:r>
            <a:endParaRPr b="0" lang="en-US" spc="-1" strike="noStrike" sz="3200">
              <a:solidFill>
                <a:srgbClr val="000000"/>
              </a:solidFill>
              <a:latin typeface="Cantarell"/>
            </a:endParaRP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a.k.a. </a:t>
            </a:r>
            <a:r>
              <a:rPr b="0" lang="ja-JP" spc="-1" strike="noStrike" sz="2400">
                <a:solidFill>
                  <a:srgbClr val="000000"/>
                </a:solidFill>
                <a:latin typeface="Cantarell"/>
              </a:rPr>
              <a:t>“</a:t>
            </a: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mail reader</a:t>
            </a:r>
            <a:r>
              <a:rPr b="0" lang="ja-JP" spc="-1" strike="noStrike" sz="2400">
                <a:solidFill>
                  <a:srgbClr val="000000"/>
                </a:solidFill>
                <a:latin typeface="Cantarell"/>
              </a:rPr>
              <a:t>”</a:t>
            </a:r>
            <a:endParaRPr b="0" lang="en-US" spc="-1" strike="noStrike" sz="2400">
              <a:solidFill>
                <a:srgbClr val="000000"/>
              </a:solidFill>
              <a:latin typeface="Cantarell"/>
            </a:endParaRP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composing, editing, reading mail messages</a:t>
            </a: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e.g., Outlook, Thunderbird, iPhone mail client</a:t>
            </a:r>
          </a:p>
          <a:p>
            <a:pPr indent="-324000" marL="432000">
              <a:spcBef>
                <a:spcPts val="598"/>
              </a:spcBef>
              <a:buClr>
                <a:srgbClr val="000000"/>
              </a:buClr>
              <a:buSzPct val="45000"/>
              <a:buFont charset="2" typeface="Wingdings"/>
              <a:buChar char=""/>
            </a:pPr>
            <a:r>
              <a:rPr b="0" lang="en-US" spc="-1" strike="noStrike" sz="2400">
                <a:solidFill>
                  <a:srgbClr val="000000"/>
                </a:solidFill>
                <a:latin typeface="Cantarell"/>
              </a:rPr>
              <a:t>outgoing, incoming messages stored on server</a:t>
            </a:r>
          </a:p>
        </p:txBody>
      </p:sp>
      <p:sp>
        <p:nvSpPr>
          <p:cNvPr id="1181" name="Rectangle 280"/>
          <p:cNvSpPr/>
          <p:nvPr/>
        </p:nvSpPr>
        <p:spPr>
          <a:xfrm>
            <a:off x="9283320" y="628560"/>
            <a:ext cx="2438640" cy="981000"/>
          </a:xfrm>
          <a:prstGeom prst="rect">
            <a:avLst/>
          </a:prstGeom>
          <a:noFill/>
          <a:ln cap="sq" w="9360">
            <a:solidFill>
              <a:srgbClr val="000000"/>
            </a:solidFill>
            <a:miter/>
          </a:ln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ctr" bIns="46800" lIns="90000" rIns="90000" tIns="46800" wrap="none">
            <a:noAutofit/>
          </a:bodyPr>
          <a:lstStyle/>
          <a:p>
            <a:endParaRPr b="0" lang="en-US" spc="-1" strike="noStrike" sz="200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82" name="Group 19"/>
          <p:cNvGrpSpPr/>
          <p:nvPr/>
        </p:nvGrpSpPr>
        <p:grpSpPr>
          <a:xfrm>
            <a:off x="9412560" y="576360"/>
            <a:ext cx="2040480" cy="956520"/>
            <a:chOff x="9412560" y="576360"/>
            <a:chExt cx="2040480" cy="956520"/>
          </a:xfrm>
        </p:grpSpPr>
        <p:sp>
          <p:nvSpPr>
            <p:cNvPr id="1183" name="Text Box 17"/>
            <p:cNvSpPr/>
            <p:nvPr/>
          </p:nvSpPr>
          <p:spPr>
            <a:xfrm>
              <a:off x="10108080" y="1195200"/>
              <a:ext cx="1328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 wrap="none">
              <a:spAutoFit/>
            </a:bodyPr>
            <a:lstStyle/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pc="-1" strike="noStrike" sz="1600">
                  <a:solidFill>
                    <a:srgbClr val="000000"/>
                  </a:solidFill>
                  <a:latin typeface="Arial"/>
                </a:rPr>
                <a:t>user mailbox</a:t>
              </a:r>
            </a:p>
          </p:txBody>
        </p:sp>
        <p:grpSp>
          <p:nvGrpSpPr>
            <p:cNvPr id="1184" name="Group 38"/>
            <p:cNvGrpSpPr/>
            <p:nvPr/>
          </p:nvGrpSpPr>
          <p:grpSpPr>
            <a:xfrm>
              <a:off x="9412560" y="691920"/>
              <a:ext cx="952200" cy="190440"/>
              <a:chOff x="9412560" y="691920"/>
              <a:chExt cx="952200" cy="190440"/>
            </a:xfrm>
          </p:grpSpPr>
          <p:sp>
            <p:nvSpPr>
              <p:cNvPr id="1185" name="Rectangle 89"/>
              <p:cNvSpPr/>
              <p:nvPr/>
            </p:nvSpPr>
            <p:spPr>
              <a:xfrm>
                <a:off x="9412560" y="691920"/>
                <a:ext cx="952200" cy="190440"/>
              </a:xfrm>
              <a:prstGeom prst="rect">
                <a:avLst/>
              </a:prstGeom>
              <a:solidFill>
                <a:srgbClr val="00FF00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6" name="Line 9"/>
              <p:cNvSpPr/>
              <p:nvPr/>
            </p:nvSpPr>
            <p:spPr>
              <a:xfrm>
                <a:off x="9516240" y="73656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7" name="Line 23"/>
              <p:cNvSpPr/>
              <p:nvPr/>
            </p:nvSpPr>
            <p:spPr>
              <a:xfrm flipH="1">
                <a:off x="9746280" y="734760"/>
                <a:ext cx="12960" cy="11448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8" name="Line 24"/>
              <p:cNvSpPr/>
              <p:nvPr/>
            </p:nvSpPr>
            <p:spPr>
              <a:xfrm>
                <a:off x="9863280" y="73800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9" name="Line 25"/>
              <p:cNvSpPr/>
              <p:nvPr/>
            </p:nvSpPr>
            <p:spPr>
              <a:xfrm>
                <a:off x="9983880" y="734760"/>
                <a:ext cx="0" cy="11448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0" name="Line 26"/>
              <p:cNvSpPr/>
              <p:nvPr/>
            </p:nvSpPr>
            <p:spPr>
              <a:xfrm>
                <a:off x="10112760" y="734760"/>
                <a:ext cx="0" cy="11448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1" name="Line 27"/>
              <p:cNvSpPr/>
              <p:nvPr/>
            </p:nvSpPr>
            <p:spPr>
              <a:xfrm>
                <a:off x="10231560" y="734760"/>
                <a:ext cx="0" cy="11448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2" name="Line 28"/>
              <p:cNvSpPr/>
              <p:nvPr/>
            </p:nvSpPr>
            <p:spPr>
              <a:xfrm>
                <a:off x="9628200" y="73656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193" name="Rectangle 90"/>
            <p:cNvSpPr/>
            <p:nvPr/>
          </p:nvSpPr>
          <p:spPr>
            <a:xfrm>
              <a:off x="9441720" y="1280880"/>
              <a:ext cx="136080" cy="147240"/>
            </a:xfrm>
            <a:prstGeom prst="rect">
              <a:avLst/>
            </a:prstGeom>
            <a:solidFill>
              <a:srgbClr val="FFFF00"/>
            </a:solidFill>
            <a:ln cap="sq" w="9360">
              <a:solidFill>
                <a:srgbClr val="000000"/>
              </a:solidFill>
              <a:miter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6800" lIns="90000" rIns="90000" tIns="46800" wrap="none">
              <a:noAutofit/>
            </a:bodyPr>
            <a:lstStyle/>
            <a:p>
              <a:endParaRPr b="0" lang="en-US" spc="-1" strike="noStrike" sz="20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4" name="Text Box 18"/>
            <p:cNvSpPr/>
            <p:nvPr/>
          </p:nvSpPr>
          <p:spPr>
            <a:xfrm>
              <a:off x="9830520" y="576360"/>
              <a:ext cx="1622520" cy="58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6800" lIns="90000" rIns="90000" tIns="46800" wrap="none">
              <a:spAutoFit/>
            </a:bodyPr>
            <a:lstStyle/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pc="-1" strike="noStrike" sz="1600">
                  <a:solidFill>
                    <a:srgbClr val="000000"/>
                  </a:solidFill>
                  <a:latin typeface="Arial"/>
                </a:rPr>
                <a:t>outgoing </a:t>
              </a:r>
            </a:p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pc="-1" strike="noStrike" sz="1600">
                  <a:solidFill>
                    <a:srgbClr val="000000"/>
                  </a:solidFill>
                  <a:latin typeface="Arial"/>
                </a:rPr>
                <a:t>message queue</a:t>
              </a:r>
            </a:p>
          </p:txBody>
        </p:sp>
      </p:grpSp>
      <p:grpSp>
        <p:nvGrpSpPr>
          <p:cNvPr descr="email protocol" id="1195" name="Group 39"/>
          <p:cNvGrpSpPr/>
          <p:nvPr/>
        </p:nvGrpSpPr>
        <p:grpSpPr>
          <a:xfrm>
            <a:off x="6328440" y="1406520"/>
            <a:ext cx="5645520" cy="5118120"/>
            <a:chOff x="6328440" y="1406520"/>
            <a:chExt cx="5645520" cy="5118120"/>
          </a:xfrm>
        </p:grpSpPr>
        <p:grpSp>
          <p:nvGrpSpPr>
            <p:cNvPr id="1196" name="Group 40"/>
            <p:cNvGrpSpPr/>
            <p:nvPr/>
          </p:nvGrpSpPr>
          <p:grpSpPr>
            <a:xfrm>
              <a:off x="9199080" y="2787480"/>
              <a:ext cx="636840" cy="716040"/>
              <a:chOff x="9199080" y="2787480"/>
              <a:chExt cx="636840" cy="716040"/>
            </a:xfrm>
          </p:grpSpPr>
          <p:sp>
            <p:nvSpPr>
              <p:cNvPr id="1197" name="Freeform 28"/>
              <p:cNvSpPr/>
              <p:nvPr/>
            </p:nvSpPr>
            <p:spPr>
              <a:xfrm>
                <a:off x="9703080" y="2788560"/>
                <a:ext cx="126000" cy="683280"/>
              </a:xfrm>
              <a:custGeom>
                <a:avLst/>
                <a:gdLst>
                  <a:gd fmla="*/ 0 w 126000" name="textAreaLeft"/>
                  <a:gd fmla="*/ 126360 w 126000" name="textAreaRight"/>
                  <a:gd fmla="*/ 0 h 683280" name="textAreaTop"/>
                  <a:gd fmla="*/ 683640 h 683280" name="textAreaBottom"/>
                </a:gdLst>
                <a:ahLst/>
                <a:cxnLst/>
                <a:rect b="textAreaBottom" l="textAreaLeft" r="textAreaRight" t="textAreaTop"/>
                <a:pathLst>
                  <a:path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3333"/>
                  </a:gs>
                  <a:gs pos="100000">
                    <a:srgbClr val="DDDDDD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8" name="Rectangle 91"/>
              <p:cNvSpPr/>
              <p:nvPr/>
            </p:nvSpPr>
            <p:spPr>
              <a:xfrm>
                <a:off x="9228240" y="2787480"/>
                <a:ext cx="467640" cy="682560"/>
              </a:xfrm>
              <a:prstGeom prst="rect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9" name="Freeform 29"/>
              <p:cNvSpPr/>
              <p:nvPr/>
            </p:nvSpPr>
            <p:spPr>
              <a:xfrm>
                <a:off x="9726840" y="2829600"/>
                <a:ext cx="75600" cy="632160"/>
              </a:xfrm>
              <a:custGeom>
                <a:avLst/>
                <a:gdLst>
                  <a:gd fmla="*/ 0 w 75600" name="textAreaLeft"/>
                  <a:gd fmla="*/ 75960 w 75600" name="textAreaRight"/>
                  <a:gd fmla="*/ 0 h 632160" name="textAreaTop"/>
                  <a:gd fmla="*/ 632520 h 632160" name="textAreaBottom"/>
                </a:gdLst>
                <a:ahLst/>
                <a:cxnLst/>
                <a:rect b="textAreaBottom" l="textAreaLeft" r="textAreaRight" t="textAreaTop"/>
                <a:pathLst>
                  <a:path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8F8F8"/>
                  </a:gs>
                  <a:gs pos="100000">
                    <a:srgbClr val="808080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0" name="Freeform 30"/>
              <p:cNvSpPr/>
              <p:nvPr/>
            </p:nvSpPr>
            <p:spPr>
              <a:xfrm>
                <a:off x="9710280" y="3149280"/>
                <a:ext cx="117360" cy="56160"/>
              </a:xfrm>
              <a:custGeom>
                <a:avLst/>
                <a:gdLst>
                  <a:gd fmla="*/ 0 w 117360" name="textAreaLeft"/>
                  <a:gd fmla="*/ 117720 w 117360" name="textAreaRight"/>
                  <a:gd fmla="*/ 0 h 56160" name="textAreaTop"/>
                  <a:gd fmla="*/ 56520 h 56160" name="textAreaBottom"/>
                </a:gdLst>
                <a:ahLst/>
                <a:cxnLst/>
                <a:rect b="textAreaBottom" l="textAreaLeft" r="textAreaRight" t="textAreaTop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9720" lIns="90000" rIns="90000" tIns="97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1" name="Rectangle 92"/>
              <p:cNvSpPr/>
              <p:nvPr/>
            </p:nvSpPr>
            <p:spPr>
              <a:xfrm>
                <a:off x="9230760" y="2866680"/>
                <a:ext cx="26676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02" name="Group 41"/>
              <p:cNvGrpSpPr/>
              <p:nvPr/>
            </p:nvGrpSpPr>
            <p:grpSpPr>
              <a:xfrm>
                <a:off x="9471240" y="2858760"/>
                <a:ext cx="259560" cy="43200"/>
                <a:chOff x="9471240" y="2858760"/>
                <a:chExt cx="259560" cy="43200"/>
              </a:xfrm>
            </p:grpSpPr>
            <p:sp>
              <p:nvSpPr>
                <p:cNvPr id="1203" name="AutoShape 64"/>
                <p:cNvSpPr/>
                <p:nvPr/>
              </p:nvSpPr>
              <p:spPr>
                <a:xfrm>
                  <a:off x="9471240" y="2858760"/>
                  <a:ext cx="259560" cy="432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5840" lIns="90000" rIns="90000" tIns="-1584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04" name="AutoShape 65"/>
                <p:cNvSpPr/>
                <p:nvPr/>
              </p:nvSpPr>
              <p:spPr>
                <a:xfrm>
                  <a:off x="9477360" y="2863440"/>
                  <a:ext cx="246600" cy="3348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2680" lIns="90000" rIns="90000" tIns="-2268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05" name="Rectangle 93"/>
              <p:cNvSpPr/>
              <p:nvPr/>
            </p:nvSpPr>
            <p:spPr>
              <a:xfrm>
                <a:off x="9236880" y="2963880"/>
                <a:ext cx="26676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06" name="Group 42"/>
              <p:cNvGrpSpPr/>
              <p:nvPr/>
            </p:nvGrpSpPr>
            <p:grpSpPr>
              <a:xfrm>
                <a:off x="9470160" y="2956320"/>
                <a:ext cx="259560" cy="39960"/>
                <a:chOff x="9470160" y="2956320"/>
                <a:chExt cx="259560" cy="39960"/>
              </a:xfrm>
            </p:grpSpPr>
            <p:sp>
              <p:nvSpPr>
                <p:cNvPr id="1207" name="AutoShape 66"/>
                <p:cNvSpPr/>
                <p:nvPr/>
              </p:nvSpPr>
              <p:spPr>
                <a:xfrm>
                  <a:off x="9470160" y="2956320"/>
                  <a:ext cx="259560" cy="3996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8360" lIns="90000" rIns="90000" tIns="-1836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08" name="AutoShape 67"/>
                <p:cNvSpPr/>
                <p:nvPr/>
              </p:nvSpPr>
              <p:spPr>
                <a:xfrm>
                  <a:off x="9475920" y="2961000"/>
                  <a:ext cx="246600" cy="3060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4840" lIns="90000" rIns="90000" tIns="-2484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09" name="Rectangle 94"/>
              <p:cNvSpPr/>
              <p:nvPr/>
            </p:nvSpPr>
            <p:spPr>
              <a:xfrm>
                <a:off x="9232560" y="3065400"/>
                <a:ext cx="26676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0" name="Rectangle 95"/>
              <p:cNvSpPr/>
              <p:nvPr/>
            </p:nvSpPr>
            <p:spPr>
              <a:xfrm>
                <a:off x="9238680" y="3154320"/>
                <a:ext cx="26460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11" name="Group 43"/>
              <p:cNvGrpSpPr/>
              <p:nvPr/>
            </p:nvGrpSpPr>
            <p:grpSpPr>
              <a:xfrm>
                <a:off x="9464760" y="3145680"/>
                <a:ext cx="260280" cy="45000"/>
                <a:chOff x="9464760" y="3145680"/>
                <a:chExt cx="260280" cy="45000"/>
              </a:xfrm>
            </p:grpSpPr>
            <p:sp>
              <p:nvSpPr>
                <p:cNvPr id="1212" name="AutoShape 68"/>
                <p:cNvSpPr/>
                <p:nvPr/>
              </p:nvSpPr>
              <p:spPr>
                <a:xfrm>
                  <a:off x="9464760" y="3145680"/>
                  <a:ext cx="260280" cy="450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4760" lIns="90000" rIns="90000" tIns="-1476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13" name="AutoShape 69"/>
                <p:cNvSpPr/>
                <p:nvPr/>
              </p:nvSpPr>
              <p:spPr>
                <a:xfrm>
                  <a:off x="9471240" y="3150360"/>
                  <a:ext cx="247680" cy="356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1240" lIns="90000" rIns="90000" tIns="-2124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14" name="Freeform 31"/>
              <p:cNvSpPr/>
              <p:nvPr/>
            </p:nvSpPr>
            <p:spPr>
              <a:xfrm>
                <a:off x="9712080" y="3063960"/>
                <a:ext cx="117000" cy="56160"/>
              </a:xfrm>
              <a:custGeom>
                <a:avLst/>
                <a:gdLst>
                  <a:gd fmla="*/ 0 w 117000" name="textAreaLeft"/>
                  <a:gd fmla="*/ 117360 w 117000" name="textAreaRight"/>
                  <a:gd fmla="*/ 0 h 56160" name="textAreaTop"/>
                  <a:gd fmla="*/ 56520 h 56160" name="textAreaBottom"/>
                </a:gdLst>
                <a:ahLst/>
                <a:cxnLst/>
                <a:rect b="textAreaBottom" l="textAreaLeft" r="textAreaRight" t="textAreaTop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9720" lIns="90000" rIns="90000" tIns="97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15" name="Group 44"/>
              <p:cNvGrpSpPr/>
              <p:nvPr/>
            </p:nvGrpSpPr>
            <p:grpSpPr>
              <a:xfrm>
                <a:off x="9466920" y="3055680"/>
                <a:ext cx="259920" cy="41400"/>
                <a:chOff x="9466920" y="3055680"/>
                <a:chExt cx="259920" cy="41400"/>
              </a:xfrm>
            </p:grpSpPr>
            <p:sp>
              <p:nvSpPr>
                <p:cNvPr id="1216" name="AutoShape 70"/>
                <p:cNvSpPr/>
                <p:nvPr/>
              </p:nvSpPr>
              <p:spPr>
                <a:xfrm>
                  <a:off x="9466920" y="3055680"/>
                  <a:ext cx="259920" cy="414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6920" lIns="90000" rIns="90000" tIns="-1692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17" name="AutoShape 71"/>
                <p:cNvSpPr/>
                <p:nvPr/>
              </p:nvSpPr>
              <p:spPr>
                <a:xfrm>
                  <a:off x="9468360" y="3060360"/>
                  <a:ext cx="249120" cy="3168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4480" lIns="90000" rIns="90000" tIns="-2448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18" name="Rectangle 96"/>
              <p:cNvSpPr/>
              <p:nvPr/>
            </p:nvSpPr>
            <p:spPr>
              <a:xfrm>
                <a:off x="9694440" y="2787480"/>
                <a:ext cx="31680" cy="68436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9" name="Freeform 32"/>
              <p:cNvSpPr/>
              <p:nvPr/>
            </p:nvSpPr>
            <p:spPr>
              <a:xfrm>
                <a:off x="9722520" y="2960280"/>
                <a:ext cx="106200" cy="63360"/>
              </a:xfrm>
              <a:custGeom>
                <a:avLst/>
                <a:gdLst>
                  <a:gd fmla="*/ 0 w 106200" name="textAreaLeft"/>
                  <a:gd fmla="*/ 106560 w 106200" name="textAreaRight"/>
                  <a:gd fmla="*/ 0 h 63360" name="textAreaTop"/>
                  <a:gd fmla="*/ 63720 h 63360" name="textAreaBottom"/>
                </a:gdLst>
                <a:ahLst/>
                <a:cxnLst/>
                <a:rect b="textAreaBottom" l="textAreaLeft" r="textAreaRight" t="textAreaTop"/>
                <a:pathLst>
                  <a:path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6920" lIns="90000" rIns="90000" tIns="169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0" name="Freeform 33"/>
              <p:cNvSpPr/>
              <p:nvPr/>
            </p:nvSpPr>
            <p:spPr>
              <a:xfrm>
                <a:off x="9723960" y="2862360"/>
                <a:ext cx="109080" cy="71640"/>
              </a:xfrm>
              <a:custGeom>
                <a:avLst/>
                <a:gdLst>
                  <a:gd fmla="*/ 0 w 109080" name="textAreaLeft"/>
                  <a:gd fmla="*/ 109440 w 109080" name="textAreaRight"/>
                  <a:gd fmla="*/ 0 h 71640" name="textAreaTop"/>
                  <a:gd fmla="*/ 72000 h 71640" name="textAreaBottom"/>
                </a:gdLst>
                <a:ahLst/>
                <a:cxnLst/>
                <a:rect b="textAreaBottom" l="textAreaLeft" r="textAreaRight" t="textAreaTop"/>
                <a:pathLst>
                  <a:path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5200" lIns="90000" rIns="90000" tIns="252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1" name="Oval 13"/>
              <p:cNvSpPr/>
              <p:nvPr/>
            </p:nvSpPr>
            <p:spPr>
              <a:xfrm>
                <a:off x="9815400" y="3439800"/>
                <a:ext cx="20520" cy="2844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2" name="Freeform 34"/>
              <p:cNvSpPr/>
              <p:nvPr/>
            </p:nvSpPr>
            <p:spPr>
              <a:xfrm>
                <a:off x="9718200" y="3440520"/>
                <a:ext cx="109440" cy="59760"/>
              </a:xfrm>
              <a:custGeom>
                <a:avLst/>
                <a:gdLst>
                  <a:gd fmla="*/ 0 w 109440" name="textAreaLeft"/>
                  <a:gd fmla="*/ 109800 w 109440" name="textAreaRight"/>
                  <a:gd fmla="*/ 0 h 59760" name="textAreaTop"/>
                  <a:gd fmla="*/ 60120 h 59760" name="textAreaBottom"/>
                </a:gdLst>
                <a:ahLst/>
                <a:cxnLst/>
                <a:rect b="textAreaBottom" l="textAreaLeft" r="textAreaRight" t="textAreaTop"/>
                <a:pathLst>
                  <a:path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3320" lIns="90000" rIns="90000" tIns="133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3" name="AutoShape 72"/>
              <p:cNvSpPr/>
              <p:nvPr/>
            </p:nvSpPr>
            <p:spPr>
              <a:xfrm>
                <a:off x="9199080" y="3459240"/>
                <a:ext cx="535680" cy="4428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5480" lIns="90000" rIns="90000" tIns="-1548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4" name="AutoShape 73"/>
              <p:cNvSpPr/>
              <p:nvPr/>
            </p:nvSpPr>
            <p:spPr>
              <a:xfrm>
                <a:off x="9228240" y="3470040"/>
                <a:ext cx="478440" cy="23760"/>
              </a:xfrm>
              <a:prstGeom prst="roundRect">
                <a:avLst>
                  <a:gd fmla="val 50000" name="adj"/>
                </a:avLst>
              </a:prstGeom>
              <a:gradFill rotWithShape="0">
                <a:gsLst>
                  <a:gs pos="0">
                    <a:srgbClr val="808080"/>
                  </a:gs>
                  <a:gs pos="100000">
                    <a:srgbClr val="000000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9520" lIns="90000" rIns="90000" tIns="-2952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5" name="Oval 14"/>
              <p:cNvSpPr/>
              <p:nvPr/>
            </p:nvSpPr>
            <p:spPr>
              <a:xfrm>
                <a:off x="9272880" y="3371760"/>
                <a:ext cx="72000" cy="424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6560" lIns="90000" rIns="90000" tIns="-165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6" name="Oval 15"/>
              <p:cNvSpPr/>
              <p:nvPr/>
            </p:nvSpPr>
            <p:spPr>
              <a:xfrm>
                <a:off x="9353520" y="3371760"/>
                <a:ext cx="72000" cy="4248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6560" lIns="90000" rIns="90000" tIns="-165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7" name="Oval 16"/>
              <p:cNvSpPr/>
              <p:nvPr/>
            </p:nvSpPr>
            <p:spPr>
              <a:xfrm>
                <a:off x="9431640" y="3370320"/>
                <a:ext cx="72000" cy="424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6560" lIns="90000" rIns="90000" tIns="-165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8" name="Rectangle 97"/>
              <p:cNvSpPr/>
              <p:nvPr/>
            </p:nvSpPr>
            <p:spPr>
              <a:xfrm>
                <a:off x="9611280" y="3208320"/>
                <a:ext cx="37800" cy="227160"/>
              </a:xfrm>
              <a:prstGeom prst="rect">
                <a:avLst/>
              </a:prstGeom>
              <a:solidFill>
                <a:srgbClr val="292929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229" name="Group 45"/>
            <p:cNvGrpSpPr/>
            <p:nvPr/>
          </p:nvGrpSpPr>
          <p:grpSpPr>
            <a:xfrm>
              <a:off x="6542280" y="4181400"/>
              <a:ext cx="637200" cy="716040"/>
              <a:chOff x="6542280" y="4181400"/>
              <a:chExt cx="637200" cy="716040"/>
            </a:xfrm>
          </p:grpSpPr>
          <p:sp>
            <p:nvSpPr>
              <p:cNvPr id="1230" name="Freeform 35"/>
              <p:cNvSpPr/>
              <p:nvPr/>
            </p:nvSpPr>
            <p:spPr>
              <a:xfrm>
                <a:off x="7046640" y="4182480"/>
                <a:ext cx="126360" cy="683280"/>
              </a:xfrm>
              <a:custGeom>
                <a:avLst/>
                <a:gdLst>
                  <a:gd fmla="*/ 0 w 126360" name="textAreaLeft"/>
                  <a:gd fmla="*/ 126720 w 126360" name="textAreaRight"/>
                  <a:gd fmla="*/ 0 h 683280" name="textAreaTop"/>
                  <a:gd fmla="*/ 683640 h 683280" name="textAreaBottom"/>
                </a:gdLst>
                <a:ahLst/>
                <a:cxnLst/>
                <a:rect b="textAreaBottom" l="textAreaLeft" r="textAreaRight" t="textAreaTop"/>
                <a:pathLst>
                  <a:path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3333"/>
                  </a:gs>
                  <a:gs pos="100000">
                    <a:srgbClr val="DDDDDD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1" name="Rectangle 98"/>
              <p:cNvSpPr/>
              <p:nvPr/>
            </p:nvSpPr>
            <p:spPr>
              <a:xfrm>
                <a:off x="6571440" y="4181400"/>
                <a:ext cx="468000" cy="682560"/>
              </a:xfrm>
              <a:prstGeom prst="rect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2" name="Freeform 36"/>
              <p:cNvSpPr/>
              <p:nvPr/>
            </p:nvSpPr>
            <p:spPr>
              <a:xfrm>
                <a:off x="7070760" y="4223520"/>
                <a:ext cx="75240" cy="632160"/>
              </a:xfrm>
              <a:custGeom>
                <a:avLst/>
                <a:gdLst>
                  <a:gd fmla="*/ 0 w 75240" name="textAreaLeft"/>
                  <a:gd fmla="*/ 75600 w 75240" name="textAreaRight"/>
                  <a:gd fmla="*/ 0 h 632160" name="textAreaTop"/>
                  <a:gd fmla="*/ 632520 h 632160" name="textAreaBottom"/>
                </a:gdLst>
                <a:ahLst/>
                <a:cxnLst/>
                <a:rect b="textAreaBottom" l="textAreaLeft" r="textAreaRight" t="textAreaTop"/>
                <a:pathLst>
                  <a:path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8F8F8"/>
                  </a:gs>
                  <a:gs pos="100000">
                    <a:srgbClr val="808080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3" name="Freeform 37"/>
              <p:cNvSpPr/>
              <p:nvPr/>
            </p:nvSpPr>
            <p:spPr>
              <a:xfrm>
                <a:off x="7053840" y="4543200"/>
                <a:ext cx="117720" cy="56160"/>
              </a:xfrm>
              <a:custGeom>
                <a:avLst/>
                <a:gdLst>
                  <a:gd fmla="*/ 0 w 117720" name="textAreaLeft"/>
                  <a:gd fmla="*/ 118080 w 117720" name="textAreaRight"/>
                  <a:gd fmla="*/ 0 h 56160" name="textAreaTop"/>
                  <a:gd fmla="*/ 56520 h 56160" name="textAreaBottom"/>
                </a:gdLst>
                <a:ahLst/>
                <a:cxnLst/>
                <a:rect b="textAreaBottom" l="textAreaLeft" r="textAreaRight" t="textAreaTop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9720" lIns="90000" rIns="90000" tIns="97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4" name="Rectangle 99"/>
              <p:cNvSpPr/>
              <p:nvPr/>
            </p:nvSpPr>
            <p:spPr>
              <a:xfrm>
                <a:off x="6573960" y="4260600"/>
                <a:ext cx="26676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35" name="Group 46"/>
              <p:cNvGrpSpPr/>
              <p:nvPr/>
            </p:nvGrpSpPr>
            <p:grpSpPr>
              <a:xfrm>
                <a:off x="6814440" y="4252680"/>
                <a:ext cx="259560" cy="43200"/>
                <a:chOff x="6814440" y="4252680"/>
                <a:chExt cx="259560" cy="43200"/>
              </a:xfrm>
            </p:grpSpPr>
            <p:sp>
              <p:nvSpPr>
                <p:cNvPr id="1236" name="AutoShape 74"/>
                <p:cNvSpPr/>
                <p:nvPr/>
              </p:nvSpPr>
              <p:spPr>
                <a:xfrm>
                  <a:off x="6814440" y="4252680"/>
                  <a:ext cx="259560" cy="432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5840" lIns="90000" rIns="90000" tIns="-1584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37" name="AutoShape 75"/>
                <p:cNvSpPr/>
                <p:nvPr/>
              </p:nvSpPr>
              <p:spPr>
                <a:xfrm>
                  <a:off x="6820560" y="4257360"/>
                  <a:ext cx="246600" cy="3348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2680" lIns="90000" rIns="90000" tIns="-2268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38" name="Rectangle 100"/>
              <p:cNvSpPr/>
              <p:nvPr/>
            </p:nvSpPr>
            <p:spPr>
              <a:xfrm>
                <a:off x="6580080" y="4357800"/>
                <a:ext cx="26676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39" name="Group 47"/>
              <p:cNvGrpSpPr/>
              <p:nvPr/>
            </p:nvGrpSpPr>
            <p:grpSpPr>
              <a:xfrm>
                <a:off x="6813720" y="4350240"/>
                <a:ext cx="259920" cy="39960"/>
                <a:chOff x="6813720" y="4350240"/>
                <a:chExt cx="259920" cy="39960"/>
              </a:xfrm>
            </p:grpSpPr>
            <p:sp>
              <p:nvSpPr>
                <p:cNvPr id="1240" name="AutoShape 76"/>
                <p:cNvSpPr/>
                <p:nvPr/>
              </p:nvSpPr>
              <p:spPr>
                <a:xfrm>
                  <a:off x="6813720" y="4350240"/>
                  <a:ext cx="259920" cy="3996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8360" lIns="90000" rIns="90000" tIns="-1836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41" name="AutoShape 77"/>
                <p:cNvSpPr/>
                <p:nvPr/>
              </p:nvSpPr>
              <p:spPr>
                <a:xfrm>
                  <a:off x="6819480" y="4354920"/>
                  <a:ext cx="246960" cy="3060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4840" lIns="90000" rIns="90000" tIns="-2484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42" name="Rectangle 101"/>
              <p:cNvSpPr/>
              <p:nvPr/>
            </p:nvSpPr>
            <p:spPr>
              <a:xfrm>
                <a:off x="6575760" y="4459320"/>
                <a:ext cx="26676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3" name="Rectangle 102"/>
              <p:cNvSpPr/>
              <p:nvPr/>
            </p:nvSpPr>
            <p:spPr>
              <a:xfrm>
                <a:off x="6581880" y="4548240"/>
                <a:ext cx="26496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44" name="Group 48"/>
              <p:cNvGrpSpPr/>
              <p:nvPr/>
            </p:nvGrpSpPr>
            <p:grpSpPr>
              <a:xfrm>
                <a:off x="6807960" y="4539600"/>
                <a:ext cx="260280" cy="45000"/>
                <a:chOff x="6807960" y="4539600"/>
                <a:chExt cx="260280" cy="45000"/>
              </a:xfrm>
            </p:grpSpPr>
            <p:sp>
              <p:nvSpPr>
                <p:cNvPr id="1245" name="AutoShape 78"/>
                <p:cNvSpPr/>
                <p:nvPr/>
              </p:nvSpPr>
              <p:spPr>
                <a:xfrm>
                  <a:off x="6807960" y="4539600"/>
                  <a:ext cx="260280" cy="450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4760" lIns="90000" rIns="90000" tIns="-1476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46" name="AutoShape 79"/>
                <p:cNvSpPr/>
                <p:nvPr/>
              </p:nvSpPr>
              <p:spPr>
                <a:xfrm>
                  <a:off x="6814440" y="4544280"/>
                  <a:ext cx="247680" cy="356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1240" lIns="90000" rIns="90000" tIns="-2124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47" name="Freeform 38"/>
              <p:cNvSpPr/>
              <p:nvPr/>
            </p:nvSpPr>
            <p:spPr>
              <a:xfrm>
                <a:off x="7055640" y="4457880"/>
                <a:ext cx="117720" cy="56160"/>
              </a:xfrm>
              <a:custGeom>
                <a:avLst/>
                <a:gdLst>
                  <a:gd fmla="*/ 0 w 117720" name="textAreaLeft"/>
                  <a:gd fmla="*/ 118080 w 117720" name="textAreaRight"/>
                  <a:gd fmla="*/ 0 h 56160" name="textAreaTop"/>
                  <a:gd fmla="*/ 56520 h 56160" name="textAreaBottom"/>
                </a:gdLst>
                <a:ahLst/>
                <a:cxnLst/>
                <a:rect b="textAreaBottom" l="textAreaLeft" r="textAreaRight" t="textAreaTop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9720" lIns="90000" rIns="90000" tIns="97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48" name="Group 49"/>
              <p:cNvGrpSpPr/>
              <p:nvPr/>
            </p:nvGrpSpPr>
            <p:grpSpPr>
              <a:xfrm>
                <a:off x="6810120" y="4449600"/>
                <a:ext cx="259920" cy="41400"/>
                <a:chOff x="6810120" y="4449600"/>
                <a:chExt cx="259920" cy="41400"/>
              </a:xfrm>
            </p:grpSpPr>
            <p:sp>
              <p:nvSpPr>
                <p:cNvPr id="1249" name="AutoShape 80"/>
                <p:cNvSpPr/>
                <p:nvPr/>
              </p:nvSpPr>
              <p:spPr>
                <a:xfrm>
                  <a:off x="6810120" y="4449600"/>
                  <a:ext cx="259920" cy="414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6920" lIns="90000" rIns="90000" tIns="-1692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50" name="AutoShape 81"/>
                <p:cNvSpPr/>
                <p:nvPr/>
              </p:nvSpPr>
              <p:spPr>
                <a:xfrm>
                  <a:off x="6811560" y="4454280"/>
                  <a:ext cx="249120" cy="3168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4480" lIns="90000" rIns="90000" tIns="-2448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51" name="Rectangle 103"/>
              <p:cNvSpPr/>
              <p:nvPr/>
            </p:nvSpPr>
            <p:spPr>
              <a:xfrm>
                <a:off x="7038000" y="4181400"/>
                <a:ext cx="31680" cy="68436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2" name="Freeform 39"/>
              <p:cNvSpPr/>
              <p:nvPr/>
            </p:nvSpPr>
            <p:spPr>
              <a:xfrm>
                <a:off x="7066440" y="4354200"/>
                <a:ext cx="105840" cy="63360"/>
              </a:xfrm>
              <a:custGeom>
                <a:avLst/>
                <a:gdLst>
                  <a:gd fmla="*/ 0 w 105840" name="textAreaLeft"/>
                  <a:gd fmla="*/ 106200 w 105840" name="textAreaRight"/>
                  <a:gd fmla="*/ 0 h 63360" name="textAreaTop"/>
                  <a:gd fmla="*/ 63720 h 63360" name="textAreaBottom"/>
                </a:gdLst>
                <a:ahLst/>
                <a:cxnLst/>
                <a:rect b="textAreaBottom" l="textAreaLeft" r="textAreaRight" t="textAreaTop"/>
                <a:pathLst>
                  <a:path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6920" lIns="90000" rIns="90000" tIns="169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3" name="Freeform 40"/>
              <p:cNvSpPr/>
              <p:nvPr/>
            </p:nvSpPr>
            <p:spPr>
              <a:xfrm>
                <a:off x="7067880" y="4256280"/>
                <a:ext cx="108720" cy="71640"/>
              </a:xfrm>
              <a:custGeom>
                <a:avLst/>
                <a:gdLst>
                  <a:gd fmla="*/ 0 w 108720" name="textAreaLeft"/>
                  <a:gd fmla="*/ 109080 w 108720" name="textAreaRight"/>
                  <a:gd fmla="*/ 0 h 71640" name="textAreaTop"/>
                  <a:gd fmla="*/ 72000 h 71640" name="textAreaBottom"/>
                </a:gdLst>
                <a:ahLst/>
                <a:cxnLst/>
                <a:rect b="textAreaBottom" l="textAreaLeft" r="textAreaRight" t="textAreaTop"/>
                <a:pathLst>
                  <a:path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5200" lIns="90000" rIns="90000" tIns="252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4" name="Oval 17"/>
              <p:cNvSpPr/>
              <p:nvPr/>
            </p:nvSpPr>
            <p:spPr>
              <a:xfrm>
                <a:off x="7158960" y="4833720"/>
                <a:ext cx="20520" cy="2844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5" name="Freeform 41"/>
              <p:cNvSpPr/>
              <p:nvPr/>
            </p:nvSpPr>
            <p:spPr>
              <a:xfrm>
                <a:off x="7062120" y="4834440"/>
                <a:ext cx="109440" cy="59760"/>
              </a:xfrm>
              <a:custGeom>
                <a:avLst/>
                <a:gdLst>
                  <a:gd fmla="*/ 0 w 109440" name="textAreaLeft"/>
                  <a:gd fmla="*/ 109800 w 109440" name="textAreaRight"/>
                  <a:gd fmla="*/ 0 h 59760" name="textAreaTop"/>
                  <a:gd fmla="*/ 60120 h 59760" name="textAreaBottom"/>
                </a:gdLst>
                <a:ahLst/>
                <a:cxnLst/>
                <a:rect b="textAreaBottom" l="textAreaLeft" r="textAreaRight" t="textAreaTop"/>
                <a:pathLst>
                  <a:path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3320" lIns="90000" rIns="90000" tIns="133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6" name="AutoShape 82"/>
              <p:cNvSpPr/>
              <p:nvPr/>
            </p:nvSpPr>
            <p:spPr>
              <a:xfrm>
                <a:off x="6542280" y="4853160"/>
                <a:ext cx="536040" cy="4428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5480" lIns="90000" rIns="90000" tIns="-1548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7" name="AutoShape 83"/>
              <p:cNvSpPr/>
              <p:nvPr/>
            </p:nvSpPr>
            <p:spPr>
              <a:xfrm>
                <a:off x="6571440" y="4863960"/>
                <a:ext cx="478440" cy="23760"/>
              </a:xfrm>
              <a:prstGeom prst="roundRect">
                <a:avLst>
                  <a:gd fmla="val 50000" name="adj"/>
                </a:avLst>
              </a:prstGeom>
              <a:gradFill rotWithShape="0">
                <a:gsLst>
                  <a:gs pos="0">
                    <a:srgbClr val="808080"/>
                  </a:gs>
                  <a:gs pos="100000">
                    <a:srgbClr val="000000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9520" lIns="90000" rIns="90000" tIns="-2952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8" name="Oval 18"/>
              <p:cNvSpPr/>
              <p:nvPr/>
            </p:nvSpPr>
            <p:spPr>
              <a:xfrm>
                <a:off x="6616080" y="4765680"/>
                <a:ext cx="72000" cy="424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6560" lIns="90000" rIns="90000" tIns="-165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9" name="Oval 19"/>
              <p:cNvSpPr/>
              <p:nvPr/>
            </p:nvSpPr>
            <p:spPr>
              <a:xfrm>
                <a:off x="6696720" y="4765680"/>
                <a:ext cx="72000" cy="4248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6560" lIns="90000" rIns="90000" tIns="-165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0" name="Oval 20"/>
              <p:cNvSpPr/>
              <p:nvPr/>
            </p:nvSpPr>
            <p:spPr>
              <a:xfrm>
                <a:off x="6774840" y="4764240"/>
                <a:ext cx="72000" cy="424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6560" lIns="90000" rIns="90000" tIns="-165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1" name="Rectangle 104"/>
              <p:cNvSpPr/>
              <p:nvPr/>
            </p:nvSpPr>
            <p:spPr>
              <a:xfrm>
                <a:off x="6954840" y="4602240"/>
                <a:ext cx="38160" cy="227160"/>
              </a:xfrm>
              <a:prstGeom prst="rect">
                <a:avLst/>
              </a:prstGeom>
              <a:solidFill>
                <a:srgbClr val="292929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262" name="Group 50"/>
            <p:cNvGrpSpPr/>
            <p:nvPr/>
          </p:nvGrpSpPr>
          <p:grpSpPr>
            <a:xfrm>
              <a:off x="6571800" y="1839960"/>
              <a:ext cx="637560" cy="716040"/>
              <a:chOff x="6571800" y="1839960"/>
              <a:chExt cx="637560" cy="716040"/>
            </a:xfrm>
          </p:grpSpPr>
          <p:sp>
            <p:nvSpPr>
              <p:cNvPr id="1263" name="Freeform 42"/>
              <p:cNvSpPr/>
              <p:nvPr/>
            </p:nvSpPr>
            <p:spPr>
              <a:xfrm>
                <a:off x="7076520" y="1841040"/>
                <a:ext cx="126000" cy="683280"/>
              </a:xfrm>
              <a:custGeom>
                <a:avLst/>
                <a:gdLst>
                  <a:gd fmla="*/ 0 w 126000" name="textAreaLeft"/>
                  <a:gd fmla="*/ 126360 w 126000" name="textAreaRight"/>
                  <a:gd fmla="*/ 0 h 683280" name="textAreaTop"/>
                  <a:gd fmla="*/ 683640 h 683280" name="textAreaBottom"/>
                </a:gdLst>
                <a:ahLst/>
                <a:cxnLst/>
                <a:rect b="textAreaBottom" l="textAreaLeft" r="textAreaRight" t="textAreaTop"/>
                <a:pathLst>
                  <a:path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3333"/>
                  </a:gs>
                  <a:gs pos="100000">
                    <a:srgbClr val="DDDDDD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4" name="Rectangle 105"/>
              <p:cNvSpPr/>
              <p:nvPr/>
            </p:nvSpPr>
            <p:spPr>
              <a:xfrm>
                <a:off x="6601320" y="1839960"/>
                <a:ext cx="468000" cy="682560"/>
              </a:xfrm>
              <a:prstGeom prst="rect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5" name="Freeform 43"/>
              <p:cNvSpPr/>
              <p:nvPr/>
            </p:nvSpPr>
            <p:spPr>
              <a:xfrm>
                <a:off x="7100280" y="1882080"/>
                <a:ext cx="75600" cy="632160"/>
              </a:xfrm>
              <a:custGeom>
                <a:avLst/>
                <a:gdLst>
                  <a:gd fmla="*/ 0 w 75600" name="textAreaLeft"/>
                  <a:gd fmla="*/ 75960 w 75600" name="textAreaRight"/>
                  <a:gd fmla="*/ 0 h 632160" name="textAreaTop"/>
                  <a:gd fmla="*/ 632520 h 632160" name="textAreaBottom"/>
                </a:gdLst>
                <a:ahLst/>
                <a:cxnLst/>
                <a:rect b="textAreaBottom" l="textAreaLeft" r="textAreaRight" t="textAreaTop"/>
                <a:pathLst>
                  <a:path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8F8F8"/>
                  </a:gs>
                  <a:gs pos="100000">
                    <a:srgbClr val="808080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6" name="Freeform 44"/>
              <p:cNvSpPr/>
              <p:nvPr/>
            </p:nvSpPr>
            <p:spPr>
              <a:xfrm>
                <a:off x="7083720" y="2201760"/>
                <a:ext cx="117360" cy="56160"/>
              </a:xfrm>
              <a:custGeom>
                <a:avLst/>
                <a:gdLst>
                  <a:gd fmla="*/ 0 w 117360" name="textAreaLeft"/>
                  <a:gd fmla="*/ 117720 w 117360" name="textAreaRight"/>
                  <a:gd fmla="*/ 0 h 56160" name="textAreaTop"/>
                  <a:gd fmla="*/ 56520 h 56160" name="textAreaBottom"/>
                </a:gdLst>
                <a:ahLst/>
                <a:cxnLst/>
                <a:rect b="textAreaBottom" l="textAreaLeft" r="textAreaRight" t="textAreaTop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9720" lIns="90000" rIns="90000" tIns="97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7" name="Rectangle 106"/>
              <p:cNvSpPr/>
              <p:nvPr/>
            </p:nvSpPr>
            <p:spPr>
              <a:xfrm>
                <a:off x="6603480" y="1919160"/>
                <a:ext cx="26712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68" name="Group 51"/>
              <p:cNvGrpSpPr/>
              <p:nvPr/>
            </p:nvGrpSpPr>
            <p:grpSpPr>
              <a:xfrm>
                <a:off x="6843960" y="1911240"/>
                <a:ext cx="259920" cy="43200"/>
                <a:chOff x="6843960" y="1911240"/>
                <a:chExt cx="259920" cy="43200"/>
              </a:xfrm>
            </p:grpSpPr>
            <p:sp>
              <p:nvSpPr>
                <p:cNvPr id="1269" name="AutoShape 84"/>
                <p:cNvSpPr/>
                <p:nvPr/>
              </p:nvSpPr>
              <p:spPr>
                <a:xfrm>
                  <a:off x="6843960" y="1911240"/>
                  <a:ext cx="259920" cy="432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5840" lIns="90000" rIns="90000" tIns="-1584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70" name="AutoShape 85"/>
                <p:cNvSpPr/>
                <p:nvPr/>
              </p:nvSpPr>
              <p:spPr>
                <a:xfrm>
                  <a:off x="6850440" y="1915920"/>
                  <a:ext cx="246600" cy="3348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2680" lIns="90000" rIns="90000" tIns="-2268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71" name="Rectangle 107"/>
              <p:cNvSpPr/>
              <p:nvPr/>
            </p:nvSpPr>
            <p:spPr>
              <a:xfrm>
                <a:off x="6609960" y="2016360"/>
                <a:ext cx="26676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72" name="Group 52"/>
              <p:cNvGrpSpPr/>
              <p:nvPr/>
            </p:nvGrpSpPr>
            <p:grpSpPr>
              <a:xfrm>
                <a:off x="6843600" y="2008800"/>
                <a:ext cx="259560" cy="39960"/>
                <a:chOff x="6843600" y="2008800"/>
                <a:chExt cx="259560" cy="39960"/>
              </a:xfrm>
            </p:grpSpPr>
            <p:sp>
              <p:nvSpPr>
                <p:cNvPr id="1273" name="AutoShape 86"/>
                <p:cNvSpPr/>
                <p:nvPr/>
              </p:nvSpPr>
              <p:spPr>
                <a:xfrm>
                  <a:off x="6843600" y="2008800"/>
                  <a:ext cx="259560" cy="3996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8360" lIns="90000" rIns="90000" tIns="-1836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74" name="AutoShape 87"/>
                <p:cNvSpPr/>
                <p:nvPr/>
              </p:nvSpPr>
              <p:spPr>
                <a:xfrm>
                  <a:off x="6849360" y="2013480"/>
                  <a:ext cx="246600" cy="3060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4840" lIns="90000" rIns="90000" tIns="-2484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75" name="Rectangle 108"/>
              <p:cNvSpPr/>
              <p:nvPr/>
            </p:nvSpPr>
            <p:spPr>
              <a:xfrm>
                <a:off x="6605640" y="2117880"/>
                <a:ext cx="26676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6" name="Rectangle 109"/>
              <p:cNvSpPr/>
              <p:nvPr/>
            </p:nvSpPr>
            <p:spPr>
              <a:xfrm>
                <a:off x="6611760" y="2206800"/>
                <a:ext cx="264960" cy="14040"/>
              </a:xfrm>
              <a:prstGeom prst="rect">
                <a:avLst/>
              </a:prstGeom>
              <a:solidFill>
                <a:srgbClr val="0000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32760" lIns="90000" rIns="90000" tIns="-327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77" name="Group 53"/>
              <p:cNvGrpSpPr/>
              <p:nvPr/>
            </p:nvGrpSpPr>
            <p:grpSpPr>
              <a:xfrm>
                <a:off x="6837840" y="2198160"/>
                <a:ext cx="260280" cy="45000"/>
                <a:chOff x="6837840" y="2198160"/>
                <a:chExt cx="260280" cy="45000"/>
              </a:xfrm>
            </p:grpSpPr>
            <p:sp>
              <p:nvSpPr>
                <p:cNvPr id="1278" name="AutoShape 88"/>
                <p:cNvSpPr/>
                <p:nvPr/>
              </p:nvSpPr>
              <p:spPr>
                <a:xfrm>
                  <a:off x="6837840" y="2198160"/>
                  <a:ext cx="260280" cy="450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4760" lIns="90000" rIns="90000" tIns="-1476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79" name="AutoShape 89"/>
                <p:cNvSpPr/>
                <p:nvPr/>
              </p:nvSpPr>
              <p:spPr>
                <a:xfrm>
                  <a:off x="6843960" y="2202840"/>
                  <a:ext cx="247680" cy="3564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1240" lIns="90000" rIns="90000" tIns="-2124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80" name="Freeform 45"/>
              <p:cNvSpPr/>
              <p:nvPr/>
            </p:nvSpPr>
            <p:spPr>
              <a:xfrm>
                <a:off x="7085520" y="2116440"/>
                <a:ext cx="117720" cy="56160"/>
              </a:xfrm>
              <a:custGeom>
                <a:avLst/>
                <a:gdLst>
                  <a:gd fmla="*/ 0 w 117720" name="textAreaLeft"/>
                  <a:gd fmla="*/ 118080 w 117720" name="textAreaRight"/>
                  <a:gd fmla="*/ 0 h 56160" name="textAreaTop"/>
                  <a:gd fmla="*/ 56520 h 56160" name="textAreaBottom"/>
                </a:gdLst>
                <a:ahLst/>
                <a:cxnLst/>
                <a:rect b="textAreaBottom" l="textAreaLeft" r="textAreaRight" t="textAreaTop"/>
                <a:pathLst>
                  <a:path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9720" lIns="90000" rIns="90000" tIns="97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81" name="Group 54"/>
              <p:cNvGrpSpPr/>
              <p:nvPr/>
            </p:nvGrpSpPr>
            <p:grpSpPr>
              <a:xfrm>
                <a:off x="6839640" y="2108160"/>
                <a:ext cx="260280" cy="41400"/>
                <a:chOff x="6839640" y="2108160"/>
                <a:chExt cx="260280" cy="41400"/>
              </a:xfrm>
            </p:grpSpPr>
            <p:sp>
              <p:nvSpPr>
                <p:cNvPr id="1282" name="AutoShape 90"/>
                <p:cNvSpPr/>
                <p:nvPr/>
              </p:nvSpPr>
              <p:spPr>
                <a:xfrm>
                  <a:off x="6839640" y="2108160"/>
                  <a:ext cx="260280" cy="414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16920" lIns="90000" rIns="90000" tIns="-1692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83" name="AutoShape 91"/>
                <p:cNvSpPr/>
                <p:nvPr/>
              </p:nvSpPr>
              <p:spPr>
                <a:xfrm>
                  <a:off x="6841080" y="2112840"/>
                  <a:ext cx="249120" cy="31680"/>
                </a:xfrm>
                <a:prstGeom prst="roundRect">
                  <a:avLst>
                    <a:gd fmla="val 50000" name="adj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ctr" bIns="-24480" lIns="90000" rIns="90000" tIns="-2448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84" name="Rectangle 110"/>
              <p:cNvSpPr/>
              <p:nvPr/>
            </p:nvSpPr>
            <p:spPr>
              <a:xfrm>
                <a:off x="7067880" y="1839960"/>
                <a:ext cx="31680" cy="68436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5" name="Freeform 46"/>
              <p:cNvSpPr/>
              <p:nvPr/>
            </p:nvSpPr>
            <p:spPr>
              <a:xfrm>
                <a:off x="7095960" y="2012760"/>
                <a:ext cx="106200" cy="63360"/>
              </a:xfrm>
              <a:custGeom>
                <a:avLst/>
                <a:gdLst>
                  <a:gd fmla="*/ 0 w 106200" name="textAreaLeft"/>
                  <a:gd fmla="*/ 106560 w 106200" name="textAreaRight"/>
                  <a:gd fmla="*/ 0 h 63360" name="textAreaTop"/>
                  <a:gd fmla="*/ 63720 h 63360" name="textAreaBottom"/>
                </a:gdLst>
                <a:ahLst/>
                <a:cxnLst/>
                <a:rect b="textAreaBottom" l="textAreaLeft" r="textAreaRight" t="textAreaTop"/>
                <a:pathLst>
                  <a:path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6920" lIns="90000" rIns="90000" tIns="169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6" name="Freeform 47"/>
              <p:cNvSpPr/>
              <p:nvPr/>
            </p:nvSpPr>
            <p:spPr>
              <a:xfrm>
                <a:off x="7097400" y="1914840"/>
                <a:ext cx="109080" cy="71640"/>
              </a:xfrm>
              <a:custGeom>
                <a:avLst/>
                <a:gdLst>
                  <a:gd fmla="*/ 0 w 109080" name="textAreaLeft"/>
                  <a:gd fmla="*/ 109440 w 109080" name="textAreaRight"/>
                  <a:gd fmla="*/ 0 h 71640" name="textAreaTop"/>
                  <a:gd fmla="*/ 72000 h 71640" name="textAreaBottom"/>
                </a:gdLst>
                <a:ahLst/>
                <a:cxnLst/>
                <a:rect b="textAreaBottom" l="textAreaLeft" r="textAreaRight" t="textAreaTop"/>
                <a:pathLst>
                  <a:path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292929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25200" lIns="90000" rIns="90000" tIns="252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7" name="Oval 21"/>
              <p:cNvSpPr/>
              <p:nvPr/>
            </p:nvSpPr>
            <p:spPr>
              <a:xfrm>
                <a:off x="7188840" y="2492280"/>
                <a:ext cx="20520" cy="2844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6280" lIns="90000" rIns="90000" tIns="-2628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8" name="Freeform 48"/>
              <p:cNvSpPr/>
              <p:nvPr/>
            </p:nvSpPr>
            <p:spPr>
              <a:xfrm>
                <a:off x="7091640" y="2493000"/>
                <a:ext cx="109440" cy="59760"/>
              </a:xfrm>
              <a:custGeom>
                <a:avLst/>
                <a:gdLst>
                  <a:gd fmla="*/ 0 w 109440" name="textAreaLeft"/>
                  <a:gd fmla="*/ 109800 w 109440" name="textAreaRight"/>
                  <a:gd fmla="*/ 0 h 59760" name="textAreaTop"/>
                  <a:gd fmla="*/ 60120 h 59760" name="textAreaBottom"/>
                </a:gdLst>
                <a:ahLst/>
                <a:cxnLst/>
                <a:rect b="textAreaBottom" l="textAreaLeft" r="textAreaRight" t="textAreaTop"/>
                <a:pathLst>
                  <a:path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13320" lIns="90000" rIns="90000" tIns="1332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9" name="AutoShape 92"/>
              <p:cNvSpPr/>
              <p:nvPr/>
            </p:nvSpPr>
            <p:spPr>
              <a:xfrm>
                <a:off x="6571800" y="2511720"/>
                <a:ext cx="536400" cy="4428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5480" lIns="90000" rIns="90000" tIns="-1548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0" name="AutoShape 93"/>
              <p:cNvSpPr/>
              <p:nvPr/>
            </p:nvSpPr>
            <p:spPr>
              <a:xfrm>
                <a:off x="6601320" y="2522520"/>
                <a:ext cx="478440" cy="23760"/>
              </a:xfrm>
              <a:prstGeom prst="roundRect">
                <a:avLst>
                  <a:gd fmla="val 50000" name="adj"/>
                </a:avLst>
              </a:prstGeom>
              <a:gradFill rotWithShape="0">
                <a:gsLst>
                  <a:gs pos="0">
                    <a:srgbClr val="808080"/>
                  </a:gs>
                  <a:gs pos="100000">
                    <a:srgbClr val="000000"/>
                  </a:gs>
                </a:gsLst>
                <a:lin ang="10800000"/>
              </a:gra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29520" lIns="90000" rIns="90000" tIns="-2952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1" name="Oval 22"/>
              <p:cNvSpPr/>
              <p:nvPr/>
            </p:nvSpPr>
            <p:spPr>
              <a:xfrm>
                <a:off x="6645960" y="2424240"/>
                <a:ext cx="72000" cy="424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6560" lIns="90000" rIns="90000" tIns="-165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2" name="Oval 23"/>
              <p:cNvSpPr/>
              <p:nvPr/>
            </p:nvSpPr>
            <p:spPr>
              <a:xfrm>
                <a:off x="6726600" y="2424240"/>
                <a:ext cx="72000" cy="4248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6560" lIns="90000" rIns="90000" tIns="-165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3" name="Oval 24"/>
              <p:cNvSpPr/>
              <p:nvPr/>
            </p:nvSpPr>
            <p:spPr>
              <a:xfrm>
                <a:off x="6804720" y="2422800"/>
                <a:ext cx="72000" cy="424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-16560" lIns="90000" rIns="90000" tIns="-1656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4" name="Rectangle 111"/>
              <p:cNvSpPr/>
              <p:nvPr/>
            </p:nvSpPr>
            <p:spPr>
              <a:xfrm>
                <a:off x="6984720" y="2260800"/>
                <a:ext cx="37800" cy="227160"/>
              </a:xfrm>
              <a:prstGeom prst="rect">
                <a:avLst/>
              </a:prstGeom>
              <a:solidFill>
                <a:srgbClr val="292929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95" name="Line 29"/>
            <p:cNvSpPr/>
            <p:nvPr/>
          </p:nvSpPr>
          <p:spPr>
            <a:xfrm>
              <a:off x="7903440" y="2606760"/>
              <a:ext cx="1498680" cy="790560"/>
            </a:xfrm>
            <a:prstGeom prst="line">
              <a:avLst/>
            </a:prstGeom>
            <a:ln cap="sq" w="28440">
              <a:solidFill>
                <a:srgbClr val="CC0000"/>
              </a:solidFill>
              <a:miter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6800" lIns="90000" rIns="90000" tIns="46800">
              <a:noAutofit/>
            </a:bodyPr>
            <a:lstStyle/>
            <a:p>
              <a:endParaRPr b="0" lang="en-US" spc="-1" strike="noStrike" sz="2000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296" name="Group 55"/>
            <p:cNvGrpSpPr/>
            <p:nvPr/>
          </p:nvGrpSpPr>
          <p:grpSpPr>
            <a:xfrm>
              <a:off x="9452880" y="2986200"/>
              <a:ext cx="1079640" cy="1049400"/>
              <a:chOff x="9452880" y="2986200"/>
              <a:chExt cx="1079640" cy="1049400"/>
            </a:xfrm>
          </p:grpSpPr>
          <p:sp>
            <p:nvSpPr>
              <p:cNvPr id="1297" name="Rectangle 112"/>
              <p:cNvSpPr/>
              <p:nvPr/>
            </p:nvSpPr>
            <p:spPr>
              <a:xfrm>
                <a:off x="9452880" y="3026160"/>
                <a:ext cx="1079640" cy="1009440"/>
              </a:xfrm>
              <a:prstGeom prst="rect">
                <a:avLst/>
              </a:prstGeom>
              <a:solidFill>
                <a:srgbClr val="CCCCFF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8" name="Text Box 19"/>
              <p:cNvSpPr/>
              <p:nvPr/>
            </p:nvSpPr>
            <p:spPr>
              <a:xfrm>
                <a:off x="9597600" y="2986200"/>
                <a:ext cx="743040" cy="581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mail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server</a:t>
                </a:r>
              </a:p>
            </p:txBody>
          </p:sp>
          <p:sp>
            <p:nvSpPr>
              <p:cNvPr id="1299" name="Rectangle 113"/>
              <p:cNvSpPr/>
              <p:nvPr/>
            </p:nvSpPr>
            <p:spPr>
              <a:xfrm>
                <a:off x="9503640" y="3588120"/>
                <a:ext cx="952560" cy="190440"/>
              </a:xfrm>
              <a:prstGeom prst="rect">
                <a:avLst/>
              </a:prstGeom>
              <a:solidFill>
                <a:srgbClr val="00FF00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0" name="Line 40"/>
              <p:cNvSpPr/>
              <p:nvPr/>
            </p:nvSpPr>
            <p:spPr>
              <a:xfrm>
                <a:off x="9607320" y="3632400"/>
                <a:ext cx="0" cy="11448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1" name="Line 41"/>
              <p:cNvSpPr/>
              <p:nvPr/>
            </p:nvSpPr>
            <p:spPr>
              <a:xfrm>
                <a:off x="9838440" y="363096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2" name="Line 42"/>
              <p:cNvSpPr/>
              <p:nvPr/>
            </p:nvSpPr>
            <p:spPr>
              <a:xfrm>
                <a:off x="9954360" y="363420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3" name="Line 43"/>
              <p:cNvSpPr/>
              <p:nvPr/>
            </p:nvSpPr>
            <p:spPr>
              <a:xfrm>
                <a:off x="10075320" y="363096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4" name="Line 44"/>
              <p:cNvSpPr/>
              <p:nvPr/>
            </p:nvSpPr>
            <p:spPr>
              <a:xfrm>
                <a:off x="10204560" y="363096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5" name="Line 45"/>
              <p:cNvSpPr/>
              <p:nvPr/>
            </p:nvSpPr>
            <p:spPr>
              <a:xfrm>
                <a:off x="10323000" y="363096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6" name="Line 46"/>
              <p:cNvSpPr/>
              <p:nvPr/>
            </p:nvSpPr>
            <p:spPr>
              <a:xfrm>
                <a:off x="9719640" y="3632400"/>
                <a:ext cx="0" cy="11448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7" name="Rectangle 114"/>
              <p:cNvSpPr/>
              <p:nvPr/>
            </p:nvSpPr>
            <p:spPr>
              <a:xfrm>
                <a:off x="9520560" y="3853080"/>
                <a:ext cx="13572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8" name="Rectangle 115"/>
              <p:cNvSpPr/>
              <p:nvPr/>
            </p:nvSpPr>
            <p:spPr>
              <a:xfrm>
                <a:off x="9703080" y="3853080"/>
                <a:ext cx="13536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9" name="Rectangle 116"/>
              <p:cNvSpPr/>
              <p:nvPr/>
            </p:nvSpPr>
            <p:spPr>
              <a:xfrm>
                <a:off x="9884880" y="3851640"/>
                <a:ext cx="13536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0" name="Rectangle 117"/>
              <p:cNvSpPr/>
              <p:nvPr/>
            </p:nvSpPr>
            <p:spPr>
              <a:xfrm>
                <a:off x="10089720" y="3848400"/>
                <a:ext cx="13608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1" name="Rectangle 118"/>
              <p:cNvSpPr/>
              <p:nvPr/>
            </p:nvSpPr>
            <p:spPr>
              <a:xfrm>
                <a:off x="10293480" y="3848400"/>
                <a:ext cx="13536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312" name="Group 172"/>
            <p:cNvGrpSpPr/>
            <p:nvPr/>
          </p:nvGrpSpPr>
          <p:grpSpPr>
            <a:xfrm>
              <a:off x="6786000" y="4386240"/>
              <a:ext cx="1079640" cy="1049400"/>
              <a:chOff x="6786000" y="4386240"/>
              <a:chExt cx="1079640" cy="1049400"/>
            </a:xfrm>
          </p:grpSpPr>
          <p:sp>
            <p:nvSpPr>
              <p:cNvPr id="1313" name="Rectangle 119"/>
              <p:cNvSpPr/>
              <p:nvPr/>
            </p:nvSpPr>
            <p:spPr>
              <a:xfrm>
                <a:off x="6786000" y="4426200"/>
                <a:ext cx="1079640" cy="1009440"/>
              </a:xfrm>
              <a:prstGeom prst="rect">
                <a:avLst/>
              </a:prstGeom>
              <a:solidFill>
                <a:srgbClr val="CCCCFF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4" name="Text Box 20"/>
              <p:cNvSpPr/>
              <p:nvPr/>
            </p:nvSpPr>
            <p:spPr>
              <a:xfrm>
                <a:off x="6930720" y="4386240"/>
                <a:ext cx="743040" cy="581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mail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server</a:t>
                </a:r>
              </a:p>
            </p:txBody>
          </p:sp>
          <p:sp>
            <p:nvSpPr>
              <p:cNvPr id="1315" name="Rectangle 120"/>
              <p:cNvSpPr/>
              <p:nvPr/>
            </p:nvSpPr>
            <p:spPr>
              <a:xfrm>
                <a:off x="6836760" y="4988160"/>
                <a:ext cx="952560" cy="190440"/>
              </a:xfrm>
              <a:prstGeom prst="rect">
                <a:avLst/>
              </a:prstGeom>
              <a:solidFill>
                <a:srgbClr val="00FF00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6" name="Line 47"/>
              <p:cNvSpPr/>
              <p:nvPr/>
            </p:nvSpPr>
            <p:spPr>
              <a:xfrm>
                <a:off x="6940440" y="5032440"/>
                <a:ext cx="0" cy="11448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7" name="Line 48"/>
              <p:cNvSpPr/>
              <p:nvPr/>
            </p:nvSpPr>
            <p:spPr>
              <a:xfrm>
                <a:off x="7171560" y="503100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8" name="Line 49"/>
              <p:cNvSpPr/>
              <p:nvPr/>
            </p:nvSpPr>
            <p:spPr>
              <a:xfrm>
                <a:off x="7287480" y="503424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9" name="Line 50"/>
              <p:cNvSpPr/>
              <p:nvPr/>
            </p:nvSpPr>
            <p:spPr>
              <a:xfrm>
                <a:off x="7408440" y="503100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0" name="Line 51"/>
              <p:cNvSpPr/>
              <p:nvPr/>
            </p:nvSpPr>
            <p:spPr>
              <a:xfrm>
                <a:off x="7537680" y="503100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1" name="Line 52"/>
              <p:cNvSpPr/>
              <p:nvPr/>
            </p:nvSpPr>
            <p:spPr>
              <a:xfrm>
                <a:off x="7656120" y="503100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2" name="Line 53"/>
              <p:cNvSpPr/>
              <p:nvPr/>
            </p:nvSpPr>
            <p:spPr>
              <a:xfrm>
                <a:off x="7052760" y="5032440"/>
                <a:ext cx="0" cy="11448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3" name="Rectangle 121"/>
              <p:cNvSpPr/>
              <p:nvPr/>
            </p:nvSpPr>
            <p:spPr>
              <a:xfrm>
                <a:off x="6853680" y="5253120"/>
                <a:ext cx="13572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4" name="Rectangle 122"/>
              <p:cNvSpPr/>
              <p:nvPr/>
            </p:nvSpPr>
            <p:spPr>
              <a:xfrm>
                <a:off x="7036200" y="5253120"/>
                <a:ext cx="13536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5" name="Rectangle 123"/>
              <p:cNvSpPr/>
              <p:nvPr/>
            </p:nvSpPr>
            <p:spPr>
              <a:xfrm>
                <a:off x="7218000" y="5251680"/>
                <a:ext cx="13536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6" name="Rectangle 124"/>
              <p:cNvSpPr/>
              <p:nvPr/>
            </p:nvSpPr>
            <p:spPr>
              <a:xfrm>
                <a:off x="7422840" y="5248440"/>
                <a:ext cx="13608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7" name="Rectangle 125"/>
              <p:cNvSpPr/>
              <p:nvPr/>
            </p:nvSpPr>
            <p:spPr>
              <a:xfrm>
                <a:off x="7626600" y="5248440"/>
                <a:ext cx="13536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328" name="Group 173"/>
            <p:cNvGrpSpPr/>
            <p:nvPr/>
          </p:nvGrpSpPr>
          <p:grpSpPr>
            <a:xfrm>
              <a:off x="6786000" y="2138400"/>
              <a:ext cx="1079640" cy="1049400"/>
              <a:chOff x="6786000" y="2138400"/>
              <a:chExt cx="1079640" cy="1049400"/>
            </a:xfrm>
          </p:grpSpPr>
          <p:sp>
            <p:nvSpPr>
              <p:cNvPr id="1329" name="Rectangle 126"/>
              <p:cNvSpPr/>
              <p:nvPr/>
            </p:nvSpPr>
            <p:spPr>
              <a:xfrm>
                <a:off x="6786000" y="2178360"/>
                <a:ext cx="1079640" cy="1009440"/>
              </a:xfrm>
              <a:prstGeom prst="rect">
                <a:avLst/>
              </a:prstGeom>
              <a:solidFill>
                <a:srgbClr val="CCCCFF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0" name="Text Box 21"/>
              <p:cNvSpPr/>
              <p:nvPr/>
            </p:nvSpPr>
            <p:spPr>
              <a:xfrm>
                <a:off x="6930720" y="2138400"/>
                <a:ext cx="743040" cy="581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mail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server</a:t>
                </a:r>
              </a:p>
            </p:txBody>
          </p:sp>
          <p:sp>
            <p:nvSpPr>
              <p:cNvPr id="1331" name="Rectangle 127"/>
              <p:cNvSpPr/>
              <p:nvPr/>
            </p:nvSpPr>
            <p:spPr>
              <a:xfrm>
                <a:off x="6836760" y="2740320"/>
                <a:ext cx="952560" cy="190440"/>
              </a:xfrm>
              <a:prstGeom prst="rect">
                <a:avLst/>
              </a:prstGeom>
              <a:solidFill>
                <a:srgbClr val="00FF00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2" name="Line 54"/>
              <p:cNvSpPr/>
              <p:nvPr/>
            </p:nvSpPr>
            <p:spPr>
              <a:xfrm>
                <a:off x="6940440" y="2784600"/>
                <a:ext cx="0" cy="11448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3" name="Line 55"/>
              <p:cNvSpPr/>
              <p:nvPr/>
            </p:nvSpPr>
            <p:spPr>
              <a:xfrm>
                <a:off x="7171560" y="278316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4" name="Line 56"/>
              <p:cNvSpPr/>
              <p:nvPr/>
            </p:nvSpPr>
            <p:spPr>
              <a:xfrm>
                <a:off x="7287480" y="278640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5" name="Line 57"/>
              <p:cNvSpPr/>
              <p:nvPr/>
            </p:nvSpPr>
            <p:spPr>
              <a:xfrm>
                <a:off x="7408440" y="278316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6" name="Line 58"/>
              <p:cNvSpPr/>
              <p:nvPr/>
            </p:nvSpPr>
            <p:spPr>
              <a:xfrm>
                <a:off x="7537680" y="278316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7" name="Line 59"/>
              <p:cNvSpPr/>
              <p:nvPr/>
            </p:nvSpPr>
            <p:spPr>
              <a:xfrm>
                <a:off x="7656120" y="2783160"/>
                <a:ext cx="0" cy="11412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8" name="Line 60"/>
              <p:cNvSpPr/>
              <p:nvPr/>
            </p:nvSpPr>
            <p:spPr>
              <a:xfrm>
                <a:off x="7052760" y="2784600"/>
                <a:ext cx="0" cy="114480"/>
              </a:xfrm>
              <a:prstGeom prst="line">
                <a:avLst/>
              </a:prstGeom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9" name="Rectangle 128"/>
              <p:cNvSpPr/>
              <p:nvPr/>
            </p:nvSpPr>
            <p:spPr>
              <a:xfrm>
                <a:off x="6853680" y="3005280"/>
                <a:ext cx="13572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40" name="Rectangle 129"/>
              <p:cNvSpPr/>
              <p:nvPr/>
            </p:nvSpPr>
            <p:spPr>
              <a:xfrm>
                <a:off x="7036200" y="3005280"/>
                <a:ext cx="13536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41" name="Rectangle 130"/>
              <p:cNvSpPr/>
              <p:nvPr/>
            </p:nvSpPr>
            <p:spPr>
              <a:xfrm>
                <a:off x="7218000" y="3003840"/>
                <a:ext cx="13536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42" name="Rectangle 131"/>
              <p:cNvSpPr/>
              <p:nvPr/>
            </p:nvSpPr>
            <p:spPr>
              <a:xfrm>
                <a:off x="7422840" y="3000600"/>
                <a:ext cx="13608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43" name="Rectangle 132"/>
              <p:cNvSpPr/>
              <p:nvPr/>
            </p:nvSpPr>
            <p:spPr>
              <a:xfrm>
                <a:off x="7626600" y="3000600"/>
                <a:ext cx="135360" cy="147600"/>
              </a:xfrm>
              <a:prstGeom prst="rect">
                <a:avLst/>
              </a:prstGeom>
              <a:solidFill>
                <a:srgbClr val="FFFF00"/>
              </a:solidFill>
              <a:ln cap="sq" w="936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344" name="Line 61"/>
            <p:cNvSpPr/>
            <p:nvPr/>
          </p:nvSpPr>
          <p:spPr>
            <a:xfrm flipV="1">
              <a:off x="7903440" y="3730680"/>
              <a:ext cx="1498680" cy="1085760"/>
            </a:xfrm>
            <a:prstGeom prst="line">
              <a:avLst/>
            </a:prstGeom>
            <a:ln cap="sq" w="28440">
              <a:solidFill>
                <a:srgbClr val="CC0000"/>
              </a:solidFill>
              <a:miter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6800" lIns="90000" rIns="90000" tIns="46800">
              <a:noAutofit/>
            </a:bodyPr>
            <a:lstStyle/>
            <a:p>
              <a:endParaRPr b="0" lang="en-US" spc="-1" strike="noStrike" sz="20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5" name="Line 62"/>
            <p:cNvSpPr/>
            <p:nvPr/>
          </p:nvSpPr>
          <p:spPr>
            <a:xfrm flipV="1">
              <a:off x="6912720" y="3206880"/>
              <a:ext cx="0" cy="1247760"/>
            </a:xfrm>
            <a:prstGeom prst="line">
              <a:avLst/>
            </a:prstGeom>
            <a:ln cap="sq" w="28440">
              <a:solidFill>
                <a:srgbClr val="CC0000"/>
              </a:solidFill>
              <a:miter/>
              <a:headEnd len="med" type="triangle" w="med"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ctr" bIns="46800" lIns="90000" rIns="90000" tIns="46800">
              <a:noAutofit/>
            </a:bodyPr>
            <a:lstStyle/>
            <a:p>
              <a:endParaRPr b="0" lang="en-US" spc="-1" strike="noStrike" sz="2000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346" name="Group 174"/>
            <p:cNvGrpSpPr/>
            <p:nvPr/>
          </p:nvGrpSpPr>
          <p:grpSpPr>
            <a:xfrm>
              <a:off x="8144280" y="4024440"/>
              <a:ext cx="1142640" cy="459720"/>
              <a:chOff x="8144280" y="4024440"/>
              <a:chExt cx="1142640" cy="459720"/>
            </a:xfrm>
          </p:grpSpPr>
          <p:sp>
            <p:nvSpPr>
              <p:cNvPr id="1347" name="Rectangle 133"/>
              <p:cNvSpPr/>
              <p:nvPr/>
            </p:nvSpPr>
            <p:spPr>
              <a:xfrm>
                <a:off x="8144280" y="4092840"/>
                <a:ext cx="1142640" cy="30492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48" name="Text Box 22"/>
              <p:cNvSpPr/>
              <p:nvPr/>
            </p:nvSpPr>
            <p:spPr>
              <a:xfrm>
                <a:off x="8206920" y="4024440"/>
                <a:ext cx="1026720" cy="459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2400">
                    <a:solidFill>
                      <a:srgbClr val="CC0000"/>
                    </a:solidFill>
                    <a:latin typeface="Arial"/>
                  </a:rPr>
                  <a:t>SMTP</a:t>
                </a:r>
                <a:endParaRPr b="0" lang="en-US" spc="-1" strike="noStrike" sz="240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349" name="Group 175"/>
            <p:cNvGrpSpPr/>
            <p:nvPr/>
          </p:nvGrpSpPr>
          <p:grpSpPr>
            <a:xfrm>
              <a:off x="8093520" y="2766960"/>
              <a:ext cx="1142280" cy="459720"/>
              <a:chOff x="8093520" y="2766960"/>
              <a:chExt cx="1142280" cy="459720"/>
            </a:xfrm>
          </p:grpSpPr>
          <p:sp>
            <p:nvSpPr>
              <p:cNvPr id="1350" name="Rectangle 134"/>
              <p:cNvSpPr/>
              <p:nvPr/>
            </p:nvSpPr>
            <p:spPr>
              <a:xfrm>
                <a:off x="8093520" y="2835360"/>
                <a:ext cx="1142280" cy="30492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51" name="Text Box 23"/>
              <p:cNvSpPr/>
              <p:nvPr/>
            </p:nvSpPr>
            <p:spPr>
              <a:xfrm>
                <a:off x="8156160" y="2766960"/>
                <a:ext cx="1026720" cy="459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2400">
                    <a:solidFill>
                      <a:srgbClr val="CC0000"/>
                    </a:solidFill>
                    <a:latin typeface="Arial"/>
                  </a:rPr>
                  <a:t>SMTP</a:t>
                </a:r>
                <a:endParaRPr b="0" lang="en-US" spc="-1" strike="noStrike" sz="240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352" name="Group 176"/>
            <p:cNvGrpSpPr/>
            <p:nvPr/>
          </p:nvGrpSpPr>
          <p:grpSpPr>
            <a:xfrm>
              <a:off x="6328440" y="3481560"/>
              <a:ext cx="1143000" cy="459720"/>
              <a:chOff x="6328440" y="3481560"/>
              <a:chExt cx="1143000" cy="459720"/>
            </a:xfrm>
          </p:grpSpPr>
          <p:sp>
            <p:nvSpPr>
              <p:cNvPr id="1353" name="Rectangle 135"/>
              <p:cNvSpPr/>
              <p:nvPr/>
            </p:nvSpPr>
            <p:spPr>
              <a:xfrm>
                <a:off x="6328440" y="3549960"/>
                <a:ext cx="1143000" cy="30492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54" name="Text Box 24"/>
              <p:cNvSpPr/>
              <p:nvPr/>
            </p:nvSpPr>
            <p:spPr>
              <a:xfrm>
                <a:off x="6390720" y="3481560"/>
                <a:ext cx="1026720" cy="459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2400">
                    <a:solidFill>
                      <a:srgbClr val="CC0000"/>
                    </a:solidFill>
                    <a:latin typeface="Arial"/>
                  </a:rPr>
                  <a:t>SMTP</a:t>
                </a:r>
                <a:endParaRPr b="0" lang="en-US" spc="-1" strike="noStrike" sz="240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355" name="Group 177"/>
            <p:cNvGrpSpPr/>
            <p:nvPr/>
          </p:nvGrpSpPr>
          <p:grpSpPr>
            <a:xfrm>
              <a:off x="7621200" y="1406520"/>
              <a:ext cx="1186920" cy="1054080"/>
              <a:chOff x="7621200" y="1406520"/>
              <a:chExt cx="1186920" cy="1054080"/>
            </a:xfrm>
          </p:grpSpPr>
          <p:grpSp>
            <p:nvGrpSpPr>
              <p:cNvPr id="1356" name="Group 178"/>
              <p:cNvGrpSpPr/>
              <p:nvPr/>
            </p:nvGrpSpPr>
            <p:grpSpPr>
              <a:xfrm>
                <a:off x="7621200" y="1632240"/>
                <a:ext cx="1186920" cy="828360"/>
                <a:chOff x="7621200" y="1632240"/>
                <a:chExt cx="1186920" cy="828360"/>
              </a:xfrm>
            </p:grpSpPr>
            <p:pic>
              <p:nvPicPr>
                <p:cNvPr descr="desktop_computer_stylized_medium" id="1357" name="Picture 25"/>
                <p:cNvPicPr/>
                <p:nvPr/>
              </p:nvPicPr>
              <p:blipFill>
                <a:blip r:embed="rId3"/>
                <a:stretch/>
              </p:blipFill>
              <p:spPr>
                <a:xfrm flipH="1">
                  <a:off x="7621200" y="1632240"/>
                  <a:ext cx="1186920" cy="82836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1358" name="Freeform 49"/>
                <p:cNvSpPr/>
                <p:nvPr/>
              </p:nvSpPr>
              <p:spPr>
                <a:xfrm flipH="1">
                  <a:off x="8125200" y="1711440"/>
                  <a:ext cx="577080" cy="379080"/>
                </a:xfrm>
                <a:custGeom>
                  <a:avLst/>
                  <a:gdLst>
                    <a:gd fmla="*/ -360 w 577080" name="textAreaLeft"/>
                    <a:gd fmla="*/ 577080 w 577080" name="textAreaRight"/>
                    <a:gd fmla="*/ 0 h 379080" name="textAreaTop"/>
                    <a:gd fmla="*/ 379440 h 379080" name="textAreaBottom"/>
                  </a:gdLst>
                  <a:ahLst/>
                  <a:cxnLst/>
                  <a:rect b="textAreaBottom" l="textAreaLeft" r="textAreaRight" t="textAreaTop"/>
                  <a:pathLst>
                    <a:path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0" lIns="90000" rIns="90000" tIns="4680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359" name="Rectangle 136"/>
              <p:cNvSpPr/>
              <p:nvPr/>
            </p:nvSpPr>
            <p:spPr>
              <a:xfrm>
                <a:off x="7670520" y="1447920"/>
                <a:ext cx="806040" cy="523800"/>
              </a:xfrm>
              <a:prstGeom prst="rect">
                <a:avLst/>
              </a:prstGeom>
              <a:solidFill>
                <a:srgbClr val="CCCCFF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60" name="Text Box 25"/>
              <p:cNvSpPr/>
              <p:nvPr/>
            </p:nvSpPr>
            <p:spPr>
              <a:xfrm>
                <a:off x="7710120" y="1406520"/>
                <a:ext cx="686520" cy="581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user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agent</a:t>
                </a:r>
              </a:p>
            </p:txBody>
          </p:sp>
        </p:grpSp>
        <p:grpSp>
          <p:nvGrpSpPr>
            <p:cNvPr id="1361" name="Group 179"/>
            <p:cNvGrpSpPr/>
            <p:nvPr/>
          </p:nvGrpSpPr>
          <p:grpSpPr>
            <a:xfrm>
              <a:off x="10337400" y="2222640"/>
              <a:ext cx="1187640" cy="1054080"/>
              <a:chOff x="10337400" y="2222640"/>
              <a:chExt cx="1187640" cy="1054080"/>
            </a:xfrm>
          </p:grpSpPr>
          <p:grpSp>
            <p:nvGrpSpPr>
              <p:cNvPr id="1362" name="Group 180"/>
              <p:cNvGrpSpPr/>
              <p:nvPr/>
            </p:nvGrpSpPr>
            <p:grpSpPr>
              <a:xfrm>
                <a:off x="10337400" y="2448360"/>
                <a:ext cx="1187640" cy="828360"/>
                <a:chOff x="10337400" y="2448360"/>
                <a:chExt cx="1187640" cy="828360"/>
              </a:xfrm>
            </p:grpSpPr>
            <p:pic>
              <p:nvPicPr>
                <p:cNvPr descr="desktop_computer_stylized_medium" id="1363" name="Picture 76"/>
                <p:cNvPicPr/>
                <p:nvPr/>
              </p:nvPicPr>
              <p:blipFill>
                <a:blip r:embed="rId3"/>
                <a:stretch/>
              </p:blipFill>
              <p:spPr>
                <a:xfrm flipH="1">
                  <a:off x="10337400" y="2448360"/>
                  <a:ext cx="1187640" cy="82836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1364" name="Freeform 50"/>
                <p:cNvSpPr/>
                <p:nvPr/>
              </p:nvSpPr>
              <p:spPr>
                <a:xfrm flipH="1">
                  <a:off x="10842840" y="2527560"/>
                  <a:ext cx="577440" cy="379080"/>
                </a:xfrm>
                <a:custGeom>
                  <a:avLst/>
                  <a:gdLst>
                    <a:gd fmla="*/ 360 w 577440" name="textAreaLeft"/>
                    <a:gd fmla="*/ 578160 w 577440" name="textAreaRight"/>
                    <a:gd fmla="*/ 0 h 379080" name="textAreaTop"/>
                    <a:gd fmla="*/ 379440 h 379080" name="textAreaBottom"/>
                  </a:gdLst>
                  <a:ahLst/>
                  <a:cxnLst/>
                  <a:rect b="textAreaBottom" l="textAreaLeft" r="textAreaRight" t="textAreaTop"/>
                  <a:pathLst>
                    <a:path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0" lIns="90000" rIns="90000" tIns="4680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365" name="Rectangle 137"/>
              <p:cNvSpPr/>
              <p:nvPr/>
            </p:nvSpPr>
            <p:spPr>
              <a:xfrm>
                <a:off x="10386360" y="2264040"/>
                <a:ext cx="806400" cy="523800"/>
              </a:xfrm>
              <a:prstGeom prst="rect">
                <a:avLst/>
              </a:prstGeom>
              <a:solidFill>
                <a:srgbClr val="CCCCFF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66" name="Text Box 26"/>
              <p:cNvSpPr/>
              <p:nvPr/>
            </p:nvSpPr>
            <p:spPr>
              <a:xfrm>
                <a:off x="10425600" y="2222640"/>
                <a:ext cx="686520" cy="581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user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agent</a:t>
                </a:r>
              </a:p>
            </p:txBody>
          </p:sp>
        </p:grpSp>
        <p:grpSp>
          <p:nvGrpSpPr>
            <p:cNvPr id="1367" name="Group 181"/>
            <p:cNvGrpSpPr/>
            <p:nvPr/>
          </p:nvGrpSpPr>
          <p:grpSpPr>
            <a:xfrm>
              <a:off x="10786320" y="2984400"/>
              <a:ext cx="1187640" cy="1054080"/>
              <a:chOff x="10786320" y="2984400"/>
              <a:chExt cx="1187640" cy="1054080"/>
            </a:xfrm>
          </p:grpSpPr>
          <p:grpSp>
            <p:nvGrpSpPr>
              <p:cNvPr id="1368" name="Group 182"/>
              <p:cNvGrpSpPr/>
              <p:nvPr/>
            </p:nvGrpSpPr>
            <p:grpSpPr>
              <a:xfrm>
                <a:off x="10786320" y="3210120"/>
                <a:ext cx="1187640" cy="828360"/>
                <a:chOff x="10786320" y="3210120"/>
                <a:chExt cx="1187640" cy="828360"/>
              </a:xfrm>
            </p:grpSpPr>
            <p:pic>
              <p:nvPicPr>
                <p:cNvPr descr="desktop_computer_stylized_medium" id="1369" name="Picture 77"/>
                <p:cNvPicPr/>
                <p:nvPr/>
              </p:nvPicPr>
              <p:blipFill>
                <a:blip r:embed="rId3"/>
                <a:stretch/>
              </p:blipFill>
              <p:spPr>
                <a:xfrm flipH="1">
                  <a:off x="10786320" y="3210120"/>
                  <a:ext cx="1187640" cy="82836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1370" name="Freeform 51"/>
                <p:cNvSpPr/>
                <p:nvPr/>
              </p:nvSpPr>
              <p:spPr>
                <a:xfrm flipH="1">
                  <a:off x="11291760" y="3289320"/>
                  <a:ext cx="577440" cy="379080"/>
                </a:xfrm>
                <a:custGeom>
                  <a:avLst/>
                  <a:gdLst>
                    <a:gd fmla="*/ 360 w 577440" name="textAreaLeft"/>
                    <a:gd fmla="*/ 578160 w 577440" name="textAreaRight"/>
                    <a:gd fmla="*/ 0 h 379080" name="textAreaTop"/>
                    <a:gd fmla="*/ 379440 h 379080" name="textAreaBottom"/>
                  </a:gdLst>
                  <a:ahLst/>
                  <a:cxnLst/>
                  <a:rect b="textAreaBottom" l="textAreaLeft" r="textAreaRight" t="textAreaTop"/>
                  <a:pathLst>
                    <a:path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0" lIns="90000" rIns="90000" tIns="4680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371" name="Rectangle 138"/>
              <p:cNvSpPr/>
              <p:nvPr/>
            </p:nvSpPr>
            <p:spPr>
              <a:xfrm>
                <a:off x="10835280" y="3025800"/>
                <a:ext cx="806400" cy="523800"/>
              </a:xfrm>
              <a:prstGeom prst="rect">
                <a:avLst/>
              </a:prstGeom>
              <a:solidFill>
                <a:srgbClr val="CCCCFF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2" name="Text Box 27"/>
              <p:cNvSpPr/>
              <p:nvPr/>
            </p:nvSpPr>
            <p:spPr>
              <a:xfrm>
                <a:off x="10874160" y="2984400"/>
                <a:ext cx="686520" cy="581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user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agent</a:t>
                </a:r>
              </a:p>
            </p:txBody>
          </p:sp>
        </p:grpSp>
        <p:grpSp>
          <p:nvGrpSpPr>
            <p:cNvPr id="1373" name="Group 183"/>
            <p:cNvGrpSpPr/>
            <p:nvPr/>
          </p:nvGrpSpPr>
          <p:grpSpPr>
            <a:xfrm>
              <a:off x="10610640" y="4032360"/>
              <a:ext cx="1187640" cy="1054080"/>
              <a:chOff x="10610640" y="4032360"/>
              <a:chExt cx="1187640" cy="1054080"/>
            </a:xfrm>
          </p:grpSpPr>
          <p:grpSp>
            <p:nvGrpSpPr>
              <p:cNvPr id="1374" name="Group 184"/>
              <p:cNvGrpSpPr/>
              <p:nvPr/>
            </p:nvGrpSpPr>
            <p:grpSpPr>
              <a:xfrm>
                <a:off x="10610640" y="4258080"/>
                <a:ext cx="1187640" cy="828360"/>
                <a:chOff x="10610640" y="4258080"/>
                <a:chExt cx="1187640" cy="828360"/>
              </a:xfrm>
            </p:grpSpPr>
            <p:pic>
              <p:nvPicPr>
                <p:cNvPr descr="desktop_computer_stylized_medium" id="1375" name="Picture 78"/>
                <p:cNvPicPr/>
                <p:nvPr/>
              </p:nvPicPr>
              <p:blipFill>
                <a:blip r:embed="rId3"/>
                <a:stretch/>
              </p:blipFill>
              <p:spPr>
                <a:xfrm flipH="1">
                  <a:off x="10610640" y="4258080"/>
                  <a:ext cx="1187640" cy="82836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1376" name="Freeform 52"/>
                <p:cNvSpPr/>
                <p:nvPr/>
              </p:nvSpPr>
              <p:spPr>
                <a:xfrm flipH="1">
                  <a:off x="11116080" y="4337280"/>
                  <a:ext cx="577440" cy="379080"/>
                </a:xfrm>
                <a:custGeom>
                  <a:avLst/>
                  <a:gdLst>
                    <a:gd fmla="*/ 360 w 577440" name="textAreaLeft"/>
                    <a:gd fmla="*/ 578160 w 577440" name="textAreaRight"/>
                    <a:gd fmla="*/ 0 h 379080" name="textAreaTop"/>
                    <a:gd fmla="*/ 379440 h 379080" name="textAreaBottom"/>
                  </a:gdLst>
                  <a:ahLst/>
                  <a:cxnLst/>
                  <a:rect b="textAreaBottom" l="textAreaLeft" r="textAreaRight" t="textAreaTop"/>
                  <a:pathLst>
                    <a:path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0" lIns="90000" rIns="90000" tIns="4680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377" name="Rectangle 139"/>
              <p:cNvSpPr/>
              <p:nvPr/>
            </p:nvSpPr>
            <p:spPr>
              <a:xfrm>
                <a:off x="10659600" y="4073760"/>
                <a:ext cx="806400" cy="523800"/>
              </a:xfrm>
              <a:prstGeom prst="rect">
                <a:avLst/>
              </a:prstGeom>
              <a:solidFill>
                <a:srgbClr val="CCCCFF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8" name="Text Box 28"/>
              <p:cNvSpPr/>
              <p:nvPr/>
            </p:nvSpPr>
            <p:spPr>
              <a:xfrm>
                <a:off x="10698480" y="4032360"/>
                <a:ext cx="686520" cy="581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user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agent</a:t>
                </a:r>
              </a:p>
            </p:txBody>
          </p:sp>
        </p:grpSp>
        <p:grpSp>
          <p:nvGrpSpPr>
            <p:cNvPr id="1379" name="Group 185"/>
            <p:cNvGrpSpPr/>
            <p:nvPr/>
          </p:nvGrpSpPr>
          <p:grpSpPr>
            <a:xfrm>
              <a:off x="7128720" y="5470560"/>
              <a:ext cx="1187640" cy="1054080"/>
              <a:chOff x="7128720" y="5470560"/>
              <a:chExt cx="1187640" cy="1054080"/>
            </a:xfrm>
          </p:grpSpPr>
          <p:grpSp>
            <p:nvGrpSpPr>
              <p:cNvPr id="1380" name="Group 186"/>
              <p:cNvGrpSpPr/>
              <p:nvPr/>
            </p:nvGrpSpPr>
            <p:grpSpPr>
              <a:xfrm>
                <a:off x="7128720" y="5696280"/>
                <a:ext cx="1187640" cy="828360"/>
                <a:chOff x="7128720" y="5696280"/>
                <a:chExt cx="1187640" cy="828360"/>
              </a:xfrm>
            </p:grpSpPr>
            <p:pic>
              <p:nvPicPr>
                <p:cNvPr descr="desktop_computer_stylized_medium" id="1381" name="Picture 79"/>
                <p:cNvPicPr/>
                <p:nvPr/>
              </p:nvPicPr>
              <p:blipFill>
                <a:blip r:embed="rId3"/>
                <a:stretch/>
              </p:blipFill>
              <p:spPr>
                <a:xfrm flipH="1">
                  <a:off x="7128720" y="5696280"/>
                  <a:ext cx="1187640" cy="82836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1382" name="Freeform 53"/>
                <p:cNvSpPr/>
                <p:nvPr/>
              </p:nvSpPr>
              <p:spPr>
                <a:xfrm flipH="1">
                  <a:off x="7634160" y="5775480"/>
                  <a:ext cx="577440" cy="379080"/>
                </a:xfrm>
                <a:custGeom>
                  <a:avLst/>
                  <a:gdLst>
                    <a:gd fmla="*/ 360 w 577440" name="textAreaLeft"/>
                    <a:gd fmla="*/ 578160 w 577440" name="textAreaRight"/>
                    <a:gd fmla="*/ 0 h 379080" name="textAreaTop"/>
                    <a:gd fmla="*/ 379440 h 379080" name="textAreaBottom"/>
                  </a:gdLst>
                  <a:ahLst/>
                  <a:cxnLst/>
                  <a:rect b="textAreaBottom" l="textAreaLeft" r="textAreaRight" t="textAreaTop"/>
                  <a:pathLst>
                    <a:path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0" lIns="90000" rIns="90000" tIns="4680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383" name="Rectangle 140"/>
              <p:cNvSpPr/>
              <p:nvPr/>
            </p:nvSpPr>
            <p:spPr>
              <a:xfrm>
                <a:off x="7177680" y="5511960"/>
                <a:ext cx="806400" cy="523800"/>
              </a:xfrm>
              <a:prstGeom prst="rect">
                <a:avLst/>
              </a:prstGeom>
              <a:solidFill>
                <a:srgbClr val="CCCCFF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84" name="Text Box 29"/>
              <p:cNvSpPr/>
              <p:nvPr/>
            </p:nvSpPr>
            <p:spPr>
              <a:xfrm>
                <a:off x="7216560" y="5470560"/>
                <a:ext cx="686520" cy="581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user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agent</a:t>
                </a:r>
              </a:p>
            </p:txBody>
          </p:sp>
        </p:grpSp>
        <p:grpSp>
          <p:nvGrpSpPr>
            <p:cNvPr id="1385" name="Group 187"/>
            <p:cNvGrpSpPr/>
            <p:nvPr/>
          </p:nvGrpSpPr>
          <p:grpSpPr>
            <a:xfrm>
              <a:off x="8100360" y="4851360"/>
              <a:ext cx="1187280" cy="1054080"/>
              <a:chOff x="8100360" y="4851360"/>
              <a:chExt cx="1187280" cy="1054080"/>
            </a:xfrm>
          </p:grpSpPr>
          <p:grpSp>
            <p:nvGrpSpPr>
              <p:cNvPr id="1386" name="Group 188"/>
              <p:cNvGrpSpPr/>
              <p:nvPr/>
            </p:nvGrpSpPr>
            <p:grpSpPr>
              <a:xfrm>
                <a:off x="8100360" y="5077080"/>
                <a:ext cx="1187280" cy="828360"/>
                <a:chOff x="8100360" y="5077080"/>
                <a:chExt cx="1187280" cy="828360"/>
              </a:xfrm>
            </p:grpSpPr>
            <p:pic>
              <p:nvPicPr>
                <p:cNvPr descr="desktop_computer_stylized_medium" id="1387" name="Picture 80"/>
                <p:cNvPicPr/>
                <p:nvPr/>
              </p:nvPicPr>
              <p:blipFill>
                <a:blip r:embed="rId3"/>
                <a:stretch/>
              </p:blipFill>
              <p:spPr>
                <a:xfrm flipH="1">
                  <a:off x="8100360" y="5077080"/>
                  <a:ext cx="1187280" cy="82836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1388" name="Freeform 54"/>
                <p:cNvSpPr/>
                <p:nvPr/>
              </p:nvSpPr>
              <p:spPr>
                <a:xfrm flipH="1">
                  <a:off x="8605800" y="5156280"/>
                  <a:ext cx="577440" cy="379080"/>
                </a:xfrm>
                <a:custGeom>
                  <a:avLst/>
                  <a:gdLst>
                    <a:gd fmla="*/ 360 w 577440" name="textAreaLeft"/>
                    <a:gd fmla="*/ 578160 w 577440" name="textAreaRight"/>
                    <a:gd fmla="*/ 0 h 379080" name="textAreaTop"/>
                    <a:gd fmla="*/ 379440 h 379080" name="textAreaBottom"/>
                  </a:gdLst>
                  <a:ahLst/>
                  <a:cxnLst/>
                  <a:rect b="textAreaBottom" l="textAreaLeft" r="textAreaRight" t="textAreaTop"/>
                  <a:pathLst>
                    <a:path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000099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b="0" g="0" r="0"/>
                </a:lnRef>
                <a:fillRef idx="0">
                  <a:scrgbClr b="0" g="0" r="0"/>
                </a:fillRef>
                <a:effectRef idx="0">
                  <a:scrgbClr b="0" g="0" r="0"/>
                </a:effectRef>
                <a:fontRef idx="minor"/>
              </p:style>
              <p:txBody>
                <a:bodyPr anchor="t" bIns="46800" lIns="90000" rIns="90000" tIns="46800" wrap="none">
                  <a:noAutofit/>
                </a:bodyPr>
                <a:lstStyle/>
                <a:p>
                  <a:endParaRPr b="0" lang="en-US" spc="-1" strike="noStrike" sz="200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389" name="Rectangle 141"/>
              <p:cNvSpPr/>
              <p:nvPr/>
            </p:nvSpPr>
            <p:spPr>
              <a:xfrm>
                <a:off x="8149320" y="4892760"/>
                <a:ext cx="806400" cy="523800"/>
              </a:xfrm>
              <a:prstGeom prst="rect">
                <a:avLst/>
              </a:prstGeom>
              <a:solidFill>
                <a:srgbClr val="CCCCFF"/>
              </a:solidFill>
              <a:ln cap="sq" w="19080">
                <a:solidFill>
                  <a:srgbClr val="000000"/>
                </a:solidFill>
                <a:miter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ctr" bIns="46800" lIns="90000" rIns="90000" tIns="46800" wrap="none">
                <a:noAutofit/>
              </a:bodyPr>
              <a:lstStyle/>
              <a:p>
                <a:endParaRPr b="0" lang="en-US" spc="-1" strike="noStrike" sz="200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90" name="Text Box 30"/>
              <p:cNvSpPr/>
              <p:nvPr/>
            </p:nvSpPr>
            <p:spPr>
              <a:xfrm>
                <a:off x="8188200" y="4851360"/>
                <a:ext cx="686520" cy="581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b="0" g="0" r="0"/>
              </a:lnRef>
              <a:fillRef idx="0">
                <a:scrgbClr b="0" g="0" r="0"/>
              </a:fillRef>
              <a:effectRef idx="0">
                <a:scrgbClr b="0" g="0" r="0"/>
              </a:effectRef>
              <a:fontRef idx="minor"/>
            </p:style>
            <p:txBody>
              <a:bodyPr anchor="t" bIns="46800" lIns="90000" rIns="90000" tIns="46800" wrap="none">
                <a:spAutoFit/>
              </a:bodyPr>
              <a:lstStyle/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user</a:t>
                </a: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pc="-1" strike="noStrike" sz="1600">
                    <a:solidFill>
                      <a:srgbClr val="000000"/>
                    </a:solidFill>
                    <a:latin typeface="Arial"/>
                  </a:rPr>
                  <a:t>agent</a:t>
                </a:r>
              </a:p>
            </p:txBody>
          </p:sp>
        </p:grpSp>
      </p:grpSp>
      <p:sp>
        <p:nvSpPr>
          <p:cNvPr id="1391" name="Title 40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title"/>
          </p:nvPr>
        </p:nvSpPr>
        <p:spPr>
          <a:xfrm>
            <a:off x="711360" y="301680"/>
            <a:ext cx="10363320" cy="91440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/>
          <a:p>
            <a:pPr indent="0" marL="216000">
              <a:buNone/>
            </a:pPr>
            <a:r>
              <a:rPr b="0" dirty="0" lang="en-US" spc="-1" strike="noStrike" sz="4000">
                <a:solidFill>
                  <a:srgbClr val="000000"/>
                </a:solidFill>
                <a:latin typeface="Cantarell"/>
              </a:rPr>
              <a:t>DNS – IP to Name</a:t>
            </a:r>
          </a:p>
        </p:txBody>
      </p:sp>
      <p:sp>
        <p:nvSpPr>
          <p:cNvPr id="1393" name="TextBox 1392"/>
          <p:cNvSpPr txBox="1"/>
          <p:nvPr/>
        </p:nvSpPr>
        <p:spPr>
          <a:xfrm>
            <a:off x="948600" y="1809360"/>
            <a:ext cx="11670120" cy="456444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People: Good with names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Machines: Good with numbers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Ask a person to remember 100s of Ips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	- May not work well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DNS maps IP addresses to human readable names.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394" name="Title 41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Title 42"/>
          <p:cNvSpPr>
            <a:spLocks noGrp="1"/>
          </p:cNvSpPr>
          <p:nvPr>
            <p:ph idx="4294967295" type="title"/>
          </p:nvPr>
        </p:nvSpPr>
        <p:spPr>
          <a:xfrm>
            <a:off x="921600" y="634320"/>
            <a:ext cx="10347120" cy="656280"/>
          </a:xfrm>
          <a:prstGeom prst="rect">
            <a:avLst/>
          </a:prstGeom>
          <a:noFill/>
          <a:ln w="0">
            <a:noFill/>
            <a:prstDash/>
          </a:ln>
          <a:effectLst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minor"/>
        </p:style>
        <p:txBody>
          <a:bodyPr anchor="b" anchorCtr="0" bIns="91440" compatLnSpc="1" forceAA="0" fromWordArt="0" horzOverflow="overflow" lIns="90000" numCol="1" rIns="90000" rot="0" rtlCol="0" spcCol="0" spcFirstLastPara="0" tIns="91440" vert="horz" vertOverflow="overflow" wrap="square">
            <a:prstTxWarp prst="textNoShape">
              <a:avLst/>
            </a:prstTxWarp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baseline="0" cap="none" dirty="0" i="0" kern="1200" kumimoji="0" lang="en-US" noProof="0" normalizeH="0" spc="-1" strike="noStrike" sz="3400" u="none">
                <a:ln>
                  <a:noFill/>
                </a:ln>
                <a:solidFill>
                  <a:srgbClr val="454F5B"/>
                </a:solidFill>
                <a:effectLst/>
                <a:uLnTx/>
                <a:uFillTx/>
                <a:latin typeface="Montserrat"/>
                <a:ea typeface="Montserrat"/>
                <a:cs typeface="+mn-cs"/>
              </a:rPr>
              <a:t>IP Based Communication</a:t>
            </a:r>
            <a:endParaRPr b="0" baseline="0" cap="none" dirty="0" i="0" kern="1200" kumimoji="0" lang="en-US" noProof="0" normalizeH="0" spc="-1" strike="noStrike" sz="34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descr="ip based communication" id="2" name="Group 1">
            <a:extLst>
              <a:ext uri="{FF2B5EF4-FFF2-40B4-BE49-F238E27FC236}">
                <a16:creationId xmlns:a16="http://schemas.microsoft.com/office/drawing/2014/main" id="{0112437E-7233-674E-CA42-58984BE96E11}"/>
              </a:ext>
            </a:extLst>
          </p:cNvPr>
          <p:cNvGrpSpPr/>
          <p:nvPr/>
        </p:nvGrpSpPr>
        <p:grpSpPr>
          <a:xfrm>
            <a:off x="938160" y="1760040"/>
            <a:ext cx="10598400" cy="3837600"/>
            <a:chOff x="938160" y="1760040"/>
            <a:chExt cx="10598400" cy="3837600"/>
          </a:xfrm>
        </p:grpSpPr>
        <p:pic>
          <p:nvPicPr>
            <p:cNvPr id="1396" name="Picture 81"/>
            <p:cNvPicPr/>
            <p:nvPr/>
          </p:nvPicPr>
          <p:blipFill>
            <a:blip r:embed="rId3"/>
            <a:stretch/>
          </p:blipFill>
          <p:spPr>
            <a:xfrm>
              <a:off x="3618000" y="3362760"/>
              <a:ext cx="1375920" cy="882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97" name="Picture 82"/>
            <p:cNvPicPr/>
            <p:nvPr/>
          </p:nvPicPr>
          <p:blipFill>
            <a:blip r:embed="rId4"/>
            <a:stretch/>
          </p:blipFill>
          <p:spPr>
            <a:xfrm>
              <a:off x="997560" y="2097720"/>
              <a:ext cx="1503000" cy="1497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98" name="Picture 83"/>
            <p:cNvPicPr/>
            <p:nvPr/>
          </p:nvPicPr>
          <p:blipFill>
            <a:blip r:embed="rId4"/>
            <a:stretch/>
          </p:blipFill>
          <p:spPr>
            <a:xfrm>
              <a:off x="938160" y="4100040"/>
              <a:ext cx="1503000" cy="1497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99" name="Picture 84"/>
            <p:cNvPicPr/>
            <p:nvPr/>
          </p:nvPicPr>
          <p:blipFill>
            <a:blip r:embed="rId5"/>
            <a:stretch/>
          </p:blipFill>
          <p:spPr>
            <a:xfrm>
              <a:off x="8778240" y="2181960"/>
              <a:ext cx="906480" cy="1110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00" name="Picture 85"/>
            <p:cNvPicPr/>
            <p:nvPr/>
          </p:nvPicPr>
          <p:blipFill>
            <a:blip r:embed="rId5"/>
            <a:stretch/>
          </p:blipFill>
          <p:spPr>
            <a:xfrm>
              <a:off x="8670240" y="4462200"/>
              <a:ext cx="860040" cy="1053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01" name="Picture 86"/>
            <p:cNvPicPr/>
            <p:nvPr/>
          </p:nvPicPr>
          <p:blipFill>
            <a:blip r:embed="rId3"/>
            <a:stretch/>
          </p:blipFill>
          <p:spPr>
            <a:xfrm>
              <a:off x="6123240" y="3362760"/>
              <a:ext cx="1371240" cy="879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02" name="CustomShape 38"/>
            <p:cNvSpPr/>
            <p:nvPr/>
          </p:nvSpPr>
          <p:spPr>
            <a:xfrm>
              <a:off x="2467800" y="2651760"/>
              <a:ext cx="1328400" cy="941760"/>
            </a:xfrm>
            <a:custGeom>
              <a:avLst/>
              <a:gdLst>
                <a:gd fmla="*/ 0 w 1328400" name="textAreaLeft"/>
                <a:gd fmla="*/ 1328760 w 1328400" name="textAreaRight"/>
                <a:gd fmla="*/ 0 h 941760" name="textAreaTop"/>
                <a:gd fmla="*/ 942120 h 941760" name="textAreaBottom"/>
              </a:gdLst>
              <a:ahLst/>
              <a:cxnLst/>
              <a:rect b="textAreaBottom" l="textAreaLeft" r="textAreaRight" t="textAreaTop"/>
              <a:pathLst>
                <a:path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440">
              <a:solidFill>
                <a:srgbClr val="3A81BA"/>
              </a:solidFill>
              <a:round/>
            </a:ln>
            <a:effectLst>
              <a:outerShdw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3" name="CustomShape 39"/>
            <p:cNvSpPr/>
            <p:nvPr/>
          </p:nvSpPr>
          <p:spPr>
            <a:xfrm flipV="1">
              <a:off x="2406960" y="3882600"/>
              <a:ext cx="1389240" cy="773280"/>
            </a:xfrm>
            <a:custGeom>
              <a:avLst/>
              <a:gdLst>
                <a:gd fmla="*/ 0 w 1389240" name="textAreaLeft"/>
                <a:gd fmla="*/ 1389600 w 1389240" name="textAreaRight"/>
                <a:gd fmla="*/ 360 h 773280" name="textAreaTop"/>
                <a:gd fmla="*/ 774000 h 773280" name="textAreaBottom"/>
              </a:gdLst>
              <a:ahLst/>
              <a:cxnLst/>
              <a:rect b="textAreaBottom" l="textAreaLeft" r="textAreaRight" t="textAreaTop"/>
              <a:pathLst>
                <a:path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440">
              <a:solidFill>
                <a:srgbClr val="3A81BA"/>
              </a:solidFill>
              <a:round/>
            </a:ln>
            <a:effectLst>
              <a:outerShdw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4" name="CustomShape 40"/>
            <p:cNvSpPr/>
            <p:nvPr/>
          </p:nvSpPr>
          <p:spPr>
            <a:xfrm flipV="1">
              <a:off x="4746600" y="3597840"/>
              <a:ext cx="1544400" cy="8280"/>
            </a:xfrm>
            <a:custGeom>
              <a:avLst/>
              <a:gdLst>
                <a:gd fmla="*/ 0 w 1544400" name="textAreaLeft"/>
                <a:gd fmla="*/ 1544760 w 1544400" name="textAreaRight"/>
                <a:gd fmla="*/ -360 h 8280" name="textAreaTop"/>
                <a:gd fmla="*/ 8280 h 8280" name="textAreaBottom"/>
              </a:gdLst>
              <a:ahLst/>
              <a:cxnLst/>
              <a:rect b="textAreaBottom" l="textAreaLeft" r="textAreaRight" t="textAreaTop"/>
              <a:pathLst>
                <a:path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440">
              <a:solidFill>
                <a:srgbClr val="3A81BA"/>
              </a:solidFill>
              <a:round/>
            </a:ln>
            <a:effectLst>
              <a:outerShdw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36360" lIns="90000" rIns="90000" tIns="-3636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5" name="CustomShape 41"/>
            <p:cNvSpPr/>
            <p:nvPr/>
          </p:nvSpPr>
          <p:spPr>
            <a:xfrm flipV="1">
              <a:off x="7363800" y="2784600"/>
              <a:ext cx="1375560" cy="738000"/>
            </a:xfrm>
            <a:custGeom>
              <a:avLst/>
              <a:gdLst>
                <a:gd fmla="*/ 0 w 1375560" name="textAreaLeft"/>
                <a:gd fmla="*/ 1375920 w 1375560" name="textAreaRight"/>
                <a:gd fmla="*/ 360 h 738000" name="textAreaTop"/>
                <a:gd fmla="*/ 738720 h 738000" name="textAreaBottom"/>
              </a:gdLst>
              <a:ahLst/>
              <a:cxnLst/>
              <a:rect b="textAreaBottom" l="textAreaLeft" r="textAreaRight" t="textAreaTop"/>
              <a:pathLst>
                <a:path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440">
              <a:solidFill>
                <a:srgbClr val="3A81BA"/>
              </a:solidFill>
              <a:round/>
            </a:ln>
            <a:effectLst>
              <a:outerShdw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6" name="CustomShape 42"/>
            <p:cNvSpPr/>
            <p:nvPr/>
          </p:nvSpPr>
          <p:spPr>
            <a:xfrm>
              <a:off x="7363800" y="3762360"/>
              <a:ext cx="1302840" cy="958680"/>
            </a:xfrm>
            <a:custGeom>
              <a:avLst/>
              <a:gdLst>
                <a:gd fmla="*/ 0 w 1302840" name="textAreaLeft"/>
                <a:gd fmla="*/ 1303200 w 1302840" name="textAreaRight"/>
                <a:gd fmla="*/ 0 h 958680" name="textAreaTop"/>
                <a:gd fmla="*/ 959040 h 958680" name="textAreaBottom"/>
              </a:gdLst>
              <a:ahLst/>
              <a:cxnLst/>
              <a:rect b="textAreaBottom" l="textAreaLeft" r="textAreaRight" t="textAreaTop"/>
              <a:pathLst>
                <a:path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440">
              <a:solidFill>
                <a:srgbClr val="3A81BA"/>
              </a:solidFill>
              <a:round/>
            </a:ln>
            <a:effectLst>
              <a:outerShdw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7" name="CustomShape 43"/>
            <p:cNvSpPr/>
            <p:nvPr/>
          </p:nvSpPr>
          <p:spPr>
            <a:xfrm>
              <a:off x="10026360" y="1760040"/>
              <a:ext cx="1510200" cy="91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 wrap="none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b="0" lang="en-US" spc="-1" strike="noStrike" sz="1400">
                  <a:solidFill>
                    <a:srgbClr val="000000"/>
                  </a:solidFill>
                  <a:latin typeface="Calibri"/>
                  <a:ea typeface="DejaVu Sans"/>
                </a:rPr>
                <a:t> google.com</a:t>
              </a:r>
              <a:endParaRPr b="0" lang="en-US" spc="-1" strike="noStrike" sz="140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pc="-1" strike="noStrike" sz="1400">
                  <a:solidFill>
                    <a:srgbClr val="000000"/>
                  </a:solidFill>
                  <a:latin typeface="Calibri"/>
                  <a:ea typeface="DejaVu Sans"/>
                </a:rPr>
                <a:t>216.58.217.46</a:t>
              </a:r>
              <a:endParaRPr b="0" lang="en-US" spc="-1" strike="noStrike" sz="140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pc="-1" strike="noStrike" sz="14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8" name="CustomShape 44"/>
            <p:cNvSpPr/>
            <p:nvPr/>
          </p:nvSpPr>
          <p:spPr>
            <a:xfrm>
              <a:off x="10017000" y="3976920"/>
              <a:ext cx="1510200" cy="91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 wrap="none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b="0" lang="en-US" spc="-1" strike="noStrike" sz="1400">
                  <a:solidFill>
                    <a:srgbClr val="000000"/>
                  </a:solidFill>
                  <a:latin typeface="Calibri"/>
                  <a:ea typeface="DejaVu Sans"/>
                </a:rPr>
                <a:t> google.com</a:t>
              </a:r>
              <a:endParaRPr b="0" lang="en-US" spc="-1" strike="noStrike" sz="140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pc="-1" strike="noStrike" sz="1400">
                  <a:solidFill>
                    <a:srgbClr val="000000"/>
                  </a:solidFill>
                  <a:latin typeface="Calibri"/>
                  <a:ea typeface="DejaVu Sans"/>
                </a:rPr>
                <a:t>216.58.217.49</a:t>
              </a:r>
              <a:endParaRPr b="0" lang="en-US" spc="-1" strike="noStrike" sz="140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pc="-1" strike="noStrike" sz="14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9" name="CustomShape 45"/>
            <p:cNvSpPr/>
            <p:nvPr/>
          </p:nvSpPr>
          <p:spPr>
            <a:xfrm>
              <a:off x="994320" y="1973520"/>
              <a:ext cx="2747520" cy="36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 wrap="none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b="0" lang="en-US" spc="-1" strike="noStrike" sz="1400">
                  <a:solidFill>
                    <a:srgbClr val="000000"/>
                  </a:solidFill>
                  <a:latin typeface="Calibri"/>
                  <a:ea typeface="DejaVu Sans"/>
                </a:rPr>
                <a:t>GET google.com/index.html</a:t>
              </a:r>
              <a:endParaRPr b="0" lang="en-US" spc="-1" strike="noStrike" sz="14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0" name="CustomShape 46"/>
            <p:cNvSpPr/>
            <p:nvPr/>
          </p:nvSpPr>
          <p:spPr>
            <a:xfrm>
              <a:off x="3275280" y="2186280"/>
              <a:ext cx="3532680" cy="36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 wrap="none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b="0" lang="en-US" spc="-1" strike="noStrike" sz="1400">
                  <a:solidFill>
                    <a:srgbClr val="000000"/>
                  </a:solidFill>
                  <a:latin typeface="Calibri"/>
                  <a:ea typeface="DejaVu Sans"/>
                </a:rPr>
                <a:t>Lookup google.com</a:t>
              </a:r>
              <a:endParaRPr b="0" lang="en-US" spc="-1" strike="noStrike" sz="14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1" name="CustomShape 47"/>
            <p:cNvSpPr/>
            <p:nvPr/>
          </p:nvSpPr>
          <p:spPr>
            <a:xfrm>
              <a:off x="2089080" y="3307320"/>
              <a:ext cx="993600" cy="36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 wrap="none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b="0" lang="en-US" spc="-1" strike="noStrike" sz="1400">
                  <a:solidFill>
                    <a:srgbClr val="000000"/>
                  </a:solidFill>
                  <a:latin typeface="Calibri"/>
                  <a:ea typeface="DejaVu Sans"/>
                </a:rPr>
                <a:t>Get Data</a:t>
              </a:r>
              <a:endParaRPr b="0" lang="en-US" spc="-1" strike="noStrike" sz="14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2" name="CustomShape 48"/>
            <p:cNvSpPr/>
            <p:nvPr/>
          </p:nvSpPr>
          <p:spPr>
            <a:xfrm>
              <a:off x="2378880" y="3851280"/>
              <a:ext cx="6279840" cy="1218600"/>
            </a:xfrm>
            <a:custGeom>
              <a:avLst/>
              <a:gdLst>
                <a:gd fmla="*/ 0 w 6279840" name="textAreaLeft"/>
                <a:gd fmla="*/ 6280200 w 6279840" name="textAreaRight"/>
                <a:gd fmla="*/ 0 h 1218600" name="textAreaTop"/>
                <a:gd fmla="*/ 1218960 h 1218600" name="textAreaBottom"/>
              </a:gdLst>
              <a:ahLst/>
              <a:cxnLst/>
              <a:rect b="textAreaBottom" l="textAreaLeft" r="textAreaRight" t="textAreaTop"/>
              <a:pathLst>
                <a:path h="1221765" w="6283234">
                  <a:moveTo>
                    <a:pt x="0" y="1038885"/>
                  </a:moveTo>
                  <a:cubicBezTo>
                    <a:pt x="415834" y="679656"/>
                    <a:pt x="831669" y="320428"/>
                    <a:pt x="1593669" y="163674"/>
                  </a:cubicBezTo>
                  <a:cubicBezTo>
                    <a:pt x="2355669" y="6920"/>
                    <a:pt x="3790406" y="-77990"/>
                    <a:pt x="4572000" y="98359"/>
                  </a:cubicBezTo>
                  <a:cubicBezTo>
                    <a:pt x="5353594" y="274707"/>
                    <a:pt x="6283234" y="1221765"/>
                    <a:pt x="6283234" y="1221765"/>
                  </a:cubicBezTo>
                  <a:lnTo>
                    <a:pt x="6283234" y="1221765"/>
                  </a:lnTo>
                </a:path>
              </a:pathLst>
            </a:custGeom>
            <a:noFill/>
            <a:ln w="38160">
              <a:solidFill>
                <a:srgbClr val="00B050"/>
              </a:solidFill>
              <a:round/>
              <a:tail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3" name="CustomShape 49"/>
            <p:cNvSpPr/>
            <p:nvPr/>
          </p:nvSpPr>
          <p:spPr>
            <a:xfrm>
              <a:off x="2321280" y="3742920"/>
              <a:ext cx="6279840" cy="1218600"/>
            </a:xfrm>
            <a:custGeom>
              <a:avLst/>
              <a:gdLst>
                <a:gd fmla="*/ 0 w 6279840" name="textAreaLeft"/>
                <a:gd fmla="*/ 6280200 w 6279840" name="textAreaRight"/>
                <a:gd fmla="*/ 0 h 1218600" name="textAreaTop"/>
                <a:gd fmla="*/ 1218960 h 1218600" name="textAreaBottom"/>
              </a:gdLst>
              <a:ahLst/>
              <a:cxnLst/>
              <a:rect b="textAreaBottom" l="textAreaLeft" r="textAreaRight" t="textAreaTop"/>
              <a:pathLst>
                <a:path h="1221765" w="6283234">
                  <a:moveTo>
                    <a:pt x="0" y="1038885"/>
                  </a:moveTo>
                  <a:cubicBezTo>
                    <a:pt x="415834" y="679656"/>
                    <a:pt x="831669" y="320428"/>
                    <a:pt x="1593669" y="163674"/>
                  </a:cubicBezTo>
                  <a:cubicBezTo>
                    <a:pt x="2355669" y="6920"/>
                    <a:pt x="3790406" y="-77990"/>
                    <a:pt x="4572000" y="98359"/>
                  </a:cubicBezTo>
                  <a:cubicBezTo>
                    <a:pt x="5353594" y="274707"/>
                    <a:pt x="6283234" y="1221765"/>
                    <a:pt x="6283234" y="1221765"/>
                  </a:cubicBezTo>
                  <a:lnTo>
                    <a:pt x="6283234" y="1221765"/>
                  </a:ln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 len="med" type="triangle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4" name="CustomShape 50"/>
            <p:cNvSpPr/>
            <p:nvPr/>
          </p:nvSpPr>
          <p:spPr>
            <a:xfrm>
              <a:off x="2440800" y="2566440"/>
              <a:ext cx="6298560" cy="896760"/>
            </a:xfrm>
            <a:custGeom>
              <a:avLst/>
              <a:gdLst>
                <a:gd fmla="*/ 0 w 6298560" name="textAreaLeft"/>
                <a:gd fmla="*/ 6298920 w 6298560" name="textAreaRight"/>
                <a:gd fmla="*/ 0 h 896760" name="textAreaTop"/>
                <a:gd fmla="*/ 897120 h 896760" name="textAreaBottom"/>
              </a:gdLst>
              <a:ahLst/>
              <a:cxnLst/>
              <a:rect b="textAreaBottom" l="textAreaLeft" r="textAreaRight" t="textAreaTop"/>
              <a:pathLst>
                <a:path h="898787" w="6300591">
                  <a:moveTo>
                    <a:pt x="0" y="0"/>
                  </a:moveTo>
                  <a:cubicBezTo>
                    <a:pt x="316282" y="349685"/>
                    <a:pt x="632564" y="699370"/>
                    <a:pt x="1390389" y="826718"/>
                  </a:cubicBezTo>
                  <a:cubicBezTo>
                    <a:pt x="2148214" y="954066"/>
                    <a:pt x="3728581" y="899787"/>
                    <a:pt x="4546948" y="764088"/>
                  </a:cubicBezTo>
                  <a:cubicBezTo>
                    <a:pt x="5365315" y="628389"/>
                    <a:pt x="5832953" y="320457"/>
                    <a:pt x="6300591" y="12526"/>
                  </a:cubicBezTo>
                </a:path>
              </a:pathLst>
            </a:custGeom>
            <a:noFill/>
            <a:ln w="38160">
              <a:solidFill>
                <a:srgbClr val="8BAB42"/>
              </a:solidFill>
              <a:round/>
              <a:tailEnd len="med" type="triangle" w="med"/>
            </a:ln>
            <a:effectLst>
              <a:outerShdw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5" name="CustomShape 51"/>
            <p:cNvSpPr/>
            <p:nvPr/>
          </p:nvSpPr>
          <p:spPr>
            <a:xfrm>
              <a:off x="2368800" y="2489400"/>
              <a:ext cx="6323400" cy="982080"/>
            </a:xfrm>
            <a:custGeom>
              <a:avLst/>
              <a:gdLst>
                <a:gd fmla="*/ 0 w 6323400" name="textAreaLeft"/>
                <a:gd fmla="*/ 6323760 w 6323400" name="textAreaRight"/>
                <a:gd fmla="*/ 0 h 982080" name="textAreaTop"/>
                <a:gd fmla="*/ 982440 h 982080" name="textAreaBottom"/>
              </a:gdLst>
              <a:ahLst/>
              <a:cxnLst/>
              <a:rect b="textAreaBottom" l="textAreaLeft" r="textAreaRight" t="textAreaTop"/>
              <a:pathLst>
                <a:path h="984163" w="6325644">
                  <a:moveTo>
                    <a:pt x="6325644" y="0"/>
                  </a:moveTo>
                  <a:cubicBezTo>
                    <a:pt x="5791200" y="371605"/>
                    <a:pt x="5256756" y="743211"/>
                    <a:pt x="4496844" y="889348"/>
                  </a:cubicBezTo>
                  <a:cubicBezTo>
                    <a:pt x="3736932" y="1035485"/>
                    <a:pt x="2515644" y="997907"/>
                    <a:pt x="1766170" y="876822"/>
                  </a:cubicBezTo>
                  <a:cubicBezTo>
                    <a:pt x="1016696" y="755737"/>
                    <a:pt x="508348" y="459287"/>
                    <a:pt x="0" y="162838"/>
                  </a:cubicBezTo>
                </a:path>
              </a:pathLst>
            </a:custGeom>
            <a:noFill/>
            <a:ln w="38160">
              <a:solidFill>
                <a:srgbClr val="D89F39"/>
              </a:solidFill>
              <a:round/>
              <a:tailEnd len="med" type="triangle" w="med"/>
            </a:ln>
            <a:effectLst>
              <a:outerShdw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416" name="Picture 87"/>
            <p:cNvPicPr/>
            <p:nvPr/>
          </p:nvPicPr>
          <p:blipFill>
            <a:blip r:embed="rId6"/>
            <a:stretch/>
          </p:blipFill>
          <p:spPr>
            <a:xfrm>
              <a:off x="5478480" y="1836720"/>
              <a:ext cx="1329480" cy="1271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17" name="CustomShape 52"/>
            <p:cNvSpPr/>
            <p:nvPr/>
          </p:nvSpPr>
          <p:spPr>
            <a:xfrm flipV="1">
              <a:off x="2440800" y="2431800"/>
              <a:ext cx="3048480" cy="12960"/>
            </a:xfrm>
            <a:custGeom>
              <a:avLst/>
              <a:gdLst>
                <a:gd fmla="*/ 0 w 3048480" name="textAreaLeft"/>
                <a:gd fmla="*/ 3048840 w 3048480" name="textAreaRight"/>
                <a:gd fmla="*/ 360 h 12960" name="textAreaTop"/>
                <a:gd fmla="*/ 13680 h 12960" name="textAreaBottom"/>
              </a:gdLst>
              <a:ahLst/>
              <a:cxnLst/>
              <a:rect b="textAreaBottom" l="textAreaLeft" r="textAreaRight" t="textAreaTop"/>
              <a:pathLst>
                <a:path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D89F39"/>
              </a:solidFill>
              <a:round/>
              <a:tailEnd len="med" type="triangle" w="med"/>
            </a:ln>
            <a:effectLst>
              <a:outerShdw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31680" lIns="90000" rIns="90000" tIns="-3168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8" name="CustomShape 53"/>
            <p:cNvSpPr/>
            <p:nvPr/>
          </p:nvSpPr>
          <p:spPr>
            <a:xfrm flipH="1">
              <a:off x="2717640" y="2641320"/>
              <a:ext cx="2793240" cy="11520"/>
            </a:xfrm>
            <a:custGeom>
              <a:avLst/>
              <a:gdLst>
                <a:gd fmla="*/ -360 w 2793240" name="textAreaLeft"/>
                <a:gd fmla="*/ 2793240 w 2793240" name="textAreaRight"/>
                <a:gd fmla="*/ 0 h 11520" name="textAreaTop"/>
                <a:gd fmla="*/ 11880 h 11520" name="textAreaBottom"/>
              </a:gdLst>
              <a:ahLst/>
              <a:cxnLst/>
              <a:rect b="textAreaBottom" l="textAreaLeft" r="textAreaRight" t="textAreaTop"/>
              <a:pathLst>
                <a:path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D89F39"/>
              </a:solidFill>
              <a:round/>
              <a:tailEnd len="med" type="triangle" w="med"/>
            </a:ln>
            <a:effectLst>
              <a:outerShdw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-33120" lIns="90000" rIns="90000" tIns="-33120">
              <a:noAutofit/>
            </a:bodyPr>
            <a:lstStyle/>
            <a:p>
              <a:endParaRPr b="0" lang="en-US" spc="-1" strike="noStrike" sz="180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9" name="CustomShape 54"/>
            <p:cNvSpPr/>
            <p:nvPr/>
          </p:nvSpPr>
          <p:spPr>
            <a:xfrm>
              <a:off x="3573000" y="2604240"/>
              <a:ext cx="1255680" cy="30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/>
          </p:style>
          <p:txBody>
            <a:bodyPr anchor="t" bIns="45000" lIns="90000" rIns="90000" tIns="45000" wrap="none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b="0" lang="en-US" spc="-1" strike="noStrike" sz="1400">
                  <a:solidFill>
                    <a:srgbClr val="000000"/>
                  </a:solidFill>
                  <a:latin typeface="Calibri"/>
                  <a:ea typeface="Arial"/>
                </a:rPr>
                <a:t> 216.58.217.46</a:t>
              </a:r>
              <a:endParaRPr b="0" lang="en-US" spc="-1" strike="noStrike" sz="140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20" name="Title 42"/>
          <p:cNvSpPr txBox="1"/>
          <p:nvPr/>
        </p:nvSpPr>
        <p:spPr>
          <a:xfrm>
            <a:off x="0" y="0"/>
            <a:ext cx="36000" cy="4273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/>
          </p:cNvSpPr>
          <p:nvPr>
            <p:ph type="title"/>
          </p:nvPr>
        </p:nvSpPr>
        <p:spPr>
          <a:xfrm>
            <a:off x="711360" y="301680"/>
            <a:ext cx="10363320" cy="91440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/>
          <a:p>
            <a:pPr indent="0" marL="216000">
              <a:buNone/>
            </a:pPr>
            <a:r>
              <a:rPr b="0" dirty="0" lang="en-US" spc="-1" strike="noStrike" sz="4000">
                <a:solidFill>
                  <a:srgbClr val="000000"/>
                </a:solidFill>
                <a:latin typeface="Cantarell"/>
              </a:rPr>
              <a:t>Summary</a:t>
            </a:r>
          </a:p>
        </p:txBody>
      </p:sp>
      <p:sp>
        <p:nvSpPr>
          <p:cNvPr id="1422" name="TextBox 1421"/>
          <p:cNvSpPr txBox="1"/>
          <p:nvPr/>
        </p:nvSpPr>
        <p:spPr>
          <a:xfrm>
            <a:off x="948600" y="1809360"/>
            <a:ext cx="11670120" cy="492156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br>
              <a:rPr sz="2800"/>
            </a:br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- 4 Layers in the network stack 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	- 	None of the layers provide security by default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	- Security has been always an afterthought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	- What are the implications?</a:t>
            </a:r>
            <a:br>
              <a:rPr sz="2800"/>
            </a:b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- Reading: </a:t>
            </a:r>
            <a:br>
              <a:rPr sz="2800"/>
            </a:br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	- Network Security: Private Communication in a Public World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r>
              <a:rPr b="0" lang="en-US" spc="-1" strike="noStrike" sz="2800">
                <a:solidFill>
                  <a:srgbClr val="000000"/>
                </a:solidFill>
                <a:latin typeface="Montserrat"/>
              </a:rPr>
              <a:t>		- Chapter 1.8</a:t>
            </a:r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  <a:p>
            <a:endParaRPr b="0" lang="en-US" spc="-1" strike="noStrike" sz="2800">
              <a:solidFill>
                <a:srgbClr val="000000"/>
              </a:solidFill>
              <a:latin typeface="Cantarell"/>
            </a:endParaRPr>
          </a:p>
        </p:txBody>
      </p:sp>
      <p:sp>
        <p:nvSpPr>
          <p:cNvPr id="1423" name="Title 43"/>
          <p:cNvSpPr txBox="1"/>
          <p:nvPr/>
        </p:nvSpPr>
        <p:spPr>
          <a:xfrm>
            <a:off x="0" y="0"/>
            <a:ext cx="36000" cy="456120"/>
          </a:xfrm>
          <a:prstGeom prst="rect">
            <a:avLst/>
          </a:prstGeom>
          <a:noFill/>
          <a:ln w="54720">
            <a:noFill/>
          </a:ln>
        </p:spPr>
        <p:txBody>
          <a:bodyPr anchor="t" bIns="45000" lIns="90000" rIns="90000" tIns="45000">
            <a:noAutofit/>
          </a:bodyPr>
          <a:lstStyle/>
          <a:p>
            <a:endParaRPr b="0" lang="en-US" spc="-1" strike="noStrike" sz="1800">
              <a:solidFill>
                <a:srgbClr val="000000"/>
              </a:solidFill>
              <a:latin typeface="Cantarel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csu</Template>
  <TotalTime>1993</TotalTime>
  <Words>2715</Words>
  <Application>Microsoft Macintosh PowerPoint</Application>
  <PresentationFormat>Widescreen</PresentationFormat>
  <Paragraphs>577</Paragraphs>
  <Slides>43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43</vt:i4>
      </vt:variant>
    </vt:vector>
  </HeadingPairs>
  <TitlesOfParts>
    <vt:vector size="59" baseType="lpstr">
      <vt:lpstr>Arial</vt:lpstr>
      <vt:lpstr>Arial Black</vt:lpstr>
      <vt:lpstr>Calibri</vt:lpstr>
      <vt:lpstr>Cambria</vt:lpstr>
      <vt:lpstr>Cantarell</vt:lpstr>
      <vt:lpstr>Montserrat</vt:lpstr>
      <vt:lpstr>Symbol</vt:lpstr>
      <vt:lpstr>Tahoma</vt:lpstr>
      <vt:lpstr>Times New Roman</vt:lpstr>
      <vt:lpstr>Wingdings</vt:lpstr>
      <vt:lpstr>Office</vt:lpstr>
      <vt:lpstr>Office</vt:lpstr>
      <vt:lpstr>Office</vt:lpstr>
      <vt:lpstr>Office</vt:lpstr>
      <vt:lpstr>Office</vt:lpstr>
      <vt:lpstr>Office</vt:lpstr>
      <vt:lpstr>CSC4780 – Network security</vt:lpstr>
      <vt:lpstr>Chapter 1: Fundamentals </vt:lpstr>
      <vt:lpstr>Links, Nodes, Network, Internet</vt:lpstr>
      <vt:lpstr>Links, Nodes, Cloud, Routers, Switches</vt:lpstr>
      <vt:lpstr>A Network and the Internet</vt:lpstr>
      <vt:lpstr>Network Architecture</vt:lpstr>
      <vt:lpstr>Network Layers</vt:lpstr>
      <vt:lpstr>IP Suite</vt:lpstr>
      <vt:lpstr>TCP/IP Layers</vt:lpstr>
      <vt:lpstr>What does it take to create a link?</vt:lpstr>
      <vt:lpstr>Packet to Low level Signals</vt:lpstr>
      <vt:lpstr>Frames – bag of bits </vt:lpstr>
      <vt:lpstr> Requirements: Packet framing: encapsulation of network-layer datagram in data link frame Bit transparency: Does not care about what its carrying Error Detection: Correction is on upper layers Connection liveness Network layer address negotiation</vt:lpstr>
      <vt:lpstr>Reliable Delivery</vt:lpstr>
      <vt:lpstr>Stop and Wait</vt:lpstr>
      <vt:lpstr>Ethernet – Wire as Shared Medium</vt:lpstr>
      <vt:lpstr>Ethernet</vt:lpstr>
      <vt:lpstr>Ethernet – Random Access</vt:lpstr>
      <vt:lpstr>Ethernet Frame</vt:lpstr>
      <vt:lpstr>Wireless Links</vt:lpstr>
      <vt:lpstr>Wireless Links – problems and attacks?</vt:lpstr>
      <vt:lpstr>TCP/IP Layers</vt:lpstr>
      <vt:lpstr>Switching</vt:lpstr>
      <vt:lpstr>Switching Table </vt:lpstr>
      <vt:lpstr>Internet Protocol (IP)</vt:lpstr>
      <vt:lpstr>Global Address in IP – Each node has an unique address</vt:lpstr>
      <vt:lpstr>IP addresses are in Network + Host</vt:lpstr>
      <vt:lpstr>You have an address – Send data now. Problems?</vt:lpstr>
      <vt:lpstr>IP Packet</vt:lpstr>
      <vt:lpstr>IP Routing</vt:lpstr>
      <vt:lpstr>Interdomain Routing</vt:lpstr>
      <vt:lpstr>BGP: Path vector protocol</vt:lpstr>
      <vt:lpstr>TCP/IP Layers</vt:lpstr>
      <vt:lpstr>What is transport layer?</vt:lpstr>
      <vt:lpstr>Transport services and protocols</vt:lpstr>
      <vt:lpstr>TCP Three-way Handshake</vt:lpstr>
      <vt:lpstr>TCP/IP Layers</vt:lpstr>
      <vt:lpstr>Client-server architecture</vt:lpstr>
      <vt:lpstr>Securing Data - Application Layer Function</vt:lpstr>
      <vt:lpstr>Electronic mail</vt:lpstr>
      <vt:lpstr>DNS – IP to Name</vt:lpstr>
      <vt:lpstr>IP Based Communication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2019-08-22T10:48:27Z</dcterms:created>
  <dc:language>en-US</dc:language>
  <cp:lastModifiedBy>Shannigrahi, Susmit</cp:lastModifiedBy>
  <dcterms:modified xsi:type="dcterms:W3CDTF">2026-01-25T03:49:33Z</dcterms:modified>
  <cp:revision>131</cp:revision>
  <dc:title>csu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3</vt:r8>
  </property>
  <property fmtid="{D5CDD505-2E9C-101B-9397-08002B2CF9AE}" pid="6" name="Notes">
    <vt:r8>15</vt:r8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71</vt:r8>
  </property>
  <property pid="11" fmtid="{D5CDD505-2E9C-101B-9397-08002B2CF9AE}" name="ReadingOrderVerifiedPages">
    <vt:lpwstr>1,2,3,4,5,6,7,8,9,10,11,12,13,14,15,16,17,18,19,20,21,22,23,24,25,26,27,28,29,30,31,32,33,34,35,36,37,38,39,40,41,42,43</vt:lpwstr>
  </property>
</Properties>
</file>