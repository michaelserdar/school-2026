
<file path=[Content_Types].xml><?xml version="1.0" encoding="utf-8"?>
<Types xmlns="http://schemas.openxmlformats.org/package/2006/content-types">
  <Default ContentType="application/vnd.openxmlformats-officedocument.oleObject" Extension="bin"/>
  <Default ContentType="image/jpeg" Extension="jpeg"/>
  <Default ContentType="image/png" Extension="png"/>
  <Default ContentType="application/vnd.openxmlformats-package.relationships+xml" Extension="rels"/>
  <Default ContentType="image/x-wmf" Extension="wmf"/>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564" r:id="rId3"/>
    <p:sldId id="565" r:id="rId4"/>
    <p:sldId id="566" r:id="rId5"/>
    <p:sldId id="567" r:id="rId6"/>
    <p:sldId id="568" r:id="rId7"/>
    <p:sldId id="569" r:id="rId8"/>
    <p:sldId id="570" r:id="rId9"/>
    <p:sldId id="571" r:id="rId10"/>
    <p:sldId id="572" r:id="rId11"/>
    <p:sldId id="573" r:id="rId12"/>
    <p:sldId id="574" r:id="rId13"/>
    <p:sldId id="575" r:id="rId14"/>
    <p:sldId id="576" r:id="rId15"/>
    <p:sldId id="577" r:id="rId16"/>
    <p:sldId id="578" r:id="rId17"/>
    <p:sldId id="579" r:id="rId18"/>
    <p:sldId id="580" r:id="rId19"/>
    <p:sldId id="581" r:id="rId20"/>
    <p:sldId id="582" r:id="rId21"/>
    <p:sldId id="583" r:id="rId22"/>
    <p:sldId id="584" r:id="rId23"/>
    <p:sldId id="585" r:id="rId24"/>
    <p:sldId id="586" r:id="rId25"/>
    <p:sldId id="587" r:id="rId26"/>
    <p:sldId id="588" r:id="rId27"/>
    <p:sldId id="589" r:id="rId28"/>
    <p:sldId id="590" r:id="rId29"/>
    <p:sldId id="591" r:id="rId30"/>
    <p:sldId id="592" r:id="rId31"/>
    <p:sldId id="593" r:id="rId32"/>
    <p:sldId id="594" r:id="rId33"/>
    <p:sldId id="595" r:id="rId34"/>
    <p:sldId id="596"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4343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81"/>
    <p:restoredTop sz="93759"/>
  </p:normalViewPr>
  <p:slideViewPr>
    <p:cSldViewPr snapToGrid="0">
      <p:cViewPr varScale="1">
        <p:scale>
          <a:sx n="67" d="100"/>
          <a:sy n="67" d="100"/>
        </p:scale>
        <p:origin x="176" y="1200"/>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notesMasters/notesMaster1.xml" Type="http://schemas.openxmlformats.org/officeDocument/2006/relationships/notesMaster"/><Relationship Id="rId38" Target="presProps.xml" Type="http://schemas.openxmlformats.org/officeDocument/2006/relationships/presProps"/><Relationship Id="rId39" Target="viewProps.xml" Type="http://schemas.openxmlformats.org/officeDocument/2006/relationships/viewProps"/><Relationship Id="rId4" Target="slides/slide3.xml" Type="http://schemas.openxmlformats.org/officeDocument/2006/relationships/slide"/><Relationship Id="rId40" Target="theme/theme1.xml" Type="http://schemas.openxmlformats.org/officeDocument/2006/relationships/theme"/><Relationship Id="rId41" Target="tableStyles.xml" Type="http://schemas.openxmlformats.org/officeDocument/2006/relationships/tableStyles"/><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C8B824-F5A0-B54D-B526-7DF31E203BBB}" type="datetimeFigureOut">
              <a:rPr lang="en-US" smtClean="0"/>
              <a:t>2/18/26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216985-4F63-2A4E-AC89-D701E002D7F6}" type="slidenum">
              <a:rPr lang="en-US" smtClean="0"/>
              <a:t>‹#›</a:t>
            </a:fld>
            <a:endParaRPr lang="en-US"/>
          </a:p>
        </p:txBody>
      </p:sp>
    </p:spTree>
    <p:extLst>
      <p:ext uri="{BB962C8B-B14F-4D97-AF65-F5344CB8AC3E}">
        <p14:creationId xmlns:p14="http://schemas.microsoft.com/office/powerpoint/2010/main" val="174473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F626C-C5F0-7E81-3B89-5A2A13F81A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09FFF4-C962-730C-CF8D-10D660F100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FBE881-FE94-BC85-2185-99D92A2B075D}"/>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5" name="Footer Placeholder 4">
            <a:extLst>
              <a:ext uri="{FF2B5EF4-FFF2-40B4-BE49-F238E27FC236}">
                <a16:creationId xmlns:a16="http://schemas.microsoft.com/office/drawing/2014/main" id="{F5442180-B645-6DF2-CC61-31E2AC376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64049-D8D5-9CDF-62BA-BCADB9A02D3A}"/>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8895E7D0-67B2-BFBE-8174-8F0934C735AB}"/>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4854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9A8F3-A62D-EFFF-8C1C-D88BCC5516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CE5C0D-50C4-326B-1D1A-A930EF91D5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BC179-7CC9-6726-952E-98E5BC116D60}"/>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5" name="Footer Placeholder 4">
            <a:extLst>
              <a:ext uri="{FF2B5EF4-FFF2-40B4-BE49-F238E27FC236}">
                <a16:creationId xmlns:a16="http://schemas.microsoft.com/office/drawing/2014/main" id="{B65DF208-5060-DF7B-2A83-E9BA946614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717189-BB72-3D20-9216-296FD4A55552}"/>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8E137EB4-E11F-7F3C-F375-9EA4202A3E67}"/>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6779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0016A-CFE8-8A04-1A60-D1E9EC19E4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BBA688-8CDB-839B-E6AC-2144406A01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487CE8-D92C-1F58-9B08-03C6D410F923}"/>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5" name="Footer Placeholder 4">
            <a:extLst>
              <a:ext uri="{FF2B5EF4-FFF2-40B4-BE49-F238E27FC236}">
                <a16:creationId xmlns:a16="http://schemas.microsoft.com/office/drawing/2014/main" id="{AABEE0BF-6C9A-D705-87E8-2CB7628A6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3B02BE-3916-8C5F-E6E9-A82691A706CC}"/>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3906CDE4-1B81-F5B6-004E-455E6CF16622}"/>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2350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1FE88-CD93-E21D-D983-394A8535F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6FC707-6D36-68A6-4EF6-10DCCAE6F1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82410E-256F-9773-7BD5-8F58F878C1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EF11D0-90AC-8E8F-ED98-6507F3561A9F}"/>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6" name="Footer Placeholder 5">
            <a:extLst>
              <a:ext uri="{FF2B5EF4-FFF2-40B4-BE49-F238E27FC236}">
                <a16:creationId xmlns:a16="http://schemas.microsoft.com/office/drawing/2014/main" id="{8A2AFC05-D37A-FBB4-0BAB-DA8661CC1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94C7E-7CE9-A747-1A05-9E9B57FFB8B4}"/>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8" name="Rectangle 7">
            <a:extLst>
              <a:ext uri="{FF2B5EF4-FFF2-40B4-BE49-F238E27FC236}">
                <a16:creationId xmlns:a16="http://schemas.microsoft.com/office/drawing/2014/main" id="{2F529B5C-FE6B-E446-717E-D10538FF2309}"/>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6285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647C-3869-0981-7E20-30B92EC844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5869CF-8EB7-2671-0C91-E15610E1AC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4F35CE-3312-B616-0135-62E1DBA29A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2464BD-57D9-31AF-3F5B-F97CB47E69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AFD28B-7AC0-5708-590D-7B2819DF9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C5B4D9-F7C9-1563-39B2-8906C3474F59}"/>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8" name="Footer Placeholder 7">
            <a:extLst>
              <a:ext uri="{FF2B5EF4-FFF2-40B4-BE49-F238E27FC236}">
                <a16:creationId xmlns:a16="http://schemas.microsoft.com/office/drawing/2014/main" id="{3CDCA998-C901-E44F-D20E-3C67DA0940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462D5B-5638-B01D-93D9-7E337697E396}"/>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10" name="Rectangle 9">
            <a:extLst>
              <a:ext uri="{FF2B5EF4-FFF2-40B4-BE49-F238E27FC236}">
                <a16:creationId xmlns:a16="http://schemas.microsoft.com/office/drawing/2014/main" id="{9A81FA3B-8B22-0724-8E7A-A0D49BC18BE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5912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226E-8BA6-459A-F3E3-DAFEFF00F2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7D807C-D85B-7DE1-BD29-464AD4EA1BC5}"/>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4" name="Footer Placeholder 3">
            <a:extLst>
              <a:ext uri="{FF2B5EF4-FFF2-40B4-BE49-F238E27FC236}">
                <a16:creationId xmlns:a16="http://schemas.microsoft.com/office/drawing/2014/main" id="{0897EBBB-0649-6A59-4369-EFF26C0219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1EA679-CD6C-BF10-AD12-419F9BDB287B}"/>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6" name="Rectangle 5">
            <a:extLst>
              <a:ext uri="{FF2B5EF4-FFF2-40B4-BE49-F238E27FC236}">
                <a16:creationId xmlns:a16="http://schemas.microsoft.com/office/drawing/2014/main" id="{59C06814-03B8-146C-18A1-94A490EA51C1}"/>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5929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7138A1-4017-7C92-8FF5-7EFC6FD62B8B}"/>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3" name="Footer Placeholder 2">
            <a:extLst>
              <a:ext uri="{FF2B5EF4-FFF2-40B4-BE49-F238E27FC236}">
                <a16:creationId xmlns:a16="http://schemas.microsoft.com/office/drawing/2014/main" id="{8C5209E8-4CA0-3640-5451-46E7A06D02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07C587-7BBB-E797-2710-3337BC8F72D3}"/>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5" name="Rectangle 4">
            <a:extLst>
              <a:ext uri="{FF2B5EF4-FFF2-40B4-BE49-F238E27FC236}">
                <a16:creationId xmlns:a16="http://schemas.microsoft.com/office/drawing/2014/main" id="{9D182C5A-002F-5D69-ECA0-1C957267D82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2902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73350-F818-EE66-ADEF-DAC5B9819E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31B377-1CF1-AD8F-01B3-E8BE4D34D0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3458ED-987E-BBCC-7A0C-75D8C5D7C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4C1F1D-7B43-3D40-CB34-B7DBDC551FA4}"/>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6" name="Footer Placeholder 5">
            <a:extLst>
              <a:ext uri="{FF2B5EF4-FFF2-40B4-BE49-F238E27FC236}">
                <a16:creationId xmlns:a16="http://schemas.microsoft.com/office/drawing/2014/main" id="{5A2FB79D-1C9B-3EDA-44E0-173C7AA96D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92B1F2-22ED-815F-5DE3-9E95375AA082}"/>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8" name="Rectangle 7">
            <a:extLst>
              <a:ext uri="{FF2B5EF4-FFF2-40B4-BE49-F238E27FC236}">
                <a16:creationId xmlns:a16="http://schemas.microsoft.com/office/drawing/2014/main" id="{0EF0FC02-1C79-2647-2366-410C69F4D477}"/>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2768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B56A-81DE-C45D-0847-FBF613BD0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5C6DEB-0FA0-3AFB-AD72-D195220E35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6DB7F5-C763-4335-E3B3-7625CB60D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7437BB-C107-F853-E973-402CA70E3D9E}"/>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6" name="Footer Placeholder 5">
            <a:extLst>
              <a:ext uri="{FF2B5EF4-FFF2-40B4-BE49-F238E27FC236}">
                <a16:creationId xmlns:a16="http://schemas.microsoft.com/office/drawing/2014/main" id="{92D7D404-5AEE-E805-43D8-CFE4F63D6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807A7-D28F-7244-7A10-4B0B49CE5FF6}"/>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8" name="Rectangle 7">
            <a:extLst>
              <a:ext uri="{FF2B5EF4-FFF2-40B4-BE49-F238E27FC236}">
                <a16:creationId xmlns:a16="http://schemas.microsoft.com/office/drawing/2014/main" id="{C28D9ECA-069B-3CCC-9AD2-A4C5EA2DF186}"/>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79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9965-AFC2-FB74-68B3-A49AB5230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3602B4-A1C2-8DB0-28CF-9DA5F014B8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743A3-5838-5BFD-561C-2B31E572C58A}"/>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5" name="Footer Placeholder 4">
            <a:extLst>
              <a:ext uri="{FF2B5EF4-FFF2-40B4-BE49-F238E27FC236}">
                <a16:creationId xmlns:a16="http://schemas.microsoft.com/office/drawing/2014/main" id="{D7920D0C-F5AD-383F-C4CA-FC06D9CE7E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218759-52E3-22C4-C4C2-77F22F7147F6}"/>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03F12EB5-A0CA-8C20-734E-126185A36CB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5144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621639-F9F7-EDDB-E286-69594EDF82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0952DA-FBAE-83A0-F6D9-BC8A76962C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46D2AA-EB07-7080-DD33-0B7EF6C093C2}"/>
              </a:ext>
            </a:extLst>
          </p:cNvPr>
          <p:cNvSpPr>
            <a:spLocks noGrp="1"/>
          </p:cNvSpPr>
          <p:nvPr>
            <p:ph type="dt" sz="half" idx="10"/>
          </p:nvPr>
        </p:nvSpPr>
        <p:spPr/>
        <p:txBody>
          <a:bodyPr/>
          <a:lstStyle/>
          <a:p>
            <a:fld id="{873EE530-FD04-3147-B0C9-114639AB4992}" type="datetimeFigureOut">
              <a:rPr lang="en-US" smtClean="0"/>
              <a:t>2/18/26</a:t>
            </a:fld>
            <a:endParaRPr lang="en-US"/>
          </a:p>
        </p:txBody>
      </p:sp>
      <p:sp>
        <p:nvSpPr>
          <p:cNvPr id="5" name="Footer Placeholder 4">
            <a:extLst>
              <a:ext uri="{FF2B5EF4-FFF2-40B4-BE49-F238E27FC236}">
                <a16:creationId xmlns:a16="http://schemas.microsoft.com/office/drawing/2014/main" id="{8457E7AF-2985-4C6D-0EF3-B0745A1F7D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2F06B6-876B-1720-F000-0B50C6177898}"/>
              </a:ext>
            </a:extLst>
          </p:cNvPr>
          <p:cNvSpPr>
            <a:spLocks noGrp="1"/>
          </p:cNvSpPr>
          <p:nvPr>
            <p:ph type="sldNum" sz="quarter" idx="12"/>
          </p:nvPr>
        </p:nvSpPr>
        <p:spPr/>
        <p:txBody>
          <a:body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CE2AF28B-BF49-09AC-2319-4CCCB42DD8E9}"/>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6317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PlaceHolder 1"/>
          <p:cNvSpPr>
            <a:spLocks noGrp="1"/>
          </p:cNvSpPr>
          <p:nvPr>
            <p:ph type="title" hasCustomPrompt="1"/>
          </p:nvPr>
        </p:nvSpPr>
        <p:spPr>
          <a:xfrm>
            <a:off x="609600" y="380880"/>
            <a:ext cx="10972800" cy="13716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dirty="0">
                <a:solidFill>
                  <a:srgbClr val="E5FFFF"/>
                </a:solidFill>
                <a:latin typeface="Tahoma"/>
              </a:rPr>
              <a:t>s</a:t>
            </a:r>
          </a:p>
        </p:txBody>
      </p:sp>
      <p:sp>
        <p:nvSpPr>
          <p:cNvPr id="7" name="PlaceHolder 2"/>
          <p:cNvSpPr>
            <a:spLocks noGrp="1"/>
          </p:cNvSpPr>
          <p:nvPr>
            <p:ph/>
          </p:nvPr>
        </p:nvSpPr>
        <p:spPr>
          <a:xfrm>
            <a:off x="609600" y="1981080"/>
            <a:ext cx="10972800" cy="4114800"/>
          </a:xfrm>
          <a:prstGeom prst="rect">
            <a:avLst/>
          </a:prstGeom>
          <a:noFill/>
          <a:ln w="0">
            <a:noFill/>
          </a:ln>
        </p:spPr>
        <p:txBody>
          <a:bodyPr lIns="90000" tIns="46800" rIns="90000" bIns="46800" anchor="t">
            <a:normAutofit/>
          </a:bodyPr>
          <a:lstStyle>
            <a:lvl1pPr indent="0">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defRPr/>
            </a:lvl1pPr>
          </a:lstStyle>
          <a:p>
            <a:pPr indent="0">
              <a:spcBef>
                <a:spcPts val="7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200" b="0" strike="noStrike" spc="-1" dirty="0">
              <a:solidFill>
                <a:srgbClr val="FFFFFF"/>
              </a:solidFill>
              <a:latin typeface="Tahoma"/>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F53C1230-5EA0-4376-9384-F099C1067416}" type="slidenum">
              <a:t>‹#›</a:t>
            </a:fld>
            <a:endParaRPr/>
          </a:p>
        </p:txBody>
      </p:sp>
      <p:sp>
        <p:nvSpPr>
          <p:cNvPr id="2"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2122630938"/>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C95BF4-64C6-7BB7-5C51-E25046C1B5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47761E-06BA-A4B3-7379-9BCE276366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D0657-F59F-F8B0-5319-3D6B96BB1C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3EE530-FD04-3147-B0C9-114639AB4992}" type="datetimeFigureOut">
              <a:rPr lang="en-US" smtClean="0"/>
              <a:t>2/18/26</a:t>
            </a:fld>
            <a:endParaRPr lang="en-US"/>
          </a:p>
        </p:txBody>
      </p:sp>
      <p:sp>
        <p:nvSpPr>
          <p:cNvPr id="5" name="Footer Placeholder 4">
            <a:extLst>
              <a:ext uri="{FF2B5EF4-FFF2-40B4-BE49-F238E27FC236}">
                <a16:creationId xmlns:a16="http://schemas.microsoft.com/office/drawing/2014/main" id="{1642BBD2-53A5-142C-8EFD-578AE3CECD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BC08C2-7FF1-E46A-D033-D1515CBCA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3B3962-8CA9-8D46-9A7C-694CCFDF676A}" type="slidenum">
              <a:rPr lang="en-US" smtClean="0"/>
              <a:t>‹#›</a:t>
            </a:fld>
            <a:endParaRPr lang="en-US"/>
          </a:p>
        </p:txBody>
      </p:sp>
      <p:sp>
        <p:nvSpPr>
          <p:cNvPr id="7" name="Rectangle 6">
            <a:extLst>
              <a:ext uri="{FF2B5EF4-FFF2-40B4-BE49-F238E27FC236}">
                <a16:creationId xmlns:a16="http://schemas.microsoft.com/office/drawing/2014/main" id="{DE61B3FC-3B9C-A620-3D3E-11183CD96B6F}"/>
              </a:ext>
            </a:extLst>
          </p:cNvPr>
          <p:cNvSpPr/>
          <p:nvPr userDrawn="1"/>
        </p:nvSpPr>
        <p:spPr>
          <a:xfrm>
            <a:off x="0" y="0"/>
            <a:ext cx="107576"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7503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wmf" Type="http://schemas.openxmlformats.org/officeDocument/2006/relationships/image"/><Relationship Id="rId3" Target="../media/image2.wmf"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6.xml" Type="http://schemas.openxmlformats.org/officeDocument/2006/relationships/slideLayout"/><Relationship Id="rId2" Target="../embeddings/oleObject1.bin" Type="http://schemas.openxmlformats.org/officeDocument/2006/relationships/oleObject"/><Relationship Id="rId3" Target="../media/image3.wm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6.xml" Type="http://schemas.openxmlformats.org/officeDocument/2006/relationships/slideLayout"/><Relationship Id="rId2" Target="../embeddings/oleObject1.bin" Type="http://schemas.openxmlformats.org/officeDocument/2006/relationships/oleObject"/><Relationship Id="rId3" Target="../media/image3.wmf"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9BFD2-513F-49D4-F5B9-24A0BD15B017}"/>
              </a:ext>
            </a:extLst>
          </p:cNvPr>
          <p:cNvSpPr>
            <a:spLocks noGrp="1"/>
          </p:cNvSpPr>
          <p:nvPr>
            <p:ph type="ctrTitle"/>
          </p:nvPr>
        </p:nvSpPr>
        <p:spPr/>
        <p:txBody>
          <a:bodyPr/>
          <a:lstStyle/>
          <a:p>
            <a:r>
              <a:rPr dirty="0" lang="en-US"/>
              <a:t>CSC 4780 – PKI and Trust</a:t>
            </a:r>
          </a:p>
        </p:txBody>
      </p:sp>
      <p:sp>
        <p:nvSpPr>
          <p:cNvPr id="3" name="Subtitle 2">
            <a:extLst>
              <a:ext uri="{FF2B5EF4-FFF2-40B4-BE49-F238E27FC236}">
                <a16:creationId xmlns:a16="http://schemas.microsoft.com/office/drawing/2014/main" id="{399F20D1-0DF6-84F0-E38E-5718F548E6F7}"/>
              </a:ext>
            </a:extLst>
          </p:cNvPr>
          <p:cNvSpPr>
            <a:spLocks noGrp="1"/>
          </p:cNvSpPr>
          <p:nvPr>
            <p:ph idx="1" type="subTitle"/>
          </p:nvPr>
        </p:nvSpPr>
        <p:spPr/>
        <p:txBody>
          <a:bodyPr/>
          <a:lstStyle/>
          <a:p>
            <a:r>
              <a:rPr dirty="0" lang="en-US"/>
              <a:t>Susmit Shannigrahi</a:t>
            </a:r>
          </a:p>
        </p:txBody>
      </p:sp>
    </p:spTree>
    <p:extLst>
      <p:ext uri="{BB962C8B-B14F-4D97-AF65-F5344CB8AC3E}">
        <p14:creationId xmlns:p14="http://schemas.microsoft.com/office/powerpoint/2010/main" val="417864296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Overview</a:t>
            </a:r>
          </a:p>
        </p:txBody>
      </p:sp>
      <p:sp>
        <p:nvSpPr>
          <p:cNvPr id="18"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Introduction</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Building Blocks</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Certificates</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Organization</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Conclusions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1981200" y="380880"/>
            <a:ext cx="8229600" cy="1447920"/>
          </a:xfrm>
          <a:prstGeom prst="rect">
            <a:avLst/>
          </a:prstGeom>
          <a:noFill/>
          <a:ln w="0">
            <a:noFill/>
          </a:ln>
        </p:spPr>
        <p:txBody>
          <a:bodyPr anchor="ctr" bIns="46800" lIns="90000" rIns="90000" rtlCol="0" tIns="46800" vert="horz">
            <a:noAutofit/>
          </a:bodyPr>
          <a:lstStyle/>
          <a:p>
            <a:r>
              <a:rPr dirty="0" lang="en-US" spc="-1">
                <a:latin typeface="Tahoma"/>
              </a:rPr>
              <a:t>Introduction</a:t>
            </a:r>
            <a:br>
              <a:rPr dirty="0"/>
            </a:br>
            <a:r>
              <a:rPr dirty="0" i="1" lang="en-US" spc="-1" sz="2600">
                <a:latin typeface="Tahoma"/>
              </a:rPr>
              <a:t>In the beginning there were shared secret keys</a:t>
            </a:r>
            <a:endParaRPr dirty="0" lang="en-US" spc="-1" sz="2600">
              <a:latin typeface="Tahoma"/>
            </a:endParaRPr>
          </a:p>
        </p:txBody>
      </p:sp>
      <p:sp>
        <p:nvSpPr>
          <p:cNvPr id="20"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457200" marL="457200">
              <a:spcBef>
                <a:spcPts val="700"/>
              </a:spcBef>
              <a:buClr>
                <a:srgbClr val="00CCFF"/>
              </a:buClr>
              <a:buSzPct val="65000"/>
              <a:buFont charset="0" panose="020B0604020202020204" pitchFamily="34"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Early cryptographic systems had to use the same key for encryption and decryption</a:t>
            </a:r>
          </a:p>
          <a:p>
            <a:pPr algn="l" indent="-457200" marL="457200">
              <a:spcBef>
                <a:spcPts val="700"/>
              </a:spcBef>
              <a:buClr>
                <a:srgbClr val="00CCFF"/>
              </a:buClr>
              <a:buSzPct val="65000"/>
              <a:buFont charset="0" panose="020B0604020202020204" pitchFamily="34"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To establish an encrypted channel both users needed to find out this key in some secure fashion</a:t>
            </a:r>
          </a:p>
          <a:p>
            <a:pPr algn="l" indent="-342900" lvl="1" marL="800100">
              <a:spcBef>
                <a:spcPts val="601"/>
              </a:spcBef>
              <a:buClr>
                <a:srgbClr val="FFCC00"/>
              </a:buClr>
              <a:buSzPct val="65000"/>
              <a:buFont charset="0" panose="020B0604020202020204" pitchFamily="34"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Limited – Users could meet and exchange the key</a:t>
            </a:r>
          </a:p>
          <a:p>
            <a:pPr algn="l" indent="-342900" lvl="1" marL="800100">
              <a:spcBef>
                <a:spcPts val="601"/>
              </a:spcBef>
              <a:buClr>
                <a:srgbClr val="FFCC00"/>
              </a:buClr>
              <a:buSzPct val="65000"/>
              <a:buFont charset="0" panose="020B0604020202020204" pitchFamily="34"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Flexible – Users could use a key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Introduction</a:t>
            </a:r>
            <a:br>
              <a:rPr dirty="0"/>
            </a:br>
            <a:r>
              <a:rPr dirty="0" lang="en-US" spc="-1" sz="2600">
                <a:latin typeface="Tahoma"/>
              </a:rPr>
              <a:t>Key Exchange – User to User</a:t>
            </a:r>
          </a:p>
        </p:txBody>
      </p:sp>
      <p:sp>
        <p:nvSpPr>
          <p:cNvPr id="22" name="PlaceHolder 2"/>
          <p:cNvSpPr>
            <a:spLocks noGrp="1"/>
          </p:cNvSpPr>
          <p:nvPr>
            <p:ph/>
          </p:nvPr>
        </p:nvSpPr>
        <p:spPr>
          <a:xfrm>
            <a:off x="1981200" y="4266720"/>
            <a:ext cx="8229600" cy="2057400"/>
          </a:xfrm>
          <a:prstGeom prst="rect">
            <a:avLst/>
          </a:prstGeom>
          <a:noFill/>
          <a:ln w="0">
            <a:noFill/>
          </a:ln>
        </p:spPr>
        <p:txBody>
          <a:bodyPr anchor="t" bIns="46800" lIns="90000" rIns="90000" rtlCol="0" tIns="46800" vert="horz">
            <a:normAutofit/>
          </a:bodyPr>
          <a:lstStyle/>
          <a:p>
            <a:pPr algn="l" indent="-343080" marL="343080">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This exchange eliminates a communication channel that could be attacked</a:t>
            </a:r>
          </a:p>
          <a:p>
            <a:pPr algn="l" indent="-343080" marL="343080">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Limited - Users must meet all other users</a:t>
            </a:r>
          </a:p>
          <a:p>
            <a:pPr algn="l" indent="-285840" lvl="1" marL="743040">
              <a:lnSpc>
                <a:spcPct val="90000"/>
              </a:lnSpc>
              <a:spcBef>
                <a:spcPts val="45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a:solidFill>
                  <a:schemeClr val="tx1"/>
                </a:solidFill>
                <a:latin typeface="Tahoma"/>
              </a:rPr>
              <a:t>In a system with n users, number of meetings is on the order of </a:t>
            </a:r>
            <a:r>
              <a:rPr dirty="0" i="1" lang="en-US" spc="-1">
                <a:solidFill>
                  <a:schemeClr val="tx1"/>
                </a:solidFill>
                <a:latin typeface="Tahoma"/>
              </a:rPr>
              <a:t>O(n</a:t>
            </a:r>
            <a:r>
              <a:rPr baseline="30000" dirty="0" i="1" lang="en-US" spc="-1">
                <a:solidFill>
                  <a:schemeClr val="tx1"/>
                </a:solidFill>
                <a:latin typeface="Tahoma"/>
              </a:rPr>
              <a:t>2</a:t>
            </a:r>
            <a:r>
              <a:rPr dirty="0" i="1" lang="en-US" spc="-1">
                <a:solidFill>
                  <a:schemeClr val="tx1"/>
                </a:solidFill>
                <a:latin typeface="Tahoma"/>
              </a:rPr>
              <a:t>)</a:t>
            </a:r>
            <a:endParaRPr dirty="0" lang="en-US" spc="-1">
              <a:solidFill>
                <a:schemeClr val="tx1"/>
              </a:solidFill>
              <a:latin typeface="Tahoma"/>
            </a:endParaRPr>
          </a:p>
          <a:p>
            <a:pPr algn="l" indent="-343080" marL="343080">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Users must recognize each other or show proper identification</a:t>
            </a:r>
          </a:p>
        </p:txBody>
      </p:sp>
      <p:pic>
        <p:nvPicPr>
          <p:cNvPr id="23" name="Picture 22">
            <a:extLst>
              <a:ext uri="{C183D7F6-B498-43B3-948B-1728B52AA6E4}">
                <adec:decorative xmlns:adec="http://schemas.microsoft.com/office/drawing/2017/decorative" val="1"/>
              </a:ext>
            </a:extLst>
          </p:cNvPr>
          <p:cNvPicPr/>
          <p:nvPr/>
        </p:nvPicPr>
        <p:blipFill>
          <a:blip r:embed="rId2"/>
          <a:stretch/>
        </p:blipFill>
        <p:spPr>
          <a:xfrm>
            <a:off x="4953000" y="1981080"/>
            <a:ext cx="2124000" cy="2076480"/>
          </a:xfrm>
          <a:prstGeom prst="rect">
            <a:avLst/>
          </a:prstGeom>
          <a:ln w="0">
            <a:noFill/>
          </a:ln>
        </p:spPr>
      </p:pic>
      <p:pic>
        <p:nvPicPr>
          <p:cNvPr descr="Key Exchange" id="24" name="Picture 23"/>
          <p:cNvPicPr/>
          <p:nvPr/>
        </p:nvPicPr>
        <p:blipFill>
          <a:blip r:embed="rId3"/>
          <a:stretch/>
        </p:blipFill>
        <p:spPr>
          <a:xfrm>
            <a:off x="6075480" y="3095640"/>
            <a:ext cx="258480" cy="533520"/>
          </a:xfrm>
          <a:prstGeom prst="rect">
            <a:avLst/>
          </a:prstGeom>
          <a:ln w="0">
            <a:no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Introduction</a:t>
            </a:r>
            <a:br>
              <a:rPr dirty="0"/>
            </a:br>
            <a:r>
              <a:rPr dirty="0" lang="en-US" spc="-1" sz="2600">
                <a:latin typeface="Tahoma"/>
              </a:rPr>
              <a:t>Key Exchange – Key Server</a:t>
            </a:r>
          </a:p>
        </p:txBody>
      </p:sp>
      <p:sp>
        <p:nvSpPr>
          <p:cNvPr id="26" name="PlaceHolder 2"/>
          <p:cNvSpPr>
            <a:spLocks noGrp="1"/>
          </p:cNvSpPr>
          <p:nvPr>
            <p:ph/>
          </p:nvPr>
        </p:nvSpPr>
        <p:spPr>
          <a:xfrm>
            <a:off x="1981200" y="4495680"/>
            <a:ext cx="8229600" cy="1828800"/>
          </a:xfrm>
          <a:prstGeom prst="rect">
            <a:avLst/>
          </a:prstGeom>
          <a:noFill/>
          <a:ln w="0">
            <a:noFill/>
          </a:ln>
        </p:spPr>
        <p:txBody>
          <a:bodyPr anchor="t" bIns="46800" lIns="90000" rIns="90000" rtlCol="0" tIns="46800" vert="horz">
            <a:normAutofit/>
          </a:bodyPr>
          <a:lstStyle/>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Each user has set to up a key with the Key Server</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Key Server creates and transmits secure session keys to users</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Flexible – Users need only have a prior established key with the Key Server</a:t>
            </a:r>
          </a:p>
          <a:p>
            <a:pPr algn="l" indent="-285840" lvl="1" marL="743040">
              <a:lnSpc>
                <a:spcPct val="80000"/>
              </a:lnSpc>
              <a:spcBef>
                <a:spcPts val="45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a:solidFill>
                  <a:schemeClr val="tx1"/>
                </a:solidFill>
                <a:latin typeface="Tahoma"/>
              </a:rPr>
              <a:t>For a system with n users only (n) meetings must occur </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Key Server takes care of the initial validation of user’s identities</a:t>
            </a:r>
          </a:p>
        </p:txBody>
      </p:sp>
      <p:sp>
        <p:nvSpPr>
          <p:cNvPr id="27" name="server">
            <a:extLst>
              <a:ext uri="{C183D7F6-B498-43B3-948B-1728B52AA6E4}">
                <adec:decorative xmlns:adec="http://schemas.microsoft.com/office/drawing/2017/decorative" val="1"/>
              </a:ext>
            </a:extLst>
          </p:cNvPr>
          <p:cNvSpPr/>
          <p:nvPr/>
        </p:nvSpPr>
        <p:spPr>
          <a:xfrm>
            <a:off x="5638800" y="1676520"/>
            <a:ext cx="676440" cy="676080"/>
          </a:xfrm>
          <a:prstGeom prst="pie">
            <a:avLst/>
          </a:prstGeom>
          <a:solidFill>
            <a:srgbClr val="FFFFCC"/>
          </a:solidFill>
          <a:ln w="9360">
            <a:solidFill>
              <a:srgbClr val="000000"/>
            </a:solidFill>
            <a:miter/>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28" name="computr 3">
            <a:extLst>
              <a:ext uri="{C183D7F6-B498-43B3-948B-1728B52AA6E4}">
                <adec:decorative xmlns:adec="http://schemas.microsoft.com/office/drawing/2017/decorative" val="1"/>
              </a:ext>
            </a:extLst>
          </p:cNvPr>
          <p:cNvSpPr/>
          <p:nvPr/>
        </p:nvSpPr>
        <p:spPr>
          <a:xfrm>
            <a:off x="4047960" y="3438360"/>
            <a:ext cx="524160" cy="524160"/>
          </a:xfrm>
          <a:prstGeom prst="pie">
            <a:avLst/>
          </a:prstGeom>
          <a:solidFill>
            <a:srgbClr val="FFFFCC"/>
          </a:solidFill>
          <a:ln w="9360">
            <a:solidFill>
              <a:srgbClr val="000000"/>
            </a:solidFill>
            <a:miter/>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29" name="computr 4">
            <a:extLst>
              <a:ext uri="{C183D7F6-B498-43B3-948B-1728B52AA6E4}">
                <adec:decorative xmlns:adec="http://schemas.microsoft.com/office/drawing/2017/decorative" val="1"/>
              </a:ext>
            </a:extLst>
          </p:cNvPr>
          <p:cNvSpPr/>
          <p:nvPr/>
        </p:nvSpPr>
        <p:spPr>
          <a:xfrm>
            <a:off x="7381920" y="3476520"/>
            <a:ext cx="523800" cy="524160"/>
          </a:xfrm>
          <a:prstGeom prst="pie">
            <a:avLst/>
          </a:prstGeom>
          <a:solidFill>
            <a:srgbClr val="FFFFCC"/>
          </a:solidFill>
          <a:ln w="9360">
            <a:solidFill>
              <a:srgbClr val="000000"/>
            </a:solidFill>
            <a:miter/>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cxnSp>
        <p:nvCxnSpPr>
          <p:cNvPr id="30" name="Straight Arrow Connector 29">
            <a:extLst>
              <a:ext uri="{C183D7F6-B498-43B3-948B-1728B52AA6E4}">
                <adec:decorative xmlns:adec="http://schemas.microsoft.com/office/drawing/2017/decorative" val="1"/>
              </a:ext>
            </a:extLst>
          </p:cNvPr>
          <p:cNvCxnSpPr>
            <a:stCxn id="27" idx="8"/>
            <a:endCxn id="28" idx="14"/>
          </p:cNvCxnSpPr>
          <p:nvPr/>
        </p:nvCxnSpPr>
        <p:spPr>
          <a:xfrm flipH="1">
            <a:off x="4460520" y="1729800"/>
            <a:ext cx="1461960" cy="2082240"/>
          </a:xfrm>
          <a:prstGeom prst="straightConnector1">
            <a:avLst/>
          </a:prstGeom>
          <a:ln w="25560">
            <a:solidFill>
              <a:srgbClr val="FFFFFF"/>
            </a:solidFill>
            <a:miter/>
            <a:headEnd len="sm" type="triangle" w="med"/>
            <a:tailEnd len="sm" type="triangle" w="med"/>
          </a:ln>
        </p:spPr>
      </p:cxnSp>
      <p:cxnSp>
        <p:nvCxnSpPr>
          <p:cNvPr id="31" name="Straight Arrow Connector 30">
            <a:extLst>
              <a:ext uri="{C183D7F6-B498-43B3-948B-1728B52AA6E4}">
                <adec:decorative xmlns:adec="http://schemas.microsoft.com/office/drawing/2017/decorative" val="1"/>
              </a:ext>
            </a:extLst>
          </p:cNvPr>
          <p:cNvCxnSpPr>
            <a:stCxn id="27" idx="9"/>
            <a:endCxn id="29" idx="14"/>
          </p:cNvCxnSpPr>
          <p:nvPr/>
        </p:nvCxnSpPr>
        <p:spPr>
          <a:xfrm>
            <a:off x="5638800" y="1676520"/>
            <a:ext cx="2217240" cy="2129400"/>
          </a:xfrm>
          <a:prstGeom prst="straightConnector1">
            <a:avLst/>
          </a:prstGeom>
          <a:ln w="25560">
            <a:solidFill>
              <a:srgbClr val="FFFFFF"/>
            </a:solidFill>
            <a:miter/>
            <a:headEnd len="sm" type="triangle" w="med"/>
            <a:tailEnd len="sm" type="triangle" w="med"/>
          </a:ln>
        </p:spPr>
      </p:cxnSp>
      <p:sp>
        <p:nvSpPr>
          <p:cNvPr id="32" name="Rectangle 31"/>
          <p:cNvSpPr/>
          <p:nvPr/>
        </p:nvSpPr>
        <p:spPr>
          <a:xfrm>
            <a:off x="4267200" y="2514601"/>
            <a:ext cx="762120" cy="371513"/>
          </a:xfrm>
          <a:prstGeom prst="rect">
            <a:avLst/>
          </a:prstGeom>
          <a:noFill/>
          <a:ln w="0">
            <a:noFill/>
          </a:ln>
        </p:spPr>
        <p:style>
          <a:lnRef idx="0">
            <a:scrgbClr b="0" g="0" r="0"/>
          </a:lnRef>
          <a:fillRef idx="0">
            <a:scrgbClr b="0" g="0" r="0"/>
          </a:fillRef>
          <a:effectRef idx="0">
            <a:scrgbClr b="0" g="0" r="0"/>
          </a:effectRef>
          <a:fontRef idx="minor"/>
        </p:style>
        <p:txBody>
          <a:bodyPr anchor="t" bIns="46800" lIns="90000" rIns="90000" tIns="46800">
            <a:spAutoFit/>
          </a:bodyPr>
          <a:lstStyle/>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009E00"/>
                </a:solidFill>
                <a:latin typeface="Tahoma"/>
              </a:rPr>
              <a:t>K</a:t>
            </a:r>
            <a:r>
              <a:rPr b="1" baseline="-25000" lang="en-US" spc="-1">
                <a:solidFill>
                  <a:srgbClr val="009E00"/>
                </a:solidFill>
                <a:latin typeface="Tahoma"/>
              </a:rPr>
              <a:t>A,KS</a:t>
            </a:r>
            <a:endParaRPr lang="en-US" spc="-1">
              <a:solidFill>
                <a:srgbClr val="FFFFFF"/>
              </a:solidFill>
              <a:latin typeface="Arial"/>
            </a:endParaRPr>
          </a:p>
        </p:txBody>
      </p:sp>
      <p:sp>
        <p:nvSpPr>
          <p:cNvPr id="33" name="Rectangle 32"/>
          <p:cNvSpPr/>
          <p:nvPr/>
        </p:nvSpPr>
        <p:spPr>
          <a:xfrm>
            <a:off x="6934080" y="2514601"/>
            <a:ext cx="762120" cy="371513"/>
          </a:xfrm>
          <a:prstGeom prst="rect">
            <a:avLst/>
          </a:prstGeom>
          <a:noFill/>
          <a:ln w="0">
            <a:noFill/>
          </a:ln>
        </p:spPr>
        <p:style>
          <a:lnRef idx="0">
            <a:scrgbClr b="0" g="0" r="0"/>
          </a:lnRef>
          <a:fillRef idx="0">
            <a:scrgbClr b="0" g="0" r="0"/>
          </a:fillRef>
          <a:effectRef idx="0">
            <a:scrgbClr b="0" g="0" r="0"/>
          </a:effectRef>
          <a:fontRef idx="minor"/>
        </p:style>
        <p:txBody>
          <a:bodyPr anchor="t" bIns="46800" lIns="90000" rIns="90000" tIns="46800">
            <a:spAutoFit/>
          </a:bodyPr>
          <a:lstStyle/>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009E00"/>
                </a:solidFill>
                <a:latin typeface="Tahoma"/>
              </a:rPr>
              <a:t>K</a:t>
            </a:r>
            <a:r>
              <a:rPr b="1" baseline="-25000" lang="en-US" spc="-1">
                <a:solidFill>
                  <a:srgbClr val="009E00"/>
                </a:solidFill>
                <a:latin typeface="Tahoma"/>
              </a:rPr>
              <a:t>B,KS</a:t>
            </a:r>
            <a:endParaRPr lang="en-US" spc="-1">
              <a:solidFill>
                <a:srgbClr val="FFFFFF"/>
              </a:solidFill>
              <a:latin typeface="Arial"/>
            </a:endParaRPr>
          </a:p>
        </p:txBody>
      </p:sp>
      <p:sp>
        <p:nvSpPr>
          <p:cNvPr id="34" name="Process 33">
            <a:extLst>
              <a:ext uri="{C183D7F6-B498-43B3-948B-1728B52AA6E4}">
                <adec:decorative xmlns:adec="http://schemas.microsoft.com/office/drawing/2017/decorative" val="1"/>
              </a:ext>
            </a:extLst>
          </p:cNvPr>
          <p:cNvSpPr/>
          <p:nvPr/>
        </p:nvSpPr>
        <p:spPr>
          <a:xfrm rot="2743800">
            <a:off x="5016000" y="2084400"/>
            <a:ext cx="152280" cy="1600200"/>
          </a:xfrm>
          <a:prstGeom prst="flowChartProcess">
            <a:avLst/>
          </a:prstGeom>
          <a:noFill/>
          <a:ln w="31680">
            <a:solidFill>
              <a:srgbClr val="00FF00"/>
            </a:solidFill>
            <a:prstDash val="dash"/>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endParaRPr lang="en-US" spc="-1">
              <a:solidFill>
                <a:srgbClr val="FFFFFF"/>
              </a:solidFill>
              <a:latin typeface="Arial"/>
            </a:endParaRPr>
          </a:p>
        </p:txBody>
      </p:sp>
      <p:sp>
        <p:nvSpPr>
          <p:cNvPr id="35" name="Process 34">
            <a:extLst>
              <a:ext uri="{C183D7F6-B498-43B3-948B-1728B52AA6E4}">
                <adec:decorative xmlns:adec="http://schemas.microsoft.com/office/drawing/2017/decorative" val="1"/>
              </a:ext>
            </a:extLst>
          </p:cNvPr>
          <p:cNvSpPr/>
          <p:nvPr/>
        </p:nvSpPr>
        <p:spPr>
          <a:xfrm rot="18889800">
            <a:off x="6810240" y="2123640"/>
            <a:ext cx="152280" cy="1600200"/>
          </a:xfrm>
          <a:prstGeom prst="flowChartProcess">
            <a:avLst/>
          </a:prstGeom>
          <a:noFill/>
          <a:ln w="31680">
            <a:solidFill>
              <a:srgbClr val="FF6600"/>
            </a:solidFill>
            <a:prstDash val="dash"/>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endParaRPr lang="en-US" spc="-1">
              <a:solidFill>
                <a:srgbClr val="FFFFFF"/>
              </a:solidFill>
              <a:latin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1981200" y="220320"/>
            <a:ext cx="8229600" cy="1143000"/>
          </a:xfrm>
          <a:prstGeom prst="rect">
            <a:avLst/>
          </a:prstGeom>
          <a:noFill/>
          <a:ln w="0">
            <a:noFill/>
          </a:ln>
        </p:spPr>
        <p:txBody>
          <a:bodyPr anchor="t" bIns="46800" lIns="90000" rIns="90000" rtlCol="0" tIns="46800" vert="horz">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a:latin typeface="Tahoma"/>
              </a:rPr>
              <a:t>Symmetric Key Cryptography</a:t>
            </a:r>
          </a:p>
        </p:txBody>
      </p:sp>
      <p:sp>
        <p:nvSpPr>
          <p:cNvPr id="37" name="Rectangle 36"/>
          <p:cNvSpPr/>
          <p:nvPr/>
        </p:nvSpPr>
        <p:spPr>
          <a:xfrm>
            <a:off x="3638640" y="3610080"/>
            <a:ext cx="1434960" cy="672840"/>
          </a:xfrm>
          <a:prstGeom prst="rect">
            <a:avLst/>
          </a:prstGeom>
          <a:gradFill rotWithShape="0">
            <a:gsLst>
              <a:gs pos="0">
                <a:srgbClr val="E48800"/>
              </a:gs>
              <a:gs pos="100000">
                <a:srgbClr val="FF9900"/>
              </a:gs>
            </a:gsLst>
            <a:lin ang="5400000"/>
          </a:gradFill>
          <a:ln w="12600">
            <a:solidFill>
              <a:schemeClr val="tx1"/>
            </a:solidFill>
            <a:miter/>
          </a:ln>
        </p:spPr>
        <p:style>
          <a:lnRef idx="0">
            <a:scrgbClr b="0" g="0" r="0"/>
          </a:lnRef>
          <a:fillRef idx="0">
            <a:scrgbClr b="0" g="0" r="0"/>
          </a:fillRef>
          <a:effectRef idx="0">
            <a:scrgbClr b="0" g="0" r="0"/>
          </a:effectRef>
          <a:fontRef idx="minor"/>
        </p:style>
        <p:txBody>
          <a:bodyPr anchor="ctr" bIns="46080" lIns="92160" rIns="92160" tIns="4608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2000">
                <a:solidFill>
                  <a:srgbClr val="000000"/>
                </a:solidFill>
                <a:latin typeface="Arial"/>
              </a:rPr>
              <a:t>Encryption</a:t>
            </a:r>
            <a:endParaRPr lang="en-US" spc="-1" sz="2000">
              <a:solidFill>
                <a:srgbClr val="FFFFFF"/>
              </a:solidFill>
              <a:latin typeface="Arial"/>
            </a:endParaRPr>
          </a:p>
        </p:txBody>
      </p:sp>
      <p:graphicFrame>
        <p:nvGraphicFramePr>
          <p:cNvPr id="38" name="Object 37">
            <a:extLs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247931263"/>
              </p:ext>
            </p:extLst>
          </p:nvPr>
        </p:nvGraphicFramePr>
        <p:xfrm>
          <a:off x="3865440" y="5083200"/>
          <a:ext cx="811440" cy="1546200"/>
        </p:xfrm>
        <a:graphic>
          <a:graphicData uri="http://schemas.openxmlformats.org/presentationml/2006/ole">
            <mc:AlternateContent xmlns:mc="http://schemas.openxmlformats.org/markup-compatibility/2006">
              <mc:Choice xmlns:v="urn:schemas-microsoft-com:vml" Requires="v">
                <p:oleObj imgH="0" imgW="0" progId="" r:id="rId2">
                  <p:embed/>
                </p:oleObj>
              </mc:Choice>
              <mc:Fallback>
                <p:oleObj imgH="0" imgW="0" progId="" r:id="rId2">
                  <p:embed/>
                  <p:pic>
                    <p:nvPicPr>
                      <p:cNvPr id="38" name="Object 37"/>
                      <p:cNvPicPr/>
                      <p:nvPr/>
                    </p:nvPicPr>
                    <p:blipFill>
                      <a:blip r:embed="rId3"/>
                      <a:stretch/>
                    </p:blipFill>
                    <p:spPr>
                      <a:xfrm>
                        <a:off x="3865440" y="5083200"/>
                        <a:ext cx="811440" cy="1546200"/>
                      </a:xfrm>
                      <a:prstGeom prst="rect">
                        <a:avLst/>
                      </a:prstGeom>
                      <a:ln w="0">
                        <a:noFill/>
                      </a:ln>
                    </p:spPr>
                  </p:pic>
                </p:oleObj>
              </mc:Fallback>
            </mc:AlternateContent>
          </a:graphicData>
        </a:graphic>
      </p:graphicFrame>
      <p:sp>
        <p:nvSpPr>
          <p:cNvPr id="40" name="Rectangle 39"/>
          <p:cNvSpPr/>
          <p:nvPr/>
        </p:nvSpPr>
        <p:spPr>
          <a:xfrm>
            <a:off x="8517000" y="2314440"/>
            <a:ext cx="1346040" cy="1324166"/>
          </a:xfrm>
          <a:prstGeom prst="rect">
            <a:avLst/>
          </a:prstGeom>
          <a:gradFill rotWithShape="0">
            <a:gsLst>
              <a:gs pos="0">
                <a:srgbClr val="463AC4"/>
              </a:gs>
              <a:gs pos="100000">
                <a:srgbClr val="5949F7"/>
              </a:gs>
            </a:gsLst>
            <a:lin ang="5400000"/>
          </a:gradFill>
          <a:ln w="12600">
            <a:solidFill>
              <a:schemeClr val="tx1"/>
            </a:solidFill>
            <a:miter/>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600">
                <a:solidFill>
                  <a:srgbClr val="FFFFFF"/>
                </a:solidFill>
                <a:latin typeface="Arial"/>
              </a:rPr>
              <a:t>“The quick brown fox jumps over the lazy dog”</a:t>
            </a:r>
            <a:endParaRPr lang="en-US" spc="-1" sz="1600">
              <a:solidFill>
                <a:srgbClr val="FFFFFF"/>
              </a:solidFill>
              <a:latin typeface="Arial"/>
            </a:endParaRPr>
          </a:p>
        </p:txBody>
      </p:sp>
      <p:sp>
        <p:nvSpPr>
          <p:cNvPr id="41" name="Rectangle 40"/>
          <p:cNvSpPr/>
          <p:nvPr/>
        </p:nvSpPr>
        <p:spPr>
          <a:xfrm>
            <a:off x="5019600" y="2558881"/>
            <a:ext cx="2262240" cy="1077945"/>
          </a:xfrm>
          <a:prstGeom prst="rect">
            <a:avLst/>
          </a:prstGeom>
          <a:gradFill rotWithShape="0">
            <a:gsLst>
              <a:gs pos="0">
                <a:srgbClr val="463AC4"/>
              </a:gs>
              <a:gs pos="100000">
                <a:srgbClr val="5949F7"/>
              </a:gs>
            </a:gsLst>
            <a:lin ang="5400000"/>
          </a:gradFill>
          <a:ln w="12600">
            <a:solidFill>
              <a:schemeClr val="tx1"/>
            </a:solidFill>
            <a:miter/>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600">
                <a:solidFill>
                  <a:srgbClr val="FFFFFF"/>
                </a:solidFill>
                <a:latin typeface="Arial"/>
              </a:rPr>
              <a:t>“AxCv;5bmEseTfid3)fGsmWe#4^,sdgfMwir3:dkJeTsY8R\s@!q3%”</a:t>
            </a:r>
            <a:endParaRPr lang="en-US" spc="-1" sz="1600">
              <a:solidFill>
                <a:srgbClr val="FFFFFF"/>
              </a:solidFill>
              <a:latin typeface="Arial"/>
            </a:endParaRPr>
          </a:p>
        </p:txBody>
      </p:sp>
      <p:sp>
        <p:nvSpPr>
          <p:cNvPr id="42" name="Rectangle 41"/>
          <p:cNvSpPr/>
          <p:nvPr/>
        </p:nvSpPr>
        <p:spPr>
          <a:xfrm>
            <a:off x="2033760" y="2314440"/>
            <a:ext cx="1347480" cy="1324166"/>
          </a:xfrm>
          <a:prstGeom prst="rect">
            <a:avLst/>
          </a:prstGeom>
          <a:gradFill rotWithShape="0">
            <a:gsLst>
              <a:gs pos="0">
                <a:srgbClr val="463AC4"/>
              </a:gs>
              <a:gs pos="100000">
                <a:srgbClr val="5949F7"/>
              </a:gs>
            </a:gsLst>
            <a:lin ang="5400000"/>
          </a:gradFill>
          <a:ln w="12600">
            <a:solidFill>
              <a:schemeClr val="tx1"/>
            </a:solidFill>
            <a:miter/>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600">
                <a:solidFill>
                  <a:srgbClr val="FFFFFF"/>
                </a:solidFill>
                <a:latin typeface="Arial"/>
              </a:rPr>
              <a:t>“The quick brown fox jumps over the lazy dog”</a:t>
            </a:r>
            <a:endParaRPr lang="en-US" spc="-1" sz="1600">
              <a:solidFill>
                <a:srgbClr val="FFFFFF"/>
              </a:solidFill>
              <a:latin typeface="Arial"/>
            </a:endParaRPr>
          </a:p>
        </p:txBody>
      </p:sp>
      <p:sp>
        <p:nvSpPr>
          <p:cNvPr id="43" name="Freeform 42">
            <a:extLst>
              <a:ext uri="{C183D7F6-B498-43B3-948B-1728B52AA6E4}">
                <adec:decorative xmlns:adec="http://schemas.microsoft.com/office/drawing/2017/decorative" val="1"/>
              </a:ext>
            </a:extLst>
          </p:cNvPr>
          <p:cNvSpPr/>
          <p:nvPr/>
        </p:nvSpPr>
        <p:spPr>
          <a:xfrm>
            <a:off x="5097360" y="3379680"/>
            <a:ext cx="714600" cy="789120"/>
          </a:xfrm>
          <a:custGeom>
            <a:avLst/>
            <a:gdLst/>
            <a:ahLst/>
            <a:cxnLst/>
            <a:rect b="b" l="l" r="r" t="t"/>
            <a:pathLst>
              <a:path h="497" w="450">
                <a:moveTo>
                  <a:pt x="89" y="191"/>
                </a:moveTo>
                <a:lnTo>
                  <a:pt x="177" y="191"/>
                </a:lnTo>
                <a:lnTo>
                  <a:pt x="177" y="315"/>
                </a:lnTo>
                <a:lnTo>
                  <a:pt x="176" y="333"/>
                </a:lnTo>
                <a:lnTo>
                  <a:pt x="174" y="347"/>
                </a:lnTo>
                <a:lnTo>
                  <a:pt x="169" y="361"/>
                </a:lnTo>
                <a:lnTo>
                  <a:pt x="163" y="376"/>
                </a:lnTo>
                <a:lnTo>
                  <a:pt x="154" y="390"/>
                </a:lnTo>
                <a:lnTo>
                  <a:pt x="144" y="404"/>
                </a:lnTo>
                <a:lnTo>
                  <a:pt x="132" y="416"/>
                </a:lnTo>
                <a:lnTo>
                  <a:pt x="122" y="426"/>
                </a:lnTo>
                <a:lnTo>
                  <a:pt x="110" y="435"/>
                </a:lnTo>
                <a:lnTo>
                  <a:pt x="98" y="442"/>
                </a:lnTo>
                <a:lnTo>
                  <a:pt x="85" y="450"/>
                </a:lnTo>
                <a:lnTo>
                  <a:pt x="72" y="457"/>
                </a:lnTo>
                <a:lnTo>
                  <a:pt x="59" y="464"/>
                </a:lnTo>
                <a:lnTo>
                  <a:pt x="45" y="470"/>
                </a:lnTo>
                <a:lnTo>
                  <a:pt x="31" y="476"/>
                </a:lnTo>
                <a:lnTo>
                  <a:pt x="18" y="480"/>
                </a:lnTo>
                <a:lnTo>
                  <a:pt x="0" y="484"/>
                </a:lnTo>
                <a:lnTo>
                  <a:pt x="15" y="490"/>
                </a:lnTo>
                <a:lnTo>
                  <a:pt x="29" y="494"/>
                </a:lnTo>
                <a:lnTo>
                  <a:pt x="46" y="496"/>
                </a:lnTo>
                <a:lnTo>
                  <a:pt x="63" y="496"/>
                </a:lnTo>
                <a:lnTo>
                  <a:pt x="79" y="496"/>
                </a:lnTo>
                <a:lnTo>
                  <a:pt x="99" y="496"/>
                </a:lnTo>
                <a:lnTo>
                  <a:pt x="122" y="495"/>
                </a:lnTo>
                <a:lnTo>
                  <a:pt x="142" y="494"/>
                </a:lnTo>
                <a:lnTo>
                  <a:pt x="162" y="490"/>
                </a:lnTo>
                <a:lnTo>
                  <a:pt x="183" y="484"/>
                </a:lnTo>
                <a:lnTo>
                  <a:pt x="203" y="478"/>
                </a:lnTo>
                <a:lnTo>
                  <a:pt x="222" y="470"/>
                </a:lnTo>
                <a:lnTo>
                  <a:pt x="244" y="460"/>
                </a:lnTo>
                <a:lnTo>
                  <a:pt x="260" y="450"/>
                </a:lnTo>
                <a:lnTo>
                  <a:pt x="281" y="438"/>
                </a:lnTo>
                <a:lnTo>
                  <a:pt x="300" y="421"/>
                </a:lnTo>
                <a:lnTo>
                  <a:pt x="316" y="408"/>
                </a:lnTo>
                <a:lnTo>
                  <a:pt x="332" y="391"/>
                </a:lnTo>
                <a:lnTo>
                  <a:pt x="344" y="373"/>
                </a:lnTo>
                <a:lnTo>
                  <a:pt x="353" y="356"/>
                </a:lnTo>
                <a:lnTo>
                  <a:pt x="359" y="331"/>
                </a:lnTo>
                <a:lnTo>
                  <a:pt x="361" y="311"/>
                </a:lnTo>
                <a:lnTo>
                  <a:pt x="361" y="291"/>
                </a:lnTo>
                <a:lnTo>
                  <a:pt x="361" y="191"/>
                </a:lnTo>
                <a:lnTo>
                  <a:pt x="449" y="191"/>
                </a:lnTo>
                <a:lnTo>
                  <a:pt x="271" y="0"/>
                </a:lnTo>
                <a:lnTo>
                  <a:pt x="89" y="191"/>
                </a:lnTo>
              </a:path>
            </a:pathLst>
          </a:custGeom>
          <a:gradFill rotWithShape="0">
            <a:gsLst>
              <a:gs pos="0">
                <a:srgbClr val="CA7900"/>
              </a:gs>
              <a:gs pos="100000">
                <a:srgbClr val="FE9900"/>
              </a:gs>
            </a:gsLst>
            <a:lin ang="5400000"/>
          </a:gradFill>
          <a:ln cap="rnd" w="12600">
            <a:solidFill>
              <a:schemeClr val="tx1"/>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44" name="Freeform 43">
            <a:extLst>
              <a:ext uri="{C183D7F6-B498-43B3-948B-1728B52AA6E4}">
                <adec:decorative xmlns:adec="http://schemas.microsoft.com/office/drawing/2017/decorative" val="1"/>
              </a:ext>
            </a:extLst>
          </p:cNvPr>
          <p:cNvSpPr/>
          <p:nvPr/>
        </p:nvSpPr>
        <p:spPr>
          <a:xfrm>
            <a:off x="6346920" y="3463920"/>
            <a:ext cx="974520" cy="804960"/>
          </a:xfrm>
          <a:custGeom>
            <a:avLst/>
            <a:gdLst/>
            <a:ahLst/>
            <a:cxnLst/>
            <a:rect b="b" l="l" r="r" t="t"/>
            <a:pathLst>
              <a:path h="507" w="614">
                <a:moveTo>
                  <a:pt x="414" y="93"/>
                </a:moveTo>
                <a:lnTo>
                  <a:pt x="414" y="195"/>
                </a:lnTo>
                <a:lnTo>
                  <a:pt x="154" y="195"/>
                </a:lnTo>
                <a:lnTo>
                  <a:pt x="139" y="194"/>
                </a:lnTo>
                <a:lnTo>
                  <a:pt x="127" y="192"/>
                </a:lnTo>
                <a:lnTo>
                  <a:pt x="114" y="186"/>
                </a:lnTo>
                <a:lnTo>
                  <a:pt x="102" y="180"/>
                </a:lnTo>
                <a:lnTo>
                  <a:pt x="90" y="170"/>
                </a:lnTo>
                <a:lnTo>
                  <a:pt x="79" y="159"/>
                </a:lnTo>
                <a:lnTo>
                  <a:pt x="68" y="147"/>
                </a:lnTo>
                <a:lnTo>
                  <a:pt x="60" y="135"/>
                </a:lnTo>
                <a:lnTo>
                  <a:pt x="51" y="122"/>
                </a:lnTo>
                <a:lnTo>
                  <a:pt x="46" y="108"/>
                </a:lnTo>
                <a:lnTo>
                  <a:pt x="39" y="94"/>
                </a:lnTo>
                <a:lnTo>
                  <a:pt x="32" y="80"/>
                </a:lnTo>
                <a:lnTo>
                  <a:pt x="27" y="65"/>
                </a:lnTo>
                <a:lnTo>
                  <a:pt x="21" y="50"/>
                </a:lnTo>
                <a:lnTo>
                  <a:pt x="17" y="35"/>
                </a:lnTo>
                <a:lnTo>
                  <a:pt x="13" y="20"/>
                </a:lnTo>
                <a:lnTo>
                  <a:pt x="10" y="0"/>
                </a:lnTo>
                <a:lnTo>
                  <a:pt x="4" y="17"/>
                </a:lnTo>
                <a:lnTo>
                  <a:pt x="1" y="33"/>
                </a:lnTo>
                <a:lnTo>
                  <a:pt x="0" y="51"/>
                </a:lnTo>
                <a:lnTo>
                  <a:pt x="0" y="70"/>
                </a:lnTo>
                <a:lnTo>
                  <a:pt x="0" y="88"/>
                </a:lnTo>
                <a:lnTo>
                  <a:pt x="0" y="111"/>
                </a:lnTo>
                <a:lnTo>
                  <a:pt x="0" y="135"/>
                </a:lnTo>
                <a:lnTo>
                  <a:pt x="1" y="157"/>
                </a:lnTo>
                <a:lnTo>
                  <a:pt x="4" y="179"/>
                </a:lnTo>
                <a:lnTo>
                  <a:pt x="10" y="202"/>
                </a:lnTo>
                <a:lnTo>
                  <a:pt x="14" y="225"/>
                </a:lnTo>
                <a:lnTo>
                  <a:pt x="21" y="245"/>
                </a:lnTo>
                <a:lnTo>
                  <a:pt x="30" y="269"/>
                </a:lnTo>
                <a:lnTo>
                  <a:pt x="39" y="287"/>
                </a:lnTo>
                <a:lnTo>
                  <a:pt x="50" y="311"/>
                </a:lnTo>
                <a:lnTo>
                  <a:pt x="63" y="332"/>
                </a:lnTo>
                <a:lnTo>
                  <a:pt x="74" y="348"/>
                </a:lnTo>
                <a:lnTo>
                  <a:pt x="90" y="366"/>
                </a:lnTo>
                <a:lnTo>
                  <a:pt x="104" y="379"/>
                </a:lnTo>
                <a:lnTo>
                  <a:pt x="120" y="390"/>
                </a:lnTo>
                <a:lnTo>
                  <a:pt x="140" y="397"/>
                </a:lnTo>
                <a:lnTo>
                  <a:pt x="158" y="398"/>
                </a:lnTo>
                <a:lnTo>
                  <a:pt x="174" y="398"/>
                </a:lnTo>
                <a:lnTo>
                  <a:pt x="414" y="398"/>
                </a:lnTo>
                <a:lnTo>
                  <a:pt x="414" y="506"/>
                </a:lnTo>
                <a:lnTo>
                  <a:pt x="613" y="300"/>
                </a:lnTo>
                <a:lnTo>
                  <a:pt x="414" y="93"/>
                </a:lnTo>
              </a:path>
            </a:pathLst>
          </a:custGeom>
          <a:gradFill rotWithShape="0">
            <a:gsLst>
              <a:gs pos="0">
                <a:srgbClr val="CA7900"/>
              </a:gs>
              <a:gs pos="100000">
                <a:srgbClr val="FE9900"/>
              </a:gs>
            </a:gsLst>
            <a:lin ang="5400000"/>
          </a:gradFill>
          <a:ln cap="rnd" w="12600">
            <a:solidFill>
              <a:schemeClr val="tx1"/>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45" name="Rectangle 44"/>
          <p:cNvSpPr/>
          <p:nvPr/>
        </p:nvSpPr>
        <p:spPr>
          <a:xfrm>
            <a:off x="7323240" y="3610080"/>
            <a:ext cx="1434960" cy="672840"/>
          </a:xfrm>
          <a:prstGeom prst="rect">
            <a:avLst/>
          </a:prstGeom>
          <a:gradFill rotWithShape="0">
            <a:gsLst>
              <a:gs pos="0">
                <a:srgbClr val="E48800"/>
              </a:gs>
              <a:gs pos="100000">
                <a:srgbClr val="FF9900"/>
              </a:gs>
            </a:gsLst>
            <a:lin ang="5400000"/>
          </a:gradFill>
          <a:ln w="12600">
            <a:solidFill>
              <a:schemeClr val="tx1"/>
            </a:solidFill>
            <a:miter/>
          </a:ln>
        </p:spPr>
        <p:style>
          <a:lnRef idx="0">
            <a:scrgbClr b="0" g="0" r="0"/>
          </a:lnRef>
          <a:fillRef idx="0">
            <a:scrgbClr b="0" g="0" r="0"/>
          </a:fillRef>
          <a:effectRef idx="0">
            <a:scrgbClr b="0" g="0" r="0"/>
          </a:effectRef>
          <a:fontRef idx="minor"/>
        </p:style>
        <p:txBody>
          <a:bodyPr anchor="ctr" bIns="46080" lIns="92160" rIns="92160" tIns="4608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2000">
                <a:solidFill>
                  <a:srgbClr val="000000"/>
                </a:solidFill>
                <a:latin typeface="Arial"/>
              </a:rPr>
              <a:t>Decryption</a:t>
            </a:r>
            <a:endParaRPr lang="en-US" spc="-1" sz="2000">
              <a:solidFill>
                <a:srgbClr val="FFFFFF"/>
              </a:solidFill>
              <a:latin typeface="Arial"/>
            </a:endParaRPr>
          </a:p>
        </p:txBody>
      </p:sp>
      <p:sp>
        <p:nvSpPr>
          <p:cNvPr id="46" name="Freeform 45">
            <a:extLst>
              <a:ext uri="{C183D7F6-B498-43B3-948B-1728B52AA6E4}">
                <adec:decorative xmlns:adec="http://schemas.microsoft.com/office/drawing/2017/decorative" val="1"/>
              </a:ext>
            </a:extLst>
          </p:cNvPr>
          <p:cNvSpPr/>
          <p:nvPr/>
        </p:nvSpPr>
        <p:spPr>
          <a:xfrm>
            <a:off x="8781960" y="3303720"/>
            <a:ext cx="717480" cy="788760"/>
          </a:xfrm>
          <a:custGeom>
            <a:avLst/>
            <a:gdLst/>
            <a:ahLst/>
            <a:cxnLst/>
            <a:rect b="b" l="l" r="r" t="t"/>
            <a:pathLst>
              <a:path h="497" w="452">
                <a:moveTo>
                  <a:pt x="90" y="191"/>
                </a:moveTo>
                <a:lnTo>
                  <a:pt x="178" y="191"/>
                </a:lnTo>
                <a:lnTo>
                  <a:pt x="178" y="315"/>
                </a:lnTo>
                <a:lnTo>
                  <a:pt x="177" y="333"/>
                </a:lnTo>
                <a:lnTo>
                  <a:pt x="175" y="347"/>
                </a:lnTo>
                <a:lnTo>
                  <a:pt x="170" y="361"/>
                </a:lnTo>
                <a:lnTo>
                  <a:pt x="164" y="376"/>
                </a:lnTo>
                <a:lnTo>
                  <a:pt x="154" y="390"/>
                </a:lnTo>
                <a:lnTo>
                  <a:pt x="145" y="404"/>
                </a:lnTo>
                <a:lnTo>
                  <a:pt x="133" y="416"/>
                </a:lnTo>
                <a:lnTo>
                  <a:pt x="122" y="426"/>
                </a:lnTo>
                <a:lnTo>
                  <a:pt x="111" y="435"/>
                </a:lnTo>
                <a:lnTo>
                  <a:pt x="99" y="442"/>
                </a:lnTo>
                <a:lnTo>
                  <a:pt x="86" y="450"/>
                </a:lnTo>
                <a:lnTo>
                  <a:pt x="73" y="457"/>
                </a:lnTo>
                <a:lnTo>
                  <a:pt x="59" y="464"/>
                </a:lnTo>
                <a:lnTo>
                  <a:pt x="45" y="470"/>
                </a:lnTo>
                <a:lnTo>
                  <a:pt x="31" y="476"/>
                </a:lnTo>
                <a:lnTo>
                  <a:pt x="18" y="480"/>
                </a:lnTo>
                <a:lnTo>
                  <a:pt x="0" y="484"/>
                </a:lnTo>
                <a:lnTo>
                  <a:pt x="16" y="490"/>
                </a:lnTo>
                <a:lnTo>
                  <a:pt x="30" y="494"/>
                </a:lnTo>
                <a:lnTo>
                  <a:pt x="46" y="496"/>
                </a:lnTo>
                <a:lnTo>
                  <a:pt x="63" y="496"/>
                </a:lnTo>
                <a:lnTo>
                  <a:pt x="80" y="496"/>
                </a:lnTo>
                <a:lnTo>
                  <a:pt x="100" y="496"/>
                </a:lnTo>
                <a:lnTo>
                  <a:pt x="122" y="495"/>
                </a:lnTo>
                <a:lnTo>
                  <a:pt x="143" y="494"/>
                </a:lnTo>
                <a:lnTo>
                  <a:pt x="163" y="490"/>
                </a:lnTo>
                <a:lnTo>
                  <a:pt x="184" y="484"/>
                </a:lnTo>
                <a:lnTo>
                  <a:pt x="204" y="478"/>
                </a:lnTo>
                <a:lnTo>
                  <a:pt x="223" y="470"/>
                </a:lnTo>
                <a:lnTo>
                  <a:pt x="245" y="460"/>
                </a:lnTo>
                <a:lnTo>
                  <a:pt x="261" y="450"/>
                </a:lnTo>
                <a:lnTo>
                  <a:pt x="283" y="438"/>
                </a:lnTo>
                <a:lnTo>
                  <a:pt x="302" y="421"/>
                </a:lnTo>
                <a:lnTo>
                  <a:pt x="317" y="408"/>
                </a:lnTo>
                <a:lnTo>
                  <a:pt x="334" y="391"/>
                </a:lnTo>
                <a:lnTo>
                  <a:pt x="345" y="373"/>
                </a:lnTo>
                <a:lnTo>
                  <a:pt x="355" y="356"/>
                </a:lnTo>
                <a:lnTo>
                  <a:pt x="361" y="331"/>
                </a:lnTo>
                <a:lnTo>
                  <a:pt x="362" y="311"/>
                </a:lnTo>
                <a:lnTo>
                  <a:pt x="362" y="291"/>
                </a:lnTo>
                <a:lnTo>
                  <a:pt x="362" y="191"/>
                </a:lnTo>
                <a:lnTo>
                  <a:pt x="451" y="191"/>
                </a:lnTo>
                <a:lnTo>
                  <a:pt x="272" y="0"/>
                </a:lnTo>
                <a:lnTo>
                  <a:pt x="90" y="191"/>
                </a:lnTo>
              </a:path>
            </a:pathLst>
          </a:custGeom>
          <a:gradFill rotWithShape="0">
            <a:gsLst>
              <a:gs pos="0">
                <a:srgbClr val="CA7900"/>
              </a:gs>
              <a:gs pos="100000">
                <a:srgbClr val="FE9900"/>
              </a:gs>
            </a:gsLst>
            <a:lin ang="5400000"/>
          </a:gradFill>
          <a:ln cap="rnd" w="12600">
            <a:solidFill>
              <a:schemeClr val="tx1"/>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47" name="Freeform 46">
            <a:extLst>
              <a:ext uri="{C183D7F6-B498-43B3-948B-1728B52AA6E4}">
                <adec:decorative xmlns:adec="http://schemas.microsoft.com/office/drawing/2017/decorative" val="1"/>
              </a:ext>
            </a:extLst>
          </p:cNvPr>
          <p:cNvSpPr/>
          <p:nvPr/>
        </p:nvSpPr>
        <p:spPr>
          <a:xfrm>
            <a:off x="2641440" y="3463920"/>
            <a:ext cx="973440" cy="804960"/>
          </a:xfrm>
          <a:custGeom>
            <a:avLst/>
            <a:gdLst/>
            <a:ahLst/>
            <a:cxnLst/>
            <a:rect b="b" l="l" r="r" t="t"/>
            <a:pathLst>
              <a:path h="507" w="613">
                <a:moveTo>
                  <a:pt x="414" y="93"/>
                </a:moveTo>
                <a:lnTo>
                  <a:pt x="414" y="195"/>
                </a:lnTo>
                <a:lnTo>
                  <a:pt x="154" y="195"/>
                </a:lnTo>
                <a:lnTo>
                  <a:pt x="138" y="194"/>
                </a:lnTo>
                <a:lnTo>
                  <a:pt x="127" y="192"/>
                </a:lnTo>
                <a:lnTo>
                  <a:pt x="114" y="186"/>
                </a:lnTo>
                <a:lnTo>
                  <a:pt x="102" y="180"/>
                </a:lnTo>
                <a:lnTo>
                  <a:pt x="90" y="170"/>
                </a:lnTo>
                <a:lnTo>
                  <a:pt x="78" y="159"/>
                </a:lnTo>
                <a:lnTo>
                  <a:pt x="68" y="147"/>
                </a:lnTo>
                <a:lnTo>
                  <a:pt x="59" y="135"/>
                </a:lnTo>
                <a:lnTo>
                  <a:pt x="51" y="122"/>
                </a:lnTo>
                <a:lnTo>
                  <a:pt x="46" y="108"/>
                </a:lnTo>
                <a:lnTo>
                  <a:pt x="39" y="94"/>
                </a:lnTo>
                <a:lnTo>
                  <a:pt x="32" y="80"/>
                </a:lnTo>
                <a:lnTo>
                  <a:pt x="27" y="65"/>
                </a:lnTo>
                <a:lnTo>
                  <a:pt x="21" y="50"/>
                </a:lnTo>
                <a:lnTo>
                  <a:pt x="17" y="35"/>
                </a:lnTo>
                <a:lnTo>
                  <a:pt x="13" y="20"/>
                </a:lnTo>
                <a:lnTo>
                  <a:pt x="9" y="0"/>
                </a:lnTo>
                <a:lnTo>
                  <a:pt x="4" y="17"/>
                </a:lnTo>
                <a:lnTo>
                  <a:pt x="1" y="33"/>
                </a:lnTo>
                <a:lnTo>
                  <a:pt x="0" y="51"/>
                </a:lnTo>
                <a:lnTo>
                  <a:pt x="0" y="70"/>
                </a:lnTo>
                <a:lnTo>
                  <a:pt x="0" y="88"/>
                </a:lnTo>
                <a:lnTo>
                  <a:pt x="0" y="111"/>
                </a:lnTo>
                <a:lnTo>
                  <a:pt x="0" y="135"/>
                </a:lnTo>
                <a:lnTo>
                  <a:pt x="1" y="157"/>
                </a:lnTo>
                <a:lnTo>
                  <a:pt x="4" y="179"/>
                </a:lnTo>
                <a:lnTo>
                  <a:pt x="9" y="202"/>
                </a:lnTo>
                <a:lnTo>
                  <a:pt x="14" y="225"/>
                </a:lnTo>
                <a:lnTo>
                  <a:pt x="21" y="245"/>
                </a:lnTo>
                <a:lnTo>
                  <a:pt x="30" y="269"/>
                </a:lnTo>
                <a:lnTo>
                  <a:pt x="39" y="287"/>
                </a:lnTo>
                <a:lnTo>
                  <a:pt x="49" y="311"/>
                </a:lnTo>
                <a:lnTo>
                  <a:pt x="63" y="332"/>
                </a:lnTo>
                <a:lnTo>
                  <a:pt x="74" y="348"/>
                </a:lnTo>
                <a:lnTo>
                  <a:pt x="89" y="366"/>
                </a:lnTo>
                <a:lnTo>
                  <a:pt x="104" y="379"/>
                </a:lnTo>
                <a:lnTo>
                  <a:pt x="119" y="390"/>
                </a:lnTo>
                <a:lnTo>
                  <a:pt x="140" y="397"/>
                </a:lnTo>
                <a:lnTo>
                  <a:pt x="157" y="398"/>
                </a:lnTo>
                <a:lnTo>
                  <a:pt x="174" y="398"/>
                </a:lnTo>
                <a:lnTo>
                  <a:pt x="414" y="398"/>
                </a:lnTo>
                <a:lnTo>
                  <a:pt x="414" y="506"/>
                </a:lnTo>
                <a:lnTo>
                  <a:pt x="612" y="300"/>
                </a:lnTo>
                <a:lnTo>
                  <a:pt x="414" y="93"/>
                </a:lnTo>
              </a:path>
            </a:pathLst>
          </a:custGeom>
          <a:gradFill rotWithShape="0">
            <a:gsLst>
              <a:gs pos="0">
                <a:srgbClr val="CA7900"/>
              </a:gs>
              <a:gs pos="100000">
                <a:srgbClr val="FE9900"/>
              </a:gs>
            </a:gsLst>
            <a:lin ang="5400000"/>
          </a:gradFill>
          <a:ln cap="rnd" w="12600">
            <a:solidFill>
              <a:schemeClr val="tx1"/>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48" name="Rectangle 47"/>
          <p:cNvSpPr/>
          <p:nvPr/>
        </p:nvSpPr>
        <p:spPr>
          <a:xfrm>
            <a:off x="1830360" y="1792440"/>
            <a:ext cx="2138400" cy="397440"/>
          </a:xfrm>
          <a:prstGeom prst="rect">
            <a:avLst/>
          </a:prstGeom>
          <a:noFill/>
          <a:ln w="0">
            <a:solidFill>
              <a:schemeClr val="tx1"/>
            </a:solid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000">
                <a:solidFill>
                  <a:srgbClr val="000000"/>
                </a:solidFill>
                <a:latin typeface="Arial"/>
              </a:rPr>
              <a:t>Plain-text input</a:t>
            </a:r>
            <a:endParaRPr dirty="0" lang="en-US" spc="-1" sz="2000">
              <a:solidFill>
                <a:srgbClr val="000000"/>
              </a:solidFill>
              <a:latin typeface="Arial"/>
            </a:endParaRPr>
          </a:p>
        </p:txBody>
      </p:sp>
      <p:sp>
        <p:nvSpPr>
          <p:cNvPr id="49" name="Rectangle 48"/>
          <p:cNvSpPr/>
          <p:nvPr/>
        </p:nvSpPr>
        <p:spPr>
          <a:xfrm>
            <a:off x="8074200" y="1792440"/>
            <a:ext cx="2300040" cy="397440"/>
          </a:xfrm>
          <a:prstGeom prst="rect">
            <a:avLst/>
          </a:prstGeom>
          <a:noFill/>
          <a:ln w="0">
            <a:solidFill>
              <a:schemeClr val="tx1"/>
            </a:solid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000">
                <a:solidFill>
                  <a:srgbClr val="000000"/>
                </a:solidFill>
                <a:latin typeface="Arial"/>
              </a:rPr>
              <a:t>Plain-text output</a:t>
            </a:r>
            <a:endParaRPr dirty="0" lang="en-US" spc="-1" sz="2000">
              <a:solidFill>
                <a:srgbClr val="000000"/>
              </a:solidFill>
              <a:latin typeface="Arial"/>
            </a:endParaRPr>
          </a:p>
        </p:txBody>
      </p:sp>
      <p:sp>
        <p:nvSpPr>
          <p:cNvPr id="50" name="Rectangle 49"/>
          <p:cNvSpPr/>
          <p:nvPr/>
        </p:nvSpPr>
        <p:spPr>
          <a:xfrm>
            <a:off x="5333880" y="1803240"/>
            <a:ext cx="1544760" cy="397440"/>
          </a:xfrm>
          <a:prstGeom prst="rect">
            <a:avLst/>
          </a:prstGeom>
          <a:noFill/>
          <a:ln w="0">
            <a:solidFill>
              <a:schemeClr val="tx1"/>
            </a:solid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000">
                <a:solidFill>
                  <a:srgbClr val="000000"/>
                </a:solidFill>
                <a:latin typeface="Arial"/>
              </a:rPr>
              <a:t>Cipher-text</a:t>
            </a:r>
            <a:endParaRPr dirty="0" lang="en-US" spc="-1" sz="2000">
              <a:solidFill>
                <a:srgbClr val="000000"/>
              </a:solidFill>
              <a:latin typeface="Arial"/>
            </a:endParaRPr>
          </a:p>
        </p:txBody>
      </p:sp>
      <p:sp>
        <p:nvSpPr>
          <p:cNvPr id="51" name="Up Arrow 50">
            <a:extLst>
              <a:ext uri="{C183D7F6-B498-43B3-948B-1728B52AA6E4}">
                <adec:decorative xmlns:adec="http://schemas.microsoft.com/office/drawing/2017/decorative" val="1"/>
              </a:ext>
            </a:extLst>
          </p:cNvPr>
          <p:cNvSpPr/>
          <p:nvPr/>
        </p:nvSpPr>
        <p:spPr>
          <a:xfrm>
            <a:off x="4045080" y="4294080"/>
            <a:ext cx="484200" cy="811440"/>
          </a:xfrm>
          <a:prstGeom prst="upArrow">
            <a:avLst>
              <a:gd fmla="val 50000" name="adj1"/>
              <a:gd fmla="val 83784" name="adj2"/>
            </a:avLst>
          </a:prstGeom>
          <a:gradFill rotWithShape="0">
            <a:gsLst>
              <a:gs pos="0">
                <a:srgbClr val="CA7900"/>
              </a:gs>
              <a:gs pos="100000">
                <a:srgbClr val="FE9900"/>
              </a:gs>
            </a:gsLst>
            <a:lin ang="5400000"/>
          </a:gradFill>
          <a:ln w="1260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endParaRPr lang="en-US" spc="-1">
              <a:solidFill>
                <a:srgbClr val="FFFFFF"/>
              </a:solidFill>
              <a:latin typeface="Arial"/>
            </a:endParaRPr>
          </a:p>
        </p:txBody>
      </p:sp>
      <p:sp>
        <p:nvSpPr>
          <p:cNvPr id="52" name="Up Arrow 51">
            <a:extLst>
              <a:ext uri="{C183D7F6-B498-43B3-948B-1728B52AA6E4}">
                <adec:decorative xmlns:adec="http://schemas.microsoft.com/office/drawing/2017/decorative" val="1"/>
              </a:ext>
            </a:extLst>
          </p:cNvPr>
          <p:cNvSpPr/>
          <p:nvPr/>
        </p:nvSpPr>
        <p:spPr>
          <a:xfrm>
            <a:off x="7793040" y="4294080"/>
            <a:ext cx="484200" cy="811440"/>
          </a:xfrm>
          <a:prstGeom prst="upArrow">
            <a:avLst>
              <a:gd fmla="val 50000" name="adj1"/>
              <a:gd fmla="val 83784" name="adj2"/>
            </a:avLst>
          </a:prstGeom>
          <a:gradFill rotWithShape="0">
            <a:gsLst>
              <a:gs pos="0">
                <a:srgbClr val="CA7900"/>
              </a:gs>
              <a:gs pos="100000">
                <a:srgbClr val="FE9900"/>
              </a:gs>
            </a:gsLst>
            <a:lin ang="5400000"/>
          </a:gradFill>
          <a:ln w="1260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endParaRPr lang="en-US" spc="-1">
              <a:solidFill>
                <a:srgbClr val="FFFFFF"/>
              </a:solidFill>
              <a:latin typeface="Arial"/>
            </a:endParaRPr>
          </a:p>
        </p:txBody>
      </p:sp>
      <p:sp>
        <p:nvSpPr>
          <p:cNvPr id="53" name="Rectangle 52"/>
          <p:cNvSpPr/>
          <p:nvPr/>
        </p:nvSpPr>
        <p:spPr>
          <a:xfrm>
            <a:off x="4870560" y="5629320"/>
            <a:ext cx="2603520" cy="885240"/>
          </a:xfrm>
          <a:prstGeom prst="rect">
            <a:avLst/>
          </a:prstGeom>
          <a:noFill/>
          <a:ln w="0">
            <a:solidFill>
              <a:schemeClr val="tx1"/>
            </a:solidFill>
          </a:ln>
        </p:spPr>
        <p:style>
          <a:lnRef idx="0">
            <a:scrgbClr b="0" g="0" r="0"/>
          </a:lnRef>
          <a:fillRef idx="0">
            <a:scrgbClr b="0" g="0" r="0"/>
          </a:fillRef>
          <a:effectRef idx="0">
            <a:scrgbClr b="0" g="0" r="0"/>
          </a:effectRef>
          <a:fontRef idx="minor"/>
        </p:style>
        <p:txBody>
          <a:bodyPr anchor="t" bIns="46080" lIns="92160" rIns="92160" tIns="46080">
            <a:spAutoFit/>
          </a:bodyPr>
          <a:lstStyle/>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800">
                <a:solidFill>
                  <a:srgbClr val="000000"/>
                </a:solidFill>
                <a:latin typeface="Arial"/>
              </a:rPr>
              <a:t>Same key</a:t>
            </a:r>
            <a:br>
              <a:rPr dirty="0" sz="2800">
                <a:solidFill>
                  <a:srgbClr val="000000"/>
                </a:solidFill>
              </a:rPr>
            </a:br>
            <a:r>
              <a:rPr b="1" dirty="0" lang="en-US" spc="-1" sz="2400">
                <a:solidFill>
                  <a:srgbClr val="000000"/>
                </a:solidFill>
                <a:latin typeface="Arial"/>
              </a:rPr>
              <a:t>(shared secret)</a:t>
            </a:r>
            <a:endParaRPr dirty="0" lang="en-US" spc="-1" sz="2400">
              <a:solidFill>
                <a:srgbClr val="000000"/>
              </a:solidFill>
              <a:latin typeface="Arial"/>
            </a:endParaRPr>
          </a:p>
        </p:txBody>
      </p:sp>
      <p:sp>
        <p:nvSpPr>
          <p:cNvPr id="54" name="Straight Connector 53">
            <a:extLst>
              <a:ext uri="{C183D7F6-B498-43B3-948B-1728B52AA6E4}">
                <adec:decorative xmlns:adec="http://schemas.microsoft.com/office/drawing/2017/decorative" val="1"/>
              </a:ext>
            </a:extLst>
          </p:cNvPr>
          <p:cNvSpPr/>
          <p:nvPr/>
        </p:nvSpPr>
        <p:spPr>
          <a:xfrm flipH="1">
            <a:off x="4483200" y="5889600"/>
            <a:ext cx="714240" cy="411120"/>
          </a:xfrm>
          <a:prstGeom prst="line">
            <a:avLst/>
          </a:prstGeom>
          <a:ln w="50760">
            <a:solidFill>
              <a:schemeClr val="tx1"/>
            </a:solidFill>
            <a:miter/>
            <a:tailEnd len="lg" type="stealth" w="med"/>
          </a:ln>
        </p:spPr>
        <p:style>
          <a:lnRef idx="0">
            <a:scrgbClr b="0" g="0" r="0"/>
          </a:lnRef>
          <a:fillRef idx="0">
            <a:scrgbClr b="0" g="0" r="0"/>
          </a:fillRef>
          <a:effectRef idx="0">
            <a:scrgbClr b="0" g="0" r="0"/>
          </a:effectRef>
          <a:fontRef idx="minor"/>
        </p:style>
        <p:txBody>
          <a:bodyPr anchor="ctr" bIns="46800" lIns="90000" rIns="90000" tIns="46800">
            <a:noAutofit/>
          </a:bodyPr>
          <a:lstStyle/>
          <a:p>
            <a:endParaRPr lang="en-US" spc="-1">
              <a:solidFill>
                <a:srgbClr val="FFFFFF"/>
              </a:solidFill>
              <a:latin typeface="Arial"/>
            </a:endParaRPr>
          </a:p>
        </p:txBody>
      </p:sp>
      <p:sp>
        <p:nvSpPr>
          <p:cNvPr id="55" name="Straight Connector 54">
            <a:extLst>
              <a:ext uri="{C183D7F6-B498-43B3-948B-1728B52AA6E4}">
                <adec:decorative xmlns:adec="http://schemas.microsoft.com/office/drawing/2017/decorative" val="1"/>
              </a:ext>
            </a:extLst>
          </p:cNvPr>
          <p:cNvSpPr/>
          <p:nvPr/>
        </p:nvSpPr>
        <p:spPr>
          <a:xfrm>
            <a:off x="7135680" y="5889600"/>
            <a:ext cx="712800" cy="411120"/>
          </a:xfrm>
          <a:prstGeom prst="line">
            <a:avLst/>
          </a:prstGeom>
          <a:ln w="50760">
            <a:solidFill>
              <a:schemeClr val="tx1"/>
            </a:solidFill>
            <a:miter/>
            <a:tailEnd len="lg" type="stealth" w="med"/>
          </a:ln>
        </p:spPr>
        <p:style>
          <a:lnRef idx="0">
            <a:scrgbClr b="0" g="0" r="0"/>
          </a:lnRef>
          <a:fillRef idx="0">
            <a:scrgbClr b="0" g="0" r="0"/>
          </a:fillRef>
          <a:effectRef idx="0">
            <a:scrgbClr b="0" g="0" r="0"/>
          </a:effectRef>
          <a:fontRef idx="minor"/>
        </p:style>
        <p:txBody>
          <a:bodyPr anchor="ctr" bIns="46800" lIns="90000" rIns="90000" tIns="46800">
            <a:noAutofit/>
          </a:bodyPr>
          <a:lstStyle/>
          <a:p>
            <a:endParaRPr lang="en-US" spc="-1">
              <a:solidFill>
                <a:srgbClr val="FFFFFF"/>
              </a:solidFill>
              <a:latin typeface="Arial"/>
            </a:endParaRPr>
          </a:p>
        </p:txBody>
      </p:sp>
      <p:graphicFrame>
        <p:nvGraphicFramePr>
          <p:cNvPr id="56" name="Object 55">
            <a:extLs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157955198"/>
              </p:ext>
            </p:extLst>
          </p:nvPr>
        </p:nvGraphicFramePr>
        <p:xfrm>
          <a:off x="7635720" y="5083200"/>
          <a:ext cx="811440" cy="1546200"/>
        </p:xfrm>
        <a:graphic>
          <a:graphicData uri="http://schemas.openxmlformats.org/presentationml/2006/ole">
            <mc:AlternateContent xmlns:mc="http://schemas.openxmlformats.org/markup-compatibility/2006">
              <mc:Choice xmlns:v="urn:schemas-microsoft-com:vml" Requires="v">
                <p:oleObj imgH="0" imgW="0" progId="" r:id="rId2">
                  <p:embed/>
                </p:oleObj>
              </mc:Choice>
              <mc:Fallback>
                <p:oleObj imgH="0" imgW="0" progId="" r:id="rId2">
                  <p:embed/>
                  <p:pic>
                    <p:nvPicPr>
                      <p:cNvPr id="56" name="Object 55"/>
                      <p:cNvPicPr/>
                      <p:nvPr/>
                    </p:nvPicPr>
                    <p:blipFill>
                      <a:blip r:embed="rId3"/>
                      <a:stretch/>
                    </p:blipFill>
                    <p:spPr>
                      <a:xfrm>
                        <a:off x="7635720" y="5083200"/>
                        <a:ext cx="811440" cy="1546200"/>
                      </a:xfrm>
                      <a:prstGeom prst="rect">
                        <a:avLst/>
                      </a:prstGeom>
                      <a:ln w="0">
                        <a:noFill/>
                      </a:ln>
                    </p:spPr>
                  </p:pic>
                </p:oleObj>
              </mc:Fallback>
            </mc:AlternateContent>
          </a:graphicData>
        </a:graphic>
      </p:graphicFrame>
    </p:spTree>
  </p:cSld>
  <p:clrMapOvr>
    <a:masterClrMapping/>
  </p:clrMapOvr>
  <p:transition spd="med">
    <p:randomBar/>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981200" y="220320"/>
            <a:ext cx="8229600" cy="1143000"/>
          </a:xfrm>
          <a:prstGeom prst="rect">
            <a:avLst/>
          </a:prstGeom>
          <a:noFill/>
          <a:ln w="0">
            <a:noFill/>
          </a:ln>
        </p:spPr>
        <p:txBody>
          <a:bodyPr anchor="t" bIns="46800" lIns="90000" rIns="90000" rtlCol="0" tIns="46800" vert="horz">
            <a:noAutofit/>
          </a:bodyPr>
          <a:lstStyle/>
          <a:p>
            <a:r>
              <a:rPr dirty="0" lang="en-GB" spc="-1">
                <a:latin typeface="Tahoma"/>
              </a:rPr>
              <a:t>Symmetric Pros and Cons</a:t>
            </a:r>
            <a:endParaRPr dirty="0" lang="en-US" spc="-1">
              <a:latin typeface="Tahoma"/>
            </a:endParaRPr>
          </a:p>
        </p:txBody>
      </p:sp>
      <p:sp>
        <p:nvSpPr>
          <p:cNvPr id="59" name="PlaceHolder 2"/>
          <p:cNvSpPr>
            <a:spLocks noGrp="1"/>
          </p:cNvSpPr>
          <p:nvPr>
            <p:ph/>
          </p:nvPr>
        </p:nvSpPr>
        <p:spPr>
          <a:xfrm>
            <a:off x="1981200" y="1625400"/>
            <a:ext cx="8229600" cy="4601880"/>
          </a:xfrm>
          <a:prstGeom prst="rect">
            <a:avLst/>
          </a:prstGeom>
          <a:noFill/>
          <a:ln w="0">
            <a:noFill/>
          </a:ln>
        </p:spPr>
        <p:txBody>
          <a:bodyPr anchor="t" bIns="46800" lIns="90000" rIns="90000" rtlCol="0" tIns="46800" vert="horz">
            <a:normAutofit/>
          </a:bodyPr>
          <a:lstStyle/>
          <a:p>
            <a:pPr algn="l" indent="-343080" marL="343080">
              <a:spcBef>
                <a:spcPts val="700"/>
              </a:spcBef>
              <a:spcAft>
                <a:spcPts val="700"/>
              </a:spcAft>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GB" spc="-1" sz="3200">
                <a:latin typeface="Tahoma"/>
              </a:rPr>
              <a:t>Strength:</a:t>
            </a:r>
            <a:endParaRPr dirty="0" lang="en-US" spc="-1" sz="3200">
              <a:latin typeface="Tahoma"/>
            </a:endParaRPr>
          </a:p>
          <a:p>
            <a:pPr algn="l" indent="-285840" lvl="1" marL="743040">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Simple and really very fast (order of 1000 to 10000 faster than asymmetric mechanisms)</a:t>
            </a:r>
            <a:endParaRPr dirty="0" lang="en-US" spc="-1" sz="2800">
              <a:solidFill>
                <a:schemeClr val="tx1"/>
              </a:solidFill>
              <a:latin typeface="Tahoma"/>
            </a:endParaRPr>
          </a:p>
          <a:p>
            <a:pPr algn="l" indent="-228600" lvl="2" marL="1143000">
              <a:spcBef>
                <a:spcPts val="499"/>
              </a:spcBef>
              <a:spcAft>
                <a:spcPts val="499"/>
              </a:spcAft>
              <a:buClr>
                <a:srgbClr val="00CCFF"/>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400">
                <a:solidFill>
                  <a:schemeClr val="tx1"/>
                </a:solidFill>
                <a:latin typeface="Tahoma"/>
              </a:rPr>
              <a:t>Super-fast (and somewhat more secure) if done in hardware (DES, Rijndael)</a:t>
            </a:r>
            <a:endParaRPr dirty="0" lang="en-US" spc="-1" sz="2400">
              <a:solidFill>
                <a:schemeClr val="tx1"/>
              </a:solidFill>
              <a:latin typeface="Tahoma"/>
            </a:endParaRPr>
          </a:p>
          <a:p>
            <a:pPr algn="l" indent="-343080" marL="343080">
              <a:spcBef>
                <a:spcPts val="700"/>
              </a:spcBef>
              <a:spcAft>
                <a:spcPts val="700"/>
              </a:spcAft>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GB" spc="-1" sz="3200">
                <a:latin typeface="Tahoma"/>
              </a:rPr>
              <a:t>Weakness:</a:t>
            </a:r>
            <a:endParaRPr dirty="0" lang="en-US" spc="-1" sz="3200">
              <a:latin typeface="Tahoma"/>
            </a:endParaRPr>
          </a:p>
          <a:p>
            <a:pPr algn="l" indent="-285840" lvl="1" marL="743040">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Must agree the key beforehand</a:t>
            </a:r>
            <a:endParaRPr dirty="0" lang="en-US" spc="-1" sz="2800">
              <a:solidFill>
                <a:schemeClr val="tx1"/>
              </a:solidFill>
              <a:latin typeface="Tahoma"/>
            </a:endParaRPr>
          </a:p>
          <a:p>
            <a:pPr algn="l" indent="-285840" lvl="1" marL="743040">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Securely pass the key to the other party</a:t>
            </a:r>
            <a:endParaRPr dirty="0" lang="en-US" spc="-1" sz="2800">
              <a:solidFill>
                <a:schemeClr val="tx1"/>
              </a:solidFill>
              <a:latin typeface="Tahoma"/>
            </a:endParaRPr>
          </a:p>
        </p:txBody>
      </p:sp>
    </p:spTree>
  </p:cSld>
  <p:clrMapOvr>
    <a:masterClrMapping/>
  </p:clrMapOvr>
  <p:transition spd="med">
    <p:randomBar/>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981200" y="220320"/>
            <a:ext cx="8229600" cy="1143000"/>
          </a:xfrm>
          <a:prstGeom prst="rect">
            <a:avLst/>
          </a:prstGeom>
          <a:noFill/>
          <a:ln w="0">
            <a:noFill/>
          </a:ln>
        </p:spPr>
        <p:txBody>
          <a:bodyPr anchor="t" bIns="46800" lIns="90000" rIns="90000" rtlCol="0" tIns="46800" vert="horz">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a:latin typeface="Tahoma"/>
              </a:rPr>
              <a:t>Public Key Encryption</a:t>
            </a:r>
          </a:p>
        </p:txBody>
      </p:sp>
      <p:sp>
        <p:nvSpPr>
          <p:cNvPr id="61" name="Rectangle 60"/>
          <p:cNvSpPr/>
          <p:nvPr/>
        </p:nvSpPr>
        <p:spPr>
          <a:xfrm>
            <a:off x="3635400" y="2978280"/>
            <a:ext cx="1436760" cy="672840"/>
          </a:xfrm>
          <a:prstGeom prst="rect">
            <a:avLst/>
          </a:prstGeom>
          <a:gradFill rotWithShape="0">
            <a:gsLst>
              <a:gs pos="0">
                <a:srgbClr val="CB7900"/>
              </a:gs>
              <a:gs pos="100000">
                <a:srgbClr val="FF9900"/>
              </a:gs>
            </a:gsLst>
            <a:lin ang="5400000"/>
          </a:gradFill>
          <a:ln w="12600">
            <a:solidFill>
              <a:srgbClr val="FFFFFF"/>
            </a:solidFill>
            <a:miter/>
          </a:ln>
        </p:spPr>
        <p:style>
          <a:lnRef idx="0">
            <a:scrgbClr b="0" g="0" r="0"/>
          </a:lnRef>
          <a:fillRef idx="0">
            <a:scrgbClr b="0" g="0" r="0"/>
          </a:fillRef>
          <a:effectRef idx="0">
            <a:scrgbClr b="0" g="0" r="0"/>
          </a:effectRef>
          <a:fontRef idx="minor"/>
        </p:style>
        <p:txBody>
          <a:bodyPr anchor="ctr" bIns="46080" lIns="92160" rIns="92160" tIns="4608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2000">
                <a:solidFill>
                  <a:srgbClr val="000000"/>
                </a:solidFill>
                <a:latin typeface="Arial"/>
              </a:rPr>
              <a:t>Encryption</a:t>
            </a:r>
            <a:endParaRPr lang="en-US" spc="-1" sz="2000">
              <a:solidFill>
                <a:srgbClr val="FFFFFF"/>
              </a:solidFill>
              <a:latin typeface="Arial"/>
            </a:endParaRPr>
          </a:p>
        </p:txBody>
      </p:sp>
      <p:sp>
        <p:nvSpPr>
          <p:cNvPr id="62" name="Rectangle 61"/>
          <p:cNvSpPr/>
          <p:nvPr/>
        </p:nvSpPr>
        <p:spPr>
          <a:xfrm>
            <a:off x="8504400" y="1682640"/>
            <a:ext cx="1344600" cy="1324166"/>
          </a:xfrm>
          <a:prstGeom prst="rect">
            <a:avLst/>
          </a:prstGeom>
          <a:gradFill rotWithShape="0">
            <a:gsLst>
              <a:gs pos="0">
                <a:srgbClr val="463AC4"/>
              </a:gs>
              <a:gs pos="100000">
                <a:srgbClr val="5949F7"/>
              </a:gs>
            </a:gsLst>
            <a:lin ang="5400000"/>
          </a:gradFill>
          <a:ln w="12600">
            <a:solidFill>
              <a:srgbClr val="99CC66"/>
            </a:solidFill>
            <a:miter/>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600">
                <a:solidFill>
                  <a:srgbClr val="FFFFFF"/>
                </a:solidFill>
                <a:latin typeface="Arial"/>
              </a:rPr>
              <a:t>“The quick brown fox jumps over the lazy dog”</a:t>
            </a:r>
            <a:endParaRPr lang="en-US" spc="-1" sz="1600">
              <a:solidFill>
                <a:srgbClr val="FFFFFF"/>
              </a:solidFill>
              <a:latin typeface="Arial"/>
            </a:endParaRPr>
          </a:p>
        </p:txBody>
      </p:sp>
      <p:sp>
        <p:nvSpPr>
          <p:cNvPr id="63" name="Rectangle 62"/>
          <p:cNvSpPr/>
          <p:nvPr/>
        </p:nvSpPr>
        <p:spPr>
          <a:xfrm>
            <a:off x="5008440" y="1927081"/>
            <a:ext cx="2259000" cy="1077945"/>
          </a:xfrm>
          <a:prstGeom prst="rect">
            <a:avLst/>
          </a:prstGeom>
          <a:gradFill rotWithShape="0">
            <a:gsLst>
              <a:gs pos="0">
                <a:srgbClr val="463AC4"/>
              </a:gs>
              <a:gs pos="100000">
                <a:srgbClr val="5949F7"/>
              </a:gs>
            </a:gsLst>
            <a:lin ang="5400000"/>
          </a:gradFill>
          <a:ln w="12600">
            <a:solidFill>
              <a:srgbClr val="99CC66"/>
            </a:solidFill>
            <a:miter/>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600">
                <a:solidFill>
                  <a:srgbClr val="FFFFFF"/>
                </a:solidFill>
                <a:latin typeface="Arial"/>
              </a:rPr>
              <a:t>“Py75c%bn&amp;*)9|fDe^bDFaq#xzjFr@g5=&amp;nmdFg$5knvMd’rkvegMs”</a:t>
            </a:r>
            <a:endParaRPr lang="en-US" spc="-1" sz="1600">
              <a:solidFill>
                <a:srgbClr val="FFFFFF"/>
              </a:solidFill>
              <a:latin typeface="Arial"/>
            </a:endParaRPr>
          </a:p>
        </p:txBody>
      </p:sp>
      <p:sp>
        <p:nvSpPr>
          <p:cNvPr id="64" name="Rectangle 63"/>
          <p:cNvSpPr/>
          <p:nvPr/>
        </p:nvSpPr>
        <p:spPr>
          <a:xfrm>
            <a:off x="2044560" y="1682640"/>
            <a:ext cx="1344600" cy="1324166"/>
          </a:xfrm>
          <a:prstGeom prst="rect">
            <a:avLst/>
          </a:prstGeom>
          <a:gradFill rotWithShape="0">
            <a:gsLst>
              <a:gs pos="0">
                <a:srgbClr val="463AC4"/>
              </a:gs>
              <a:gs pos="100000">
                <a:srgbClr val="5949F7"/>
              </a:gs>
            </a:gsLst>
            <a:lin ang="5400000"/>
          </a:gradFill>
          <a:ln w="12600">
            <a:solidFill>
              <a:srgbClr val="99CC66"/>
            </a:solidFill>
            <a:miter/>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600">
                <a:solidFill>
                  <a:srgbClr val="FFFFFF"/>
                </a:solidFill>
                <a:latin typeface="Arial"/>
              </a:rPr>
              <a:t>“The quick brown fox jumps over the lazy dog”</a:t>
            </a:r>
            <a:endParaRPr lang="en-US" spc="-1" sz="1600">
              <a:solidFill>
                <a:srgbClr val="FFFFFF"/>
              </a:solidFill>
              <a:latin typeface="Arial"/>
            </a:endParaRPr>
          </a:p>
        </p:txBody>
      </p:sp>
      <p:sp>
        <p:nvSpPr>
          <p:cNvPr id="65" name="Freeform 64">
            <a:extLst>
              <a:ext uri="{C183D7F6-B498-43B3-948B-1728B52AA6E4}">
                <adec:decorative xmlns:adec="http://schemas.microsoft.com/office/drawing/2017/decorative" val="1"/>
              </a:ext>
            </a:extLst>
          </p:cNvPr>
          <p:cNvSpPr/>
          <p:nvPr/>
        </p:nvSpPr>
        <p:spPr>
          <a:xfrm>
            <a:off x="5095920" y="2747880"/>
            <a:ext cx="716040" cy="789120"/>
          </a:xfrm>
          <a:custGeom>
            <a:avLst/>
            <a:gdLst/>
            <a:ahLst/>
            <a:cxnLst/>
            <a:rect b="b" l="l" r="r" t="t"/>
            <a:pathLst>
              <a:path h="497" w="451">
                <a:moveTo>
                  <a:pt x="90" y="191"/>
                </a:moveTo>
                <a:lnTo>
                  <a:pt x="178" y="191"/>
                </a:lnTo>
                <a:lnTo>
                  <a:pt x="178" y="315"/>
                </a:lnTo>
                <a:lnTo>
                  <a:pt x="177" y="333"/>
                </a:lnTo>
                <a:lnTo>
                  <a:pt x="174" y="347"/>
                </a:lnTo>
                <a:lnTo>
                  <a:pt x="169" y="361"/>
                </a:lnTo>
                <a:lnTo>
                  <a:pt x="164" y="376"/>
                </a:lnTo>
                <a:lnTo>
                  <a:pt x="154" y="390"/>
                </a:lnTo>
                <a:lnTo>
                  <a:pt x="145" y="404"/>
                </a:lnTo>
                <a:lnTo>
                  <a:pt x="133" y="416"/>
                </a:lnTo>
                <a:lnTo>
                  <a:pt x="122" y="426"/>
                </a:lnTo>
                <a:lnTo>
                  <a:pt x="110" y="435"/>
                </a:lnTo>
                <a:lnTo>
                  <a:pt x="98" y="442"/>
                </a:lnTo>
                <a:lnTo>
                  <a:pt x="85" y="450"/>
                </a:lnTo>
                <a:lnTo>
                  <a:pt x="72" y="457"/>
                </a:lnTo>
                <a:lnTo>
                  <a:pt x="59" y="464"/>
                </a:lnTo>
                <a:lnTo>
                  <a:pt x="45" y="470"/>
                </a:lnTo>
                <a:lnTo>
                  <a:pt x="31" y="476"/>
                </a:lnTo>
                <a:lnTo>
                  <a:pt x="18" y="480"/>
                </a:lnTo>
                <a:lnTo>
                  <a:pt x="0" y="484"/>
                </a:lnTo>
                <a:lnTo>
                  <a:pt x="15" y="490"/>
                </a:lnTo>
                <a:lnTo>
                  <a:pt x="30" y="494"/>
                </a:lnTo>
                <a:lnTo>
                  <a:pt x="46" y="496"/>
                </a:lnTo>
                <a:lnTo>
                  <a:pt x="63" y="496"/>
                </a:lnTo>
                <a:lnTo>
                  <a:pt x="80" y="496"/>
                </a:lnTo>
                <a:lnTo>
                  <a:pt x="100" y="496"/>
                </a:lnTo>
                <a:lnTo>
                  <a:pt x="122" y="495"/>
                </a:lnTo>
                <a:lnTo>
                  <a:pt x="142" y="494"/>
                </a:lnTo>
                <a:lnTo>
                  <a:pt x="162" y="490"/>
                </a:lnTo>
                <a:lnTo>
                  <a:pt x="184" y="484"/>
                </a:lnTo>
                <a:lnTo>
                  <a:pt x="204" y="478"/>
                </a:lnTo>
                <a:lnTo>
                  <a:pt x="223" y="470"/>
                </a:lnTo>
                <a:lnTo>
                  <a:pt x="244" y="460"/>
                </a:lnTo>
                <a:lnTo>
                  <a:pt x="261" y="450"/>
                </a:lnTo>
                <a:lnTo>
                  <a:pt x="282" y="438"/>
                </a:lnTo>
                <a:lnTo>
                  <a:pt x="301" y="421"/>
                </a:lnTo>
                <a:lnTo>
                  <a:pt x="316" y="408"/>
                </a:lnTo>
                <a:lnTo>
                  <a:pt x="333" y="391"/>
                </a:lnTo>
                <a:lnTo>
                  <a:pt x="345" y="373"/>
                </a:lnTo>
                <a:lnTo>
                  <a:pt x="354" y="356"/>
                </a:lnTo>
                <a:lnTo>
                  <a:pt x="360" y="331"/>
                </a:lnTo>
                <a:lnTo>
                  <a:pt x="361" y="311"/>
                </a:lnTo>
                <a:lnTo>
                  <a:pt x="361" y="291"/>
                </a:lnTo>
                <a:lnTo>
                  <a:pt x="361" y="191"/>
                </a:lnTo>
                <a:lnTo>
                  <a:pt x="450" y="191"/>
                </a:lnTo>
                <a:lnTo>
                  <a:pt x="271" y="0"/>
                </a:lnTo>
                <a:lnTo>
                  <a:pt x="90" y="191"/>
                </a:lnTo>
              </a:path>
            </a:pathLst>
          </a:custGeom>
          <a:gradFill rotWithShape="0">
            <a:gsLst>
              <a:gs pos="0">
                <a:srgbClr val="CA7900"/>
              </a:gs>
              <a:gs pos="100000">
                <a:srgbClr val="FE9900"/>
              </a:gs>
            </a:gsLst>
            <a:lin ang="5400000"/>
          </a:gradFill>
          <a:ln cap="rnd" w="12600">
            <a:solidFill>
              <a:srgbClr val="FFFFFF"/>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66" name="Freeform 65">
            <a:extLst>
              <a:ext uri="{C183D7F6-B498-43B3-948B-1728B52AA6E4}">
                <adec:decorative xmlns:adec="http://schemas.microsoft.com/office/drawing/2017/decorative" val="1"/>
              </a:ext>
            </a:extLst>
          </p:cNvPr>
          <p:cNvSpPr/>
          <p:nvPr/>
        </p:nvSpPr>
        <p:spPr>
          <a:xfrm>
            <a:off x="6335760" y="2832120"/>
            <a:ext cx="974520" cy="804960"/>
          </a:xfrm>
          <a:custGeom>
            <a:avLst/>
            <a:gdLst/>
            <a:ahLst/>
            <a:cxnLst/>
            <a:rect b="b" l="l" r="r" t="t"/>
            <a:pathLst>
              <a:path h="507" w="614">
                <a:moveTo>
                  <a:pt x="414" y="93"/>
                </a:moveTo>
                <a:lnTo>
                  <a:pt x="414" y="195"/>
                </a:lnTo>
                <a:lnTo>
                  <a:pt x="154" y="195"/>
                </a:lnTo>
                <a:lnTo>
                  <a:pt x="139" y="194"/>
                </a:lnTo>
                <a:lnTo>
                  <a:pt x="127" y="192"/>
                </a:lnTo>
                <a:lnTo>
                  <a:pt x="114" y="186"/>
                </a:lnTo>
                <a:lnTo>
                  <a:pt x="102" y="180"/>
                </a:lnTo>
                <a:lnTo>
                  <a:pt x="90" y="170"/>
                </a:lnTo>
                <a:lnTo>
                  <a:pt x="79" y="159"/>
                </a:lnTo>
                <a:lnTo>
                  <a:pt x="68" y="147"/>
                </a:lnTo>
                <a:lnTo>
                  <a:pt x="60" y="135"/>
                </a:lnTo>
                <a:lnTo>
                  <a:pt x="51" y="122"/>
                </a:lnTo>
                <a:lnTo>
                  <a:pt x="46" y="108"/>
                </a:lnTo>
                <a:lnTo>
                  <a:pt x="39" y="94"/>
                </a:lnTo>
                <a:lnTo>
                  <a:pt x="32" y="80"/>
                </a:lnTo>
                <a:lnTo>
                  <a:pt x="27" y="65"/>
                </a:lnTo>
                <a:lnTo>
                  <a:pt x="21" y="50"/>
                </a:lnTo>
                <a:lnTo>
                  <a:pt x="17" y="35"/>
                </a:lnTo>
                <a:lnTo>
                  <a:pt x="13" y="20"/>
                </a:lnTo>
                <a:lnTo>
                  <a:pt x="10" y="0"/>
                </a:lnTo>
                <a:lnTo>
                  <a:pt x="4" y="17"/>
                </a:lnTo>
                <a:lnTo>
                  <a:pt x="1" y="33"/>
                </a:lnTo>
                <a:lnTo>
                  <a:pt x="0" y="51"/>
                </a:lnTo>
                <a:lnTo>
                  <a:pt x="0" y="70"/>
                </a:lnTo>
                <a:lnTo>
                  <a:pt x="0" y="88"/>
                </a:lnTo>
                <a:lnTo>
                  <a:pt x="0" y="111"/>
                </a:lnTo>
                <a:lnTo>
                  <a:pt x="0" y="135"/>
                </a:lnTo>
                <a:lnTo>
                  <a:pt x="1" y="157"/>
                </a:lnTo>
                <a:lnTo>
                  <a:pt x="4" y="179"/>
                </a:lnTo>
                <a:lnTo>
                  <a:pt x="10" y="202"/>
                </a:lnTo>
                <a:lnTo>
                  <a:pt x="14" y="225"/>
                </a:lnTo>
                <a:lnTo>
                  <a:pt x="21" y="245"/>
                </a:lnTo>
                <a:lnTo>
                  <a:pt x="30" y="269"/>
                </a:lnTo>
                <a:lnTo>
                  <a:pt x="39" y="287"/>
                </a:lnTo>
                <a:lnTo>
                  <a:pt x="50" y="311"/>
                </a:lnTo>
                <a:lnTo>
                  <a:pt x="63" y="332"/>
                </a:lnTo>
                <a:lnTo>
                  <a:pt x="74" y="348"/>
                </a:lnTo>
                <a:lnTo>
                  <a:pt x="90" y="366"/>
                </a:lnTo>
                <a:lnTo>
                  <a:pt x="104" y="379"/>
                </a:lnTo>
                <a:lnTo>
                  <a:pt x="120" y="390"/>
                </a:lnTo>
                <a:lnTo>
                  <a:pt x="140" y="397"/>
                </a:lnTo>
                <a:lnTo>
                  <a:pt x="158" y="398"/>
                </a:lnTo>
                <a:lnTo>
                  <a:pt x="174" y="398"/>
                </a:lnTo>
                <a:lnTo>
                  <a:pt x="414" y="398"/>
                </a:lnTo>
                <a:lnTo>
                  <a:pt x="414" y="506"/>
                </a:lnTo>
                <a:lnTo>
                  <a:pt x="613" y="300"/>
                </a:lnTo>
                <a:lnTo>
                  <a:pt x="414" y="93"/>
                </a:lnTo>
              </a:path>
            </a:pathLst>
          </a:custGeom>
          <a:gradFill rotWithShape="0">
            <a:gsLst>
              <a:gs pos="0">
                <a:srgbClr val="CA7900"/>
              </a:gs>
              <a:gs pos="100000">
                <a:srgbClr val="FE9900"/>
              </a:gs>
            </a:gsLst>
            <a:lin ang="5400000"/>
          </a:gradFill>
          <a:ln cap="rnd" w="12600">
            <a:solidFill>
              <a:srgbClr val="FFFFFF"/>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67" name="Rectangle 66"/>
          <p:cNvSpPr/>
          <p:nvPr/>
        </p:nvSpPr>
        <p:spPr>
          <a:xfrm>
            <a:off x="7310280" y="2978280"/>
            <a:ext cx="1435320" cy="672840"/>
          </a:xfrm>
          <a:prstGeom prst="rect">
            <a:avLst/>
          </a:prstGeom>
          <a:gradFill rotWithShape="0">
            <a:gsLst>
              <a:gs pos="0">
                <a:srgbClr val="CB7900"/>
              </a:gs>
              <a:gs pos="100000">
                <a:srgbClr val="FF9900"/>
              </a:gs>
            </a:gsLst>
            <a:lin ang="5400000"/>
          </a:gradFill>
          <a:ln w="12600">
            <a:solidFill>
              <a:srgbClr val="FFFFFF"/>
            </a:solidFill>
            <a:miter/>
          </a:ln>
        </p:spPr>
        <p:style>
          <a:lnRef idx="0">
            <a:scrgbClr b="0" g="0" r="0"/>
          </a:lnRef>
          <a:fillRef idx="0">
            <a:scrgbClr b="0" g="0" r="0"/>
          </a:fillRef>
          <a:effectRef idx="0">
            <a:scrgbClr b="0" g="0" r="0"/>
          </a:effectRef>
          <a:fontRef idx="minor"/>
        </p:style>
        <p:txBody>
          <a:bodyPr anchor="ctr" bIns="46080" lIns="92160" rIns="92160" tIns="4608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2000">
                <a:solidFill>
                  <a:srgbClr val="000000"/>
                </a:solidFill>
                <a:latin typeface="Arial"/>
              </a:rPr>
              <a:t>Decryption</a:t>
            </a:r>
            <a:endParaRPr lang="en-US" spc="-1" sz="2000">
              <a:solidFill>
                <a:srgbClr val="FFFFFF"/>
              </a:solidFill>
              <a:latin typeface="Arial"/>
            </a:endParaRPr>
          </a:p>
        </p:txBody>
      </p:sp>
      <p:sp>
        <p:nvSpPr>
          <p:cNvPr id="68" name="Freeform 67">
            <a:extLst>
              <a:ext uri="{C183D7F6-B498-43B3-948B-1728B52AA6E4}">
                <adec:decorative xmlns:adec="http://schemas.microsoft.com/office/drawing/2017/decorative" val="1"/>
              </a:ext>
            </a:extLst>
          </p:cNvPr>
          <p:cNvSpPr/>
          <p:nvPr/>
        </p:nvSpPr>
        <p:spPr>
          <a:xfrm>
            <a:off x="8769360" y="2671920"/>
            <a:ext cx="717480" cy="788760"/>
          </a:xfrm>
          <a:custGeom>
            <a:avLst/>
            <a:gdLst/>
            <a:ahLst/>
            <a:cxnLst/>
            <a:rect b="b" l="l" r="r" t="t"/>
            <a:pathLst>
              <a:path h="497" w="452">
                <a:moveTo>
                  <a:pt x="90" y="191"/>
                </a:moveTo>
                <a:lnTo>
                  <a:pt x="178" y="191"/>
                </a:lnTo>
                <a:lnTo>
                  <a:pt x="178" y="315"/>
                </a:lnTo>
                <a:lnTo>
                  <a:pt x="177" y="333"/>
                </a:lnTo>
                <a:lnTo>
                  <a:pt x="175" y="347"/>
                </a:lnTo>
                <a:lnTo>
                  <a:pt x="170" y="361"/>
                </a:lnTo>
                <a:lnTo>
                  <a:pt x="164" y="376"/>
                </a:lnTo>
                <a:lnTo>
                  <a:pt x="154" y="390"/>
                </a:lnTo>
                <a:lnTo>
                  <a:pt x="145" y="404"/>
                </a:lnTo>
                <a:lnTo>
                  <a:pt x="133" y="416"/>
                </a:lnTo>
                <a:lnTo>
                  <a:pt x="122" y="426"/>
                </a:lnTo>
                <a:lnTo>
                  <a:pt x="111" y="435"/>
                </a:lnTo>
                <a:lnTo>
                  <a:pt x="99" y="442"/>
                </a:lnTo>
                <a:lnTo>
                  <a:pt x="86" y="450"/>
                </a:lnTo>
                <a:lnTo>
                  <a:pt x="73" y="457"/>
                </a:lnTo>
                <a:lnTo>
                  <a:pt x="59" y="464"/>
                </a:lnTo>
                <a:lnTo>
                  <a:pt x="45" y="470"/>
                </a:lnTo>
                <a:lnTo>
                  <a:pt x="31" y="476"/>
                </a:lnTo>
                <a:lnTo>
                  <a:pt x="18" y="480"/>
                </a:lnTo>
                <a:lnTo>
                  <a:pt x="0" y="484"/>
                </a:lnTo>
                <a:lnTo>
                  <a:pt x="16" y="490"/>
                </a:lnTo>
                <a:lnTo>
                  <a:pt x="30" y="494"/>
                </a:lnTo>
                <a:lnTo>
                  <a:pt x="46" y="496"/>
                </a:lnTo>
                <a:lnTo>
                  <a:pt x="63" y="496"/>
                </a:lnTo>
                <a:lnTo>
                  <a:pt x="80" y="496"/>
                </a:lnTo>
                <a:lnTo>
                  <a:pt x="100" y="496"/>
                </a:lnTo>
                <a:lnTo>
                  <a:pt x="122" y="495"/>
                </a:lnTo>
                <a:lnTo>
                  <a:pt x="143" y="494"/>
                </a:lnTo>
                <a:lnTo>
                  <a:pt x="163" y="490"/>
                </a:lnTo>
                <a:lnTo>
                  <a:pt x="184" y="484"/>
                </a:lnTo>
                <a:lnTo>
                  <a:pt x="204" y="478"/>
                </a:lnTo>
                <a:lnTo>
                  <a:pt x="223" y="470"/>
                </a:lnTo>
                <a:lnTo>
                  <a:pt x="245" y="460"/>
                </a:lnTo>
                <a:lnTo>
                  <a:pt x="261" y="450"/>
                </a:lnTo>
                <a:lnTo>
                  <a:pt x="283" y="438"/>
                </a:lnTo>
                <a:lnTo>
                  <a:pt x="302" y="421"/>
                </a:lnTo>
                <a:lnTo>
                  <a:pt x="317" y="408"/>
                </a:lnTo>
                <a:lnTo>
                  <a:pt x="334" y="391"/>
                </a:lnTo>
                <a:lnTo>
                  <a:pt x="345" y="373"/>
                </a:lnTo>
                <a:lnTo>
                  <a:pt x="355" y="356"/>
                </a:lnTo>
                <a:lnTo>
                  <a:pt x="361" y="331"/>
                </a:lnTo>
                <a:lnTo>
                  <a:pt x="362" y="311"/>
                </a:lnTo>
                <a:lnTo>
                  <a:pt x="362" y="291"/>
                </a:lnTo>
                <a:lnTo>
                  <a:pt x="362" y="191"/>
                </a:lnTo>
                <a:lnTo>
                  <a:pt x="451" y="191"/>
                </a:lnTo>
                <a:lnTo>
                  <a:pt x="272" y="0"/>
                </a:lnTo>
                <a:lnTo>
                  <a:pt x="90" y="191"/>
                </a:lnTo>
              </a:path>
            </a:pathLst>
          </a:custGeom>
          <a:gradFill rotWithShape="0">
            <a:gsLst>
              <a:gs pos="0">
                <a:srgbClr val="CA7900"/>
              </a:gs>
              <a:gs pos="100000">
                <a:srgbClr val="FE9900"/>
              </a:gs>
            </a:gsLst>
            <a:lin ang="5400000"/>
          </a:gradFill>
          <a:ln cap="rnd" w="12600">
            <a:solidFill>
              <a:srgbClr val="FFFFFF"/>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69" name="Freeform 68">
            <a:extLst>
              <a:ext uri="{C183D7F6-B498-43B3-948B-1728B52AA6E4}">
                <adec:decorative xmlns:adec="http://schemas.microsoft.com/office/drawing/2017/decorative" val="1"/>
              </a:ext>
            </a:extLst>
          </p:cNvPr>
          <p:cNvSpPr/>
          <p:nvPr/>
        </p:nvSpPr>
        <p:spPr>
          <a:xfrm>
            <a:off x="2640000" y="2832120"/>
            <a:ext cx="973080" cy="804960"/>
          </a:xfrm>
          <a:custGeom>
            <a:avLst/>
            <a:gdLst/>
            <a:ahLst/>
            <a:cxnLst/>
            <a:rect b="b" l="l" r="r" t="t"/>
            <a:pathLst>
              <a:path h="507" w="613">
                <a:moveTo>
                  <a:pt x="414" y="93"/>
                </a:moveTo>
                <a:lnTo>
                  <a:pt x="414" y="195"/>
                </a:lnTo>
                <a:lnTo>
                  <a:pt x="154" y="195"/>
                </a:lnTo>
                <a:lnTo>
                  <a:pt x="138" y="194"/>
                </a:lnTo>
                <a:lnTo>
                  <a:pt x="127" y="192"/>
                </a:lnTo>
                <a:lnTo>
                  <a:pt x="114" y="186"/>
                </a:lnTo>
                <a:lnTo>
                  <a:pt x="102" y="180"/>
                </a:lnTo>
                <a:lnTo>
                  <a:pt x="90" y="170"/>
                </a:lnTo>
                <a:lnTo>
                  <a:pt x="78" y="159"/>
                </a:lnTo>
                <a:lnTo>
                  <a:pt x="68" y="147"/>
                </a:lnTo>
                <a:lnTo>
                  <a:pt x="59" y="135"/>
                </a:lnTo>
                <a:lnTo>
                  <a:pt x="51" y="122"/>
                </a:lnTo>
                <a:lnTo>
                  <a:pt x="46" y="108"/>
                </a:lnTo>
                <a:lnTo>
                  <a:pt x="39" y="94"/>
                </a:lnTo>
                <a:lnTo>
                  <a:pt x="32" y="80"/>
                </a:lnTo>
                <a:lnTo>
                  <a:pt x="27" y="65"/>
                </a:lnTo>
                <a:lnTo>
                  <a:pt x="21" y="50"/>
                </a:lnTo>
                <a:lnTo>
                  <a:pt x="17" y="35"/>
                </a:lnTo>
                <a:lnTo>
                  <a:pt x="13" y="20"/>
                </a:lnTo>
                <a:lnTo>
                  <a:pt x="9" y="0"/>
                </a:lnTo>
                <a:lnTo>
                  <a:pt x="4" y="17"/>
                </a:lnTo>
                <a:lnTo>
                  <a:pt x="1" y="33"/>
                </a:lnTo>
                <a:lnTo>
                  <a:pt x="0" y="51"/>
                </a:lnTo>
                <a:lnTo>
                  <a:pt x="0" y="70"/>
                </a:lnTo>
                <a:lnTo>
                  <a:pt x="0" y="88"/>
                </a:lnTo>
                <a:lnTo>
                  <a:pt x="0" y="111"/>
                </a:lnTo>
                <a:lnTo>
                  <a:pt x="0" y="135"/>
                </a:lnTo>
                <a:lnTo>
                  <a:pt x="1" y="157"/>
                </a:lnTo>
                <a:lnTo>
                  <a:pt x="4" y="179"/>
                </a:lnTo>
                <a:lnTo>
                  <a:pt x="9" y="202"/>
                </a:lnTo>
                <a:lnTo>
                  <a:pt x="14" y="225"/>
                </a:lnTo>
                <a:lnTo>
                  <a:pt x="21" y="245"/>
                </a:lnTo>
                <a:lnTo>
                  <a:pt x="30" y="269"/>
                </a:lnTo>
                <a:lnTo>
                  <a:pt x="39" y="287"/>
                </a:lnTo>
                <a:lnTo>
                  <a:pt x="49" y="311"/>
                </a:lnTo>
                <a:lnTo>
                  <a:pt x="63" y="332"/>
                </a:lnTo>
                <a:lnTo>
                  <a:pt x="74" y="348"/>
                </a:lnTo>
                <a:lnTo>
                  <a:pt x="89" y="366"/>
                </a:lnTo>
                <a:lnTo>
                  <a:pt x="104" y="379"/>
                </a:lnTo>
                <a:lnTo>
                  <a:pt x="119" y="390"/>
                </a:lnTo>
                <a:lnTo>
                  <a:pt x="140" y="397"/>
                </a:lnTo>
                <a:lnTo>
                  <a:pt x="157" y="398"/>
                </a:lnTo>
                <a:lnTo>
                  <a:pt x="174" y="398"/>
                </a:lnTo>
                <a:lnTo>
                  <a:pt x="414" y="398"/>
                </a:lnTo>
                <a:lnTo>
                  <a:pt x="414" y="506"/>
                </a:lnTo>
                <a:lnTo>
                  <a:pt x="612" y="300"/>
                </a:lnTo>
                <a:lnTo>
                  <a:pt x="414" y="93"/>
                </a:lnTo>
              </a:path>
            </a:pathLst>
          </a:custGeom>
          <a:gradFill rotWithShape="0">
            <a:gsLst>
              <a:gs pos="0">
                <a:srgbClr val="CA7900"/>
              </a:gs>
              <a:gs pos="100000">
                <a:srgbClr val="FE9900"/>
              </a:gs>
            </a:gsLst>
            <a:lin ang="5400000"/>
          </a:gradFill>
          <a:ln cap="rnd" w="12600">
            <a:solidFill>
              <a:srgbClr val="FFFFFF"/>
            </a:solidFill>
            <a:round/>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70" name="Rectangle 69"/>
          <p:cNvSpPr/>
          <p:nvPr/>
        </p:nvSpPr>
        <p:spPr>
          <a:xfrm>
            <a:off x="1746120" y="1255680"/>
            <a:ext cx="2136960" cy="39744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000">
                <a:solidFill>
                  <a:srgbClr val="000000"/>
                </a:solidFill>
                <a:latin typeface="Arial"/>
              </a:rPr>
              <a:t>Clear-text Input</a:t>
            </a:r>
            <a:endParaRPr dirty="0" lang="en-US" spc="-1" sz="2000">
              <a:solidFill>
                <a:srgbClr val="000000"/>
              </a:solidFill>
              <a:latin typeface="Arial"/>
            </a:endParaRPr>
          </a:p>
        </p:txBody>
      </p:sp>
      <p:sp>
        <p:nvSpPr>
          <p:cNvPr id="71" name="Rectangle 70"/>
          <p:cNvSpPr/>
          <p:nvPr/>
        </p:nvSpPr>
        <p:spPr>
          <a:xfrm>
            <a:off x="8063040" y="1255680"/>
            <a:ext cx="2298600" cy="39744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000">
                <a:solidFill>
                  <a:srgbClr val="000000"/>
                </a:solidFill>
                <a:latin typeface="Arial"/>
              </a:rPr>
              <a:t>Clear-text Output</a:t>
            </a:r>
            <a:endParaRPr dirty="0" lang="en-US" spc="-1" sz="2000">
              <a:solidFill>
                <a:srgbClr val="000000"/>
              </a:solidFill>
              <a:latin typeface="Arial"/>
            </a:endParaRPr>
          </a:p>
        </p:txBody>
      </p:sp>
      <p:sp>
        <p:nvSpPr>
          <p:cNvPr id="72" name="Rectangle 71"/>
          <p:cNvSpPr/>
          <p:nvPr/>
        </p:nvSpPr>
        <p:spPr>
          <a:xfrm>
            <a:off x="5322720" y="1266840"/>
            <a:ext cx="1543320" cy="39744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000">
                <a:solidFill>
                  <a:srgbClr val="000000"/>
                </a:solidFill>
                <a:latin typeface="Arial"/>
              </a:rPr>
              <a:t>Cipher-text</a:t>
            </a:r>
            <a:endParaRPr dirty="0" lang="en-US" spc="-1" sz="2000">
              <a:solidFill>
                <a:srgbClr val="000000"/>
              </a:solidFill>
              <a:latin typeface="Arial"/>
            </a:endParaRPr>
          </a:p>
        </p:txBody>
      </p:sp>
      <p:sp>
        <p:nvSpPr>
          <p:cNvPr id="73" name="Up Arrow 72">
            <a:extLst>
              <a:ext uri="{C183D7F6-B498-43B3-948B-1728B52AA6E4}">
                <adec:decorative xmlns:adec="http://schemas.microsoft.com/office/drawing/2017/decorative" val="1"/>
              </a:ext>
            </a:extLst>
          </p:cNvPr>
          <p:cNvSpPr/>
          <p:nvPr/>
        </p:nvSpPr>
        <p:spPr>
          <a:xfrm>
            <a:off x="4064160" y="3662280"/>
            <a:ext cx="484200" cy="811440"/>
          </a:xfrm>
          <a:prstGeom prst="upArrow">
            <a:avLst>
              <a:gd fmla="val 50000" name="adj1"/>
              <a:gd fmla="val 83784" name="adj2"/>
            </a:avLst>
          </a:prstGeom>
          <a:gradFill rotWithShape="0">
            <a:gsLst>
              <a:gs pos="0">
                <a:srgbClr val="CA7900"/>
              </a:gs>
              <a:gs pos="100000">
                <a:srgbClr val="FE9900"/>
              </a:gs>
            </a:gsLst>
            <a:lin ang="5400000"/>
          </a:gradFill>
          <a:ln w="1260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endParaRPr lang="en-US" spc="-1">
              <a:solidFill>
                <a:srgbClr val="FFFFFF"/>
              </a:solidFill>
              <a:latin typeface="Arial"/>
            </a:endParaRPr>
          </a:p>
        </p:txBody>
      </p:sp>
      <p:sp>
        <p:nvSpPr>
          <p:cNvPr id="74" name="Up Arrow 73">
            <a:extLst>
              <a:ext uri="{C183D7F6-B498-43B3-948B-1728B52AA6E4}">
                <adec:decorative xmlns:adec="http://schemas.microsoft.com/office/drawing/2017/decorative" val="1"/>
              </a:ext>
            </a:extLst>
          </p:cNvPr>
          <p:cNvSpPr/>
          <p:nvPr/>
        </p:nvSpPr>
        <p:spPr>
          <a:xfrm>
            <a:off x="7780440" y="3662280"/>
            <a:ext cx="484200" cy="811440"/>
          </a:xfrm>
          <a:prstGeom prst="upArrow">
            <a:avLst>
              <a:gd fmla="val 50000" name="adj1"/>
              <a:gd fmla="val 83784" name="adj2"/>
            </a:avLst>
          </a:prstGeom>
          <a:gradFill rotWithShape="0">
            <a:gsLst>
              <a:gs pos="0">
                <a:srgbClr val="CA7900"/>
              </a:gs>
              <a:gs pos="100000">
                <a:srgbClr val="FE9900"/>
              </a:gs>
            </a:gsLst>
            <a:lin ang="5400000"/>
          </a:gradFill>
          <a:ln w="1260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endParaRPr lang="en-US" spc="-1">
              <a:solidFill>
                <a:srgbClr val="FFFFFF"/>
              </a:solidFill>
              <a:latin typeface="Arial"/>
            </a:endParaRPr>
          </a:p>
        </p:txBody>
      </p:sp>
      <p:sp>
        <p:nvSpPr>
          <p:cNvPr id="75" name="Rectangle 74"/>
          <p:cNvSpPr/>
          <p:nvPr/>
        </p:nvSpPr>
        <p:spPr>
          <a:xfrm>
            <a:off x="4833840" y="4807080"/>
            <a:ext cx="2603520" cy="45828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400">
                <a:solidFill>
                  <a:srgbClr val="000000"/>
                </a:solidFill>
                <a:latin typeface="Arial"/>
              </a:rPr>
              <a:t>Different keys</a:t>
            </a:r>
            <a:endParaRPr dirty="0" lang="en-US" spc="-1" sz="2400">
              <a:solidFill>
                <a:srgbClr val="000000"/>
              </a:solidFill>
              <a:latin typeface="Arial"/>
            </a:endParaRPr>
          </a:p>
        </p:txBody>
      </p:sp>
      <p:sp>
        <p:nvSpPr>
          <p:cNvPr id="76" name="Straight Connector 75">
            <a:extLst>
              <a:ext uri="{C183D7F6-B498-43B3-948B-1728B52AA6E4}">
                <adec:decorative xmlns:adec="http://schemas.microsoft.com/office/drawing/2017/decorative" val="1"/>
              </a:ext>
            </a:extLst>
          </p:cNvPr>
          <p:cNvSpPr/>
          <p:nvPr/>
        </p:nvSpPr>
        <p:spPr>
          <a:xfrm flipH="1">
            <a:off x="4491120" y="5257800"/>
            <a:ext cx="714240" cy="411120"/>
          </a:xfrm>
          <a:prstGeom prst="line">
            <a:avLst/>
          </a:prstGeom>
          <a:ln w="50760">
            <a:solidFill>
              <a:srgbClr val="FFFFFF"/>
            </a:solidFill>
            <a:miter/>
            <a:tailEnd len="lg" type="stealth" w="med"/>
          </a:ln>
        </p:spPr>
        <p:style>
          <a:lnRef idx="0">
            <a:scrgbClr b="0" g="0" r="0"/>
          </a:lnRef>
          <a:fillRef idx="0">
            <a:scrgbClr b="0" g="0" r="0"/>
          </a:fillRef>
          <a:effectRef idx="0">
            <a:scrgbClr b="0" g="0" r="0"/>
          </a:effectRef>
          <a:fontRef idx="minor"/>
        </p:style>
        <p:txBody>
          <a:bodyPr anchor="ctr" bIns="46800" lIns="90000" rIns="90000" tIns="46800">
            <a:noAutofit/>
          </a:bodyPr>
          <a:lstStyle/>
          <a:p>
            <a:endParaRPr lang="en-US" spc="-1">
              <a:solidFill>
                <a:srgbClr val="FFFFFF"/>
              </a:solidFill>
              <a:latin typeface="Arial"/>
            </a:endParaRPr>
          </a:p>
        </p:txBody>
      </p:sp>
      <p:sp>
        <p:nvSpPr>
          <p:cNvPr id="77" name="Straight Connector 76">
            <a:extLst>
              <a:ext uri="{C183D7F6-B498-43B3-948B-1728B52AA6E4}">
                <adec:decorative xmlns:adec="http://schemas.microsoft.com/office/drawing/2017/decorative" val="1"/>
              </a:ext>
            </a:extLst>
          </p:cNvPr>
          <p:cNvSpPr/>
          <p:nvPr/>
        </p:nvSpPr>
        <p:spPr>
          <a:xfrm>
            <a:off x="7035960" y="5257800"/>
            <a:ext cx="714240" cy="411120"/>
          </a:xfrm>
          <a:prstGeom prst="line">
            <a:avLst/>
          </a:prstGeom>
          <a:ln w="50760">
            <a:solidFill>
              <a:srgbClr val="FFFFFF"/>
            </a:solidFill>
            <a:miter/>
            <a:tailEnd len="lg" type="stealth" w="med"/>
          </a:ln>
        </p:spPr>
        <p:style>
          <a:lnRef idx="0">
            <a:scrgbClr b="0" g="0" r="0"/>
          </a:lnRef>
          <a:fillRef idx="0">
            <a:scrgbClr b="0" g="0" r="0"/>
          </a:fillRef>
          <a:effectRef idx="0">
            <a:scrgbClr b="0" g="0" r="0"/>
          </a:effectRef>
          <a:fontRef idx="minor"/>
        </p:style>
        <p:txBody>
          <a:bodyPr anchor="ctr" bIns="46800" lIns="90000" rIns="90000" tIns="46800">
            <a:noAutofit/>
          </a:bodyPr>
          <a:lstStyle/>
          <a:p>
            <a:endParaRPr lang="en-US" spc="-1">
              <a:solidFill>
                <a:srgbClr val="FFFFFF"/>
              </a:solidFill>
              <a:latin typeface="Arial"/>
            </a:endParaRPr>
          </a:p>
        </p:txBody>
      </p:sp>
      <p:sp>
        <p:nvSpPr>
          <p:cNvPr id="78" name="Rectangle 77"/>
          <p:cNvSpPr/>
          <p:nvPr/>
        </p:nvSpPr>
        <p:spPr>
          <a:xfrm>
            <a:off x="1700040" y="5232240"/>
            <a:ext cx="2187720" cy="94644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800">
                <a:solidFill>
                  <a:srgbClr val="000000"/>
                </a:solidFill>
                <a:latin typeface="Arial"/>
              </a:rPr>
              <a:t>Recipient’s public key</a:t>
            </a:r>
            <a:endParaRPr dirty="0" lang="en-US" spc="-1" sz="2800">
              <a:solidFill>
                <a:srgbClr val="000000"/>
              </a:solidFill>
              <a:latin typeface="Arial"/>
            </a:endParaRPr>
          </a:p>
        </p:txBody>
      </p:sp>
      <p:sp>
        <p:nvSpPr>
          <p:cNvPr id="79" name="Rectangle 78"/>
          <p:cNvSpPr/>
          <p:nvPr/>
        </p:nvSpPr>
        <p:spPr>
          <a:xfrm>
            <a:off x="8466240" y="5203800"/>
            <a:ext cx="2087640" cy="94644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dirty="0" lang="en-US" spc="-1" sz="2800">
                <a:solidFill>
                  <a:srgbClr val="000000"/>
                </a:solidFill>
                <a:latin typeface="Arial"/>
              </a:rPr>
              <a:t>Recipient’s private key</a:t>
            </a:r>
            <a:endParaRPr dirty="0" lang="en-US" spc="-1" sz="2800">
              <a:solidFill>
                <a:srgbClr val="000000"/>
              </a:solidFill>
              <a:latin typeface="Arial"/>
            </a:endParaRPr>
          </a:p>
        </p:txBody>
      </p:sp>
      <p:grpSp>
        <p:nvGrpSpPr>
          <p:cNvPr id="80" name="Group 79">
            <a:extLst>
              <a:ext uri="{C183D7F6-B498-43B3-948B-1728B52AA6E4}">
                <adec:decorative xmlns:adec="http://schemas.microsoft.com/office/drawing/2017/decorative" val="1"/>
              </a:ext>
            </a:extLst>
          </p:cNvPr>
          <p:cNvGrpSpPr/>
          <p:nvPr/>
        </p:nvGrpSpPr>
        <p:grpSpPr>
          <a:xfrm>
            <a:off x="7577040" y="4538520"/>
            <a:ext cx="890640" cy="1710000"/>
            <a:chOff x="6053040" y="4538520"/>
            <a:chExt cx="890640" cy="1710000"/>
          </a:xfrm>
        </p:grpSpPr>
        <p:grpSp>
          <p:nvGrpSpPr>
            <p:cNvPr id="81" name="Group 80"/>
            <p:cNvGrpSpPr/>
            <p:nvPr/>
          </p:nvGrpSpPr>
          <p:grpSpPr>
            <a:xfrm>
              <a:off x="6053040" y="4538520"/>
              <a:ext cx="890640" cy="1710000"/>
              <a:chOff x="6053040" y="4538520"/>
              <a:chExt cx="890640" cy="1710000"/>
            </a:xfrm>
          </p:grpSpPr>
          <p:sp>
            <p:nvSpPr>
              <p:cNvPr id="82" name="Freeform 81"/>
              <p:cNvSpPr/>
              <p:nvPr/>
            </p:nvSpPr>
            <p:spPr>
              <a:xfrm>
                <a:off x="6075360" y="4538520"/>
                <a:ext cx="868320" cy="1700280"/>
              </a:xfrm>
              <a:custGeom>
                <a:avLst/>
                <a:gdLst/>
                <a:ahLst/>
                <a:cxnLst/>
                <a:rect b="b" l="l" r="r" t="t"/>
                <a:pathLst>
                  <a:path h="1071" w="547">
                    <a:moveTo>
                      <a:pt x="349" y="0"/>
                    </a:moveTo>
                    <a:lnTo>
                      <a:pt x="185" y="0"/>
                    </a:lnTo>
                    <a:lnTo>
                      <a:pt x="215" y="41"/>
                    </a:lnTo>
                    <a:lnTo>
                      <a:pt x="312" y="41"/>
                    </a:lnTo>
                    <a:lnTo>
                      <a:pt x="348" y="106"/>
                    </a:lnTo>
                    <a:lnTo>
                      <a:pt x="182" y="106"/>
                    </a:lnTo>
                    <a:lnTo>
                      <a:pt x="216" y="42"/>
                    </a:lnTo>
                    <a:lnTo>
                      <a:pt x="185" y="1"/>
                    </a:lnTo>
                    <a:lnTo>
                      <a:pt x="127" y="102"/>
                    </a:lnTo>
                    <a:lnTo>
                      <a:pt x="95" y="103"/>
                    </a:lnTo>
                    <a:lnTo>
                      <a:pt x="84" y="137"/>
                    </a:lnTo>
                    <a:lnTo>
                      <a:pt x="35" y="137"/>
                    </a:lnTo>
                    <a:lnTo>
                      <a:pt x="35" y="162"/>
                    </a:lnTo>
                    <a:lnTo>
                      <a:pt x="16" y="163"/>
                    </a:lnTo>
                    <a:lnTo>
                      <a:pt x="0" y="163"/>
                    </a:lnTo>
                    <a:lnTo>
                      <a:pt x="0" y="312"/>
                    </a:lnTo>
                    <a:lnTo>
                      <a:pt x="35" y="313"/>
                    </a:lnTo>
                    <a:lnTo>
                      <a:pt x="36" y="344"/>
                    </a:lnTo>
                    <a:lnTo>
                      <a:pt x="82" y="344"/>
                    </a:lnTo>
                    <a:lnTo>
                      <a:pt x="96" y="381"/>
                    </a:lnTo>
                    <a:lnTo>
                      <a:pt x="121" y="382"/>
                    </a:lnTo>
                    <a:lnTo>
                      <a:pt x="123" y="458"/>
                    </a:lnTo>
                    <a:lnTo>
                      <a:pt x="141" y="458"/>
                    </a:lnTo>
                    <a:lnTo>
                      <a:pt x="146" y="469"/>
                    </a:lnTo>
                    <a:lnTo>
                      <a:pt x="146" y="545"/>
                    </a:lnTo>
                    <a:lnTo>
                      <a:pt x="177" y="546"/>
                    </a:lnTo>
                    <a:lnTo>
                      <a:pt x="175" y="1002"/>
                    </a:lnTo>
                    <a:lnTo>
                      <a:pt x="248" y="1070"/>
                    </a:lnTo>
                    <a:lnTo>
                      <a:pt x="341" y="991"/>
                    </a:lnTo>
                    <a:lnTo>
                      <a:pt x="307" y="969"/>
                    </a:lnTo>
                    <a:lnTo>
                      <a:pt x="307" y="942"/>
                    </a:lnTo>
                    <a:lnTo>
                      <a:pt x="341" y="918"/>
                    </a:lnTo>
                    <a:lnTo>
                      <a:pt x="307" y="898"/>
                    </a:lnTo>
                    <a:lnTo>
                      <a:pt x="312" y="889"/>
                    </a:lnTo>
                    <a:lnTo>
                      <a:pt x="342" y="870"/>
                    </a:lnTo>
                    <a:lnTo>
                      <a:pt x="346" y="812"/>
                    </a:lnTo>
                    <a:lnTo>
                      <a:pt x="351" y="806"/>
                    </a:lnTo>
                    <a:lnTo>
                      <a:pt x="307" y="772"/>
                    </a:lnTo>
                    <a:lnTo>
                      <a:pt x="307" y="742"/>
                    </a:lnTo>
                    <a:lnTo>
                      <a:pt x="342" y="708"/>
                    </a:lnTo>
                    <a:lnTo>
                      <a:pt x="307" y="677"/>
                    </a:lnTo>
                    <a:lnTo>
                      <a:pt x="307" y="646"/>
                    </a:lnTo>
                    <a:lnTo>
                      <a:pt x="341" y="606"/>
                    </a:lnTo>
                    <a:lnTo>
                      <a:pt x="346" y="542"/>
                    </a:lnTo>
                    <a:lnTo>
                      <a:pt x="387" y="542"/>
                    </a:lnTo>
                    <a:lnTo>
                      <a:pt x="387" y="455"/>
                    </a:lnTo>
                    <a:lnTo>
                      <a:pt x="412" y="455"/>
                    </a:lnTo>
                    <a:lnTo>
                      <a:pt x="412" y="378"/>
                    </a:lnTo>
                    <a:lnTo>
                      <a:pt x="438" y="378"/>
                    </a:lnTo>
                    <a:lnTo>
                      <a:pt x="450" y="341"/>
                    </a:lnTo>
                    <a:lnTo>
                      <a:pt x="505" y="341"/>
                    </a:lnTo>
                    <a:lnTo>
                      <a:pt x="505" y="310"/>
                    </a:lnTo>
                    <a:lnTo>
                      <a:pt x="546" y="310"/>
                    </a:lnTo>
                    <a:lnTo>
                      <a:pt x="546" y="159"/>
                    </a:lnTo>
                    <a:lnTo>
                      <a:pt x="505" y="159"/>
                    </a:lnTo>
                    <a:lnTo>
                      <a:pt x="505" y="137"/>
                    </a:lnTo>
                    <a:lnTo>
                      <a:pt x="459" y="137"/>
                    </a:lnTo>
                    <a:lnTo>
                      <a:pt x="448" y="127"/>
                    </a:lnTo>
                    <a:lnTo>
                      <a:pt x="437" y="103"/>
                    </a:lnTo>
                    <a:lnTo>
                      <a:pt x="412" y="103"/>
                    </a:lnTo>
                    <a:lnTo>
                      <a:pt x="349" y="0"/>
                    </a:lnTo>
                  </a:path>
                </a:pathLst>
              </a:custGeom>
              <a:solidFill>
                <a:srgbClr val="00AE00"/>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83" name="Freeform 82"/>
              <p:cNvSpPr/>
              <p:nvPr/>
            </p:nvSpPr>
            <p:spPr>
              <a:xfrm>
                <a:off x="6053040" y="4548240"/>
                <a:ext cx="868320" cy="1700280"/>
              </a:xfrm>
              <a:custGeom>
                <a:avLst/>
                <a:gdLst/>
                <a:ahLst/>
                <a:cxnLst/>
                <a:rect b="b" l="l" r="r" t="t"/>
                <a:pathLst>
                  <a:path h="1071" w="547">
                    <a:moveTo>
                      <a:pt x="350" y="0"/>
                    </a:moveTo>
                    <a:lnTo>
                      <a:pt x="186" y="0"/>
                    </a:lnTo>
                    <a:lnTo>
                      <a:pt x="217" y="41"/>
                    </a:lnTo>
                    <a:lnTo>
                      <a:pt x="312" y="41"/>
                    </a:lnTo>
                    <a:lnTo>
                      <a:pt x="348" y="106"/>
                    </a:lnTo>
                    <a:lnTo>
                      <a:pt x="183" y="106"/>
                    </a:lnTo>
                    <a:lnTo>
                      <a:pt x="217" y="42"/>
                    </a:lnTo>
                    <a:lnTo>
                      <a:pt x="186" y="1"/>
                    </a:lnTo>
                    <a:lnTo>
                      <a:pt x="128" y="102"/>
                    </a:lnTo>
                    <a:lnTo>
                      <a:pt x="97" y="102"/>
                    </a:lnTo>
                    <a:lnTo>
                      <a:pt x="86" y="137"/>
                    </a:lnTo>
                    <a:lnTo>
                      <a:pt x="37" y="137"/>
                    </a:lnTo>
                    <a:lnTo>
                      <a:pt x="36" y="162"/>
                    </a:lnTo>
                    <a:lnTo>
                      <a:pt x="17" y="162"/>
                    </a:lnTo>
                    <a:lnTo>
                      <a:pt x="0" y="162"/>
                    </a:lnTo>
                    <a:lnTo>
                      <a:pt x="0" y="312"/>
                    </a:lnTo>
                    <a:lnTo>
                      <a:pt x="37" y="313"/>
                    </a:lnTo>
                    <a:lnTo>
                      <a:pt x="37" y="343"/>
                    </a:lnTo>
                    <a:lnTo>
                      <a:pt x="84" y="343"/>
                    </a:lnTo>
                    <a:lnTo>
                      <a:pt x="97" y="381"/>
                    </a:lnTo>
                    <a:lnTo>
                      <a:pt x="122" y="382"/>
                    </a:lnTo>
                    <a:lnTo>
                      <a:pt x="125" y="458"/>
                    </a:lnTo>
                    <a:lnTo>
                      <a:pt x="141" y="458"/>
                    </a:lnTo>
                    <a:lnTo>
                      <a:pt x="146" y="464"/>
                    </a:lnTo>
                    <a:lnTo>
                      <a:pt x="146" y="545"/>
                    </a:lnTo>
                    <a:lnTo>
                      <a:pt x="178" y="545"/>
                    </a:lnTo>
                    <a:lnTo>
                      <a:pt x="176" y="1002"/>
                    </a:lnTo>
                    <a:lnTo>
                      <a:pt x="248" y="1070"/>
                    </a:lnTo>
                    <a:lnTo>
                      <a:pt x="341" y="991"/>
                    </a:lnTo>
                    <a:lnTo>
                      <a:pt x="308" y="969"/>
                    </a:lnTo>
                    <a:lnTo>
                      <a:pt x="308" y="942"/>
                    </a:lnTo>
                    <a:lnTo>
                      <a:pt x="341" y="918"/>
                    </a:lnTo>
                    <a:lnTo>
                      <a:pt x="308" y="897"/>
                    </a:lnTo>
                    <a:lnTo>
                      <a:pt x="313" y="889"/>
                    </a:lnTo>
                    <a:lnTo>
                      <a:pt x="342" y="870"/>
                    </a:lnTo>
                    <a:lnTo>
                      <a:pt x="347" y="812"/>
                    </a:lnTo>
                    <a:lnTo>
                      <a:pt x="351" y="807"/>
                    </a:lnTo>
                    <a:lnTo>
                      <a:pt x="307" y="772"/>
                    </a:lnTo>
                    <a:lnTo>
                      <a:pt x="307" y="742"/>
                    </a:lnTo>
                    <a:lnTo>
                      <a:pt x="342" y="708"/>
                    </a:lnTo>
                    <a:lnTo>
                      <a:pt x="308" y="677"/>
                    </a:lnTo>
                    <a:lnTo>
                      <a:pt x="308" y="646"/>
                    </a:lnTo>
                    <a:lnTo>
                      <a:pt x="341" y="606"/>
                    </a:lnTo>
                    <a:lnTo>
                      <a:pt x="347" y="542"/>
                    </a:lnTo>
                    <a:lnTo>
                      <a:pt x="387" y="542"/>
                    </a:lnTo>
                    <a:lnTo>
                      <a:pt x="387" y="455"/>
                    </a:lnTo>
                    <a:lnTo>
                      <a:pt x="411" y="455"/>
                    </a:lnTo>
                    <a:lnTo>
                      <a:pt x="411" y="378"/>
                    </a:lnTo>
                    <a:lnTo>
                      <a:pt x="438" y="378"/>
                    </a:lnTo>
                    <a:lnTo>
                      <a:pt x="450" y="341"/>
                    </a:lnTo>
                    <a:lnTo>
                      <a:pt x="505" y="341"/>
                    </a:lnTo>
                    <a:lnTo>
                      <a:pt x="505" y="310"/>
                    </a:lnTo>
                    <a:lnTo>
                      <a:pt x="546" y="310"/>
                    </a:lnTo>
                    <a:lnTo>
                      <a:pt x="546" y="159"/>
                    </a:lnTo>
                    <a:lnTo>
                      <a:pt x="506" y="159"/>
                    </a:lnTo>
                    <a:lnTo>
                      <a:pt x="506" y="137"/>
                    </a:lnTo>
                    <a:lnTo>
                      <a:pt x="459" y="137"/>
                    </a:lnTo>
                    <a:lnTo>
                      <a:pt x="449" y="127"/>
                    </a:lnTo>
                    <a:lnTo>
                      <a:pt x="438" y="102"/>
                    </a:lnTo>
                    <a:lnTo>
                      <a:pt x="411" y="102"/>
                    </a:lnTo>
                    <a:lnTo>
                      <a:pt x="350" y="0"/>
                    </a:lnTo>
                  </a:path>
                </a:pathLst>
              </a:custGeom>
              <a:solidFill>
                <a:srgbClr val="438E00"/>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grpSp>
            <p:nvGrpSpPr>
              <p:cNvPr id="84" name="Group 83"/>
              <p:cNvGrpSpPr/>
              <p:nvPr/>
            </p:nvGrpSpPr>
            <p:grpSpPr>
              <a:xfrm>
                <a:off x="6137280" y="4822920"/>
                <a:ext cx="662040" cy="185760"/>
                <a:chOff x="6137280" y="4822920"/>
                <a:chExt cx="662040" cy="185760"/>
              </a:xfrm>
            </p:grpSpPr>
            <p:sp>
              <p:nvSpPr>
                <p:cNvPr id="85" name="Freeform 84"/>
                <p:cNvSpPr/>
                <p:nvPr/>
              </p:nvSpPr>
              <p:spPr>
                <a:xfrm>
                  <a:off x="6188040" y="4822920"/>
                  <a:ext cx="611280" cy="185760"/>
                </a:xfrm>
                <a:custGeom>
                  <a:avLst/>
                  <a:gdLst/>
                  <a:ahLst/>
                  <a:cxnLst/>
                  <a:rect b="b" l="l" r="r" t="t"/>
                  <a:pathLst>
                    <a:path h="117" w="385">
                      <a:moveTo>
                        <a:pt x="384" y="60"/>
                      </a:moveTo>
                      <a:lnTo>
                        <a:pt x="350" y="0"/>
                      </a:lnTo>
                      <a:lnTo>
                        <a:pt x="0" y="0"/>
                      </a:lnTo>
                      <a:lnTo>
                        <a:pt x="2" y="5"/>
                      </a:lnTo>
                      <a:lnTo>
                        <a:pt x="346" y="5"/>
                      </a:lnTo>
                      <a:lnTo>
                        <a:pt x="376" y="60"/>
                      </a:lnTo>
                      <a:lnTo>
                        <a:pt x="346" y="112"/>
                      </a:lnTo>
                      <a:lnTo>
                        <a:pt x="353" y="116"/>
                      </a:lnTo>
                      <a:lnTo>
                        <a:pt x="384" y="60"/>
                      </a:lnTo>
                    </a:path>
                  </a:pathLst>
                </a:custGeom>
                <a:solidFill>
                  <a:srgbClr val="316501"/>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86" name="Freeform 85"/>
                <p:cNvSpPr/>
                <p:nvPr/>
              </p:nvSpPr>
              <p:spPr>
                <a:xfrm>
                  <a:off x="6137280" y="4822920"/>
                  <a:ext cx="612720" cy="183960"/>
                </a:xfrm>
                <a:custGeom>
                  <a:avLst/>
                  <a:gdLst/>
                  <a:ahLst/>
                  <a:cxnLst/>
                  <a:rect b="b" l="l" r="r" t="t"/>
                  <a:pathLst>
                    <a:path h="116" w="386">
                      <a:moveTo>
                        <a:pt x="0" y="54"/>
                      </a:moveTo>
                      <a:lnTo>
                        <a:pt x="33" y="115"/>
                      </a:lnTo>
                      <a:lnTo>
                        <a:pt x="385" y="115"/>
                      </a:lnTo>
                      <a:lnTo>
                        <a:pt x="382" y="110"/>
                      </a:lnTo>
                      <a:lnTo>
                        <a:pt x="37" y="110"/>
                      </a:lnTo>
                      <a:lnTo>
                        <a:pt x="5" y="54"/>
                      </a:lnTo>
                      <a:lnTo>
                        <a:pt x="36" y="3"/>
                      </a:lnTo>
                      <a:lnTo>
                        <a:pt x="30" y="0"/>
                      </a:lnTo>
                      <a:lnTo>
                        <a:pt x="0" y="54"/>
                      </a:lnTo>
                    </a:path>
                  </a:pathLst>
                </a:custGeom>
                <a:solidFill>
                  <a:srgbClr val="00AE00"/>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grpSp>
          <p:sp>
            <p:nvSpPr>
              <p:cNvPr id="87" name="Rectangle 86"/>
              <p:cNvSpPr/>
              <p:nvPr/>
            </p:nvSpPr>
            <p:spPr>
              <a:xfrm>
                <a:off x="6114960" y="4789440"/>
                <a:ext cx="735120" cy="25560"/>
              </a:xfrm>
              <a:prstGeom prst="rect">
                <a:avLst/>
              </a:prstGeom>
              <a:solidFill>
                <a:srgbClr val="00AE00"/>
              </a:solidFill>
              <a:ln w="0">
                <a:noFill/>
              </a:ln>
            </p:spPr>
            <p:style>
              <a:lnRef idx="0">
                <a:scrgbClr b="0" g="0" r="0"/>
              </a:lnRef>
              <a:fillRef idx="0">
                <a:scrgbClr b="0" g="0" r="0"/>
              </a:fillRef>
              <a:effectRef idx="0">
                <a:scrgbClr b="0" g="0" r="0"/>
              </a:effectRef>
              <a:fontRef idx="minor"/>
            </p:style>
            <p:txBody>
              <a:bodyPr anchor="ctr" bIns="-21240" lIns="90000" rIns="90000" tIns="-21240" wrap="none">
                <a:noAutofit/>
              </a:bodyPr>
              <a:lstStyle/>
              <a:p>
                <a:endParaRPr lang="en-US" spc="-1">
                  <a:solidFill>
                    <a:srgbClr val="FFFFFF"/>
                  </a:solidFill>
                  <a:latin typeface="Arial"/>
                </a:endParaRPr>
              </a:p>
            </p:txBody>
          </p:sp>
          <p:sp>
            <p:nvSpPr>
              <p:cNvPr id="88" name="Rectangle 87"/>
              <p:cNvSpPr/>
              <p:nvPr/>
            </p:nvSpPr>
            <p:spPr>
              <a:xfrm>
                <a:off x="6205680" y="4751280"/>
                <a:ext cx="571320" cy="25560"/>
              </a:xfrm>
              <a:prstGeom prst="rect">
                <a:avLst/>
              </a:prstGeom>
              <a:solidFill>
                <a:srgbClr val="00AE00"/>
              </a:solidFill>
              <a:ln w="0">
                <a:noFill/>
              </a:ln>
            </p:spPr>
            <p:style>
              <a:lnRef idx="0">
                <a:scrgbClr b="0" g="0" r="0"/>
              </a:lnRef>
              <a:fillRef idx="0">
                <a:scrgbClr b="0" g="0" r="0"/>
              </a:fillRef>
              <a:effectRef idx="0">
                <a:scrgbClr b="0" g="0" r="0"/>
              </a:effectRef>
              <a:fontRef idx="minor"/>
            </p:style>
            <p:txBody>
              <a:bodyPr anchor="ctr" bIns="-21240" lIns="90000" rIns="90000" tIns="-21240" wrap="none">
                <a:noAutofit/>
              </a:bodyPr>
              <a:lstStyle/>
              <a:p>
                <a:endParaRPr lang="en-US" spc="-1">
                  <a:solidFill>
                    <a:srgbClr val="FFFFFF"/>
                  </a:solidFill>
                  <a:latin typeface="Arial"/>
                </a:endParaRPr>
              </a:p>
            </p:txBody>
          </p:sp>
          <p:grpSp>
            <p:nvGrpSpPr>
              <p:cNvPr id="89" name="Group 88"/>
              <p:cNvGrpSpPr/>
              <p:nvPr/>
            </p:nvGrpSpPr>
            <p:grpSpPr>
              <a:xfrm>
                <a:off x="6111720" y="5045040"/>
                <a:ext cx="739800" cy="1201680"/>
                <a:chOff x="6111720" y="5045040"/>
                <a:chExt cx="739800" cy="1201680"/>
              </a:xfrm>
            </p:grpSpPr>
            <p:sp>
              <p:nvSpPr>
                <p:cNvPr id="90" name="Freeform 89"/>
                <p:cNvSpPr/>
                <p:nvPr/>
              </p:nvSpPr>
              <p:spPr>
                <a:xfrm>
                  <a:off x="6500880" y="5281560"/>
                  <a:ext cx="27000" cy="924120"/>
                </a:xfrm>
                <a:custGeom>
                  <a:avLst/>
                  <a:gdLst/>
                  <a:ahLst/>
                  <a:cxnLst/>
                  <a:rect b="b" l="l" r="r" t="t"/>
                  <a:pathLst>
                    <a:path h="582" w="17">
                      <a:moveTo>
                        <a:pt x="0" y="0"/>
                      </a:moveTo>
                      <a:lnTo>
                        <a:pt x="0" y="581"/>
                      </a:lnTo>
                      <a:lnTo>
                        <a:pt x="16" y="572"/>
                      </a:lnTo>
                      <a:lnTo>
                        <a:pt x="16" y="18"/>
                      </a:lnTo>
                      <a:lnTo>
                        <a:pt x="0" y="0"/>
                      </a:lnTo>
                    </a:path>
                  </a:pathLst>
                </a:custGeom>
                <a:solidFill>
                  <a:srgbClr val="00AE00"/>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91" name="Freeform 90"/>
                <p:cNvSpPr/>
                <p:nvPr/>
              </p:nvSpPr>
              <p:spPr>
                <a:xfrm>
                  <a:off x="6396120" y="5307120"/>
                  <a:ext cx="27000" cy="900000"/>
                </a:xfrm>
                <a:custGeom>
                  <a:avLst/>
                  <a:gdLst/>
                  <a:ahLst/>
                  <a:cxnLst/>
                  <a:rect b="b" l="l" r="r" t="t"/>
                  <a:pathLst>
                    <a:path h="567" w="17">
                      <a:moveTo>
                        <a:pt x="5" y="0"/>
                      </a:moveTo>
                      <a:lnTo>
                        <a:pt x="0" y="557"/>
                      </a:lnTo>
                      <a:lnTo>
                        <a:pt x="16" y="566"/>
                      </a:lnTo>
                      <a:lnTo>
                        <a:pt x="16" y="45"/>
                      </a:lnTo>
                      <a:lnTo>
                        <a:pt x="5" y="0"/>
                      </a:lnTo>
                    </a:path>
                  </a:pathLst>
                </a:custGeom>
                <a:solidFill>
                  <a:srgbClr val="00AE00"/>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grpSp>
              <p:nvGrpSpPr>
                <p:cNvPr id="92" name="Group 91"/>
                <p:cNvGrpSpPr/>
                <p:nvPr/>
              </p:nvGrpSpPr>
              <p:grpSpPr>
                <a:xfrm>
                  <a:off x="6111720" y="5045040"/>
                  <a:ext cx="739800" cy="1201680"/>
                  <a:chOff x="6111720" y="5045040"/>
                  <a:chExt cx="739800" cy="1201680"/>
                </a:xfrm>
              </p:grpSpPr>
              <p:sp>
                <p:nvSpPr>
                  <p:cNvPr id="93" name="Rectangle 92"/>
                  <p:cNvSpPr/>
                  <p:nvPr/>
                </p:nvSpPr>
                <p:spPr>
                  <a:xfrm>
                    <a:off x="6111720" y="5045040"/>
                    <a:ext cx="739800" cy="25560"/>
                  </a:xfrm>
                  <a:prstGeom prst="rect">
                    <a:avLst/>
                  </a:prstGeom>
                  <a:solidFill>
                    <a:srgbClr val="316501"/>
                  </a:solidFill>
                  <a:ln w="0">
                    <a:noFill/>
                  </a:ln>
                </p:spPr>
                <p:style>
                  <a:lnRef idx="0">
                    <a:scrgbClr b="0" g="0" r="0"/>
                  </a:lnRef>
                  <a:fillRef idx="0">
                    <a:scrgbClr b="0" g="0" r="0"/>
                  </a:fillRef>
                  <a:effectRef idx="0">
                    <a:scrgbClr b="0" g="0" r="0"/>
                  </a:effectRef>
                  <a:fontRef idx="minor"/>
                </p:style>
                <p:txBody>
                  <a:bodyPr anchor="ctr" bIns="-21240" lIns="90000" rIns="90000" tIns="-21240" wrap="none">
                    <a:noAutofit/>
                  </a:bodyPr>
                  <a:lstStyle/>
                  <a:p>
                    <a:endParaRPr lang="en-US" spc="-1">
                      <a:solidFill>
                        <a:srgbClr val="FFFFFF"/>
                      </a:solidFill>
                      <a:latin typeface="Arial"/>
                    </a:endParaRPr>
                  </a:p>
                </p:txBody>
              </p:sp>
              <p:sp>
                <p:nvSpPr>
                  <p:cNvPr id="94" name="Rectangle 93"/>
                  <p:cNvSpPr/>
                  <p:nvPr/>
                </p:nvSpPr>
                <p:spPr>
                  <a:xfrm>
                    <a:off x="6251400" y="5157720"/>
                    <a:ext cx="446400" cy="25560"/>
                  </a:xfrm>
                  <a:prstGeom prst="rect">
                    <a:avLst/>
                  </a:prstGeom>
                  <a:solidFill>
                    <a:srgbClr val="316501"/>
                  </a:solidFill>
                  <a:ln w="0">
                    <a:noFill/>
                  </a:ln>
                </p:spPr>
                <p:style>
                  <a:lnRef idx="0">
                    <a:scrgbClr b="0" g="0" r="0"/>
                  </a:lnRef>
                  <a:fillRef idx="0">
                    <a:scrgbClr b="0" g="0" r="0"/>
                  </a:fillRef>
                  <a:effectRef idx="0">
                    <a:scrgbClr b="0" g="0" r="0"/>
                  </a:effectRef>
                  <a:fontRef idx="minor"/>
                </p:style>
                <p:txBody>
                  <a:bodyPr anchor="ctr" bIns="-21240" lIns="90000" rIns="90000" tIns="-21240" wrap="none">
                    <a:noAutofit/>
                  </a:bodyPr>
                  <a:lstStyle/>
                  <a:p>
                    <a:endParaRPr lang="en-US" spc="-1">
                      <a:solidFill>
                        <a:srgbClr val="FFFFFF"/>
                      </a:solidFill>
                      <a:latin typeface="Arial"/>
                    </a:endParaRPr>
                  </a:p>
                </p:txBody>
              </p:sp>
              <p:sp>
                <p:nvSpPr>
                  <p:cNvPr id="95" name="Freeform 94"/>
                  <p:cNvSpPr/>
                  <p:nvPr/>
                </p:nvSpPr>
                <p:spPr>
                  <a:xfrm>
                    <a:off x="6399360" y="5308560"/>
                    <a:ext cx="47520" cy="938160"/>
                  </a:xfrm>
                  <a:custGeom>
                    <a:avLst/>
                    <a:gdLst/>
                    <a:ahLst/>
                    <a:cxnLst/>
                    <a:rect b="b" l="l" r="r" t="t"/>
                    <a:pathLst>
                      <a:path h="591" w="30">
                        <a:moveTo>
                          <a:pt x="0" y="0"/>
                        </a:moveTo>
                        <a:lnTo>
                          <a:pt x="7" y="38"/>
                        </a:lnTo>
                        <a:lnTo>
                          <a:pt x="18" y="71"/>
                        </a:lnTo>
                        <a:lnTo>
                          <a:pt x="18" y="579"/>
                        </a:lnTo>
                        <a:lnTo>
                          <a:pt x="26" y="590"/>
                        </a:lnTo>
                        <a:lnTo>
                          <a:pt x="29" y="62"/>
                        </a:lnTo>
                        <a:lnTo>
                          <a:pt x="0" y="0"/>
                        </a:lnTo>
                      </a:path>
                    </a:pathLst>
                  </a:custGeom>
                  <a:solidFill>
                    <a:srgbClr val="316501"/>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96" name="Freeform 95"/>
                  <p:cNvSpPr/>
                  <p:nvPr/>
                </p:nvSpPr>
                <p:spPr>
                  <a:xfrm>
                    <a:off x="6278400" y="5273640"/>
                    <a:ext cx="387360" cy="131760"/>
                  </a:xfrm>
                  <a:custGeom>
                    <a:avLst/>
                    <a:gdLst/>
                    <a:ahLst/>
                    <a:cxnLst/>
                    <a:rect b="b" l="l" r="r" t="t"/>
                    <a:pathLst>
                      <a:path h="83" w="244">
                        <a:moveTo>
                          <a:pt x="202" y="82"/>
                        </a:moveTo>
                        <a:lnTo>
                          <a:pt x="218" y="64"/>
                        </a:lnTo>
                        <a:lnTo>
                          <a:pt x="218" y="9"/>
                        </a:lnTo>
                        <a:lnTo>
                          <a:pt x="243" y="9"/>
                        </a:lnTo>
                        <a:lnTo>
                          <a:pt x="243" y="0"/>
                        </a:lnTo>
                        <a:lnTo>
                          <a:pt x="0" y="0"/>
                        </a:lnTo>
                        <a:lnTo>
                          <a:pt x="5" y="9"/>
                        </a:lnTo>
                        <a:lnTo>
                          <a:pt x="137" y="9"/>
                        </a:lnTo>
                        <a:lnTo>
                          <a:pt x="148" y="25"/>
                        </a:lnTo>
                        <a:lnTo>
                          <a:pt x="197" y="25"/>
                        </a:lnTo>
                        <a:lnTo>
                          <a:pt x="202" y="82"/>
                        </a:lnTo>
                      </a:path>
                    </a:pathLst>
                  </a:custGeom>
                  <a:solidFill>
                    <a:srgbClr val="316501"/>
                  </a:solidFill>
                  <a:ln w="0">
                    <a:noFill/>
                  </a:ln>
                </p:spPr>
                <p:style>
                  <a:lnRef idx="0">
                    <a:scrgbClr b="0" g="0" r="0"/>
                  </a:lnRef>
                  <a:fillRef idx="0">
                    <a:scrgbClr b="0" g="0" r="0"/>
                  </a:fillRef>
                  <a:effectRef idx="0">
                    <a:scrgbClr b="0" g="0" r="0"/>
                  </a:effectRef>
                  <a:fontRef idx="minor"/>
                </p:style>
                <p:txBody>
                  <a:bodyPr anchor="t" bIns="46800" lIns="90000" rIns="90000" tIns="46800">
                    <a:noAutofit/>
                  </a:bodyPr>
                  <a:lstStyle/>
                  <a:p>
                    <a:endParaRPr lang="en-US" spc="-1">
                      <a:solidFill>
                        <a:srgbClr val="FFFFFF"/>
                      </a:solidFill>
                      <a:latin typeface="Arial"/>
                    </a:endParaRPr>
                  </a:p>
                </p:txBody>
              </p:sp>
              <p:sp>
                <p:nvSpPr>
                  <p:cNvPr id="97" name="Freeform 96"/>
                  <p:cNvSpPr/>
                  <p:nvPr/>
                </p:nvSpPr>
                <p:spPr>
                  <a:xfrm>
                    <a:off x="6184800" y="5092560"/>
                    <a:ext cx="582840" cy="27000"/>
                  </a:xfrm>
                  <a:custGeom>
                    <a:avLst/>
                    <a:gdLst/>
                    <a:ahLst/>
                    <a:cxnLst/>
                    <a:rect b="b" l="l" r="r" t="t"/>
                    <a:pathLst>
                      <a:path h="17" w="367">
                        <a:moveTo>
                          <a:pt x="366" y="0"/>
                        </a:moveTo>
                        <a:lnTo>
                          <a:pt x="0" y="0"/>
                        </a:lnTo>
                        <a:lnTo>
                          <a:pt x="3" y="16"/>
                        </a:lnTo>
                        <a:lnTo>
                          <a:pt x="363" y="16"/>
                        </a:lnTo>
                        <a:lnTo>
                          <a:pt x="366" y="0"/>
                        </a:lnTo>
                      </a:path>
                    </a:pathLst>
                  </a:custGeom>
                  <a:solidFill>
                    <a:srgbClr val="316501"/>
                  </a:solidFill>
                  <a:ln w="0">
                    <a:noFill/>
                  </a:ln>
                </p:spPr>
                <p:style>
                  <a:lnRef idx="0">
                    <a:scrgbClr b="0" g="0" r="0"/>
                  </a:lnRef>
                  <a:fillRef idx="0">
                    <a:scrgbClr b="0" g="0" r="0"/>
                  </a:fillRef>
                  <a:effectRef idx="0">
                    <a:scrgbClr b="0" g="0" r="0"/>
                  </a:effectRef>
                  <a:fontRef idx="minor"/>
                </p:style>
                <p:txBody>
                  <a:bodyPr anchor="t" bIns="-19800" lIns="90000" rIns="90000" tIns="-19800">
                    <a:noAutofit/>
                  </a:bodyPr>
                  <a:lstStyle/>
                  <a:p>
                    <a:endParaRPr lang="en-US" spc="-1">
                      <a:solidFill>
                        <a:srgbClr val="FFFFFF"/>
                      </a:solidFill>
                      <a:latin typeface="Arial"/>
                    </a:endParaRPr>
                  </a:p>
                </p:txBody>
              </p:sp>
            </p:grpSp>
          </p:grpSp>
        </p:grpSp>
        <p:sp>
          <p:nvSpPr>
            <p:cNvPr id="98" name="Rectangle 97"/>
            <p:cNvSpPr/>
            <p:nvPr/>
          </p:nvSpPr>
          <p:spPr>
            <a:xfrm flipH="1">
              <a:off x="6100200" y="4773600"/>
              <a:ext cx="765000" cy="51948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400">
                  <a:solidFill>
                    <a:srgbClr val="FFFFFF"/>
                  </a:solidFill>
                  <a:latin typeface="Arial"/>
                </a:rPr>
                <a:t>private</a:t>
              </a:r>
              <a:endParaRPr lang="en-US" spc="-1" sz="1400">
                <a:solidFill>
                  <a:srgbClr val="FFFFFF"/>
                </a:solidFill>
                <a:latin typeface="Arial"/>
              </a:endParaRPr>
            </a:p>
          </p:txBody>
        </p:sp>
      </p:grpSp>
      <p:grpSp>
        <p:nvGrpSpPr>
          <p:cNvPr id="99" name="Group 98">
            <a:extLst>
              <a:ext uri="{C183D7F6-B498-43B3-948B-1728B52AA6E4}">
                <adec:decorative xmlns:adec="http://schemas.microsoft.com/office/drawing/2017/decorative" val="1"/>
              </a:ext>
            </a:extLst>
          </p:cNvPr>
          <p:cNvGrpSpPr/>
          <p:nvPr/>
        </p:nvGrpSpPr>
        <p:grpSpPr>
          <a:xfrm>
            <a:off x="3832320" y="4549680"/>
            <a:ext cx="864720" cy="1710000"/>
            <a:chOff x="2308320" y="4549680"/>
            <a:chExt cx="864720" cy="1710000"/>
          </a:xfrm>
        </p:grpSpPr>
        <p:graphicFrame>
          <p:nvGraphicFramePr>
            <p:cNvPr id="100" name="Object 99"/>
            <p:cNvGraphicFramePr/>
            <p:nvPr/>
          </p:nvGraphicFramePr>
          <p:xfrm>
            <a:off x="2308320" y="4549680"/>
            <a:ext cx="864720" cy="1710000"/>
          </p:xfrm>
          <a:graphic>
            <a:graphicData uri="http://schemas.openxmlformats.org/presentationml/2006/ole">
              <mc:AlternateContent xmlns:mc="http://schemas.openxmlformats.org/markup-compatibility/2006">
                <mc:Choice xmlns:v="urn:schemas-microsoft-com:vml" Requires="v">
                  <p:oleObj imgH="0" imgW="0" progId="" r:id="rId2">
                    <p:embed/>
                  </p:oleObj>
                </mc:Choice>
                <mc:Fallback>
                  <p:oleObj imgH="0" imgW="0" progId="" r:id="rId2">
                    <p:embed/>
                    <p:pic>
                      <p:nvPicPr>
                        <p:cNvPr id="100" name="Object 99"/>
                        <p:cNvPicPr/>
                        <p:nvPr/>
                      </p:nvPicPr>
                      <p:blipFill>
                        <a:blip r:embed="rId3"/>
                        <a:stretch/>
                      </p:blipFill>
                      <p:spPr>
                        <a:xfrm>
                          <a:off x="2308320" y="4549680"/>
                          <a:ext cx="864720" cy="1710000"/>
                        </a:xfrm>
                        <a:prstGeom prst="rect">
                          <a:avLst/>
                        </a:prstGeom>
                        <a:ln w="0">
                          <a:noFill/>
                        </a:ln>
                      </p:spPr>
                    </p:pic>
                  </p:oleObj>
                </mc:Fallback>
              </mc:AlternateContent>
            </a:graphicData>
          </a:graphic>
        </p:graphicFrame>
        <p:sp>
          <p:nvSpPr>
            <p:cNvPr id="102" name="Rectangle 101"/>
            <p:cNvSpPr/>
            <p:nvPr/>
          </p:nvSpPr>
          <p:spPr>
            <a:xfrm>
              <a:off x="2408040" y="4780080"/>
              <a:ext cx="731160" cy="306000"/>
            </a:xfrm>
            <a:prstGeom prst="rect">
              <a:avLst/>
            </a:prstGeom>
            <a:noFill/>
            <a:ln w="0">
              <a:noFill/>
            </a:ln>
          </p:spPr>
          <p:style>
            <a:lnRef idx="0">
              <a:scrgbClr b="0" g="0" r="0"/>
            </a:lnRef>
            <a:fillRef idx="0">
              <a:scrgbClr b="0" g="0" r="0"/>
            </a:fillRef>
            <a:effectRef idx="0">
              <a:scrgbClr b="0" g="0" r="0"/>
            </a:effectRef>
            <a:fontRef idx="minor"/>
          </p:style>
          <p:txBody>
            <a:bodyPr anchor="t" bIns="46080" lIns="92160" rIns="92160" tIns="46080">
              <a:spAutoFit/>
            </a:bodyPr>
            <a:lstStyle/>
            <a:p>
              <a:pPr algn="ctr">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sz="1400">
                  <a:solidFill>
                    <a:srgbClr val="FFFFFF"/>
                  </a:solidFill>
                  <a:latin typeface="Arial"/>
                </a:rPr>
                <a:t>public</a:t>
              </a:r>
              <a:endParaRPr lang="en-US" spc="-1" sz="1400">
                <a:solidFill>
                  <a:srgbClr val="FFFFFF"/>
                </a:solidFill>
                <a:latin typeface="Arial"/>
              </a:endParaRPr>
            </a:p>
          </p:txBody>
        </p:sp>
      </p:grpSp>
    </p:spTree>
  </p:cSld>
  <p:clrMapOvr>
    <a:masterClrMapping/>
  </p:clrMapOvr>
  <p:transition spd="med">
    <p:randomBar/>
  </p:transition>
  <p:timing>
    <p:tnLst>
      <p:par>
        <p:cTn dur="indefinite" id="1" nodeType="tmRoot" restart="never">
          <p:childTnLst>
            <p:seq>
              <p:cTn dur="indefinite" id="2" nodeType="mainSeq">
                <p:childTnLst>
                  <p:par>
                    <p:cTn fill="hold" id="3">
                      <p:stCondLst>
                        <p:cond delay="indefinite"/>
                      </p:stCondLst>
                      <p:childTnLst>
                        <p:par>
                          <p:cTn fill="hold" id="4">
                            <p:stCondLst>
                              <p:cond delay="0"/>
                            </p:stCondLst>
                            <p:childTnLst>
                              <p:par>
                                <p:cTn fill="hold" id="5" nodeType="clickEffect" presetClass="entr" presetID="3" presetSubtype="10">
                                  <p:stCondLst>
                                    <p:cond delay="0"/>
                                  </p:stCondLst>
                                  <p:childTnLst>
                                    <p:set>
                                      <p:cBhvr>
                                        <p:cTn dur="1" fill="hold" id="6">
                                          <p:stCondLst>
                                            <p:cond delay="0"/>
                                          </p:stCondLst>
                                        </p:cTn>
                                        <p:tgtEl>
                                          <p:spTgt spid="69"/>
                                        </p:tgtEl>
                                        <p:attrNameLst>
                                          <p:attrName>style.visibility</p:attrName>
                                        </p:attrNameLst>
                                      </p:cBhvr>
                                      <p:to>
                                        <p:strVal val="visible"/>
                                      </p:to>
                                    </p:set>
                                    <p:animEffect filter="blinds(horizontal)" transition="in">
                                      <p:cBhvr additive="repl">
                                        <p:cTn dur="500" id="7"/>
                                        <p:tgtEl>
                                          <p:spTgt spid="69"/>
                                        </p:tgtEl>
                                      </p:cBhvr>
                                    </p:animEffect>
                                  </p:childTnLst>
                                </p:cTn>
                              </p:par>
                              <p:par>
                                <p:cTn fill="hold" id="8" nodeType="withEffect" presetClass="entr" presetID="3" presetSubtype="10">
                                  <p:stCondLst>
                                    <p:cond delay="0"/>
                                  </p:stCondLst>
                                  <p:childTnLst>
                                    <p:set>
                                      <p:cBhvr>
                                        <p:cTn dur="1" fill="hold" id="9">
                                          <p:stCondLst>
                                            <p:cond delay="0"/>
                                          </p:stCondLst>
                                        </p:cTn>
                                        <p:tgtEl>
                                          <p:spTgt spid="61"/>
                                        </p:tgtEl>
                                        <p:attrNameLst>
                                          <p:attrName>style.visibility</p:attrName>
                                        </p:attrNameLst>
                                      </p:cBhvr>
                                      <p:to>
                                        <p:strVal val="visible"/>
                                      </p:to>
                                    </p:set>
                                    <p:animEffect filter="blinds(horizontal)" transition="in">
                                      <p:cBhvr additive="repl">
                                        <p:cTn dur="500" id="10"/>
                                        <p:tgtEl>
                                          <p:spTgt spid="61"/>
                                        </p:tgtEl>
                                      </p:cBhvr>
                                    </p:animEffect>
                                  </p:childTnLst>
                                </p:cTn>
                              </p:par>
                              <p:par>
                                <p:cTn fill="hold" id="11" nodeType="withEffect" presetClass="entr" presetID="3" presetSubtype="10">
                                  <p:stCondLst>
                                    <p:cond delay="0"/>
                                  </p:stCondLst>
                                  <p:childTnLst>
                                    <p:set>
                                      <p:cBhvr>
                                        <p:cTn dur="1" fill="hold" id="12">
                                          <p:stCondLst>
                                            <p:cond delay="0"/>
                                          </p:stCondLst>
                                        </p:cTn>
                                        <p:tgtEl>
                                          <p:spTgt spid="73"/>
                                        </p:tgtEl>
                                        <p:attrNameLst>
                                          <p:attrName>style.visibility</p:attrName>
                                        </p:attrNameLst>
                                      </p:cBhvr>
                                      <p:to>
                                        <p:strVal val="visible"/>
                                      </p:to>
                                    </p:set>
                                    <p:animEffect filter="blinds(horizontal)" transition="in">
                                      <p:cBhvr additive="repl">
                                        <p:cTn dur="500" id="13"/>
                                        <p:tgtEl>
                                          <p:spTgt spid="73"/>
                                        </p:tgtEl>
                                      </p:cBhvr>
                                    </p:animEffect>
                                  </p:childTnLst>
                                </p:cTn>
                              </p:par>
                              <p:par>
                                <p:cTn fill="hold" id="14" nodeType="withEffect" presetClass="entr" presetID="3" presetSubtype="10">
                                  <p:stCondLst>
                                    <p:cond delay="0"/>
                                  </p:stCondLst>
                                  <p:childTnLst>
                                    <p:set>
                                      <p:cBhvr>
                                        <p:cTn dur="1" fill="hold" id="15">
                                          <p:stCondLst>
                                            <p:cond delay="0"/>
                                          </p:stCondLst>
                                        </p:cTn>
                                        <p:tgtEl>
                                          <p:spTgt spid="99"/>
                                        </p:tgtEl>
                                        <p:attrNameLst>
                                          <p:attrName>style.visibility</p:attrName>
                                        </p:attrNameLst>
                                      </p:cBhvr>
                                      <p:to>
                                        <p:strVal val="visible"/>
                                      </p:to>
                                    </p:set>
                                    <p:animEffect filter="blinds(horizontal)" transition="in">
                                      <p:cBhvr additive="repl">
                                        <p:cTn dur="500" id="16"/>
                                        <p:tgtEl>
                                          <p:spTgt spid="99"/>
                                        </p:tgtEl>
                                      </p:cBhvr>
                                    </p:animEffect>
                                  </p:childTnLst>
                                </p:cTn>
                              </p:par>
                              <p:par>
                                <p:cTn fill="hold" id="17" nodeType="withEffect" presetClass="entr" presetID="3" presetSubtype="10">
                                  <p:stCondLst>
                                    <p:cond delay="0"/>
                                  </p:stCondLst>
                                  <p:childTnLst>
                                    <p:set>
                                      <p:cBhvr>
                                        <p:cTn dur="1" fill="hold" id="18">
                                          <p:stCondLst>
                                            <p:cond delay="0"/>
                                          </p:stCondLst>
                                        </p:cTn>
                                        <p:tgtEl>
                                          <p:spTgt spid="78"/>
                                        </p:tgtEl>
                                        <p:attrNameLst>
                                          <p:attrName>style.visibility</p:attrName>
                                        </p:attrNameLst>
                                      </p:cBhvr>
                                      <p:to>
                                        <p:strVal val="visible"/>
                                      </p:to>
                                    </p:set>
                                    <p:animEffect filter="blinds(horizontal)" transition="in">
                                      <p:cBhvr additive="repl">
                                        <p:cTn dur="500" id="19"/>
                                        <p:tgtEl>
                                          <p:spTgt spid="78"/>
                                        </p:tgtEl>
                                      </p:cBhvr>
                                    </p:animEffect>
                                  </p:childTnLst>
                                </p:cTn>
                              </p:par>
                              <p:par>
                                <p:cTn fill="hold" id="20" nodeType="withEffect" presetClass="entr" presetID="3" presetSubtype="10">
                                  <p:stCondLst>
                                    <p:cond delay="0"/>
                                  </p:stCondLst>
                                  <p:childTnLst>
                                    <p:set>
                                      <p:cBhvr>
                                        <p:cTn dur="1" fill="hold" id="21">
                                          <p:stCondLst>
                                            <p:cond delay="0"/>
                                          </p:stCondLst>
                                        </p:cTn>
                                        <p:tgtEl>
                                          <p:spTgt spid="65"/>
                                        </p:tgtEl>
                                        <p:attrNameLst>
                                          <p:attrName>style.visibility</p:attrName>
                                        </p:attrNameLst>
                                      </p:cBhvr>
                                      <p:to>
                                        <p:strVal val="visible"/>
                                      </p:to>
                                    </p:set>
                                    <p:animEffect filter="blinds(horizontal)" transition="in">
                                      <p:cBhvr additive="repl">
                                        <p:cTn dur="500" id="22"/>
                                        <p:tgtEl>
                                          <p:spTgt spid="65"/>
                                        </p:tgtEl>
                                      </p:cBhvr>
                                    </p:animEffect>
                                  </p:childTnLst>
                                </p:cTn>
                              </p:par>
                              <p:par>
                                <p:cTn fill="hold" id="23" nodeType="withEffect" presetClass="entr" presetID="3" presetSubtype="10">
                                  <p:stCondLst>
                                    <p:cond delay="0"/>
                                  </p:stCondLst>
                                  <p:childTnLst>
                                    <p:set>
                                      <p:cBhvr>
                                        <p:cTn dur="1" fill="hold" id="24">
                                          <p:stCondLst>
                                            <p:cond delay="0"/>
                                          </p:stCondLst>
                                        </p:cTn>
                                        <p:tgtEl>
                                          <p:spTgt spid="63"/>
                                        </p:tgtEl>
                                        <p:attrNameLst>
                                          <p:attrName>style.visibility</p:attrName>
                                        </p:attrNameLst>
                                      </p:cBhvr>
                                      <p:to>
                                        <p:strVal val="visible"/>
                                      </p:to>
                                    </p:set>
                                    <p:animEffect filter="blinds(horizontal)" transition="in">
                                      <p:cBhvr additive="repl">
                                        <p:cTn dur="500" id="25"/>
                                        <p:tgtEl>
                                          <p:spTgt spid="63"/>
                                        </p:tgtEl>
                                      </p:cBhvr>
                                    </p:animEffect>
                                  </p:childTnLst>
                                </p:cTn>
                              </p:par>
                              <p:par>
                                <p:cTn fill="hold" id="26" nodeType="withEffect" presetClass="entr" presetID="3" presetSubtype="10">
                                  <p:stCondLst>
                                    <p:cond delay="0"/>
                                  </p:stCondLst>
                                  <p:childTnLst>
                                    <p:set>
                                      <p:cBhvr>
                                        <p:cTn dur="1" fill="hold" id="27">
                                          <p:stCondLst>
                                            <p:cond delay="0"/>
                                          </p:stCondLst>
                                        </p:cTn>
                                        <p:tgtEl>
                                          <p:spTgt spid="72"/>
                                        </p:tgtEl>
                                        <p:attrNameLst>
                                          <p:attrName>style.visibility</p:attrName>
                                        </p:attrNameLst>
                                      </p:cBhvr>
                                      <p:to>
                                        <p:strVal val="visible"/>
                                      </p:to>
                                    </p:set>
                                    <p:animEffect filter="blinds(horizontal)" transition="in">
                                      <p:cBhvr additive="repl">
                                        <p:cTn dur="500" id="28"/>
                                        <p:tgtEl>
                                          <p:spTgt spid="72"/>
                                        </p:tgtEl>
                                      </p:cBhvr>
                                    </p:animEffect>
                                  </p:childTnLst>
                                </p:cTn>
                              </p:par>
                            </p:childTnLst>
                          </p:cTn>
                        </p:par>
                      </p:childTnLst>
                    </p:cTn>
                  </p:par>
                  <p:par>
                    <p:cTn fill="hold" id="29">
                      <p:stCondLst>
                        <p:cond delay="indefinite"/>
                      </p:stCondLst>
                      <p:childTnLst>
                        <p:par>
                          <p:cTn fill="hold" id="30">
                            <p:stCondLst>
                              <p:cond delay="0"/>
                            </p:stCondLst>
                            <p:childTnLst>
                              <p:par>
                                <p:cTn fill="hold" id="31" nodeType="clickEffect" presetClass="entr" presetID="3" presetSubtype="10">
                                  <p:stCondLst>
                                    <p:cond delay="0"/>
                                  </p:stCondLst>
                                  <p:childTnLst>
                                    <p:set>
                                      <p:cBhvr>
                                        <p:cTn dur="1" fill="hold" id="32">
                                          <p:stCondLst>
                                            <p:cond delay="0"/>
                                          </p:stCondLst>
                                        </p:cTn>
                                        <p:tgtEl>
                                          <p:spTgt spid="66"/>
                                        </p:tgtEl>
                                        <p:attrNameLst>
                                          <p:attrName>style.visibility</p:attrName>
                                        </p:attrNameLst>
                                      </p:cBhvr>
                                      <p:to>
                                        <p:strVal val="visible"/>
                                      </p:to>
                                    </p:set>
                                    <p:animEffect filter="blinds(horizontal)" transition="in">
                                      <p:cBhvr additive="repl">
                                        <p:cTn dur="500" id="33"/>
                                        <p:tgtEl>
                                          <p:spTgt spid="66"/>
                                        </p:tgtEl>
                                      </p:cBhvr>
                                    </p:animEffect>
                                  </p:childTnLst>
                                </p:cTn>
                              </p:par>
                              <p:par>
                                <p:cTn fill="hold" id="34" nodeType="withEffect" presetClass="entr" presetID="3" presetSubtype="10">
                                  <p:stCondLst>
                                    <p:cond delay="0"/>
                                  </p:stCondLst>
                                  <p:childTnLst>
                                    <p:set>
                                      <p:cBhvr>
                                        <p:cTn dur="1" fill="hold" id="35">
                                          <p:stCondLst>
                                            <p:cond delay="0"/>
                                          </p:stCondLst>
                                        </p:cTn>
                                        <p:tgtEl>
                                          <p:spTgt spid="67"/>
                                        </p:tgtEl>
                                        <p:attrNameLst>
                                          <p:attrName>style.visibility</p:attrName>
                                        </p:attrNameLst>
                                      </p:cBhvr>
                                      <p:to>
                                        <p:strVal val="visible"/>
                                      </p:to>
                                    </p:set>
                                    <p:animEffect filter="blinds(horizontal)" transition="in">
                                      <p:cBhvr additive="repl">
                                        <p:cTn dur="500" id="36"/>
                                        <p:tgtEl>
                                          <p:spTgt spid="67"/>
                                        </p:tgtEl>
                                      </p:cBhvr>
                                    </p:animEffect>
                                  </p:childTnLst>
                                </p:cTn>
                              </p:par>
                              <p:par>
                                <p:cTn fill="hold" id="37" nodeType="withEffect" presetClass="entr" presetID="3" presetSubtype="10">
                                  <p:stCondLst>
                                    <p:cond delay="0"/>
                                  </p:stCondLst>
                                  <p:childTnLst>
                                    <p:set>
                                      <p:cBhvr>
                                        <p:cTn dur="1" fill="hold" id="38">
                                          <p:stCondLst>
                                            <p:cond delay="0"/>
                                          </p:stCondLst>
                                        </p:cTn>
                                        <p:tgtEl>
                                          <p:spTgt spid="74"/>
                                        </p:tgtEl>
                                        <p:attrNameLst>
                                          <p:attrName>style.visibility</p:attrName>
                                        </p:attrNameLst>
                                      </p:cBhvr>
                                      <p:to>
                                        <p:strVal val="visible"/>
                                      </p:to>
                                    </p:set>
                                    <p:animEffect filter="blinds(horizontal)" transition="in">
                                      <p:cBhvr additive="repl">
                                        <p:cTn dur="500" id="39"/>
                                        <p:tgtEl>
                                          <p:spTgt spid="74"/>
                                        </p:tgtEl>
                                      </p:cBhvr>
                                    </p:animEffect>
                                  </p:childTnLst>
                                </p:cTn>
                              </p:par>
                              <p:par>
                                <p:cTn fill="hold" id="40" nodeType="withEffect" presetClass="entr" presetID="3" presetSubtype="10">
                                  <p:stCondLst>
                                    <p:cond delay="0"/>
                                  </p:stCondLst>
                                  <p:childTnLst>
                                    <p:set>
                                      <p:cBhvr>
                                        <p:cTn dur="1" fill="hold" id="41">
                                          <p:stCondLst>
                                            <p:cond delay="0"/>
                                          </p:stCondLst>
                                        </p:cTn>
                                        <p:tgtEl>
                                          <p:spTgt spid="80"/>
                                        </p:tgtEl>
                                        <p:attrNameLst>
                                          <p:attrName>style.visibility</p:attrName>
                                        </p:attrNameLst>
                                      </p:cBhvr>
                                      <p:to>
                                        <p:strVal val="visible"/>
                                      </p:to>
                                    </p:set>
                                    <p:animEffect filter="blinds(horizontal)" transition="in">
                                      <p:cBhvr additive="repl">
                                        <p:cTn dur="500" id="42"/>
                                        <p:tgtEl>
                                          <p:spTgt spid="80"/>
                                        </p:tgtEl>
                                      </p:cBhvr>
                                    </p:animEffect>
                                  </p:childTnLst>
                                </p:cTn>
                              </p:par>
                              <p:par>
                                <p:cTn fill="hold" id="43" nodeType="withEffect" presetClass="entr" presetID="3" presetSubtype="10">
                                  <p:stCondLst>
                                    <p:cond delay="0"/>
                                  </p:stCondLst>
                                  <p:childTnLst>
                                    <p:set>
                                      <p:cBhvr>
                                        <p:cTn dur="1" fill="hold" id="44">
                                          <p:stCondLst>
                                            <p:cond delay="0"/>
                                          </p:stCondLst>
                                        </p:cTn>
                                        <p:tgtEl>
                                          <p:spTgt spid="77"/>
                                        </p:tgtEl>
                                        <p:attrNameLst>
                                          <p:attrName>style.visibility</p:attrName>
                                        </p:attrNameLst>
                                      </p:cBhvr>
                                      <p:to>
                                        <p:strVal val="visible"/>
                                      </p:to>
                                    </p:set>
                                    <p:animEffect filter="blinds(horizontal)" transition="in">
                                      <p:cBhvr additive="repl">
                                        <p:cTn dur="500" id="45"/>
                                        <p:tgtEl>
                                          <p:spTgt spid="77"/>
                                        </p:tgtEl>
                                      </p:cBhvr>
                                    </p:animEffect>
                                  </p:childTnLst>
                                </p:cTn>
                              </p:par>
                              <p:par>
                                <p:cTn fill="hold" id="46" nodeType="withEffect" presetClass="entr" presetID="3" presetSubtype="10">
                                  <p:stCondLst>
                                    <p:cond delay="0"/>
                                  </p:stCondLst>
                                  <p:childTnLst>
                                    <p:set>
                                      <p:cBhvr>
                                        <p:cTn dur="1" fill="hold" id="47">
                                          <p:stCondLst>
                                            <p:cond delay="0"/>
                                          </p:stCondLst>
                                        </p:cTn>
                                        <p:tgtEl>
                                          <p:spTgt spid="76"/>
                                        </p:tgtEl>
                                        <p:attrNameLst>
                                          <p:attrName>style.visibility</p:attrName>
                                        </p:attrNameLst>
                                      </p:cBhvr>
                                      <p:to>
                                        <p:strVal val="visible"/>
                                      </p:to>
                                    </p:set>
                                    <p:animEffect filter="blinds(horizontal)" transition="in">
                                      <p:cBhvr additive="repl">
                                        <p:cTn dur="500" id="48"/>
                                        <p:tgtEl>
                                          <p:spTgt spid="76"/>
                                        </p:tgtEl>
                                      </p:cBhvr>
                                    </p:animEffect>
                                  </p:childTnLst>
                                </p:cTn>
                              </p:par>
                              <p:par>
                                <p:cTn fill="hold" id="49" nodeType="withEffect" presetClass="entr" presetID="3" presetSubtype="10">
                                  <p:stCondLst>
                                    <p:cond delay="0"/>
                                  </p:stCondLst>
                                  <p:childTnLst>
                                    <p:set>
                                      <p:cBhvr>
                                        <p:cTn dur="1" fill="hold" id="50">
                                          <p:stCondLst>
                                            <p:cond delay="0"/>
                                          </p:stCondLst>
                                        </p:cTn>
                                        <p:tgtEl>
                                          <p:spTgt spid="75"/>
                                        </p:tgtEl>
                                        <p:attrNameLst>
                                          <p:attrName>style.visibility</p:attrName>
                                        </p:attrNameLst>
                                      </p:cBhvr>
                                      <p:to>
                                        <p:strVal val="visible"/>
                                      </p:to>
                                    </p:set>
                                    <p:animEffect filter="blinds(horizontal)" transition="in">
                                      <p:cBhvr additive="repl">
                                        <p:cTn dur="500" id="51"/>
                                        <p:tgtEl>
                                          <p:spTgt spid="75"/>
                                        </p:tgtEl>
                                      </p:cBhvr>
                                    </p:animEffect>
                                  </p:childTnLst>
                                </p:cTn>
                              </p:par>
                              <p:par>
                                <p:cTn fill="hold" id="52" nodeType="withEffect" presetClass="entr" presetID="3" presetSubtype="10">
                                  <p:stCondLst>
                                    <p:cond delay="0"/>
                                  </p:stCondLst>
                                  <p:childTnLst>
                                    <p:set>
                                      <p:cBhvr>
                                        <p:cTn dur="1" fill="hold" id="53">
                                          <p:stCondLst>
                                            <p:cond delay="0"/>
                                          </p:stCondLst>
                                        </p:cTn>
                                        <p:tgtEl>
                                          <p:spTgt spid="68"/>
                                        </p:tgtEl>
                                        <p:attrNameLst>
                                          <p:attrName>style.visibility</p:attrName>
                                        </p:attrNameLst>
                                      </p:cBhvr>
                                      <p:to>
                                        <p:strVal val="visible"/>
                                      </p:to>
                                    </p:set>
                                    <p:animEffect filter="blinds(horizontal)" transition="in">
                                      <p:cBhvr additive="repl">
                                        <p:cTn dur="500" id="54"/>
                                        <p:tgtEl>
                                          <p:spTgt spid="68"/>
                                        </p:tgtEl>
                                      </p:cBhvr>
                                    </p:animEffect>
                                  </p:childTnLst>
                                </p:cTn>
                              </p:par>
                              <p:par>
                                <p:cTn fill="hold" id="55" nodeType="withEffect" presetClass="entr" presetID="3" presetSubtype="10">
                                  <p:stCondLst>
                                    <p:cond delay="0"/>
                                  </p:stCondLst>
                                  <p:childTnLst>
                                    <p:set>
                                      <p:cBhvr>
                                        <p:cTn dur="1" fill="hold" id="56">
                                          <p:stCondLst>
                                            <p:cond delay="0"/>
                                          </p:stCondLst>
                                        </p:cTn>
                                        <p:tgtEl>
                                          <p:spTgt spid="62"/>
                                        </p:tgtEl>
                                        <p:attrNameLst>
                                          <p:attrName>style.visibility</p:attrName>
                                        </p:attrNameLst>
                                      </p:cBhvr>
                                      <p:to>
                                        <p:strVal val="visible"/>
                                      </p:to>
                                    </p:set>
                                    <p:animEffect filter="blinds(horizontal)" transition="in">
                                      <p:cBhvr additive="repl">
                                        <p:cTn dur="500" id="57"/>
                                        <p:tgtEl>
                                          <p:spTgt spid="62"/>
                                        </p:tgtEl>
                                      </p:cBhvr>
                                    </p:animEffect>
                                  </p:childTnLst>
                                </p:cTn>
                              </p:par>
                              <p:par>
                                <p:cTn fill="hold" id="58" nodeType="withEffect" presetClass="entr" presetID="3" presetSubtype="10">
                                  <p:stCondLst>
                                    <p:cond delay="0"/>
                                  </p:stCondLst>
                                  <p:childTnLst>
                                    <p:set>
                                      <p:cBhvr>
                                        <p:cTn dur="1" fill="hold" id="59">
                                          <p:stCondLst>
                                            <p:cond delay="0"/>
                                          </p:stCondLst>
                                        </p:cTn>
                                        <p:tgtEl>
                                          <p:spTgt spid="71"/>
                                        </p:tgtEl>
                                        <p:attrNameLst>
                                          <p:attrName>style.visibility</p:attrName>
                                        </p:attrNameLst>
                                      </p:cBhvr>
                                      <p:to>
                                        <p:strVal val="visible"/>
                                      </p:to>
                                    </p:set>
                                    <p:animEffect filter="blinds(horizontal)" transition="in">
                                      <p:cBhvr additive="repl">
                                        <p:cTn dur="500" id="60"/>
                                        <p:tgtEl>
                                          <p:spTgt spid="71"/>
                                        </p:tgtEl>
                                      </p:cBhvr>
                                    </p:animEffect>
                                  </p:childTnLst>
                                </p:cTn>
                              </p:par>
                              <p:par>
                                <p:cTn fill="hold" id="61" nodeType="withEffect" presetClass="entr" presetID="3" presetSubtype="10">
                                  <p:stCondLst>
                                    <p:cond delay="0"/>
                                  </p:stCondLst>
                                  <p:childTnLst>
                                    <p:set>
                                      <p:cBhvr>
                                        <p:cTn dur="1" fill="hold" id="62">
                                          <p:stCondLst>
                                            <p:cond delay="0"/>
                                          </p:stCondLst>
                                        </p:cTn>
                                        <p:tgtEl>
                                          <p:spTgt spid="79"/>
                                        </p:tgtEl>
                                        <p:attrNameLst>
                                          <p:attrName>style.visibility</p:attrName>
                                        </p:attrNameLst>
                                      </p:cBhvr>
                                      <p:to>
                                        <p:strVal val="visible"/>
                                      </p:to>
                                    </p:set>
                                    <p:animEffect filter="blinds(horizontal)" transition="in">
                                      <p:cBhvr additive="repl">
                                        <p:cTn dur="500" id="63"/>
                                        <p:tgtEl>
                                          <p:spTgt spid="79"/>
                                        </p:tgtEl>
                                      </p:cBhvr>
                                    </p:animEffect>
                                  </p:childTnLst>
                                </p:cTn>
                              </p:par>
                            </p:childTnLst>
                          </p:cTn>
                        </p:par>
                      </p:childTnLst>
                    </p:cTn>
                  </p:par>
                  <p:par>
                    <p:cTn fill="hold" id="64">
                      <p:stCondLst>
                        <p:cond delay="indefinite"/>
                      </p:stCondLst>
                      <p:childTnLst>
                        <p:par>
                          <p:cTn fill="hold" id="65">
                            <p:stCondLst>
                              <p:cond delay="0"/>
                            </p:stCondLst>
                            <p:childTnLst>
                              <p:par>
                                <p:cTn fill="hold" id="66" nodeType="clickEffect" presetClass="emph" presetID="6">
                                  <p:stCondLst>
                                    <p:cond delay="0"/>
                                  </p:stCondLst>
                                  <p:childTnLst>
                                    <p:animScale>
                                      <p:cBhvr>
                                        <p:cTn dur="2000" fill="hold" id="67"/>
                                        <p:tgtEl>
                                          <p:spTgt spid="75"/>
                                        </p:tgtEl>
                                      </p:cBhvr>
                                      <p:to x="150000" y="150000"/>
                                    </p:animScale>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1981200" y="220320"/>
            <a:ext cx="8229600" cy="1143000"/>
          </a:xfrm>
          <a:prstGeom prst="rect">
            <a:avLst/>
          </a:prstGeom>
          <a:noFill/>
          <a:ln w="0">
            <a:noFill/>
          </a:ln>
        </p:spPr>
        <p:txBody>
          <a:bodyPr anchor="t" bIns="46800" lIns="90000" rIns="90000" rtlCol="0" tIns="46800" vert="horz">
            <a:noAutofit/>
          </a:bodyPr>
          <a:lstStyle/>
          <a:p>
            <a:r>
              <a:rPr dirty="0" lang="en-GB" spc="-1">
                <a:latin typeface="Tahoma"/>
              </a:rPr>
              <a:t>Public Key Pros and Cons</a:t>
            </a:r>
            <a:endParaRPr dirty="0" lang="en-US" spc="-1">
              <a:latin typeface="Tahoma"/>
            </a:endParaRPr>
          </a:p>
        </p:txBody>
      </p:sp>
      <p:sp>
        <p:nvSpPr>
          <p:cNvPr id="104" name="PlaceHolder 2"/>
          <p:cNvSpPr>
            <a:spLocks noGrp="1"/>
          </p:cNvSpPr>
          <p:nvPr>
            <p:ph/>
          </p:nvPr>
        </p:nvSpPr>
        <p:spPr>
          <a:xfrm>
            <a:off x="1981200" y="1625400"/>
            <a:ext cx="8229600" cy="4601880"/>
          </a:xfrm>
          <a:prstGeom prst="rect">
            <a:avLst/>
          </a:prstGeom>
          <a:noFill/>
          <a:ln w="0">
            <a:noFill/>
          </a:ln>
        </p:spPr>
        <p:txBody>
          <a:bodyPr anchor="t" bIns="46800" lIns="90000" rIns="90000" rtlCol="0" tIns="46800" vert="horz">
            <a:normAutofit lnSpcReduction="10000"/>
          </a:bodyPr>
          <a:lstStyle/>
          <a:p>
            <a:pPr algn="l" indent="-343080" marL="343080">
              <a:spcBef>
                <a:spcPts val="700"/>
              </a:spcBef>
              <a:spcAft>
                <a:spcPts val="700"/>
              </a:spcAft>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GB" spc="-1" sz="3200">
                <a:latin typeface="Tahoma"/>
              </a:rPr>
              <a:t>Weakness:</a:t>
            </a:r>
            <a:endParaRPr dirty="0" lang="en-US" spc="-1" sz="3200">
              <a:latin typeface="Tahoma"/>
            </a:endParaRPr>
          </a:p>
          <a:p>
            <a:pPr algn="l" indent="-285840" lvl="1" marL="743040">
              <a:lnSpc>
                <a:spcPct val="90000"/>
              </a:lnSpc>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Extremely slow</a:t>
            </a:r>
            <a:endParaRPr dirty="0" lang="en-US" spc="-1" sz="2800">
              <a:solidFill>
                <a:schemeClr val="tx1"/>
              </a:solidFill>
              <a:latin typeface="Tahoma"/>
            </a:endParaRPr>
          </a:p>
          <a:p>
            <a:pPr algn="l" indent="-285840" lvl="1" marL="743040">
              <a:lnSpc>
                <a:spcPct val="90000"/>
              </a:lnSpc>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Susceptible to “known ciphertext” attack</a:t>
            </a:r>
            <a:endParaRPr dirty="0" lang="en-US" spc="-1" sz="2800">
              <a:solidFill>
                <a:schemeClr val="tx1"/>
              </a:solidFill>
              <a:latin typeface="Tahoma"/>
            </a:endParaRPr>
          </a:p>
          <a:p>
            <a:pPr algn="l" indent="-285840" lvl="1" marL="743040">
              <a:lnSpc>
                <a:spcPct val="90000"/>
              </a:lnSpc>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Problem of trusting public key (see later on PKI)</a:t>
            </a:r>
            <a:endParaRPr dirty="0" lang="en-US" spc="-1" sz="2800">
              <a:solidFill>
                <a:schemeClr val="tx1"/>
              </a:solidFill>
              <a:latin typeface="Tahoma"/>
            </a:endParaRPr>
          </a:p>
          <a:p>
            <a:pPr algn="l" indent="-343080" marL="343080">
              <a:spcBef>
                <a:spcPts val="700"/>
              </a:spcBef>
              <a:spcAft>
                <a:spcPts val="700"/>
              </a:spcAft>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GB" spc="-1" sz="3200">
                <a:latin typeface="Tahoma"/>
              </a:rPr>
              <a:t>Strength</a:t>
            </a:r>
            <a:endParaRPr dirty="0" lang="en-US" spc="-1" sz="3200">
              <a:latin typeface="Tahoma"/>
            </a:endParaRPr>
          </a:p>
          <a:p>
            <a:pPr algn="l" indent="-285840" lvl="1" marL="743040">
              <a:lnSpc>
                <a:spcPct val="90000"/>
              </a:lnSpc>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Solves problem of passing the key</a:t>
            </a:r>
            <a:endParaRPr dirty="0" lang="en-US" spc="-1" sz="2800">
              <a:solidFill>
                <a:schemeClr val="tx1"/>
              </a:solidFill>
              <a:latin typeface="Tahoma"/>
            </a:endParaRPr>
          </a:p>
          <a:p>
            <a:pPr algn="l" indent="-285840" lvl="1" marL="743040">
              <a:lnSpc>
                <a:spcPct val="90000"/>
              </a:lnSpc>
              <a:spcBef>
                <a:spcPts val="601"/>
              </a:spcBef>
              <a:spcAft>
                <a:spcPts val="601"/>
              </a:spcAft>
              <a:buClr>
                <a:srgbClr val="FFCC00"/>
              </a:buClr>
              <a:buSzPct val="65000"/>
              <a:buFont charset="2" typeface="Wingdings"/>
              <a:buChar char=""/>
              <a:tabLst>
                <a:tab algn="l" pos="1828800"/>
                <a:tab algn="l" pos="2743200"/>
                <a:tab algn="l" pos="3657600"/>
                <a:tab algn="l" pos="4572000"/>
                <a:tab algn="l" pos="5486400"/>
                <a:tab algn="l" pos="6400800"/>
                <a:tab algn="l" pos="7315200"/>
                <a:tab algn="l" pos="8229600"/>
                <a:tab algn="l" pos="9144000"/>
                <a:tab algn="l" pos="10058400"/>
              </a:tabLst>
            </a:pPr>
            <a:r>
              <a:rPr dirty="0" lang="en-GB" spc="-1" sz="2800">
                <a:solidFill>
                  <a:schemeClr val="tx1"/>
                </a:solidFill>
                <a:latin typeface="Tahoma"/>
              </a:rPr>
              <a:t>Allows establishment of trust context between parties</a:t>
            </a:r>
            <a:endParaRPr dirty="0" lang="en-US" spc="-1" sz="2800">
              <a:solidFill>
                <a:schemeClr val="tx1"/>
              </a:solidFill>
              <a:latin typeface="Tahoma"/>
            </a:endParaRPr>
          </a:p>
        </p:txBody>
      </p:sp>
    </p:spTree>
  </p:cSld>
  <p:clrMapOvr>
    <a:masterClrMapping/>
  </p:clrMapOvr>
  <p:transition spd="med">
    <p:randomBar/>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Building Blocks</a:t>
            </a:r>
          </a:p>
        </p:txBody>
      </p:sp>
      <p:sp>
        <p:nvSpPr>
          <p:cNvPr id="106"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Cryptographic tools</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Putting them together</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Names</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Time</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A secure communication session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Building Blocks</a:t>
            </a:r>
            <a:br>
              <a:rPr dirty="0"/>
            </a:br>
            <a:r>
              <a:rPr dirty="0" lang="en-US" spc="-1" sz="3000">
                <a:latin typeface="Tahoma"/>
              </a:rPr>
              <a:t>Cryptographic Tools</a:t>
            </a:r>
          </a:p>
        </p:txBody>
      </p:sp>
      <p:sp>
        <p:nvSpPr>
          <p:cNvPr id="108"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lnSpc>
                <a:spcPct val="80000"/>
              </a:lnSpc>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Symmetric Key Cryptography</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Encryption: SE</a:t>
            </a:r>
            <a:r>
              <a:rPr baseline="-25000" dirty="0" lang="en-US" spc="-1" sz="2000">
                <a:solidFill>
                  <a:schemeClr val="tx1"/>
                </a:solidFill>
                <a:latin typeface="Tahoma"/>
              </a:rPr>
              <a:t>K</a:t>
            </a:r>
            <a:r>
              <a:rPr dirty="0" lang="en-US" spc="-1" sz="2000">
                <a:solidFill>
                  <a:schemeClr val="tx1"/>
                </a:solidFill>
                <a:latin typeface="Tahoma"/>
              </a:rPr>
              <a:t>(M) = C</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Decryption: SD</a:t>
            </a:r>
            <a:r>
              <a:rPr baseline="-25000" dirty="0" lang="en-US" spc="-1" sz="2000">
                <a:solidFill>
                  <a:schemeClr val="tx1"/>
                </a:solidFill>
                <a:latin typeface="Tahoma"/>
              </a:rPr>
              <a:t>K</a:t>
            </a:r>
            <a:r>
              <a:rPr dirty="0" lang="en-US" spc="-1" sz="2000">
                <a:solidFill>
                  <a:schemeClr val="tx1"/>
                </a:solidFill>
                <a:latin typeface="Tahoma"/>
              </a:rPr>
              <a:t>(C) = M</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Secure as long as only communicating users know K</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Having K lets one read C</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Fast to calculate</a:t>
            </a:r>
          </a:p>
          <a:p>
            <a:pPr algn="l" indent="-343080" marL="343080">
              <a:lnSpc>
                <a:spcPct val="80000"/>
              </a:lnSpc>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Public Key Cryptography</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Encryption: PE</a:t>
            </a:r>
            <a:r>
              <a:rPr baseline="-25000" dirty="0" lang="en-US" spc="-1" sz="2000">
                <a:solidFill>
                  <a:schemeClr val="tx1"/>
                </a:solidFill>
                <a:latin typeface="Tahoma"/>
              </a:rPr>
              <a:t>K+</a:t>
            </a:r>
            <a:r>
              <a:rPr dirty="0" lang="en-US" spc="-1" sz="2000">
                <a:solidFill>
                  <a:schemeClr val="tx1"/>
                </a:solidFill>
                <a:latin typeface="Tahoma"/>
              </a:rPr>
              <a:t>(M) = C</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Decryption: PD</a:t>
            </a:r>
            <a:r>
              <a:rPr baseline="-25000" dirty="0" lang="en-US" spc="-1" sz="2000">
                <a:solidFill>
                  <a:schemeClr val="tx1"/>
                </a:solidFill>
                <a:latin typeface="Tahoma"/>
              </a:rPr>
              <a:t>K-</a:t>
            </a:r>
            <a:r>
              <a:rPr dirty="0" lang="en-US" spc="-1" sz="2000">
                <a:solidFill>
                  <a:schemeClr val="tx1"/>
                </a:solidFill>
                <a:latin typeface="Tahoma"/>
              </a:rPr>
              <a:t>(C) = M</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Secure as long K- is only known by the receiver</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Having K- lets one read C, but having K+ does not</a:t>
            </a:r>
          </a:p>
          <a:p>
            <a:pPr algn="l" indent="-285840" lvl="1" marL="743040">
              <a:lnSpc>
                <a:spcPct val="80000"/>
              </a:lnSpc>
              <a:spcBef>
                <a:spcPts val="49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solidFill>
                  <a:schemeClr val="tx1"/>
                </a:solidFill>
                <a:latin typeface="Tahoma"/>
              </a:rPr>
              <a:t>Slow to calculate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Building Blocks</a:t>
            </a:r>
            <a:br>
              <a:rPr dirty="0"/>
            </a:br>
            <a:r>
              <a:rPr dirty="0" lang="en-US" spc="-1" sz="3000">
                <a:latin typeface="Tahoma"/>
              </a:rPr>
              <a:t>Cryptographic Tools 2</a:t>
            </a:r>
          </a:p>
        </p:txBody>
      </p:sp>
      <p:sp>
        <p:nvSpPr>
          <p:cNvPr id="110"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Digital Signatures</a:t>
            </a:r>
          </a:p>
          <a:p>
            <a:pPr algn="l" indent="-285840" lvl="1" marL="743040">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Sign: PE</a:t>
            </a:r>
            <a:r>
              <a:rPr baseline="-25000" dirty="0" lang="en-US" spc="-1" sz="2400">
                <a:solidFill>
                  <a:schemeClr val="tx1"/>
                </a:solidFill>
                <a:latin typeface="Tahoma"/>
              </a:rPr>
              <a:t>K-</a:t>
            </a:r>
            <a:r>
              <a:rPr dirty="0" lang="en-US" spc="-1" sz="2400">
                <a:solidFill>
                  <a:schemeClr val="tx1"/>
                </a:solidFill>
                <a:latin typeface="Tahoma"/>
              </a:rPr>
              <a:t>(H(M)) = S</a:t>
            </a:r>
          </a:p>
          <a:p>
            <a:pPr algn="l" indent="-285840" lvl="1" marL="743040">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Verify: PD</a:t>
            </a:r>
            <a:r>
              <a:rPr baseline="-25000" dirty="0" lang="en-US" spc="-1" sz="2400">
                <a:solidFill>
                  <a:schemeClr val="tx1"/>
                </a:solidFill>
                <a:latin typeface="Tahoma"/>
              </a:rPr>
              <a:t>K+</a:t>
            </a:r>
            <a:r>
              <a:rPr dirty="0" lang="en-US" spc="-1" sz="2400">
                <a:solidFill>
                  <a:schemeClr val="tx1"/>
                </a:solidFill>
                <a:latin typeface="Tahoma"/>
              </a:rPr>
              <a:t>(S) = H(M)</a:t>
            </a:r>
          </a:p>
          <a:p>
            <a:pPr algn="l" indent="-285840" lvl="1" marL="743040">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Reliable as long as only the signer knows K-</a:t>
            </a:r>
          </a:p>
          <a:p>
            <a:pPr algn="l" indent="-285840" lvl="1" marL="743040">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Having K- allows one to sign, having K+ only allows one to verify the signature</a:t>
            </a:r>
          </a:p>
          <a:p>
            <a:pPr algn="l" indent="-285840" lvl="1" marL="743040">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Slow to calculate</a:t>
            </a:r>
          </a:p>
          <a:p>
            <a:pPr algn="l" indent="-285840" lvl="1" marL="743040">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K’s + and - could just be a user’s public and private keys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Building Blocks</a:t>
            </a:r>
            <a:br>
              <a:rPr dirty="0"/>
            </a:br>
            <a:r>
              <a:rPr dirty="0" lang="en-US" spc="-1" sz="3000">
                <a:latin typeface="Tahoma"/>
              </a:rPr>
              <a:t>Putting Them Together</a:t>
            </a:r>
          </a:p>
        </p:txBody>
      </p:sp>
      <p:sp>
        <p:nvSpPr>
          <p:cNvPr id="112"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Symmetric cryptography is used for majority of communications</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Public Key cryptography is used for exchanging Symmetric keys</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Digital Signatures are used to validate Public Keys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Building Blocks</a:t>
            </a:r>
            <a:br>
              <a:rPr dirty="0"/>
            </a:br>
            <a:r>
              <a:rPr dirty="0" lang="en-US" spc="-1" sz="3000">
                <a:latin typeface="Tahoma"/>
              </a:rPr>
              <a:t>Names</a:t>
            </a:r>
          </a:p>
        </p:txBody>
      </p:sp>
      <p:sp>
        <p:nvSpPr>
          <p:cNvPr id="114"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A name in PKI must be unique to a user</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Assigning these names presents similar difficulties as found in other areas of Distributed Systems</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Without proper and well thought out naming PKI is pretty much useless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Building Blocks</a:t>
            </a:r>
            <a:br>
              <a:rPr dirty="0"/>
            </a:br>
            <a:r>
              <a:rPr dirty="0" lang="en-US" spc="-1" sz="3000">
                <a:latin typeface="Tahoma"/>
              </a:rPr>
              <a:t>Time</a:t>
            </a:r>
          </a:p>
        </p:txBody>
      </p:sp>
      <p:sp>
        <p:nvSpPr>
          <p:cNvPr id="116"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A PKI must know the current time</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Much of a PKI’s security relies on having an accurate clock</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For the most part, time does not need to be known extremely reliably and being off by a minute will usually not be an issue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Building Blocks</a:t>
            </a:r>
            <a:br>
              <a:rPr dirty="0"/>
            </a:br>
            <a:r>
              <a:rPr dirty="0" lang="en-US" spc="-1" sz="3000">
                <a:latin typeface="Tahoma"/>
              </a:rPr>
              <a:t>A Secure Communications Session</a:t>
            </a:r>
          </a:p>
        </p:txBody>
      </p:sp>
      <p:sp>
        <p:nvSpPr>
          <p:cNvPr id="118"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fontScale="93740"/>
          </a:bodyPr>
          <a:lstStyle/>
          <a:p>
            <a:pPr algn="l" indent="-343080" marL="343080">
              <a:lnSpc>
                <a:spcPct val="80000"/>
              </a:lnSpc>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Alice and Bob wish to set up a secure communications channel</a:t>
            </a:r>
          </a:p>
          <a:p>
            <a:pPr algn="l" indent="-343080" marL="343080">
              <a:lnSpc>
                <a:spcPct val="80000"/>
              </a:lnSpc>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They use Public Key Cryptography to exchange a Symmetric key</a:t>
            </a:r>
          </a:p>
          <a:p>
            <a:pPr algn="l" indent="-285840" lvl="1" marL="743040">
              <a:lnSpc>
                <a:spcPct val="80000"/>
              </a:lnSpc>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Alice: Private PK = K-</a:t>
            </a:r>
            <a:r>
              <a:rPr baseline="-25000" dirty="0" lang="en-US" spc="-1" sz="2400">
                <a:solidFill>
                  <a:schemeClr val="tx1"/>
                </a:solidFill>
                <a:latin typeface="Tahoma"/>
              </a:rPr>
              <a:t>A</a:t>
            </a:r>
            <a:r>
              <a:rPr dirty="0" lang="en-US" spc="-1" sz="2400">
                <a:solidFill>
                  <a:schemeClr val="tx1"/>
                </a:solidFill>
                <a:latin typeface="Tahoma"/>
              </a:rPr>
              <a:t>, Public PK = K+</a:t>
            </a:r>
            <a:r>
              <a:rPr baseline="-25000" dirty="0" lang="en-US" spc="-1" sz="2400">
                <a:solidFill>
                  <a:schemeClr val="tx1"/>
                </a:solidFill>
                <a:latin typeface="Tahoma"/>
              </a:rPr>
              <a:t>A</a:t>
            </a:r>
            <a:endParaRPr dirty="0" lang="en-US" spc="-1" sz="2400">
              <a:solidFill>
                <a:schemeClr val="tx1"/>
              </a:solidFill>
              <a:latin typeface="Tahoma"/>
            </a:endParaRPr>
          </a:p>
          <a:p>
            <a:pPr algn="l" indent="-285840" lvl="1" marL="743040">
              <a:lnSpc>
                <a:spcPct val="80000"/>
              </a:lnSpc>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Bob: Private PK = K-</a:t>
            </a:r>
            <a:r>
              <a:rPr baseline="-25000" dirty="0" lang="en-US" spc="-1" sz="2400">
                <a:solidFill>
                  <a:schemeClr val="tx1"/>
                </a:solidFill>
                <a:latin typeface="Tahoma"/>
              </a:rPr>
              <a:t>B</a:t>
            </a:r>
            <a:r>
              <a:rPr dirty="0" lang="en-US" spc="-1" sz="2400">
                <a:solidFill>
                  <a:schemeClr val="tx1"/>
                </a:solidFill>
                <a:latin typeface="Tahoma"/>
              </a:rPr>
              <a:t>, Public PK = K+</a:t>
            </a:r>
            <a:r>
              <a:rPr baseline="-25000" dirty="0" lang="en-US" spc="-1" sz="2400">
                <a:solidFill>
                  <a:schemeClr val="tx1"/>
                </a:solidFill>
                <a:latin typeface="Tahoma"/>
              </a:rPr>
              <a:t>B</a:t>
            </a:r>
            <a:endParaRPr dirty="0" lang="en-US" spc="-1" sz="2400">
              <a:solidFill>
                <a:schemeClr val="tx1"/>
              </a:solidFill>
              <a:latin typeface="Tahoma"/>
            </a:endParaRPr>
          </a:p>
          <a:p>
            <a:pPr algn="l" indent="-285840" lvl="1" marL="743040">
              <a:lnSpc>
                <a:spcPct val="80000"/>
              </a:lnSpc>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Time T and random Symmetric Key K</a:t>
            </a:r>
            <a:r>
              <a:rPr baseline="-25000" dirty="0" lang="en-US" spc="-1" sz="2400">
                <a:solidFill>
                  <a:schemeClr val="tx1"/>
                </a:solidFill>
                <a:latin typeface="Tahoma"/>
              </a:rPr>
              <a:t>S</a:t>
            </a:r>
            <a:endParaRPr dirty="0" lang="en-US" spc="-1" sz="2400">
              <a:solidFill>
                <a:schemeClr val="tx1"/>
              </a:solidFill>
              <a:latin typeface="Tahoma"/>
            </a:endParaRPr>
          </a:p>
          <a:p>
            <a:pPr algn="l" indent="-285840" lvl="1" marL="743040">
              <a:lnSpc>
                <a:spcPct val="80000"/>
              </a:lnSpc>
              <a:spcBef>
                <a:spcPts val="60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Simplified example:</a:t>
            </a:r>
          </a:p>
          <a:p>
            <a:pPr algn="l" indent="-285840" lvl="1" marL="74304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1: Alice -&gt; Bob: PE</a:t>
            </a:r>
            <a:r>
              <a:rPr baseline="-25000" dirty="0" lang="en-US" spc="-1" sz="2400">
                <a:solidFill>
                  <a:schemeClr val="tx1"/>
                </a:solidFill>
                <a:latin typeface="Tahoma"/>
              </a:rPr>
              <a:t>K+B</a:t>
            </a:r>
            <a:r>
              <a:rPr dirty="0" lang="en-US" spc="-1" sz="2400">
                <a:solidFill>
                  <a:schemeClr val="tx1"/>
                </a:solidFill>
                <a:latin typeface="Tahoma"/>
              </a:rPr>
              <a:t>(Alice, T, K+</a:t>
            </a:r>
            <a:r>
              <a:rPr baseline="-25000" dirty="0" lang="en-US" spc="-1" sz="2400">
                <a:solidFill>
                  <a:schemeClr val="tx1"/>
                </a:solidFill>
                <a:latin typeface="Tahoma"/>
              </a:rPr>
              <a:t>A</a:t>
            </a:r>
            <a:r>
              <a:rPr dirty="0" lang="en-US" spc="-1" sz="2400">
                <a:solidFill>
                  <a:schemeClr val="tx1"/>
                </a:solidFill>
                <a:latin typeface="Tahoma"/>
              </a:rPr>
              <a:t>, PE</a:t>
            </a:r>
            <a:r>
              <a:rPr baseline="-25000" dirty="0" lang="en-US" spc="-1" sz="2400">
                <a:solidFill>
                  <a:schemeClr val="tx1"/>
                </a:solidFill>
                <a:latin typeface="Tahoma"/>
              </a:rPr>
              <a:t>K-A</a:t>
            </a:r>
            <a:r>
              <a:rPr dirty="0" lang="en-US" spc="-1" sz="2400">
                <a:solidFill>
                  <a:schemeClr val="tx1"/>
                </a:solidFill>
                <a:latin typeface="Tahoma"/>
              </a:rPr>
              <a:t>(T, K</a:t>
            </a:r>
            <a:r>
              <a:rPr baseline="-25000" dirty="0" lang="en-US" spc="-1" sz="2400">
                <a:solidFill>
                  <a:schemeClr val="tx1"/>
                </a:solidFill>
                <a:latin typeface="Tahoma"/>
              </a:rPr>
              <a:t>S</a:t>
            </a:r>
            <a:r>
              <a:rPr dirty="0" lang="en-US" spc="-1" sz="2400">
                <a:solidFill>
                  <a:schemeClr val="tx1"/>
                </a:solidFill>
                <a:latin typeface="Tahoma"/>
              </a:rPr>
              <a:t>))</a:t>
            </a:r>
          </a:p>
          <a:p>
            <a:pPr algn="l" indent="-285840" lvl="1" marL="74304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2: Bob -&gt; Alice: PE</a:t>
            </a:r>
            <a:r>
              <a:rPr baseline="-25000" dirty="0" lang="en-US" spc="-1" sz="2400">
                <a:solidFill>
                  <a:schemeClr val="tx1"/>
                </a:solidFill>
                <a:latin typeface="Tahoma"/>
              </a:rPr>
              <a:t>K+A</a:t>
            </a:r>
            <a:r>
              <a:rPr dirty="0" lang="en-US" spc="-1" sz="2400">
                <a:solidFill>
                  <a:schemeClr val="tx1"/>
                </a:solidFill>
                <a:latin typeface="Tahoma"/>
              </a:rPr>
              <a:t>(T, K</a:t>
            </a:r>
            <a:r>
              <a:rPr baseline="-25000" dirty="0" lang="en-US" spc="-1" sz="2400">
                <a:solidFill>
                  <a:schemeClr val="tx1"/>
                </a:solidFill>
                <a:latin typeface="Tahoma"/>
              </a:rPr>
              <a:t>S</a:t>
            </a:r>
            <a:r>
              <a:rPr dirty="0" lang="en-US" spc="-1" sz="2400">
                <a:solidFill>
                  <a:schemeClr val="tx1"/>
                </a:solidFill>
                <a:latin typeface="Tahoma"/>
              </a:rPr>
              <a:t>)</a:t>
            </a:r>
          </a:p>
          <a:p>
            <a:pPr algn="l" indent="-285840" lvl="1" marL="743040">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solidFill>
                  <a:schemeClr val="tx1"/>
                </a:solidFill>
                <a:latin typeface="Tahoma"/>
              </a:rPr>
              <a:t>3: Alice &lt;-&gt; Bob: SE</a:t>
            </a:r>
            <a:r>
              <a:rPr baseline="-25000" dirty="0" lang="en-US" spc="-1" sz="2400">
                <a:solidFill>
                  <a:schemeClr val="tx1"/>
                </a:solidFill>
                <a:latin typeface="Tahoma"/>
              </a:rPr>
              <a:t>KS</a:t>
            </a:r>
            <a:r>
              <a:rPr dirty="0" lang="en-US" spc="-1" sz="2400">
                <a:solidFill>
                  <a:schemeClr val="tx1"/>
                </a:solidFill>
                <a:latin typeface="Tahoma"/>
              </a:rPr>
              <a:t>(M</a:t>
            </a:r>
            <a:r>
              <a:rPr baseline="-25000" dirty="0" lang="en-US" spc="-1" sz="2400">
                <a:solidFill>
                  <a:schemeClr val="tx1"/>
                </a:solidFill>
                <a:latin typeface="Tahoma"/>
              </a:rPr>
              <a:t>i</a:t>
            </a:r>
            <a:r>
              <a:rPr dirty="0" lang="en-US" spc="-1" sz="2400">
                <a:solidFill>
                  <a:schemeClr val="tx1"/>
                </a:solidFill>
                <a:latin typeface="Tahoma"/>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Certificates</a:t>
            </a:r>
          </a:p>
        </p:txBody>
      </p:sp>
      <p:sp>
        <p:nvSpPr>
          <p:cNvPr id="120"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What they are</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How they are issued</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How they are distributed</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How they are revoked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Certificates</a:t>
            </a:r>
            <a:br>
              <a:rPr dirty="0"/>
            </a:br>
            <a:r>
              <a:rPr dirty="0" lang="en-US" spc="-1" sz="2600">
                <a:latin typeface="Tahoma"/>
              </a:rPr>
              <a:t>What they are</a:t>
            </a:r>
          </a:p>
        </p:txBody>
      </p:sp>
      <p:sp>
        <p:nvSpPr>
          <p:cNvPr id="122"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The issue with building a secure session is that it assumes that both Alice and Bob know each others public keys</a:t>
            </a:r>
          </a:p>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We need some way for them to learn this besides meeting each other (otherwise we are in the same predicament as with Symmetric Key exchange meetings)</a:t>
            </a:r>
          </a:p>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We could use a similar strategy to the Key Server but can we do better?</a:t>
            </a:r>
          </a:p>
          <a:p>
            <a:pPr algn="l" indent="-343080" marL="343080">
              <a:spcBef>
                <a:spcPts val="601"/>
              </a:spcBef>
            </a:pPr>
            <a:endParaRPr dirty="0" lang="en-US" spc="-1" sz="2400">
              <a:latin typeface="Tahoma"/>
            </a:endParaRPr>
          </a:p>
          <a:p>
            <a:pPr algn="l" indent="-343080" marL="343080">
              <a:spcBef>
                <a:spcPts val="601"/>
              </a:spcBef>
            </a:pPr>
            <a:r>
              <a:rPr dirty="0" lang="en-US" spc="-1" sz="2400">
                <a:latin typeface="Tahoma"/>
              </a:rPr>
              <a:t>This is where Certificates come 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Certificates</a:t>
            </a:r>
            <a:br>
              <a:rPr dirty="0"/>
            </a:br>
            <a:r>
              <a:rPr dirty="0" lang="en-US" spc="-1" sz="2600">
                <a:latin typeface="Tahoma"/>
              </a:rPr>
              <a:t>What they are 2/2</a:t>
            </a:r>
          </a:p>
        </p:txBody>
      </p:sp>
      <p:sp>
        <p:nvSpPr>
          <p:cNvPr id="124"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A Certificate is a combination of a user’s public key, unique name, Certificate start and expiration dates, and possibly other information</a:t>
            </a:r>
          </a:p>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This Certificate is then digitally signed, by some Trusted 3</a:t>
            </a:r>
            <a:r>
              <a:rPr baseline="30000" dirty="0" lang="en-US" spc="-1" sz="2400">
                <a:latin typeface="Tahoma"/>
              </a:rPr>
              <a:t>rd</a:t>
            </a:r>
            <a:r>
              <a:rPr dirty="0" lang="en-US" spc="-1" sz="2400">
                <a:latin typeface="Tahoma"/>
              </a:rPr>
              <a:t> Party, with the signature being attached to the rest of the Certificate</a:t>
            </a:r>
          </a:p>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This Signed Certificate is commonly referred to as just the user’s Certificate</a:t>
            </a:r>
          </a:p>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The Certificate for a user Bob, signed by signer Tim, in essence states</a:t>
            </a:r>
          </a:p>
          <a:p>
            <a:pPr algn="l" indent="-343080" marL="343080">
              <a:spcBef>
                <a:spcPts val="601"/>
              </a:spcBef>
            </a:pPr>
            <a:r>
              <a:rPr dirty="0" lang="en-US" spc="-1" sz="2400">
                <a:latin typeface="Tahoma"/>
              </a:rPr>
              <a:t>	“I Tim certify that this Public Key belongs to Bob”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Certificates</a:t>
            </a:r>
            <a:br>
              <a:rPr dirty="0"/>
            </a:br>
            <a:r>
              <a:rPr dirty="0" lang="en-US" spc="-1" sz="2600">
                <a:latin typeface="Tahoma"/>
              </a:rPr>
              <a:t>How they are issued</a:t>
            </a:r>
          </a:p>
        </p:txBody>
      </p:sp>
      <p:sp>
        <p:nvSpPr>
          <p:cNvPr id="126"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The users of a PKI must place their trust in a 3</a:t>
            </a:r>
            <a:r>
              <a:rPr baseline="30000" dirty="0" lang="en-US" spc="-1" sz="2800">
                <a:latin typeface="Tahoma"/>
              </a:rPr>
              <a:t>rd</a:t>
            </a:r>
            <a:r>
              <a:rPr dirty="0" lang="en-US" spc="-1" sz="2800">
                <a:latin typeface="Tahoma"/>
              </a:rPr>
              <a:t> Party to carefully verify a user’s identity before signing his or her public key</a:t>
            </a:r>
          </a:p>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Each user generates their own Public-Private Key pair and Certificate</a:t>
            </a:r>
          </a:p>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A user then verifies them self to the 3</a:t>
            </a:r>
            <a:r>
              <a:rPr baseline="30000" dirty="0" lang="en-US" spc="-1" sz="2800">
                <a:latin typeface="Tahoma"/>
              </a:rPr>
              <a:t>rd</a:t>
            </a:r>
            <a:r>
              <a:rPr dirty="0" lang="en-US" spc="-1" sz="2800">
                <a:latin typeface="Tahoma"/>
              </a:rPr>
              <a:t> Party and shows his or her Certificate’s content. At this point the third party will sign the Certificate.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Certificates</a:t>
            </a:r>
            <a:br>
              <a:rPr dirty="0"/>
            </a:br>
            <a:r>
              <a:rPr dirty="0" lang="en-US" spc="-1" sz="2600">
                <a:latin typeface="Tahoma"/>
              </a:rPr>
              <a:t>How they are distributed</a:t>
            </a:r>
          </a:p>
        </p:txBody>
      </p:sp>
      <p:sp>
        <p:nvSpPr>
          <p:cNvPr id="128"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Users are free to distribute their signed Certificates over any medium, public or private, without concern</a:t>
            </a:r>
          </a:p>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Other users may acquire this Certificate from any source and check the 3</a:t>
            </a:r>
            <a:r>
              <a:rPr baseline="30000" dirty="0" lang="en-US" spc="-1" sz="2800">
                <a:latin typeface="Tahoma"/>
              </a:rPr>
              <a:t>rd</a:t>
            </a:r>
            <a:r>
              <a:rPr dirty="0" lang="en-US" spc="-1" sz="2800">
                <a:latin typeface="Tahoma"/>
              </a:rPr>
              <a:t> Party’s signature for tampering</a:t>
            </a:r>
          </a:p>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If the signature is good then the other users know that the 3</a:t>
            </a:r>
            <a:r>
              <a:rPr baseline="30000" dirty="0" lang="en-US" spc="-1" sz="2800">
                <a:latin typeface="Tahoma"/>
              </a:rPr>
              <a:t>rd</a:t>
            </a:r>
            <a:r>
              <a:rPr dirty="0" lang="en-US" spc="-1" sz="2800">
                <a:latin typeface="Tahoma"/>
              </a:rPr>
              <a:t> Party affirms that the Certificate belongs to the user who is listed in the Certificate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Certificates</a:t>
            </a:r>
            <a:br>
              <a:rPr dirty="0"/>
            </a:br>
            <a:r>
              <a:rPr dirty="0" lang="en-US" spc="-1" sz="2600">
                <a:latin typeface="Tahoma"/>
              </a:rPr>
              <a:t>How they are Revoked</a:t>
            </a:r>
          </a:p>
        </p:txBody>
      </p:sp>
      <p:sp>
        <p:nvSpPr>
          <p:cNvPr id="130"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fontScale="96865"/>
          </a:bodyPr>
          <a:lstStyle/>
          <a:p>
            <a:pPr algn="l" indent="-343080" marL="343080">
              <a:lnSpc>
                <a:spcPct val="80000"/>
              </a:lnSpc>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Periodically Certificates may become compromised, requiring a Certificate Revocation</a:t>
            </a:r>
          </a:p>
          <a:p>
            <a:pPr algn="l" indent="-343080" marL="343080">
              <a:lnSpc>
                <a:spcPct val="80000"/>
              </a:lnSpc>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A Certificate Revocation message is simply a message signed by K-</a:t>
            </a:r>
            <a:r>
              <a:rPr baseline="-25000" dirty="0" err="1" lang="en-US" spc="-1" sz="2400">
                <a:latin typeface="Tahoma"/>
              </a:rPr>
              <a:t>i</a:t>
            </a:r>
            <a:r>
              <a:rPr dirty="0" lang="en-US" spc="-1" sz="2400">
                <a:latin typeface="Tahoma"/>
              </a:rPr>
              <a:t> (the private version of the Certificate’s </a:t>
            </a:r>
            <a:r>
              <a:rPr dirty="0" err="1" lang="en-US" spc="-1" sz="2400">
                <a:latin typeface="Tahoma"/>
              </a:rPr>
              <a:t>K+</a:t>
            </a:r>
            <a:r>
              <a:rPr baseline="-25000" dirty="0" err="1" lang="en-US" spc="-1" sz="2400">
                <a:latin typeface="Tahoma"/>
              </a:rPr>
              <a:t>i</a:t>
            </a:r>
            <a:r>
              <a:rPr dirty="0" lang="en-US" spc="-1" sz="2400">
                <a:latin typeface="Tahoma"/>
              </a:rPr>
              <a:t>) saying that the Certificate is revoked</a:t>
            </a:r>
          </a:p>
          <a:p>
            <a:pPr algn="l" indent="-343080" marL="343080">
              <a:lnSpc>
                <a:spcPct val="80000"/>
              </a:lnSpc>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A PKI will have a database of revoked Certificates (a Certificate Revocation List, CRL) that users may access periodically for the latest list of revoked Certificates</a:t>
            </a:r>
          </a:p>
          <a:p>
            <a:pPr algn="l" indent="-343080" marL="343080">
              <a:lnSpc>
                <a:spcPct val="80000"/>
              </a:lnSpc>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An alternative to certificate revoking is to set the expiration time to very shortly after the issue time. Thus every key in this system is revoked so rapidly that we do not need to worry what may happen to the compromised key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End-to-end use</a:t>
            </a:r>
          </a:p>
        </p:txBody>
      </p:sp>
      <p:pic>
        <p:nvPicPr>
          <p:cNvPr descr="End-to-end use" id="132" name="Picture 131"/>
          <p:cNvPicPr/>
          <p:nvPr/>
        </p:nvPicPr>
        <p:blipFill>
          <a:blip r:embed="rId2"/>
          <a:stretch/>
        </p:blipFill>
        <p:spPr>
          <a:xfrm>
            <a:off x="3124200" y="1713600"/>
            <a:ext cx="5950440" cy="4458600"/>
          </a:xfrm>
          <a:prstGeom prst="rect">
            <a:avLst/>
          </a:prstGeom>
          <a:ln w="0">
            <a:noFill/>
          </a:ln>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p>
        </p:txBody>
      </p:sp>
      <p:sp>
        <p:nvSpPr>
          <p:cNvPr id="134"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What is “Trust”?</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How do we organize a PKI to disseminate trust?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3000">
                <a:latin typeface="Tahoma"/>
              </a:rPr>
              <a:t>Trust</a:t>
            </a:r>
          </a:p>
        </p:txBody>
      </p:sp>
      <p:sp>
        <p:nvSpPr>
          <p:cNvPr id="136"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Trust is based on real world contractual obligations between a 3</a:t>
            </a:r>
            <a:r>
              <a:rPr baseline="30000" dirty="0" lang="en-US" spc="-1" sz="2800">
                <a:latin typeface="Tahoma"/>
              </a:rPr>
              <a:t>rd</a:t>
            </a:r>
            <a:r>
              <a:rPr dirty="0" lang="en-US" spc="-1" sz="2800">
                <a:latin typeface="Tahoma"/>
              </a:rPr>
              <a:t> Party and users </a:t>
            </a:r>
            <a:r>
              <a:rPr dirty="0" lang="en-US" spc="-1" sz="2000">
                <a:latin typeface="Tahoma"/>
              </a:rPr>
              <a:t>[2]</a:t>
            </a:r>
          </a:p>
          <a:p>
            <a:pPr algn="l" indent="-343080" marL="343080">
              <a:lnSpc>
                <a:spcPct val="80000"/>
              </a:lnSpc>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This Trusted 3</a:t>
            </a:r>
            <a:r>
              <a:rPr baseline="30000" dirty="0" lang="en-US" spc="-1" sz="2800">
                <a:latin typeface="Tahoma"/>
              </a:rPr>
              <a:t>rd</a:t>
            </a:r>
            <a:r>
              <a:rPr dirty="0" lang="en-US" spc="-1" sz="2800">
                <a:latin typeface="Tahoma"/>
              </a:rPr>
              <a:t> Party is referred to as a Certificate Authority (CA)</a:t>
            </a:r>
          </a:p>
          <a:p>
            <a:pPr algn="l" indent="-343080" marL="343080">
              <a:lnSpc>
                <a:spcPct val="80000"/>
              </a:lnSpc>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In other models trust is based on personal relationships that don’t have a contractual basis (e.g. PGP)</a:t>
            </a:r>
          </a:p>
          <a:p>
            <a:pPr algn="l" indent="-343080" marL="343080">
              <a:lnSpc>
                <a:spcPct val="80000"/>
              </a:lnSpc>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Users may allow a CA to delegate their trust</a:t>
            </a:r>
          </a:p>
          <a:p>
            <a:pPr algn="l" indent="-343080" marL="343080">
              <a:lnSpc>
                <a:spcPct val="80000"/>
              </a:lnSpc>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This delegation of trust is what allows us to build large PKI’s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3000">
                <a:latin typeface="Tahoma"/>
              </a:rPr>
              <a:t>Trust 2/2</a:t>
            </a:r>
          </a:p>
        </p:txBody>
      </p:sp>
      <p:sp>
        <p:nvSpPr>
          <p:cNvPr id="138" name="PlaceHolder 2"/>
          <p:cNvSpPr>
            <a:spLocks noGrp="1"/>
          </p:cNvSpPr>
          <p:nvPr>
            <p:ph/>
          </p:nvPr>
        </p:nvSpPr>
        <p:spPr>
          <a:xfrm>
            <a:off x="1981200" y="4723920"/>
            <a:ext cx="8229600" cy="1676520"/>
          </a:xfrm>
          <a:prstGeom prst="rect">
            <a:avLst/>
          </a:prstGeom>
          <a:noFill/>
          <a:ln w="0">
            <a:noFill/>
          </a:ln>
        </p:spPr>
        <p:txBody>
          <a:bodyPr anchor="t" bIns="46800" lIns="90000" rIns="90000" rtlCol="0" tIns="46800" vert="horz">
            <a:normAutofit/>
          </a:bodyPr>
          <a:lstStyle/>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If Alice trusts Root CA then she trusts Bob’s Certificate signed by Root CA</a:t>
            </a:r>
          </a:p>
          <a:p>
            <a:pPr algn="l" indent="-343080" marL="343080">
              <a:spcBef>
                <a:spcPts val="60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400">
                <a:latin typeface="Tahoma"/>
              </a:rPr>
              <a:t>If Alice trusts Root CA to delegate her trust to others then she trusts Chad’s Certificate signed by Small CA </a:t>
            </a:r>
          </a:p>
        </p:txBody>
      </p:sp>
      <p:sp>
        <p:nvSpPr>
          <p:cNvPr id="139" name="Alternate Process 138"/>
          <p:cNvSpPr/>
          <p:nvPr/>
        </p:nvSpPr>
        <p:spPr>
          <a:xfrm>
            <a:off x="3962280" y="4114800"/>
            <a:ext cx="1067040" cy="53352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Alice</a:t>
            </a:r>
            <a:endParaRPr lang="en-US" spc="-1">
              <a:solidFill>
                <a:srgbClr val="000000"/>
              </a:solidFill>
              <a:latin typeface="Arial"/>
            </a:endParaRPr>
          </a:p>
        </p:txBody>
      </p:sp>
      <p:sp>
        <p:nvSpPr>
          <p:cNvPr id="140" name="Alternate Process 139"/>
          <p:cNvSpPr/>
          <p:nvPr/>
        </p:nvSpPr>
        <p:spPr>
          <a:xfrm>
            <a:off x="5410200" y="1981080"/>
            <a:ext cx="1371600" cy="53352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endParaRPr lang="en-US" spc="-1">
              <a:solidFill>
                <a:srgbClr val="FFFFFF"/>
              </a:solidFill>
              <a:latin typeface="Arial"/>
            </a:endParaRPr>
          </a:p>
        </p:txBody>
      </p:sp>
      <p:sp>
        <p:nvSpPr>
          <p:cNvPr id="141" name="Alternate Process 140"/>
          <p:cNvSpPr/>
          <p:nvPr/>
        </p:nvSpPr>
        <p:spPr>
          <a:xfrm>
            <a:off x="7010400" y="3200400"/>
            <a:ext cx="1219320" cy="533520"/>
          </a:xfrm>
          <a:prstGeom prst="flowChartAlternateProcess">
            <a:avLst/>
          </a:prstGeom>
          <a:solidFill>
            <a:srgbClr val="FF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Small CA</a:t>
            </a:r>
            <a:endParaRPr lang="en-US" spc="-1">
              <a:solidFill>
                <a:srgbClr val="FFFFFF"/>
              </a:solidFill>
              <a:latin typeface="Arial"/>
            </a:endParaRPr>
          </a:p>
        </p:txBody>
      </p:sp>
      <p:cxnSp>
        <p:nvCxnSpPr>
          <p:cNvPr id="142" name="Straight Arrow Connector 141">
            <a:extLst>
              <a:ext uri="{C183D7F6-B498-43B3-948B-1728B52AA6E4}">
                <adec:decorative xmlns:adec="http://schemas.microsoft.com/office/drawing/2017/decorative" val="1"/>
              </a:ext>
            </a:extLst>
          </p:cNvPr>
          <p:cNvCxnSpPr>
            <a:stCxn id="140" idx="2"/>
            <a:endCxn id="141" idx="0"/>
          </p:cNvCxnSpPr>
          <p:nvPr/>
        </p:nvCxnSpPr>
        <p:spPr>
          <a:xfrm>
            <a:off x="5676960" y="2514600"/>
            <a:ext cx="1600560" cy="686160"/>
          </a:xfrm>
          <a:prstGeom prst="straightConnector1">
            <a:avLst/>
          </a:prstGeom>
          <a:ln w="25560">
            <a:solidFill>
              <a:schemeClr val="tx1"/>
            </a:solidFill>
            <a:miter/>
            <a:tailEnd len="sm" type="triangle" w="lg"/>
          </a:ln>
        </p:spPr>
      </p:cxnSp>
      <p:cxnSp>
        <p:nvCxnSpPr>
          <p:cNvPr id="143" name="Straight Arrow Connector 142">
            <a:extLst>
              <a:ext uri="{C183D7F6-B498-43B3-948B-1728B52AA6E4}">
                <adec:decorative xmlns:adec="http://schemas.microsoft.com/office/drawing/2017/decorative" val="1"/>
              </a:ext>
            </a:extLst>
          </p:cNvPr>
          <p:cNvCxnSpPr>
            <a:stCxn id="139" idx="0"/>
            <a:endCxn id="140" idx="2"/>
          </p:cNvCxnSpPr>
          <p:nvPr/>
        </p:nvCxnSpPr>
        <p:spPr>
          <a:xfrm flipV="1">
            <a:off x="4229040" y="2514600"/>
            <a:ext cx="1448280" cy="1600560"/>
          </a:xfrm>
          <a:prstGeom prst="straightConnector1">
            <a:avLst/>
          </a:prstGeom>
          <a:ln w="25560">
            <a:solidFill>
              <a:schemeClr val="tx1"/>
            </a:solidFill>
            <a:miter/>
            <a:tailEnd len="med" type="triangle" w="lg"/>
          </a:ln>
        </p:spPr>
      </p:cxnSp>
      <p:sp>
        <p:nvSpPr>
          <p:cNvPr id="144" name="Alternate Process 143"/>
          <p:cNvSpPr/>
          <p:nvPr/>
        </p:nvSpPr>
        <p:spPr>
          <a:xfrm>
            <a:off x="5562480" y="4114800"/>
            <a:ext cx="1067040" cy="53352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Bob</a:t>
            </a:r>
            <a:endParaRPr lang="en-US" spc="-1">
              <a:solidFill>
                <a:srgbClr val="000000"/>
              </a:solidFill>
              <a:latin typeface="Arial"/>
            </a:endParaRPr>
          </a:p>
        </p:txBody>
      </p:sp>
      <p:cxnSp>
        <p:nvCxnSpPr>
          <p:cNvPr id="145" name="Straight Arrow Connector 144">
            <a:extLst>
              <a:ext uri="{C183D7F6-B498-43B3-948B-1728B52AA6E4}">
                <adec:decorative xmlns:adec="http://schemas.microsoft.com/office/drawing/2017/decorative" val="1"/>
              </a:ext>
            </a:extLst>
          </p:cNvPr>
          <p:cNvCxnSpPr>
            <a:stCxn id="140" idx="2"/>
            <a:endCxn id="144" idx="0"/>
          </p:cNvCxnSpPr>
          <p:nvPr/>
        </p:nvCxnSpPr>
        <p:spPr>
          <a:xfrm>
            <a:off x="5676960" y="2514600"/>
            <a:ext cx="152640" cy="1600560"/>
          </a:xfrm>
          <a:prstGeom prst="straightConnector1">
            <a:avLst/>
          </a:prstGeom>
          <a:ln w="25560">
            <a:solidFill>
              <a:schemeClr val="tx1"/>
            </a:solidFill>
            <a:miter/>
            <a:tailEnd len="sm" type="triangle" w="lg"/>
          </a:ln>
        </p:spPr>
      </p:cxnSp>
      <p:sp>
        <p:nvSpPr>
          <p:cNvPr id="146" name="Alternate Process 145"/>
          <p:cNvSpPr/>
          <p:nvPr/>
        </p:nvSpPr>
        <p:spPr>
          <a:xfrm>
            <a:off x="7086720" y="4114800"/>
            <a:ext cx="1066680" cy="53352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Chad</a:t>
            </a:r>
            <a:endParaRPr lang="en-US" spc="-1">
              <a:solidFill>
                <a:srgbClr val="000000"/>
              </a:solidFill>
              <a:latin typeface="Arial"/>
            </a:endParaRPr>
          </a:p>
        </p:txBody>
      </p:sp>
      <p:cxnSp>
        <p:nvCxnSpPr>
          <p:cNvPr id="147" name="Straight Arrow Connector 146">
            <a:extLst>
              <a:ext uri="{C183D7F6-B498-43B3-948B-1728B52AA6E4}">
                <adec:decorative xmlns:adec="http://schemas.microsoft.com/office/drawing/2017/decorative" val="1"/>
              </a:ext>
            </a:extLst>
          </p:cNvPr>
          <p:cNvCxnSpPr>
            <a:stCxn id="141" idx="2"/>
            <a:endCxn id="146" idx="0"/>
          </p:cNvCxnSpPr>
          <p:nvPr/>
        </p:nvCxnSpPr>
        <p:spPr>
          <a:xfrm>
            <a:off x="7277160" y="3733920"/>
            <a:ext cx="76680" cy="381240"/>
          </a:xfrm>
          <a:prstGeom prst="straightConnector1">
            <a:avLst/>
          </a:prstGeom>
          <a:ln w="25560">
            <a:solidFill>
              <a:schemeClr val="tx1"/>
            </a:solidFill>
            <a:miter/>
            <a:tailEnd len="sm" type="triangle" w="lg"/>
          </a:ln>
        </p:spPr>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3000">
                <a:latin typeface="Tahoma"/>
              </a:rPr>
              <a:t>Organizing a PKI</a:t>
            </a:r>
          </a:p>
        </p:txBody>
      </p:sp>
      <p:sp>
        <p:nvSpPr>
          <p:cNvPr id="149"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A PKI may be organized based on a variety of models using delegation of trust</a:t>
            </a:r>
          </a:p>
          <a:p>
            <a:pPr algn="l" indent="-285840" lvl="1" marL="743040">
              <a:spcBef>
                <a:spcPts val="700"/>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solidFill>
                  <a:schemeClr val="tx1"/>
                </a:solidFill>
                <a:latin typeface="Tahoma"/>
              </a:rPr>
              <a:t>Strict Hierarchy</a:t>
            </a:r>
          </a:p>
          <a:p>
            <a:pPr algn="l" indent="-285840" lvl="1" marL="743040">
              <a:spcBef>
                <a:spcPts val="700"/>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solidFill>
                  <a:schemeClr val="tx1"/>
                </a:solidFill>
                <a:latin typeface="Tahoma"/>
              </a:rPr>
              <a:t>Networked</a:t>
            </a:r>
          </a:p>
          <a:p>
            <a:pPr algn="l" indent="-285840" lvl="1" marL="743040">
              <a:spcBef>
                <a:spcPts val="700"/>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solidFill>
                  <a:schemeClr val="tx1"/>
                </a:solidFill>
                <a:latin typeface="Tahoma"/>
              </a:rPr>
              <a:t>Web Browser</a:t>
            </a:r>
          </a:p>
          <a:p>
            <a:pPr algn="l" indent="-285840" lvl="1" marL="743040">
              <a:spcBef>
                <a:spcPts val="700"/>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solidFill>
                  <a:schemeClr val="tx1"/>
                </a:solidFill>
                <a:latin typeface="Tahoma"/>
              </a:rPr>
              <a:t>PGP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2600">
                <a:latin typeface="Tahoma"/>
              </a:rPr>
              <a:t>Strict Hierarchy</a:t>
            </a:r>
          </a:p>
        </p:txBody>
      </p:sp>
      <p:sp>
        <p:nvSpPr>
          <p:cNvPr id="151" name="PlaceHolder 2"/>
          <p:cNvSpPr>
            <a:spLocks noGrp="1"/>
          </p:cNvSpPr>
          <p:nvPr>
            <p:ph/>
          </p:nvPr>
        </p:nvSpPr>
        <p:spPr>
          <a:xfrm>
            <a:off x="1981200" y="5105160"/>
            <a:ext cx="8229600" cy="1523880"/>
          </a:xfrm>
          <a:prstGeom prst="rect">
            <a:avLst/>
          </a:prstGeom>
          <a:noFill/>
          <a:ln w="0">
            <a:noFill/>
          </a:ln>
        </p:spPr>
        <p:txBody>
          <a:bodyPr anchor="t" bIns="46800" lIns="90000" rIns="90000" rtlCol="0" tIns="46800" vert="horz">
            <a:normAutofit/>
          </a:bodyPr>
          <a:lstStyle/>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All users trust Root CA</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Root CA may delegate that trust to other CA’s who in turn may be allowed to delegate that trust</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In this way a PKI may grow without all the burden being placed on Root CA</a:t>
            </a:r>
          </a:p>
        </p:txBody>
      </p:sp>
      <p:sp>
        <p:nvSpPr>
          <p:cNvPr id="152" name="Alternate Process 151"/>
          <p:cNvSpPr/>
          <p:nvPr/>
        </p:nvSpPr>
        <p:spPr>
          <a:xfrm>
            <a:off x="1904880" y="4419720"/>
            <a:ext cx="106704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Alice</a:t>
            </a:r>
            <a:endParaRPr lang="en-US" spc="-1">
              <a:solidFill>
                <a:srgbClr val="000000"/>
              </a:solidFill>
              <a:latin typeface="Arial"/>
            </a:endParaRPr>
          </a:p>
        </p:txBody>
      </p:sp>
      <p:sp>
        <p:nvSpPr>
          <p:cNvPr id="153" name="Alternate Process 152"/>
          <p:cNvSpPr/>
          <p:nvPr/>
        </p:nvSpPr>
        <p:spPr>
          <a:xfrm>
            <a:off x="5410200" y="1828800"/>
            <a:ext cx="1371600" cy="53352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endParaRPr lang="en-US" spc="-1">
              <a:solidFill>
                <a:srgbClr val="FFFFFF"/>
              </a:solidFill>
              <a:latin typeface="Arial"/>
            </a:endParaRPr>
          </a:p>
        </p:txBody>
      </p:sp>
      <p:sp>
        <p:nvSpPr>
          <p:cNvPr id="154" name="Alternate Process 153"/>
          <p:cNvSpPr/>
          <p:nvPr/>
        </p:nvSpPr>
        <p:spPr>
          <a:xfrm>
            <a:off x="7391280" y="2590920"/>
            <a:ext cx="1219320" cy="533160"/>
          </a:xfrm>
          <a:prstGeom prst="flowChartAlternateProcess">
            <a:avLst/>
          </a:prstGeom>
          <a:solidFill>
            <a:srgbClr val="CC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Small CA</a:t>
            </a:r>
            <a:endParaRPr lang="en-US" spc="-1">
              <a:solidFill>
                <a:srgbClr val="FFFFFF"/>
              </a:solidFill>
              <a:latin typeface="Arial"/>
            </a:endParaRPr>
          </a:p>
        </p:txBody>
      </p:sp>
      <p:cxnSp>
        <p:nvCxnSpPr>
          <p:cNvPr id="155" name="Straight Arrow Connector 154">
            <a:extLst>
              <a:ext uri="{C183D7F6-B498-43B3-948B-1728B52AA6E4}">
                <adec:decorative xmlns:adec="http://schemas.microsoft.com/office/drawing/2017/decorative" val="1"/>
              </a:ext>
            </a:extLst>
          </p:cNvPr>
          <p:cNvCxnSpPr>
            <a:stCxn id="153" idx="2"/>
            <a:endCxn id="154" idx="0"/>
          </p:cNvCxnSpPr>
          <p:nvPr/>
        </p:nvCxnSpPr>
        <p:spPr>
          <a:xfrm>
            <a:off x="5676960" y="2362320"/>
            <a:ext cx="1981440" cy="228960"/>
          </a:xfrm>
          <a:prstGeom prst="straightConnector1">
            <a:avLst/>
          </a:prstGeom>
          <a:ln w="25560">
            <a:solidFill>
              <a:schemeClr val="tx1"/>
            </a:solidFill>
            <a:miter/>
          </a:ln>
        </p:spPr>
      </p:cxnSp>
      <p:cxnSp>
        <p:nvCxnSpPr>
          <p:cNvPr id="156" name="Straight Arrow Connector 155">
            <a:extLst>
              <a:ext uri="{C183D7F6-B498-43B3-948B-1728B52AA6E4}">
                <adec:decorative xmlns:adec="http://schemas.microsoft.com/office/drawing/2017/decorative" val="1"/>
              </a:ext>
            </a:extLst>
          </p:cNvPr>
          <p:cNvCxnSpPr>
            <a:stCxn id="152" idx="0"/>
            <a:endCxn id="153" idx="2"/>
          </p:cNvCxnSpPr>
          <p:nvPr/>
        </p:nvCxnSpPr>
        <p:spPr>
          <a:xfrm flipV="1">
            <a:off x="2171640" y="2362320"/>
            <a:ext cx="3505680" cy="2057760"/>
          </a:xfrm>
          <a:prstGeom prst="straightConnector1">
            <a:avLst/>
          </a:prstGeom>
          <a:ln w="25560">
            <a:solidFill>
              <a:schemeClr val="tx1"/>
            </a:solidFill>
            <a:miter/>
          </a:ln>
        </p:spPr>
      </p:cxnSp>
      <p:sp>
        <p:nvSpPr>
          <p:cNvPr id="157" name="Alternate Process 156"/>
          <p:cNvSpPr/>
          <p:nvPr/>
        </p:nvSpPr>
        <p:spPr>
          <a:xfrm>
            <a:off x="358140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Bob</a:t>
            </a:r>
            <a:endParaRPr lang="en-US" spc="-1">
              <a:solidFill>
                <a:srgbClr val="000000"/>
              </a:solidFill>
              <a:latin typeface="Arial"/>
            </a:endParaRPr>
          </a:p>
        </p:txBody>
      </p:sp>
      <p:cxnSp>
        <p:nvCxnSpPr>
          <p:cNvPr id="158" name="Straight Arrow Connector 157">
            <a:extLst>
              <a:ext uri="{C183D7F6-B498-43B3-948B-1728B52AA6E4}">
                <adec:decorative xmlns:adec="http://schemas.microsoft.com/office/drawing/2017/decorative" val="1"/>
              </a:ext>
            </a:extLst>
          </p:cNvPr>
          <p:cNvCxnSpPr>
            <a:stCxn id="153" idx="2"/>
            <a:endCxn id="157" idx="0"/>
          </p:cNvCxnSpPr>
          <p:nvPr/>
        </p:nvCxnSpPr>
        <p:spPr>
          <a:xfrm flipH="1">
            <a:off x="3848160" y="2362320"/>
            <a:ext cx="1829160" cy="2057760"/>
          </a:xfrm>
          <a:prstGeom prst="straightConnector1">
            <a:avLst/>
          </a:prstGeom>
          <a:ln w="25560">
            <a:solidFill>
              <a:schemeClr val="tx1"/>
            </a:solidFill>
            <a:miter/>
          </a:ln>
        </p:spPr>
      </p:cxnSp>
      <p:sp>
        <p:nvSpPr>
          <p:cNvPr id="159" name="Alternate Process 158"/>
          <p:cNvSpPr/>
          <p:nvPr/>
        </p:nvSpPr>
        <p:spPr>
          <a:xfrm>
            <a:off x="548652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Chad</a:t>
            </a:r>
            <a:endParaRPr lang="en-US" spc="-1">
              <a:solidFill>
                <a:srgbClr val="000000"/>
              </a:solidFill>
              <a:latin typeface="Arial"/>
            </a:endParaRPr>
          </a:p>
        </p:txBody>
      </p:sp>
      <p:cxnSp>
        <p:nvCxnSpPr>
          <p:cNvPr id="160" name="Straight Arrow Connector 159">
            <a:extLst>
              <a:ext uri="{C183D7F6-B498-43B3-948B-1728B52AA6E4}">
                <adec:decorative xmlns:adec="http://schemas.microsoft.com/office/drawing/2017/decorative" val="1"/>
              </a:ext>
            </a:extLst>
          </p:cNvPr>
          <p:cNvCxnSpPr>
            <a:stCxn id="154" idx="2"/>
            <a:endCxn id="159" idx="0"/>
          </p:cNvCxnSpPr>
          <p:nvPr/>
        </p:nvCxnSpPr>
        <p:spPr>
          <a:xfrm flipH="1">
            <a:off x="5753280" y="3124080"/>
            <a:ext cx="1905120" cy="1296000"/>
          </a:xfrm>
          <a:prstGeom prst="straightConnector1">
            <a:avLst/>
          </a:prstGeom>
          <a:ln w="25560">
            <a:solidFill>
              <a:schemeClr val="tx1"/>
            </a:solidFill>
            <a:miter/>
          </a:ln>
        </p:spPr>
      </p:cxnSp>
      <p:sp>
        <p:nvSpPr>
          <p:cNvPr id="161" name="Alternate Process 160"/>
          <p:cNvSpPr/>
          <p:nvPr/>
        </p:nvSpPr>
        <p:spPr>
          <a:xfrm>
            <a:off x="678180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Dan</a:t>
            </a:r>
            <a:endParaRPr lang="en-US" spc="-1">
              <a:solidFill>
                <a:srgbClr val="000000"/>
              </a:solidFill>
              <a:latin typeface="Arial"/>
            </a:endParaRPr>
          </a:p>
        </p:txBody>
      </p:sp>
      <p:cxnSp>
        <p:nvCxnSpPr>
          <p:cNvPr id="162" name="Straight Arrow Connector 161">
            <a:extLst>
              <a:ext uri="{C183D7F6-B498-43B3-948B-1728B52AA6E4}">
                <adec:decorative xmlns:adec="http://schemas.microsoft.com/office/drawing/2017/decorative" val="1"/>
              </a:ext>
            </a:extLst>
          </p:cNvPr>
          <p:cNvCxnSpPr>
            <a:stCxn id="154" idx="2"/>
            <a:endCxn id="161" idx="0"/>
          </p:cNvCxnSpPr>
          <p:nvPr/>
        </p:nvCxnSpPr>
        <p:spPr>
          <a:xfrm flipH="1">
            <a:off x="7048560" y="3124080"/>
            <a:ext cx="609840" cy="1296000"/>
          </a:xfrm>
          <a:prstGeom prst="straightConnector1">
            <a:avLst/>
          </a:prstGeom>
          <a:ln w="25560">
            <a:solidFill>
              <a:schemeClr val="tx1"/>
            </a:solidFill>
            <a:miter/>
          </a:ln>
        </p:spPr>
      </p:cxnSp>
      <p:sp>
        <p:nvSpPr>
          <p:cNvPr id="163" name="Alternate Process 162"/>
          <p:cNvSpPr/>
          <p:nvPr/>
        </p:nvSpPr>
        <p:spPr>
          <a:xfrm>
            <a:off x="8534280" y="3505320"/>
            <a:ext cx="1447920" cy="533160"/>
          </a:xfrm>
          <a:prstGeom prst="flowChartAlternateProcess">
            <a:avLst/>
          </a:prstGeom>
          <a:solidFill>
            <a:srgbClr val="FF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Smaller CA</a:t>
            </a:r>
            <a:endParaRPr lang="en-US" spc="-1">
              <a:solidFill>
                <a:srgbClr val="FFFFFF"/>
              </a:solidFill>
              <a:latin typeface="Arial"/>
            </a:endParaRPr>
          </a:p>
        </p:txBody>
      </p:sp>
      <p:sp>
        <p:nvSpPr>
          <p:cNvPr id="164" name="Alternate Process 163"/>
          <p:cNvSpPr/>
          <p:nvPr/>
        </p:nvSpPr>
        <p:spPr>
          <a:xfrm>
            <a:off x="815340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Emily</a:t>
            </a:r>
            <a:endParaRPr lang="en-US" spc="-1">
              <a:solidFill>
                <a:srgbClr val="000000"/>
              </a:solidFill>
              <a:latin typeface="Arial"/>
            </a:endParaRPr>
          </a:p>
        </p:txBody>
      </p:sp>
      <p:cxnSp>
        <p:nvCxnSpPr>
          <p:cNvPr id="165" name="Straight Arrow Connector 164">
            <a:extLst>
              <a:ext uri="{C183D7F6-B498-43B3-948B-1728B52AA6E4}">
                <adec:decorative xmlns:adec="http://schemas.microsoft.com/office/drawing/2017/decorative" val="1"/>
              </a:ext>
            </a:extLst>
          </p:cNvPr>
          <p:cNvCxnSpPr>
            <a:stCxn id="163" idx="2"/>
            <a:endCxn id="164" idx="0"/>
          </p:cNvCxnSpPr>
          <p:nvPr/>
        </p:nvCxnSpPr>
        <p:spPr>
          <a:xfrm flipH="1">
            <a:off x="8420160" y="4038480"/>
            <a:ext cx="381240" cy="381600"/>
          </a:xfrm>
          <a:prstGeom prst="straightConnector1">
            <a:avLst/>
          </a:prstGeom>
          <a:ln w="25560">
            <a:solidFill>
              <a:schemeClr val="tx1"/>
            </a:solidFill>
            <a:miter/>
          </a:ln>
        </p:spPr>
      </p:cxnSp>
      <p:sp>
        <p:nvSpPr>
          <p:cNvPr id="166" name="Alternate Process 165"/>
          <p:cNvSpPr/>
          <p:nvPr/>
        </p:nvSpPr>
        <p:spPr>
          <a:xfrm>
            <a:off x="937272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Fred</a:t>
            </a:r>
            <a:endParaRPr lang="en-US" spc="-1">
              <a:solidFill>
                <a:srgbClr val="000000"/>
              </a:solidFill>
              <a:latin typeface="Arial"/>
            </a:endParaRPr>
          </a:p>
        </p:txBody>
      </p:sp>
      <p:cxnSp>
        <p:nvCxnSpPr>
          <p:cNvPr id="167" name="Straight Arrow Connector 166">
            <a:extLst>
              <a:ext uri="{C183D7F6-B498-43B3-948B-1728B52AA6E4}">
                <adec:decorative xmlns:adec="http://schemas.microsoft.com/office/drawing/2017/decorative" val="1"/>
              </a:ext>
            </a:extLst>
          </p:cNvPr>
          <p:cNvCxnSpPr>
            <a:stCxn id="163" idx="2"/>
            <a:endCxn id="166" idx="0"/>
          </p:cNvCxnSpPr>
          <p:nvPr/>
        </p:nvCxnSpPr>
        <p:spPr>
          <a:xfrm>
            <a:off x="8801040" y="4038480"/>
            <a:ext cx="838800" cy="381600"/>
          </a:xfrm>
          <a:prstGeom prst="straightConnector1">
            <a:avLst/>
          </a:prstGeom>
          <a:ln w="25560">
            <a:solidFill>
              <a:schemeClr val="tx1"/>
            </a:solidFill>
            <a:miter/>
          </a:ln>
        </p:spPr>
      </p:cxnSp>
      <p:cxnSp>
        <p:nvCxnSpPr>
          <p:cNvPr id="168" name="Straight Arrow Connector 167">
            <a:extLst>
              <a:ext uri="{C183D7F6-B498-43B3-948B-1728B52AA6E4}">
                <adec:decorative xmlns:adec="http://schemas.microsoft.com/office/drawing/2017/decorative" val="1"/>
              </a:ext>
            </a:extLst>
          </p:cNvPr>
          <p:cNvCxnSpPr>
            <a:stCxn id="154" idx="2"/>
            <a:endCxn id="163" idx="0"/>
          </p:cNvCxnSpPr>
          <p:nvPr/>
        </p:nvCxnSpPr>
        <p:spPr>
          <a:xfrm>
            <a:off x="7658040" y="3124080"/>
            <a:ext cx="1143360" cy="381600"/>
          </a:xfrm>
          <a:prstGeom prst="straightConnector1">
            <a:avLst/>
          </a:prstGeom>
          <a:ln w="25560">
            <a:solidFill>
              <a:schemeClr val="tx1"/>
            </a:solidFill>
            <a:miter/>
          </a:ln>
        </p:spPr>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2600">
                <a:latin typeface="Tahoma"/>
              </a:rPr>
              <a:t>Networked</a:t>
            </a:r>
          </a:p>
        </p:txBody>
      </p:sp>
      <p:sp>
        <p:nvSpPr>
          <p:cNvPr id="170" name="PlaceHolder 2"/>
          <p:cNvSpPr>
            <a:spLocks noGrp="1"/>
          </p:cNvSpPr>
          <p:nvPr>
            <p:ph/>
          </p:nvPr>
        </p:nvSpPr>
        <p:spPr>
          <a:xfrm>
            <a:off x="1981200" y="1904760"/>
            <a:ext cx="8229600" cy="4190760"/>
          </a:xfrm>
          <a:prstGeom prst="rect">
            <a:avLst/>
          </a:prstGeom>
          <a:noFill/>
          <a:ln w="0">
            <a:noFill/>
          </a:ln>
        </p:spPr>
        <p:txBody>
          <a:bodyPr anchor="t" bIns="46800" lIns="90000" rIns="90000" rtlCol="0" tIns="46800" vert="horz">
            <a:normAutofit/>
          </a:bodyPr>
          <a:lstStyle/>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The Networked model addresses what to do when two or more PKIs wish to join together or merge</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Two techniques</a:t>
            </a:r>
          </a:p>
          <a:p>
            <a:pPr algn="l" indent="-285840" lvl="1" marL="743040">
              <a:lnSpc>
                <a:spcPct val="90000"/>
              </a:lnSpc>
              <a:spcBef>
                <a:spcPts val="700"/>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solidFill>
                  <a:schemeClr val="tx1"/>
                </a:solidFill>
                <a:latin typeface="Tahoma"/>
              </a:rPr>
              <a:t>Mesh</a:t>
            </a:r>
          </a:p>
          <a:p>
            <a:pPr algn="l" indent="-285840" lvl="1" marL="743040">
              <a:lnSpc>
                <a:spcPct val="90000"/>
              </a:lnSpc>
              <a:spcBef>
                <a:spcPts val="700"/>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solidFill>
                  <a:schemeClr val="tx1"/>
                </a:solidFill>
                <a:latin typeface="Tahoma"/>
              </a:rPr>
              <a:t>Hub-and-Spoke</a:t>
            </a:r>
          </a:p>
          <a:p>
            <a:pPr algn="l" indent="-343080" marL="343080">
              <a:spcBef>
                <a:spcPts val="7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3200">
                <a:latin typeface="Tahoma"/>
              </a:rPr>
              <a:t>We only need the Root CAs of each PKI to participate in this model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2600">
                <a:latin typeface="Tahoma"/>
              </a:rPr>
              <a:t>Networked – Mesh</a:t>
            </a:r>
          </a:p>
        </p:txBody>
      </p:sp>
      <p:sp>
        <p:nvSpPr>
          <p:cNvPr id="172" name="PlaceHolder 2"/>
          <p:cNvSpPr>
            <a:spLocks noGrp="1"/>
          </p:cNvSpPr>
          <p:nvPr>
            <p:ph/>
          </p:nvPr>
        </p:nvSpPr>
        <p:spPr>
          <a:xfrm>
            <a:off x="1981200" y="5257800"/>
            <a:ext cx="8229600" cy="1447920"/>
          </a:xfrm>
          <a:prstGeom prst="rect">
            <a:avLst/>
          </a:prstGeom>
          <a:noFill/>
          <a:ln w="0">
            <a:noFill/>
          </a:ln>
        </p:spPr>
        <p:txBody>
          <a:bodyPr anchor="t" bIns="46800" lIns="90000" rIns="90000" rtlCol="0" tIns="46800" vert="horz">
            <a:normAutofit/>
          </a:bodyPr>
          <a:lstStyle/>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Every Root CA signs every other Root CA’s Certificate</a:t>
            </a:r>
          </a:p>
          <a:p>
            <a:pPr algn="l" indent="-343080" marL="343080">
              <a:spcBef>
                <a:spcPts val="7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800">
                <a:latin typeface="Tahoma"/>
              </a:rPr>
              <a:t>Hard to join a large numbers of CAs</a:t>
            </a:r>
          </a:p>
        </p:txBody>
      </p:sp>
      <p:sp>
        <p:nvSpPr>
          <p:cNvPr id="173" name="Alternate Process 172"/>
          <p:cNvSpPr/>
          <p:nvPr/>
        </p:nvSpPr>
        <p:spPr>
          <a:xfrm>
            <a:off x="3733680" y="41911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3</a:t>
            </a:r>
            <a:endParaRPr lang="en-US" spc="-1">
              <a:solidFill>
                <a:srgbClr val="FFFFFF"/>
              </a:solidFill>
              <a:latin typeface="Arial"/>
            </a:endParaRPr>
          </a:p>
        </p:txBody>
      </p:sp>
      <p:sp>
        <p:nvSpPr>
          <p:cNvPr id="174" name="Alternate Process 173"/>
          <p:cNvSpPr/>
          <p:nvPr/>
        </p:nvSpPr>
        <p:spPr>
          <a:xfrm>
            <a:off x="3733680" y="21337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1</a:t>
            </a:r>
            <a:endParaRPr lang="en-US" spc="-1">
              <a:solidFill>
                <a:srgbClr val="FFFFFF"/>
              </a:solidFill>
              <a:latin typeface="Arial"/>
            </a:endParaRPr>
          </a:p>
        </p:txBody>
      </p:sp>
      <p:sp>
        <p:nvSpPr>
          <p:cNvPr id="175" name="Alternate Process 174"/>
          <p:cNvSpPr/>
          <p:nvPr/>
        </p:nvSpPr>
        <p:spPr>
          <a:xfrm>
            <a:off x="6934080" y="21337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2</a:t>
            </a:r>
            <a:endParaRPr lang="en-US" spc="-1">
              <a:solidFill>
                <a:srgbClr val="FFFFFF"/>
              </a:solidFill>
              <a:latin typeface="Arial"/>
            </a:endParaRPr>
          </a:p>
        </p:txBody>
      </p:sp>
      <p:sp>
        <p:nvSpPr>
          <p:cNvPr id="176" name="Alternate Process 175"/>
          <p:cNvSpPr/>
          <p:nvPr/>
        </p:nvSpPr>
        <p:spPr>
          <a:xfrm>
            <a:off x="6934080" y="41911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4</a:t>
            </a:r>
            <a:endParaRPr lang="en-US" spc="-1">
              <a:solidFill>
                <a:srgbClr val="FFFFFF"/>
              </a:solidFill>
              <a:latin typeface="Arial"/>
            </a:endParaRPr>
          </a:p>
        </p:txBody>
      </p:sp>
      <p:cxnSp>
        <p:nvCxnSpPr>
          <p:cNvPr id="177" name="Straight Arrow Connector 176">
            <a:extLst>
              <a:ext uri="{C183D7F6-B498-43B3-948B-1728B52AA6E4}">
                <adec:decorative xmlns:adec="http://schemas.microsoft.com/office/drawing/2017/decorative" val="1"/>
              </a:ext>
            </a:extLst>
          </p:cNvPr>
          <p:cNvCxnSpPr>
            <a:stCxn id="174" idx="2"/>
            <a:endCxn id="173" idx="0"/>
          </p:cNvCxnSpPr>
          <p:nvPr/>
        </p:nvCxnSpPr>
        <p:spPr>
          <a:xfrm>
            <a:off x="4000440" y="2666880"/>
            <a:ext cx="360" cy="1524600"/>
          </a:xfrm>
          <a:prstGeom prst="straightConnector1">
            <a:avLst/>
          </a:prstGeom>
          <a:ln w="25560">
            <a:solidFill>
              <a:schemeClr val="tx1"/>
            </a:solidFill>
            <a:miter/>
            <a:headEnd len="med" type="triangle" w="lg"/>
            <a:tailEnd len="med" type="triangle" w="lg"/>
          </a:ln>
        </p:spPr>
      </p:cxnSp>
      <p:cxnSp>
        <p:nvCxnSpPr>
          <p:cNvPr id="178" name="Straight Arrow Connector 177">
            <a:extLst>
              <a:ext uri="{C183D7F6-B498-43B3-948B-1728B52AA6E4}">
                <adec:decorative xmlns:adec="http://schemas.microsoft.com/office/drawing/2017/decorative" val="1"/>
              </a:ext>
            </a:extLst>
          </p:cNvPr>
          <p:cNvCxnSpPr>
            <a:stCxn id="175" idx="2"/>
            <a:endCxn id="173" idx="0"/>
          </p:cNvCxnSpPr>
          <p:nvPr/>
        </p:nvCxnSpPr>
        <p:spPr>
          <a:xfrm flipH="1">
            <a:off x="4000440" y="2666880"/>
            <a:ext cx="3200760" cy="1524600"/>
          </a:xfrm>
          <a:prstGeom prst="straightConnector1">
            <a:avLst/>
          </a:prstGeom>
          <a:ln w="25560">
            <a:solidFill>
              <a:schemeClr val="tx1"/>
            </a:solidFill>
            <a:miter/>
            <a:headEnd len="med" type="triangle" w="lg"/>
            <a:tailEnd len="med" type="triangle" w="lg"/>
          </a:ln>
        </p:spPr>
      </p:cxnSp>
      <p:cxnSp>
        <p:nvCxnSpPr>
          <p:cNvPr id="179" name="Straight Arrow Connector 178">
            <a:extLst>
              <a:ext uri="{C183D7F6-B498-43B3-948B-1728B52AA6E4}">
                <adec:decorative xmlns:adec="http://schemas.microsoft.com/office/drawing/2017/decorative" val="1"/>
              </a:ext>
            </a:extLst>
          </p:cNvPr>
          <p:cNvCxnSpPr>
            <a:stCxn id="174" idx="2"/>
            <a:endCxn id="176" idx="0"/>
          </p:cNvCxnSpPr>
          <p:nvPr/>
        </p:nvCxnSpPr>
        <p:spPr>
          <a:xfrm>
            <a:off x="4000440" y="2666880"/>
            <a:ext cx="3200760" cy="1524600"/>
          </a:xfrm>
          <a:prstGeom prst="straightConnector1">
            <a:avLst/>
          </a:prstGeom>
          <a:ln w="25560">
            <a:solidFill>
              <a:schemeClr val="tx1"/>
            </a:solidFill>
            <a:miter/>
            <a:headEnd len="med" type="triangle" w="lg"/>
            <a:tailEnd len="med" type="triangle" w="lg"/>
          </a:ln>
        </p:spPr>
      </p:cxnSp>
      <p:cxnSp>
        <p:nvCxnSpPr>
          <p:cNvPr id="180" name="Straight Arrow Connector 179">
            <a:extLst>
              <a:ext uri="{C183D7F6-B498-43B3-948B-1728B52AA6E4}">
                <adec:decorative xmlns:adec="http://schemas.microsoft.com/office/drawing/2017/decorative" val="1"/>
              </a:ext>
            </a:extLst>
          </p:cNvPr>
          <p:cNvCxnSpPr>
            <a:stCxn id="176" idx="1"/>
            <a:endCxn id="173" idx="3"/>
          </p:cNvCxnSpPr>
          <p:nvPr/>
        </p:nvCxnSpPr>
        <p:spPr>
          <a:xfrm flipH="1">
            <a:off x="5105280" y="4457880"/>
            <a:ext cx="1829160" cy="360"/>
          </a:xfrm>
          <a:prstGeom prst="straightConnector1">
            <a:avLst/>
          </a:prstGeom>
          <a:ln w="25560">
            <a:solidFill>
              <a:schemeClr val="tx1"/>
            </a:solidFill>
            <a:miter/>
            <a:headEnd len="med" type="triangle" w="lg"/>
            <a:tailEnd len="med" type="triangle" w="lg"/>
          </a:ln>
        </p:spPr>
      </p:cxnSp>
      <p:cxnSp>
        <p:nvCxnSpPr>
          <p:cNvPr id="181" name="Straight Arrow Connector 180">
            <a:extLst>
              <a:ext uri="{C183D7F6-B498-43B3-948B-1728B52AA6E4}">
                <adec:decorative xmlns:adec="http://schemas.microsoft.com/office/drawing/2017/decorative" val="1"/>
              </a:ext>
            </a:extLst>
          </p:cNvPr>
          <p:cNvCxnSpPr>
            <a:stCxn id="174" idx="3"/>
            <a:endCxn id="175" idx="1"/>
          </p:cNvCxnSpPr>
          <p:nvPr/>
        </p:nvCxnSpPr>
        <p:spPr>
          <a:xfrm>
            <a:off x="5105280" y="2400480"/>
            <a:ext cx="1829160" cy="360"/>
          </a:xfrm>
          <a:prstGeom prst="straightConnector1">
            <a:avLst/>
          </a:prstGeom>
          <a:ln w="25560">
            <a:solidFill>
              <a:schemeClr val="tx1"/>
            </a:solidFill>
            <a:miter/>
            <a:headEnd len="med" type="triangle" w="lg"/>
            <a:tailEnd len="med" type="triangle" w="lg"/>
          </a:ln>
        </p:spPr>
      </p:cxnSp>
      <p:cxnSp>
        <p:nvCxnSpPr>
          <p:cNvPr id="182" name="Straight Arrow Connector 181">
            <a:extLst>
              <a:ext uri="{C183D7F6-B498-43B3-948B-1728B52AA6E4}">
                <adec:decorative xmlns:adec="http://schemas.microsoft.com/office/drawing/2017/decorative" val="1"/>
              </a:ext>
            </a:extLst>
          </p:cNvPr>
          <p:cNvCxnSpPr>
            <a:stCxn id="175" idx="2"/>
            <a:endCxn id="176" idx="0"/>
          </p:cNvCxnSpPr>
          <p:nvPr/>
        </p:nvCxnSpPr>
        <p:spPr>
          <a:xfrm>
            <a:off x="7200840" y="2666880"/>
            <a:ext cx="360" cy="1524600"/>
          </a:xfrm>
          <a:prstGeom prst="straightConnector1">
            <a:avLst/>
          </a:prstGeom>
          <a:ln w="25560">
            <a:solidFill>
              <a:schemeClr val="tx1"/>
            </a:solidFill>
            <a:miter/>
            <a:headEnd len="med" type="triangle" w="lg"/>
            <a:tailEnd len="med" type="triangle" w="lg"/>
          </a:ln>
        </p:spPr>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2600">
                <a:latin typeface="Tahoma"/>
              </a:rPr>
              <a:t>Networked – Hub-and-Spoke</a:t>
            </a:r>
          </a:p>
        </p:txBody>
      </p:sp>
      <p:sp>
        <p:nvSpPr>
          <p:cNvPr id="184" name="PlaceHolder 2"/>
          <p:cNvSpPr>
            <a:spLocks noGrp="1"/>
          </p:cNvSpPr>
          <p:nvPr>
            <p:ph/>
          </p:nvPr>
        </p:nvSpPr>
        <p:spPr>
          <a:xfrm>
            <a:off x="1981200" y="5257800"/>
            <a:ext cx="8229600" cy="1447920"/>
          </a:xfrm>
          <a:prstGeom prst="rect">
            <a:avLst/>
          </a:prstGeom>
          <a:noFill/>
          <a:ln w="0">
            <a:noFill/>
          </a:ln>
        </p:spPr>
        <p:txBody>
          <a:bodyPr anchor="t" bIns="46800" lIns="90000" rIns="90000" rtlCol="0" tIns="46800" vert="horz">
            <a:normAutofit/>
          </a:bodyPr>
          <a:lstStyle/>
          <a:p>
            <a:pPr algn="l" indent="-343080" marL="343080">
              <a:lnSpc>
                <a:spcPct val="80000"/>
              </a:lnSpc>
              <a:spcBef>
                <a:spcPts val="45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800">
                <a:latin typeface="Tahoma"/>
              </a:rPr>
              <a:t>The Root CAs come together to create the Super Root CA</a:t>
            </a:r>
          </a:p>
          <a:p>
            <a:pPr algn="l" indent="-343080" marL="343080">
              <a:lnSpc>
                <a:spcPct val="80000"/>
              </a:lnSpc>
              <a:spcBef>
                <a:spcPts val="45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800">
                <a:latin typeface="Tahoma"/>
              </a:rPr>
              <a:t>Each Root CA signs the Super Root CA’s certificate while the Super Root CA signs each of theirs</a:t>
            </a:r>
          </a:p>
          <a:p>
            <a:pPr algn="l" indent="-343080" marL="343080">
              <a:lnSpc>
                <a:spcPct val="80000"/>
              </a:lnSpc>
              <a:spcBef>
                <a:spcPts val="45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800">
                <a:latin typeface="Tahoma"/>
              </a:rPr>
              <a:t>Easier to join large numbers of CAs</a:t>
            </a:r>
          </a:p>
          <a:p>
            <a:pPr algn="l" indent="-343080" marL="343080">
              <a:lnSpc>
                <a:spcPct val="80000"/>
              </a:lnSpc>
              <a:spcBef>
                <a:spcPts val="451"/>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800">
                <a:latin typeface="Tahoma"/>
              </a:rPr>
              <a:t>Question becomes, Who gets to manage the Super Root CA?</a:t>
            </a:r>
          </a:p>
        </p:txBody>
      </p:sp>
      <p:sp>
        <p:nvSpPr>
          <p:cNvPr id="185" name="Alternate Process 184"/>
          <p:cNvSpPr/>
          <p:nvPr/>
        </p:nvSpPr>
        <p:spPr>
          <a:xfrm>
            <a:off x="3733680" y="41911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3</a:t>
            </a:r>
            <a:endParaRPr lang="en-US" spc="-1">
              <a:solidFill>
                <a:srgbClr val="FFFFFF"/>
              </a:solidFill>
              <a:latin typeface="Arial"/>
            </a:endParaRPr>
          </a:p>
        </p:txBody>
      </p:sp>
      <p:sp>
        <p:nvSpPr>
          <p:cNvPr id="186" name="Alternate Process 185"/>
          <p:cNvSpPr/>
          <p:nvPr/>
        </p:nvSpPr>
        <p:spPr>
          <a:xfrm>
            <a:off x="3733680" y="21337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1</a:t>
            </a:r>
            <a:endParaRPr lang="en-US" spc="-1">
              <a:solidFill>
                <a:srgbClr val="FFFFFF"/>
              </a:solidFill>
              <a:latin typeface="Arial"/>
            </a:endParaRPr>
          </a:p>
        </p:txBody>
      </p:sp>
      <p:sp>
        <p:nvSpPr>
          <p:cNvPr id="187" name="Alternate Process 186"/>
          <p:cNvSpPr/>
          <p:nvPr/>
        </p:nvSpPr>
        <p:spPr>
          <a:xfrm>
            <a:off x="6934080" y="21337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2</a:t>
            </a:r>
            <a:endParaRPr lang="en-US" spc="-1">
              <a:solidFill>
                <a:srgbClr val="FFFFFF"/>
              </a:solidFill>
              <a:latin typeface="Arial"/>
            </a:endParaRPr>
          </a:p>
        </p:txBody>
      </p:sp>
      <p:sp>
        <p:nvSpPr>
          <p:cNvPr id="188" name="Alternate Process 187"/>
          <p:cNvSpPr/>
          <p:nvPr/>
        </p:nvSpPr>
        <p:spPr>
          <a:xfrm>
            <a:off x="6934080" y="4191120"/>
            <a:ext cx="1371600" cy="53316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4</a:t>
            </a:r>
            <a:endParaRPr lang="en-US" spc="-1">
              <a:solidFill>
                <a:srgbClr val="FFFFFF"/>
              </a:solidFill>
              <a:latin typeface="Arial"/>
            </a:endParaRPr>
          </a:p>
        </p:txBody>
      </p:sp>
      <p:cxnSp>
        <p:nvCxnSpPr>
          <p:cNvPr id="189" name="Straight Arrow Connector 188">
            <a:extLst>
              <a:ext uri="{C183D7F6-B498-43B3-948B-1728B52AA6E4}">
                <adec:decorative xmlns:adec="http://schemas.microsoft.com/office/drawing/2017/decorative" val="1"/>
              </a:ext>
            </a:extLst>
          </p:cNvPr>
          <p:cNvCxnSpPr>
            <a:stCxn id="190" idx="1"/>
            <a:endCxn id="186" idx="2"/>
          </p:cNvCxnSpPr>
          <p:nvPr/>
        </p:nvCxnSpPr>
        <p:spPr>
          <a:xfrm flipH="1" flipV="1">
            <a:off x="4000440" y="2666880"/>
            <a:ext cx="1181520" cy="724320"/>
          </a:xfrm>
          <a:prstGeom prst="straightConnector1">
            <a:avLst/>
          </a:prstGeom>
          <a:ln w="25560">
            <a:solidFill>
              <a:schemeClr val="tx1"/>
            </a:solidFill>
            <a:miter/>
            <a:headEnd len="med" type="triangle" w="lg"/>
            <a:tailEnd len="med" type="triangle" w="lg"/>
          </a:ln>
        </p:spPr>
      </p:cxnSp>
      <p:cxnSp>
        <p:nvCxnSpPr>
          <p:cNvPr id="191" name="Straight Arrow Connector 190">
            <a:extLst>
              <a:ext uri="{C183D7F6-B498-43B3-948B-1728B52AA6E4}">
                <adec:decorative xmlns:adec="http://schemas.microsoft.com/office/drawing/2017/decorative" val="1"/>
              </a:ext>
            </a:extLst>
          </p:cNvPr>
          <p:cNvCxnSpPr>
            <a:stCxn id="190" idx="2"/>
          </p:cNvCxnSpPr>
          <p:nvPr/>
        </p:nvCxnSpPr>
        <p:spPr>
          <a:xfrm flipH="1">
            <a:off x="5104920" y="3657600"/>
            <a:ext cx="343800" cy="763920"/>
          </a:xfrm>
          <a:prstGeom prst="straightConnector1">
            <a:avLst/>
          </a:prstGeom>
          <a:ln w="25560">
            <a:solidFill>
              <a:schemeClr val="tx1"/>
            </a:solidFill>
            <a:miter/>
            <a:headEnd len="med" type="triangle" w="lg"/>
            <a:tailEnd len="med" type="triangle" w="lg"/>
          </a:ln>
        </p:spPr>
      </p:cxnSp>
      <p:cxnSp>
        <p:nvCxnSpPr>
          <p:cNvPr id="192" name="Straight Arrow Connector 191">
            <a:extLst>
              <a:ext uri="{C183D7F6-B498-43B3-948B-1728B52AA6E4}">
                <adec:decorative xmlns:adec="http://schemas.microsoft.com/office/drawing/2017/decorative" val="1"/>
              </a:ext>
            </a:extLst>
          </p:cNvPr>
          <p:cNvCxnSpPr>
            <a:stCxn id="190" idx="0"/>
            <a:endCxn id="187" idx="1"/>
          </p:cNvCxnSpPr>
          <p:nvPr/>
        </p:nvCxnSpPr>
        <p:spPr>
          <a:xfrm flipV="1">
            <a:off x="5448360" y="2400480"/>
            <a:ext cx="1486080" cy="723960"/>
          </a:xfrm>
          <a:prstGeom prst="straightConnector1">
            <a:avLst/>
          </a:prstGeom>
          <a:ln w="25560">
            <a:solidFill>
              <a:schemeClr val="tx1"/>
            </a:solidFill>
            <a:miter/>
            <a:headEnd len="med" type="triangle" w="lg"/>
            <a:tailEnd len="med" type="triangle" w="lg"/>
          </a:ln>
        </p:spPr>
      </p:cxnSp>
      <p:cxnSp>
        <p:nvCxnSpPr>
          <p:cNvPr id="193" name="Straight Arrow Connector 192">
            <a:extLst>
              <a:ext uri="{C183D7F6-B498-43B3-948B-1728B52AA6E4}">
                <adec:decorative xmlns:adec="http://schemas.microsoft.com/office/drawing/2017/decorative" val="1"/>
              </a:ext>
            </a:extLst>
          </p:cNvPr>
          <p:cNvCxnSpPr>
            <a:stCxn id="190" idx="3"/>
            <a:endCxn id="188" idx="0"/>
          </p:cNvCxnSpPr>
          <p:nvPr/>
        </p:nvCxnSpPr>
        <p:spPr>
          <a:xfrm>
            <a:off x="6934080" y="3390840"/>
            <a:ext cx="267120" cy="800640"/>
          </a:xfrm>
          <a:prstGeom prst="straightConnector1">
            <a:avLst/>
          </a:prstGeom>
          <a:ln w="25560">
            <a:solidFill>
              <a:schemeClr val="tx1"/>
            </a:solidFill>
            <a:miter/>
            <a:headEnd len="med" type="triangle" w="lg"/>
            <a:tailEnd len="med" type="triangle" w="lg"/>
          </a:ln>
        </p:spPr>
      </p:cxnSp>
      <p:sp>
        <p:nvSpPr>
          <p:cNvPr id="190" name="Alternate Process 189"/>
          <p:cNvSpPr/>
          <p:nvPr/>
        </p:nvSpPr>
        <p:spPr>
          <a:xfrm>
            <a:off x="5181600" y="3124080"/>
            <a:ext cx="1752480" cy="53352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Super Root CA</a:t>
            </a:r>
            <a:endParaRPr lang="en-US" spc="-1">
              <a:solidFill>
                <a:srgbClr val="FFFFFF"/>
              </a:solidFill>
              <a:latin typeface="Arial"/>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2600">
                <a:latin typeface="Tahoma"/>
              </a:rPr>
              <a:t>Web Browser</a:t>
            </a:r>
          </a:p>
        </p:txBody>
      </p:sp>
      <p:sp>
        <p:nvSpPr>
          <p:cNvPr id="195" name="PlaceHolder 2"/>
          <p:cNvSpPr>
            <a:spLocks noGrp="1"/>
          </p:cNvSpPr>
          <p:nvPr>
            <p:ph/>
          </p:nvPr>
        </p:nvSpPr>
        <p:spPr>
          <a:xfrm>
            <a:off x="1981200" y="5028840"/>
            <a:ext cx="8229600" cy="1676520"/>
          </a:xfrm>
          <a:prstGeom prst="rect">
            <a:avLst/>
          </a:prstGeom>
          <a:noFill/>
          <a:ln w="0">
            <a:noFill/>
          </a:ln>
        </p:spPr>
        <p:txBody>
          <a:bodyPr anchor="t" bIns="46800" lIns="90000" rIns="90000" rtlCol="0" tIns="46800" vert="horz">
            <a:normAutofit/>
          </a:bodyPr>
          <a:lstStyle/>
          <a:p>
            <a:pPr algn="l" indent="-343080" marL="343080">
              <a:lnSpc>
                <a:spcPct val="80000"/>
              </a:lnSpc>
              <a:spcBef>
                <a:spcPts val="55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200">
                <a:latin typeface="Tahoma"/>
              </a:rPr>
              <a:t>A Web Browser maintains a list of trusted Root CAs</a:t>
            </a:r>
          </a:p>
          <a:p>
            <a:pPr algn="l" indent="-343080" marL="343080">
              <a:lnSpc>
                <a:spcPct val="80000"/>
              </a:lnSpc>
              <a:spcBef>
                <a:spcPts val="55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200">
                <a:latin typeface="Tahoma"/>
              </a:rPr>
              <a:t>Any Certificate signed by one of these Root CAs is trusted</a:t>
            </a:r>
          </a:p>
          <a:p>
            <a:pPr algn="l" indent="-343080" marL="343080">
              <a:lnSpc>
                <a:spcPct val="80000"/>
              </a:lnSpc>
              <a:spcBef>
                <a:spcPts val="55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200">
                <a:latin typeface="Tahoma"/>
              </a:rPr>
              <a:t>Basically a list of n Hierarchy Models</a:t>
            </a:r>
          </a:p>
          <a:p>
            <a:pPr algn="l" indent="-343080" marL="343080">
              <a:lnSpc>
                <a:spcPct val="80000"/>
              </a:lnSpc>
              <a:spcBef>
                <a:spcPts val="55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200">
                <a:latin typeface="Tahoma"/>
              </a:rPr>
              <a:t>Initial list decided on by Web Browser’s producer</a:t>
            </a:r>
          </a:p>
          <a:p>
            <a:pPr algn="l" indent="-343080" marL="343080">
              <a:lnSpc>
                <a:spcPct val="80000"/>
              </a:lnSpc>
              <a:spcBef>
                <a:spcPts val="550"/>
              </a:spcBef>
            </a:pPr>
            <a:endParaRPr dirty="0" lang="en-US" spc="-1" sz="2200">
              <a:latin typeface="Tahoma"/>
            </a:endParaRPr>
          </a:p>
        </p:txBody>
      </p:sp>
      <p:sp>
        <p:nvSpPr>
          <p:cNvPr id="196" name="Alternate Process 195"/>
          <p:cNvSpPr/>
          <p:nvPr/>
        </p:nvSpPr>
        <p:spPr>
          <a:xfrm>
            <a:off x="1676280" y="4419720"/>
            <a:ext cx="106704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alice.com</a:t>
            </a:r>
            <a:endParaRPr lang="en-US" spc="-1">
              <a:solidFill>
                <a:srgbClr val="000000"/>
              </a:solidFill>
              <a:latin typeface="Arial"/>
            </a:endParaRPr>
          </a:p>
        </p:txBody>
      </p:sp>
      <p:cxnSp>
        <p:nvCxnSpPr>
          <p:cNvPr id="197" name="Straight Arrow Connector 196">
            <a:extLst>
              <a:ext uri="{C183D7F6-B498-43B3-948B-1728B52AA6E4}">
                <adec:decorative xmlns:adec="http://schemas.microsoft.com/office/drawing/2017/decorative" val="1"/>
              </a:ext>
            </a:extLst>
          </p:cNvPr>
          <p:cNvCxnSpPr>
            <a:stCxn id="196" idx="0"/>
            <a:endCxn id="198" idx="2"/>
          </p:cNvCxnSpPr>
          <p:nvPr/>
        </p:nvCxnSpPr>
        <p:spPr>
          <a:xfrm flipV="1">
            <a:off x="1943040" y="2590920"/>
            <a:ext cx="381600" cy="1829160"/>
          </a:xfrm>
          <a:prstGeom prst="straightConnector1">
            <a:avLst/>
          </a:prstGeom>
          <a:ln w="25560">
            <a:solidFill>
              <a:schemeClr val="tx1"/>
            </a:solidFill>
            <a:miter/>
          </a:ln>
        </p:spPr>
      </p:cxnSp>
      <p:sp>
        <p:nvSpPr>
          <p:cNvPr id="199" name="Alternate Process 198"/>
          <p:cNvSpPr/>
          <p:nvPr/>
        </p:nvSpPr>
        <p:spPr>
          <a:xfrm>
            <a:off x="289560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bob.com</a:t>
            </a:r>
            <a:endParaRPr lang="en-US" spc="-1">
              <a:solidFill>
                <a:srgbClr val="000000"/>
              </a:solidFill>
              <a:latin typeface="Arial"/>
            </a:endParaRPr>
          </a:p>
        </p:txBody>
      </p:sp>
      <p:cxnSp>
        <p:nvCxnSpPr>
          <p:cNvPr id="200" name="Straight Arrow Connector 199">
            <a:extLst>
              <a:ext uri="{C183D7F6-B498-43B3-948B-1728B52AA6E4}">
                <adec:decorative xmlns:adec="http://schemas.microsoft.com/office/drawing/2017/decorative" val="1"/>
              </a:ext>
            </a:extLst>
          </p:cNvPr>
          <p:cNvCxnSpPr>
            <a:stCxn id="198" idx="2"/>
            <a:endCxn id="199" idx="0"/>
          </p:cNvCxnSpPr>
          <p:nvPr/>
        </p:nvCxnSpPr>
        <p:spPr>
          <a:xfrm>
            <a:off x="2324280" y="2590920"/>
            <a:ext cx="838440" cy="1829160"/>
          </a:xfrm>
          <a:prstGeom prst="straightConnector1">
            <a:avLst/>
          </a:prstGeom>
          <a:ln w="25560">
            <a:solidFill>
              <a:schemeClr val="tx1"/>
            </a:solidFill>
            <a:miter/>
          </a:ln>
        </p:spPr>
      </p:cxnSp>
      <p:sp>
        <p:nvSpPr>
          <p:cNvPr id="201" name="Alternate Process 200"/>
          <p:cNvSpPr/>
          <p:nvPr/>
        </p:nvSpPr>
        <p:spPr>
          <a:xfrm>
            <a:off x="411492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chad.com</a:t>
            </a:r>
            <a:endParaRPr lang="en-US" spc="-1">
              <a:solidFill>
                <a:srgbClr val="000000"/>
              </a:solidFill>
              <a:latin typeface="Arial"/>
            </a:endParaRPr>
          </a:p>
        </p:txBody>
      </p:sp>
      <p:cxnSp>
        <p:nvCxnSpPr>
          <p:cNvPr id="202" name="Straight Arrow Connector 201">
            <a:extLst>
              <a:ext uri="{C183D7F6-B498-43B3-948B-1728B52AA6E4}">
                <adec:decorative xmlns:adec="http://schemas.microsoft.com/office/drawing/2017/decorative" val="1"/>
              </a:ext>
            </a:extLst>
          </p:cNvPr>
          <p:cNvCxnSpPr>
            <a:stCxn id="203" idx="2"/>
            <a:endCxn id="201" idx="0"/>
          </p:cNvCxnSpPr>
          <p:nvPr/>
        </p:nvCxnSpPr>
        <p:spPr>
          <a:xfrm>
            <a:off x="4229040" y="2590920"/>
            <a:ext cx="153000" cy="1829160"/>
          </a:xfrm>
          <a:prstGeom prst="straightConnector1">
            <a:avLst/>
          </a:prstGeom>
          <a:ln w="25560">
            <a:solidFill>
              <a:schemeClr val="tx1"/>
            </a:solidFill>
            <a:miter/>
          </a:ln>
        </p:spPr>
      </p:cxnSp>
      <p:sp>
        <p:nvSpPr>
          <p:cNvPr id="204" name="Alternate Process 203"/>
          <p:cNvSpPr/>
          <p:nvPr/>
        </p:nvSpPr>
        <p:spPr>
          <a:xfrm>
            <a:off x="5333880" y="4419720"/>
            <a:ext cx="106704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dan.com</a:t>
            </a:r>
            <a:endParaRPr lang="en-US" spc="-1">
              <a:solidFill>
                <a:srgbClr val="000000"/>
              </a:solidFill>
              <a:latin typeface="Arial"/>
            </a:endParaRPr>
          </a:p>
        </p:txBody>
      </p:sp>
      <p:cxnSp>
        <p:nvCxnSpPr>
          <p:cNvPr id="205" name="Straight Arrow Connector 204">
            <a:extLst>
              <a:ext uri="{C183D7F6-B498-43B3-948B-1728B52AA6E4}">
                <adec:decorative xmlns:adec="http://schemas.microsoft.com/office/drawing/2017/decorative" val="1"/>
              </a:ext>
            </a:extLst>
          </p:cNvPr>
          <p:cNvCxnSpPr>
            <a:stCxn id="206" idx="2"/>
            <a:endCxn id="204" idx="0"/>
          </p:cNvCxnSpPr>
          <p:nvPr/>
        </p:nvCxnSpPr>
        <p:spPr>
          <a:xfrm flipH="1">
            <a:off x="5600640" y="2590920"/>
            <a:ext cx="991080" cy="1829160"/>
          </a:xfrm>
          <a:prstGeom prst="straightConnector1">
            <a:avLst/>
          </a:prstGeom>
          <a:ln w="25560">
            <a:solidFill>
              <a:schemeClr val="tx1"/>
            </a:solidFill>
            <a:miter/>
          </a:ln>
        </p:spPr>
      </p:cxnSp>
      <p:sp>
        <p:nvSpPr>
          <p:cNvPr id="207" name="Alternate Process 206"/>
          <p:cNvSpPr/>
          <p:nvPr/>
        </p:nvSpPr>
        <p:spPr>
          <a:xfrm>
            <a:off x="6934080" y="3505320"/>
            <a:ext cx="1447920" cy="533160"/>
          </a:xfrm>
          <a:prstGeom prst="flowChartAlternateProcess">
            <a:avLst/>
          </a:prstGeom>
          <a:solidFill>
            <a:srgbClr val="FF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Smaller CA</a:t>
            </a:r>
            <a:endParaRPr lang="en-US" spc="-1">
              <a:solidFill>
                <a:srgbClr val="FFFFFF"/>
              </a:solidFill>
              <a:latin typeface="Arial"/>
            </a:endParaRPr>
          </a:p>
        </p:txBody>
      </p:sp>
      <p:sp>
        <p:nvSpPr>
          <p:cNvPr id="208" name="Alternate Process 207"/>
          <p:cNvSpPr/>
          <p:nvPr/>
        </p:nvSpPr>
        <p:spPr>
          <a:xfrm>
            <a:off x="655320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emily.com</a:t>
            </a:r>
            <a:endParaRPr lang="en-US" spc="-1">
              <a:solidFill>
                <a:srgbClr val="000000"/>
              </a:solidFill>
              <a:latin typeface="Arial"/>
            </a:endParaRPr>
          </a:p>
        </p:txBody>
      </p:sp>
      <p:cxnSp>
        <p:nvCxnSpPr>
          <p:cNvPr id="209" name="Straight Arrow Connector 208">
            <a:extLst>
              <a:ext uri="{C183D7F6-B498-43B3-948B-1728B52AA6E4}">
                <adec:decorative xmlns:adec="http://schemas.microsoft.com/office/drawing/2017/decorative" val="1"/>
              </a:ext>
            </a:extLst>
          </p:cNvPr>
          <p:cNvCxnSpPr>
            <a:stCxn id="207" idx="2"/>
            <a:endCxn id="208" idx="0"/>
          </p:cNvCxnSpPr>
          <p:nvPr/>
        </p:nvCxnSpPr>
        <p:spPr>
          <a:xfrm flipH="1">
            <a:off x="6819960" y="4038480"/>
            <a:ext cx="381240" cy="381600"/>
          </a:xfrm>
          <a:prstGeom prst="straightConnector1">
            <a:avLst/>
          </a:prstGeom>
          <a:ln w="25560">
            <a:solidFill>
              <a:schemeClr val="tx1"/>
            </a:solidFill>
            <a:miter/>
          </a:ln>
        </p:spPr>
      </p:cxnSp>
      <p:sp>
        <p:nvSpPr>
          <p:cNvPr id="210" name="Alternate Process 209"/>
          <p:cNvSpPr/>
          <p:nvPr/>
        </p:nvSpPr>
        <p:spPr>
          <a:xfrm>
            <a:off x="7772520" y="4419720"/>
            <a:ext cx="1066680" cy="533160"/>
          </a:xfrm>
          <a:prstGeom prst="flowChartAlternateProcess">
            <a:avLst/>
          </a:prstGeom>
          <a:solidFill>
            <a:srgbClr val="FF66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fred.com</a:t>
            </a:r>
            <a:endParaRPr lang="en-US" spc="-1">
              <a:solidFill>
                <a:srgbClr val="000000"/>
              </a:solidFill>
              <a:latin typeface="Arial"/>
            </a:endParaRPr>
          </a:p>
        </p:txBody>
      </p:sp>
      <p:cxnSp>
        <p:nvCxnSpPr>
          <p:cNvPr id="211" name="Straight Arrow Connector 210">
            <a:extLst>
              <a:ext uri="{C183D7F6-B498-43B3-948B-1728B52AA6E4}">
                <adec:decorative xmlns:adec="http://schemas.microsoft.com/office/drawing/2017/decorative" val="1"/>
              </a:ext>
            </a:extLst>
          </p:cNvPr>
          <p:cNvCxnSpPr>
            <a:stCxn id="207" idx="2"/>
            <a:endCxn id="210" idx="0"/>
          </p:cNvCxnSpPr>
          <p:nvPr/>
        </p:nvCxnSpPr>
        <p:spPr>
          <a:xfrm>
            <a:off x="7200840" y="4038480"/>
            <a:ext cx="838800" cy="381600"/>
          </a:xfrm>
          <a:prstGeom prst="straightConnector1">
            <a:avLst/>
          </a:prstGeom>
          <a:ln w="25560">
            <a:solidFill>
              <a:schemeClr val="tx1"/>
            </a:solidFill>
            <a:miter/>
          </a:ln>
        </p:spPr>
      </p:cxnSp>
      <p:cxnSp>
        <p:nvCxnSpPr>
          <p:cNvPr id="212" name="Straight Arrow Connector 211">
            <a:extLst>
              <a:ext uri="{C183D7F6-B498-43B3-948B-1728B52AA6E4}">
                <adec:decorative xmlns:adec="http://schemas.microsoft.com/office/drawing/2017/decorative" val="1"/>
              </a:ext>
            </a:extLst>
          </p:cNvPr>
          <p:cNvCxnSpPr>
            <a:stCxn id="206" idx="2"/>
            <a:endCxn id="207" idx="0"/>
          </p:cNvCxnSpPr>
          <p:nvPr/>
        </p:nvCxnSpPr>
        <p:spPr>
          <a:xfrm>
            <a:off x="6591360" y="2590920"/>
            <a:ext cx="609840" cy="914760"/>
          </a:xfrm>
          <a:prstGeom prst="straightConnector1">
            <a:avLst/>
          </a:prstGeom>
          <a:ln w="25560">
            <a:solidFill>
              <a:schemeClr val="tx1"/>
            </a:solidFill>
            <a:miter/>
          </a:ln>
        </p:spPr>
      </p:cxnSp>
      <p:sp>
        <p:nvSpPr>
          <p:cNvPr id="206" name="Alternate Process 205"/>
          <p:cNvSpPr/>
          <p:nvPr/>
        </p:nvSpPr>
        <p:spPr>
          <a:xfrm>
            <a:off x="6324600" y="2057400"/>
            <a:ext cx="1371600" cy="53352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3</a:t>
            </a:r>
            <a:endParaRPr lang="en-US" spc="-1">
              <a:solidFill>
                <a:srgbClr val="FFFFFF"/>
              </a:solidFill>
              <a:latin typeface="Arial"/>
            </a:endParaRPr>
          </a:p>
        </p:txBody>
      </p:sp>
      <p:sp>
        <p:nvSpPr>
          <p:cNvPr id="198" name="Alternate Process 197"/>
          <p:cNvSpPr/>
          <p:nvPr/>
        </p:nvSpPr>
        <p:spPr>
          <a:xfrm>
            <a:off x="2057520" y="2057400"/>
            <a:ext cx="1371600" cy="53352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1</a:t>
            </a:r>
            <a:endParaRPr lang="en-US" spc="-1">
              <a:solidFill>
                <a:srgbClr val="FFFFFF"/>
              </a:solidFill>
              <a:latin typeface="Arial"/>
            </a:endParaRPr>
          </a:p>
        </p:txBody>
      </p:sp>
      <p:sp>
        <p:nvSpPr>
          <p:cNvPr id="203" name="Alternate Process 202"/>
          <p:cNvSpPr/>
          <p:nvPr/>
        </p:nvSpPr>
        <p:spPr>
          <a:xfrm>
            <a:off x="3962280" y="2057400"/>
            <a:ext cx="1371600" cy="53352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2</a:t>
            </a:r>
            <a:endParaRPr lang="en-US" spc="-1">
              <a:solidFill>
                <a:srgbClr val="FFFFFF"/>
              </a:solidFill>
              <a:latin typeface="Arial"/>
            </a:endParaRPr>
          </a:p>
        </p:txBody>
      </p:sp>
      <p:sp>
        <p:nvSpPr>
          <p:cNvPr id="213" name="Alternate Process 212"/>
          <p:cNvSpPr/>
          <p:nvPr/>
        </p:nvSpPr>
        <p:spPr>
          <a:xfrm>
            <a:off x="9067800" y="2057400"/>
            <a:ext cx="1371600" cy="533520"/>
          </a:xfrm>
          <a:prstGeom prst="flowChartAlternateProcess">
            <a:avLst/>
          </a:prstGeom>
          <a:solidFill>
            <a:srgbClr val="800000"/>
          </a:solidFill>
          <a:ln w="9360">
            <a:solidFill>
              <a:schemeClr val="tx1"/>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pc="-1">
                <a:solidFill>
                  <a:srgbClr val="FFFFFF"/>
                </a:solidFill>
                <a:latin typeface="Tahoma"/>
              </a:rPr>
              <a:t>Root CA</a:t>
            </a:r>
            <a:r>
              <a:rPr b="1" baseline="-25000" lang="en-US" spc="-1">
                <a:solidFill>
                  <a:srgbClr val="FFFFFF"/>
                </a:solidFill>
                <a:latin typeface="Tahoma"/>
              </a:rPr>
              <a:t>n</a:t>
            </a:r>
            <a:endParaRPr lang="en-US" spc="-1">
              <a:solidFill>
                <a:srgbClr val="FFFFFF"/>
              </a:solidFill>
              <a:latin typeface="Arial"/>
            </a:endParaRPr>
          </a:p>
        </p:txBody>
      </p:sp>
      <p:sp>
        <p:nvSpPr>
          <p:cNvPr id="214" name="Rectangle 213"/>
          <p:cNvSpPr/>
          <p:nvPr/>
        </p:nvSpPr>
        <p:spPr>
          <a:xfrm>
            <a:off x="8236560" y="1957321"/>
            <a:ext cx="516658" cy="586957"/>
          </a:xfrm>
          <a:prstGeom prst="rect">
            <a:avLst/>
          </a:prstGeom>
          <a:noFill/>
          <a:ln w="0">
            <a:solidFill>
              <a:schemeClr val="tx1"/>
            </a:solidFill>
          </a:ln>
        </p:spPr>
        <p:style>
          <a:lnRef idx="0">
            <a:scrgbClr b="0" g="0" r="0"/>
          </a:lnRef>
          <a:fillRef idx="0">
            <a:scrgbClr b="0" g="0" r="0"/>
          </a:fillRef>
          <a:effectRef idx="0">
            <a:scrgbClr b="0" g="0" r="0"/>
          </a:effectRef>
          <a:fontRef idx="minor"/>
        </p:style>
        <p:txBody>
          <a:bodyPr anchor="t" bIns="46800" lIns="90000" rIns="90000" tIns="46800" wrap="none">
            <a:spAutoFit/>
          </a:bodyPr>
          <a:lstStyle/>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sz="3200">
                <a:solidFill>
                  <a:srgbClr val="FFFFFF"/>
                </a:solidFill>
                <a:latin typeface="Tahoma"/>
              </a:rPr>
              <a:t>…</a:t>
            </a:r>
            <a:endParaRPr lang="en-US" spc="-1" sz="3200">
              <a:solidFill>
                <a:srgbClr val="FFFFFF"/>
              </a:solidFill>
              <a:latin typeface="Aria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Organization</a:t>
            </a:r>
            <a:br>
              <a:rPr dirty="0"/>
            </a:br>
            <a:r>
              <a:rPr dirty="0" lang="en-US" spc="-1" sz="2600">
                <a:latin typeface="Tahoma"/>
              </a:rPr>
              <a:t>PGP</a:t>
            </a:r>
          </a:p>
        </p:txBody>
      </p:sp>
      <p:sp>
        <p:nvSpPr>
          <p:cNvPr id="216" name="PlaceHolder 2"/>
          <p:cNvSpPr>
            <a:spLocks noGrp="1"/>
          </p:cNvSpPr>
          <p:nvPr>
            <p:ph/>
          </p:nvPr>
        </p:nvSpPr>
        <p:spPr>
          <a:xfrm>
            <a:off x="1676280" y="3962520"/>
            <a:ext cx="8839440" cy="2743200"/>
          </a:xfrm>
          <a:prstGeom prst="rect">
            <a:avLst/>
          </a:prstGeom>
          <a:noFill/>
          <a:ln w="0">
            <a:noFill/>
          </a:ln>
        </p:spPr>
        <p:txBody>
          <a:bodyPr anchor="t" bIns="46800" lIns="90000" rIns="90000" rtlCol="0" tIns="46800" vert="horz">
            <a:normAutofit/>
          </a:bodyPr>
          <a:lstStyle/>
          <a:p>
            <a:pPr algn="l" indent="-343080" marL="343080">
              <a:lnSpc>
                <a:spcPct val="80000"/>
              </a:lnSpc>
              <a:spcBef>
                <a:spcPts val="4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600">
                <a:latin typeface="Tahoma"/>
              </a:rPr>
              <a:t>Each user’s Certificate is signed by zero or more other users</a:t>
            </a:r>
          </a:p>
          <a:p>
            <a:pPr algn="l" indent="-343080" marL="343080">
              <a:lnSpc>
                <a:spcPct val="80000"/>
              </a:lnSpc>
              <a:spcBef>
                <a:spcPts val="4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600">
                <a:latin typeface="Tahoma"/>
              </a:rPr>
              <a:t>Certificate validity calculated from levels of trust assigned by signers</a:t>
            </a:r>
          </a:p>
          <a:p>
            <a:pPr algn="l" indent="-343080" marL="343080">
              <a:lnSpc>
                <a:spcPct val="80000"/>
              </a:lnSpc>
              <a:spcBef>
                <a:spcPts val="4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600">
                <a:latin typeface="Tahoma"/>
              </a:rPr>
              <a:t>Assigned levels (Chad)</a:t>
            </a:r>
          </a:p>
          <a:p>
            <a:pPr algn="l" indent="-285840" lvl="1" marL="743040">
              <a:lnSpc>
                <a:spcPct val="80000"/>
              </a:lnSpc>
              <a:spcBef>
                <a:spcPts val="34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400">
                <a:solidFill>
                  <a:schemeClr val="tx1"/>
                </a:solidFill>
                <a:latin typeface="Tahoma"/>
              </a:rPr>
              <a:t>Implicit: User themselves – Chad</a:t>
            </a:r>
          </a:p>
          <a:p>
            <a:pPr algn="l" indent="-285840" lvl="1" marL="743040">
              <a:lnSpc>
                <a:spcPct val="80000"/>
              </a:lnSpc>
              <a:spcBef>
                <a:spcPts val="34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400">
                <a:solidFill>
                  <a:schemeClr val="tx1"/>
                </a:solidFill>
                <a:latin typeface="Tahoma"/>
              </a:rPr>
              <a:t>Complete: Any Certificate signed by the user them self – Fred and Emily</a:t>
            </a:r>
          </a:p>
          <a:p>
            <a:pPr algn="l" indent="-343080" marL="343080">
              <a:lnSpc>
                <a:spcPct val="80000"/>
              </a:lnSpc>
              <a:spcBef>
                <a:spcPts val="4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600">
                <a:latin typeface="Tahoma"/>
              </a:rPr>
              <a:t>Intermediate Calculated Item</a:t>
            </a:r>
          </a:p>
          <a:p>
            <a:pPr algn="l" indent="-285840" lvl="1" marL="743040">
              <a:lnSpc>
                <a:spcPct val="80000"/>
              </a:lnSpc>
              <a:spcBef>
                <a:spcPts val="34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400">
                <a:solidFill>
                  <a:schemeClr val="tx1"/>
                </a:solidFill>
                <a:latin typeface="Tahoma"/>
              </a:rPr>
              <a:t>Partial Trust: Any Certificate signed by a ‘Complete’ Certificate – Bob and Dan</a:t>
            </a:r>
          </a:p>
          <a:p>
            <a:pPr algn="l" indent="-343080" marL="343080">
              <a:lnSpc>
                <a:spcPct val="80000"/>
              </a:lnSpc>
              <a:spcBef>
                <a:spcPts val="400"/>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600">
                <a:latin typeface="Tahoma"/>
              </a:rPr>
              <a:t>Calculated (Chad)</a:t>
            </a:r>
          </a:p>
          <a:p>
            <a:pPr algn="l" indent="-285840" lvl="1" marL="743040">
              <a:lnSpc>
                <a:spcPct val="80000"/>
              </a:lnSpc>
              <a:spcBef>
                <a:spcPts val="34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400">
                <a:solidFill>
                  <a:schemeClr val="tx1"/>
                </a:solidFill>
                <a:latin typeface="Tahoma"/>
              </a:rPr>
              <a:t>Valid: Any Certificate signed by an ‘Implicit’ or ‘Complete’ level Certificates – Chad, Fred, Emily, Dan, and Bob</a:t>
            </a:r>
          </a:p>
          <a:p>
            <a:pPr algn="l" indent="-285840" lvl="1" marL="743040">
              <a:lnSpc>
                <a:spcPct val="80000"/>
              </a:lnSpc>
              <a:spcBef>
                <a:spcPts val="34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400">
                <a:solidFill>
                  <a:schemeClr val="tx1"/>
                </a:solidFill>
                <a:latin typeface="Tahoma"/>
              </a:rPr>
              <a:t>Marginally Valid: Any Certificate signed by two or more ‘Partial’ trust Certificates – Gary</a:t>
            </a:r>
          </a:p>
          <a:p>
            <a:pPr algn="l" indent="-285840" lvl="1" marL="743040">
              <a:lnSpc>
                <a:spcPct val="80000"/>
              </a:lnSpc>
              <a:spcBef>
                <a:spcPts val="349"/>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1400">
                <a:solidFill>
                  <a:schemeClr val="tx1"/>
                </a:solidFill>
                <a:latin typeface="Tahoma"/>
              </a:rPr>
              <a:t>Invalid: Any Certificate signed by a ‘Marginally Valid’ or no one - Alice</a:t>
            </a:r>
          </a:p>
        </p:txBody>
      </p:sp>
      <p:sp>
        <p:nvSpPr>
          <p:cNvPr id="217" name="Alternate Process 216"/>
          <p:cNvSpPr/>
          <p:nvPr/>
        </p:nvSpPr>
        <p:spPr>
          <a:xfrm>
            <a:off x="2133480" y="3352680"/>
            <a:ext cx="1067040" cy="533520"/>
          </a:xfrm>
          <a:prstGeom prst="flowChartAlternateProcess">
            <a:avLst/>
          </a:prstGeom>
          <a:solidFill>
            <a:srgbClr val="FFCC00"/>
          </a:solidFill>
          <a:ln w="936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434343"/>
                </a:solidFill>
                <a:latin typeface="Tahoma"/>
              </a:rPr>
              <a:t>Alice</a:t>
            </a:r>
            <a:endParaRPr lang="en-US" spc="-1">
              <a:solidFill>
                <a:srgbClr val="434343"/>
              </a:solidFill>
              <a:latin typeface="Arial"/>
            </a:endParaRPr>
          </a:p>
        </p:txBody>
      </p:sp>
      <p:sp>
        <p:nvSpPr>
          <p:cNvPr id="218" name="Alternate Process 217"/>
          <p:cNvSpPr/>
          <p:nvPr/>
        </p:nvSpPr>
        <p:spPr>
          <a:xfrm>
            <a:off x="3276480" y="1523880"/>
            <a:ext cx="1067040" cy="533520"/>
          </a:xfrm>
          <a:prstGeom prst="flowChartAlternateProcess">
            <a:avLst/>
          </a:prstGeom>
          <a:solidFill>
            <a:srgbClr val="FD3F03"/>
          </a:solidFill>
          <a:ln w="936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FFFFFF"/>
                </a:solidFill>
                <a:latin typeface="Tahoma"/>
              </a:rPr>
              <a:t>Bob</a:t>
            </a:r>
            <a:endParaRPr lang="en-US" spc="-1">
              <a:solidFill>
                <a:srgbClr val="FFFFFF"/>
              </a:solidFill>
              <a:latin typeface="Arial"/>
            </a:endParaRPr>
          </a:p>
        </p:txBody>
      </p:sp>
      <p:sp>
        <p:nvSpPr>
          <p:cNvPr id="219" name="Alternate Process 218"/>
          <p:cNvSpPr/>
          <p:nvPr/>
        </p:nvSpPr>
        <p:spPr>
          <a:xfrm>
            <a:off x="6781800" y="2666880"/>
            <a:ext cx="1066680" cy="533520"/>
          </a:xfrm>
          <a:prstGeom prst="flowChartAlternateProcess">
            <a:avLst/>
          </a:prstGeom>
          <a:solidFill>
            <a:srgbClr val="800000"/>
          </a:solidFill>
          <a:ln w="936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FFFFFF"/>
                </a:solidFill>
                <a:latin typeface="Tahoma"/>
              </a:rPr>
              <a:t>Chad</a:t>
            </a:r>
            <a:endParaRPr lang="en-US" spc="-1">
              <a:solidFill>
                <a:srgbClr val="FFFFFF"/>
              </a:solidFill>
              <a:latin typeface="Arial"/>
            </a:endParaRPr>
          </a:p>
        </p:txBody>
      </p:sp>
      <p:sp>
        <p:nvSpPr>
          <p:cNvPr id="220" name="Alternate Process 219"/>
          <p:cNvSpPr/>
          <p:nvPr/>
        </p:nvSpPr>
        <p:spPr>
          <a:xfrm>
            <a:off x="4800720" y="3200400"/>
            <a:ext cx="1066680" cy="533520"/>
          </a:xfrm>
          <a:prstGeom prst="flowChartAlternateProcess">
            <a:avLst/>
          </a:prstGeom>
          <a:solidFill>
            <a:srgbClr val="FD3F03"/>
          </a:solidFill>
          <a:ln w="936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FFFFFF"/>
                </a:solidFill>
                <a:latin typeface="Tahoma"/>
              </a:rPr>
              <a:t>Dan</a:t>
            </a:r>
            <a:endParaRPr lang="en-US" spc="-1">
              <a:solidFill>
                <a:srgbClr val="FFFFFF"/>
              </a:solidFill>
              <a:latin typeface="Arial"/>
            </a:endParaRPr>
          </a:p>
        </p:txBody>
      </p:sp>
      <p:sp>
        <p:nvSpPr>
          <p:cNvPr id="221" name="Alternate Process 220"/>
          <p:cNvSpPr/>
          <p:nvPr/>
        </p:nvSpPr>
        <p:spPr>
          <a:xfrm>
            <a:off x="8610600" y="1600200"/>
            <a:ext cx="1066680" cy="533520"/>
          </a:xfrm>
          <a:prstGeom prst="flowChartAlternateProcess">
            <a:avLst/>
          </a:prstGeom>
          <a:solidFill>
            <a:srgbClr val="993300"/>
          </a:solidFill>
          <a:ln w="936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FFFFFF"/>
                </a:solidFill>
                <a:latin typeface="Tahoma"/>
              </a:rPr>
              <a:t>Emily</a:t>
            </a:r>
            <a:endParaRPr lang="en-US" spc="-1">
              <a:solidFill>
                <a:srgbClr val="FFFFFF"/>
              </a:solidFill>
              <a:latin typeface="Arial"/>
            </a:endParaRPr>
          </a:p>
        </p:txBody>
      </p:sp>
      <p:sp>
        <p:nvSpPr>
          <p:cNvPr id="222" name="Alternate Process 221"/>
          <p:cNvSpPr/>
          <p:nvPr/>
        </p:nvSpPr>
        <p:spPr>
          <a:xfrm>
            <a:off x="8458320" y="3352680"/>
            <a:ext cx="1066680" cy="533520"/>
          </a:xfrm>
          <a:prstGeom prst="flowChartAlternateProcess">
            <a:avLst/>
          </a:prstGeom>
          <a:solidFill>
            <a:srgbClr val="993300"/>
          </a:solidFill>
          <a:ln w="936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FFFFFF"/>
                </a:solidFill>
                <a:latin typeface="Tahoma"/>
              </a:rPr>
              <a:t>Fred</a:t>
            </a:r>
            <a:endParaRPr lang="en-US" spc="-1">
              <a:solidFill>
                <a:srgbClr val="FFFFFF"/>
              </a:solidFill>
              <a:latin typeface="Arial"/>
            </a:endParaRPr>
          </a:p>
        </p:txBody>
      </p:sp>
      <p:cxnSp>
        <p:nvCxnSpPr>
          <p:cNvPr id="223" name="Straight Arrow Connector 222">
            <a:extLst>
              <a:ext uri="{C183D7F6-B498-43B3-948B-1728B52AA6E4}">
                <adec:decorative xmlns:adec="http://schemas.microsoft.com/office/drawing/2017/decorative" val="1"/>
              </a:ext>
            </a:extLst>
          </p:cNvPr>
          <p:cNvCxnSpPr>
            <a:stCxn id="219" idx="3"/>
            <a:endCxn id="221" idx="2"/>
          </p:cNvCxnSpPr>
          <p:nvPr/>
        </p:nvCxnSpPr>
        <p:spPr>
          <a:xfrm flipV="1">
            <a:off x="7848480" y="2133720"/>
            <a:ext cx="1029240" cy="800280"/>
          </a:xfrm>
          <a:prstGeom prst="straightConnector1">
            <a:avLst/>
          </a:prstGeom>
          <a:ln w="22320">
            <a:solidFill>
              <a:srgbClr val="00FF00"/>
            </a:solidFill>
            <a:miter/>
            <a:tailEnd len="med" type="triangle" w="med"/>
          </a:ln>
        </p:spPr>
      </p:cxnSp>
      <p:cxnSp>
        <p:nvCxnSpPr>
          <p:cNvPr id="224" name="Straight Arrow Connector 223">
            <a:extLst>
              <a:ext uri="{C183D7F6-B498-43B3-948B-1728B52AA6E4}">
                <adec:decorative xmlns:adec="http://schemas.microsoft.com/office/drawing/2017/decorative" val="1"/>
              </a:ext>
            </a:extLst>
          </p:cNvPr>
          <p:cNvCxnSpPr>
            <a:stCxn id="219" idx="3"/>
            <a:endCxn id="222" idx="0"/>
          </p:cNvCxnSpPr>
          <p:nvPr/>
        </p:nvCxnSpPr>
        <p:spPr>
          <a:xfrm>
            <a:off x="7848480" y="2933640"/>
            <a:ext cx="876960" cy="419400"/>
          </a:xfrm>
          <a:prstGeom prst="straightConnector1">
            <a:avLst/>
          </a:prstGeom>
          <a:ln w="22320">
            <a:solidFill>
              <a:srgbClr val="00FF00"/>
            </a:solidFill>
            <a:miter/>
            <a:tailEnd len="med" type="triangle" w="med"/>
          </a:ln>
        </p:spPr>
      </p:cxnSp>
      <p:cxnSp>
        <p:nvCxnSpPr>
          <p:cNvPr id="225" name="Straight Arrow Connector 224">
            <a:extLst>
              <a:ext uri="{C183D7F6-B498-43B3-948B-1728B52AA6E4}">
                <adec:decorative xmlns:adec="http://schemas.microsoft.com/office/drawing/2017/decorative" val="1"/>
              </a:ext>
            </a:extLst>
          </p:cNvPr>
          <p:cNvCxnSpPr>
            <a:stCxn id="222" idx="1"/>
            <a:endCxn id="220" idx="3"/>
          </p:cNvCxnSpPr>
          <p:nvPr/>
        </p:nvCxnSpPr>
        <p:spPr>
          <a:xfrm flipH="1" flipV="1">
            <a:off x="5867400" y="3467160"/>
            <a:ext cx="2591280" cy="152640"/>
          </a:xfrm>
          <a:prstGeom prst="straightConnector1">
            <a:avLst/>
          </a:prstGeom>
          <a:ln w="22320">
            <a:solidFill>
              <a:srgbClr val="00FFFF"/>
            </a:solidFill>
            <a:miter/>
            <a:tailEnd len="med" type="triangle" w="med"/>
          </a:ln>
        </p:spPr>
      </p:cxnSp>
      <p:cxnSp>
        <p:nvCxnSpPr>
          <p:cNvPr id="226" name="Straight Arrow Connector 225">
            <a:extLst>
              <a:ext uri="{C183D7F6-B498-43B3-948B-1728B52AA6E4}">
                <adec:decorative xmlns:adec="http://schemas.microsoft.com/office/drawing/2017/decorative" val="1"/>
              </a:ext>
            </a:extLst>
          </p:cNvPr>
          <p:cNvCxnSpPr>
            <a:stCxn id="227" idx="2"/>
            <a:endCxn id="217" idx="0"/>
          </p:cNvCxnSpPr>
          <p:nvPr/>
        </p:nvCxnSpPr>
        <p:spPr>
          <a:xfrm flipH="1">
            <a:off x="2400240" y="2971800"/>
            <a:ext cx="153000" cy="381240"/>
          </a:xfrm>
          <a:prstGeom prst="straightConnector1">
            <a:avLst/>
          </a:prstGeom>
          <a:ln w="22320">
            <a:solidFill>
              <a:srgbClr val="C0C0C0"/>
            </a:solidFill>
            <a:miter/>
            <a:tailEnd len="med" type="triangle" w="med"/>
          </a:ln>
        </p:spPr>
      </p:cxnSp>
      <p:cxnSp>
        <p:nvCxnSpPr>
          <p:cNvPr id="228" name="Straight Arrow Connector 227">
            <a:extLst>
              <a:ext uri="{C183D7F6-B498-43B3-948B-1728B52AA6E4}">
                <adec:decorative xmlns:adec="http://schemas.microsoft.com/office/drawing/2017/decorative" val="1"/>
              </a:ext>
            </a:extLst>
          </p:cNvPr>
          <p:cNvCxnSpPr>
            <a:stCxn id="221" idx="1"/>
            <a:endCxn id="218" idx="3"/>
          </p:cNvCxnSpPr>
          <p:nvPr/>
        </p:nvCxnSpPr>
        <p:spPr>
          <a:xfrm flipH="1" flipV="1">
            <a:off x="4343520" y="1790640"/>
            <a:ext cx="4267440" cy="76680"/>
          </a:xfrm>
          <a:prstGeom prst="straightConnector1">
            <a:avLst/>
          </a:prstGeom>
          <a:ln w="22320">
            <a:solidFill>
              <a:srgbClr val="00FFFF"/>
            </a:solidFill>
            <a:miter/>
            <a:tailEnd len="med" type="triangle" w="med"/>
          </a:ln>
        </p:spPr>
      </p:cxnSp>
      <p:sp>
        <p:nvSpPr>
          <p:cNvPr id="227" name="Alternate Process 226"/>
          <p:cNvSpPr/>
          <p:nvPr/>
        </p:nvSpPr>
        <p:spPr>
          <a:xfrm>
            <a:off x="2286120" y="2438280"/>
            <a:ext cx="1066680" cy="533520"/>
          </a:xfrm>
          <a:prstGeom prst="flowChartAlternateProcess">
            <a:avLst/>
          </a:prstGeom>
          <a:solidFill>
            <a:srgbClr val="FF6600"/>
          </a:solidFill>
          <a:ln w="9360">
            <a:solidFill>
              <a:srgbClr val="FFFFFF"/>
            </a:solidFill>
            <a:miter/>
          </a:ln>
        </p:spPr>
        <p:style>
          <a:lnRef idx="0">
            <a:scrgbClr b="0" g="0" r="0"/>
          </a:lnRef>
          <a:fillRef idx="0">
            <a:scrgbClr b="0" g="0" r="0"/>
          </a:fillRef>
          <a:effectRef idx="0">
            <a:scrgbClr b="0" g="0" r="0"/>
          </a:effectRef>
          <a:fontRef idx="minor"/>
        </p:style>
        <p:txBody>
          <a:bodyPr anchor="ctr" bIns="46800" lIns="90000" rIns="90000" tIns="46800" wrap="none">
            <a:noAutofit/>
          </a:bodyPr>
          <a:lstStyle/>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pc="-1">
                <a:solidFill>
                  <a:srgbClr val="000000"/>
                </a:solidFill>
                <a:latin typeface="Tahoma"/>
              </a:rPr>
              <a:t>Gary</a:t>
            </a:r>
            <a:endParaRPr lang="en-US" spc="-1">
              <a:solidFill>
                <a:srgbClr val="000000"/>
              </a:solidFill>
              <a:latin typeface="Arial"/>
            </a:endParaRPr>
          </a:p>
        </p:txBody>
      </p:sp>
      <p:cxnSp>
        <p:nvCxnSpPr>
          <p:cNvPr id="229" name="Straight Arrow Connector 228">
            <a:extLst>
              <a:ext uri="{C183D7F6-B498-43B3-948B-1728B52AA6E4}">
                <adec:decorative xmlns:adec="http://schemas.microsoft.com/office/drawing/2017/decorative" val="1"/>
              </a:ext>
            </a:extLst>
          </p:cNvPr>
          <p:cNvCxnSpPr>
            <a:stCxn id="220" idx="1"/>
            <a:endCxn id="227" idx="3"/>
          </p:cNvCxnSpPr>
          <p:nvPr/>
        </p:nvCxnSpPr>
        <p:spPr>
          <a:xfrm flipH="1" flipV="1">
            <a:off x="3352800" y="2705040"/>
            <a:ext cx="1448280" cy="762480"/>
          </a:xfrm>
          <a:prstGeom prst="straightConnector1">
            <a:avLst/>
          </a:prstGeom>
          <a:ln w="22320">
            <a:solidFill>
              <a:srgbClr val="FF0000"/>
            </a:solidFill>
            <a:miter/>
            <a:tailEnd len="med" type="triangle" w="med"/>
          </a:ln>
        </p:spPr>
      </p:cxnSp>
      <p:cxnSp>
        <p:nvCxnSpPr>
          <p:cNvPr id="230" name="Straight Arrow Connector 229">
            <a:extLst>
              <a:ext uri="{C183D7F6-B498-43B3-948B-1728B52AA6E4}">
                <adec:decorative xmlns:adec="http://schemas.microsoft.com/office/drawing/2017/decorative" val="1"/>
              </a:ext>
            </a:extLst>
          </p:cNvPr>
          <p:cNvCxnSpPr>
            <a:stCxn id="218" idx="1"/>
            <a:endCxn id="227" idx="0"/>
          </p:cNvCxnSpPr>
          <p:nvPr/>
        </p:nvCxnSpPr>
        <p:spPr>
          <a:xfrm flipH="1">
            <a:off x="2552880" y="1790640"/>
            <a:ext cx="723960" cy="648000"/>
          </a:xfrm>
          <a:prstGeom prst="straightConnector1">
            <a:avLst/>
          </a:prstGeom>
          <a:ln w="22320">
            <a:solidFill>
              <a:srgbClr val="FF0000"/>
            </a:solidFill>
            <a:miter/>
            <a:tailEnd len="med" type="triangle" w="med"/>
          </a:ln>
        </p:spPr>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Conclusions</a:t>
            </a:r>
          </a:p>
        </p:txBody>
      </p:sp>
      <p:sp>
        <p:nvSpPr>
          <p:cNvPr id="232"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a:bodyPr>
          <a:lstStyle/>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A PKI allows us to take the concept of a Key Server and apply it to Public Keys</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It allows greater flexibility then a Key Server in that users do not need to communicate with the Root CA every time a Session Key is needed</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There are a vast variety of models for disseminating trust in a PKI</a:t>
            </a:r>
          </a:p>
          <a:p>
            <a:pPr algn="l" indent="-343080" marL="343080">
              <a:lnSpc>
                <a:spcPct val="80000"/>
              </a:lnSpc>
              <a:spcBef>
                <a:spcPts val="499"/>
              </a:spcBef>
              <a:buClr>
                <a:srgbClr val="00CCFF"/>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sz="2000">
                <a:latin typeface="Tahoma"/>
              </a:rPr>
              <a:t>Even though PKIs look like an amazing idea, in practice there are numerous problems implementing them on a large scale</a:t>
            </a:r>
          </a:p>
          <a:p>
            <a:pPr algn="l" indent="-285840" lvl="1" marL="743040">
              <a:lnSpc>
                <a:spcPct val="80000"/>
              </a:lnSpc>
              <a:spcBef>
                <a:spcPts val="45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a:solidFill>
                  <a:schemeClr val="tx1"/>
                </a:solidFill>
                <a:latin typeface="Tahoma"/>
              </a:rPr>
              <a:t>Who does everyone trust?</a:t>
            </a:r>
          </a:p>
          <a:p>
            <a:pPr algn="l" indent="-285840" lvl="1" marL="743040">
              <a:lnSpc>
                <a:spcPct val="80000"/>
              </a:lnSpc>
              <a:spcBef>
                <a:spcPts val="45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a:solidFill>
                  <a:schemeClr val="tx1"/>
                </a:solidFill>
                <a:latin typeface="Tahoma"/>
              </a:rPr>
              <a:t>What format do people use?</a:t>
            </a:r>
          </a:p>
          <a:p>
            <a:pPr algn="l" indent="-285840" lvl="1" marL="743040">
              <a:lnSpc>
                <a:spcPct val="80000"/>
              </a:lnSpc>
              <a:spcBef>
                <a:spcPts val="451"/>
              </a:spcBef>
              <a:buClr>
                <a:srgbClr val="FFCC00"/>
              </a:buClr>
              <a:buSzPct val="65000"/>
              <a:buFont charset="2" typeface="Wingding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dirty="0" lang="en-US" spc="-1">
                <a:solidFill>
                  <a:schemeClr val="tx1"/>
                </a:solidFill>
                <a:latin typeface="Tahoma"/>
              </a:rPr>
              <a:t>Security of the multitude of programs that rely on PKIs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1981200" y="380880"/>
            <a:ext cx="8229600" cy="1371600"/>
          </a:xfrm>
          <a:prstGeom prst="rect">
            <a:avLst/>
          </a:prstGeom>
          <a:noFill/>
          <a:ln w="0">
            <a:noFill/>
          </a:ln>
        </p:spPr>
        <p:txBody>
          <a:bodyPr anchor="ctr" bIns="46800" lIns="90000" rIns="90000" rtlCol="0" tIns="46800" vert="horz">
            <a:noAutofit/>
          </a:bodyPr>
          <a:lstStyle/>
          <a:p>
            <a:r>
              <a:rPr dirty="0" lang="en-US" spc="-1">
                <a:latin typeface="Tahoma"/>
              </a:rPr>
              <a:t>Sources</a:t>
            </a:r>
          </a:p>
        </p:txBody>
      </p:sp>
      <p:sp>
        <p:nvSpPr>
          <p:cNvPr id="234" name="PlaceHolder 2"/>
          <p:cNvSpPr>
            <a:spLocks noGrp="1"/>
          </p:cNvSpPr>
          <p:nvPr>
            <p:ph/>
          </p:nvPr>
        </p:nvSpPr>
        <p:spPr>
          <a:xfrm>
            <a:off x="1981200" y="1981080"/>
            <a:ext cx="8229600" cy="4114800"/>
          </a:xfrm>
          <a:prstGeom prst="rect">
            <a:avLst/>
          </a:prstGeom>
          <a:noFill/>
          <a:ln w="0">
            <a:noFill/>
          </a:ln>
        </p:spPr>
        <p:txBody>
          <a:bodyPr anchor="t" bIns="46800" lIns="90000" rIns="90000" rtlCol="0" tIns="46800" vert="horz">
            <a:normAutofit fontScale="90927"/>
          </a:bodyPr>
          <a:lstStyle/>
          <a:p>
            <a:pPr algn="l" indent="-343080" marL="343080">
              <a:lnSpc>
                <a:spcPct val="80000"/>
              </a:lnSpc>
              <a:spcBef>
                <a:spcPts val="601"/>
              </a:spcBef>
            </a:pPr>
            <a:r>
              <a:rPr dirty="0" lang="en-US" spc="-1" sz="2400">
                <a:latin typeface="Tahoma"/>
              </a:rPr>
              <a:t>[1]	Adams, Carlisle, and Steve Lloyd. </a:t>
            </a:r>
            <a:r>
              <a:rPr dirty="0" lang="en-US" spc="-1" sz="2400" u="sng">
                <a:latin typeface="Tahoma"/>
              </a:rPr>
              <a:t>Understanding </a:t>
            </a:r>
            <a:r>
              <a:rPr dirty="0" lang="en-US" spc="-1" sz="2400">
                <a:latin typeface="Tahoma"/>
              </a:rPr>
              <a:t>	</a:t>
            </a:r>
            <a:r>
              <a:rPr dirty="0" lang="en-US" spc="-1" sz="2400" u="sng">
                <a:latin typeface="Tahoma"/>
              </a:rPr>
              <a:t>PKI: </a:t>
            </a:r>
            <a:r>
              <a:rPr dirty="0" err="1" lang="en-US" spc="-1" sz="2400" u="sng">
                <a:latin typeface="Tahoma"/>
              </a:rPr>
              <a:t>Concaepts</a:t>
            </a:r>
            <a:r>
              <a:rPr dirty="0" lang="en-US" spc="-1" sz="2400" u="sng">
                <a:latin typeface="Tahoma"/>
              </a:rPr>
              <a:t>, Standards, and Deployment </a:t>
            </a:r>
            <a:r>
              <a:rPr dirty="0" lang="en-US" spc="-1" sz="2400">
                <a:latin typeface="Tahoma"/>
              </a:rPr>
              <a:t>	</a:t>
            </a:r>
            <a:r>
              <a:rPr dirty="0" lang="en-US" spc="-1" sz="2400" u="sng">
                <a:latin typeface="Tahoma"/>
              </a:rPr>
              <a:t>Considerations</a:t>
            </a:r>
            <a:r>
              <a:rPr dirty="0" lang="en-US" spc="-1" sz="2400">
                <a:latin typeface="Tahoma"/>
              </a:rPr>
              <a:t>. Second ed. Boston, MA: Addison-	Wesley, 2003. </a:t>
            </a:r>
          </a:p>
          <a:p>
            <a:pPr algn="l" indent="-343080" marL="343080">
              <a:lnSpc>
                <a:spcPct val="80000"/>
              </a:lnSpc>
              <a:spcBef>
                <a:spcPts val="601"/>
              </a:spcBef>
            </a:pPr>
            <a:r>
              <a:rPr dirty="0" lang="en-US" spc="-1" sz="2400">
                <a:latin typeface="Tahoma"/>
              </a:rPr>
              <a:t>[2]	Ferguson, Neils, and Bruce Schneier. </a:t>
            </a:r>
            <a:r>
              <a:rPr dirty="0" lang="en-US" spc="-1" sz="2400" u="sng">
                <a:latin typeface="Tahoma"/>
              </a:rPr>
              <a:t>Practical </a:t>
            </a:r>
            <a:r>
              <a:rPr dirty="0" lang="en-US" spc="-1" sz="2400">
                <a:latin typeface="Tahoma"/>
              </a:rPr>
              <a:t>	</a:t>
            </a:r>
            <a:r>
              <a:rPr dirty="0" lang="en-US" spc="-1" sz="2400" u="sng">
                <a:latin typeface="Tahoma"/>
              </a:rPr>
              <a:t>Cryptography</a:t>
            </a:r>
            <a:r>
              <a:rPr dirty="0" lang="en-US" spc="-1" sz="2400">
                <a:latin typeface="Tahoma"/>
              </a:rPr>
              <a:t>. Indianapolis, IN: Wiley, Inc., 2003.</a:t>
            </a:r>
          </a:p>
          <a:p>
            <a:pPr algn="l" indent="-343080" marL="343080">
              <a:lnSpc>
                <a:spcPct val="80000"/>
              </a:lnSpc>
              <a:spcBef>
                <a:spcPts val="601"/>
              </a:spcBef>
            </a:pPr>
            <a:r>
              <a:rPr dirty="0" lang="en-US" spc="-1" sz="2400">
                <a:latin typeface="Tahoma"/>
              </a:rPr>
              <a:t>[3]	Stinson, Douglas R. </a:t>
            </a:r>
            <a:r>
              <a:rPr dirty="0" lang="en-US" spc="-1" sz="2400" u="sng">
                <a:latin typeface="Tahoma"/>
              </a:rPr>
              <a:t>Cryptography: Theory and </a:t>
            </a:r>
            <a:r>
              <a:rPr dirty="0" lang="en-US" spc="-1" sz="2400">
                <a:latin typeface="Tahoma"/>
              </a:rPr>
              <a:t>	</a:t>
            </a:r>
            <a:r>
              <a:rPr dirty="0" lang="en-US" spc="-1" sz="2400" u="sng">
                <a:latin typeface="Tahoma"/>
              </a:rPr>
              <a:t>Practice</a:t>
            </a:r>
            <a:r>
              <a:rPr dirty="0" lang="en-US" spc="-1" sz="2400">
                <a:latin typeface="Tahoma"/>
              </a:rPr>
              <a:t>. 3rd ed. Boca Raton, FL: Chapman &amp; 	Hall/CRC, 2006.</a:t>
            </a:r>
          </a:p>
          <a:p>
            <a:pPr algn="l" indent="-343080" marL="343080">
              <a:lnSpc>
                <a:spcPct val="80000"/>
              </a:lnSpc>
              <a:spcBef>
                <a:spcPts val="601"/>
              </a:spcBef>
            </a:pPr>
            <a:r>
              <a:rPr dirty="0" lang="en-US" spc="-1" sz="2400">
                <a:latin typeface="Tahoma"/>
              </a:rPr>
              <a:t>[4]	Tanenbaum, Andrew S., and Maarten V. Steen. 	</a:t>
            </a:r>
            <a:r>
              <a:rPr dirty="0" lang="en-US" spc="-1" sz="2400" u="sng">
                <a:latin typeface="Tahoma"/>
              </a:rPr>
              <a:t>Distributed Systems: Principles and Paradigms</a:t>
            </a:r>
            <a:r>
              <a:rPr dirty="0" lang="en-US" spc="-1" sz="2400">
                <a:latin typeface="Tahoma"/>
              </a:rPr>
              <a:t>. 2nd 	ed. Upper Saddle River, NJ: Pearson Prentice Hall, 	2007.</a:t>
            </a:r>
          </a:p>
          <a:p>
            <a:pPr algn="l" indent="-343080" marL="343080">
              <a:lnSpc>
                <a:spcPct val="80000"/>
              </a:lnSpc>
              <a:spcBef>
                <a:spcPts val="601"/>
              </a:spcBef>
            </a:pPr>
            <a:r>
              <a:rPr dirty="0" lang="en-US" spc="-1" sz="2400">
                <a:latin typeface="Tahoma"/>
              </a:rPr>
              <a:t>[5]    PKI – UMBC</a:t>
            </a:r>
          </a:p>
          <a:p>
            <a:pPr algn="l" indent="-343080" marL="343080">
              <a:lnSpc>
                <a:spcPct val="80000"/>
              </a:lnSpc>
              <a:spcBef>
                <a:spcPts val="601"/>
              </a:spcBef>
            </a:pPr>
            <a:r>
              <a:rPr dirty="0" lang="en-US" spc="-1" sz="2400">
                <a:latin typeface="Tahoma"/>
              </a:rPr>
              <a:t>[6] Tell me how PKI works in Plain English - Microsoft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2076</Words>
  <Application>Microsoft Macintosh PowerPoint</Application>
  <PresentationFormat>Widescreen</PresentationFormat>
  <Paragraphs>255</Paragraphs>
  <Slides>35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0</vt:i4>
      </vt:variant>
      <vt:variant>
        <vt:lpstr>Slide Titles</vt:lpstr>
      </vt:variant>
      <vt:variant>
        <vt:i4>35</vt:i4>
      </vt:variant>
    </vt:vector>
  </HeadingPairs>
  <TitlesOfParts>
    <vt:vector size="41" baseType="lpstr">
      <vt:lpstr>Aptos</vt:lpstr>
      <vt:lpstr>Aptos Display</vt:lpstr>
      <vt:lpstr>Arial</vt:lpstr>
      <vt:lpstr>Tahoma</vt:lpstr>
      <vt:lpstr>Wingdings</vt:lpstr>
      <vt:lpstr>Office Theme</vt:lpstr>
      <vt:lpstr>CSC 4780 – PKI and Trust</vt:lpstr>
      <vt:lpstr>Overview</vt:lpstr>
      <vt:lpstr>Introduction In the beginning there were shared secret keys</vt:lpstr>
      <vt:lpstr>Introduction Key Exchange – User to User</vt:lpstr>
      <vt:lpstr>Introduction Key Exchange – Key Server</vt:lpstr>
      <vt:lpstr>Symmetric Key Cryptography</vt:lpstr>
      <vt:lpstr>Symmetric Pros and Cons</vt:lpstr>
      <vt:lpstr>Public Key Encryption</vt:lpstr>
      <vt:lpstr>Public Key Pros and Cons</vt:lpstr>
      <vt:lpstr>Building Blocks</vt:lpstr>
      <vt:lpstr>Building Blocks Cryptographic Tools</vt:lpstr>
      <vt:lpstr>Building Blocks Cryptographic Tools 2</vt:lpstr>
      <vt:lpstr>Building Blocks Putting Them Together</vt:lpstr>
      <vt:lpstr>Building Blocks Names</vt:lpstr>
      <vt:lpstr>Building Blocks Time</vt:lpstr>
      <vt:lpstr>Building Blocks A Secure Communications Session</vt:lpstr>
      <vt:lpstr>Certificates</vt:lpstr>
      <vt:lpstr>Certificates What they are</vt:lpstr>
      <vt:lpstr>Certificates What they are 2/2</vt:lpstr>
      <vt:lpstr>Certificates How they are issued</vt:lpstr>
      <vt:lpstr>Certificates How they are distributed</vt:lpstr>
      <vt:lpstr>Certificates How they are Revoked</vt:lpstr>
      <vt:lpstr>End-to-end use</vt:lpstr>
      <vt:lpstr>Organization</vt:lpstr>
      <vt:lpstr>Organization Trust</vt:lpstr>
      <vt:lpstr>Organization Trust 2/2</vt:lpstr>
      <vt:lpstr>Organization Organizing a PKI</vt:lpstr>
      <vt:lpstr>Organization Strict Hierarchy</vt:lpstr>
      <vt:lpstr>Organization Networked</vt:lpstr>
      <vt:lpstr>Organization Networked – Mesh</vt:lpstr>
      <vt:lpstr>Organization Networked – Hub-and-Spoke</vt:lpstr>
      <vt:lpstr>Organization Web Browser</vt:lpstr>
      <vt:lpstr>Organization PGP</vt:lpstr>
      <vt:lpstr>Conclusions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2026-02-09T16:40:55Z</dcterms:created>
  <dc:creator>Shannigrahi, Susmit</dc:creator>
  <cp:lastModifiedBy>Shannigrahi, Susmit</cp:lastModifiedBy>
  <dcterms:modified xsi:type="dcterms:W3CDTF">2026-02-18T18:24:39Z</dcterms:modified>
  <cp:revision>11</cp:revision>
  <dc:title>PKI and Trust</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ReadingOrderVerifiedPages">
    <vt:lpwstr>6,8,26,28,30,31,32,33</vt:lpwstr>
  </property>
</Properties>
</file>